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4" r:id="rId4"/>
  </p:sldMasterIdLst>
  <p:notesMasterIdLst>
    <p:notesMasterId r:id="rId11"/>
  </p:notesMasterIdLst>
  <p:handoutMasterIdLst>
    <p:handoutMasterId r:id="rId40"/>
  </p:handoutMasterIdLst>
  <p:sldIdLst>
    <p:sldId id="257" r:id="rId5"/>
    <p:sldId id="678" r:id="rId6"/>
    <p:sldId id="664" r:id="rId7"/>
    <p:sldId id="817" r:id="rId8"/>
    <p:sldId id="1047" r:id="rId9"/>
    <p:sldId id="1049" r:id="rId10"/>
    <p:sldId id="1050" r:id="rId12"/>
    <p:sldId id="1051" r:id="rId13"/>
    <p:sldId id="1048" r:id="rId14"/>
    <p:sldId id="1052" r:id="rId15"/>
    <p:sldId id="1053" r:id="rId16"/>
    <p:sldId id="1054" r:id="rId17"/>
    <p:sldId id="989" r:id="rId18"/>
    <p:sldId id="991" r:id="rId19"/>
    <p:sldId id="992" r:id="rId20"/>
    <p:sldId id="1011" r:id="rId21"/>
    <p:sldId id="1012" r:id="rId22"/>
    <p:sldId id="1013" r:id="rId23"/>
    <p:sldId id="1014" r:id="rId24"/>
    <p:sldId id="1015" r:id="rId25"/>
    <p:sldId id="1016" r:id="rId26"/>
    <p:sldId id="1034" r:id="rId27"/>
    <p:sldId id="1036" r:id="rId28"/>
    <p:sldId id="1037" r:id="rId29"/>
    <p:sldId id="1038" r:id="rId30"/>
    <p:sldId id="1042" r:id="rId31"/>
    <p:sldId id="1041" r:id="rId32"/>
    <p:sldId id="1040" r:id="rId33"/>
    <p:sldId id="1039" r:id="rId34"/>
    <p:sldId id="1043" r:id="rId35"/>
    <p:sldId id="1044" r:id="rId36"/>
    <p:sldId id="1045" r:id="rId37"/>
    <p:sldId id="1046" r:id="rId38"/>
    <p:sldId id="364" r:id="rId39"/>
  </p:sldIdLst>
  <p:sldSz cx="12192000" cy="6858000"/>
  <p:notesSz cx="9928225" cy="6797675"/>
  <p:custDataLst>
    <p:tags r:id="rId4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4A7BA8"/>
    <a:srgbClr val="A9D18E"/>
    <a:srgbClr val="00926A"/>
    <a:srgbClr val="C5E0B4"/>
    <a:srgbClr val="019B4E"/>
    <a:srgbClr val="1D9D79"/>
    <a:srgbClr val="3333CC"/>
    <a:srgbClr val="335AE6"/>
    <a:srgbClr val="EE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55" autoAdjust="0"/>
    <p:restoredTop sz="97078" autoAdjust="0"/>
  </p:normalViewPr>
  <p:slideViewPr>
    <p:cSldViewPr snapToGrid="0" showGuides="1">
      <p:cViewPr varScale="1">
        <p:scale>
          <a:sx n="77" d="100"/>
          <a:sy n="77" d="100"/>
        </p:scale>
        <p:origin x="172" y="68"/>
      </p:cViewPr>
      <p:guideLst>
        <p:guide pos="3840"/>
        <p:guide orient="horz" pos="21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4" Type="http://schemas.openxmlformats.org/officeDocument/2006/relationships/tags" Target="tags/tag9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handoutMaster" Target="handoutMasters/handoutMaster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61C34-6C36-4319-A46B-BB551073C3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3AE40-E968-4202-8EA4-C293C1D84F8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20" name="Rectangle 1"/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 1"/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对弧长的曲线积分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9315710" y="112357"/>
              <a:ext cx="270298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曲线积分与曲面积分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" name="直接连接符 2"/>
            <p:cNvCxnSpPr/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 userDrawn="1"/>
          </p:nvCxnSpPr>
          <p:spPr>
            <a:xfrm>
              <a:off x="2810312" y="6588442"/>
              <a:ext cx="9381688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10" name="Rectangle 1"/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"/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对弧长的曲线积分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9315710" y="112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曲线积分与曲面积分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4" name="直接连接符 13"/>
            <p:cNvCxnSpPr/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 userDrawn="1"/>
          </p:nvCxnSpPr>
          <p:spPr>
            <a:xfrm>
              <a:off x="2810312" y="6588442"/>
              <a:ext cx="9381688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6" name="Rectangle 1"/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1"/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对弧长的曲线积分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9315710" y="112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曲线积分于曲面积分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" name="直接连接符 9"/>
            <p:cNvCxnSpPr/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 userDrawn="1"/>
          </p:nvCxnSpPr>
          <p:spPr>
            <a:xfrm>
              <a:off x="2810312" y="6588442"/>
              <a:ext cx="9381688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3" name="Rectangle 1"/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1"/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对弧长的曲线积分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9315710" y="112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曲线积分于曲面积分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" name="直接连接符 6"/>
            <p:cNvCxnSpPr/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 userDrawn="1"/>
          </p:nvCxnSpPr>
          <p:spPr>
            <a:xfrm>
              <a:off x="2810312" y="6588442"/>
              <a:ext cx="9381688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3" name="Rectangle 1"/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1"/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对弧长的曲线积分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9315710" y="112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曲线积分于曲面积分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" name="直接连接符 6"/>
            <p:cNvCxnSpPr/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 userDrawn="1"/>
          </p:nvCxnSpPr>
          <p:spPr>
            <a:xfrm>
              <a:off x="2810312" y="6588442"/>
              <a:ext cx="9381688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19" name="Rectangle 1"/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 1"/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对弧长的曲线积分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9315710" y="112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曲线积分于曲面积分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3" name="直接连接符 22"/>
            <p:cNvCxnSpPr/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 userDrawn="1"/>
          </p:nvCxnSpPr>
          <p:spPr>
            <a:xfrm>
              <a:off x="2810312" y="6588442"/>
              <a:ext cx="9381688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fontAlgn="auto">
              <a:lnSpc>
                <a:spcPct val="300000"/>
              </a:lnSpc>
              <a:defRPr sz="4400" b="1" baseline="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="1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棱台 15"/>
          <p:cNvSpPr/>
          <p:nvPr userDrawn="1"/>
        </p:nvSpPr>
        <p:spPr>
          <a:xfrm>
            <a:off x="1" y="-27160"/>
            <a:ext cx="540000" cy="6885160"/>
          </a:xfrm>
          <a:prstGeom prst="bevel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dirty="0"/>
          </a:p>
          <a:p>
            <a:pPr algn="ctr"/>
            <a:endParaRPr lang="zh-CN" altLang="en-US" sz="2800" b="1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+mj-ea"/>
                <a:ea typeface="+mj-ea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 b="0"/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 b="1"/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/>
          <p:nvPr userDrawn="1"/>
        </p:nvSpPr>
        <p:spPr>
          <a:xfrm>
            <a:off x="297498" y="6596180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/>
          <p:cNvSpPr/>
          <p:nvPr userDrawn="1"/>
        </p:nvSpPr>
        <p:spPr>
          <a:xfrm rot="2659048">
            <a:off x="10336888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476828" y="6483030"/>
            <a:ext cx="26244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  二重积分的概念与性质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592060" y="112357"/>
            <a:ext cx="13676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第十章  重积分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-1" y="248584"/>
            <a:ext cx="10152000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3162299" y="6636918"/>
            <a:ext cx="903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microsoft.com/office/2007/relationships/hdphoto" Target="../media/image5.wdp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2" Type="http://schemas.openxmlformats.org/officeDocument/2006/relationships/slideLayout" Target="../slideLayouts/slideLayout3.xml"/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9.jpe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9.jpeg"/><Relationship Id="rId1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png"/><Relationship Id="rId8" Type="http://schemas.openxmlformats.org/officeDocument/2006/relationships/image" Target="../media/image49.png"/><Relationship Id="rId7" Type="http://schemas.openxmlformats.org/officeDocument/2006/relationships/image" Target="../media/image48.png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6.png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png"/><Relationship Id="rId8" Type="http://schemas.openxmlformats.org/officeDocument/2006/relationships/image" Target="../media/image74.png"/><Relationship Id="rId7" Type="http://schemas.openxmlformats.org/officeDocument/2006/relationships/image" Target="../media/image73.png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3" Type="http://schemas.openxmlformats.org/officeDocument/2006/relationships/notesSlide" Target="../notesSlides/notesSlide7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87.png"/><Relationship Id="rId20" Type="http://schemas.openxmlformats.org/officeDocument/2006/relationships/image" Target="../media/image86.png"/><Relationship Id="rId2" Type="http://schemas.openxmlformats.org/officeDocument/2006/relationships/image" Target="../media/image68.png"/><Relationship Id="rId19" Type="http://schemas.openxmlformats.org/officeDocument/2006/relationships/image" Target="../media/image85.png"/><Relationship Id="rId18" Type="http://schemas.openxmlformats.org/officeDocument/2006/relationships/image" Target="../media/image84.png"/><Relationship Id="rId17" Type="http://schemas.openxmlformats.org/officeDocument/2006/relationships/image" Target="../media/image83.png"/><Relationship Id="rId16" Type="http://schemas.openxmlformats.org/officeDocument/2006/relationships/image" Target="../media/image82.png"/><Relationship Id="rId15" Type="http://schemas.openxmlformats.org/officeDocument/2006/relationships/image" Target="../media/image81.png"/><Relationship Id="rId14" Type="http://schemas.openxmlformats.org/officeDocument/2006/relationships/image" Target="../media/image80.png"/><Relationship Id="rId13" Type="http://schemas.openxmlformats.org/officeDocument/2006/relationships/image" Target="../media/image79.png"/><Relationship Id="rId12" Type="http://schemas.openxmlformats.org/officeDocument/2006/relationships/image" Target="../media/image78.png"/><Relationship Id="rId11" Type="http://schemas.openxmlformats.org/officeDocument/2006/relationships/image" Target="../media/image77.png"/><Relationship Id="rId10" Type="http://schemas.openxmlformats.org/officeDocument/2006/relationships/image" Target="../media/image76.png"/><Relationship Id="rId1" Type="http://schemas.openxmlformats.org/officeDocument/2006/relationships/image" Target="../media/image67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95.png"/><Relationship Id="rId7" Type="http://schemas.openxmlformats.org/officeDocument/2006/relationships/image" Target="../media/image94.png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88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png"/><Relationship Id="rId8" Type="http://schemas.openxmlformats.org/officeDocument/2006/relationships/image" Target="../media/image103.png"/><Relationship Id="rId7" Type="http://schemas.openxmlformats.org/officeDocument/2006/relationships/image" Target="../media/image102.png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05.png"/><Relationship Id="rId1" Type="http://schemas.openxmlformats.org/officeDocument/2006/relationships/image" Target="../media/image96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tags" Target="../tags/tag6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8.png"/><Relationship Id="rId8" Type="http://schemas.openxmlformats.org/officeDocument/2006/relationships/image" Target="../media/image117.png"/><Relationship Id="rId7" Type="http://schemas.openxmlformats.org/officeDocument/2006/relationships/image" Target="../media/image116.png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19.png"/><Relationship Id="rId1" Type="http://schemas.openxmlformats.org/officeDocument/2006/relationships/image" Target="../media/image110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tags" Target="../tags/tag7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0.png"/><Relationship Id="rId8" Type="http://schemas.openxmlformats.org/officeDocument/2006/relationships/image" Target="../media/image129.png"/><Relationship Id="rId7" Type="http://schemas.openxmlformats.org/officeDocument/2006/relationships/image" Target="../media/image128.png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33.jpeg"/><Relationship Id="rId11" Type="http://schemas.openxmlformats.org/officeDocument/2006/relationships/image" Target="../media/image132.png"/><Relationship Id="rId10" Type="http://schemas.openxmlformats.org/officeDocument/2006/relationships/image" Target="../media/image131.png"/><Relationship Id="rId1" Type="http://schemas.openxmlformats.org/officeDocument/2006/relationships/image" Target="../media/image122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2.png"/><Relationship Id="rId8" Type="http://schemas.openxmlformats.org/officeDocument/2006/relationships/image" Target="../media/image141.png"/><Relationship Id="rId7" Type="http://schemas.openxmlformats.org/officeDocument/2006/relationships/image" Target="../media/image140.png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44.jpeg"/><Relationship Id="rId10" Type="http://schemas.openxmlformats.org/officeDocument/2006/relationships/image" Target="../media/image143.png"/><Relationship Id="rId1" Type="http://schemas.openxmlformats.org/officeDocument/2006/relationships/image" Target="../media/image134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3.png"/><Relationship Id="rId8" Type="http://schemas.openxmlformats.org/officeDocument/2006/relationships/image" Target="../media/image152.png"/><Relationship Id="rId7" Type="http://schemas.openxmlformats.org/officeDocument/2006/relationships/image" Target="../media/image151.png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45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1.png"/><Relationship Id="rId8" Type="http://schemas.openxmlformats.org/officeDocument/2006/relationships/image" Target="../media/image160.png"/><Relationship Id="rId7" Type="http://schemas.openxmlformats.org/officeDocument/2006/relationships/image" Target="../media/image159.png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156.png"/><Relationship Id="rId3" Type="http://schemas.openxmlformats.org/officeDocument/2006/relationships/image" Target="../media/image72.png"/><Relationship Id="rId2" Type="http://schemas.openxmlformats.org/officeDocument/2006/relationships/image" Target="../media/image155.png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169.png"/><Relationship Id="rId16" Type="http://schemas.openxmlformats.org/officeDocument/2006/relationships/image" Target="../media/image168.png"/><Relationship Id="rId15" Type="http://schemas.openxmlformats.org/officeDocument/2006/relationships/image" Target="../media/image167.png"/><Relationship Id="rId14" Type="http://schemas.openxmlformats.org/officeDocument/2006/relationships/image" Target="../media/image166.png"/><Relationship Id="rId13" Type="http://schemas.openxmlformats.org/officeDocument/2006/relationships/image" Target="../media/image165.png"/><Relationship Id="rId12" Type="http://schemas.openxmlformats.org/officeDocument/2006/relationships/image" Target="../media/image164.png"/><Relationship Id="rId11" Type="http://schemas.openxmlformats.org/officeDocument/2006/relationships/image" Target="../media/image163.png"/><Relationship Id="rId10" Type="http://schemas.openxmlformats.org/officeDocument/2006/relationships/image" Target="../media/image162.png"/><Relationship Id="rId1" Type="http://schemas.openxmlformats.org/officeDocument/2006/relationships/image" Target="../media/image154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74.png"/><Relationship Id="rId4" Type="http://schemas.openxmlformats.org/officeDocument/2006/relationships/image" Target="../media/image173.png"/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image" Target="../media/image170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78.png"/><Relationship Id="rId4" Type="http://schemas.openxmlformats.org/officeDocument/2006/relationships/image" Target="../media/image177.png"/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tags" Target="../tags/tag8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7.png"/><Relationship Id="rId8" Type="http://schemas.openxmlformats.org/officeDocument/2006/relationships/image" Target="../media/image186.png"/><Relationship Id="rId7" Type="http://schemas.openxmlformats.org/officeDocument/2006/relationships/image" Target="../media/image185.png"/><Relationship Id="rId6" Type="http://schemas.openxmlformats.org/officeDocument/2006/relationships/image" Target="../media/image184.png"/><Relationship Id="rId5" Type="http://schemas.openxmlformats.org/officeDocument/2006/relationships/image" Target="../media/image183.png"/><Relationship Id="rId4" Type="http://schemas.openxmlformats.org/officeDocument/2006/relationships/image" Target="../media/image182.png"/><Relationship Id="rId3" Type="http://schemas.openxmlformats.org/officeDocument/2006/relationships/image" Target="../media/image181.png"/><Relationship Id="rId2" Type="http://schemas.openxmlformats.org/officeDocument/2006/relationships/image" Target="../media/image180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90.png"/><Relationship Id="rId11" Type="http://schemas.openxmlformats.org/officeDocument/2006/relationships/image" Target="../media/image189.png"/><Relationship Id="rId10" Type="http://schemas.openxmlformats.org/officeDocument/2006/relationships/image" Target="../media/image188.png"/><Relationship Id="rId1" Type="http://schemas.openxmlformats.org/officeDocument/2006/relationships/image" Target="../media/image179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9.png"/><Relationship Id="rId8" Type="http://schemas.openxmlformats.org/officeDocument/2006/relationships/image" Target="../media/image198.png"/><Relationship Id="rId7" Type="http://schemas.openxmlformats.org/officeDocument/2006/relationships/image" Target="../media/image197.png"/><Relationship Id="rId6" Type="http://schemas.openxmlformats.org/officeDocument/2006/relationships/image" Target="../media/image196.png"/><Relationship Id="rId5" Type="http://schemas.openxmlformats.org/officeDocument/2006/relationships/image" Target="../media/image195.png"/><Relationship Id="rId4" Type="http://schemas.openxmlformats.org/officeDocument/2006/relationships/image" Target="../media/image194.png"/><Relationship Id="rId3" Type="http://schemas.openxmlformats.org/officeDocument/2006/relationships/image" Target="../media/image193.png"/><Relationship Id="rId2" Type="http://schemas.openxmlformats.org/officeDocument/2006/relationships/image" Target="../media/image192.png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207.png"/><Relationship Id="rId16" Type="http://schemas.openxmlformats.org/officeDocument/2006/relationships/image" Target="../media/image206.png"/><Relationship Id="rId15" Type="http://schemas.openxmlformats.org/officeDocument/2006/relationships/image" Target="../media/image205.png"/><Relationship Id="rId14" Type="http://schemas.openxmlformats.org/officeDocument/2006/relationships/image" Target="../media/image204.png"/><Relationship Id="rId13" Type="http://schemas.openxmlformats.org/officeDocument/2006/relationships/image" Target="../media/image203.png"/><Relationship Id="rId12" Type="http://schemas.openxmlformats.org/officeDocument/2006/relationships/image" Target="../media/image202.png"/><Relationship Id="rId11" Type="http://schemas.openxmlformats.org/officeDocument/2006/relationships/image" Target="../media/image201.png"/><Relationship Id="rId10" Type="http://schemas.openxmlformats.org/officeDocument/2006/relationships/image" Target="../media/image200.png"/><Relationship Id="rId1" Type="http://schemas.openxmlformats.org/officeDocument/2006/relationships/image" Target="../media/image19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  <a:endParaRPr lang="zh-CN" altLang="en-US" sz="22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-244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89305" y="1908802"/>
            <a:ext cx="11083290" cy="4961748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29285" y="2052905"/>
            <a:ext cx="10923270" cy="48176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87045" y="2207501"/>
            <a:ext cx="10746105" cy="4663049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5037531" y="2665459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735983" y="3348297"/>
            <a:ext cx="8388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2460957" y="3847459"/>
            <a:ext cx="2880000" cy="461665"/>
          </a:xfrm>
          <a:prstGeom prst="rect">
            <a:avLst/>
          </a:prstGeom>
          <a:gradFill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一元函数积分学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grpSp>
        <p:nvGrpSpPr>
          <p:cNvPr id="90" name="组合 89"/>
          <p:cNvGrpSpPr/>
          <p:nvPr/>
        </p:nvGrpSpPr>
        <p:grpSpPr>
          <a:xfrm>
            <a:off x="1504486" y="4799643"/>
            <a:ext cx="5360532" cy="619125"/>
            <a:chOff x="1504486" y="4815728"/>
            <a:chExt cx="5360532" cy="619125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3853897" y="2466317"/>
              <a:ext cx="619125" cy="531794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1547072" y="4909851"/>
              <a:ext cx="531794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l"/>
              <a:r>
                <a:rPr lang="zh-CN" altLang="en-US" sz="2400" b="1" dirty="0">
                  <a:solidFill>
                    <a:srgbClr val="04926A"/>
                  </a:solidFill>
                </a:rPr>
                <a:t>积分学     </a:t>
              </a:r>
              <a:r>
                <a:rPr lang="zh-CN" altLang="en-US" sz="2400" dirty="0"/>
                <a:t>定积分   二重积分   三重积分</a:t>
              </a:r>
              <a:endParaRPr lang="zh-CN" altLang="en-US" sz="2400" dirty="0"/>
            </a:p>
          </p:txBody>
        </p:sp>
      </p:grpSp>
      <p:sp>
        <p:nvSpPr>
          <p:cNvPr id="26" name="矩形 25"/>
          <p:cNvSpPr/>
          <p:nvPr/>
        </p:nvSpPr>
        <p:spPr>
          <a:xfrm>
            <a:off x="1986375" y="577870"/>
            <a:ext cx="821925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第十一章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曲线积分与曲面积分</a:t>
            </a:r>
            <a:endParaRPr lang="zh-CN" alt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5486657" y="3953196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568357" y="3847459"/>
            <a:ext cx="2880000" cy="461665"/>
          </a:xfrm>
          <a:prstGeom prst="rect">
            <a:avLst/>
          </a:prstGeom>
          <a:gradFill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algn="ctr"/>
            <a:r>
              <a:rPr lang="zh-CN" altLang="en-US" sz="2400" b="1" dirty="0">
                <a:solidFill>
                  <a:schemeClr val="bg1"/>
                </a:solidFill>
              </a:rPr>
              <a:t>多元函数积分学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7025038" y="4793304"/>
            <a:ext cx="1458356" cy="619125"/>
            <a:chOff x="723439" y="4629148"/>
            <a:chExt cx="1458356" cy="619125"/>
          </a:xfrm>
        </p:grpSpPr>
        <p:sp>
          <p:nvSpPr>
            <p:cNvPr id="56" name="矩形: 圆角 40"/>
            <p:cNvSpPr/>
            <p:nvPr/>
          </p:nvSpPr>
          <p:spPr>
            <a:xfrm rot="16200000" flipV="1">
              <a:off x="1143054" y="4209533"/>
              <a:ext cx="619125" cy="145835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766023" y="4723268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曲线积分</a:t>
              </a:r>
              <a:endParaRPr lang="zh-CN" altLang="en-US" sz="2400" b="1" dirty="0">
                <a:solidFill>
                  <a:srgbClr val="04926A"/>
                </a:solidFill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1504488" y="5601241"/>
            <a:ext cx="5317945" cy="619125"/>
            <a:chOff x="1504488" y="5617326"/>
            <a:chExt cx="5317945" cy="619125"/>
          </a:xfrm>
        </p:grpSpPr>
        <p:sp>
          <p:nvSpPr>
            <p:cNvPr id="62" name="矩形: 圆角 40"/>
            <p:cNvSpPr/>
            <p:nvPr/>
          </p:nvSpPr>
          <p:spPr>
            <a:xfrm rot="16200000" flipV="1">
              <a:off x="3853898" y="3267916"/>
              <a:ext cx="619125" cy="531794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1547071" y="5711445"/>
              <a:ext cx="518710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积分域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 </a:t>
              </a:r>
              <a:r>
                <a: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   </a:t>
              </a:r>
              <a:r>
                <a:rPr lang="zh-CN" altLang="en-US" sz="2400" dirty="0"/>
                <a:t>区间域     平面域        空间域 </a:t>
              </a:r>
              <a:endParaRPr lang="zh-CN" altLang="en-US" sz="2400" dirty="0"/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7025038" y="5601241"/>
            <a:ext cx="1458355" cy="619125"/>
            <a:chOff x="723439" y="4629148"/>
            <a:chExt cx="1458355" cy="619125"/>
          </a:xfrm>
        </p:grpSpPr>
        <p:sp>
          <p:nvSpPr>
            <p:cNvPr id="82" name="矩形: 圆角 40"/>
            <p:cNvSpPr/>
            <p:nvPr/>
          </p:nvSpPr>
          <p:spPr>
            <a:xfrm rot="16200000" flipV="1">
              <a:off x="1143054" y="4209533"/>
              <a:ext cx="619125" cy="145835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899373" y="4723268"/>
              <a:ext cx="110799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曲线域</a:t>
              </a:r>
              <a:endParaRPr lang="zh-CN" altLang="en-US" sz="2400" b="1" dirty="0">
                <a:solidFill>
                  <a:srgbClr val="04926A"/>
                </a:solidFill>
              </a:endParaRPr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8685997" y="4793304"/>
            <a:ext cx="1458356" cy="619125"/>
            <a:chOff x="723439" y="4629148"/>
            <a:chExt cx="1458356" cy="619125"/>
          </a:xfrm>
        </p:grpSpPr>
        <p:sp>
          <p:nvSpPr>
            <p:cNvPr id="85" name="矩形: 圆角 40"/>
            <p:cNvSpPr/>
            <p:nvPr/>
          </p:nvSpPr>
          <p:spPr>
            <a:xfrm rot="16200000" flipV="1">
              <a:off x="1143054" y="4209533"/>
              <a:ext cx="619125" cy="145835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766023" y="4723268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曲面积分</a:t>
              </a:r>
              <a:endParaRPr lang="zh-CN" altLang="en-US" sz="2400" b="1" dirty="0">
                <a:solidFill>
                  <a:srgbClr val="04926A"/>
                </a:solidFill>
              </a:endParaRPr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8685997" y="5601241"/>
            <a:ext cx="1458355" cy="619125"/>
            <a:chOff x="723439" y="4629148"/>
            <a:chExt cx="1458355" cy="619125"/>
          </a:xfrm>
        </p:grpSpPr>
        <p:sp>
          <p:nvSpPr>
            <p:cNvPr id="88" name="矩形: 圆角 40"/>
            <p:cNvSpPr/>
            <p:nvPr/>
          </p:nvSpPr>
          <p:spPr>
            <a:xfrm rot="16200000" flipV="1">
              <a:off x="1143054" y="4209533"/>
              <a:ext cx="619125" cy="145835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89" name="矩形 88"/>
            <p:cNvSpPr/>
            <p:nvPr/>
          </p:nvSpPr>
          <p:spPr>
            <a:xfrm>
              <a:off x="899373" y="4723268"/>
              <a:ext cx="110799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曲面域</a:t>
              </a:r>
              <a:endParaRPr lang="zh-CN" altLang="en-US" sz="2400" b="1" dirty="0">
                <a:solidFill>
                  <a:srgbClr val="04926A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36号-正文宋楷" panose="00000500000000000000" pitchFamily="2" charset="-122"/>
              <a:ea typeface="字魂36号-正文宋楷" panose="00000500000000000000" pitchFamily="2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2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BB6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3"/>
            </p:custDataLst>
          </p:nvPr>
        </p:nvSpPr>
        <p:spPr>
          <a:xfrm>
            <a:off x="876000" y="638872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GB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C</a:t>
            </a:r>
            <a:r>
              <a:rPr kumimoji="1" lang="en-GB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ONTENTS</a:t>
            </a:r>
            <a:endParaRPr kumimoji="1" lang="en-GB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/>
              <a:uLnTx/>
              <a:uFillTx/>
              <a:latin typeface="Calisto MT" panose="02040603050505030304" pitchFamily="18" charset="0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69401" y="516286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目  录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875153" y="691154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第十一章</a:t>
            </a:r>
            <a:endParaRPr kumimoji="1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330934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945202" y="2621849"/>
            <a:ext cx="38443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对弧长的曲线积分</a:t>
            </a:r>
            <a:endParaRPr lang="zh-CN" altLang="en-US" sz="2400" b="1" dirty="0">
              <a:solidFill>
                <a:srgbClr val="0074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45202" y="3469103"/>
            <a:ext cx="39356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格林公式及其应用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661652" y="2670489"/>
            <a:ext cx="38443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对坐标的曲线积分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661652" y="3470393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</a:t>
            </a:r>
            <a:r>
              <a:rPr kumimoji="1"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对面积的曲面积分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945202" y="4315067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</a:t>
            </a:r>
            <a:r>
              <a:rPr kumimoji="1"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对坐标的曲面积分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945202" y="5162322"/>
            <a:ext cx="56306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斯托克斯公式 环流量与旋度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661652" y="4315067"/>
            <a:ext cx="42434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高斯公式 通量与散度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/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/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/>
          <p:cNvSpPr/>
          <p:nvPr>
            <p:custDataLst>
              <p:tags r:id="rId2"/>
            </p:custDataLst>
          </p:nvPr>
        </p:nvSpPr>
        <p:spPr>
          <a:xfrm>
            <a:off x="369888" y="1624520"/>
            <a:ext cx="11536045" cy="49611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624811" y="589066"/>
            <a:ext cx="4942379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  对弧长的曲线积分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920546" y="2029147"/>
            <a:ext cx="6350908" cy="901065"/>
            <a:chOff x="3376753" y="2223699"/>
            <a:chExt cx="6350908" cy="901065"/>
          </a:xfrm>
        </p:grpSpPr>
        <p:sp>
          <p:nvSpPr>
            <p:cNvPr id="4" name="矩形: 圆角 40"/>
            <p:cNvSpPr/>
            <p:nvPr/>
          </p:nvSpPr>
          <p:spPr>
            <a:xfrm flipV="1">
              <a:off x="3376753" y="2223699"/>
              <a:ext cx="6350908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3616931" y="2412933"/>
              <a:ext cx="269817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</a:t>
              </a:r>
              <a:r>
                <a:rPr lang="zh-CN" altLang="en-US" sz="2800" b="1" noProof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问题的提出</a:t>
              </a:r>
              <a:endParaRPr lang="zh-CN" altLang="en-US" sz="28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920546" y="3134493"/>
            <a:ext cx="6350908" cy="901065"/>
            <a:chOff x="3376753" y="3448290"/>
            <a:chExt cx="6350908" cy="901065"/>
          </a:xfrm>
        </p:grpSpPr>
        <p:sp>
          <p:nvSpPr>
            <p:cNvPr id="22" name="矩形: 圆角 40"/>
            <p:cNvSpPr/>
            <p:nvPr/>
          </p:nvSpPr>
          <p:spPr>
            <a:xfrm flipV="1">
              <a:off x="3376753" y="3448290"/>
              <a:ext cx="6350908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3616931" y="3637526"/>
              <a:ext cx="592982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二、对弧长的曲线积分的概念与性质</a:t>
              </a:r>
              <a:endParaRPr lang="zh-CN" altLang="en-US" sz="28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920546" y="4239839"/>
            <a:ext cx="6350908" cy="901065"/>
            <a:chOff x="3376753" y="4508606"/>
            <a:chExt cx="6350908" cy="901065"/>
          </a:xfrm>
        </p:grpSpPr>
        <p:sp>
          <p:nvSpPr>
            <p:cNvPr id="17" name="矩形: 圆角 40"/>
            <p:cNvSpPr/>
            <p:nvPr/>
          </p:nvSpPr>
          <p:spPr>
            <a:xfrm flipV="1">
              <a:off x="3376753" y="4508606"/>
              <a:ext cx="6350908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3616931" y="4697840"/>
              <a:ext cx="495840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三、对弧长的曲线积分的计算</a:t>
              </a:r>
              <a:endParaRPr lang="zh-CN" altLang="en-US" sz="2800" dirty="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920546" y="5345184"/>
            <a:ext cx="6350908" cy="901065"/>
            <a:chOff x="3376753" y="5607832"/>
            <a:chExt cx="6350908" cy="901065"/>
          </a:xfrm>
        </p:grpSpPr>
        <p:sp>
          <p:nvSpPr>
            <p:cNvPr id="19" name="矩形: 圆角 40"/>
            <p:cNvSpPr/>
            <p:nvPr/>
          </p:nvSpPr>
          <p:spPr>
            <a:xfrm flipV="1">
              <a:off x="3376753" y="5607832"/>
              <a:ext cx="6350908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616931" y="5797066"/>
              <a:ext cx="359104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*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四、几何与物理意义</a:t>
              </a:r>
              <a:endParaRPr lang="zh-CN" altLang="en-US" sz="28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357476" y="842431"/>
            <a:ext cx="4489450" cy="5835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复习  求平面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曲线的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弧长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670" y="1654175"/>
            <a:ext cx="5714365" cy="46983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924560" y="1357630"/>
            <a:ext cx="10267315" cy="1993265"/>
            <a:chOff x="1111" y="8358"/>
            <a:chExt cx="16169" cy="3139"/>
          </a:xfrm>
        </p:grpSpPr>
        <p:sp>
          <p:nvSpPr>
            <p:cNvPr id="55" name="Rectangle 1"/>
            <p:cNvSpPr/>
            <p:nvPr/>
          </p:nvSpPr>
          <p:spPr>
            <a:xfrm>
              <a:off x="1660" y="8358"/>
              <a:ext cx="15620" cy="3139"/>
            </a:xfrm>
            <a:prstGeom prst="rect">
              <a:avLst/>
            </a:prstGeom>
            <a:solidFill>
              <a:srgbClr val="039462">
                <a:alpha val="2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1111" y="9256"/>
              <a:ext cx="1962" cy="1417"/>
              <a:chOff x="13276" y="1312306"/>
              <a:chExt cx="1882603" cy="900000"/>
            </a:xfrm>
          </p:grpSpPr>
          <p:sp>
            <p:nvSpPr>
              <p:cNvPr id="57" name="PA-102231"/>
              <p:cNvSpPr/>
              <p:nvPr>
                <p:custDataLst>
                  <p:tags r:id="rId1"/>
                </p:custDataLst>
              </p:nvPr>
            </p:nvSpPr>
            <p:spPr>
              <a:xfrm>
                <a:off x="13276" y="1312306"/>
                <a:ext cx="1882603" cy="900000"/>
              </a:xfrm>
              <a:prstGeom prst="rect">
                <a:avLst/>
              </a:prstGeom>
              <a:solidFill>
                <a:schemeClr val="bg1"/>
              </a:solidFill>
              <a:ln w="19050">
                <a:gradFill>
                  <a:gsLst>
                    <a:gs pos="5000">
                      <a:srgbClr val="17A45E"/>
                    </a:gs>
                    <a:gs pos="56000">
                      <a:srgbClr val="039267"/>
                    </a:gs>
                    <a:gs pos="100000">
                      <a:srgbClr val="068983"/>
                    </a:gs>
                  </a:gsLst>
                  <a:lin ang="10800000" scaled="0"/>
                </a:gradFill>
              </a:ln>
              <a:effectLst>
                <a:outerShdw blurRad="203200" dist="63500" dir="3000000" algn="ctr" rotWithShape="0">
                  <a:schemeClr val="bg1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n>
                    <a:solidFill>
                      <a:schemeClr val="bg1">
                        <a:lumMod val="95000"/>
                      </a:schemeClr>
                    </a:solidFill>
                  </a:ln>
                  <a:cs typeface="+mn-ea"/>
                  <a:sym typeface="+mn-lt"/>
                </a:endParaRPr>
              </a:p>
            </p:txBody>
          </p:sp>
          <p:sp>
            <p:nvSpPr>
              <p:cNvPr id="58" name="Rectangle 167"/>
              <p:cNvSpPr>
                <a:spLocks noChangeArrowheads="1"/>
              </p:cNvSpPr>
              <p:nvPr/>
            </p:nvSpPr>
            <p:spPr bwMode="auto">
              <a:xfrm>
                <a:off x="417239" y="1547041"/>
                <a:ext cx="1074677" cy="43062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定义</a:t>
                </a:r>
                <a:endParaRPr kumimoji="1" lang="en-US" altLang="zh-CN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p:grpSp>
      </p:grp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1123950" y="523875"/>
            <a:ext cx="39624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normAutofit/>
          </a:bodyPr>
          <a:lstStyle/>
          <a:p>
            <a:pPr algn="l"/>
            <a:r>
              <a:rPr kumimoji="1"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平面曲线的弧长</a:t>
            </a:r>
            <a:endParaRPr kumimoji="1" lang="zh-CN" altLang="en-US" sz="32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Group 59"/>
          <p:cNvGrpSpPr/>
          <p:nvPr/>
        </p:nvGrpSpPr>
        <p:grpSpPr bwMode="auto">
          <a:xfrm>
            <a:off x="2607815" y="1614806"/>
            <a:ext cx="4933950" cy="522288"/>
            <a:chOff x="934" y="624"/>
            <a:chExt cx="3108" cy="329"/>
          </a:xfrm>
        </p:grpSpPr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934" y="624"/>
              <a:ext cx="310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rPr>
                <a:t>若在弧</a:t>
              </a:r>
              <a:r>
                <a:rPr kumimoji="1" lang="zh-CN" alt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rPr>
                <a:t> </a:t>
              </a:r>
              <a:r>
                <a:rPr kumimoji="1" lang="en-US" altLang="zh-CN" sz="2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rPr>
                <a:t>AB</a:t>
              </a:r>
              <a:r>
                <a: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rPr>
                <a:t> </a:t>
              </a: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rPr>
                <a:t>上任意作内接折线 </a:t>
              </a:r>
              <a:r>
                <a: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rPr>
                <a:t>,</a:t>
              </a:r>
              <a:endPara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" name="Arc 5"/>
            <p:cNvSpPr/>
            <p:nvPr/>
          </p:nvSpPr>
          <p:spPr bwMode="auto">
            <a:xfrm>
              <a:off x="1740" y="626"/>
              <a:ext cx="280" cy="161"/>
            </a:xfrm>
            <a:custGeom>
              <a:avLst/>
              <a:gdLst>
                <a:gd name="G0" fmla="+- 18981 0 0"/>
                <a:gd name="G1" fmla="+- 21600 0 0"/>
                <a:gd name="G2" fmla="+- 21600 0 0"/>
                <a:gd name="T0" fmla="*/ 0 w 37448"/>
                <a:gd name="T1" fmla="*/ 11291 h 21600"/>
                <a:gd name="T2" fmla="*/ 37448 w 37448"/>
                <a:gd name="T3" fmla="*/ 10396 h 21600"/>
                <a:gd name="T4" fmla="*/ 18981 w 3744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448" h="21600" fill="none" extrusionOk="0">
                  <a:moveTo>
                    <a:pt x="-1" y="11290"/>
                  </a:moveTo>
                  <a:cubicBezTo>
                    <a:pt x="3779" y="4332"/>
                    <a:pt x="11062" y="0"/>
                    <a:pt x="18981" y="0"/>
                  </a:cubicBezTo>
                  <a:cubicBezTo>
                    <a:pt x="26530" y="0"/>
                    <a:pt x="33532" y="3941"/>
                    <a:pt x="37448" y="10395"/>
                  </a:cubicBezTo>
                </a:path>
                <a:path w="37448" h="21600" stroke="0" extrusionOk="0">
                  <a:moveTo>
                    <a:pt x="-1" y="11290"/>
                  </a:moveTo>
                  <a:cubicBezTo>
                    <a:pt x="3779" y="4332"/>
                    <a:pt x="11062" y="0"/>
                    <a:pt x="18981" y="0"/>
                  </a:cubicBezTo>
                  <a:cubicBezTo>
                    <a:pt x="26530" y="0"/>
                    <a:pt x="33532" y="3941"/>
                    <a:pt x="37448" y="10395"/>
                  </a:cubicBezTo>
                  <a:lnTo>
                    <a:pt x="18981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21" name="Text Box 26"/>
          <p:cNvSpPr txBox="1">
            <a:spLocks noChangeArrowheads="1"/>
          </p:cNvSpPr>
          <p:nvPr/>
        </p:nvSpPr>
        <p:spPr bwMode="auto">
          <a:xfrm>
            <a:off x="7277741" y="1584325"/>
            <a:ext cx="3505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当折线段的最大</a:t>
            </a:r>
            <a:r>
              <a:rPr kumimoji="1"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边长</a:t>
            </a:r>
            <a:r>
              <a:rPr kumimoji="1" lang="en-US" altLang="zh-CN" sz="2800" i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 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2" name="Text Box 29"/>
          <p:cNvSpPr txBox="1">
            <a:spLocks noChangeArrowheads="1"/>
          </p:cNvSpPr>
          <p:nvPr/>
        </p:nvSpPr>
        <p:spPr bwMode="auto">
          <a:xfrm>
            <a:off x="2645915" y="2098675"/>
            <a:ext cx="15716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→</a:t>
            </a:r>
            <a:r>
              <a:rPr kumimoji="1" lang="en-US" altLang="zh-CN" sz="2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0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时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,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3" name="Text Box 30"/>
          <p:cNvSpPr txBox="1">
            <a:spLocks noChangeArrowheads="1"/>
          </p:cNvSpPr>
          <p:nvPr/>
        </p:nvSpPr>
        <p:spPr bwMode="auto">
          <a:xfrm>
            <a:off x="4227065" y="2098676"/>
            <a:ext cx="579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折线的长度趋向于一个确定的极限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4" name="Group 58"/>
          <p:cNvGrpSpPr/>
          <p:nvPr/>
        </p:nvGrpSpPr>
        <p:grpSpPr bwMode="auto">
          <a:xfrm>
            <a:off x="2607815" y="2622550"/>
            <a:ext cx="4656138" cy="533400"/>
            <a:chOff x="144" y="1392"/>
            <a:chExt cx="2933" cy="336"/>
          </a:xfrm>
        </p:grpSpPr>
        <p:sp>
          <p:nvSpPr>
            <p:cNvPr id="25" name="Text Box 32"/>
            <p:cNvSpPr txBox="1">
              <a:spLocks noChangeArrowheads="1"/>
            </p:cNvSpPr>
            <p:nvPr/>
          </p:nvSpPr>
          <p:spPr bwMode="auto">
            <a:xfrm>
              <a:off x="144" y="1401"/>
              <a:ext cx="29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rPr>
                <a:t>此极限为曲线弧 </a:t>
              </a:r>
              <a:r>
                <a:rPr kumimoji="1" lang="en-US" altLang="zh-CN" sz="2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rPr>
                <a:t>AB</a:t>
              </a:r>
              <a:r>
                <a: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rPr>
                <a:t> </a:t>
              </a: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rPr>
                <a:t>的弧长 </a:t>
              </a:r>
              <a:r>
                <a: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rPr>
                <a:t>,</a:t>
              </a:r>
              <a:endPara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6" name="Arc 35"/>
            <p:cNvSpPr/>
            <p:nvPr/>
          </p:nvSpPr>
          <p:spPr bwMode="auto">
            <a:xfrm>
              <a:off x="1832" y="1392"/>
              <a:ext cx="280" cy="161"/>
            </a:xfrm>
            <a:custGeom>
              <a:avLst/>
              <a:gdLst>
                <a:gd name="G0" fmla="+- 18981 0 0"/>
                <a:gd name="G1" fmla="+- 21600 0 0"/>
                <a:gd name="G2" fmla="+- 21600 0 0"/>
                <a:gd name="T0" fmla="*/ 0 w 37448"/>
                <a:gd name="T1" fmla="*/ 11291 h 21600"/>
                <a:gd name="T2" fmla="*/ 37448 w 37448"/>
                <a:gd name="T3" fmla="*/ 10396 h 21600"/>
                <a:gd name="T4" fmla="*/ 18981 w 3744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448" h="21600" fill="none" extrusionOk="0">
                  <a:moveTo>
                    <a:pt x="-1" y="11290"/>
                  </a:moveTo>
                  <a:cubicBezTo>
                    <a:pt x="3779" y="4332"/>
                    <a:pt x="11062" y="0"/>
                    <a:pt x="18981" y="0"/>
                  </a:cubicBezTo>
                  <a:cubicBezTo>
                    <a:pt x="26530" y="0"/>
                    <a:pt x="33532" y="3941"/>
                    <a:pt x="37448" y="10395"/>
                  </a:cubicBezTo>
                </a:path>
                <a:path w="37448" h="21600" stroke="0" extrusionOk="0">
                  <a:moveTo>
                    <a:pt x="-1" y="11290"/>
                  </a:moveTo>
                  <a:cubicBezTo>
                    <a:pt x="3779" y="4332"/>
                    <a:pt x="11062" y="0"/>
                    <a:pt x="18981" y="0"/>
                  </a:cubicBezTo>
                  <a:cubicBezTo>
                    <a:pt x="26530" y="0"/>
                    <a:pt x="33532" y="3941"/>
                    <a:pt x="37448" y="10395"/>
                  </a:cubicBezTo>
                  <a:lnTo>
                    <a:pt x="18981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27" name="Text Box 38"/>
          <p:cNvSpPr txBox="1">
            <a:spLocks noChangeArrowheads="1"/>
          </p:cNvSpPr>
          <p:nvPr/>
        </p:nvSpPr>
        <p:spPr bwMode="auto">
          <a:xfrm>
            <a:off x="6994077" y="2622551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即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8" name="Text Box 39"/>
          <p:cNvSpPr txBox="1">
            <a:spLocks noChangeArrowheads="1"/>
          </p:cNvSpPr>
          <p:nvPr/>
        </p:nvSpPr>
        <p:spPr bwMode="auto">
          <a:xfrm>
            <a:off x="1885950" y="4738688"/>
            <a:ext cx="4343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并称此曲线弧为可求长的.</a:t>
            </a:r>
            <a:endParaRPr kumimoji="1" lang="zh-CN" altLang="en-US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Object 40"/>
              <p:cNvSpPr txBox="1"/>
              <p:nvPr/>
            </p:nvSpPr>
            <p:spPr bwMode="auto">
              <a:xfrm>
                <a:off x="4409440" y="3894455"/>
                <a:ext cx="1257300" cy="4699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  <m: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zh-CN" altLang="en-US" sz="2200" i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9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09440" y="3894455"/>
                <a:ext cx="1257300" cy="4699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 Box 41"/>
          <p:cNvSpPr txBox="1">
            <a:spLocks noChangeArrowheads="1"/>
          </p:cNvSpPr>
          <p:nvPr/>
        </p:nvSpPr>
        <p:spPr bwMode="auto">
          <a:xfrm>
            <a:off x="1885950" y="5287963"/>
            <a:ext cx="60134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定理: 任意光滑曲线弧都是可求长的.</a:t>
            </a:r>
            <a:endParaRPr kumimoji="1" lang="zh-CN" altLang="en-US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1" name="Text Box 42"/>
          <p:cNvSpPr txBox="1">
            <a:spLocks noChangeArrowheads="1"/>
          </p:cNvSpPr>
          <p:nvPr/>
        </p:nvSpPr>
        <p:spPr bwMode="auto">
          <a:xfrm>
            <a:off x="6130925" y="5835015"/>
            <a:ext cx="144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(证明略)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4926A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Object 43"/>
              <p:cNvSpPr txBox="1"/>
              <p:nvPr/>
            </p:nvSpPr>
            <p:spPr bwMode="auto">
              <a:xfrm>
                <a:off x="3947160" y="3616325"/>
                <a:ext cx="520700" cy="10160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  <m: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  <m: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r>
                            <a:rPr kumimoji="1" lang="en-US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kumimoji="1" lang="zh-CN" altLang="en-US" sz="2200" i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2" name="Object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7160" y="3616325"/>
                <a:ext cx="520700" cy="1016000"/>
              </a:xfrm>
              <a:prstGeom prst="rect">
                <a:avLst/>
              </a:prstGeom>
              <a:blipFill rotWithShape="1">
                <a:blip r:embed="rId3"/>
                <a:stretch>
                  <a:fillRect r="-95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44"/>
              <p:cNvSpPr txBox="1"/>
              <p:nvPr/>
            </p:nvSpPr>
            <p:spPr bwMode="auto">
              <a:xfrm>
                <a:off x="2969765" y="3884181"/>
                <a:ext cx="1257300" cy="6096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𝜆</m:t>
                              </m:r>
                              <m: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→</m:t>
                              </m:r>
                              <m: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kumimoji="1" lang="zh-CN" altLang="en-US" sz="2200" i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3" name="Object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69765" y="3884181"/>
                <a:ext cx="1257300" cy="609600"/>
              </a:xfrm>
              <a:prstGeom prst="rect">
                <a:avLst/>
              </a:prstGeom>
              <a:blipFill rotWithShape="1">
                <a:blip r:embed="rId4"/>
                <a:stretch>
                  <a:fillRect l="-40" t="-85" r="40" b="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组合 59"/>
          <p:cNvGrpSpPr/>
          <p:nvPr/>
        </p:nvGrpSpPr>
        <p:grpSpPr>
          <a:xfrm>
            <a:off x="9737731" y="2095500"/>
            <a:ext cx="895350" cy="519430"/>
            <a:chOff x="15139" y="3160"/>
            <a:chExt cx="1410" cy="818"/>
          </a:xfrm>
        </p:grpSpPr>
        <p:sp>
          <p:nvSpPr>
            <p:cNvPr id="34" name="Text Box 57"/>
            <p:cNvSpPr txBox="1">
              <a:spLocks noChangeArrowheads="1"/>
            </p:cNvSpPr>
            <p:nvPr/>
          </p:nvSpPr>
          <p:spPr bwMode="auto">
            <a:xfrm>
              <a:off x="15139" y="3160"/>
              <a:ext cx="1410" cy="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rPr>
                <a:t>则称</a:t>
              </a: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5784" y="3279"/>
              <a:ext cx="120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i="1" dirty="0">
                  <a:latin typeface="Cambria Math" panose="02040503050406030204" pitchFamily="18" charset="0"/>
                  <a:cs typeface="Times New Roman" panose="02020603050405020304" pitchFamily="18" charset="0"/>
                  <a:sym typeface="+mn-ea"/>
                </a:rPr>
                <a:t> </a:t>
              </a:r>
              <a:endParaRPr lang="zh-CN" altLang="en-US" dirty="0"/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077" y="3514045"/>
            <a:ext cx="2857430" cy="2349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1" grpId="0" autoUpdateAnimBg="0"/>
      <p:bldP spid="22" grpId="0" autoUpdateAnimBg="0"/>
      <p:bldP spid="23" grpId="0" autoUpdateAnimBg="0"/>
      <p:bldP spid="27" grpId="0" autoUpdateAnimBg="0"/>
      <p:bldP spid="28" grpId="0" autoUpdateAnimBg="0"/>
      <p:bldP spid="29" grpId="0"/>
      <p:bldP spid="30" grpId="0" autoUpdateAnimBg="0"/>
      <p:bldP spid="31" grpId="0" autoUpdateAnimBg="0"/>
      <p:bldP spid="32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746250" y="536575"/>
            <a:ext cx="8658860" cy="580009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半闭框 4"/>
          <p:cNvSpPr/>
          <p:nvPr/>
        </p:nvSpPr>
        <p:spPr>
          <a:xfrm>
            <a:off x="1746250" y="536575"/>
            <a:ext cx="681355" cy="739140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半闭框 5"/>
          <p:cNvSpPr/>
          <p:nvPr/>
        </p:nvSpPr>
        <p:spPr>
          <a:xfrm flipH="1">
            <a:off x="9723755" y="535940"/>
            <a:ext cx="681355" cy="739140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半闭框 6"/>
          <p:cNvSpPr/>
          <p:nvPr/>
        </p:nvSpPr>
        <p:spPr>
          <a:xfrm flipV="1">
            <a:off x="1746250" y="5665470"/>
            <a:ext cx="681355" cy="673735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半闭框 7"/>
          <p:cNvSpPr/>
          <p:nvPr/>
        </p:nvSpPr>
        <p:spPr>
          <a:xfrm flipH="1" flipV="1">
            <a:off x="9723755" y="5642610"/>
            <a:ext cx="681355" cy="693420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3090143" y="656872"/>
            <a:ext cx="5251450" cy="533400"/>
          </a:xfrm>
        </p:spPr>
        <p:txBody>
          <a:bodyPr>
            <a:normAutofit/>
          </a:bodyPr>
          <a:lstStyle/>
          <a:p>
            <a:pPr algn="l"/>
            <a:r>
              <a:rPr kumimoji="1" lang="en-US" altLang="zh-CN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  <a:sym typeface="+mn-ea"/>
              </a:rPr>
              <a:t>(1)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</a:rPr>
              <a:t>曲线弧由直角坐标方程给出</a:t>
            </a:r>
            <a:r>
              <a:rPr lang="en-US" altLang="zh-CN" sz="2800" dirty="0">
                <a:solidFill>
                  <a:schemeClr val="tx1"/>
                </a:solidFill>
                <a:ea typeface="黑体" panose="02010609060101010101" pitchFamily="49" charset="-122"/>
              </a:rPr>
              <a:t>:</a:t>
            </a:r>
            <a:endParaRPr lang="en-US" altLang="zh-CN" sz="28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bject 4"/>
              <p:cNvSpPr txBox="1"/>
              <p:nvPr/>
            </p:nvSpPr>
            <p:spPr bwMode="auto">
              <a:xfrm>
                <a:off x="4317597" y="1161027"/>
                <a:ext cx="3496948" cy="64266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17597" y="1161027"/>
                <a:ext cx="3496948" cy="642660"/>
              </a:xfrm>
              <a:prstGeom prst="rect">
                <a:avLst/>
              </a:prstGeom>
              <a:blipFill rotWithShape="1">
                <a:blip r:embed="rId1"/>
                <a:stretch>
                  <a:fillRect l="-7" t="-38" r="7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3090143" y="1828898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弧长元素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(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弧微分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) :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Object 31"/>
              <p:cNvSpPr txBox="1"/>
              <p:nvPr/>
            </p:nvSpPr>
            <p:spPr bwMode="auto">
              <a:xfrm>
                <a:off x="4647001" y="3083417"/>
                <a:ext cx="2527300" cy="615789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′</m:t>
                              </m:r>
                              <m: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func>
                        <m:func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fName>
                        <m:e>
                          <m:r>
                            <a:rPr kumimoji="1"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kumimoji="1" lang="zh-CN" altLang="en-US" sz="2800" i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6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7001" y="3083417"/>
                <a:ext cx="2527300" cy="615789"/>
              </a:xfrm>
              <a:prstGeom prst="rect">
                <a:avLst/>
              </a:prstGeom>
              <a:blipFill rotWithShape="1">
                <a:blip r:embed="rId2"/>
                <a:stretch>
                  <a:fillRect l="-3" t="-80" r="3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Box 33"/>
          <p:cNvSpPr txBox="1">
            <a:spLocks noChangeArrowheads="1"/>
          </p:cNvSpPr>
          <p:nvPr/>
        </p:nvSpPr>
        <p:spPr bwMode="auto">
          <a:xfrm>
            <a:off x="3090143" y="3723700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因此所求弧长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Object 34"/>
              <p:cNvSpPr txBox="1"/>
              <p:nvPr/>
            </p:nvSpPr>
            <p:spPr bwMode="auto">
              <a:xfrm>
                <a:off x="4364762" y="4135587"/>
                <a:ext cx="3305747" cy="1068531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</m:t>
                          </m:r>
                        </m:sub>
                        <m:sup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𝑏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  <m: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′</m:t>
                                  </m:r>
                                  <m: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800" i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8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4762" y="4135587"/>
                <a:ext cx="3305747" cy="1068531"/>
              </a:xfrm>
              <a:prstGeom prst="rect">
                <a:avLst/>
              </a:prstGeom>
              <a:blipFill rotWithShape="1">
                <a:blip r:embed="rId3"/>
                <a:stretch>
                  <a:fillRect l="-12" t="-44" r="10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Object 35"/>
              <p:cNvSpPr txBox="1"/>
              <p:nvPr/>
            </p:nvSpPr>
            <p:spPr bwMode="auto">
              <a:xfrm>
                <a:off x="4636749" y="5204118"/>
                <a:ext cx="3305747" cy="1068532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</m:t>
                          </m:r>
                        </m:sub>
                        <m:sup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𝑏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  <m: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′</m:t>
                                  </m:r>
                                  <m: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</m:rad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800" i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9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36749" y="5204118"/>
                <a:ext cx="3305747" cy="1068532"/>
              </a:xfrm>
              <a:prstGeom prst="rect">
                <a:avLst/>
              </a:prstGeom>
              <a:blipFill rotWithShape="1">
                <a:blip r:embed="rId4"/>
                <a:stretch>
                  <a:fillRect l="-19" t="-27" r="17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39"/>
              <p:cNvSpPr txBox="1"/>
              <p:nvPr/>
            </p:nvSpPr>
            <p:spPr bwMode="auto">
              <a:xfrm>
                <a:off x="4187664" y="2399458"/>
                <a:ext cx="3816672" cy="755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</m:e>
                          </m:func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+(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</m:e>
                          </m:func>
                        </m:e>
                      </m:rad>
                    </m:oMath>
                  </m:oMathPara>
                </a14:m>
                <a:endParaRPr kumimoji="1" lang="zh-CN" altLang="en-US" sz="2800" i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3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87664" y="2399458"/>
                <a:ext cx="3816672" cy="755113"/>
              </a:xfrm>
              <a:prstGeom prst="rect">
                <a:avLst/>
              </a:prstGeom>
              <a:blipFill rotWithShape="1">
                <a:blip r:embed="rId5"/>
                <a:stretch>
                  <a:fillRect l="-12" t="-57" r="4" b="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9" grpId="0" autoUpdateAnimBg="0"/>
      <p:bldP spid="26" grpId="0"/>
      <p:bldP spid="27" grpId="0" autoUpdateAnimBg="0"/>
      <p:bldP spid="28" grpId="0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1746250" y="536575"/>
            <a:ext cx="8658860" cy="580009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1746250" y="536575"/>
            <a:ext cx="681355" cy="739140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9723755" y="535940"/>
            <a:ext cx="681355" cy="739140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1746250" y="5665470"/>
            <a:ext cx="681355" cy="673735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9723755" y="5642610"/>
            <a:ext cx="681355" cy="693420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663" name="Object 15"/>
              <p:cNvSpPr txBox="1"/>
              <p:nvPr/>
            </p:nvSpPr>
            <p:spPr bwMode="auto">
              <a:xfrm>
                <a:off x="4721453" y="1381875"/>
                <a:ext cx="4587240" cy="1090941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i="1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kumimoji="1" lang="en-US" altLang="zh-CN" sz="2800" i="1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zh-CN" sz="280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en-US" altLang="zh-CN" sz="280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lang="en-US" altLang="zh-CN" sz="28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𝜑</m:t>
                                </m:r>
                                <m:r>
                                  <a:rPr kumimoji="1" lang="en-US" altLang="zh-CN" sz="280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en-US" altLang="zh-CN" sz="280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𝑡</m:t>
                                </m:r>
                                <m:r>
                                  <a:rPr kumimoji="1" lang="en-US" altLang="zh-CN" sz="280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80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en-US" altLang="zh-CN" sz="280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kumimoji="1" lang="en-US" altLang="zh-CN" sz="280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𝜓</m:t>
                                </m:r>
                                <m:r>
                                  <a:rPr kumimoji="1" lang="en-US" altLang="zh-CN" sz="280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en-US" altLang="zh-CN" sz="280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𝑡</m:t>
                                </m:r>
                                <m:r>
                                  <a:rPr kumimoji="1" lang="en-US" altLang="zh-CN" sz="280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en-US" altLang="zh-CN" sz="2800" b="0" i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 </m:t>
                      </m:r>
                      <m:r>
                        <a:rPr kumimoji="1" lang="en-US" altLang="zh-CN" sz="28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en-US" altLang="zh-CN" sz="28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𝛼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en-US" altLang="zh-CN" sz="28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en-US" altLang="zh-CN" sz="28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𝛽</m:t>
                      </m:r>
                      <m:r>
                        <a:rPr kumimoji="1" lang="en-US" altLang="zh-CN" sz="28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en-US" altLang="zh-CN" sz="28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7663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1453" y="1381875"/>
                <a:ext cx="4587240" cy="1090941"/>
              </a:xfrm>
              <a:prstGeom prst="rect">
                <a:avLst/>
              </a:prstGeom>
              <a:blipFill rotWithShape="1">
                <a:blip r:embed="rId1"/>
                <a:stretch>
                  <a:fillRect l="-5" t="-11" r="5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4"/>
          <p:cNvSpPr>
            <a:spLocks noGrp="1" noChangeArrowheads="1"/>
          </p:cNvSpPr>
          <p:nvPr>
            <p:ph type="title"/>
          </p:nvPr>
        </p:nvSpPr>
        <p:spPr>
          <a:xfrm>
            <a:off x="3238500" y="843463"/>
            <a:ext cx="4489450" cy="533400"/>
          </a:xfrm>
        </p:spPr>
        <p:txBody>
          <a:bodyPr/>
          <a:lstStyle/>
          <a:p>
            <a:pPr algn="l"/>
            <a:r>
              <a:rPr kumimoji="1" lang="en-US" altLang="zh-CN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  <a:sym typeface="+mn-ea"/>
              </a:rPr>
              <a:t>(2)</a:t>
            </a:r>
            <a:r>
              <a:rPr lang="en-US" altLang="zh-CN" sz="28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</a:rPr>
              <a:t>曲线弧由参数方程给出</a:t>
            </a:r>
            <a:r>
              <a:rPr lang="en-US" altLang="zh-CN" sz="2800" dirty="0">
                <a:solidFill>
                  <a:schemeClr val="tx1"/>
                </a:solidFill>
                <a:ea typeface="黑体" panose="02010609060101010101" pitchFamily="49" charset="-122"/>
              </a:rPr>
              <a:t>:</a:t>
            </a:r>
            <a:endParaRPr lang="en-US" altLang="zh-CN" sz="28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3238500" y="2558381"/>
            <a:ext cx="327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弧长元素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(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弧微分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) :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Text Box 28"/>
          <p:cNvSpPr txBox="1">
            <a:spLocks noChangeArrowheads="1"/>
          </p:cNvSpPr>
          <p:nvPr/>
        </p:nvSpPr>
        <p:spPr bwMode="auto">
          <a:xfrm>
            <a:off x="3238500" y="4644072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因此所求弧长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29"/>
              <p:cNvSpPr txBox="1"/>
              <p:nvPr/>
            </p:nvSpPr>
            <p:spPr bwMode="auto">
              <a:xfrm>
                <a:off x="4974754" y="5114654"/>
                <a:ext cx="4483571" cy="104775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sub>
                        <m:sup>
                          <m:r>
                            <a:rPr kumimoji="1" lang="zh-CN" altLang="en-US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𝛽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kumimoji="1" lang="zh-CN" altLang="en-US" sz="2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𝜑</m:t>
                                  </m:r>
                                </m:e>
                                <m:sup>
                                  <m:r>
                                    <a:rPr kumimoji="1" lang="zh-CN" altLang="en-US" sz="2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′</m:t>
                                  </m:r>
                                  <m:r>
                                    <a:rPr kumimoji="1" lang="zh-CN" altLang="en-US" sz="2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  <m:r>
                                <a:rPr kumimoji="1" lang="zh-CN" altLang="en-US" sz="2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)+</m:t>
                              </m:r>
                              <m:sSup>
                                <m:sSupPr>
                                  <m:ctrlPr>
                                    <a:rPr kumimoji="1" lang="zh-CN" altLang="en-US" sz="2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𝜓</m:t>
                                  </m:r>
                                </m:e>
                                <m:sup>
                                  <m:r>
                                    <a:rPr kumimoji="1" lang="zh-CN" altLang="en-US" sz="2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′</m:t>
                                  </m:r>
                                  <m:r>
                                    <a:rPr kumimoji="1" lang="zh-CN" altLang="en-US" sz="2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  <m:r>
                                <a:rPr kumimoji="1" lang="zh-CN" altLang="en-US" sz="2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</m:rad>
                        </m:e>
                      </m:nary>
                      <m:r>
                        <m:rPr>
                          <m:sty m:val="p"/>
                        </m:rPr>
                        <a:rPr kumimoji="1" lang="en-US" altLang="zh-CN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𝑡</m:t>
                      </m:r>
                    </m:oMath>
                  </m:oMathPara>
                </a14:m>
                <a:endParaRPr kumimoji="1" lang="zh-CN" altLang="en-US" sz="2600" i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74754" y="5114654"/>
                <a:ext cx="4483571" cy="1047750"/>
              </a:xfrm>
              <a:prstGeom prst="rect">
                <a:avLst/>
              </a:prstGeom>
              <a:blipFill rotWithShape="1">
                <a:blip r:embed="rId2"/>
                <a:stretch>
                  <a:fillRect l="-4" t="-35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36"/>
              <p:cNvSpPr txBox="1"/>
              <p:nvPr/>
            </p:nvSpPr>
            <p:spPr bwMode="auto">
              <a:xfrm>
                <a:off x="5226050" y="3908902"/>
                <a:ext cx="3344096" cy="649606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8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p>
                              <m: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′</m:t>
                              </m:r>
                              <m: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𝜓</m:t>
                              </m:r>
                            </m:e>
                            <m:sup>
                              <m: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′</m:t>
                              </m:r>
                              <m: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</m:rad>
                      <m:r>
                        <m:rPr>
                          <m:sty m:val="p"/>
                        </m:rP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𝑡</m:t>
                      </m:r>
                    </m:oMath>
                  </m:oMathPara>
                </a14:m>
                <a:endParaRPr kumimoji="1" lang="zh-CN" altLang="en-US" sz="2800" i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Objec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26050" y="3908902"/>
                <a:ext cx="3344096" cy="649606"/>
              </a:xfrm>
              <a:prstGeom prst="rect">
                <a:avLst/>
              </a:prstGeom>
              <a:blipFill rotWithShape="1">
                <a:blip r:embed="rId3"/>
                <a:stretch>
                  <a:fillRect t="-73" r="6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39"/>
              <p:cNvSpPr txBox="1"/>
              <p:nvPr/>
            </p:nvSpPr>
            <p:spPr bwMode="auto">
              <a:xfrm>
                <a:off x="4750028" y="3194686"/>
                <a:ext cx="3700462" cy="9016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+(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kumimoji="1" lang="zh-CN" altLang="en-US" sz="2800" i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50028" y="3194686"/>
                <a:ext cx="3700462" cy="901699"/>
              </a:xfrm>
              <a:prstGeom prst="rect">
                <a:avLst/>
              </a:prstGeom>
              <a:blipFill rotWithShape="1">
                <a:blip r:embed="rId4"/>
                <a:stretch>
                  <a:fillRect l="-6" r="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3" grpId="0"/>
      <p:bldP spid="2" grpId="0"/>
      <p:bldP spid="4" grpId="0" autoUpdateAnimBg="0"/>
      <p:bldP spid="5" grpId="0" autoUpdateAnimBg="0"/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357476" y="2152436"/>
            <a:ext cx="6115050" cy="5835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复习  二重积分的积分区域：面积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9434" name="Object 42"/>
              <p:cNvSpPr txBox="1"/>
              <p:nvPr/>
            </p:nvSpPr>
            <p:spPr bwMode="auto">
              <a:xfrm>
                <a:off x="2543712" y="3637496"/>
                <a:ext cx="2825730" cy="13202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59434" name="Object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3712" y="3637496"/>
                <a:ext cx="2825730" cy="1320228"/>
              </a:xfrm>
              <a:prstGeom prst="rect">
                <a:avLst/>
              </a:prstGeom>
              <a:blipFill rotWithShape="1">
                <a:blip r:embed="rId1"/>
                <a:stretch>
                  <a:fillRect l="-19" t="-16" r="18" b="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435" name="Text Box 43"/>
          <p:cNvSpPr txBox="1">
            <a:spLocks noChangeArrowheads="1"/>
          </p:cNvSpPr>
          <p:nvPr/>
        </p:nvSpPr>
        <p:spPr bwMode="auto">
          <a:xfrm>
            <a:off x="1344275" y="3165437"/>
            <a:ext cx="3886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引例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中曲顶柱体体积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436" name="Object 44"/>
              <p:cNvSpPr txBox="1"/>
              <p:nvPr/>
            </p:nvSpPr>
            <p:spPr bwMode="auto">
              <a:xfrm>
                <a:off x="2543712" y="5253076"/>
                <a:ext cx="2946707" cy="12500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59436" name="Object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3712" y="5253076"/>
                <a:ext cx="2946707" cy="1250062"/>
              </a:xfrm>
              <a:prstGeom prst="rect">
                <a:avLst/>
              </a:prstGeom>
              <a:blipFill rotWithShape="1">
                <a:blip r:embed="rId2"/>
                <a:stretch>
                  <a:fillRect l="-18" t="-28" r="7" b="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437" name="Text Box 45"/>
          <p:cNvSpPr txBox="1">
            <a:spLocks noChangeArrowheads="1"/>
          </p:cNvSpPr>
          <p:nvPr/>
        </p:nvSpPr>
        <p:spPr bwMode="auto">
          <a:xfrm>
            <a:off x="1344275" y="4866286"/>
            <a:ext cx="4038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引例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中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平面薄板的质量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457" name="Object 65"/>
              <p:cNvSpPr txBox="1"/>
              <p:nvPr/>
            </p:nvSpPr>
            <p:spPr bwMode="auto">
              <a:xfrm>
                <a:off x="5257554" y="3642856"/>
                <a:ext cx="2948488" cy="12837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59457" name="Object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7554" y="3642856"/>
                <a:ext cx="2948488" cy="1283732"/>
              </a:xfrm>
              <a:prstGeom prst="rect">
                <a:avLst/>
              </a:prstGeom>
              <a:blipFill rotWithShape="1">
                <a:blip r:embed="rId3"/>
                <a:stretch>
                  <a:fillRect l="-13" t="-39" r="19" b="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458" name="Object 66"/>
              <p:cNvSpPr txBox="1"/>
              <p:nvPr/>
            </p:nvSpPr>
            <p:spPr bwMode="auto">
              <a:xfrm>
                <a:off x="5275371" y="5266931"/>
                <a:ext cx="2948489" cy="12837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59458" name="Object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75371" y="5266931"/>
                <a:ext cx="2948489" cy="1283732"/>
              </a:xfrm>
              <a:prstGeom prst="rect">
                <a:avLst/>
              </a:prstGeom>
              <a:blipFill rotWithShape="1">
                <a:blip r:embed="rId4"/>
                <a:stretch>
                  <a:fillRect l="-14" t="-19" r="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Freeform 11" descr="大网格"/>
          <p:cNvSpPr/>
          <p:nvPr/>
        </p:nvSpPr>
        <p:spPr bwMode="auto">
          <a:xfrm>
            <a:off x="8911121" y="2554562"/>
            <a:ext cx="1397000" cy="1400175"/>
          </a:xfrm>
          <a:custGeom>
            <a:avLst/>
            <a:gdLst>
              <a:gd name="T0" fmla="*/ 0 w 1309"/>
              <a:gd name="T1" fmla="*/ 546 h 1327"/>
              <a:gd name="T2" fmla="*/ 18 w 1309"/>
              <a:gd name="T3" fmla="*/ 891 h 1327"/>
              <a:gd name="T4" fmla="*/ 73 w 1309"/>
              <a:gd name="T5" fmla="*/ 1145 h 1327"/>
              <a:gd name="T6" fmla="*/ 146 w 1309"/>
              <a:gd name="T7" fmla="*/ 1218 h 1327"/>
              <a:gd name="T8" fmla="*/ 200 w 1309"/>
              <a:gd name="T9" fmla="*/ 1236 h 1327"/>
              <a:gd name="T10" fmla="*/ 346 w 1309"/>
              <a:gd name="T11" fmla="*/ 1273 h 1327"/>
              <a:gd name="T12" fmla="*/ 637 w 1309"/>
              <a:gd name="T13" fmla="*/ 1309 h 1327"/>
              <a:gd name="T14" fmla="*/ 946 w 1309"/>
              <a:gd name="T15" fmla="*/ 1327 h 1327"/>
              <a:gd name="T16" fmla="*/ 1182 w 1309"/>
              <a:gd name="T17" fmla="*/ 1218 h 1327"/>
              <a:gd name="T18" fmla="*/ 1255 w 1309"/>
              <a:gd name="T19" fmla="*/ 1109 h 1327"/>
              <a:gd name="T20" fmla="*/ 1309 w 1309"/>
              <a:gd name="T21" fmla="*/ 909 h 1327"/>
              <a:gd name="T22" fmla="*/ 1200 w 1309"/>
              <a:gd name="T23" fmla="*/ 364 h 1327"/>
              <a:gd name="T24" fmla="*/ 964 w 1309"/>
              <a:gd name="T25" fmla="*/ 55 h 1327"/>
              <a:gd name="T26" fmla="*/ 927 w 1309"/>
              <a:gd name="T27" fmla="*/ 18 h 1327"/>
              <a:gd name="T28" fmla="*/ 764 w 1309"/>
              <a:gd name="T29" fmla="*/ 0 h 1327"/>
              <a:gd name="T30" fmla="*/ 527 w 1309"/>
              <a:gd name="T31" fmla="*/ 37 h 1327"/>
              <a:gd name="T32" fmla="*/ 400 w 1309"/>
              <a:gd name="T33" fmla="*/ 200 h 1327"/>
              <a:gd name="T34" fmla="*/ 237 w 1309"/>
              <a:gd name="T35" fmla="*/ 346 h 1327"/>
              <a:gd name="T36" fmla="*/ 0 w 1309"/>
              <a:gd name="T37" fmla="*/ 546 h 13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309" h="1327">
                <a:moveTo>
                  <a:pt x="0" y="546"/>
                </a:moveTo>
                <a:cubicBezTo>
                  <a:pt x="6" y="661"/>
                  <a:pt x="9" y="776"/>
                  <a:pt x="18" y="891"/>
                </a:cubicBezTo>
                <a:cubicBezTo>
                  <a:pt x="20" y="920"/>
                  <a:pt x="39" y="1111"/>
                  <a:pt x="73" y="1145"/>
                </a:cubicBezTo>
                <a:cubicBezTo>
                  <a:pt x="97" y="1169"/>
                  <a:pt x="122" y="1194"/>
                  <a:pt x="146" y="1218"/>
                </a:cubicBezTo>
                <a:cubicBezTo>
                  <a:pt x="159" y="1231"/>
                  <a:pt x="182" y="1231"/>
                  <a:pt x="200" y="1236"/>
                </a:cubicBezTo>
                <a:cubicBezTo>
                  <a:pt x="248" y="1249"/>
                  <a:pt x="296" y="1265"/>
                  <a:pt x="346" y="1273"/>
                </a:cubicBezTo>
                <a:cubicBezTo>
                  <a:pt x="442" y="1289"/>
                  <a:pt x="540" y="1301"/>
                  <a:pt x="637" y="1309"/>
                </a:cubicBezTo>
                <a:cubicBezTo>
                  <a:pt x="740" y="1318"/>
                  <a:pt x="843" y="1321"/>
                  <a:pt x="946" y="1327"/>
                </a:cubicBezTo>
                <a:cubicBezTo>
                  <a:pt x="1086" y="1304"/>
                  <a:pt x="1082" y="1318"/>
                  <a:pt x="1182" y="1218"/>
                </a:cubicBezTo>
                <a:cubicBezTo>
                  <a:pt x="1213" y="1187"/>
                  <a:pt x="1255" y="1109"/>
                  <a:pt x="1255" y="1109"/>
                </a:cubicBezTo>
                <a:cubicBezTo>
                  <a:pt x="1296" y="945"/>
                  <a:pt x="1276" y="1011"/>
                  <a:pt x="1309" y="909"/>
                </a:cubicBezTo>
                <a:cubicBezTo>
                  <a:pt x="1297" y="722"/>
                  <a:pt x="1307" y="525"/>
                  <a:pt x="1200" y="364"/>
                </a:cubicBezTo>
                <a:cubicBezTo>
                  <a:pt x="1154" y="225"/>
                  <a:pt x="1075" y="144"/>
                  <a:pt x="964" y="55"/>
                </a:cubicBezTo>
                <a:cubicBezTo>
                  <a:pt x="950" y="44"/>
                  <a:pt x="944" y="23"/>
                  <a:pt x="927" y="18"/>
                </a:cubicBezTo>
                <a:cubicBezTo>
                  <a:pt x="874" y="4"/>
                  <a:pt x="818" y="6"/>
                  <a:pt x="764" y="0"/>
                </a:cubicBezTo>
                <a:cubicBezTo>
                  <a:pt x="764" y="0"/>
                  <a:pt x="576" y="4"/>
                  <a:pt x="527" y="37"/>
                </a:cubicBezTo>
                <a:cubicBezTo>
                  <a:pt x="451" y="88"/>
                  <a:pt x="471" y="129"/>
                  <a:pt x="400" y="200"/>
                </a:cubicBezTo>
                <a:cubicBezTo>
                  <a:pt x="353" y="247"/>
                  <a:pt x="292" y="309"/>
                  <a:pt x="237" y="346"/>
                </a:cubicBezTo>
                <a:cubicBezTo>
                  <a:pt x="146" y="407"/>
                  <a:pt x="52" y="439"/>
                  <a:pt x="0" y="546"/>
                </a:cubicBezTo>
                <a:close/>
              </a:path>
            </a:pathLst>
          </a:custGeom>
          <a:pattFill prst="lgGrid">
            <a:fgClr>
              <a:schemeClr val="tx1"/>
            </a:fgClr>
            <a:bgClr>
              <a:srgbClr val="FFFFFF"/>
            </a:bgClr>
          </a:pattFill>
          <a:ln w="28575" cap="sq" cmpd="sng">
            <a:solidFill>
              <a:schemeClr val="accent2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3" name="Group 18"/>
          <p:cNvGrpSpPr/>
          <p:nvPr/>
        </p:nvGrpSpPr>
        <p:grpSpPr bwMode="auto">
          <a:xfrm>
            <a:off x="8145948" y="2233887"/>
            <a:ext cx="2774951" cy="2395538"/>
            <a:chOff x="3406" y="758"/>
            <a:chExt cx="1748" cy="1509"/>
          </a:xfrm>
        </p:grpSpPr>
        <p:grpSp>
          <p:nvGrpSpPr>
            <p:cNvPr id="24" name="Group 5"/>
            <p:cNvGrpSpPr/>
            <p:nvPr/>
          </p:nvGrpSpPr>
          <p:grpSpPr bwMode="auto">
            <a:xfrm>
              <a:off x="3406" y="758"/>
              <a:ext cx="1748" cy="1509"/>
              <a:chOff x="380" y="3"/>
              <a:chExt cx="2600" cy="2270"/>
            </a:xfrm>
          </p:grpSpPr>
          <p:sp>
            <p:nvSpPr>
              <p:cNvPr id="27" name="Line 6"/>
              <p:cNvSpPr>
                <a:spLocks noChangeShapeType="1"/>
              </p:cNvSpPr>
              <p:nvPr/>
            </p:nvSpPr>
            <p:spPr bwMode="auto">
              <a:xfrm flipV="1">
                <a:off x="888" y="137"/>
                <a:ext cx="0" cy="1968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Line 7"/>
              <p:cNvSpPr>
                <a:spLocks noChangeShapeType="1"/>
              </p:cNvSpPr>
              <p:nvPr/>
            </p:nvSpPr>
            <p:spPr bwMode="auto">
              <a:xfrm>
                <a:off x="380" y="1850"/>
                <a:ext cx="254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" name="Object 8"/>
                  <p:cNvSpPr txBox="1"/>
                  <p:nvPr/>
                </p:nvSpPr>
                <p:spPr bwMode="auto">
                  <a:xfrm>
                    <a:off x="2589" y="1759"/>
                    <a:ext cx="391" cy="48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>
              <p:sp>
                <p:nvSpPr>
                  <p:cNvPr id="29" name="Object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589" y="1759"/>
                    <a:ext cx="391" cy="487"/>
                  </a:xfrm>
                  <a:prstGeom prst="rect">
                    <a:avLst/>
                  </a:prstGeom>
                  <a:blipFill rotWithShape="1">
                    <a:blip r:embed="rId5"/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" name="Object 9"/>
                  <p:cNvSpPr txBox="1"/>
                  <p:nvPr/>
                </p:nvSpPr>
                <p:spPr bwMode="auto">
                  <a:xfrm>
                    <a:off x="491" y="3"/>
                    <a:ext cx="507" cy="49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>
              <p:sp>
                <p:nvSpPr>
                  <p:cNvPr id="30" name="Object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91" y="3"/>
                    <a:ext cx="507" cy="492"/>
                  </a:xfrm>
                  <a:prstGeom prst="rect">
                    <a:avLst/>
                  </a:prstGeom>
                  <a:blipFill rotWithShape="1">
                    <a:blip r:embed="rId6"/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" name="Object 10"/>
                  <p:cNvSpPr txBox="1"/>
                  <p:nvPr/>
                </p:nvSpPr>
                <p:spPr bwMode="auto">
                  <a:xfrm>
                    <a:off x="542" y="1786"/>
                    <a:ext cx="691" cy="48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zh-CN" altLang="en-US" sz="2800" i="1" dirty="0"/>
                  </a:p>
                </p:txBody>
              </p:sp>
            </mc:Choice>
            <mc:Fallback>
              <p:sp>
                <p:nvSpPr>
                  <p:cNvPr id="31" name="Object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42" y="1786"/>
                    <a:ext cx="691" cy="487"/>
                  </a:xfrm>
                  <a:prstGeom prst="rect">
                    <a:avLst/>
                  </a:prstGeom>
                  <a:blipFill rotWithShape="1">
                    <a:blip r:embed="rId7"/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 Box 12" descr="大网格"/>
                <p:cNvSpPr txBox="1">
                  <a:spLocks noChangeArrowheads="1"/>
                </p:cNvSpPr>
                <p:nvPr/>
              </p:nvSpPr>
              <p:spPr bwMode="auto">
                <a:xfrm>
                  <a:off x="4282" y="1337"/>
                  <a:ext cx="393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lgGrid">
                        <a:fgClr>
                          <a:schemeClr val="tx2"/>
                        </a:fgClr>
                        <a:bgClr>
                          <a:srgbClr val="FFFFFF"/>
                        </a:bgClr>
                      </a:patt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altLang="zh-CN" sz="1800" dirty="0"/>
                </a:p>
              </p:txBody>
            </p:sp>
          </mc:Choice>
          <mc:Fallback>
            <p:sp>
              <p:nvSpPr>
                <p:cNvPr id="25" name="Text Box 12" descr="大网格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82" y="1337"/>
                  <a:ext cx="393" cy="330"/>
                </a:xfrm>
                <a:prstGeom prst="rect">
                  <a:avLst/>
                </a:prstGeom>
                <a:blipFill rotWithShape="1">
                  <a:blip r:embed="rId8"/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lgGrid">
                        <a:fgClr>
                          <a:schemeClr val="tx2"/>
                        </a:fgClr>
                        <a:bgClr>
                          <a:srgbClr val="FFFFFF"/>
                        </a:bgClr>
                      </a:patt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Freeform 17" descr="大网格"/>
            <p:cNvSpPr/>
            <p:nvPr/>
          </p:nvSpPr>
          <p:spPr bwMode="auto">
            <a:xfrm>
              <a:off x="3888" y="960"/>
              <a:ext cx="880" cy="882"/>
            </a:xfrm>
            <a:custGeom>
              <a:avLst/>
              <a:gdLst>
                <a:gd name="T0" fmla="*/ 0 w 1309"/>
                <a:gd name="T1" fmla="*/ 546 h 1327"/>
                <a:gd name="T2" fmla="*/ 18 w 1309"/>
                <a:gd name="T3" fmla="*/ 891 h 1327"/>
                <a:gd name="T4" fmla="*/ 73 w 1309"/>
                <a:gd name="T5" fmla="*/ 1145 h 1327"/>
                <a:gd name="T6" fmla="*/ 146 w 1309"/>
                <a:gd name="T7" fmla="*/ 1218 h 1327"/>
                <a:gd name="T8" fmla="*/ 200 w 1309"/>
                <a:gd name="T9" fmla="*/ 1236 h 1327"/>
                <a:gd name="T10" fmla="*/ 346 w 1309"/>
                <a:gd name="T11" fmla="*/ 1273 h 1327"/>
                <a:gd name="T12" fmla="*/ 637 w 1309"/>
                <a:gd name="T13" fmla="*/ 1309 h 1327"/>
                <a:gd name="T14" fmla="*/ 946 w 1309"/>
                <a:gd name="T15" fmla="*/ 1327 h 1327"/>
                <a:gd name="T16" fmla="*/ 1182 w 1309"/>
                <a:gd name="T17" fmla="*/ 1218 h 1327"/>
                <a:gd name="T18" fmla="*/ 1255 w 1309"/>
                <a:gd name="T19" fmla="*/ 1109 h 1327"/>
                <a:gd name="T20" fmla="*/ 1309 w 1309"/>
                <a:gd name="T21" fmla="*/ 909 h 1327"/>
                <a:gd name="T22" fmla="*/ 1200 w 1309"/>
                <a:gd name="T23" fmla="*/ 364 h 1327"/>
                <a:gd name="T24" fmla="*/ 964 w 1309"/>
                <a:gd name="T25" fmla="*/ 55 h 1327"/>
                <a:gd name="T26" fmla="*/ 927 w 1309"/>
                <a:gd name="T27" fmla="*/ 18 h 1327"/>
                <a:gd name="T28" fmla="*/ 764 w 1309"/>
                <a:gd name="T29" fmla="*/ 0 h 1327"/>
                <a:gd name="T30" fmla="*/ 527 w 1309"/>
                <a:gd name="T31" fmla="*/ 37 h 1327"/>
                <a:gd name="T32" fmla="*/ 400 w 1309"/>
                <a:gd name="T33" fmla="*/ 200 h 1327"/>
                <a:gd name="T34" fmla="*/ 237 w 1309"/>
                <a:gd name="T35" fmla="*/ 346 h 1327"/>
                <a:gd name="T36" fmla="*/ 0 w 1309"/>
                <a:gd name="T37" fmla="*/ 546 h 1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09" h="1327">
                  <a:moveTo>
                    <a:pt x="0" y="546"/>
                  </a:moveTo>
                  <a:cubicBezTo>
                    <a:pt x="6" y="661"/>
                    <a:pt x="9" y="776"/>
                    <a:pt x="18" y="891"/>
                  </a:cubicBezTo>
                  <a:cubicBezTo>
                    <a:pt x="20" y="920"/>
                    <a:pt x="39" y="1111"/>
                    <a:pt x="73" y="1145"/>
                  </a:cubicBezTo>
                  <a:cubicBezTo>
                    <a:pt x="97" y="1169"/>
                    <a:pt x="122" y="1194"/>
                    <a:pt x="146" y="1218"/>
                  </a:cubicBezTo>
                  <a:cubicBezTo>
                    <a:pt x="159" y="1231"/>
                    <a:pt x="182" y="1231"/>
                    <a:pt x="200" y="1236"/>
                  </a:cubicBezTo>
                  <a:cubicBezTo>
                    <a:pt x="248" y="1249"/>
                    <a:pt x="296" y="1265"/>
                    <a:pt x="346" y="1273"/>
                  </a:cubicBezTo>
                  <a:cubicBezTo>
                    <a:pt x="442" y="1289"/>
                    <a:pt x="540" y="1301"/>
                    <a:pt x="637" y="1309"/>
                  </a:cubicBezTo>
                  <a:cubicBezTo>
                    <a:pt x="740" y="1318"/>
                    <a:pt x="843" y="1321"/>
                    <a:pt x="946" y="1327"/>
                  </a:cubicBezTo>
                  <a:cubicBezTo>
                    <a:pt x="1086" y="1304"/>
                    <a:pt x="1082" y="1318"/>
                    <a:pt x="1182" y="1218"/>
                  </a:cubicBezTo>
                  <a:cubicBezTo>
                    <a:pt x="1213" y="1187"/>
                    <a:pt x="1255" y="1109"/>
                    <a:pt x="1255" y="1109"/>
                  </a:cubicBezTo>
                  <a:cubicBezTo>
                    <a:pt x="1296" y="945"/>
                    <a:pt x="1276" y="1011"/>
                    <a:pt x="1309" y="909"/>
                  </a:cubicBezTo>
                  <a:cubicBezTo>
                    <a:pt x="1297" y="722"/>
                    <a:pt x="1307" y="525"/>
                    <a:pt x="1200" y="364"/>
                  </a:cubicBezTo>
                  <a:cubicBezTo>
                    <a:pt x="1154" y="225"/>
                    <a:pt x="1075" y="144"/>
                    <a:pt x="964" y="55"/>
                  </a:cubicBezTo>
                  <a:cubicBezTo>
                    <a:pt x="950" y="44"/>
                    <a:pt x="944" y="23"/>
                    <a:pt x="927" y="18"/>
                  </a:cubicBezTo>
                  <a:cubicBezTo>
                    <a:pt x="874" y="4"/>
                    <a:pt x="818" y="6"/>
                    <a:pt x="764" y="0"/>
                  </a:cubicBezTo>
                  <a:cubicBezTo>
                    <a:pt x="764" y="0"/>
                    <a:pt x="576" y="4"/>
                    <a:pt x="527" y="37"/>
                  </a:cubicBezTo>
                  <a:cubicBezTo>
                    <a:pt x="451" y="88"/>
                    <a:pt x="471" y="129"/>
                    <a:pt x="400" y="200"/>
                  </a:cubicBezTo>
                  <a:cubicBezTo>
                    <a:pt x="353" y="247"/>
                    <a:pt x="292" y="309"/>
                    <a:pt x="237" y="346"/>
                  </a:cubicBezTo>
                  <a:cubicBezTo>
                    <a:pt x="146" y="407"/>
                    <a:pt x="52" y="439"/>
                    <a:pt x="0" y="546"/>
                  </a:cubicBezTo>
                  <a:close/>
                </a:path>
              </a:pathLst>
            </a:custGeom>
            <a:noFill/>
            <a:ln w="28575" cap="sq" cmpd="sng">
              <a:solidFill>
                <a:srgbClr val="04926A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1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763954" y="600507"/>
                <a:ext cx="9944224" cy="5219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/>
                  <a:t>在直角坐标系下用平行于坐标轴的直线网来划分</a:t>
                </a:r>
                <a:r>
                  <a:rPr lang="zh-CN" altLang="en-US" sz="2800" dirty="0">
                    <a:solidFill>
                      <a:srgbClr val="FF0000"/>
                    </a:solidFill>
                    <a:highlight>
                      <a:srgbClr val="FFFF00"/>
                    </a:highlight>
                  </a:rPr>
                  <a:t>区域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𝐷</m:t>
                    </m:r>
                    <m:r>
                      <a:rPr lang="en-US" altLang="zh-CN" sz="2800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zh-CN" sz="2800" b="0" i="1" dirty="0" smtClean="0">
                  <a:highlight>
                    <a:srgbClr val="FFFF00"/>
                  </a:highlight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54" y="600507"/>
                <a:ext cx="9944224" cy="521970"/>
              </a:xfrm>
              <a:prstGeom prst="rect">
                <a:avLst/>
              </a:prstGeom>
              <a:blipFill rotWithShape="1">
                <a:blip r:embed="rId9"/>
                <a:stretch>
                  <a:fillRect t="-83" r="2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19"/>
          <p:cNvSpPr>
            <a:spLocks noChangeArrowheads="1"/>
          </p:cNvSpPr>
          <p:nvPr/>
        </p:nvSpPr>
        <p:spPr bwMode="auto">
          <a:xfrm>
            <a:off x="1344275" y="1083347"/>
            <a:ext cx="236439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dirty="0"/>
              <a:t>则面积元素为</a:t>
            </a:r>
            <a:endParaRPr lang="zh-CN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对象 2"/>
              <p:cNvSpPr txBox="1"/>
              <p:nvPr/>
            </p:nvSpPr>
            <p:spPr>
              <a:xfrm>
                <a:off x="3559816" y="1094573"/>
                <a:ext cx="1877438" cy="56119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2800" i="1" dirty="0">
                  <a:solidFill>
                    <a:srgbClr val="000000"/>
                  </a:solidFill>
                  <a:highlight>
                    <a:srgbClr val="FFFF00"/>
                  </a:highlight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816" y="1094573"/>
                <a:ext cx="1877438" cy="561190"/>
              </a:xfrm>
              <a:prstGeom prst="rect">
                <a:avLst/>
              </a:prstGeom>
              <a:blipFill rotWithShape="1">
                <a:blip r:embed="rId10"/>
                <a:stretch>
                  <a:fillRect t="-83" r="20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Object 3"/>
              <p:cNvSpPr txBox="1"/>
              <p:nvPr/>
            </p:nvSpPr>
            <p:spPr bwMode="auto">
              <a:xfrm>
                <a:off x="2543712" y="1977598"/>
                <a:ext cx="5247728" cy="11660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3712" y="1977598"/>
                <a:ext cx="5247728" cy="1166007"/>
              </a:xfrm>
              <a:prstGeom prst="rect">
                <a:avLst/>
              </a:prstGeom>
              <a:blipFill rotWithShape="1">
                <a:blip r:embed="rId11"/>
                <a:stretch>
                  <a:fillRect l="-10" t="-18" r="12" b="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 Box 14" descr="大网格"/>
          <p:cNvSpPr txBox="1">
            <a:spLocks noChangeArrowheads="1"/>
          </p:cNvSpPr>
          <p:nvPr/>
        </p:nvSpPr>
        <p:spPr bwMode="auto">
          <a:xfrm>
            <a:off x="1344275" y="1573952"/>
            <a:ext cx="30335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dirty="0"/>
              <a:t>故二重积分可写为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9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9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9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9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34" grpId="0" bldLvl="0" animBg="1"/>
      <p:bldP spid="59435" grpId="0"/>
      <p:bldP spid="59436" grpId="0" bldLvl="0" animBg="1"/>
      <p:bldP spid="59437" grpId="0"/>
      <p:bldP spid="59457" grpId="0" bldLvl="0" animBg="1"/>
      <p:bldP spid="59458" grpId="0" bldLvl="0" animBg="1"/>
      <p:bldP spid="22" grpId="0" bldLvl="0" animBg="1"/>
      <p:bldP spid="2" grpId="0"/>
      <p:bldP spid="33" grpId="0" bldLvl="0" animBg="1"/>
      <p:bldP spid="3" grpId="0"/>
      <p:bldP spid="35" grpId="0" bldLvl="0" animBg="1"/>
      <p:bldP spid="36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357476" y="2152436"/>
            <a:ext cx="6115050" cy="5835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复习  三重积分的积分区域：体积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6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8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" name="Group 2"/>
          <p:cNvGrpSpPr/>
          <p:nvPr/>
        </p:nvGrpSpPr>
        <p:grpSpPr bwMode="auto">
          <a:xfrm>
            <a:off x="2549076" y="2550884"/>
            <a:ext cx="563562" cy="685800"/>
            <a:chOff x="0" y="1536"/>
            <a:chExt cx="480" cy="528"/>
          </a:xfrm>
        </p:grpSpPr>
        <p:sp>
          <p:nvSpPr>
            <p:cNvPr id="28" name="Rectangle 3"/>
            <p:cNvSpPr>
              <a:spLocks noChangeArrowheads="1"/>
            </p:cNvSpPr>
            <p:nvPr/>
          </p:nvSpPr>
          <p:spPr bwMode="auto">
            <a:xfrm>
              <a:off x="0" y="1536"/>
              <a:ext cx="480" cy="240"/>
            </a:xfrm>
            <a:prstGeom prst="rect">
              <a:avLst/>
            </a:prstGeom>
            <a:solidFill>
              <a:srgbClr val="04926A"/>
            </a:solidFill>
            <a:ln w="12700" cap="sq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AutoShape 4"/>
            <p:cNvSpPr>
              <a:spLocks noChangeArrowheads="1"/>
            </p:cNvSpPr>
            <p:nvPr/>
          </p:nvSpPr>
          <p:spPr bwMode="auto">
            <a:xfrm>
              <a:off x="176" y="1776"/>
              <a:ext cx="144" cy="28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4926A"/>
            </a:solidFill>
            <a:ln w="12700" cap="sq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6036" name="Rectangle 20"/>
          <p:cNvSpPr>
            <a:spLocks noChangeArrowheads="1"/>
          </p:cNvSpPr>
          <p:nvPr/>
        </p:nvSpPr>
        <p:spPr bwMode="auto">
          <a:xfrm>
            <a:off x="1389508" y="880125"/>
            <a:ext cx="9203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记作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6038" name="Text Box 22"/>
          <p:cNvSpPr txBox="1">
            <a:spLocks noChangeArrowheads="1"/>
          </p:cNvSpPr>
          <p:nvPr/>
        </p:nvSpPr>
        <p:spPr bwMode="auto">
          <a:xfrm>
            <a:off x="4767224" y="857459"/>
            <a:ext cx="9203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041" name="Text Box 25"/>
          <p:cNvSpPr txBox="1">
            <a:spLocks noChangeArrowheads="1"/>
          </p:cNvSpPr>
          <p:nvPr/>
        </p:nvSpPr>
        <p:spPr bwMode="auto">
          <a:xfrm>
            <a:off x="1389380" y="5370830"/>
            <a:ext cx="445643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在直角坐标系中，</a:t>
            </a:r>
            <a:r>
              <a:rPr lang="zh-CN" altLang="en-US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体积元素</a:t>
            </a:r>
            <a:endParaRPr lang="zh-CN" altLang="en-US" sz="28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042" name="Text Box 26"/>
              <p:cNvSpPr txBox="1">
                <a:spLocks noChangeArrowheads="1"/>
              </p:cNvSpPr>
              <p:nvPr/>
            </p:nvSpPr>
            <p:spPr bwMode="auto">
              <a:xfrm>
                <a:off x="5725109" y="5357655"/>
                <a:ext cx="2819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d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highlight>
                      <a:srgbClr val="FFFF00"/>
                    </a:highlight>
                    <a:latin typeface="Cambria Math" panose="02040503050406030204" pitchFamily="18" charset="0"/>
                  </a:rPr>
                  <a:t>= </a:t>
                </a:r>
                <a:r>
                  <a:rPr lang="en-US" altLang="zh-CN" sz="2800" dirty="0" err="1">
                    <a:solidFill>
                      <a:srgbClr val="000000"/>
                    </a:solidFill>
                    <a:highlight>
                      <a:srgbClr val="FFFF00"/>
                    </a:highlight>
                    <a:latin typeface="Cambria Math" panose="02040503050406030204" pitchFamily="18" charset="0"/>
                  </a:rPr>
                  <a:t>d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800" dirty="0" err="1">
                    <a:solidFill>
                      <a:srgbClr val="000000"/>
                    </a:solidFill>
                    <a:highlight>
                      <a:srgbClr val="FFFF00"/>
                    </a:highlight>
                    <a:latin typeface="Cambria Math" panose="02040503050406030204" pitchFamily="18" charset="0"/>
                  </a:rPr>
                  <a:t>d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sz="2800" dirty="0" err="1">
                    <a:solidFill>
                      <a:srgbClr val="000000"/>
                    </a:solidFill>
                    <a:highlight>
                      <a:srgbClr val="FFFF00"/>
                    </a:highlight>
                    <a:latin typeface="Cambria Math" panose="02040503050406030204" pitchFamily="18" charset="0"/>
                  </a:rPr>
                  <a:t>d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highlight>
                      <a:srgbClr val="FFFF00"/>
                    </a:highlight>
                    <a:latin typeface="Cambria Math" panose="02040503050406030204" pitchFamily="18" charset="0"/>
                  </a:rPr>
                  <a:t>.</a:t>
                </a:r>
                <a:endParaRPr lang="en-US" altLang="zh-CN" sz="2800" dirty="0">
                  <a:solidFill>
                    <a:srgbClr val="000000"/>
                  </a:solidFill>
                  <a:highlight>
                    <a:srgbClr val="FFFF00"/>
                  </a:highlight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6042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25109" y="5357655"/>
                <a:ext cx="2819400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21" t="-31" r="21" b="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对象 2"/>
              <p:cNvSpPr txBox="1"/>
              <p:nvPr/>
            </p:nvSpPr>
            <p:spPr>
              <a:xfrm>
                <a:off x="2186748" y="518754"/>
                <a:ext cx="2690596" cy="124265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748" y="518754"/>
                <a:ext cx="2690596" cy="1242654"/>
              </a:xfrm>
              <a:prstGeom prst="rect">
                <a:avLst/>
              </a:prstGeom>
              <a:blipFill rotWithShape="1">
                <a:blip r:embed="rId3"/>
                <a:stretch>
                  <a:fillRect l="-16" t="-48" r="20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对象 3"/>
              <p:cNvSpPr txBox="1"/>
              <p:nvPr/>
            </p:nvSpPr>
            <p:spPr>
              <a:xfrm>
                <a:off x="2518913" y="1599767"/>
                <a:ext cx="6679835" cy="150652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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913" y="1599767"/>
                <a:ext cx="6679835" cy="1506527"/>
              </a:xfrm>
              <a:prstGeom prst="rect">
                <a:avLst/>
              </a:prstGeom>
              <a:blipFill rotWithShape="1">
                <a:blip r:embed="rId4"/>
                <a:stretch>
                  <a:fillRect l="-8" t="-13" r="2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 Box 5" descr="大网格"/>
          <p:cNvSpPr txBox="1">
            <a:spLocks noChangeArrowheads="1"/>
          </p:cNvSpPr>
          <p:nvPr/>
        </p:nvSpPr>
        <p:spPr bwMode="auto">
          <a:xfrm>
            <a:off x="2549626" y="3426081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</a:rPr>
              <a:t>积分区域</a:t>
            </a:r>
            <a:endParaRPr lang="zh-CN" altLang="en-US" sz="4000" dirty="0">
              <a:solidFill>
                <a:srgbClr val="04926A"/>
              </a:solidFill>
            </a:endParaRPr>
          </a:p>
        </p:txBody>
      </p:sp>
      <p:grpSp>
        <p:nvGrpSpPr>
          <p:cNvPr id="31" name="Group 7"/>
          <p:cNvGrpSpPr/>
          <p:nvPr/>
        </p:nvGrpSpPr>
        <p:grpSpPr bwMode="auto">
          <a:xfrm>
            <a:off x="5971291" y="1661270"/>
            <a:ext cx="3060890" cy="1838538"/>
            <a:chOff x="3353" y="883"/>
            <a:chExt cx="2664" cy="1270"/>
          </a:xfrm>
        </p:grpSpPr>
        <p:sp>
          <p:nvSpPr>
            <p:cNvPr id="32" name="Rectangle 8" descr="大网格"/>
            <p:cNvSpPr>
              <a:spLocks noChangeArrowheads="1"/>
            </p:cNvSpPr>
            <p:nvPr/>
          </p:nvSpPr>
          <p:spPr bwMode="auto">
            <a:xfrm>
              <a:off x="3353" y="883"/>
              <a:ext cx="2664" cy="845"/>
            </a:xfrm>
            <a:prstGeom prst="rect">
              <a:avLst/>
            </a:prstGeom>
            <a:noFill/>
            <a:ln w="38100" cap="sq">
              <a:solidFill>
                <a:srgbClr val="92D05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AutoShape 9"/>
            <p:cNvSpPr>
              <a:spLocks noChangeArrowheads="1"/>
            </p:cNvSpPr>
            <p:nvPr/>
          </p:nvSpPr>
          <p:spPr bwMode="auto">
            <a:xfrm>
              <a:off x="5673" y="1719"/>
              <a:ext cx="117" cy="434"/>
            </a:xfrm>
            <a:prstGeom prst="downArrow">
              <a:avLst>
                <a:gd name="adj1" fmla="val 50000"/>
                <a:gd name="adj2" fmla="val 175000"/>
              </a:avLst>
            </a:prstGeom>
            <a:solidFill>
              <a:srgbClr val="A9D18E"/>
            </a:solidFill>
            <a:ln w="12700" cap="sq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" name="Text Box 10" descr="大网格"/>
          <p:cNvSpPr txBox="1">
            <a:spLocks noChangeArrowheads="1"/>
          </p:cNvSpPr>
          <p:nvPr/>
        </p:nvSpPr>
        <p:spPr bwMode="auto">
          <a:xfrm>
            <a:off x="8396369" y="3629306"/>
            <a:ext cx="615553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A9D18E"/>
                </a:solidFill>
              </a:rPr>
              <a:t>积分和</a:t>
            </a:r>
            <a:endParaRPr lang="zh-CN" altLang="en-US" sz="4000" dirty="0">
              <a:solidFill>
                <a:srgbClr val="A9D18E"/>
              </a:solidFill>
            </a:endParaRPr>
          </a:p>
        </p:txBody>
      </p:sp>
      <p:grpSp>
        <p:nvGrpSpPr>
          <p:cNvPr id="35" name="Group 11"/>
          <p:cNvGrpSpPr/>
          <p:nvPr/>
        </p:nvGrpSpPr>
        <p:grpSpPr bwMode="auto">
          <a:xfrm>
            <a:off x="3149983" y="2025012"/>
            <a:ext cx="1423377" cy="1403350"/>
            <a:chOff x="414" y="1056"/>
            <a:chExt cx="1457" cy="1056"/>
          </a:xfrm>
        </p:grpSpPr>
        <p:sp>
          <p:nvSpPr>
            <p:cNvPr id="36" name="Rectangle 12" descr="大网格"/>
            <p:cNvSpPr>
              <a:spLocks noChangeArrowheads="1"/>
            </p:cNvSpPr>
            <p:nvPr/>
          </p:nvSpPr>
          <p:spPr bwMode="auto">
            <a:xfrm>
              <a:off x="414" y="1056"/>
              <a:ext cx="1457" cy="485"/>
            </a:xfrm>
            <a:prstGeom prst="rect">
              <a:avLst/>
            </a:prstGeom>
            <a:noFill/>
            <a:ln w="38100" cap="sq">
              <a:solidFill>
                <a:srgbClr val="4A7BA8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AutoShape 13"/>
            <p:cNvSpPr>
              <a:spLocks noChangeArrowheads="1"/>
            </p:cNvSpPr>
            <p:nvPr/>
          </p:nvSpPr>
          <p:spPr bwMode="auto">
            <a:xfrm>
              <a:off x="960" y="1632"/>
              <a:ext cx="48" cy="480"/>
            </a:xfrm>
            <a:prstGeom prst="downArrow">
              <a:avLst>
                <a:gd name="adj1" fmla="val 50000"/>
                <a:gd name="adj2" fmla="val 250000"/>
              </a:avLst>
            </a:prstGeom>
            <a:solidFill>
              <a:srgbClr val="4A7BA8"/>
            </a:solidFill>
            <a:ln w="12700" cap="sq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" name="Text Box 14" descr="大网格"/>
          <p:cNvSpPr txBox="1">
            <a:spLocks noChangeArrowheads="1"/>
          </p:cNvSpPr>
          <p:nvPr/>
        </p:nvSpPr>
        <p:spPr bwMode="auto">
          <a:xfrm>
            <a:off x="3429644" y="3528374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4A7BA8"/>
                </a:solidFill>
              </a:rPr>
              <a:t>被积函数</a:t>
            </a:r>
            <a:endParaRPr lang="zh-CN" altLang="en-US" sz="1800" dirty="0">
              <a:solidFill>
                <a:srgbClr val="4A7BA8"/>
              </a:solidFill>
            </a:endParaRPr>
          </a:p>
        </p:txBody>
      </p:sp>
      <p:grpSp>
        <p:nvGrpSpPr>
          <p:cNvPr id="39" name="Group 15"/>
          <p:cNvGrpSpPr/>
          <p:nvPr/>
        </p:nvGrpSpPr>
        <p:grpSpPr bwMode="auto">
          <a:xfrm>
            <a:off x="3592520" y="2064383"/>
            <a:ext cx="929875" cy="1251540"/>
            <a:chOff x="876" y="1177"/>
            <a:chExt cx="762" cy="996"/>
          </a:xfrm>
        </p:grpSpPr>
        <p:sp>
          <p:nvSpPr>
            <p:cNvPr id="40" name="Rectangle 16" descr="大网格"/>
            <p:cNvSpPr>
              <a:spLocks noChangeArrowheads="1"/>
            </p:cNvSpPr>
            <p:nvPr/>
          </p:nvSpPr>
          <p:spPr bwMode="auto">
            <a:xfrm>
              <a:off x="876" y="1177"/>
              <a:ext cx="762" cy="288"/>
            </a:xfrm>
            <a:prstGeom prst="rect">
              <a:avLst/>
            </a:prstGeom>
            <a:noFill/>
            <a:ln w="19050" cap="sq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AutoShape 17"/>
            <p:cNvSpPr>
              <a:spLocks noChangeArrowheads="1"/>
            </p:cNvSpPr>
            <p:nvPr/>
          </p:nvSpPr>
          <p:spPr bwMode="auto">
            <a:xfrm rot="20124323">
              <a:off x="1517" y="1453"/>
              <a:ext cx="48" cy="720"/>
            </a:xfrm>
            <a:prstGeom prst="downArrow">
              <a:avLst>
                <a:gd name="adj1" fmla="val 50000"/>
                <a:gd name="adj2" fmla="val 375000"/>
              </a:avLst>
            </a:prstGeom>
            <a:solidFill>
              <a:srgbClr val="FF0000"/>
            </a:solidFill>
            <a:ln w="12700" cap="sq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2" name="Text Box 18" descr="大网格"/>
          <p:cNvSpPr txBox="1">
            <a:spLocks noChangeArrowheads="1"/>
          </p:cNvSpPr>
          <p:nvPr/>
        </p:nvSpPr>
        <p:spPr bwMode="auto">
          <a:xfrm>
            <a:off x="4337694" y="3452174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</a:rPr>
              <a:t>积分变量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43" name="Text Box 19" descr="大网格"/>
          <p:cNvSpPr txBox="1">
            <a:spLocks noChangeArrowheads="1"/>
          </p:cNvSpPr>
          <p:nvPr/>
        </p:nvSpPr>
        <p:spPr bwMode="auto">
          <a:xfrm>
            <a:off x="5417333" y="3455845"/>
            <a:ext cx="615553" cy="1887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993300"/>
                </a:solidFill>
              </a:rPr>
              <a:t>被积表达式</a:t>
            </a:r>
            <a:endParaRPr lang="zh-CN" altLang="en-US" sz="4000" dirty="0">
              <a:solidFill>
                <a:srgbClr val="993300"/>
              </a:solidFill>
            </a:endParaRPr>
          </a:p>
        </p:txBody>
      </p:sp>
      <p:grpSp>
        <p:nvGrpSpPr>
          <p:cNvPr id="44" name="Group 20"/>
          <p:cNvGrpSpPr/>
          <p:nvPr/>
        </p:nvGrpSpPr>
        <p:grpSpPr bwMode="auto">
          <a:xfrm>
            <a:off x="3196876" y="1925000"/>
            <a:ext cx="2543512" cy="1504104"/>
            <a:chOff x="864" y="1920"/>
            <a:chExt cx="1429" cy="836"/>
          </a:xfrm>
        </p:grpSpPr>
        <p:sp>
          <p:nvSpPr>
            <p:cNvPr id="45" name="Rectangle 21" descr="大网格"/>
            <p:cNvSpPr>
              <a:spLocks noChangeArrowheads="1"/>
            </p:cNvSpPr>
            <p:nvPr/>
          </p:nvSpPr>
          <p:spPr bwMode="auto">
            <a:xfrm>
              <a:off x="864" y="1920"/>
              <a:ext cx="986" cy="460"/>
            </a:xfrm>
            <a:prstGeom prst="rect">
              <a:avLst/>
            </a:prstGeom>
            <a:noFill/>
            <a:ln w="38100" cap="sq">
              <a:solidFill>
                <a:srgbClr val="9933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22"/>
            <p:cNvSpPr>
              <a:spLocks noChangeShapeType="1"/>
            </p:cNvSpPr>
            <p:nvPr/>
          </p:nvSpPr>
          <p:spPr bwMode="auto">
            <a:xfrm>
              <a:off x="1850" y="2390"/>
              <a:ext cx="443" cy="366"/>
            </a:xfrm>
            <a:prstGeom prst="line">
              <a:avLst/>
            </a:prstGeom>
            <a:noFill/>
            <a:ln w="38100" cap="sq">
              <a:solidFill>
                <a:srgbClr val="99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7" name="Group 23"/>
          <p:cNvGrpSpPr/>
          <p:nvPr/>
        </p:nvGrpSpPr>
        <p:grpSpPr bwMode="auto">
          <a:xfrm>
            <a:off x="4516050" y="1910141"/>
            <a:ext cx="1990764" cy="992758"/>
            <a:chOff x="1792" y="1069"/>
            <a:chExt cx="1808" cy="800"/>
          </a:xfrm>
        </p:grpSpPr>
        <p:sp>
          <p:nvSpPr>
            <p:cNvPr id="48" name="Oval 24" descr="大网格"/>
            <p:cNvSpPr>
              <a:spLocks noChangeArrowheads="1"/>
            </p:cNvSpPr>
            <p:nvPr/>
          </p:nvSpPr>
          <p:spPr bwMode="auto">
            <a:xfrm>
              <a:off x="1792" y="1069"/>
              <a:ext cx="528" cy="480"/>
            </a:xfrm>
            <a:prstGeom prst="ellipse">
              <a:avLst/>
            </a:prstGeom>
            <a:noFill/>
            <a:ln w="28575" cap="sq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AutoShape 25"/>
            <p:cNvSpPr>
              <a:spLocks noChangeArrowheads="1"/>
            </p:cNvSpPr>
            <p:nvPr/>
          </p:nvSpPr>
          <p:spPr bwMode="auto">
            <a:xfrm rot="17650697">
              <a:off x="2764" y="1034"/>
              <a:ext cx="93" cy="1578"/>
            </a:xfrm>
            <a:prstGeom prst="downArrow">
              <a:avLst>
                <a:gd name="adj1" fmla="val 50000"/>
                <a:gd name="adj2" fmla="val 424194"/>
              </a:avLst>
            </a:prstGeom>
            <a:solidFill>
              <a:srgbClr val="00B0F0"/>
            </a:solidFill>
            <a:ln w="12700" cap="sq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0" name="Text Box 26" descr="大网格"/>
          <p:cNvSpPr txBox="1">
            <a:spLocks noChangeArrowheads="1"/>
          </p:cNvSpPr>
          <p:nvPr/>
        </p:nvSpPr>
        <p:spPr bwMode="auto">
          <a:xfrm>
            <a:off x="6172669" y="3418720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0B0F0"/>
                </a:solidFill>
              </a:rPr>
              <a:t>体积元素</a:t>
            </a:r>
            <a:endParaRPr lang="zh-CN" altLang="en-US" sz="40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75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75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75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36" grpId="0" bldLvl="0" animBg="1"/>
      <p:bldP spid="86038" grpId="0" bldLvl="0" animBg="1"/>
      <p:bldP spid="86041" grpId="0" bldLvl="0" animBg="1"/>
      <p:bldP spid="86042" grpId="0" bldLvl="0" animBg="1"/>
      <p:bldP spid="3" grpId="0"/>
      <p:bldP spid="4" grpId="0"/>
      <p:bldP spid="30" grpId="0" bldLvl="0" animBg="1" autoUpdateAnimBg="0"/>
      <p:bldP spid="34" grpId="0" bldLvl="0" animBg="1" autoUpdateAnimBg="0"/>
      <p:bldP spid="38" grpId="0" bldLvl="0" animBg="1" autoUpdateAnimBg="0"/>
      <p:bldP spid="42" grpId="0" bldLvl="0" animBg="1" autoUpdateAnimBg="0"/>
      <p:bldP spid="43" grpId="0" bldLvl="0" animBg="1" autoUpdateAnimBg="0"/>
      <p:bldP spid="50" grpId="0" bldLvl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>
          <a:xfrm>
            <a:off x="455295" y="578485"/>
            <a:ext cx="7982585" cy="7035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一、问题的提出（</a:t>
            </a:r>
            <a:r>
              <a:rPr lang="zh-CN" altLang="en-US" sz="3200" b="1" dirty="0">
                <a:solidFill>
                  <a:srgbClr val="04926A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如果积分区域是一根线？</a:t>
            </a:r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lang="zh-CN" altLang="en-US" sz="32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Object 36"/>
              <p:cNvSpPr txBox="1"/>
              <p:nvPr/>
            </p:nvSpPr>
            <p:spPr bwMode="auto">
              <a:xfrm>
                <a:off x="3010549" y="2099436"/>
                <a:ext cx="3010634" cy="49699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𝑀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𝜌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⋅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44" name="Objec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0549" y="2099436"/>
                <a:ext cx="3010634" cy="496995"/>
              </a:xfrm>
              <a:prstGeom prst="rect">
                <a:avLst/>
              </a:prstGeom>
              <a:blipFill rotWithShape="1">
                <a:blip r:embed="rId1"/>
                <a:stretch>
                  <a:fillRect t="-25" r="4" b="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 Box 37"/>
          <p:cNvSpPr txBox="1">
            <a:spLocks noChangeArrowheads="1"/>
          </p:cNvSpPr>
          <p:nvPr/>
        </p:nvSpPr>
        <p:spPr bwMode="auto">
          <a:xfrm>
            <a:off x="1071342" y="2077319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匀质之质量</a:t>
            </a:r>
            <a:endParaRPr kumimoji="1" lang="zh-CN" altLang="en-US" sz="28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46" name="Text Box 38"/>
          <p:cNvSpPr txBox="1">
            <a:spLocks noChangeArrowheads="1"/>
          </p:cNvSpPr>
          <p:nvPr/>
        </p:nvSpPr>
        <p:spPr bwMode="auto">
          <a:xfrm>
            <a:off x="1078759" y="2781316"/>
            <a:ext cx="17870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大化小</a:t>
            </a:r>
            <a:endParaRPr kumimoji="1" lang="zh-CN" altLang="en-US" sz="2800" dirty="0">
              <a:solidFill>
                <a:srgbClr val="00926A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Object 39"/>
              <p:cNvSpPr txBox="1"/>
              <p:nvPr/>
            </p:nvSpPr>
            <p:spPr bwMode="auto">
              <a:xfrm>
                <a:off x="3075116" y="2781316"/>
                <a:ext cx="4275871" cy="54086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,⋯,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−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→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47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5116" y="2781316"/>
                <a:ext cx="4275871" cy="540866"/>
              </a:xfrm>
              <a:prstGeom prst="rect">
                <a:avLst/>
              </a:prstGeom>
              <a:blipFill rotWithShape="1">
                <a:blip r:embed="rId2"/>
                <a:stretch>
                  <a:fillRect l="-10" t="-3" r="5" b="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Object 40"/>
              <p:cNvSpPr txBox="1"/>
              <p:nvPr/>
            </p:nvSpPr>
            <p:spPr bwMode="auto">
              <a:xfrm>
                <a:off x="3075116" y="3437952"/>
                <a:ext cx="2922724" cy="52322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取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 (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  <a:sym typeface="Symbol" panose="05050102010706020507" pitchFamily="18" charset="2"/>
                            </a:rPr>
                            <m:t> 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)∈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48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5116" y="3437952"/>
                <a:ext cx="2922724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15" t="-12" r="9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Object 41"/>
              <p:cNvSpPr txBox="1"/>
              <p:nvPr/>
            </p:nvSpPr>
            <p:spPr bwMode="auto">
              <a:xfrm>
                <a:off x="5682161" y="3437952"/>
                <a:ext cx="4151556" cy="52322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≈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𝜌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  <a:sym typeface="Symbol" panose="05050102010706020507" pitchFamily="18" charset="2"/>
                            </a:rPr>
                            <m:t> 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)⋅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49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82161" y="3437952"/>
                <a:ext cx="4151556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4" t="-12" r="3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 Box 42"/>
          <p:cNvSpPr txBox="1">
            <a:spLocks noChangeArrowheads="1"/>
          </p:cNvSpPr>
          <p:nvPr/>
        </p:nvSpPr>
        <p:spPr bwMode="auto">
          <a:xfrm>
            <a:off x="1078759" y="4331521"/>
            <a:ext cx="13774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近似和</a:t>
            </a:r>
            <a:endParaRPr kumimoji="1" lang="zh-CN" altLang="en-US" sz="2800" dirty="0">
              <a:solidFill>
                <a:srgbClr val="00926A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Object 43"/>
              <p:cNvSpPr txBox="1"/>
              <p:nvPr/>
            </p:nvSpPr>
            <p:spPr bwMode="auto">
              <a:xfrm>
                <a:off x="3075116" y="3937077"/>
                <a:ext cx="4094163" cy="131210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𝑀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𝜌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 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𝜂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)⋅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Δ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1" name="Object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5116" y="3937077"/>
                <a:ext cx="4094163" cy="1312109"/>
              </a:xfrm>
              <a:prstGeom prst="rect">
                <a:avLst/>
              </a:prstGeom>
              <a:blipFill rotWithShape="1">
                <a:blip r:embed="rId5"/>
                <a:stretch>
                  <a:fillRect l="-11" t="-6" r="3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 Box 44"/>
          <p:cNvSpPr txBox="1">
            <a:spLocks noChangeArrowheads="1"/>
          </p:cNvSpPr>
          <p:nvPr/>
        </p:nvSpPr>
        <p:spPr bwMode="auto">
          <a:xfrm>
            <a:off x="1078759" y="5418144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取极限</a:t>
            </a:r>
            <a:endParaRPr kumimoji="1" lang="zh-CN" altLang="en-US" sz="2800" dirty="0">
              <a:solidFill>
                <a:srgbClr val="00926A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Object 45"/>
              <p:cNvSpPr txBox="1"/>
              <p:nvPr/>
            </p:nvSpPr>
            <p:spPr bwMode="auto">
              <a:xfrm>
                <a:off x="3075116" y="5021646"/>
                <a:ext cx="4417017" cy="131210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𝑀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𝜆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→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=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𝜌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 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)⋅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3" name="Object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5116" y="5021646"/>
                <a:ext cx="4417017" cy="1312108"/>
              </a:xfrm>
              <a:prstGeom prst="rect">
                <a:avLst/>
              </a:prstGeom>
              <a:blipFill rotWithShape="1">
                <a:blip r:embed="rId6"/>
                <a:stretch>
                  <a:fillRect l="-10" t="-5" r="9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 Box 38"/>
          <p:cNvSpPr txBox="1">
            <a:spLocks noChangeArrowheads="1"/>
          </p:cNvSpPr>
          <p:nvPr/>
        </p:nvSpPr>
        <p:spPr bwMode="auto">
          <a:xfrm>
            <a:off x="1078759" y="3437952"/>
            <a:ext cx="17870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常代变</a:t>
            </a:r>
            <a:endParaRPr kumimoji="1" lang="zh-CN" altLang="en-US" sz="2800" dirty="0">
              <a:solidFill>
                <a:srgbClr val="00926A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2" name="AutoShape 7"/>
          <p:cNvSpPr>
            <a:spLocks noChangeArrowheads="1"/>
          </p:cNvSpPr>
          <p:nvPr/>
        </p:nvSpPr>
        <p:spPr bwMode="auto">
          <a:xfrm>
            <a:off x="7766434" y="5266248"/>
            <a:ext cx="1268413" cy="457200"/>
          </a:xfrm>
          <a:prstGeom prst="wedgeRectCallout">
            <a:avLst>
              <a:gd name="adj1" fmla="val -86020"/>
              <a:gd name="adj2" fmla="val 48194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精确值</a:t>
            </a:r>
            <a:endParaRPr lang="zh-CN" altLang="en-US" sz="2800" b="1" dirty="0">
              <a:ea typeface="宋体" panose="02010600030101010101" pitchFamily="2" charset="-122"/>
            </a:endParaRPr>
          </a:p>
        </p:txBody>
      </p:sp>
      <p:sp>
        <p:nvSpPr>
          <p:cNvPr id="3" name="AutoShape 7"/>
          <p:cNvSpPr>
            <a:spLocks noChangeArrowheads="1"/>
          </p:cNvSpPr>
          <p:nvPr/>
        </p:nvSpPr>
        <p:spPr bwMode="auto">
          <a:xfrm>
            <a:off x="7169279" y="4261865"/>
            <a:ext cx="1268413" cy="457200"/>
          </a:xfrm>
          <a:prstGeom prst="wedgeRectCallout">
            <a:avLst>
              <a:gd name="adj1" fmla="val -85269"/>
              <a:gd name="adj2" fmla="val 31527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近似值</a:t>
            </a:r>
            <a:endParaRPr lang="zh-CN" altLang="en-US" sz="2800" b="1" dirty="0">
              <a:ea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205341" y="1455331"/>
            <a:ext cx="4221480" cy="448945"/>
            <a:chOff x="1553" y="3803"/>
            <a:chExt cx="6648" cy="707"/>
          </a:xfrm>
        </p:grpSpPr>
        <p:sp>
          <p:nvSpPr>
            <p:cNvPr id="5" name="圆角矩形 57"/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Text Box 28"/>
            <p:cNvSpPr txBox="1">
              <a:spLocks noChangeArrowheads="1"/>
            </p:cNvSpPr>
            <p:nvPr/>
          </p:nvSpPr>
          <p:spPr bwMode="auto">
            <a:xfrm>
              <a:off x="1630" y="3804"/>
              <a:ext cx="6571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实例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  </a:t>
              </a:r>
              <a:r>
                <a:rPr kumimoji="1" lang="zh-CN" altLang="en-US" sz="2800" b="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曲线形构件的质量</a:t>
              </a:r>
              <a:endPara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12" name="图片 11" descr="图示&#10;&#10;描述已自动生成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1297" y="740883"/>
            <a:ext cx="3010633" cy="27529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4" grpId="0"/>
      <p:bldP spid="45" grpId="0" autoUpdateAnimBg="0"/>
      <p:bldP spid="46" grpId="0" autoUpdateAnimBg="0"/>
      <p:bldP spid="47" grpId="0"/>
      <p:bldP spid="48" grpId="0"/>
      <p:bldP spid="49" grpId="0"/>
      <p:bldP spid="50" grpId="0" autoUpdateAnimBg="0"/>
      <p:bldP spid="51" grpId="0"/>
      <p:bldP spid="52" grpId="0" autoUpdateAnimBg="0"/>
      <p:bldP spid="53" grpId="0"/>
      <p:bldP spid="57" grpId="0" autoUpdateAnimBg="0"/>
      <p:bldP spid="2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747037" y="755640"/>
            <a:ext cx="7331854" cy="651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二、对弧长的曲线积分的概念与性质</a:t>
            </a:r>
            <a:endParaRPr lang="zh-CN" altLang="en-US" sz="32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6"/>
              <p:cNvSpPr txBox="1"/>
              <p:nvPr/>
            </p:nvSpPr>
            <p:spPr bwMode="auto">
              <a:xfrm>
                <a:off x="1260474" y="1924279"/>
                <a:ext cx="8730235" cy="41495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      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设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为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𝑂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面内一条光滑曲线弧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函数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zh-CN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在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上有界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用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上的点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把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分成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个小段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设第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个小段的长度为</m:t>
                      </m:r>
                      <m:r>
                        <m:rPr>
                          <m:sty m:val="p"/>
                        </m:rP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又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为第</m:t>
                      </m:r>
                    </m:oMath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个小段上任意取定的一点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作乘积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)⋅</m:t>
                      </m:r>
                      <m:r>
                        <m:rPr>
                          <m:sty m:val="p"/>
                        </m:rP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并作和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)⋅</m:t>
                          </m:r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60474" y="1924279"/>
                <a:ext cx="8730235" cy="4149506"/>
              </a:xfrm>
              <a:prstGeom prst="rect">
                <a:avLst/>
              </a:prstGeom>
              <a:blipFill rotWithShape="1">
                <a:blip r:embed="rId1"/>
                <a:stretch>
                  <a:fillRect l="-7" t="-6" r="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260474" y="1460657"/>
            <a:ext cx="15855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endParaRPr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图示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108" y="3666963"/>
            <a:ext cx="3010633" cy="27529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Object 2"/>
              <p:cNvSpPr txBox="1"/>
              <p:nvPr/>
            </p:nvSpPr>
            <p:spPr bwMode="auto">
              <a:xfrm>
                <a:off x="2245938" y="348388"/>
                <a:ext cx="8336164" cy="53371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如果当各小弧段的长度的最大值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时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,  </m:t>
                      </m:r>
                    </m:oMath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这和的极限存在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且与曲线弧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的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分法</m:t>
                      </m:r>
                      <m:r>
                        <a:rPr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及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点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的取法无关，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则称此极限为函数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在曲线弧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上对弧长的曲线积分或第一类曲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 </m:t>
                      </m:r>
                    </m:oMath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线积分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,  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记作</m:t>
                      </m:r>
                      <m:nary>
                        <m:naryPr>
                          <m:supHide m:val="on"/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nary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,  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即</m:t>
                      </m:r>
                    </m:oMath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 </m:t>
                      </m:r>
                      <m:nary>
                        <m:naryPr>
                          <m:supHide m:val="on"/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nary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→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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)⋅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5938" y="348388"/>
                <a:ext cx="8336164" cy="5337174"/>
              </a:xfrm>
              <a:prstGeom prst="rect">
                <a:avLst/>
              </a:prstGeom>
              <a:blipFill rotWithShape="1">
                <a:blip r:embed="rId1"/>
                <a:stretch>
                  <a:fillRect l="-7" t="-8" r="6" b="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ine 11"/>
          <p:cNvSpPr>
            <a:spLocks noChangeShapeType="1"/>
          </p:cNvSpPr>
          <p:nvPr/>
        </p:nvSpPr>
        <p:spPr bwMode="auto">
          <a:xfrm>
            <a:off x="3000376" y="5006524"/>
            <a:ext cx="1047750" cy="0"/>
          </a:xfrm>
          <a:prstGeom prst="line">
            <a:avLst/>
          </a:prstGeom>
          <a:noFill/>
          <a:ln w="25400">
            <a:solidFill>
              <a:srgbClr val="04926A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5407025" y="4123873"/>
            <a:ext cx="2649814" cy="1200145"/>
          </a:xfrm>
          <a:prstGeom prst="rect">
            <a:avLst/>
          </a:prstGeom>
          <a:noFill/>
          <a:ln w="28575">
            <a:solidFill>
              <a:srgbClr val="04926A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AutoShape 7"/>
          <p:cNvSpPr>
            <a:spLocks noChangeArrowheads="1"/>
          </p:cNvSpPr>
          <p:nvPr/>
        </p:nvSpPr>
        <p:spPr bwMode="auto">
          <a:xfrm>
            <a:off x="3232446" y="3866246"/>
            <a:ext cx="1268413" cy="457200"/>
          </a:xfrm>
          <a:prstGeom prst="wedgeRectCallout">
            <a:avLst>
              <a:gd name="adj1" fmla="val -54481"/>
              <a:gd name="adj2" fmla="val 100277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被积函数</a:t>
            </a:r>
            <a:endParaRPr kumimoji="1" lang="zh-CN" altLang="en-US" sz="20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5" name="AutoShape 7"/>
          <p:cNvSpPr>
            <a:spLocks noChangeArrowheads="1"/>
          </p:cNvSpPr>
          <p:nvPr/>
        </p:nvSpPr>
        <p:spPr bwMode="auto">
          <a:xfrm>
            <a:off x="3196432" y="5228362"/>
            <a:ext cx="1268413" cy="457200"/>
          </a:xfrm>
          <a:prstGeom prst="wedgeRectCallout">
            <a:avLst>
              <a:gd name="adj1" fmla="val -64243"/>
              <a:gd name="adj2" fmla="val -72640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积分弧段</a:t>
            </a:r>
            <a:endParaRPr kumimoji="1" lang="zh-CN" altLang="en-US" sz="20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6" name="AutoShape 7"/>
          <p:cNvSpPr>
            <a:spLocks noChangeArrowheads="1"/>
          </p:cNvSpPr>
          <p:nvPr/>
        </p:nvSpPr>
        <p:spPr bwMode="auto">
          <a:xfrm>
            <a:off x="8233568" y="4495345"/>
            <a:ext cx="1268413" cy="457200"/>
          </a:xfrm>
          <a:prstGeom prst="wedgeRectCallout">
            <a:avLst>
              <a:gd name="adj1" fmla="val -60489"/>
              <a:gd name="adj2" fmla="val 96110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积分和式</a:t>
            </a:r>
            <a:endParaRPr kumimoji="1" lang="zh-CN" altLang="en-US" sz="20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animBg="1"/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Box 9"/>
              <p:cNvSpPr txBox="1">
                <a:spLocks noChangeArrowheads="1"/>
              </p:cNvSpPr>
              <p:nvPr/>
            </p:nvSpPr>
            <p:spPr bwMode="auto">
              <a:xfrm>
                <a:off x="2122359" y="1265484"/>
                <a:ext cx="471250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如果</a:t>
                </a:r>
                <a14:m>
                  <m:oMath xmlns:m="http://schemas.openxmlformats.org/officeDocument/2006/math"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是闭曲线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则记为</a:t>
                </a:r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2359" y="1265484"/>
                <a:ext cx="4712504" cy="523220"/>
              </a:xfrm>
              <a:prstGeom prst="rect">
                <a:avLst/>
              </a:prstGeom>
              <a:blipFill rotWithShape="1">
                <a:blip r:embed="rId1"/>
                <a:stretch>
                  <a:fillRect l="-4" t="-108" r="8" b="10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Box 32"/>
              <p:cNvSpPr txBox="1">
                <a:spLocks noChangeArrowheads="1"/>
              </p:cNvSpPr>
              <p:nvPr/>
            </p:nvSpPr>
            <p:spPr bwMode="auto">
              <a:xfrm>
                <a:off x="2315483" y="3797311"/>
                <a:ext cx="433984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若在</a:t>
                </a:r>
                <a14:m>
                  <m:oMath xmlns:m="http://schemas.openxmlformats.org/officeDocument/2006/math"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上 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≡1, 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5483" y="3797311"/>
                <a:ext cx="4339842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6" t="-2" r="-4363" b="12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33"/>
              <p:cNvSpPr txBox="1"/>
              <p:nvPr/>
            </p:nvSpPr>
            <p:spPr bwMode="auto">
              <a:xfrm>
                <a:off x="6272986" y="3624139"/>
                <a:ext cx="3769487" cy="9887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问</m:t>
                      </m:r>
                      <m:nary>
                        <m:naryPr>
                          <m:supHide m:val="on"/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ds</m:t>
                          </m:r>
                        </m:e>
                      </m:nary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表示什么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?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72986" y="3624139"/>
                <a:ext cx="3769487" cy="988765"/>
              </a:xfrm>
              <a:prstGeom prst="rect">
                <a:avLst/>
              </a:prstGeom>
              <a:blipFill rotWithShape="1">
                <a:blip r:embed="rId3"/>
                <a:stretch>
                  <a:fillRect l="-12" t="-20" r="15" b="2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34"/>
              <p:cNvSpPr txBox="1">
                <a:spLocks noChangeArrowheads="1"/>
              </p:cNvSpPr>
              <p:nvPr/>
            </p:nvSpPr>
            <p:spPr bwMode="auto">
              <a:xfrm>
                <a:off x="2315483" y="4625733"/>
                <a:ext cx="790472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定积分是否可看作对弧长曲线积分的特例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? 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 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5483" y="4625733"/>
                <a:ext cx="7904728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3" t="-75" r="7" b="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35"/>
          <p:cNvSpPr txBox="1">
            <a:spLocks noChangeArrowheads="1"/>
          </p:cNvSpPr>
          <p:nvPr/>
        </p:nvSpPr>
        <p:spPr bwMode="auto">
          <a:xfrm>
            <a:off x="2345516" y="5263158"/>
            <a:ext cx="747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否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! 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4A7BA8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Box 37"/>
              <p:cNvSpPr txBox="1">
                <a:spLocks noChangeArrowheads="1"/>
              </p:cNvSpPr>
              <p:nvPr/>
            </p:nvSpPr>
            <p:spPr bwMode="auto">
              <a:xfrm>
                <a:off x="2959085" y="5259796"/>
                <a:ext cx="512287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对弧长的曲线积分要求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0,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Text 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59085" y="5259796"/>
                <a:ext cx="5122877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12" t="-17" r="6" b="1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38"/>
          <p:cNvSpPr txBox="1">
            <a:spLocks noChangeArrowheads="1"/>
          </p:cNvSpPr>
          <p:nvPr/>
        </p:nvSpPr>
        <p:spPr bwMode="auto">
          <a:xfrm>
            <a:off x="7688948" y="5234647"/>
            <a:ext cx="19800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但定积分中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Box 39"/>
              <p:cNvSpPr txBox="1">
                <a:spLocks noChangeArrowheads="1"/>
              </p:cNvSpPr>
              <p:nvPr/>
            </p:nvSpPr>
            <p:spPr bwMode="auto">
              <a:xfrm>
                <a:off x="2959085" y="5842138"/>
                <a:ext cx="220092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可能为负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Text 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59085" y="5842138"/>
                <a:ext cx="2200924" cy="523220"/>
              </a:xfrm>
              <a:prstGeom prst="rect">
                <a:avLst/>
              </a:prstGeom>
              <a:blipFill rotWithShape="1">
                <a:blip r:embed="rId6"/>
                <a:stretch>
                  <a:fillRect l="-28" t="-26" r="-2481" b="2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对象 1"/>
          <p:cNvSpPr txBox="1"/>
          <p:nvPr/>
        </p:nvSpPr>
        <p:spPr>
          <a:xfrm>
            <a:off x="7193648" y="3352800"/>
            <a:ext cx="914400" cy="34607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2315483" y="2284248"/>
                <a:ext cx="373371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曲线形构件的质量</a:t>
                </a:r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5483" y="2284248"/>
                <a:ext cx="3733714" cy="523220"/>
              </a:xfrm>
              <a:prstGeom prst="rect">
                <a:avLst/>
              </a:prstGeom>
              <a:blipFill rotWithShape="1">
                <a:blip r:embed="rId7"/>
                <a:stretch>
                  <a:fillRect l="-7" t="-29" r="-1322" b="2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对象 3"/>
              <p:cNvSpPr txBox="1"/>
              <p:nvPr/>
            </p:nvSpPr>
            <p:spPr>
              <a:xfrm>
                <a:off x="6562882" y="1065800"/>
                <a:ext cx="2394937" cy="92293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func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1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882" y="1065800"/>
                <a:ext cx="2394937" cy="922933"/>
              </a:xfrm>
              <a:prstGeom prst="rect">
                <a:avLst/>
              </a:prstGeom>
              <a:blipFill rotWithShape="1">
                <a:blip r:embed="rId8"/>
                <a:stretch>
                  <a:fillRect l="-7" t="-29" r="21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组合 22"/>
          <p:cNvGrpSpPr/>
          <p:nvPr/>
        </p:nvGrpSpPr>
        <p:grpSpPr>
          <a:xfrm>
            <a:off x="2358131" y="418516"/>
            <a:ext cx="647700" cy="647700"/>
            <a:chOff x="1567" y="838"/>
            <a:chExt cx="1020" cy="1020"/>
          </a:xfrm>
        </p:grpSpPr>
        <p:sp>
          <p:nvSpPr>
            <p:cNvPr id="24" name="椭圆 23"/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5" name="文本框 24"/>
            <p:cNvSpPr txBox="1"/>
            <p:nvPr/>
          </p:nvSpPr>
          <p:spPr bwMode="auto">
            <a:xfrm>
              <a:off x="1652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注</a:t>
              </a:r>
              <a:endPara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567" y="838"/>
              <a:ext cx="1020" cy="1020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对象 3"/>
              <p:cNvSpPr txBox="1"/>
              <p:nvPr/>
            </p:nvSpPr>
            <p:spPr>
              <a:xfrm>
                <a:off x="5889311" y="2114062"/>
                <a:ext cx="4437473" cy="92293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𝜌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en-US" altLang="zh-CN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zh-CN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fName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</m:e>
                              </m:func>
                            </m:fName>
                            <m:e>
                              <m:r>
                                <a:rPr lang="en-US" altLang="zh-CN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7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311" y="2114062"/>
                <a:ext cx="4437473" cy="922933"/>
              </a:xfrm>
              <a:prstGeom prst="rect">
                <a:avLst/>
              </a:prstGeom>
              <a:blipFill rotWithShape="1">
                <a:blip r:embed="rId9"/>
                <a:stretch>
                  <a:fillRect l="-7" t="-16" r="9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2419091" y="3160820"/>
            <a:ext cx="962025" cy="448945"/>
            <a:chOff x="1553" y="3803"/>
            <a:chExt cx="1515" cy="707"/>
          </a:xfrm>
        </p:grpSpPr>
        <p:sp>
          <p:nvSpPr>
            <p:cNvPr id="3" name="圆角矩形 57"/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Text Box 28"/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思考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20" grpId="0"/>
      <p:bldP spid="21" grpId="0"/>
      <p:bldP spid="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0" y="-181"/>
            <a:ext cx="12192000" cy="6863080"/>
            <a:chOff x="0" y="-181"/>
            <a:chExt cx="12192000" cy="6863080"/>
          </a:xfrm>
        </p:grpSpPr>
        <p:grpSp>
          <p:nvGrpSpPr>
            <p:cNvPr id="22" name="组合 21"/>
            <p:cNvGrpSpPr/>
            <p:nvPr/>
          </p:nvGrpSpPr>
          <p:grpSpPr>
            <a:xfrm>
              <a:off x="0" y="-181"/>
              <a:ext cx="12192000" cy="6863080"/>
              <a:chOff x="0" y="-8"/>
              <a:chExt cx="19200" cy="10808"/>
            </a:xfrm>
          </p:grpSpPr>
          <p:sp>
            <p:nvSpPr>
              <p:cNvPr id="41" name="Rectangle 1"/>
              <p:cNvSpPr/>
              <p:nvPr/>
            </p:nvSpPr>
            <p:spPr>
              <a:xfrm>
                <a:off x="0" y="-8"/>
                <a:ext cx="19200" cy="10808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88000"/>
                    </a:srgbClr>
                  </a:gs>
                  <a:gs pos="55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圆角矩形 16"/>
              <p:cNvSpPr/>
              <p:nvPr/>
            </p:nvSpPr>
            <p:spPr>
              <a:xfrm>
                <a:off x="354" y="310"/>
                <a:ext cx="18493" cy="10167"/>
              </a:xfrm>
              <a:prstGeom prst="roundRect">
                <a:avLst>
                  <a:gd name="adj" fmla="val 3499"/>
                </a:avLst>
              </a:prstGeom>
              <a:solidFill>
                <a:schemeClr val="bg1"/>
              </a:solidFill>
              <a:ln>
                <a:solidFill>
                  <a:srgbClr val="17908C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0" y="239357"/>
              <a:ext cx="11993046" cy="6427310"/>
              <a:chOff x="0" y="239357"/>
              <a:chExt cx="11993046" cy="6427310"/>
            </a:xfrm>
          </p:grpSpPr>
          <p:sp>
            <p:nvSpPr>
              <p:cNvPr id="35" name="Rectangle 1"/>
              <p:cNvSpPr/>
              <p:nvPr userDrawn="1"/>
            </p:nvSpPr>
            <p:spPr>
              <a:xfrm>
                <a:off x="297498" y="6471504"/>
                <a:ext cx="82948" cy="81477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476885" y="6358890"/>
                <a:ext cx="2316717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第一节</a:t>
                </a:r>
                <a:r>
                  <a:rPr lang="en-US" altLang="zh-CN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对弧长的曲线积分</a:t>
                </a:r>
                <a:endPara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37" name="Rectangle 1"/>
              <p:cNvSpPr/>
              <p:nvPr userDrawn="1"/>
            </p:nvSpPr>
            <p:spPr>
              <a:xfrm rot="2659048">
                <a:off x="9060538" y="323227"/>
                <a:ext cx="147664" cy="140036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9315710" y="239357"/>
                <a:ext cx="267733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第十一章  曲线积分与曲面积分</a:t>
                </a:r>
                <a:endPara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39" name="直接连接符 38"/>
              <p:cNvCxnSpPr/>
              <p:nvPr userDrawn="1"/>
            </p:nvCxnSpPr>
            <p:spPr>
              <a:xfrm>
                <a:off x="0" y="393245"/>
                <a:ext cx="8793692" cy="0"/>
              </a:xfrm>
              <a:prstGeom prst="line">
                <a:avLst/>
              </a:prstGeom>
              <a:ln>
                <a:solidFill>
                  <a:srgbClr val="0092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 userDrawn="1"/>
            </p:nvCxnSpPr>
            <p:spPr>
              <a:xfrm>
                <a:off x="2774552" y="6512242"/>
                <a:ext cx="9180000" cy="0"/>
              </a:xfrm>
              <a:prstGeom prst="line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2205256" y="933451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存在条件</a:t>
            </a:r>
            <a:endParaRPr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3"/>
              <p:cNvSpPr txBox="1"/>
              <p:nvPr/>
            </p:nvSpPr>
            <p:spPr bwMode="auto">
              <a:xfrm>
                <a:off x="2624356" y="1558925"/>
                <a:ext cx="6999287" cy="1193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        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当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, 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zh-CN" altLang="en-US" sz="280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在光滑曲线弧</m:t>
                      </m:r>
                      <m:r>
                        <a:rPr lang="zh-CN" altLang="en-US" sz="280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zh-CN" altLang="en-US" sz="280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上连续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时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, </m:t>
                      </m:r>
                    </m:oMath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对弧长的曲线积分</m:t>
                      </m:r>
                      <m:nary>
                        <m:naryPr>
                          <m:supHide m:val="on"/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nary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存在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4356" y="1558925"/>
                <a:ext cx="6999287" cy="1193800"/>
              </a:xfrm>
              <a:prstGeom prst="rect">
                <a:avLst/>
              </a:prstGeom>
              <a:blipFill rotWithShape="1">
                <a:blip r:embed="rId1"/>
                <a:stretch>
                  <a:fillRect l="-8" r="3" b="-129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ine 4"/>
          <p:cNvSpPr>
            <a:spLocks noChangeShapeType="1"/>
          </p:cNvSpPr>
          <p:nvPr/>
        </p:nvSpPr>
        <p:spPr bwMode="auto">
          <a:xfrm>
            <a:off x="7585074" y="2120900"/>
            <a:ext cx="752475" cy="0"/>
          </a:xfrm>
          <a:prstGeom prst="line">
            <a:avLst/>
          </a:prstGeom>
          <a:noFill/>
          <a:ln w="25400">
            <a:solidFill>
              <a:srgbClr val="04926A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2205256" y="3006406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推广</a:t>
            </a:r>
            <a:endParaRPr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bject 6"/>
              <p:cNvSpPr txBox="1"/>
              <p:nvPr/>
            </p:nvSpPr>
            <p:spPr bwMode="auto">
              <a:xfrm>
                <a:off x="2618099" y="3559174"/>
                <a:ext cx="7177087" cy="13144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        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函数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在空间曲线弧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𝛤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上对弧</m:t>
                      </m:r>
                    </m:oMath>
                  </m:oMathPara>
                </a14:m>
                <a:endParaRPr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长的曲线积分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为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8099" y="3559174"/>
                <a:ext cx="7177087" cy="1314450"/>
              </a:xfrm>
              <a:prstGeom prst="rect">
                <a:avLst/>
              </a:prstGeom>
              <a:blipFill rotWithShape="1">
                <a:blip r:embed="rId2"/>
                <a:stretch>
                  <a:fillRect l="-9" t="-48" r="4" b="4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bject 7"/>
              <p:cNvSpPr txBox="1"/>
              <p:nvPr/>
            </p:nvSpPr>
            <p:spPr bwMode="auto">
              <a:xfrm>
                <a:off x="3133619" y="4759324"/>
                <a:ext cx="6762751" cy="13144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zh-CN" altLang="en-US" sz="2800" i="1" smtClean="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𝛤</m:t>
                          </m:r>
                        </m:sub>
                        <m:sup/>
                        <m:e>
                          <m:r>
                            <a:rPr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  <m:r>
                            <a:rPr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nary>
                      <m:r>
                        <a:rPr lang="zh-CN" altLang="en-US" sz="280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  <m:r>
                                <a:rPr lang="zh-CN" altLang="en-US" sz="280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→</m:t>
                              </m:r>
                              <m:r>
                                <a:rPr lang="zh-CN" altLang="en-US" sz="280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80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zh-CN" altLang="en-US" sz="280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zh-CN" altLang="en-US" sz="280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sz="280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zh-CN" altLang="en-US" sz="280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r>
                                <a:rPr lang="zh-CN" altLang="en-US" sz="280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 dirty="0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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sz="280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sz="280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zh-CN" altLang="en-US" sz="2800" b="1" i="1" dirty="0">
                                      <a:solidFill>
                                        <a:srgbClr val="04926A"/>
                                      </a:solidFill>
                                      <a:latin typeface="Times New Roman" panose="02020603050405020304" pitchFamily="18" charset="0"/>
                                      <a:sym typeface="Symbol" panose="05050102010706020507" pitchFamily="18" charset="2"/>
                                    </a:rPr>
                                    <m:t>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sz="280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  <m:r>
                        <a:rPr lang="zh-CN" altLang="en-US" sz="280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zh-CN" altLang="en-US" sz="280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>
                  <a:solidFill>
                    <a:srgbClr val="04926A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33619" y="4759324"/>
                <a:ext cx="6762751" cy="1314450"/>
              </a:xfrm>
              <a:prstGeom prst="rect">
                <a:avLst/>
              </a:prstGeom>
              <a:blipFill rotWithShape="1">
                <a:blip r:embed="rId3"/>
                <a:stretch>
                  <a:fillRect l="-8" t="-48" r="8" b="4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ldLvl="0" animBg="1"/>
      <p:bldP spid="10" grpId="0" animBg="1"/>
      <p:bldP spid="14" grpId="0"/>
      <p:bldP spid="15" grpId="0"/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-181"/>
            <a:ext cx="12192000" cy="6863080"/>
            <a:chOff x="0" y="-181"/>
            <a:chExt cx="12192000" cy="6863080"/>
          </a:xfrm>
        </p:grpSpPr>
        <p:grpSp>
          <p:nvGrpSpPr>
            <p:cNvPr id="10" name="组合 9"/>
            <p:cNvGrpSpPr/>
            <p:nvPr/>
          </p:nvGrpSpPr>
          <p:grpSpPr>
            <a:xfrm>
              <a:off x="0" y="-181"/>
              <a:ext cx="12192000" cy="6863080"/>
              <a:chOff x="0" y="-8"/>
              <a:chExt cx="19200" cy="10808"/>
            </a:xfrm>
          </p:grpSpPr>
          <p:sp>
            <p:nvSpPr>
              <p:cNvPr id="18" name="Rectangle 1"/>
              <p:cNvSpPr/>
              <p:nvPr/>
            </p:nvSpPr>
            <p:spPr>
              <a:xfrm>
                <a:off x="0" y="-8"/>
                <a:ext cx="19200" cy="10808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88000"/>
                    </a:srgbClr>
                  </a:gs>
                  <a:gs pos="55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圆角矩形 16"/>
              <p:cNvSpPr/>
              <p:nvPr/>
            </p:nvSpPr>
            <p:spPr>
              <a:xfrm>
                <a:off x="354" y="310"/>
                <a:ext cx="18493" cy="10167"/>
              </a:xfrm>
              <a:prstGeom prst="roundRect">
                <a:avLst>
                  <a:gd name="adj" fmla="val 3499"/>
                </a:avLst>
              </a:prstGeom>
              <a:solidFill>
                <a:schemeClr val="bg1"/>
              </a:solidFill>
              <a:ln>
                <a:solidFill>
                  <a:srgbClr val="17908C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0" y="239357"/>
              <a:ext cx="11993046" cy="6427310"/>
              <a:chOff x="0" y="239357"/>
              <a:chExt cx="11993046" cy="6427310"/>
            </a:xfrm>
          </p:grpSpPr>
          <p:sp>
            <p:nvSpPr>
              <p:cNvPr id="12" name="Rectangle 1"/>
              <p:cNvSpPr/>
              <p:nvPr userDrawn="1"/>
            </p:nvSpPr>
            <p:spPr>
              <a:xfrm>
                <a:off x="297498" y="6471504"/>
                <a:ext cx="82948" cy="81477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476885" y="6358890"/>
                <a:ext cx="3784600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第一节</a:t>
                </a:r>
                <a:r>
                  <a:rPr lang="en-US" altLang="zh-CN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对弧长的曲线积分</a:t>
                </a:r>
                <a:endPara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14" name="Rectangle 1"/>
              <p:cNvSpPr/>
              <p:nvPr userDrawn="1"/>
            </p:nvSpPr>
            <p:spPr>
              <a:xfrm rot="2659048">
                <a:off x="9060538" y="323227"/>
                <a:ext cx="147664" cy="140036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9315710" y="239357"/>
                <a:ext cx="267733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第十一章  曲线积分与曲面积分</a:t>
                </a:r>
                <a:endPara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6" name="直接连接符 15"/>
              <p:cNvCxnSpPr/>
              <p:nvPr userDrawn="1"/>
            </p:nvCxnSpPr>
            <p:spPr>
              <a:xfrm>
                <a:off x="0" y="393245"/>
                <a:ext cx="8793692" cy="0"/>
              </a:xfrm>
              <a:prstGeom prst="line">
                <a:avLst/>
              </a:prstGeom>
              <a:ln>
                <a:solidFill>
                  <a:srgbClr val="0092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 userDrawn="1"/>
            </p:nvCxnSpPr>
            <p:spPr>
              <a:xfrm>
                <a:off x="2846021" y="6512242"/>
                <a:ext cx="9121189" cy="0"/>
              </a:xfrm>
              <a:prstGeom prst="line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833656" y="561161"/>
            <a:ext cx="13761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</a:t>
            </a:r>
            <a:endParaRPr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Box 12"/>
              <p:cNvSpPr txBox="1">
                <a:spLocks noChangeArrowheads="1"/>
              </p:cNvSpPr>
              <p:nvPr/>
            </p:nvSpPr>
            <p:spPr bwMode="auto">
              <a:xfrm>
                <a:off x="1262281" y="1152490"/>
                <a:ext cx="386216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b="1" dirty="0">
                    <a:solidFill>
                      <a:srgbClr val="00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性质</a:t>
                </a:r>
                <a:r>
                  <a:rPr kumimoji="1" lang="en-US" altLang="zh-CN" sz="2800" b="1" dirty="0">
                    <a:solidFill>
                      <a:srgbClr val="00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1 </a:t>
                </a: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𝛼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𝛽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为常数</a:t>
                </a:r>
                <a14:m>
                  <m:oMath xmlns:m="http://schemas.openxmlformats.org/officeDocument/2006/math"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则</a:t>
                </a:r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4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62281" y="1152490"/>
                <a:ext cx="3862169" cy="523220"/>
              </a:xfrm>
              <a:prstGeom prst="rect">
                <a:avLst/>
              </a:prstGeom>
              <a:blipFill rotWithShape="1">
                <a:blip r:embed="rId1"/>
                <a:stretch>
                  <a:fillRect l="-14" t="-115" b="11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14"/>
              <p:cNvSpPr txBox="1">
                <a:spLocks noChangeArrowheads="1"/>
              </p:cNvSpPr>
              <p:nvPr/>
            </p:nvSpPr>
            <p:spPr bwMode="auto">
              <a:xfrm>
                <a:off x="1262280" y="2829325"/>
                <a:ext cx="408989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b="1" dirty="0">
                    <a:solidFill>
                      <a:srgbClr val="00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性质</a:t>
                </a:r>
                <a:r>
                  <a:rPr kumimoji="1" lang="en-US" altLang="zh-CN" sz="2800" b="1" dirty="0">
                    <a:solidFill>
                      <a:srgbClr val="00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2 </a:t>
                </a:r>
                <a14:m>
                  <m:oMath xmlns:m="http://schemas.openxmlformats.org/officeDocument/2006/math">
                    <m:r>
                      <a:rPr kumimoji="1" lang="zh-CN" altLang="en-US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若</m:t>
                    </m:r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𝐿</m:t>
                        </m:r>
                      </m:e>
                      <m:sub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+</a:t>
                </a:r>
                <a:r>
                  <a:rPr kumimoji="1" lang="en-US" altLang="zh-CN" sz="2800" dirty="0"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𝐿</m:t>
                        </m:r>
                      </m:e>
                      <m:sub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5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62280" y="2829325"/>
                <a:ext cx="4089895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13" t="-76" r="10" b="7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Box 16"/>
              <p:cNvSpPr txBox="1">
                <a:spLocks noChangeArrowheads="1"/>
              </p:cNvSpPr>
              <p:nvPr/>
            </p:nvSpPr>
            <p:spPr bwMode="auto">
              <a:xfrm>
                <a:off x="1262281" y="4687687"/>
                <a:ext cx="626464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b="1" dirty="0">
                    <a:solidFill>
                      <a:srgbClr val="00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性质</a:t>
                </a:r>
                <a:r>
                  <a:rPr kumimoji="1" lang="en-US" altLang="zh-CN" sz="2800" b="1" dirty="0">
                    <a:solidFill>
                      <a:srgbClr val="00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3 </a:t>
                </a: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设在</a:t>
                </a:r>
                <a14:m>
                  <m:oMath xmlns:m="http://schemas.openxmlformats.org/officeDocument/2006/math"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上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𝑓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(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𝑥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𝑦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)</m:t>
                    </m:r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en-US" altLang="zh-CN" sz="2800" dirty="0">
                    <a:latin typeface="宋体" panose="02010600030101010101" pitchFamily="2" charset="-122"/>
                  </a:rPr>
                  <a:t>≤</a:t>
                </a:r>
                <a:r>
                  <a:rPr lang="en-US" altLang="zh-CN" sz="2800" dirty="0"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8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 (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𝑥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)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则</a:t>
                </a:r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6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62281" y="4687687"/>
                <a:ext cx="6264641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9" t="-22" r="4" b="1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对象 1"/>
          <p:cNvSpPr txBox="1"/>
          <p:nvPr/>
        </p:nvSpPr>
        <p:spPr>
          <a:xfrm>
            <a:off x="5889625" y="3431263"/>
            <a:ext cx="914400" cy="34607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对象 3"/>
              <p:cNvSpPr txBox="1"/>
              <p:nvPr/>
            </p:nvSpPr>
            <p:spPr>
              <a:xfrm>
                <a:off x="2357448" y="3491906"/>
                <a:ext cx="6818970" cy="101421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448" y="3491906"/>
                <a:ext cx="6818970" cy="1014211"/>
              </a:xfrm>
              <a:prstGeom prst="rect">
                <a:avLst/>
              </a:prstGeom>
              <a:blipFill rotWithShape="1">
                <a:blip r:embed="rId4"/>
                <a:stretch>
                  <a:fillRect l="-5" t="-4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对象 4"/>
              <p:cNvSpPr txBox="1"/>
              <p:nvPr/>
            </p:nvSpPr>
            <p:spPr>
              <a:xfrm>
                <a:off x="2357448" y="5230549"/>
                <a:ext cx="5214083" cy="88912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CN" sz="2800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g</m:t>
                          </m:r>
                          <m:r>
                            <a:rPr lang="en-US" altLang="zh-CN" sz="2800" b="0" i="0" dirty="0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.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448" y="5230549"/>
                <a:ext cx="5214083" cy="889124"/>
              </a:xfrm>
              <a:prstGeom prst="rect">
                <a:avLst/>
              </a:prstGeom>
              <a:blipFill rotWithShape="1">
                <a:blip r:embed="rId5"/>
                <a:stretch>
                  <a:fillRect l="-6" t="-6" r="8" b="-2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对象 35"/>
              <p:cNvSpPr txBox="1"/>
              <p:nvPr/>
            </p:nvSpPr>
            <p:spPr>
              <a:xfrm>
                <a:off x="2357448" y="1726838"/>
                <a:ext cx="9423400" cy="94913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[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𝛼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)±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𝛽</m:t>
                          </m:r>
                          <m:r>
                            <m:rPr>
                              <m:nor/>
                            </m:rPr>
                            <a:rPr lang="en-US" altLang="zh-CN" sz="2800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)]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𝛼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±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𝛽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CN" sz="2800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6" name="对象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448" y="1726838"/>
                <a:ext cx="9423400" cy="949135"/>
              </a:xfrm>
              <a:prstGeom prst="rect">
                <a:avLst/>
              </a:prstGeom>
              <a:blipFill rotWithShape="1">
                <a:blip r:embed="rId6"/>
                <a:stretch>
                  <a:fillRect l="-3" t="-29" r="3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8" grpId="0"/>
      <p:bldP spid="9" grpId="0"/>
      <p:bldP spid="3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798226" y="517526"/>
            <a:ext cx="8690578" cy="47049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三、对弧长的曲线积分的计算</a:t>
            </a:r>
            <a:endParaRPr lang="zh-CN" altLang="en-US" sz="32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对象 2"/>
              <p:cNvSpPr txBox="1"/>
              <p:nvPr/>
            </p:nvSpPr>
            <p:spPr>
              <a:xfrm>
                <a:off x="1725010" y="1438541"/>
                <a:ext cx="6050509" cy="70983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设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在曲线弧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𝐿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上有定义且连续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010" y="1438541"/>
                <a:ext cx="6050509" cy="709830"/>
              </a:xfrm>
              <a:prstGeom prst="rect">
                <a:avLst/>
              </a:prstGeom>
              <a:blipFill rotWithShape="1">
                <a:blip r:embed="rId1"/>
                <a:stretch>
                  <a:fillRect l="-6" t="-37" r="10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对象 3"/>
              <p:cNvSpPr txBox="1"/>
              <p:nvPr/>
            </p:nvSpPr>
            <p:spPr>
              <a:xfrm>
                <a:off x="7418277" y="1438541"/>
                <a:ext cx="2611808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𝐿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的参数方程为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277" y="1438541"/>
                <a:ext cx="2611808" cy="444500"/>
              </a:xfrm>
              <a:prstGeom prst="rect">
                <a:avLst/>
              </a:prstGeom>
              <a:blipFill rotWithShape="1">
                <a:blip r:embed="rId2"/>
                <a:stretch>
                  <a:fillRect l="-8" t="-60" r="10" b="-105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对象 4"/>
              <p:cNvSpPr txBox="1"/>
              <p:nvPr/>
            </p:nvSpPr>
            <p:spPr>
              <a:xfrm>
                <a:off x="3245977" y="2087461"/>
                <a:ext cx="4299051" cy="113967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𝜑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𝑡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),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lang="el-GR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𝛹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800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𝑡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)</m:t>
                                </m:r>
                              </m:e>
                            </m:mr>
                          </m:m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    (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en-US" altLang="zh-CN" sz="2800" dirty="0">
                              <a:latin typeface="宋体" panose="02010600030101010101" pitchFamily="2" charset="-122"/>
                            </a:rPr>
                            <m:t>≤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  <m:r>
                            <m:rPr>
                              <m:nor/>
                            </m:rPr>
                            <a:rPr lang="en-US" altLang="zh-CN" sz="2800" dirty="0">
                              <a:latin typeface="宋体" panose="02010600030101010101" pitchFamily="2" charset="-122"/>
                            </a:rPr>
                            <m:t>≤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𝛽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),</m:t>
                          </m:r>
                        </m:e>
                      </m:d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5977" y="2087461"/>
                <a:ext cx="4299051" cy="1139679"/>
              </a:xfrm>
              <a:prstGeom prst="rect">
                <a:avLst/>
              </a:prstGeom>
              <a:blipFill rotWithShape="1">
                <a:blip r:embed="rId3"/>
                <a:stretch>
                  <a:fillRect l="-11" t="-19" r="14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对象 5"/>
              <p:cNvSpPr txBox="1"/>
              <p:nvPr/>
            </p:nvSpPr>
            <p:spPr>
              <a:xfrm>
                <a:off x="855361" y="5002240"/>
                <a:ext cx="10277096" cy="116256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𝛼</m:t>
                          </m:r>
                        </m:sub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𝛽</m:t>
                          </m:r>
                        </m:sup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[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𝜙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),</m:t>
                          </m:r>
                          <m:r>
                            <a:rPr lang="el-GR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𝛹</m:t>
                          </m:r>
                          <m:r>
                            <m:rPr>
                              <m:nor/>
                            </m:rPr>
                            <a:rPr lang="zh-CN" altLang="en-US" sz="2800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)]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𝜑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′</m:t>
                                  </m:r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𝑡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𝛹</m:t>
                                  </m:r>
                                  <m:r>
                                    <m:rPr>
                                      <m:nor/>
                                    </m:rPr>
                                    <a:rPr lang="zh-CN" altLang="en-US" sz="2800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′</m:t>
                                  </m:r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𝑡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</m:t>
                              </m:r>
                            </m:e>
                          </m:rad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   (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𝛼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&lt;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𝛽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361" y="5002240"/>
                <a:ext cx="10277096" cy="1162560"/>
              </a:xfrm>
              <a:prstGeom prst="rect">
                <a:avLst/>
              </a:prstGeom>
              <a:blipFill rotWithShape="1">
                <a:blip r:embed="rId4"/>
                <a:stretch>
                  <a:fillRect t="-30" r="3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对象 6"/>
              <p:cNvSpPr txBox="1"/>
              <p:nvPr/>
            </p:nvSpPr>
            <p:spPr>
              <a:xfrm>
                <a:off x="808110" y="3138444"/>
                <a:ext cx="3838864" cy="51911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其中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),</m:t>
                      </m:r>
                      <m:r>
                        <a:rPr lang="el-GR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𝛹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在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[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𝛼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𝛽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]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110" y="3138444"/>
                <a:ext cx="3838864" cy="519112"/>
              </a:xfrm>
              <a:prstGeom prst="rect">
                <a:avLst/>
              </a:prstGeom>
              <a:blipFill rotWithShape="1">
                <a:blip r:embed="rId5"/>
                <a:stretch>
                  <a:fillRect l="-10" t="-53" r="1" b="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对象 8"/>
              <p:cNvSpPr txBox="1"/>
              <p:nvPr/>
            </p:nvSpPr>
            <p:spPr>
              <a:xfrm>
                <a:off x="798226" y="3807529"/>
                <a:ext cx="7413181" cy="97082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则曲线积分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存在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且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对象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26" y="3807529"/>
                <a:ext cx="7413181" cy="970820"/>
              </a:xfrm>
              <a:prstGeom prst="rect">
                <a:avLst/>
              </a:prstGeom>
              <a:blipFill rotWithShape="1">
                <a:blip r:embed="rId6"/>
                <a:stretch>
                  <a:fillRect t="-7" r="3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对象 18"/>
              <p:cNvSpPr txBox="1"/>
              <p:nvPr/>
            </p:nvSpPr>
            <p:spPr>
              <a:xfrm>
                <a:off x="4213369" y="3156484"/>
                <a:ext cx="7600950" cy="70981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上具有一阶连续导数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且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′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 +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l-GR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𝛹</m:t>
                          </m:r>
                          <m:r>
                            <m:rPr>
                              <m:nor/>
                            </m:rPr>
                            <a:rPr lang="zh-CN" altLang="en-US" sz="2800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′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0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对象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3369" y="3156484"/>
                <a:ext cx="7600950" cy="709819"/>
              </a:xfrm>
              <a:prstGeom prst="rect">
                <a:avLst/>
              </a:prstGeom>
              <a:blipFill rotWithShape="1">
                <a:blip r:embed="rId7"/>
                <a:stretch>
                  <a:fillRect l="-2" t="-75" r="2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组合 47"/>
          <p:cNvGrpSpPr/>
          <p:nvPr/>
        </p:nvGrpSpPr>
        <p:grpSpPr>
          <a:xfrm>
            <a:off x="846584" y="1469129"/>
            <a:ext cx="901065" cy="448945"/>
            <a:chOff x="1238671" y="2327527"/>
            <a:chExt cx="901065" cy="448945"/>
          </a:xfrm>
        </p:grpSpPr>
        <p:sp>
          <p:nvSpPr>
            <p:cNvPr id="46" name="圆角矩形 21"/>
            <p:cNvSpPr/>
            <p:nvPr/>
          </p:nvSpPr>
          <p:spPr>
            <a:xfrm>
              <a:off x="1238671" y="2327527"/>
              <a:ext cx="899795" cy="448945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Text Box 28"/>
            <p:cNvSpPr txBox="1">
              <a:spLocks noChangeArrowheads="1"/>
            </p:cNvSpPr>
            <p:nvPr/>
          </p:nvSpPr>
          <p:spPr bwMode="auto">
            <a:xfrm>
              <a:off x="1337096" y="2334512"/>
              <a:ext cx="802640" cy="4305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定理</a:t>
              </a:r>
              <a:endParaRPr kumimoji="1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2" grpId="0"/>
      <p:bldP spid="13" grpId="0"/>
      <p:bldP spid="14" grpId="0" animBg="1"/>
      <p:bldP spid="15" grpId="0"/>
      <p:bldP spid="18" grpId="0"/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52" name="矩形 58451"/>
          <p:cNvSpPr/>
          <p:nvPr/>
        </p:nvSpPr>
        <p:spPr>
          <a:xfrm>
            <a:off x="687324" y="663574"/>
            <a:ext cx="10817225" cy="5532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454" name="半闭框 58453"/>
          <p:cNvSpPr/>
          <p:nvPr/>
        </p:nvSpPr>
        <p:spPr>
          <a:xfrm>
            <a:off x="687324" y="661529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8456" name="半闭框 58455"/>
          <p:cNvSpPr/>
          <p:nvPr/>
        </p:nvSpPr>
        <p:spPr>
          <a:xfrm flipH="1">
            <a:off x="10823530" y="660915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8458" name="半闭框 58457"/>
          <p:cNvSpPr/>
          <p:nvPr/>
        </p:nvSpPr>
        <p:spPr>
          <a:xfrm flipV="1">
            <a:off x="687324" y="552295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8460" name="半闭框 58459"/>
          <p:cNvSpPr/>
          <p:nvPr/>
        </p:nvSpPr>
        <p:spPr>
          <a:xfrm flipH="1" flipV="1">
            <a:off x="10823530" y="550308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9" name="Rectangle 330"/>
          <p:cNvSpPr>
            <a:spLocks noChangeArrowheads="1"/>
          </p:cNvSpPr>
          <p:nvPr/>
        </p:nvSpPr>
        <p:spPr bwMode="auto">
          <a:xfrm>
            <a:off x="827341" y="1200944"/>
            <a:ext cx="108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</a:t>
            </a:r>
            <a:endParaRPr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 Box 345"/>
              <p:cNvSpPr txBox="1">
                <a:spLocks noChangeArrowheads="1"/>
              </p:cNvSpPr>
              <p:nvPr/>
            </p:nvSpPr>
            <p:spPr bwMode="auto">
              <a:xfrm>
                <a:off x="1678205" y="1171123"/>
                <a:ext cx="7094793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b="0" dirty="0">
                    <a:latin typeface="Cambria Math" panose="02040503050406030204" pitchFamily="18" charset="0"/>
                    <a:cs typeface="黑体" panose="02010609060101010101" pitchFamily="49" charset="-122"/>
                  </a:rPr>
                  <a:t>假定当参数</a:t>
                </a:r>
                <a14:m>
                  <m:oMath xmlns:m="http://schemas.openxmlformats.org/officeDocument/2006/math">
                    <m:r>
                      <a:rPr kumimoji="1" lang="zh-CN" altLang="en-US">
                        <a:latin typeface="Cambria Math" panose="02040503050406030204" pitchFamily="18" charset="0"/>
                        <a:cs typeface="黑体" panose="02010609060101010101" pitchFamily="49" charset="-122"/>
                      </a:rPr>
                      <m:t>𝑡</m:t>
                    </m:r>
                  </m:oMath>
                </a14:m>
                <a:r>
                  <a:rPr kumimoji="1" lang="zh-CN" altLang="en-US" b="0" dirty="0">
                    <a:latin typeface="Cambria Math" panose="02040503050406030204" pitchFamily="18" charset="0"/>
                    <a:cs typeface="黑体" panose="02010609060101010101" pitchFamily="49" charset="-122"/>
                  </a:rPr>
                  <a:t>由</a:t>
                </a:r>
                <a14:m>
                  <m:oMath xmlns:m="http://schemas.openxmlformats.org/officeDocument/2006/math">
                    <m:r>
                      <a:rPr kumimoji="1" lang="zh-CN" altLang="en-US">
                        <a:latin typeface="Cambria Math" panose="02040503050406030204" pitchFamily="18" charset="0"/>
                        <a:cs typeface="黑体" panose="02010609060101010101" pitchFamily="49" charset="-122"/>
                      </a:rPr>
                      <m:t>𝛼</m:t>
                    </m:r>
                  </m:oMath>
                </a14:m>
                <a:r>
                  <a:rPr kumimoji="1" lang="zh-CN" altLang="en-US" b="0" dirty="0">
                    <a:latin typeface="Cambria Math" panose="02040503050406030204" pitchFamily="18" charset="0"/>
                    <a:cs typeface="黑体" panose="02010609060101010101" pitchFamily="49" charset="-122"/>
                    <a:sym typeface="Symbol" panose="05050102010706020507" pitchFamily="18" charset="2"/>
                  </a:rPr>
                  <a:t>变到</a:t>
                </a:r>
                <a14:m>
                  <m:oMath xmlns:m="http://schemas.openxmlformats.org/officeDocument/2006/math">
                    <m:r>
                      <a:rPr kumimoji="1" lang="zh-CN" altLang="en-US">
                        <a:latin typeface="Cambria Math" panose="02040503050406030204" pitchFamily="18" charset="0"/>
                        <a:cs typeface="黑体" panose="02010609060101010101" pitchFamily="49" charset="-122"/>
                      </a:rPr>
                      <m:t>𝛽</m:t>
                    </m:r>
                  </m:oMath>
                </a14:m>
                <a:r>
                  <a:rPr kumimoji="1" lang="zh-CN" altLang="en-US" b="0" dirty="0">
                    <a:latin typeface="Cambria Math" panose="02040503050406030204" pitchFamily="18" charset="0"/>
                    <a:cs typeface="黑体" panose="02010609060101010101" pitchFamily="49" charset="-122"/>
                    <a:sym typeface="Symbol" panose="05050102010706020507" pitchFamily="18" charset="2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zh-CN" altLang="en-US">
                        <a:latin typeface="Cambria Math" panose="02040503050406030204" pitchFamily="18" charset="0"/>
                        <a:cs typeface="黑体" panose="02010609060101010101" pitchFamily="49" charset="-122"/>
                      </a:rPr>
                      <m:t>,</m:t>
                    </m:r>
                    <m:r>
                      <a:rPr kumimoji="1" lang="zh-CN" altLang="en-US">
                        <a:latin typeface="Cambria Math" panose="02040503050406030204" pitchFamily="18" charset="0"/>
                        <a:cs typeface="黑体" panose="02010609060101010101" pitchFamily="49" charset="-122"/>
                      </a:rPr>
                      <m:t>𝐿</m:t>
                    </m:r>
                  </m:oMath>
                </a14:m>
                <a:r>
                  <a:rPr kumimoji="1" lang="zh-CN" altLang="en-US" b="0" dirty="0">
                    <a:latin typeface="Cambria Math" panose="02040503050406030204" pitchFamily="18" charset="0"/>
                    <a:cs typeface="黑体" panose="02010609060101010101" pitchFamily="49" charset="-122"/>
                    <a:sym typeface="Symbol" panose="05050102010706020507" pitchFamily="18" charset="2"/>
                  </a:rPr>
                  <a:t>上的点</a:t>
                </a:r>
                <a14:m>
                  <m:oMath xmlns:m="http://schemas.openxmlformats.org/officeDocument/2006/math">
                    <m:r>
                      <a:rPr kumimoji="1" lang="zh-CN" altLang="en-US">
                        <a:latin typeface="Cambria Math" panose="02040503050406030204" pitchFamily="18" charset="0"/>
                        <a:cs typeface="黑体" panose="02010609060101010101" pitchFamily="49" charset="-122"/>
                      </a:rPr>
                      <m:t>𝑀</m:t>
                    </m:r>
                  </m:oMath>
                </a14:m>
                <a:r>
                  <a:rPr kumimoji="1" lang="zh-CN" altLang="en-US" b="0" dirty="0">
                    <a:latin typeface="Cambria Math" panose="02040503050406030204" pitchFamily="18" charset="0"/>
                    <a:cs typeface="黑体" panose="02010609060101010101" pitchFamily="49" charset="-122"/>
                    <a:sym typeface="Symbol" panose="05050102010706020507" pitchFamily="18" charset="2"/>
                  </a:rPr>
                  <a:t>依</a:t>
                </a:r>
                <a:endParaRPr kumimoji="1" lang="zh-CN" altLang="en-US" b="0" dirty="0">
                  <a:latin typeface="Cambria Math" panose="02040503050406030204" pitchFamily="18" charset="0"/>
                  <a:cs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60" name="Text Box 3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8205" y="1171123"/>
                <a:ext cx="7094793" cy="523220"/>
              </a:xfrm>
              <a:prstGeom prst="rect">
                <a:avLst/>
              </a:prstGeom>
              <a:blipFill rotWithShape="1">
                <a:blip r:embed="rId1"/>
                <a:stretch>
                  <a:fillRect l="-8" t="-35" r="7" b="3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 Box 346"/>
              <p:cNvSpPr txBox="1">
                <a:spLocks noChangeArrowheads="1"/>
              </p:cNvSpPr>
              <p:nvPr/>
            </p:nvSpPr>
            <p:spPr bwMode="auto">
              <a:xfrm>
                <a:off x="1678204" y="1799033"/>
                <a:ext cx="573327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b="0" dirty="0">
                    <a:latin typeface="Cambria Math" panose="02040503050406030204" pitchFamily="18" charset="0"/>
                    <a:cs typeface="黑体" panose="02010609060101010101" pitchFamily="49" charset="-122"/>
                  </a:rPr>
                  <a:t>点</a:t>
                </a:r>
                <a14:m>
                  <m:oMath xmlns:m="http://schemas.openxmlformats.org/officeDocument/2006/math">
                    <m:r>
                      <a:rPr kumimoji="1" lang="zh-CN" altLang="en-US">
                        <a:latin typeface="Cambria Math" panose="02040503050406030204" pitchFamily="18" charset="0"/>
                        <a:cs typeface="黑体" panose="02010609060101010101" pitchFamily="49" charset="-122"/>
                      </a:rPr>
                      <m:t>𝐴</m:t>
                    </m:r>
                  </m:oMath>
                </a14:m>
                <a:r>
                  <a:rPr kumimoji="1" lang="zh-CN" altLang="en-US" b="0" dirty="0">
                    <a:latin typeface="Cambria Math" panose="02040503050406030204" pitchFamily="18" charset="0"/>
                    <a:cs typeface="黑体" panose="02010609060101010101" pitchFamily="49" charset="-122"/>
                  </a:rPr>
                  <a:t>至点</a:t>
                </a:r>
                <a14:m>
                  <m:oMath xmlns:m="http://schemas.openxmlformats.org/officeDocument/2006/math">
                    <m:r>
                      <a:rPr kumimoji="1" lang="zh-CN" altLang="en-US">
                        <a:latin typeface="Cambria Math" panose="02040503050406030204" pitchFamily="18" charset="0"/>
                        <a:cs typeface="黑体" panose="02010609060101010101" pitchFamily="49" charset="-122"/>
                      </a:rPr>
                      <m:t>𝐵</m:t>
                    </m:r>
                  </m:oMath>
                </a14:m>
                <a:r>
                  <a:rPr kumimoji="1" lang="zh-CN" altLang="en-US" b="0" dirty="0">
                    <a:latin typeface="Cambria Math" panose="02040503050406030204" pitchFamily="18" charset="0"/>
                    <a:cs typeface="黑体" panose="02010609060101010101" pitchFamily="49" charset="-122"/>
                  </a:rPr>
                  <a:t>的方向描出曲线</a:t>
                </a:r>
                <a14:m>
                  <m:oMath xmlns:m="http://schemas.openxmlformats.org/officeDocument/2006/math">
                    <m:r>
                      <a:rPr kumimoji="1" lang="zh-CN" altLang="en-US">
                        <a:latin typeface="Cambria Math" panose="02040503050406030204" pitchFamily="18" charset="0"/>
                        <a:cs typeface="黑体" panose="02010609060101010101" pitchFamily="49" charset="-122"/>
                      </a:rPr>
                      <m:t>𝐿</m:t>
                    </m:r>
                  </m:oMath>
                </a14:m>
                <a:r>
                  <a:rPr kumimoji="1" lang="en-US" altLang="zh-CN" b="0" dirty="0">
                    <a:latin typeface="Cambria Math" panose="02040503050406030204" pitchFamily="18" charset="0"/>
                    <a:cs typeface="黑体" panose="02010609060101010101" pitchFamily="49" charset="-122"/>
                  </a:rPr>
                  <a:t>.</a:t>
                </a:r>
                <a:endParaRPr kumimoji="1" lang="en-US" altLang="zh-CN" b="0" dirty="0">
                  <a:latin typeface="Cambria Math" panose="02040503050406030204" pitchFamily="18" charset="0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61" name="Text Box 3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8204" y="1799033"/>
                <a:ext cx="5733275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9" t="-15" r="7" b="1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 Box 381"/>
              <p:cNvSpPr txBox="1">
                <a:spLocks noChangeArrowheads="1"/>
              </p:cNvSpPr>
              <p:nvPr/>
            </p:nvSpPr>
            <p:spPr bwMode="auto">
              <a:xfrm>
                <a:off x="1678204" y="2426943"/>
                <a:ext cx="377463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b="0" dirty="0">
                    <a:latin typeface="Cambria Math" panose="02040503050406030204" pitchFamily="18" charset="0"/>
                    <a:cs typeface="黑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kumimoji="1" lang="zh-CN" altLang="en-US">
                        <a:latin typeface="Cambria Math" panose="02040503050406030204" pitchFamily="18" charset="0"/>
                        <a:cs typeface="黑体" panose="02010609060101010101" pitchFamily="49" charset="-122"/>
                      </a:rPr>
                      <m:t>𝐿</m:t>
                    </m:r>
                  </m:oMath>
                </a14:m>
                <a:r>
                  <a:rPr kumimoji="1" lang="zh-CN" altLang="en-US" b="0" dirty="0">
                    <a:latin typeface="Cambria Math" panose="02040503050406030204" pitchFamily="18" charset="0"/>
                    <a:cs typeface="黑体" panose="02010609060101010101" pitchFamily="49" charset="-122"/>
                  </a:rPr>
                  <a:t>上取一列点</a:t>
                </a:r>
                <a:endParaRPr kumimoji="1" lang="zh-CN" altLang="en-US" b="0" dirty="0">
                  <a:latin typeface="Cambria Math" panose="02040503050406030204" pitchFamily="18" charset="0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62" name="Text Box 3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8204" y="2426943"/>
                <a:ext cx="3774637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14" t="-116" r="3" b="1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 Box 383"/>
          <p:cNvSpPr txBox="1">
            <a:spLocks noChangeArrowheads="1"/>
          </p:cNvSpPr>
          <p:nvPr/>
        </p:nvSpPr>
        <p:spPr bwMode="auto">
          <a:xfrm>
            <a:off x="1678205" y="3709076"/>
            <a:ext cx="48375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b="0" dirty="0">
                <a:latin typeface="Cambria Math" panose="02040503050406030204" pitchFamily="18" charset="0"/>
                <a:cs typeface="黑体" panose="02010609060101010101" pitchFamily="49" charset="-122"/>
              </a:rPr>
              <a:t>它们对应于一列单调增加的</a:t>
            </a:r>
            <a:endParaRPr kumimoji="1" lang="zh-CN" altLang="en-US" b="0" dirty="0">
              <a:latin typeface="Cambria Math" panose="02040503050406030204" pitchFamily="18" charset="0"/>
              <a:cs typeface="黑体" panose="02010609060101010101" pitchFamily="49" charset="-122"/>
            </a:endParaRPr>
          </a:p>
        </p:txBody>
      </p:sp>
      <p:sp>
        <p:nvSpPr>
          <p:cNvPr id="58368" name="Text Box 384"/>
          <p:cNvSpPr txBox="1">
            <a:spLocks noChangeArrowheads="1"/>
          </p:cNvSpPr>
          <p:nvPr/>
        </p:nvSpPr>
        <p:spPr bwMode="auto">
          <a:xfrm>
            <a:off x="1678205" y="4336986"/>
            <a:ext cx="18555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b="0" dirty="0">
                <a:latin typeface="Cambria Math" panose="02040503050406030204" pitchFamily="18" charset="0"/>
                <a:cs typeface="黑体" panose="02010609060101010101" pitchFamily="49" charset="-122"/>
              </a:rPr>
              <a:t>参数值</a:t>
            </a:r>
            <a:endParaRPr kumimoji="1" lang="zh-CN" altLang="en-US" b="0" dirty="0">
              <a:latin typeface="Cambria Math" panose="02040503050406030204" pitchFamily="18" charset="0"/>
              <a:cs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369" name="对象 1"/>
              <p:cNvSpPr txBox="1"/>
              <p:nvPr/>
            </p:nvSpPr>
            <p:spPr>
              <a:xfrm>
                <a:off x="1678204" y="3054853"/>
                <a:ext cx="5954163" cy="457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,⋯,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−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𝐵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8369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204" y="3054853"/>
                <a:ext cx="5954163" cy="457200"/>
              </a:xfrm>
              <a:prstGeom prst="rect">
                <a:avLst/>
              </a:prstGeom>
              <a:blipFill rotWithShape="1">
                <a:blip r:embed="rId4"/>
                <a:stretch>
                  <a:fillRect l="-9" t="-110" r="5" b="-32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370" name="对象 2"/>
              <p:cNvSpPr txBox="1"/>
              <p:nvPr/>
            </p:nvSpPr>
            <p:spPr>
              <a:xfrm>
                <a:off x="1678205" y="4964895"/>
                <a:ext cx="6967202" cy="5426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𝛼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&lt;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&lt;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&lt;⋯&lt;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−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&lt;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𝛽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8370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205" y="4964895"/>
                <a:ext cx="6967202" cy="542600"/>
              </a:xfrm>
              <a:prstGeom prst="rect">
                <a:avLst/>
              </a:prstGeom>
              <a:blipFill rotWithShape="1">
                <a:blip r:embed="rId5"/>
                <a:stretch>
                  <a:fillRect l="-8" t="-86" r="7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/>
          <p:cNvGrpSpPr/>
          <p:nvPr/>
        </p:nvGrpSpPr>
        <p:grpSpPr>
          <a:xfrm>
            <a:off x="7468449" y="1803908"/>
            <a:ext cx="3641390" cy="3175905"/>
            <a:chOff x="7468449" y="1803908"/>
            <a:chExt cx="3641390" cy="3175905"/>
          </a:xfrm>
        </p:grpSpPr>
        <p:sp>
          <p:nvSpPr>
            <p:cNvPr id="58423" name="任意多边形: 形状 58422"/>
            <p:cNvSpPr/>
            <p:nvPr/>
          </p:nvSpPr>
          <p:spPr>
            <a:xfrm>
              <a:off x="8436355" y="1946528"/>
              <a:ext cx="1545336" cy="2020824"/>
            </a:xfrm>
            <a:custGeom>
              <a:avLst/>
              <a:gdLst>
                <a:gd name="connsiteX0" fmla="*/ 0 w 1545336"/>
                <a:gd name="connsiteY0" fmla="*/ 2020824 h 2020824"/>
                <a:gd name="connsiteX1" fmla="*/ 201168 w 1545336"/>
                <a:gd name="connsiteY1" fmla="*/ 1901952 h 2020824"/>
                <a:gd name="connsiteX2" fmla="*/ 749808 w 1545336"/>
                <a:gd name="connsiteY2" fmla="*/ 1316736 h 2020824"/>
                <a:gd name="connsiteX3" fmla="*/ 1545336 w 1545336"/>
                <a:gd name="connsiteY3" fmla="*/ 0 h 2020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5336" h="2020824">
                  <a:moveTo>
                    <a:pt x="0" y="2020824"/>
                  </a:moveTo>
                  <a:cubicBezTo>
                    <a:pt x="38100" y="2020062"/>
                    <a:pt x="76200" y="2019300"/>
                    <a:pt x="201168" y="1901952"/>
                  </a:cubicBezTo>
                  <a:cubicBezTo>
                    <a:pt x="326136" y="1784604"/>
                    <a:pt x="525780" y="1633728"/>
                    <a:pt x="749808" y="1316736"/>
                  </a:cubicBezTo>
                  <a:cubicBezTo>
                    <a:pt x="973836" y="999744"/>
                    <a:pt x="1502664" y="190500"/>
                    <a:pt x="1545336" y="0"/>
                  </a:cubicBezTo>
                </a:path>
              </a:pathLst>
            </a:custGeom>
            <a:noFill/>
            <a:ln w="15875"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8371" name="Group 40"/>
            <p:cNvGrpSpPr/>
            <p:nvPr/>
          </p:nvGrpSpPr>
          <p:grpSpPr bwMode="auto">
            <a:xfrm>
              <a:off x="7468449" y="1803908"/>
              <a:ext cx="3641390" cy="3175905"/>
              <a:chOff x="3193" y="415"/>
              <a:chExt cx="2534" cy="2093"/>
            </a:xfrm>
          </p:grpSpPr>
          <p:grpSp>
            <p:nvGrpSpPr>
              <p:cNvPr id="58372" name="Group 11"/>
              <p:cNvGrpSpPr/>
              <p:nvPr/>
            </p:nvGrpSpPr>
            <p:grpSpPr bwMode="auto">
              <a:xfrm>
                <a:off x="3193" y="566"/>
                <a:ext cx="2534" cy="1740"/>
                <a:chOff x="3337" y="1197"/>
                <a:chExt cx="2534" cy="1740"/>
              </a:xfrm>
            </p:grpSpPr>
            <p:sp>
              <p:nvSpPr>
                <p:cNvPr id="58397" name="Line 12"/>
                <p:cNvSpPr>
                  <a:spLocks noChangeShapeType="1"/>
                </p:cNvSpPr>
                <p:nvPr/>
              </p:nvSpPr>
              <p:spPr bwMode="auto">
                <a:xfrm>
                  <a:off x="3392" y="2640"/>
                  <a:ext cx="2080" cy="0"/>
                </a:xfrm>
                <a:prstGeom prst="line">
                  <a:avLst/>
                </a:prstGeom>
                <a:noFill/>
                <a:ln w="28575">
                  <a:solidFill>
                    <a:srgbClr val="04926A"/>
                  </a:solidFill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58398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3552" y="1248"/>
                  <a:ext cx="0" cy="1510"/>
                </a:xfrm>
                <a:prstGeom prst="line">
                  <a:avLst/>
                </a:prstGeom>
                <a:noFill/>
                <a:ln w="28575">
                  <a:solidFill>
                    <a:schemeClr val="accent1"/>
                  </a:solidFill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8399" name="Object 14"/>
                    <p:cNvSpPr txBox="1"/>
                    <p:nvPr/>
                  </p:nvSpPr>
                  <p:spPr bwMode="auto">
                    <a:xfrm>
                      <a:off x="3349" y="2607"/>
                      <a:ext cx="135" cy="15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8399" name="Object 1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3349" y="2607"/>
                      <a:ext cx="135" cy="151"/>
                    </a:xfrm>
                    <a:prstGeom prst="rect">
                      <a:avLst/>
                    </a:prstGeom>
                    <a:blipFill rotWithShape="1">
                      <a:blip r:embed="rId6"/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8400" name="Object 15"/>
                    <p:cNvSpPr txBox="1"/>
                    <p:nvPr/>
                  </p:nvSpPr>
                  <p:spPr bwMode="auto">
                    <a:xfrm>
                      <a:off x="5294" y="2613"/>
                      <a:ext cx="156" cy="1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8400" name="Object 1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5294" y="2613"/>
                      <a:ext cx="156" cy="149"/>
                    </a:xfrm>
                    <a:prstGeom prst="rect">
                      <a:avLst/>
                    </a:prstGeom>
                    <a:blipFill rotWithShape="1">
                      <a:blip r:embed="rId7"/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8401" name="Object 16"/>
                    <p:cNvSpPr txBox="1"/>
                    <p:nvPr/>
                  </p:nvSpPr>
                  <p:spPr bwMode="auto">
                    <a:xfrm>
                      <a:off x="3337" y="1197"/>
                      <a:ext cx="158" cy="19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8401" name="Object 1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3337" y="1197"/>
                      <a:ext cx="158" cy="197"/>
                    </a:xfrm>
                    <a:prstGeom prst="rect">
                      <a:avLst/>
                    </a:prstGeom>
                    <a:blipFill rotWithShape="1">
                      <a:blip r:embed="rId8"/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8402" name="Line 12"/>
                <p:cNvSpPr>
                  <a:spLocks noChangeShapeType="1"/>
                </p:cNvSpPr>
                <p:nvPr/>
              </p:nvSpPr>
              <p:spPr bwMode="auto">
                <a:xfrm>
                  <a:off x="3349" y="2910"/>
                  <a:ext cx="2387" cy="0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8450" name="Object 15"/>
                    <p:cNvSpPr txBox="1"/>
                    <p:nvPr/>
                  </p:nvSpPr>
                  <p:spPr bwMode="auto">
                    <a:xfrm>
                      <a:off x="5715" y="2788"/>
                      <a:ext cx="156" cy="1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accent2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8450" name="Object 1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5715" y="2788"/>
                      <a:ext cx="156" cy="149"/>
                    </a:xfrm>
                    <a:prstGeom prst="rect">
                      <a:avLst/>
                    </a:prstGeom>
                    <a:blipFill rotWithShape="1">
                      <a:blip r:embed="rId9"/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8373" name="Group 17"/>
              <p:cNvGrpSpPr/>
              <p:nvPr/>
            </p:nvGrpSpPr>
            <p:grpSpPr bwMode="auto">
              <a:xfrm>
                <a:off x="3443" y="415"/>
                <a:ext cx="2215" cy="2093"/>
                <a:chOff x="3587" y="1046"/>
                <a:chExt cx="2215" cy="2093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8395" name="Object 19"/>
                    <p:cNvSpPr txBox="1"/>
                    <p:nvPr/>
                  </p:nvSpPr>
                  <p:spPr bwMode="auto">
                    <a:xfrm>
                      <a:off x="3587" y="2276"/>
                      <a:ext cx="664" cy="27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a14:m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a:t>=</a:t>
                      </a:r>
                      <a:r>
                        <a:rPr lang="en-US" altLang="zh-CN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a:t>A</a:t>
                      </a:r>
                      <a:endParaRPr lang="zh-CN" alt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58395" name="Object 1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3587" y="2276"/>
                      <a:ext cx="664" cy="270"/>
                    </a:xfrm>
                    <a:prstGeom prst="rect">
                      <a:avLst/>
                    </a:prstGeom>
                    <a:blipFill rotWithShape="1">
                      <a:blip r:embed="rId10"/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8396" name="Object 20"/>
                    <p:cNvSpPr txBox="1"/>
                    <p:nvPr/>
                  </p:nvSpPr>
                  <p:spPr bwMode="auto">
                    <a:xfrm>
                      <a:off x="5098" y="1046"/>
                      <a:ext cx="704" cy="22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8396" name="Object 2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5098" y="1046"/>
                      <a:ext cx="704" cy="223"/>
                    </a:xfrm>
                    <a:prstGeom prst="rect">
                      <a:avLst/>
                    </a:prstGeom>
                    <a:blipFill rotWithShape="1">
                      <a:blip r:embed="rId11"/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8435" name="Object 20"/>
                    <p:cNvSpPr txBox="1"/>
                    <p:nvPr/>
                  </p:nvSpPr>
                  <p:spPr bwMode="auto">
                    <a:xfrm>
                      <a:off x="3643" y="2916"/>
                      <a:ext cx="704" cy="22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r>
                        <a:rPr kumimoji="1" lang="zh-CN" altLang="en-US" sz="1600" i="1" dirty="0">
                          <a:latin typeface="Cambria Math" panose="02040503050406030204" pitchFamily="18" charset="0"/>
                          <a:cs typeface="黑体" panose="02010609060101010101" pitchFamily="49" charset="-122"/>
                          <a:sym typeface="Symbol" panose="05050102010706020507" pitchFamily="18" charset="2"/>
                        </a:rPr>
                        <a:t></a:t>
                      </a:r>
                      <a:r>
                        <a:rPr kumimoji="1" lang="zh-CN" altLang="en-US" sz="1600" dirty="0">
                          <a:latin typeface="Cambria Math" panose="02040503050406030204" pitchFamily="18" charset="0"/>
                          <a:cs typeface="黑体" panose="02010609060101010101" pitchFamily="49" charset="-122"/>
                          <a:sym typeface="Symbol" panose="05050102010706020507" pitchFamily="18" charset="2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16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8435" name="Object 2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3643" y="2916"/>
                      <a:ext cx="704" cy="223"/>
                    </a:xfrm>
                    <a:prstGeom prst="rect">
                      <a:avLst/>
                    </a:prstGeom>
                    <a:blipFill rotWithShape="1">
                      <a:blip r:embed="rId12"/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8436" name="Object 20"/>
                    <p:cNvSpPr txBox="1"/>
                    <p:nvPr/>
                  </p:nvSpPr>
                  <p:spPr bwMode="auto">
                    <a:xfrm>
                      <a:off x="4074" y="2916"/>
                      <a:ext cx="186" cy="22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16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8436" name="Object 2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074" y="2916"/>
                      <a:ext cx="186" cy="223"/>
                    </a:xfrm>
                    <a:prstGeom prst="rect">
                      <a:avLst/>
                    </a:prstGeom>
                    <a:blipFill rotWithShape="1">
                      <a:blip r:embed="rId13"/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8437" name="Object 20"/>
                    <p:cNvSpPr txBox="1"/>
                    <p:nvPr/>
                  </p:nvSpPr>
                  <p:spPr bwMode="auto">
                    <a:xfrm>
                      <a:off x="4386" y="2916"/>
                      <a:ext cx="370" cy="22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16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00" dirty="0"/>
                    </a:p>
                  </p:txBody>
                </p:sp>
              </mc:Choice>
              <mc:Fallback>
                <p:sp>
                  <p:nvSpPr>
                    <p:cNvPr id="58437" name="Object 2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386" y="2916"/>
                      <a:ext cx="370" cy="223"/>
                    </a:xfrm>
                    <a:prstGeom prst="rect">
                      <a:avLst/>
                    </a:prstGeom>
                    <a:blipFill rotWithShape="1">
                      <a:blip r:embed="rId14"/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8438" name="Object 20"/>
                    <p:cNvSpPr txBox="1"/>
                    <p:nvPr/>
                  </p:nvSpPr>
                  <p:spPr bwMode="auto">
                    <a:xfrm>
                      <a:off x="4631" y="2916"/>
                      <a:ext cx="186" cy="22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16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8438" name="Object 2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631" y="2916"/>
                      <a:ext cx="186" cy="223"/>
                    </a:xfrm>
                    <a:prstGeom prst="rect">
                      <a:avLst/>
                    </a:prstGeom>
                    <a:blipFill rotWithShape="1">
                      <a:blip r:embed="rId15"/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8440" name="Object 20"/>
                    <p:cNvSpPr txBox="1"/>
                    <p:nvPr/>
                  </p:nvSpPr>
                  <p:spPr bwMode="auto">
                    <a:xfrm>
                      <a:off x="5078" y="2916"/>
                      <a:ext cx="550" cy="22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zh-CN" altLang="en-US" sz="16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16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kumimoji="1" lang="zh-CN" altLang="en-US" sz="16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kumimoji="1" lang="zh-CN" altLang="en-US" sz="16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  <m:t>=</m:t>
                            </m:r>
                            <m:r>
                              <a:rPr kumimoji="1" lang="zh-CN" altLang="en-US" sz="16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  <m:t>𝛽</m:t>
                            </m:r>
                          </m:oMath>
                        </m:oMathPara>
                      </a14:m>
                      <a:endParaRPr lang="zh-CN" altLang="en-US" sz="1600" i="1" dirty="0">
                        <a:solidFill>
                          <a:srgbClr val="A9D18E"/>
                        </a:solidFill>
                        <a:latin typeface="Cambria Math" panose="020405030504060302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58440" name="Object 2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5078" y="2916"/>
                      <a:ext cx="550" cy="223"/>
                    </a:xfrm>
                    <a:prstGeom prst="rect">
                      <a:avLst/>
                    </a:prstGeom>
                    <a:blipFill rotWithShape="1">
                      <a:blip r:embed="rId16"/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8449" name="Object 20"/>
                    <p:cNvSpPr txBox="1"/>
                    <p:nvPr/>
                  </p:nvSpPr>
                  <p:spPr bwMode="auto">
                    <a:xfrm>
                      <a:off x="4782" y="2916"/>
                      <a:ext cx="370" cy="22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16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00" dirty="0"/>
                    </a:p>
                  </p:txBody>
                </p:sp>
              </mc:Choice>
              <mc:Fallback>
                <p:sp>
                  <p:nvSpPr>
                    <p:cNvPr id="58449" name="Object 2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782" y="2916"/>
                      <a:ext cx="370" cy="223"/>
                    </a:xfrm>
                    <a:prstGeom prst="rect">
                      <a:avLst/>
                    </a:prstGeom>
                    <a:blipFill rotWithShape="1">
                      <a:blip r:embed="rId17"/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8375" name="Group 21"/>
              <p:cNvGrpSpPr/>
              <p:nvPr/>
            </p:nvGrpSpPr>
            <p:grpSpPr bwMode="auto">
              <a:xfrm>
                <a:off x="4364" y="501"/>
                <a:ext cx="606" cy="484"/>
                <a:chOff x="4508" y="1132"/>
                <a:chExt cx="606" cy="484"/>
              </a:xfrm>
            </p:grpSpPr>
            <p:sp>
              <p:nvSpPr>
                <p:cNvPr id="58392" name="Oval 22"/>
                <p:cNvSpPr>
                  <a:spLocks noChangeArrowheads="1"/>
                </p:cNvSpPr>
                <p:nvPr/>
              </p:nvSpPr>
              <p:spPr bwMode="auto">
                <a:xfrm>
                  <a:off x="5066" y="1132"/>
                  <a:ext cx="48" cy="48"/>
                </a:xfrm>
                <a:prstGeom prst="ellipse">
                  <a:avLst/>
                </a:prstGeom>
                <a:solidFill>
                  <a:srgbClr val="A9D18E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8393" name="Object 23"/>
                    <p:cNvSpPr txBox="1"/>
                    <p:nvPr/>
                  </p:nvSpPr>
                  <p:spPr bwMode="auto">
                    <a:xfrm>
                      <a:off x="4508" y="1280"/>
                      <a:ext cx="539" cy="3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8393" name="Object 2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508" y="1280"/>
                      <a:ext cx="539" cy="336"/>
                    </a:xfrm>
                    <a:prstGeom prst="rect">
                      <a:avLst/>
                    </a:prstGeom>
                    <a:blipFill rotWithShape="1">
                      <a:blip r:embed="rId18"/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8434" name="Oval 22"/>
                <p:cNvSpPr>
                  <a:spLocks noChangeArrowheads="1"/>
                </p:cNvSpPr>
                <p:nvPr/>
              </p:nvSpPr>
              <p:spPr bwMode="auto">
                <a:xfrm>
                  <a:off x="4940" y="1359"/>
                  <a:ext cx="48" cy="48"/>
                </a:xfrm>
                <a:prstGeom prst="ellipse">
                  <a:avLst/>
                </a:prstGeom>
                <a:solidFill>
                  <a:srgbClr val="A9D18E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</p:grpSp>
          <p:grpSp>
            <p:nvGrpSpPr>
              <p:cNvPr id="58376" name="Group 24"/>
              <p:cNvGrpSpPr/>
              <p:nvPr/>
            </p:nvGrpSpPr>
            <p:grpSpPr bwMode="auto">
              <a:xfrm>
                <a:off x="4527" y="1050"/>
                <a:ext cx="302" cy="288"/>
                <a:chOff x="4671" y="1681"/>
                <a:chExt cx="302" cy="288"/>
              </a:xfrm>
            </p:grpSpPr>
            <p:sp>
              <p:nvSpPr>
                <p:cNvPr id="58390" name="Oval 25"/>
                <p:cNvSpPr>
                  <a:spLocks noChangeArrowheads="1"/>
                </p:cNvSpPr>
                <p:nvPr/>
              </p:nvSpPr>
              <p:spPr bwMode="auto">
                <a:xfrm>
                  <a:off x="4675" y="1771"/>
                  <a:ext cx="48" cy="48"/>
                </a:xfrm>
                <a:prstGeom prst="ellipse">
                  <a:avLst/>
                </a:prstGeom>
                <a:solidFill>
                  <a:srgbClr val="A9D18E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8391" name="Object 26"/>
                    <p:cNvSpPr txBox="1"/>
                    <p:nvPr/>
                  </p:nvSpPr>
                  <p:spPr bwMode="auto">
                    <a:xfrm>
                      <a:off x="4671" y="1681"/>
                      <a:ext cx="302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rm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8391" name="Object 2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671" y="1681"/>
                      <a:ext cx="302" cy="288"/>
                    </a:xfrm>
                    <a:prstGeom prst="rect">
                      <a:avLst/>
                    </a:prstGeom>
                    <a:blipFill rotWithShape="1">
                      <a:blip r:embed="rId19"/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8377" name="Group 27"/>
              <p:cNvGrpSpPr/>
              <p:nvPr/>
            </p:nvGrpSpPr>
            <p:grpSpPr bwMode="auto">
              <a:xfrm>
                <a:off x="4055" y="1126"/>
                <a:ext cx="500" cy="297"/>
                <a:chOff x="4199" y="1757"/>
                <a:chExt cx="500" cy="297"/>
              </a:xfrm>
            </p:grpSpPr>
            <p:sp>
              <p:nvSpPr>
                <p:cNvPr id="58388" name="Oval 28"/>
                <p:cNvSpPr>
                  <a:spLocks noChangeArrowheads="1"/>
                </p:cNvSpPr>
                <p:nvPr/>
              </p:nvSpPr>
              <p:spPr bwMode="auto">
                <a:xfrm>
                  <a:off x="4542" y="1961"/>
                  <a:ext cx="48" cy="48"/>
                </a:xfrm>
                <a:prstGeom prst="ellipse">
                  <a:avLst/>
                </a:prstGeom>
                <a:solidFill>
                  <a:srgbClr val="A9D18E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8389" name="Object 29"/>
                    <p:cNvSpPr txBox="1"/>
                    <p:nvPr/>
                  </p:nvSpPr>
                  <p:spPr bwMode="auto">
                    <a:xfrm>
                      <a:off x="4199" y="1757"/>
                      <a:ext cx="500" cy="29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rm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8389" name="Object 2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199" y="1757"/>
                      <a:ext cx="500" cy="297"/>
                    </a:xfrm>
                    <a:prstGeom prst="rect">
                      <a:avLst/>
                    </a:prstGeom>
                    <a:blipFill rotWithShape="1">
                      <a:blip r:embed="rId20"/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8386" name="Oval 31"/>
              <p:cNvSpPr>
                <a:spLocks noChangeArrowheads="1"/>
              </p:cNvSpPr>
              <p:nvPr/>
            </p:nvSpPr>
            <p:spPr bwMode="auto">
              <a:xfrm>
                <a:off x="3975" y="1753"/>
                <a:ext cx="48" cy="48"/>
              </a:xfrm>
              <a:prstGeom prst="ellipse">
                <a:avLst/>
              </a:prstGeom>
              <a:solidFill>
                <a:srgbClr val="A9D18E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  <p:grpSp>
            <p:nvGrpSpPr>
              <p:cNvPr id="58379" name="Group 33"/>
              <p:cNvGrpSpPr/>
              <p:nvPr/>
            </p:nvGrpSpPr>
            <p:grpSpPr bwMode="auto">
              <a:xfrm>
                <a:off x="3853" y="1697"/>
                <a:ext cx="1116" cy="609"/>
                <a:chOff x="3997" y="2328"/>
                <a:chExt cx="1116" cy="609"/>
              </a:xfrm>
            </p:grpSpPr>
            <p:sp>
              <p:nvSpPr>
                <p:cNvPr id="58384" name="Oval 34"/>
                <p:cNvSpPr>
                  <a:spLocks noChangeArrowheads="1"/>
                </p:cNvSpPr>
                <p:nvPr/>
              </p:nvSpPr>
              <p:spPr bwMode="auto">
                <a:xfrm>
                  <a:off x="3997" y="2451"/>
                  <a:ext cx="48" cy="48"/>
                </a:xfrm>
                <a:prstGeom prst="ellipse">
                  <a:avLst/>
                </a:prstGeom>
                <a:solidFill>
                  <a:srgbClr val="A9D18E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8385" name="Object 35"/>
                    <p:cNvSpPr txBox="1"/>
                    <p:nvPr/>
                  </p:nvSpPr>
                  <p:spPr bwMode="auto">
                    <a:xfrm>
                      <a:off x="4139" y="2328"/>
                      <a:ext cx="377" cy="23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8385" name="Object 3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139" y="2328"/>
                      <a:ext cx="377" cy="237"/>
                    </a:xfrm>
                    <a:prstGeom prst="rect">
                      <a:avLst/>
                    </a:prstGeom>
                    <a:blipFill rotWithShape="1">
                      <a:blip r:embed="rId21"/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8441" name="Oval 34"/>
                <p:cNvSpPr>
                  <a:spLocks noChangeArrowheads="1"/>
                </p:cNvSpPr>
                <p:nvPr/>
              </p:nvSpPr>
              <p:spPr bwMode="auto">
                <a:xfrm>
                  <a:off x="3997" y="2889"/>
                  <a:ext cx="48" cy="48"/>
                </a:xfrm>
                <a:prstGeom prst="ellipse">
                  <a:avLst/>
                </a:prstGeom>
                <a:solidFill>
                  <a:srgbClr val="A9D18E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58442" name="Oval 34"/>
                <p:cNvSpPr>
                  <a:spLocks noChangeArrowheads="1"/>
                </p:cNvSpPr>
                <p:nvPr/>
              </p:nvSpPr>
              <p:spPr bwMode="auto">
                <a:xfrm>
                  <a:off x="4120" y="2889"/>
                  <a:ext cx="48" cy="48"/>
                </a:xfrm>
                <a:prstGeom prst="ellipse">
                  <a:avLst/>
                </a:prstGeom>
                <a:solidFill>
                  <a:srgbClr val="A9D18E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58443" name="Oval 34"/>
                <p:cNvSpPr>
                  <a:spLocks noChangeArrowheads="1"/>
                </p:cNvSpPr>
                <p:nvPr/>
              </p:nvSpPr>
              <p:spPr bwMode="auto">
                <a:xfrm>
                  <a:off x="4549" y="2889"/>
                  <a:ext cx="48" cy="48"/>
                </a:xfrm>
                <a:prstGeom prst="ellipse">
                  <a:avLst/>
                </a:prstGeom>
                <a:solidFill>
                  <a:srgbClr val="A9D18E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58444" name="Oval 34"/>
                <p:cNvSpPr>
                  <a:spLocks noChangeArrowheads="1"/>
                </p:cNvSpPr>
                <p:nvPr/>
              </p:nvSpPr>
              <p:spPr bwMode="auto">
                <a:xfrm>
                  <a:off x="4672" y="2889"/>
                  <a:ext cx="48" cy="48"/>
                </a:xfrm>
                <a:prstGeom prst="ellipse">
                  <a:avLst/>
                </a:prstGeom>
                <a:solidFill>
                  <a:srgbClr val="A9D18E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58445" name="Oval 34"/>
                <p:cNvSpPr>
                  <a:spLocks noChangeArrowheads="1"/>
                </p:cNvSpPr>
                <p:nvPr/>
              </p:nvSpPr>
              <p:spPr bwMode="auto">
                <a:xfrm>
                  <a:off x="4942" y="2889"/>
                  <a:ext cx="48" cy="48"/>
                </a:xfrm>
                <a:prstGeom prst="ellipse">
                  <a:avLst/>
                </a:prstGeom>
                <a:solidFill>
                  <a:srgbClr val="A9D18E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58446" name="Oval 34"/>
                <p:cNvSpPr>
                  <a:spLocks noChangeArrowheads="1"/>
                </p:cNvSpPr>
                <p:nvPr/>
              </p:nvSpPr>
              <p:spPr bwMode="auto">
                <a:xfrm>
                  <a:off x="5065" y="2889"/>
                  <a:ext cx="48" cy="48"/>
                </a:xfrm>
                <a:prstGeom prst="ellipse">
                  <a:avLst/>
                </a:prstGeom>
                <a:solidFill>
                  <a:srgbClr val="A9D18E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</p:grpSp>
        </p:grpSp>
        <p:cxnSp>
          <p:nvCxnSpPr>
            <p:cNvPr id="58404" name="直接连接符 58403"/>
            <p:cNvCxnSpPr>
              <a:stCxn id="58423" idx="0"/>
            </p:cNvCxnSpPr>
            <p:nvPr/>
          </p:nvCxnSpPr>
          <p:spPr>
            <a:xfrm>
              <a:off x="8436355" y="3967352"/>
              <a:ext cx="13528" cy="655872"/>
            </a:xfrm>
            <a:prstGeom prst="line">
              <a:avLst/>
            </a:prstGeom>
            <a:ln>
              <a:solidFill>
                <a:schemeClr val="dk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405" name="直接连接符 58404"/>
            <p:cNvCxnSpPr/>
            <p:nvPr/>
          </p:nvCxnSpPr>
          <p:spPr>
            <a:xfrm>
              <a:off x="8616704" y="3861935"/>
              <a:ext cx="0" cy="770394"/>
            </a:xfrm>
            <a:prstGeom prst="line">
              <a:avLst/>
            </a:prstGeom>
            <a:ln>
              <a:solidFill>
                <a:schemeClr val="dk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406" name="直接连接符 58405"/>
            <p:cNvCxnSpPr/>
            <p:nvPr/>
          </p:nvCxnSpPr>
          <p:spPr>
            <a:xfrm>
              <a:off x="9227939" y="3221153"/>
              <a:ext cx="0" cy="1411176"/>
            </a:xfrm>
            <a:prstGeom prst="line">
              <a:avLst/>
            </a:prstGeom>
            <a:ln>
              <a:solidFill>
                <a:schemeClr val="dk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408" name="直接连接符 58407"/>
            <p:cNvCxnSpPr/>
            <p:nvPr/>
          </p:nvCxnSpPr>
          <p:spPr>
            <a:xfrm>
              <a:off x="9421881" y="2898042"/>
              <a:ext cx="0" cy="1725182"/>
            </a:xfrm>
            <a:prstGeom prst="line">
              <a:avLst/>
            </a:prstGeom>
            <a:ln>
              <a:solidFill>
                <a:schemeClr val="dk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410" name="直接连接符 58409"/>
            <p:cNvCxnSpPr/>
            <p:nvPr/>
          </p:nvCxnSpPr>
          <p:spPr>
            <a:xfrm>
              <a:off x="9981481" y="1946528"/>
              <a:ext cx="0" cy="2685801"/>
            </a:xfrm>
            <a:prstGeom prst="line">
              <a:avLst/>
            </a:prstGeom>
            <a:ln>
              <a:solidFill>
                <a:schemeClr val="dk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416" name="直接连接符 58415"/>
            <p:cNvCxnSpPr/>
            <p:nvPr/>
          </p:nvCxnSpPr>
          <p:spPr>
            <a:xfrm>
              <a:off x="9807575" y="2307493"/>
              <a:ext cx="0" cy="2324836"/>
            </a:xfrm>
            <a:prstGeom prst="line">
              <a:avLst/>
            </a:prstGeom>
            <a:ln>
              <a:solidFill>
                <a:schemeClr val="dk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8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8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  <p:bldP spid="61" grpId="0"/>
      <p:bldP spid="62" grpId="0"/>
      <p:bldP spid="63" grpId="0"/>
      <p:bldP spid="58368" grpId="0"/>
      <p:bldP spid="58369" grpId="0"/>
      <p:bldP spid="5837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87324" y="663574"/>
            <a:ext cx="10817225" cy="5532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半闭框 2"/>
          <p:cNvSpPr/>
          <p:nvPr/>
        </p:nvSpPr>
        <p:spPr>
          <a:xfrm>
            <a:off x="687324" y="661529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半闭框 4"/>
          <p:cNvSpPr/>
          <p:nvPr/>
        </p:nvSpPr>
        <p:spPr>
          <a:xfrm flipH="1">
            <a:off x="10823530" y="660915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半闭框 6"/>
          <p:cNvSpPr/>
          <p:nvPr/>
        </p:nvSpPr>
        <p:spPr>
          <a:xfrm flipV="1">
            <a:off x="687324" y="552295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半闭框 7"/>
          <p:cNvSpPr/>
          <p:nvPr/>
        </p:nvSpPr>
        <p:spPr>
          <a:xfrm flipH="1" flipV="1">
            <a:off x="10823530" y="550308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Text Box 20"/>
          <p:cNvSpPr txBox="1">
            <a:spLocks noChangeArrowheads="1"/>
          </p:cNvSpPr>
          <p:nvPr/>
        </p:nvSpPr>
        <p:spPr bwMode="auto">
          <a:xfrm>
            <a:off x="1709691" y="799215"/>
            <a:ext cx="18004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根据定义 </a:t>
            </a:r>
            <a:endParaRPr kumimoji="1" lang="zh-CN" altLang="en-US" sz="28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21"/>
              <p:cNvSpPr txBox="1"/>
              <p:nvPr/>
            </p:nvSpPr>
            <p:spPr bwMode="auto">
              <a:xfrm>
                <a:off x="4453337" y="1208581"/>
                <a:ext cx="3566539" cy="135731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𝜆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→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=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𝑓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 dirty="0">
                                      <a:latin typeface="黑体" panose="02010609060101010101" pitchFamily="49" charset="-122"/>
                                      <a:ea typeface="黑体" panose="02010609060101010101" pitchFamily="49" charset="-122"/>
                                      <a:cs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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​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53337" y="1208581"/>
                <a:ext cx="3566539" cy="1357315"/>
              </a:xfrm>
              <a:prstGeom prst="rect">
                <a:avLst/>
              </a:prstGeom>
              <a:blipFill rotWithShape="1">
                <a:blip r:embed="rId1"/>
                <a:stretch>
                  <a:fillRect l="-2" t="-13" r="13" b="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22"/>
              <p:cNvSpPr txBox="1"/>
              <p:nvPr/>
            </p:nvSpPr>
            <p:spPr bwMode="auto">
              <a:xfrm>
                <a:off x="2627677" y="1378443"/>
                <a:ext cx="1571626" cy="8521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𝑠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​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kumimoji="1"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7677" y="1378443"/>
                <a:ext cx="1571626" cy="852168"/>
              </a:xfrm>
              <a:prstGeom prst="rect">
                <a:avLst/>
              </a:prstGeom>
              <a:blipFill rotWithShape="1">
                <a:blip r:embed="rId2"/>
                <a:stretch>
                  <a:fillRect l="-3" t="-58" r="-23068" b="-717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2"/>
              <p:cNvSpPr txBox="1"/>
              <p:nvPr/>
            </p:nvSpPr>
            <p:spPr bwMode="auto">
              <a:xfrm>
                <a:off x="4988236" y="3167860"/>
                <a:ext cx="2338065" cy="5745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𝜏</m:t>
                        </m:r>
                      </m:e>
                      <m:sub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∈[</m:t>
                    </m:r>
                    <m:sSub>
                      <m:sSubPr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𝑡</m:t>
                        </m:r>
                      </m:e>
                      <m:sub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𝑖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−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𝑡</m:t>
                        </m:r>
                      </m:e>
                      <m:sub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],</m:t>
                    </m:r>
                  </m:oMath>
                </a14:m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 </a:t>
                </a:r>
                <a:endParaRPr kumimoji="1"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88236" y="3167860"/>
                <a:ext cx="2338065" cy="574576"/>
              </a:xfrm>
              <a:prstGeom prst="rect">
                <a:avLst/>
              </a:prstGeom>
              <a:blipFill rotWithShape="1">
                <a:blip r:embed="rId3"/>
                <a:stretch>
                  <a:fillRect l="-13" t="-84" r="13" b="6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692913" y="3173256"/>
            <a:ext cx="60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点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4"/>
              <p:cNvSpPr txBox="1"/>
              <p:nvPr/>
            </p:nvSpPr>
            <p:spPr bwMode="auto">
              <a:xfrm>
                <a:off x="2059372" y="3142732"/>
                <a:ext cx="1240438" cy="4476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  <a:cs typeface="Cambria Math" panose="02040503050406030204" pitchFamily="18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9372" y="3142732"/>
                <a:ext cx="1240438" cy="447675"/>
              </a:xfrm>
              <a:prstGeom prst="rect">
                <a:avLst/>
              </a:prstGeom>
              <a:blipFill rotWithShape="1">
                <a:blip r:embed="rId4"/>
                <a:stretch>
                  <a:fillRect l="-5" t="-26" r="28" b="-550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5"/>
              <p:cNvSpPr txBox="1"/>
              <p:nvPr/>
            </p:nvSpPr>
            <p:spPr bwMode="auto">
              <a:xfrm>
                <a:off x="3105104" y="3770937"/>
                <a:ext cx="5283888" cy="12001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​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−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sup>
                        <m:e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𝜑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′</m:t>
                                  </m:r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𝑡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𝛹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′</m:t>
                                  </m:r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𝑡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</m:t>
                              </m:r>
                            </m:e>
                          </m:rad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​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fName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​</m:t>
                          </m:r>
                        </m:e>
                      </m:func>
                    </m:oMath>
                  </m:oMathPara>
                </a14:m>
                <a:endParaRPr kumimoji="1"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05104" y="3770937"/>
                <a:ext cx="5283888" cy="1200102"/>
              </a:xfrm>
              <a:prstGeom prst="rect">
                <a:avLst/>
              </a:prstGeom>
              <a:blipFill rotWithShape="1">
                <a:blip r:embed="rId5"/>
                <a:stretch>
                  <a:fillRect l="-11" t="-26" b="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bject 6"/>
              <p:cNvSpPr txBox="1"/>
              <p:nvPr/>
            </p:nvSpPr>
            <p:spPr bwMode="auto">
              <a:xfrm>
                <a:off x="3681776" y="4980378"/>
                <a:ext cx="4212265" cy="9794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𝜑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sSubSup>
                            <m:sSub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𝜏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</m:t>
                              </m:r>
                            </m:sup>
                          </m:sSub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l-GR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𝛹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sSubSup>
                            <m:sSub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𝜏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</m:t>
                              </m:r>
                            </m:sup>
                          </m:sSub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</m:e>
                      </m:rad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​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81776" y="4980378"/>
                <a:ext cx="4212265" cy="979488"/>
              </a:xfrm>
              <a:prstGeom prst="rect">
                <a:avLst/>
              </a:prstGeom>
              <a:blipFill rotWithShape="1">
                <a:blip r:embed="rId6"/>
                <a:stretch>
                  <a:fillRect l="-1" t="-7" r="8" b="4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1709691" y="2501523"/>
            <a:ext cx="34495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设各分点对应参数为</a:t>
            </a:r>
            <a:endParaRPr kumimoji="1" lang="zh-CN" altLang="en-US" sz="28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Object 13"/>
              <p:cNvSpPr txBox="1"/>
              <p:nvPr/>
            </p:nvSpPr>
            <p:spPr bwMode="auto">
              <a:xfrm>
                <a:off x="4924436" y="2508775"/>
                <a:ext cx="2821399" cy="47855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𝑖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0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1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,⋯,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kumimoji="1"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2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24436" y="2508775"/>
                <a:ext cx="2821399" cy="478555"/>
              </a:xfrm>
              <a:prstGeom prst="rect">
                <a:avLst/>
              </a:prstGeom>
              <a:blipFill rotWithShape="1">
                <a:blip r:embed="rId7"/>
                <a:stretch>
                  <a:fillRect t="-110" r="4" b="6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Box 14"/>
          <p:cNvSpPr txBox="1">
            <a:spLocks noChangeArrowheads="1"/>
          </p:cNvSpPr>
          <p:nvPr/>
        </p:nvSpPr>
        <p:spPr bwMode="auto">
          <a:xfrm>
            <a:off x="3143985" y="3187543"/>
            <a:ext cx="21835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对应参数为 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Object 16"/>
              <p:cNvSpPr txBox="1"/>
              <p:nvPr/>
            </p:nvSpPr>
            <p:spPr bwMode="auto">
              <a:xfrm>
                <a:off x="7961154" y="5181198"/>
                <a:ext cx="2281019" cy="5778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𝜏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∈[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−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].</m:t>
                      </m:r>
                    </m:oMath>
                  </m:oMathPara>
                </a14:m>
                <a:endParaRPr kumimoji="1"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4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61154" y="5181198"/>
                <a:ext cx="2281019" cy="577849"/>
              </a:xfrm>
              <a:prstGeom prst="rect">
                <a:avLst/>
              </a:prstGeom>
              <a:blipFill rotWithShape="1">
                <a:blip r:embed="rId8"/>
                <a:stretch>
                  <a:fillRect l="-7" t="-40" r="11" b="4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0" grpId="0"/>
      <p:bldP spid="11" grpId="0"/>
      <p:bldP spid="12" grpId="0"/>
      <p:bldP spid="14" grpId="0"/>
      <p:bldP spid="15" grpId="0"/>
      <p:bldP spid="16" grpId="0"/>
      <p:bldP spid="22" grpId="0"/>
      <p:bldP spid="23" grpId="0"/>
      <p:bldP spid="2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687197" y="661222"/>
            <a:ext cx="10817606" cy="5535556"/>
            <a:chOff x="687070" y="660915"/>
            <a:chExt cx="10817606" cy="5535556"/>
          </a:xfrm>
        </p:grpSpPr>
        <p:sp>
          <p:nvSpPr>
            <p:cNvPr id="47" name="矩形 46"/>
            <p:cNvSpPr/>
            <p:nvPr/>
          </p:nvSpPr>
          <p:spPr>
            <a:xfrm>
              <a:off x="687070" y="663574"/>
              <a:ext cx="10817225" cy="55328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半闭框 47"/>
            <p:cNvSpPr/>
            <p:nvPr/>
          </p:nvSpPr>
          <p:spPr>
            <a:xfrm>
              <a:off x="687324" y="661529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半闭框 48"/>
            <p:cNvSpPr/>
            <p:nvPr/>
          </p:nvSpPr>
          <p:spPr>
            <a:xfrm flipH="1">
              <a:off x="10823530" y="660915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半闭框 39"/>
            <p:cNvSpPr/>
            <p:nvPr/>
          </p:nvSpPr>
          <p:spPr>
            <a:xfrm flipV="1">
              <a:off x="687324" y="552295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半闭框 40"/>
            <p:cNvSpPr/>
            <p:nvPr/>
          </p:nvSpPr>
          <p:spPr>
            <a:xfrm flipH="1" flipV="1">
              <a:off x="10823530" y="5503088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Object 7"/>
              <p:cNvSpPr txBox="1"/>
              <p:nvPr/>
            </p:nvSpPr>
            <p:spPr bwMode="auto">
              <a:xfrm>
                <a:off x="2515304" y="1465263"/>
                <a:ext cx="1574796" cy="13128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𝜆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→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=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en-US" altLang="zh-CN" sz="2800" b="0" i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 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304" y="1465263"/>
                <a:ext cx="1574796" cy="1312804"/>
              </a:xfrm>
              <a:prstGeom prst="rect">
                <a:avLst/>
              </a:prstGeom>
              <a:blipFill rotWithShape="1">
                <a:blip r:embed="rId1"/>
                <a:stretch>
                  <a:fillRect l="-4" t="-24" r="4" b="4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8"/>
              <p:cNvSpPr txBox="1"/>
              <p:nvPr/>
            </p:nvSpPr>
            <p:spPr bwMode="auto">
              <a:xfrm>
                <a:off x="1972224" y="646383"/>
                <a:ext cx="2039562" cy="9667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en-US" altLang="zh-CN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𝑠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​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2224" y="646383"/>
                <a:ext cx="2039562" cy="966785"/>
              </a:xfrm>
              <a:prstGeom prst="rect">
                <a:avLst/>
              </a:prstGeom>
              <a:blipFill rotWithShape="1">
                <a:blip r:embed="rId2"/>
                <a:stretch>
                  <a:fillRect l="-27" t="-61" r="24" b="2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9"/>
              <p:cNvSpPr txBox="1"/>
              <p:nvPr/>
            </p:nvSpPr>
            <p:spPr bwMode="auto">
              <a:xfrm>
                <a:off x="6391975" y="1640627"/>
                <a:ext cx="3701706" cy="10143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𝜑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sSubSup>
                            <m:sSub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𝜏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</m:t>
                              </m:r>
                            </m:sup>
                          </m:sSub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l-GR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𝛹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sSubSup>
                            <m:sSub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𝜏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</m:t>
                              </m:r>
                            </m:sup>
                          </m:sSub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</m:e>
                      </m:rad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​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91975" y="1640627"/>
                <a:ext cx="3701706" cy="1014365"/>
              </a:xfrm>
              <a:prstGeom prst="rect">
                <a:avLst/>
              </a:prstGeom>
              <a:blipFill rotWithShape="1">
                <a:blip r:embed="rId3"/>
                <a:stretch>
                  <a:fillRect l="-2" t="-42" r="10" b="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10"/>
              <p:cNvSpPr txBox="1"/>
              <p:nvPr/>
            </p:nvSpPr>
            <p:spPr bwMode="auto">
              <a:xfrm>
                <a:off x="4090100" y="1796352"/>
                <a:ext cx="2453249" cy="5046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​​[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𝜏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),</m:t>
                      </m:r>
                      <m:r>
                        <a:rPr lang="el-GR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𝛹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𝜏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)]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90100" y="1796352"/>
                <a:ext cx="2453249" cy="504679"/>
              </a:xfrm>
              <a:prstGeom prst="rect">
                <a:avLst/>
              </a:prstGeom>
              <a:blipFill rotWithShape="1">
                <a:blip r:embed="rId4"/>
                <a:stretch>
                  <a:fillRect l="-3" t="-113" r="13" b="8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11"/>
              <p:cNvSpPr txBox="1"/>
              <p:nvPr/>
            </p:nvSpPr>
            <p:spPr bwMode="auto">
              <a:xfrm>
                <a:off x="2924876" y="2791220"/>
                <a:ext cx="4431219" cy="64800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注意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𝜑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l-GR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𝛹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</m:e>
                      </m:rad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连续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24876" y="2791220"/>
                <a:ext cx="4431219" cy="648000"/>
              </a:xfrm>
              <a:prstGeom prst="rect">
                <a:avLst/>
              </a:prstGeom>
              <a:blipFill rotWithShape="1">
                <a:blip r:embed="rId5"/>
                <a:stretch>
                  <a:fillRect l="-1" t="-61" r="6" b="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1572237" y="837788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则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2629512" y="2666141"/>
            <a:ext cx="0" cy="1008000"/>
          </a:xfrm>
          <a:prstGeom prst="line">
            <a:avLst/>
          </a:prstGeom>
          <a:ln>
            <a:solidFill>
              <a:srgbClr val="04926A"/>
            </a:solidFill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19"/>
              <p:cNvSpPr txBox="1"/>
              <p:nvPr/>
            </p:nvSpPr>
            <p:spPr bwMode="auto">
              <a:xfrm>
                <a:off x="2515303" y="3470958"/>
                <a:ext cx="1719125" cy="13128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𝜆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→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=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en-US" altLang="zh-CN" sz="2800" b="0" i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 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303" y="3470958"/>
                <a:ext cx="1719125" cy="1312804"/>
              </a:xfrm>
              <a:prstGeom prst="rect">
                <a:avLst/>
              </a:prstGeom>
              <a:blipFill rotWithShape="1">
                <a:blip r:embed="rId6"/>
                <a:stretch>
                  <a:fillRect l="-4" t="-4" r="14" b="2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20"/>
              <p:cNvSpPr txBox="1"/>
              <p:nvPr/>
            </p:nvSpPr>
            <p:spPr bwMode="auto">
              <a:xfrm>
                <a:off x="6319272" y="3848278"/>
                <a:ext cx="3778158" cy="56299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𝜑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𝜏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l-GR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𝛹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𝜏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</m:e>
                      </m:rad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​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19272" y="3848278"/>
                <a:ext cx="3778158" cy="562993"/>
              </a:xfrm>
              <a:prstGeom prst="rect">
                <a:avLst/>
              </a:prstGeom>
              <a:blipFill rotWithShape="1">
                <a:blip r:embed="rId7"/>
                <a:stretch>
                  <a:fillRect l="-10" t="-32" r="8" b="1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21"/>
              <p:cNvSpPr txBox="1"/>
              <p:nvPr/>
            </p:nvSpPr>
            <p:spPr bwMode="auto">
              <a:xfrm>
                <a:off x="4006218" y="3860518"/>
                <a:ext cx="2566731" cy="4889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​​[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𝜏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),</m:t>
                      </m:r>
                      <m:r>
                        <a:rPr lang="el-GR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𝛹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𝜏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)]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06218" y="3860518"/>
                <a:ext cx="2566731" cy="488950"/>
              </a:xfrm>
              <a:prstGeom prst="rect">
                <a:avLst/>
              </a:prstGeom>
              <a:blipFill rotWithShape="1">
                <a:blip r:embed="rId8"/>
                <a:stretch>
                  <a:fillRect t="-72" r="2" b="7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1038"/>
              <p:cNvSpPr txBox="1"/>
              <p:nvPr/>
            </p:nvSpPr>
            <p:spPr bwMode="auto">
              <a:xfrm>
                <a:off x="2524829" y="5100827"/>
                <a:ext cx="1818568" cy="10932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Object 10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4829" y="5100827"/>
                <a:ext cx="1818568" cy="1093291"/>
              </a:xfrm>
              <a:prstGeom prst="rect">
                <a:avLst/>
              </a:prstGeom>
              <a:blipFill rotWithShape="1">
                <a:blip r:embed="rId9"/>
                <a:stretch>
                  <a:fillRect l="-4" t="-46" r="-3143" b="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bject 1041"/>
              <p:cNvSpPr txBox="1"/>
              <p:nvPr/>
            </p:nvSpPr>
            <p:spPr bwMode="auto">
              <a:xfrm>
                <a:off x="4304804" y="5044017"/>
                <a:ext cx="6290707" cy="11501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𝛼</m:t>
                          </m:r>
                        </m:sub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𝛽</m:t>
                          </m:r>
                        </m:sup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​​[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𝜑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),</m:t>
                          </m:r>
                          <m:r>
                            <a:rPr lang="el-GR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𝛹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)]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𝜑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′</m:t>
                                  </m:r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𝑡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𝛹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′</m:t>
                                  </m:r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𝑡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</m:t>
                              </m:r>
                            </m:e>
                          </m:rad>
                        </m:e>
                      </m:nary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.</m:t>
                          </m:r>
                        </m:fName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​</m:t>
                          </m:r>
                        </m:e>
                      </m:func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Object 10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04804" y="5044017"/>
                <a:ext cx="6290707" cy="1150102"/>
              </a:xfrm>
              <a:prstGeom prst="rect">
                <a:avLst/>
              </a:prstGeom>
              <a:blipFill rotWithShape="1">
                <a:blip r:embed="rId10"/>
                <a:stretch>
                  <a:fillRect l="-2" t="-18" r="9" b="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1109"/>
          <p:cNvSpPr txBox="1">
            <a:spLocks noChangeArrowheads="1"/>
          </p:cNvSpPr>
          <p:nvPr/>
        </p:nvSpPr>
        <p:spPr bwMode="auto">
          <a:xfrm>
            <a:off x="1572237" y="4498807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因此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 animBg="1"/>
      <p:bldP spid="8" grpId="0"/>
      <p:bldP spid="9" grpId="0" animBg="1"/>
      <p:bldP spid="10" grpId="0"/>
      <p:bldP spid="11" grpId="0"/>
      <p:bldP spid="12" grpId="0"/>
      <p:bldP spid="14" grpId="0"/>
      <p:bldP spid="15" grpId="0"/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7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bject 1051"/>
              <p:cNvSpPr txBox="1"/>
              <p:nvPr/>
            </p:nvSpPr>
            <p:spPr bwMode="auto">
              <a:xfrm>
                <a:off x="1667626" y="1541920"/>
                <a:ext cx="6832756" cy="5839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1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.  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定积分的下限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𝛼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一定要小于上限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𝛽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; 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0" name="Object 10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7626" y="1541920"/>
                <a:ext cx="6832756" cy="583906"/>
              </a:xfrm>
              <a:prstGeom prst="rect">
                <a:avLst/>
              </a:prstGeom>
              <a:blipFill rotWithShape="1">
                <a:blip r:embed="rId2"/>
                <a:stretch>
                  <a:fillRect l="-2" t="-24" r="4" b="8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1083"/>
          <p:cNvSpPr txBox="1">
            <a:spLocks noChangeArrowheads="1"/>
          </p:cNvSpPr>
          <p:nvPr/>
        </p:nvSpPr>
        <p:spPr bwMode="auto">
          <a:xfrm>
            <a:off x="1649870" y="2913779"/>
            <a:ext cx="19271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3.    </a:t>
            </a:r>
            <a:r>
              <a: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注意到 </a:t>
            </a:r>
            <a:endParaRPr kumimoji="1" lang="zh-CN" altLang="en-US" sz="2800" dirty="0">
              <a:latin typeface="Cambria Math" panose="020405030504060302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Object 1084"/>
              <p:cNvSpPr txBox="1"/>
              <p:nvPr/>
            </p:nvSpPr>
            <p:spPr bwMode="auto">
              <a:xfrm>
                <a:off x="3412950" y="3577252"/>
                <a:ext cx="3702049" cy="584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+(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2" name="Object 10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2950" y="3577252"/>
                <a:ext cx="3702049" cy="584200"/>
              </a:xfrm>
              <a:prstGeom prst="rect">
                <a:avLst/>
              </a:prstGeom>
              <a:blipFill rotWithShape="1">
                <a:blip r:embed="rId3"/>
                <a:stretch>
                  <a:fillRect l="-12" t="-51" r="12" b="5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bject 1085"/>
              <p:cNvSpPr txBox="1"/>
              <p:nvPr/>
            </p:nvSpPr>
            <p:spPr bwMode="auto">
              <a:xfrm>
                <a:off x="3873560" y="4339805"/>
                <a:ext cx="3634279" cy="584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𝜑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l-GR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𝛹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</m:e>
                      </m:rad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fName>
                        <m:e>
                          <m: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3" name="Object 10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73560" y="4339805"/>
                <a:ext cx="3634279" cy="584200"/>
              </a:xfrm>
              <a:prstGeom prst="rect">
                <a:avLst/>
              </a:prstGeom>
              <a:blipFill rotWithShape="1">
                <a:blip r:embed="rId4"/>
                <a:stretch>
                  <a:fillRect l="-2" t="-37" r="6" b="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 Box 1108"/>
          <p:cNvSpPr txBox="1">
            <a:spLocks noChangeArrowheads="1"/>
          </p:cNvSpPr>
          <p:nvPr/>
        </p:nvSpPr>
        <p:spPr bwMode="auto">
          <a:xfrm>
            <a:off x="1613652" y="5168452"/>
            <a:ext cx="61093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因此上述计算公式相当于“换元法”</a:t>
            </a:r>
            <a:r>
              <a:rPr kumimoji="1" lang="en-US" altLang="zh-CN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. </a:t>
            </a:r>
            <a:endParaRPr kumimoji="1" lang="en-US" altLang="zh-CN" sz="2800" dirty="0">
              <a:latin typeface="Cambria Math" panose="020405030504060302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对象 1"/>
              <p:cNvSpPr txBox="1"/>
              <p:nvPr/>
            </p:nvSpPr>
            <p:spPr>
              <a:xfrm>
                <a:off x="1669214" y="2256970"/>
                <a:ext cx="7418386" cy="52321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2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.  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中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不彼此独立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而是相互有关的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3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214" y="2256970"/>
                <a:ext cx="7418386" cy="523219"/>
              </a:xfrm>
              <a:prstGeom prst="rect">
                <a:avLst/>
              </a:prstGeom>
              <a:blipFill rotWithShape="1">
                <a:blip r:embed="rId5"/>
                <a:stretch>
                  <a:fillRect l="-6" t="-34" r="2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组合 33"/>
          <p:cNvGrpSpPr/>
          <p:nvPr/>
        </p:nvGrpSpPr>
        <p:grpSpPr>
          <a:xfrm>
            <a:off x="1744400" y="920033"/>
            <a:ext cx="647700" cy="647700"/>
            <a:chOff x="1567" y="838"/>
            <a:chExt cx="1020" cy="1020"/>
          </a:xfrm>
        </p:grpSpPr>
        <p:sp>
          <p:nvSpPr>
            <p:cNvPr id="35" name="椭圆 34"/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36" name="文本框 35"/>
            <p:cNvSpPr txBox="1"/>
            <p:nvPr/>
          </p:nvSpPr>
          <p:spPr bwMode="auto">
            <a:xfrm>
              <a:off x="1652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注</a:t>
              </a:r>
              <a:endPara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1567" y="838"/>
              <a:ext cx="1020" cy="1020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30" grpId="0"/>
      <p:bldP spid="3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751890" y="555039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特殊情形</a:t>
            </a:r>
            <a:endParaRPr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Object 8"/>
              <p:cNvSpPr txBox="1"/>
              <p:nvPr/>
            </p:nvSpPr>
            <p:spPr bwMode="auto">
              <a:xfrm>
                <a:off x="1209090" y="1147571"/>
                <a:ext cx="2040722" cy="9446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09090" y="1147571"/>
                <a:ext cx="2040722" cy="944650"/>
              </a:xfrm>
              <a:prstGeom prst="rect">
                <a:avLst/>
              </a:prstGeom>
              <a:blipFill rotWithShape="1">
                <a:blip r:embed="rId1"/>
                <a:stretch>
                  <a:fillRect l="-2" t="-13" r="25" b="5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等号 27"/>
          <p:cNvSpPr/>
          <p:nvPr/>
        </p:nvSpPr>
        <p:spPr>
          <a:xfrm>
            <a:off x="895185" y="2704831"/>
            <a:ext cx="2927515" cy="108000"/>
          </a:xfrm>
          <a:prstGeom prst="mathEqual">
            <a:avLst>
              <a:gd name="adj1" fmla="val 23520"/>
              <a:gd name="adj2" fmla="val 44544"/>
            </a:avLst>
          </a:prstGeom>
          <a:solidFill>
            <a:srgbClr val="04926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对象 21"/>
              <p:cNvSpPr txBox="1"/>
              <p:nvPr/>
            </p:nvSpPr>
            <p:spPr>
              <a:xfrm>
                <a:off x="1372510" y="2120631"/>
                <a:ext cx="2040723" cy="57600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𝐿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: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lang="el-GR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𝛹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2" name="对象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510" y="2120631"/>
                <a:ext cx="2040723" cy="576002"/>
              </a:xfrm>
              <a:prstGeom prst="rect">
                <a:avLst/>
              </a:prstGeom>
              <a:blipFill rotWithShape="1">
                <a:blip r:embed="rId2"/>
                <a:stretch>
                  <a:fillRect l="-13" t="-64" r="5" b="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对象 22"/>
              <p:cNvSpPr txBox="1"/>
              <p:nvPr/>
            </p:nvSpPr>
            <p:spPr>
              <a:xfrm>
                <a:off x="1624542" y="2801772"/>
                <a:ext cx="1764770" cy="46943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𝑎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𝑏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3" name="对象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542" y="2801772"/>
                <a:ext cx="1764770" cy="469438"/>
              </a:xfrm>
              <a:prstGeom prst="rect">
                <a:avLst/>
              </a:prstGeom>
              <a:blipFill rotWithShape="1">
                <a:blip r:embed="rId3"/>
                <a:stretch>
                  <a:fillRect l="-12" t="-32" r="18" b="-6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对象 23"/>
              <p:cNvSpPr txBox="1"/>
              <p:nvPr/>
            </p:nvSpPr>
            <p:spPr>
              <a:xfrm>
                <a:off x="3674836" y="2186316"/>
                <a:ext cx="4575175" cy="109733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𝑎</m:t>
                          </m:r>
                        </m:sub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𝑏</m:t>
                          </m:r>
                        </m:sup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[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lang="el-GR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𝛹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)]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1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𝛹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′</m:t>
                                  </m:r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</m:t>
                              </m:r>
                            </m:e>
                          </m:rad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42" name="对象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4836" y="2186316"/>
                <a:ext cx="4575175" cy="1097331"/>
              </a:xfrm>
              <a:prstGeom prst="rect">
                <a:avLst/>
              </a:prstGeom>
              <a:blipFill rotWithShape="1">
                <a:blip r:embed="rId4"/>
                <a:stretch>
                  <a:fillRect l="-2" t="-1" r="2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等号 44"/>
          <p:cNvSpPr/>
          <p:nvPr/>
        </p:nvSpPr>
        <p:spPr>
          <a:xfrm>
            <a:off x="895185" y="4156206"/>
            <a:ext cx="2927515" cy="108000"/>
          </a:xfrm>
          <a:prstGeom prst="mathEqual">
            <a:avLst>
              <a:gd name="adj1" fmla="val 23520"/>
              <a:gd name="adj2" fmla="val 44544"/>
            </a:avLst>
          </a:prstGeom>
          <a:solidFill>
            <a:srgbClr val="04926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对象 25"/>
              <p:cNvSpPr txBox="1"/>
              <p:nvPr/>
            </p:nvSpPr>
            <p:spPr>
              <a:xfrm>
                <a:off x="1388862" y="3610462"/>
                <a:ext cx="1947059" cy="58021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𝐿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: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3" name="对象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862" y="3610462"/>
                <a:ext cx="1947059" cy="580210"/>
              </a:xfrm>
              <a:prstGeom prst="rect">
                <a:avLst/>
              </a:prstGeom>
              <a:blipFill rotWithShape="1">
                <a:blip r:embed="rId5"/>
                <a:stretch>
                  <a:fillRect l="-6" t="-84" r="14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对象 26"/>
              <p:cNvSpPr txBox="1"/>
              <p:nvPr/>
            </p:nvSpPr>
            <p:spPr>
              <a:xfrm>
                <a:off x="1624542" y="4201012"/>
                <a:ext cx="1842191" cy="6438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𝑐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𝑑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4" name="对象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542" y="4201012"/>
                <a:ext cx="1842191" cy="643800"/>
              </a:xfrm>
              <a:prstGeom prst="rect">
                <a:avLst/>
              </a:prstGeom>
              <a:blipFill rotWithShape="1">
                <a:blip r:embed="rId6"/>
                <a:stretch>
                  <a:fillRect l="-12" t="-76" r="15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对象 27"/>
              <p:cNvSpPr txBox="1"/>
              <p:nvPr/>
            </p:nvSpPr>
            <p:spPr>
              <a:xfrm>
                <a:off x="3674836" y="3600122"/>
                <a:ext cx="4575174" cy="109110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𝑐</m:t>
                          </m:r>
                        </m:sub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𝑑</m:t>
                          </m:r>
                        </m:sup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[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𝜑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]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1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𝜑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′</m:t>
                                  </m:r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</m:t>
                              </m:r>
                            </m:e>
                          </m:rad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5" name="对象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4836" y="3600122"/>
                <a:ext cx="4575174" cy="1091105"/>
              </a:xfrm>
              <a:prstGeom prst="rect">
                <a:avLst/>
              </a:prstGeom>
              <a:blipFill rotWithShape="1">
                <a:blip r:embed="rId7"/>
                <a:stretch>
                  <a:fillRect l="-2" t="-28" r="2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等号 55"/>
          <p:cNvSpPr/>
          <p:nvPr/>
        </p:nvSpPr>
        <p:spPr>
          <a:xfrm>
            <a:off x="895185" y="5696544"/>
            <a:ext cx="2927515" cy="108000"/>
          </a:xfrm>
          <a:prstGeom prst="mathEqual">
            <a:avLst>
              <a:gd name="adj1" fmla="val 23520"/>
              <a:gd name="adj2" fmla="val 44544"/>
            </a:avLst>
          </a:prstGeom>
          <a:solidFill>
            <a:srgbClr val="04926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对象 29"/>
              <p:cNvSpPr txBox="1"/>
              <p:nvPr/>
            </p:nvSpPr>
            <p:spPr>
              <a:xfrm>
                <a:off x="1463646" y="5136246"/>
                <a:ext cx="1902755" cy="54425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𝐿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: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𝑟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𝑟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7" name="对象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646" y="5136246"/>
                <a:ext cx="1902755" cy="544252"/>
              </a:xfrm>
              <a:prstGeom prst="rect">
                <a:avLst/>
              </a:prstGeom>
              <a:blipFill rotWithShape="1">
                <a:blip r:embed="rId8"/>
                <a:stretch>
                  <a:fillRect l="-32" t="-67" r="14" b="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对象 30"/>
              <p:cNvSpPr txBox="1"/>
              <p:nvPr/>
            </p:nvSpPr>
            <p:spPr>
              <a:xfrm>
                <a:off x="1658591" y="5747237"/>
                <a:ext cx="2070728" cy="57375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𝛼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𝜃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𝛽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8" name="对象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591" y="5747237"/>
                <a:ext cx="2070728" cy="573758"/>
              </a:xfrm>
              <a:prstGeom prst="rect">
                <a:avLst/>
              </a:prstGeom>
              <a:blipFill rotWithShape="1">
                <a:blip r:embed="rId9"/>
                <a:stretch>
                  <a:fillRect l="-29" t="-85" r="29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对象 31"/>
              <p:cNvSpPr txBox="1"/>
              <p:nvPr/>
            </p:nvSpPr>
            <p:spPr>
              <a:xfrm>
                <a:off x="3674836" y="5139686"/>
                <a:ext cx="7755661" cy="113141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𝛼</m:t>
                          </m:r>
                        </m:sub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𝛽</m:t>
                          </m:r>
                        </m:sup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𝑟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𝜃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𝜃</m:t>
                              </m:r>
                            </m:e>
                          </m:func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𝑟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𝜃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𝜃</m:t>
                              </m:r>
                            </m:e>
                          </m:func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)​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𝜃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′</m:t>
                                  </m:r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𝜃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</m:t>
                              </m:r>
                            </m:e>
                          </m:rad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𝜃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.​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9" name="对象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4836" y="5139686"/>
                <a:ext cx="7755661" cy="1131417"/>
              </a:xfrm>
              <a:prstGeom prst="rect">
                <a:avLst/>
              </a:prstGeom>
              <a:blipFill rotWithShape="1">
                <a:blip r:embed="rId10"/>
                <a:stretch>
                  <a:fillRect l="-1" t="-56" r="6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6" grpId="0"/>
      <p:bldP spid="28" grpId="0" animBg="1"/>
      <p:bldP spid="32" grpId="0"/>
      <p:bldP spid="33" grpId="0"/>
      <p:bldP spid="42" grpId="0"/>
      <p:bldP spid="45" grpId="0" animBg="1"/>
      <p:bldP spid="53" grpId="0"/>
      <p:bldP spid="54" grpId="0"/>
      <p:bldP spid="55" grpId="0"/>
      <p:bldP spid="56" grpId="0" animBg="1"/>
      <p:bldP spid="57" grpId="0"/>
      <p:bldP spid="58" grpId="0"/>
      <p:bldP spid="5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8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0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Object 3"/>
              <p:cNvSpPr txBox="1"/>
              <p:nvPr/>
            </p:nvSpPr>
            <p:spPr bwMode="auto">
              <a:xfrm>
                <a:off x="1667738" y="2166751"/>
                <a:ext cx="8068976" cy="7792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𝛤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: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𝜑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</m:d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,  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lang="el-GR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𝛹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</m:d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,  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𝜔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</m:d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𝛼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𝑡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𝛽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) 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7738" y="2166751"/>
                <a:ext cx="8068976" cy="779232"/>
              </a:xfrm>
              <a:prstGeom prst="rect">
                <a:avLst/>
              </a:prstGeom>
              <a:blipFill rotWithShape="1">
                <a:blip r:embed="rId2"/>
                <a:stretch>
                  <a:fillRect l="-3" t="-17" r="3" b="2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1667738" y="3104634"/>
            <a:ext cx="83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则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4"/>
              <p:cNvSpPr txBox="1"/>
              <p:nvPr/>
            </p:nvSpPr>
            <p:spPr bwMode="auto">
              <a:xfrm>
                <a:off x="2187485" y="2487694"/>
                <a:ext cx="8682762" cy="29796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</m:oMath>
                  </m:oMathPara>
                </a14:m>
                <a:endParaRPr kumimoji="1"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  <m:sup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p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),</m:t>
                          </m:r>
                          <m:r>
                            <a:rPr lang="el-GR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𝛹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),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)]</m:t>
                          </m:r>
                          <m:rad>
                            <m:radPr>
                              <m:degHide m:val="on"/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𝛹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e>
                      </m:nary>
                      <m:r>
                        <m:rPr>
                          <m:sty m:val="p"/>
                        </m:rP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87485" y="2487694"/>
                <a:ext cx="8682762" cy="2979656"/>
              </a:xfrm>
              <a:prstGeom prst="rect">
                <a:avLst/>
              </a:prstGeom>
              <a:blipFill rotWithShape="1">
                <a:blip r:embed="rId3"/>
                <a:stretch>
                  <a:fillRect l="-6" t="-13" r="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/>
          <p:cNvGrpSpPr/>
          <p:nvPr/>
        </p:nvGrpSpPr>
        <p:grpSpPr>
          <a:xfrm>
            <a:off x="1737588" y="1477467"/>
            <a:ext cx="5530215" cy="448945"/>
            <a:chOff x="1553" y="3803"/>
            <a:chExt cx="8709" cy="707"/>
          </a:xfrm>
        </p:grpSpPr>
        <p:sp>
          <p:nvSpPr>
            <p:cNvPr id="17" name="圆角矩形 57"/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28"/>
            <p:cNvSpPr txBox="1">
              <a:spLocks noChangeArrowheads="1"/>
            </p:cNvSpPr>
            <p:nvPr/>
          </p:nvSpPr>
          <p:spPr bwMode="auto">
            <a:xfrm>
              <a:off x="1630" y="3804"/>
              <a:ext cx="8632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推广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  </a:t>
              </a:r>
              <a:r>
                <a:rPr kumimoji="1" lang="zh-CN" altLang="en-US" sz="2800" b="0" dirty="0">
                  <a:solidFill>
                    <a:schemeClr val="tx1"/>
                  </a:solidFill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rPr>
                <a:t>设空间曲线弧的参数方程为</a:t>
              </a:r>
              <a:endPara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utoUpdateAnimBg="0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/>
        </p:nvSpPr>
        <p:spPr>
          <a:xfrm>
            <a:off x="1078866" y="663574"/>
            <a:ext cx="10033634" cy="5532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半闭框 45"/>
          <p:cNvSpPr/>
          <p:nvPr/>
        </p:nvSpPr>
        <p:spPr>
          <a:xfrm>
            <a:off x="1078866" y="661529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8" name="半闭框 47"/>
          <p:cNvSpPr/>
          <p:nvPr/>
        </p:nvSpPr>
        <p:spPr>
          <a:xfrm flipH="1">
            <a:off x="10431354" y="660915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" name="半闭框 49"/>
          <p:cNvSpPr/>
          <p:nvPr/>
        </p:nvSpPr>
        <p:spPr>
          <a:xfrm flipV="1">
            <a:off x="1078866" y="552295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" name="半闭框 51"/>
          <p:cNvSpPr/>
          <p:nvPr/>
        </p:nvSpPr>
        <p:spPr>
          <a:xfrm flipH="1" flipV="1">
            <a:off x="10431354" y="550308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ext Box 319"/>
          <p:cNvSpPr txBox="1">
            <a:spLocks noChangeArrowheads="1"/>
          </p:cNvSpPr>
          <p:nvPr/>
        </p:nvSpPr>
        <p:spPr bwMode="auto">
          <a:xfrm>
            <a:off x="1778421" y="2525080"/>
            <a:ext cx="990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endParaRPr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45"/>
          <p:cNvSpPr>
            <a:spLocks noChangeArrowheads="1"/>
          </p:cNvSpPr>
          <p:nvPr/>
        </p:nvSpPr>
        <p:spPr bwMode="auto">
          <a:xfrm>
            <a:off x="1751670" y="991924"/>
            <a:ext cx="1828800" cy="52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sz="2800" dirty="0">
                <a:solidFill>
                  <a:schemeClr val="tx1"/>
                </a:solidFill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计算</a:t>
            </a:r>
            <a:endParaRPr kumimoji="1" lang="zh-CN" altLang="en-US" sz="2800" dirty="0">
              <a:solidFill>
                <a:schemeClr val="tx1"/>
              </a:solidFill>
              <a:latin typeface="Cambria Math" panose="020405030504060302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Box 347"/>
              <p:cNvSpPr txBox="1">
                <a:spLocks noChangeArrowheads="1"/>
              </p:cNvSpPr>
              <p:nvPr/>
            </p:nvSpPr>
            <p:spPr bwMode="auto">
              <a:xfrm>
                <a:off x="4460751" y="983368"/>
                <a:ext cx="253457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𝐿</m:t>
                    </m:r>
                  </m:oMath>
                </a14:m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是抛物线</a:t>
                </a:r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Text Box 3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60751" y="983368"/>
                <a:ext cx="2534579" cy="523220"/>
              </a:xfrm>
              <a:prstGeom prst="rect">
                <a:avLst/>
              </a:prstGeom>
              <a:blipFill rotWithShape="1">
                <a:blip r:embed="rId1"/>
                <a:stretch>
                  <a:fillRect l="-20" t="-74" r="7" b="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349"/>
              <p:cNvSpPr txBox="1">
                <a:spLocks noChangeArrowheads="1"/>
              </p:cNvSpPr>
              <p:nvPr/>
            </p:nvSpPr>
            <p:spPr bwMode="auto">
              <a:xfrm>
                <a:off x="2466045" y="1687841"/>
                <a:ext cx="434321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与点</a:t>
                </a: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𝐵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(1,1) </a:t>
                </a: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之间的一段弧 </a:t>
                </a:r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.   </a:t>
                </a:r>
                <a:endParaRPr kumimoji="1"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Text Box 3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66045" y="1687841"/>
                <a:ext cx="4343215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8" t="-2" r="4" b="12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Box 357"/>
              <p:cNvSpPr txBox="1">
                <a:spLocks noChangeArrowheads="1"/>
              </p:cNvSpPr>
              <p:nvPr/>
            </p:nvSpPr>
            <p:spPr bwMode="auto">
              <a:xfrm>
                <a:off x="7934202" y="947008"/>
                <a:ext cx="2057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上点 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𝑂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(0,0)</a:t>
                </a:r>
                <a:endParaRPr kumimoji="1"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Text Box 3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34202" y="947008"/>
                <a:ext cx="2057400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25" t="-43" r="25" b="3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对象 8"/>
              <p:cNvSpPr txBox="1"/>
              <p:nvPr/>
            </p:nvSpPr>
            <p:spPr>
              <a:xfrm>
                <a:off x="6867401" y="929948"/>
                <a:ext cx="1486573" cy="51337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对象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7401" y="929948"/>
                <a:ext cx="1486573" cy="513371"/>
              </a:xfrm>
              <a:prstGeom prst="rect">
                <a:avLst/>
              </a:prstGeom>
              <a:blipFill rotWithShape="1">
                <a:blip r:embed="rId4"/>
                <a:stretch>
                  <a:fillRect l="-34" t="-60" r="37" b="1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对象 9"/>
              <p:cNvSpPr txBox="1"/>
              <p:nvPr/>
            </p:nvSpPr>
            <p:spPr>
              <a:xfrm>
                <a:off x="2466045" y="2576857"/>
                <a:ext cx="3220380" cy="4699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∵</m:t>
                      </m:r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𝐿</m:t>
                      </m:r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: </m:t>
                      </m:r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 </m:t>
                      </m:r>
                      <m:r>
                        <a:rPr kumimoji="1" lang="en-US" altLang="zh-CN" sz="22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 i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1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对象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045" y="2576857"/>
                <a:ext cx="3220380" cy="469900"/>
              </a:xfrm>
              <a:prstGeom prst="rect">
                <a:avLst/>
              </a:prstGeom>
              <a:blipFill rotWithShape="1">
                <a:blip r:embed="rId5"/>
                <a:stretch>
                  <a:fillRect l="-11" t="-6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对象 10"/>
              <p:cNvSpPr txBox="1"/>
              <p:nvPr/>
            </p:nvSpPr>
            <p:spPr>
              <a:xfrm>
                <a:off x="2459231" y="3220101"/>
                <a:ext cx="1569844" cy="89297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∴</m:t>
                      </m:r>
                      <m:nary>
                        <m:naryPr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</m:e>
                          </m:rad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​​</m:t>
                          </m:r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对象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231" y="3220101"/>
                <a:ext cx="1569844" cy="892976"/>
              </a:xfrm>
              <a:prstGeom prst="rect">
                <a:avLst/>
              </a:prstGeom>
              <a:blipFill rotWithShape="1">
                <a:blip r:embed="rId6"/>
                <a:stretch>
                  <a:fillRect l="-33" t="-2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对象 11"/>
              <p:cNvSpPr txBox="1"/>
              <p:nvPr/>
            </p:nvSpPr>
            <p:spPr>
              <a:xfrm>
                <a:off x="3656304" y="3151881"/>
                <a:ext cx="2918823" cy="92599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p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</m:nary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⋅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+(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m:rPr>
                          <m:sty m:val="p"/>
                        </m:rPr>
                        <a:rPr kumimoji="1" lang="en-US" altLang="zh-CN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对象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6304" y="3151881"/>
                <a:ext cx="2918823" cy="925992"/>
              </a:xfrm>
              <a:prstGeom prst="rect">
                <a:avLst/>
              </a:prstGeom>
              <a:blipFill rotWithShape="1">
                <a:blip r:embed="rId7"/>
                <a:stretch>
                  <a:fillRect l="-21" t="-41" r="12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对象 12"/>
              <p:cNvSpPr txBox="1"/>
              <p:nvPr/>
            </p:nvSpPr>
            <p:spPr>
              <a:xfrm>
                <a:off x="2466046" y="4212666"/>
                <a:ext cx="2534579" cy="92599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​​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p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1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nary>
                      <m:r>
                        <m:rPr>
                          <m:sty m:val="p"/>
                        </m:rPr>
                        <a:rPr kumimoji="1" lang="en-US" altLang="zh-CN" sz="2200" i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对象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046" y="4212666"/>
                <a:ext cx="2534579" cy="925992"/>
              </a:xfrm>
              <a:prstGeom prst="rect">
                <a:avLst/>
              </a:prstGeom>
              <a:blipFill rotWithShape="1">
                <a:blip r:embed="rId8"/>
                <a:stretch>
                  <a:fillRect l="-13" t="-8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对象 13"/>
              <p:cNvSpPr txBox="1"/>
              <p:nvPr/>
            </p:nvSpPr>
            <p:spPr>
              <a:xfrm>
                <a:off x="4848432" y="4177462"/>
                <a:ext cx="2534579" cy="92599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12</m:t>
                                  </m:r>
                                </m:den>
                              </m:f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1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4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​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)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kumimoji="1"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对象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432" y="4177462"/>
                <a:ext cx="2534579" cy="925992"/>
              </a:xfrm>
              <a:prstGeom prst="rect">
                <a:avLst/>
              </a:prstGeom>
              <a:blipFill rotWithShape="1">
                <a:blip r:embed="rId9"/>
                <a:stretch>
                  <a:fillRect l="-8" t="-47" r="20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对象 14"/>
              <p:cNvSpPr txBox="1"/>
              <p:nvPr/>
            </p:nvSpPr>
            <p:spPr>
              <a:xfrm>
                <a:off x="2459231" y="5258682"/>
                <a:ext cx="2188040" cy="80874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12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5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5</m:t>
                          </m:r>
                        </m:e>
                      </m:rad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1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) .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对象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231" y="5258682"/>
                <a:ext cx="2188040" cy="808743"/>
              </a:xfrm>
              <a:prstGeom prst="rect">
                <a:avLst/>
              </a:prstGeom>
              <a:blipFill rotWithShape="1">
                <a:blip r:embed="rId10"/>
                <a:stretch>
                  <a:fillRect l="-23" t="-31" r="16" b="-248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对象 10"/>
              <p:cNvSpPr txBox="1"/>
              <p:nvPr/>
            </p:nvSpPr>
            <p:spPr>
              <a:xfrm>
                <a:off x="3172497" y="966805"/>
                <a:ext cx="1474774" cy="58187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</m:ctrlPr>
                      </m:naryPr>
                      <m:sub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𝐿</m:t>
                        </m:r>
                      </m:sub>
                      <m:sup/>
                      <m:e>
                        <m:rad>
                          <m:radPr>
                            <m:degHide m:val="on"/>
                            <m:ctrlP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r>
                              <a:rPr kumimoji="1"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  <m:t>𝑦</m:t>
                            </m:r>
                          </m:e>
                        </m:rad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​​</m:t>
                        </m:r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𝑠</m:t>
                        </m:r>
                      </m:e>
                    </m:nary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,</a:t>
                </a:r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4" name="对象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497" y="966805"/>
                <a:ext cx="1474774" cy="581872"/>
              </a:xfrm>
              <a:prstGeom prst="rect">
                <a:avLst/>
              </a:prstGeom>
              <a:blipFill rotWithShape="1">
                <a:blip r:embed="rId11"/>
                <a:stretch>
                  <a:fillRect l="-3" t="-58" r="23" b="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 descr="图示&#10;&#10;描述已自动生成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3011" y="2619244"/>
            <a:ext cx="2726122" cy="22520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5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078866" y="663574"/>
            <a:ext cx="10033634" cy="5532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半闭框 30"/>
          <p:cNvSpPr/>
          <p:nvPr/>
        </p:nvSpPr>
        <p:spPr>
          <a:xfrm>
            <a:off x="1078866" y="661529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半闭框 32"/>
          <p:cNvSpPr/>
          <p:nvPr/>
        </p:nvSpPr>
        <p:spPr>
          <a:xfrm flipH="1">
            <a:off x="10431354" y="660915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半闭框 34"/>
          <p:cNvSpPr/>
          <p:nvPr/>
        </p:nvSpPr>
        <p:spPr>
          <a:xfrm flipV="1">
            <a:off x="1078866" y="552295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7" name="半闭框 36"/>
          <p:cNvSpPr/>
          <p:nvPr/>
        </p:nvSpPr>
        <p:spPr>
          <a:xfrm flipH="1" flipV="1">
            <a:off x="10431354" y="550308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2"/>
              <p:cNvSpPr txBox="1">
                <a:spLocks noChangeArrowheads="1"/>
              </p:cNvSpPr>
              <p:nvPr/>
            </p:nvSpPr>
            <p:spPr>
              <a:xfrm>
                <a:off x="1739899" y="841985"/>
                <a:ext cx="4623285" cy="592138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例</a:t>
                </a:r>
                <a:r>
                  <a:rPr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2  </a:t>
                </a: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计算半径为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𝑅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,</a:t>
                </a: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中心角为</a:t>
                </a:r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899" y="841985"/>
                <a:ext cx="4623285" cy="592138"/>
              </a:xfrm>
              <a:prstGeom prst="rect">
                <a:avLst/>
              </a:prstGeom>
              <a:blipFill rotWithShape="1">
                <a:blip r:embed="rId1"/>
                <a:stretch>
                  <a:fillRect l="-14" t="-3535" r="10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4"/>
              <p:cNvSpPr txBox="1"/>
              <p:nvPr/>
            </p:nvSpPr>
            <p:spPr bwMode="auto">
              <a:xfrm>
                <a:off x="6043311" y="812618"/>
                <a:ext cx="576262" cy="49801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2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𝛼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43311" y="812618"/>
                <a:ext cx="576262" cy="498014"/>
              </a:xfrm>
              <a:prstGeom prst="rect">
                <a:avLst/>
              </a:prstGeom>
              <a:blipFill rotWithShape="1">
                <a:blip r:embed="rId2"/>
                <a:stretch>
                  <a:fillRect l="-3" t="-91" r="58" b="1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Box 5"/>
              <p:cNvSpPr txBox="1">
                <a:spLocks noChangeArrowheads="1"/>
              </p:cNvSpPr>
              <p:nvPr/>
            </p:nvSpPr>
            <p:spPr bwMode="auto">
              <a:xfrm>
                <a:off x="6495748" y="788344"/>
                <a:ext cx="34290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的圆弧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𝐿</m:t>
                    </m:r>
                  </m:oMath>
                </a14:m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对于它的对</a:t>
                </a:r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95748" y="788344"/>
                <a:ext cx="3429000" cy="519112"/>
              </a:xfrm>
              <a:prstGeom prst="rect">
                <a:avLst/>
              </a:prstGeom>
              <a:blipFill rotWithShape="1">
                <a:blip r:embed="rId3"/>
                <a:stretch>
                  <a:fillRect l="-10" t="-60" r="10" b="1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6"/>
              <p:cNvSpPr txBox="1">
                <a:spLocks noChangeArrowheads="1"/>
              </p:cNvSpPr>
              <p:nvPr/>
            </p:nvSpPr>
            <p:spPr bwMode="auto">
              <a:xfrm>
                <a:off x="2555162" y="1386831"/>
                <a:ext cx="73152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称轴的转动惯量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𝐼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(</a:t>
                </a: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设线密度</a:t>
                </a:r>
                <a:r>
                  <a:rPr kumimoji="1" lang="zh-CN" altLang="en-US" sz="2800" i="1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  <a:sym typeface="Symbol" panose="05050102010706020507" pitchFamily="18" charset="2"/>
                  </a:rPr>
                  <a:t></a:t>
                </a: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  <a:sym typeface="Symbol" panose="05050102010706020507" pitchFamily="18" charset="2"/>
                  </a:rPr>
                  <a:t> </a:t>
                </a:r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= 1).  </a:t>
                </a:r>
                <a:endParaRPr kumimoji="1"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5162" y="1386831"/>
                <a:ext cx="7315200" cy="519113"/>
              </a:xfrm>
              <a:prstGeom prst="rect">
                <a:avLst/>
              </a:prstGeom>
              <a:blipFill rotWithShape="1">
                <a:blip r:embed="rId4"/>
                <a:stretch>
                  <a:fillRect l="-8" t="-121" r="8" b="6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1730375" y="1936952"/>
            <a:ext cx="529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endParaRPr kumimoji="1" lang="en-US" altLang="zh-CN" sz="2800" dirty="0">
              <a:latin typeface="Cambria Math" panose="020405030504060302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30"/>
              <p:cNvSpPr txBox="1"/>
              <p:nvPr/>
            </p:nvSpPr>
            <p:spPr bwMode="auto">
              <a:xfrm>
                <a:off x="3016639" y="2361222"/>
                <a:ext cx="1666292" cy="774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𝐼</m:t>
                      </m:r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en-US" altLang="zh-CN" sz="22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6639" y="2361222"/>
                <a:ext cx="1666292" cy="774700"/>
              </a:xfrm>
              <a:prstGeom prst="rect">
                <a:avLst/>
              </a:prstGeom>
              <a:blipFill rotWithShape="1">
                <a:blip r:embed="rId5"/>
                <a:stretch>
                  <a:fillRect l="-23" t="-38" r="26" b="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ine 32"/>
          <p:cNvSpPr>
            <a:spLocks noChangeShapeType="1"/>
          </p:cNvSpPr>
          <p:nvPr/>
        </p:nvSpPr>
        <p:spPr bwMode="auto">
          <a:xfrm>
            <a:off x="3406193" y="3052193"/>
            <a:ext cx="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34"/>
              <p:cNvSpPr txBox="1"/>
              <p:nvPr/>
            </p:nvSpPr>
            <p:spPr bwMode="auto">
              <a:xfrm>
                <a:off x="3210023" y="3950455"/>
                <a:ext cx="6486525" cy="774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−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𝛼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𝛼</m:t>
                          </m:r>
                        </m:sup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𝑅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𝜃</m:t>
                              </m:r>
                            </m:e>
                          </m:func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(−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𝑅</m:t>
                              </m:r>
                              <m:func>
                                <m:func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𝜃</m:t>
                                  </m:r>
                                </m:e>
                              </m:func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+(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𝑅</m:t>
                              </m:r>
                              <m:func>
                                <m:func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𝜃</m:t>
                                  </m:r>
                                </m:e>
                              </m:func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𝜃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0023" y="3950455"/>
                <a:ext cx="6486525" cy="774700"/>
              </a:xfrm>
              <a:prstGeom prst="rect">
                <a:avLst/>
              </a:prstGeom>
              <a:blipFill rotWithShape="1">
                <a:blip r:embed="rId6"/>
                <a:stretch>
                  <a:fillRect l="-2" t="-15" r="2" b="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35"/>
              <p:cNvSpPr txBox="1"/>
              <p:nvPr/>
            </p:nvSpPr>
            <p:spPr bwMode="auto">
              <a:xfrm>
                <a:off x="3210023" y="4784485"/>
                <a:ext cx="2335344" cy="8318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𝑅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3</m:t>
                          </m:r>
                        </m:sup>
                      </m:sSup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−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𝛼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𝛼</m:t>
                          </m:r>
                        </m:sup>
                        <m:e>
                          <m:func>
                            <m:func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𝜃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𝜃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0023" y="4784485"/>
                <a:ext cx="2335344" cy="831850"/>
              </a:xfrm>
              <a:prstGeom prst="rect">
                <a:avLst/>
              </a:prstGeom>
              <a:blipFill rotWithShape="1">
                <a:blip r:embed="rId7"/>
                <a:stretch>
                  <a:fillRect l="-4" t="-47" r="23" b="4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36"/>
              <p:cNvSpPr txBox="1"/>
              <p:nvPr/>
            </p:nvSpPr>
            <p:spPr bwMode="auto">
              <a:xfrm>
                <a:off x="5382419" y="4729176"/>
                <a:ext cx="3035300" cy="9534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2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𝑅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3</m:t>
                          </m:r>
                        </m:sup>
                      </m:sSup>
                      <m:sSubSup>
                        <m:sSub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kumimoji="1"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kumimoji="1"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2</m:t>
                                      </m:r>
                                    </m:e>
                                  </m:func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𝛼</m:t>
                          </m:r>
                        </m:sup>
                      </m:sSubSup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Objec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82419" y="4729176"/>
                <a:ext cx="3035300" cy="953420"/>
              </a:xfrm>
              <a:prstGeom prst="rect">
                <a:avLst/>
              </a:prstGeom>
              <a:blipFill rotWithShape="1">
                <a:blip r:embed="rId8"/>
                <a:stretch>
                  <a:fillRect l="-5" t="-35" r="5" b="6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37"/>
              <p:cNvSpPr txBox="1"/>
              <p:nvPr/>
            </p:nvSpPr>
            <p:spPr bwMode="auto">
              <a:xfrm>
                <a:off x="3213585" y="5559169"/>
                <a:ext cx="31496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𝑅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3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𝛼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 ).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Object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3585" y="5559169"/>
                <a:ext cx="3149600" cy="469900"/>
              </a:xfrm>
              <a:prstGeom prst="rect">
                <a:avLst/>
              </a:prstGeom>
              <a:blipFill rotWithShape="1">
                <a:blip r:embed="rId9"/>
                <a:stretch>
                  <a:fillRect l="-15" t="-81" r="15" b="8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43"/>
          <p:cNvSpPr txBox="1">
            <a:spLocks noChangeArrowheads="1"/>
          </p:cNvSpPr>
          <p:nvPr/>
        </p:nvSpPr>
        <p:spPr bwMode="auto">
          <a:xfrm>
            <a:off x="4854265" y="1999952"/>
            <a:ext cx="52931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则 </a:t>
            </a:r>
            <a:endParaRPr kumimoji="1" lang="zh-CN" altLang="en-US" sz="2200" dirty="0">
              <a:latin typeface="Cambria Math" panose="020405030504060302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45"/>
              <p:cNvSpPr txBox="1"/>
              <p:nvPr/>
            </p:nvSpPr>
            <p:spPr bwMode="auto">
              <a:xfrm>
                <a:off x="3482427" y="3149029"/>
                <a:ext cx="4148132" cy="901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𝐿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𝑅</m:t>
                                </m:r>
                                <m:func>
                                  <m:func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𝑅</m:t>
                                </m:r>
                                <m:func>
                                  <m:func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 (−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𝛼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𝜃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𝛼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 )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Object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2427" y="3149029"/>
                <a:ext cx="4148132" cy="901700"/>
              </a:xfrm>
              <a:prstGeom prst="rect">
                <a:avLst/>
              </a:prstGeom>
              <a:blipFill rotWithShape="1">
                <a:blip r:embed="rId10"/>
                <a:stretch>
                  <a:fillRect l="-2" t="-7" r="10" b="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 Box 43"/>
          <p:cNvSpPr txBox="1">
            <a:spLocks noChangeArrowheads="1"/>
          </p:cNvSpPr>
          <p:nvPr/>
        </p:nvSpPr>
        <p:spPr bwMode="auto">
          <a:xfrm>
            <a:off x="2555162" y="1975350"/>
            <a:ext cx="24016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建立坐标系如图</a:t>
            </a:r>
            <a:r>
              <a:rPr kumimoji="1" lang="en-US" altLang="zh-CN" sz="24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,</a:t>
            </a:r>
            <a:endParaRPr kumimoji="1" lang="zh-CN" altLang="en-US" sz="2200" dirty="0">
              <a:latin typeface="Cambria Math" panose="020405030504060302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17" name="图片 16" descr="图示&#10;&#10;描述已自动生成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3515" y="1683794"/>
            <a:ext cx="2401617" cy="23219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 animBg="1"/>
      <p:bldP spid="9" grpId="0"/>
      <p:bldP spid="10" grpId="0"/>
      <p:bldP spid="11" grpId="0"/>
      <p:bldP spid="12" grpId="0"/>
      <p:bldP spid="13" grpId="0"/>
      <p:bldP spid="14" grpId="0"/>
      <p:bldP spid="3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1078866" y="663574"/>
            <a:ext cx="10033634" cy="5532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半闭框 27"/>
          <p:cNvSpPr/>
          <p:nvPr/>
        </p:nvSpPr>
        <p:spPr>
          <a:xfrm>
            <a:off x="1078866" y="661529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半闭框 29"/>
          <p:cNvSpPr/>
          <p:nvPr/>
        </p:nvSpPr>
        <p:spPr>
          <a:xfrm flipH="1">
            <a:off x="10431354" y="660915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半闭框 31"/>
          <p:cNvSpPr/>
          <p:nvPr/>
        </p:nvSpPr>
        <p:spPr>
          <a:xfrm flipV="1">
            <a:off x="1078866" y="552295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半闭框 33"/>
          <p:cNvSpPr/>
          <p:nvPr/>
        </p:nvSpPr>
        <p:spPr>
          <a:xfrm flipH="1" flipV="1">
            <a:off x="10431354" y="550308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58948" y="923017"/>
            <a:ext cx="3156857" cy="507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  </a:t>
            </a:r>
            <a:r>
              <a: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计算曲线积分 </a:t>
            </a:r>
            <a:endParaRPr kumimoji="1" lang="zh-CN" altLang="en-US" sz="2800" dirty="0">
              <a:latin typeface="Cambria Math" panose="020405030504060302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4"/>
              <p:cNvSpPr txBox="1"/>
              <p:nvPr/>
            </p:nvSpPr>
            <p:spPr bwMode="auto">
              <a:xfrm>
                <a:off x="4651373" y="681261"/>
                <a:ext cx="3486150" cy="9683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1373" y="681261"/>
                <a:ext cx="3486150" cy="968374"/>
              </a:xfrm>
              <a:prstGeom prst="rect">
                <a:avLst/>
              </a:prstGeom>
              <a:blipFill rotWithShape="1">
                <a:blip r:embed="rId1"/>
                <a:stretch>
                  <a:fillRect l="-18" t="-56" r="18" b="5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Box 5"/>
              <p:cNvSpPr txBox="1">
                <a:spLocks noChangeArrowheads="1"/>
              </p:cNvSpPr>
              <p:nvPr/>
            </p:nvSpPr>
            <p:spPr bwMode="auto">
              <a:xfrm>
                <a:off x="7900986" y="882592"/>
                <a:ext cx="27940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𝛤</m:t>
                    </m:r>
                  </m:oMath>
                </a14:m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为螺旋线</a:t>
                </a:r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00986" y="882592"/>
                <a:ext cx="2794000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11" t="-110" r="11" b="10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9283698" y="1569436"/>
            <a:ext cx="182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的一段弧</a:t>
            </a:r>
            <a:r>
              <a:rPr kumimoji="1" lang="en-US" altLang="zh-CN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.</a:t>
            </a:r>
            <a:endParaRPr kumimoji="1" lang="en-US" altLang="zh-CN" sz="2800" dirty="0">
              <a:latin typeface="Cambria Math" panose="020405030504060302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1758948" y="2203023"/>
            <a:ext cx="5349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10"/>
              <p:cNvSpPr txBox="1"/>
              <p:nvPr/>
            </p:nvSpPr>
            <p:spPr bwMode="auto">
              <a:xfrm>
                <a:off x="2486023" y="2121733"/>
                <a:ext cx="2959100" cy="723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𝛤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sty m:val="p"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7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6023" y="2121733"/>
                <a:ext cx="2959100" cy="723900"/>
              </a:xfrm>
              <a:prstGeom prst="rect">
                <a:avLst/>
              </a:prstGeom>
              <a:blipFill rotWithShape="1">
                <a:blip r:embed="rId3"/>
                <a:stretch>
                  <a:fillRect l="-21" t="-27" r="21" b="2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11"/>
              <p:cNvSpPr txBox="1"/>
              <p:nvPr/>
            </p:nvSpPr>
            <p:spPr bwMode="auto">
              <a:xfrm>
                <a:off x="2486023" y="2781534"/>
                <a:ext cx="5092700" cy="825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𝑘𝑡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8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6023" y="2781534"/>
                <a:ext cx="5092700" cy="825500"/>
              </a:xfrm>
              <a:prstGeom prst="rect">
                <a:avLst/>
              </a:prstGeom>
              <a:blipFill rotWithShape="1">
                <a:blip r:embed="rId4"/>
                <a:stretch>
                  <a:fillRect l="-12" t="-28" r="12" b="2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12"/>
              <p:cNvSpPr txBox="1"/>
              <p:nvPr/>
            </p:nvSpPr>
            <p:spPr bwMode="auto">
              <a:xfrm>
                <a:off x="2486023" y="3859999"/>
                <a:ext cx="4330700" cy="825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9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6023" y="3859999"/>
                <a:ext cx="4330700" cy="825500"/>
              </a:xfrm>
              <a:prstGeom prst="rect">
                <a:avLst/>
              </a:prstGeom>
              <a:blipFill rotWithShape="1">
                <a:blip r:embed="rId5"/>
                <a:stretch>
                  <a:fillRect l="-15" t="-57" r="15" b="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13"/>
              <p:cNvSpPr txBox="1"/>
              <p:nvPr/>
            </p:nvSpPr>
            <p:spPr bwMode="auto">
              <a:xfrm>
                <a:off x="2486023" y="4569497"/>
                <a:ext cx="3609978" cy="1016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sSubSup>
                        <m:sSubSupPr>
                          <m:ctrlPr>
                            <a:rPr lang="en-US" altLang="zh-CN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2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</m:sSubSup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0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6023" y="4569497"/>
                <a:ext cx="3609978" cy="1016000"/>
              </a:xfrm>
              <a:prstGeom prst="rect">
                <a:avLst/>
              </a:prstGeom>
              <a:blipFill rotWithShape="1">
                <a:blip r:embed="rId6"/>
                <a:stretch>
                  <a:fillRect l="-18" t="-4" b="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14"/>
              <p:cNvSpPr txBox="1"/>
              <p:nvPr/>
            </p:nvSpPr>
            <p:spPr bwMode="auto">
              <a:xfrm>
                <a:off x="2486023" y="5437651"/>
                <a:ext cx="4264025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​​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1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6023" y="5437651"/>
                <a:ext cx="4264025" cy="838200"/>
              </a:xfrm>
              <a:prstGeom prst="rect">
                <a:avLst/>
              </a:prstGeom>
              <a:blipFill rotWithShape="1">
                <a:blip r:embed="rId7"/>
                <a:stretch>
                  <a:fillRect l="-15" t="-17" r="15" b="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15"/>
              <p:cNvSpPr txBox="1"/>
              <p:nvPr/>
            </p:nvSpPr>
            <p:spPr bwMode="auto">
              <a:xfrm>
                <a:off x="5970268" y="3354478"/>
                <a:ext cx="4724400" cy="558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ad>
                        <m:radPr>
                          <m:deg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m:rPr>
                          <m:sty m:val="p"/>
                        </m:rP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2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70268" y="3354478"/>
                <a:ext cx="4724400" cy="558800"/>
              </a:xfrm>
              <a:prstGeom prst="rect">
                <a:avLst/>
              </a:prstGeom>
              <a:blipFill rotWithShape="1">
                <a:blip r:embed="rId8"/>
                <a:stretch>
                  <a:fillRect l="-13" t="-73" r="13" b="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ject 6"/>
              <p:cNvSpPr txBox="1"/>
              <p:nvPr/>
            </p:nvSpPr>
            <p:spPr bwMode="auto">
              <a:xfrm>
                <a:off x="2549523" y="1568642"/>
                <a:ext cx="7162800" cy="558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𝑎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</m:func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, 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𝑎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</m:func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, 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𝑘𝑡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 (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𝑡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2</m:t>
                      </m:r>
                      <m:r>
                        <m:rPr>
                          <m:sty m:val="p"/>
                        </m:rPr>
                        <a:rPr kumimoji="1" lang="zh-CN" altLang="en-US" sz="2800" i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π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9523" y="1568642"/>
                <a:ext cx="7162800" cy="558800"/>
              </a:xfrm>
              <a:prstGeom prst="rect">
                <a:avLst/>
              </a:prstGeom>
              <a:blipFill rotWithShape="1">
                <a:blip r:embed="rId9"/>
                <a:stretch>
                  <a:fillRect l="-9" t="-34" r="9" b="3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 bldLvl="0" animBg="1"/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/>
          <p:cNvSpPr/>
          <p:nvPr/>
        </p:nvSpPr>
        <p:spPr>
          <a:xfrm>
            <a:off x="1078866" y="663574"/>
            <a:ext cx="10033634" cy="5532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半闭框 65"/>
          <p:cNvSpPr/>
          <p:nvPr/>
        </p:nvSpPr>
        <p:spPr>
          <a:xfrm>
            <a:off x="1078866" y="661529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8" name="半闭框 67"/>
          <p:cNvSpPr/>
          <p:nvPr/>
        </p:nvSpPr>
        <p:spPr>
          <a:xfrm flipH="1">
            <a:off x="10431354" y="660915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0" name="半闭框 69"/>
          <p:cNvSpPr/>
          <p:nvPr/>
        </p:nvSpPr>
        <p:spPr>
          <a:xfrm flipV="1">
            <a:off x="1078866" y="552295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2" name="半闭框 71"/>
          <p:cNvSpPr/>
          <p:nvPr/>
        </p:nvSpPr>
        <p:spPr>
          <a:xfrm flipH="1" flipV="1">
            <a:off x="10431354" y="550308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" name="Group 32"/>
          <p:cNvGrpSpPr/>
          <p:nvPr/>
        </p:nvGrpSpPr>
        <p:grpSpPr bwMode="auto">
          <a:xfrm>
            <a:off x="7986083" y="2153131"/>
            <a:ext cx="2371725" cy="1528763"/>
            <a:chOff x="4052" y="1236"/>
            <a:chExt cx="1494" cy="963"/>
          </a:xfrm>
        </p:grpSpPr>
        <p:sp>
          <p:nvSpPr>
            <p:cNvPr id="3" name="Line 4"/>
            <p:cNvSpPr>
              <a:spLocks noChangeShapeType="1"/>
            </p:cNvSpPr>
            <p:nvPr/>
          </p:nvSpPr>
          <p:spPr bwMode="auto">
            <a:xfrm>
              <a:off x="4244" y="2054"/>
              <a:ext cx="12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Object 5"/>
                <p:cNvSpPr txBox="1"/>
                <p:nvPr/>
              </p:nvSpPr>
              <p:spPr bwMode="auto">
                <a:xfrm>
                  <a:off x="5386" y="2047"/>
                  <a:ext cx="160" cy="1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4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86" y="2047"/>
                  <a:ext cx="160" cy="152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Line 6"/>
            <p:cNvSpPr>
              <a:spLocks noChangeShapeType="1"/>
            </p:cNvSpPr>
            <p:nvPr/>
          </p:nvSpPr>
          <p:spPr bwMode="auto">
            <a:xfrm flipV="1">
              <a:off x="4244" y="1296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Object 7"/>
                <p:cNvSpPr txBox="1"/>
                <p:nvPr/>
              </p:nvSpPr>
              <p:spPr bwMode="auto">
                <a:xfrm>
                  <a:off x="4052" y="1236"/>
                  <a:ext cx="160" cy="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6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52" y="1236"/>
                  <a:ext cx="160" cy="200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Object 8"/>
                <p:cNvSpPr txBox="1"/>
                <p:nvPr/>
              </p:nvSpPr>
              <p:spPr bwMode="auto">
                <a:xfrm>
                  <a:off x="4076" y="2010"/>
                  <a:ext cx="136" cy="1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7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76" y="2010"/>
                  <a:ext cx="136" cy="152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21"/>
          <p:cNvGrpSpPr/>
          <p:nvPr/>
        </p:nvGrpSpPr>
        <p:grpSpPr bwMode="auto">
          <a:xfrm>
            <a:off x="8341685" y="3075191"/>
            <a:ext cx="700089" cy="568325"/>
            <a:chOff x="552" y="3334"/>
            <a:chExt cx="441" cy="358"/>
          </a:xfrm>
        </p:grpSpPr>
        <p:sp>
          <p:nvSpPr>
            <p:cNvPr id="9" name="Arc 22"/>
            <p:cNvSpPr/>
            <p:nvPr/>
          </p:nvSpPr>
          <p:spPr bwMode="auto">
            <a:xfrm>
              <a:off x="552" y="3423"/>
              <a:ext cx="195" cy="141"/>
            </a:xfrm>
            <a:custGeom>
              <a:avLst/>
              <a:gdLst>
                <a:gd name="G0" fmla="+- 0 0 0"/>
                <a:gd name="G1" fmla="+- 15411 0 0"/>
                <a:gd name="G2" fmla="+- 21600 0 0"/>
                <a:gd name="T0" fmla="*/ 15135 w 21600"/>
                <a:gd name="T1" fmla="*/ 0 h 15411"/>
                <a:gd name="T2" fmla="*/ 21600 w 21600"/>
                <a:gd name="T3" fmla="*/ 15411 h 15411"/>
                <a:gd name="T4" fmla="*/ 0 w 21600"/>
                <a:gd name="T5" fmla="*/ 15411 h 15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411" fill="none" extrusionOk="0">
                  <a:moveTo>
                    <a:pt x="15134" y="0"/>
                  </a:moveTo>
                  <a:cubicBezTo>
                    <a:pt x="19270" y="4061"/>
                    <a:pt x="21600" y="9614"/>
                    <a:pt x="21600" y="15411"/>
                  </a:cubicBezTo>
                </a:path>
                <a:path w="21600" h="15411" stroke="0" extrusionOk="0">
                  <a:moveTo>
                    <a:pt x="15134" y="0"/>
                  </a:moveTo>
                  <a:cubicBezTo>
                    <a:pt x="19270" y="4061"/>
                    <a:pt x="21600" y="9614"/>
                    <a:pt x="21600" y="15411"/>
                  </a:cubicBezTo>
                  <a:lnTo>
                    <a:pt x="0" y="15411"/>
                  </a:lnTo>
                  <a:close/>
                </a:path>
              </a:pathLst>
            </a:custGeom>
            <a:noFill/>
            <a:ln w="19050">
              <a:solidFill>
                <a:srgbClr val="04926A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Object 23"/>
                <p:cNvSpPr txBox="1"/>
                <p:nvPr/>
              </p:nvSpPr>
              <p:spPr bwMode="auto">
                <a:xfrm>
                  <a:off x="698" y="3334"/>
                  <a:ext cx="295" cy="3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kumimoji="1" lang="zh-CN" altLang="en-US" sz="16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zh-CN" altLang="en-US" sz="16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  <m:t>π</m:t>
                            </m:r>
                          </m:num>
                          <m:den>
                            <m:r>
                              <a:rPr kumimoji="1" lang="zh-CN" altLang="en-US" sz="16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10" name="Object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8" y="3334"/>
                  <a:ext cx="295" cy="358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Arc 9"/>
          <p:cNvSpPr/>
          <p:nvPr/>
        </p:nvSpPr>
        <p:spPr bwMode="auto">
          <a:xfrm>
            <a:off x="8290884" y="2345219"/>
            <a:ext cx="1554163" cy="1108075"/>
          </a:xfrm>
          <a:custGeom>
            <a:avLst/>
            <a:gdLst>
              <a:gd name="G0" fmla="+- 0 0 0"/>
              <a:gd name="G1" fmla="+- 15411 0 0"/>
              <a:gd name="G2" fmla="+- 21600 0 0"/>
              <a:gd name="T0" fmla="*/ 15135 w 21600"/>
              <a:gd name="T1" fmla="*/ 0 h 15411"/>
              <a:gd name="T2" fmla="*/ 21600 w 21600"/>
              <a:gd name="T3" fmla="*/ 15411 h 15411"/>
              <a:gd name="T4" fmla="*/ 0 w 21600"/>
              <a:gd name="T5" fmla="*/ 15411 h 15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5411" fill="none" extrusionOk="0">
                <a:moveTo>
                  <a:pt x="15134" y="0"/>
                </a:moveTo>
                <a:cubicBezTo>
                  <a:pt x="19270" y="4061"/>
                  <a:pt x="21600" y="9614"/>
                  <a:pt x="21600" y="15411"/>
                </a:cubicBezTo>
              </a:path>
              <a:path w="21600" h="15411" stroke="0" extrusionOk="0">
                <a:moveTo>
                  <a:pt x="15134" y="0"/>
                </a:moveTo>
                <a:cubicBezTo>
                  <a:pt x="19270" y="4061"/>
                  <a:pt x="21600" y="9614"/>
                  <a:pt x="21600" y="15411"/>
                </a:cubicBezTo>
                <a:lnTo>
                  <a:pt x="0" y="15411"/>
                </a:lnTo>
                <a:close/>
              </a:path>
            </a:pathLst>
          </a:custGeom>
          <a:noFill/>
          <a:ln w="28575">
            <a:solidFill>
              <a:srgbClr val="04926A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Box 11"/>
              <p:cNvSpPr txBox="1">
                <a:spLocks noChangeArrowheads="1"/>
              </p:cNvSpPr>
              <p:nvPr/>
            </p:nvSpPr>
            <p:spPr bwMode="auto">
              <a:xfrm>
                <a:off x="1815730" y="981969"/>
                <a:ext cx="481949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  </a:t>
                </a: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𝐿</m:t>
                    </m:r>
                  </m:oMath>
                </a14:m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是由极坐标系下曲线</a:t>
                </a:r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15730" y="981969"/>
                <a:ext cx="4819494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5" t="-50" r="2" b="4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ject 12"/>
              <p:cNvSpPr txBox="1"/>
              <p:nvPr/>
            </p:nvSpPr>
            <p:spPr bwMode="auto">
              <a:xfrm>
                <a:off x="6406624" y="966228"/>
                <a:ext cx="1104900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𝑟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𝑎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06624" y="966228"/>
                <a:ext cx="1104900" cy="519112"/>
              </a:xfrm>
              <a:prstGeom prst="rect">
                <a:avLst/>
              </a:prstGeom>
              <a:blipFill rotWithShape="1">
                <a:blip r:embed="rId6"/>
                <a:stretch>
                  <a:fillRect l="-10" t="-76" r="10" b="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13"/>
              <p:cNvSpPr txBox="1"/>
              <p:nvPr/>
            </p:nvSpPr>
            <p:spPr bwMode="auto">
              <a:xfrm>
                <a:off x="7416644" y="966228"/>
                <a:ext cx="1101724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16644" y="966228"/>
                <a:ext cx="1101724" cy="519112"/>
              </a:xfrm>
              <a:prstGeom prst="rect">
                <a:avLst/>
              </a:prstGeom>
              <a:blipFill rotWithShape="1">
                <a:blip r:embed="rId7"/>
                <a:stretch>
                  <a:fillRect l="-43" t="-76" r="43" b="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8311411" y="966228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及</a:t>
            </a:r>
            <a:endParaRPr kumimoji="1" lang="zh-CN" altLang="en-US" sz="2800" dirty="0">
              <a:latin typeface="Cambria Math" panose="020405030504060302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bject 15"/>
              <p:cNvSpPr txBox="1"/>
              <p:nvPr/>
            </p:nvSpPr>
            <p:spPr bwMode="auto">
              <a:xfrm>
                <a:off x="8703472" y="966228"/>
                <a:ext cx="2133600" cy="622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π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03472" y="966228"/>
                <a:ext cx="2133600" cy="622300"/>
              </a:xfrm>
              <a:prstGeom prst="rect">
                <a:avLst/>
              </a:prstGeom>
              <a:blipFill rotWithShape="1">
                <a:blip r:embed="rId8"/>
                <a:stretch>
                  <a:fillRect l="-8" t="-63" r="8" b="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2621642" y="1634018"/>
            <a:ext cx="365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所围区域的边界</a:t>
            </a:r>
            <a:r>
              <a:rPr kumimoji="1" lang="en-US" altLang="zh-CN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, </a:t>
            </a:r>
            <a:r>
              <a: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求</a:t>
            </a:r>
            <a:endParaRPr kumimoji="1" lang="zh-CN" altLang="en-US" sz="2800" dirty="0">
              <a:latin typeface="Cambria Math" panose="020405030504060302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bject 17"/>
              <p:cNvSpPr txBox="1"/>
              <p:nvPr/>
            </p:nvSpPr>
            <p:spPr bwMode="auto">
              <a:xfrm>
                <a:off x="2876049" y="2394601"/>
                <a:ext cx="3276600" cy="9572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𝐼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e</m:t>
                              </m:r>
                            </m:e>
                            <m:sup>
                              <m:rad>
                                <m:radPr>
                                  <m:degHide m:val="on"/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8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kumimoji="1" lang="zh-CN" altLang="en-US" sz="28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8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kumimoji="1" lang="zh-CN" altLang="en-US" sz="28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6049" y="2394601"/>
                <a:ext cx="3276600" cy="957263"/>
              </a:xfrm>
              <a:prstGeom prst="rect">
                <a:avLst/>
              </a:prstGeom>
              <a:blipFill rotWithShape="1">
                <a:blip r:embed="rId9"/>
                <a:stretch>
                  <a:fillRect l="-4" t="-2" r="4" b="3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bject 18"/>
              <p:cNvSpPr txBox="1"/>
              <p:nvPr/>
            </p:nvSpPr>
            <p:spPr bwMode="auto">
              <a:xfrm>
                <a:off x="3067050" y="5196095"/>
                <a:ext cx="2628900" cy="7510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 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π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4</m:t>
                              </m:r>
                            </m:den>
                          </m:f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𝑎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e>
                      </m:d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𝑎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2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67050" y="5196095"/>
                <a:ext cx="2628900" cy="751059"/>
              </a:xfrm>
              <a:prstGeom prst="rect">
                <a:avLst/>
              </a:prstGeom>
              <a:blipFill rotWithShape="1">
                <a:blip r:embed="rId10"/>
                <a:stretch>
                  <a:fillRect t="-70" b="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Line 19"/>
          <p:cNvSpPr>
            <a:spLocks noChangeShapeType="1"/>
          </p:cNvSpPr>
          <p:nvPr/>
        </p:nvSpPr>
        <p:spPr bwMode="auto">
          <a:xfrm flipV="1">
            <a:off x="8290884" y="2353156"/>
            <a:ext cx="1101725" cy="1101725"/>
          </a:xfrm>
          <a:prstGeom prst="line">
            <a:avLst/>
          </a:prstGeom>
          <a:noFill/>
          <a:ln w="28575">
            <a:solidFill>
              <a:srgbClr val="4A7BA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Object 20"/>
              <p:cNvSpPr txBox="1"/>
              <p:nvPr/>
            </p:nvSpPr>
            <p:spPr bwMode="auto">
              <a:xfrm>
                <a:off x="9695028" y="3440316"/>
                <a:ext cx="317500" cy="2714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21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95028" y="3440316"/>
                <a:ext cx="317500" cy="271459"/>
              </a:xfrm>
              <a:prstGeom prst="rect">
                <a:avLst/>
              </a:prstGeom>
              <a:blipFill rotWithShape="1">
                <a:blip r:embed="rId11"/>
                <a:stretch>
                  <a:fillRect l="-152" t="-192" r="152" b="-647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8290883" y="3440316"/>
            <a:ext cx="1544638" cy="0"/>
          </a:xfrm>
          <a:prstGeom prst="line">
            <a:avLst/>
          </a:prstGeom>
          <a:noFill/>
          <a:ln w="28575">
            <a:solidFill>
              <a:srgbClr val="A9D18E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bject 25"/>
              <p:cNvSpPr txBox="1"/>
              <p:nvPr/>
            </p:nvSpPr>
            <p:spPr bwMode="auto">
              <a:xfrm>
                <a:off x="8427407" y="2440567"/>
                <a:ext cx="812800" cy="317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23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27407" y="2440567"/>
                <a:ext cx="812800" cy="317500"/>
              </a:xfrm>
              <a:prstGeom prst="rect">
                <a:avLst/>
              </a:prstGeom>
              <a:blipFill rotWithShape="1">
                <a:blip r:embed="rId12"/>
                <a:stretch>
                  <a:fillRect l="-40" t="-83" r="40" b="8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Object 26"/>
              <p:cNvSpPr txBox="1"/>
              <p:nvPr/>
            </p:nvSpPr>
            <p:spPr bwMode="auto">
              <a:xfrm>
                <a:off x="8648074" y="3424540"/>
                <a:ext cx="7874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24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48074" y="3424540"/>
                <a:ext cx="787400" cy="393700"/>
              </a:xfrm>
              <a:prstGeom prst="rect">
                <a:avLst/>
              </a:prstGeom>
              <a:blipFill rotWithShape="1">
                <a:blip r:embed="rId13"/>
                <a:stretch>
                  <a:fillRect l="-1" t="-157" r="1" b="1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Object 27"/>
              <p:cNvSpPr txBox="1"/>
              <p:nvPr/>
            </p:nvSpPr>
            <p:spPr bwMode="auto">
              <a:xfrm>
                <a:off x="9695028" y="2525123"/>
                <a:ext cx="762000" cy="241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25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95028" y="2525123"/>
                <a:ext cx="762000" cy="241300"/>
              </a:xfrm>
              <a:prstGeom prst="rect">
                <a:avLst/>
              </a:prstGeom>
              <a:blipFill rotWithShape="1">
                <a:blip r:embed="rId14"/>
                <a:stretch>
                  <a:fillRect l="-63" t="-150" r="63" b="-198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 Box 28"/>
          <p:cNvSpPr txBox="1">
            <a:spLocks noChangeArrowheads="1"/>
          </p:cNvSpPr>
          <p:nvPr/>
        </p:nvSpPr>
        <p:spPr bwMode="auto">
          <a:xfrm>
            <a:off x="1816470" y="3550422"/>
            <a:ext cx="584201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endParaRPr kumimoji="1" lang="zh-CN" altLang="en-US" sz="2800" dirty="0">
              <a:latin typeface="Cambria Math" panose="020405030504060302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Object 29"/>
              <p:cNvSpPr txBox="1"/>
              <p:nvPr/>
            </p:nvSpPr>
            <p:spPr bwMode="auto">
              <a:xfrm>
                <a:off x="2878138" y="4190185"/>
                <a:ext cx="1866900" cy="825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𝐼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𝑎</m:t>
                          </m:r>
                        </m:sup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e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7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8138" y="4190185"/>
                <a:ext cx="1866900" cy="825500"/>
              </a:xfrm>
              <a:prstGeom prst="rect">
                <a:avLst/>
              </a:prstGeom>
              <a:blipFill rotWithShape="1">
                <a:blip r:embed="rId15"/>
                <a:stretch>
                  <a:fillRect l="-17" t="-55" r="17" b="5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Object 30"/>
              <p:cNvSpPr txBox="1"/>
              <p:nvPr/>
            </p:nvSpPr>
            <p:spPr bwMode="auto">
              <a:xfrm>
                <a:off x="4406900" y="4069535"/>
                <a:ext cx="1816100" cy="876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π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4</m:t>
                              </m:r>
                            </m:den>
                          </m:f>
                        </m:sup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e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𝑎</m:t>
                              </m:r>
                            </m:sup>
                          </m:sSup>
                        </m:e>
                      </m:nary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𝑎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𝜃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8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06900" y="4069535"/>
                <a:ext cx="1816100" cy="876300"/>
              </a:xfrm>
              <a:prstGeom prst="rect">
                <a:avLst/>
              </a:prstGeom>
              <a:blipFill rotWithShape="1">
                <a:blip r:embed="rId16"/>
                <a:stretch>
                  <a:fillRect t="-52" b="-2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Object 31"/>
              <p:cNvSpPr txBox="1"/>
              <p:nvPr/>
            </p:nvSpPr>
            <p:spPr bwMode="auto">
              <a:xfrm>
                <a:off x="5946036" y="4069535"/>
                <a:ext cx="2679700" cy="876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𝑎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</m:sup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e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  <m:rad>
                                <m:radPr>
                                  <m:degHide m:val="on"/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e>
                              </m:rad>
                            </m:sup>
                          </m:sSup>
                        </m:e>
                      </m:nary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e>
                      </m:rad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9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46036" y="4069535"/>
                <a:ext cx="2679700" cy="876300"/>
              </a:xfrm>
              <a:prstGeom prst="rect">
                <a:avLst/>
              </a:prstGeom>
              <a:blipFill rotWithShape="1">
                <a:blip r:embed="rId17"/>
                <a:stretch>
                  <a:fillRect l="-20" t="-52" r="20" b="-451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 Box 28"/>
          <p:cNvSpPr txBox="1">
            <a:spLocks noChangeArrowheads="1"/>
          </p:cNvSpPr>
          <p:nvPr/>
        </p:nvSpPr>
        <p:spPr bwMode="auto">
          <a:xfrm>
            <a:off x="2463801" y="3618913"/>
            <a:ext cx="16224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分段积分</a:t>
            </a:r>
            <a:endParaRPr kumimoji="1" lang="zh-CN" altLang="en-US" sz="2200" dirty="0">
              <a:latin typeface="Cambria Math" panose="020405030504060302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 animBg="1"/>
      <p:bldP spid="21" grpId="0"/>
      <p:bldP spid="22" grpId="0" animBg="1"/>
      <p:bldP spid="23" grpId="0"/>
      <p:bldP spid="24" grpId="0"/>
      <p:bldP spid="25" grpId="0"/>
      <p:bldP spid="26" grpId="0"/>
      <p:bldP spid="27" grpId="0"/>
      <p:bldP spid="28" grpId="0"/>
      <p:bldP spid="29" grpId="0"/>
      <p:bldP spid="6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343025" y="690714"/>
            <a:ext cx="4429125" cy="60411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四、几何与</a:t>
            </a:r>
            <a:r>
              <a:rPr lang="zh-CN" altLang="zh-CN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物理意义</a:t>
            </a:r>
            <a:endParaRPr lang="zh-CN" altLang="en-US" sz="32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4"/>
              <p:cNvSpPr txBox="1"/>
              <p:nvPr/>
            </p:nvSpPr>
            <p:spPr bwMode="auto">
              <a:xfrm>
                <a:off x="2061878" y="1294829"/>
                <a:ext cx="5627688" cy="6246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1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)  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𝜌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表示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𝐿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的线密度时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, 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1878" y="1294829"/>
                <a:ext cx="5627688" cy="624610"/>
              </a:xfrm>
              <a:prstGeom prst="rect">
                <a:avLst/>
              </a:prstGeom>
              <a:blipFill rotWithShape="1">
                <a:blip r:embed="rId1"/>
                <a:stretch>
                  <a:fillRect l="-1" t="-10" r="6" b="7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5"/>
              <p:cNvSpPr txBox="1"/>
              <p:nvPr/>
            </p:nvSpPr>
            <p:spPr bwMode="auto">
              <a:xfrm>
                <a:off x="3240645" y="1919439"/>
                <a:ext cx="3270154" cy="9652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𝑀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𝜌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;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40645" y="1919439"/>
                <a:ext cx="3270154" cy="965248"/>
              </a:xfrm>
              <a:prstGeom prst="rect">
                <a:avLst/>
              </a:prstGeom>
              <a:blipFill rotWithShape="1">
                <a:blip r:embed="rId2"/>
                <a:stretch>
                  <a:fillRect l="-7" t="-49" r="4" b="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6"/>
              <p:cNvSpPr txBox="1"/>
              <p:nvPr/>
            </p:nvSpPr>
            <p:spPr bwMode="auto">
              <a:xfrm>
                <a:off x="2061878" y="2760537"/>
                <a:ext cx="5991700" cy="104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2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)  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)≡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1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弧长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;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1878" y="2760537"/>
                <a:ext cx="5991700" cy="1041400"/>
              </a:xfrm>
              <a:prstGeom prst="rect">
                <a:avLst/>
              </a:prstGeom>
              <a:blipFill rotWithShape="1">
                <a:blip r:embed="rId3"/>
                <a:stretch>
                  <a:fillRect l="-1" t="-18" r="8" b="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7"/>
              <p:cNvSpPr txBox="1"/>
              <p:nvPr/>
            </p:nvSpPr>
            <p:spPr bwMode="auto">
              <a:xfrm>
                <a:off x="2061878" y="3688208"/>
                <a:ext cx="5927692" cy="13722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3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)  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表示立于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𝐿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上的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 </m:t>
                      </m:r>
                    </m:oMath>
                    <m:oMath xmlns:m="http://schemas.openxmlformats.org/officeDocument/2006/math"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       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柱面在点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处的高时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1878" y="3688208"/>
                <a:ext cx="5927692" cy="1372299"/>
              </a:xfrm>
              <a:prstGeom prst="rect">
                <a:avLst/>
              </a:prstGeom>
              <a:blipFill rotWithShape="1">
                <a:blip r:embed="rId4"/>
                <a:stretch>
                  <a:fillRect l="-1" t="-9" b="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8"/>
              <p:cNvSpPr txBox="1"/>
              <p:nvPr/>
            </p:nvSpPr>
            <p:spPr bwMode="auto">
              <a:xfrm>
                <a:off x="3171793" y="5056603"/>
                <a:ext cx="5025103" cy="104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𝑆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柱面面积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1793" y="5056603"/>
                <a:ext cx="5025103" cy="1041400"/>
              </a:xfrm>
              <a:prstGeom prst="rect">
                <a:avLst/>
              </a:prstGeom>
              <a:blipFill rotWithShape="1">
                <a:blip r:embed="rId5"/>
                <a:stretch>
                  <a:fillRect l="-12" t="-9" r="6" b="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11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3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Object 2"/>
              <p:cNvSpPr txBox="1"/>
              <p:nvPr/>
            </p:nvSpPr>
            <p:spPr bwMode="auto">
              <a:xfrm>
                <a:off x="2561908" y="1324610"/>
                <a:ext cx="6338887" cy="6397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4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)  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曲线弧对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轴及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轴的转动惯量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, 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1908" y="1324610"/>
                <a:ext cx="6338887" cy="639762"/>
              </a:xfrm>
              <a:prstGeom prst="rect">
                <a:avLst/>
              </a:prstGeom>
              <a:blipFill rotWithShape="1">
                <a:blip r:embed="rId2"/>
                <a:stretch>
                  <a:fillRect l="-5" b="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 bwMode="auto">
              <a:xfrm>
                <a:off x="3357245" y="2035492"/>
                <a:ext cx="5730875" cy="10429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𝐼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𝜌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,  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𝐼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𝜌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7245" y="2035492"/>
                <a:ext cx="5730875" cy="1042987"/>
              </a:xfrm>
              <a:prstGeom prst="rect">
                <a:avLst/>
              </a:prstGeom>
              <a:blipFill rotWithShape="1">
                <a:blip r:embed="rId3"/>
                <a:stretch>
                  <a:fillRect t="-30" b="6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4"/>
              <p:cNvSpPr txBox="1"/>
              <p:nvPr/>
            </p:nvSpPr>
            <p:spPr bwMode="auto">
              <a:xfrm>
                <a:off x="2561908" y="3317084"/>
                <a:ext cx="4668837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5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)  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曲线弧的重心坐标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 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1908" y="3317084"/>
                <a:ext cx="4668837" cy="457200"/>
              </a:xfrm>
              <a:prstGeom prst="rect">
                <a:avLst/>
              </a:prstGeom>
              <a:blipFill rotWithShape="1">
                <a:blip r:embed="rId4"/>
                <a:stretch>
                  <a:fillRect l="-7" t="-105" b="-489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5"/>
              <p:cNvSpPr txBox="1"/>
              <p:nvPr/>
            </p:nvSpPr>
            <p:spPr bwMode="auto">
              <a:xfrm>
                <a:off x="3357245" y="3978910"/>
                <a:ext cx="5334001" cy="1219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bar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</m:ba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nary>
                            <m:naryPr>
                              <m:sup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𝐿</m:t>
                              </m:r>
                            </m:sub>
                            <m:sup/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𝜌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800" i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𝑠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sup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𝐿</m:t>
                              </m:r>
                            </m:sub>
                            <m:sup/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𝜌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800" i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𝑠</m:t>
                              </m:r>
                            </m:e>
                          </m:nary>
                        </m:den>
                      </m:f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,  </m:t>
                      </m:r>
                      <m:bar>
                        <m:barPr>
                          <m:pos m:val="top"/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bar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ba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nary>
                            <m:naryPr>
                              <m:sup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𝐿</m:t>
                              </m:r>
                            </m:sub>
                            <m:sup/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𝜌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800" i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𝑠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sup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𝐿</m:t>
                              </m:r>
                            </m:sub>
                            <m:sup/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𝜌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800" b="0" i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𝑠</m:t>
                              </m:r>
                            </m:e>
                          </m:nary>
                        </m:den>
                      </m:f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7245" y="3978910"/>
                <a:ext cx="5334001" cy="12192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/>
              <p:cNvSpPr/>
              <p:nvPr/>
            </p:nvSpPr>
            <p:spPr>
              <a:xfrm>
                <a:off x="687324" y="529052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24" y="529052"/>
                <a:ext cx="10817352" cy="5799897"/>
              </a:xfrm>
              <a:prstGeom prst="rect">
                <a:avLst/>
              </a:prstGeom>
              <a:blipFill rotWithShape="1">
                <a:blip r:embed="rId1"/>
                <a:stretch>
                  <a:fillRect l="-1499" t="-1929" r="-1493" b="-1918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半闭框 20"/>
          <p:cNvSpPr/>
          <p:nvPr/>
        </p:nvSpPr>
        <p:spPr>
          <a:xfrm>
            <a:off x="687324" y="529052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半闭框 22"/>
          <p:cNvSpPr/>
          <p:nvPr/>
        </p:nvSpPr>
        <p:spPr>
          <a:xfrm flipH="1">
            <a:off x="10823530" y="529052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半闭框 24"/>
          <p:cNvSpPr/>
          <p:nvPr/>
        </p:nvSpPr>
        <p:spPr>
          <a:xfrm flipV="1">
            <a:off x="687324" y="5655432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27" name="半闭框 26"/>
          <p:cNvSpPr/>
          <p:nvPr/>
        </p:nvSpPr>
        <p:spPr>
          <a:xfrm flipH="1" flipV="1">
            <a:off x="10823530" y="5635566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21589" y="1015761"/>
            <a:ext cx="1905000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  </a:t>
            </a:r>
            <a:r>
              <a: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</a:rPr>
              <a:t>计算</a:t>
            </a:r>
            <a:endParaRPr kumimoji="1" lang="zh-CN" altLang="en-US" sz="2800" dirty="0">
              <a:latin typeface="Cambria Math" panose="020405030504060302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4"/>
              <p:cNvSpPr txBox="1"/>
              <p:nvPr/>
            </p:nvSpPr>
            <p:spPr bwMode="auto">
              <a:xfrm>
                <a:off x="3258289" y="750648"/>
                <a:ext cx="1587500" cy="9588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8289" y="750648"/>
                <a:ext cx="1587500" cy="958850"/>
              </a:xfrm>
              <a:prstGeom prst="rect">
                <a:avLst/>
              </a:prstGeom>
              <a:blipFill rotWithShape="1">
                <a:blip r:embed="rId2"/>
                <a:stretch>
                  <a:fillRect l="-7" t="-8" r="7" b="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Box 5"/>
              <p:cNvSpPr txBox="1">
                <a:spLocks noChangeArrowheads="1"/>
              </p:cNvSpPr>
              <p:nvPr/>
            </p:nvSpPr>
            <p:spPr bwMode="auto">
              <a:xfrm>
                <a:off x="4512414" y="945912"/>
                <a:ext cx="24384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𝛤</m:t>
                    </m:r>
                  </m:oMath>
                </a14:m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为球面              </a:t>
                </a:r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12414" y="945912"/>
                <a:ext cx="2438400" cy="519113"/>
              </a:xfrm>
              <a:prstGeom prst="rect">
                <a:avLst/>
              </a:prstGeom>
              <a:blipFill rotWithShape="1">
                <a:blip r:embed="rId3"/>
                <a:stretch>
                  <a:fillRect l="-4" t="-76" r="4" b="1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6"/>
              <p:cNvSpPr txBox="1"/>
              <p:nvPr/>
            </p:nvSpPr>
            <p:spPr bwMode="auto">
              <a:xfrm>
                <a:off x="6569816" y="951467"/>
                <a:ext cx="3267075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𝑧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𝑎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69816" y="951467"/>
                <a:ext cx="3267075" cy="520700"/>
              </a:xfrm>
              <a:prstGeom prst="rect">
                <a:avLst/>
              </a:prstGeom>
              <a:blipFill rotWithShape="1">
                <a:blip r:embed="rId4"/>
                <a:stretch>
                  <a:fillRect l="-3" t="-46" r="3" b="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25"/>
          <p:cNvGrpSpPr/>
          <p:nvPr/>
        </p:nvGrpSpPr>
        <p:grpSpPr bwMode="auto">
          <a:xfrm>
            <a:off x="2505814" y="1720064"/>
            <a:ext cx="6172200" cy="519112"/>
            <a:chOff x="54" y="701"/>
            <a:chExt cx="3888" cy="327"/>
          </a:xfrm>
        </p:grpSpPr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54" y="701"/>
              <a:ext cx="38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rPr>
                <a:t>被平面                            所截的圆周</a:t>
              </a:r>
              <a:r>
                <a:rPr kumimoji="1"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</a:rPr>
                <a:t>. </a:t>
              </a:r>
              <a:endParaRPr kumimoji="1" lang="en-US" altLang="zh-CN" sz="2800" dirty="0">
                <a:latin typeface="Cambria Math" panose="02040503050406030204" pitchFamily="18" charset="0"/>
                <a:ea typeface="黑体" panose="02010609060101010101" pitchFamily="49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Object 8"/>
                <p:cNvSpPr txBox="1"/>
                <p:nvPr/>
              </p:nvSpPr>
              <p:spPr bwMode="auto">
                <a:xfrm>
                  <a:off x="755" y="701"/>
                  <a:ext cx="1610" cy="3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𝑥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+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𝑦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+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𝑧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=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0</m:t>
                        </m:r>
                      </m:oMath>
                    </m:oMathPara>
                  </a14:m>
                  <a:endPara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endParaRPr>
                </a:p>
              </p:txBody>
            </p:sp>
          </mc:Choice>
          <mc:Fallback>
            <p:sp>
              <p:nvSpPr>
                <p:cNvPr id="8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5" y="701"/>
                  <a:ext cx="1610" cy="318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12"/>
              <p:cNvSpPr txBox="1"/>
              <p:nvPr/>
            </p:nvSpPr>
            <p:spPr bwMode="auto">
              <a:xfrm>
                <a:off x="4125065" y="2624817"/>
                <a:ext cx="1254125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25065" y="2624817"/>
                <a:ext cx="1254125" cy="1003300"/>
              </a:xfrm>
              <a:prstGeom prst="rect">
                <a:avLst/>
              </a:prstGeom>
              <a:blipFill rotWithShape="1">
                <a:blip r:embed="rId6"/>
                <a:stretch>
                  <a:fillRect l="-8" t="-36" r="8" b="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15"/>
              <p:cNvSpPr txBox="1"/>
              <p:nvPr/>
            </p:nvSpPr>
            <p:spPr bwMode="auto">
              <a:xfrm>
                <a:off x="3802804" y="3446349"/>
                <a:ext cx="4429125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∴</m:t>
                      </m:r>
                      <m:r>
                        <a:rPr kumimoji="1" lang="en-US" altLang="zh-CN" sz="22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3</m:t>
                          </m:r>
                        </m:den>
                      </m:f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𝑧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02804" y="3446349"/>
                <a:ext cx="4429125" cy="838200"/>
              </a:xfrm>
              <a:prstGeom prst="rect">
                <a:avLst/>
              </a:prstGeom>
              <a:blipFill rotWithShape="1">
                <a:blip r:embed="rId7"/>
                <a:stretch>
                  <a:fillRect l="-10" t="-24" r="10" b="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18"/>
              <p:cNvSpPr txBox="1"/>
              <p:nvPr/>
            </p:nvSpPr>
            <p:spPr bwMode="auto">
              <a:xfrm>
                <a:off x="5064866" y="4317092"/>
                <a:ext cx="1739900" cy="984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3</m:t>
                          </m:r>
                        </m:den>
                      </m:f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64866" y="4317092"/>
                <a:ext cx="1739900" cy="984250"/>
              </a:xfrm>
              <a:prstGeom prst="rect">
                <a:avLst/>
              </a:prstGeom>
              <a:blipFill rotWithShape="1">
                <a:blip r:embed="rId8"/>
                <a:stretch>
                  <a:fillRect l="-6" t="-37" r="6" b="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ject 19"/>
              <p:cNvSpPr txBox="1"/>
              <p:nvPr/>
            </p:nvSpPr>
            <p:spPr bwMode="auto">
              <a:xfrm>
                <a:off x="6468214" y="4313123"/>
                <a:ext cx="2409825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kumimoji="1" lang="en-US" altLang="zh-CN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𝑎</m:t>
                          </m:r>
                        </m:e>
                        <m:sup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⋅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2</m:t>
                      </m:r>
                      <m:r>
                        <m:rPr>
                          <m:sty m:val="p"/>
                        </m:rPr>
                        <a:rPr kumimoji="1" lang="zh-CN" altLang="en-US" sz="2200" i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π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𝑎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68214" y="4313123"/>
                <a:ext cx="2409825" cy="850900"/>
              </a:xfrm>
              <a:prstGeom prst="rect">
                <a:avLst/>
              </a:prstGeom>
              <a:blipFill rotWithShape="1">
                <a:blip r:embed="rId9"/>
                <a:stretch>
                  <a:fillRect l="-4" t="-24" r="4" b="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20"/>
              <p:cNvSpPr txBox="1"/>
              <p:nvPr/>
            </p:nvSpPr>
            <p:spPr bwMode="auto">
              <a:xfrm>
                <a:off x="5064866" y="5176763"/>
                <a:ext cx="12700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kumimoji="1" lang="zh-CN" altLang="en-US" sz="2200" i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π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𝑎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3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64866" y="5176763"/>
                <a:ext cx="1270000" cy="838200"/>
              </a:xfrm>
              <a:prstGeom prst="rect">
                <a:avLst/>
              </a:prstGeom>
              <a:blipFill rotWithShape="1">
                <a:blip r:embed="rId10"/>
                <a:stretch>
                  <a:fillRect l="-8" t="-29" r="8" b="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bject 26"/>
              <p:cNvSpPr txBox="1"/>
              <p:nvPr/>
            </p:nvSpPr>
            <p:spPr bwMode="auto">
              <a:xfrm>
                <a:off x="5064864" y="2621642"/>
                <a:ext cx="1587500" cy="936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64864" y="2621642"/>
                <a:ext cx="1587500" cy="936625"/>
              </a:xfrm>
              <a:prstGeom prst="rect">
                <a:avLst/>
              </a:prstGeom>
              <a:blipFill rotWithShape="1">
                <a:blip r:embed="rId11"/>
                <a:stretch>
                  <a:fillRect l="-7" t="-39" r="7" b="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bject 27"/>
              <p:cNvSpPr txBox="1"/>
              <p:nvPr/>
            </p:nvSpPr>
            <p:spPr bwMode="auto">
              <a:xfrm>
                <a:off x="6303115" y="2621642"/>
                <a:ext cx="1587500" cy="936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b="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03115" y="2621642"/>
                <a:ext cx="1587500" cy="936625"/>
              </a:xfrm>
              <a:prstGeom prst="rect">
                <a:avLst/>
              </a:prstGeom>
              <a:blipFill rotWithShape="1">
                <a:blip r:embed="rId12"/>
                <a:stretch>
                  <a:fillRect l="-7" t="-39" r="7" b="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组合 27"/>
          <p:cNvGrpSpPr/>
          <p:nvPr/>
        </p:nvGrpSpPr>
        <p:grpSpPr>
          <a:xfrm>
            <a:off x="1721589" y="2741042"/>
            <a:ext cx="2676525" cy="519113"/>
            <a:chOff x="2209800" y="2728342"/>
            <a:chExt cx="2676525" cy="519113"/>
          </a:xfrm>
        </p:grpSpPr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2209800" y="2728342"/>
              <a:ext cx="609599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</a:t>
              </a:r>
              <a:r>
                <a:rPr lang="en-US" altLang="zh-CN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2908300" y="2747056"/>
              <a:ext cx="1978025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rPr>
                <a:t>由对称性可知</a:t>
              </a:r>
              <a:endParaRPr kumimoji="1" lang="zh-CN" altLang="en-US" sz="22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5" name="矩形 24"/>
              <p:cNvSpPr/>
              <p:nvPr/>
            </p:nvSpPr>
            <p:spPr>
              <a:xfrm>
                <a:off x="687324" y="1791690"/>
                <a:ext cx="10817352" cy="434675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24" y="1791690"/>
                <a:ext cx="10817352" cy="4346759"/>
              </a:xfrm>
              <a:prstGeom prst="rect">
                <a:avLst/>
              </a:prstGeom>
              <a:blipFill rotWithShape="1">
                <a:blip r:embed="rId1"/>
                <a:stretch>
                  <a:fillRect l="-1499" t="-2243" r="-1493" b="-2223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半闭框 26"/>
          <p:cNvSpPr/>
          <p:nvPr/>
        </p:nvSpPr>
        <p:spPr>
          <a:xfrm>
            <a:off x="687324" y="179169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9" name="半闭框 28"/>
          <p:cNvSpPr/>
          <p:nvPr/>
        </p:nvSpPr>
        <p:spPr>
          <a:xfrm flipH="1">
            <a:off x="10823530" y="179169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1" name="半闭框 30"/>
          <p:cNvSpPr/>
          <p:nvPr/>
        </p:nvSpPr>
        <p:spPr>
          <a:xfrm flipV="1">
            <a:off x="687324" y="5464932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33" name="半闭框 32"/>
          <p:cNvSpPr/>
          <p:nvPr/>
        </p:nvSpPr>
        <p:spPr>
          <a:xfrm flipH="1" flipV="1">
            <a:off x="10823530" y="5445066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 bwMode="auto">
              <a:xfrm>
                <a:off x="3578955" y="617593"/>
                <a:ext cx="4414838" cy="990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−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1</m:t>
                                </m:r>
                                <m:sSup>
                                  <m:sSup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+(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+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1</m:t>
                                </m:r>
                                <m:sSup>
                                  <m:sSup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+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+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8955" y="617593"/>
                <a:ext cx="4414838" cy="990600"/>
              </a:xfrm>
              <a:prstGeom prst="rect">
                <a:avLst/>
              </a:prstGeom>
              <a:blipFill rotWithShape="1">
                <a:blip r:embed="rId2"/>
                <a:stretch>
                  <a:fillRect l="-2" t="-38" r="-8218" b="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5"/>
              <p:cNvSpPr txBox="1"/>
              <p:nvPr/>
            </p:nvSpPr>
            <p:spPr bwMode="auto">
              <a:xfrm>
                <a:off x="10109155" y="670058"/>
                <a:ext cx="1758950" cy="9398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?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09155" y="670058"/>
                <a:ext cx="1758950" cy="939801"/>
              </a:xfrm>
              <a:prstGeom prst="rect">
                <a:avLst/>
              </a:prstGeom>
              <a:blipFill rotWithShape="1">
                <a:blip r:embed="rId3"/>
                <a:stretch>
                  <a:fillRect l="-34" t="-14" r="34" b="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396766" y="2194013"/>
            <a:ext cx="40163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令</a:t>
            </a:r>
            <a:endParaRPr kumimoji="1" lang="zh-CN" altLang="en-US" sz="2200" dirty="0">
              <a:latin typeface="Cambria Math" panose="020405030504060302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7"/>
              <p:cNvSpPr txBox="1"/>
              <p:nvPr/>
            </p:nvSpPr>
            <p:spPr bwMode="auto">
              <a:xfrm>
                <a:off x="2757129" y="1825712"/>
                <a:ext cx="1549400" cy="1282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𝑋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−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1</m:t>
                                </m:r>
                                <m:r>
                                  <a:rPr kumimoji="1" lang="en-US" altLang="zh-CN" sz="22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𝑌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+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1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𝑍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kumimoji="1" lang="en-US" altLang="zh-CN" sz="2200" b="0" i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57129" y="1825712"/>
                <a:ext cx="1549400" cy="1282700"/>
              </a:xfrm>
              <a:prstGeom prst="rect">
                <a:avLst/>
              </a:prstGeom>
              <a:blipFill rotWithShape="1">
                <a:blip r:embed="rId4"/>
                <a:stretch>
                  <a:fillRect l="-38" t="-7" r="38" b="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8"/>
              <p:cNvSpPr txBox="1"/>
              <p:nvPr/>
            </p:nvSpPr>
            <p:spPr bwMode="auto">
              <a:xfrm>
                <a:off x="4397736" y="1949409"/>
                <a:ext cx="3487737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𝛤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𝑌</m:t>
                                    </m:r>
                                  </m:e>
                                  <m:sup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𝑍</m:t>
                                    </m:r>
                                  </m:e>
                                  <m:sup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    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𝑋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+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𝑌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+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𝑍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0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97736" y="1949409"/>
                <a:ext cx="3487737" cy="1054100"/>
              </a:xfrm>
              <a:prstGeom prst="rect">
                <a:avLst/>
              </a:prstGeom>
              <a:blipFill rotWithShape="1">
                <a:blip r:embed="rId5"/>
                <a:stretch>
                  <a:fillRect l="-10" t="-56" r="1" b="5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10"/>
              <p:cNvSpPr txBox="1"/>
              <p:nvPr/>
            </p:nvSpPr>
            <p:spPr bwMode="auto">
              <a:xfrm>
                <a:off x="2430797" y="3024969"/>
                <a:ext cx="1193800" cy="736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0797" y="3024969"/>
                <a:ext cx="1193800" cy="736600"/>
              </a:xfrm>
              <a:prstGeom prst="rect">
                <a:avLst/>
              </a:prstGeom>
              <a:blipFill rotWithShape="1">
                <a:blip r:embed="rId6"/>
                <a:stretch>
                  <a:fillRect l="-1" t="-63" r="1" b="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11"/>
              <p:cNvSpPr txBox="1"/>
              <p:nvPr/>
            </p:nvSpPr>
            <p:spPr bwMode="auto">
              <a:xfrm>
                <a:off x="3397980" y="3024969"/>
                <a:ext cx="2311400" cy="723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𝑋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97980" y="3024969"/>
                <a:ext cx="2311400" cy="723900"/>
              </a:xfrm>
              <a:prstGeom prst="rect">
                <a:avLst/>
              </a:prstGeom>
              <a:blipFill rotWithShape="1">
                <a:blip r:embed="rId7"/>
                <a:stretch>
                  <a:fillRect l="-4" t="-64" r="4" b="-46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12"/>
              <p:cNvSpPr txBox="1"/>
              <p:nvPr/>
            </p:nvSpPr>
            <p:spPr bwMode="auto">
              <a:xfrm>
                <a:off x="3401949" y="3804490"/>
                <a:ext cx="1334793" cy="723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1949" y="3804490"/>
                <a:ext cx="1334793" cy="723900"/>
              </a:xfrm>
              <a:prstGeom prst="rect">
                <a:avLst/>
              </a:prstGeom>
              <a:blipFill rotWithShape="1">
                <a:blip r:embed="rId8"/>
                <a:stretch>
                  <a:fillRect l="-19" t="-28" r="-3547" b="-49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ject 13"/>
              <p:cNvSpPr txBox="1"/>
              <p:nvPr/>
            </p:nvSpPr>
            <p:spPr bwMode="auto">
              <a:xfrm>
                <a:off x="3404489" y="4620765"/>
                <a:ext cx="11938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kumimoji="1" lang="zh-CN" altLang="en-US" sz="2200" i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π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𝑎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4489" y="4620765"/>
                <a:ext cx="1193800" cy="850900"/>
              </a:xfrm>
              <a:prstGeom prst="rect">
                <a:avLst/>
              </a:prstGeom>
              <a:blipFill rotWithShape="1">
                <a:blip r:embed="rId9"/>
                <a:stretch>
                  <a:fillRect l="-21" t="-59" r="21" b="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14"/>
              <p:cNvSpPr txBox="1"/>
              <p:nvPr/>
            </p:nvSpPr>
            <p:spPr bwMode="auto">
              <a:xfrm>
                <a:off x="3404489" y="5310636"/>
                <a:ext cx="23876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2</m:t>
                      </m:r>
                      <m:r>
                        <m:rPr>
                          <m:sty m:val="p"/>
                        </m:rPr>
                        <a:rPr kumimoji="1" lang="zh-CN" altLang="en-US" sz="2200" i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π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𝑎</m:t>
                      </m:r>
                      <m:d>
                        <m:dPr>
                          <m:ctrlPr>
                            <a:rPr kumimoji="1" lang="en-US" altLang="zh-CN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3</m:t>
                              </m:r>
                            </m:den>
                          </m:f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kumimoji="1"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4489" y="5310636"/>
                <a:ext cx="2387600" cy="838200"/>
              </a:xfrm>
              <a:prstGeom prst="rect">
                <a:avLst/>
              </a:prstGeom>
              <a:blipFill rotWithShape="1">
                <a:blip r:embed="rId10"/>
                <a:stretch>
                  <a:fillRect l="-11" t="-16" r="11" b="1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bject 15"/>
              <p:cNvSpPr txBox="1"/>
              <p:nvPr/>
            </p:nvSpPr>
            <p:spPr bwMode="auto">
              <a:xfrm>
                <a:off x="4671551" y="3812428"/>
                <a:ext cx="1424449" cy="723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2</m:t>
                      </m:r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𝑋</m:t>
                          </m:r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1551" y="3812428"/>
                <a:ext cx="1424449" cy="723900"/>
              </a:xfrm>
              <a:prstGeom prst="rect">
                <a:avLst/>
              </a:prstGeom>
              <a:blipFill rotWithShape="1">
                <a:blip r:embed="rId11"/>
                <a:stretch>
                  <a:fillRect l="-34" t="-72" b="-4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bject 16"/>
              <p:cNvSpPr txBox="1"/>
              <p:nvPr/>
            </p:nvSpPr>
            <p:spPr bwMode="auto">
              <a:xfrm>
                <a:off x="5930045" y="3812428"/>
                <a:ext cx="1168400" cy="723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r>
                            <a:rPr kumimoji="1" lang="en-US" altLang="zh-CN" sz="22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 </m:t>
                          </m:r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0045" y="3812428"/>
                <a:ext cx="1168400" cy="723900"/>
              </a:xfrm>
              <a:prstGeom prst="rect">
                <a:avLst/>
              </a:prstGeom>
              <a:blipFill rotWithShape="1">
                <a:blip r:embed="rId12"/>
                <a:stretch>
                  <a:fillRect l="-36" t="-72" r="36" b="-4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bject 17"/>
              <p:cNvSpPr txBox="1"/>
              <p:nvPr/>
            </p:nvSpPr>
            <p:spPr bwMode="auto">
              <a:xfrm>
                <a:off x="5827251" y="4792215"/>
                <a:ext cx="9779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2</m:t>
                      </m:r>
                      <m:r>
                        <m:rPr>
                          <m:sty m:val="p"/>
                        </m:rPr>
                        <a:rPr kumimoji="1" lang="zh-CN" altLang="en-US" sz="2200" i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π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𝑎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27251" y="4792215"/>
                <a:ext cx="977900" cy="393700"/>
              </a:xfrm>
              <a:prstGeom prst="rect">
                <a:avLst/>
              </a:prstGeom>
              <a:blipFill rotWithShape="1">
                <a:blip r:embed="rId13"/>
                <a:stretch>
                  <a:fillRect l="-50" t="-128" r="50" b="12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8847915" y="4093415"/>
            <a:ext cx="1828800" cy="1203626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Box 19"/>
              <p:cNvSpPr txBox="1">
                <a:spLocks noChangeArrowheads="1"/>
              </p:cNvSpPr>
              <p:nvPr/>
            </p:nvSpPr>
            <p:spPr bwMode="auto">
              <a:xfrm>
                <a:off x="8847915" y="4093415"/>
                <a:ext cx="1905000" cy="7694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圆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𝛤</m:t>
                    </m:r>
                  </m:oMath>
                </a14:m>
                <a:r>
                  <a: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的形心在原点</a:t>
                </a:r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, </a:t>
                </a:r>
                <a:r>
                  <a: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故</a:t>
                </a:r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7915" y="4093415"/>
                <a:ext cx="1905000" cy="769441"/>
              </a:xfrm>
              <a:prstGeom prst="rect">
                <a:avLst/>
              </a:prstGeom>
              <a:blipFill rotWithShape="1">
                <a:blip r:embed="rId14"/>
                <a:stretch>
                  <a:fillRect l="-24" t="-27" r="24" b="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bject 20"/>
              <p:cNvSpPr txBox="1"/>
              <p:nvPr/>
            </p:nvSpPr>
            <p:spPr bwMode="auto">
              <a:xfrm>
                <a:off x="9228915" y="4773166"/>
                <a:ext cx="121920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bar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𝑋</m:t>
                          </m:r>
                        </m:e>
                      </m:ba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0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28915" y="4773166"/>
                <a:ext cx="1219200" cy="457200"/>
              </a:xfrm>
              <a:prstGeom prst="rect">
                <a:avLst/>
              </a:prstGeom>
              <a:blipFill rotWithShape="1">
                <a:blip r:embed="rId15"/>
                <a:stretch>
                  <a:fillRect l="-38" t="-111" r="38" b="1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Object 21"/>
              <p:cNvSpPr txBox="1"/>
              <p:nvPr/>
            </p:nvSpPr>
            <p:spPr bwMode="auto">
              <a:xfrm>
                <a:off x="4364767" y="4760465"/>
                <a:ext cx="182880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2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bar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𝑋</m:t>
                          </m:r>
                        </m:e>
                      </m:ba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⋅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2</m:t>
                      </m:r>
                      <m:r>
                        <m:rPr>
                          <m:sty m:val="p"/>
                        </m:rPr>
                        <a:rPr kumimoji="1" lang="zh-CN" altLang="en-US" sz="2200" i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π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𝑎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1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4767" y="4760465"/>
                <a:ext cx="1828800" cy="457200"/>
              </a:xfrm>
              <a:prstGeom prst="rect">
                <a:avLst/>
              </a:prstGeom>
              <a:blipFill rotWithShape="1">
                <a:blip r:embed="rId16"/>
                <a:stretch>
                  <a:fillRect l="-23" t="-110" r="23" b="1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36"/>
          <p:cNvSpPr txBox="1">
            <a:spLocks noChangeArrowheads="1"/>
          </p:cNvSpPr>
          <p:nvPr/>
        </p:nvSpPr>
        <p:spPr bwMode="auto">
          <a:xfrm>
            <a:off x="8421329" y="867625"/>
            <a:ext cx="17732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, </a:t>
            </a:r>
            <a:r>
              <a: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如何计算</a:t>
            </a:r>
            <a:endParaRPr kumimoji="1" lang="zh-CN" altLang="en-US" sz="2800" dirty="0">
              <a:latin typeface="Cambria Math" panose="020405030504060302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23" name="Text Box 6"/>
          <p:cNvSpPr txBox="1">
            <a:spLocks noChangeArrowheads="1"/>
          </p:cNvSpPr>
          <p:nvPr/>
        </p:nvSpPr>
        <p:spPr bwMode="auto">
          <a:xfrm>
            <a:off x="1436329" y="2130838"/>
            <a:ext cx="5794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25405" y="908560"/>
            <a:ext cx="3094355" cy="448945"/>
            <a:chOff x="1553" y="3803"/>
            <a:chExt cx="4873" cy="707"/>
          </a:xfrm>
        </p:grpSpPr>
        <p:sp>
          <p:nvSpPr>
            <p:cNvPr id="24" name="圆角矩形 57"/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630" y="3804"/>
                  <a:ext cx="4796" cy="6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bIns="0">
                  <a:spAutoFit/>
                </a:bodyPr>
                <a:lstStyle>
                  <a:lvl1pPr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defRPr/>
                  </a:pPr>
                  <a:r>
                    <a:rPr kumimoji="1" lang="zh-CN" altLang="en-US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思考</a:t>
                  </a:r>
                  <a:r>
                    <a:rPr kumimoji="1" lang="en-US" altLang="zh-CN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:  </a:t>
                  </a:r>
                  <a:r>
                    <a:rPr kumimoji="1" lang="zh-CN" altLang="en-US" sz="2800" b="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黑体" panose="02010609060101010101" pitchFamily="49" charset="-122"/>
                      <a:cs typeface="黑体" panose="02010609060101010101" pitchFamily="49" charset="-122"/>
                    </a:rPr>
                    <a:t>例</a:t>
                  </a:r>
                  <a:r>
                    <a:rPr kumimoji="1" lang="en-US" altLang="zh-CN" sz="2800" b="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黑体" panose="02010609060101010101" pitchFamily="49" charset="-122"/>
                      <a:cs typeface="黑体" panose="02010609060101010101" pitchFamily="49" charset="-122"/>
                    </a:rPr>
                    <a:t>5</a:t>
                  </a:r>
                  <a:r>
                    <a:rPr kumimoji="1" lang="zh-CN" altLang="en-US" sz="2800" b="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黑体" panose="02010609060101010101" pitchFamily="49" charset="-122"/>
                      <a:cs typeface="黑体" panose="02010609060101010101" pitchFamily="49" charset="-122"/>
                    </a:rPr>
                    <a:t>中</a:t>
                  </a:r>
                  <a14:m>
                    <m:oMath xmlns:m="http://schemas.openxmlformats.org/officeDocument/2006/math">
                      <m:r>
                        <a:rPr kumimoji="1"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𝛤</m:t>
                      </m:r>
                    </m:oMath>
                  </a14:m>
                  <a:r>
                    <a:rPr kumimoji="1" lang="zh-CN" altLang="en-US" sz="2800" b="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黑体" panose="02010609060101010101" pitchFamily="49" charset="-122"/>
                      <a:cs typeface="黑体" panose="02010609060101010101" pitchFamily="49" charset="-122"/>
                    </a:rPr>
                    <a:t>改为</a:t>
                  </a:r>
                  <a:endParaRPr kumimoji="1" lang="zh-CN" alt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26" name="Text 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30" y="3804"/>
                  <a:ext cx="4796" cy="679"/>
                </a:xfrm>
                <a:prstGeom prst="rect">
                  <a:avLst/>
                </a:prstGeom>
                <a:blipFill rotWithShape="1">
                  <a:blip r:embed="rId17"/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  <p:bldP spid="22" grpId="0"/>
      <p:bldP spid="2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9"/>
</p:tagLst>
</file>

<file path=ppt/tags/tag2.xml><?xml version="1.0" encoding="utf-8"?>
<p:tagLst xmlns:p="http://schemas.openxmlformats.org/presentationml/2006/main">
  <p:tag name="PA" val="v5.2.9"/>
</p:tagLst>
</file>

<file path=ppt/tags/tag3.xml><?xml version="1.0" encoding="utf-8"?>
<p:tagLst xmlns:p="http://schemas.openxmlformats.org/presentationml/2006/main">
  <p:tag name="PA" val="v5.2.9"/>
</p:tagLst>
</file>

<file path=ppt/tags/tag4.xml><?xml version="1.0" encoding="utf-8"?>
<p:tagLst xmlns:p="http://schemas.openxmlformats.org/presentationml/2006/main">
  <p:tag name="PA" val="v5.2.9"/>
</p:tagLst>
</file>

<file path=ppt/tags/tag5.xml><?xml version="1.0" encoding="utf-8"?>
<p:tagLst xmlns:p="http://schemas.openxmlformats.org/presentationml/2006/main">
  <p:tag name="PA" val="v5.2.9"/>
</p:tagLst>
</file>

<file path=ppt/tags/tag6.xml><?xml version="1.0" encoding="utf-8"?>
<p:tagLst xmlns:p="http://schemas.openxmlformats.org/presentationml/2006/main">
  <p:tag name="PA" val="v5.2.9"/>
</p:tagLst>
</file>

<file path=ppt/tags/tag7.xml><?xml version="1.0" encoding="utf-8"?>
<p:tagLst xmlns:p="http://schemas.openxmlformats.org/presentationml/2006/main">
  <p:tag name="PA" val="v5.2.9"/>
</p:tagLst>
</file>

<file path=ppt/tags/tag8.xml><?xml version="1.0" encoding="utf-8"?>
<p:tagLst xmlns:p="http://schemas.openxmlformats.org/presentationml/2006/main">
  <p:tag name="PA" val="v5.2.9"/>
</p:tagLst>
</file>

<file path=ppt/tags/tag9.xml><?xml version="1.0" encoding="utf-8"?>
<p:tagLst xmlns:p="http://schemas.openxmlformats.org/presentationml/2006/main">
  <p:tag name="COMMONDATA" val="eyJoZGlkIjoiZWZkODBiMGY1YmQ1MDgyN2Q2NGE3YzQ0YzI2NDc4MmYifQ=="/>
  <p:tag name="KSO_WPP_MARK_KEY" val="fdc9232b-9af6-4935-ba35-6661cd720253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定义 3">
      <a:majorFont>
        <a:latin typeface="微软雅黑"/>
        <a:ea typeface="微软雅黑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>
          <a:noFill/>
        </a:ln>
      </a:spPr>
      <a:bodyPr>
        <a:spAutoFit/>
      </a:bodyPr>
      <a:lstStyle>
        <a:defPPr eaLnBrk="1" hangingPunct="1">
          <a:spcBef>
            <a:spcPct val="50000"/>
          </a:spcBef>
          <a:defRPr sz="2800" b="1" dirty="0">
            <a:latin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6365</Words>
  <Application>WPS 演示</Application>
  <PresentationFormat>宽屏</PresentationFormat>
  <Paragraphs>650</Paragraphs>
  <Slides>34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34</vt:i4>
      </vt:variant>
    </vt:vector>
  </HeadingPairs>
  <TitlesOfParts>
    <vt:vector size="56" baseType="lpstr">
      <vt:lpstr>Arial</vt:lpstr>
      <vt:lpstr>宋体</vt:lpstr>
      <vt:lpstr>Wingdings</vt:lpstr>
      <vt:lpstr>字魂36号-正文宋楷</vt:lpstr>
      <vt:lpstr>Calibri</vt:lpstr>
      <vt:lpstr>微软雅黑</vt:lpstr>
      <vt:lpstr>华文中宋</vt:lpstr>
      <vt:lpstr>方正大标宋简体</vt:lpstr>
      <vt:lpstr>Arial Unicode MS</vt:lpstr>
      <vt:lpstr>微软雅黑 Light</vt:lpstr>
      <vt:lpstr>Times New Roman</vt:lpstr>
      <vt:lpstr>黑体</vt:lpstr>
      <vt:lpstr>Calisto MT</vt:lpstr>
      <vt:lpstr>Cambria Math</vt:lpstr>
      <vt:lpstr>MS Mincho</vt:lpstr>
      <vt:lpstr>Symbol</vt:lpstr>
      <vt:lpstr>楷体_GB2312</vt:lpstr>
      <vt:lpstr>新宋体</vt:lpstr>
      <vt:lpstr>Calibri Light</vt:lpstr>
      <vt:lpstr>Office 主题</vt:lpstr>
      <vt:lpstr>2_Office 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三、平面曲线的弧长</vt:lpstr>
      <vt:lpstr>(1)曲线弧由直角坐标方程给出:</vt:lpstr>
      <vt:lpstr>(2) 曲线弧由参数方程给出: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HEP</dc:creator>
  <cp:lastModifiedBy>wps</cp:lastModifiedBy>
  <cp:revision>459</cp:revision>
  <cp:lastPrinted>2023-06-08T01:46:00Z</cp:lastPrinted>
  <dcterms:created xsi:type="dcterms:W3CDTF">2022-03-21T05:54:00Z</dcterms:created>
  <dcterms:modified xsi:type="dcterms:W3CDTF">2026-05-16T09:23:45Z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C93CED513F0B46FCBF998E52C285068F</vt:lpwstr>
  </property>
  <property fmtid="{D5CDD505-2E9C-101B-9397-08002B2CF9AE}" pid="3" name="KSOProductBuildVer">
    <vt:lpwstr>2052-12.1.0.23542</vt:lpwstr>
  </property>
</Properties>
</file>