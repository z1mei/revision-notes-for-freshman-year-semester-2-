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handoutMasterIdLst>
    <p:handoutMasterId r:id="rId67"/>
  </p:handoutMasterIdLst>
  <p:sldIdLst>
    <p:sldId id="1628" r:id="rId2"/>
    <p:sldId id="1552" r:id="rId3"/>
    <p:sldId id="1553" r:id="rId4"/>
    <p:sldId id="1557" r:id="rId5"/>
    <p:sldId id="1558" r:id="rId6"/>
    <p:sldId id="1554" r:id="rId7"/>
    <p:sldId id="1555" r:id="rId8"/>
    <p:sldId id="1559" r:id="rId9"/>
    <p:sldId id="1561" r:id="rId10"/>
    <p:sldId id="1562" r:id="rId11"/>
    <p:sldId id="1563" r:id="rId12"/>
    <p:sldId id="1564" r:id="rId13"/>
    <p:sldId id="1565" r:id="rId14"/>
    <p:sldId id="1566" r:id="rId15"/>
    <p:sldId id="1568" r:id="rId16"/>
    <p:sldId id="1569" r:id="rId17"/>
    <p:sldId id="1570" r:id="rId18"/>
    <p:sldId id="1571" r:id="rId19"/>
    <p:sldId id="1572" r:id="rId20"/>
    <p:sldId id="1574" r:id="rId21"/>
    <p:sldId id="1507" r:id="rId22"/>
    <p:sldId id="1506" r:id="rId23"/>
    <p:sldId id="1508" r:id="rId24"/>
    <p:sldId id="1510" r:id="rId25"/>
    <p:sldId id="1511" r:id="rId26"/>
    <p:sldId id="1514" r:id="rId27"/>
    <p:sldId id="1519" r:id="rId28"/>
    <p:sldId id="1520" r:id="rId29"/>
    <p:sldId id="1521" r:id="rId30"/>
    <p:sldId id="1522" r:id="rId31"/>
    <p:sldId id="1523" r:id="rId32"/>
    <p:sldId id="1524" r:id="rId33"/>
    <p:sldId id="1525" r:id="rId34"/>
    <p:sldId id="1526" r:id="rId35"/>
    <p:sldId id="1616" r:id="rId36"/>
    <p:sldId id="1527" r:id="rId37"/>
    <p:sldId id="1529" r:id="rId38"/>
    <p:sldId id="1575" r:id="rId39"/>
    <p:sldId id="1531" r:id="rId40"/>
    <p:sldId id="1576" r:id="rId41"/>
    <p:sldId id="1613" r:id="rId42"/>
    <p:sldId id="1532" r:id="rId43"/>
    <p:sldId id="1533" r:id="rId44"/>
    <p:sldId id="1617" r:id="rId45"/>
    <p:sldId id="1618" r:id="rId46"/>
    <p:sldId id="1535" r:id="rId47"/>
    <p:sldId id="1536" r:id="rId48"/>
    <p:sldId id="1537" r:id="rId49"/>
    <p:sldId id="1627" r:id="rId50"/>
    <p:sldId id="1612" r:id="rId51"/>
    <p:sldId id="1541" r:id="rId52"/>
    <p:sldId id="1542" r:id="rId53"/>
    <p:sldId id="1545" r:id="rId54"/>
    <p:sldId id="1546" r:id="rId55"/>
    <p:sldId id="1547" r:id="rId56"/>
    <p:sldId id="1621" r:id="rId57"/>
    <p:sldId id="1622" r:id="rId58"/>
    <p:sldId id="1624" r:id="rId59"/>
    <p:sldId id="1623" r:id="rId60"/>
    <p:sldId id="1619" r:id="rId61"/>
    <p:sldId id="1620" r:id="rId62"/>
    <p:sldId id="1548" r:id="rId63"/>
    <p:sldId id="1549" r:id="rId64"/>
    <p:sldId id="1550" r:id="rId65"/>
  </p:sldIdLst>
  <p:sldSz cx="9144000" cy="6858000" type="screen4x3"/>
  <p:notesSz cx="6858000" cy="9144000"/>
  <p:custDataLst>
    <p:tags r:id="rId6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2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333FF"/>
    <a:srgbClr val="0D5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570"/>
    <p:restoredTop sz="94581"/>
  </p:normalViewPr>
  <p:slideViewPr>
    <p:cSldViewPr showGuides="1">
      <p:cViewPr varScale="1">
        <p:scale>
          <a:sx n="73" d="100"/>
          <a:sy n="73" d="100"/>
        </p:scale>
        <p:origin x="-1284" y="-102"/>
      </p:cViewPr>
      <p:guideLst>
        <p:guide orient="horz" pos="2452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页眉占位符 3072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b="1" dirty="0"/>
          </a:p>
        </p:txBody>
      </p:sp>
      <p:sp>
        <p:nvSpPr>
          <p:cNvPr id="30723" name="日期占位符 30722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b="1" dirty="0"/>
          </a:p>
        </p:txBody>
      </p:sp>
      <p:sp>
        <p:nvSpPr>
          <p:cNvPr id="30724" name="页脚占位符 30723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endParaRPr lang="zh-CN" altLang="en-US" sz="1200" b="1" dirty="0"/>
          </a:p>
        </p:txBody>
      </p:sp>
      <p:sp>
        <p:nvSpPr>
          <p:cNvPr id="30725" name="灯片编号占位符 30724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1" dirty="0"/>
              <a:t>‹#›</a:t>
            </a:fld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  <a:t>24</a:t>
            </a:fld>
            <a:endParaRPr lang="zh-CN" altLang="en-US" sz="1200" b="0" dirty="0"/>
          </a:p>
        </p:txBody>
      </p:sp>
      <p:sp>
        <p:nvSpPr>
          <p:cNvPr id="716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  <a:t>29</a:t>
            </a:fld>
            <a:endParaRPr lang="zh-CN" altLang="en-US" sz="1200" b="0" dirty="0"/>
          </a:p>
        </p:txBody>
      </p:sp>
      <p:sp>
        <p:nvSpPr>
          <p:cNvPr id="890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9091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  <a:t>45</a:t>
            </a:fld>
            <a:endParaRPr lang="zh-CN" altLang="en-US" sz="1200" b="0" dirty="0"/>
          </a:p>
        </p:txBody>
      </p:sp>
      <p:sp>
        <p:nvSpPr>
          <p:cNvPr id="972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  <a:t>46</a:t>
            </a:fld>
            <a:endParaRPr lang="zh-CN" altLang="en-US" sz="1200" b="0" dirty="0"/>
          </a:p>
        </p:txBody>
      </p:sp>
      <p:sp>
        <p:nvSpPr>
          <p:cNvPr id="931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7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  <a:t>47</a:t>
            </a:fld>
            <a:endParaRPr lang="zh-CN" altLang="en-US" sz="1200" b="0" dirty="0"/>
          </a:p>
        </p:txBody>
      </p:sp>
      <p:sp>
        <p:nvSpPr>
          <p:cNvPr id="952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  <a:t>48</a:t>
            </a:fld>
            <a:endParaRPr lang="zh-CN" altLang="en-US" sz="1200" b="0" dirty="0"/>
          </a:p>
        </p:txBody>
      </p:sp>
      <p:sp>
        <p:nvSpPr>
          <p:cNvPr id="972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 anchorCtr="0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  <a:t>2026/5/27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  <a:t>2026/5/27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  <a:t>2026/5/27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b="0"/>
            </a:lvl1pPr>
          </a:lstStyle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8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8.wmf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1.wmf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35.png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40.bin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4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49.wmf"/><Relationship Id="rId2" Type="http://schemas.openxmlformats.org/officeDocument/2006/relationships/oleObject" Target="../embeddings/oleObject46.bin"/><Relationship Id="rId16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5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5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3.emf"/><Relationship Id="rId4" Type="http://schemas.openxmlformats.org/officeDocument/2006/relationships/oleObject" Target="../embeddings/oleObject5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57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56.emf"/><Relationship Id="rId4" Type="http://schemas.openxmlformats.org/officeDocument/2006/relationships/oleObject" Target="../embeddings/oleObject6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emf"/><Relationship Id="rId4" Type="http://schemas.openxmlformats.org/officeDocument/2006/relationships/oleObject" Target="../embeddings/oleObject6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emf"/><Relationship Id="rId4" Type="http://schemas.openxmlformats.org/officeDocument/2006/relationships/oleObject" Target="../embeddings/oleObject6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7" Type="http://schemas.openxmlformats.org/officeDocument/2006/relationships/image" Target="../media/image68.e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67.emf"/><Relationship Id="rId4" Type="http://schemas.openxmlformats.org/officeDocument/2006/relationships/oleObject" Target="../embeddings/oleObject7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7" Type="http://schemas.openxmlformats.org/officeDocument/2006/relationships/image" Target="../media/image71.e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70.emf"/><Relationship Id="rId4" Type="http://schemas.openxmlformats.org/officeDocument/2006/relationships/oleObject" Target="../embeddings/oleObject7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7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3" Type="http://schemas.openxmlformats.org/officeDocument/2006/relationships/tags" Target="../tags/tag4.xml"/><Relationship Id="rId21" Type="http://schemas.openxmlformats.org/officeDocument/2006/relationships/image" Target="../media/image79.wmf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77.wmf"/><Relationship Id="rId25" Type="http://schemas.openxmlformats.org/officeDocument/2006/relationships/image" Target="../media/image81.wmf"/><Relationship Id="rId2" Type="http://schemas.openxmlformats.org/officeDocument/2006/relationships/tags" Target="../tags/tag3.xml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29" Type="http://schemas.openxmlformats.org/officeDocument/2006/relationships/image" Target="../media/image83.wmf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oleObject" Target="../embeddings/oleObject85.bin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80.wmf"/><Relationship Id="rId28" Type="http://schemas.openxmlformats.org/officeDocument/2006/relationships/oleObject" Target="../embeddings/oleObject87.bin"/><Relationship Id="rId10" Type="http://schemas.openxmlformats.org/officeDocument/2006/relationships/tags" Target="../tags/tag11.xml"/><Relationship Id="rId19" Type="http://schemas.openxmlformats.org/officeDocument/2006/relationships/image" Target="../media/image78.wmf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oleObject" Target="../embeddings/oleObject84.bin"/><Relationship Id="rId27" Type="http://schemas.openxmlformats.org/officeDocument/2006/relationships/image" Target="../media/image8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7" Type="http://schemas.openxmlformats.org/officeDocument/2006/relationships/image" Target="../media/image86.e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85.emf"/><Relationship Id="rId4" Type="http://schemas.openxmlformats.org/officeDocument/2006/relationships/oleObject" Target="../embeddings/oleObject8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92.wmf"/><Relationship Id="rId3" Type="http://schemas.openxmlformats.org/officeDocument/2006/relationships/image" Target="../media/image87.emf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96.bin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91.emf"/><Relationship Id="rId5" Type="http://schemas.openxmlformats.org/officeDocument/2006/relationships/image" Target="../media/image88.emf"/><Relationship Id="rId15" Type="http://schemas.openxmlformats.org/officeDocument/2006/relationships/image" Target="../media/image93.emf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90.emf"/><Relationship Id="rId14" Type="http://schemas.openxmlformats.org/officeDocument/2006/relationships/oleObject" Target="../embeddings/oleObject9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7" Type="http://schemas.openxmlformats.org/officeDocument/2006/relationships/image" Target="../media/image96.e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95.emf"/><Relationship Id="rId4" Type="http://schemas.openxmlformats.org/officeDocument/2006/relationships/oleObject" Target="../embeddings/oleObject9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7" Type="http://schemas.openxmlformats.org/officeDocument/2006/relationships/image" Target="../media/image99.e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98.emf"/><Relationship Id="rId4" Type="http://schemas.openxmlformats.org/officeDocument/2006/relationships/oleObject" Target="../embeddings/oleObject10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7" Type="http://schemas.openxmlformats.org/officeDocument/2006/relationships/image" Target="../media/image102.e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01.emf"/><Relationship Id="rId4" Type="http://schemas.openxmlformats.org/officeDocument/2006/relationships/oleObject" Target="../embeddings/oleObject105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7" Type="http://schemas.openxmlformats.org/officeDocument/2006/relationships/image" Target="../media/image105.e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104.emf"/><Relationship Id="rId4" Type="http://schemas.openxmlformats.org/officeDocument/2006/relationships/oleObject" Target="../embeddings/oleObject10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7.emf"/><Relationship Id="rId4" Type="http://schemas.openxmlformats.org/officeDocument/2006/relationships/oleObject" Target="../embeddings/oleObject11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113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15.emf"/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12" Type="http://schemas.openxmlformats.org/officeDocument/2006/relationships/oleObject" Target="../embeddings/oleObject119.bin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14.emf"/><Relationship Id="rId5" Type="http://schemas.openxmlformats.org/officeDocument/2006/relationships/image" Target="../media/image111.emf"/><Relationship Id="rId15" Type="http://schemas.openxmlformats.org/officeDocument/2006/relationships/image" Target="../media/image116.e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13.wmf"/><Relationship Id="rId14" Type="http://schemas.openxmlformats.org/officeDocument/2006/relationships/oleObject" Target="../embeddings/oleObject120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image" Target="../media/image117.emf"/><Relationship Id="rId7" Type="http://schemas.openxmlformats.org/officeDocument/2006/relationships/image" Target="../media/image119.w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3.bin"/><Relationship Id="rId5" Type="http://schemas.openxmlformats.org/officeDocument/2006/relationships/image" Target="../media/image118.emf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20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7" Type="http://schemas.openxmlformats.org/officeDocument/2006/relationships/image" Target="../media/image102.emf"/><Relationship Id="rId2" Type="http://schemas.openxmlformats.org/officeDocument/2006/relationships/oleObject" Target="../embeddings/oleObject12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7.bin"/><Relationship Id="rId5" Type="http://schemas.openxmlformats.org/officeDocument/2006/relationships/image" Target="../media/image122.emf"/><Relationship Id="rId4" Type="http://schemas.openxmlformats.org/officeDocument/2006/relationships/oleObject" Target="../embeddings/oleObject126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5.emf"/><Relationship Id="rId12" Type="http://schemas.openxmlformats.org/officeDocument/2006/relationships/oleObject" Target="../embeddings/oleObject133.bin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27.emf"/><Relationship Id="rId5" Type="http://schemas.openxmlformats.org/officeDocument/2006/relationships/image" Target="../media/image124.emf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2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7" Type="http://schemas.openxmlformats.org/officeDocument/2006/relationships/image" Target="../media/image131.e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30.wmf"/><Relationship Id="rId4" Type="http://schemas.openxmlformats.org/officeDocument/2006/relationships/oleObject" Target="../embeddings/oleObject135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137.wmf"/><Relationship Id="rId18" Type="http://schemas.openxmlformats.org/officeDocument/2006/relationships/oleObject" Target="../embeddings/oleObject145.bin"/><Relationship Id="rId3" Type="http://schemas.openxmlformats.org/officeDocument/2006/relationships/image" Target="../media/image132.wmf"/><Relationship Id="rId21" Type="http://schemas.openxmlformats.org/officeDocument/2006/relationships/image" Target="../media/image141.wmf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42.bin"/><Relationship Id="rId17" Type="http://schemas.openxmlformats.org/officeDocument/2006/relationships/image" Target="../media/image139.wmf"/><Relationship Id="rId2" Type="http://schemas.openxmlformats.org/officeDocument/2006/relationships/oleObject" Target="../embeddings/oleObject137.bin"/><Relationship Id="rId16" Type="http://schemas.openxmlformats.org/officeDocument/2006/relationships/oleObject" Target="../embeddings/oleObject144.bin"/><Relationship Id="rId20" Type="http://schemas.openxmlformats.org/officeDocument/2006/relationships/oleObject" Target="../embeddings/oleObject14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36.wmf"/><Relationship Id="rId5" Type="http://schemas.openxmlformats.org/officeDocument/2006/relationships/image" Target="../media/image133.emf"/><Relationship Id="rId15" Type="http://schemas.openxmlformats.org/officeDocument/2006/relationships/image" Target="../media/image138.wmf"/><Relationship Id="rId10" Type="http://schemas.openxmlformats.org/officeDocument/2006/relationships/oleObject" Target="../embeddings/oleObject141.bin"/><Relationship Id="rId19" Type="http://schemas.openxmlformats.org/officeDocument/2006/relationships/image" Target="../media/image140.wmf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4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52.bin"/><Relationship Id="rId18" Type="http://schemas.openxmlformats.org/officeDocument/2006/relationships/image" Target="../media/image148.w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46.wmf"/><Relationship Id="rId17" Type="http://schemas.openxmlformats.org/officeDocument/2006/relationships/oleObject" Target="../embeddings/oleObject155.bin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3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47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5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52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5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54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5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7" Type="http://schemas.openxmlformats.org/officeDocument/2006/relationships/image" Target="../media/image162.e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69.bin"/><Relationship Id="rId5" Type="http://schemas.openxmlformats.org/officeDocument/2006/relationships/image" Target="../media/image161.emf"/><Relationship Id="rId4" Type="http://schemas.openxmlformats.org/officeDocument/2006/relationships/oleObject" Target="../embeddings/oleObject168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oleObject" Target="../embeddings/oleObject170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4.emf"/><Relationship Id="rId4" Type="http://schemas.openxmlformats.org/officeDocument/2006/relationships/oleObject" Target="../embeddings/oleObject171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emf"/><Relationship Id="rId2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6.emf"/><Relationship Id="rId4" Type="http://schemas.openxmlformats.org/officeDocument/2006/relationships/oleObject" Target="../embeddings/oleObject17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72.emf"/><Relationship Id="rId3" Type="http://schemas.openxmlformats.org/officeDocument/2006/relationships/image" Target="../media/image167.emf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179.bin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71.emf"/><Relationship Id="rId5" Type="http://schemas.openxmlformats.org/officeDocument/2006/relationships/image" Target="../media/image168.emf"/><Relationship Id="rId15" Type="http://schemas.openxmlformats.org/officeDocument/2006/relationships/image" Target="../media/image173.w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70.emf"/><Relationship Id="rId14" Type="http://schemas.openxmlformats.org/officeDocument/2006/relationships/oleObject" Target="../embeddings/oleObject18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3" Type="http://schemas.openxmlformats.org/officeDocument/2006/relationships/image" Target="../media/image174.emf"/><Relationship Id="rId7" Type="http://schemas.openxmlformats.org/officeDocument/2006/relationships/image" Target="../media/image176.emf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83.bin"/><Relationship Id="rId5" Type="http://schemas.openxmlformats.org/officeDocument/2006/relationships/image" Target="../media/image175.emf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77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emf"/><Relationship Id="rId7" Type="http://schemas.openxmlformats.org/officeDocument/2006/relationships/image" Target="../media/image180.wmf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87.bin"/><Relationship Id="rId5" Type="http://schemas.openxmlformats.org/officeDocument/2006/relationships/image" Target="../media/image179.wmf"/><Relationship Id="rId4" Type="http://schemas.openxmlformats.org/officeDocument/2006/relationships/oleObject" Target="../embeddings/oleObject186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183.emf"/><Relationship Id="rId3" Type="http://schemas.openxmlformats.org/officeDocument/2006/relationships/image" Target="../media/image167.e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93.bin"/><Relationship Id="rId2" Type="http://schemas.openxmlformats.org/officeDocument/2006/relationships/oleObject" Target="../embeddings/oleObject18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182.emf"/><Relationship Id="rId5" Type="http://schemas.openxmlformats.org/officeDocument/2006/relationships/image" Target="../media/image168.emf"/><Relationship Id="rId15" Type="http://schemas.openxmlformats.org/officeDocument/2006/relationships/image" Target="../media/image184.wmf"/><Relationship Id="rId10" Type="http://schemas.openxmlformats.org/officeDocument/2006/relationships/oleObject" Target="../embeddings/oleObject192.bin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70.emf"/><Relationship Id="rId14" Type="http://schemas.openxmlformats.org/officeDocument/2006/relationships/oleObject" Target="../embeddings/oleObject194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190.wmf"/><Relationship Id="rId3" Type="http://schemas.openxmlformats.org/officeDocument/2006/relationships/image" Target="../media/image185.wmf"/><Relationship Id="rId7" Type="http://schemas.openxmlformats.org/officeDocument/2006/relationships/image" Target="../media/image187.wmf"/><Relationship Id="rId12" Type="http://schemas.openxmlformats.org/officeDocument/2006/relationships/oleObject" Target="../embeddings/oleObject200.bin"/><Relationship Id="rId17" Type="http://schemas.openxmlformats.org/officeDocument/2006/relationships/image" Target="../media/image192.wmf"/><Relationship Id="rId2" Type="http://schemas.openxmlformats.org/officeDocument/2006/relationships/oleObject" Target="../embeddings/oleObject195.bin"/><Relationship Id="rId16" Type="http://schemas.openxmlformats.org/officeDocument/2006/relationships/oleObject" Target="../embeddings/oleObject20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189.wmf"/><Relationship Id="rId5" Type="http://schemas.openxmlformats.org/officeDocument/2006/relationships/image" Target="../media/image186.wmf"/><Relationship Id="rId15" Type="http://schemas.openxmlformats.org/officeDocument/2006/relationships/image" Target="../media/image191.wmf"/><Relationship Id="rId10" Type="http://schemas.openxmlformats.org/officeDocument/2006/relationships/oleObject" Target="../embeddings/oleObject199.bin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88.wmf"/><Relationship Id="rId14" Type="http://schemas.openxmlformats.org/officeDocument/2006/relationships/oleObject" Target="../embeddings/oleObject201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image" Target="../media/image198.wmf"/><Relationship Id="rId3" Type="http://schemas.openxmlformats.org/officeDocument/2006/relationships/image" Target="../media/image193.emf"/><Relationship Id="rId7" Type="http://schemas.openxmlformats.org/officeDocument/2006/relationships/image" Target="../media/image195.wmf"/><Relationship Id="rId12" Type="http://schemas.openxmlformats.org/officeDocument/2006/relationships/oleObject" Target="../embeddings/oleObject208.bin"/><Relationship Id="rId2" Type="http://schemas.openxmlformats.org/officeDocument/2006/relationships/oleObject" Target="../embeddings/oleObject20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197.wmf"/><Relationship Id="rId5" Type="http://schemas.openxmlformats.org/officeDocument/2006/relationships/image" Target="../media/image194.wmf"/><Relationship Id="rId10" Type="http://schemas.openxmlformats.org/officeDocument/2006/relationships/oleObject" Target="../embeddings/oleObject207.bin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196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7" Type="http://schemas.openxmlformats.org/officeDocument/2006/relationships/image" Target="../media/image201.wmf"/><Relationship Id="rId2" Type="http://schemas.openxmlformats.org/officeDocument/2006/relationships/oleObject" Target="../embeddings/oleObject20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11.bin"/><Relationship Id="rId5" Type="http://schemas.openxmlformats.org/officeDocument/2006/relationships/image" Target="../media/image200.wmf"/><Relationship Id="rId4" Type="http://schemas.openxmlformats.org/officeDocument/2006/relationships/oleObject" Target="../embeddings/oleObject210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13" Type="http://schemas.openxmlformats.org/officeDocument/2006/relationships/image" Target="../media/image207.emf"/><Relationship Id="rId3" Type="http://schemas.openxmlformats.org/officeDocument/2006/relationships/image" Target="../media/image202.wmf"/><Relationship Id="rId7" Type="http://schemas.openxmlformats.org/officeDocument/2006/relationships/image" Target="../media/image204.emf"/><Relationship Id="rId12" Type="http://schemas.openxmlformats.org/officeDocument/2006/relationships/oleObject" Target="../embeddings/oleObject217.bin"/><Relationship Id="rId2" Type="http://schemas.openxmlformats.org/officeDocument/2006/relationships/oleObject" Target="../embeddings/oleObject21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14.bin"/><Relationship Id="rId11" Type="http://schemas.openxmlformats.org/officeDocument/2006/relationships/image" Target="../media/image206.wmf"/><Relationship Id="rId5" Type="http://schemas.openxmlformats.org/officeDocument/2006/relationships/image" Target="../media/image203.emf"/><Relationship Id="rId15" Type="http://schemas.openxmlformats.org/officeDocument/2006/relationships/image" Target="../media/image208.emf"/><Relationship Id="rId10" Type="http://schemas.openxmlformats.org/officeDocument/2006/relationships/oleObject" Target="../embeddings/oleObject216.bin"/><Relationship Id="rId4" Type="http://schemas.openxmlformats.org/officeDocument/2006/relationships/oleObject" Target="../embeddings/oleObject213.bin"/><Relationship Id="rId9" Type="http://schemas.openxmlformats.org/officeDocument/2006/relationships/image" Target="../media/image205.emf"/><Relationship Id="rId14" Type="http://schemas.openxmlformats.org/officeDocument/2006/relationships/oleObject" Target="../embeddings/oleObject218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2.bin"/><Relationship Id="rId3" Type="http://schemas.openxmlformats.org/officeDocument/2006/relationships/image" Target="../media/image209.emf"/><Relationship Id="rId7" Type="http://schemas.openxmlformats.org/officeDocument/2006/relationships/image" Target="../media/image211.emf"/><Relationship Id="rId2" Type="http://schemas.openxmlformats.org/officeDocument/2006/relationships/oleObject" Target="../embeddings/oleObject21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21.bin"/><Relationship Id="rId5" Type="http://schemas.openxmlformats.org/officeDocument/2006/relationships/image" Target="../media/image210.emf"/><Relationship Id="rId4" Type="http://schemas.openxmlformats.org/officeDocument/2006/relationships/oleObject" Target="../embeddings/oleObject220.bin"/><Relationship Id="rId9" Type="http://schemas.openxmlformats.org/officeDocument/2006/relationships/image" Target="../media/image212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7" Type="http://schemas.openxmlformats.org/officeDocument/2006/relationships/image" Target="../media/image168.emf"/><Relationship Id="rId2" Type="http://schemas.openxmlformats.org/officeDocument/2006/relationships/oleObject" Target="../embeddings/oleObject2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5.bin"/><Relationship Id="rId5" Type="http://schemas.openxmlformats.org/officeDocument/2006/relationships/image" Target="../media/image167.emf"/><Relationship Id="rId4" Type="http://schemas.openxmlformats.org/officeDocument/2006/relationships/oleObject" Target="../embeddings/oleObject224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3" Type="http://schemas.openxmlformats.org/officeDocument/2006/relationships/image" Target="../media/image214.emf"/><Relationship Id="rId7" Type="http://schemas.openxmlformats.org/officeDocument/2006/relationships/image" Target="../media/image216.emf"/><Relationship Id="rId2" Type="http://schemas.openxmlformats.org/officeDocument/2006/relationships/oleObject" Target="../embeddings/oleObject22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28.bin"/><Relationship Id="rId11" Type="http://schemas.openxmlformats.org/officeDocument/2006/relationships/image" Target="../media/image218.emf"/><Relationship Id="rId5" Type="http://schemas.openxmlformats.org/officeDocument/2006/relationships/image" Target="../media/image215.emf"/><Relationship Id="rId10" Type="http://schemas.openxmlformats.org/officeDocument/2006/relationships/oleObject" Target="../embeddings/oleObject230.bin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217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13" Type="http://schemas.openxmlformats.org/officeDocument/2006/relationships/image" Target="../media/image224.wmf"/><Relationship Id="rId3" Type="http://schemas.openxmlformats.org/officeDocument/2006/relationships/image" Target="../media/image219.wmf"/><Relationship Id="rId7" Type="http://schemas.openxmlformats.org/officeDocument/2006/relationships/image" Target="../media/image221.wmf"/><Relationship Id="rId12" Type="http://schemas.openxmlformats.org/officeDocument/2006/relationships/oleObject" Target="../embeddings/oleObject236.bin"/><Relationship Id="rId2" Type="http://schemas.openxmlformats.org/officeDocument/2006/relationships/oleObject" Target="../embeddings/oleObject23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23.wmf"/><Relationship Id="rId5" Type="http://schemas.openxmlformats.org/officeDocument/2006/relationships/image" Target="../media/image220.wmf"/><Relationship Id="rId15" Type="http://schemas.openxmlformats.org/officeDocument/2006/relationships/image" Target="../media/image225.wmf"/><Relationship Id="rId10" Type="http://schemas.openxmlformats.org/officeDocument/2006/relationships/oleObject" Target="../embeddings/oleObject235.bin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22.emf"/><Relationship Id="rId14" Type="http://schemas.openxmlformats.org/officeDocument/2006/relationships/oleObject" Target="../embeddings/oleObject23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99160" y="1403985"/>
            <a:ext cx="5716905" cy="1529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/>
              <a:t>· </a:t>
            </a:r>
            <a:r>
              <a:rPr lang="zh-CN" altLang="en-US"/>
              <a:t>§</a:t>
            </a:r>
            <a:r>
              <a:rPr lang="en-US" altLang="zh-CN"/>
              <a:t>4.1 </a:t>
            </a:r>
            <a:r>
              <a:rPr lang="zh-CN" altLang="en-US"/>
              <a:t>方阵的特征值与特征向量</a:t>
            </a:r>
          </a:p>
          <a:p>
            <a:r>
              <a:rPr lang="en-US" altLang="zh-CN"/>
              <a:t>· </a:t>
            </a:r>
            <a:r>
              <a:rPr lang="zh-CN" altLang="en-US"/>
              <a:t>§</a:t>
            </a:r>
            <a:r>
              <a:rPr lang="en-US" altLang="zh-CN"/>
              <a:t>4.2 </a:t>
            </a:r>
            <a:r>
              <a:rPr lang="zh-CN" altLang="en-US"/>
              <a:t>相似矩阵</a:t>
            </a:r>
          </a:p>
          <a:p>
            <a:r>
              <a:rPr lang="en-US" altLang="zh-CN"/>
              <a:t>· </a:t>
            </a:r>
            <a:r>
              <a:rPr lang="zh-CN" altLang="en-US"/>
              <a:t>§</a:t>
            </a:r>
            <a:r>
              <a:rPr lang="en-US" altLang="zh-CN"/>
              <a:t>4.3 </a:t>
            </a:r>
            <a:r>
              <a:rPr lang="zh-CN" altLang="en-US"/>
              <a:t>实对称矩阵的对角化</a:t>
            </a:r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49045" y="598170"/>
            <a:ext cx="7230110" cy="694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600">
                <a:sym typeface="+mn-ea"/>
              </a:rPr>
              <a:t>第四章</a:t>
            </a:r>
            <a:r>
              <a:rPr lang="en-US" altLang="zh-CN" sz="3600">
                <a:sym typeface="+mn-ea"/>
              </a:rPr>
              <a:t> </a:t>
            </a:r>
            <a:r>
              <a:rPr lang="zh-CN" altLang="en-US" sz="3600">
                <a:sym typeface="+mn-ea"/>
              </a:rPr>
              <a:t>方阵的特征值与特征向量</a:t>
            </a:r>
            <a:endParaRPr lang="zh-CN" altLang="en-US" sz="3600"/>
          </a:p>
        </p:txBody>
      </p:sp>
      <p:sp>
        <p:nvSpPr>
          <p:cNvPr id="8" name="文本框 7"/>
          <p:cNvSpPr txBox="1"/>
          <p:nvPr/>
        </p:nvSpPr>
        <p:spPr>
          <a:xfrm>
            <a:off x="361315" y="2937510"/>
            <a:ext cx="8597900" cy="3611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dirty="0">
                <a:solidFill>
                  <a:srgbClr val="000000"/>
                </a:solidFill>
                <a:ea typeface="楷体_GB2312"/>
                <a:sym typeface="+mn-ea"/>
              </a:rPr>
              <a:t>     </a:t>
            </a:r>
            <a:r>
              <a:rPr lang="zh-CN" altLang="en-US" dirty="0">
                <a:solidFill>
                  <a:srgbClr val="000000"/>
                </a:solidFill>
                <a:ea typeface="楷体_GB2312"/>
                <a:sym typeface="+mn-ea"/>
              </a:rPr>
              <a:t>矩阵特征值与特征向量是线性代数中的核心概念，它们不仅在数学理论中占据重要地位，也在其他众多领域有着广泛应用. 比如在经济学模型中，它们可以分析系统的稳定性和增长趋势；在机器学习、数据挖掘等领域，它们可以用来进行数据降维、主成份分析等操作；在风险评估领域，它们可以用来计算风险暴露，评估资产组合的多样性以及估计资产组合的相关性.</a:t>
            </a:r>
            <a:r>
              <a:rPr lang="en-US" altLang="zh-CN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2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49892" name="对象 549891"/>
          <p:cNvGraphicFramePr/>
          <p:nvPr/>
        </p:nvGraphicFramePr>
        <p:xfrm>
          <a:off x="947738" y="2636838"/>
          <a:ext cx="7802562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25800" imgH="457200" progId="Equation.DSMT4">
                  <p:embed/>
                </p:oleObj>
              </mc:Choice>
              <mc:Fallback>
                <p:oleObj r:id="rId2" imgW="3225800" imgH="457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7738" y="2636838"/>
                        <a:ext cx="7802562" cy="1106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0" name="对象 549889"/>
          <p:cNvGraphicFramePr/>
          <p:nvPr/>
        </p:nvGraphicFramePr>
        <p:xfrm>
          <a:off x="925513" y="1484313"/>
          <a:ext cx="7318375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22600" imgH="457200" progId="Equation.DSMT4">
                  <p:embed/>
                </p:oleObj>
              </mc:Choice>
              <mc:Fallback>
                <p:oleObj r:id="rId4" imgW="3022600" imgH="457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5513" y="1484313"/>
                        <a:ext cx="7318375" cy="1106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3" name="矩形 549892"/>
          <p:cNvSpPr/>
          <p:nvPr/>
        </p:nvSpPr>
        <p:spPr>
          <a:xfrm>
            <a:off x="827088" y="820738"/>
            <a:ext cx="5943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dirty="0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引例</a:t>
            </a:r>
            <a:r>
              <a:rPr lang="zh-C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 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矩阵与向量的乘法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　设</a:t>
            </a:r>
          </a:p>
        </p:txBody>
      </p:sp>
      <p:sp>
        <p:nvSpPr>
          <p:cNvPr id="549894" name="文本框 549893"/>
          <p:cNvSpPr txBox="1"/>
          <p:nvPr/>
        </p:nvSpPr>
        <p:spPr>
          <a:xfrm>
            <a:off x="970280" y="189230"/>
            <a:ext cx="8013065" cy="6972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§</a:t>
            </a:r>
            <a:r>
              <a:rPr lang="en-US" altLang="zh-CN" sz="32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4.1 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矩阵的特征值与特征向量的概念</a:t>
            </a:r>
            <a:endParaRPr lang="zh-CN" altLang="en-US" sz="3200" b="0" dirty="0">
              <a:solidFill>
                <a:srgbClr val="CC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20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49896" name="对象 549895"/>
          <p:cNvGraphicFramePr/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7635" imgH="198755" progId="Equation.DSMT4">
                  <p:embed/>
                </p:oleObj>
              </mc:Choice>
              <mc:Fallback>
                <p:oleObj r:id="rId6" imgW="127635" imgH="198755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9913" name="组合 549912"/>
          <p:cNvGrpSpPr/>
          <p:nvPr/>
        </p:nvGrpSpPr>
        <p:grpSpPr>
          <a:xfrm>
            <a:off x="323850" y="3860800"/>
            <a:ext cx="8532813" cy="1093788"/>
            <a:chOff x="204" y="2568"/>
            <a:chExt cx="5375" cy="689"/>
          </a:xfrm>
        </p:grpSpPr>
        <p:grpSp>
          <p:nvGrpSpPr>
            <p:cNvPr id="549905" name="组合 549904"/>
            <p:cNvGrpSpPr/>
            <p:nvPr/>
          </p:nvGrpSpPr>
          <p:grpSpPr>
            <a:xfrm>
              <a:off x="204" y="2568"/>
              <a:ext cx="5375" cy="327"/>
              <a:chOff x="385" y="2931"/>
              <a:chExt cx="5375" cy="327"/>
            </a:xfrm>
          </p:grpSpPr>
          <p:sp>
            <p:nvSpPr>
              <p:cNvPr id="549899" name="文本框 549898"/>
              <p:cNvSpPr txBox="1"/>
              <p:nvPr/>
            </p:nvSpPr>
            <p:spPr>
              <a:xfrm>
                <a:off x="3855" y="2931"/>
                <a:ext cx="190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是原像的倍数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.</a:t>
                </a:r>
              </a:p>
            </p:txBody>
          </p:sp>
          <p:sp>
            <p:nvSpPr>
              <p:cNvPr id="549900" name="矩形 549899"/>
              <p:cNvSpPr/>
              <p:nvPr/>
            </p:nvSpPr>
            <p:spPr>
              <a:xfrm>
                <a:off x="385" y="2931"/>
                <a:ext cx="496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二元实向量    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1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，  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的像 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A   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1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，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A    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2</a:t>
                </a:r>
              </a:p>
            </p:txBody>
          </p:sp>
          <p:graphicFrame>
            <p:nvGraphicFramePr>
              <p:cNvPr id="549901" name="对象 549900"/>
              <p:cNvGraphicFramePr/>
              <p:nvPr/>
            </p:nvGraphicFramePr>
            <p:xfrm>
              <a:off x="2971" y="2976"/>
              <a:ext cx="27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52400" imgH="139700" progId="Equation.DSMT4">
                      <p:embed/>
                    </p:oleObj>
                  </mc:Choice>
                  <mc:Fallback>
                    <p:oleObj r:id="rId8" imgW="152400" imgH="139700" progId="Equation.DSMT4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2971" y="2976"/>
                            <a:ext cx="272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9902" name="对象 549901"/>
              <p:cNvGraphicFramePr/>
              <p:nvPr/>
            </p:nvGraphicFramePr>
            <p:xfrm>
              <a:off x="3606" y="2976"/>
              <a:ext cx="27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52400" imgH="139700" progId="Equation.DSMT4">
                      <p:embed/>
                    </p:oleObj>
                  </mc:Choice>
                  <mc:Fallback>
                    <p:oleObj r:id="rId10" imgW="152400" imgH="139700" progId="Equation.DSMT4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606" y="2976"/>
                            <a:ext cx="272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9903" name="对象 549902"/>
              <p:cNvGraphicFramePr/>
              <p:nvPr/>
            </p:nvGraphicFramePr>
            <p:xfrm>
              <a:off x="1565" y="2976"/>
              <a:ext cx="27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152400" imgH="139700" progId="Equation.DSMT4">
                      <p:embed/>
                    </p:oleObj>
                  </mc:Choice>
                  <mc:Fallback>
                    <p:oleObj r:id="rId11" imgW="152400" imgH="139700" progId="Equation.DSMT4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565" y="2976"/>
                            <a:ext cx="272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9904" name="对象 549903"/>
              <p:cNvGraphicFramePr/>
              <p:nvPr/>
            </p:nvGraphicFramePr>
            <p:xfrm>
              <a:off x="1973" y="2976"/>
              <a:ext cx="27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52400" imgH="139700" progId="Equation.DSMT4">
                      <p:embed/>
                    </p:oleObj>
                  </mc:Choice>
                  <mc:Fallback>
                    <p:oleObj r:id="rId12" imgW="152400" imgH="139700" progId="Equation.DSMT4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973" y="2976"/>
                            <a:ext cx="272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49908" name="组合 549907"/>
            <p:cNvGrpSpPr/>
            <p:nvPr/>
          </p:nvGrpSpPr>
          <p:grpSpPr>
            <a:xfrm>
              <a:off x="249" y="2930"/>
              <a:ext cx="3085" cy="327"/>
              <a:chOff x="249" y="564"/>
              <a:chExt cx="3085" cy="327"/>
            </a:xfrm>
          </p:grpSpPr>
          <p:sp>
            <p:nvSpPr>
              <p:cNvPr id="549909" name="矩形 549908"/>
              <p:cNvSpPr/>
              <p:nvPr/>
            </p:nvSpPr>
            <p:spPr>
              <a:xfrm>
                <a:off x="328" y="564"/>
                <a:ext cx="300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  3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与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A   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3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就 不 具有这个性质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.</a:t>
                </a:r>
              </a:p>
            </p:txBody>
          </p:sp>
          <p:graphicFrame>
            <p:nvGraphicFramePr>
              <p:cNvPr id="549910" name="对象 549909"/>
              <p:cNvGraphicFramePr/>
              <p:nvPr/>
            </p:nvGraphicFramePr>
            <p:xfrm>
              <a:off x="249" y="618"/>
              <a:ext cx="27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152400" imgH="139700" progId="Equation.DSMT4">
                      <p:embed/>
                    </p:oleObj>
                  </mc:Choice>
                  <mc:Fallback>
                    <p:oleObj r:id="rId13" imgW="152400" imgH="139700" progId="Equation.DSMT4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249" y="618"/>
                            <a:ext cx="272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9911" name="对象 549910"/>
              <p:cNvGraphicFramePr/>
              <p:nvPr/>
            </p:nvGraphicFramePr>
            <p:xfrm>
              <a:off x="930" y="618"/>
              <a:ext cx="27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52400" imgH="139700" progId="Equation.DSMT4">
                      <p:embed/>
                    </p:oleObj>
                  </mc:Choice>
                  <mc:Fallback>
                    <p:oleObj r:id="rId14" imgW="152400" imgH="139700" progId="Equation.DSMT4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30" y="618"/>
                            <a:ext cx="272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9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3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52962" name="矩形 552961"/>
          <p:cNvSpPr/>
          <p:nvPr/>
        </p:nvSpPr>
        <p:spPr>
          <a:xfrm>
            <a:off x="611188" y="188913"/>
            <a:ext cx="61928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、矩阵的特征值与特征向量的概念</a:t>
            </a:r>
          </a:p>
        </p:txBody>
      </p:sp>
      <p:sp>
        <p:nvSpPr>
          <p:cNvPr id="552964" name="矩形 552963"/>
          <p:cNvSpPr/>
          <p:nvPr/>
        </p:nvSpPr>
        <p:spPr>
          <a:xfrm>
            <a:off x="611505" y="822325"/>
            <a:ext cx="7193280" cy="36309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定义 </a:t>
            </a:r>
            <a:r>
              <a:rPr lang="en-US" altLang="zh-CN" sz="32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4.1.1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设 </a:t>
            </a:r>
            <a:r>
              <a:rPr lang="en-US" altLang="zh-CN" sz="2800" i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是 </a:t>
            </a:r>
            <a:r>
              <a:rPr lang="en-US" altLang="zh-CN" sz="2800" i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n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阶矩阵，如果存在数 </a:t>
            </a:r>
            <a:r>
              <a:rPr lang="en-US" altLang="zh-CN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和</a:t>
            </a:r>
            <a:r>
              <a:rPr lang="zh-CN" altLang="en-US" sz="3200" dirty="0">
                <a:solidFill>
                  <a:srgbClr val="CC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非零</a:t>
            </a:r>
            <a:r>
              <a:rPr lang="zh-CN" altLang="en-US" sz="320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列向量 </a:t>
            </a:r>
            <a:r>
              <a:rPr lang="en-US" altLang="zh-CN" sz="3200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320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，使得</a:t>
            </a:r>
          </a:p>
          <a:p>
            <a:pPr algn="ctr">
              <a:spcBef>
                <a:spcPct val="50000"/>
              </a:spcBef>
            </a:pPr>
            <a:r>
              <a:rPr lang="en-US" altLang="zh-CN" sz="3200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A = </a:t>
            </a:r>
            <a:r>
              <a:rPr lang="zh-CN" altLang="en-US" sz="320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，</a:t>
            </a:r>
          </a:p>
          <a:p>
            <a:pPr algn="l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则称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称为方阵 </a:t>
            </a:r>
            <a:r>
              <a:rPr lang="en-US" altLang="zh-CN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CC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特征值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称为 </a:t>
            </a:r>
            <a:r>
              <a:rPr lang="en-US" altLang="zh-CN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的属于特征值 </a:t>
            </a:r>
            <a:r>
              <a:rPr lang="en-US" altLang="zh-CN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CC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特征向量</a:t>
            </a:r>
            <a:r>
              <a:rPr lang="en-US" altLang="zh-CN">
                <a:solidFill>
                  <a:srgbClr val="CC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.</a:t>
            </a:r>
            <a:endParaRPr lang="en-US" altLang="zh-CN">
              <a:solidFill>
                <a:srgbClr val="CC00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52973" name="文本框 552972"/>
          <p:cNvSpPr txBox="1"/>
          <p:nvPr/>
        </p:nvSpPr>
        <p:spPr>
          <a:xfrm>
            <a:off x="395605" y="4220845"/>
            <a:ext cx="8103870" cy="2061210"/>
          </a:xfrm>
          <a:prstGeom prst="rect">
            <a:avLst/>
          </a:prstGeom>
          <a:noFill/>
          <a:ln w="57150">
            <a:noFill/>
          </a:ln>
        </p:spPr>
        <p:txBody>
          <a:bodyPr wrap="square" anchor="t" anchorCtr="0">
            <a:spAutoFit/>
          </a:bodyPr>
          <a:lstStyle/>
          <a:p>
            <a:pPr algn="l"/>
            <a:r>
              <a:rPr lang="en-US" altLang="zh-CN" sz="3200" dirty="0">
                <a:solidFill>
                  <a:srgbClr val="000000"/>
                </a:solidFill>
                <a:ea typeface="楷体_GB2312"/>
                <a:sym typeface="Symbol" panose="05050102010706020507" pitchFamily="18" charset="2"/>
              </a:rPr>
              <a:t>     </a:t>
            </a:r>
            <a:r>
              <a:rPr lang="zh-CN" altLang="en-US" sz="3200" dirty="0">
                <a:solidFill>
                  <a:srgbClr val="000000"/>
                </a:solidFill>
                <a:ea typeface="楷体_GB2312"/>
                <a:sym typeface="Symbol" panose="05050102010706020507" pitchFamily="18" charset="2"/>
              </a:rPr>
              <a:t>从几何意义上讲，特征向量是在</a:t>
            </a:r>
            <a:r>
              <a:rPr lang="zh-CN" altLang="en-US" sz="3200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ea typeface="楷体_GB2312"/>
                <a:sym typeface="Symbol" panose="05050102010706020507" pitchFamily="18" charset="2"/>
              </a:rPr>
              <a:t>的左乘作用下保持在同一条直线上的向量，当时&gt;0，与保持同向；当&lt;0时，与反向；当=0时，A为0.</a:t>
            </a:r>
          </a:p>
        </p:txBody>
      </p:sp>
      <p:sp>
        <p:nvSpPr>
          <p:cNvPr id="552979" name="矩形 552978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57150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7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4" name="矩形 552963"/>
          <p:cNvSpPr/>
          <p:nvPr/>
        </p:nvSpPr>
        <p:spPr>
          <a:xfrm>
            <a:off x="611505" y="822325"/>
            <a:ext cx="7738745" cy="17506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例 </a:t>
            </a:r>
            <a:r>
              <a:rPr lang="en-US" altLang="zh-CN" sz="32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4.1.1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sz="2800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设</a:t>
            </a:r>
            <a:r>
              <a:rPr lang="en-US" altLang="zh-CN" b="0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b="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0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的属于特征值 </a:t>
            </a:r>
            <a:r>
              <a:rPr lang="en-US" altLang="zh-CN" b="0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b="0" baseline="-2500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2" charset="-122"/>
                <a:sym typeface="Symbol" panose="05050102010706020507" pitchFamily="18" charset="2"/>
              </a:rPr>
              <a:t>特征向量，</a:t>
            </a:r>
            <a:r>
              <a:rPr lang="zh-CN" altLang="en-US" b="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证明：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对于任意一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非零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常数</a:t>
            </a:r>
            <a:r>
              <a:rPr lang="zh-CN" altLang="en-US" b="0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800" b="0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k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也是</a:t>
            </a:r>
            <a:r>
              <a:rPr lang="zh-CN" altLang="en-US" b="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的属于特征值</a:t>
            </a:r>
            <a:r>
              <a:rPr lang="en-US" altLang="zh-CN" b="0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b="0" baseline="-2500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的特征向量.</a:t>
            </a:r>
            <a:endParaRPr lang="en-US" altLang="zh-CN" b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73405" y="2780665"/>
            <a:ext cx="799655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0" dirty="0">
                <a:solidFill>
                  <a:srgbClr val="FF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证</a:t>
            </a:r>
            <a:r>
              <a:rPr lang="zh-CN" altLang="en-US" b="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由已知</a:t>
            </a:r>
            <a:r>
              <a:rPr lang="en-US" altLang="zh-CN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,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 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的属于特征值</a:t>
            </a:r>
            <a:r>
              <a:rPr lang="en-US" altLang="zh-CN" i="1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</a:t>
            </a:r>
            <a:r>
              <a:rPr lang="en-US" altLang="zh-CN" baseline="-25000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0</a:t>
            </a:r>
            <a:r>
              <a:rPr lang="en-US" altLang="zh-CN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的特征向量，则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=</a:t>
            </a:r>
            <a:r>
              <a:rPr lang="zh-CN" altLang="en-US" baseline="-2500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i="1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. 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又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为非零常数，则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k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FF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非零向量且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k=k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=k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</a:t>
            </a:r>
            <a:r>
              <a:rPr lang="zh-CN" altLang="en-US" baseline="-2500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</a:t>
            </a:r>
            <a:r>
              <a:rPr lang="zh-CN" altLang="en-US" baseline="-2500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.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因此由特征值定义知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k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也是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的属于特征值</a:t>
            </a:r>
            <a:r>
              <a:rPr lang="zh-CN" altLang="en-US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</a:t>
            </a:r>
            <a:r>
              <a:rPr lang="zh-CN" altLang="en-US" baseline="-25000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solidFill>
                  <a:srgbClr val="000000"/>
                </a:solidFill>
                <a:effectLst/>
                <a:latin typeface="+mn-ea"/>
                <a:ea typeface="+mn-ea"/>
                <a:cs typeface="+mn-ea"/>
                <a:sym typeface="Symbol" panose="05050102010706020507" pitchFamily="18" charset="2"/>
              </a:rPr>
              <a:t>的特征向量.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标题 658433"/>
          <p:cNvSpPr>
            <a:spLocks noGrp="1"/>
          </p:cNvSpPr>
          <p:nvPr>
            <p:ph type="title"/>
          </p:nvPr>
        </p:nvSpPr>
        <p:spPr>
          <a:xfrm>
            <a:off x="611188" y="115888"/>
            <a:ext cx="7632700" cy="792162"/>
          </a:xfrm>
          <a:noFill/>
          <a:ln>
            <a:noFill/>
          </a:ln>
        </p:spPr>
        <p:txBody>
          <a:bodyPr/>
          <a:lstStyle/>
          <a:p>
            <a:pPr algn="l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矩阵的特征值的重要性质</a:t>
            </a:r>
            <a:r>
              <a:rPr lang="en-US" altLang="zh-CN" sz="280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58435" name="矩形 658434"/>
          <p:cNvSpPr/>
          <p:nvPr/>
        </p:nvSpPr>
        <p:spPr>
          <a:xfrm>
            <a:off x="539750" y="663575"/>
            <a:ext cx="7993063" cy="1225550"/>
          </a:xfrm>
          <a:noFill/>
          <a:ln w="9525">
            <a:noFill/>
          </a:ln>
        </p:spPr>
        <p:txBody>
          <a:bodyPr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性质</a:t>
            </a:r>
            <a:r>
              <a:rPr lang="en-US" altLang="zh-CN" sz="2800">
                <a:solidFill>
                  <a:srgbClr val="FF0000"/>
                </a:solidFill>
              </a:rPr>
              <a:t>1: </a:t>
            </a:r>
            <a:r>
              <a:rPr lang="zh-CN" altLang="en-US" sz="2800" dirty="0">
                <a:solidFill>
                  <a:schemeClr val="tx1"/>
                </a:solidFill>
              </a:rPr>
              <a:t>设 </a:t>
            </a:r>
            <a:r>
              <a:rPr lang="en-US" altLang="zh-CN" sz="2800" i="1">
                <a:solidFill>
                  <a:schemeClr val="tx1"/>
                </a:solidFill>
                <a:latin typeface="Symbol" panose="05050102010706020507" pitchFamily="18" charset="2"/>
              </a:rPr>
              <a:t>l </a:t>
            </a:r>
            <a:r>
              <a:rPr lang="zh-CN" altLang="en-US" sz="2800" dirty="0">
                <a:solidFill>
                  <a:schemeClr val="tx1"/>
                </a:solidFill>
              </a:rPr>
              <a:t>是矩阵 </a:t>
            </a:r>
            <a:r>
              <a:rPr lang="en-US" altLang="zh-CN" sz="2800" i="1">
                <a:solidFill>
                  <a:schemeClr val="tx1"/>
                </a:solidFill>
              </a:rPr>
              <a:t>A </a:t>
            </a:r>
            <a:r>
              <a:rPr lang="zh-CN" altLang="en-US" sz="2800" dirty="0">
                <a:solidFill>
                  <a:schemeClr val="tx1"/>
                </a:solidFill>
              </a:rPr>
              <a:t>的特征值</a:t>
            </a:r>
            <a:r>
              <a:rPr lang="en-US" altLang="zh-CN" sz="2800">
                <a:solidFill>
                  <a:schemeClr val="tx1"/>
                </a:solidFill>
              </a:rPr>
              <a:t>, </a:t>
            </a:r>
            <a:r>
              <a:rPr lang="zh-CN" altLang="en-US" sz="2800" dirty="0">
                <a:solidFill>
                  <a:schemeClr val="tx1"/>
                </a:solidFill>
              </a:rPr>
              <a:t>则</a:t>
            </a:r>
            <a:endParaRPr lang="zh-CN" altLang="en-US" sz="2800"/>
          </a:p>
        </p:txBody>
      </p:sp>
      <p:sp>
        <p:nvSpPr>
          <p:cNvPr id="658436" name="矩形 658435"/>
          <p:cNvSpPr/>
          <p:nvPr/>
        </p:nvSpPr>
        <p:spPr>
          <a:xfrm>
            <a:off x="539750" y="1773238"/>
            <a:ext cx="7993063" cy="647700"/>
          </a:xfrm>
          <a:noFill/>
          <a:ln w="9525">
            <a:noFill/>
          </a:ln>
        </p:spPr>
        <p:txBody>
          <a:bodyPr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(1) </a:t>
            </a:r>
            <a:r>
              <a:rPr lang="en-US" altLang="zh-CN" sz="2800" i="1" err="1">
                <a:solidFill>
                  <a:schemeClr val="tx1"/>
                </a:solidFill>
              </a:rPr>
              <a:t>b+</a:t>
            </a:r>
            <a:r>
              <a:rPr lang="en-US" altLang="zh-CN" sz="2800" i="1" err="1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2800" i="1">
                <a:solidFill>
                  <a:schemeClr val="tx1"/>
                </a:solidFill>
                <a:latin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是 </a:t>
            </a:r>
            <a:r>
              <a:rPr lang="en-US" altLang="zh-CN" sz="2800" i="1">
                <a:solidFill>
                  <a:schemeClr val="tx1"/>
                </a:solidFill>
              </a:rPr>
              <a:t>bE+A </a:t>
            </a:r>
            <a:r>
              <a:rPr lang="zh-CN" altLang="en-US" sz="2800" dirty="0">
                <a:solidFill>
                  <a:schemeClr val="tx1"/>
                </a:solidFill>
              </a:rPr>
              <a:t>的特征值</a:t>
            </a:r>
            <a:r>
              <a:rPr lang="en-US" altLang="zh-CN" sz="2800">
                <a:solidFill>
                  <a:schemeClr val="tx1"/>
                </a:solidFill>
              </a:rPr>
              <a:t>(</a:t>
            </a:r>
            <a:r>
              <a:rPr lang="en-US" altLang="zh-CN" sz="2800" i="1">
                <a:solidFill>
                  <a:schemeClr val="tx1"/>
                </a:solidFill>
                <a:sym typeface="+mn-ea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为</a:t>
            </a:r>
            <a:r>
              <a:rPr lang="zh-CN" altLang="en-US" sz="2800" dirty="0">
                <a:solidFill>
                  <a:schemeClr val="tx1"/>
                </a:solidFill>
              </a:rPr>
              <a:t>任意常数</a:t>
            </a:r>
            <a:r>
              <a:rPr lang="en-US" altLang="zh-CN" sz="2800">
                <a:solidFill>
                  <a:schemeClr val="tx1"/>
                </a:solidFill>
              </a:rPr>
              <a:t>)</a:t>
            </a:r>
            <a:r>
              <a:rPr lang="zh-CN" altLang="en-US" sz="2800">
                <a:solidFill>
                  <a:schemeClr val="tx1"/>
                </a:solidFill>
              </a:rPr>
              <a:t>；</a:t>
            </a:r>
            <a:endParaRPr lang="en-US" altLang="zh-CN" sz="2800"/>
          </a:p>
        </p:txBody>
      </p:sp>
      <p:sp>
        <p:nvSpPr>
          <p:cNvPr id="658437" name="矩形 658436"/>
          <p:cNvSpPr/>
          <p:nvPr/>
        </p:nvSpPr>
        <p:spPr>
          <a:xfrm>
            <a:off x="540068" y="3210878"/>
            <a:ext cx="7993062" cy="720725"/>
          </a:xfrm>
          <a:noFill/>
          <a:ln w="9525">
            <a:noFill/>
          </a:ln>
        </p:spPr>
        <p:txBody>
          <a:bodyPr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(3) </a:t>
            </a:r>
            <a:r>
              <a:rPr lang="en-US" altLang="zh-CN" sz="2800" i="1" err="1">
                <a:solidFill>
                  <a:schemeClr val="tx1"/>
                </a:solidFill>
                <a:latin typeface="Symbol" panose="05050102010706020507" pitchFamily="18" charset="2"/>
                <a:sym typeface="+mn-ea"/>
              </a:rPr>
              <a:t>l</a:t>
            </a:r>
            <a:r>
              <a:rPr lang="en-US" altLang="zh-CN" sz="2800" i="1" baseline="30000">
                <a:solidFill>
                  <a:schemeClr val="tx1"/>
                </a:solidFill>
              </a:rPr>
              <a:t>k </a:t>
            </a:r>
            <a:r>
              <a:rPr lang="zh-CN" altLang="en-US" sz="2800" dirty="0">
                <a:solidFill>
                  <a:schemeClr val="tx1"/>
                </a:solidFill>
              </a:rPr>
              <a:t>是 </a:t>
            </a:r>
            <a:r>
              <a:rPr lang="en-US" altLang="zh-CN" sz="2800" i="1">
                <a:solidFill>
                  <a:schemeClr val="tx1"/>
                </a:solidFill>
              </a:rPr>
              <a:t>A</a:t>
            </a:r>
            <a:r>
              <a:rPr lang="en-US" altLang="zh-CN" sz="2800" i="1" baseline="30000">
                <a:solidFill>
                  <a:schemeClr val="tx1"/>
                </a:solidFill>
              </a:rPr>
              <a:t>k </a:t>
            </a:r>
            <a:r>
              <a:rPr lang="zh-CN" altLang="en-US" sz="2800" dirty="0">
                <a:solidFill>
                  <a:schemeClr val="tx1"/>
                </a:solidFill>
              </a:rPr>
              <a:t>的特征值</a:t>
            </a:r>
            <a:r>
              <a:rPr lang="en-US" altLang="zh-CN" sz="2800">
                <a:solidFill>
                  <a:schemeClr val="tx1"/>
                </a:solidFill>
              </a:rPr>
              <a:t>( </a:t>
            </a:r>
            <a:r>
              <a:rPr lang="en-US" altLang="zh-CN" sz="2800" i="1">
                <a:solidFill>
                  <a:schemeClr val="tx1"/>
                </a:solidFill>
              </a:rPr>
              <a:t>k</a:t>
            </a:r>
            <a:r>
              <a:rPr lang="zh-CN" altLang="en-US" sz="2800" dirty="0">
                <a:solidFill>
                  <a:schemeClr val="tx1"/>
                </a:solidFill>
              </a:rPr>
              <a:t>是正整数</a:t>
            </a:r>
            <a:r>
              <a:rPr lang="en-US" altLang="zh-CN" sz="2800">
                <a:solidFill>
                  <a:schemeClr val="tx1"/>
                </a:solidFill>
              </a:rPr>
              <a:t>),</a:t>
            </a:r>
            <a:endParaRPr lang="en-US" altLang="zh-CN" sz="2800"/>
          </a:p>
        </p:txBody>
      </p:sp>
      <p:sp>
        <p:nvSpPr>
          <p:cNvPr id="658438" name="矩形 658437"/>
          <p:cNvSpPr/>
          <p:nvPr/>
        </p:nvSpPr>
        <p:spPr>
          <a:xfrm>
            <a:off x="540068" y="3932238"/>
            <a:ext cx="7993062" cy="720725"/>
          </a:xfrm>
          <a:noFill/>
          <a:ln w="9525">
            <a:noFill/>
          </a:ln>
        </p:spPr>
        <p:txBody>
          <a:bodyPr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(4) </a:t>
            </a:r>
            <a:r>
              <a:rPr lang="zh-CN" altLang="en-US" sz="2800" dirty="0">
                <a:solidFill>
                  <a:schemeClr val="tx1"/>
                </a:solidFill>
              </a:rPr>
              <a:t>当 </a:t>
            </a:r>
            <a:r>
              <a:rPr lang="en-US" altLang="zh-CN" sz="2800" i="1">
                <a:solidFill>
                  <a:schemeClr val="tx1"/>
                </a:solidFill>
              </a:rPr>
              <a:t>A </a:t>
            </a:r>
            <a:r>
              <a:rPr lang="zh-CN" altLang="en-US" sz="2800" dirty="0">
                <a:solidFill>
                  <a:schemeClr val="tx1"/>
                </a:solidFill>
              </a:rPr>
              <a:t>可逆时</a:t>
            </a:r>
            <a:r>
              <a:rPr lang="en-US" altLang="zh-CN" sz="2800">
                <a:solidFill>
                  <a:schemeClr val="tx1"/>
                </a:solidFill>
              </a:rPr>
              <a:t>,  </a:t>
            </a:r>
            <a:r>
              <a:rPr lang="en-US" altLang="zh-CN" sz="2800" i="1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2800" baseline="30000">
                <a:solidFill>
                  <a:schemeClr val="tx1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800" baseline="3000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是 </a:t>
            </a:r>
            <a:r>
              <a:rPr lang="en-US" altLang="zh-CN" sz="2800" i="1">
                <a:solidFill>
                  <a:schemeClr val="tx1"/>
                </a:solidFill>
              </a:rPr>
              <a:t>A</a:t>
            </a:r>
            <a:r>
              <a:rPr lang="en-US" altLang="zh-CN" sz="2800" baseline="30000">
                <a:solidFill>
                  <a:schemeClr val="tx1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800" baseline="3000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的特征值</a:t>
            </a:r>
            <a:r>
              <a:rPr lang="en-US" altLang="zh-CN" sz="2800">
                <a:solidFill>
                  <a:schemeClr val="tx1"/>
                </a:solidFill>
              </a:rPr>
              <a:t>;</a:t>
            </a:r>
            <a:endParaRPr lang="en-US" altLang="zh-CN" sz="2800"/>
          </a:p>
        </p:txBody>
      </p:sp>
      <p:sp>
        <p:nvSpPr>
          <p:cNvPr id="3" name="矩形 2"/>
          <p:cNvSpPr/>
          <p:nvPr/>
        </p:nvSpPr>
        <p:spPr>
          <a:xfrm>
            <a:off x="539750" y="2492058"/>
            <a:ext cx="7993063" cy="647700"/>
          </a:xfrm>
          <a:noFill/>
          <a:ln w="9525">
            <a:noFill/>
          </a:ln>
        </p:spPr>
        <p:txBody>
          <a:bodyPr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(2) </a:t>
            </a:r>
            <a:r>
              <a:rPr lang="en-US" altLang="zh-CN" sz="2800" i="1" err="1">
                <a:solidFill>
                  <a:schemeClr val="tx1"/>
                </a:solidFill>
              </a:rPr>
              <a:t>c</a:t>
            </a:r>
            <a:r>
              <a:rPr lang="en-US" altLang="zh-CN" sz="2800" i="1" err="1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2800" i="1">
                <a:solidFill>
                  <a:schemeClr val="tx1"/>
                </a:solidFill>
                <a:latin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是 </a:t>
            </a:r>
            <a:r>
              <a:rPr lang="en-US" altLang="zh-CN" sz="2800" i="1">
                <a:solidFill>
                  <a:schemeClr val="tx1"/>
                </a:solidFill>
              </a:rPr>
              <a:t>cA </a:t>
            </a:r>
            <a:r>
              <a:rPr lang="zh-CN" altLang="en-US" sz="2800" dirty="0">
                <a:solidFill>
                  <a:schemeClr val="tx1"/>
                </a:solidFill>
              </a:rPr>
              <a:t>的特征值</a:t>
            </a:r>
            <a:r>
              <a:rPr lang="en-US" altLang="zh-CN" sz="2800">
                <a:solidFill>
                  <a:schemeClr val="tx1"/>
                </a:solidFill>
              </a:rPr>
              <a:t>( </a:t>
            </a:r>
            <a:r>
              <a:rPr lang="en-US" altLang="zh-CN" sz="2800" i="1">
                <a:solidFill>
                  <a:schemeClr val="tx1"/>
                </a:solidFill>
              </a:rPr>
              <a:t>c</a:t>
            </a:r>
            <a:r>
              <a:rPr lang="zh-CN" altLang="en-US" sz="2800" dirty="0">
                <a:solidFill>
                  <a:schemeClr val="tx1"/>
                </a:solidFill>
              </a:rPr>
              <a:t>是任意常数</a:t>
            </a:r>
            <a:r>
              <a:rPr lang="en-US" altLang="zh-CN" sz="2800">
                <a:solidFill>
                  <a:schemeClr val="tx1"/>
                </a:solidFill>
              </a:rPr>
              <a:t>),</a:t>
            </a:r>
            <a:endParaRPr lang="en-US" altLang="zh-CN" sz="2800"/>
          </a:p>
        </p:txBody>
      </p:sp>
      <p:sp>
        <p:nvSpPr>
          <p:cNvPr id="4" name="矩形 3"/>
          <p:cNvSpPr/>
          <p:nvPr/>
        </p:nvSpPr>
        <p:spPr>
          <a:xfrm>
            <a:off x="539750" y="4580890"/>
            <a:ext cx="7992745" cy="1096010"/>
          </a:xfrm>
          <a:noFill/>
          <a:ln w="9525">
            <a:noFill/>
          </a:ln>
        </p:spPr>
        <p:txBody>
          <a:bodyPr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(5) </a:t>
            </a:r>
            <a:r>
              <a:rPr lang="zh-CN" altLang="en-US" sz="2800">
                <a:solidFill>
                  <a:schemeClr val="tx1"/>
                </a:solidFill>
              </a:rPr>
              <a:t>任给多项式</a:t>
            </a:r>
            <a:r>
              <a:rPr lang="en-US" altLang="zh-CN" sz="2800">
                <a:solidFill>
                  <a:schemeClr val="tx1"/>
                </a:solidFill>
              </a:rPr>
              <a:t>                </a:t>
            </a:r>
          </a:p>
          <a:p>
            <a:pPr lvl="0" algn="l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             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          </a:t>
            </a:r>
            <a:r>
              <a:rPr lang="zh-CN" altLang="en-US" sz="2800" dirty="0">
                <a:solidFill>
                  <a:schemeClr val="tx1"/>
                </a:solidFill>
              </a:rPr>
              <a:t>的特征值</a:t>
            </a:r>
            <a:r>
              <a:rPr lang="en-US" altLang="zh-CN" sz="2800">
                <a:solidFill>
                  <a:schemeClr val="tx1"/>
                </a:solidFill>
              </a:rPr>
              <a:t>;</a:t>
            </a:r>
            <a:endParaRPr lang="en-US" altLang="zh-CN" sz="2800"/>
          </a:p>
        </p:txBody>
      </p:sp>
      <p:graphicFrame>
        <p:nvGraphicFramePr>
          <p:cNvPr id="244739" name="对象 244738"/>
          <p:cNvGraphicFramePr/>
          <p:nvPr/>
        </p:nvGraphicFramePr>
        <p:xfrm>
          <a:off x="2924493" y="4708843"/>
          <a:ext cx="541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10200" imgH="469900" progId="Equation.DSMT4">
                  <p:embed/>
                </p:oleObj>
              </mc:Choice>
              <mc:Fallback>
                <p:oleObj r:id="rId2" imgW="5410200" imgH="469900" progId="Equation.DSMT4">
                  <p:embed/>
                  <p:pic>
                    <p:nvPicPr>
                      <p:cNvPr id="0" name="图片 37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24493" y="4708843"/>
                        <a:ext cx="5410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1403351" y="5253673"/>
          <a:ext cx="77406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74065" imgH="393700" progId="Equation.DSMT4">
                  <p:embed/>
                </p:oleObj>
              </mc:Choice>
              <mc:Fallback>
                <p:oleObj r:id="rId4" imgW="774065" imgH="393700" progId="Equation.DSMT4">
                  <p:embed/>
                  <p:pic>
                    <p:nvPicPr>
                      <p:cNvPr id="0" name="图片 37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3351" y="5253673"/>
                        <a:ext cx="77406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2470468" y="5283518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00100" imgH="393700" progId="Equation.DSMT4">
                  <p:embed/>
                </p:oleObj>
              </mc:Choice>
              <mc:Fallback>
                <p:oleObj r:id="rId6" imgW="800100" imgH="393700" progId="Equation.DSMT4">
                  <p:embed/>
                  <p:pic>
                    <p:nvPicPr>
                      <p:cNvPr id="0" name="图片 378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70468" y="5283518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539115" y="5661025"/>
            <a:ext cx="7992745" cy="1096010"/>
          </a:xfrm>
          <a:noFill/>
          <a:ln w="9525">
            <a:noFill/>
          </a:ln>
        </p:spPr>
        <p:txBody>
          <a:bodyPr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algn="l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(6) 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当</a:t>
            </a:r>
            <a:r>
              <a:rPr lang="en-US" altLang="zh-CN" sz="2800" i="1" err="1">
                <a:solidFill>
                  <a:schemeClr val="tx1"/>
                </a:solidFill>
                <a:latin typeface="Symbol" panose="05050102010706020507" pitchFamily="18" charset="2"/>
                <a:sym typeface="+mn-ea"/>
              </a:rPr>
              <a:t>l</a:t>
            </a:r>
            <a:r>
              <a:rPr lang="en-US" altLang="zh-CN" sz="2800" b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0</a:t>
            </a:r>
            <a:r>
              <a:rPr lang="en-US" altLang="zh-CN" sz="2800" i="1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时，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      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2800" i="1">
                <a:solidFill>
                  <a:schemeClr val="tx1"/>
                </a:solidFill>
                <a:sym typeface="+mn-ea"/>
              </a:rPr>
              <a:t>A</a:t>
            </a:r>
            <a:r>
              <a:rPr lang="en-US" altLang="zh-CN" sz="2800" i="1" baseline="30000">
                <a:solidFill>
                  <a:schemeClr val="tx1"/>
                </a:solidFill>
                <a:sym typeface="+mn-ea"/>
              </a:rPr>
              <a:t>*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的特征值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altLang="zh-CN" sz="2800">
                <a:solidFill>
                  <a:schemeClr val="tx1"/>
                </a:solidFill>
              </a:rPr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           </a:t>
            </a:r>
            <a:endParaRPr lang="en-US" altLang="zh-CN" sz="2800"/>
          </a:p>
        </p:txBody>
      </p:sp>
      <p:graphicFrame>
        <p:nvGraphicFramePr>
          <p:cNvPr id="10" name="对象 9"/>
          <p:cNvGraphicFramePr/>
          <p:nvPr/>
        </p:nvGraphicFramePr>
        <p:xfrm>
          <a:off x="2820035" y="5677218"/>
          <a:ext cx="558800" cy="84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58800" imgH="838200" progId="Equation.DSMT4">
                  <p:embed/>
                </p:oleObj>
              </mc:Choice>
              <mc:Fallback>
                <p:oleObj r:id="rId8" imgW="558800" imgH="838200" progId="Equation.DSMT4">
                  <p:embed/>
                  <p:pic>
                    <p:nvPicPr>
                      <p:cNvPr id="0" name="图片 378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20035" y="5677218"/>
                        <a:ext cx="558800" cy="848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35" grpId="0"/>
      <p:bldP spid="658436" grpId="0"/>
      <p:bldP spid="658437" grpId="0"/>
      <p:bldP spid="658438" grpId="0"/>
      <p:bldP spid="3" grpId="0"/>
      <p:bldP spid="4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矩形 555009"/>
          <p:cNvSpPr/>
          <p:nvPr/>
        </p:nvSpPr>
        <p:spPr>
          <a:xfrm>
            <a:off x="755650" y="333375"/>
            <a:ext cx="6985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二、矩阵的特征值与特征向量的求法</a:t>
            </a:r>
          </a:p>
        </p:txBody>
      </p:sp>
      <p:grpSp>
        <p:nvGrpSpPr>
          <p:cNvPr id="555021" name="组合 555020"/>
          <p:cNvGrpSpPr/>
          <p:nvPr/>
        </p:nvGrpSpPr>
        <p:grpSpPr>
          <a:xfrm>
            <a:off x="755650" y="1052513"/>
            <a:ext cx="7675563" cy="1093787"/>
            <a:chOff x="476" y="709"/>
            <a:chExt cx="4835" cy="689"/>
          </a:xfrm>
        </p:grpSpPr>
        <p:sp>
          <p:nvSpPr>
            <p:cNvPr id="555012" name="文本框 555011"/>
            <p:cNvSpPr txBox="1"/>
            <p:nvPr/>
          </p:nvSpPr>
          <p:spPr>
            <a:xfrm>
              <a:off x="476" y="709"/>
              <a:ext cx="48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为了进一步讨论矩阵 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A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的特征值和特征向量的</a:t>
              </a:r>
            </a:p>
          </p:txBody>
        </p:sp>
        <p:sp>
          <p:nvSpPr>
            <p:cNvPr id="555013" name="文本框 555012"/>
            <p:cNvSpPr txBox="1"/>
            <p:nvPr/>
          </p:nvSpPr>
          <p:spPr>
            <a:xfrm>
              <a:off x="476" y="1071"/>
              <a:ext cx="45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计算方法，把定义公式　</a:t>
              </a:r>
              <a:r>
                <a:rPr lang="en-US" altLang="zh-CN" sz="2800" i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A = </a:t>
              </a:r>
              <a:r>
                <a:rPr lang="en-US" altLang="zh-CN" sz="28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800" i="1">
                  <a:solidFill>
                    <a:srgbClr val="000000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　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改写成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555014" name="文本框 555013"/>
          <p:cNvSpPr txBox="1"/>
          <p:nvPr/>
        </p:nvSpPr>
        <p:spPr>
          <a:xfrm>
            <a:off x="2627313" y="2203450"/>
            <a:ext cx="3200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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–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= 0      </a:t>
            </a:r>
          </a:p>
        </p:txBody>
      </p:sp>
      <p:grpSp>
        <p:nvGrpSpPr>
          <p:cNvPr id="555022" name="组合 555021"/>
          <p:cNvGrpSpPr/>
          <p:nvPr/>
        </p:nvGrpSpPr>
        <p:grpSpPr>
          <a:xfrm>
            <a:off x="684213" y="2851150"/>
            <a:ext cx="7953375" cy="522288"/>
            <a:chOff x="431" y="1888"/>
            <a:chExt cx="5010" cy="329"/>
          </a:xfrm>
        </p:grpSpPr>
        <p:sp>
          <p:nvSpPr>
            <p:cNvPr id="555015" name="文本框 555014"/>
            <p:cNvSpPr txBox="1"/>
            <p:nvPr/>
          </p:nvSpPr>
          <p:spPr>
            <a:xfrm>
              <a:off x="431" y="1888"/>
              <a:ext cx="261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即 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 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是齐次线性方程组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55016" name="文本框 555015"/>
            <p:cNvSpPr txBox="1"/>
            <p:nvPr/>
          </p:nvSpPr>
          <p:spPr>
            <a:xfrm>
              <a:off x="2881" y="1888"/>
              <a:ext cx="25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 </a:t>
              </a:r>
              <a:r>
                <a:rPr lang="en-US" altLang="zh-CN" i="1">
                  <a:solidFill>
                    <a:srgbClr val="000000"/>
                  </a:solidFill>
                  <a:ea typeface="黑体" panose="02010609060101010101" pitchFamily="2" charset="-122"/>
                  <a:sym typeface="+mn-ea"/>
                </a:rPr>
                <a:t>E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– 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A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 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 0  </a:t>
              </a: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　</a:t>
              </a:r>
            </a:p>
          </p:txBody>
        </p:sp>
        <p:sp>
          <p:nvSpPr>
            <p:cNvPr id="555017" name="文本框 555016"/>
            <p:cNvSpPr txBox="1"/>
            <p:nvPr/>
          </p:nvSpPr>
          <p:spPr>
            <a:xfrm>
              <a:off x="4241" y="1888"/>
              <a:ext cx="12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的非零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解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.</a:t>
              </a:r>
            </a:p>
          </p:txBody>
        </p:sp>
      </p:grpSp>
      <p:sp>
        <p:nvSpPr>
          <p:cNvPr id="555019" name="文本框 555018"/>
          <p:cNvSpPr txBox="1"/>
          <p:nvPr/>
        </p:nvSpPr>
        <p:spPr>
          <a:xfrm>
            <a:off x="2555875" y="4003675"/>
            <a:ext cx="23774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|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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2" charset="-122"/>
                <a:sym typeface="+mn-ea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–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| = 0</a:t>
            </a:r>
          </a:p>
        </p:txBody>
      </p:sp>
      <p:sp>
        <p:nvSpPr>
          <p:cNvPr id="555020" name="文本框 555019"/>
          <p:cNvSpPr txBox="1"/>
          <p:nvPr/>
        </p:nvSpPr>
        <p:spPr>
          <a:xfrm>
            <a:off x="684213" y="3427413"/>
            <a:ext cx="73453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齐次线性方程组有非零解的充分必要条件是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55362" name="标题 655361"/>
          <p:cNvSpPr/>
          <p:nvPr/>
        </p:nvSpPr>
        <p:spPr>
          <a:xfrm>
            <a:off x="395605" y="4580890"/>
            <a:ext cx="8533130" cy="21145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4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定理</a:t>
            </a:r>
            <a:r>
              <a:rPr lang="en-US" altLang="zh-CN" sz="2800">
                <a:solidFill>
                  <a:srgbClr val="FF0000"/>
                </a:solidFill>
              </a:rPr>
              <a:t>1</a:t>
            </a:r>
            <a:r>
              <a:rPr lang="en-US" altLang="zh-CN" sz="2800"/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若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 baseline="-25000">
                <a:solidFill>
                  <a:schemeClr val="tx1"/>
                </a:solidFill>
              </a:rPr>
              <a:t>1 </a:t>
            </a:r>
            <a:r>
              <a:rPr lang="zh-CN" altLang="en-US" sz="2800" b="1" dirty="0">
                <a:solidFill>
                  <a:schemeClr val="tx1"/>
                </a:solidFill>
              </a:rPr>
              <a:t>和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 baseline="-25000">
                <a:solidFill>
                  <a:schemeClr val="tx1"/>
                </a:solidFill>
              </a:rPr>
              <a:t>2 </a:t>
            </a:r>
            <a:r>
              <a:rPr lang="zh-CN" altLang="en-US" sz="2800" b="1" dirty="0">
                <a:solidFill>
                  <a:schemeClr val="tx1"/>
                </a:solidFill>
              </a:rPr>
              <a:t>都是 </a:t>
            </a:r>
            <a:r>
              <a:rPr lang="en-US" altLang="zh-CN" sz="2800" b="1" i="1">
                <a:solidFill>
                  <a:schemeClr val="tx1"/>
                </a:solidFill>
              </a:rPr>
              <a:t>A </a:t>
            </a:r>
            <a:r>
              <a:rPr lang="zh-CN" altLang="en-US" sz="2800" b="1" dirty="0">
                <a:solidFill>
                  <a:schemeClr val="tx1"/>
                </a:solidFill>
              </a:rPr>
              <a:t>的属于特征值 </a:t>
            </a:r>
            <a:r>
              <a:rPr lang="en-US" altLang="zh-CN" sz="2800" b="1" i="1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2800" b="1" baseline="-25000">
                <a:solidFill>
                  <a:schemeClr val="tx1"/>
                </a:solidFill>
              </a:rPr>
              <a:t>0 </a:t>
            </a:r>
            <a:r>
              <a:rPr lang="zh-CN" altLang="en-US" sz="2800" b="1" dirty="0">
                <a:solidFill>
                  <a:schemeClr val="tx1"/>
                </a:solidFill>
              </a:rPr>
              <a:t>的特征向量</a:t>
            </a:r>
            <a:r>
              <a:rPr lang="en-US" altLang="zh-CN" sz="2800" b="1">
                <a:solidFill>
                  <a:schemeClr val="tx1"/>
                </a:solidFill>
              </a:rPr>
              <a:t>,  </a:t>
            </a:r>
            <a:br>
              <a:rPr lang="en-US" altLang="zh-CN" sz="2800" b="1">
                <a:solidFill>
                  <a:schemeClr val="tx1"/>
                </a:solidFill>
              </a:rPr>
            </a:br>
            <a:r>
              <a:rPr lang="zh-CN" altLang="en-US" sz="2800" b="1" dirty="0">
                <a:solidFill>
                  <a:schemeClr val="tx1"/>
                </a:solidFill>
              </a:rPr>
              <a:t>则 当</a:t>
            </a:r>
            <a:r>
              <a:rPr lang="en-US" altLang="zh-CN" sz="2800" b="1" i="1">
                <a:solidFill>
                  <a:schemeClr val="tx1"/>
                </a:solidFill>
                <a:sym typeface="+mn-ea"/>
              </a:rPr>
              <a:t>k</a:t>
            </a:r>
            <a:r>
              <a:rPr lang="en-US" altLang="zh-CN" sz="2800" b="1" baseline="-25000">
                <a:solidFill>
                  <a:schemeClr val="tx1"/>
                </a:solidFill>
                <a:sym typeface="+mn-ea"/>
              </a:rPr>
              <a:t>1</a:t>
            </a:r>
            <a:r>
              <a:rPr lang="en-US" altLang="zh-CN" sz="2800" b="1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zh-CN" sz="2800" b="1" i="1">
                <a:solidFill>
                  <a:schemeClr val="tx1"/>
                </a:solidFill>
                <a:sym typeface="+mn-ea"/>
              </a:rPr>
              <a:t>k</a:t>
            </a:r>
            <a:r>
              <a:rPr lang="en-US" altLang="zh-CN" sz="2800" b="1" baseline="-25000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是不同时为</a:t>
            </a:r>
            <a:r>
              <a:rPr lang="en-US" altLang="zh-CN" sz="2800" b="1" dirty="0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的任意常数时，</a:t>
            </a:r>
            <a:r>
              <a:rPr lang="en-US" altLang="zh-CN" sz="2800" b="1" i="1">
                <a:solidFill>
                  <a:srgbClr val="FF0000"/>
                </a:solidFill>
              </a:rPr>
              <a:t>k</a:t>
            </a:r>
            <a:r>
              <a:rPr lang="en-US" altLang="zh-CN" sz="2800" b="1" baseline="-25000">
                <a:solidFill>
                  <a:srgbClr val="FF0000"/>
                </a:solidFill>
              </a:rPr>
              <a:t>1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 baseline="-25000">
                <a:solidFill>
                  <a:srgbClr val="FF0000"/>
                </a:solidFill>
              </a:rPr>
              <a:t>1 </a:t>
            </a:r>
            <a:r>
              <a:rPr lang="en-US" altLang="zh-CN" sz="2800" b="1" i="1">
                <a:solidFill>
                  <a:srgbClr val="FF0000"/>
                </a:solidFill>
              </a:rPr>
              <a:t>+ k</a:t>
            </a:r>
            <a:r>
              <a:rPr lang="en-US" altLang="zh-CN" sz="2800" b="1" baseline="-25000">
                <a:solidFill>
                  <a:srgbClr val="FF0000"/>
                </a:solidFill>
              </a:rPr>
              <a:t>2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 baseline="-25000">
                <a:solidFill>
                  <a:srgbClr val="FF0000"/>
                </a:solidFill>
              </a:rPr>
              <a:t>2 </a:t>
            </a:r>
            <a:r>
              <a:rPr lang="zh-CN" altLang="en-US" sz="2800" b="1" dirty="0">
                <a:solidFill>
                  <a:schemeClr val="tx1"/>
                </a:solidFill>
              </a:rPr>
              <a:t>也是</a:t>
            </a:r>
            <a:r>
              <a:rPr lang="en-US" altLang="zh-CN" sz="2800" b="1" i="1">
                <a:solidFill>
                  <a:schemeClr val="tx1"/>
                </a:solidFill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</a:rPr>
              <a:t>的属于</a:t>
            </a:r>
            <a:r>
              <a:rPr lang="en-US" altLang="zh-CN" sz="2800" b="1" i="1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2800" b="1" baseline="-25000">
                <a:solidFill>
                  <a:schemeClr val="tx1"/>
                </a:solidFill>
              </a:rPr>
              <a:t>0 </a:t>
            </a:r>
            <a:r>
              <a:rPr lang="zh-CN" altLang="en-US" sz="2800" b="1" dirty="0">
                <a:solidFill>
                  <a:schemeClr val="tx1"/>
                </a:solidFill>
              </a:rPr>
              <a:t>的特征向量</a:t>
            </a:r>
            <a:r>
              <a:rPr lang="en-US" altLang="zh-CN" sz="2800" b="1">
                <a:solidFill>
                  <a:schemeClr val="tx1"/>
                </a:solidFill>
              </a:rPr>
              <a:t>.</a:t>
            </a:r>
            <a:br>
              <a:rPr lang="en-US" altLang="zh-CN" sz="2800" b="1">
                <a:solidFill>
                  <a:schemeClr val="tx1"/>
                </a:solidFill>
              </a:rPr>
            </a:br>
            <a:r>
              <a:rPr lang="en-US" altLang="zh-CN" sz="2800" b="1">
                <a:solidFill>
                  <a:schemeClr val="tx1"/>
                </a:solidFill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 baseline="-25000">
                <a:solidFill>
                  <a:schemeClr val="tx1"/>
                </a:solidFill>
              </a:rPr>
              <a:t>1</a:t>
            </a:r>
            <a:r>
              <a:rPr lang="en-US" altLang="zh-CN" sz="2800" b="1">
                <a:solidFill>
                  <a:schemeClr val="tx1"/>
                </a:solidFill>
              </a:rPr>
              <a:t>, </a:t>
            </a: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 baseline="-25000">
                <a:solidFill>
                  <a:schemeClr val="tx1"/>
                </a:solidFill>
              </a:rPr>
              <a:t>2 </a:t>
            </a:r>
            <a:r>
              <a:rPr lang="zh-CN" altLang="en-US" sz="2800" b="1" dirty="0">
                <a:solidFill>
                  <a:schemeClr val="tx1"/>
                </a:solidFill>
              </a:rPr>
              <a:t>是</a:t>
            </a:r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不同时为</a:t>
            </a:r>
            <a:r>
              <a:rPr lang="en-US" altLang="zh-CN" sz="2800" b="1" dirty="0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的任意常数时，</a:t>
            </a:r>
            <a:r>
              <a:rPr lang="zh-CN" altLang="en-US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sym typeface="+mn-ea"/>
              </a:rPr>
              <a:t>k</a:t>
            </a:r>
            <a:r>
              <a:rPr lang="en-US" altLang="zh-CN" sz="2800" b="1" baseline="-25000">
                <a:solidFill>
                  <a:srgbClr val="FF0000"/>
                </a:solidFill>
                <a:sym typeface="+mn-ea"/>
              </a:rPr>
              <a:t>1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 baseline="-25000">
                <a:solidFill>
                  <a:srgbClr val="FF0000"/>
                </a:solidFill>
                <a:sym typeface="+mn-ea"/>
              </a:rPr>
              <a:t>1 </a:t>
            </a:r>
            <a:r>
              <a:rPr lang="en-US" altLang="zh-CN" sz="2800" b="1" i="1">
                <a:solidFill>
                  <a:srgbClr val="FF0000"/>
                </a:solidFill>
                <a:sym typeface="+mn-ea"/>
              </a:rPr>
              <a:t>+ k</a:t>
            </a:r>
            <a:r>
              <a:rPr lang="en-US" altLang="zh-CN" sz="2800" b="1" baseline="-25000">
                <a:solidFill>
                  <a:srgbClr val="FF0000"/>
                </a:solidFill>
                <a:sym typeface="+mn-ea"/>
              </a:rPr>
              <a:t>2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="1" baseline="-25000">
                <a:solidFill>
                  <a:srgbClr val="FF0000"/>
                </a:solidFill>
                <a:sym typeface="+mn-ea"/>
              </a:rPr>
              <a:t>2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 0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5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5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4" grpId="0"/>
      <p:bldP spid="555019" grpId="0" build="p" advAuto="1000"/>
      <p:bldP spid="555020" grpId="0" build="p"/>
      <p:bldP spid="6553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7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57058" name="文本框 557057"/>
          <p:cNvSpPr txBox="1"/>
          <p:nvPr/>
        </p:nvSpPr>
        <p:spPr>
          <a:xfrm>
            <a:off x="895350" y="188913"/>
            <a:ext cx="6629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zh-CN" alt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特征多项式和特征方程的定义</a:t>
            </a:r>
          </a:p>
        </p:txBody>
      </p:sp>
      <p:sp>
        <p:nvSpPr>
          <p:cNvPr id="557059" name="文本框 557058"/>
          <p:cNvSpPr txBox="1"/>
          <p:nvPr/>
        </p:nvSpPr>
        <p:spPr>
          <a:xfrm>
            <a:off x="439420" y="836930"/>
            <a:ext cx="830961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定义 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4.1.2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 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设 </a:t>
            </a:r>
            <a:r>
              <a:rPr lang="en-US" altLang="zh-CN" sz="2800" i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= (</a:t>
            </a:r>
            <a:r>
              <a:rPr lang="en-US" altLang="zh-CN" sz="2800" i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2800" i="1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 i="1" baseline="-2500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28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j 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)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为 </a:t>
            </a:r>
            <a:r>
              <a:rPr lang="en-US" altLang="zh-CN" sz="2800" i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n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阶方阵，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+mn-ea"/>
              </a:rPr>
              <a:t>矩阵 </a:t>
            </a:r>
            <a:r>
              <a:rPr lang="en-US" altLang="zh-CN" i="1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Symbol" panose="05050102010706020507" pitchFamily="18" charset="2"/>
              </a:rPr>
              <a:t> </a:t>
            </a:r>
            <a:r>
              <a:rPr lang="en-US" altLang="zh-CN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+mn-ea"/>
              </a:rPr>
              <a:t>E</a:t>
            </a:r>
            <a:r>
              <a:rPr lang="en-US" altLang="zh-CN">
                <a:solidFill>
                  <a:srgbClr val="000000"/>
                </a:solidFill>
                <a:effectLst/>
                <a:ea typeface="黑体" panose="02010609060101010101" pitchFamily="2" charset="-122"/>
                <a:sym typeface="+mn-ea"/>
              </a:rPr>
              <a:t> – </a:t>
            </a:r>
            <a:r>
              <a:rPr lang="en-US" altLang="zh-CN" i="1">
                <a:solidFill>
                  <a:srgbClr val="000000"/>
                </a:solidFill>
                <a:effectLst/>
                <a:ea typeface="黑体" panose="02010609060101010101" pitchFamily="2" charset="-122"/>
                <a:sym typeface="+mn-ea"/>
              </a:rPr>
              <a:t>A </a:t>
            </a:r>
            <a:r>
              <a:rPr lang="zh-CN" altLang="en-US">
                <a:solidFill>
                  <a:srgbClr val="000000"/>
                </a:solidFill>
                <a:effectLst/>
                <a:ea typeface="黑体" panose="02010609060101010101" pitchFamily="2" charset="-122"/>
                <a:sym typeface="+mn-ea"/>
              </a:rPr>
              <a:t>的</a:t>
            </a:r>
            <a:r>
              <a:rPr lang="zh-CN" altLang="en-US" dirty="0">
                <a:solidFill>
                  <a:srgbClr val="000000"/>
                </a:solidFill>
                <a:effectLst/>
                <a:ea typeface="黑体" panose="02010609060101010101" pitchFamily="2" charset="-122"/>
                <a:sym typeface="+mn-ea"/>
              </a:rPr>
              <a:t>行列式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57062" name="对象 557061"/>
          <p:cNvGraphicFramePr/>
          <p:nvPr/>
        </p:nvGraphicFramePr>
        <p:xfrm>
          <a:off x="1115695" y="1700372"/>
          <a:ext cx="6825615" cy="225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44800" imgH="939800" progId="Equation.DSMT4">
                  <p:embed/>
                </p:oleObj>
              </mc:Choice>
              <mc:Fallback>
                <p:oleObj r:id="rId2" imgW="2844800" imgH="939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66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5695" y="1700372"/>
                        <a:ext cx="6825615" cy="22561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63" name="文本框 557062"/>
          <p:cNvSpPr txBox="1"/>
          <p:nvPr/>
        </p:nvSpPr>
        <p:spPr>
          <a:xfrm>
            <a:off x="539750" y="4349750"/>
            <a:ext cx="4038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称为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的</a:t>
            </a:r>
            <a:r>
              <a:rPr lang="zh-CN" altLang="en-US" sz="2800" dirty="0">
                <a:solidFill>
                  <a:srgbClr val="CC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特征多项式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.</a:t>
            </a:r>
          </a:p>
        </p:txBody>
      </p:sp>
      <p:sp>
        <p:nvSpPr>
          <p:cNvPr id="557064" name="文本框 557063"/>
          <p:cNvSpPr txBox="1"/>
          <p:nvPr/>
        </p:nvSpPr>
        <p:spPr>
          <a:xfrm>
            <a:off x="1239838" y="4926013"/>
            <a:ext cx="6096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| E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 –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|= 0 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称为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的</a:t>
            </a:r>
            <a:r>
              <a:rPr lang="zh-CN" altLang="en-US" sz="2800" dirty="0">
                <a:solidFill>
                  <a:srgbClr val="CC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特征方程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9" grpId="0"/>
      <p:bldP spid="557063" grpId="0"/>
      <p:bldP spid="5570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66" name="对象 19465"/>
          <p:cNvGraphicFramePr/>
          <p:nvPr/>
        </p:nvGraphicFramePr>
        <p:xfrm>
          <a:off x="251460" y="260350"/>
          <a:ext cx="8140700" cy="6544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5162550" progId="Word.Document.8">
                  <p:embed/>
                </p:oleObj>
              </mc:Choice>
              <mc:Fallback>
                <p:oleObj r:id="rId2" imgW="6053455" imgH="5162550" progId="Word.Document.8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" y="260350"/>
                        <a:ext cx="8140700" cy="65443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/>
          <p:nvPr/>
        </p:nvSpPr>
        <p:spPr>
          <a:xfrm>
            <a:off x="457200" y="654050"/>
            <a:ext cx="8231188" cy="3562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4.1.2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求矩阵                         的特征值．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解：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的特征多项式为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所以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的特征值为 </a:t>
            </a:r>
            <a:r>
              <a:rPr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</a:rPr>
              <a:t>l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= 2i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</a:rPr>
              <a:t>l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= -2i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，其中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是虚数单位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069059" name="Object 3"/>
          <p:cNvGraphicFramePr>
            <a:graphicFrameLocks noChangeAspect="1"/>
          </p:cNvGraphicFramePr>
          <p:nvPr/>
        </p:nvGraphicFramePr>
        <p:xfrm>
          <a:off x="2771616" y="449421"/>
          <a:ext cx="1877695" cy="937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39800" imgH="469900" progId="Equation.DSMT4">
                  <p:embed/>
                </p:oleObj>
              </mc:Choice>
              <mc:Fallback>
                <p:oleObj r:id="rId2" imgW="939800" imgH="469900" progId="Equation.DSMT4">
                  <p:embed/>
                  <p:pic>
                    <p:nvPicPr>
                      <p:cNvPr id="0" name="图片 44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1616" y="449421"/>
                        <a:ext cx="1877695" cy="9378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2" name="Object 4"/>
          <p:cNvGraphicFramePr>
            <a:graphicFrameLocks noChangeAspect="1"/>
          </p:cNvGraphicFramePr>
          <p:nvPr/>
        </p:nvGraphicFramePr>
        <p:xfrm>
          <a:off x="2613660" y="2189004"/>
          <a:ext cx="4161155" cy="887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82800" imgH="444500" progId="Equation.DSMT4">
                  <p:embed/>
                </p:oleObj>
              </mc:Choice>
              <mc:Fallback>
                <p:oleObj r:id="rId4" imgW="2082800" imgH="444500" progId="Equation.DSMT4">
                  <p:embed/>
                  <p:pic>
                    <p:nvPicPr>
                      <p:cNvPr id="0" name="图片 44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3660" y="2189004"/>
                        <a:ext cx="4161155" cy="8877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6" name="Rectangle 8"/>
          <p:cNvSpPr/>
          <p:nvPr/>
        </p:nvSpPr>
        <p:spPr>
          <a:xfrm>
            <a:off x="683895" y="4508500"/>
            <a:ext cx="569214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本例表明实方阵的特征值不一定是实数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charRg st="5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11970">
                                            <p:txEl>
                                              <p:charRg st="57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/>
          <p:nvPr/>
        </p:nvSpPr>
        <p:spPr>
          <a:xfrm>
            <a:off x="539115" y="548640"/>
            <a:ext cx="8249920" cy="358648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4.1.3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求矩阵                         的特征值和特征向量．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解：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的特征多项式为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所以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的特征值为 </a:t>
            </a:r>
            <a:r>
              <a:rPr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</a:rPr>
              <a:t>l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= 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</a:rPr>
              <a:t>l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= -5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．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当 </a:t>
            </a:r>
            <a:r>
              <a:rPr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</a:rPr>
              <a:t>l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= 2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时， 对应的特征向量满足方程组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-2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E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)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=0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069059" name="Object 3"/>
          <p:cNvGraphicFramePr>
            <a:graphicFrameLocks noChangeAspect="1"/>
          </p:cNvGraphicFramePr>
          <p:nvPr/>
        </p:nvGraphicFramePr>
        <p:xfrm>
          <a:off x="2847340" y="134620"/>
          <a:ext cx="1700530" cy="1126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50900" imgH="469900" progId="Equation.DSMT4">
                  <p:embed/>
                </p:oleObj>
              </mc:Choice>
              <mc:Fallback>
                <p:oleObj r:id="rId2" imgW="850900" imgH="469900" progId="Equation.DSMT4">
                  <p:embed/>
                  <p:pic>
                    <p:nvPicPr>
                      <p:cNvPr id="0" name="图片 44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47340" y="134620"/>
                        <a:ext cx="1700530" cy="1126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2" name="Object 4"/>
          <p:cNvGraphicFramePr>
            <a:graphicFrameLocks noChangeAspect="1"/>
          </p:cNvGraphicFramePr>
          <p:nvPr/>
        </p:nvGraphicFramePr>
        <p:xfrm>
          <a:off x="901065" y="1961038"/>
          <a:ext cx="7586345" cy="134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797300" imgH="673100" progId="Equation.DSMT4">
                  <p:embed/>
                </p:oleObj>
              </mc:Choice>
              <mc:Fallback>
                <p:oleObj r:id="rId4" imgW="3797300" imgH="673100" progId="Equation.DSMT4">
                  <p:embed/>
                  <p:pic>
                    <p:nvPicPr>
                      <p:cNvPr id="0" name="图片 44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1065" y="1961038"/>
                        <a:ext cx="7586345" cy="13436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612140" y="4281805"/>
            <a:ext cx="6299835" cy="913130"/>
            <a:chOff x="964" y="6743"/>
            <a:chExt cx="9921" cy="1438"/>
          </a:xfrm>
        </p:grpSpPr>
        <p:graphicFrame>
          <p:nvGraphicFramePr>
            <p:cNvPr id="211973" name="Object 5"/>
            <p:cNvGraphicFramePr>
              <a:graphicFrameLocks noChangeAspect="1"/>
            </p:cNvGraphicFramePr>
            <p:nvPr/>
          </p:nvGraphicFramePr>
          <p:xfrm>
            <a:off x="2211" y="6743"/>
            <a:ext cx="8675" cy="1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755900" imgH="457200" progId="Equation.DSMT4">
                    <p:embed/>
                  </p:oleObj>
                </mc:Choice>
                <mc:Fallback>
                  <p:oleObj r:id="rId6" imgW="2755900" imgH="457200" progId="Equation.DSMT4">
                    <p:embed/>
                    <p:pic>
                      <p:nvPicPr>
                        <p:cNvPr id="0" name="图片 447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11" y="6743"/>
                          <a:ext cx="8675" cy="14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文本框 1"/>
            <p:cNvSpPr txBox="1"/>
            <p:nvPr/>
          </p:nvSpPr>
          <p:spPr>
            <a:xfrm>
              <a:off x="964" y="7100"/>
              <a:ext cx="12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</a:pPr>
              <a:r>
                <a:rPr lang="zh-CN" altLang="en-US" sz="2400" dirty="0">
                  <a:solidFill>
                    <a:srgbClr val="000000"/>
                  </a:solidFill>
                  <a:ea typeface="楷体_GB2312"/>
                  <a:sym typeface="+mn-ea"/>
                </a:rPr>
                <a:t>由</a:t>
              </a:r>
              <a:endParaRPr lang="zh-CN" altLang="en-US" sz="2400" dirty="0">
                <a:solidFill>
                  <a:srgbClr val="000000"/>
                </a:solidFill>
                <a:ea typeface="楷体_GB231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00025" y="5285740"/>
            <a:ext cx="85902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得同解方程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x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 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=3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x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 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求得基础解系为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 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= (3,1)</a:t>
            </a:r>
            <a:r>
              <a:rPr lang="en-US" altLang="zh-CN" sz="2400" baseline="30000" dirty="0">
                <a:solidFill>
                  <a:srgbClr val="000000"/>
                </a:solidFill>
                <a:ea typeface="楷体_GB2312"/>
                <a:sym typeface="+mn-ea"/>
              </a:rPr>
              <a:t>T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,</a:t>
            </a:r>
            <a:r>
              <a:rPr lang="en-US" altLang="zh-CN" sz="2400" baseline="30000" dirty="0">
                <a:solidFill>
                  <a:srgbClr val="000000"/>
                </a:solidFill>
                <a:ea typeface="楷体_GB2312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所以属于的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l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 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= 2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的全部特征向量为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,</a:t>
            </a:r>
            <a:r>
              <a:rPr lang="en-US" altLang="zh-CN" sz="2400" baseline="30000" dirty="0">
                <a:solidFill>
                  <a:srgbClr val="000000"/>
                </a:solidFill>
                <a:ea typeface="楷体_GB2312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其中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是不等于零的任意常数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1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1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1505" y="260350"/>
            <a:ext cx="7748905" cy="903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当 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l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 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= -5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时， 对应的特征向量满足方程组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+5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E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)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=0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211973" name="Object 5"/>
          <p:cNvGraphicFramePr>
            <a:graphicFrameLocks noChangeAspect="1"/>
          </p:cNvGraphicFramePr>
          <p:nvPr/>
        </p:nvGraphicFramePr>
        <p:xfrm>
          <a:off x="1624013" y="1091724"/>
          <a:ext cx="4923790" cy="126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63165" imgH="634365" progId="Equation.DSMT4">
                  <p:embed/>
                </p:oleObj>
              </mc:Choice>
              <mc:Fallback>
                <p:oleObj r:id="rId2" imgW="2463165" imgH="634365" progId="Equation.DSMT4">
                  <p:embed/>
                  <p:pic>
                    <p:nvPicPr>
                      <p:cNvPr id="0" name="图片 44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24013" y="1091724"/>
                        <a:ext cx="4923790" cy="12674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39750" y="1495425"/>
            <a:ext cx="457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由</a:t>
            </a:r>
            <a:endParaRPr lang="zh-CN" altLang="en-US" sz="2400" dirty="0">
              <a:solidFill>
                <a:srgbClr val="000000"/>
              </a:solidFill>
              <a:ea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95605" y="2564765"/>
                <a:ext cx="8590280" cy="9867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 algn="l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得同解方程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楷体_GB2312"/>
                            <a:cs typeface="Cambria Math" panose="02040503050406030204" charset="0"/>
                            <a:sym typeface="+mn-ea"/>
                          </a:rPr>
                          <m:t>𝟏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楷体_GB2312"/>
                            <a:cs typeface="Cambria Math" panose="02040503050406030204" charset="0"/>
                            <a:sym typeface="+mn-ea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求得基础解系为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a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(1,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2)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T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,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所以属于的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5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的全部特征向量为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c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a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,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其中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c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是不等于零的任意常数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5" y="2564765"/>
                <a:ext cx="8590280" cy="986790"/>
              </a:xfrm>
              <a:prstGeom prst="rect">
                <a:avLst/>
              </a:prstGeom>
              <a:blipFill rotWithShape="1">
                <a:blip r:embed="rId4"/>
                <a:stretch>
                  <a:fillRect t="-3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1970" name="Rectangle 2"/>
              <p:cNvSpPr/>
              <p:nvPr/>
            </p:nvSpPr>
            <p:spPr>
              <a:xfrm>
                <a:off x="457200" y="591820"/>
                <a:ext cx="8231505" cy="36150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no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</a:rPr>
                  <a:t>例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</a:rPr>
                  <a:t>4.1.4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</a:rPr>
                  <a:t>：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求矩阵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  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                         的特征值和特征向量．</a:t>
                </a: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</a:rPr>
                  <a:t>解：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A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的特征多项式为</a:t>
                </a: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所以 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A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的特征值为 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</a:rPr>
                  <a:t>l</a:t>
                </a:r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1 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= 2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，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</a:rPr>
                  <a:t>l</a:t>
                </a:r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2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 =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3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=1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．</a:t>
                </a: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当 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</a:rPr>
                  <a:t>l</a:t>
                </a:r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1 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= 2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时， 对应的特征向量满足方程组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(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A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)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=0</a:t>
                </a: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</p:txBody>
          </p:sp>
        </mc:Choice>
        <mc:Fallback xmlns="">
          <p:sp>
            <p:nvSpPr>
              <p:cNvPr id="211970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91820"/>
                <a:ext cx="8231505" cy="3615055"/>
              </a:xfrm>
              <a:prstGeom prst="rect">
                <a:avLst/>
              </a:prstGeom>
              <a:blipFill rotWithShape="1">
                <a:blip r:embed="rId2"/>
                <a:stretch>
                  <a:fillRect b="-8484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69059" name="Object 3"/>
          <p:cNvGraphicFramePr>
            <a:graphicFrameLocks noChangeAspect="1"/>
          </p:cNvGraphicFramePr>
          <p:nvPr/>
        </p:nvGraphicFramePr>
        <p:xfrm>
          <a:off x="2628424" y="116364"/>
          <a:ext cx="2233930" cy="141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17600" imgH="711200" progId="Equation.DSMT4">
                  <p:embed/>
                </p:oleObj>
              </mc:Choice>
              <mc:Fallback>
                <p:oleObj r:id="rId3" imgW="1117600" imgH="711200" progId="Equation.DSMT4">
                  <p:embed/>
                  <p:pic>
                    <p:nvPicPr>
                      <p:cNvPr id="0" name="图片 44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8424" y="116364"/>
                        <a:ext cx="2233930" cy="14198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2" name="Object 4"/>
          <p:cNvGraphicFramePr>
            <a:graphicFrameLocks noChangeAspect="1"/>
          </p:cNvGraphicFramePr>
          <p:nvPr/>
        </p:nvGraphicFramePr>
        <p:xfrm>
          <a:off x="1395730" y="1961038"/>
          <a:ext cx="6597015" cy="134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302000" imgH="673100" progId="Equation.DSMT4">
                  <p:embed/>
                </p:oleObj>
              </mc:Choice>
              <mc:Fallback>
                <p:oleObj r:id="rId5" imgW="3302000" imgH="673100" progId="Equation.DSMT4">
                  <p:embed/>
                  <p:pic>
                    <p:nvPicPr>
                      <p:cNvPr id="0" name="图片 44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5730" y="1961038"/>
                        <a:ext cx="6597015" cy="13436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539115" y="4178935"/>
            <a:ext cx="7942580" cy="1419860"/>
            <a:chOff x="849" y="6581"/>
            <a:chExt cx="12508" cy="2236"/>
          </a:xfrm>
        </p:grpSpPr>
        <p:graphicFrame>
          <p:nvGraphicFramePr>
            <p:cNvPr id="211973" name="Object 5"/>
            <p:cNvGraphicFramePr>
              <a:graphicFrameLocks noChangeAspect="1"/>
            </p:cNvGraphicFramePr>
            <p:nvPr/>
          </p:nvGraphicFramePr>
          <p:xfrm>
            <a:off x="1643" y="6581"/>
            <a:ext cx="11714" cy="2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721100" imgH="711200" progId="Equation.DSMT4">
                    <p:embed/>
                  </p:oleObj>
                </mc:Choice>
                <mc:Fallback>
                  <p:oleObj r:id="rId7" imgW="3721100" imgH="711200" progId="Equation.DSMT4">
                    <p:embed/>
                    <p:pic>
                      <p:nvPicPr>
                        <p:cNvPr id="0" name="图片 44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43" y="6581"/>
                          <a:ext cx="11714" cy="2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文本框 1"/>
            <p:cNvSpPr txBox="1"/>
            <p:nvPr/>
          </p:nvSpPr>
          <p:spPr>
            <a:xfrm>
              <a:off x="849" y="7337"/>
              <a:ext cx="720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</a:pPr>
              <a:r>
                <a:rPr lang="zh-CN" altLang="en-US" sz="2400" dirty="0">
                  <a:solidFill>
                    <a:srgbClr val="000000"/>
                  </a:solidFill>
                  <a:ea typeface="楷体_GB2312"/>
                  <a:sym typeface="+mn-ea"/>
                </a:rPr>
                <a:t>由</a:t>
              </a:r>
              <a:endParaRPr lang="zh-CN" altLang="en-US" sz="2400" dirty="0">
                <a:solidFill>
                  <a:srgbClr val="000000"/>
                </a:solidFill>
                <a:ea typeface="楷体_GB231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00025" y="5661025"/>
                <a:ext cx="8590280" cy="829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 algn="l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得基础解系为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a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(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3,12,1)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T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,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所以属于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2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的全部特征向量为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c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a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,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其中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c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是不等于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0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的任意常数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5661025"/>
                <a:ext cx="8590280" cy="829945"/>
              </a:xfrm>
              <a:prstGeom prst="rect">
                <a:avLst/>
              </a:prstGeom>
              <a:blipFill rotWithShape="1">
                <a:blip r:embed="rId9"/>
                <a:stretch>
                  <a:fillRect t="-4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1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6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1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11505" y="260350"/>
                <a:ext cx="7748905" cy="9036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当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=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3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=1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时， 对应的特征向量满足方程组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(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A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)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=0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。</a:t>
                </a: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05" y="260350"/>
                <a:ext cx="7748905" cy="9036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1973" name="Object 5"/>
          <p:cNvGraphicFramePr>
            <a:graphicFrameLocks noChangeAspect="1"/>
          </p:cNvGraphicFramePr>
          <p:nvPr/>
        </p:nvGraphicFramePr>
        <p:xfrm>
          <a:off x="1619250" y="1125379"/>
          <a:ext cx="4697095" cy="355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49500" imgH="1777365" progId="Equation.DSMT4">
                  <p:embed/>
                </p:oleObj>
              </mc:Choice>
              <mc:Fallback>
                <p:oleObj r:id="rId3" imgW="2349500" imgH="1777365" progId="Equation.DSMT4">
                  <p:embed/>
                  <p:pic>
                    <p:nvPicPr>
                      <p:cNvPr id="0" name="图片 44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1125379"/>
                        <a:ext cx="4697095" cy="35521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55650" y="1628775"/>
            <a:ext cx="842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由</a:t>
            </a:r>
            <a:endParaRPr lang="zh-CN" altLang="en-US" sz="2400" dirty="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215" y="5085080"/>
            <a:ext cx="85902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得同解方程组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                         </a:t>
            </a:r>
          </a:p>
        </p:txBody>
      </p:sp>
      <p:graphicFrame>
        <p:nvGraphicFramePr>
          <p:cNvPr id="106505" name="Object 9"/>
          <p:cNvGraphicFramePr>
            <a:graphicFrameLocks noChangeAspect="1"/>
          </p:cNvGraphicFramePr>
          <p:nvPr/>
        </p:nvGraphicFramePr>
        <p:xfrm>
          <a:off x="2267427" y="4580890"/>
          <a:ext cx="200850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02665" imgH="660400" progId="Equation.DSMT4">
                  <p:embed/>
                </p:oleObj>
              </mc:Choice>
              <mc:Fallback>
                <p:oleObj r:id="rId5" imgW="1002665" imgH="660400" progId="Equation.DSMT4">
                  <p:embed/>
                  <p:pic>
                    <p:nvPicPr>
                      <p:cNvPr id="0" name="图片 43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67427" y="4580890"/>
                        <a:ext cx="2008505" cy="132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4300" imgH="215900" progId="Equation.KSEE3">
                  <p:embed/>
                </p:oleObj>
              </mc:Choice>
              <mc:Fallback>
                <p:oleObj r:id="rId7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67360" y="5953125"/>
            <a:ext cx="8064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所以属于 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l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=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l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=1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的全部特征向量为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,</a:t>
            </a:r>
            <a:r>
              <a:rPr lang="en-US" altLang="zh-CN" sz="2400" baseline="30000" dirty="0">
                <a:solidFill>
                  <a:srgbClr val="000000"/>
                </a:solidFill>
                <a:ea typeface="楷体_GB2312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其中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是不等于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的任意常数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139565" y="4975225"/>
                <a:ext cx="4572000" cy="74803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 algn="l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求得基础解系为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a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(1,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2,0)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T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,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</a:t>
                </a:r>
              </a:p>
              <a:p>
                <a:pPr marL="342900" indent="-342900" algn="l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endParaRPr lang="en-US" altLang="zh-CN" sz="2400" baseline="30000" dirty="0">
                  <a:solidFill>
                    <a:srgbClr val="000000"/>
                  </a:solidFill>
                  <a:ea typeface="楷体_GB2312"/>
                  <a:sym typeface="+mn-ea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565" y="4975225"/>
                <a:ext cx="4572000" cy="748030"/>
              </a:xfrm>
              <a:prstGeom prst="rect">
                <a:avLst/>
              </a:prstGeom>
              <a:blipFill rotWithShape="1">
                <a:blip r:embed="rId9"/>
                <a:stretch>
                  <a:fillRect t="-46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/>
          <p:nvPr/>
        </p:nvSpPr>
        <p:spPr>
          <a:xfrm>
            <a:off x="457200" y="654050"/>
            <a:ext cx="8231505" cy="8870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4.1.6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求矩阵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                        的特征值和特征向量．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069059" name="Object 3"/>
          <p:cNvGraphicFramePr>
            <a:graphicFrameLocks noChangeAspect="1"/>
          </p:cNvGraphicFramePr>
          <p:nvPr/>
        </p:nvGraphicFramePr>
        <p:xfrm>
          <a:off x="2704307" y="188754"/>
          <a:ext cx="2082165" cy="141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41400" imgH="711200" progId="Equation.DSMT4">
                  <p:embed/>
                </p:oleObj>
              </mc:Choice>
              <mc:Fallback>
                <p:oleObj r:id="rId2" imgW="1041400" imgH="711200" progId="Equation.DSMT4">
                  <p:embed/>
                  <p:pic>
                    <p:nvPicPr>
                      <p:cNvPr id="0" name="图片 44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4307" y="188754"/>
                        <a:ext cx="2082165" cy="14198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2" name="Object 4"/>
          <p:cNvGraphicFramePr>
            <a:graphicFrameLocks noChangeAspect="1"/>
          </p:cNvGraphicFramePr>
          <p:nvPr/>
        </p:nvGraphicFramePr>
        <p:xfrm>
          <a:off x="467360" y="2252821"/>
          <a:ext cx="6927215" cy="3321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67100" imgH="1663700" progId="Equation.DSMT4">
                  <p:embed/>
                </p:oleObj>
              </mc:Choice>
              <mc:Fallback>
                <p:oleObj r:id="rId4" imgW="3467100" imgH="1663700" progId="Equation.DSMT4">
                  <p:embed/>
                  <p:pic>
                    <p:nvPicPr>
                      <p:cNvPr id="0" name="图片 44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360" y="2252821"/>
                        <a:ext cx="6927215" cy="3321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11505" y="170053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ea typeface="楷体_GB2312"/>
                <a:sym typeface="+mn-ea"/>
              </a:rPr>
              <a:t>解：</a:t>
            </a:r>
            <a:r>
              <a:rPr lang="en-US" altLang="zh-CN" sz="2400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的特征多项式为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51460" y="5732780"/>
                <a:ext cx="7981950" cy="9036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所以 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A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的特征值为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2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，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=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3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=1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．</a:t>
                </a: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当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2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时， 对应的特征向量满足方程组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(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E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)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=0.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5732780"/>
                <a:ext cx="7981950" cy="903605"/>
              </a:xfrm>
              <a:prstGeom prst="rect">
                <a:avLst/>
              </a:prstGeom>
              <a:blipFill rotWithShape="1">
                <a:blip r:embed="rId6"/>
                <a:stretch>
                  <a:fillRect b="-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973" name="Object 5"/>
          <p:cNvGraphicFramePr>
            <a:graphicFrameLocks noChangeAspect="1"/>
          </p:cNvGraphicFramePr>
          <p:nvPr/>
        </p:nvGraphicFramePr>
        <p:xfrm>
          <a:off x="1979295" y="500222"/>
          <a:ext cx="4874895" cy="1420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38400" imgH="711200" progId="Equation.DSMT4">
                  <p:embed/>
                </p:oleObj>
              </mc:Choice>
              <mc:Fallback>
                <p:oleObj r:id="rId2" imgW="2438400" imgH="711200" progId="Equation.DSMT4">
                  <p:embed/>
                  <p:pic>
                    <p:nvPicPr>
                      <p:cNvPr id="0" name="图片 44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9295" y="500222"/>
                        <a:ext cx="4874895" cy="14204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331595" y="980440"/>
            <a:ext cx="10191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由</a:t>
            </a:r>
            <a:endParaRPr lang="zh-CN" altLang="en-US" sz="2400" dirty="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5925" y="2030730"/>
            <a:ext cx="85902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得基础解系为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 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= (1,1,1)</a:t>
            </a:r>
            <a:r>
              <a:rPr lang="en-US" altLang="zh-CN" sz="2400" baseline="30000" dirty="0">
                <a:solidFill>
                  <a:srgbClr val="000000"/>
                </a:solidFill>
                <a:ea typeface="楷体_GB2312"/>
                <a:sym typeface="+mn-ea"/>
              </a:rPr>
              <a:t>T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,</a:t>
            </a:r>
            <a:r>
              <a:rPr lang="en-US" altLang="zh-CN" sz="2400" baseline="30000" dirty="0">
                <a:solidFill>
                  <a:srgbClr val="000000"/>
                </a:solidFill>
                <a:ea typeface="楷体_GB2312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所以属于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l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 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= 2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的全部特征向量为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,</a:t>
            </a:r>
            <a:r>
              <a:rPr lang="en-US" altLang="zh-CN" sz="2400" baseline="30000" dirty="0">
                <a:solidFill>
                  <a:srgbClr val="000000"/>
                </a:solidFill>
                <a:ea typeface="楷体_GB2312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其中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是不等于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的任意常数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67360" y="2924810"/>
                <a:ext cx="7748905" cy="9036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当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=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l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3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=1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时， 对应的特征向量满足方程组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(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E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)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=0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。</a:t>
                </a: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  <a:p>
                <a:pPr marL="342900" indent="-342900">
                  <a:spcBef>
                    <a:spcPct val="2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endPara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" y="2924810"/>
                <a:ext cx="7748905" cy="9036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453833" y="3356451"/>
          <a:ext cx="4596130" cy="142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98700" imgH="711200" progId="Equation.DSMT4">
                  <p:embed/>
                </p:oleObj>
              </mc:Choice>
              <mc:Fallback>
                <p:oleObj r:id="rId5" imgW="2298700" imgH="711200" progId="Equation.DSMT4">
                  <p:embed/>
                  <p:pic>
                    <p:nvPicPr>
                      <p:cNvPr id="0" name="图片 44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53833" y="3356451"/>
                        <a:ext cx="4596130" cy="14217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11505" y="3892550"/>
            <a:ext cx="842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由</a:t>
            </a:r>
            <a:endParaRPr lang="zh-CN" altLang="en-US" sz="2400" dirty="0">
              <a:solidFill>
                <a:srgbClr val="000000"/>
              </a:solidFill>
              <a:ea typeface="楷体_GB231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23215" y="4975225"/>
                <a:ext cx="7950200" cy="829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>
                  <a:spcBef>
                    <a:spcPts val="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得同解方程组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+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3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, 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求得基础解系为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a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2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(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楷体_GB2312"/>
                        <a:sym typeface="+mn-ea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1,1,0)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T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,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Symbol" panose="05050102010706020507" pitchFamily="18" charset="2"/>
                    <a:ea typeface="楷体_GB2312"/>
                    <a:sym typeface="+mn-ea"/>
                  </a:rPr>
                  <a:t>a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3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= (1,0,1)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T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,</a:t>
                </a:r>
                <a:r>
                  <a:rPr lang="en-US" altLang="zh-CN" sz="2400" baseline="300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楷体_GB2312"/>
                    <a:sym typeface="+mn-ea"/>
                  </a:rPr>
                  <a:t>   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15" y="4975225"/>
                <a:ext cx="7950200" cy="829945"/>
              </a:xfrm>
              <a:prstGeom prst="rect">
                <a:avLst/>
              </a:prstGeom>
              <a:blipFill rotWithShape="1">
                <a:blip r:embed="rId7"/>
                <a:stretch>
                  <a:fillRect t="-4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467360" y="5953125"/>
            <a:ext cx="8064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所以属于 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l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=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l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 =1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的全部特征向量为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+c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3</a:t>
            </a:r>
            <a:r>
              <a:rPr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  <a:sym typeface="+mn-ea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,</a:t>
            </a:r>
            <a:r>
              <a:rPr lang="en-US" altLang="zh-CN" sz="2400" baseline="30000" dirty="0">
                <a:solidFill>
                  <a:srgbClr val="000000"/>
                </a:solidFill>
                <a:ea typeface="楷体_GB2312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其中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,c</a:t>
            </a:r>
            <a:r>
              <a:rPr lang="en-US" altLang="zh-CN" sz="2400" baseline="-25000" dirty="0">
                <a:solidFill>
                  <a:srgbClr val="000000"/>
                </a:solidFill>
                <a:ea typeface="楷体_GB2312"/>
                <a:sym typeface="+mn-ea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不同时为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ea typeface="楷体_GB2312"/>
                <a:sym typeface="+mn-ea"/>
              </a:rPr>
              <a:t>的任意常数</a:t>
            </a:r>
            <a:r>
              <a:rPr lang="en-US" altLang="zh-CN" sz="2400" dirty="0">
                <a:solidFill>
                  <a:srgbClr val="000000"/>
                </a:solidFill>
                <a:ea typeface="楷体_GB2312"/>
                <a:sym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16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55363" name="文本框 655362"/>
          <p:cNvSpPr txBox="1"/>
          <p:nvPr/>
        </p:nvSpPr>
        <p:spPr>
          <a:xfrm>
            <a:off x="577850" y="244475"/>
            <a:ext cx="528764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．特征值与特征向量的性质</a:t>
            </a:r>
            <a:endParaRPr lang="zh-CN" altLang="en-US" sz="32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215" y="1196340"/>
            <a:ext cx="873887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定义</a:t>
            </a:r>
            <a:r>
              <a:rPr lang="en-US" altLang="zh-CN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4.1.3  </a:t>
            </a:r>
            <a:r>
              <a:rPr lang="zh-CN" altLang="en-US">
                <a:solidFill>
                  <a:schemeClr val="tx1"/>
                </a:solidFill>
                <a:ea typeface="仿宋_GB2312" pitchFamily="49" charset="-122"/>
                <a:sym typeface="Symbol" panose="05050102010706020507" pitchFamily="18" charset="2"/>
              </a:rPr>
              <a:t>方阵</a:t>
            </a:r>
            <a:r>
              <a:rPr lang="en-US" altLang="zh-CN" i="1">
                <a:ea typeface="仿宋_GB2312" pitchFamily="49" charset="-122"/>
                <a:sym typeface="Symbol" panose="05050102010706020507" pitchFamily="18" charset="2"/>
              </a:rPr>
              <a:t>A=</a:t>
            </a:r>
            <a:r>
              <a:rPr lang="en-US" altLang="zh-CN">
                <a:ea typeface="仿宋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楷体_GB2312"/>
                <a:sym typeface="+mn-ea"/>
              </a:rPr>
              <a:t>ij</a:t>
            </a:r>
            <a:r>
              <a:rPr lang="en-US" altLang="zh-CN">
                <a:ea typeface="仿宋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ea typeface="仿宋_GB2312" pitchFamily="49" charset="-122"/>
                <a:sym typeface="Symbol" panose="05050102010706020507" pitchFamily="18" charset="2"/>
              </a:rPr>
              <a:t>的主对角元素之和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楷体_GB2312"/>
                <a:sym typeface="+mn-ea"/>
              </a:rPr>
              <a:t>11 </a:t>
            </a:r>
            <a:r>
              <a:rPr lang="en-US" altLang="zh-CN" dirty="0">
                <a:solidFill>
                  <a:srgbClr val="000000"/>
                </a:solidFill>
                <a:ea typeface="楷体_GB2312"/>
                <a:sym typeface="+mn-ea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楷体_GB2312"/>
                <a:sym typeface="+mn-ea"/>
              </a:rPr>
              <a:t>22</a:t>
            </a:r>
            <a:r>
              <a:rPr lang="en-US" altLang="zh-CN" dirty="0">
                <a:solidFill>
                  <a:srgbClr val="000000"/>
                </a:solidFill>
                <a:ea typeface="楷体_GB2312"/>
                <a:sym typeface="+mn-ea"/>
              </a:rPr>
              <a:t>+...+</a:t>
            </a:r>
            <a:r>
              <a:rPr lang="en-US" altLang="zh-CN" i="1" dirty="0">
                <a:solidFill>
                  <a:srgbClr val="000000"/>
                </a:solidFill>
                <a:ea typeface="楷体_GB2312"/>
                <a:sym typeface="+mn-ea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ea typeface="楷体_GB2312"/>
                <a:sym typeface="+mn-ea"/>
              </a:rPr>
              <a:t>nn</a:t>
            </a:r>
            <a:r>
              <a:rPr lang="zh-CN" altLang="en-US">
                <a:ea typeface="仿宋_GB2312" pitchFamily="49" charset="-122"/>
                <a:sym typeface="Symbol" panose="05050102010706020507" pitchFamily="18" charset="2"/>
              </a:rPr>
              <a:t>称为</a:t>
            </a:r>
            <a:r>
              <a:rPr lang="en-US" altLang="zh-CN" i="1">
                <a:ea typeface="仿宋_GB2312" pitchFamily="49" charset="-122"/>
                <a:sym typeface="Symbol" panose="05050102010706020507" pitchFamily="18" charset="2"/>
              </a:rPr>
              <a:t>A</a:t>
            </a:r>
            <a:r>
              <a:rPr lang="zh-CN" altLang="en-US" dirty="0">
                <a:ea typeface="仿宋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迹</a:t>
            </a:r>
            <a:r>
              <a:rPr lang="zh-CN" altLang="en-US" dirty="0">
                <a:ea typeface="仿宋_GB2312" pitchFamily="49" charset="-122"/>
                <a:sym typeface="Symbol" panose="05050102010706020507" pitchFamily="18" charset="2"/>
              </a:rPr>
              <a:t>，记作 </a:t>
            </a:r>
            <a:r>
              <a:rPr lang="en-US" altLang="zh-CN" err="1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tr(</a:t>
            </a:r>
            <a:r>
              <a:rPr lang="en-US" altLang="zh-CN" i="1" err="1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ea typeface="仿宋_GB2312" pitchFamily="49" charset="-122"/>
                <a:sym typeface="Symbol" panose="05050102010706020507" pitchFamily="18" charset="2"/>
              </a:rPr>
              <a:t>。</a:t>
            </a:r>
            <a:r>
              <a:rPr lang="en-US" altLang="zh-CN">
                <a:ea typeface="仿宋_GB2312" pitchFamily="49" charset="-122"/>
                <a:sym typeface="Symbol" panose="05050102010706020507" pitchFamily="18" charset="2"/>
              </a:rPr>
              <a:t>   </a:t>
            </a:r>
          </a:p>
        </p:txBody>
      </p:sp>
      <p:sp>
        <p:nvSpPr>
          <p:cNvPr id="765954" name="矩形 765953"/>
          <p:cNvSpPr/>
          <p:nvPr/>
        </p:nvSpPr>
        <p:spPr>
          <a:xfrm>
            <a:off x="395605" y="2628265"/>
            <a:ext cx="880300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性质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4.1.2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若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阶矩阵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A 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 (</a:t>
            </a:r>
            <a:r>
              <a:rPr lang="en-US" altLang="zh-CN" sz="2800" i="1" err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i="1" baseline="-30000" err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i="1" baseline="-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j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800" baseline="-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的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个特征值为</a:t>
            </a:r>
            <a:r>
              <a:rPr lang="en-US" altLang="zh-CN" sz="2800" i="1" dirty="0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aseline="-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aseline="-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MT Extra" panose="05050102010205020202" pitchFamily="18" charset="2"/>
              </a:rPr>
              <a:t>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i="1" baseline="-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，则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65964" name="对象 765963"/>
          <p:cNvGraphicFramePr/>
          <p:nvPr/>
        </p:nvGraphicFramePr>
        <p:xfrm>
          <a:off x="1031399" y="3786188"/>
          <a:ext cx="3968750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03400" imgH="431800" progId="Equation.DSMT4">
                  <p:embed/>
                </p:oleObj>
              </mc:Choice>
              <mc:Fallback>
                <p:oleObj r:id="rId2" imgW="1803400" imgH="431800" progId="Equation.DSMT4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1399" y="3786188"/>
                        <a:ext cx="3968750" cy="9512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1031082" y="5013008"/>
          <a:ext cx="4248785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30400" imgH="431800" progId="Equation.DSMT4">
                  <p:embed/>
                </p:oleObj>
              </mc:Choice>
              <mc:Fallback>
                <p:oleObj r:id="rId4" imgW="1930400" imgH="431800" progId="Equation.DSMT4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1082" y="5013008"/>
                        <a:ext cx="4248785" cy="9512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6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659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17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765967" name="组合 765966"/>
          <p:cNvGrpSpPr/>
          <p:nvPr/>
        </p:nvGrpSpPr>
        <p:grpSpPr>
          <a:xfrm>
            <a:off x="395288" y="1484313"/>
            <a:ext cx="7789862" cy="2068512"/>
            <a:chOff x="295" y="1606"/>
            <a:chExt cx="4907" cy="1303"/>
          </a:xfrm>
        </p:grpSpPr>
        <p:sp>
          <p:nvSpPr>
            <p:cNvPr id="765959" name="矩形 765958"/>
            <p:cNvSpPr/>
            <p:nvPr/>
          </p:nvSpPr>
          <p:spPr>
            <a:xfrm>
              <a:off x="295" y="2060"/>
              <a:ext cx="105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2800" dirty="0">
                  <a:latin typeface="Times New Roman" panose="02020603050405020304" pitchFamily="18" charset="0"/>
                  <a:ea typeface="仿宋_GB2312" pitchFamily="49" charset="-122"/>
                </a:rPr>
                <a:t>  *</a:t>
              </a:r>
              <a:r>
                <a:rPr lang="zh-CN" altLang="en-US" sz="2800" dirty="0">
                  <a:latin typeface="Times New Roman" panose="02020603050405020304" pitchFamily="18" charset="0"/>
                  <a:ea typeface="仿宋_GB2312" pitchFamily="49" charset="-122"/>
                </a:rPr>
                <a:t>证：设</a:t>
              </a:r>
            </a:p>
          </p:txBody>
        </p:sp>
        <p:graphicFrame>
          <p:nvGraphicFramePr>
            <p:cNvPr id="765960" name="对象 765959"/>
            <p:cNvGraphicFramePr/>
            <p:nvPr/>
          </p:nvGraphicFramePr>
          <p:xfrm>
            <a:off x="1069" y="1606"/>
            <a:ext cx="4002" cy="1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870200" imgH="939800" progId="Equation.3">
                    <p:embed/>
                  </p:oleObj>
                </mc:Choice>
                <mc:Fallback>
                  <p:oleObj r:id="rId2" imgW="2870200" imgH="939800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69" y="1606"/>
                          <a:ext cx="4002" cy="13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5961" name="文本框 765960"/>
            <p:cNvSpPr txBox="1"/>
            <p:nvPr/>
          </p:nvSpPr>
          <p:spPr>
            <a:xfrm>
              <a:off x="4824" y="2101"/>
              <a:ext cx="3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/>
              <a:r>
                <a:rPr lang="en-US" altLang="zh-CN" sz="2800">
                  <a:latin typeface="Times New Roman" panose="02020603050405020304" pitchFamily="18" charset="0"/>
                  <a:ea typeface="仿宋_GB2312" pitchFamily="49" charset="-122"/>
                </a:rPr>
                <a:t>(*)</a:t>
              </a:r>
            </a:p>
          </p:txBody>
        </p:sp>
      </p:grpSp>
      <p:sp>
        <p:nvSpPr>
          <p:cNvPr id="765962" name="矩形 765961"/>
          <p:cNvSpPr/>
          <p:nvPr/>
        </p:nvSpPr>
        <p:spPr>
          <a:xfrm>
            <a:off x="898843" y="3860800"/>
            <a:ext cx="74882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</a:rPr>
              <a:t>	= 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i="1" baseline="30000">
                <a:latin typeface="Times New Roman" panose="02020603050405020304" pitchFamily="18" charset="0"/>
                <a:ea typeface="仿宋_GB2312" pitchFamily="49" charset="-122"/>
              </a:rPr>
              <a:t>n 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800" baseline="-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 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i="1" baseline="30000"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en-US" altLang="zh-CN" sz="2800" i="1" baseline="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baseline="30000">
                <a:latin typeface="Times New Roman" panose="02020603050405020304" pitchFamily="18" charset="0"/>
                <a:ea typeface="仿宋_GB2312" pitchFamily="49" charset="-122"/>
              </a:rPr>
              <a:t>1 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MT Extra" panose="05050102010205020202" pitchFamily="18" charset="2"/>
              </a:rPr>
              <a:t>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</a:rPr>
              <a:t>+ c</a:t>
            </a:r>
            <a:r>
              <a:rPr lang="en-US" altLang="zh-CN" sz="2800" i="1" baseline="-30000">
                <a:latin typeface="Times New Roman" panose="02020603050405020304" pitchFamily="18" charset="0"/>
                <a:ea typeface="仿宋_GB2312" pitchFamily="49" charset="-122"/>
                <a:sym typeface="MT Extra" panose="05050102010205020202" pitchFamily="18" charset="2"/>
              </a:rPr>
              <a:t>k 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i="1" baseline="30000" err="1"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en-US" altLang="zh-CN" sz="2800" i="1" baseline="30000" err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i="1" baseline="30000" err="1">
                <a:latin typeface="Times New Roman" panose="02020603050405020304" pitchFamily="18" charset="0"/>
                <a:ea typeface="仿宋_GB2312" pitchFamily="49" charset="-122"/>
              </a:rPr>
              <a:t>k</a:t>
            </a:r>
            <a:r>
              <a:rPr lang="en-US" altLang="zh-CN" sz="2800" i="1" baseline="3000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MT Extra" panose="05050102010205020202" pitchFamily="18" charset="2"/>
              </a:rPr>
              <a:t>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</a:rPr>
              <a:t>+ c</a:t>
            </a:r>
            <a:r>
              <a:rPr lang="en-US" altLang="zh-CN" sz="2800" i="1" baseline="-30000">
                <a:latin typeface="Times New Roman" panose="02020603050405020304" pitchFamily="18" charset="0"/>
                <a:ea typeface="仿宋_GB2312" pitchFamily="49" charset="-122"/>
                <a:sym typeface="MT Extra" panose="05050102010205020202" pitchFamily="18" charset="2"/>
              </a:rPr>
              <a:t>n</a:t>
            </a:r>
            <a:r>
              <a:rPr lang="en-US" altLang="zh-CN" sz="2800" i="1" baseline="-30000">
                <a:latin typeface="仿宋_GB2312" pitchFamily="49" charset="-122"/>
                <a:ea typeface="仿宋_GB2312" pitchFamily="49" charset="-122"/>
                <a:sym typeface="MT Extra" panose="05050102010205020202" pitchFamily="18" charset="2"/>
              </a:rPr>
              <a:t>-</a:t>
            </a:r>
            <a:r>
              <a:rPr lang="en-US" altLang="zh-CN" sz="2800" baseline="-30000">
                <a:latin typeface="仿宋_GB2312" pitchFamily="49" charset="-122"/>
                <a:ea typeface="仿宋_GB2312" pitchFamily="49" charset="-122"/>
                <a:sym typeface="MT Extra" panose="05050102010205020202" pitchFamily="18" charset="2"/>
              </a:rPr>
              <a:t>1 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lang="en-US" altLang="zh-CN" sz="2800" i="1" baseline="-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765963" name="文本框 765962"/>
          <p:cNvSpPr txBox="1"/>
          <p:nvPr/>
        </p:nvSpPr>
        <p:spPr>
          <a:xfrm>
            <a:off x="251460" y="4580890"/>
            <a:ext cx="72009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        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</a:rPr>
              <a:t>(*)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式可表示为 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800" i="1" baseline="30000">
                <a:latin typeface="Times New Roman" panose="02020603050405020304" pitchFamily="18" charset="0"/>
                <a:ea typeface="仿宋_GB2312" pitchFamily="49" charset="-122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个行列式之和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</a:rPr>
              <a:t>,  </a:t>
            </a:r>
          </a:p>
          <a:p>
            <a:pPr algn="l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其中展开后含 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i="1" baseline="30000"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en-US" altLang="zh-CN" sz="2800" baseline="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baseline="30000"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项的行列式有下面 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个：</a:t>
            </a:r>
          </a:p>
        </p:txBody>
      </p:sp>
      <p:sp>
        <p:nvSpPr>
          <p:cNvPr id="765954" name="矩形 765953"/>
          <p:cNvSpPr/>
          <p:nvPr/>
        </p:nvSpPr>
        <p:spPr>
          <a:xfrm>
            <a:off x="323850" y="476250"/>
            <a:ext cx="88030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性质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4.1.2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的证明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  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5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62" grpId="0" build="p"/>
      <p:bldP spid="765963" grpId="0" uiExpan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18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68002" name="对象 768001"/>
          <p:cNvGraphicFramePr/>
          <p:nvPr/>
        </p:nvGraphicFramePr>
        <p:xfrm>
          <a:off x="6224588" y="163513"/>
          <a:ext cx="2760662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71600" imgH="939800" progId="Equation.3">
                  <p:embed/>
                </p:oleObj>
              </mc:Choice>
              <mc:Fallback>
                <p:oleObj r:id="rId2" imgW="1371600" imgH="939800" progId="Equation.3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24588" y="163513"/>
                        <a:ext cx="2760662" cy="188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3" name="对象 768002"/>
          <p:cNvGraphicFramePr/>
          <p:nvPr/>
        </p:nvGraphicFramePr>
        <p:xfrm>
          <a:off x="3033713" y="188913"/>
          <a:ext cx="4067175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32000" imgH="939800" progId="Equation.3">
                  <p:embed/>
                </p:oleObj>
              </mc:Choice>
              <mc:Fallback>
                <p:oleObj r:id="rId4" imgW="2032000" imgH="93980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33713" y="188913"/>
                        <a:ext cx="4067175" cy="1871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4" name="对象 768003"/>
          <p:cNvGraphicFramePr/>
          <p:nvPr/>
        </p:nvGraphicFramePr>
        <p:xfrm>
          <a:off x="887413" y="163513"/>
          <a:ext cx="2724150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58900" imgH="939800" progId="Equation.3">
                  <p:embed/>
                </p:oleObj>
              </mc:Choice>
              <mc:Fallback>
                <p:oleObj r:id="rId6" imgW="1358900" imgH="9398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7413" y="163513"/>
                        <a:ext cx="2724150" cy="187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05" name="矩形 768004"/>
          <p:cNvSpPr/>
          <p:nvPr/>
        </p:nvSpPr>
        <p:spPr>
          <a:xfrm>
            <a:off x="755650" y="2014538"/>
            <a:ext cx="4343400" cy="120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它们的和等于</a:t>
            </a:r>
          </a:p>
          <a:p>
            <a:pPr algn="l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 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aseline="-25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11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 </a:t>
            </a:r>
            <a:r>
              <a:rPr lang="en-US" altLang="zh-CN" sz="2800" i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aseline="-25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22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</a:t>
            </a:r>
            <a:r>
              <a:rPr lang="en-US" altLang="zh-CN" sz="280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 </a:t>
            </a:r>
            <a:r>
              <a:rPr lang="en-US" altLang="zh-CN" sz="2800" i="1" err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i="1" baseline="-25000" err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nn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) 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i="1" baseline="30000"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en-US" altLang="zh-CN" sz="2800" baseline="3000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baseline="30000"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</a:rPr>
              <a:t>=</a:t>
            </a:r>
          </a:p>
        </p:txBody>
      </p:sp>
      <p:graphicFrame>
        <p:nvGraphicFramePr>
          <p:cNvPr id="768006" name="对象 768005"/>
          <p:cNvGraphicFramePr/>
          <p:nvPr/>
        </p:nvGraphicFramePr>
        <p:xfrm>
          <a:off x="4791075" y="2446338"/>
          <a:ext cx="43180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67865" imgH="431800" progId="Equation.3">
                  <p:embed/>
                </p:oleObj>
              </mc:Choice>
              <mc:Fallback>
                <p:oleObj r:id="rId8" imgW="1967865" imgH="4318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91075" y="2446338"/>
                        <a:ext cx="4318000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07" name="矩形 768006"/>
          <p:cNvSpPr/>
          <p:nvPr/>
        </p:nvSpPr>
        <p:spPr>
          <a:xfrm>
            <a:off x="684213" y="3357563"/>
            <a:ext cx="51831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仿宋_GB2312" pitchFamily="49" charset="-122"/>
              </a:rPr>
              <a:t>(*)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式中不含 </a:t>
            </a:r>
            <a:r>
              <a:rPr lang="en-US" altLang="zh-CN" sz="2800" i="1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 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的常数项为</a:t>
            </a:r>
          </a:p>
        </p:txBody>
      </p:sp>
      <p:graphicFrame>
        <p:nvGraphicFramePr>
          <p:cNvPr id="768009" name="对象 768008"/>
          <p:cNvGraphicFramePr/>
          <p:nvPr/>
        </p:nvGraphicFramePr>
        <p:xfrm>
          <a:off x="858838" y="3933825"/>
          <a:ext cx="3475037" cy="206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74800" imgH="939800" progId="Equation.3">
                  <p:embed/>
                </p:oleObj>
              </mc:Choice>
              <mc:Fallback>
                <p:oleObj r:id="rId10" imgW="1574800" imgH="9398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58838" y="3933825"/>
                        <a:ext cx="3475037" cy="206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8018" name="组合 768017"/>
          <p:cNvGrpSpPr/>
          <p:nvPr/>
        </p:nvGrpSpPr>
        <p:grpSpPr>
          <a:xfrm>
            <a:off x="4270375" y="4686300"/>
            <a:ext cx="4016375" cy="530225"/>
            <a:chOff x="2690" y="3088"/>
            <a:chExt cx="2530" cy="334"/>
          </a:xfrm>
        </p:grpSpPr>
        <p:graphicFrame>
          <p:nvGraphicFramePr>
            <p:cNvPr id="768008" name="对象 768007"/>
            <p:cNvGraphicFramePr/>
            <p:nvPr/>
          </p:nvGraphicFramePr>
          <p:xfrm>
            <a:off x="2690" y="3088"/>
            <a:ext cx="988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711200" imgH="241300" progId="Equation.3">
                    <p:embed/>
                  </p:oleObj>
                </mc:Choice>
                <mc:Fallback>
                  <p:oleObj r:id="rId12" imgW="711200" imgH="241300" progId="Equation.3">
                    <p:embed/>
                    <p:pic>
                      <p:nvPicPr>
                        <p:cNvPr id="0" name="图片 3253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690" y="3088"/>
                          <a:ext cx="988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010" name="对象 768009"/>
            <p:cNvGraphicFramePr/>
            <p:nvPr/>
          </p:nvGraphicFramePr>
          <p:xfrm>
            <a:off x="3809" y="3088"/>
            <a:ext cx="1411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015365" imgH="241300" progId="Equation.3">
                    <p:embed/>
                  </p:oleObj>
                </mc:Choice>
                <mc:Fallback>
                  <p:oleObj r:id="rId14" imgW="1015365" imgH="241300" progId="Equation.3">
                    <p:embed/>
                    <p:pic>
                      <p:nvPicPr>
                        <p:cNvPr id="0" name="图片 325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809" y="3088"/>
                          <a:ext cx="1411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05" grpId="0"/>
      <p:bldP spid="76800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19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674846" name="组合 674845"/>
          <p:cNvGrpSpPr/>
          <p:nvPr/>
        </p:nvGrpSpPr>
        <p:grpSpPr>
          <a:xfrm>
            <a:off x="466725" y="3502025"/>
            <a:ext cx="7200900" cy="1511300"/>
            <a:chOff x="294" y="2297"/>
            <a:chExt cx="4536" cy="952"/>
          </a:xfrm>
        </p:grpSpPr>
        <p:sp>
          <p:nvSpPr>
            <p:cNvPr id="674836" name="文本框 674835"/>
            <p:cNvSpPr txBox="1"/>
            <p:nvPr/>
          </p:nvSpPr>
          <p:spPr>
            <a:xfrm>
              <a:off x="294" y="2317"/>
              <a:ext cx="7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/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结论：</a:t>
              </a:r>
            </a:p>
          </p:txBody>
        </p:sp>
        <p:sp>
          <p:nvSpPr>
            <p:cNvPr id="674837" name="矩形 674836"/>
            <p:cNvSpPr/>
            <p:nvPr/>
          </p:nvSpPr>
          <p:spPr>
            <a:xfrm>
              <a:off x="974" y="2750"/>
              <a:ext cx="3855" cy="499"/>
            </a:xfrm>
            <a:noFill/>
            <a:ln w="9525">
              <a:noFill/>
            </a:ln>
          </p:spPr>
          <p:txBody>
            <a:bodyPr/>
            <a:lstStyle>
              <a:lvl1pPr marL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4400" b="1" u="none" kern="1200" baseline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</a:lstStyle>
            <a:p>
              <a:pPr lvl="0" algn="l"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accent2"/>
                  </a:solidFill>
                  <a:sym typeface="Symbol" panose="05050102010706020507" pitchFamily="18" charset="2"/>
                </a:rPr>
                <a:t>当</a:t>
              </a:r>
              <a:r>
                <a:rPr lang="en-US" altLang="zh-CN" sz="2800" err="1">
                  <a:solidFill>
                    <a:schemeClr val="accent2"/>
                  </a:solidFill>
                  <a:sym typeface="Symbol" panose="05050102010706020507" pitchFamily="18" charset="2"/>
                </a:rPr>
                <a:t>det</a:t>
              </a:r>
              <a:r>
                <a:rPr lang="en-US" altLang="zh-CN" sz="2800">
                  <a:solidFill>
                    <a:schemeClr val="accent2"/>
                  </a:solidFill>
                  <a:sym typeface="Symbol" panose="05050102010706020507" pitchFamily="18" charset="2"/>
                </a:rPr>
                <a:t> </a:t>
              </a:r>
              <a:r>
                <a:rPr lang="en-US" altLang="zh-CN" sz="2800" i="1">
                  <a:solidFill>
                    <a:schemeClr val="accent2"/>
                  </a:solidFill>
                  <a:sym typeface="Symbol" panose="05050102010706020507" pitchFamily="18" charset="2"/>
                </a:rPr>
                <a:t>A</a:t>
              </a:r>
              <a:r>
                <a:rPr lang="en-US" altLang="zh-CN" sz="2800">
                  <a:solidFill>
                    <a:schemeClr val="accent2"/>
                  </a:solidFill>
                  <a:sym typeface="Symbol" panose="05050102010706020507" pitchFamily="18" charset="2"/>
                </a:rPr>
                <a:t>=0</a:t>
              </a:r>
              <a:r>
                <a:rPr lang="zh-CN" altLang="en-US" sz="2800" dirty="0">
                  <a:solidFill>
                    <a:schemeClr val="accent2"/>
                  </a:solidFill>
                  <a:sym typeface="Symbol" panose="05050102010706020507" pitchFamily="18" charset="2"/>
                </a:rPr>
                <a:t>时</a:t>
              </a:r>
              <a:r>
                <a:rPr lang="en-US" altLang="zh-CN" sz="2800">
                  <a:solidFill>
                    <a:schemeClr val="accent2"/>
                  </a:solidFill>
                  <a:sym typeface="Symbol" panose="05050102010706020507" pitchFamily="18" charset="2"/>
                </a:rPr>
                <a:t>, </a:t>
              </a:r>
              <a:r>
                <a:rPr lang="en-US" altLang="zh-CN" sz="2800" i="1">
                  <a:solidFill>
                    <a:schemeClr val="accent2"/>
                  </a:solidFill>
                  <a:sym typeface="Symbol" panose="05050102010706020507" pitchFamily="18" charset="2"/>
                </a:rPr>
                <a:t>A</a:t>
              </a:r>
              <a:r>
                <a:rPr lang="zh-CN" altLang="en-US" sz="2800" dirty="0">
                  <a:solidFill>
                    <a:schemeClr val="accent2"/>
                  </a:solidFill>
                  <a:sym typeface="Symbol" panose="05050102010706020507" pitchFamily="18" charset="2"/>
                </a:rPr>
                <a:t>至少有一个零特征值</a:t>
              </a:r>
              <a:r>
                <a:rPr lang="en-US" altLang="zh-CN" sz="2800">
                  <a:solidFill>
                    <a:schemeClr val="accent2"/>
                  </a:solidFill>
                  <a:sym typeface="Symbol" panose="05050102010706020507" pitchFamily="18" charset="2"/>
                </a:rPr>
                <a:t>.</a:t>
              </a:r>
              <a:endParaRPr lang="en-US" altLang="zh-CN" sz="2800">
                <a:solidFill>
                  <a:schemeClr val="accent2"/>
                </a:solidFill>
              </a:endParaRPr>
            </a:p>
          </p:txBody>
        </p:sp>
        <p:sp>
          <p:nvSpPr>
            <p:cNvPr id="674839" name="矩形 674838"/>
            <p:cNvSpPr/>
            <p:nvPr/>
          </p:nvSpPr>
          <p:spPr>
            <a:xfrm>
              <a:off x="974" y="2297"/>
              <a:ext cx="3856" cy="499"/>
            </a:xfrm>
            <a:noFill/>
            <a:ln w="9525">
              <a:noFill/>
            </a:ln>
          </p:spPr>
          <p:txBody>
            <a:bodyPr/>
            <a:lstStyle>
              <a:lvl1pPr marL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4400" b="1" u="none" kern="1200" baseline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</a:lstStyle>
            <a:p>
              <a:pPr lvl="0" algn="l">
                <a:lnSpc>
                  <a:spcPct val="130000"/>
                </a:lnSpc>
              </a:pPr>
              <a:r>
                <a:rPr lang="zh-CN" altLang="en-US" sz="2800" dirty="0">
                  <a:solidFill>
                    <a:schemeClr val="accent2"/>
                  </a:solidFill>
                </a:rPr>
                <a:t>当</a:t>
              </a:r>
              <a:r>
                <a:rPr lang="en-US" altLang="zh-CN" sz="2800" err="1">
                  <a:solidFill>
                    <a:schemeClr val="accent2"/>
                  </a:solidFill>
                </a:rPr>
                <a:t>det</a:t>
              </a:r>
              <a:r>
                <a:rPr lang="en-US" altLang="zh-CN" sz="2800">
                  <a:solidFill>
                    <a:schemeClr val="accent2"/>
                  </a:solidFill>
                </a:rPr>
                <a:t> </a:t>
              </a:r>
              <a:r>
                <a:rPr lang="en-US" altLang="zh-CN" sz="2800" i="1">
                  <a:solidFill>
                    <a:schemeClr val="accent2"/>
                  </a:solidFill>
                </a:rPr>
                <a:t>A</a:t>
              </a:r>
              <a:r>
                <a:rPr lang="en-US" altLang="zh-CN" sz="2800">
                  <a:solidFill>
                    <a:schemeClr val="accent2"/>
                  </a:solidFill>
                  <a:sym typeface="Symbol" panose="05050102010706020507" pitchFamily="18" charset="2"/>
                </a:rPr>
                <a:t>0</a:t>
              </a:r>
              <a:r>
                <a:rPr lang="zh-CN" altLang="en-US" sz="2800" dirty="0">
                  <a:solidFill>
                    <a:schemeClr val="accent2"/>
                  </a:solidFill>
                  <a:sym typeface="Symbol" panose="05050102010706020507" pitchFamily="18" charset="2"/>
                </a:rPr>
                <a:t>时</a:t>
              </a:r>
              <a:r>
                <a:rPr lang="en-US" altLang="zh-CN" sz="2800">
                  <a:solidFill>
                    <a:schemeClr val="accent2"/>
                  </a:solidFill>
                  <a:sym typeface="Symbol" panose="05050102010706020507" pitchFamily="18" charset="2"/>
                </a:rPr>
                <a:t>, </a:t>
              </a:r>
              <a:r>
                <a:rPr lang="en-US" altLang="zh-CN" sz="2800" i="1">
                  <a:solidFill>
                    <a:schemeClr val="accent2"/>
                  </a:solidFill>
                  <a:sym typeface="Symbol" panose="05050102010706020507" pitchFamily="18" charset="2"/>
                </a:rPr>
                <a:t>A</a:t>
              </a:r>
              <a:r>
                <a:rPr lang="zh-CN" altLang="en-US" sz="2800" dirty="0">
                  <a:solidFill>
                    <a:schemeClr val="accent2"/>
                  </a:solidFill>
                  <a:sym typeface="Symbol" panose="05050102010706020507" pitchFamily="18" charset="2"/>
                </a:rPr>
                <a:t>的特征值全为非零数</a:t>
              </a:r>
              <a:r>
                <a:rPr lang="en-US" altLang="zh-CN" sz="2800">
                  <a:solidFill>
                    <a:schemeClr val="accent2"/>
                  </a:solidFill>
                  <a:sym typeface="Symbol" panose="05050102010706020507" pitchFamily="18" charset="2"/>
                </a:rPr>
                <a:t>; </a:t>
              </a:r>
              <a:endParaRPr lang="en-US" altLang="zh-CN" sz="2800">
                <a:solidFill>
                  <a:schemeClr val="accent2"/>
                </a:solidFill>
              </a:endParaRPr>
            </a:p>
          </p:txBody>
        </p:sp>
      </p:grpSp>
      <p:grpSp>
        <p:nvGrpSpPr>
          <p:cNvPr id="674847" name="组合 674846"/>
          <p:cNvGrpSpPr/>
          <p:nvPr/>
        </p:nvGrpSpPr>
        <p:grpSpPr>
          <a:xfrm>
            <a:off x="1116013" y="404813"/>
            <a:ext cx="7110412" cy="555625"/>
            <a:chOff x="703" y="255"/>
            <a:chExt cx="4479" cy="350"/>
          </a:xfrm>
        </p:grpSpPr>
        <p:sp>
          <p:nvSpPr>
            <p:cNvPr id="674840" name="矩形 674839"/>
            <p:cNvSpPr/>
            <p:nvPr/>
          </p:nvSpPr>
          <p:spPr>
            <a:xfrm>
              <a:off x="703" y="255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 eaLnBrk="0" hangingPunct="0"/>
              <a:r>
                <a:rPr lang="zh-CN" altLang="en-US" sz="2800" dirty="0">
                  <a:latin typeface="Times New Roman" panose="02020603050405020304" pitchFamily="18" charset="0"/>
                  <a:ea typeface="仿宋_GB2312" pitchFamily="49" charset="-122"/>
                </a:rPr>
                <a:t>所以，</a:t>
              </a:r>
            </a:p>
          </p:txBody>
        </p:sp>
        <p:graphicFrame>
          <p:nvGraphicFramePr>
            <p:cNvPr id="674841" name="对象 674840"/>
            <p:cNvGraphicFramePr/>
            <p:nvPr/>
          </p:nvGraphicFramePr>
          <p:xfrm>
            <a:off x="1291" y="263"/>
            <a:ext cx="1588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42365" imgH="241300" progId="Equation.3">
                    <p:embed/>
                  </p:oleObj>
                </mc:Choice>
                <mc:Fallback>
                  <p:oleObj r:id="rId2" imgW="1142365" imgH="241300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291" y="263"/>
                          <a:ext cx="1588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4842" name="对象 674841"/>
            <p:cNvGraphicFramePr/>
            <p:nvPr/>
          </p:nvGraphicFramePr>
          <p:xfrm>
            <a:off x="2863" y="288"/>
            <a:ext cx="231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76400" imgH="228600" progId="Equation.3">
                    <p:embed/>
                  </p:oleObj>
                </mc:Choice>
                <mc:Fallback>
                  <p:oleObj r:id="rId4" imgW="1676400" imgH="228600" progId="Equation.3">
                    <p:embed/>
                    <p:pic>
                      <p:nvPicPr>
                        <p:cNvPr id="0" name="图片 325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863" y="288"/>
                          <a:ext cx="2319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4843" name="对象 674842"/>
          <p:cNvGraphicFramePr>
            <a:graphicFrameLocks noChangeAspect="1"/>
          </p:cNvGraphicFramePr>
          <p:nvPr/>
        </p:nvGraphicFramePr>
        <p:xfrm>
          <a:off x="2781300" y="966788"/>
          <a:ext cx="453866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069465" imgH="431800" progId="Equation.3">
                  <p:embed/>
                </p:oleObj>
              </mc:Choice>
              <mc:Fallback>
                <p:oleObj r:id="rId6" imgW="2069465" imgH="431800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1300" y="966788"/>
                        <a:ext cx="4538663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44" name="矩形 674843"/>
          <p:cNvSpPr/>
          <p:nvPr/>
        </p:nvSpPr>
        <p:spPr>
          <a:xfrm>
            <a:off x="388938" y="1978025"/>
            <a:ext cx="64881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由根与系数的关系及常数项相等，得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74845" name="对象 674844"/>
          <p:cNvGraphicFramePr/>
          <p:nvPr/>
        </p:nvGraphicFramePr>
        <p:xfrm>
          <a:off x="2508250" y="2492375"/>
          <a:ext cx="420846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91665" imgH="431800" progId="Equation.3">
                  <p:embed/>
                </p:oleObj>
              </mc:Choice>
              <mc:Fallback>
                <p:oleObj r:id="rId8" imgW="1891665" imgH="4318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08250" y="2492375"/>
                        <a:ext cx="4208463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4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4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20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77538" name="文本框 577537"/>
          <p:cNvSpPr txBox="1"/>
          <p:nvPr/>
        </p:nvSpPr>
        <p:spPr>
          <a:xfrm>
            <a:off x="1249363" y="115888"/>
            <a:ext cx="53959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练习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设三阶矩阵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的特征值为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77539" name="对象 577538">
            <a:hlinkClick r:id="" action="ppaction://ole?verb=0"/>
            <a:hlinkHover r:id="" action="ppaction://macro?name=Macro1"/>
          </p:cNvPr>
          <p:cNvGraphicFramePr/>
          <p:nvPr/>
        </p:nvGraphicFramePr>
        <p:xfrm>
          <a:off x="6156325" y="238125"/>
          <a:ext cx="14382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0865" imgH="203200" progId="Equation.3">
                  <p:embed/>
                </p:oleObj>
              </mc:Choice>
              <mc:Fallback>
                <p:oleObj r:id="rId2" imgW="570865" imgH="2032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56325" y="238125"/>
                        <a:ext cx="143827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40" name="文本框 577539"/>
          <p:cNvSpPr txBox="1"/>
          <p:nvPr/>
        </p:nvSpPr>
        <p:spPr>
          <a:xfrm>
            <a:off x="2024063" y="674688"/>
            <a:ext cx="1524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设矩阵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77541" name="对象 577540">
            <a:hlinkClick r:id="" action="ppaction://ole?verb=0"/>
            <a:hlinkHover r:id="" action="ppaction://macro?name=Macro1"/>
          </p:cNvPr>
          <p:cNvGraphicFramePr/>
          <p:nvPr/>
        </p:nvGraphicFramePr>
        <p:xfrm>
          <a:off x="3573463" y="693738"/>
          <a:ext cx="2413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65200" imgH="228600" progId="Equation.3">
                  <p:embed/>
                </p:oleObj>
              </mc:Choice>
              <mc:Fallback>
                <p:oleObj r:id="rId4" imgW="965200" imgH="228600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3463" y="693738"/>
                        <a:ext cx="24130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42" name="文本框 577541"/>
          <p:cNvSpPr txBox="1"/>
          <p:nvPr/>
        </p:nvSpPr>
        <p:spPr>
          <a:xfrm>
            <a:off x="1252538" y="1250950"/>
            <a:ext cx="58261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试求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    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(1)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的特征值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;     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(2)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|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|.</a:t>
            </a:r>
          </a:p>
        </p:txBody>
      </p:sp>
      <p:sp>
        <p:nvSpPr>
          <p:cNvPr id="577543" name="文本框 577542"/>
          <p:cNvSpPr txBox="1"/>
          <p:nvPr/>
        </p:nvSpPr>
        <p:spPr>
          <a:xfrm>
            <a:off x="2217738" y="1870075"/>
            <a:ext cx="6207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令</a:t>
            </a:r>
          </a:p>
        </p:txBody>
      </p:sp>
      <p:graphicFrame>
        <p:nvGraphicFramePr>
          <p:cNvPr id="577544" name="对象 577543">
            <a:hlinkClick r:id="" action="ppaction://ole?verb=0"/>
            <a:hlinkHover r:id="" action="ppaction://macro?name=Macro1"/>
          </p:cNvPr>
          <p:cNvGraphicFramePr/>
          <p:nvPr/>
        </p:nvGraphicFramePr>
        <p:xfrm>
          <a:off x="3024188" y="1858963"/>
          <a:ext cx="35750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35100" imgH="228600" progId="Equation.3">
                  <p:embed/>
                </p:oleObj>
              </mc:Choice>
              <mc:Fallback>
                <p:oleObj r:id="rId6" imgW="1435100" imgH="228600" progId="Equation.3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24188" y="1858963"/>
                        <a:ext cx="357505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45" name="文本框 577544"/>
          <p:cNvSpPr txBox="1"/>
          <p:nvPr/>
        </p:nvSpPr>
        <p:spPr>
          <a:xfrm>
            <a:off x="468313" y="2520950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则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的特征值分别为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</a:p>
        </p:txBody>
      </p:sp>
      <p:sp>
        <p:nvSpPr>
          <p:cNvPr id="577546" name="矩形 577545"/>
          <p:cNvSpPr/>
          <p:nvPr/>
        </p:nvSpPr>
        <p:spPr>
          <a:xfrm>
            <a:off x="1249680" y="1827530"/>
            <a:ext cx="59213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</a:p>
        </p:txBody>
      </p:sp>
      <p:graphicFrame>
        <p:nvGraphicFramePr>
          <p:cNvPr id="577547" name="对象 577546">
            <a:hlinkClick r:id="" action="ppaction://ole?verb=0"/>
            <a:hlinkHover r:id="" action="ppaction://macro?name=Macro1"/>
          </p:cNvPr>
          <p:cNvGraphicFramePr/>
          <p:nvPr/>
        </p:nvGraphicFramePr>
        <p:xfrm>
          <a:off x="4152900" y="2492375"/>
          <a:ext cx="35639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22400" imgH="228600" progId="Equation.3">
                  <p:embed/>
                </p:oleObj>
              </mc:Choice>
              <mc:Fallback>
                <p:oleObj r:id="rId8" imgW="1422400" imgH="228600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52900" y="2492375"/>
                        <a:ext cx="3563938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7548" name="对象 577547">
            <a:hlinkClick r:id="" action="ppaction://ole?verb=0"/>
            <a:hlinkHover r:id="" action="ppaction://macro?name=Macro1"/>
          </p:cNvPr>
          <p:cNvGraphicFramePr/>
          <p:nvPr/>
        </p:nvGraphicFramePr>
        <p:xfrm>
          <a:off x="2293938" y="3141663"/>
          <a:ext cx="47894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917700" imgH="228600" progId="Equation.3">
                  <p:embed/>
                </p:oleObj>
              </mc:Choice>
              <mc:Fallback>
                <p:oleObj r:id="rId10" imgW="1917700" imgH="2286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93938" y="3141663"/>
                        <a:ext cx="4789487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7549" name="对象 577548">
            <a:hlinkClick r:id="" action="ppaction://ole?verb=0"/>
            <a:hlinkHover r:id="" action="ppaction://macro?name=Macro1"/>
          </p:cNvPr>
          <p:cNvGraphicFramePr/>
          <p:nvPr/>
        </p:nvGraphicFramePr>
        <p:xfrm>
          <a:off x="2344738" y="3854450"/>
          <a:ext cx="38449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36700" imgH="228600" progId="Equation.3">
                  <p:embed/>
                </p:oleObj>
              </mc:Choice>
              <mc:Fallback>
                <p:oleObj r:id="rId12" imgW="1536700" imgH="2286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44738" y="3854450"/>
                        <a:ext cx="3844925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7550" name="对象 577549">
            <a:hlinkClick r:id="" action="ppaction://ole?verb=0"/>
          </p:cNvPr>
          <p:cNvGraphicFramePr/>
          <p:nvPr/>
        </p:nvGraphicFramePr>
        <p:xfrm>
          <a:off x="596900" y="4573588"/>
          <a:ext cx="383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535430" imgH="203200" progId="Equation.3">
                  <p:embed/>
                </p:oleObj>
              </mc:Choice>
              <mc:Fallback>
                <p:oleObj r:id="rId14" imgW="1535430" imgH="203200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6900" y="4573588"/>
                        <a:ext cx="38354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7551" name="对象 577550">
            <a:hlinkClick r:id="" action="ppaction://ole?verb=0"/>
            <a:hlinkHover r:id="" action="ppaction://macro?name=Macro1"/>
          </p:cNvPr>
          <p:cNvGraphicFramePr/>
          <p:nvPr/>
        </p:nvGraphicFramePr>
        <p:xfrm>
          <a:off x="4413250" y="4576763"/>
          <a:ext cx="39322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560830" imgH="203200" progId="Equation.3">
                  <p:embed/>
                </p:oleObj>
              </mc:Choice>
              <mc:Fallback>
                <p:oleObj r:id="rId16" imgW="1560830" imgH="20320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13250" y="4576763"/>
                        <a:ext cx="3932238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7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7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7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7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7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7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43" grpId="0" build="p"/>
      <p:bldP spid="57754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椭圆 64513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15" name="椭圆 64514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16" name="矩形 64515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17" name="对象 64516"/>
          <p:cNvGraphicFramePr/>
          <p:nvPr/>
        </p:nvGraphicFramePr>
        <p:xfrm>
          <a:off x="469900" y="835025"/>
          <a:ext cx="81407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835025"/>
                        <a:ext cx="81407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对象 64517"/>
          <p:cNvGraphicFramePr/>
          <p:nvPr/>
        </p:nvGraphicFramePr>
        <p:xfrm>
          <a:off x="469900" y="1993900"/>
          <a:ext cx="81407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2578735" progId="Word.Document.8">
                  <p:embed/>
                </p:oleObj>
              </mc:Choice>
              <mc:Fallback>
                <p:oleObj r:id="rId4" imgW="6053455" imgH="2578735" progId="Word.Document.8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1993900"/>
                        <a:ext cx="8140700" cy="346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椭圆 61441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43" name="椭圆 61442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44" name="矩形 61443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447" name="对象 61446"/>
          <p:cNvGraphicFramePr/>
          <p:nvPr/>
        </p:nvGraphicFramePr>
        <p:xfrm>
          <a:off x="1194435" y="1145858"/>
          <a:ext cx="6399530" cy="106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767580" imgH="800100" progId="Word.Document.8">
                  <p:embed/>
                </p:oleObj>
              </mc:Choice>
              <mc:Fallback>
                <p:oleObj r:id="rId2" imgW="4767580" imgH="800100" progId="Word.Document.8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94435" y="1145858"/>
                        <a:ext cx="6399530" cy="10610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对象 61447"/>
          <p:cNvGraphicFramePr/>
          <p:nvPr/>
        </p:nvGraphicFramePr>
        <p:xfrm>
          <a:off x="469900" y="2057400"/>
          <a:ext cx="8140700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1787525" progId="Word.Document.8">
                  <p:embed/>
                </p:oleObj>
              </mc:Choice>
              <mc:Fallback>
                <p:oleObj r:id="rId4" imgW="6053455" imgH="1787525" progId="Word.Document.8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2057400"/>
                        <a:ext cx="8140700" cy="240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9" name="对象 61448"/>
          <p:cNvGraphicFramePr/>
          <p:nvPr/>
        </p:nvGraphicFramePr>
        <p:xfrm>
          <a:off x="468313" y="4724400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795655" progId="Word.Document.8">
                  <p:embed/>
                </p:oleObj>
              </mc:Choice>
              <mc:Fallback>
                <p:oleObj r:id="rId6" imgW="6053455" imgH="795655" progId="Word.Document.8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4724400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椭圆 65537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39" name="椭圆 65538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40" name="矩形 65539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5541" name="对象 65540"/>
          <p:cNvGraphicFramePr/>
          <p:nvPr/>
        </p:nvGraphicFramePr>
        <p:xfrm>
          <a:off x="468313" y="690245"/>
          <a:ext cx="8140700" cy="160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1195705" progId="Word.Document.8">
                  <p:embed/>
                </p:oleObj>
              </mc:Choice>
              <mc:Fallback>
                <p:oleObj r:id="rId2" imgW="6053455" imgH="1195705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690245"/>
                        <a:ext cx="8140700" cy="1604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对象 65541"/>
          <p:cNvGraphicFramePr/>
          <p:nvPr/>
        </p:nvGraphicFramePr>
        <p:xfrm>
          <a:off x="539750" y="2420938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795655" progId="Word.Document.8">
                  <p:embed/>
                </p:oleObj>
              </mc:Choice>
              <mc:Fallback>
                <p:oleObj r:id="rId4" imgW="6053455" imgH="795655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2420938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对象 65542"/>
          <p:cNvGraphicFramePr/>
          <p:nvPr/>
        </p:nvGraphicFramePr>
        <p:xfrm>
          <a:off x="546100" y="3640455"/>
          <a:ext cx="8140700" cy="2675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990725" progId="Word.Document.8">
                  <p:embed/>
                </p:oleObj>
              </mc:Choice>
              <mc:Fallback>
                <p:oleObj r:id="rId6" imgW="6053455" imgH="1990725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6100" y="3640455"/>
                        <a:ext cx="8140700" cy="2675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24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7579" name="Text Box 11"/>
          <p:cNvSpPr txBox="1">
            <a:spLocks noChangeArrowheads="1"/>
          </p:cNvSpPr>
          <p:nvPr/>
        </p:nvSpPr>
        <p:spPr bwMode="auto">
          <a:xfrm>
            <a:off x="625475" y="722313"/>
            <a:ext cx="12842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endParaRPr kumimoji="1" lang="zh-CN" altLang="en-US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37581" name="Rectangle 13"/>
          <p:cNvSpPr/>
          <p:nvPr/>
        </p:nvSpPr>
        <p:spPr>
          <a:xfrm>
            <a:off x="157163" y="879634"/>
            <a:ext cx="21501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练习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设矩阵</a:t>
            </a:r>
          </a:p>
        </p:txBody>
      </p:sp>
      <p:graphicFrame>
        <p:nvGraphicFramePr>
          <p:cNvPr id="70660" name="Object 14"/>
          <p:cNvGraphicFramePr/>
          <p:nvPr/>
        </p:nvGraphicFramePr>
        <p:xfrm>
          <a:off x="1985963" y="288925"/>
          <a:ext cx="2514600" cy="179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02665" imgH="711200" progId="Equation.DSMT4">
                  <p:embed/>
                </p:oleObj>
              </mc:Choice>
              <mc:Fallback>
                <p:oleObj r:id="rId3" imgW="1002665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5963" y="288925"/>
                        <a:ext cx="2514600" cy="179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4" name="Rectangle 16"/>
          <p:cNvSpPr/>
          <p:nvPr/>
        </p:nvSpPr>
        <p:spPr>
          <a:xfrm>
            <a:off x="381000" y="2100263"/>
            <a:ext cx="59324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已知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的特征值为下列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组中的一组：</a:t>
            </a:r>
          </a:p>
        </p:txBody>
      </p:sp>
      <p:graphicFrame>
        <p:nvGraphicFramePr>
          <p:cNvPr id="70663" name="Object 17"/>
          <p:cNvGraphicFramePr/>
          <p:nvPr/>
        </p:nvGraphicFramePr>
        <p:xfrm>
          <a:off x="4038600" y="3686175"/>
          <a:ext cx="1447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96900" imgH="228600" progId="Equation.DSMT4">
                  <p:embed/>
                </p:oleObj>
              </mc:Choice>
              <mc:Fallback>
                <p:oleObj r:id="rId5" imgW="596900" imgH="228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38600" y="3686175"/>
                        <a:ext cx="14478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4" name="Object 18"/>
          <p:cNvGraphicFramePr/>
          <p:nvPr/>
        </p:nvGraphicFramePr>
        <p:xfrm>
          <a:off x="381000" y="4329113"/>
          <a:ext cx="45720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12900" imgH="228600" progId="Equation.DSMT4">
                  <p:embed/>
                </p:oleObj>
              </mc:Choice>
              <mc:Fallback>
                <p:oleObj r:id="rId7" imgW="1612900" imgH="2286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" y="4329113"/>
                        <a:ext cx="4572000" cy="649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19"/>
          <p:cNvGraphicFramePr/>
          <p:nvPr/>
        </p:nvGraphicFramePr>
        <p:xfrm>
          <a:off x="4981575" y="4295775"/>
          <a:ext cx="317182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078865" imgH="254000" progId="Equation.DSMT4">
                  <p:embed/>
                </p:oleObj>
              </mc:Choice>
              <mc:Fallback>
                <p:oleObj r:id="rId9" imgW="1078865" imgH="2540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81575" y="4295775"/>
                        <a:ext cx="3171825" cy="754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8" name="Rectangle 20"/>
          <p:cNvSpPr/>
          <p:nvPr/>
        </p:nvSpPr>
        <p:spPr>
          <a:xfrm>
            <a:off x="152400" y="3609975"/>
            <a:ext cx="3917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设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的全部特征值为</a:t>
            </a:r>
          </a:p>
        </p:txBody>
      </p:sp>
      <p:sp>
        <p:nvSpPr>
          <p:cNvPr id="237589" name="Rectangle 21"/>
          <p:cNvSpPr/>
          <p:nvPr/>
        </p:nvSpPr>
        <p:spPr>
          <a:xfrm>
            <a:off x="5505450" y="3624263"/>
            <a:ext cx="3028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据上面的性质知，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0668" name="Rectangle 22"/>
          <p:cNvSpPr/>
          <p:nvPr/>
        </p:nvSpPr>
        <p:spPr>
          <a:xfrm>
            <a:off x="0" y="5141913"/>
            <a:ext cx="1841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endParaRPr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7591" name="Rectangle 23"/>
          <p:cNvSpPr/>
          <p:nvPr/>
        </p:nvSpPr>
        <p:spPr>
          <a:xfrm>
            <a:off x="304800" y="5133975"/>
            <a:ext cx="87391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由此可排除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，而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符合，所以选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).</a:t>
            </a:r>
          </a:p>
        </p:txBody>
      </p:sp>
      <p:sp>
        <p:nvSpPr>
          <p:cNvPr id="237583" name="Rectangle 15"/>
          <p:cNvSpPr/>
          <p:nvPr/>
        </p:nvSpPr>
        <p:spPr>
          <a:xfrm>
            <a:off x="-53975" y="2492375"/>
            <a:ext cx="8529638" cy="9461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indent="304800" algn="l">
              <a:buAutoNum type="alphaUcParenBoth"/>
            </a:pP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1,0,1;  (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)1,1,2; (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 -1,1,2; (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 -1,1,1.</a:t>
            </a:r>
          </a:p>
          <a:p>
            <a:pPr indent="304800" algn="l">
              <a:buNone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问是哪一组？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81" grpId="0"/>
      <p:bldP spid="237584" grpId="0"/>
      <p:bldP spid="237588" grpId="0"/>
      <p:bldP spid="237589" grpId="0"/>
      <p:bldP spid="237591" grpId="0"/>
      <p:bldP spid="23758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椭圆 58369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1" name="椭圆 58370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2" name="矩形 58371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373" name="对象 58372"/>
          <p:cNvGraphicFramePr/>
          <p:nvPr/>
        </p:nvGraphicFramePr>
        <p:xfrm>
          <a:off x="393700" y="835025"/>
          <a:ext cx="81407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700" y="835025"/>
                        <a:ext cx="81407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对象 58373"/>
          <p:cNvGraphicFramePr/>
          <p:nvPr/>
        </p:nvGraphicFramePr>
        <p:xfrm>
          <a:off x="469900" y="2133600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795655" progId="Word.Document.8">
                  <p:embed/>
                </p:oleObj>
              </mc:Choice>
              <mc:Fallback>
                <p:oleObj r:id="rId4" imgW="6053455" imgH="795655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2133600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椭圆 12289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1" name="椭圆 12290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2" name="矩形 12291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3" name="矩形 12292"/>
          <p:cNvSpPr/>
          <p:nvPr/>
        </p:nvSpPr>
        <p:spPr>
          <a:xfrm>
            <a:off x="1560513" y="547211"/>
            <a:ext cx="30276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b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§</a:t>
            </a:r>
            <a:r>
              <a:rPr lang="en-US" altLang="zh-CN" sz="3200" b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4.2 </a:t>
            </a:r>
            <a:r>
              <a:rPr lang="zh-CN" altLang="en-US" sz="3200" b="0" dirty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相似矩阵</a:t>
            </a:r>
          </a:p>
        </p:txBody>
      </p:sp>
      <p:sp>
        <p:nvSpPr>
          <p:cNvPr id="12294" name="矩形 12293"/>
          <p:cNvSpPr/>
          <p:nvPr/>
        </p:nvSpPr>
        <p:spPr>
          <a:xfrm>
            <a:off x="468313" y="1195547"/>
            <a:ext cx="41344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en-US" altLang="zh-CN" b="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1. </a:t>
            </a:r>
            <a:r>
              <a:rPr lang="zh-CN" altLang="en-US" b="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相似矩阵的概念与性质</a:t>
            </a:r>
          </a:p>
        </p:txBody>
      </p:sp>
      <p:sp>
        <p:nvSpPr>
          <p:cNvPr id="12738" name="矩形 12737"/>
          <p:cNvSpPr/>
          <p:nvPr/>
        </p:nvSpPr>
        <p:spPr>
          <a:xfrm>
            <a:off x="0" y="30432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41" name="矩形 12740"/>
          <p:cNvSpPr/>
          <p:nvPr/>
        </p:nvSpPr>
        <p:spPr>
          <a:xfrm>
            <a:off x="0" y="32432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6569" name="对象 66568"/>
          <p:cNvGraphicFramePr/>
          <p:nvPr/>
        </p:nvGraphicFramePr>
        <p:xfrm>
          <a:off x="467360" y="1721803"/>
          <a:ext cx="8140700" cy="2134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1590675" progId="Word.Document.8">
                  <p:embed/>
                </p:oleObj>
              </mc:Choice>
              <mc:Fallback>
                <p:oleObj r:id="rId2" imgW="6053455" imgH="1590675" progId="Word.Document.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360" y="1721803"/>
                        <a:ext cx="8140700" cy="2134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3" name="矩形 68612"/>
          <p:cNvSpPr/>
          <p:nvPr/>
        </p:nvSpPr>
        <p:spPr>
          <a:xfrm>
            <a:off x="395605" y="3716338"/>
            <a:ext cx="37401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  <a:ea typeface="楷体_GB2312" pitchFamily="49" charset="-122"/>
              </a:rPr>
              <a:t>相似矩阵的基本性质：</a:t>
            </a:r>
          </a:p>
        </p:txBody>
      </p:sp>
      <p:graphicFrame>
        <p:nvGraphicFramePr>
          <p:cNvPr id="68614" name="对象 68613"/>
          <p:cNvGraphicFramePr/>
          <p:nvPr/>
        </p:nvGraphicFramePr>
        <p:xfrm>
          <a:off x="474980" y="4225925"/>
          <a:ext cx="84963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332220" imgH="2030095" progId="Word.Document.8">
                  <p:embed/>
                </p:oleObj>
              </mc:Choice>
              <mc:Fallback>
                <p:oleObj r:id="rId4" imgW="6332220" imgH="2030095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4980" y="4225925"/>
                        <a:ext cx="8496300" cy="271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椭圆 69633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35" name="椭圆 69634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36" name="矩形 69635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9639" name="对象 69638"/>
          <p:cNvGraphicFramePr/>
          <p:nvPr/>
        </p:nvGraphicFramePr>
        <p:xfrm>
          <a:off x="254000" y="402908"/>
          <a:ext cx="8216900" cy="323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2386330" progId="Word.Document.8">
                  <p:embed/>
                </p:oleObj>
              </mc:Choice>
              <mc:Fallback>
                <p:oleObj r:id="rId2" imgW="6053455" imgH="2386330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4000" y="402908"/>
                        <a:ext cx="8216900" cy="3232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对象 70662"/>
          <p:cNvGraphicFramePr/>
          <p:nvPr/>
        </p:nvGraphicFramePr>
        <p:xfrm>
          <a:off x="323533" y="3572510"/>
          <a:ext cx="8140700" cy="160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1195705" progId="Word.Document.8">
                  <p:embed/>
                </p:oleObj>
              </mc:Choice>
              <mc:Fallback>
                <p:oleObj r:id="rId4" imgW="6053455" imgH="1195705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533" y="3572510"/>
                        <a:ext cx="8140700" cy="1604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179388" y="5156518"/>
          <a:ext cx="8140700" cy="160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195705" progId="Word.Document.8">
                  <p:embed/>
                </p:oleObj>
              </mc:Choice>
              <mc:Fallback>
                <p:oleObj r:id="rId6" imgW="6053455" imgH="1195705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9388" y="5156518"/>
                        <a:ext cx="8140700" cy="1604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椭圆 70657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59" name="椭圆 70658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60" name="矩形 70659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0661" name="对象 70660"/>
          <p:cNvGraphicFramePr/>
          <p:nvPr/>
        </p:nvGraphicFramePr>
        <p:xfrm>
          <a:off x="251460" y="1340168"/>
          <a:ext cx="8140700" cy="1337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1000125" progId="Word.Document.8">
                  <p:embed/>
                </p:oleObj>
              </mc:Choice>
              <mc:Fallback>
                <p:oleObj r:id="rId2" imgW="6053455" imgH="1000125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" y="1340168"/>
                        <a:ext cx="8140700" cy="13379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对象 70661"/>
          <p:cNvGraphicFramePr/>
          <p:nvPr/>
        </p:nvGraphicFramePr>
        <p:xfrm>
          <a:off x="251460" y="188595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795655" progId="Word.Document.8">
                  <p:embed/>
                </p:oleObj>
              </mc:Choice>
              <mc:Fallback>
                <p:oleObj r:id="rId4" imgW="6053455" imgH="795655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" y="188595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对象 69636"/>
          <p:cNvGraphicFramePr/>
          <p:nvPr/>
        </p:nvGraphicFramePr>
        <p:xfrm>
          <a:off x="395605" y="3023870"/>
          <a:ext cx="8140700" cy="3737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2781300" progId="Word.Document.8">
                  <p:embed/>
                </p:oleObj>
              </mc:Choice>
              <mc:Fallback>
                <p:oleObj r:id="rId6" imgW="6053455" imgH="278130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5605" y="3023870"/>
                        <a:ext cx="8140700" cy="3737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29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8050" name="Text Box 2"/>
          <p:cNvSpPr txBox="1">
            <a:spLocks noChangeArrowheads="1"/>
          </p:cNvSpPr>
          <p:nvPr/>
        </p:nvSpPr>
        <p:spPr bwMode="auto">
          <a:xfrm>
            <a:off x="152400" y="404495"/>
            <a:ext cx="86756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矩阵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与</a:t>
            </a:r>
            <a:r>
              <a:rPr kumimoji="1" lang="en-US" altLang="zh-CN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1" lang="zh-CN" altLang="en-US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相似，我们接触到有四个必要非充分的条件：</a:t>
            </a:r>
          </a:p>
        </p:txBody>
      </p:sp>
      <p:sp>
        <p:nvSpPr>
          <p:cNvPr id="258052" name="Text Box 4"/>
          <p:cNvSpPr txBox="1"/>
          <p:nvPr/>
        </p:nvSpPr>
        <p:spPr>
          <a:xfrm>
            <a:off x="1002665" y="1505268"/>
            <a:ext cx="611188" cy="3124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矩阵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与矩阵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相似</a:t>
            </a:r>
          </a:p>
        </p:txBody>
      </p:sp>
      <p:sp>
        <p:nvSpPr>
          <p:cNvPr id="258053" name="AutoShape 5"/>
          <p:cNvSpPr/>
          <p:nvPr/>
        </p:nvSpPr>
        <p:spPr>
          <a:xfrm>
            <a:off x="1536065" y="2953068"/>
            <a:ext cx="1295400" cy="228600"/>
          </a:xfrm>
          <a:prstGeom prst="rightArrow">
            <a:avLst>
              <a:gd name="adj1" fmla="val 50000"/>
              <a:gd name="adj2" fmla="val 141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/>
            <a:endParaRPr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8054" name="AutoShape 6"/>
          <p:cNvSpPr/>
          <p:nvPr/>
        </p:nvSpPr>
        <p:spPr>
          <a:xfrm>
            <a:off x="3060065" y="1124268"/>
            <a:ext cx="685800" cy="3810000"/>
          </a:xfrm>
          <a:prstGeom prst="leftBrace">
            <a:avLst>
              <a:gd name="adj1" fmla="val 46296"/>
              <a:gd name="adj2" fmla="val 50000"/>
            </a:avLst>
          </a:prstGeom>
          <a:noFill/>
          <a:ln w="3492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l"/>
            <a:endParaRPr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8071" name="Object 7"/>
          <p:cNvGraphicFramePr/>
          <p:nvPr/>
        </p:nvGraphicFramePr>
        <p:xfrm>
          <a:off x="4112578" y="1048068"/>
          <a:ext cx="26955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17930" imgH="254000" progId="Equation.DSMT4">
                  <p:embed/>
                </p:oleObj>
              </mc:Choice>
              <mc:Fallback>
                <p:oleObj r:id="rId3" imgW="1217930" imgH="2540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2578" y="1048068"/>
                        <a:ext cx="2695575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/>
          <p:cNvGraphicFramePr/>
          <p:nvPr/>
        </p:nvGraphicFramePr>
        <p:xfrm>
          <a:off x="4126865" y="2165668"/>
          <a:ext cx="1600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21665" imgH="203200" progId="Equation.DSMT4">
                  <p:embed/>
                </p:oleObj>
              </mc:Choice>
              <mc:Fallback>
                <p:oleObj r:id="rId5" imgW="621665" imgH="203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26865" y="2165668"/>
                        <a:ext cx="16002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9"/>
          <p:cNvGraphicFramePr/>
          <p:nvPr/>
        </p:nvGraphicFramePr>
        <p:xfrm>
          <a:off x="3593465" y="3118168"/>
          <a:ext cx="2006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61365" imgH="254000" progId="Equation.DSMT4">
                  <p:embed/>
                </p:oleObj>
              </mc:Choice>
              <mc:Fallback>
                <p:oleObj r:id="rId7" imgW="761365" imgH="2540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93465" y="3118168"/>
                        <a:ext cx="20066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10"/>
          <p:cNvGraphicFramePr/>
          <p:nvPr/>
        </p:nvGraphicFramePr>
        <p:xfrm>
          <a:off x="4018915" y="4331018"/>
          <a:ext cx="25034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64565" imgH="203200" progId="Equation.DSMT4">
                  <p:embed/>
                </p:oleObj>
              </mc:Choice>
              <mc:Fallback>
                <p:oleObj r:id="rId9" imgW="964565" imgH="2032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18915" y="4331018"/>
                        <a:ext cx="250348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对象 70660"/>
          <p:cNvGraphicFramePr/>
          <p:nvPr/>
        </p:nvGraphicFramePr>
        <p:xfrm>
          <a:off x="179705" y="5247958"/>
          <a:ext cx="8140700" cy="1600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053455" imgH="1195705" progId="Word.Document.8">
                  <p:embed/>
                </p:oleObj>
              </mc:Choice>
              <mc:Fallback>
                <p:oleObj r:id="rId11" imgW="6053455" imgH="1195705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9705" y="5247958"/>
                        <a:ext cx="8140700" cy="1600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0" grpId="0" bldLvl="0" animBg="1"/>
      <p:bldP spid="258052" grpId="0"/>
      <p:bldP spid="258053" grpId="0" bldLvl="0" animBg="1"/>
      <p:bldP spid="258054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30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484" name="Text Box 4"/>
          <p:cNvSpPr txBox="1"/>
          <p:nvPr/>
        </p:nvSpPr>
        <p:spPr>
          <a:xfrm>
            <a:off x="304800" y="421005"/>
            <a:ext cx="685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4.2.1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已知矩阵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相似，其中</a:t>
            </a:r>
          </a:p>
        </p:txBody>
      </p:sp>
      <p:graphicFrame>
        <p:nvGraphicFramePr>
          <p:cNvPr id="90115" name="Object 5"/>
          <p:cNvGraphicFramePr/>
          <p:nvPr>
            <p:custDataLst>
              <p:tags r:id="rId1"/>
            </p:custDataLst>
          </p:nvPr>
        </p:nvGraphicFramePr>
        <p:xfrm>
          <a:off x="549806" y="1143000"/>
          <a:ext cx="4622890" cy="1470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387600" imgH="711200" progId="Equation.DSMT4">
                  <p:embed/>
                </p:oleObj>
              </mc:Choice>
              <mc:Fallback>
                <p:oleObj r:id="rId16" imgW="2387600" imgH="7112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9806" y="1143000"/>
                        <a:ext cx="4622890" cy="147074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6"/>
          <p:cNvGraphicFramePr/>
          <p:nvPr/>
        </p:nvGraphicFramePr>
        <p:xfrm>
          <a:off x="6002973" y="1737201"/>
          <a:ext cx="2709545" cy="40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91565" imgH="165100" progId="Equation.DSMT4">
                  <p:embed/>
                </p:oleObj>
              </mc:Choice>
              <mc:Fallback>
                <p:oleObj r:id="rId18" imgW="1091565" imgH="1651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02973" y="1737201"/>
                        <a:ext cx="2709545" cy="408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7" name="Text Box 7"/>
          <p:cNvSpPr txBox="1"/>
          <p:nvPr>
            <p:custDataLst>
              <p:tags r:id="rId2"/>
            </p:custDataLst>
          </p:nvPr>
        </p:nvSpPr>
        <p:spPr>
          <a:xfrm>
            <a:off x="5356143" y="1699037"/>
            <a:ext cx="607276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则</a:t>
            </a:r>
          </a:p>
        </p:txBody>
      </p:sp>
      <p:sp>
        <p:nvSpPr>
          <p:cNvPr id="276488" name="Text Box 8"/>
          <p:cNvSpPr txBox="1"/>
          <p:nvPr>
            <p:custDataLst>
              <p:tags r:id="rId3"/>
            </p:custDataLst>
          </p:nvPr>
        </p:nvSpPr>
        <p:spPr>
          <a:xfrm>
            <a:off x="457066" y="2780712"/>
            <a:ext cx="1442281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由</a:t>
            </a:r>
          </a:p>
        </p:txBody>
      </p:sp>
      <p:graphicFrame>
        <p:nvGraphicFramePr>
          <p:cNvPr id="90119" name="Object 9"/>
          <p:cNvGraphicFramePr/>
          <p:nvPr>
            <p:custDataLst>
              <p:tags r:id="rId4"/>
            </p:custDataLst>
          </p:nvPr>
        </p:nvGraphicFramePr>
        <p:xfrm>
          <a:off x="1691357" y="2780627"/>
          <a:ext cx="1366371" cy="483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582930" imgH="177800" progId="Equation.DSMT4">
                  <p:embed/>
                </p:oleObj>
              </mc:Choice>
              <mc:Fallback>
                <p:oleObj r:id="rId20" imgW="582930" imgH="177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91357" y="2780627"/>
                        <a:ext cx="1366371" cy="48392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/>
          <p:nvPr>
            <p:custDataLst>
              <p:tags r:id="rId5"/>
            </p:custDataLst>
          </p:nvPr>
        </p:nvGrpSpPr>
        <p:grpSpPr>
          <a:xfrm>
            <a:off x="2999308" y="2743247"/>
            <a:ext cx="2674232" cy="531367"/>
            <a:chOff x="1689" y="1698"/>
            <a:chExt cx="1537" cy="322"/>
          </a:xfrm>
        </p:grpSpPr>
        <p:sp>
          <p:nvSpPr>
            <p:cNvPr id="90121" name="Text Box 10"/>
            <p:cNvSpPr txBox="1"/>
            <p:nvPr>
              <p:custDataLst>
                <p:tags r:id="rId13"/>
              </p:custDataLst>
            </p:nvPr>
          </p:nvSpPr>
          <p:spPr>
            <a:xfrm>
              <a:off x="1689" y="1698"/>
              <a:ext cx="576" cy="3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得：</a:t>
              </a:r>
            </a:p>
          </p:txBody>
        </p:sp>
        <p:graphicFrame>
          <p:nvGraphicFramePr>
            <p:cNvPr id="90122" name="Object 11"/>
            <p:cNvGraphicFramePr/>
            <p:nvPr>
              <p:custDataLst>
                <p:tags r:id="rId14"/>
              </p:custDataLst>
            </p:nvPr>
          </p:nvGraphicFramePr>
          <p:xfrm>
            <a:off x="2055" y="1728"/>
            <a:ext cx="1171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812800" imgH="203200" progId="Equation.DSMT4">
                    <p:embed/>
                  </p:oleObj>
                </mc:Choice>
                <mc:Fallback>
                  <p:oleObj r:id="rId22" imgW="812800" imgH="2032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055" y="1728"/>
                          <a:ext cx="1171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/>
          <p:cNvGrpSpPr/>
          <p:nvPr>
            <p:custDataLst>
              <p:tags r:id="rId6"/>
            </p:custDataLst>
          </p:nvPr>
        </p:nvGrpSpPr>
        <p:grpSpPr>
          <a:xfrm>
            <a:off x="1044711" y="3500728"/>
            <a:ext cx="1497632" cy="569321"/>
            <a:chOff x="655" y="2142"/>
            <a:chExt cx="947" cy="360"/>
          </a:xfrm>
        </p:grpSpPr>
        <p:sp>
          <p:nvSpPr>
            <p:cNvPr id="90124" name="Text Box 12"/>
            <p:cNvSpPr txBox="1"/>
            <p:nvPr>
              <p:custDataLst>
                <p:tags r:id="rId11"/>
              </p:custDataLst>
            </p:nvPr>
          </p:nvSpPr>
          <p:spPr>
            <a:xfrm>
              <a:off x="655" y="2160"/>
              <a:ext cx="48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由</a:t>
              </a:r>
            </a:p>
          </p:txBody>
        </p:sp>
        <p:graphicFrame>
          <p:nvGraphicFramePr>
            <p:cNvPr id="90125" name="Object 13"/>
            <p:cNvGraphicFramePr/>
            <p:nvPr>
              <p:custDataLst>
                <p:tags r:id="rId12"/>
              </p:custDataLst>
            </p:nvPr>
          </p:nvGraphicFramePr>
          <p:xfrm>
            <a:off x="882" y="2142"/>
            <a:ext cx="72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507365" imgH="254000" progId="Equation.DSMT4">
                    <p:embed/>
                  </p:oleObj>
                </mc:Choice>
                <mc:Fallback>
                  <p:oleObj r:id="rId24" imgW="507365" imgH="2540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82" y="2142"/>
                          <a:ext cx="720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494" name="Text Box 14"/>
          <p:cNvSpPr txBox="1"/>
          <p:nvPr>
            <p:custDataLst>
              <p:tags r:id="rId7"/>
            </p:custDataLst>
          </p:nvPr>
        </p:nvSpPr>
        <p:spPr>
          <a:xfrm>
            <a:off x="2972584" y="3453738"/>
            <a:ext cx="986824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得：</a:t>
            </a:r>
          </a:p>
        </p:txBody>
      </p:sp>
      <p:graphicFrame>
        <p:nvGraphicFramePr>
          <p:cNvPr id="90127" name="Object 15"/>
          <p:cNvGraphicFramePr/>
          <p:nvPr>
            <p:custDataLst>
              <p:tags r:id="rId8"/>
            </p:custDataLst>
          </p:nvPr>
        </p:nvGraphicFramePr>
        <p:xfrm>
          <a:off x="3780321" y="3529606"/>
          <a:ext cx="1779446" cy="483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749300" imgH="203200" progId="Equation.DSMT4">
                  <p:embed/>
                </p:oleObj>
              </mc:Choice>
              <mc:Fallback>
                <p:oleObj r:id="rId26" imgW="7493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780321" y="3529606"/>
                        <a:ext cx="1779446" cy="48329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96" name="Text Box 16"/>
          <p:cNvSpPr txBox="1"/>
          <p:nvPr>
            <p:custDataLst>
              <p:tags r:id="rId9"/>
            </p:custDataLst>
          </p:nvPr>
        </p:nvSpPr>
        <p:spPr>
          <a:xfrm>
            <a:off x="1100537" y="4316284"/>
            <a:ext cx="1745919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从而解得：</a:t>
            </a:r>
          </a:p>
        </p:txBody>
      </p:sp>
      <p:graphicFrame>
        <p:nvGraphicFramePr>
          <p:cNvPr id="90129" name="Object 17"/>
          <p:cNvGraphicFramePr/>
          <p:nvPr>
            <p:custDataLst>
              <p:tags r:id="rId10"/>
            </p:custDataLst>
          </p:nvPr>
        </p:nvGraphicFramePr>
        <p:xfrm>
          <a:off x="2916057" y="4365179"/>
          <a:ext cx="2009704" cy="54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749300" imgH="203200" progId="Equation.DSMT4">
                  <p:embed/>
                </p:oleObj>
              </mc:Choice>
              <mc:Fallback>
                <p:oleObj r:id="rId28" imgW="749300" imgH="203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916057" y="4365179"/>
                        <a:ext cx="2009704" cy="54718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9910" y="5157470"/>
            <a:ext cx="732917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方法二：也可以分别计算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A,B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特征值，再比较特征值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7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7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9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/>
      <p:bldP spid="276487" grpId="0"/>
      <p:bldP spid="276488" grpId="0"/>
      <p:bldP spid="276494" grpId="0"/>
      <p:bldP spid="276496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6" name="文本框 71685"/>
          <p:cNvSpPr txBox="1"/>
          <p:nvPr/>
        </p:nvSpPr>
        <p:spPr>
          <a:xfrm>
            <a:off x="538798" y="475933"/>
            <a:ext cx="51847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2. </a:t>
            </a:r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矩阵可对角化的条件</a:t>
            </a:r>
          </a:p>
        </p:txBody>
      </p:sp>
      <p:graphicFrame>
        <p:nvGraphicFramePr>
          <p:cNvPr id="71687" name="对象 71686"/>
          <p:cNvGraphicFramePr/>
          <p:nvPr/>
        </p:nvGraphicFramePr>
        <p:xfrm>
          <a:off x="468313" y="1340168"/>
          <a:ext cx="81407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340168"/>
                        <a:ext cx="81407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395288" y="2420621"/>
          <a:ext cx="8140700" cy="2134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1590675" progId="Word.Document.8">
                  <p:embed/>
                </p:oleObj>
              </mc:Choice>
              <mc:Fallback>
                <p:oleObj r:id="rId4" imgW="6053455" imgH="1590675" progId="Word.Document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288" y="2420621"/>
                        <a:ext cx="8140700" cy="2134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323215" y="4151630"/>
          <a:ext cx="8140700" cy="2237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590675" progId="Word.Document.8">
                  <p:embed/>
                </p:oleObj>
              </mc:Choice>
              <mc:Fallback>
                <p:oleObj r:id="rId6" imgW="6053455" imgH="1590675" progId="Word.Document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3215" y="4151630"/>
                        <a:ext cx="8140700" cy="22371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椭圆 72705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07" name="椭圆 72706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08" name="矩形 72707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2709" name="对象 72708"/>
          <p:cNvGraphicFramePr/>
          <p:nvPr/>
        </p:nvGraphicFramePr>
        <p:xfrm>
          <a:off x="469900" y="542925"/>
          <a:ext cx="81407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9900" y="542925"/>
                        <a:ext cx="81407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对象 72709"/>
          <p:cNvGraphicFramePr/>
          <p:nvPr/>
        </p:nvGraphicFramePr>
        <p:xfrm>
          <a:off x="468313" y="1628775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795655" progId="Word.Document.8">
                  <p:embed/>
                </p:oleObj>
              </mc:Choice>
              <mc:Fallback>
                <p:oleObj r:id="rId4" imgW="6053455" imgH="795655" progId="Word.Document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628775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2" name="矩形 72711"/>
          <p:cNvSpPr/>
          <p:nvPr/>
        </p:nvSpPr>
        <p:spPr>
          <a:xfrm>
            <a:off x="0" y="27670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2711" name="对象 72710"/>
          <p:cNvGraphicFramePr/>
          <p:nvPr/>
        </p:nvGraphicFramePr>
        <p:xfrm>
          <a:off x="971550" y="2708275"/>
          <a:ext cx="3459163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39900" imgH="939800" progId="Equation.DSMT4">
                  <p:embed/>
                </p:oleObj>
              </mc:Choice>
              <mc:Fallback>
                <p:oleObj r:id="rId6" imgW="1739900" imgH="9398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708275"/>
                        <a:ext cx="3459163" cy="187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对象 72712"/>
          <p:cNvGraphicFramePr/>
          <p:nvPr/>
        </p:nvGraphicFramePr>
        <p:xfrm>
          <a:off x="4572000" y="3352800"/>
          <a:ext cx="267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020570" imgH="402590" progId="Word.Document.8">
                  <p:embed/>
                </p:oleObj>
              </mc:Choice>
              <mc:Fallback>
                <p:oleObj r:id="rId8" imgW="2020570" imgH="402590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3352800"/>
                        <a:ext cx="26797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对象 72713"/>
          <p:cNvGraphicFramePr/>
          <p:nvPr/>
        </p:nvGraphicFramePr>
        <p:xfrm>
          <a:off x="393700" y="4584700"/>
          <a:ext cx="8496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332220" imgH="795655" progId="Word.Document.8">
                  <p:embed/>
                </p:oleObj>
              </mc:Choice>
              <mc:Fallback>
                <p:oleObj r:id="rId10" imgW="6332220" imgH="795655" progId="Word.Document.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700" y="4584700"/>
                        <a:ext cx="84963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矩形 72715"/>
          <p:cNvSpPr/>
          <p:nvPr/>
        </p:nvSpPr>
        <p:spPr>
          <a:xfrm>
            <a:off x="0" y="32432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2715" name="对象 72714"/>
          <p:cNvGraphicFramePr/>
          <p:nvPr/>
        </p:nvGraphicFramePr>
        <p:xfrm>
          <a:off x="1077913" y="5230813"/>
          <a:ext cx="68072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111500" imgH="228600" progId="Equation.DSMT4">
                  <p:embed/>
                </p:oleObj>
              </mc:Choice>
              <mc:Fallback>
                <p:oleObj r:id="rId12" imgW="3111500" imgH="2286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77913" y="5230813"/>
                        <a:ext cx="6807200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7" name="对象 72716"/>
          <p:cNvGraphicFramePr/>
          <p:nvPr/>
        </p:nvGraphicFramePr>
        <p:xfrm>
          <a:off x="395288" y="5949950"/>
          <a:ext cx="8140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053455" imgH="402590" progId="Word.Document.8">
                  <p:embed/>
                </p:oleObj>
              </mc:Choice>
              <mc:Fallback>
                <p:oleObj r:id="rId14" imgW="6053455" imgH="402590" progId="Word.Document.8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5949950"/>
                        <a:ext cx="81407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椭圆 73729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1" name="椭圆 73730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2" name="矩形 73731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3733" name="对象 73732"/>
          <p:cNvGraphicFramePr/>
          <p:nvPr/>
        </p:nvGraphicFramePr>
        <p:xfrm>
          <a:off x="393700" y="762000"/>
          <a:ext cx="81407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1193165" progId="Word.Document.8">
                  <p:embed/>
                </p:oleObj>
              </mc:Choice>
              <mc:Fallback>
                <p:oleObj r:id="rId2" imgW="6053455" imgH="1193165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700" y="762000"/>
                        <a:ext cx="8140700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对象 73733"/>
          <p:cNvGraphicFramePr/>
          <p:nvPr/>
        </p:nvGraphicFramePr>
        <p:xfrm>
          <a:off x="469900" y="2489200"/>
          <a:ext cx="81407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1193165" progId="Word.Document.8">
                  <p:embed/>
                </p:oleObj>
              </mc:Choice>
              <mc:Fallback>
                <p:oleObj r:id="rId4" imgW="6053455" imgH="1193165" progId="Word.Document.8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2489200"/>
                        <a:ext cx="8140700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对象 73734"/>
          <p:cNvGraphicFramePr/>
          <p:nvPr/>
        </p:nvGraphicFramePr>
        <p:xfrm>
          <a:off x="469900" y="4076700"/>
          <a:ext cx="81407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591310" progId="Word.Document.8">
                  <p:embed/>
                </p:oleObj>
              </mc:Choice>
              <mc:Fallback>
                <p:oleObj r:id="rId6" imgW="6053455" imgH="1591310" progId="Word.Document.8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4076700"/>
                        <a:ext cx="81407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34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1140" name="对象 91139"/>
          <p:cNvGraphicFramePr/>
          <p:nvPr/>
        </p:nvGraphicFramePr>
        <p:xfrm>
          <a:off x="468313" y="1338263"/>
          <a:ext cx="81407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338263"/>
                        <a:ext cx="81407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对象 91140"/>
          <p:cNvGraphicFramePr/>
          <p:nvPr/>
        </p:nvGraphicFramePr>
        <p:xfrm>
          <a:off x="539750" y="2802255"/>
          <a:ext cx="8140700" cy="1062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7900" imgH="800100" progId="Word.Document.8">
                  <p:embed/>
                </p:oleObj>
              </mc:Choice>
              <mc:Fallback>
                <p:oleObj r:id="rId4" imgW="6057900" imgH="800100" progId="Word.Document.8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2802255"/>
                        <a:ext cx="8140700" cy="10629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对象 91141"/>
          <p:cNvGraphicFramePr/>
          <p:nvPr/>
        </p:nvGraphicFramePr>
        <p:xfrm>
          <a:off x="468313" y="4221163"/>
          <a:ext cx="81407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591310" progId="Word.Document.8">
                  <p:embed/>
                </p:oleObj>
              </mc:Choice>
              <mc:Fallback>
                <p:oleObj r:id="rId6" imgW="6053455" imgH="1591310" progId="Word.Document.8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4221163"/>
                        <a:ext cx="81407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椭圆 78849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51" name="椭圆 78850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52" name="矩形 78851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8853" name="对象 78852"/>
          <p:cNvGraphicFramePr/>
          <p:nvPr/>
        </p:nvGraphicFramePr>
        <p:xfrm>
          <a:off x="468313" y="404813"/>
          <a:ext cx="81407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1590675" progId="Word.Document.8">
                  <p:embed/>
                </p:oleObj>
              </mc:Choice>
              <mc:Fallback>
                <p:oleObj r:id="rId2" imgW="6053455" imgH="1590675" progId="Word.Document.8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8313" y="404813"/>
                        <a:ext cx="81407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对象 78853"/>
          <p:cNvGraphicFramePr/>
          <p:nvPr/>
        </p:nvGraphicFramePr>
        <p:xfrm>
          <a:off x="1185863" y="2781618"/>
          <a:ext cx="6645275" cy="2132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948555" imgH="1590675" progId="Word.Document.8">
                  <p:embed/>
                </p:oleObj>
              </mc:Choice>
              <mc:Fallback>
                <p:oleObj r:id="rId4" imgW="4948555" imgH="1590675" progId="Word.Document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5863" y="2781618"/>
                        <a:ext cx="6645275" cy="21329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对象 78854"/>
          <p:cNvGraphicFramePr/>
          <p:nvPr/>
        </p:nvGraphicFramePr>
        <p:xfrm>
          <a:off x="469900" y="5016500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795655" progId="Word.Document.8">
                  <p:embed/>
                </p:oleObj>
              </mc:Choice>
              <mc:Fallback>
                <p:oleObj r:id="rId6" imgW="6053455" imgH="795655" progId="Word.Document.8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5016500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8" name="对象 74757"/>
          <p:cNvGraphicFramePr/>
          <p:nvPr/>
        </p:nvGraphicFramePr>
        <p:xfrm>
          <a:off x="323215" y="188595"/>
          <a:ext cx="8140700" cy="1607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1195705" progId="Word.Document.8">
                  <p:embed/>
                </p:oleObj>
              </mc:Choice>
              <mc:Fallback>
                <p:oleObj r:id="rId2" imgW="6053455" imgH="1195705" progId="Word.Document.8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3215" y="188595"/>
                        <a:ext cx="8140700" cy="16071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对象 76804"/>
          <p:cNvGraphicFramePr/>
          <p:nvPr/>
        </p:nvGraphicFramePr>
        <p:xfrm>
          <a:off x="402590" y="2576830"/>
          <a:ext cx="81407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7900" imgH="1202690" progId="Word.Document.8">
                  <p:embed/>
                </p:oleObj>
              </mc:Choice>
              <mc:Fallback>
                <p:oleObj r:id="rId4" imgW="6057900" imgH="1202690" progId="Word.Document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2590" y="2576830"/>
                        <a:ext cx="8140700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6" name="矩形 76805"/>
          <p:cNvSpPr/>
          <p:nvPr/>
        </p:nvSpPr>
        <p:spPr>
          <a:xfrm>
            <a:off x="1115378" y="1916430"/>
            <a:ext cx="3028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矩阵对角化方法：</a:t>
            </a:r>
          </a:p>
        </p:txBody>
      </p:sp>
      <p:graphicFrame>
        <p:nvGraphicFramePr>
          <p:cNvPr id="76807" name="对象 76806"/>
          <p:cNvGraphicFramePr/>
          <p:nvPr/>
        </p:nvGraphicFramePr>
        <p:xfrm>
          <a:off x="542290" y="4456430"/>
          <a:ext cx="81407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591310" progId="Word.Document.8">
                  <p:embed/>
                </p:oleObj>
              </mc:Choice>
              <mc:Fallback>
                <p:oleObj r:id="rId6" imgW="6053455" imgH="1591310" progId="Word.Document.8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2290" y="4456430"/>
                        <a:ext cx="81407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椭圆 77825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827" name="椭圆 77826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828" name="矩形 77827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7829" name="对象 77828"/>
          <p:cNvGraphicFramePr/>
          <p:nvPr/>
        </p:nvGraphicFramePr>
        <p:xfrm>
          <a:off x="469900" y="762000"/>
          <a:ext cx="81407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1591310" progId="Word.Document.8">
                  <p:embed/>
                </p:oleObj>
              </mc:Choice>
              <mc:Fallback>
                <p:oleObj r:id="rId2" imgW="6053455" imgH="1591310" progId="Word.Document.8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762000"/>
                        <a:ext cx="81407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对象 77829"/>
          <p:cNvGraphicFramePr/>
          <p:nvPr/>
        </p:nvGraphicFramePr>
        <p:xfrm>
          <a:off x="546100" y="3213100"/>
          <a:ext cx="81407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1984375" progId="Word.Document.8">
                  <p:embed/>
                </p:oleObj>
              </mc:Choice>
              <mc:Fallback>
                <p:oleObj r:id="rId4" imgW="6053455" imgH="1984375" progId="Word.Document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6100" y="3213100"/>
                        <a:ext cx="8140700" cy="266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3" name="对象 78852"/>
          <p:cNvGraphicFramePr/>
          <p:nvPr/>
        </p:nvGraphicFramePr>
        <p:xfrm>
          <a:off x="468313" y="-128587"/>
          <a:ext cx="81407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2386330" progId="Word.Document.8">
                  <p:embed/>
                </p:oleObj>
              </mc:Choice>
              <mc:Fallback>
                <p:oleObj r:id="rId2" imgW="6053455" imgH="2386330" progId="Word.Document.8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8313" y="-128587"/>
                        <a:ext cx="8140700" cy="320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595313" y="3549333"/>
          <a:ext cx="8140700" cy="267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1990725" progId="Word.Document.8">
                  <p:embed/>
                </p:oleObj>
              </mc:Choice>
              <mc:Fallback>
                <p:oleObj r:id="rId4" imgW="6053455" imgH="1990725" progId="Word.Document.8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5313" y="3549333"/>
                        <a:ext cx="8140700" cy="26708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椭圆 79873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875" name="椭圆 79874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876" name="矩形 79875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878" name="矩形 79877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9877" name="对象 79876"/>
          <p:cNvGraphicFramePr/>
          <p:nvPr/>
        </p:nvGraphicFramePr>
        <p:xfrm>
          <a:off x="539592" y="764223"/>
          <a:ext cx="456565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98700" imgH="711200" progId="Equation.DSMT4">
                  <p:embed/>
                </p:oleObj>
              </mc:Choice>
              <mc:Fallback>
                <p:oleObj r:id="rId2" imgW="2298700" imgH="7112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592" y="764223"/>
                        <a:ext cx="4565650" cy="1419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1" name="对象 79880"/>
          <p:cNvGraphicFramePr/>
          <p:nvPr/>
        </p:nvGraphicFramePr>
        <p:xfrm>
          <a:off x="251143" y="3644901"/>
          <a:ext cx="8140700" cy="1073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800100" progId="Word.Document.8">
                  <p:embed/>
                </p:oleObj>
              </mc:Choice>
              <mc:Fallback>
                <p:oleObj r:id="rId4" imgW="6053455" imgH="800100" progId="Word.Document.8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143" y="3644901"/>
                        <a:ext cx="8140700" cy="1073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3" name="矩形 79882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9882" name="对象 79881"/>
          <p:cNvGraphicFramePr/>
          <p:nvPr/>
        </p:nvGraphicFramePr>
        <p:xfrm>
          <a:off x="418941" y="4652486"/>
          <a:ext cx="3931920" cy="149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79600" imgH="711200" progId="Equation.DSMT4">
                  <p:embed/>
                </p:oleObj>
              </mc:Choice>
              <mc:Fallback>
                <p:oleObj r:id="rId6" imgW="1879600" imgH="7112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8941" y="4652486"/>
                        <a:ext cx="3931920" cy="1490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对象 79883"/>
          <p:cNvGraphicFramePr/>
          <p:nvPr/>
        </p:nvGraphicFramePr>
        <p:xfrm>
          <a:off x="4572159" y="4508341"/>
          <a:ext cx="4060825" cy="149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43100" imgH="711200" progId="Equation.DSMT4">
                  <p:embed/>
                </p:oleObj>
              </mc:Choice>
              <mc:Fallback>
                <p:oleObj r:id="rId8" imgW="1943100" imgH="7112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2159" y="4508341"/>
                        <a:ext cx="4060825" cy="1490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6" name="对象 79885"/>
          <p:cNvGraphicFramePr/>
          <p:nvPr/>
        </p:nvGraphicFramePr>
        <p:xfrm>
          <a:off x="827088" y="6308725"/>
          <a:ext cx="3162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356485" imgH="400050" progId="Word.Document.8">
                  <p:embed/>
                </p:oleObj>
              </mc:Choice>
              <mc:Fallback>
                <p:oleObj r:id="rId10" imgW="2356485" imgH="400050" progId="Word.Document.8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6308725"/>
                        <a:ext cx="31623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7" name="对象 79886"/>
          <p:cNvGraphicFramePr/>
          <p:nvPr/>
        </p:nvGraphicFramePr>
        <p:xfrm>
          <a:off x="323533" y="188595"/>
          <a:ext cx="8140700" cy="53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053455" imgH="405130" progId="Word.Document.8">
                  <p:embed/>
                </p:oleObj>
              </mc:Choice>
              <mc:Fallback>
                <p:oleObj r:id="rId12" imgW="6053455" imgH="405130" progId="Word.Document.8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533" y="188595"/>
                        <a:ext cx="8140700" cy="537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755333" y="2420303"/>
          <a:ext cx="8140700" cy="107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053455" imgH="800100" progId="Word.Document.8">
                  <p:embed/>
                </p:oleObj>
              </mc:Choice>
              <mc:Fallback>
                <p:oleObj r:id="rId14" imgW="6053455" imgH="800100" progId="Word.Document.8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333" y="2420303"/>
                        <a:ext cx="8140700" cy="10744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椭圆 79873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875" name="椭圆 79874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876" name="矩形 79875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878" name="矩形 79877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883" name="矩形 79882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9887" name="对象 79886"/>
          <p:cNvGraphicFramePr/>
          <p:nvPr/>
        </p:nvGraphicFramePr>
        <p:xfrm>
          <a:off x="323533" y="187960"/>
          <a:ext cx="8140700" cy="53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405130" progId="Word.Document.8">
                  <p:embed/>
                </p:oleObj>
              </mc:Choice>
              <mc:Fallback>
                <p:oleObj r:id="rId2" imgW="6053455" imgH="405130" progId="Word.Document.8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533" y="187960"/>
                        <a:ext cx="8140700" cy="5384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323533" y="2204721"/>
          <a:ext cx="8140700" cy="54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405130" progId="Word.Document.8">
                  <p:embed/>
                </p:oleObj>
              </mc:Choice>
              <mc:Fallback>
                <p:oleObj r:id="rId4" imgW="6053455" imgH="405130" progId="Word.Document.8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533" y="2204721"/>
                        <a:ext cx="8140700" cy="544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77167"/>
          <p:cNvGraphicFramePr>
            <a:graphicFrameLocks noChangeAspect="1"/>
          </p:cNvGraphicFramePr>
          <p:nvPr/>
        </p:nvGraphicFramePr>
        <p:xfrm>
          <a:off x="1710690" y="2348865"/>
          <a:ext cx="5367020" cy="432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730500" imgH="2197100" progId="Equation.DSMT4">
                  <p:embed/>
                </p:oleObj>
              </mc:Choice>
              <mc:Fallback>
                <p:oleObj r:id="rId6" imgW="2730500" imgH="2197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10690" y="2348865"/>
                        <a:ext cx="5367020" cy="4326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77168"/>
          <p:cNvGraphicFramePr>
            <a:graphicFrameLocks noChangeAspect="1"/>
          </p:cNvGraphicFramePr>
          <p:nvPr/>
        </p:nvGraphicFramePr>
        <p:xfrm>
          <a:off x="1835785" y="692150"/>
          <a:ext cx="4885055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540000" imgH="711200" progId="Equation.DSMT4">
                  <p:embed/>
                </p:oleObj>
              </mc:Choice>
              <mc:Fallback>
                <p:oleObj r:id="rId8" imgW="2540000" imgH="7112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35785" y="692150"/>
                        <a:ext cx="4885055" cy="1365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椭圆 78849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51" name="椭圆 78850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52" name="矩形 78851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8853" name="对象 78852"/>
          <p:cNvGraphicFramePr/>
          <p:nvPr/>
        </p:nvGraphicFramePr>
        <p:xfrm>
          <a:off x="468313" y="404813"/>
          <a:ext cx="81407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1590675" progId="Word.Document.8">
                  <p:embed/>
                </p:oleObj>
              </mc:Choice>
              <mc:Fallback>
                <p:oleObj r:id="rId2" imgW="6053455" imgH="1590675" progId="Word.Document.8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8313" y="404813"/>
                        <a:ext cx="81407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对象 78853"/>
          <p:cNvGraphicFramePr/>
          <p:nvPr/>
        </p:nvGraphicFramePr>
        <p:xfrm>
          <a:off x="1187450" y="2781300"/>
          <a:ext cx="66421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946650" imgH="1591310" progId="Word.Document.8">
                  <p:embed/>
                </p:oleObj>
              </mc:Choice>
              <mc:Fallback>
                <p:oleObj r:id="rId4" imgW="4946650" imgH="1591310" progId="Word.Document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781300"/>
                        <a:ext cx="66421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对象 78854"/>
          <p:cNvGraphicFramePr/>
          <p:nvPr/>
        </p:nvGraphicFramePr>
        <p:xfrm>
          <a:off x="469900" y="5016500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795655" progId="Word.Document.8">
                  <p:embed/>
                </p:oleObj>
              </mc:Choice>
              <mc:Fallback>
                <p:oleObj r:id="rId6" imgW="6053455" imgH="795655" progId="Word.Document.8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5016500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椭圆 80897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899" name="椭圆 80898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900" name="矩形 80899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0907" name="组合 80906"/>
          <p:cNvGrpSpPr/>
          <p:nvPr/>
        </p:nvGrpSpPr>
        <p:grpSpPr>
          <a:xfrm>
            <a:off x="323850" y="476250"/>
            <a:ext cx="8629651" cy="1984375"/>
            <a:chOff x="208" y="300"/>
            <a:chExt cx="5436" cy="1250"/>
          </a:xfrm>
        </p:grpSpPr>
        <p:sp>
          <p:nvSpPr>
            <p:cNvPr id="80902" name="矩形 80901"/>
            <p:cNvSpPr/>
            <p:nvPr/>
          </p:nvSpPr>
          <p:spPr>
            <a:xfrm>
              <a:off x="208" y="572"/>
              <a:ext cx="170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rPr>
                <a:t>例</a:t>
              </a: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rPr>
                <a:t>4.2.4</a:t>
              </a: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  设矩阵 </a:t>
              </a:r>
            </a:p>
          </p:txBody>
        </p:sp>
        <p:graphicFrame>
          <p:nvGraphicFramePr>
            <p:cNvPr id="80903" name="对象 80902"/>
            <p:cNvGraphicFramePr/>
            <p:nvPr/>
          </p:nvGraphicFramePr>
          <p:xfrm>
            <a:off x="1809" y="300"/>
            <a:ext cx="1393" cy="9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54100" imgH="711200" progId="Equation.DSMT4">
                    <p:embed/>
                  </p:oleObj>
                </mc:Choice>
                <mc:Fallback>
                  <p:oleObj r:id="rId2" imgW="1054100" imgH="711200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09" y="300"/>
                          <a:ext cx="1393" cy="9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05" name="对象 80904"/>
            <p:cNvGraphicFramePr/>
            <p:nvPr/>
          </p:nvGraphicFramePr>
          <p:xfrm>
            <a:off x="3332" y="598"/>
            <a:ext cx="2312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729230" imgH="405130" progId="Word.Document.8">
                    <p:embed/>
                  </p:oleObj>
                </mc:Choice>
                <mc:Fallback>
                  <p:oleObj r:id="rId4" imgW="2729230" imgH="405130" progId="Word.Document.8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32" y="598"/>
                          <a:ext cx="2312" cy="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06" name="对象 80905"/>
            <p:cNvGraphicFramePr/>
            <p:nvPr/>
          </p:nvGraphicFramePr>
          <p:xfrm>
            <a:off x="215" y="1218"/>
            <a:ext cx="536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339205" imgH="405130" progId="Word.Document.8">
                    <p:embed/>
                  </p:oleObj>
                </mc:Choice>
                <mc:Fallback>
                  <p:oleObj r:id="rId6" imgW="6339205" imgH="405130" progId="Word.Document.8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5" y="1218"/>
                          <a:ext cx="536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0908" name="对象 80907"/>
          <p:cNvGraphicFramePr/>
          <p:nvPr/>
        </p:nvGraphicFramePr>
        <p:xfrm>
          <a:off x="251460" y="2558415"/>
          <a:ext cx="8140700" cy="805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053455" imgH="600075" progId="Word.Document.8">
                  <p:embed/>
                </p:oleObj>
              </mc:Choice>
              <mc:Fallback>
                <p:oleObj r:id="rId8" imgW="6053455" imgH="600075" progId="Word.Document.8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" y="2558415"/>
                        <a:ext cx="8140700" cy="8051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1" name="对象 80910"/>
          <p:cNvGraphicFramePr/>
          <p:nvPr/>
        </p:nvGraphicFramePr>
        <p:xfrm>
          <a:off x="395605" y="4939030"/>
          <a:ext cx="8140700" cy="53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053455" imgH="405130" progId="Word.Document.8">
                  <p:embed/>
                </p:oleObj>
              </mc:Choice>
              <mc:Fallback>
                <p:oleObj r:id="rId10" imgW="6053455" imgH="405130" progId="Word.Document.8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605" y="4939030"/>
                        <a:ext cx="8140700" cy="537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77162"/>
          <p:cNvGraphicFramePr>
            <a:graphicFrameLocks noChangeAspect="1"/>
          </p:cNvGraphicFramePr>
          <p:nvPr/>
        </p:nvGraphicFramePr>
        <p:xfrm>
          <a:off x="899795" y="3356610"/>
          <a:ext cx="6111240" cy="1391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124200" imgH="711200" progId="Equation.DSMT4">
                  <p:embed/>
                </p:oleObj>
              </mc:Choice>
              <mc:Fallback>
                <p:oleObj r:id="rId12" imgW="31242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99795" y="3356610"/>
                        <a:ext cx="6111240" cy="13912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椭圆 81921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23" name="椭圆 81922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24" name="矩形 81923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1926" name="对象 81925"/>
          <p:cNvGraphicFramePr/>
          <p:nvPr/>
        </p:nvGraphicFramePr>
        <p:xfrm>
          <a:off x="393700" y="698500"/>
          <a:ext cx="8140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402590" progId="Word.Document.8">
                  <p:embed/>
                </p:oleObj>
              </mc:Choice>
              <mc:Fallback>
                <p:oleObj r:id="rId2" imgW="6053455" imgH="402590" progId="Word.Document.8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700" y="698500"/>
                        <a:ext cx="81407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8" name="矩形 81927"/>
          <p:cNvSpPr/>
          <p:nvPr/>
        </p:nvSpPr>
        <p:spPr>
          <a:xfrm>
            <a:off x="395288" y="175736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 defTabSz="914400">
              <a:tabLst>
                <a:tab pos="4933950" algn="l"/>
              </a:tabLst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由</a:t>
            </a:r>
          </a:p>
        </p:txBody>
      </p:sp>
      <p:sp>
        <p:nvSpPr>
          <p:cNvPr id="81930" name="矩形 81929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1929" name="对象 81928"/>
          <p:cNvGraphicFramePr/>
          <p:nvPr/>
        </p:nvGraphicFramePr>
        <p:xfrm>
          <a:off x="1603217" y="1341438"/>
          <a:ext cx="4599305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11400" imgH="711200" progId="Equation.DSMT4">
                  <p:embed/>
                </p:oleObj>
              </mc:Choice>
              <mc:Fallback>
                <p:oleObj r:id="rId4" imgW="2311400" imgH="7112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03217" y="1341438"/>
                        <a:ext cx="4599305" cy="1419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1" name="对象 81930"/>
          <p:cNvGraphicFramePr/>
          <p:nvPr/>
        </p:nvGraphicFramePr>
        <p:xfrm>
          <a:off x="611505" y="2996248"/>
          <a:ext cx="8140700" cy="213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590675" progId="Word.Document.8">
                  <p:embed/>
                </p:oleObj>
              </mc:Choice>
              <mc:Fallback>
                <p:oleObj r:id="rId6" imgW="6053455" imgH="1590675" progId="Word.Document.8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505" y="2996248"/>
                        <a:ext cx="8140700" cy="21380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椭圆 80897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899" name="椭圆 80898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900" name="矩形 80899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902" name="矩形 80901"/>
          <p:cNvSpPr/>
          <p:nvPr/>
        </p:nvSpPr>
        <p:spPr>
          <a:xfrm>
            <a:off x="179705" y="819468"/>
            <a:ext cx="20535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4.2.5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设 </a:t>
            </a:r>
          </a:p>
        </p:txBody>
      </p:sp>
      <p:graphicFrame>
        <p:nvGraphicFramePr>
          <p:cNvPr id="80903" name="对象 80902"/>
          <p:cNvGraphicFramePr/>
          <p:nvPr/>
        </p:nvGraphicFramePr>
        <p:xfrm>
          <a:off x="1979930" y="285115"/>
          <a:ext cx="2530475" cy="149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06500" imgH="711200" progId="Equation.DSMT4">
                  <p:embed/>
                </p:oleObj>
              </mc:Choice>
              <mc:Fallback>
                <p:oleObj r:id="rId2" imgW="1206500" imgH="7112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9930" y="285115"/>
                        <a:ext cx="2530475" cy="1490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对象 80905"/>
          <p:cNvGraphicFramePr/>
          <p:nvPr/>
        </p:nvGraphicFramePr>
        <p:xfrm>
          <a:off x="251460" y="1645603"/>
          <a:ext cx="8512175" cy="2070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339205" imgH="1590675" progId="Word.Document.8">
                  <p:embed/>
                </p:oleObj>
              </mc:Choice>
              <mc:Fallback>
                <p:oleObj r:id="rId4" imgW="6339205" imgH="1590675" progId="Word.Document.8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460" y="1645603"/>
                        <a:ext cx="8512175" cy="20707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499610" y="819785"/>
            <a:ext cx="30613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的一个特征向量为</a:t>
            </a:r>
          </a:p>
        </p:txBody>
      </p:sp>
      <p:graphicFrame>
        <p:nvGraphicFramePr>
          <p:cNvPr id="2" name="对象 -2147477201"/>
          <p:cNvGraphicFramePr>
            <a:graphicFrameLocks noChangeAspect="1"/>
          </p:cNvGraphicFramePr>
          <p:nvPr/>
        </p:nvGraphicFramePr>
        <p:xfrm>
          <a:off x="7452360" y="404495"/>
          <a:ext cx="1226185" cy="1375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34365" imgH="711200" progId="Equation.DSMT4">
                  <p:embed/>
                </p:oleObj>
              </mc:Choice>
              <mc:Fallback>
                <p:oleObj r:id="rId6" imgW="634365" imgH="711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52360" y="404495"/>
                        <a:ext cx="1226185" cy="13754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290830" y="3500755"/>
            <a:ext cx="8693150" cy="1097915"/>
            <a:chOff x="458" y="5513"/>
            <a:chExt cx="13690" cy="1729"/>
          </a:xfrm>
        </p:grpSpPr>
        <p:sp>
          <p:nvSpPr>
            <p:cNvPr id="6" name="文本框 5"/>
            <p:cNvSpPr txBox="1"/>
            <p:nvPr/>
          </p:nvSpPr>
          <p:spPr>
            <a:xfrm>
              <a:off x="458" y="5513"/>
              <a:ext cx="13690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rgbClr val="3333FF"/>
                  </a:solidFill>
                </a:rPr>
                <a:t>解</a:t>
              </a:r>
              <a:r>
                <a:rPr lang="zh-CN" altLang="en-US"/>
                <a:t>（1）</a:t>
              </a:r>
              <a:r>
                <a:rPr lang="en-US" altLang="zh-CN"/>
                <a:t> </a:t>
              </a:r>
              <a:r>
                <a:rPr lang="zh-CN" altLang="en-US"/>
                <a:t>设</a:t>
              </a:r>
              <a:r>
                <a:rPr lang="en-US" altLang="zh-CN"/>
                <a:t>    </a:t>
              </a:r>
              <a:r>
                <a:rPr lang="zh-CN" altLang="en-US"/>
                <a:t>的与特征向量</a:t>
              </a:r>
              <a:r>
                <a:rPr lang="en-US" altLang="zh-CN"/>
                <a:t>    </a:t>
              </a:r>
              <a:r>
                <a:rPr lang="zh-CN" altLang="en-US"/>
                <a:t>相对应的特征值为</a:t>
              </a:r>
              <a:r>
                <a:rPr lang="en-US" altLang="zh-CN"/>
                <a:t>    </a:t>
              </a:r>
              <a:r>
                <a:rPr lang="zh-CN" altLang="en-US"/>
                <a:t>，则有</a:t>
              </a:r>
            </a:p>
          </p:txBody>
        </p:sp>
        <p:graphicFrame>
          <p:nvGraphicFramePr>
            <p:cNvPr id="3" name="对象 -2147477188"/>
            <p:cNvGraphicFramePr>
              <a:graphicFrameLocks noChangeAspect="1"/>
            </p:cNvGraphicFramePr>
            <p:nvPr/>
          </p:nvGraphicFramePr>
          <p:xfrm>
            <a:off x="3231" y="5570"/>
            <a:ext cx="681" cy="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65100" imgH="165100" progId="Equation.DSMT4">
                    <p:embed/>
                  </p:oleObj>
                </mc:Choice>
                <mc:Fallback>
                  <p:oleObj r:id="rId8" imgW="165100" imgH="165100" progId="Equation.DSMT4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231" y="5570"/>
                          <a:ext cx="681" cy="6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-2147477187"/>
            <p:cNvGraphicFramePr>
              <a:graphicFrameLocks noChangeAspect="1"/>
            </p:cNvGraphicFramePr>
            <p:nvPr/>
          </p:nvGraphicFramePr>
          <p:xfrm>
            <a:off x="7200" y="5626"/>
            <a:ext cx="577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400" imgH="165100" progId="Equation.DSMT4">
                    <p:embed/>
                  </p:oleObj>
                </mc:Choice>
                <mc:Fallback>
                  <p:oleObj r:id="rId10" imgW="152400" imgH="165100" progId="Equation.DSMT4">
                    <p:embed/>
                    <p:pic>
                      <p:nvPicPr>
                        <p:cNvPr id="0" name="图片 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200" y="5626"/>
                          <a:ext cx="577" cy="6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-2147477186"/>
            <p:cNvGraphicFramePr>
              <a:graphicFrameLocks noChangeAspect="1"/>
            </p:cNvGraphicFramePr>
            <p:nvPr/>
          </p:nvGraphicFramePr>
          <p:xfrm>
            <a:off x="12303" y="5513"/>
            <a:ext cx="552" cy="6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39700" imgH="177800" progId="Equation.DSMT4">
                    <p:embed/>
                  </p:oleObj>
                </mc:Choice>
                <mc:Fallback>
                  <p:oleObj r:id="rId12" imgW="139700" imgH="177800" progId="Equation.DSMT4">
                    <p:embed/>
                    <p:pic>
                      <p:nvPicPr>
                        <p:cNvPr id="0" name="图片 8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2303" y="5513"/>
                          <a:ext cx="552" cy="6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/>
            <p:cNvSpPr txBox="1"/>
            <p:nvPr/>
          </p:nvSpPr>
          <p:spPr>
            <a:xfrm>
              <a:off x="3664" y="6420"/>
              <a:ext cx="1673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>
                  <a:sym typeface="+mn-ea"/>
                </a:rPr>
                <a:t>，得</a:t>
              </a:r>
            </a:p>
          </p:txBody>
        </p:sp>
        <p:graphicFrame>
          <p:nvGraphicFramePr>
            <p:cNvPr id="12" name="对象 -2147477193"/>
            <p:cNvGraphicFramePr>
              <a:graphicFrameLocks noChangeAspect="1"/>
            </p:cNvGraphicFramePr>
            <p:nvPr/>
          </p:nvGraphicFramePr>
          <p:xfrm>
            <a:off x="1417" y="6282"/>
            <a:ext cx="2247" cy="7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584200" imgH="203200" progId="Equation.DSMT4">
                    <p:embed/>
                  </p:oleObj>
                </mc:Choice>
                <mc:Fallback>
                  <p:oleObj r:id="rId14" imgW="584200" imgH="203200" progId="Equation.DSMT4">
                    <p:embed/>
                    <p:pic>
                      <p:nvPicPr>
                        <p:cNvPr id="0" name="图片 1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17" y="6282"/>
                          <a:ext cx="2247" cy="7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-2147477192"/>
          <p:cNvGraphicFramePr/>
          <p:nvPr/>
        </p:nvGraphicFramePr>
        <p:xfrm>
          <a:off x="3420110" y="4027170"/>
          <a:ext cx="2384425" cy="1432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536700" imgH="711200" progId="Equation.DSMT4">
                  <p:embed/>
                </p:oleObj>
              </mc:Choice>
              <mc:Fallback>
                <p:oleObj r:id="rId16" imgW="1536700" imgH="7112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420110" y="4027170"/>
                        <a:ext cx="2384425" cy="14325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16280" y="5517515"/>
            <a:ext cx="83185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18" name="对象 -2147477191"/>
          <p:cNvGraphicFramePr>
            <a:graphicFrameLocks noChangeAspect="1"/>
          </p:cNvGraphicFramePr>
          <p:nvPr/>
        </p:nvGraphicFramePr>
        <p:xfrm>
          <a:off x="1547813" y="5517515"/>
          <a:ext cx="4647565" cy="54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752600" imgH="203200" progId="Equation.DSMT4">
                  <p:embed/>
                </p:oleObj>
              </mc:Choice>
              <mc:Fallback>
                <p:oleObj r:id="rId18" imgW="1752600" imgH="20320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47813" y="5517515"/>
                        <a:ext cx="4647565" cy="5416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755650" y="6281420"/>
            <a:ext cx="10623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因此</a:t>
            </a:r>
          </a:p>
        </p:txBody>
      </p:sp>
      <p:graphicFrame>
        <p:nvGraphicFramePr>
          <p:cNvPr id="22" name="对象 -2147477189"/>
          <p:cNvGraphicFramePr>
            <a:graphicFrameLocks noChangeAspect="1"/>
          </p:cNvGraphicFramePr>
          <p:nvPr/>
        </p:nvGraphicFramePr>
        <p:xfrm>
          <a:off x="1548130" y="6231255"/>
          <a:ext cx="3451860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371600" imgH="203200" progId="Equation.DSMT4">
                  <p:embed/>
                </p:oleObj>
              </mc:Choice>
              <mc:Fallback>
                <p:oleObj r:id="rId20" imgW="1371600" imgH="2032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48130" y="6231255"/>
                        <a:ext cx="3451860" cy="4972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2" grpId="0"/>
      <p:bldP spid="4" grpId="0"/>
      <p:bldP spid="17" grpId="1"/>
      <p:bldP spid="2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45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2387" name="Text Box 3"/>
          <p:cNvSpPr txBox="1">
            <a:spLocks noChangeArrowheads="1"/>
          </p:cNvSpPr>
          <p:nvPr/>
        </p:nvSpPr>
        <p:spPr bwMode="auto">
          <a:xfrm>
            <a:off x="468313" y="388938"/>
            <a:ext cx="12842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endParaRPr kumimoji="1" lang="zh-CN" altLang="en-US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6259" name="Rectangle 4"/>
          <p:cNvSpPr/>
          <p:nvPr/>
        </p:nvSpPr>
        <p:spPr>
          <a:xfrm>
            <a:off x="0" y="3048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endParaRPr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5605" y="260350"/>
            <a:ext cx="17957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）由</a:t>
            </a:r>
          </a:p>
        </p:txBody>
      </p:sp>
      <p:graphicFrame>
        <p:nvGraphicFramePr>
          <p:cNvPr id="3" name="对象 -2147474339"/>
          <p:cNvGraphicFramePr>
            <a:graphicFrameLocks noChangeAspect="1"/>
          </p:cNvGraphicFramePr>
          <p:nvPr/>
        </p:nvGraphicFramePr>
        <p:xfrm>
          <a:off x="899795" y="836295"/>
          <a:ext cx="6779895" cy="1569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73400" imgH="711200" progId="Equation.DSMT4">
                  <p:embed/>
                </p:oleObj>
              </mc:Choice>
              <mc:Fallback>
                <p:oleObj r:id="rId3" imgW="30734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795" y="836295"/>
                        <a:ext cx="6779895" cy="15690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683895" y="2374900"/>
            <a:ext cx="5046980" cy="516890"/>
            <a:chOff x="1077" y="3740"/>
            <a:chExt cx="7948" cy="814"/>
          </a:xfrm>
        </p:grpSpPr>
        <p:sp>
          <p:nvSpPr>
            <p:cNvPr id="4" name="文本框 3"/>
            <p:cNvSpPr txBox="1"/>
            <p:nvPr/>
          </p:nvSpPr>
          <p:spPr>
            <a:xfrm>
              <a:off x="1077" y="3740"/>
              <a:ext cx="4540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/>
              <a:r>
                <a:rPr lang="zh-CN" altLang="en-US" sz="24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知</a:t>
              </a:r>
              <a:r>
                <a:rPr lang="en-US" altLang="zh-CN" sz="24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     </a:t>
              </a:r>
              <a:r>
                <a:rPr lang="zh-CN" altLang="en-US" sz="24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有三重特征值</a:t>
              </a:r>
            </a:p>
          </p:txBody>
        </p:sp>
        <p:graphicFrame>
          <p:nvGraphicFramePr>
            <p:cNvPr id="5" name="对象 -2147477180"/>
            <p:cNvGraphicFramePr>
              <a:graphicFrameLocks noChangeAspect="1"/>
            </p:cNvGraphicFramePr>
            <p:nvPr/>
          </p:nvGraphicFramePr>
          <p:xfrm>
            <a:off x="1753" y="3788"/>
            <a:ext cx="567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5100" imgH="165100" progId="Equation.DSMT4">
                    <p:embed/>
                  </p:oleObj>
                </mc:Choice>
                <mc:Fallback>
                  <p:oleObj r:id="rId5" imgW="165100" imgH="165100" progId="Equation.DSMT4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53" y="3788"/>
                          <a:ext cx="567" cy="5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-2147477179"/>
            <p:cNvGraphicFramePr>
              <a:graphicFrameLocks noChangeAspect="1"/>
            </p:cNvGraphicFramePr>
            <p:nvPr/>
          </p:nvGraphicFramePr>
          <p:xfrm>
            <a:off x="5273" y="3740"/>
            <a:ext cx="3753" cy="8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054100" imgH="228600" progId="Equation.DSMT4">
                    <p:embed/>
                  </p:oleObj>
                </mc:Choice>
                <mc:Fallback>
                  <p:oleObj r:id="rId7" imgW="1054100" imgH="228600" progId="Equation.DSMT4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73" y="3740"/>
                          <a:ext cx="3753" cy="8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-2147477178"/>
          <p:cNvGraphicFramePr>
            <a:graphicFrameLocks noChangeAspect="1"/>
          </p:cNvGraphicFramePr>
          <p:nvPr/>
        </p:nvGraphicFramePr>
        <p:xfrm>
          <a:off x="2195830" y="3034665"/>
          <a:ext cx="478218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324100" imgH="711200" progId="Equation.DSMT4">
                  <p:embed/>
                </p:oleObj>
              </mc:Choice>
              <mc:Fallback>
                <p:oleObj r:id="rId9" imgW="2324100" imgH="7112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95830" y="3034665"/>
                        <a:ext cx="4782185" cy="1463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8" name="矩形 81927"/>
          <p:cNvSpPr/>
          <p:nvPr/>
        </p:nvSpPr>
        <p:spPr>
          <a:xfrm>
            <a:off x="683578" y="3354864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 defTabSz="914400">
              <a:tabLst>
                <a:tab pos="4933950" algn="l"/>
              </a:tabLst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由于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683895" y="4650740"/>
            <a:ext cx="7540625" cy="521970"/>
            <a:chOff x="1077" y="7324"/>
            <a:chExt cx="11875" cy="822"/>
          </a:xfrm>
        </p:grpSpPr>
        <p:sp>
          <p:nvSpPr>
            <p:cNvPr id="11" name="矩形 10"/>
            <p:cNvSpPr/>
            <p:nvPr/>
          </p:nvSpPr>
          <p:spPr>
            <a:xfrm>
              <a:off x="1077" y="7324"/>
              <a:ext cx="1414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l" defTabSz="914400">
                <a:tabLst>
                  <a:tab pos="4933950" algn="l"/>
                </a:tabLst>
              </a:pP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可得</a:t>
              </a:r>
            </a:p>
          </p:txBody>
        </p:sp>
        <p:graphicFrame>
          <p:nvGraphicFramePr>
            <p:cNvPr id="12" name="对象 -2147477177"/>
            <p:cNvGraphicFramePr>
              <a:graphicFrameLocks noChangeAspect="1"/>
            </p:cNvGraphicFramePr>
            <p:nvPr/>
          </p:nvGraphicFramePr>
          <p:xfrm>
            <a:off x="2324" y="7398"/>
            <a:ext cx="2954" cy="6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850900" imgH="203200" progId="Equation.DSMT4">
                    <p:embed/>
                  </p:oleObj>
                </mc:Choice>
                <mc:Fallback>
                  <p:oleObj r:id="rId11" imgW="850900" imgH="203200" progId="Equation.DSMT4">
                    <p:embed/>
                    <p:pic>
                      <p:nvPicPr>
                        <p:cNvPr id="0" name="图片 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24" y="7398"/>
                          <a:ext cx="2954" cy="6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14"/>
            <p:cNvSpPr txBox="1"/>
            <p:nvPr/>
          </p:nvSpPr>
          <p:spPr>
            <a:xfrm>
              <a:off x="5386" y="7398"/>
              <a:ext cx="5290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/>
              <a:r>
                <a:rPr lang="zh-CN" altLang="en-US" sz="24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，所以齐次线性方程组</a:t>
              </a:r>
            </a:p>
          </p:txBody>
        </p:sp>
        <p:graphicFrame>
          <p:nvGraphicFramePr>
            <p:cNvPr id="16" name="对象 -2147477176"/>
            <p:cNvGraphicFramePr>
              <a:graphicFrameLocks noChangeAspect="1"/>
            </p:cNvGraphicFramePr>
            <p:nvPr/>
          </p:nvGraphicFramePr>
          <p:xfrm>
            <a:off x="10376" y="7441"/>
            <a:ext cx="2577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825500" imgH="203200" progId="Equation.DSMT4">
                    <p:embed/>
                  </p:oleObj>
                </mc:Choice>
                <mc:Fallback>
                  <p:oleObj r:id="rId13" imgW="825500" imgH="203200" progId="Equation.DSMT4">
                    <p:embed/>
                    <p:pic>
                      <p:nvPicPr>
                        <p:cNvPr id="0" name="图片 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376" y="7441"/>
                          <a:ext cx="2577" cy="6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648335" y="5372735"/>
            <a:ext cx="7910830" cy="1198880"/>
            <a:chOff x="1021" y="8461"/>
            <a:chExt cx="12458" cy="1888"/>
          </a:xfrm>
        </p:grpSpPr>
        <p:sp>
          <p:nvSpPr>
            <p:cNvPr id="18" name="文本框 17"/>
            <p:cNvSpPr txBox="1"/>
            <p:nvPr/>
          </p:nvSpPr>
          <p:spPr>
            <a:xfrm>
              <a:off x="1021" y="8461"/>
              <a:ext cx="12458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266700"/>
              <a:r>
                <a:rPr lang="zh-CN" altLang="en-US" sz="2400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的基础解系中解向量个数为</a:t>
              </a:r>
              <a:r>
                <a:rPr lang="en-US" altLang="zh-CN" sz="24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sym typeface="+mn-ea"/>
                </a:rPr>
                <a:t>1</a:t>
              </a:r>
              <a:r>
                <a:rPr lang="zh-CN" altLang="en-US" sz="2400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，即</a:t>
              </a:r>
              <a:r>
                <a:rPr lang="en-US" altLang="zh-CN" sz="2400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     </a:t>
              </a:r>
              <a:r>
                <a:rPr lang="zh-CN" altLang="en-US" sz="2400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的属于</a:t>
              </a:r>
              <a:r>
                <a:rPr lang="en-US" altLang="zh-CN" sz="2400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              </a:t>
              </a:r>
              <a:r>
                <a:rPr lang="zh-CN" altLang="en-US" sz="2400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的线性无关的特征向量仅有一个，所以</a:t>
              </a:r>
              <a:r>
                <a:rPr lang="en-US" altLang="zh-CN" sz="2400">
                  <a:solidFill>
                    <a:srgbClr val="000000"/>
                  </a:solidFill>
                  <a:latin typeface="Calibri" panose="020F0502020204030204"/>
                  <a:sym typeface="+mn-ea"/>
                </a:rPr>
                <a:t>     </a:t>
              </a:r>
              <a:r>
                <a:rPr lang="zh-CN" altLang="en-US" sz="24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不可对角化</a:t>
              </a:r>
              <a:r>
                <a:rPr lang="en-US" altLang="zh-CN" sz="240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.</a:t>
              </a:r>
            </a:p>
            <a:p>
              <a:pPr defTabSz="266700"/>
              <a:endParaRPr lang="zh-CN" altLang="en-US" sz="240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graphicFrame>
          <p:nvGraphicFramePr>
            <p:cNvPr id="19" name="对象 -2147477180"/>
            <p:cNvGraphicFramePr>
              <a:graphicFrameLocks noChangeAspect="1"/>
            </p:cNvGraphicFramePr>
            <p:nvPr/>
          </p:nvGraphicFramePr>
          <p:xfrm>
            <a:off x="8108" y="8461"/>
            <a:ext cx="567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65100" imgH="165100" progId="Equation.DSMT4">
                    <p:embed/>
                  </p:oleObj>
                </mc:Choice>
                <mc:Fallback>
                  <p:oleObj r:id="rId15" imgW="165100" imgH="165100" progId="Equation.DSMT4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108" y="8461"/>
                          <a:ext cx="567" cy="5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-2147477180"/>
            <p:cNvGraphicFramePr>
              <a:graphicFrameLocks noChangeAspect="1"/>
            </p:cNvGraphicFramePr>
            <p:nvPr/>
          </p:nvGraphicFramePr>
          <p:xfrm>
            <a:off x="7881" y="9028"/>
            <a:ext cx="567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65100" imgH="165100" progId="Equation.DSMT4">
                    <p:embed/>
                  </p:oleObj>
                </mc:Choice>
                <mc:Fallback>
                  <p:oleObj r:id="rId16" imgW="165100" imgH="165100" progId="Equation.DSMT4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881" y="9028"/>
                          <a:ext cx="567" cy="5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-2147477174"/>
            <p:cNvGraphicFramePr/>
            <p:nvPr/>
          </p:nvGraphicFramePr>
          <p:xfrm>
            <a:off x="10149" y="8461"/>
            <a:ext cx="1443" cy="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444500" imgH="177165" progId="Equation.DSMT4">
                    <p:embed/>
                  </p:oleObj>
                </mc:Choice>
                <mc:Fallback>
                  <p:oleObj r:id="rId17" imgW="444500" imgH="177165" progId="Equation.DSMT4">
                    <p:embed/>
                    <p:pic>
                      <p:nvPicPr>
                        <p:cNvPr id="0" name="图片 1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149" y="8461"/>
                          <a:ext cx="1443" cy="6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192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46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8303" name="Text Box 15"/>
          <p:cNvSpPr txBox="1"/>
          <p:nvPr/>
        </p:nvSpPr>
        <p:spPr>
          <a:xfrm>
            <a:off x="228600" y="458788"/>
            <a:ext cx="6172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练习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设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阶方阵，已知向量</a:t>
            </a:r>
          </a:p>
        </p:txBody>
      </p:sp>
      <p:graphicFrame>
        <p:nvGraphicFramePr>
          <p:cNvPr id="92163" name="Object 16"/>
          <p:cNvGraphicFramePr/>
          <p:nvPr/>
        </p:nvGraphicFramePr>
        <p:xfrm>
          <a:off x="702310" y="945674"/>
          <a:ext cx="5986780" cy="656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52700" imgH="279400" progId="Equation.DSMT4">
                  <p:embed/>
                </p:oleObj>
              </mc:Choice>
              <mc:Fallback>
                <p:oleObj r:id="rId3" imgW="2552700" imgH="2794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2310" y="945674"/>
                        <a:ext cx="5986780" cy="656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5" name="Text Box 17"/>
          <p:cNvSpPr txBox="1"/>
          <p:nvPr/>
        </p:nvSpPr>
        <p:spPr>
          <a:xfrm>
            <a:off x="762000" y="15240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满足</a:t>
            </a:r>
          </a:p>
        </p:txBody>
      </p:sp>
      <p:graphicFrame>
        <p:nvGraphicFramePr>
          <p:cNvPr id="92165" name="Object 18"/>
          <p:cNvGraphicFramePr/>
          <p:nvPr/>
        </p:nvGraphicFramePr>
        <p:xfrm>
          <a:off x="1524000" y="1570038"/>
          <a:ext cx="45720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54200" imgH="228600" progId="Equation.DSMT4">
                  <p:embed/>
                </p:oleObj>
              </mc:Choice>
              <mc:Fallback>
                <p:oleObj r:id="rId5" imgW="1854200" imgH="2286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0" y="1570038"/>
                        <a:ext cx="4572000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7" name="Text Box 19"/>
          <p:cNvSpPr txBox="1"/>
          <p:nvPr/>
        </p:nvSpPr>
        <p:spPr>
          <a:xfrm>
            <a:off x="304800" y="2133600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）证明：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能与对角矩阵相似；</a:t>
            </a:r>
          </a:p>
        </p:txBody>
      </p:sp>
      <p:sp>
        <p:nvSpPr>
          <p:cNvPr id="268308" name="Text Box 20"/>
          <p:cNvSpPr txBox="1"/>
          <p:nvPr/>
        </p:nvSpPr>
        <p:spPr>
          <a:xfrm>
            <a:off x="228600" y="2667000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）求出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及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baseline="30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1000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baseline="3000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8309" name="Text Box 21"/>
          <p:cNvSpPr txBox="1"/>
          <p:nvPr/>
        </p:nvSpPr>
        <p:spPr>
          <a:xfrm>
            <a:off x="76200" y="3200400"/>
            <a:ext cx="647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解 （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）由题设知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有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个互异的特征值</a:t>
            </a:r>
          </a:p>
        </p:txBody>
      </p:sp>
      <p:graphicFrame>
        <p:nvGraphicFramePr>
          <p:cNvPr id="92169" name="Object 22"/>
          <p:cNvGraphicFramePr/>
          <p:nvPr/>
        </p:nvGraphicFramePr>
        <p:xfrm>
          <a:off x="6248400" y="3217863"/>
          <a:ext cx="29718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20165" imgH="228600" progId="Equation.DSMT4">
                  <p:embed/>
                </p:oleObj>
              </mc:Choice>
              <mc:Fallback>
                <p:oleObj r:id="rId7" imgW="1320165" imgH="2286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48400" y="3217863"/>
                        <a:ext cx="2971800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11" name="Text Box 23"/>
          <p:cNvSpPr txBox="1"/>
          <p:nvPr/>
        </p:nvSpPr>
        <p:spPr>
          <a:xfrm>
            <a:off x="457200" y="3748088"/>
            <a:ext cx="3733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能与对角矩阵</a:t>
            </a:r>
          </a:p>
        </p:txBody>
      </p:sp>
      <p:graphicFrame>
        <p:nvGraphicFramePr>
          <p:cNvPr id="92171" name="Object 24"/>
          <p:cNvGraphicFramePr/>
          <p:nvPr/>
        </p:nvGraphicFramePr>
        <p:xfrm>
          <a:off x="3610293" y="3748405"/>
          <a:ext cx="2685415" cy="615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04900" imgH="254000" progId="Equation.DSMT4">
                  <p:embed/>
                </p:oleObj>
              </mc:Choice>
              <mc:Fallback>
                <p:oleObj r:id="rId9" imgW="1104900" imgH="2540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10293" y="3748405"/>
                        <a:ext cx="2685415" cy="6153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13" name="Text Box 25"/>
          <p:cNvSpPr txBox="1"/>
          <p:nvPr/>
        </p:nvSpPr>
        <p:spPr>
          <a:xfrm>
            <a:off x="6172200" y="3824288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相似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</a:p>
        </p:txBody>
      </p:sp>
      <p:sp>
        <p:nvSpPr>
          <p:cNvPr id="268314" name="Text Box 26"/>
          <p:cNvSpPr txBox="1"/>
          <p:nvPr/>
        </p:nvSpPr>
        <p:spPr>
          <a:xfrm>
            <a:off x="685800" y="4814888"/>
            <a:ext cx="160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）记</a:t>
            </a:r>
          </a:p>
        </p:txBody>
      </p:sp>
      <p:graphicFrame>
        <p:nvGraphicFramePr>
          <p:cNvPr id="92174" name="Object 27"/>
          <p:cNvGraphicFramePr/>
          <p:nvPr/>
        </p:nvGraphicFramePr>
        <p:xfrm>
          <a:off x="2292350" y="4343400"/>
          <a:ext cx="39497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727200" imgH="711200" progId="Equation.DSMT4">
                  <p:embed/>
                </p:oleObj>
              </mc:Choice>
              <mc:Fallback>
                <p:oleObj r:id="rId11" imgW="1727200" imgH="7112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92350" y="4343400"/>
                        <a:ext cx="3949700" cy="162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03" grpId="0"/>
      <p:bldP spid="268305" grpId="0"/>
      <p:bldP spid="268307" grpId="0"/>
      <p:bldP spid="268308" grpId="0"/>
      <p:bldP spid="268309" grpId="0"/>
      <p:bldP spid="268311" grpId="0"/>
      <p:bldP spid="268313" grpId="0"/>
      <p:bldP spid="2683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47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468313" y="388938"/>
            <a:ext cx="12842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endParaRPr kumimoji="1" lang="zh-CN" altLang="en-US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70347" name="Text Box 11"/>
          <p:cNvSpPr txBox="1"/>
          <p:nvPr/>
        </p:nvSpPr>
        <p:spPr>
          <a:xfrm>
            <a:off x="0" y="609600"/>
            <a:ext cx="472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上面已经证明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能对角化，故</a:t>
            </a:r>
          </a:p>
        </p:txBody>
      </p:sp>
      <p:graphicFrame>
        <p:nvGraphicFramePr>
          <p:cNvPr id="94212" name="Object 12"/>
          <p:cNvGraphicFramePr/>
          <p:nvPr/>
        </p:nvGraphicFramePr>
        <p:xfrm>
          <a:off x="4724400" y="609600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49300" imgH="228600" progId="Equation.DSMT4">
                  <p:embed/>
                </p:oleObj>
              </mc:Choice>
              <mc:Fallback>
                <p:oleObj r:id="rId3" imgW="749300" imgH="2286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4400" y="609600"/>
                        <a:ext cx="17526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9" name="Text Box 13"/>
          <p:cNvSpPr txBox="1"/>
          <p:nvPr/>
        </p:nvSpPr>
        <p:spPr>
          <a:xfrm>
            <a:off x="6553200" y="6096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所以</a:t>
            </a:r>
          </a:p>
        </p:txBody>
      </p:sp>
      <p:graphicFrame>
        <p:nvGraphicFramePr>
          <p:cNvPr id="94214" name="Object 14"/>
          <p:cNvGraphicFramePr/>
          <p:nvPr/>
        </p:nvGraphicFramePr>
        <p:xfrm>
          <a:off x="251143" y="1143794"/>
          <a:ext cx="848931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136900" imgH="1041400" progId="Equation.DSMT4">
                  <p:embed/>
                </p:oleObj>
              </mc:Choice>
              <mc:Fallback>
                <p:oleObj r:id="rId5" imgW="3136900" imgH="10414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143" y="1143794"/>
                        <a:ext cx="8489315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15"/>
          <p:cNvGraphicFramePr/>
          <p:nvPr/>
        </p:nvGraphicFramePr>
        <p:xfrm>
          <a:off x="2041525" y="3352800"/>
          <a:ext cx="239395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028700" imgH="711200" progId="Equation.DSMT4">
                  <p:embed/>
                </p:oleObj>
              </mc:Choice>
              <mc:Fallback>
                <p:oleObj r:id="rId7" imgW="1028700" imgH="7112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41525" y="3352800"/>
                        <a:ext cx="2393950" cy="165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7" grpId="0"/>
      <p:bldP spid="2703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48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2387" name="Text Box 3"/>
          <p:cNvSpPr txBox="1">
            <a:spLocks noChangeArrowheads="1"/>
          </p:cNvSpPr>
          <p:nvPr/>
        </p:nvSpPr>
        <p:spPr bwMode="auto">
          <a:xfrm>
            <a:off x="468313" y="388938"/>
            <a:ext cx="12842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endParaRPr kumimoji="1" lang="zh-CN" altLang="en-US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6259" name="Rectangle 4"/>
          <p:cNvSpPr/>
          <p:nvPr/>
        </p:nvSpPr>
        <p:spPr>
          <a:xfrm>
            <a:off x="0" y="3048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endParaRPr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6260" name="Object 6"/>
          <p:cNvGraphicFramePr/>
          <p:nvPr/>
        </p:nvGraphicFramePr>
        <p:xfrm>
          <a:off x="411163" y="515144"/>
          <a:ext cx="8321675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19500" imgH="1041400" progId="Equation.DSMT4">
                  <p:embed/>
                </p:oleObj>
              </mc:Choice>
              <mc:Fallback>
                <p:oleObj r:id="rId3" imgW="3619500" imgH="10414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163" y="515144"/>
                        <a:ext cx="8321675" cy="238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7"/>
          <p:cNvGraphicFramePr/>
          <p:nvPr/>
        </p:nvGraphicFramePr>
        <p:xfrm>
          <a:off x="668973" y="2930525"/>
          <a:ext cx="2548255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54100" imgH="711200" progId="Equation.DSMT4">
                  <p:embed/>
                </p:oleObj>
              </mc:Choice>
              <mc:Fallback>
                <p:oleObj r:id="rId5" imgW="1054100" imgH="7112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8973" y="2930525"/>
                        <a:ext cx="2548255" cy="171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5" name="Rectangle 5"/>
          <p:cNvSpPr/>
          <p:nvPr/>
        </p:nvSpPr>
        <p:spPr>
          <a:xfrm>
            <a:off x="468313" y="455613"/>
            <a:ext cx="57673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可逆矩阵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，满足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P </a:t>
            </a:r>
            <a:r>
              <a:rPr lang="en-US" altLang="en-US" sz="2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−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= </a:t>
            </a:r>
            <a:r>
              <a:rPr lang="en-US" altLang="zh-CN" sz="24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/>
              </a:rPr>
              <a:t>L </a:t>
            </a:r>
            <a:r>
              <a:rPr lang="zh-CN" altLang="en-US" sz="2400" b="1" dirty="0">
                <a:solidFill>
                  <a:srgbClr val="000000"/>
                </a:solidFill>
                <a:latin typeface="Symbol" panose="05050102010706020507" pitchFamily="18" charset="2"/>
                <a:ea typeface="楷体_GB2312"/>
              </a:rPr>
              <a:t>（对角阵）</a:t>
            </a:r>
          </a:p>
        </p:txBody>
      </p:sp>
      <p:sp>
        <p:nvSpPr>
          <p:cNvPr id="230407" name="Rectangle 7"/>
          <p:cNvSpPr/>
          <p:nvPr/>
        </p:nvSpPr>
        <p:spPr>
          <a:xfrm>
            <a:off x="2716213" y="1728788"/>
            <a:ext cx="12938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400" b="1" i="1" dirty="0">
                <a:solidFill>
                  <a:srgbClr val="FF0000"/>
                </a:solidFill>
                <a:latin typeface="Symbol" panose="05050102010706020507" pitchFamily="18" charset="2"/>
                <a:ea typeface="楷体_GB2312"/>
              </a:rPr>
              <a:t>L</a:t>
            </a:r>
          </a:p>
        </p:txBody>
      </p:sp>
      <p:sp>
        <p:nvSpPr>
          <p:cNvPr id="230408" name="Line 8"/>
          <p:cNvSpPr/>
          <p:nvPr/>
        </p:nvSpPr>
        <p:spPr>
          <a:xfrm>
            <a:off x="3217863" y="960438"/>
            <a:ext cx="0" cy="720725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30409" name="Line 9"/>
          <p:cNvSpPr/>
          <p:nvPr/>
        </p:nvSpPr>
        <p:spPr>
          <a:xfrm>
            <a:off x="3217863" y="2233613"/>
            <a:ext cx="0" cy="720725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30412" name="Rectangle 12"/>
          <p:cNvSpPr/>
          <p:nvPr/>
        </p:nvSpPr>
        <p:spPr>
          <a:xfrm>
            <a:off x="1682750" y="3001963"/>
            <a:ext cx="33575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Ap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= </a:t>
            </a:r>
            <a:r>
              <a:rPr lang="en-US" altLang="zh-CN" sz="2400" b="1" i="1" dirty="0">
                <a:solidFill>
                  <a:srgbClr val="0000FF"/>
                </a:solidFill>
                <a:latin typeface="Symbol" panose="05050102010706020507" pitchFamily="18" charset="2"/>
                <a:ea typeface="楷体_GB2312"/>
              </a:rPr>
              <a:t>l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= 1, 2, …,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sp>
        <p:nvSpPr>
          <p:cNvPr id="230413" name="AutoShape 13"/>
          <p:cNvSpPr/>
          <p:nvPr/>
        </p:nvSpPr>
        <p:spPr>
          <a:xfrm>
            <a:off x="571500" y="3606800"/>
            <a:ext cx="1708150" cy="1077913"/>
          </a:xfrm>
          <a:prstGeom prst="cloudCallout">
            <a:avLst>
              <a:gd name="adj1" fmla="val 73375"/>
              <a:gd name="adj2" fmla="val -63657"/>
            </a:avLst>
          </a:prstGeom>
          <a:solidFill>
            <a:srgbClr val="FFFFCC"/>
          </a:solidFill>
          <a:ln w="19050" cap="flat" cmpd="sng">
            <a:solidFill>
              <a:srgbClr val="00CC00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的</a:t>
            </a:r>
          </a:p>
          <a:p>
            <a:pPr algn="ctr"/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特征值</a:t>
            </a:r>
          </a:p>
        </p:txBody>
      </p:sp>
      <p:sp>
        <p:nvSpPr>
          <p:cNvPr id="230414" name="AutoShape 14"/>
          <p:cNvSpPr/>
          <p:nvPr/>
        </p:nvSpPr>
        <p:spPr>
          <a:xfrm flipH="1">
            <a:off x="3289300" y="3606800"/>
            <a:ext cx="1944688" cy="1036638"/>
          </a:xfrm>
          <a:prstGeom prst="cloudCallout">
            <a:avLst>
              <a:gd name="adj1" fmla="val 67060"/>
              <a:gd name="adj2" fmla="val -62713"/>
            </a:avLst>
          </a:prstGeom>
          <a:solidFill>
            <a:srgbClr val="FFFFCC"/>
          </a:solidFill>
          <a:ln w="19050" cap="flat" cmpd="sng">
            <a:solidFill>
              <a:srgbClr val="00CC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对应的</a:t>
            </a: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特征向量</a:t>
            </a:r>
          </a:p>
        </p:txBody>
      </p:sp>
      <p:sp>
        <p:nvSpPr>
          <p:cNvPr id="230415" name="Line 15"/>
          <p:cNvSpPr/>
          <p:nvPr/>
        </p:nvSpPr>
        <p:spPr>
          <a:xfrm flipV="1">
            <a:off x="3360738" y="2233613"/>
            <a:ext cx="0" cy="72072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30416" name="Line 16"/>
          <p:cNvSpPr/>
          <p:nvPr/>
        </p:nvSpPr>
        <p:spPr>
          <a:xfrm flipV="1">
            <a:off x="3360738" y="960438"/>
            <a:ext cx="0" cy="72072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graphicFrame>
        <p:nvGraphicFramePr>
          <p:cNvPr id="230417" name="Object 17"/>
          <p:cNvGraphicFramePr>
            <a:graphicFrameLocks noChangeAspect="1"/>
          </p:cNvGraphicFramePr>
          <p:nvPr/>
        </p:nvGraphicFramePr>
        <p:xfrm>
          <a:off x="1109663" y="4797425"/>
          <a:ext cx="6521450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63900" imgH="939800" progId="Equation.DSMT4">
                  <p:embed/>
                </p:oleObj>
              </mc:Choice>
              <mc:Fallback>
                <p:oleObj r:id="rId2" imgW="3263900" imgH="939800" progId="Equation.DSMT4">
                  <p:embed/>
                  <p:pic>
                    <p:nvPicPr>
                      <p:cNvPr id="0" name="图片 449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9663" y="4797425"/>
                        <a:ext cx="6521450" cy="1874838"/>
                      </a:xfrm>
                      <a:prstGeom prst="rect">
                        <a:avLst/>
                      </a:prstGeom>
                      <a:solidFill>
                        <a:srgbClr val="CCCC00">
                          <a:alpha val="70195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9" name="Rectangle 19"/>
          <p:cNvSpPr/>
          <p:nvPr/>
        </p:nvSpPr>
        <p:spPr>
          <a:xfrm>
            <a:off x="290513" y="4797425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其中</a:t>
            </a:r>
          </a:p>
        </p:txBody>
      </p:sp>
      <p:sp>
        <p:nvSpPr>
          <p:cNvPr id="230421" name="Rectangle 21"/>
          <p:cNvSpPr/>
          <p:nvPr/>
        </p:nvSpPr>
        <p:spPr>
          <a:xfrm>
            <a:off x="3475038" y="981075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?</a:t>
            </a:r>
          </a:p>
        </p:txBody>
      </p:sp>
      <p:sp>
        <p:nvSpPr>
          <p:cNvPr id="230423" name="AutoShape 23"/>
          <p:cNvSpPr/>
          <p:nvPr/>
        </p:nvSpPr>
        <p:spPr>
          <a:xfrm>
            <a:off x="4183063" y="1011238"/>
            <a:ext cx="4511675" cy="198303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CC00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定理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4.2.5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：</a:t>
            </a:r>
          </a:p>
          <a:p>
            <a:pPr marL="342900" indent="-342900" algn="ctr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阶矩阵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和对角阵相似</a:t>
            </a:r>
          </a:p>
          <a:p>
            <a:pPr marL="342900" indent="-342900" algn="ctr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当且仅当</a:t>
            </a:r>
          </a:p>
          <a:p>
            <a:pPr marL="342900" indent="-342900" algn="ctr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有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个线性无关的特征向量</a:t>
            </a:r>
          </a:p>
        </p:txBody>
      </p:sp>
      <p:sp>
        <p:nvSpPr>
          <p:cNvPr id="230424" name="AutoShape 24"/>
          <p:cNvSpPr/>
          <p:nvPr/>
        </p:nvSpPr>
        <p:spPr>
          <a:xfrm>
            <a:off x="5457825" y="3187700"/>
            <a:ext cx="3213100" cy="190140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CC00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推论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4.2.2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如果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有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个</a:t>
            </a:r>
          </a:p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不同的特征值，则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</a:p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和对角阵相似．</a:t>
            </a:r>
          </a:p>
        </p:txBody>
      </p:sp>
      <p:sp>
        <p:nvSpPr>
          <p:cNvPr id="230425" name="AutoShape 25"/>
          <p:cNvSpPr/>
          <p:nvPr/>
        </p:nvSpPr>
        <p:spPr>
          <a:xfrm>
            <a:off x="500063" y="447675"/>
            <a:ext cx="1571625" cy="503238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3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4" dur="5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9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3000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0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4" dur="1000"/>
                                        <p:tgtEl>
                                          <p:spTgt spid="23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9" dur="1000"/>
                                        <p:tgtEl>
                                          <p:spTgt spid="23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4" dur="1000"/>
                                        <p:tgtEl>
                                          <p:spTgt spid="23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5" grpId="0"/>
      <p:bldP spid="230407" grpId="0"/>
      <p:bldP spid="230412" grpId="0"/>
      <p:bldP spid="230413" grpId="0" bldLvl="0" animBg="1"/>
      <p:bldP spid="230414" grpId="0" bldLvl="0" animBg="1"/>
      <p:bldP spid="230419" grpId="0"/>
      <p:bldP spid="230421" grpId="0"/>
      <p:bldP spid="230423" grpId="0" bldLvl="0" animBg="1"/>
      <p:bldP spid="230424" grpId="0" bldLvl="0" animBg="1"/>
      <p:bldP spid="230425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椭圆 12289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1" name="椭圆 12290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2" name="矩形 12291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3" name="矩形 12292"/>
          <p:cNvSpPr/>
          <p:nvPr/>
        </p:nvSpPr>
        <p:spPr>
          <a:xfrm>
            <a:off x="2195513" y="168116"/>
            <a:ext cx="50596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b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§</a:t>
            </a:r>
            <a:r>
              <a:rPr lang="en-US" altLang="zh-CN" sz="3200" b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4.3 </a:t>
            </a:r>
            <a:r>
              <a:rPr lang="zh-CN" altLang="en-US" sz="3200" b="0" dirty="0">
                <a:solidFill>
                  <a:srgbClr val="CC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实对称矩阵的对角化</a:t>
            </a:r>
          </a:p>
        </p:txBody>
      </p:sp>
      <p:sp>
        <p:nvSpPr>
          <p:cNvPr id="12294" name="矩形 12293"/>
          <p:cNvSpPr/>
          <p:nvPr/>
        </p:nvSpPr>
        <p:spPr>
          <a:xfrm>
            <a:off x="469583" y="764223"/>
            <a:ext cx="4806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b="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一、实对称矩阵特征值的性质</a:t>
            </a:r>
          </a:p>
        </p:txBody>
      </p:sp>
      <p:graphicFrame>
        <p:nvGraphicFramePr>
          <p:cNvPr id="12747" name="对象 12746"/>
          <p:cNvGraphicFramePr/>
          <p:nvPr/>
        </p:nvGraphicFramePr>
        <p:xfrm>
          <a:off x="467678" y="1340327"/>
          <a:ext cx="8147050" cy="53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405130" progId="Word.Document.8">
                  <p:embed/>
                </p:oleObj>
              </mc:Choice>
              <mc:Fallback>
                <p:oleObj r:id="rId2" imgW="6053455" imgH="40513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678" y="1340327"/>
                        <a:ext cx="8147050" cy="535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48" name="对象 12747"/>
          <p:cNvGraphicFramePr/>
          <p:nvPr/>
        </p:nvGraphicFramePr>
        <p:xfrm>
          <a:off x="395605" y="2276158"/>
          <a:ext cx="8140700" cy="160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1195705" progId="Word.Document.8">
                  <p:embed/>
                </p:oleObj>
              </mc:Choice>
              <mc:Fallback>
                <p:oleObj r:id="rId4" imgW="6053455" imgH="1195705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605" y="2276158"/>
                        <a:ext cx="8140700" cy="1604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50" name="对象 12749"/>
          <p:cNvGraphicFramePr/>
          <p:nvPr/>
        </p:nvGraphicFramePr>
        <p:xfrm>
          <a:off x="392430" y="4147185"/>
          <a:ext cx="8140700" cy="160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195705" progId="Word.Document.8">
                  <p:embed/>
                </p:oleObj>
              </mc:Choice>
              <mc:Fallback>
                <p:oleObj r:id="rId6" imgW="6053455" imgH="1195705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2430" y="4147185"/>
                        <a:ext cx="8140700" cy="1604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椭圆 88065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067" name="椭圆 88066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068" name="矩形 88067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069" name="矩形 88068"/>
          <p:cNvSpPr/>
          <p:nvPr/>
        </p:nvSpPr>
        <p:spPr>
          <a:xfrm>
            <a:off x="323850" y="1541463"/>
            <a:ext cx="40957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b="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二、实对称矩对角化方法</a:t>
            </a:r>
          </a:p>
        </p:txBody>
      </p:sp>
      <p:sp>
        <p:nvSpPr>
          <p:cNvPr id="88071" name="矩形 88070"/>
          <p:cNvSpPr/>
          <p:nvPr/>
        </p:nvSpPr>
        <p:spPr>
          <a:xfrm>
            <a:off x="684213" y="2420938"/>
            <a:ext cx="6584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用正交矩阵将实对称矩阵对角化的步骤：</a:t>
            </a:r>
          </a:p>
        </p:txBody>
      </p:sp>
      <p:graphicFrame>
        <p:nvGraphicFramePr>
          <p:cNvPr id="88072" name="对象 88071"/>
          <p:cNvGraphicFramePr/>
          <p:nvPr/>
        </p:nvGraphicFramePr>
        <p:xfrm>
          <a:off x="395288" y="3284538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795655" progId="Word.Document.8">
                  <p:embed/>
                </p:oleObj>
              </mc:Choice>
              <mc:Fallback>
                <p:oleObj r:id="rId2" imgW="6053455" imgH="795655" progId="Word.Document.8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3284538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对象 88072"/>
          <p:cNvGraphicFramePr/>
          <p:nvPr/>
        </p:nvGraphicFramePr>
        <p:xfrm>
          <a:off x="395288" y="4594225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795655" progId="Word.Document.8">
                  <p:embed/>
                </p:oleObj>
              </mc:Choice>
              <mc:Fallback>
                <p:oleObj r:id="rId4" imgW="6053455" imgH="795655" progId="Word.Document.8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4594225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52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2404" name="对象 102403"/>
          <p:cNvGraphicFramePr/>
          <p:nvPr/>
        </p:nvGraphicFramePr>
        <p:xfrm>
          <a:off x="395288" y="2146300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795655" progId="Word.Document.8">
                  <p:embed/>
                </p:oleObj>
              </mc:Choice>
              <mc:Fallback>
                <p:oleObj r:id="rId2" imgW="6053455" imgH="795655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2146300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5" name="对象 102404"/>
          <p:cNvGraphicFramePr/>
          <p:nvPr/>
        </p:nvGraphicFramePr>
        <p:xfrm>
          <a:off x="323850" y="3570288"/>
          <a:ext cx="79248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883910" imgH="1984375" progId="Word.Document.8">
                  <p:embed/>
                </p:oleObj>
              </mc:Choice>
              <mc:Fallback>
                <p:oleObj r:id="rId4" imgW="5883910" imgH="1984375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3570288"/>
                        <a:ext cx="7924800" cy="266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椭圆 91137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39" name="椭圆 91138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0" name="矩形 91139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2" name="矩形 91141"/>
          <p:cNvSpPr/>
          <p:nvPr/>
        </p:nvSpPr>
        <p:spPr>
          <a:xfrm>
            <a:off x="471170" y="875030"/>
            <a:ext cx="24447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4.3.1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设 </a:t>
            </a:r>
          </a:p>
        </p:txBody>
      </p:sp>
      <p:graphicFrame>
        <p:nvGraphicFramePr>
          <p:cNvPr id="91144" name="对象 91143"/>
          <p:cNvGraphicFramePr/>
          <p:nvPr/>
        </p:nvGraphicFramePr>
        <p:xfrm>
          <a:off x="4284663" y="836613"/>
          <a:ext cx="467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87420" imgH="404495" progId="Word.Document.8">
                  <p:embed/>
                </p:oleObj>
              </mc:Choice>
              <mc:Fallback>
                <p:oleObj r:id="rId2" imgW="3487420" imgH="404495" progId="Word.Document.8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836613"/>
                        <a:ext cx="46736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对象 91144"/>
          <p:cNvGraphicFramePr/>
          <p:nvPr/>
        </p:nvGraphicFramePr>
        <p:xfrm>
          <a:off x="395288" y="1700213"/>
          <a:ext cx="1943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70660" imgH="404495" progId="Word.Document.8">
                  <p:embed/>
                </p:oleObj>
              </mc:Choice>
              <mc:Fallback>
                <p:oleObj r:id="rId4" imgW="1470660" imgH="404495" progId="Word.Document.8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1700213"/>
                        <a:ext cx="19431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7" name="矩形 91146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46" name="对象 91145"/>
          <p:cNvGraphicFramePr/>
          <p:nvPr/>
        </p:nvGraphicFramePr>
        <p:xfrm>
          <a:off x="2267903" y="498475"/>
          <a:ext cx="2088515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54100" imgH="711200" progId="Equation.DSMT4">
                  <p:embed/>
                </p:oleObj>
              </mc:Choice>
              <mc:Fallback>
                <p:oleObj r:id="rId6" imgW="1054100" imgH="711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67903" y="498475"/>
                        <a:ext cx="2088515" cy="1416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8" name="对象 91147"/>
          <p:cNvGraphicFramePr/>
          <p:nvPr/>
        </p:nvGraphicFramePr>
        <p:xfrm>
          <a:off x="968058" y="2207895"/>
          <a:ext cx="4261485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190875" imgH="405130" progId="Word.Document.8">
                  <p:embed/>
                </p:oleObj>
              </mc:Choice>
              <mc:Fallback>
                <p:oleObj r:id="rId8" imgW="3190875" imgH="405130" progId="Word.Document.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68058" y="2207895"/>
                        <a:ext cx="4261485" cy="5245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0" name="矩形 91149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2" name="矩形 91151"/>
          <p:cNvSpPr/>
          <p:nvPr/>
        </p:nvSpPr>
        <p:spPr>
          <a:xfrm>
            <a:off x="0" y="3109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53" name="对象 91152"/>
          <p:cNvGraphicFramePr/>
          <p:nvPr/>
        </p:nvGraphicFramePr>
        <p:xfrm>
          <a:off x="395605" y="4650740"/>
          <a:ext cx="8140700" cy="53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053455" imgH="405130" progId="Word.Document.8">
                  <p:embed/>
                </p:oleObj>
              </mc:Choice>
              <mc:Fallback>
                <p:oleObj r:id="rId10" imgW="6053455" imgH="405130" progId="Word.Document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605" y="4650740"/>
                        <a:ext cx="8140700" cy="537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4" name="对象 91153"/>
          <p:cNvGraphicFramePr/>
          <p:nvPr/>
        </p:nvGraphicFramePr>
        <p:xfrm>
          <a:off x="392430" y="5431155"/>
          <a:ext cx="8140700" cy="107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053455" imgH="800100" progId="Word.Document.8">
                  <p:embed/>
                </p:oleObj>
              </mc:Choice>
              <mc:Fallback>
                <p:oleObj r:id="rId12" imgW="6053455" imgH="800100" progId="Word.Document.8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430" y="5431155"/>
                        <a:ext cx="8140700" cy="1070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77049"/>
          <p:cNvGraphicFramePr>
            <a:graphicFrameLocks noChangeAspect="1"/>
          </p:cNvGraphicFramePr>
          <p:nvPr/>
        </p:nvGraphicFramePr>
        <p:xfrm>
          <a:off x="539750" y="2938145"/>
          <a:ext cx="7502525" cy="1469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632200" imgH="711200" progId="Equation.DSMT4">
                  <p:embed/>
                </p:oleObj>
              </mc:Choice>
              <mc:Fallback>
                <p:oleObj r:id="rId14" imgW="36322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9750" y="2938145"/>
                        <a:ext cx="7502525" cy="14693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椭圆 92161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63" name="椭圆 92162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64" name="矩形 92163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54" name="对象 91153"/>
          <p:cNvGraphicFramePr/>
          <p:nvPr/>
        </p:nvGraphicFramePr>
        <p:xfrm>
          <a:off x="323850" y="476250"/>
          <a:ext cx="8140700" cy="107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476250"/>
                        <a:ext cx="8140700" cy="1070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395605" y="1844675"/>
          <a:ext cx="8140700" cy="107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800100" progId="Word.Document.8">
                  <p:embed/>
                </p:oleObj>
              </mc:Choice>
              <mc:Fallback>
                <p:oleObj r:id="rId4" imgW="6053455" imgH="800100" progId="Word.Document.8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605" y="1844675"/>
                        <a:ext cx="8140700" cy="1070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392113" y="2996565"/>
          <a:ext cx="8140700" cy="160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195705" progId="Word.Document.8">
                  <p:embed/>
                </p:oleObj>
              </mc:Choice>
              <mc:Fallback>
                <p:oleObj r:id="rId6" imgW="6053455" imgH="1195705" progId="Word.Document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113" y="2996565"/>
                        <a:ext cx="8140700" cy="1604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77032"/>
          <p:cNvGraphicFramePr>
            <a:graphicFrameLocks noChangeAspect="1"/>
          </p:cNvGraphicFramePr>
          <p:nvPr/>
        </p:nvGraphicFramePr>
        <p:xfrm>
          <a:off x="2840355" y="4292600"/>
          <a:ext cx="3493770" cy="212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33600" imgH="1295400" progId="Equation.DSMT4">
                  <p:embed/>
                </p:oleObj>
              </mc:Choice>
              <mc:Fallback>
                <p:oleObj r:id="rId8" imgW="2133600" imgH="1295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40355" y="4292600"/>
                        <a:ext cx="3493770" cy="21215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椭圆 93185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87" name="椭圆 93186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88" name="矩形 93187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189" name="对象 93188"/>
          <p:cNvGraphicFramePr/>
          <p:nvPr/>
        </p:nvGraphicFramePr>
        <p:xfrm>
          <a:off x="469900" y="835025"/>
          <a:ext cx="81407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835025"/>
                        <a:ext cx="81407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1" name="矩形 93190"/>
          <p:cNvSpPr/>
          <p:nvPr/>
        </p:nvSpPr>
        <p:spPr>
          <a:xfrm>
            <a:off x="0" y="2500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3" name="矩形 93192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192" name="对象 93191"/>
          <p:cNvGraphicFramePr/>
          <p:nvPr/>
        </p:nvGraphicFramePr>
        <p:xfrm>
          <a:off x="4140201" y="2929255"/>
          <a:ext cx="4564380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84400" imgH="711200" progId="Equation.DSMT4">
                  <p:embed/>
                </p:oleObj>
              </mc:Choice>
              <mc:Fallback>
                <p:oleObj r:id="rId4" imgW="2184400" imgH="7112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1" y="2929255"/>
                        <a:ext cx="4564380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77031"/>
          <p:cNvGraphicFramePr>
            <a:graphicFrameLocks noChangeAspect="1"/>
          </p:cNvGraphicFramePr>
          <p:nvPr/>
        </p:nvGraphicFramePr>
        <p:xfrm>
          <a:off x="350203" y="2500630"/>
          <a:ext cx="3787775" cy="2272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20900" imgH="1295400" progId="Equation.DSMT4">
                  <p:embed/>
                </p:oleObj>
              </mc:Choice>
              <mc:Fallback>
                <p:oleObj r:id="rId6" imgW="2120900" imgH="1295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0203" y="2500630"/>
                        <a:ext cx="3787775" cy="22720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椭圆 91137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39" name="椭圆 91138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0" name="矩形 91139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2" name="矩形 91141"/>
          <p:cNvSpPr/>
          <p:nvPr/>
        </p:nvSpPr>
        <p:spPr>
          <a:xfrm>
            <a:off x="471170" y="875030"/>
            <a:ext cx="24447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4.3.2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设 </a:t>
            </a:r>
          </a:p>
        </p:txBody>
      </p:sp>
      <p:graphicFrame>
        <p:nvGraphicFramePr>
          <p:cNvPr id="91144" name="对象 91143"/>
          <p:cNvGraphicFramePr/>
          <p:nvPr/>
        </p:nvGraphicFramePr>
        <p:xfrm>
          <a:off x="4284663" y="836613"/>
          <a:ext cx="467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87420" imgH="404495" progId="Word.Document.8">
                  <p:embed/>
                </p:oleObj>
              </mc:Choice>
              <mc:Fallback>
                <p:oleObj r:id="rId2" imgW="3487420" imgH="404495" progId="Word.Document.8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836613"/>
                        <a:ext cx="46736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对象 91144"/>
          <p:cNvGraphicFramePr/>
          <p:nvPr/>
        </p:nvGraphicFramePr>
        <p:xfrm>
          <a:off x="395288" y="1700213"/>
          <a:ext cx="1943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70660" imgH="404495" progId="Word.Document.8">
                  <p:embed/>
                </p:oleObj>
              </mc:Choice>
              <mc:Fallback>
                <p:oleObj r:id="rId4" imgW="1470660" imgH="404495" progId="Word.Document.8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1700213"/>
                        <a:ext cx="19431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7" name="矩形 91146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46" name="对象 91145"/>
          <p:cNvGraphicFramePr/>
          <p:nvPr/>
        </p:nvGraphicFramePr>
        <p:xfrm>
          <a:off x="2343151" y="498475"/>
          <a:ext cx="193802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77900" imgH="711200" progId="Equation.DSMT4">
                  <p:embed/>
                </p:oleObj>
              </mc:Choice>
              <mc:Fallback>
                <p:oleObj r:id="rId6" imgW="977900" imgH="711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43151" y="498475"/>
                        <a:ext cx="1938020" cy="1416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8" name="对象 91147"/>
          <p:cNvGraphicFramePr/>
          <p:nvPr/>
        </p:nvGraphicFramePr>
        <p:xfrm>
          <a:off x="968058" y="2207895"/>
          <a:ext cx="4261485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190875" imgH="405130" progId="Word.Document.8">
                  <p:embed/>
                </p:oleObj>
              </mc:Choice>
              <mc:Fallback>
                <p:oleObj r:id="rId8" imgW="3190875" imgH="405130" progId="Word.Document.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68058" y="2207895"/>
                        <a:ext cx="4261485" cy="5245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0" name="矩形 91149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52" name="矩形 91151"/>
          <p:cNvSpPr/>
          <p:nvPr/>
        </p:nvSpPr>
        <p:spPr>
          <a:xfrm>
            <a:off x="0" y="3109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53" name="对象 91152"/>
          <p:cNvGraphicFramePr/>
          <p:nvPr/>
        </p:nvGraphicFramePr>
        <p:xfrm>
          <a:off x="395605" y="4650740"/>
          <a:ext cx="8140700" cy="53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053455" imgH="405130" progId="Word.Document.8">
                  <p:embed/>
                </p:oleObj>
              </mc:Choice>
              <mc:Fallback>
                <p:oleObj r:id="rId10" imgW="6053455" imgH="405130" progId="Word.Document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5605" y="4650740"/>
                        <a:ext cx="8140700" cy="537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4" name="对象 91153"/>
          <p:cNvGraphicFramePr/>
          <p:nvPr/>
        </p:nvGraphicFramePr>
        <p:xfrm>
          <a:off x="392430" y="5445125"/>
          <a:ext cx="8140700" cy="54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053455" imgH="405130" progId="Word.Document.8">
                  <p:embed/>
                </p:oleObj>
              </mc:Choice>
              <mc:Fallback>
                <p:oleObj r:id="rId12" imgW="6053455" imgH="405130" progId="Word.Document.8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2430" y="5445125"/>
                        <a:ext cx="8140700" cy="542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77049"/>
          <p:cNvGraphicFramePr>
            <a:graphicFrameLocks noChangeAspect="1"/>
          </p:cNvGraphicFramePr>
          <p:nvPr/>
        </p:nvGraphicFramePr>
        <p:xfrm>
          <a:off x="1011873" y="2938145"/>
          <a:ext cx="6558280" cy="1469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175000" imgH="711200" progId="Equation.DSMT4">
                  <p:embed/>
                </p:oleObj>
              </mc:Choice>
              <mc:Fallback>
                <p:oleObj r:id="rId14" imgW="31750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11873" y="2938145"/>
                        <a:ext cx="6558280" cy="14693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椭圆 92161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63" name="椭圆 92162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64" name="矩形 92163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对象 -2147474338"/>
          <p:cNvGraphicFramePr/>
          <p:nvPr/>
        </p:nvGraphicFramePr>
        <p:xfrm>
          <a:off x="1619885" y="44450"/>
          <a:ext cx="5050790" cy="198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09900" imgH="1066800" progId="Equation.DSMT4">
                  <p:embed/>
                </p:oleObj>
              </mc:Choice>
              <mc:Fallback>
                <p:oleObj r:id="rId2" imgW="3009900" imgH="10668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19885" y="44450"/>
                        <a:ext cx="5050790" cy="19869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23850" y="1916430"/>
            <a:ext cx="5775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/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sym typeface="+mn-ea"/>
              </a:rPr>
              <a:t>得</a:t>
            </a:r>
            <a:r>
              <a:rPr lang="en-US" altLang="zh-CN" sz="2400">
                <a:solidFill>
                  <a:srgbClr val="000000"/>
                </a:solidFill>
                <a:latin typeface="Calibri" panose="020F0502020204030204"/>
                <a:sym typeface="+mn-ea"/>
              </a:rPr>
              <a:t>                                 </a:t>
            </a: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sym typeface="+mn-ea"/>
              </a:rPr>
              <a:t>，求得基础解系</a:t>
            </a:r>
            <a:endParaRPr lang="zh-CN" altLang="en-US" sz="2400">
              <a:solidFill>
                <a:srgbClr val="000000"/>
              </a:solidFill>
              <a:latin typeface="Calibri" panose="020F0502020204030204"/>
            </a:endParaRPr>
          </a:p>
        </p:txBody>
      </p:sp>
      <p:graphicFrame>
        <p:nvGraphicFramePr>
          <p:cNvPr id="3" name="对象 -2147477079"/>
          <p:cNvGraphicFramePr>
            <a:graphicFrameLocks noChangeAspect="1"/>
          </p:cNvGraphicFramePr>
          <p:nvPr/>
        </p:nvGraphicFramePr>
        <p:xfrm>
          <a:off x="755650" y="1722120"/>
          <a:ext cx="2223770" cy="84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41400" imgH="393700" progId="Equation.DSMT4">
                  <p:embed/>
                </p:oleObj>
              </mc:Choice>
              <mc:Fallback>
                <p:oleObj r:id="rId4" imgW="1041400" imgH="3937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650" y="1722120"/>
                        <a:ext cx="2223770" cy="848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77078"/>
          <p:cNvGraphicFramePr>
            <a:graphicFrameLocks noChangeAspect="1"/>
          </p:cNvGraphicFramePr>
          <p:nvPr/>
        </p:nvGraphicFramePr>
        <p:xfrm>
          <a:off x="5220335" y="1918970"/>
          <a:ext cx="3507740" cy="45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66900" imgH="241300" progId="Equation.DSMT4">
                  <p:embed/>
                </p:oleObj>
              </mc:Choice>
              <mc:Fallback>
                <p:oleObj r:id="rId6" imgW="1866900" imgH="2413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20335" y="1918970"/>
                        <a:ext cx="3507740" cy="4514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67360" y="2420620"/>
            <a:ext cx="5927725" cy="748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将</a:t>
            </a:r>
            <a:r>
              <a:rPr lang="en-US" altLang="zh-CN" sz="24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            </a:t>
            </a: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sym typeface="+mn-ea"/>
              </a:rPr>
              <a:t>正交化，取</a:t>
            </a:r>
            <a:endParaRPr lang="zh-CN" altLang="en-US" sz="240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endParaRPr lang="zh-CN" altLang="en-US" sz="240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5" name="对象 -2147474337"/>
          <p:cNvGraphicFramePr>
            <a:graphicFrameLocks noChangeAspect="1"/>
          </p:cNvGraphicFramePr>
          <p:nvPr/>
        </p:nvGraphicFramePr>
        <p:xfrm>
          <a:off x="899795" y="2564765"/>
          <a:ext cx="736600" cy="433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81000" imgH="228600" progId="Equation.DSMT4">
                  <p:embed/>
                </p:oleObj>
              </mc:Choice>
              <mc:Fallback>
                <p:oleObj r:id="rId8" imgW="381000" imgH="228600" progId="Equation.DSMT4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99795" y="2564765"/>
                        <a:ext cx="736600" cy="433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77076"/>
          <p:cNvGraphicFramePr>
            <a:graphicFrameLocks noChangeAspect="1"/>
          </p:cNvGraphicFramePr>
          <p:nvPr/>
        </p:nvGraphicFramePr>
        <p:xfrm>
          <a:off x="1209358" y="3073400"/>
          <a:ext cx="1913255" cy="141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65200" imgH="711200" progId="Equation.DSMT4">
                  <p:embed/>
                </p:oleObj>
              </mc:Choice>
              <mc:Fallback>
                <p:oleObj r:id="rId10" imgW="965200" imgH="7112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09358" y="3073400"/>
                        <a:ext cx="1913255" cy="14173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77075"/>
          <p:cNvGraphicFramePr>
            <a:graphicFrameLocks noChangeAspect="1"/>
          </p:cNvGraphicFramePr>
          <p:nvPr/>
        </p:nvGraphicFramePr>
        <p:xfrm>
          <a:off x="3419475" y="2636520"/>
          <a:ext cx="4620895" cy="213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705100" imgH="1244600" progId="Equation.DSMT4">
                  <p:embed/>
                </p:oleObj>
              </mc:Choice>
              <mc:Fallback>
                <p:oleObj r:id="rId12" imgW="2705100" imgH="12446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419475" y="2636520"/>
                        <a:ext cx="4620895" cy="21380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67360" y="4652645"/>
            <a:ext cx="3577590" cy="748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再将</a:t>
            </a:r>
            <a:r>
              <a:rPr lang="en-US" altLang="zh-CN" sz="24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            </a:t>
            </a: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sym typeface="+mn-ea"/>
              </a:rPr>
              <a:t>单位化，得</a:t>
            </a:r>
            <a:endParaRPr lang="zh-CN" altLang="en-US" sz="240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endParaRPr lang="zh-CN" altLang="en-US" sz="240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8" name="对象 -2147477076"/>
          <p:cNvGraphicFramePr>
            <a:graphicFrameLocks noChangeAspect="1"/>
          </p:cNvGraphicFramePr>
          <p:nvPr/>
        </p:nvGraphicFramePr>
        <p:xfrm>
          <a:off x="1259523" y="4796790"/>
          <a:ext cx="680085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42900" imgH="228600" progId="Equation.DSMT4">
                  <p:embed/>
                </p:oleObj>
              </mc:Choice>
              <mc:Fallback>
                <p:oleObj r:id="rId14" imgW="342900" imgH="2286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59523" y="4796790"/>
                        <a:ext cx="680085" cy="4559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-2147477072"/>
          <p:cNvGraphicFramePr>
            <a:graphicFrameLocks noChangeAspect="1"/>
          </p:cNvGraphicFramePr>
          <p:nvPr/>
        </p:nvGraphicFramePr>
        <p:xfrm>
          <a:off x="3707765" y="4292600"/>
          <a:ext cx="2955290" cy="2322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777365" imgH="1397000" progId="Equation.DSMT4">
                  <p:embed/>
                </p:oleObj>
              </mc:Choice>
              <mc:Fallback>
                <p:oleObj r:id="rId16" imgW="1777365" imgH="13970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07765" y="4292600"/>
                        <a:ext cx="2955290" cy="2322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  <p:bldP spid="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54" name="对象 91153"/>
          <p:cNvGraphicFramePr/>
          <p:nvPr/>
        </p:nvGraphicFramePr>
        <p:xfrm>
          <a:off x="251460" y="260350"/>
          <a:ext cx="8140700" cy="54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405130" progId="Word.Document.8">
                  <p:embed/>
                </p:oleObj>
              </mc:Choice>
              <mc:Fallback>
                <p:oleObj r:id="rId2" imgW="6053455" imgH="405130" progId="Word.Document.8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" y="260350"/>
                        <a:ext cx="8140700" cy="542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77069"/>
          <p:cNvGraphicFramePr/>
          <p:nvPr/>
        </p:nvGraphicFramePr>
        <p:xfrm>
          <a:off x="1547495" y="908685"/>
          <a:ext cx="4627245" cy="1370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01900" imgH="711200" progId="Equation.DSMT4">
                  <p:embed/>
                </p:oleObj>
              </mc:Choice>
              <mc:Fallback>
                <p:oleObj r:id="rId4" imgW="25019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47495" y="908685"/>
                        <a:ext cx="4627245" cy="13709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79705" y="2470785"/>
            <a:ext cx="5775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/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sym typeface="+mn-ea"/>
              </a:rPr>
              <a:t>得</a:t>
            </a:r>
            <a:r>
              <a:rPr lang="en-US" altLang="zh-CN" sz="2400">
                <a:solidFill>
                  <a:srgbClr val="000000"/>
                </a:solidFill>
                <a:latin typeface="Calibri" panose="020F0502020204030204"/>
                <a:sym typeface="+mn-ea"/>
              </a:rPr>
              <a:t>                      </a:t>
            </a: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sym typeface="+mn-ea"/>
              </a:rPr>
              <a:t>求得基础解系</a:t>
            </a:r>
            <a:endParaRPr lang="zh-CN" altLang="en-US" sz="2400">
              <a:solidFill>
                <a:srgbClr val="000000"/>
              </a:solidFill>
              <a:latin typeface="Calibri" panose="020F0502020204030204"/>
            </a:endParaRPr>
          </a:p>
        </p:txBody>
      </p:sp>
      <p:graphicFrame>
        <p:nvGraphicFramePr>
          <p:cNvPr id="4" name="对象 -2147477079"/>
          <p:cNvGraphicFramePr>
            <a:graphicFrameLocks noChangeAspect="1"/>
          </p:cNvGraphicFramePr>
          <p:nvPr/>
        </p:nvGraphicFramePr>
        <p:xfrm>
          <a:off x="611188" y="2180590"/>
          <a:ext cx="1383665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47700" imgH="482600" progId="Equation.DSMT4">
                  <p:embed/>
                </p:oleObj>
              </mc:Choice>
              <mc:Fallback>
                <p:oleObj r:id="rId6" imgW="647700" imgH="4826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1188" y="2180590"/>
                        <a:ext cx="1383665" cy="10401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77078"/>
          <p:cNvGraphicFramePr>
            <a:graphicFrameLocks noChangeAspect="1"/>
          </p:cNvGraphicFramePr>
          <p:nvPr/>
        </p:nvGraphicFramePr>
        <p:xfrm>
          <a:off x="3995738" y="2470785"/>
          <a:ext cx="1646555" cy="45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76300" imgH="241300" progId="Equation.DSMT4">
                  <p:embed/>
                </p:oleObj>
              </mc:Choice>
              <mc:Fallback>
                <p:oleObj r:id="rId8" imgW="876300" imgH="2413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95738" y="2470785"/>
                        <a:ext cx="1646555" cy="4514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580380" y="2327275"/>
            <a:ext cx="3577590" cy="748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将</a:t>
            </a:r>
            <a:r>
              <a:rPr lang="en-US" altLang="zh-CN" sz="240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     </a:t>
            </a: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sym typeface="+mn-ea"/>
              </a:rPr>
              <a:t>单位化，得</a:t>
            </a:r>
            <a:endParaRPr lang="zh-CN" altLang="en-US" sz="240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endParaRPr lang="zh-CN" altLang="en-US" sz="240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6" name="对象 -2147477078"/>
          <p:cNvGraphicFramePr>
            <a:graphicFrameLocks noChangeAspect="1"/>
          </p:cNvGraphicFramePr>
          <p:nvPr/>
        </p:nvGraphicFramePr>
        <p:xfrm>
          <a:off x="5982971" y="2504123"/>
          <a:ext cx="358140" cy="42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90500" imgH="228600" progId="Equation.DSMT4">
                  <p:embed/>
                </p:oleObj>
              </mc:Choice>
              <mc:Fallback>
                <p:oleObj r:id="rId10" imgW="190500" imgH="2286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82971" y="2504123"/>
                        <a:ext cx="358140" cy="4279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77065"/>
          <p:cNvGraphicFramePr>
            <a:graphicFrameLocks noChangeAspect="1"/>
          </p:cNvGraphicFramePr>
          <p:nvPr/>
        </p:nvGraphicFramePr>
        <p:xfrm>
          <a:off x="2915920" y="3140710"/>
          <a:ext cx="1173480" cy="249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84200" imgH="1244600" progId="Equation.DSMT4">
                  <p:embed/>
                </p:oleObj>
              </mc:Choice>
              <mc:Fallback>
                <p:oleObj r:id="rId12" imgW="584200" imgH="12446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915920" y="3140710"/>
                        <a:ext cx="1173480" cy="24942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椭圆 93185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87" name="椭圆 93186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88" name="矩形 93187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189" name="对象 93188"/>
          <p:cNvGraphicFramePr/>
          <p:nvPr/>
        </p:nvGraphicFramePr>
        <p:xfrm>
          <a:off x="469900" y="835025"/>
          <a:ext cx="81407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9900" y="835025"/>
                        <a:ext cx="8140700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1" name="矩形 93190"/>
          <p:cNvSpPr/>
          <p:nvPr/>
        </p:nvSpPr>
        <p:spPr>
          <a:xfrm>
            <a:off x="0" y="2500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3" name="矩形 93192"/>
          <p:cNvSpPr/>
          <p:nvPr/>
        </p:nvSpPr>
        <p:spPr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192" name="对象 93191"/>
          <p:cNvGraphicFramePr/>
          <p:nvPr/>
        </p:nvGraphicFramePr>
        <p:xfrm>
          <a:off x="1657668" y="4869180"/>
          <a:ext cx="4777105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86000" imgH="711200" progId="Equation.DSMT4">
                  <p:embed/>
                </p:oleObj>
              </mc:Choice>
              <mc:Fallback>
                <p:oleObj r:id="rId4" imgW="2286000" imgH="7112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57668" y="4869180"/>
                        <a:ext cx="4777105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77031"/>
          <p:cNvGraphicFramePr>
            <a:graphicFrameLocks noChangeAspect="1"/>
          </p:cNvGraphicFramePr>
          <p:nvPr/>
        </p:nvGraphicFramePr>
        <p:xfrm>
          <a:off x="2268221" y="2060258"/>
          <a:ext cx="4196080" cy="2494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49500" imgH="1422400" progId="Equation.DSMT4">
                  <p:embed/>
                </p:oleObj>
              </mc:Choice>
              <mc:Fallback>
                <p:oleObj r:id="rId6" imgW="2349500" imgH="1422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8221" y="2060258"/>
                        <a:ext cx="4196080" cy="24949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椭圆 89089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091" name="椭圆 89090">
            <a:hlinkClick r:id="" action="ppaction://hlinkshowjump?jump=nextslide"/>
          </p:cNvPr>
          <p:cNvSpPr/>
          <p:nvPr/>
        </p:nvSpPr>
        <p:spPr>
          <a:xfrm>
            <a:off x="7740650" y="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092" name="矩形 89091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9098" name="组合 89097"/>
          <p:cNvGrpSpPr/>
          <p:nvPr/>
        </p:nvGrpSpPr>
        <p:grpSpPr>
          <a:xfrm>
            <a:off x="481965" y="548640"/>
            <a:ext cx="8813801" cy="1965325"/>
            <a:chOff x="248" y="346"/>
            <a:chExt cx="5552" cy="1238"/>
          </a:xfrm>
        </p:grpSpPr>
        <p:sp>
          <p:nvSpPr>
            <p:cNvPr id="89093" name="矩形 89092"/>
            <p:cNvSpPr/>
            <p:nvPr/>
          </p:nvSpPr>
          <p:spPr>
            <a:xfrm>
              <a:off x="586" y="607"/>
              <a:ext cx="97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练习  </a:t>
              </a: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设</a:t>
              </a:r>
              <a:r>
                <a:rPr lang="zh-CN" altLang="en-US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89094" name="对象 89093"/>
            <p:cNvGraphicFramePr/>
            <p:nvPr/>
          </p:nvGraphicFramePr>
          <p:xfrm>
            <a:off x="1489" y="346"/>
            <a:ext cx="1199" cy="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964565" imgH="711200" progId="Equation.DSMT4">
                    <p:embed/>
                  </p:oleObj>
                </mc:Choice>
                <mc:Fallback>
                  <p:oleObj r:id="rId2" imgW="964565" imgH="7112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89" y="346"/>
                          <a:ext cx="1199" cy="8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096" name="对象 89095"/>
            <p:cNvGraphicFramePr/>
            <p:nvPr/>
          </p:nvGraphicFramePr>
          <p:xfrm>
            <a:off x="2688" y="616"/>
            <a:ext cx="311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684905" imgH="402590" progId="Word.Document.8">
                    <p:embed/>
                  </p:oleObj>
                </mc:Choice>
                <mc:Fallback>
                  <p:oleObj r:id="rId4" imgW="3684905" imgH="402590" progId="Word.Document.8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88" y="616"/>
                          <a:ext cx="311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097" name="对象 89096"/>
            <p:cNvGraphicFramePr/>
            <p:nvPr/>
          </p:nvGraphicFramePr>
          <p:xfrm>
            <a:off x="248" y="1256"/>
            <a:ext cx="228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720340" imgH="402590" progId="Word.Document.8">
                    <p:embed/>
                  </p:oleObj>
                </mc:Choice>
                <mc:Fallback>
                  <p:oleObj r:id="rId6" imgW="2720340" imgH="402590" progId="Word.Document.8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8" y="1256"/>
                          <a:ext cx="2280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9100" name="对象 89099"/>
          <p:cNvGraphicFramePr/>
          <p:nvPr/>
        </p:nvGraphicFramePr>
        <p:xfrm>
          <a:off x="977900" y="2641600"/>
          <a:ext cx="4241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193415" imgH="404495" progId="Word.Document.8">
                  <p:embed/>
                </p:oleObj>
              </mc:Choice>
              <mc:Fallback>
                <p:oleObj r:id="rId8" imgW="3193415" imgH="404495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7900" y="2641600"/>
                        <a:ext cx="42418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1" name="对象 89100"/>
          <p:cNvGraphicFramePr/>
          <p:nvPr/>
        </p:nvGraphicFramePr>
        <p:xfrm>
          <a:off x="682625" y="3141663"/>
          <a:ext cx="7921625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201795" imgH="711200" progId="Equation.DSMT4">
                  <p:embed/>
                </p:oleObj>
              </mc:Choice>
              <mc:Fallback>
                <p:oleObj r:id="rId10" imgW="4201795" imgH="711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2625" y="3141663"/>
                        <a:ext cx="7921625" cy="141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3" name="对象 89102"/>
          <p:cNvGraphicFramePr/>
          <p:nvPr/>
        </p:nvGraphicFramePr>
        <p:xfrm>
          <a:off x="393700" y="4648200"/>
          <a:ext cx="8140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053455" imgH="402590" progId="Word.Document.8">
                  <p:embed/>
                </p:oleObj>
              </mc:Choice>
              <mc:Fallback>
                <p:oleObj r:id="rId12" imgW="6053455" imgH="402590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700" y="4648200"/>
                        <a:ext cx="81407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5" name="对象 89104"/>
          <p:cNvGraphicFramePr/>
          <p:nvPr/>
        </p:nvGraphicFramePr>
        <p:xfrm>
          <a:off x="393700" y="5295900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053455" imgH="795655" progId="Word.Document.8">
                  <p:embed/>
                </p:oleObj>
              </mc:Choice>
              <mc:Fallback>
                <p:oleObj r:id="rId14" imgW="6053455" imgH="795655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700" y="5295900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椭圆 90113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15" name="椭圆 90114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16" name="矩形 90115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0117" name="对象 90116"/>
          <p:cNvGraphicFramePr/>
          <p:nvPr/>
        </p:nvGraphicFramePr>
        <p:xfrm>
          <a:off x="393700" y="622300"/>
          <a:ext cx="8140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795655" progId="Word.Document.8">
                  <p:embed/>
                </p:oleObj>
              </mc:Choice>
              <mc:Fallback>
                <p:oleObj r:id="rId2" imgW="6053455" imgH="795655" progId="Word.Document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700" y="622300"/>
                        <a:ext cx="81407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对象 90117"/>
          <p:cNvGraphicFramePr/>
          <p:nvPr/>
        </p:nvGraphicFramePr>
        <p:xfrm>
          <a:off x="393700" y="1841500"/>
          <a:ext cx="8356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199505" imgH="1984375" progId="Word.Document.8">
                  <p:embed/>
                </p:oleObj>
              </mc:Choice>
              <mc:Fallback>
                <p:oleObj r:id="rId4" imgW="6199505" imgH="1984375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700" y="1841500"/>
                        <a:ext cx="8356600" cy="266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对象 90119"/>
          <p:cNvGraphicFramePr/>
          <p:nvPr/>
        </p:nvGraphicFramePr>
        <p:xfrm>
          <a:off x="469900" y="3505200"/>
          <a:ext cx="81407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1193165" progId="Word.Document.8">
                  <p:embed/>
                </p:oleObj>
              </mc:Choice>
              <mc:Fallback>
                <p:oleObj r:id="rId6" imgW="6053455" imgH="1193165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9900" y="3505200"/>
                        <a:ext cx="8140700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2" name="矩形 90121"/>
          <p:cNvSpPr/>
          <p:nvPr/>
        </p:nvSpPr>
        <p:spPr>
          <a:xfrm>
            <a:off x="0" y="2914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0121" name="对象 90120"/>
          <p:cNvGraphicFramePr/>
          <p:nvPr/>
        </p:nvGraphicFramePr>
        <p:xfrm>
          <a:off x="1476375" y="5084763"/>
          <a:ext cx="3984625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30400" imgH="736600" progId="Equation.DSMT4">
                  <p:embed/>
                </p:oleObj>
              </mc:Choice>
              <mc:Fallback>
                <p:oleObj r:id="rId8" imgW="1930400" imgH="736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5084763"/>
                        <a:ext cx="3984625" cy="1468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3" name="矩形 90122"/>
          <p:cNvSpPr/>
          <p:nvPr/>
        </p:nvSpPr>
        <p:spPr>
          <a:xfrm>
            <a:off x="406400" y="5516563"/>
            <a:ext cx="993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所以 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62</a:t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1620" name="Object 15"/>
          <p:cNvGraphicFramePr/>
          <p:nvPr/>
        </p:nvGraphicFramePr>
        <p:xfrm>
          <a:off x="2036128" y="2189163"/>
          <a:ext cx="2087245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65200" imgH="711200" progId="Equation.DSMT4">
                  <p:embed/>
                </p:oleObj>
              </mc:Choice>
              <mc:Fallback>
                <p:oleObj r:id="rId2" imgW="965200" imgH="7112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36128" y="2189163"/>
                        <a:ext cx="2087245" cy="1543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1" name="矩形 111620"/>
          <p:cNvSpPr/>
          <p:nvPr/>
        </p:nvSpPr>
        <p:spPr>
          <a:xfrm>
            <a:off x="684213" y="2692400"/>
            <a:ext cx="15462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练习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设 </a:t>
            </a:r>
          </a:p>
        </p:txBody>
      </p:sp>
      <p:graphicFrame>
        <p:nvGraphicFramePr>
          <p:cNvPr id="111622" name="对象 111621"/>
          <p:cNvGraphicFramePr/>
          <p:nvPr/>
        </p:nvGraphicFramePr>
        <p:xfrm>
          <a:off x="4284663" y="2692400"/>
          <a:ext cx="467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87420" imgH="404495" progId="Word.Document.8">
                  <p:embed/>
                </p:oleObj>
              </mc:Choice>
              <mc:Fallback>
                <p:oleObj r:id="rId4" imgW="3487420" imgH="404495" progId="Word.Document.8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2692400"/>
                        <a:ext cx="46736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对象 111622"/>
          <p:cNvGraphicFramePr/>
          <p:nvPr/>
        </p:nvGraphicFramePr>
        <p:xfrm>
          <a:off x="395288" y="3556000"/>
          <a:ext cx="1943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70660" imgH="404495" progId="Word.Document.8">
                  <p:embed/>
                </p:oleObj>
              </mc:Choice>
              <mc:Fallback>
                <p:oleObj r:id="rId6" imgW="1470660" imgH="404495" progId="Word.Document.8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3556000"/>
                        <a:ext cx="19431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椭圆 94209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1" name="椭圆 94210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2" name="矩形 94211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4213" name="对象 94212"/>
          <p:cNvGraphicFramePr/>
          <p:nvPr/>
        </p:nvGraphicFramePr>
        <p:xfrm>
          <a:off x="469900" y="695008"/>
          <a:ext cx="8140700" cy="1073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53455" imgH="800100" progId="Word.Document.8">
                  <p:embed/>
                </p:oleObj>
              </mc:Choice>
              <mc:Fallback>
                <p:oleObj r:id="rId2" imgW="6053455" imgH="800100" progId="Word.Document.8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9900" y="695008"/>
                        <a:ext cx="8140700" cy="1073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4" name="对象 94213"/>
          <p:cNvGraphicFramePr/>
          <p:nvPr/>
        </p:nvGraphicFramePr>
        <p:xfrm>
          <a:off x="469900" y="1915795"/>
          <a:ext cx="8140700" cy="160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53455" imgH="1195705" progId="Word.Document.8">
                  <p:embed/>
                </p:oleObj>
              </mc:Choice>
              <mc:Fallback>
                <p:oleObj r:id="rId4" imgW="6053455" imgH="1195705" progId="Word.Document.8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9900" y="1915795"/>
                        <a:ext cx="8140700" cy="1604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对象 94214"/>
          <p:cNvGraphicFramePr/>
          <p:nvPr/>
        </p:nvGraphicFramePr>
        <p:xfrm>
          <a:off x="468313" y="3498691"/>
          <a:ext cx="814705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53455" imgH="405130" progId="Word.Document.8">
                  <p:embed/>
                </p:oleObj>
              </mc:Choice>
              <mc:Fallback>
                <p:oleObj r:id="rId6" imgW="6053455" imgH="405130" progId="Word.Document.8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8313" y="3498691"/>
                        <a:ext cx="8147050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7" name="矩形 94216"/>
          <p:cNvSpPr/>
          <p:nvPr/>
        </p:nvSpPr>
        <p:spPr>
          <a:xfrm>
            <a:off x="0" y="2855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4216" name="对象 94215"/>
          <p:cNvGraphicFramePr/>
          <p:nvPr/>
        </p:nvGraphicFramePr>
        <p:xfrm>
          <a:off x="1892142" y="4005263"/>
          <a:ext cx="472313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374265" imgH="711200" progId="Equation.DSMT4">
                  <p:embed/>
                </p:oleObj>
              </mc:Choice>
              <mc:Fallback>
                <p:oleObj r:id="rId8" imgW="2374265" imgH="7112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92142" y="4005263"/>
                        <a:ext cx="4723130" cy="1419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8" name="对象 94217"/>
          <p:cNvGraphicFramePr/>
          <p:nvPr/>
        </p:nvGraphicFramePr>
        <p:xfrm>
          <a:off x="469900" y="5369878"/>
          <a:ext cx="8140700" cy="1337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053455" imgH="1000125" progId="Word.Document.8">
                  <p:embed/>
                </p:oleObj>
              </mc:Choice>
              <mc:Fallback>
                <p:oleObj r:id="rId10" imgW="6053455" imgH="1000125" progId="Word.Document.8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9900" y="5369878"/>
                        <a:ext cx="8140700" cy="13379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椭圆 95233">
            <a:hlinkClick r:id="" action="ppaction://hlinkshowjump?jump=previousslide"/>
          </p:cNvPr>
          <p:cNvSpPr/>
          <p:nvPr/>
        </p:nvSpPr>
        <p:spPr>
          <a:xfrm>
            <a:off x="7235825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235" name="椭圆 95234">
            <a:hlinkClick r:id="" action="ppaction://hlinkshowjump?jump=nextslide"/>
          </p:cNvPr>
          <p:cNvSpPr/>
          <p:nvPr/>
        </p:nvSpPr>
        <p:spPr>
          <a:xfrm>
            <a:off x="7740650" y="44450"/>
            <a:ext cx="287338" cy="287338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236" name="矩形 95235">
            <a:hlinkClick r:id="" action="ppaction://hlinkshowjump?jump=firstslide"/>
          </p:cNvPr>
          <p:cNvSpPr/>
          <p:nvPr/>
        </p:nvSpPr>
        <p:spPr>
          <a:xfrm>
            <a:off x="8245475" y="44450"/>
            <a:ext cx="287338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5242" name="组合 95241"/>
          <p:cNvGrpSpPr/>
          <p:nvPr/>
        </p:nvGrpSpPr>
        <p:grpSpPr>
          <a:xfrm>
            <a:off x="539750" y="-4763"/>
            <a:ext cx="7370763" cy="2479676"/>
            <a:chOff x="340" y="11"/>
            <a:chExt cx="4643" cy="1562"/>
          </a:xfrm>
        </p:grpSpPr>
        <p:sp>
          <p:nvSpPr>
            <p:cNvPr id="95237" name="矩形 95236"/>
            <p:cNvSpPr/>
            <p:nvPr/>
          </p:nvSpPr>
          <p:spPr>
            <a:xfrm>
              <a:off x="340" y="572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l" defTabSz="914400">
                <a:tabLst>
                  <a:tab pos="4933950" algn="l"/>
                </a:tabLst>
              </a:pP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取</a:t>
              </a:r>
            </a:p>
          </p:txBody>
        </p:sp>
        <p:graphicFrame>
          <p:nvGraphicFramePr>
            <p:cNvPr id="95238" name="对象 95237"/>
            <p:cNvGraphicFramePr/>
            <p:nvPr/>
          </p:nvGraphicFramePr>
          <p:xfrm>
            <a:off x="664" y="314"/>
            <a:ext cx="2401" cy="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917065" imgH="711200" progId="Equation.DSMT4">
                    <p:embed/>
                  </p:oleObj>
                </mc:Choice>
                <mc:Fallback>
                  <p:oleObj r:id="rId2" imgW="1917065" imgH="711200" progId="Equation.DSMT4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64" y="314"/>
                          <a:ext cx="2401" cy="8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40" name="对象 95239"/>
            <p:cNvGraphicFramePr/>
            <p:nvPr/>
          </p:nvGraphicFramePr>
          <p:xfrm>
            <a:off x="3314" y="11"/>
            <a:ext cx="1669" cy="1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333500" imgH="1244600" progId="Equation.DSMT4">
                    <p:embed/>
                  </p:oleObj>
                </mc:Choice>
                <mc:Fallback>
                  <p:oleObj r:id="rId4" imgW="1333500" imgH="1244600" progId="Equation.DSMT4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314" y="11"/>
                          <a:ext cx="1669" cy="15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43" name="矩形 95242"/>
          <p:cNvSpPr/>
          <p:nvPr/>
        </p:nvSpPr>
        <p:spPr>
          <a:xfrm>
            <a:off x="539750" y="2405063"/>
            <a:ext cx="993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则有 </a:t>
            </a:r>
          </a:p>
        </p:txBody>
      </p:sp>
      <p:graphicFrame>
        <p:nvGraphicFramePr>
          <p:cNvPr id="95244" name="对象 95243"/>
          <p:cNvGraphicFramePr/>
          <p:nvPr/>
        </p:nvGraphicFramePr>
        <p:xfrm>
          <a:off x="1402715" y="1989296"/>
          <a:ext cx="3052445" cy="141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36700" imgH="711200" progId="Equation.DSMT4">
                  <p:embed/>
                </p:oleObj>
              </mc:Choice>
              <mc:Fallback>
                <p:oleObj r:id="rId6" imgW="1536700" imgH="7112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02715" y="1989296"/>
                        <a:ext cx="3052445" cy="14173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6" name="对象 95245"/>
          <p:cNvGraphicFramePr/>
          <p:nvPr/>
        </p:nvGraphicFramePr>
        <p:xfrm>
          <a:off x="4495800" y="2425700"/>
          <a:ext cx="2324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59585" imgH="404495" progId="Word.Document.8">
                  <p:embed/>
                </p:oleObj>
              </mc:Choice>
              <mc:Fallback>
                <p:oleObj r:id="rId8" imgW="1759585" imgH="404495" progId="Word.Document.8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95800" y="2425700"/>
                        <a:ext cx="23241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7" name="矩形 95246"/>
          <p:cNvSpPr/>
          <p:nvPr/>
        </p:nvSpPr>
        <p:spPr>
          <a:xfrm>
            <a:off x="6659563" y="2420938"/>
            <a:ext cx="993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所以 </a:t>
            </a:r>
          </a:p>
        </p:txBody>
      </p:sp>
      <p:graphicFrame>
        <p:nvGraphicFramePr>
          <p:cNvPr id="95248" name="对象 95247"/>
          <p:cNvGraphicFramePr/>
          <p:nvPr/>
        </p:nvGraphicFramePr>
        <p:xfrm>
          <a:off x="409575" y="4076700"/>
          <a:ext cx="15509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98500" imgH="190500" progId="Equation.DSMT4">
                  <p:embed/>
                </p:oleObj>
              </mc:Choice>
              <mc:Fallback>
                <p:oleObj r:id="rId10" imgW="698500" imgH="1905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9575" y="4076700"/>
                        <a:ext cx="1550988" cy="41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0" name="对象 95249"/>
          <p:cNvGraphicFramePr/>
          <p:nvPr/>
        </p:nvGraphicFramePr>
        <p:xfrm>
          <a:off x="1786414" y="3112929"/>
          <a:ext cx="4763135" cy="2481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602865" imgH="1244600" progId="Equation.DSMT4">
                  <p:embed/>
                </p:oleObj>
              </mc:Choice>
              <mc:Fallback>
                <p:oleObj r:id="rId12" imgW="2602865" imgH="12446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86414" y="3112929"/>
                        <a:ext cx="4763135" cy="2481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2" name="对象 95251"/>
          <p:cNvGraphicFramePr/>
          <p:nvPr/>
        </p:nvGraphicFramePr>
        <p:xfrm>
          <a:off x="6755289" y="3112453"/>
          <a:ext cx="1867535" cy="248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041400" imgH="1244600" progId="Equation.DSMT4">
                  <p:embed/>
                </p:oleObj>
              </mc:Choice>
              <mc:Fallback>
                <p:oleObj r:id="rId14" imgW="1041400" imgH="12446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55289" y="3112453"/>
                        <a:ext cx="1867535" cy="24841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3" grpId="0"/>
      <p:bldP spid="9524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722044,466346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.85000000000025,&quot;left&quot;:27.3,&quot;top&quot;:90,&quot;width&quot;:443.1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20000"/>
      </a:accent6>
      <a:hlink>
        <a:srgbClr val="0033CC"/>
      </a:hlink>
      <a:folHlink>
        <a:srgbClr val="FFCC66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1925</Words>
  <Application>Microsoft Office PowerPoint</Application>
  <PresentationFormat>全屏显示(4:3)</PresentationFormat>
  <Paragraphs>225</Paragraphs>
  <Slides>64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64</vt:i4>
      </vt:variant>
    </vt:vector>
  </HeadingPairs>
  <TitlesOfParts>
    <vt:vector size="78" baseType="lpstr">
      <vt:lpstr>仿宋_GB2312</vt:lpstr>
      <vt:lpstr>黑体</vt:lpstr>
      <vt:lpstr>楷体_GB2312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Equation.DSMT4</vt:lpstr>
      <vt:lpstr>Microsoft Word 97 - 2003 Document</vt:lpstr>
      <vt:lpstr>Equation.KSEE3</vt:lpstr>
      <vt:lpstr>Equation.3</vt:lpstr>
      <vt:lpstr>PowerPoint 演示文稿</vt:lpstr>
      <vt:lpstr>PowerPoint 演示文稿</vt:lpstr>
      <vt:lpstr>PowerPoint 演示文稿</vt:lpstr>
      <vt:lpstr>PowerPoint 演示文稿</vt:lpstr>
      <vt:lpstr>矩阵的特征值的重要性质: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英棋 曾</cp:lastModifiedBy>
  <cp:revision>90</cp:revision>
  <dcterms:created xsi:type="dcterms:W3CDTF">2004-09-01T14:28:00Z</dcterms:created>
  <dcterms:modified xsi:type="dcterms:W3CDTF">2026-05-27T13:36:54Z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B0A20B0A7631456B926A8B8AE5E3C7FF_13</vt:lpwstr>
  </property>
  <property fmtid="{D5CDD505-2E9C-101B-9397-08002B2CF9AE}" pid="3" name="KSOProductBuildVer">
    <vt:lpwstr>2052-12.1.0.23542</vt:lpwstr>
  </property>
</Properties>
</file>