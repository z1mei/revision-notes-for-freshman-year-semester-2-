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2"/>
    <p:sldId id="678" r:id="rId3"/>
    <p:sldId id="679" r:id="rId4"/>
    <p:sldId id="665" r:id="rId5"/>
    <p:sldId id="264" r:id="rId6"/>
    <p:sldId id="680" r:id="rId7"/>
    <p:sldId id="681" r:id="rId8"/>
    <p:sldId id="682" r:id="rId9"/>
    <p:sldId id="364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C64F064-DC3F-4858-85B8-A38DF47FEAFE}">
          <p14:sldIdLst>
            <p14:sldId id="257"/>
            <p14:sldId id="678"/>
            <p14:sldId id="679"/>
            <p14:sldId id="665"/>
            <p14:sldId id="264"/>
            <p14:sldId id="680"/>
            <p14:sldId id="681"/>
            <p14:sldId id="682"/>
            <p14:sldId id="364"/>
          </p14:sldIdLst>
        </p14:section>
      </p14:sectionLst>
    </p:ext>
    <p:ext uri="{EFAFB233-063F-42B5-8137-9DF3F51BA10A}">
      <p15:sldGuideLst xmlns:p15="http://schemas.microsoft.com/office/powerpoint/2012/main">
        <p15:guide id="1" pos="1345" userDrawn="1">
          <p15:clr>
            <a:srgbClr val="A4A3A4"/>
          </p15:clr>
        </p15:guide>
        <p15:guide id="2" orient="horz" pos="22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BBB"/>
    <a:srgbClr val="04926A"/>
    <a:srgbClr val="4A7BA8"/>
    <a:srgbClr val="3333CC"/>
    <a:srgbClr val="335AE6"/>
    <a:srgbClr val="EEF9FE"/>
    <a:srgbClr val="019B4E"/>
    <a:srgbClr val="1D9D79"/>
    <a:srgbClr val="E3F0DB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60" autoAdjust="0"/>
    <p:restoredTop sz="97078" autoAdjust="0"/>
  </p:normalViewPr>
  <p:slideViewPr>
    <p:cSldViewPr snapToGrid="0" showGuides="1">
      <p:cViewPr varScale="1">
        <p:scale>
          <a:sx n="73" d="100"/>
          <a:sy n="73" d="100"/>
        </p:scale>
        <p:origin x="60" y="144"/>
      </p:cViewPr>
      <p:guideLst>
        <p:guide pos="1345"/>
        <p:guide orient="horz" pos="22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67594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961489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20662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定积分的元素法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870065" y="88804"/>
            <a:ext cx="19591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定积分的应用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966E46D-F048-E3CC-4C16-6126B71DE07F}"/>
              </a:ext>
            </a:extLst>
          </p:cNvPr>
          <p:cNvCxnSpPr/>
          <p:nvPr userDrawn="1"/>
        </p:nvCxnSpPr>
        <p:spPr>
          <a:xfrm>
            <a:off x="-10633" y="244549"/>
            <a:ext cx="9341485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45FA341-C9D9-E85D-39F1-76B4688314E9}"/>
              </a:ext>
            </a:extLst>
          </p:cNvPr>
          <p:cNvCxnSpPr/>
          <p:nvPr userDrawn="1"/>
        </p:nvCxnSpPr>
        <p:spPr>
          <a:xfrm>
            <a:off x="2745141" y="6573631"/>
            <a:ext cx="9468000" cy="0"/>
          </a:xfrm>
          <a:prstGeom prst="line">
            <a:avLst/>
          </a:prstGeom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69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015490"/>
            <a:ext cx="11150600" cy="48577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156460"/>
            <a:ext cx="10989310" cy="471678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307590"/>
            <a:ext cx="10810875" cy="45656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5062827" y="278705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884573" y="3690235"/>
            <a:ext cx="8179865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926715" y="4335145"/>
            <a:ext cx="2205355" cy="1557020"/>
            <a:chOff x="4791" y="6990"/>
            <a:chExt cx="3473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5516" y="6694"/>
              <a:ext cx="2023" cy="347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5307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核心思想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794" y="8159"/>
              <a:ext cx="3467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dk1"/>
                  </a:solidFill>
                  <a:sym typeface="+mn-ea"/>
                </a:rPr>
                <a:t>微元法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234690" y="884555"/>
            <a:ext cx="656590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第六章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定积分的应用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586220" y="4335145"/>
            <a:ext cx="2415540" cy="1557655"/>
            <a:chOff x="4779" y="6990"/>
            <a:chExt cx="3804" cy="2453"/>
          </a:xfrm>
        </p:grpSpPr>
        <p:sp>
          <p:nvSpPr>
            <p:cNvPr id="6" name="矩形: 圆角 40"/>
            <p:cNvSpPr/>
            <p:nvPr/>
          </p:nvSpPr>
          <p:spPr>
            <a:xfrm rot="16200000" flipV="1">
              <a:off x="5669" y="6529"/>
              <a:ext cx="2023" cy="3804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505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典型应用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6803072" y="5080000"/>
            <a:ext cx="203835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dk1"/>
                </a:solidFill>
                <a:sym typeface="+mn-ea"/>
              </a:rPr>
              <a:t>几何与物理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568960"/>
            <a:ext cx="9034145" cy="5718175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9287510" cy="570801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4646930" y="1570355"/>
            <a:ext cx="6727825" cy="37471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1298931" y="3419985"/>
            <a:ext cx="2000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8" name="PA-矩形 6"/>
          <p:cNvSpPr/>
          <p:nvPr>
            <p:custDataLst>
              <p:tags r:id="rId3"/>
            </p:custDataLst>
          </p:nvPr>
        </p:nvSpPr>
        <p:spPr>
          <a:xfrm>
            <a:off x="124182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419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2" name="矩形 11"/>
          <p:cNvSpPr/>
          <p:nvPr/>
        </p:nvSpPr>
        <p:spPr>
          <a:xfrm>
            <a:off x="1369455" y="1860681"/>
            <a:ext cx="1859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第六章</a:t>
            </a:r>
          </a:p>
        </p:txBody>
      </p:sp>
      <p:sp>
        <p:nvSpPr>
          <p:cNvPr id="3" name="矩形 2"/>
          <p:cNvSpPr/>
          <p:nvPr/>
        </p:nvSpPr>
        <p:spPr>
          <a:xfrm>
            <a:off x="5957570" y="2432050"/>
            <a:ext cx="55581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定积分的元素法</a:t>
            </a:r>
            <a:endParaRPr lang="en-US" altLang="zh-CN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57570" y="3121660"/>
            <a:ext cx="47631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定积分在几何学上的应用</a:t>
            </a:r>
          </a:p>
        </p:txBody>
      </p:sp>
      <p:sp>
        <p:nvSpPr>
          <p:cNvPr id="28" name="矩形 27"/>
          <p:cNvSpPr/>
          <p:nvPr/>
        </p:nvSpPr>
        <p:spPr>
          <a:xfrm>
            <a:off x="5957570" y="3811270"/>
            <a:ext cx="4973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第三节   定积分在物理学上的应用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508000" y="2235610"/>
            <a:ext cx="3810" cy="2376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871905" y="705836"/>
            <a:ext cx="453201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定积分的元素法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4EF04B-613F-D018-B7A9-23C9FD7BCF92}"/>
              </a:ext>
            </a:extLst>
          </p:cNvPr>
          <p:cNvGrpSpPr/>
          <p:nvPr/>
        </p:nvGrpSpPr>
        <p:grpSpPr>
          <a:xfrm>
            <a:off x="2599857" y="2636463"/>
            <a:ext cx="7019925" cy="901065"/>
            <a:chOff x="5061" y="3172"/>
            <a:chExt cx="11055" cy="1419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4F17D074-7FBE-B5B8-BA65-AD31854300E8}"/>
                </a:ext>
              </a:extLst>
            </p:cNvPr>
            <p:cNvSpPr/>
            <p:nvPr/>
          </p:nvSpPr>
          <p:spPr>
            <a:xfrm flipV="1">
              <a:off x="5061" y="3172"/>
              <a:ext cx="11055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17C37B-1329-71E7-F5B7-13B9CBAD8C10}"/>
                </a:ext>
              </a:extLst>
            </p:cNvPr>
            <p:cNvSpPr/>
            <p:nvPr/>
          </p:nvSpPr>
          <p:spPr>
            <a:xfrm>
              <a:off x="6108" y="3470"/>
              <a:ext cx="4249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noProof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问题的提出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40839C-8650-9BA8-0849-A9C28B188094}"/>
              </a:ext>
            </a:extLst>
          </p:cNvPr>
          <p:cNvGrpSpPr/>
          <p:nvPr/>
        </p:nvGrpSpPr>
        <p:grpSpPr>
          <a:xfrm>
            <a:off x="2599857" y="4006247"/>
            <a:ext cx="7019925" cy="901065"/>
            <a:chOff x="5061" y="5187"/>
            <a:chExt cx="11055" cy="1419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0E23C850-1E81-1882-C298-41BE7B747BF3}"/>
                </a:ext>
              </a:extLst>
            </p:cNvPr>
            <p:cNvSpPr/>
            <p:nvPr/>
          </p:nvSpPr>
          <p:spPr>
            <a:xfrm flipV="1">
              <a:off x="5061" y="5187"/>
              <a:ext cx="11055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D491C76-A6A9-F9C5-91AE-D01B8EC620E6}"/>
                </a:ext>
              </a:extLst>
            </p:cNvPr>
            <p:cNvSpPr/>
            <p:nvPr/>
          </p:nvSpPr>
          <p:spPr>
            <a:xfrm>
              <a:off x="6108" y="5485"/>
              <a:ext cx="7076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元素法的条件和三步曲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35"/>
          <p:cNvSpPr>
            <a:spLocks noChangeArrowheads="1"/>
          </p:cNvSpPr>
          <p:nvPr/>
        </p:nvSpPr>
        <p:spPr bwMode="auto">
          <a:xfrm>
            <a:off x="7948041" y="4035531"/>
            <a:ext cx="1295400" cy="533400"/>
          </a:xfrm>
          <a:prstGeom prst="rect">
            <a:avLst/>
          </a:prstGeom>
          <a:noFill/>
          <a:ln w="28575">
            <a:solidFill>
              <a:srgbClr val="04926A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rgbClr val="04926A"/>
              </a:solidFill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 flipH="1">
            <a:off x="8902667" y="3648404"/>
            <a:ext cx="52433" cy="360329"/>
          </a:xfrm>
          <a:prstGeom prst="straightConnector1">
            <a:avLst/>
          </a:prstGeom>
          <a:ln>
            <a:solidFill>
              <a:srgbClr val="04926A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右箭头 32"/>
          <p:cNvSpPr/>
          <p:nvPr/>
        </p:nvSpPr>
        <p:spPr>
          <a:xfrm>
            <a:off x="4309970" y="3901572"/>
            <a:ext cx="2600182" cy="842182"/>
          </a:xfrm>
          <a:prstGeom prst="rightArrow">
            <a:avLst/>
          </a:prstGeom>
          <a:noFill/>
          <a:ln w="19050">
            <a:solidFill>
              <a:srgbClr val="0492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781050" y="288290"/>
            <a:ext cx="3768725" cy="868045"/>
            <a:chOff x="1470" y="569"/>
            <a:chExt cx="5935" cy="1367"/>
          </a:xfrm>
        </p:grpSpPr>
        <p:sp>
          <p:nvSpPr>
            <p:cNvPr id="58395" name="Rectangle 27"/>
            <p:cNvSpPr>
              <a:spLocks noGrp="1" noChangeArrowheads="1"/>
            </p:cNvSpPr>
            <p:nvPr/>
          </p:nvSpPr>
          <p:spPr>
            <a:xfrm>
              <a:off x="1470" y="569"/>
              <a:ext cx="5935" cy="136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一、问题的提出</a:t>
              </a:r>
            </a:p>
          </p:txBody>
        </p:sp>
        <p:sp>
          <p:nvSpPr>
            <p:cNvPr id="7" name="Text Box 2"/>
            <p:cNvSpPr txBox="1">
              <a:spLocks noChangeArrowheads="1"/>
            </p:cNvSpPr>
            <p:nvPr/>
          </p:nvSpPr>
          <p:spPr bwMode="auto">
            <a:xfrm>
              <a:off x="4251" y="1080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81050" y="1170305"/>
            <a:ext cx="4768215" cy="621030"/>
            <a:chOff x="1470" y="1958"/>
            <a:chExt cx="7509" cy="978"/>
          </a:xfrm>
        </p:grpSpPr>
        <p:sp>
          <p:nvSpPr>
            <p:cNvPr id="4" name="矩形 3"/>
            <p:cNvSpPr/>
            <p:nvPr/>
          </p:nvSpPr>
          <p:spPr>
            <a:xfrm>
              <a:off x="1470" y="1958"/>
              <a:ext cx="7509" cy="822"/>
            </a:xfrm>
            <a:prstGeom prst="rect">
              <a:avLst/>
            </a:prstGeom>
            <a:ln w="28575">
              <a:noFill/>
              <a:prstDash val="dashDot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ct val="50000"/>
                </a:spcBef>
                <a:buClrTx/>
                <a:buSzTx/>
                <a:buFontTx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回顾   曲边梯形求面积的问题</a:t>
              </a: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5038" y="2114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71525" y="1895475"/>
            <a:ext cx="3632835" cy="2880995"/>
            <a:chOff x="1455" y="3100"/>
            <a:chExt cx="5721" cy="4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2"/>
                <p:cNvSpPr txBox="1"/>
                <p:nvPr/>
              </p:nvSpPr>
              <p:spPr>
                <a:xfrm>
                  <a:off x="1455" y="3100"/>
                  <a:ext cx="5721" cy="453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曲边梯形由连续曲线</m:t>
                        </m:r>
                      </m:oMath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)≥0),</m:t>
                        </m:r>
                      </m:oMath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直线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</m:oMath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及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轴所围成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5" y="3100"/>
                  <a:ext cx="5721" cy="45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 Box 2"/>
            <p:cNvSpPr txBox="1">
              <a:spLocks noChangeArrowheads="1"/>
            </p:cNvSpPr>
            <p:nvPr/>
          </p:nvSpPr>
          <p:spPr bwMode="auto">
            <a:xfrm>
              <a:off x="4122" y="5213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90575" y="4728845"/>
            <a:ext cx="2466340" cy="1389380"/>
            <a:chOff x="1485" y="7562"/>
            <a:chExt cx="3884" cy="21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对象 11"/>
                <p:cNvSpPr txBox="1"/>
                <p:nvPr/>
              </p:nvSpPr>
              <p:spPr>
                <a:xfrm>
                  <a:off x="1485" y="7562"/>
                  <a:ext cx="3884" cy="2188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sup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𝑓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对象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5" y="7562"/>
                  <a:ext cx="3884" cy="21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 Box 2"/>
            <p:cNvSpPr txBox="1">
              <a:spLocks noChangeArrowheads="1"/>
            </p:cNvSpPr>
            <p:nvPr/>
          </p:nvSpPr>
          <p:spPr bwMode="auto">
            <a:xfrm>
              <a:off x="3240" y="8415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389755" y="3282315"/>
            <a:ext cx="1731010" cy="545465"/>
            <a:chOff x="7153" y="5284"/>
            <a:chExt cx="2726" cy="8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2"/>
                <p:cNvSpPr txBox="1">
                  <a:spLocks noChangeArrowheads="1"/>
                </p:cNvSpPr>
                <p:nvPr/>
              </p:nvSpPr>
              <p:spPr bwMode="auto">
                <a:xfrm>
                  <a:off x="7153" y="5284"/>
                  <a:ext cx="2726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 xmlns:m="http://schemas.openxmlformats.org/officeDocument/2006/math">
                      <m:r>
                        <a:rPr kumimoji="1" lang="en-US" altLang="zh-CN" sz="2800" dirty="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(1)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rgbClr val="04926A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分割</a:t>
                  </a:r>
                </a:p>
              </p:txBody>
            </p:sp>
          </mc:Choice>
          <mc:Fallback xmlns="">
            <p:sp>
              <p:nvSpPr>
                <p:cNvPr id="21" name="Text 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53" y="5284"/>
                  <a:ext cx="2726" cy="824"/>
                </a:xfrm>
                <a:prstGeom prst="rect">
                  <a:avLst/>
                </a:prstGeom>
                <a:blipFill>
                  <a:blip r:embed="rId5"/>
                  <a:stretch>
                    <a:fillRect t="-15116" b="-2790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 Box 2"/>
            <p:cNvSpPr txBox="1">
              <a:spLocks noChangeArrowheads="1"/>
            </p:cNvSpPr>
            <p:nvPr/>
          </p:nvSpPr>
          <p:spPr bwMode="auto">
            <a:xfrm>
              <a:off x="9117" y="5321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380230" y="4032885"/>
            <a:ext cx="2440940" cy="545465"/>
            <a:chOff x="7153" y="6496"/>
            <a:chExt cx="3844" cy="8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7153" y="6496"/>
                  <a:ext cx="3844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571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 xmlns:m="http://schemas.openxmlformats.org/officeDocument/2006/math">
                      <m:r>
                        <a:rPr kumimoji="1" lang="en-US" altLang="zh-CN" sz="2800" dirty="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(2)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rgbClr val="04926A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以常代变</a:t>
                  </a:r>
                </a:p>
              </p:txBody>
            </p:sp>
          </mc:Choice>
          <mc:Fallback xmlns="">
            <p:sp>
              <p:nvSpPr>
                <p:cNvPr id="89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53" y="6496"/>
                  <a:ext cx="3844" cy="824"/>
                </a:xfrm>
                <a:prstGeom prst="rect">
                  <a:avLst/>
                </a:prstGeom>
                <a:blipFill>
                  <a:blip r:embed="rId6"/>
                  <a:stretch>
                    <a:fillRect t="-16471" b="-2941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 Box 2"/>
            <p:cNvSpPr txBox="1">
              <a:spLocks noChangeArrowheads="1"/>
            </p:cNvSpPr>
            <p:nvPr/>
          </p:nvSpPr>
          <p:spPr bwMode="auto">
            <a:xfrm>
              <a:off x="9753" y="6533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389755" y="4821555"/>
            <a:ext cx="1484630" cy="545465"/>
            <a:chOff x="7153" y="7708"/>
            <a:chExt cx="2338" cy="8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7153" y="7708"/>
                  <a:ext cx="2338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 xmlns:m="http://schemas.openxmlformats.org/officeDocument/2006/math">
                      <m:r>
                        <a:rPr kumimoji="1" lang="en-US" altLang="zh-CN" sz="2800" dirty="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(3)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rgbClr val="04926A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求和</a:t>
                  </a:r>
                </a:p>
              </p:txBody>
            </p:sp>
          </mc:Choice>
          <mc:Fallback xmlns="">
            <p:sp>
              <p:nvSpPr>
                <p:cNvPr id="88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53" y="7708"/>
                  <a:ext cx="2338" cy="824"/>
                </a:xfrm>
                <a:prstGeom prst="rect">
                  <a:avLst/>
                </a:prstGeom>
                <a:blipFill>
                  <a:blip r:embed="rId7"/>
                  <a:stretch>
                    <a:fillRect t="-16279" r="-2049" b="-2790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 Box 2"/>
            <p:cNvSpPr txBox="1">
              <a:spLocks noChangeArrowheads="1"/>
            </p:cNvSpPr>
            <p:nvPr/>
          </p:nvSpPr>
          <p:spPr bwMode="auto">
            <a:xfrm>
              <a:off x="8135" y="7745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389755" y="5591175"/>
            <a:ext cx="1887855" cy="545465"/>
            <a:chOff x="7153" y="8920"/>
            <a:chExt cx="2973" cy="8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7153" y="8920"/>
                  <a:ext cx="2973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 xmlns:m="http://schemas.openxmlformats.org/officeDocument/2006/math">
                      <m:r>
                        <a:rPr kumimoji="1" lang="en-US" altLang="zh-CN" sz="2800" dirty="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(4)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rgbClr val="04926A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取极限</a:t>
                  </a:r>
                </a:p>
              </p:txBody>
            </p:sp>
          </mc:Choice>
          <mc:Fallback xmlns="">
            <p:sp>
              <p:nvSpPr>
                <p:cNvPr id="90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53" y="8920"/>
                  <a:ext cx="2973" cy="824"/>
                </a:xfrm>
                <a:prstGeom prst="rect">
                  <a:avLst/>
                </a:prstGeom>
                <a:blipFill>
                  <a:blip r:embed="rId8"/>
                  <a:stretch>
                    <a:fillRect t="-15116" b="-2790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 Box 2"/>
            <p:cNvSpPr txBox="1">
              <a:spLocks noChangeArrowheads="1"/>
            </p:cNvSpPr>
            <p:nvPr/>
          </p:nvSpPr>
          <p:spPr bwMode="auto">
            <a:xfrm>
              <a:off x="8453" y="8957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009640" y="3219450"/>
            <a:ext cx="1910080" cy="603250"/>
            <a:chOff x="9704" y="5185"/>
            <a:chExt cx="3008" cy="9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对象 20"/>
                <p:cNvSpPr txBox="1"/>
                <p:nvPr/>
              </p:nvSpPr>
              <p:spPr>
                <a:xfrm>
                  <a:off x="9704" y="5185"/>
                  <a:ext cx="3008" cy="95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6" name="对象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4" y="5185"/>
                  <a:ext cx="3008" cy="95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 Box 2"/>
            <p:cNvSpPr txBox="1">
              <a:spLocks noChangeArrowheads="1"/>
            </p:cNvSpPr>
            <p:nvPr/>
          </p:nvSpPr>
          <p:spPr bwMode="auto">
            <a:xfrm>
              <a:off x="11021" y="5250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972175" y="4647565"/>
            <a:ext cx="2854325" cy="853440"/>
            <a:chOff x="9645" y="7434"/>
            <a:chExt cx="4495" cy="13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对象 14"/>
                <p:cNvSpPr txBox="1"/>
                <p:nvPr/>
              </p:nvSpPr>
              <p:spPr>
                <a:xfrm>
                  <a:off x="9645" y="7434"/>
                  <a:ext cx="4495" cy="1344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Δ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𝐴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对象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5" y="7434"/>
                  <a:ext cx="4495" cy="1344"/>
                </a:xfrm>
                <a:prstGeom prst="rect">
                  <a:avLst/>
                </a:prstGeom>
                <a:blipFill>
                  <a:blip r:embed="rId10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 Box 2"/>
            <p:cNvSpPr txBox="1">
              <a:spLocks noChangeArrowheads="1"/>
            </p:cNvSpPr>
            <p:nvPr/>
          </p:nvSpPr>
          <p:spPr bwMode="auto">
            <a:xfrm>
              <a:off x="11095" y="7695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332220" y="5423535"/>
            <a:ext cx="3136900" cy="1123315"/>
            <a:chOff x="10212" y="8656"/>
            <a:chExt cx="4940" cy="17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对象 16"/>
                <p:cNvSpPr txBox="1"/>
                <p:nvPr/>
              </p:nvSpPr>
              <p:spPr>
                <a:xfrm>
                  <a:off x="10212" y="8656"/>
                  <a:ext cx="4940" cy="176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lim</m:t>
                            </m:r>
                          </m:fName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𝑓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e>
                        </m:func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" name="对象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2" y="8656"/>
                  <a:ext cx="4940" cy="176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 Box 2"/>
            <p:cNvSpPr txBox="1">
              <a:spLocks noChangeArrowheads="1"/>
            </p:cNvSpPr>
            <p:nvPr/>
          </p:nvSpPr>
          <p:spPr bwMode="auto">
            <a:xfrm>
              <a:off x="12273" y="8892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9352280" y="5378450"/>
            <a:ext cx="2181860" cy="1377950"/>
            <a:chOff x="14968" y="8585"/>
            <a:chExt cx="3436" cy="21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对象 17"/>
                <p:cNvSpPr txBox="1"/>
                <p:nvPr/>
              </p:nvSpPr>
              <p:spPr>
                <a:xfrm>
                  <a:off x="14968" y="8585"/>
                  <a:ext cx="3436" cy="217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sup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𝑓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对象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68" y="8585"/>
                  <a:ext cx="3436" cy="217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 Box 2"/>
            <p:cNvSpPr txBox="1">
              <a:spLocks noChangeArrowheads="1"/>
            </p:cNvSpPr>
            <p:nvPr/>
          </p:nvSpPr>
          <p:spPr bwMode="auto">
            <a:xfrm>
              <a:off x="15980" y="9169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8050530" y="3223895"/>
            <a:ext cx="2038985" cy="521970"/>
            <a:chOff x="12918" y="5192"/>
            <a:chExt cx="3211" cy="822"/>
          </a:xfrm>
        </p:grpSpPr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12918" y="5192"/>
              <a:ext cx="3211" cy="822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zh-CN" sz="2800" dirty="0">
                  <a:latin typeface="Cambria Math" panose="02040503050406030204" pitchFamily="18" charset="0"/>
                  <a:ea typeface="黑体" panose="02010609060101010101" pitchFamily="49" charset="-122"/>
                </a:rPr>
                <a:t>面积元素</a:t>
              </a:r>
              <a:r>
                <a: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</a:rPr>
                <a:t>d</a:t>
              </a:r>
              <a:r>
                <a:rPr kumimoji="1" lang="en-US" altLang="zh-CN" sz="2800" i="1" dirty="0">
                  <a:latin typeface="Cambria Math" panose="02040503050406030204" pitchFamily="18" charset="0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47" name="Text Box 2"/>
            <p:cNvSpPr txBox="1">
              <a:spLocks noChangeArrowheads="1"/>
            </p:cNvSpPr>
            <p:nvPr/>
          </p:nvSpPr>
          <p:spPr bwMode="auto">
            <a:xfrm>
              <a:off x="14410" y="5192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7044690" y="4027805"/>
            <a:ext cx="2274570" cy="741680"/>
            <a:chOff x="11334" y="6458"/>
            <a:chExt cx="3582" cy="11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对象 15"/>
                <p:cNvSpPr txBox="1"/>
                <p:nvPr/>
              </p:nvSpPr>
              <p:spPr>
                <a:xfrm>
                  <a:off x="11334" y="6458"/>
                  <a:ext cx="3583" cy="116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≈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3" name="对象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4" y="6458"/>
                  <a:ext cx="3583" cy="116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Text Box 2"/>
            <p:cNvSpPr txBox="1">
              <a:spLocks noChangeArrowheads="1"/>
            </p:cNvSpPr>
            <p:nvPr/>
          </p:nvSpPr>
          <p:spPr bwMode="auto">
            <a:xfrm>
              <a:off x="12939" y="6632"/>
              <a:ext cx="37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</a:pPr>
              <a:r>
                <a:rPr kumimoji="1" 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  <a:endParaRPr kumimoji="1" lang="en-US" sz="280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endParaRPr>
            </a:p>
          </p:txBody>
        </p:sp>
      </p:grpSp>
      <p:pic>
        <p:nvPicPr>
          <p:cNvPr id="6" name="图片 5" descr="图表&#10;&#10;描述已自动生成">
            <a:extLst>
              <a:ext uri="{FF2B5EF4-FFF2-40B4-BE49-F238E27FC236}">
                <a16:creationId xmlns:a16="http://schemas.microsoft.com/office/drawing/2014/main" id="{DF962D35-9B88-C137-132D-90A69F43077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981" y="420315"/>
            <a:ext cx="2633200" cy="2399565"/>
          </a:xfrm>
          <a:prstGeom prst="rect">
            <a:avLst/>
          </a:prstGeom>
        </p:spPr>
      </p:pic>
      <p:cxnSp>
        <p:nvCxnSpPr>
          <p:cNvPr id="28" name="直接箭头连接符 27"/>
          <p:cNvCxnSpPr/>
          <p:nvPr/>
        </p:nvCxnSpPr>
        <p:spPr>
          <a:xfrm flipH="1">
            <a:off x="9186439" y="2617895"/>
            <a:ext cx="71318" cy="588651"/>
          </a:xfrm>
          <a:prstGeom prst="straightConnector1">
            <a:avLst/>
          </a:prstGeom>
          <a:ln>
            <a:solidFill>
              <a:srgbClr val="04926A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bldLvl="0" animBg="1"/>
      <p:bldP spid="3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810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"/>
              <p:cNvSpPr txBox="1"/>
              <p:nvPr/>
            </p:nvSpPr>
            <p:spPr>
              <a:xfrm>
                <a:off x="1501775" y="1301750"/>
                <a:ext cx="8902700" cy="136080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在工程技术中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nor/>
                        </m:rP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有很多量的计算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nor/>
                        </m:rP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都要用这种方法转化为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定积分的计算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775" y="1301750"/>
                <a:ext cx="8902700" cy="13608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6"/>
              <p:cNvSpPr txBox="1"/>
              <p:nvPr/>
            </p:nvSpPr>
            <p:spPr>
              <a:xfrm>
                <a:off x="1501775" y="3994785"/>
                <a:ext cx="9512300" cy="139065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因此对这种方法要进行研究和简化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研究和简化的结果就产生了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应用定积分解决问题的</m:t>
                      </m:r>
                      <m:r>
                        <m:rPr>
                          <m:nor/>
                        </m:rP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元素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法</m:t>
                      </m:r>
                      <m: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i="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对象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775" y="3994785"/>
                <a:ext cx="9512300" cy="1390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/>
          <p:cNvGrpSpPr/>
          <p:nvPr/>
        </p:nvGrpSpPr>
        <p:grpSpPr>
          <a:xfrm>
            <a:off x="1596778" y="2890520"/>
            <a:ext cx="984250" cy="449580"/>
            <a:chOff x="1553" y="3802"/>
            <a:chExt cx="1550" cy="708"/>
          </a:xfrm>
        </p:grpSpPr>
        <p:sp>
          <p:nvSpPr>
            <p:cNvPr id="58" name="圆角矩形 57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665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</a:p>
          </p:txBody>
        </p:sp>
      </p:grp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7414260" y="3321050"/>
            <a:ext cx="431800" cy="658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724785" y="2825115"/>
            <a:ext cx="8837295" cy="1170305"/>
            <a:chOff x="3526" y="4464"/>
            <a:chExt cx="13917" cy="1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526" y="4464"/>
                  <a:ext cx="13917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57150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平面图形的面积</a:t>
                  </a:r>
                  <a14:m>
                    <m:oMath xmlns:m="http://schemas.openxmlformats.org/officeDocument/2006/math"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体积</a:t>
                  </a:r>
                  <a14:m>
                    <m:oMath xmlns:m="http://schemas.openxmlformats.org/officeDocument/2006/math"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平面曲线的弧长</a:t>
                  </a:r>
                  <a14:m>
                    <m:oMath xmlns:m="http://schemas.openxmlformats.org/officeDocument/2006/math"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26" y="4464"/>
                  <a:ext cx="13917" cy="824"/>
                </a:xfrm>
                <a:prstGeom prst="rect">
                  <a:avLst/>
                </a:prstGeom>
                <a:blipFill>
                  <a:blip r:embed="rId4"/>
                  <a:stretch>
                    <a:fillRect l="-1448" t="-15116" b="-2790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526" y="5483"/>
                  <a:ext cx="13917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57150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功</a:t>
                  </a:r>
                  <a14:m>
                    <m:oMath xmlns:m="http://schemas.openxmlformats.org/officeDocument/2006/math"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水压力</a:t>
                  </a:r>
                  <a14:m>
                    <m:oMath xmlns:m="http://schemas.openxmlformats.org/officeDocument/2006/math"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a14:m>
                  <a:r>
                    <a:rPr kumimoji="1" lang="zh-CN" altLang="en-US" sz="28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引力和平均值等</a:t>
                  </a:r>
                  <a14:m>
                    <m:oMath xmlns:m="http://schemas.openxmlformats.org/officeDocument/2006/math"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26" y="5483"/>
                  <a:ext cx="13917" cy="824"/>
                </a:xfrm>
                <a:prstGeom prst="rect">
                  <a:avLst/>
                </a:prstGeom>
                <a:blipFill>
                  <a:blip r:embed="rId5"/>
                  <a:stretch>
                    <a:fillRect l="-1448" t="-16471" b="-2941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BA3525-CEA3-9F16-7C91-2E975DB1BC64}"/>
              </a:ext>
            </a:extLst>
          </p:cNvPr>
          <p:cNvGrpSpPr/>
          <p:nvPr/>
        </p:nvGrpSpPr>
        <p:grpSpPr>
          <a:xfrm>
            <a:off x="244549" y="227028"/>
            <a:ext cx="11727225" cy="6419389"/>
            <a:chOff x="244549" y="227028"/>
            <a:chExt cx="11727225" cy="6419389"/>
          </a:xfrm>
        </p:grpSpPr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09ABA64A-8760-E060-C6DC-7CB4DD3DAB11}"/>
                </a:ext>
              </a:extLst>
            </p:cNvPr>
            <p:cNvSpPr/>
            <p:nvPr/>
          </p:nvSpPr>
          <p:spPr>
            <a:xfrm>
              <a:off x="350663" y="6450635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F3EC93A2-EDE8-0336-7EE8-CCBC4AE86F54}"/>
                </a:ext>
              </a:extLst>
            </p:cNvPr>
            <p:cNvSpPr/>
            <p:nvPr/>
          </p:nvSpPr>
          <p:spPr>
            <a:xfrm rot="2659048">
              <a:off x="9614893" y="310362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A303051-91FF-1D7C-C523-532196D99466}"/>
                </a:ext>
              </a:extLst>
            </p:cNvPr>
            <p:cNvSpPr/>
            <p:nvPr/>
          </p:nvSpPr>
          <p:spPr>
            <a:xfrm>
              <a:off x="476828" y="6339712"/>
              <a:ext cx="2066290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定积分的元素法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00FE28E-7E1D-9458-1330-69A6FDBBF8FA}"/>
                </a:ext>
              </a:extLst>
            </p:cNvPr>
            <p:cNvSpPr/>
            <p:nvPr/>
          </p:nvSpPr>
          <p:spPr>
            <a:xfrm>
              <a:off x="9870065" y="227028"/>
              <a:ext cx="195919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第六章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定积分的应用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D4784CA-B810-B40D-220F-4266497CD2C1}"/>
                </a:ext>
              </a:extLst>
            </p:cNvPr>
            <p:cNvCxnSpPr/>
            <p:nvPr/>
          </p:nvCxnSpPr>
          <p:spPr>
            <a:xfrm>
              <a:off x="244549" y="382773"/>
              <a:ext cx="910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51F6A27-C1A0-5C87-522C-0E552B54EED5}"/>
                </a:ext>
              </a:extLst>
            </p:cNvPr>
            <p:cNvCxnSpPr/>
            <p:nvPr/>
          </p:nvCxnSpPr>
          <p:spPr>
            <a:xfrm>
              <a:off x="2755774" y="6477938"/>
              <a:ext cx="9216000" cy="0"/>
            </a:xfrm>
            <a:prstGeom prst="line">
              <a:avLst/>
            </a:prstGeom>
            <a:ln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3810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23"/>
              <p:cNvSpPr txBox="1"/>
              <p:nvPr/>
            </p:nvSpPr>
            <p:spPr>
              <a:xfrm>
                <a:off x="1140460" y="5720080"/>
                <a:ext cx="7120890" cy="46863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这种分析方法</m:t>
                      </m:r>
                      <m:r>
                        <a:rPr kumimoji="1" lang="zh-CN" altLang="en-US" sz="28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成</m:t>
                      </m:r>
                      <m: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为</m:t>
                      </m:r>
                      <m:r>
                        <a:rPr kumimoji="1" lang="zh-CN" altLang="en-US" sz="2800" i="0" noProof="0" dirty="0">
                          <a:ln>
                            <a:noFill/>
                          </a:ln>
                          <a:solidFill>
                            <a:srgbClr val="04926A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元素法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或微元分析法</m:t>
                      </m:r>
                      <m:r>
                        <a:rPr kumimoji="1" lang="zh-CN" altLang="en-US" sz="28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460" y="5720080"/>
                <a:ext cx="7120890" cy="468630"/>
              </a:xfrm>
              <a:prstGeom prst="rect">
                <a:avLst/>
              </a:prstGeom>
              <a:blipFill>
                <a:blip r:embed="rId2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1130935" y="466725"/>
            <a:ext cx="5551170" cy="815340"/>
            <a:chOff x="2051" y="885"/>
            <a:chExt cx="8742" cy="1284"/>
          </a:xfrm>
        </p:grpSpPr>
        <p:sp>
          <p:nvSpPr>
            <p:cNvPr id="3" name="标题 1"/>
            <p:cNvSpPr>
              <a:spLocks noGrp="1"/>
            </p:cNvSpPr>
            <p:nvPr/>
          </p:nvSpPr>
          <p:spPr>
            <a:xfrm>
              <a:off x="2051" y="885"/>
              <a:ext cx="8742" cy="128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 、元素法的条件和三步曲</a:t>
              </a:r>
            </a:p>
          </p:txBody>
        </p:sp>
        <p:sp>
          <p:nvSpPr>
            <p:cNvPr id="12" name="Text Box 2"/>
            <p:cNvSpPr txBox="1">
              <a:spLocks noChangeArrowheads="1"/>
            </p:cNvSpPr>
            <p:nvPr/>
          </p:nvSpPr>
          <p:spPr bwMode="auto">
            <a:xfrm>
              <a:off x="6220" y="1117"/>
              <a:ext cx="40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30935" y="1062990"/>
            <a:ext cx="5551805" cy="836930"/>
            <a:chOff x="2051" y="2030"/>
            <a:chExt cx="8743" cy="1318"/>
          </a:xfrm>
        </p:grpSpPr>
        <p:sp>
          <p:nvSpPr>
            <p:cNvPr id="7" name="标题 1"/>
            <p:cNvSpPr>
              <a:spLocks noGrp="1"/>
            </p:cNvSpPr>
            <p:nvPr/>
          </p:nvSpPr>
          <p:spPr>
            <a:xfrm>
              <a:off x="2051" y="2030"/>
              <a:ext cx="8743" cy="1318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1. </a:t>
              </a:r>
              <a:r>
                <a:rPr lang="zh-CN" altLang="en-US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应用定积分解决问题的条件</a:t>
              </a:r>
            </a:p>
          </p:txBody>
        </p:sp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6221" y="2218"/>
              <a:ext cx="40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130935" y="1929765"/>
            <a:ext cx="8395970" cy="616585"/>
            <a:chOff x="2051" y="3189"/>
            <a:chExt cx="13222" cy="9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对象 18"/>
                <p:cNvSpPr txBox="1"/>
                <p:nvPr/>
              </p:nvSpPr>
              <p:spPr>
                <a:xfrm>
                  <a:off x="2051" y="3189"/>
                  <a:ext cx="13222" cy="88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(1)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所求量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是与一个变量的变化区间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有关的量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;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9" name="对象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" y="3189"/>
                  <a:ext cx="13222" cy="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 Box 2"/>
            <p:cNvSpPr txBox="1">
              <a:spLocks noChangeArrowheads="1"/>
            </p:cNvSpPr>
            <p:nvPr/>
          </p:nvSpPr>
          <p:spPr bwMode="auto">
            <a:xfrm>
              <a:off x="8460" y="3338"/>
              <a:ext cx="40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130935" y="2634615"/>
            <a:ext cx="10186670" cy="556260"/>
            <a:chOff x="2051" y="4230"/>
            <a:chExt cx="16042" cy="8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对象 21"/>
                <p:cNvSpPr txBox="1"/>
                <p:nvPr/>
              </p:nvSpPr>
              <p:spPr>
                <a:xfrm>
                  <a:off x="2051" y="4230"/>
                  <a:ext cx="16043" cy="87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(2)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所求量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对于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区间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具有可加性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就是说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如果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把区间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对象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" y="4230"/>
                  <a:ext cx="16043" cy="87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 Box 2"/>
            <p:cNvSpPr txBox="1">
              <a:spLocks noChangeArrowheads="1"/>
            </p:cNvSpPr>
            <p:nvPr/>
          </p:nvSpPr>
          <p:spPr bwMode="auto">
            <a:xfrm>
              <a:off x="9871" y="4257"/>
              <a:ext cx="40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530985" y="3279140"/>
            <a:ext cx="9762490" cy="521970"/>
            <a:chOff x="2681" y="5224"/>
            <a:chExt cx="15374" cy="8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对象 24"/>
                <p:cNvSpPr txBox="1"/>
                <p:nvPr/>
              </p:nvSpPr>
              <p:spPr>
                <a:xfrm>
                  <a:off x="2681" y="5237"/>
                  <a:ext cx="15375" cy="79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分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成许多部分区间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相应地分成许多部分量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而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等于所有</m:t>
                        </m:r>
                      </m:oMath>
                    </m:oMathPara>
                  </a14:m>
                  <a:endParaRPr kumimoji="1" lang="zh-CN" altLang="en-US" sz="2800" i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对象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1" y="5237"/>
                  <a:ext cx="15375" cy="7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 Box 2"/>
            <p:cNvSpPr txBox="1">
              <a:spLocks noChangeArrowheads="1"/>
            </p:cNvSpPr>
            <p:nvPr/>
          </p:nvSpPr>
          <p:spPr bwMode="auto">
            <a:xfrm>
              <a:off x="10167" y="5224"/>
              <a:ext cx="40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530985" y="3889375"/>
            <a:ext cx="2113915" cy="521970"/>
            <a:chOff x="2681" y="6119"/>
            <a:chExt cx="3329" cy="8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对象 13"/>
                <p:cNvSpPr txBox="1"/>
                <p:nvPr/>
              </p:nvSpPr>
              <p:spPr>
                <a:xfrm>
                  <a:off x="2681" y="6163"/>
                  <a:ext cx="3329" cy="734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部分量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之和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对象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1" y="6163"/>
                  <a:ext cx="3329" cy="7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 Box 2"/>
            <p:cNvSpPr txBox="1">
              <a:spLocks noChangeArrowheads="1"/>
            </p:cNvSpPr>
            <p:nvPr/>
          </p:nvSpPr>
          <p:spPr bwMode="auto">
            <a:xfrm>
              <a:off x="5606" y="6119"/>
              <a:ext cx="40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130935" y="4499610"/>
            <a:ext cx="9937750" cy="521970"/>
            <a:chOff x="2051" y="7025"/>
            <a:chExt cx="15650" cy="8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对象 22"/>
                <p:cNvSpPr txBox="1"/>
                <p:nvPr/>
              </p:nvSpPr>
              <p:spPr>
                <a:xfrm>
                  <a:off x="2051" y="7028"/>
                  <a:ext cx="15651" cy="81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(3)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部分量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Δ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𝑈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的近似值可表示为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Δ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就可以考虑用定积分</m:t>
                        </m:r>
                      </m:oMath>
                    </m:oMathPara>
                  </a14:m>
                  <a:endParaRPr kumimoji="1" lang="zh-CN" altLang="en-US" sz="2800" i="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对象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" y="7028"/>
                  <a:ext cx="15651" cy="8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 Box 2"/>
            <p:cNvSpPr txBox="1">
              <a:spLocks noChangeArrowheads="1"/>
            </p:cNvSpPr>
            <p:nvPr/>
          </p:nvSpPr>
          <p:spPr bwMode="auto">
            <a:xfrm>
              <a:off x="9675" y="7025"/>
              <a:ext cx="40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530985" y="5109845"/>
            <a:ext cx="2948305" cy="521970"/>
            <a:chOff x="2681" y="7901"/>
            <a:chExt cx="4643" cy="8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对象 23"/>
                <p:cNvSpPr txBox="1"/>
                <p:nvPr/>
              </p:nvSpPr>
              <p:spPr>
                <a:xfrm>
                  <a:off x="2681" y="7975"/>
                  <a:ext cx="4643" cy="73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来表达这个量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" name="对象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1" y="7975"/>
                  <a:ext cx="4643" cy="73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Text Box 2"/>
            <p:cNvSpPr txBox="1">
              <a:spLocks noChangeArrowheads="1"/>
            </p:cNvSpPr>
            <p:nvPr/>
          </p:nvSpPr>
          <p:spPr bwMode="auto">
            <a:xfrm>
              <a:off x="6920" y="7901"/>
              <a:ext cx="404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 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6B37957-79E6-109C-753C-06EAADAB6801}"/>
              </a:ext>
            </a:extLst>
          </p:cNvPr>
          <p:cNvGrpSpPr/>
          <p:nvPr/>
        </p:nvGrpSpPr>
        <p:grpSpPr>
          <a:xfrm>
            <a:off x="244549" y="227028"/>
            <a:ext cx="11727225" cy="6419389"/>
            <a:chOff x="244549" y="227028"/>
            <a:chExt cx="11727225" cy="6419389"/>
          </a:xfrm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B6829FBC-109B-8F3E-E39C-D97B5C39B4C7}"/>
                </a:ext>
              </a:extLst>
            </p:cNvPr>
            <p:cNvSpPr/>
            <p:nvPr/>
          </p:nvSpPr>
          <p:spPr>
            <a:xfrm>
              <a:off x="350663" y="6450635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1">
              <a:extLst>
                <a:ext uri="{FF2B5EF4-FFF2-40B4-BE49-F238E27FC236}">
                  <a16:creationId xmlns:a16="http://schemas.microsoft.com/office/drawing/2014/main" id="{DF4EB5E1-1BCA-0AB2-B626-631150FBD214}"/>
                </a:ext>
              </a:extLst>
            </p:cNvPr>
            <p:cNvSpPr/>
            <p:nvPr/>
          </p:nvSpPr>
          <p:spPr>
            <a:xfrm rot="2659048">
              <a:off x="9614893" y="310362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8FF288F-A142-D783-9D9F-B0D3971B66A2}"/>
                </a:ext>
              </a:extLst>
            </p:cNvPr>
            <p:cNvSpPr/>
            <p:nvPr/>
          </p:nvSpPr>
          <p:spPr>
            <a:xfrm>
              <a:off x="476828" y="6339712"/>
              <a:ext cx="2066290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定积分的元素法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30A7BE6-E3CA-18FE-8092-276B94C70E7C}"/>
                </a:ext>
              </a:extLst>
            </p:cNvPr>
            <p:cNvSpPr/>
            <p:nvPr/>
          </p:nvSpPr>
          <p:spPr>
            <a:xfrm>
              <a:off x="9870065" y="227028"/>
              <a:ext cx="195919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第六章 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定积分的应用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C79FAE95-5006-B9D9-C4DC-A22B9599CC10}"/>
                </a:ext>
              </a:extLst>
            </p:cNvPr>
            <p:cNvCxnSpPr/>
            <p:nvPr/>
          </p:nvCxnSpPr>
          <p:spPr>
            <a:xfrm>
              <a:off x="244549" y="382773"/>
              <a:ext cx="9108000" cy="0"/>
            </a:xfrm>
            <a:prstGeom prst="line">
              <a:avLst/>
            </a:prstGeom>
            <a:ln>
              <a:solidFill>
                <a:srgbClr val="04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D20771CD-0880-5F33-0BAB-87CE0AAD004D}"/>
                </a:ext>
              </a:extLst>
            </p:cNvPr>
            <p:cNvCxnSpPr/>
            <p:nvPr/>
          </p:nvCxnSpPr>
          <p:spPr>
            <a:xfrm>
              <a:off x="2755774" y="6477938"/>
              <a:ext cx="9216000" cy="0"/>
            </a:xfrm>
            <a:prstGeom prst="line">
              <a:avLst/>
            </a:prstGeom>
            <a:ln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7856" y="641231"/>
            <a:ext cx="3129383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2800" b="1" dirty="0" err="1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元素法的三部曲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28"/>
              <p:cNvSpPr txBox="1"/>
              <p:nvPr/>
            </p:nvSpPr>
            <p:spPr>
              <a:xfrm>
                <a:off x="3410585" y="2408555"/>
                <a:ext cx="2174875" cy="53784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∈[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𝑏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对象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585" y="2408555"/>
                <a:ext cx="2174875" cy="537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645160" y="3030855"/>
            <a:ext cx="11201400" cy="515620"/>
            <a:chOff x="1537" y="4320"/>
            <a:chExt cx="17640" cy="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对象 17"/>
                <p:cNvSpPr txBox="1"/>
                <p:nvPr/>
              </p:nvSpPr>
              <p:spPr>
                <a:xfrm>
                  <a:off x="1537" y="4320"/>
                  <a:ext cx="1806" cy="812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步骤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2. 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" name="对象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7" y="4320"/>
                  <a:ext cx="1806" cy="8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7"/>
                <p:cNvSpPr txBox="1"/>
                <p:nvPr/>
              </p:nvSpPr>
              <p:spPr>
                <a:xfrm>
                  <a:off x="3541" y="4340"/>
                  <a:ext cx="15637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任取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∈[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考虑区间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上所求量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的表达式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" name="对象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" y="4340"/>
                  <a:ext cx="15637" cy="700"/>
                </a:xfrm>
                <a:prstGeom prst="rect">
                  <a:avLst/>
                </a:prstGeom>
                <a:blipFill>
                  <a:blip r:embed="rId4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/>
          <p:cNvGrpSpPr/>
          <p:nvPr/>
        </p:nvGrpSpPr>
        <p:grpSpPr>
          <a:xfrm>
            <a:off x="645160" y="1683385"/>
            <a:ext cx="10674350" cy="501650"/>
            <a:chOff x="1537" y="1946"/>
            <a:chExt cx="16810" cy="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对象 16"/>
                <p:cNvSpPr txBox="1"/>
                <p:nvPr/>
              </p:nvSpPr>
              <p:spPr>
                <a:xfrm>
                  <a:off x="1537" y="1946"/>
                  <a:ext cx="1807" cy="790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步骤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1. 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对象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7" y="1946"/>
                  <a:ext cx="1807" cy="79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6"/>
                <p:cNvSpPr txBox="1"/>
                <p:nvPr/>
              </p:nvSpPr>
              <p:spPr>
                <a:xfrm>
                  <a:off x="3541" y="1946"/>
                  <a:ext cx="14806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依据所求问题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选取适当的积分变量例如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并确定其范围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" y="1946"/>
                  <a:ext cx="14806" cy="7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/>
          <p:cNvGrpSpPr/>
          <p:nvPr/>
        </p:nvGrpSpPr>
        <p:grpSpPr>
          <a:xfrm>
            <a:off x="645160" y="4582795"/>
            <a:ext cx="10263505" cy="546100"/>
            <a:chOff x="1536" y="7397"/>
            <a:chExt cx="16163" cy="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对象 18"/>
                <p:cNvSpPr txBox="1"/>
                <p:nvPr/>
              </p:nvSpPr>
              <p:spPr>
                <a:xfrm>
                  <a:off x="1536" y="7397"/>
                  <a:ext cx="1806" cy="861"/>
                </a:xfrm>
                <a:prstGeom prst="rect">
                  <a:avLst/>
                </a:prstGeom>
                <a:solidFill>
                  <a:srgbClr val="04926A">
                    <a:alpha val="42000"/>
                  </a:srgbClr>
                </a:solidFill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步骤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3. 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9" name="对象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6" y="7397"/>
                  <a:ext cx="1806" cy="86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18"/>
                <p:cNvSpPr txBox="1"/>
                <p:nvPr/>
              </p:nvSpPr>
              <p:spPr>
                <a:xfrm>
                  <a:off x="3481" y="7411"/>
                  <a:ext cx="14218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以所求量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微元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为被积表达式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在区间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  <m:r>
                          <m:rPr>
                            <m:nor/>
                          </m:rPr>
                          <a:rPr kumimoji="1" lang="zh-CN" altLang="en-US" sz="2800" i="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上作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定积分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1" y="7411"/>
                  <a:ext cx="14218" cy="700"/>
                </a:xfrm>
                <a:prstGeom prst="rect">
                  <a:avLst/>
                </a:prstGeom>
                <a:blipFill>
                  <a:blip r:embed="rId8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527800" y="3677603"/>
            <a:ext cx="4380865" cy="717550"/>
          </a:xfrm>
          <a:prstGeom prst="wedgeRectCallout">
            <a:avLst>
              <a:gd name="adj1" fmla="val -62943"/>
              <a:gd name="adj2" fmla="val 11991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800" noProof="0" dirty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称为</a:t>
            </a:r>
            <a:r>
              <a:rPr kumimoji="1" lang="en-US" altLang="zh-CN" sz="2800" i="1" dirty="0"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U </a:t>
            </a:r>
            <a:r>
              <a:rPr kumimoji="1" lang="zh-CN" altLang="en-US" sz="2800" noProof="0" dirty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的微元表达式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10585" y="3789680"/>
            <a:ext cx="2613660" cy="594360"/>
            <a:chOff x="5511" y="5808"/>
            <a:chExt cx="4116" cy="9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对象 20"/>
                <p:cNvSpPr txBox="1"/>
                <p:nvPr/>
              </p:nvSpPr>
              <p:spPr>
                <a:xfrm>
                  <a:off x="5511" y="5808"/>
                  <a:ext cx="4117" cy="93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对象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" y="5808"/>
                  <a:ext cx="4117" cy="9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20"/>
                <p:cNvSpPr txBox="1"/>
                <p:nvPr/>
              </p:nvSpPr>
              <p:spPr>
                <a:xfrm>
                  <a:off x="7271" y="5808"/>
                  <a:ext cx="598" cy="93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1" y="5808"/>
                  <a:ext cx="598" cy="9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20"/>
              <p:cNvSpPr txBox="1"/>
              <p:nvPr/>
            </p:nvSpPr>
            <p:spPr>
              <a:xfrm>
                <a:off x="8528368" y="3738880"/>
                <a:ext cx="379730" cy="59499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368" y="3738880"/>
                <a:ext cx="379730" cy="5949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/>
          <p:cNvGrpSpPr/>
          <p:nvPr/>
        </p:nvGrpSpPr>
        <p:grpSpPr>
          <a:xfrm>
            <a:off x="3410585" y="5166995"/>
            <a:ext cx="3286760" cy="1131570"/>
            <a:chOff x="5511" y="8377"/>
            <a:chExt cx="5176" cy="17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对象 19"/>
                <p:cNvSpPr txBox="1"/>
                <p:nvPr/>
              </p:nvSpPr>
              <p:spPr>
                <a:xfrm>
                  <a:off x="5511" y="8377"/>
                  <a:ext cx="5177" cy="178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𝑈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sup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𝑓</m:t>
                            </m:r>
                          </m:e>
                        </m:nary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)​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对象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1" y="8377"/>
                  <a:ext cx="5177" cy="178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对象 20"/>
                <p:cNvSpPr txBox="1"/>
                <p:nvPr/>
              </p:nvSpPr>
              <p:spPr>
                <a:xfrm>
                  <a:off x="7801" y="8800"/>
                  <a:ext cx="598" cy="93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对象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1" y="8800"/>
                  <a:ext cx="598" cy="9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/>
          <p:cNvGrpSpPr/>
          <p:nvPr/>
        </p:nvGrpSpPr>
        <p:grpSpPr>
          <a:xfrm>
            <a:off x="6527800" y="5367020"/>
            <a:ext cx="4380230" cy="731520"/>
            <a:chOff x="10420" y="8692"/>
            <a:chExt cx="6898" cy="1152"/>
          </a:xfrm>
        </p:grpSpPr>
        <p:sp>
          <p:nvSpPr>
            <p:cNvPr id="10" name="AutoShape 7"/>
            <p:cNvSpPr>
              <a:spLocks noChangeArrowheads="1"/>
            </p:cNvSpPr>
            <p:nvPr/>
          </p:nvSpPr>
          <p:spPr bwMode="auto">
            <a:xfrm>
              <a:off x="10420" y="8692"/>
              <a:ext cx="6899" cy="1153"/>
            </a:xfrm>
            <a:prstGeom prst="wedgeRectCallout">
              <a:avLst>
                <a:gd name="adj1" fmla="val -61929"/>
                <a:gd name="adj2" fmla="val 14180"/>
              </a:avLst>
            </a:prstGeom>
            <a:solidFill>
              <a:srgbClr val="04926A">
                <a:alpha val="42000"/>
              </a:srgbClr>
            </a:solidFill>
            <a:ln w="12700">
              <a:noFill/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None/>
              </a:pPr>
              <a:r>
                <a:rPr kumimoji="1" lang="zh-CN" altLang="en-US" sz="2800" noProof="0" dirty="0">
                  <a:ln>
                    <a:noFill/>
                  </a:ln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rPr>
                <a:t>得到所求量</a:t>
              </a:r>
              <a:r>
                <a:rPr kumimoji="1" lang="en-US" altLang="zh-CN" sz="28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rPr>
                <a:t>U </a:t>
              </a:r>
              <a:r>
                <a:rPr kumimoji="1" lang="zh-CN" altLang="en-US" sz="2800" noProof="0" dirty="0">
                  <a:ln>
                    <a:noFill/>
                  </a:ln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rPr>
                <a:t>的积分表达式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对象 20"/>
                <p:cNvSpPr txBox="1"/>
                <p:nvPr/>
              </p:nvSpPr>
              <p:spPr>
                <a:xfrm>
                  <a:off x="13571" y="8800"/>
                  <a:ext cx="598" cy="93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</m:oMath>
                    </m:oMathPara>
                  </a14:m>
                  <a:endParaRPr kumimoji="1"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" name="对象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1" y="8800"/>
                  <a:ext cx="598" cy="9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694738be-d304-4860-9a86-ca75ae980bf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538</Words>
  <Application>Microsoft Office PowerPoint</Application>
  <PresentationFormat>宽屏</PresentationFormat>
  <Paragraphs>88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华文中宋</vt:lpstr>
      <vt:lpstr>微软雅黑</vt:lpstr>
      <vt:lpstr>字魂36号-正文宋楷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349</cp:revision>
  <dcterms:created xsi:type="dcterms:W3CDTF">2022-03-21T05:54:00Z</dcterms:created>
  <dcterms:modified xsi:type="dcterms:W3CDTF">2023-07-05T06:43:38Z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F4E967B4FDC447FBBCF0CF7C36BEAD5B</vt:lpwstr>
  </property>
  <property fmtid="{D5CDD505-2E9C-101B-9397-08002B2CF9AE}" pid="3" name="KSOProductBuildVer">
    <vt:lpwstr>2052-11.1.0.11744</vt:lpwstr>
  </property>
</Properties>
</file>