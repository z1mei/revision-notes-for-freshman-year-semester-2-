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6.xml" ContentType="application/vnd.openxmlformats-officedocument.presentationml.notesSlide+xml"/>
  <Override PartName="/ppt/tags/tag21.xml" ContentType="application/vnd.openxmlformats-officedocument.presentationml.tags+xml"/>
  <Override PartName="/ppt/notesSlides/notesSlide7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8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9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0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1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2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3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4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5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6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7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8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9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20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21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22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23.xml" ContentType="application/vnd.openxmlformats-officedocument.presentationml.notesSlide+xml"/>
  <Override PartName="/ppt/tags/tag54.xml" ContentType="application/vnd.openxmlformats-officedocument.presentationml.tags+xml"/>
  <Override PartName="/ppt/notesSlides/notesSlide24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25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26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27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28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29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30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31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32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33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34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35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36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37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38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39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40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41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42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43.xml" ContentType="application/vnd.openxmlformats-officedocument.presentationml.notesSlide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notesSlides/notesSlide44.xml" ContentType="application/vnd.openxmlformats-officedocument.presentationml.notesSlide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45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46.xml" ContentType="application/vnd.openxmlformats-officedocument.presentationml.notesSl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notesSlides/notesSlide47.xml" ContentType="application/vnd.openxmlformats-officedocument.presentationml.notesSlide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notesSlides/notesSlide48.xml" ContentType="application/vnd.openxmlformats-officedocument.presentationml.notesSlide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notesSlides/notesSlide49.xml" ContentType="application/vnd.openxmlformats-officedocument.presentationml.notesSlide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notesSlides/notesSlide50.xml" ContentType="application/vnd.openxmlformats-officedocument.presentationml.notesSlide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notesSlides/notesSlide51.xml" ContentType="application/vnd.openxmlformats-officedocument.presentationml.notesSlide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notesSlides/notesSlide52.xml" ContentType="application/vnd.openxmlformats-officedocument.presentationml.notesSlide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notesSlides/notesSlide53.xml" ContentType="application/vnd.openxmlformats-officedocument.presentationml.notesSlide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notesSlides/notesSlide54.xml" ContentType="application/vnd.openxmlformats-officedocument.presentationml.notesSlide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notesSlides/notesSlide55.xml" ContentType="application/vnd.openxmlformats-officedocument.presentationml.notesSlide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notesSlides/notesSlide56.xml" ContentType="application/vnd.openxmlformats-officedocument.presentationml.notesSlide+xml"/>
  <Override PartName="/ppt/tags/tag125.xml" ContentType="application/vnd.openxmlformats-officedocument.presentationml.tags+xml"/>
  <Override PartName="/ppt/notesSlides/notesSlide57.xml" ContentType="application/vnd.openxmlformats-officedocument.presentationml.notesSlide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notesSlides/notesSlide58.xml" ContentType="application/vnd.openxmlformats-officedocument.presentationml.notesSlide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notesSlides/notesSlide59.xml" ContentType="application/vnd.openxmlformats-officedocument.presentationml.notesSlide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notesSlides/notesSlide60.xml" ContentType="application/vnd.openxmlformats-officedocument.presentationml.notesSlide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notesSlides/notesSlide61.xml" ContentType="application/vnd.openxmlformats-officedocument.presentationml.notesSlide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notesSlides/notesSlide62.xml" ContentType="application/vnd.openxmlformats-officedocument.presentationml.notesSlide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notesSlides/notesSlide63.xml" ContentType="application/vnd.openxmlformats-officedocument.presentationml.notesSlide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notesSlides/notesSlide64.xml" ContentType="application/vnd.openxmlformats-officedocument.presentationml.notesSlide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notesSlides/notesSlide65.xml" ContentType="application/vnd.openxmlformats-officedocument.presentationml.notesSlide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notesSlides/notesSlide66.xml" ContentType="application/vnd.openxmlformats-officedocument.presentationml.notesSlide+xml"/>
  <Override PartName="/ppt/tags/tag144.xml" ContentType="application/vnd.openxmlformats-officedocument.presentationml.tags+xml"/>
  <Override PartName="/ppt/notesSlides/notesSlide67.xml" ContentType="application/vnd.openxmlformats-officedocument.presentationml.notesSlide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notesSlides/notesSlide68.xml" ContentType="application/vnd.openxmlformats-officedocument.presentationml.notesSlide+xml"/>
  <Override PartName="/ppt/tags/tag147.xml" ContentType="application/vnd.openxmlformats-officedocument.presentationml.tags+xml"/>
  <Override PartName="/ppt/notesSlides/notesSlide69.xml" ContentType="application/vnd.openxmlformats-officedocument.presentationml.notesSlide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notesSlides/notesSlide70.xml" ContentType="application/vnd.openxmlformats-officedocument.presentationml.notesSlide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notesSlides/notesSlide71.xml" ContentType="application/vnd.openxmlformats-officedocument.presentationml.notesSlide+xml"/>
  <Override PartName="/ppt/tags/tag152.xml" ContentType="application/vnd.openxmlformats-officedocument.presentationml.tags+xml"/>
  <Override PartName="/ppt/notesSlides/notesSlide72.xml" ContentType="application/vnd.openxmlformats-officedocument.presentationml.notesSlide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notesSlides/notesSlide73.xml" ContentType="application/vnd.openxmlformats-officedocument.presentationml.notesSlide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notesSlides/notesSlide74.xml" ContentType="application/vnd.openxmlformats-officedocument.presentationml.notesSlide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notesSlides/notesSlide75.xml" ContentType="application/vnd.openxmlformats-officedocument.presentationml.notesSlide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notesSlides/notesSlide76.xml" ContentType="application/vnd.openxmlformats-officedocument.presentationml.notesSlide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notesSlides/notesSlide77.xml" ContentType="application/vnd.openxmlformats-officedocument.presentationml.notesSlide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notesSlides/notesSlide78.xml" ContentType="application/vnd.openxmlformats-officedocument.presentationml.notesSlide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notesSlides/notesSlide79.xml" ContentType="application/vnd.openxmlformats-officedocument.presentationml.notesSlide+xml"/>
  <Override PartName="/ppt/tags/tag167.xml" ContentType="application/vnd.openxmlformats-officedocument.presentationml.tags+xml"/>
  <Override PartName="/ppt/notesSlides/notesSlide80.xml" ContentType="application/vnd.openxmlformats-officedocument.presentationml.notesSlide+xml"/>
  <Override PartName="/ppt/tags/tag168.xml" ContentType="application/vnd.openxmlformats-officedocument.presentationml.tags+xml"/>
  <Override PartName="/ppt/notesSlides/notesSlide81.xml" ContentType="application/vnd.openxmlformats-officedocument.presentationml.notesSlide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notesSlides/notesSlide82.xml" ContentType="application/vnd.openxmlformats-officedocument.presentationml.notesSlide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notesSlides/notesSlide83.xml" ContentType="application/vnd.openxmlformats-officedocument.presentationml.notesSlide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notesSlides/notesSlide84.xml" ContentType="application/vnd.openxmlformats-officedocument.presentationml.notesSlide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notesSlides/notesSlide85.xml" ContentType="application/vnd.openxmlformats-officedocument.presentationml.notesSlide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notesSlides/notesSlide86.xml" ContentType="application/vnd.openxmlformats-officedocument.presentationml.notesSlide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notesSlides/notesSlide87.xml" ContentType="application/vnd.openxmlformats-officedocument.presentationml.notesSlide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notesSlides/notesSlide88.xml" ContentType="application/vnd.openxmlformats-officedocument.presentationml.notesSlide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notesSlides/notesSlide89.xml" ContentType="application/vnd.openxmlformats-officedocument.presentationml.notesSlide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notesSlides/notesSlide90.xml" ContentType="application/vnd.openxmlformats-officedocument.presentationml.notesSlide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notesSlides/notesSlide91.xml" ContentType="application/vnd.openxmlformats-officedocument.presentationml.notesSlide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notesSlides/notesSlide92.xml" ContentType="application/vnd.openxmlformats-officedocument.presentationml.notesSlide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notesSlides/notesSlide93.xml" ContentType="application/vnd.openxmlformats-officedocument.presentationml.notesSlide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notesSlides/notesSlide94.xml" ContentType="application/vnd.openxmlformats-officedocument.presentationml.notesSlide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notesSlides/notesSlide95.xml" ContentType="application/vnd.openxmlformats-officedocument.presentationml.notesSlide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notesSlides/notesSlide96.xml" ContentType="application/vnd.openxmlformats-officedocument.presentationml.notesSlide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notesSlides/notesSlide97.xml" ContentType="application/vnd.openxmlformats-officedocument.presentationml.notesSlide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notesSlides/notesSlide98.xml" ContentType="application/vnd.openxmlformats-officedocument.presentationml.notesSlide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notesSlides/notesSlide99.xml" ContentType="application/vnd.openxmlformats-officedocument.presentationml.notesSlide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notesSlides/notesSlide100.xml" ContentType="application/vnd.openxmlformats-officedocument.presentationml.notesSlide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notesSlides/notesSlide101.xml" ContentType="application/vnd.openxmlformats-officedocument.presentationml.notesSlide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notesSlides/notesSlide102.xml" ContentType="application/vnd.openxmlformats-officedocument.presentationml.notesSlide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notesSlides/notesSlide103.xml" ContentType="application/vnd.openxmlformats-officedocument.presentationml.notesSlide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notesSlides/notesSlide104.xml" ContentType="application/vnd.openxmlformats-officedocument.presentationml.notesSlide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notesSlides/notesSlide105.xml" ContentType="application/vnd.openxmlformats-officedocument.presentationml.notesSlide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notesSlides/notesSlide106.xml" ContentType="application/vnd.openxmlformats-officedocument.presentationml.notesSlide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notesSlides/notesSlide107.xml" ContentType="application/vnd.openxmlformats-officedocument.presentationml.notesSlide+xml"/>
  <Override PartName="/ppt/tags/tag221.xml" ContentType="application/vnd.openxmlformats-officedocument.presentationml.tags+xml"/>
  <Override PartName="/ppt/notesSlides/notesSlide108.xml" ContentType="application/vnd.openxmlformats-officedocument.presentationml.notesSlide+xml"/>
  <Override PartName="/ppt/tags/tag222.xml" ContentType="application/vnd.openxmlformats-officedocument.presentationml.tags+xml"/>
  <Override PartName="/ppt/notesSlides/notesSlide109.xml" ContentType="application/vnd.openxmlformats-officedocument.presentationml.notesSlide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notesSlides/notesSlide110.xml" ContentType="application/vnd.openxmlformats-officedocument.presentationml.notesSlide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notesSlides/notesSlide1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117"/>
  </p:notesMasterIdLst>
  <p:handoutMasterIdLst>
    <p:handoutMasterId r:id="rId118"/>
  </p:handoutMasterIdLst>
  <p:sldIdLst>
    <p:sldId id="271" r:id="rId2"/>
    <p:sldId id="485" r:id="rId3"/>
    <p:sldId id="486" r:id="rId4"/>
    <p:sldId id="524" r:id="rId5"/>
    <p:sldId id="528" r:id="rId6"/>
    <p:sldId id="490" r:id="rId7"/>
    <p:sldId id="641" r:id="rId8"/>
    <p:sldId id="643" r:id="rId9"/>
    <p:sldId id="493" r:id="rId10"/>
    <p:sldId id="494" r:id="rId11"/>
    <p:sldId id="496" r:id="rId12"/>
    <p:sldId id="529" r:id="rId13"/>
    <p:sldId id="499" r:id="rId14"/>
    <p:sldId id="500" r:id="rId15"/>
    <p:sldId id="627" r:id="rId16"/>
    <p:sldId id="628" r:id="rId17"/>
    <p:sldId id="629" r:id="rId18"/>
    <p:sldId id="630" r:id="rId19"/>
    <p:sldId id="631" r:id="rId20"/>
    <p:sldId id="632" r:id="rId21"/>
    <p:sldId id="633" r:id="rId22"/>
    <p:sldId id="634" r:id="rId23"/>
    <p:sldId id="644" r:id="rId24"/>
    <p:sldId id="530" r:id="rId25"/>
    <p:sldId id="512" r:id="rId26"/>
    <p:sldId id="513" r:id="rId27"/>
    <p:sldId id="532" r:id="rId28"/>
    <p:sldId id="635" r:id="rId29"/>
    <p:sldId id="636" r:id="rId30"/>
    <p:sldId id="283" r:id="rId31"/>
    <p:sldId id="276" r:id="rId32"/>
    <p:sldId id="263" r:id="rId33"/>
    <p:sldId id="273" r:id="rId34"/>
    <p:sldId id="389" r:id="rId35"/>
    <p:sldId id="274" r:id="rId36"/>
    <p:sldId id="390" r:id="rId37"/>
    <p:sldId id="391" r:id="rId38"/>
    <p:sldId id="642" r:id="rId39"/>
    <p:sldId id="392" r:id="rId40"/>
    <p:sldId id="637" r:id="rId41"/>
    <p:sldId id="638" r:id="rId42"/>
    <p:sldId id="639" r:id="rId43"/>
    <p:sldId id="535" r:id="rId44"/>
    <p:sldId id="481" r:id="rId45"/>
    <p:sldId id="396" r:id="rId46"/>
    <p:sldId id="538" r:id="rId47"/>
    <p:sldId id="405" r:id="rId48"/>
    <p:sldId id="406" r:id="rId49"/>
    <p:sldId id="408" r:id="rId50"/>
    <p:sldId id="409" r:id="rId51"/>
    <p:sldId id="540" r:id="rId52"/>
    <p:sldId id="410" r:id="rId53"/>
    <p:sldId id="411" r:id="rId54"/>
    <p:sldId id="412" r:id="rId55"/>
    <p:sldId id="413" r:id="rId56"/>
    <p:sldId id="414" r:id="rId57"/>
    <p:sldId id="303" r:id="rId58"/>
    <p:sldId id="484" r:id="rId59"/>
    <p:sldId id="416" r:id="rId60"/>
    <p:sldId id="417" r:id="rId61"/>
    <p:sldId id="418" r:id="rId62"/>
    <p:sldId id="419" r:id="rId63"/>
    <p:sldId id="420" r:id="rId64"/>
    <p:sldId id="429" r:id="rId65"/>
    <p:sldId id="311" r:id="rId66"/>
    <p:sldId id="424" r:id="rId67"/>
    <p:sldId id="423" r:id="rId68"/>
    <p:sldId id="312" r:id="rId69"/>
    <p:sldId id="421" r:id="rId70"/>
    <p:sldId id="314" r:id="rId71"/>
    <p:sldId id="425" r:id="rId72"/>
    <p:sldId id="426" r:id="rId73"/>
    <p:sldId id="427" r:id="rId74"/>
    <p:sldId id="576" r:id="rId75"/>
    <p:sldId id="640" r:id="rId76"/>
    <p:sldId id="578" r:id="rId77"/>
    <p:sldId id="579" r:id="rId78"/>
    <p:sldId id="580" r:id="rId79"/>
    <p:sldId id="581" r:id="rId80"/>
    <p:sldId id="582" r:id="rId81"/>
    <p:sldId id="584" r:id="rId82"/>
    <p:sldId id="585" r:id="rId83"/>
    <p:sldId id="586" r:id="rId84"/>
    <p:sldId id="588" r:id="rId85"/>
    <p:sldId id="589" r:id="rId86"/>
    <p:sldId id="592" r:id="rId87"/>
    <p:sldId id="593" r:id="rId88"/>
    <p:sldId id="594" r:id="rId89"/>
    <p:sldId id="595" r:id="rId90"/>
    <p:sldId id="596" r:id="rId91"/>
    <p:sldId id="597" r:id="rId92"/>
    <p:sldId id="598" r:id="rId93"/>
    <p:sldId id="599" r:id="rId94"/>
    <p:sldId id="600" r:id="rId95"/>
    <p:sldId id="601" r:id="rId96"/>
    <p:sldId id="602" r:id="rId97"/>
    <p:sldId id="603" r:id="rId98"/>
    <p:sldId id="604" r:id="rId99"/>
    <p:sldId id="605" r:id="rId100"/>
    <p:sldId id="607" r:id="rId101"/>
    <p:sldId id="608" r:id="rId102"/>
    <p:sldId id="609" r:id="rId103"/>
    <p:sldId id="611" r:id="rId104"/>
    <p:sldId id="612" r:id="rId105"/>
    <p:sldId id="613" r:id="rId106"/>
    <p:sldId id="614" r:id="rId107"/>
    <p:sldId id="615" r:id="rId108"/>
    <p:sldId id="617" r:id="rId109"/>
    <p:sldId id="618" r:id="rId110"/>
    <p:sldId id="619" r:id="rId111"/>
    <p:sldId id="620" r:id="rId112"/>
    <p:sldId id="621" r:id="rId113"/>
    <p:sldId id="622" r:id="rId114"/>
    <p:sldId id="491" r:id="rId115"/>
    <p:sldId id="525" r:id="rId116"/>
  </p:sldIdLst>
  <p:sldSz cx="12192000" cy="6858000"/>
  <p:notesSz cx="7099300" cy="102346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2222EA"/>
    <a:srgbClr val="99FFCC"/>
    <a:srgbClr val="00FF00"/>
    <a:srgbClr val="FFFF66"/>
    <a:srgbClr val="FFCCFF"/>
    <a:srgbClr val="66FF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931" autoAdjust="0"/>
    <p:restoredTop sz="85353" autoAdjust="0"/>
  </p:normalViewPr>
  <p:slideViewPr>
    <p:cSldViewPr>
      <p:cViewPr varScale="1">
        <p:scale>
          <a:sx n="71" d="100"/>
          <a:sy n="71" d="100"/>
        </p:scale>
        <p:origin x="57" y="42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1978" y="-106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handoutMaster" Target="handoutMasters/handout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presProps" Target="pres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36.xml"/><Relationship Id="rId13" Type="http://schemas.openxmlformats.org/officeDocument/2006/relationships/slide" Target="slides/slide41.xml"/><Relationship Id="rId18" Type="http://schemas.openxmlformats.org/officeDocument/2006/relationships/slide" Target="slides/slide57.xml"/><Relationship Id="rId26" Type="http://schemas.openxmlformats.org/officeDocument/2006/relationships/slide" Target="slides/slide101.xml"/><Relationship Id="rId3" Type="http://schemas.openxmlformats.org/officeDocument/2006/relationships/slide" Target="slides/slide31.xml"/><Relationship Id="rId21" Type="http://schemas.openxmlformats.org/officeDocument/2006/relationships/slide" Target="slides/slide70.xml"/><Relationship Id="rId7" Type="http://schemas.openxmlformats.org/officeDocument/2006/relationships/slide" Target="slides/slide35.xml"/><Relationship Id="rId12" Type="http://schemas.openxmlformats.org/officeDocument/2006/relationships/slide" Target="slides/slide40.xml"/><Relationship Id="rId17" Type="http://schemas.openxmlformats.org/officeDocument/2006/relationships/slide" Target="slides/slide51.xml"/><Relationship Id="rId25" Type="http://schemas.openxmlformats.org/officeDocument/2006/relationships/slide" Target="slides/slide91.xml"/><Relationship Id="rId2" Type="http://schemas.openxmlformats.org/officeDocument/2006/relationships/slide" Target="slides/slide30.xml"/><Relationship Id="rId16" Type="http://schemas.openxmlformats.org/officeDocument/2006/relationships/slide" Target="slides/slide46.xml"/><Relationship Id="rId20" Type="http://schemas.openxmlformats.org/officeDocument/2006/relationships/slide" Target="slides/slide68.xml"/><Relationship Id="rId29" Type="http://schemas.openxmlformats.org/officeDocument/2006/relationships/slide" Target="slides/slide107.xml"/><Relationship Id="rId1" Type="http://schemas.openxmlformats.org/officeDocument/2006/relationships/slide" Target="slides/slide1.xml"/><Relationship Id="rId6" Type="http://schemas.openxmlformats.org/officeDocument/2006/relationships/slide" Target="slides/slide34.xml"/><Relationship Id="rId11" Type="http://schemas.openxmlformats.org/officeDocument/2006/relationships/slide" Target="slides/slide39.xml"/><Relationship Id="rId24" Type="http://schemas.openxmlformats.org/officeDocument/2006/relationships/slide" Target="slides/slide87.xml"/><Relationship Id="rId5" Type="http://schemas.openxmlformats.org/officeDocument/2006/relationships/slide" Target="slides/slide33.xml"/><Relationship Id="rId15" Type="http://schemas.openxmlformats.org/officeDocument/2006/relationships/slide" Target="slides/slide45.xml"/><Relationship Id="rId23" Type="http://schemas.openxmlformats.org/officeDocument/2006/relationships/slide" Target="slides/slide85.xml"/><Relationship Id="rId28" Type="http://schemas.openxmlformats.org/officeDocument/2006/relationships/slide" Target="slides/slide103.xml"/><Relationship Id="rId10" Type="http://schemas.openxmlformats.org/officeDocument/2006/relationships/slide" Target="slides/slide38.xml"/><Relationship Id="rId19" Type="http://schemas.openxmlformats.org/officeDocument/2006/relationships/slide" Target="slides/slide65.xml"/><Relationship Id="rId4" Type="http://schemas.openxmlformats.org/officeDocument/2006/relationships/slide" Target="slides/slide32.xml"/><Relationship Id="rId9" Type="http://schemas.openxmlformats.org/officeDocument/2006/relationships/slide" Target="slides/slide37.xml"/><Relationship Id="rId14" Type="http://schemas.openxmlformats.org/officeDocument/2006/relationships/slide" Target="slides/slide42.xml"/><Relationship Id="rId22" Type="http://schemas.openxmlformats.org/officeDocument/2006/relationships/slide" Target="slides/slide84.xml"/><Relationship Id="rId27" Type="http://schemas.openxmlformats.org/officeDocument/2006/relationships/slide" Target="slides/slide102.xml"/><Relationship Id="rId30" Type="http://schemas.openxmlformats.org/officeDocument/2006/relationships/slide" Target="slides/slide10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00" tIns="47750" rIns="95500" bIns="47750" numCol="1" anchor="t" anchorCtr="0" compatLnSpc="1">
            <a:prstTxWarp prst="textNoShape">
              <a:avLst/>
            </a:prstTxWarp>
          </a:bodyPr>
          <a:lstStyle>
            <a:lvl1pPr defTabSz="955675" eaLnBrk="1" hangingPunct="1">
              <a:defRPr sz="1300"/>
            </a:lvl1pPr>
          </a:lstStyle>
          <a:p>
            <a:pPr>
              <a:defRPr/>
            </a:pPr>
            <a:endParaRPr lang="zh-CN" altLang="en-GB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00" tIns="47750" rIns="95500" bIns="47750" numCol="1" anchor="t" anchorCtr="0" compatLnSpc="1">
            <a:prstTxWarp prst="textNoShape">
              <a:avLst/>
            </a:prstTxWarp>
          </a:bodyPr>
          <a:lstStyle>
            <a:lvl1pPr algn="r" defTabSz="955675" eaLnBrk="1" hangingPunct="1">
              <a:defRPr sz="1300"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00" tIns="47750" rIns="95500" bIns="47750" numCol="1" anchor="b" anchorCtr="0" compatLnSpc="1">
            <a:prstTxWarp prst="textNoShape">
              <a:avLst/>
            </a:prstTxWarp>
          </a:bodyPr>
          <a:lstStyle>
            <a:lvl1pPr defTabSz="955675" eaLnBrk="1" hangingPunct="1">
              <a:defRPr sz="1300"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378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00" tIns="47750" rIns="95500" bIns="47750" numCol="1" anchor="b" anchorCtr="0" compatLnSpc="1">
            <a:prstTxWarp prst="textNoShape">
              <a:avLst/>
            </a:prstTxWarp>
          </a:bodyPr>
          <a:lstStyle>
            <a:lvl1pPr algn="r" defTabSz="955675" eaLnBrk="1" hangingPunct="1">
              <a:defRPr sz="1300"/>
            </a:lvl1pPr>
          </a:lstStyle>
          <a:p>
            <a:pPr>
              <a:defRPr/>
            </a:pPr>
            <a:fld id="{898CA84F-FFF4-4160-A908-A7C87F8DEAB0}" type="slidenum">
              <a:rPr lang="zh-CN" altLang="en-GB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3234508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00" tIns="47750" rIns="95500" bIns="47750" numCol="1" anchor="t" anchorCtr="0" compatLnSpc="1">
            <a:prstTxWarp prst="textNoShape">
              <a:avLst/>
            </a:prstTxWarp>
          </a:bodyPr>
          <a:lstStyle>
            <a:lvl1pPr defTabSz="955675" eaLnBrk="1" hangingPunct="1">
              <a:defRPr sz="1300"/>
            </a:lvl1pPr>
          </a:lstStyle>
          <a:p>
            <a:pPr>
              <a:defRPr/>
            </a:pPr>
            <a:endParaRPr lang="zh-CN" alt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00" tIns="47750" rIns="95500" bIns="47750" numCol="1" anchor="t" anchorCtr="0" compatLnSpc="1">
            <a:prstTxWarp prst="textNoShape">
              <a:avLst/>
            </a:prstTxWarp>
          </a:bodyPr>
          <a:lstStyle>
            <a:lvl1pPr algn="r" defTabSz="955675" eaLnBrk="1" hangingPunct="1">
              <a:defRPr sz="1300"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695450" y="7305675"/>
            <a:ext cx="3770313" cy="2120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57213" y="706438"/>
            <a:ext cx="6207125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00" tIns="47750" rIns="95500" bIns="477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 noProof="0"/>
              <a:t>Click to edit Master text styles</a:t>
            </a:r>
          </a:p>
          <a:p>
            <a:pPr lvl="1"/>
            <a:r>
              <a:rPr lang="en-GB" altLang="zh-CN" noProof="0"/>
              <a:t>Second level</a:t>
            </a:r>
          </a:p>
          <a:p>
            <a:pPr lvl="2"/>
            <a:r>
              <a:rPr lang="en-GB" altLang="zh-CN" noProof="0"/>
              <a:t>Third level</a:t>
            </a:r>
          </a:p>
          <a:p>
            <a:pPr lvl="3"/>
            <a:r>
              <a:rPr lang="en-GB" altLang="zh-CN" noProof="0"/>
              <a:t>Fourth level</a:t>
            </a:r>
          </a:p>
          <a:p>
            <a:pPr lvl="4"/>
            <a:r>
              <a:rPr lang="en-GB" altLang="zh-CN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00" tIns="47750" rIns="95500" bIns="47750" numCol="1" anchor="b" anchorCtr="0" compatLnSpc="1">
            <a:prstTxWarp prst="textNoShape">
              <a:avLst/>
            </a:prstTxWarp>
          </a:bodyPr>
          <a:lstStyle>
            <a:lvl1pPr defTabSz="955675" eaLnBrk="1" hangingPunct="1">
              <a:defRPr sz="1300"/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00" tIns="47750" rIns="95500" bIns="47750" numCol="1" anchor="b" anchorCtr="0" compatLnSpc="1">
            <a:prstTxWarp prst="textNoShape">
              <a:avLst/>
            </a:prstTxWarp>
          </a:bodyPr>
          <a:lstStyle>
            <a:lvl1pPr algn="r" defTabSz="955675" eaLnBrk="1" hangingPunct="1">
              <a:defRPr sz="1300"/>
            </a:lvl1pPr>
          </a:lstStyle>
          <a:p>
            <a:pPr>
              <a:defRPr/>
            </a:pPr>
            <a:fld id="{41CD4B01-6C42-4F8D-AD99-0F2ABA2FFF51}" type="slidenum">
              <a:rPr lang="zh-CN" altLang="en-GB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0217189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6AAC5D4-8C0B-42B2-B714-9F0D18C34B08}" type="slidenum">
              <a:rPr lang="zh-CN" altLang="en-GB" sz="1300" smtClean="0"/>
              <a:pPr>
                <a:spcBef>
                  <a:spcPct val="0"/>
                </a:spcBef>
              </a:pPr>
              <a:t>1</a:t>
            </a:fld>
            <a:endParaRPr lang="en-GB" altLang="zh-CN" sz="130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819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407280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BA76E7B-EF9B-4C74-86DC-FA390A9A2B08}" type="slidenum">
              <a:rPr lang="zh-CN" altLang="en-GB" sz="1200" smtClean="0"/>
              <a:pPr>
                <a:spcBef>
                  <a:spcPct val="0"/>
                </a:spcBef>
              </a:pPr>
              <a:t>2</a:t>
            </a:fld>
            <a:endParaRPr lang="en-GB" altLang="zh-CN" sz="12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什么是异常处理？展示</a:t>
            </a:r>
            <a:r>
              <a:rPr lang="en-US" altLang="zh-CN" dirty="0"/>
              <a:t>3</a:t>
            </a:r>
            <a:r>
              <a:rPr lang="zh-CN" altLang="en-US" dirty="0"/>
              <a:t>个程序分别出现编译错误、输入数据类型错误、分母为零除法错误。</a:t>
            </a:r>
            <a:r>
              <a:rPr lang="en-US" altLang="zh-CN" dirty="0"/>
              <a:t>ExceptDemo.java     ExceptDemo2.java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0581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ExceptDemo2.java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CD4B01-6C42-4F8D-AD99-0F2ABA2FFF51}" type="slidenum">
              <a:rPr lang="zh-CN" altLang="en-GB" smtClean="0"/>
              <a:pPr>
                <a:defRPr/>
              </a:pPr>
              <a:t>3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3376750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方法 即 函数、行为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CD4B01-6C42-4F8D-AD99-0F2ABA2FFF51}" type="slidenum">
              <a:rPr lang="zh-CN" altLang="en-GB" smtClean="0"/>
              <a:pPr>
                <a:defRPr/>
              </a:pPr>
              <a:t>4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5345291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1CD4B01-6C42-4F8D-AD99-0F2ABA2FFF51}" type="slidenum">
              <a:rPr lang="zh-CN" altLang="en-GB" smtClean="0"/>
              <a:pPr>
                <a:defRPr/>
              </a:pPr>
              <a:t>5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069734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A68DB-57C9-4364-6566-C9B8024B8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幻灯片图像占位符 1">
            <a:extLst>
              <a:ext uri="{FF2B5EF4-FFF2-40B4-BE49-F238E27FC236}">
                <a16:creationId xmlns:a16="http://schemas.microsoft.com/office/drawing/2014/main" id="{D34A3F1F-87D9-4480-A106-11A596B7EE7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备注占位符 2">
            <a:extLst>
              <a:ext uri="{FF2B5EF4-FFF2-40B4-BE49-F238E27FC236}">
                <a16:creationId xmlns:a16="http://schemas.microsoft.com/office/drawing/2014/main" id="{F0CD496D-4D04-321E-F4BB-E75D9DE64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79876" name="灯片编号占位符 3">
            <a:extLst>
              <a:ext uri="{FF2B5EF4-FFF2-40B4-BE49-F238E27FC236}">
                <a16:creationId xmlns:a16="http://schemas.microsoft.com/office/drawing/2014/main" id="{105D8743-8262-8B0C-A458-873007E94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4B17990A-CBB6-4728-8EBC-C87786DEC9BE}" type="slidenum">
              <a:rPr lang="zh-CN" altLang="en-GB" sz="1200" smtClean="0"/>
              <a:pPr/>
              <a:t>7</a:t>
            </a:fld>
            <a:endParaRPr lang="en-GB" altLang="zh-CN" sz="1200"/>
          </a:p>
        </p:txBody>
      </p:sp>
    </p:spTree>
    <p:extLst>
      <p:ext uri="{BB962C8B-B14F-4D97-AF65-F5344CB8AC3E}">
        <p14:creationId xmlns:p14="http://schemas.microsoft.com/office/powerpoint/2010/main" val="31072960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zeroExcept.java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CD4B01-6C42-4F8D-AD99-0F2ABA2FFF51}" type="slidenum">
              <a:rPr lang="zh-CN" altLang="en-GB" smtClean="0"/>
              <a:pPr>
                <a:defRPr/>
              </a:pPr>
              <a:t>8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93777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见教材第</a:t>
            </a:r>
            <a:r>
              <a:rPr lang="en-US" altLang="zh-CN" dirty="0"/>
              <a:t>155</a:t>
            </a:r>
            <a:r>
              <a:rPr lang="zh-CN" altLang="en-US" dirty="0"/>
              <a:t>页</a:t>
            </a:r>
            <a:br>
              <a:rPr lang="en-US" altLang="zh-CN" dirty="0"/>
            </a:br>
            <a:r>
              <a:rPr lang="zh-CN" altLang="en-US" dirty="0"/>
              <a:t>可检测异常经编译器验证，对于声明抛出异常的任何方法，编译器将强制执行处理或声明规则。</a:t>
            </a:r>
          </a:p>
          <a:p>
            <a:r>
              <a:rPr lang="zh-CN" altLang="en-US" dirty="0"/>
              <a:t>非检测异常不遵循处理或声明规则。在产生此类异常时，不一定非要采取任何适当操作，编译器不会检查是否已解决这样一个异常。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CD4B01-6C42-4F8D-AD99-0F2ABA2FFF51}" type="slidenum">
              <a:rPr lang="zh-CN" altLang="en-GB" smtClean="0"/>
              <a:pPr>
                <a:defRPr/>
              </a:pPr>
              <a:t>9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066416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5-1</a:t>
            </a:r>
            <a:r>
              <a:rPr lang="zh-CN" altLang="en-US" dirty="0"/>
              <a:t> 非检查型异常：数组越界异常</a:t>
            </a:r>
            <a:r>
              <a:rPr lang="en-US" altLang="zh-CN" dirty="0"/>
              <a:t>     HelloWorld.java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CD4B01-6C42-4F8D-AD99-0F2ABA2FFF51}" type="slidenum">
              <a:rPr lang="zh-CN" altLang="en-GB" smtClean="0"/>
              <a:pPr>
                <a:defRPr/>
              </a:pPr>
              <a:t>10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37537461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CD1AE59-4EB1-4289-81C8-69CEAFF56695}" type="slidenum">
              <a:rPr lang="zh-CN" altLang="en-GB" sz="1200" smtClean="0"/>
              <a:pPr>
                <a:spcBef>
                  <a:spcPct val="0"/>
                </a:spcBef>
              </a:pPr>
              <a:t>11</a:t>
            </a:fld>
            <a:endParaRPr lang="en-GB" altLang="zh-CN" sz="120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36650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ThrowTest.java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CD4B01-6C42-4F8D-AD99-0F2ABA2FFF51}" type="slidenum">
              <a:rPr lang="zh-CN" altLang="en-GB" smtClean="0"/>
              <a:pPr>
                <a:defRPr/>
              </a:pPr>
              <a:t>12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7771207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DD32156-F81B-4A57-BB8A-C9D6A2CC99A2}" type="slidenum">
              <a:rPr lang="zh-CN" altLang="en-GB" sz="1200" smtClean="0"/>
              <a:pPr>
                <a:spcBef>
                  <a:spcPct val="0"/>
                </a:spcBef>
              </a:pPr>
              <a:t>13</a:t>
            </a:fld>
            <a:endParaRPr lang="en-GB" altLang="zh-CN" sz="120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156</a:t>
            </a:r>
            <a:r>
              <a:rPr lang="zh-CN" altLang="en-US" dirty="0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18838923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AFCF7E7-9CCF-4DD4-90D2-42DC8F471A95}" type="slidenum">
              <a:rPr lang="zh-CN" altLang="en-GB" sz="1200" smtClean="0"/>
              <a:pPr>
                <a:spcBef>
                  <a:spcPct val="0"/>
                </a:spcBef>
              </a:pPr>
              <a:t>14</a:t>
            </a:fld>
            <a:endParaRPr lang="en-GB" altLang="zh-CN" sz="120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3541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AFCF7E7-9CCF-4DD4-90D2-42DC8F471A95}" type="slidenum">
              <a:rPr lang="zh-CN" altLang="en-GB" sz="1200" smtClean="0"/>
              <a:pPr>
                <a:spcBef>
                  <a:spcPct val="0"/>
                </a:spcBef>
              </a:pPr>
              <a:t>15</a:t>
            </a:fld>
            <a:endParaRPr lang="en-GB" altLang="zh-CN" sz="120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7243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556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6B181A-F98C-4C44-B80B-005859442B47}" type="slidenum">
              <a:rPr kumimoji="1" lang="zh-CN" alt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556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en-GB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5-2</a:t>
            </a:r>
            <a:r>
              <a:rPr lang="zh-CN" altLang="en-US" dirty="0"/>
              <a:t> 捕获异常</a:t>
            </a:r>
          </a:p>
        </p:txBody>
      </p:sp>
    </p:spTree>
    <p:extLst>
      <p:ext uri="{BB962C8B-B14F-4D97-AF65-F5344CB8AC3E}">
        <p14:creationId xmlns:p14="http://schemas.microsoft.com/office/powerpoint/2010/main" val="17836144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556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6B181A-F98C-4C44-B80B-005859442B47}" type="slidenum">
              <a:rPr kumimoji="1" lang="zh-CN" alt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556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en-GB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453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556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6B181A-F98C-4C44-B80B-005859442B47}" type="slidenum">
              <a:rPr kumimoji="1" lang="zh-CN" alt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556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en-GB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5-2</a:t>
            </a:r>
            <a:r>
              <a:rPr lang="zh-CN" altLang="en-US" dirty="0"/>
              <a:t> 捕获异常（续）</a:t>
            </a:r>
          </a:p>
        </p:txBody>
      </p:sp>
    </p:spTree>
    <p:extLst>
      <p:ext uri="{BB962C8B-B14F-4D97-AF65-F5344CB8AC3E}">
        <p14:creationId xmlns:p14="http://schemas.microsoft.com/office/powerpoint/2010/main" val="2849209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556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6B181A-F98C-4C44-B80B-005859442B47}" type="slidenum">
              <a:rPr kumimoji="1" lang="zh-CN" alt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556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1" lang="en-GB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5-3</a:t>
            </a:r>
            <a:r>
              <a:rPr lang="zh-CN" altLang="en-US" dirty="0"/>
              <a:t> 捕获数值类型异常</a:t>
            </a:r>
          </a:p>
        </p:txBody>
      </p:sp>
    </p:spTree>
    <p:extLst>
      <p:ext uri="{BB962C8B-B14F-4D97-AF65-F5344CB8AC3E}">
        <p14:creationId xmlns:p14="http://schemas.microsoft.com/office/powerpoint/2010/main" val="7078731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556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6B181A-F98C-4C44-B80B-005859442B47}" type="slidenum">
              <a:rPr kumimoji="1" lang="zh-CN" alt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556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1" lang="en-GB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5-4</a:t>
            </a:r>
            <a:r>
              <a:rPr lang="zh-CN" altLang="en-US" dirty="0"/>
              <a:t> 捕获被零除的异常</a:t>
            </a:r>
          </a:p>
        </p:txBody>
      </p:sp>
    </p:spTree>
    <p:extLst>
      <p:ext uri="{BB962C8B-B14F-4D97-AF65-F5344CB8AC3E}">
        <p14:creationId xmlns:p14="http://schemas.microsoft.com/office/powerpoint/2010/main" val="22173780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556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6B181A-F98C-4C44-B80B-005859442B47}" type="slidenum">
              <a:rPr kumimoji="1" lang="zh-CN" alt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556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1" lang="en-GB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5-5</a:t>
            </a:r>
            <a:r>
              <a:rPr lang="zh-CN" altLang="en-US" dirty="0"/>
              <a:t> 可以提示重复输入的程序</a:t>
            </a:r>
          </a:p>
        </p:txBody>
      </p:sp>
    </p:spTree>
    <p:extLst>
      <p:ext uri="{BB962C8B-B14F-4D97-AF65-F5344CB8AC3E}">
        <p14:creationId xmlns:p14="http://schemas.microsoft.com/office/powerpoint/2010/main" val="19751258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556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6B181A-F98C-4C44-B80B-005859442B47}" type="slidenum">
              <a:rPr kumimoji="1" lang="zh-CN" alt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556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1" lang="en-GB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5-5</a:t>
            </a:r>
            <a:r>
              <a:rPr lang="zh-CN" altLang="en-US" dirty="0"/>
              <a:t> 可以提示重复输入的程序（续）</a:t>
            </a:r>
          </a:p>
        </p:txBody>
      </p:sp>
    </p:spTree>
    <p:extLst>
      <p:ext uri="{BB962C8B-B14F-4D97-AF65-F5344CB8AC3E}">
        <p14:creationId xmlns:p14="http://schemas.microsoft.com/office/powerpoint/2010/main" val="37415679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DFB6D-6049-5511-F3E9-E70363B26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31531554-0239-63C0-7A6A-2DE0A648FF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556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6B181A-F98C-4C44-B80B-005859442B47}" type="slidenum">
              <a:rPr kumimoji="1" lang="zh-CN" alt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556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1" lang="en-GB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FD4D96DF-EB2F-03B7-D8A6-0CD222D50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7AA9091B-6BB4-E611-0B39-3D5C7469A1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5-5</a:t>
            </a:r>
            <a:r>
              <a:rPr lang="zh-CN" altLang="en-US" dirty="0"/>
              <a:t> 可以提示重复输入的程序（续）</a:t>
            </a:r>
          </a:p>
        </p:txBody>
      </p:sp>
    </p:spTree>
    <p:extLst>
      <p:ext uri="{BB962C8B-B14F-4D97-AF65-F5344CB8AC3E}">
        <p14:creationId xmlns:p14="http://schemas.microsoft.com/office/powerpoint/2010/main" val="42382914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E64F73D-2A1A-4636-ACD7-BC4DAAF18537}" type="slidenum">
              <a:rPr lang="zh-CN" altLang="en-GB" sz="1200" smtClean="0"/>
              <a:pPr>
                <a:spcBef>
                  <a:spcPct val="0"/>
                </a:spcBef>
              </a:pPr>
              <a:t>24</a:t>
            </a:fld>
            <a:endParaRPr lang="en-GB" altLang="zh-CN" sz="120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53994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36B181A-F98C-4C44-B80B-005859442B47}" type="slidenum">
              <a:rPr lang="zh-CN" altLang="en-GB" sz="1200" smtClean="0"/>
              <a:pPr>
                <a:spcBef>
                  <a:spcPct val="0"/>
                </a:spcBef>
              </a:pPr>
              <a:t>25</a:t>
            </a:fld>
            <a:endParaRPr lang="en-GB" altLang="zh-CN" sz="1200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5-6</a:t>
            </a:r>
            <a:r>
              <a:rPr lang="zh-CN" altLang="en-US" dirty="0"/>
              <a:t> 生成异常对象</a:t>
            </a:r>
          </a:p>
        </p:txBody>
      </p:sp>
    </p:spTree>
    <p:extLst>
      <p:ext uri="{BB962C8B-B14F-4D97-AF65-F5344CB8AC3E}">
        <p14:creationId xmlns:p14="http://schemas.microsoft.com/office/powerpoint/2010/main" val="38298035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556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6B181A-F98C-4C44-B80B-005859442B47}" type="slidenum">
              <a:rPr kumimoji="1" lang="zh-CN" alt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556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1" lang="en-GB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5-7</a:t>
            </a:r>
            <a:r>
              <a:rPr lang="zh-CN" altLang="en-US" dirty="0"/>
              <a:t> 自定义异常类</a:t>
            </a:r>
          </a:p>
        </p:txBody>
      </p:sp>
    </p:spTree>
    <p:extLst>
      <p:ext uri="{BB962C8B-B14F-4D97-AF65-F5344CB8AC3E}">
        <p14:creationId xmlns:p14="http://schemas.microsoft.com/office/powerpoint/2010/main" val="27336465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556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36B181A-F98C-4C44-B80B-005859442B47}" type="slidenum">
              <a:rPr kumimoji="1" lang="zh-CN" alt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556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1" lang="en-GB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5-7</a:t>
            </a:r>
            <a:r>
              <a:rPr lang="zh-CN" altLang="en-US" dirty="0"/>
              <a:t> 自定义异常类（续）</a:t>
            </a:r>
          </a:p>
        </p:txBody>
      </p:sp>
    </p:spTree>
    <p:extLst>
      <p:ext uri="{BB962C8B-B14F-4D97-AF65-F5344CB8AC3E}">
        <p14:creationId xmlns:p14="http://schemas.microsoft.com/office/powerpoint/2010/main" val="1219298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8814E2F-4F71-4AF3-8FC7-722B30B564C4}" type="slidenum">
              <a:rPr lang="zh-CN" altLang="en-GB" sz="1300" smtClean="0"/>
              <a:pPr>
                <a:spcBef>
                  <a:spcPct val="0"/>
                </a:spcBef>
              </a:pPr>
              <a:t>30</a:t>
            </a:fld>
            <a:endParaRPr lang="en-GB" altLang="zh-CN" sz="130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229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051232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569C29F-3116-44D2-9ADF-BDD0DADB4515}" type="slidenum">
              <a:rPr lang="zh-CN" altLang="en-GB" sz="1300" smtClean="0"/>
              <a:pPr>
                <a:spcBef>
                  <a:spcPct val="0"/>
                </a:spcBef>
              </a:pPr>
              <a:t>31</a:t>
            </a:fld>
            <a:endParaRPr lang="en-GB" altLang="zh-CN" sz="130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2048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4411259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82AA098-C081-4F23-8304-EE9F5931544C}" type="slidenum">
              <a:rPr lang="zh-CN" altLang="en-GB" sz="1300" smtClean="0"/>
              <a:pPr>
                <a:spcBef>
                  <a:spcPct val="0"/>
                </a:spcBef>
              </a:pPr>
              <a:t>32</a:t>
            </a:fld>
            <a:endParaRPr lang="en-GB" altLang="zh-CN" sz="13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2253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266560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72D0BB3-4150-464F-B471-56E888915131}" type="slidenum">
              <a:rPr lang="zh-CN" altLang="en-GB" sz="1300" smtClean="0"/>
              <a:pPr>
                <a:spcBef>
                  <a:spcPct val="0"/>
                </a:spcBef>
              </a:pPr>
              <a:t>33</a:t>
            </a:fld>
            <a:endParaRPr lang="en-GB" altLang="zh-CN" sz="13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2458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5956367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28A87AA-C4E2-4945-8341-F35AA55BA610}" type="slidenum">
              <a:rPr lang="zh-CN" altLang="en-GB" sz="1300" smtClean="0"/>
              <a:pPr>
                <a:spcBef>
                  <a:spcPct val="0"/>
                </a:spcBef>
              </a:pPr>
              <a:t>34</a:t>
            </a:fld>
            <a:endParaRPr lang="en-GB" altLang="zh-CN" sz="130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6301668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E22FDF5-5163-4AE1-A8BA-9E37802D6304}" type="slidenum">
              <a:rPr lang="zh-CN" altLang="en-GB" sz="1300" smtClean="0"/>
              <a:pPr>
                <a:spcBef>
                  <a:spcPct val="0"/>
                </a:spcBef>
              </a:pPr>
              <a:t>35</a:t>
            </a:fld>
            <a:endParaRPr lang="en-GB" altLang="zh-CN" sz="130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3072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40001815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E5E8342-CA26-4FE4-B625-9C6C2398E663}" type="slidenum">
              <a:rPr lang="zh-CN" altLang="en-GB" sz="1300" smtClean="0"/>
              <a:pPr>
                <a:spcBef>
                  <a:spcPct val="0"/>
                </a:spcBef>
              </a:pPr>
              <a:t>36</a:t>
            </a:fld>
            <a:endParaRPr lang="en-GB" altLang="zh-CN" sz="13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2137701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BE216ED-70FF-4DB0-84FF-14BE0FB11F7F}" type="slidenum">
              <a:rPr lang="zh-CN" altLang="en-GB" sz="1300" smtClean="0"/>
              <a:pPr>
                <a:spcBef>
                  <a:spcPct val="0"/>
                </a:spcBef>
              </a:pPr>
              <a:t>37</a:t>
            </a:fld>
            <a:endParaRPr lang="en-GB" altLang="zh-CN" sz="130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9398527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5F05C-2388-B2C0-DE4D-B9BB36862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8868ED1B-33C0-6BF4-2CCB-688D42ACFD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BE216ED-70FF-4DB0-84FF-14BE0FB11F7F}" type="slidenum">
              <a:rPr lang="zh-CN" altLang="en-GB" sz="1300" smtClean="0"/>
              <a:pPr>
                <a:spcBef>
                  <a:spcPct val="0"/>
                </a:spcBef>
              </a:pPr>
              <a:t>38</a:t>
            </a:fld>
            <a:endParaRPr lang="en-GB" altLang="zh-CN" sz="13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90E36DC3-B5A2-9237-9DFF-8E5D477093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B7C25AF4-4BF1-F03C-2553-3524EB47C3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40041023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EA0251F-D6D9-4B80-B30C-3E74D93ED422}" type="slidenum">
              <a:rPr lang="zh-CN" altLang="en-GB" sz="1300" smtClean="0"/>
              <a:pPr>
                <a:spcBef>
                  <a:spcPct val="0"/>
                </a:spcBef>
              </a:pPr>
              <a:t>39</a:t>
            </a:fld>
            <a:endParaRPr lang="en-GB" altLang="zh-CN" sz="13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2967293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556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370C15-C1CF-4204-926A-5C952DC2C783}" type="slidenum">
              <a:rPr kumimoji="1" lang="zh-CN" altLang="en-GB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556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1" lang="en-GB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</a:t>
            </a:r>
            <a:r>
              <a:rPr lang="en-US" altLang="zh-CN" sz="1800" dirty="0"/>
              <a:t>5-8 </a:t>
            </a:r>
            <a:r>
              <a:rPr lang="zh-CN" altLang="en-US" sz="1800" dirty="0"/>
              <a:t>从键盘读入信息并显示</a:t>
            </a:r>
          </a:p>
        </p:txBody>
      </p:sp>
    </p:spTree>
    <p:extLst>
      <p:ext uri="{BB962C8B-B14F-4D97-AF65-F5344CB8AC3E}">
        <p14:creationId xmlns:p14="http://schemas.microsoft.com/office/powerpoint/2010/main" val="19871699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556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370C15-C1CF-4204-926A-5C952DC2C783}" type="slidenum">
              <a:rPr kumimoji="1" lang="zh-CN" altLang="en-GB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556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1" lang="en-GB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</a:t>
            </a:r>
            <a:r>
              <a:rPr lang="en-US" altLang="zh-CN" sz="1800" dirty="0"/>
              <a:t>5-9</a:t>
            </a:r>
            <a:r>
              <a:rPr lang="zh-CN" altLang="en-US" sz="1800" dirty="0"/>
              <a:t> 使用</a:t>
            </a:r>
            <a:r>
              <a:rPr lang="en-US" altLang="zh-CN" sz="1800" dirty="0"/>
              <a:t>finally</a:t>
            </a:r>
            <a:r>
              <a:rPr lang="zh-CN" altLang="en-US" sz="1800" dirty="0"/>
              <a:t>语句关闭资源</a:t>
            </a:r>
          </a:p>
        </p:txBody>
      </p:sp>
    </p:spTree>
    <p:extLst>
      <p:ext uri="{BB962C8B-B14F-4D97-AF65-F5344CB8AC3E}">
        <p14:creationId xmlns:p14="http://schemas.microsoft.com/office/powerpoint/2010/main" val="399546325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556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370C15-C1CF-4204-926A-5C952DC2C783}" type="slidenum">
              <a:rPr kumimoji="1" lang="zh-CN" altLang="en-GB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pPr marL="0" marR="0" lvl="0" indent="0" algn="r" defTabSz="9556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1" lang="en-GB" altLang="zh-CN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400" dirty="0"/>
              <a:t>例</a:t>
            </a:r>
            <a:r>
              <a:rPr lang="en-US" altLang="zh-CN" sz="1400" dirty="0"/>
              <a:t>5-10</a:t>
            </a:r>
            <a:r>
              <a:rPr lang="zh-CN" altLang="en-US" sz="1400" dirty="0"/>
              <a:t> </a:t>
            </a:r>
            <a:r>
              <a:rPr lang="en-US" altLang="zh-CN" sz="1800" dirty="0"/>
              <a:t>try-with-resources</a:t>
            </a:r>
            <a:r>
              <a:rPr lang="zh-CN" altLang="en-US" sz="1800" dirty="0"/>
              <a:t>关闭资源</a:t>
            </a:r>
          </a:p>
        </p:txBody>
      </p:sp>
    </p:spTree>
    <p:extLst>
      <p:ext uri="{BB962C8B-B14F-4D97-AF65-F5344CB8AC3E}">
        <p14:creationId xmlns:p14="http://schemas.microsoft.com/office/powerpoint/2010/main" val="216129547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8D36893-0604-40E8-9988-2933C1A8C685}" type="slidenum">
              <a:rPr lang="zh-CN" altLang="en-GB" sz="1300" smtClean="0"/>
              <a:pPr>
                <a:spcBef>
                  <a:spcPct val="0"/>
                </a:spcBef>
              </a:pPr>
              <a:t>43</a:t>
            </a:fld>
            <a:endParaRPr lang="en-GB" altLang="zh-CN" sz="1300"/>
          </a:p>
        </p:txBody>
      </p:sp>
    </p:spTree>
    <p:extLst>
      <p:ext uri="{BB962C8B-B14F-4D97-AF65-F5344CB8AC3E}">
        <p14:creationId xmlns:p14="http://schemas.microsoft.com/office/powerpoint/2010/main" val="143468028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0370C15-C1CF-4204-926A-5C952DC2C783}" type="slidenum">
              <a:rPr lang="zh-CN" altLang="en-GB" sz="1300" smtClean="0"/>
              <a:pPr>
                <a:spcBef>
                  <a:spcPct val="0"/>
                </a:spcBef>
              </a:pPr>
              <a:t>45</a:t>
            </a:fld>
            <a:endParaRPr lang="en-GB" altLang="zh-CN" sz="130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例：标准输入</a:t>
            </a:r>
            <a:r>
              <a:rPr lang="en-US" altLang="zh-CN" sz="1800" dirty="0"/>
              <a:t>/</a:t>
            </a:r>
            <a:r>
              <a:rPr lang="zh-CN" altLang="en-US" sz="1800" dirty="0"/>
              <a:t>输出重定向（复制文件）</a:t>
            </a:r>
          </a:p>
        </p:txBody>
      </p:sp>
    </p:spTree>
    <p:extLst>
      <p:ext uri="{BB962C8B-B14F-4D97-AF65-F5344CB8AC3E}">
        <p14:creationId xmlns:p14="http://schemas.microsoft.com/office/powerpoint/2010/main" val="146659631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67F634A-4516-41B7-80BA-19FD6A5DFD72}" type="slidenum">
              <a:rPr lang="zh-CN" altLang="en-GB" sz="1300" smtClean="0"/>
              <a:pPr>
                <a:spcBef>
                  <a:spcPct val="0"/>
                </a:spcBef>
              </a:pPr>
              <a:t>46</a:t>
            </a:fld>
            <a:endParaRPr lang="en-GB" altLang="zh-CN" sz="130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1877784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BFCDB1D-AEF5-4597-8F7E-3BDF2185493B}" type="slidenum">
              <a:rPr lang="zh-CN" altLang="en-GB" sz="1300" smtClean="0"/>
              <a:pPr>
                <a:spcBef>
                  <a:spcPct val="0"/>
                </a:spcBef>
              </a:pPr>
              <a:t>47</a:t>
            </a:fld>
            <a:endParaRPr lang="en-GB" altLang="zh-CN" sz="13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</a:t>
            </a:r>
            <a:r>
              <a:rPr lang="en-US" altLang="zh-CN" sz="1800" dirty="0"/>
              <a:t>5-11</a:t>
            </a:r>
            <a:r>
              <a:rPr lang="zh-CN" altLang="en-US" sz="1800" dirty="0"/>
              <a:t> 创建文件并写入文本</a:t>
            </a:r>
          </a:p>
        </p:txBody>
      </p:sp>
    </p:spTree>
    <p:extLst>
      <p:ext uri="{BB962C8B-B14F-4D97-AF65-F5344CB8AC3E}">
        <p14:creationId xmlns:p14="http://schemas.microsoft.com/office/powerpoint/2010/main" val="369508130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D2C37D3-4773-498A-AD70-E6EF09A45F4C}" type="slidenum">
              <a:rPr lang="zh-CN" altLang="en-GB" sz="1300" smtClean="0"/>
              <a:pPr>
                <a:spcBef>
                  <a:spcPct val="0"/>
                </a:spcBef>
              </a:pPr>
              <a:t>48</a:t>
            </a:fld>
            <a:endParaRPr lang="en-GB" altLang="zh-CN" sz="13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</a:t>
            </a:r>
            <a:r>
              <a:rPr lang="en-US" altLang="zh-CN" sz="1800" dirty="0"/>
              <a:t>5-11</a:t>
            </a:r>
            <a:r>
              <a:rPr lang="zh-CN" altLang="en-US" sz="1800" dirty="0"/>
              <a:t> 创建文件并写入文本（续）</a:t>
            </a:r>
          </a:p>
        </p:txBody>
      </p:sp>
    </p:spTree>
    <p:extLst>
      <p:ext uri="{BB962C8B-B14F-4D97-AF65-F5344CB8AC3E}">
        <p14:creationId xmlns:p14="http://schemas.microsoft.com/office/powerpoint/2010/main" val="45916096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373B340-BCA8-4E41-A34B-DF1AD31AFCFC}" type="slidenum">
              <a:rPr lang="zh-CN" altLang="en-GB" sz="1300" smtClean="0"/>
              <a:pPr>
                <a:spcBef>
                  <a:spcPct val="0"/>
                </a:spcBef>
              </a:pPr>
              <a:t>49</a:t>
            </a:fld>
            <a:endParaRPr lang="en-GB" altLang="zh-CN" sz="130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</a:t>
            </a:r>
            <a:r>
              <a:rPr lang="en-US" altLang="zh-CN" sz="1800" dirty="0"/>
              <a:t>5-12</a:t>
            </a:r>
            <a:r>
              <a:rPr lang="zh-CN" altLang="en-US" sz="1800" dirty="0"/>
              <a:t> 写入文本处理</a:t>
            </a:r>
            <a:r>
              <a:rPr lang="en-US" altLang="zh-CN" sz="1800" dirty="0"/>
              <a:t>IO</a:t>
            </a:r>
            <a:r>
              <a:rPr lang="zh-CN" altLang="en-US" sz="1800" dirty="0"/>
              <a:t>异常</a:t>
            </a:r>
          </a:p>
        </p:txBody>
      </p:sp>
    </p:spTree>
    <p:extLst>
      <p:ext uri="{BB962C8B-B14F-4D97-AF65-F5344CB8AC3E}">
        <p14:creationId xmlns:p14="http://schemas.microsoft.com/office/powerpoint/2010/main" val="370507101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2E2A150-210C-44A8-B36B-243A4BD05561}" type="slidenum">
              <a:rPr lang="zh-CN" altLang="en-GB" sz="1300" smtClean="0"/>
              <a:pPr>
                <a:spcBef>
                  <a:spcPct val="0"/>
                </a:spcBef>
              </a:pPr>
              <a:t>50</a:t>
            </a:fld>
            <a:endParaRPr lang="en-GB" altLang="zh-CN" sz="130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</a:t>
            </a:r>
            <a:r>
              <a:rPr lang="en-US" altLang="zh-CN" sz="1800" dirty="0"/>
              <a:t>5-12</a:t>
            </a:r>
            <a:r>
              <a:rPr lang="zh-CN" altLang="en-US" sz="1800" dirty="0"/>
              <a:t> 写入文本处理</a:t>
            </a:r>
            <a:r>
              <a:rPr lang="en-US" altLang="zh-CN" sz="1800" dirty="0"/>
              <a:t>IO</a:t>
            </a:r>
            <a:r>
              <a:rPr lang="zh-CN" altLang="en-US" sz="1800" dirty="0"/>
              <a:t>异常（续）</a:t>
            </a:r>
          </a:p>
        </p:txBody>
      </p:sp>
    </p:spTree>
    <p:extLst>
      <p:ext uri="{BB962C8B-B14F-4D97-AF65-F5344CB8AC3E}">
        <p14:creationId xmlns:p14="http://schemas.microsoft.com/office/powerpoint/2010/main" val="360561129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CA41181-7D93-480C-83E5-BF7996A967ED}" type="slidenum">
              <a:rPr lang="zh-CN" altLang="en-GB" sz="1300" smtClean="0"/>
              <a:pPr>
                <a:spcBef>
                  <a:spcPct val="0"/>
                </a:spcBef>
              </a:pPr>
              <a:t>51</a:t>
            </a:fld>
            <a:endParaRPr lang="en-GB" altLang="zh-CN" sz="13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57338" y="7227888"/>
            <a:ext cx="3957637" cy="2227262"/>
          </a:xfrm>
          <a:ln/>
        </p:spPr>
      </p:sp>
      <p:sp>
        <p:nvSpPr>
          <p:cNvPr id="7168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92988709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4F00EC2-6830-4D8C-BCF8-ED5098CD2159}" type="slidenum">
              <a:rPr lang="zh-CN" altLang="en-GB" sz="1300" smtClean="0"/>
              <a:pPr>
                <a:spcBef>
                  <a:spcPct val="0"/>
                </a:spcBef>
              </a:pPr>
              <a:t>52</a:t>
            </a:fld>
            <a:endParaRPr lang="en-GB" altLang="zh-CN" sz="130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</a:t>
            </a:r>
            <a:r>
              <a:rPr lang="en-US" altLang="zh-CN" sz="1800" dirty="0"/>
              <a:t>5-13</a:t>
            </a:r>
            <a:r>
              <a:rPr lang="zh-CN" altLang="en-US" sz="1800" dirty="0"/>
              <a:t> 写入文本用</a:t>
            </a:r>
            <a:r>
              <a:rPr lang="en-US" altLang="zh-CN" sz="1800" dirty="0" err="1"/>
              <a:t>BufferedWriter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42096389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80783FF-D12D-45C8-AE27-F752023E2013}" type="slidenum">
              <a:rPr lang="zh-CN" altLang="en-GB" sz="1300" smtClean="0"/>
              <a:pPr>
                <a:spcBef>
                  <a:spcPct val="0"/>
                </a:spcBef>
              </a:pPr>
              <a:t>53</a:t>
            </a:fld>
            <a:endParaRPr lang="en-GB" altLang="zh-CN" sz="130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</a:t>
            </a:r>
            <a:r>
              <a:rPr lang="en-US" altLang="zh-CN" sz="1800" dirty="0"/>
              <a:t>5-13</a:t>
            </a:r>
            <a:r>
              <a:rPr lang="zh-CN" altLang="en-US" sz="1800" dirty="0"/>
              <a:t> 写入文本用</a:t>
            </a:r>
            <a:r>
              <a:rPr lang="en-US" altLang="zh-CN" sz="1800" dirty="0" err="1"/>
              <a:t>BufferedWriter</a:t>
            </a:r>
            <a:r>
              <a:rPr lang="zh-CN" altLang="en-US" sz="1800" dirty="0"/>
              <a:t>（续）</a:t>
            </a:r>
          </a:p>
        </p:txBody>
      </p:sp>
    </p:spTree>
    <p:extLst>
      <p:ext uri="{BB962C8B-B14F-4D97-AF65-F5344CB8AC3E}">
        <p14:creationId xmlns:p14="http://schemas.microsoft.com/office/powerpoint/2010/main" val="8381185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87EF7D4-56A6-4BF7-B1C1-E8824A302181}" type="slidenum">
              <a:rPr lang="zh-CN" altLang="en-GB" sz="1300" smtClean="0"/>
              <a:pPr>
                <a:spcBef>
                  <a:spcPct val="0"/>
                </a:spcBef>
              </a:pPr>
              <a:t>54</a:t>
            </a:fld>
            <a:endParaRPr lang="en-GB" altLang="zh-CN" sz="13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41253947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441AC9C-7C6F-4CF9-94DD-B56D6E8871D8}" type="slidenum">
              <a:rPr lang="zh-CN" altLang="en-GB" sz="1300" smtClean="0"/>
              <a:pPr>
                <a:spcBef>
                  <a:spcPct val="0"/>
                </a:spcBef>
              </a:pPr>
              <a:t>55</a:t>
            </a:fld>
            <a:endParaRPr lang="en-GB" altLang="zh-CN" sz="13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</a:t>
            </a:r>
            <a:r>
              <a:rPr lang="en-US" altLang="zh-CN" sz="1800" dirty="0"/>
              <a:t>5-14</a:t>
            </a:r>
            <a:r>
              <a:rPr lang="zh-CN" altLang="en-US" sz="1800" dirty="0"/>
              <a:t> 读文本文件并显示</a:t>
            </a:r>
          </a:p>
        </p:txBody>
      </p:sp>
    </p:spTree>
    <p:extLst>
      <p:ext uri="{BB962C8B-B14F-4D97-AF65-F5344CB8AC3E}">
        <p14:creationId xmlns:p14="http://schemas.microsoft.com/office/powerpoint/2010/main" val="23777002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BDE7932-67D4-4A47-8217-9B6678375026}" type="slidenum">
              <a:rPr lang="zh-CN" altLang="en-GB" sz="1300" smtClean="0"/>
              <a:pPr>
                <a:spcBef>
                  <a:spcPct val="0"/>
                </a:spcBef>
              </a:pPr>
              <a:t>56</a:t>
            </a:fld>
            <a:endParaRPr lang="en-GB" altLang="zh-CN" sz="130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</a:t>
            </a:r>
            <a:r>
              <a:rPr lang="en-US" altLang="zh-CN" sz="1800" dirty="0"/>
              <a:t>5-14</a:t>
            </a:r>
            <a:r>
              <a:rPr lang="zh-CN" altLang="en-US" sz="1800" dirty="0"/>
              <a:t> 读文本文件并显示（续）</a:t>
            </a:r>
          </a:p>
        </p:txBody>
      </p:sp>
    </p:spTree>
    <p:extLst>
      <p:ext uri="{BB962C8B-B14F-4D97-AF65-F5344CB8AC3E}">
        <p14:creationId xmlns:p14="http://schemas.microsoft.com/office/powerpoint/2010/main" val="123344251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00B2BD7-D357-4B27-95E6-D6F91E4B933F}" type="slidenum">
              <a:rPr lang="zh-CN" altLang="en-GB" sz="1300" smtClean="0"/>
              <a:pPr>
                <a:spcBef>
                  <a:spcPct val="0"/>
                </a:spcBef>
              </a:pPr>
              <a:t>57</a:t>
            </a:fld>
            <a:endParaRPr lang="en-GB" altLang="zh-CN" sz="130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57338" y="7227888"/>
            <a:ext cx="3957637" cy="2227262"/>
          </a:xfrm>
          <a:ln/>
        </p:spPr>
      </p:sp>
      <p:sp>
        <p:nvSpPr>
          <p:cNvPr id="8806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</a:t>
            </a:r>
            <a:r>
              <a:rPr lang="en-US" altLang="zh-CN" sz="1800" dirty="0"/>
              <a:t>5-15</a:t>
            </a:r>
            <a:r>
              <a:rPr lang="zh-CN" altLang="en-US" sz="1800" dirty="0"/>
              <a:t> 文件复制</a:t>
            </a:r>
          </a:p>
        </p:txBody>
      </p:sp>
    </p:spTree>
    <p:extLst>
      <p:ext uri="{BB962C8B-B14F-4D97-AF65-F5344CB8AC3E}">
        <p14:creationId xmlns:p14="http://schemas.microsoft.com/office/powerpoint/2010/main" val="106476795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例</a:t>
            </a:r>
            <a:r>
              <a:rPr lang="en-US" altLang="zh-CN" sz="1200" dirty="0"/>
              <a:t>5-15</a:t>
            </a:r>
            <a:r>
              <a:rPr lang="zh-CN" altLang="en-US" sz="1200" dirty="0"/>
              <a:t> 文件复制（续）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CD4B01-6C42-4F8D-AD99-0F2ABA2FFF51}" type="slidenum">
              <a:rPr lang="zh-CN" altLang="en-GB" smtClean="0"/>
              <a:pPr>
                <a:defRPr/>
              </a:pPr>
              <a:t>58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89201637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17C8403-C3F9-4968-B03B-11492617CE69}" type="slidenum">
              <a:rPr lang="zh-CN" altLang="en-GB" sz="1300" smtClean="0"/>
              <a:pPr>
                <a:spcBef>
                  <a:spcPct val="0"/>
                </a:spcBef>
              </a:pPr>
              <a:t>59</a:t>
            </a:fld>
            <a:endParaRPr lang="en-GB" altLang="zh-CN" sz="13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</a:t>
            </a:r>
            <a:r>
              <a:rPr lang="en-US" altLang="zh-CN" sz="1800" dirty="0"/>
              <a:t>5-15</a:t>
            </a:r>
            <a:r>
              <a:rPr lang="zh-CN" altLang="en-US" sz="1800" dirty="0"/>
              <a:t> 文件复制（续）</a:t>
            </a:r>
          </a:p>
        </p:txBody>
      </p:sp>
    </p:spTree>
    <p:extLst>
      <p:ext uri="{BB962C8B-B14F-4D97-AF65-F5344CB8AC3E}">
        <p14:creationId xmlns:p14="http://schemas.microsoft.com/office/powerpoint/2010/main" val="90424734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1D565F9-BD0B-4F84-A513-D1E47F6E3C4D}" type="slidenum">
              <a:rPr lang="zh-CN" altLang="en-GB" sz="1300" smtClean="0"/>
              <a:pPr>
                <a:spcBef>
                  <a:spcPct val="0"/>
                </a:spcBef>
              </a:pPr>
              <a:t>60</a:t>
            </a:fld>
            <a:endParaRPr lang="en-GB" altLang="zh-CN" sz="13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87440581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681EC3B-9172-4C85-83EF-3169DE60711D}" type="slidenum">
              <a:rPr lang="zh-CN" altLang="en-GB" sz="1300" smtClean="0"/>
              <a:pPr>
                <a:spcBef>
                  <a:spcPct val="0"/>
                </a:spcBef>
              </a:pPr>
              <a:t>61</a:t>
            </a:fld>
            <a:endParaRPr lang="en-GB" altLang="zh-CN" sz="130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29198300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64A2DB2-76FE-42E7-8524-D425DE357A6B}" type="slidenum">
              <a:rPr lang="zh-CN" altLang="en-GB" sz="1300" smtClean="0"/>
              <a:pPr>
                <a:spcBef>
                  <a:spcPct val="0"/>
                </a:spcBef>
              </a:pPr>
              <a:t>62</a:t>
            </a:fld>
            <a:endParaRPr lang="en-GB" altLang="zh-CN" sz="13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83907996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9D668AB-7A3F-4FB3-B9E9-0BED5863F689}" type="slidenum">
              <a:rPr lang="zh-CN" altLang="en-GB" sz="1300" smtClean="0"/>
              <a:pPr>
                <a:spcBef>
                  <a:spcPct val="0"/>
                </a:spcBef>
              </a:pPr>
              <a:t>63</a:t>
            </a:fld>
            <a:endParaRPr lang="en-GB" altLang="zh-CN" sz="130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</a:t>
            </a:r>
            <a:r>
              <a:rPr lang="en-US" altLang="zh-CN" sz="1800" dirty="0"/>
              <a:t>5-15</a:t>
            </a:r>
            <a:r>
              <a:rPr lang="zh-CN" altLang="en-US" sz="1800" dirty="0"/>
              <a:t> 文件复制（续）</a:t>
            </a:r>
          </a:p>
        </p:txBody>
      </p:sp>
    </p:spTree>
    <p:extLst>
      <p:ext uri="{BB962C8B-B14F-4D97-AF65-F5344CB8AC3E}">
        <p14:creationId xmlns:p14="http://schemas.microsoft.com/office/powerpoint/2010/main" val="68997578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5E2BD96-009B-4695-A2F8-7BE8E3B18E91}" type="slidenum">
              <a:rPr lang="zh-CN" altLang="en-GB" sz="1300" smtClean="0"/>
              <a:pPr>
                <a:spcBef>
                  <a:spcPct val="0"/>
                </a:spcBef>
              </a:pPr>
              <a:t>64</a:t>
            </a:fld>
            <a:endParaRPr lang="en-GB" altLang="zh-CN" sz="130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为什么需要二进制文件</a:t>
            </a:r>
            <a:r>
              <a:rPr lang="en-US" altLang="zh-CN" sz="1800" dirty="0"/>
              <a:t>?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78210060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2495924-E721-4B79-9B78-1CC1132F53C3}" type="slidenum">
              <a:rPr lang="zh-CN" altLang="en-GB" sz="1300" smtClean="0"/>
              <a:pPr>
                <a:spcBef>
                  <a:spcPct val="0"/>
                </a:spcBef>
              </a:pPr>
              <a:t>65</a:t>
            </a:fld>
            <a:endParaRPr lang="en-GB" altLang="zh-CN" sz="1300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57338" y="7227888"/>
            <a:ext cx="3957637" cy="2227262"/>
          </a:xfrm>
          <a:ln/>
        </p:spPr>
      </p:sp>
      <p:sp>
        <p:nvSpPr>
          <p:cNvPr id="10957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抽象类</a:t>
            </a:r>
            <a:r>
              <a:rPr lang="en-US" altLang="zh-CN" sz="1800" dirty="0" err="1"/>
              <a:t>OutputStream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01969560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28917D1-EE37-44BB-9E98-4C0B60439E6C}" type="slidenum">
              <a:rPr lang="zh-CN" altLang="en-GB" sz="1300" smtClean="0"/>
              <a:pPr>
                <a:spcBef>
                  <a:spcPct val="0"/>
                </a:spcBef>
              </a:pPr>
              <a:t>66</a:t>
            </a:fld>
            <a:endParaRPr lang="en-GB" altLang="zh-CN" sz="1300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00394745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D6656DC-4E79-4D00-9D95-8B3B3FEFBBBF}" type="slidenum">
              <a:rPr lang="zh-CN" altLang="en-GB" sz="1300" smtClean="0"/>
              <a:pPr>
                <a:spcBef>
                  <a:spcPct val="0"/>
                </a:spcBef>
              </a:pPr>
              <a:t>67</a:t>
            </a:fld>
            <a:endParaRPr lang="en-GB" altLang="zh-CN" sz="130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13836586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6FEDE5D-D688-4656-988E-30C21B90939E}" type="slidenum">
              <a:rPr lang="zh-CN" altLang="en-GB" sz="1300" smtClean="0"/>
              <a:pPr>
                <a:spcBef>
                  <a:spcPct val="0"/>
                </a:spcBef>
              </a:pPr>
              <a:t>68</a:t>
            </a:fld>
            <a:endParaRPr lang="en-GB" altLang="zh-CN" sz="1300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57338" y="7227888"/>
            <a:ext cx="3957637" cy="2227262"/>
          </a:xfrm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785813"/>
            <a:ext cx="6489700" cy="61674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dirty="0"/>
              <a:t>例</a:t>
            </a:r>
            <a:r>
              <a:rPr lang="en-US" altLang="zh-CN" sz="1800" dirty="0"/>
              <a:t>5-16  </a:t>
            </a:r>
            <a:r>
              <a:rPr lang="zh-CN" altLang="en-US" sz="1800" dirty="0"/>
              <a:t>用</a:t>
            </a:r>
            <a:r>
              <a:rPr lang="en-US" altLang="zh-CN" sz="1800" dirty="0" err="1"/>
              <a:t>DataOutputStream</a:t>
            </a:r>
            <a:r>
              <a:rPr lang="zh-CN" altLang="en-US" sz="1800" dirty="0"/>
              <a:t>流对象将</a:t>
            </a:r>
            <a:r>
              <a:rPr lang="en-US" altLang="zh-CN" sz="1800" dirty="0"/>
              <a:t>int</a:t>
            </a:r>
            <a:r>
              <a:rPr lang="zh-CN" altLang="en-US" sz="1800" dirty="0"/>
              <a:t>数据写入二进制文件。</a:t>
            </a:r>
            <a:endParaRPr lang="en-US" altLang="zh-CN" sz="1800" dirty="0"/>
          </a:p>
          <a:p>
            <a:pPr eaLnBrk="1" hangingPunct="1"/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2177680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3CCD160-19BA-4597-A9F1-4AB980DD04FA}" type="slidenum">
              <a:rPr lang="zh-CN" altLang="en-GB" sz="1300" smtClean="0"/>
              <a:pPr>
                <a:spcBef>
                  <a:spcPct val="0"/>
                </a:spcBef>
              </a:pPr>
              <a:t>69</a:t>
            </a:fld>
            <a:endParaRPr lang="en-GB" altLang="zh-CN" sz="1300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sz="1800"/>
              <a:t>UltraEdit-32</a:t>
            </a:r>
            <a:r>
              <a:rPr lang="zh-CN" altLang="en-US" sz="1800"/>
              <a:t>是一套极棒的文字、</a:t>
            </a:r>
            <a:r>
              <a:rPr lang="en-US" altLang="zh-CN" sz="1800"/>
              <a:t>Hex</a:t>
            </a:r>
            <a:r>
              <a:rPr lang="zh-CN" altLang="en-US" sz="1800"/>
              <a:t>、</a:t>
            </a:r>
            <a:r>
              <a:rPr lang="en-US" altLang="zh-CN" sz="1800"/>
              <a:t>ASCII</a:t>
            </a:r>
            <a:r>
              <a:rPr lang="zh-CN" altLang="en-US" sz="1800"/>
              <a:t>码编辑器，可以取代记事本，内建英文单字检查、</a:t>
            </a:r>
            <a:r>
              <a:rPr lang="en-US" altLang="zh-CN" sz="1800"/>
              <a:t>C++</a:t>
            </a:r>
            <a:r>
              <a:rPr lang="zh-CN" altLang="en-US" sz="1800"/>
              <a:t>及</a:t>
            </a:r>
            <a:r>
              <a:rPr lang="en-US" altLang="zh-CN" sz="1800"/>
              <a:t>VB</a:t>
            </a:r>
            <a:r>
              <a:rPr lang="zh-CN" altLang="en-US" sz="1800"/>
              <a:t>指令突显，可同时编辑多个文件，而且即使开启很大的文件速度也不会慢。其并且附有</a:t>
            </a:r>
            <a:r>
              <a:rPr lang="en-US" altLang="zh-CN" sz="1800"/>
              <a:t>HTMLTag</a:t>
            </a:r>
            <a:r>
              <a:rPr lang="zh-CN" altLang="en-US" sz="1800"/>
              <a:t>颜色显示、搜寻替换以及无限制的还原功能；一般大家常会用其来修改</a:t>
            </a:r>
            <a:r>
              <a:rPr lang="en-US" altLang="zh-CN" sz="1800"/>
              <a:t>EXE</a:t>
            </a:r>
            <a:r>
              <a:rPr lang="zh-CN" altLang="en-US" sz="1800"/>
              <a:t>或</a:t>
            </a:r>
            <a:r>
              <a:rPr lang="en-US" altLang="zh-CN" sz="1800"/>
              <a:t>DLL</a:t>
            </a:r>
            <a:r>
              <a:rPr lang="zh-CN" altLang="en-US" sz="1800"/>
              <a:t>文件。</a:t>
            </a:r>
          </a:p>
        </p:txBody>
      </p:sp>
    </p:spTree>
    <p:extLst>
      <p:ext uri="{BB962C8B-B14F-4D97-AF65-F5344CB8AC3E}">
        <p14:creationId xmlns:p14="http://schemas.microsoft.com/office/powerpoint/2010/main" val="255840746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D99EFF0-3DFF-4CD4-BBF0-5C6465036BF0}" type="slidenum">
              <a:rPr lang="zh-CN" altLang="en-GB" sz="1300" smtClean="0"/>
              <a:pPr>
                <a:spcBef>
                  <a:spcPct val="0"/>
                </a:spcBef>
              </a:pPr>
              <a:t>70</a:t>
            </a:fld>
            <a:endParaRPr lang="en-GB" altLang="zh-CN" sz="1300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57338" y="7227888"/>
            <a:ext cx="3957637" cy="2227262"/>
          </a:xfrm>
          <a:ln/>
        </p:spPr>
      </p:sp>
      <p:sp>
        <p:nvSpPr>
          <p:cNvPr id="11981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29324441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725BB9A-BA9D-4ED1-8820-DE37C582E0C6}" type="slidenum">
              <a:rPr lang="zh-CN" altLang="en-GB" sz="1300" smtClean="0"/>
              <a:pPr>
                <a:spcBef>
                  <a:spcPct val="0"/>
                </a:spcBef>
              </a:pPr>
              <a:t>71</a:t>
            </a:fld>
            <a:endParaRPr lang="en-GB" altLang="zh-CN" sz="1300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</a:t>
            </a:r>
            <a:r>
              <a:rPr lang="en-US" altLang="zh-CN" sz="1800" dirty="0"/>
              <a:t>5-17</a:t>
            </a:r>
            <a:r>
              <a:rPr lang="zh-CN" altLang="en-US" sz="1800" dirty="0"/>
              <a:t> 向文件写入多种数据</a:t>
            </a:r>
          </a:p>
        </p:txBody>
      </p:sp>
    </p:spTree>
    <p:extLst>
      <p:ext uri="{BB962C8B-B14F-4D97-AF65-F5344CB8AC3E}">
        <p14:creationId xmlns:p14="http://schemas.microsoft.com/office/powerpoint/2010/main" val="73299145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3EC5D29-0F5F-4149-B4D5-81299044CE37}" type="slidenum">
              <a:rPr lang="zh-CN" altLang="en-GB" sz="1300" smtClean="0"/>
              <a:pPr>
                <a:spcBef>
                  <a:spcPct val="0"/>
                </a:spcBef>
              </a:pPr>
              <a:t>72</a:t>
            </a:fld>
            <a:endParaRPr lang="en-GB" altLang="zh-CN" sz="1300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</a:t>
            </a:r>
            <a:r>
              <a:rPr lang="en-US" altLang="zh-CN" sz="1800" dirty="0"/>
              <a:t>5-17</a:t>
            </a:r>
            <a:r>
              <a:rPr lang="zh-CN" altLang="en-US" sz="1800" dirty="0"/>
              <a:t> 向文件写入多种数据（续）</a:t>
            </a:r>
          </a:p>
        </p:txBody>
      </p:sp>
    </p:spTree>
    <p:extLst>
      <p:ext uri="{BB962C8B-B14F-4D97-AF65-F5344CB8AC3E}">
        <p14:creationId xmlns:p14="http://schemas.microsoft.com/office/powerpoint/2010/main" val="43544006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144D48B-5BC6-49BB-9229-624EC82DB0B7}" type="slidenum">
              <a:rPr lang="zh-CN" altLang="en-GB" sz="1300" smtClean="0"/>
              <a:pPr>
                <a:spcBef>
                  <a:spcPct val="0"/>
                </a:spcBef>
              </a:pPr>
              <a:t>73</a:t>
            </a:fld>
            <a:endParaRPr lang="en-GB" altLang="zh-CN" sz="13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400" dirty="0"/>
              <a:t>例</a:t>
            </a:r>
            <a:r>
              <a:rPr lang="en-US" altLang="zh-CN" sz="2400" dirty="0"/>
              <a:t>5-18</a:t>
            </a:r>
            <a:r>
              <a:rPr lang="zh-CN" altLang="en-US" sz="2400" dirty="0"/>
              <a:t> 向文件写一个字节并读取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400" dirty="0"/>
              <a:t>说明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/>
              <a:t>用</a:t>
            </a:r>
            <a:r>
              <a:rPr lang="en-US" altLang="zh-CN" sz="2400" dirty="0" err="1"/>
              <a:t>ultraEdit</a:t>
            </a:r>
            <a:r>
              <a:rPr lang="zh-CN" altLang="en-US" sz="2400" dirty="0"/>
              <a:t>打开</a:t>
            </a:r>
            <a:r>
              <a:rPr lang="en-US" altLang="zh-CN" sz="2400" dirty="0"/>
              <a:t>c:/try.dat</a:t>
            </a:r>
            <a:r>
              <a:rPr lang="zh-CN" altLang="en-US" sz="2400" dirty="0"/>
              <a:t>文件，其内容为</a:t>
            </a:r>
            <a:r>
              <a:rPr lang="en-US" altLang="zh-CN" sz="2400" dirty="0">
                <a:solidFill>
                  <a:schemeClr val="hlink"/>
                </a:solidFill>
              </a:rPr>
              <a:t>FF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/>
              <a:t>如果用</a:t>
            </a:r>
            <a:r>
              <a:rPr lang="en-US" altLang="zh-CN" sz="2400" dirty="0" err="1"/>
              <a:t>readByte</a:t>
            </a:r>
            <a:r>
              <a:rPr lang="zh-CN" altLang="en-US" sz="2400" dirty="0"/>
              <a:t>读入，其高24位都将补1，所以结果还是</a:t>
            </a:r>
            <a:r>
              <a:rPr lang="zh-CN" altLang="en-US" sz="2400" dirty="0">
                <a:solidFill>
                  <a:schemeClr val="hlink"/>
                </a:solidFill>
              </a:rPr>
              <a:t>-1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/>
              <a:t>如果用</a:t>
            </a:r>
            <a:r>
              <a:rPr lang="en-US" altLang="zh-CN" sz="2400" dirty="0" err="1"/>
              <a:t>readUnsignedByte</a:t>
            </a:r>
            <a:r>
              <a:rPr lang="zh-CN" altLang="en-US" sz="2400" dirty="0"/>
              <a:t>读入，其高24位都将补0，结果就变成了</a:t>
            </a:r>
            <a:r>
              <a:rPr lang="zh-CN" altLang="en-US" sz="2400" dirty="0">
                <a:solidFill>
                  <a:schemeClr val="hlink"/>
                </a:solidFill>
              </a:rPr>
              <a:t>255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/>
              <a:t>写的字节是连续的，中间没有分隔符，所以应该记住写的数据类型、个数等情况，以便将来利用</a:t>
            </a:r>
          </a:p>
          <a:p>
            <a:pPr eaLnBrk="1" hangingPunct="1"/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48394279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E46C59E-82AB-4237-B91D-53585A6AFEA0}" type="slidenum">
              <a:rPr lang="zh-CN" altLang="en-GB" sz="1300" smtClean="0"/>
              <a:pPr>
                <a:spcBef>
                  <a:spcPct val="0"/>
                </a:spcBef>
              </a:pPr>
              <a:t>74</a:t>
            </a:fld>
            <a:endParaRPr lang="en-GB" altLang="zh-CN" sz="130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2400" dirty="0"/>
              <a:t>分析例</a:t>
            </a:r>
            <a:r>
              <a:rPr lang="en-US" altLang="zh-CN" sz="2400" dirty="0"/>
              <a:t>5-19</a:t>
            </a:r>
            <a:r>
              <a:rPr lang="zh-CN" altLang="en-US" sz="2400" dirty="0"/>
              <a:t> 读取二进制文件中</a:t>
            </a:r>
            <a:r>
              <a:rPr lang="en-US" altLang="zh-CN" sz="2400" dirty="0"/>
              <a:t>int</a:t>
            </a:r>
            <a:r>
              <a:rPr lang="zh-CN" altLang="en-US" sz="2400" dirty="0"/>
              <a:t>型数字并相加</a:t>
            </a:r>
          </a:p>
          <a:p>
            <a:pPr lvl="1" eaLnBrk="1" hangingPunct="1"/>
            <a:r>
              <a:rPr lang="en-US" altLang="zh-CN" sz="2200" dirty="0" err="1"/>
              <a:t>readInt</a:t>
            </a:r>
            <a:r>
              <a:rPr lang="zh-CN" altLang="en-US" sz="2200" dirty="0"/>
              <a:t>方法可以从输入流中读入4个字节并将其当作</a:t>
            </a:r>
            <a:r>
              <a:rPr lang="en-US" altLang="zh-CN" sz="2200" dirty="0"/>
              <a:t>int</a:t>
            </a:r>
            <a:r>
              <a:rPr lang="zh-CN" altLang="en-US" sz="2200" dirty="0"/>
              <a:t>型数据</a:t>
            </a:r>
          </a:p>
          <a:p>
            <a:pPr lvl="1" eaLnBrk="1" hangingPunct="1"/>
            <a:r>
              <a:rPr lang="zh-CN" altLang="en-US" sz="2200" dirty="0"/>
              <a:t>由于知道文件中存储的是3个</a:t>
            </a:r>
            <a:r>
              <a:rPr lang="en-US" altLang="zh-CN" sz="2200" dirty="0"/>
              <a:t>int</a:t>
            </a:r>
            <a:r>
              <a:rPr lang="zh-CN" altLang="en-US" sz="2200" dirty="0"/>
              <a:t>型数据，所以使用了3个读入语句</a:t>
            </a:r>
          </a:p>
          <a:p>
            <a:pPr lvl="1" eaLnBrk="1" hangingPunct="1"/>
            <a:r>
              <a:rPr lang="zh-CN" altLang="en-US" sz="2200" dirty="0"/>
              <a:t>如果不知道数据的个数该怎么办呢？因为</a:t>
            </a:r>
            <a:r>
              <a:rPr lang="en-US" altLang="zh-CN" sz="2200" dirty="0" err="1"/>
              <a:t>DataInputStream</a:t>
            </a:r>
            <a:r>
              <a:rPr lang="zh-CN" altLang="en-US" sz="2200" dirty="0"/>
              <a:t>的读入操作如遇到文件结尾就会抛出</a:t>
            </a:r>
            <a:r>
              <a:rPr lang="en-US" altLang="zh-CN" sz="2200" dirty="0" err="1"/>
              <a:t>EOFException</a:t>
            </a:r>
            <a:r>
              <a:rPr lang="zh-CN" altLang="en-US" sz="2200" dirty="0"/>
              <a:t>异常，所以我们可以将读操作放入</a:t>
            </a:r>
            <a:r>
              <a:rPr lang="en-US" altLang="zh-CN" sz="2200" dirty="0"/>
              <a:t>try</a:t>
            </a:r>
            <a:r>
              <a:rPr lang="zh-CN" altLang="en-US" sz="2200" dirty="0"/>
              <a:t>块中</a:t>
            </a:r>
          </a:p>
          <a:p>
            <a:pPr eaLnBrk="1" hangingPunct="1"/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82946058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例</a:t>
            </a:r>
            <a:r>
              <a:rPr lang="en-US" altLang="zh-CN" dirty="0"/>
              <a:t>5-20</a:t>
            </a:r>
            <a:r>
              <a:rPr lang="zh-CN" altLang="en-US" dirty="0"/>
              <a:t>：读取文件数据并求和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zh-CN" altLang="en-US" sz="1200" dirty="0"/>
              <a:t>如果没有读到结尾，在读取过程中发生的异常属于</a:t>
            </a:r>
            <a:r>
              <a:rPr lang="en-US" altLang="zh-CN" sz="1100" dirty="0" err="1">
                <a:solidFill>
                  <a:schemeClr val="hlink"/>
                </a:solidFill>
              </a:rPr>
              <a:t>IOException</a:t>
            </a:r>
            <a:r>
              <a:rPr lang="en-US" altLang="zh-CN" sz="1200" dirty="0"/>
              <a:t>，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1200" dirty="0"/>
              <a:t>这样就需要我们再加一个</a:t>
            </a:r>
            <a:r>
              <a:rPr lang="en-US" altLang="zh-CN" sz="1200" dirty="0"/>
              <a:t>catch</a:t>
            </a:r>
            <a:r>
              <a:rPr lang="zh-CN" altLang="en-US" sz="1200" dirty="0"/>
              <a:t>块处理这种异常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1200" dirty="0"/>
              <a:t>一个</a:t>
            </a:r>
            <a:r>
              <a:rPr lang="en-US" altLang="zh-CN" sz="1200" dirty="0"/>
              <a:t>try</a:t>
            </a:r>
            <a:r>
              <a:rPr lang="zh-CN" altLang="en-US" sz="1200" dirty="0"/>
              <a:t>块后面可以跟不止一个</a:t>
            </a:r>
            <a:r>
              <a:rPr lang="en-US" altLang="zh-CN" sz="1200" dirty="0"/>
              <a:t>catch</a:t>
            </a:r>
            <a:r>
              <a:rPr lang="zh-CN" altLang="en-US" sz="1200" dirty="0"/>
              <a:t>块，用于处理各种可能发生的异常</a:t>
            </a:r>
          </a:p>
          <a:p>
            <a:pPr eaLnBrk="1" hangingPunct="1">
              <a:lnSpc>
                <a:spcPct val="160000"/>
              </a:lnSpc>
            </a:pPr>
            <a:r>
              <a:rPr lang="zh-CN" altLang="en-US" sz="1400" dirty="0"/>
              <a:t>如果</a:t>
            </a:r>
            <a:r>
              <a:rPr lang="en-US" altLang="zh-CN" sz="1400" dirty="0"/>
              <a:t>catch</a:t>
            </a:r>
            <a:r>
              <a:rPr lang="zh-CN" altLang="en-US" sz="1400" dirty="0"/>
              <a:t>块中的</a:t>
            </a:r>
            <a:r>
              <a:rPr lang="en-US" altLang="zh-CN" sz="1400" dirty="0"/>
              <a:t>close</a:t>
            </a:r>
            <a:r>
              <a:rPr lang="zh-CN" altLang="en-US" sz="1400" dirty="0"/>
              <a:t>方法也发生异常，就需要使用嵌套的</a:t>
            </a:r>
            <a:r>
              <a:rPr lang="en-US" altLang="zh-CN" sz="1400" dirty="0"/>
              <a:t>try</a:t>
            </a:r>
            <a:r>
              <a:rPr lang="zh-CN" altLang="en-US" sz="1400" dirty="0"/>
              <a:t>块</a:t>
            </a:r>
          </a:p>
          <a:p>
            <a:pPr eaLnBrk="1" hangingPunct="1"/>
            <a:endParaRPr lang="en-US" altLang="zh-CN" sz="11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CD4B01-6C42-4F8D-AD99-0F2ABA2FFF51}" type="slidenum">
              <a:rPr lang="zh-CN" altLang="en-GB" smtClean="0"/>
              <a:pPr>
                <a:defRPr/>
              </a:pPr>
              <a:t>75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80268120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例</a:t>
            </a:r>
            <a:r>
              <a:rPr lang="en-US" altLang="zh-CN" sz="1200" dirty="0"/>
              <a:t>5-21</a:t>
            </a:r>
            <a:r>
              <a:rPr lang="zh-CN" altLang="en-US" sz="1200" dirty="0"/>
              <a:t> 用字节流读取文本文件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CD4B01-6C42-4F8D-AD99-0F2ABA2FFF51}" type="slidenum">
              <a:rPr lang="zh-CN" altLang="en-GB" smtClean="0"/>
              <a:pPr>
                <a:defRPr/>
              </a:pPr>
              <a:t>76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65231161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7B8D880-D3C7-4D5F-83A1-2EDB00B201BE}" type="slidenum">
              <a:rPr lang="zh-CN" altLang="en-GB" sz="1300" smtClean="0"/>
              <a:pPr>
                <a:spcBef>
                  <a:spcPct val="0"/>
                </a:spcBef>
              </a:pPr>
              <a:t>77</a:t>
            </a:fld>
            <a:endParaRPr lang="en-GB" altLang="zh-CN" sz="1300"/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</a:t>
            </a:r>
            <a:r>
              <a:rPr lang="en-US" altLang="zh-CN" sz="1800" dirty="0"/>
              <a:t>5-21</a:t>
            </a:r>
            <a:r>
              <a:rPr lang="zh-CN" altLang="en-US" sz="1800" dirty="0"/>
              <a:t> 用字节流读取文本文件（续）</a:t>
            </a:r>
          </a:p>
        </p:txBody>
      </p:sp>
    </p:spTree>
    <p:extLst>
      <p:ext uri="{BB962C8B-B14F-4D97-AF65-F5344CB8AC3E}">
        <p14:creationId xmlns:p14="http://schemas.microsoft.com/office/powerpoint/2010/main" val="117728742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F6717B7-C958-4E34-887D-32C93DC960D3}" type="slidenum">
              <a:rPr lang="zh-CN" altLang="en-GB" sz="1300" smtClean="0"/>
              <a:pPr>
                <a:spcBef>
                  <a:spcPct val="0"/>
                </a:spcBef>
              </a:pPr>
              <a:t>78</a:t>
            </a:fld>
            <a:endParaRPr lang="en-GB" altLang="zh-CN" sz="1300"/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58159355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04470CC-D7F0-4C06-9D50-A1655D60C81D}" type="slidenum">
              <a:rPr lang="zh-CN" altLang="en-GB" sz="1300" smtClean="0"/>
              <a:pPr>
                <a:spcBef>
                  <a:spcPct val="0"/>
                </a:spcBef>
              </a:pPr>
              <a:t>79</a:t>
            </a:fld>
            <a:endParaRPr lang="en-GB" altLang="zh-CN" sz="1300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dirty="0"/>
              <a:t>例：文件复制    通过读写字节的方法进行文件的复制</a:t>
            </a:r>
            <a:endParaRPr lang="en-US" altLang="zh-CN" sz="1800" dirty="0"/>
          </a:p>
          <a:p>
            <a:pPr eaLnBrk="1" hangingPunct="1"/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14676309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69042A8-D9EE-431A-8157-C41CF583767B}" type="slidenum">
              <a:rPr lang="zh-CN" altLang="en-GB" sz="1300" smtClean="0"/>
              <a:pPr>
                <a:spcBef>
                  <a:spcPct val="0"/>
                </a:spcBef>
              </a:pPr>
              <a:t>80</a:t>
            </a:fld>
            <a:endParaRPr lang="en-GB" altLang="zh-CN" sz="1300"/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36932053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1CD4B01-6C42-4F8D-AD99-0F2ABA2FFF51}" type="slidenum">
              <a:rPr lang="zh-CN" altLang="en-GB" smtClean="0"/>
              <a:pPr>
                <a:defRPr/>
              </a:pPr>
              <a:t>81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351431905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307DB9B-6DB0-4F9C-8D6F-0520A27347BA}" type="slidenum">
              <a:rPr lang="zh-CN" altLang="en-GB" sz="1300" smtClean="0"/>
              <a:pPr>
                <a:spcBef>
                  <a:spcPct val="0"/>
                </a:spcBef>
              </a:pPr>
              <a:t>82</a:t>
            </a:fld>
            <a:endParaRPr lang="en-GB" altLang="zh-CN" sz="1300"/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</a:t>
            </a:r>
            <a:r>
              <a:rPr lang="en-US" altLang="zh-CN" sz="1800" dirty="0"/>
              <a:t>5-22</a:t>
            </a:r>
            <a:r>
              <a:rPr lang="zh-CN" altLang="en-US" sz="1800" dirty="0"/>
              <a:t> </a:t>
            </a:r>
            <a:r>
              <a:rPr lang="en-US" altLang="zh-CN" sz="1800" dirty="0"/>
              <a:t>File</a:t>
            </a:r>
            <a:r>
              <a:rPr lang="zh-CN" altLang="en-US" sz="1800" dirty="0"/>
              <a:t>类举例</a:t>
            </a:r>
          </a:p>
        </p:txBody>
      </p:sp>
    </p:spTree>
    <p:extLst>
      <p:ext uri="{BB962C8B-B14F-4D97-AF65-F5344CB8AC3E}">
        <p14:creationId xmlns:p14="http://schemas.microsoft.com/office/powerpoint/2010/main" val="2352349225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E453543-2308-44F0-8B4D-CAFB4069F200}" type="slidenum">
              <a:rPr lang="zh-CN" altLang="en-GB" sz="1300" smtClean="0"/>
              <a:pPr>
                <a:spcBef>
                  <a:spcPct val="0"/>
                </a:spcBef>
              </a:pPr>
              <a:t>83</a:t>
            </a:fld>
            <a:endParaRPr lang="en-GB" altLang="zh-CN" sz="1300"/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55543977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7CEAED7-BB2F-4877-9281-D0FB2BA320FB}" type="slidenum">
              <a:rPr lang="zh-CN" altLang="en-GB" sz="1300" smtClean="0"/>
              <a:pPr>
                <a:spcBef>
                  <a:spcPct val="0"/>
                </a:spcBef>
              </a:pPr>
              <a:t>84</a:t>
            </a:fld>
            <a:endParaRPr lang="en-GB" altLang="zh-CN" sz="1300"/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例：改进的文件复制程序</a:t>
            </a:r>
          </a:p>
        </p:txBody>
      </p:sp>
    </p:spTree>
    <p:extLst>
      <p:ext uri="{BB962C8B-B14F-4D97-AF65-F5344CB8AC3E}">
        <p14:creationId xmlns:p14="http://schemas.microsoft.com/office/powerpoint/2010/main" val="12475100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006E776-A5DA-40CB-A1E4-2D019C571219}" type="slidenum">
              <a:rPr lang="zh-CN" altLang="en-GB" sz="1300" smtClean="0"/>
              <a:pPr>
                <a:spcBef>
                  <a:spcPct val="0"/>
                </a:spcBef>
              </a:pPr>
              <a:t>85</a:t>
            </a:fld>
            <a:endParaRPr lang="en-GB" altLang="zh-CN" sz="1300"/>
          </a:p>
        </p:txBody>
      </p:sp>
      <p:sp>
        <p:nvSpPr>
          <p:cNvPr id="16691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6691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例：改进的文件复制程序</a:t>
            </a:r>
          </a:p>
        </p:txBody>
      </p:sp>
    </p:spTree>
    <p:extLst>
      <p:ext uri="{BB962C8B-B14F-4D97-AF65-F5344CB8AC3E}">
        <p14:creationId xmlns:p14="http://schemas.microsoft.com/office/powerpoint/2010/main" val="87275620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13B42ED-7C42-4B32-92F6-15E4C0E9F6A3}" type="slidenum">
              <a:rPr lang="zh-CN" altLang="en-GB" sz="1300" smtClean="0"/>
              <a:pPr>
                <a:spcBef>
                  <a:spcPct val="0"/>
                </a:spcBef>
              </a:pPr>
              <a:t>86</a:t>
            </a:fld>
            <a:endParaRPr lang="en-GB" altLang="zh-CN" sz="1300"/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69259699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3FD8934-A8CA-4385-87ED-07DDBF8D2C0C}" type="slidenum">
              <a:rPr lang="zh-CN" altLang="en-GB" sz="1300" smtClean="0"/>
              <a:pPr>
                <a:spcBef>
                  <a:spcPct val="0"/>
                </a:spcBef>
              </a:pPr>
              <a:t>87</a:t>
            </a:fld>
            <a:endParaRPr lang="en-GB" altLang="zh-CN" sz="1300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18312" cy="3836988"/>
          </a:xfrm>
          <a:ln/>
        </p:spPr>
      </p:sp>
      <p:sp>
        <p:nvSpPr>
          <p:cNvPr id="17101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7682658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ABA1ED1-1DC4-42BA-959E-20B350EB0ADA}" type="slidenum">
              <a:rPr lang="zh-CN" altLang="en-GB" sz="1300" smtClean="0"/>
              <a:pPr>
                <a:spcBef>
                  <a:spcPct val="0"/>
                </a:spcBef>
              </a:pPr>
              <a:t>88</a:t>
            </a:fld>
            <a:endParaRPr lang="en-GB" altLang="zh-CN" sz="1300"/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dirty="0"/>
              <a:t>例</a:t>
            </a:r>
            <a:r>
              <a:rPr lang="en-US" altLang="zh-CN" sz="1800" dirty="0"/>
              <a:t>5-23</a:t>
            </a:r>
            <a:r>
              <a:rPr lang="zh-CN" altLang="en-US" sz="1800" dirty="0"/>
              <a:t> 压缩和解压缩</a:t>
            </a:r>
            <a:r>
              <a:rPr lang="en-US" altLang="zh-CN" sz="1800" dirty="0" err="1"/>
              <a:t>Gzip</a:t>
            </a:r>
            <a:r>
              <a:rPr lang="zh-CN" altLang="en-US" sz="1800" dirty="0"/>
              <a:t>文件</a:t>
            </a:r>
            <a:endParaRPr lang="en-US" altLang="zh-CN" sz="1800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dirty="0"/>
              <a:t>将文本文件“</a:t>
            </a:r>
            <a:r>
              <a:rPr lang="en-US" altLang="zh-CN" sz="1800" dirty="0"/>
              <a:t>Hello.txt”</a:t>
            </a:r>
            <a:r>
              <a:rPr lang="zh-CN" altLang="en-US" sz="1800" dirty="0"/>
              <a:t> 压缩为文件“</a:t>
            </a:r>
            <a:r>
              <a:rPr lang="en-US" altLang="zh-CN" sz="1800" dirty="0"/>
              <a:t>test.gz”，</a:t>
            </a:r>
            <a:r>
              <a:rPr lang="zh-CN" altLang="en-US" sz="1800" dirty="0"/>
              <a:t>再解压该文件，显示其中内容，并另存为“</a:t>
            </a:r>
            <a:r>
              <a:rPr lang="en-US" altLang="zh-CN" sz="1800" dirty="0"/>
              <a:t>newHello.txt”</a:t>
            </a:r>
          </a:p>
          <a:p>
            <a:pPr eaLnBrk="1" hangingPunct="1"/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433033364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AE096B-1ED7-42AD-8504-4F2D3963FED3}" type="slidenum">
              <a:rPr lang="zh-CN" altLang="en-GB" sz="1300" smtClean="0"/>
              <a:pPr>
                <a:spcBef>
                  <a:spcPct val="0"/>
                </a:spcBef>
              </a:pPr>
              <a:t>89</a:t>
            </a:fld>
            <a:endParaRPr lang="en-GB" altLang="zh-CN" sz="1300"/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</a:t>
            </a:r>
            <a:r>
              <a:rPr lang="en-US" altLang="zh-CN" sz="1800" dirty="0"/>
              <a:t>5-23</a:t>
            </a:r>
            <a:r>
              <a:rPr lang="zh-CN" altLang="en-US" sz="1800" dirty="0"/>
              <a:t> 压缩和解压缩</a:t>
            </a:r>
            <a:r>
              <a:rPr lang="en-US" altLang="zh-CN" sz="1800" dirty="0" err="1"/>
              <a:t>Gzip</a:t>
            </a:r>
            <a:r>
              <a:rPr lang="zh-CN" altLang="en-US" sz="1800" dirty="0"/>
              <a:t>文件（续）</a:t>
            </a:r>
          </a:p>
        </p:txBody>
      </p:sp>
    </p:spTree>
    <p:extLst>
      <p:ext uri="{BB962C8B-B14F-4D97-AF65-F5344CB8AC3E}">
        <p14:creationId xmlns:p14="http://schemas.microsoft.com/office/powerpoint/2010/main" val="71336574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1046F5C-BB83-4927-BD9D-4671911013B2}" type="slidenum">
              <a:rPr lang="zh-CN" altLang="en-GB" sz="1300" smtClean="0"/>
              <a:pPr>
                <a:spcBef>
                  <a:spcPct val="0"/>
                </a:spcBef>
              </a:pPr>
              <a:t>90</a:t>
            </a:fld>
            <a:endParaRPr lang="en-GB" altLang="zh-CN" sz="1300"/>
          </a:p>
        </p:txBody>
      </p:sp>
      <p:sp>
        <p:nvSpPr>
          <p:cNvPr id="177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</a:t>
            </a:r>
            <a:r>
              <a:rPr lang="en-US" altLang="zh-CN" sz="1800" dirty="0"/>
              <a:t>5-23</a:t>
            </a:r>
            <a:r>
              <a:rPr lang="zh-CN" altLang="en-US" sz="1800" dirty="0"/>
              <a:t> 压缩和解压缩</a:t>
            </a:r>
            <a:r>
              <a:rPr lang="en-US" altLang="zh-CN" sz="1800" dirty="0" err="1"/>
              <a:t>Gzip</a:t>
            </a:r>
            <a:r>
              <a:rPr lang="zh-CN" altLang="en-US" sz="1800" dirty="0"/>
              <a:t>文件（续）</a:t>
            </a:r>
          </a:p>
        </p:txBody>
      </p:sp>
    </p:spTree>
    <p:extLst>
      <p:ext uri="{BB962C8B-B14F-4D97-AF65-F5344CB8AC3E}">
        <p14:creationId xmlns:p14="http://schemas.microsoft.com/office/powerpoint/2010/main" val="1883335775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85352E1-0D13-4355-9189-287C3AA49A4C}" type="slidenum">
              <a:rPr lang="zh-CN" altLang="en-GB" sz="1300" smtClean="0"/>
              <a:pPr>
                <a:spcBef>
                  <a:spcPct val="0"/>
                </a:spcBef>
              </a:pPr>
              <a:t>91</a:t>
            </a:fld>
            <a:endParaRPr lang="en-GB" altLang="zh-CN" sz="1300"/>
          </a:p>
        </p:txBody>
      </p:sp>
      <p:sp>
        <p:nvSpPr>
          <p:cNvPr id="179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18312" cy="3836988"/>
          </a:xfrm>
          <a:ln/>
        </p:spPr>
      </p:sp>
      <p:sp>
        <p:nvSpPr>
          <p:cNvPr id="17920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419575552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1BC3397-B3C5-46F0-9404-91BC7BCA0E26}" type="slidenum">
              <a:rPr lang="zh-CN" altLang="en-GB" sz="1300" smtClean="0"/>
              <a:pPr>
                <a:spcBef>
                  <a:spcPct val="0"/>
                </a:spcBef>
              </a:pPr>
              <a:t>92</a:t>
            </a:fld>
            <a:endParaRPr lang="en-GB" altLang="zh-CN" sz="1300"/>
          </a:p>
        </p:txBody>
      </p:sp>
      <p:sp>
        <p:nvSpPr>
          <p:cNvPr id="181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81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</a:t>
            </a:r>
            <a:r>
              <a:rPr lang="en-US" altLang="zh-CN" sz="1800" dirty="0"/>
              <a:t>5-24</a:t>
            </a:r>
            <a:r>
              <a:rPr lang="zh-CN" altLang="en-US" sz="1800" dirty="0"/>
              <a:t> </a:t>
            </a:r>
            <a:r>
              <a:rPr lang="en-US" altLang="zh-CN" sz="1800" dirty="0"/>
              <a:t>Zip</a:t>
            </a:r>
            <a:r>
              <a:rPr lang="zh-CN" altLang="en-US" sz="1800" dirty="0"/>
              <a:t>文件压缩与解压缩</a:t>
            </a:r>
          </a:p>
        </p:txBody>
      </p:sp>
    </p:spTree>
    <p:extLst>
      <p:ext uri="{BB962C8B-B14F-4D97-AF65-F5344CB8AC3E}">
        <p14:creationId xmlns:p14="http://schemas.microsoft.com/office/powerpoint/2010/main" val="104322884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4BEE21B-3FBF-48EF-8840-B2D50CC24113}" type="slidenum">
              <a:rPr lang="zh-CN" altLang="en-GB" sz="1300" smtClean="0"/>
              <a:pPr>
                <a:spcBef>
                  <a:spcPct val="0"/>
                </a:spcBef>
              </a:pPr>
              <a:t>93</a:t>
            </a:fld>
            <a:endParaRPr lang="en-GB" altLang="zh-CN" sz="1300"/>
          </a:p>
        </p:txBody>
      </p:sp>
      <p:sp>
        <p:nvSpPr>
          <p:cNvPr id="183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</a:t>
            </a:r>
            <a:r>
              <a:rPr lang="en-US" altLang="zh-CN" sz="1800" dirty="0"/>
              <a:t>5-24</a:t>
            </a:r>
            <a:r>
              <a:rPr lang="zh-CN" altLang="en-US" sz="1800" dirty="0"/>
              <a:t> </a:t>
            </a:r>
            <a:r>
              <a:rPr lang="en-US" altLang="zh-CN" sz="1800" dirty="0"/>
              <a:t>Zip</a:t>
            </a:r>
            <a:r>
              <a:rPr lang="zh-CN" altLang="en-US" sz="1800" dirty="0"/>
              <a:t>文件压缩与解压缩（续）</a:t>
            </a:r>
          </a:p>
        </p:txBody>
      </p:sp>
    </p:spTree>
    <p:extLst>
      <p:ext uri="{BB962C8B-B14F-4D97-AF65-F5344CB8AC3E}">
        <p14:creationId xmlns:p14="http://schemas.microsoft.com/office/powerpoint/2010/main" val="437648283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A2A4D9A-9448-4D16-9DE4-E014F92E7D92}" type="slidenum">
              <a:rPr lang="zh-CN" altLang="en-GB" sz="1300" smtClean="0"/>
              <a:pPr>
                <a:spcBef>
                  <a:spcPct val="0"/>
                </a:spcBef>
              </a:pPr>
              <a:t>94</a:t>
            </a:fld>
            <a:endParaRPr lang="en-GB" altLang="zh-CN" sz="1300"/>
          </a:p>
        </p:txBody>
      </p:sp>
      <p:sp>
        <p:nvSpPr>
          <p:cNvPr id="185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</a:t>
            </a:r>
            <a:r>
              <a:rPr lang="en-US" altLang="zh-CN" sz="1800" dirty="0"/>
              <a:t>5-24</a:t>
            </a:r>
            <a:r>
              <a:rPr lang="zh-CN" altLang="en-US" sz="1800" dirty="0"/>
              <a:t> </a:t>
            </a:r>
            <a:r>
              <a:rPr lang="en-US" altLang="zh-CN" sz="1800" dirty="0"/>
              <a:t>Zip</a:t>
            </a:r>
            <a:r>
              <a:rPr lang="zh-CN" altLang="en-US" sz="1800" dirty="0"/>
              <a:t>文件压缩与解压缩（续）</a:t>
            </a:r>
          </a:p>
        </p:txBody>
      </p:sp>
    </p:spTree>
    <p:extLst>
      <p:ext uri="{BB962C8B-B14F-4D97-AF65-F5344CB8AC3E}">
        <p14:creationId xmlns:p14="http://schemas.microsoft.com/office/powerpoint/2010/main" val="424959814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6D06069-018E-465D-88C6-C613A9BC2BFB}" type="slidenum">
              <a:rPr lang="zh-CN" altLang="en-GB" sz="1300" smtClean="0"/>
              <a:pPr>
                <a:spcBef>
                  <a:spcPct val="0"/>
                </a:spcBef>
              </a:pPr>
              <a:t>95</a:t>
            </a:fld>
            <a:endParaRPr lang="en-GB" altLang="zh-CN" sz="1300"/>
          </a:p>
        </p:txBody>
      </p:sp>
      <p:sp>
        <p:nvSpPr>
          <p:cNvPr id="187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</a:t>
            </a:r>
            <a:r>
              <a:rPr lang="en-US" altLang="zh-CN" sz="1800" dirty="0"/>
              <a:t>5-24</a:t>
            </a:r>
            <a:r>
              <a:rPr lang="zh-CN" altLang="en-US" sz="1800" dirty="0"/>
              <a:t> </a:t>
            </a:r>
            <a:r>
              <a:rPr lang="en-US" altLang="zh-CN" sz="1800" dirty="0"/>
              <a:t>Zip</a:t>
            </a:r>
            <a:r>
              <a:rPr lang="zh-CN" altLang="en-US" sz="1800" dirty="0"/>
              <a:t>文件压缩与解压缩（续）</a:t>
            </a:r>
          </a:p>
        </p:txBody>
      </p:sp>
    </p:spTree>
    <p:extLst>
      <p:ext uri="{BB962C8B-B14F-4D97-AF65-F5344CB8AC3E}">
        <p14:creationId xmlns:p14="http://schemas.microsoft.com/office/powerpoint/2010/main" val="411087613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0153336-0D5C-4D7A-91DD-C7DBAEF85C9F}" type="slidenum">
              <a:rPr lang="zh-CN" altLang="en-GB" sz="1300" smtClean="0"/>
              <a:pPr>
                <a:spcBef>
                  <a:spcPct val="0"/>
                </a:spcBef>
              </a:pPr>
              <a:t>96</a:t>
            </a:fld>
            <a:endParaRPr lang="en-GB" altLang="zh-CN" sz="1300"/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2400" dirty="0"/>
              <a:t>例</a:t>
            </a:r>
            <a:r>
              <a:rPr lang="en-US" altLang="zh-CN" sz="2400" dirty="0"/>
              <a:t>5-25</a:t>
            </a:r>
            <a:r>
              <a:rPr lang="zh-CN" altLang="en-US" sz="2400" dirty="0"/>
              <a:t> 解压缩</a:t>
            </a:r>
            <a:r>
              <a:rPr lang="en-US" altLang="zh-CN" sz="2400" dirty="0"/>
              <a:t>Zip</a:t>
            </a:r>
            <a:r>
              <a:rPr lang="zh-CN" altLang="en-US" sz="2400" dirty="0"/>
              <a:t>文件，并恢复其原来路径</a:t>
            </a:r>
            <a:endParaRPr lang="en-US" altLang="zh-CN" sz="2400" dirty="0"/>
          </a:p>
          <a:p>
            <a:pPr eaLnBrk="1" hangingPunct="1"/>
            <a:r>
              <a:rPr lang="en-US" altLang="zh-CN" sz="2400" dirty="0"/>
              <a:t>Unzip</a:t>
            </a:r>
            <a:r>
              <a:rPr lang="zh-CN" altLang="en-US" sz="2400" dirty="0"/>
              <a:t>类</a:t>
            </a:r>
          </a:p>
          <a:p>
            <a:pPr lvl="1" eaLnBrk="1" hangingPunct="1"/>
            <a:r>
              <a:rPr lang="zh-CN" altLang="en-US" sz="2200" dirty="0"/>
              <a:t>用来将指定</a:t>
            </a:r>
            <a:r>
              <a:rPr lang="en-US" altLang="zh-CN" sz="2200" dirty="0"/>
              <a:t>zip</a:t>
            </a:r>
            <a:r>
              <a:rPr lang="zh-CN" altLang="en-US" sz="2200" dirty="0"/>
              <a:t>文件解压到指定路径下</a:t>
            </a:r>
          </a:p>
          <a:p>
            <a:pPr eaLnBrk="1" hangingPunct="1"/>
            <a:r>
              <a:rPr lang="zh-CN" altLang="en-US" sz="2400" dirty="0"/>
              <a:t>主类</a:t>
            </a:r>
            <a:r>
              <a:rPr lang="en-US" altLang="zh-CN" sz="2400" dirty="0" err="1"/>
              <a:t>UnZipTester</a:t>
            </a:r>
            <a:endParaRPr lang="en-US" altLang="zh-CN" sz="2400" dirty="0"/>
          </a:p>
          <a:p>
            <a:pPr lvl="1" eaLnBrk="1" hangingPunct="1"/>
            <a:r>
              <a:rPr lang="en-US" altLang="zh-CN" sz="2200" dirty="0"/>
              <a:t>main</a:t>
            </a:r>
            <a:r>
              <a:rPr lang="zh-CN" altLang="en-US" sz="2200" dirty="0"/>
              <a:t>方法中，我们可以从命令行输入</a:t>
            </a:r>
            <a:r>
              <a:rPr lang="en-US" altLang="zh-CN" sz="2200" dirty="0"/>
              <a:t>zip</a:t>
            </a:r>
            <a:r>
              <a:rPr lang="zh-CN" altLang="en-US" sz="2200" dirty="0"/>
              <a:t>文件名和解压缩路径</a:t>
            </a:r>
          </a:p>
          <a:p>
            <a:pPr eaLnBrk="1" hangingPunct="1"/>
            <a:r>
              <a:rPr lang="zh-CN" altLang="en-US" sz="2400" dirty="0"/>
              <a:t>可以在资源管理器下用</a:t>
            </a:r>
            <a:r>
              <a:rPr lang="en-US" altLang="zh-CN" sz="2400" dirty="0" err="1"/>
              <a:t>winzip</a:t>
            </a:r>
            <a:r>
              <a:rPr lang="zh-CN" altLang="en-US" sz="2400" dirty="0"/>
              <a:t>等软件将若干文件（包括目录，子文件夹等）压缩为</a:t>
            </a:r>
            <a:r>
              <a:rPr lang="en-US" altLang="zh-CN" sz="2400" dirty="0"/>
              <a:t>zip</a:t>
            </a:r>
            <a:r>
              <a:rPr lang="zh-CN" altLang="en-US" sz="2400" dirty="0"/>
              <a:t>文件，试验一下这个程序，将得到和</a:t>
            </a:r>
            <a:r>
              <a:rPr lang="en-US" altLang="zh-CN" sz="2400" dirty="0" err="1"/>
              <a:t>winzip</a:t>
            </a:r>
            <a:r>
              <a:rPr lang="zh-CN" altLang="en-US" sz="2400" dirty="0"/>
              <a:t>软件解压缩相同的效果</a:t>
            </a:r>
            <a:endParaRPr lang="zh-CN" altLang="en-US" dirty="0"/>
          </a:p>
          <a:p>
            <a:pPr eaLnBrk="1" hangingPunct="1"/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96519427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CDBB410-0F2A-456E-9493-497573831C58}" type="slidenum">
              <a:rPr lang="zh-CN" altLang="en-GB" sz="1300" smtClean="0"/>
              <a:pPr>
                <a:spcBef>
                  <a:spcPct val="0"/>
                </a:spcBef>
              </a:pPr>
              <a:t>97</a:t>
            </a:fld>
            <a:endParaRPr lang="en-GB" altLang="zh-CN" sz="1300"/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</a:t>
            </a:r>
            <a:r>
              <a:rPr lang="en-US" altLang="zh-CN" sz="1800" dirty="0"/>
              <a:t>5-25</a:t>
            </a:r>
            <a:r>
              <a:rPr lang="zh-CN" altLang="en-US" sz="1800" dirty="0"/>
              <a:t>解压缩</a:t>
            </a:r>
            <a:r>
              <a:rPr lang="en-US" altLang="zh-CN" sz="1800" dirty="0"/>
              <a:t>Zip</a:t>
            </a:r>
            <a:r>
              <a:rPr lang="zh-CN" altLang="en-US" sz="1800" dirty="0"/>
              <a:t>文件，并恢复其原来路径（续）</a:t>
            </a:r>
          </a:p>
        </p:txBody>
      </p:sp>
    </p:spTree>
    <p:extLst>
      <p:ext uri="{BB962C8B-B14F-4D97-AF65-F5344CB8AC3E}">
        <p14:creationId xmlns:p14="http://schemas.microsoft.com/office/powerpoint/2010/main" val="3679810919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172DA21-CC18-4A41-A985-422FA435ACDF}" type="slidenum">
              <a:rPr lang="zh-CN" altLang="en-GB" sz="1300" smtClean="0"/>
              <a:pPr>
                <a:spcBef>
                  <a:spcPct val="0"/>
                </a:spcBef>
              </a:pPr>
              <a:t>98</a:t>
            </a:fld>
            <a:endParaRPr lang="en-GB" altLang="zh-CN" sz="1300"/>
          </a:p>
        </p:txBody>
      </p:sp>
      <p:sp>
        <p:nvSpPr>
          <p:cNvPr id="193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93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</a:t>
            </a:r>
            <a:r>
              <a:rPr lang="en-US" altLang="zh-CN" sz="1800" dirty="0"/>
              <a:t>5-25</a:t>
            </a:r>
            <a:r>
              <a:rPr lang="zh-CN" altLang="en-US" sz="1800" dirty="0"/>
              <a:t>解压缩</a:t>
            </a:r>
            <a:r>
              <a:rPr lang="en-US" altLang="zh-CN" sz="1800" dirty="0"/>
              <a:t>Zip</a:t>
            </a:r>
            <a:r>
              <a:rPr lang="zh-CN" altLang="en-US" sz="1800" dirty="0"/>
              <a:t>文件，并恢复其原来路径（续）</a:t>
            </a:r>
          </a:p>
        </p:txBody>
      </p:sp>
    </p:spTree>
    <p:extLst>
      <p:ext uri="{BB962C8B-B14F-4D97-AF65-F5344CB8AC3E}">
        <p14:creationId xmlns:p14="http://schemas.microsoft.com/office/powerpoint/2010/main" val="720903247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6B1963A-6D4E-476B-811D-0524C90DB538}" type="slidenum">
              <a:rPr lang="zh-CN" altLang="en-GB" sz="1300" smtClean="0"/>
              <a:pPr>
                <a:spcBef>
                  <a:spcPct val="0"/>
                </a:spcBef>
              </a:pPr>
              <a:t>99</a:t>
            </a:fld>
            <a:endParaRPr lang="en-GB" altLang="zh-CN" sz="1300"/>
          </a:p>
        </p:txBody>
      </p:sp>
      <p:sp>
        <p:nvSpPr>
          <p:cNvPr id="195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</a:t>
            </a:r>
            <a:r>
              <a:rPr lang="en-US" altLang="zh-CN" sz="1800" dirty="0"/>
              <a:t>5-25</a:t>
            </a:r>
            <a:r>
              <a:rPr lang="zh-CN" altLang="en-US" sz="1800" dirty="0"/>
              <a:t>解压缩</a:t>
            </a:r>
            <a:r>
              <a:rPr lang="en-US" altLang="zh-CN" sz="1800" dirty="0"/>
              <a:t>Zip</a:t>
            </a:r>
            <a:r>
              <a:rPr lang="zh-CN" altLang="en-US" sz="1800" dirty="0"/>
              <a:t>文件，并恢复其原来路径（续）</a:t>
            </a:r>
          </a:p>
        </p:txBody>
      </p:sp>
    </p:spTree>
    <p:extLst>
      <p:ext uri="{BB962C8B-B14F-4D97-AF65-F5344CB8AC3E}">
        <p14:creationId xmlns:p14="http://schemas.microsoft.com/office/powerpoint/2010/main" val="3453162210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677FDC5-BC45-4E6C-8EA5-A9CDC22722D8}" type="slidenum">
              <a:rPr lang="zh-CN" altLang="en-GB" sz="1300" smtClean="0"/>
              <a:pPr>
                <a:spcBef>
                  <a:spcPct val="0"/>
                </a:spcBef>
              </a:pPr>
              <a:t>100</a:t>
            </a:fld>
            <a:endParaRPr lang="en-GB" altLang="zh-CN" sz="1300"/>
          </a:p>
        </p:txBody>
      </p:sp>
      <p:sp>
        <p:nvSpPr>
          <p:cNvPr id="201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201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52106601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9AABBD-3BDA-45FF-9B41-F28B9D92F378}" type="slidenum">
              <a:rPr lang="zh-CN" altLang="en-GB" sz="1300" smtClean="0"/>
              <a:pPr>
                <a:spcBef>
                  <a:spcPct val="0"/>
                </a:spcBef>
              </a:pPr>
              <a:t>101</a:t>
            </a:fld>
            <a:endParaRPr lang="en-GB" altLang="zh-CN" sz="1300"/>
          </a:p>
        </p:txBody>
      </p:sp>
      <p:sp>
        <p:nvSpPr>
          <p:cNvPr id="203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18312" cy="3836988"/>
          </a:xfrm>
          <a:ln/>
        </p:spPr>
      </p:sp>
      <p:sp>
        <p:nvSpPr>
          <p:cNvPr id="20378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804348947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627CA24-99B8-4EDC-8C90-B141F7B03FC7}" type="slidenum">
              <a:rPr lang="zh-CN" altLang="en-GB" sz="1300" smtClean="0"/>
              <a:pPr>
                <a:spcBef>
                  <a:spcPct val="0"/>
                </a:spcBef>
              </a:pPr>
              <a:t>102</a:t>
            </a:fld>
            <a:endParaRPr lang="en-GB" altLang="zh-CN" sz="1300"/>
          </a:p>
        </p:txBody>
      </p:sp>
      <p:sp>
        <p:nvSpPr>
          <p:cNvPr id="205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18312" cy="3836988"/>
          </a:xfrm>
          <a:ln/>
        </p:spPr>
      </p:sp>
      <p:sp>
        <p:nvSpPr>
          <p:cNvPr id="20582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2180888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72D4863-903C-4B25-B371-805B3B47937F}" type="slidenum">
              <a:rPr lang="zh-CN" altLang="en-GB" sz="1300" smtClean="0"/>
              <a:pPr>
                <a:spcBef>
                  <a:spcPct val="0"/>
                </a:spcBef>
              </a:pPr>
              <a:t>103</a:t>
            </a:fld>
            <a:endParaRPr lang="en-GB" altLang="zh-CN" sz="1300"/>
          </a:p>
        </p:txBody>
      </p:sp>
      <p:sp>
        <p:nvSpPr>
          <p:cNvPr id="207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18312" cy="3836988"/>
          </a:xfrm>
          <a:ln/>
        </p:spPr>
      </p:sp>
      <p:sp>
        <p:nvSpPr>
          <p:cNvPr id="20787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871522240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9B7D5E0-903F-4A51-9901-211135775945}" type="slidenum">
              <a:rPr lang="zh-CN" altLang="en-GB" sz="1300" smtClean="0"/>
              <a:pPr>
                <a:spcBef>
                  <a:spcPct val="0"/>
                </a:spcBef>
              </a:pPr>
              <a:t>104</a:t>
            </a:fld>
            <a:endParaRPr lang="en-GB" altLang="zh-CN" sz="1300"/>
          </a:p>
        </p:txBody>
      </p:sp>
      <p:sp>
        <p:nvSpPr>
          <p:cNvPr id="209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209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dirty="0"/>
              <a:t>例</a:t>
            </a:r>
            <a:r>
              <a:rPr lang="en-US" altLang="zh-CN" sz="1800" dirty="0"/>
              <a:t>5-26</a:t>
            </a:r>
            <a:r>
              <a:rPr lang="zh-CN" altLang="en-US" sz="1800" dirty="0"/>
              <a:t> 创建一个书籍对象输出并读出</a:t>
            </a:r>
            <a:endParaRPr lang="en-US" altLang="zh-CN" sz="1800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dirty="0"/>
              <a:t>创建一个书籍对象，并把它输出到一个文件</a:t>
            </a:r>
            <a:r>
              <a:rPr lang="en-US" altLang="zh-CN" sz="1800" dirty="0"/>
              <a:t>book.dat</a:t>
            </a:r>
            <a:r>
              <a:rPr lang="zh-CN" altLang="en-US" sz="1800" dirty="0"/>
              <a:t>中，然后再把该对象读出来，在屏幕上显示对象信息</a:t>
            </a:r>
          </a:p>
          <a:p>
            <a:pPr eaLnBrk="1" hangingPunct="1"/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32035914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59DEA07-5828-41B2-A22C-8C96C0DA8851}" type="slidenum">
              <a:rPr lang="zh-CN" altLang="en-GB" sz="1300" smtClean="0"/>
              <a:pPr>
                <a:spcBef>
                  <a:spcPct val="0"/>
                </a:spcBef>
              </a:pPr>
              <a:t>105</a:t>
            </a:fld>
            <a:endParaRPr lang="en-GB" altLang="zh-CN" sz="1300"/>
          </a:p>
        </p:txBody>
      </p:sp>
      <p:sp>
        <p:nvSpPr>
          <p:cNvPr id="211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211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dirty="0"/>
              <a:t>例</a:t>
            </a:r>
            <a:r>
              <a:rPr lang="en-US" altLang="zh-CN" sz="1800" dirty="0"/>
              <a:t>5-26</a:t>
            </a:r>
            <a:r>
              <a:rPr lang="zh-CN" altLang="en-US" sz="1800" dirty="0"/>
              <a:t> 创建一个书籍对象输出并读出</a:t>
            </a:r>
            <a:endParaRPr lang="en-US" altLang="zh-CN" sz="1800" dirty="0"/>
          </a:p>
          <a:p>
            <a:pPr eaLnBrk="1" hangingPunct="1"/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23122118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117D04C-79E3-4BD1-A54B-A814BFFB54E7}" type="slidenum">
              <a:rPr lang="zh-CN" altLang="en-GB" sz="1300" smtClean="0"/>
              <a:pPr>
                <a:spcBef>
                  <a:spcPct val="0"/>
                </a:spcBef>
              </a:pPr>
              <a:t>106</a:t>
            </a:fld>
            <a:endParaRPr lang="en-GB" altLang="zh-CN" sz="1300"/>
          </a:p>
        </p:txBody>
      </p:sp>
      <p:sp>
        <p:nvSpPr>
          <p:cNvPr id="214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214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dirty="0"/>
              <a:t>例</a:t>
            </a:r>
            <a:r>
              <a:rPr lang="en-US" altLang="zh-CN" sz="1800" dirty="0"/>
              <a:t>5-26</a:t>
            </a:r>
            <a:r>
              <a:rPr lang="zh-CN" altLang="en-US" sz="1800" dirty="0"/>
              <a:t> 创建一个书籍对象输出并读出</a:t>
            </a:r>
            <a:endParaRPr lang="en-US" altLang="zh-CN" sz="1800" dirty="0"/>
          </a:p>
          <a:p>
            <a:pPr eaLnBrk="1" hangingPunct="1"/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062606687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C611493-5699-472D-8669-451E46B7FC5C}" type="slidenum">
              <a:rPr lang="zh-CN" altLang="en-GB" sz="1300" smtClean="0"/>
              <a:pPr>
                <a:spcBef>
                  <a:spcPct val="0"/>
                </a:spcBef>
              </a:pPr>
              <a:t>107</a:t>
            </a:fld>
            <a:endParaRPr lang="en-GB" altLang="zh-CN" sz="1300"/>
          </a:p>
        </p:txBody>
      </p:sp>
      <p:sp>
        <p:nvSpPr>
          <p:cNvPr id="220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18312" cy="3836988"/>
          </a:xfrm>
          <a:ln/>
        </p:spPr>
      </p:sp>
      <p:sp>
        <p:nvSpPr>
          <p:cNvPr id="22016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520782683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97A141F-30AD-436B-A94E-BB332E369A3A}" type="slidenum">
              <a:rPr lang="zh-CN" altLang="en-GB" sz="1300" smtClean="0"/>
              <a:pPr>
                <a:spcBef>
                  <a:spcPct val="0"/>
                </a:spcBef>
              </a:pPr>
              <a:t>108</a:t>
            </a:fld>
            <a:endParaRPr lang="en-GB" altLang="zh-CN" sz="1300"/>
          </a:p>
        </p:txBody>
      </p:sp>
      <p:sp>
        <p:nvSpPr>
          <p:cNvPr id="230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230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606011374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EBB089F-C496-44EE-AD25-4F9881B89324}" type="slidenum">
              <a:rPr lang="zh-CN" altLang="en-GB" sz="1300" smtClean="0"/>
              <a:pPr>
                <a:spcBef>
                  <a:spcPct val="0"/>
                </a:spcBef>
              </a:pPr>
              <a:t>109</a:t>
            </a:fld>
            <a:endParaRPr lang="en-GB" altLang="zh-CN" sz="1300"/>
          </a:p>
        </p:txBody>
      </p:sp>
      <p:sp>
        <p:nvSpPr>
          <p:cNvPr id="23245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8350"/>
            <a:ext cx="6818312" cy="3836988"/>
          </a:xfrm>
          <a:ln/>
        </p:spPr>
      </p:sp>
      <p:sp>
        <p:nvSpPr>
          <p:cNvPr id="232452" name="Rectangle 1028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856477080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184841C-8DC1-478C-9423-321A6A169C21}" type="slidenum">
              <a:rPr lang="zh-CN" altLang="en-GB" sz="1300" smtClean="0"/>
              <a:pPr>
                <a:spcBef>
                  <a:spcPct val="0"/>
                </a:spcBef>
              </a:pPr>
              <a:t>110</a:t>
            </a:fld>
            <a:endParaRPr lang="en-GB" altLang="zh-CN" sz="1300"/>
          </a:p>
        </p:txBody>
      </p:sp>
      <p:sp>
        <p:nvSpPr>
          <p:cNvPr id="234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234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56777250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3306986-0B57-473F-83E3-5765FF7BE118}" type="slidenum">
              <a:rPr lang="zh-CN" altLang="en-GB" sz="1300" smtClean="0"/>
              <a:pPr>
                <a:spcBef>
                  <a:spcPct val="0"/>
                </a:spcBef>
              </a:pPr>
              <a:t>111</a:t>
            </a:fld>
            <a:endParaRPr lang="en-GB" altLang="zh-CN" sz="1300"/>
          </a:p>
        </p:txBody>
      </p:sp>
      <p:sp>
        <p:nvSpPr>
          <p:cNvPr id="236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236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</a:t>
            </a:r>
            <a:r>
              <a:rPr lang="en-US" altLang="zh-CN" sz="1800" dirty="0"/>
              <a:t>5-27</a:t>
            </a:r>
            <a:r>
              <a:rPr lang="zh-CN" altLang="en-US" sz="1800" dirty="0"/>
              <a:t> 随机文件读写</a:t>
            </a:r>
          </a:p>
        </p:txBody>
      </p:sp>
    </p:spTree>
    <p:extLst>
      <p:ext uri="{BB962C8B-B14F-4D97-AF65-F5344CB8AC3E}">
        <p14:creationId xmlns:p14="http://schemas.microsoft.com/office/powerpoint/2010/main" val="3684197460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45A87F9-7656-4BB9-943D-5034DB1B15F4}" type="slidenum">
              <a:rPr lang="zh-CN" altLang="en-GB" sz="1300" smtClean="0"/>
              <a:pPr>
                <a:spcBef>
                  <a:spcPct val="0"/>
                </a:spcBef>
              </a:pPr>
              <a:t>112</a:t>
            </a:fld>
            <a:endParaRPr lang="en-GB" altLang="zh-CN" sz="1300"/>
          </a:p>
        </p:txBody>
      </p:sp>
      <p:sp>
        <p:nvSpPr>
          <p:cNvPr id="238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238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 dirty="0"/>
              <a:t>例</a:t>
            </a:r>
            <a:r>
              <a:rPr lang="en-US" altLang="zh-CN" sz="1800" dirty="0"/>
              <a:t>5-27</a:t>
            </a:r>
            <a:r>
              <a:rPr lang="zh-CN" altLang="en-US" sz="1800" dirty="0"/>
              <a:t> 随机文件读写（续）</a:t>
            </a:r>
          </a:p>
        </p:txBody>
      </p:sp>
    </p:spTree>
    <p:extLst>
      <p:ext uri="{BB962C8B-B14F-4D97-AF65-F5344CB8AC3E}">
        <p14:creationId xmlns:p14="http://schemas.microsoft.com/office/powerpoint/2010/main" val="3100882079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E7AAF71-42B7-4E62-9264-44DC0689EFE8}" type="slidenum">
              <a:rPr lang="zh-CN" altLang="en-GB" sz="1300" smtClean="0"/>
              <a:pPr>
                <a:spcBef>
                  <a:spcPct val="0"/>
                </a:spcBef>
              </a:pPr>
              <a:t>113</a:t>
            </a:fld>
            <a:endParaRPr lang="en-GB" altLang="zh-CN" sz="1300"/>
          </a:p>
        </p:txBody>
      </p:sp>
      <p:sp>
        <p:nvSpPr>
          <p:cNvPr id="240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695450" y="7305675"/>
            <a:ext cx="3770313" cy="2120900"/>
          </a:xfrm>
          <a:ln/>
        </p:spPr>
      </p:sp>
      <p:sp>
        <p:nvSpPr>
          <p:cNvPr id="240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2000"/>
              <a:t>说明</a:t>
            </a:r>
          </a:p>
          <a:p>
            <a:pPr lvl="1" eaLnBrk="1" hangingPunct="1"/>
            <a:r>
              <a:rPr lang="zh-CN" altLang="en-US" sz="2000"/>
              <a:t>第一个员工的姓名多于8个字符，多余的被截掉了</a:t>
            </a:r>
          </a:p>
          <a:p>
            <a:pPr lvl="1" eaLnBrk="1" hangingPunct="1"/>
            <a:r>
              <a:rPr lang="zh-CN" altLang="en-US" sz="2000"/>
              <a:t>不论英文字母还是中文汉字都占两个字节，以</a:t>
            </a:r>
            <a:r>
              <a:rPr lang="en-US" altLang="zh-CN" sz="2000"/>
              <a:t>Unicode</a:t>
            </a:r>
            <a:r>
              <a:rPr lang="zh-CN" altLang="en-US" sz="2000"/>
              <a:t>编码格式存储在文件中</a:t>
            </a:r>
            <a:endParaRPr lang="zh-CN" altLang="en-US" sz="2200"/>
          </a:p>
          <a:p>
            <a:pPr eaLnBrk="1" hangingPunct="1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142221443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/>
              <a:t>Java</a:t>
            </a:r>
            <a:r>
              <a:rPr lang="zh-CN" altLang="en-US" dirty="0"/>
              <a:t>的可检测异常和非检测异常泾渭分明。</a:t>
            </a:r>
            <a:endParaRPr lang="en-US" altLang="zh-CN" dirty="0"/>
          </a:p>
          <a:p>
            <a:r>
              <a:rPr lang="zh-CN" altLang="en-US" dirty="0"/>
              <a:t>可检测异常经编译器验证，对于声明抛出异常的任何方法，编译器将强制执行处理或声明规则。</a:t>
            </a:r>
          </a:p>
          <a:p>
            <a:r>
              <a:rPr lang="zh-CN" altLang="en-US" dirty="0"/>
              <a:t>非检测异常不遵循处理或声明规则。在产生此类异常时，不一定非要采取任何适当操作，编译器不会检查是否已解决了这样一个异常。</a:t>
            </a:r>
            <a:endParaRPr lang="en-US" altLang="zh-CN" dirty="0"/>
          </a:p>
          <a:p>
            <a:r>
              <a:rPr lang="zh-CN" altLang="en-US" dirty="0"/>
              <a:t>有两个主要类定义非检测异常：</a:t>
            </a:r>
            <a:r>
              <a:rPr lang="en-US" altLang="zh-CN" dirty="0" err="1"/>
              <a:t>RuntimeException</a:t>
            </a:r>
            <a:r>
              <a:rPr lang="zh-CN" altLang="en-US" dirty="0"/>
              <a:t>和</a:t>
            </a:r>
            <a:r>
              <a:rPr lang="en-US" altLang="zh-CN" dirty="0"/>
              <a:t>Error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为什么</a:t>
            </a:r>
            <a:r>
              <a:rPr lang="en-US" altLang="zh-CN" dirty="0"/>
              <a:t>Error</a:t>
            </a:r>
            <a:r>
              <a:rPr lang="zh-CN" altLang="en-US" dirty="0"/>
              <a:t>子类属于非检测异常？这是因为无法预知它们的产生时间。若</a:t>
            </a:r>
            <a:r>
              <a:rPr lang="en-US" altLang="zh-CN" dirty="0"/>
              <a:t>Java</a:t>
            </a:r>
            <a:r>
              <a:rPr lang="zh-CN" altLang="en-US" dirty="0"/>
              <a:t>应用程序内存不足，则随时可能出现</a:t>
            </a:r>
            <a:r>
              <a:rPr lang="en-US" altLang="zh-CN" dirty="0" err="1"/>
              <a:t>OutOfMemoryError</a:t>
            </a:r>
            <a:r>
              <a:rPr lang="zh-CN" altLang="en-US" dirty="0"/>
              <a:t>；起因一般不是应用程序中的特殊调用，而是</a:t>
            </a:r>
            <a:r>
              <a:rPr lang="en-US" altLang="zh-CN" dirty="0"/>
              <a:t>JVM</a:t>
            </a:r>
            <a:r>
              <a:rPr lang="zh-CN" altLang="en-US" dirty="0"/>
              <a:t>自身的问题。另外，</a:t>
            </a:r>
            <a:r>
              <a:rPr lang="en-US" altLang="zh-CN" dirty="0"/>
              <a:t>Error</a:t>
            </a:r>
            <a:r>
              <a:rPr lang="zh-CN" altLang="en-US" dirty="0"/>
              <a:t>类一般表示应用程序无法解决的严重问题，故将这些类视为非检测异常。</a:t>
            </a:r>
          </a:p>
          <a:p>
            <a:r>
              <a:rPr lang="en-US" altLang="zh-CN" dirty="0" err="1"/>
              <a:t>RuntimeException</a:t>
            </a:r>
            <a:r>
              <a:rPr lang="zh-CN" altLang="en-US" dirty="0"/>
              <a:t>类也属于非检测异常，一个原因是普通</a:t>
            </a:r>
            <a:r>
              <a:rPr lang="en-US" altLang="zh-CN" dirty="0"/>
              <a:t>JVM</a:t>
            </a:r>
            <a:r>
              <a:rPr lang="zh-CN" altLang="en-US" dirty="0"/>
              <a:t>操作引发的运行时异常随时可能发生。与</a:t>
            </a:r>
            <a:r>
              <a:rPr lang="en-US" altLang="zh-CN" dirty="0"/>
              <a:t>Error</a:t>
            </a:r>
            <a:r>
              <a:rPr lang="zh-CN" altLang="en-US" dirty="0"/>
              <a:t>不同，此类异常一般由特定操作引发。但这些操作在</a:t>
            </a:r>
            <a:r>
              <a:rPr lang="en-US" altLang="zh-CN" dirty="0"/>
              <a:t>Java</a:t>
            </a:r>
            <a:r>
              <a:rPr lang="zh-CN" altLang="en-US" dirty="0"/>
              <a:t>应用程序中会频繁出现。例如，若每次使用对象时，都必须编写异常处理代码来检查</a:t>
            </a:r>
            <a:r>
              <a:rPr lang="en-US" altLang="zh-CN" dirty="0"/>
              <a:t>null</a:t>
            </a:r>
            <a:r>
              <a:rPr lang="zh-CN" altLang="en-US" dirty="0"/>
              <a:t>引用，则整个应用程序很快将变成一个庞大的</a:t>
            </a:r>
            <a:r>
              <a:rPr lang="en-US" altLang="zh-CN" dirty="0"/>
              <a:t>try-catch</a:t>
            </a:r>
            <a:r>
              <a:rPr lang="zh-CN" altLang="en-US" dirty="0"/>
              <a:t>块。因此，运行时异常不受编译器检查与处理或声明规则的限制。</a:t>
            </a:r>
          </a:p>
          <a:p>
            <a:r>
              <a:rPr lang="zh-CN" altLang="en-US" dirty="0"/>
              <a:t>将</a:t>
            </a:r>
            <a:r>
              <a:rPr lang="en-US" altLang="zh-CN" dirty="0" err="1"/>
              <a:t>RuntimeException</a:t>
            </a:r>
            <a:r>
              <a:rPr lang="zh-CN" altLang="en-US" dirty="0"/>
              <a:t>类作为未检测异常还有一个原因：它们表示的问题不一定作为异常处理。可以在</a:t>
            </a:r>
            <a:r>
              <a:rPr lang="en-US" altLang="zh-CN" dirty="0"/>
              <a:t>try-catch</a:t>
            </a:r>
            <a:r>
              <a:rPr lang="zh-CN" altLang="en-US" dirty="0"/>
              <a:t>结构中处理</a:t>
            </a:r>
            <a:r>
              <a:rPr lang="en-US" altLang="zh-CN" dirty="0" err="1"/>
              <a:t>NullPointerException</a:t>
            </a:r>
            <a:r>
              <a:rPr lang="zh-CN" altLang="en-US" dirty="0"/>
              <a:t>，但若在使用引用前测试空值，则更简单，更经济。同样，可以在除法运算时检查</a:t>
            </a:r>
            <a:r>
              <a:rPr lang="en-US" altLang="zh-CN" dirty="0"/>
              <a:t>0</a:t>
            </a:r>
            <a:r>
              <a:rPr lang="zh-CN" altLang="en-US" dirty="0"/>
              <a:t>值，而不使用</a:t>
            </a:r>
            <a:r>
              <a:rPr lang="en-US" altLang="zh-CN" dirty="0" err="1"/>
              <a:t>ArithmeticException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798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4B17990A-CBB6-4728-8EBC-C87786DEC9BE}" type="slidenum">
              <a:rPr lang="zh-CN" altLang="en-GB" sz="1200" smtClean="0"/>
              <a:pPr/>
              <a:t>114</a:t>
            </a:fld>
            <a:endParaRPr lang="en-GB" altLang="zh-CN" sz="1200"/>
          </a:p>
        </p:txBody>
      </p:sp>
    </p:spTree>
    <p:extLst>
      <p:ext uri="{BB962C8B-B14F-4D97-AF65-F5344CB8AC3E}">
        <p14:creationId xmlns:p14="http://schemas.microsoft.com/office/powerpoint/2010/main" val="3413747966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E15D5B0-80E5-435C-B8C3-06D979765580}" type="slidenum">
              <a:rPr lang="zh-CN" altLang="en-GB" sz="1200" smtClean="0"/>
              <a:pPr>
                <a:spcBef>
                  <a:spcPct val="0"/>
                </a:spcBef>
              </a:pPr>
              <a:t>115</a:t>
            </a:fld>
            <a:endParaRPr lang="en-GB" altLang="zh-CN" sz="1200"/>
          </a:p>
        </p:txBody>
      </p:sp>
    </p:spTree>
    <p:extLst>
      <p:ext uri="{BB962C8B-B14F-4D97-AF65-F5344CB8AC3E}">
        <p14:creationId xmlns:p14="http://schemas.microsoft.com/office/powerpoint/2010/main" val="3223342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92696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0" y="764704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pen-book_299"/>
          <p:cNvSpPr/>
          <p:nvPr userDrawn="1"/>
        </p:nvSpPr>
        <p:spPr>
          <a:xfrm>
            <a:off x="335360" y="114432"/>
            <a:ext cx="609685" cy="506257"/>
          </a:xfrm>
          <a:custGeom>
            <a:avLst/>
            <a:gdLst>
              <a:gd name="T0" fmla="*/ 88862 h 440259"/>
              <a:gd name="T1" fmla="*/ 88862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278945 h 440259"/>
              <a:gd name="T27" fmla="*/ 278945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88862 h 440259"/>
              <a:gd name="T41" fmla="*/ 88862 h 440259"/>
              <a:gd name="T42" fmla="*/ 278945 h 440259"/>
              <a:gd name="T43" fmla="*/ 278945 h 440259"/>
              <a:gd name="T44" fmla="*/ 278945 h 440259"/>
              <a:gd name="T45" fmla="*/ 278945 h 440259"/>
              <a:gd name="T46" fmla="*/ 278945 h 440259"/>
              <a:gd name="T47" fmla="*/ 278945 h 440259"/>
              <a:gd name="T48" fmla="*/ 88862 h 440259"/>
              <a:gd name="T49" fmla="*/ 88862 h 440259"/>
              <a:gd name="T50" fmla="*/ 278945 h 440259"/>
              <a:gd name="T51" fmla="*/ 278945 h 440259"/>
              <a:gd name="T52" fmla="*/ 278945 h 440259"/>
              <a:gd name="T53" fmla="*/ 278945 h 440259"/>
              <a:gd name="T54" fmla="*/ 278945 h 440259"/>
              <a:gd name="T55" fmla="*/ 278945 h 440259"/>
              <a:gd name="T56" fmla="*/ 278945 h 440259"/>
              <a:gd name="T57" fmla="*/ 278945 h 440259"/>
              <a:gd name="T58" fmla="*/ 278945 h 440259"/>
              <a:gd name="T59" fmla="*/ 278945 h 440259"/>
              <a:gd name="T60" fmla="*/ 278945 h 440259"/>
              <a:gd name="T61" fmla="*/ 278945 h 440259"/>
              <a:gd name="T62" fmla="*/ 278945 h 440259"/>
              <a:gd name="T63" fmla="*/ 278945 h 440259"/>
              <a:gd name="T64" fmla="*/ 278945 h 440259"/>
              <a:gd name="T65" fmla="*/ 278945 h 440259"/>
              <a:gd name="T66" fmla="*/ 278945 h 440259"/>
              <a:gd name="T67" fmla="*/ 278945 h 440259"/>
              <a:gd name="T68" fmla="*/ 278945 h 440259"/>
              <a:gd name="T69" fmla="*/ 278945 h 440259"/>
              <a:gd name="T70" fmla="*/ 88862 h 440259"/>
              <a:gd name="T71" fmla="*/ 88862 h 440259"/>
              <a:gd name="T72" fmla="*/ 278945 h 440259"/>
              <a:gd name="T73" fmla="*/ 278945 h 440259"/>
              <a:gd name="T74" fmla="*/ 278945 h 440259"/>
              <a:gd name="T75" fmla="*/ 278945 h 440259"/>
              <a:gd name="T76" fmla="*/ 278945 h 440259"/>
              <a:gd name="T77" fmla="*/ 278945 h 440259"/>
              <a:gd name="T78" fmla="*/ 278945 h 440259"/>
              <a:gd name="T79" fmla="*/ 278945 h 440259"/>
              <a:gd name="T80" fmla="*/ 278945 h 440259"/>
              <a:gd name="T81" fmla="*/ 278945 h 440259"/>
              <a:gd name="T82" fmla="*/ 278945 h 440259"/>
              <a:gd name="T83" fmla="*/ 278945 h 440259"/>
              <a:gd name="T84" fmla="*/ 278945 h 440259"/>
              <a:gd name="T85" fmla="*/ 278945 h 440259"/>
              <a:gd name="T86" fmla="*/ 278945 h 440259"/>
              <a:gd name="T87" fmla="*/ 278945 h 440259"/>
              <a:gd name="T88" fmla="*/ 88862 h 440259"/>
              <a:gd name="T89" fmla="*/ 88862 h 440259"/>
              <a:gd name="T90" fmla="*/ 278945 h 440259"/>
              <a:gd name="T91" fmla="*/ 278945 h 440259"/>
              <a:gd name="T92" fmla="*/ 278945 h 440259"/>
              <a:gd name="T93" fmla="*/ 278945 h 440259"/>
              <a:gd name="T94" fmla="*/ 278945 h 440259"/>
              <a:gd name="T95" fmla="*/ 278945 h 440259"/>
              <a:gd name="T96" fmla="*/ 88862 h 440259"/>
              <a:gd name="T97" fmla="*/ 88862 h 440259"/>
              <a:gd name="T98" fmla="*/ 278945 h 440259"/>
              <a:gd name="T99" fmla="*/ 278945 h 440259"/>
              <a:gd name="T100" fmla="*/ 278945 h 440259"/>
              <a:gd name="T101" fmla="*/ 278945 h 440259"/>
              <a:gd name="T102" fmla="*/ 278945 h 440259"/>
              <a:gd name="T103" fmla="*/ 278945 h 440259"/>
              <a:gd name="T104" fmla="*/ 278945 h 440259"/>
              <a:gd name="T105" fmla="*/ 278945 h 440259"/>
              <a:gd name="T106" fmla="*/ 278945 h 440259"/>
              <a:gd name="T107" fmla="*/ 278945 h 440259"/>
              <a:gd name="T108" fmla="*/ 278945 h 440259"/>
              <a:gd name="T109" fmla="*/ 278945 h 440259"/>
              <a:gd name="T110" fmla="*/ 278945 h 440259"/>
              <a:gd name="T111" fmla="*/ 278945 h 440259"/>
              <a:gd name="T112" fmla="*/ 278945 h 440259"/>
              <a:gd name="T113" fmla="*/ 278945 h 440259"/>
              <a:gd name="T114" fmla="*/ 278945 h 440259"/>
              <a:gd name="T115" fmla="*/ 278945 h 440259"/>
              <a:gd name="T116" fmla="*/ 278945 h 440259"/>
              <a:gd name="T117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4" h="336">
                <a:moveTo>
                  <a:pt x="387" y="133"/>
                </a:moveTo>
                <a:lnTo>
                  <a:pt x="387" y="108"/>
                </a:lnTo>
                <a:lnTo>
                  <a:pt x="386" y="102"/>
                </a:lnTo>
                <a:cubicBezTo>
                  <a:pt x="385" y="101"/>
                  <a:pt x="377" y="87"/>
                  <a:pt x="361" y="72"/>
                </a:cubicBezTo>
                <a:cubicBezTo>
                  <a:pt x="348" y="61"/>
                  <a:pt x="331" y="50"/>
                  <a:pt x="308" y="45"/>
                </a:cubicBezTo>
                <a:lnTo>
                  <a:pt x="308" y="0"/>
                </a:lnTo>
                <a:cubicBezTo>
                  <a:pt x="210" y="7"/>
                  <a:pt x="200" y="84"/>
                  <a:pt x="200" y="84"/>
                </a:cubicBezTo>
                <a:lnTo>
                  <a:pt x="200" y="85"/>
                </a:lnTo>
                <a:cubicBezTo>
                  <a:pt x="200" y="85"/>
                  <a:pt x="200" y="85"/>
                  <a:pt x="200" y="85"/>
                </a:cubicBezTo>
                <a:cubicBezTo>
                  <a:pt x="196" y="81"/>
                  <a:pt x="192" y="77"/>
                  <a:pt x="187" y="72"/>
                </a:cubicBezTo>
                <a:cubicBezTo>
                  <a:pt x="171" y="57"/>
                  <a:pt x="145" y="42"/>
                  <a:pt x="112" y="42"/>
                </a:cubicBezTo>
                <a:cubicBezTo>
                  <a:pt x="79" y="42"/>
                  <a:pt x="54" y="58"/>
                  <a:pt x="38" y="72"/>
                </a:cubicBezTo>
                <a:cubicBezTo>
                  <a:pt x="22" y="87"/>
                  <a:pt x="14" y="101"/>
                  <a:pt x="14" y="102"/>
                </a:cubicBezTo>
                <a:lnTo>
                  <a:pt x="12" y="108"/>
                </a:lnTo>
                <a:lnTo>
                  <a:pt x="12" y="133"/>
                </a:lnTo>
                <a:lnTo>
                  <a:pt x="0" y="133"/>
                </a:lnTo>
                <a:lnTo>
                  <a:pt x="0" y="336"/>
                </a:lnTo>
                <a:lnTo>
                  <a:pt x="404" y="336"/>
                </a:lnTo>
                <a:lnTo>
                  <a:pt x="404" y="133"/>
                </a:lnTo>
                <a:lnTo>
                  <a:pt x="387" y="133"/>
                </a:lnTo>
                <a:close/>
                <a:moveTo>
                  <a:pt x="72" y="295"/>
                </a:moveTo>
                <a:cubicBezTo>
                  <a:pt x="83" y="289"/>
                  <a:pt x="96" y="284"/>
                  <a:pt x="112" y="284"/>
                </a:cubicBezTo>
                <a:cubicBezTo>
                  <a:pt x="128" y="284"/>
                  <a:pt x="141" y="289"/>
                  <a:pt x="152" y="295"/>
                </a:cubicBezTo>
                <a:lnTo>
                  <a:pt x="72" y="295"/>
                </a:lnTo>
                <a:close/>
                <a:moveTo>
                  <a:pt x="186" y="286"/>
                </a:moveTo>
                <a:cubicBezTo>
                  <a:pt x="170" y="271"/>
                  <a:pt x="145" y="257"/>
                  <a:pt x="112" y="257"/>
                </a:cubicBezTo>
                <a:lnTo>
                  <a:pt x="112" y="257"/>
                </a:lnTo>
                <a:cubicBezTo>
                  <a:pt x="80" y="257"/>
                  <a:pt x="56" y="271"/>
                  <a:pt x="40" y="285"/>
                </a:cubicBezTo>
                <a:lnTo>
                  <a:pt x="40" y="112"/>
                </a:lnTo>
                <a:cubicBezTo>
                  <a:pt x="42" y="108"/>
                  <a:pt x="49" y="99"/>
                  <a:pt x="58" y="91"/>
                </a:cubicBezTo>
                <a:cubicBezTo>
                  <a:pt x="71" y="80"/>
                  <a:pt x="88" y="70"/>
                  <a:pt x="112" y="70"/>
                </a:cubicBezTo>
                <a:cubicBezTo>
                  <a:pt x="137" y="70"/>
                  <a:pt x="155" y="81"/>
                  <a:pt x="169" y="93"/>
                </a:cubicBezTo>
                <a:cubicBezTo>
                  <a:pt x="175" y="98"/>
                  <a:pt x="180" y="104"/>
                  <a:pt x="183" y="109"/>
                </a:cubicBezTo>
                <a:cubicBezTo>
                  <a:pt x="185" y="110"/>
                  <a:pt x="185" y="111"/>
                  <a:pt x="186" y="112"/>
                </a:cubicBezTo>
                <a:lnTo>
                  <a:pt x="186" y="286"/>
                </a:lnTo>
                <a:close/>
                <a:moveTo>
                  <a:pt x="286" y="24"/>
                </a:moveTo>
                <a:lnTo>
                  <a:pt x="286" y="42"/>
                </a:lnTo>
                <a:lnTo>
                  <a:pt x="286" y="70"/>
                </a:lnTo>
                <a:lnTo>
                  <a:pt x="286" y="229"/>
                </a:lnTo>
                <a:cubicBezTo>
                  <a:pt x="286" y="229"/>
                  <a:pt x="249" y="222"/>
                  <a:pt x="214" y="254"/>
                </a:cubicBezTo>
                <a:lnTo>
                  <a:pt x="214" y="112"/>
                </a:lnTo>
                <a:lnTo>
                  <a:pt x="214" y="112"/>
                </a:lnTo>
                <a:lnTo>
                  <a:pt x="214" y="96"/>
                </a:lnTo>
                <a:cubicBezTo>
                  <a:pt x="214" y="96"/>
                  <a:pt x="227" y="36"/>
                  <a:pt x="286" y="24"/>
                </a:cubicBezTo>
                <a:close/>
                <a:moveTo>
                  <a:pt x="246" y="295"/>
                </a:moveTo>
                <a:cubicBezTo>
                  <a:pt x="257" y="289"/>
                  <a:pt x="270" y="284"/>
                  <a:pt x="286" y="284"/>
                </a:cubicBezTo>
                <a:cubicBezTo>
                  <a:pt x="302" y="284"/>
                  <a:pt x="315" y="289"/>
                  <a:pt x="326" y="295"/>
                </a:cubicBezTo>
                <a:lnTo>
                  <a:pt x="246" y="295"/>
                </a:lnTo>
                <a:close/>
                <a:moveTo>
                  <a:pt x="360" y="286"/>
                </a:moveTo>
                <a:cubicBezTo>
                  <a:pt x="344" y="271"/>
                  <a:pt x="319" y="257"/>
                  <a:pt x="286" y="257"/>
                </a:cubicBezTo>
                <a:cubicBezTo>
                  <a:pt x="254" y="257"/>
                  <a:pt x="230" y="271"/>
                  <a:pt x="214" y="285"/>
                </a:cubicBezTo>
                <a:lnTo>
                  <a:pt x="214" y="284"/>
                </a:lnTo>
                <a:cubicBezTo>
                  <a:pt x="244" y="242"/>
                  <a:pt x="308" y="253"/>
                  <a:pt x="308" y="253"/>
                </a:cubicBezTo>
                <a:lnTo>
                  <a:pt x="308" y="73"/>
                </a:lnTo>
                <a:cubicBezTo>
                  <a:pt x="322" y="77"/>
                  <a:pt x="334" y="85"/>
                  <a:pt x="343" y="92"/>
                </a:cubicBezTo>
                <a:cubicBezTo>
                  <a:pt x="349" y="98"/>
                  <a:pt x="354" y="104"/>
                  <a:pt x="357" y="109"/>
                </a:cubicBezTo>
                <a:cubicBezTo>
                  <a:pt x="358" y="110"/>
                  <a:pt x="359" y="111"/>
                  <a:pt x="360" y="112"/>
                </a:cubicBezTo>
                <a:lnTo>
                  <a:pt x="360" y="286"/>
                </a:lnTo>
                <a:lnTo>
                  <a:pt x="360" y="286"/>
                </a:lnTo>
                <a:close/>
              </a:path>
            </a:pathLst>
          </a:custGeom>
          <a:solidFill>
            <a:srgbClr val="255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" descr="2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00520" y="188538"/>
            <a:ext cx="1665962" cy="3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0818579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92696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0" y="764704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pen-book_299"/>
          <p:cNvSpPr/>
          <p:nvPr userDrawn="1"/>
        </p:nvSpPr>
        <p:spPr>
          <a:xfrm>
            <a:off x="335360" y="114432"/>
            <a:ext cx="609685" cy="506257"/>
          </a:xfrm>
          <a:custGeom>
            <a:avLst/>
            <a:gdLst>
              <a:gd name="T0" fmla="*/ 88862 h 440259"/>
              <a:gd name="T1" fmla="*/ 88862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278945 h 440259"/>
              <a:gd name="T27" fmla="*/ 278945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88862 h 440259"/>
              <a:gd name="T41" fmla="*/ 88862 h 440259"/>
              <a:gd name="T42" fmla="*/ 278945 h 440259"/>
              <a:gd name="T43" fmla="*/ 278945 h 440259"/>
              <a:gd name="T44" fmla="*/ 278945 h 440259"/>
              <a:gd name="T45" fmla="*/ 278945 h 440259"/>
              <a:gd name="T46" fmla="*/ 278945 h 440259"/>
              <a:gd name="T47" fmla="*/ 278945 h 440259"/>
              <a:gd name="T48" fmla="*/ 88862 h 440259"/>
              <a:gd name="T49" fmla="*/ 88862 h 440259"/>
              <a:gd name="T50" fmla="*/ 278945 h 440259"/>
              <a:gd name="T51" fmla="*/ 278945 h 440259"/>
              <a:gd name="T52" fmla="*/ 278945 h 440259"/>
              <a:gd name="T53" fmla="*/ 278945 h 440259"/>
              <a:gd name="T54" fmla="*/ 278945 h 440259"/>
              <a:gd name="T55" fmla="*/ 278945 h 440259"/>
              <a:gd name="T56" fmla="*/ 278945 h 440259"/>
              <a:gd name="T57" fmla="*/ 278945 h 440259"/>
              <a:gd name="T58" fmla="*/ 278945 h 440259"/>
              <a:gd name="T59" fmla="*/ 278945 h 440259"/>
              <a:gd name="T60" fmla="*/ 278945 h 440259"/>
              <a:gd name="T61" fmla="*/ 278945 h 440259"/>
              <a:gd name="T62" fmla="*/ 278945 h 440259"/>
              <a:gd name="T63" fmla="*/ 278945 h 440259"/>
              <a:gd name="T64" fmla="*/ 278945 h 440259"/>
              <a:gd name="T65" fmla="*/ 278945 h 440259"/>
              <a:gd name="T66" fmla="*/ 278945 h 440259"/>
              <a:gd name="T67" fmla="*/ 278945 h 440259"/>
              <a:gd name="T68" fmla="*/ 278945 h 440259"/>
              <a:gd name="T69" fmla="*/ 278945 h 440259"/>
              <a:gd name="T70" fmla="*/ 88862 h 440259"/>
              <a:gd name="T71" fmla="*/ 88862 h 440259"/>
              <a:gd name="T72" fmla="*/ 278945 h 440259"/>
              <a:gd name="T73" fmla="*/ 278945 h 440259"/>
              <a:gd name="T74" fmla="*/ 278945 h 440259"/>
              <a:gd name="T75" fmla="*/ 278945 h 440259"/>
              <a:gd name="T76" fmla="*/ 278945 h 440259"/>
              <a:gd name="T77" fmla="*/ 278945 h 440259"/>
              <a:gd name="T78" fmla="*/ 278945 h 440259"/>
              <a:gd name="T79" fmla="*/ 278945 h 440259"/>
              <a:gd name="T80" fmla="*/ 278945 h 440259"/>
              <a:gd name="T81" fmla="*/ 278945 h 440259"/>
              <a:gd name="T82" fmla="*/ 278945 h 440259"/>
              <a:gd name="T83" fmla="*/ 278945 h 440259"/>
              <a:gd name="T84" fmla="*/ 278945 h 440259"/>
              <a:gd name="T85" fmla="*/ 278945 h 440259"/>
              <a:gd name="T86" fmla="*/ 278945 h 440259"/>
              <a:gd name="T87" fmla="*/ 278945 h 440259"/>
              <a:gd name="T88" fmla="*/ 88862 h 440259"/>
              <a:gd name="T89" fmla="*/ 88862 h 440259"/>
              <a:gd name="T90" fmla="*/ 278945 h 440259"/>
              <a:gd name="T91" fmla="*/ 278945 h 440259"/>
              <a:gd name="T92" fmla="*/ 278945 h 440259"/>
              <a:gd name="T93" fmla="*/ 278945 h 440259"/>
              <a:gd name="T94" fmla="*/ 278945 h 440259"/>
              <a:gd name="T95" fmla="*/ 278945 h 440259"/>
              <a:gd name="T96" fmla="*/ 88862 h 440259"/>
              <a:gd name="T97" fmla="*/ 88862 h 440259"/>
              <a:gd name="T98" fmla="*/ 278945 h 440259"/>
              <a:gd name="T99" fmla="*/ 278945 h 440259"/>
              <a:gd name="T100" fmla="*/ 278945 h 440259"/>
              <a:gd name="T101" fmla="*/ 278945 h 440259"/>
              <a:gd name="T102" fmla="*/ 278945 h 440259"/>
              <a:gd name="T103" fmla="*/ 278945 h 440259"/>
              <a:gd name="T104" fmla="*/ 278945 h 440259"/>
              <a:gd name="T105" fmla="*/ 278945 h 440259"/>
              <a:gd name="T106" fmla="*/ 278945 h 440259"/>
              <a:gd name="T107" fmla="*/ 278945 h 440259"/>
              <a:gd name="T108" fmla="*/ 278945 h 440259"/>
              <a:gd name="T109" fmla="*/ 278945 h 440259"/>
              <a:gd name="T110" fmla="*/ 278945 h 440259"/>
              <a:gd name="T111" fmla="*/ 278945 h 440259"/>
              <a:gd name="T112" fmla="*/ 278945 h 440259"/>
              <a:gd name="T113" fmla="*/ 278945 h 440259"/>
              <a:gd name="T114" fmla="*/ 278945 h 440259"/>
              <a:gd name="T115" fmla="*/ 278945 h 440259"/>
              <a:gd name="T116" fmla="*/ 278945 h 440259"/>
              <a:gd name="T117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4" h="336">
                <a:moveTo>
                  <a:pt x="387" y="133"/>
                </a:moveTo>
                <a:lnTo>
                  <a:pt x="387" y="108"/>
                </a:lnTo>
                <a:lnTo>
                  <a:pt x="386" y="102"/>
                </a:lnTo>
                <a:cubicBezTo>
                  <a:pt x="385" y="101"/>
                  <a:pt x="377" y="87"/>
                  <a:pt x="361" y="72"/>
                </a:cubicBezTo>
                <a:cubicBezTo>
                  <a:pt x="348" y="61"/>
                  <a:pt x="331" y="50"/>
                  <a:pt x="308" y="45"/>
                </a:cubicBezTo>
                <a:lnTo>
                  <a:pt x="308" y="0"/>
                </a:lnTo>
                <a:cubicBezTo>
                  <a:pt x="210" y="7"/>
                  <a:pt x="200" y="84"/>
                  <a:pt x="200" y="84"/>
                </a:cubicBezTo>
                <a:lnTo>
                  <a:pt x="200" y="85"/>
                </a:lnTo>
                <a:cubicBezTo>
                  <a:pt x="200" y="85"/>
                  <a:pt x="200" y="85"/>
                  <a:pt x="200" y="85"/>
                </a:cubicBezTo>
                <a:cubicBezTo>
                  <a:pt x="196" y="81"/>
                  <a:pt x="192" y="77"/>
                  <a:pt x="187" y="72"/>
                </a:cubicBezTo>
                <a:cubicBezTo>
                  <a:pt x="171" y="57"/>
                  <a:pt x="145" y="42"/>
                  <a:pt x="112" y="42"/>
                </a:cubicBezTo>
                <a:cubicBezTo>
                  <a:pt x="79" y="42"/>
                  <a:pt x="54" y="58"/>
                  <a:pt x="38" y="72"/>
                </a:cubicBezTo>
                <a:cubicBezTo>
                  <a:pt x="22" y="87"/>
                  <a:pt x="14" y="101"/>
                  <a:pt x="14" y="102"/>
                </a:cubicBezTo>
                <a:lnTo>
                  <a:pt x="12" y="108"/>
                </a:lnTo>
                <a:lnTo>
                  <a:pt x="12" y="133"/>
                </a:lnTo>
                <a:lnTo>
                  <a:pt x="0" y="133"/>
                </a:lnTo>
                <a:lnTo>
                  <a:pt x="0" y="336"/>
                </a:lnTo>
                <a:lnTo>
                  <a:pt x="404" y="336"/>
                </a:lnTo>
                <a:lnTo>
                  <a:pt x="404" y="133"/>
                </a:lnTo>
                <a:lnTo>
                  <a:pt x="387" y="133"/>
                </a:lnTo>
                <a:close/>
                <a:moveTo>
                  <a:pt x="72" y="295"/>
                </a:moveTo>
                <a:cubicBezTo>
                  <a:pt x="83" y="289"/>
                  <a:pt x="96" y="284"/>
                  <a:pt x="112" y="284"/>
                </a:cubicBezTo>
                <a:cubicBezTo>
                  <a:pt x="128" y="284"/>
                  <a:pt x="141" y="289"/>
                  <a:pt x="152" y="295"/>
                </a:cubicBezTo>
                <a:lnTo>
                  <a:pt x="72" y="295"/>
                </a:lnTo>
                <a:close/>
                <a:moveTo>
                  <a:pt x="186" y="286"/>
                </a:moveTo>
                <a:cubicBezTo>
                  <a:pt x="170" y="271"/>
                  <a:pt x="145" y="257"/>
                  <a:pt x="112" y="257"/>
                </a:cubicBezTo>
                <a:lnTo>
                  <a:pt x="112" y="257"/>
                </a:lnTo>
                <a:cubicBezTo>
                  <a:pt x="80" y="257"/>
                  <a:pt x="56" y="271"/>
                  <a:pt x="40" y="285"/>
                </a:cubicBezTo>
                <a:lnTo>
                  <a:pt x="40" y="112"/>
                </a:lnTo>
                <a:cubicBezTo>
                  <a:pt x="42" y="108"/>
                  <a:pt x="49" y="99"/>
                  <a:pt x="58" y="91"/>
                </a:cubicBezTo>
                <a:cubicBezTo>
                  <a:pt x="71" y="80"/>
                  <a:pt x="88" y="70"/>
                  <a:pt x="112" y="70"/>
                </a:cubicBezTo>
                <a:cubicBezTo>
                  <a:pt x="137" y="70"/>
                  <a:pt x="155" y="81"/>
                  <a:pt x="169" y="93"/>
                </a:cubicBezTo>
                <a:cubicBezTo>
                  <a:pt x="175" y="98"/>
                  <a:pt x="180" y="104"/>
                  <a:pt x="183" y="109"/>
                </a:cubicBezTo>
                <a:cubicBezTo>
                  <a:pt x="185" y="110"/>
                  <a:pt x="185" y="111"/>
                  <a:pt x="186" y="112"/>
                </a:cubicBezTo>
                <a:lnTo>
                  <a:pt x="186" y="286"/>
                </a:lnTo>
                <a:close/>
                <a:moveTo>
                  <a:pt x="286" y="24"/>
                </a:moveTo>
                <a:lnTo>
                  <a:pt x="286" y="42"/>
                </a:lnTo>
                <a:lnTo>
                  <a:pt x="286" y="70"/>
                </a:lnTo>
                <a:lnTo>
                  <a:pt x="286" y="229"/>
                </a:lnTo>
                <a:cubicBezTo>
                  <a:pt x="286" y="229"/>
                  <a:pt x="249" y="222"/>
                  <a:pt x="214" y="254"/>
                </a:cubicBezTo>
                <a:lnTo>
                  <a:pt x="214" y="112"/>
                </a:lnTo>
                <a:lnTo>
                  <a:pt x="214" y="112"/>
                </a:lnTo>
                <a:lnTo>
                  <a:pt x="214" y="96"/>
                </a:lnTo>
                <a:cubicBezTo>
                  <a:pt x="214" y="96"/>
                  <a:pt x="227" y="36"/>
                  <a:pt x="286" y="24"/>
                </a:cubicBezTo>
                <a:close/>
                <a:moveTo>
                  <a:pt x="246" y="295"/>
                </a:moveTo>
                <a:cubicBezTo>
                  <a:pt x="257" y="289"/>
                  <a:pt x="270" y="284"/>
                  <a:pt x="286" y="284"/>
                </a:cubicBezTo>
                <a:cubicBezTo>
                  <a:pt x="302" y="284"/>
                  <a:pt x="315" y="289"/>
                  <a:pt x="326" y="295"/>
                </a:cubicBezTo>
                <a:lnTo>
                  <a:pt x="246" y="295"/>
                </a:lnTo>
                <a:close/>
                <a:moveTo>
                  <a:pt x="360" y="286"/>
                </a:moveTo>
                <a:cubicBezTo>
                  <a:pt x="344" y="271"/>
                  <a:pt x="319" y="257"/>
                  <a:pt x="286" y="257"/>
                </a:cubicBezTo>
                <a:cubicBezTo>
                  <a:pt x="254" y="257"/>
                  <a:pt x="230" y="271"/>
                  <a:pt x="214" y="285"/>
                </a:cubicBezTo>
                <a:lnTo>
                  <a:pt x="214" y="284"/>
                </a:lnTo>
                <a:cubicBezTo>
                  <a:pt x="244" y="242"/>
                  <a:pt x="308" y="253"/>
                  <a:pt x="308" y="253"/>
                </a:cubicBezTo>
                <a:lnTo>
                  <a:pt x="308" y="73"/>
                </a:lnTo>
                <a:cubicBezTo>
                  <a:pt x="322" y="77"/>
                  <a:pt x="334" y="85"/>
                  <a:pt x="343" y="92"/>
                </a:cubicBezTo>
                <a:cubicBezTo>
                  <a:pt x="349" y="98"/>
                  <a:pt x="354" y="104"/>
                  <a:pt x="357" y="109"/>
                </a:cubicBezTo>
                <a:cubicBezTo>
                  <a:pt x="358" y="110"/>
                  <a:pt x="359" y="111"/>
                  <a:pt x="360" y="112"/>
                </a:cubicBezTo>
                <a:lnTo>
                  <a:pt x="360" y="286"/>
                </a:lnTo>
                <a:lnTo>
                  <a:pt x="360" y="286"/>
                </a:lnTo>
                <a:close/>
              </a:path>
            </a:pathLst>
          </a:custGeom>
          <a:solidFill>
            <a:srgbClr val="255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2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00520" y="188538"/>
            <a:ext cx="1665962" cy="3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7386341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92696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0" y="764704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pen-book_299"/>
          <p:cNvSpPr/>
          <p:nvPr userDrawn="1"/>
        </p:nvSpPr>
        <p:spPr>
          <a:xfrm>
            <a:off x="335360" y="114432"/>
            <a:ext cx="609685" cy="506257"/>
          </a:xfrm>
          <a:custGeom>
            <a:avLst/>
            <a:gdLst>
              <a:gd name="T0" fmla="*/ 88862 h 440259"/>
              <a:gd name="T1" fmla="*/ 88862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278945 h 440259"/>
              <a:gd name="T27" fmla="*/ 278945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88862 h 440259"/>
              <a:gd name="T41" fmla="*/ 88862 h 440259"/>
              <a:gd name="T42" fmla="*/ 278945 h 440259"/>
              <a:gd name="T43" fmla="*/ 278945 h 440259"/>
              <a:gd name="T44" fmla="*/ 278945 h 440259"/>
              <a:gd name="T45" fmla="*/ 278945 h 440259"/>
              <a:gd name="T46" fmla="*/ 278945 h 440259"/>
              <a:gd name="T47" fmla="*/ 278945 h 440259"/>
              <a:gd name="T48" fmla="*/ 88862 h 440259"/>
              <a:gd name="T49" fmla="*/ 88862 h 440259"/>
              <a:gd name="T50" fmla="*/ 278945 h 440259"/>
              <a:gd name="T51" fmla="*/ 278945 h 440259"/>
              <a:gd name="T52" fmla="*/ 278945 h 440259"/>
              <a:gd name="T53" fmla="*/ 278945 h 440259"/>
              <a:gd name="T54" fmla="*/ 278945 h 440259"/>
              <a:gd name="T55" fmla="*/ 278945 h 440259"/>
              <a:gd name="T56" fmla="*/ 278945 h 440259"/>
              <a:gd name="T57" fmla="*/ 278945 h 440259"/>
              <a:gd name="T58" fmla="*/ 278945 h 440259"/>
              <a:gd name="T59" fmla="*/ 278945 h 440259"/>
              <a:gd name="T60" fmla="*/ 278945 h 440259"/>
              <a:gd name="T61" fmla="*/ 278945 h 440259"/>
              <a:gd name="T62" fmla="*/ 278945 h 440259"/>
              <a:gd name="T63" fmla="*/ 278945 h 440259"/>
              <a:gd name="T64" fmla="*/ 278945 h 440259"/>
              <a:gd name="T65" fmla="*/ 278945 h 440259"/>
              <a:gd name="T66" fmla="*/ 278945 h 440259"/>
              <a:gd name="T67" fmla="*/ 278945 h 440259"/>
              <a:gd name="T68" fmla="*/ 278945 h 440259"/>
              <a:gd name="T69" fmla="*/ 278945 h 440259"/>
              <a:gd name="T70" fmla="*/ 88862 h 440259"/>
              <a:gd name="T71" fmla="*/ 88862 h 440259"/>
              <a:gd name="T72" fmla="*/ 278945 h 440259"/>
              <a:gd name="T73" fmla="*/ 278945 h 440259"/>
              <a:gd name="T74" fmla="*/ 278945 h 440259"/>
              <a:gd name="T75" fmla="*/ 278945 h 440259"/>
              <a:gd name="T76" fmla="*/ 278945 h 440259"/>
              <a:gd name="T77" fmla="*/ 278945 h 440259"/>
              <a:gd name="T78" fmla="*/ 278945 h 440259"/>
              <a:gd name="T79" fmla="*/ 278945 h 440259"/>
              <a:gd name="T80" fmla="*/ 278945 h 440259"/>
              <a:gd name="T81" fmla="*/ 278945 h 440259"/>
              <a:gd name="T82" fmla="*/ 278945 h 440259"/>
              <a:gd name="T83" fmla="*/ 278945 h 440259"/>
              <a:gd name="T84" fmla="*/ 278945 h 440259"/>
              <a:gd name="T85" fmla="*/ 278945 h 440259"/>
              <a:gd name="T86" fmla="*/ 278945 h 440259"/>
              <a:gd name="T87" fmla="*/ 278945 h 440259"/>
              <a:gd name="T88" fmla="*/ 88862 h 440259"/>
              <a:gd name="T89" fmla="*/ 88862 h 440259"/>
              <a:gd name="T90" fmla="*/ 278945 h 440259"/>
              <a:gd name="T91" fmla="*/ 278945 h 440259"/>
              <a:gd name="T92" fmla="*/ 278945 h 440259"/>
              <a:gd name="T93" fmla="*/ 278945 h 440259"/>
              <a:gd name="T94" fmla="*/ 278945 h 440259"/>
              <a:gd name="T95" fmla="*/ 278945 h 440259"/>
              <a:gd name="T96" fmla="*/ 88862 h 440259"/>
              <a:gd name="T97" fmla="*/ 88862 h 440259"/>
              <a:gd name="T98" fmla="*/ 278945 h 440259"/>
              <a:gd name="T99" fmla="*/ 278945 h 440259"/>
              <a:gd name="T100" fmla="*/ 278945 h 440259"/>
              <a:gd name="T101" fmla="*/ 278945 h 440259"/>
              <a:gd name="T102" fmla="*/ 278945 h 440259"/>
              <a:gd name="T103" fmla="*/ 278945 h 440259"/>
              <a:gd name="T104" fmla="*/ 278945 h 440259"/>
              <a:gd name="T105" fmla="*/ 278945 h 440259"/>
              <a:gd name="T106" fmla="*/ 278945 h 440259"/>
              <a:gd name="T107" fmla="*/ 278945 h 440259"/>
              <a:gd name="T108" fmla="*/ 278945 h 440259"/>
              <a:gd name="T109" fmla="*/ 278945 h 440259"/>
              <a:gd name="T110" fmla="*/ 278945 h 440259"/>
              <a:gd name="T111" fmla="*/ 278945 h 440259"/>
              <a:gd name="T112" fmla="*/ 278945 h 440259"/>
              <a:gd name="T113" fmla="*/ 278945 h 440259"/>
              <a:gd name="T114" fmla="*/ 278945 h 440259"/>
              <a:gd name="T115" fmla="*/ 278945 h 440259"/>
              <a:gd name="T116" fmla="*/ 278945 h 440259"/>
              <a:gd name="T117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4" h="336">
                <a:moveTo>
                  <a:pt x="387" y="133"/>
                </a:moveTo>
                <a:lnTo>
                  <a:pt x="387" y="108"/>
                </a:lnTo>
                <a:lnTo>
                  <a:pt x="386" y="102"/>
                </a:lnTo>
                <a:cubicBezTo>
                  <a:pt x="385" y="101"/>
                  <a:pt x="377" y="87"/>
                  <a:pt x="361" y="72"/>
                </a:cubicBezTo>
                <a:cubicBezTo>
                  <a:pt x="348" y="61"/>
                  <a:pt x="331" y="50"/>
                  <a:pt x="308" y="45"/>
                </a:cubicBezTo>
                <a:lnTo>
                  <a:pt x="308" y="0"/>
                </a:lnTo>
                <a:cubicBezTo>
                  <a:pt x="210" y="7"/>
                  <a:pt x="200" y="84"/>
                  <a:pt x="200" y="84"/>
                </a:cubicBezTo>
                <a:lnTo>
                  <a:pt x="200" y="85"/>
                </a:lnTo>
                <a:cubicBezTo>
                  <a:pt x="200" y="85"/>
                  <a:pt x="200" y="85"/>
                  <a:pt x="200" y="85"/>
                </a:cubicBezTo>
                <a:cubicBezTo>
                  <a:pt x="196" y="81"/>
                  <a:pt x="192" y="77"/>
                  <a:pt x="187" y="72"/>
                </a:cubicBezTo>
                <a:cubicBezTo>
                  <a:pt x="171" y="57"/>
                  <a:pt x="145" y="42"/>
                  <a:pt x="112" y="42"/>
                </a:cubicBezTo>
                <a:cubicBezTo>
                  <a:pt x="79" y="42"/>
                  <a:pt x="54" y="58"/>
                  <a:pt x="38" y="72"/>
                </a:cubicBezTo>
                <a:cubicBezTo>
                  <a:pt x="22" y="87"/>
                  <a:pt x="14" y="101"/>
                  <a:pt x="14" y="102"/>
                </a:cubicBezTo>
                <a:lnTo>
                  <a:pt x="12" y="108"/>
                </a:lnTo>
                <a:lnTo>
                  <a:pt x="12" y="133"/>
                </a:lnTo>
                <a:lnTo>
                  <a:pt x="0" y="133"/>
                </a:lnTo>
                <a:lnTo>
                  <a:pt x="0" y="336"/>
                </a:lnTo>
                <a:lnTo>
                  <a:pt x="404" y="336"/>
                </a:lnTo>
                <a:lnTo>
                  <a:pt x="404" y="133"/>
                </a:lnTo>
                <a:lnTo>
                  <a:pt x="387" y="133"/>
                </a:lnTo>
                <a:close/>
                <a:moveTo>
                  <a:pt x="72" y="295"/>
                </a:moveTo>
                <a:cubicBezTo>
                  <a:pt x="83" y="289"/>
                  <a:pt x="96" y="284"/>
                  <a:pt x="112" y="284"/>
                </a:cubicBezTo>
                <a:cubicBezTo>
                  <a:pt x="128" y="284"/>
                  <a:pt x="141" y="289"/>
                  <a:pt x="152" y="295"/>
                </a:cubicBezTo>
                <a:lnTo>
                  <a:pt x="72" y="295"/>
                </a:lnTo>
                <a:close/>
                <a:moveTo>
                  <a:pt x="186" y="286"/>
                </a:moveTo>
                <a:cubicBezTo>
                  <a:pt x="170" y="271"/>
                  <a:pt x="145" y="257"/>
                  <a:pt x="112" y="257"/>
                </a:cubicBezTo>
                <a:lnTo>
                  <a:pt x="112" y="257"/>
                </a:lnTo>
                <a:cubicBezTo>
                  <a:pt x="80" y="257"/>
                  <a:pt x="56" y="271"/>
                  <a:pt x="40" y="285"/>
                </a:cubicBezTo>
                <a:lnTo>
                  <a:pt x="40" y="112"/>
                </a:lnTo>
                <a:cubicBezTo>
                  <a:pt x="42" y="108"/>
                  <a:pt x="49" y="99"/>
                  <a:pt x="58" y="91"/>
                </a:cubicBezTo>
                <a:cubicBezTo>
                  <a:pt x="71" y="80"/>
                  <a:pt x="88" y="70"/>
                  <a:pt x="112" y="70"/>
                </a:cubicBezTo>
                <a:cubicBezTo>
                  <a:pt x="137" y="70"/>
                  <a:pt x="155" y="81"/>
                  <a:pt x="169" y="93"/>
                </a:cubicBezTo>
                <a:cubicBezTo>
                  <a:pt x="175" y="98"/>
                  <a:pt x="180" y="104"/>
                  <a:pt x="183" y="109"/>
                </a:cubicBezTo>
                <a:cubicBezTo>
                  <a:pt x="185" y="110"/>
                  <a:pt x="185" y="111"/>
                  <a:pt x="186" y="112"/>
                </a:cubicBezTo>
                <a:lnTo>
                  <a:pt x="186" y="286"/>
                </a:lnTo>
                <a:close/>
                <a:moveTo>
                  <a:pt x="286" y="24"/>
                </a:moveTo>
                <a:lnTo>
                  <a:pt x="286" y="42"/>
                </a:lnTo>
                <a:lnTo>
                  <a:pt x="286" y="70"/>
                </a:lnTo>
                <a:lnTo>
                  <a:pt x="286" y="229"/>
                </a:lnTo>
                <a:cubicBezTo>
                  <a:pt x="286" y="229"/>
                  <a:pt x="249" y="222"/>
                  <a:pt x="214" y="254"/>
                </a:cubicBezTo>
                <a:lnTo>
                  <a:pt x="214" y="112"/>
                </a:lnTo>
                <a:lnTo>
                  <a:pt x="214" y="112"/>
                </a:lnTo>
                <a:lnTo>
                  <a:pt x="214" y="96"/>
                </a:lnTo>
                <a:cubicBezTo>
                  <a:pt x="214" y="96"/>
                  <a:pt x="227" y="36"/>
                  <a:pt x="286" y="24"/>
                </a:cubicBezTo>
                <a:close/>
                <a:moveTo>
                  <a:pt x="246" y="295"/>
                </a:moveTo>
                <a:cubicBezTo>
                  <a:pt x="257" y="289"/>
                  <a:pt x="270" y="284"/>
                  <a:pt x="286" y="284"/>
                </a:cubicBezTo>
                <a:cubicBezTo>
                  <a:pt x="302" y="284"/>
                  <a:pt x="315" y="289"/>
                  <a:pt x="326" y="295"/>
                </a:cubicBezTo>
                <a:lnTo>
                  <a:pt x="246" y="295"/>
                </a:lnTo>
                <a:close/>
                <a:moveTo>
                  <a:pt x="360" y="286"/>
                </a:moveTo>
                <a:cubicBezTo>
                  <a:pt x="344" y="271"/>
                  <a:pt x="319" y="257"/>
                  <a:pt x="286" y="257"/>
                </a:cubicBezTo>
                <a:cubicBezTo>
                  <a:pt x="254" y="257"/>
                  <a:pt x="230" y="271"/>
                  <a:pt x="214" y="285"/>
                </a:cubicBezTo>
                <a:lnTo>
                  <a:pt x="214" y="284"/>
                </a:lnTo>
                <a:cubicBezTo>
                  <a:pt x="244" y="242"/>
                  <a:pt x="308" y="253"/>
                  <a:pt x="308" y="253"/>
                </a:cubicBezTo>
                <a:lnTo>
                  <a:pt x="308" y="73"/>
                </a:lnTo>
                <a:cubicBezTo>
                  <a:pt x="322" y="77"/>
                  <a:pt x="334" y="85"/>
                  <a:pt x="343" y="92"/>
                </a:cubicBezTo>
                <a:cubicBezTo>
                  <a:pt x="349" y="98"/>
                  <a:pt x="354" y="104"/>
                  <a:pt x="357" y="109"/>
                </a:cubicBezTo>
                <a:cubicBezTo>
                  <a:pt x="358" y="110"/>
                  <a:pt x="359" y="111"/>
                  <a:pt x="360" y="112"/>
                </a:cubicBezTo>
                <a:lnTo>
                  <a:pt x="360" y="286"/>
                </a:lnTo>
                <a:lnTo>
                  <a:pt x="360" y="286"/>
                </a:lnTo>
                <a:close/>
              </a:path>
            </a:pathLst>
          </a:custGeom>
          <a:solidFill>
            <a:srgbClr val="255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2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00520" y="188538"/>
            <a:ext cx="1665962" cy="3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243698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65407-1EEB-46D9-A833-FD9CB25D86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877721B-5E8A-F63F-7D7A-DE559B9D52E9}"/>
              </a:ext>
            </a:extLst>
          </p:cNvPr>
          <p:cNvCxnSpPr/>
          <p:nvPr userDrawn="1"/>
        </p:nvCxnSpPr>
        <p:spPr>
          <a:xfrm>
            <a:off x="0" y="692696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B86848F-DA02-E4C8-C528-04F3C1BAEBE9}"/>
              </a:ext>
            </a:extLst>
          </p:cNvPr>
          <p:cNvCxnSpPr/>
          <p:nvPr userDrawn="1"/>
        </p:nvCxnSpPr>
        <p:spPr>
          <a:xfrm>
            <a:off x="0" y="764704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pen-book_299">
            <a:extLst>
              <a:ext uri="{FF2B5EF4-FFF2-40B4-BE49-F238E27FC236}">
                <a16:creationId xmlns:a16="http://schemas.microsoft.com/office/drawing/2014/main" id="{A57B1D60-CC7F-0F6B-B332-5738A7A59F43}"/>
              </a:ext>
            </a:extLst>
          </p:cNvPr>
          <p:cNvSpPr/>
          <p:nvPr userDrawn="1"/>
        </p:nvSpPr>
        <p:spPr>
          <a:xfrm>
            <a:off x="335360" y="114432"/>
            <a:ext cx="609685" cy="506257"/>
          </a:xfrm>
          <a:custGeom>
            <a:avLst/>
            <a:gdLst>
              <a:gd name="T0" fmla="*/ 88862 h 440259"/>
              <a:gd name="T1" fmla="*/ 88862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278945 h 440259"/>
              <a:gd name="T27" fmla="*/ 278945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88862 h 440259"/>
              <a:gd name="T41" fmla="*/ 88862 h 440259"/>
              <a:gd name="T42" fmla="*/ 278945 h 440259"/>
              <a:gd name="T43" fmla="*/ 278945 h 440259"/>
              <a:gd name="T44" fmla="*/ 278945 h 440259"/>
              <a:gd name="T45" fmla="*/ 278945 h 440259"/>
              <a:gd name="T46" fmla="*/ 278945 h 440259"/>
              <a:gd name="T47" fmla="*/ 278945 h 440259"/>
              <a:gd name="T48" fmla="*/ 88862 h 440259"/>
              <a:gd name="T49" fmla="*/ 88862 h 440259"/>
              <a:gd name="T50" fmla="*/ 278945 h 440259"/>
              <a:gd name="T51" fmla="*/ 278945 h 440259"/>
              <a:gd name="T52" fmla="*/ 278945 h 440259"/>
              <a:gd name="T53" fmla="*/ 278945 h 440259"/>
              <a:gd name="T54" fmla="*/ 278945 h 440259"/>
              <a:gd name="T55" fmla="*/ 278945 h 440259"/>
              <a:gd name="T56" fmla="*/ 278945 h 440259"/>
              <a:gd name="T57" fmla="*/ 278945 h 440259"/>
              <a:gd name="T58" fmla="*/ 278945 h 440259"/>
              <a:gd name="T59" fmla="*/ 278945 h 440259"/>
              <a:gd name="T60" fmla="*/ 278945 h 440259"/>
              <a:gd name="T61" fmla="*/ 278945 h 440259"/>
              <a:gd name="T62" fmla="*/ 278945 h 440259"/>
              <a:gd name="T63" fmla="*/ 278945 h 440259"/>
              <a:gd name="T64" fmla="*/ 278945 h 440259"/>
              <a:gd name="T65" fmla="*/ 278945 h 440259"/>
              <a:gd name="T66" fmla="*/ 278945 h 440259"/>
              <a:gd name="T67" fmla="*/ 278945 h 440259"/>
              <a:gd name="T68" fmla="*/ 278945 h 440259"/>
              <a:gd name="T69" fmla="*/ 278945 h 440259"/>
              <a:gd name="T70" fmla="*/ 88862 h 440259"/>
              <a:gd name="T71" fmla="*/ 88862 h 440259"/>
              <a:gd name="T72" fmla="*/ 278945 h 440259"/>
              <a:gd name="T73" fmla="*/ 278945 h 440259"/>
              <a:gd name="T74" fmla="*/ 278945 h 440259"/>
              <a:gd name="T75" fmla="*/ 278945 h 440259"/>
              <a:gd name="T76" fmla="*/ 278945 h 440259"/>
              <a:gd name="T77" fmla="*/ 278945 h 440259"/>
              <a:gd name="T78" fmla="*/ 278945 h 440259"/>
              <a:gd name="T79" fmla="*/ 278945 h 440259"/>
              <a:gd name="T80" fmla="*/ 278945 h 440259"/>
              <a:gd name="T81" fmla="*/ 278945 h 440259"/>
              <a:gd name="T82" fmla="*/ 278945 h 440259"/>
              <a:gd name="T83" fmla="*/ 278945 h 440259"/>
              <a:gd name="T84" fmla="*/ 278945 h 440259"/>
              <a:gd name="T85" fmla="*/ 278945 h 440259"/>
              <a:gd name="T86" fmla="*/ 278945 h 440259"/>
              <a:gd name="T87" fmla="*/ 278945 h 440259"/>
              <a:gd name="T88" fmla="*/ 88862 h 440259"/>
              <a:gd name="T89" fmla="*/ 88862 h 440259"/>
              <a:gd name="T90" fmla="*/ 278945 h 440259"/>
              <a:gd name="T91" fmla="*/ 278945 h 440259"/>
              <a:gd name="T92" fmla="*/ 278945 h 440259"/>
              <a:gd name="T93" fmla="*/ 278945 h 440259"/>
              <a:gd name="T94" fmla="*/ 278945 h 440259"/>
              <a:gd name="T95" fmla="*/ 278945 h 440259"/>
              <a:gd name="T96" fmla="*/ 88862 h 440259"/>
              <a:gd name="T97" fmla="*/ 88862 h 440259"/>
              <a:gd name="T98" fmla="*/ 278945 h 440259"/>
              <a:gd name="T99" fmla="*/ 278945 h 440259"/>
              <a:gd name="T100" fmla="*/ 278945 h 440259"/>
              <a:gd name="T101" fmla="*/ 278945 h 440259"/>
              <a:gd name="T102" fmla="*/ 278945 h 440259"/>
              <a:gd name="T103" fmla="*/ 278945 h 440259"/>
              <a:gd name="T104" fmla="*/ 278945 h 440259"/>
              <a:gd name="T105" fmla="*/ 278945 h 440259"/>
              <a:gd name="T106" fmla="*/ 278945 h 440259"/>
              <a:gd name="T107" fmla="*/ 278945 h 440259"/>
              <a:gd name="T108" fmla="*/ 278945 h 440259"/>
              <a:gd name="T109" fmla="*/ 278945 h 440259"/>
              <a:gd name="T110" fmla="*/ 278945 h 440259"/>
              <a:gd name="T111" fmla="*/ 278945 h 440259"/>
              <a:gd name="T112" fmla="*/ 278945 h 440259"/>
              <a:gd name="T113" fmla="*/ 278945 h 440259"/>
              <a:gd name="T114" fmla="*/ 278945 h 440259"/>
              <a:gd name="T115" fmla="*/ 278945 h 440259"/>
              <a:gd name="T116" fmla="*/ 278945 h 440259"/>
              <a:gd name="T117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4" h="336">
                <a:moveTo>
                  <a:pt x="387" y="133"/>
                </a:moveTo>
                <a:lnTo>
                  <a:pt x="387" y="108"/>
                </a:lnTo>
                <a:lnTo>
                  <a:pt x="386" y="102"/>
                </a:lnTo>
                <a:cubicBezTo>
                  <a:pt x="385" y="101"/>
                  <a:pt x="377" y="87"/>
                  <a:pt x="361" y="72"/>
                </a:cubicBezTo>
                <a:cubicBezTo>
                  <a:pt x="348" y="61"/>
                  <a:pt x="331" y="50"/>
                  <a:pt x="308" y="45"/>
                </a:cubicBezTo>
                <a:lnTo>
                  <a:pt x="308" y="0"/>
                </a:lnTo>
                <a:cubicBezTo>
                  <a:pt x="210" y="7"/>
                  <a:pt x="200" y="84"/>
                  <a:pt x="200" y="84"/>
                </a:cubicBezTo>
                <a:lnTo>
                  <a:pt x="200" y="85"/>
                </a:lnTo>
                <a:cubicBezTo>
                  <a:pt x="200" y="85"/>
                  <a:pt x="200" y="85"/>
                  <a:pt x="200" y="85"/>
                </a:cubicBezTo>
                <a:cubicBezTo>
                  <a:pt x="196" y="81"/>
                  <a:pt x="192" y="77"/>
                  <a:pt x="187" y="72"/>
                </a:cubicBezTo>
                <a:cubicBezTo>
                  <a:pt x="171" y="57"/>
                  <a:pt x="145" y="42"/>
                  <a:pt x="112" y="42"/>
                </a:cubicBezTo>
                <a:cubicBezTo>
                  <a:pt x="79" y="42"/>
                  <a:pt x="54" y="58"/>
                  <a:pt x="38" y="72"/>
                </a:cubicBezTo>
                <a:cubicBezTo>
                  <a:pt x="22" y="87"/>
                  <a:pt x="14" y="101"/>
                  <a:pt x="14" y="102"/>
                </a:cubicBezTo>
                <a:lnTo>
                  <a:pt x="12" y="108"/>
                </a:lnTo>
                <a:lnTo>
                  <a:pt x="12" y="133"/>
                </a:lnTo>
                <a:lnTo>
                  <a:pt x="0" y="133"/>
                </a:lnTo>
                <a:lnTo>
                  <a:pt x="0" y="336"/>
                </a:lnTo>
                <a:lnTo>
                  <a:pt x="404" y="336"/>
                </a:lnTo>
                <a:lnTo>
                  <a:pt x="404" y="133"/>
                </a:lnTo>
                <a:lnTo>
                  <a:pt x="387" y="133"/>
                </a:lnTo>
                <a:close/>
                <a:moveTo>
                  <a:pt x="72" y="295"/>
                </a:moveTo>
                <a:cubicBezTo>
                  <a:pt x="83" y="289"/>
                  <a:pt x="96" y="284"/>
                  <a:pt x="112" y="284"/>
                </a:cubicBezTo>
                <a:cubicBezTo>
                  <a:pt x="128" y="284"/>
                  <a:pt x="141" y="289"/>
                  <a:pt x="152" y="295"/>
                </a:cubicBezTo>
                <a:lnTo>
                  <a:pt x="72" y="295"/>
                </a:lnTo>
                <a:close/>
                <a:moveTo>
                  <a:pt x="186" y="286"/>
                </a:moveTo>
                <a:cubicBezTo>
                  <a:pt x="170" y="271"/>
                  <a:pt x="145" y="257"/>
                  <a:pt x="112" y="257"/>
                </a:cubicBezTo>
                <a:lnTo>
                  <a:pt x="112" y="257"/>
                </a:lnTo>
                <a:cubicBezTo>
                  <a:pt x="80" y="257"/>
                  <a:pt x="56" y="271"/>
                  <a:pt x="40" y="285"/>
                </a:cubicBezTo>
                <a:lnTo>
                  <a:pt x="40" y="112"/>
                </a:lnTo>
                <a:cubicBezTo>
                  <a:pt x="42" y="108"/>
                  <a:pt x="49" y="99"/>
                  <a:pt x="58" y="91"/>
                </a:cubicBezTo>
                <a:cubicBezTo>
                  <a:pt x="71" y="80"/>
                  <a:pt x="88" y="70"/>
                  <a:pt x="112" y="70"/>
                </a:cubicBezTo>
                <a:cubicBezTo>
                  <a:pt x="137" y="70"/>
                  <a:pt x="155" y="81"/>
                  <a:pt x="169" y="93"/>
                </a:cubicBezTo>
                <a:cubicBezTo>
                  <a:pt x="175" y="98"/>
                  <a:pt x="180" y="104"/>
                  <a:pt x="183" y="109"/>
                </a:cubicBezTo>
                <a:cubicBezTo>
                  <a:pt x="185" y="110"/>
                  <a:pt x="185" y="111"/>
                  <a:pt x="186" y="112"/>
                </a:cubicBezTo>
                <a:lnTo>
                  <a:pt x="186" y="286"/>
                </a:lnTo>
                <a:close/>
                <a:moveTo>
                  <a:pt x="286" y="24"/>
                </a:moveTo>
                <a:lnTo>
                  <a:pt x="286" y="42"/>
                </a:lnTo>
                <a:lnTo>
                  <a:pt x="286" y="70"/>
                </a:lnTo>
                <a:lnTo>
                  <a:pt x="286" y="229"/>
                </a:lnTo>
                <a:cubicBezTo>
                  <a:pt x="286" y="229"/>
                  <a:pt x="249" y="222"/>
                  <a:pt x="214" y="254"/>
                </a:cubicBezTo>
                <a:lnTo>
                  <a:pt x="214" y="112"/>
                </a:lnTo>
                <a:lnTo>
                  <a:pt x="214" y="112"/>
                </a:lnTo>
                <a:lnTo>
                  <a:pt x="214" y="96"/>
                </a:lnTo>
                <a:cubicBezTo>
                  <a:pt x="214" y="96"/>
                  <a:pt x="227" y="36"/>
                  <a:pt x="286" y="24"/>
                </a:cubicBezTo>
                <a:close/>
                <a:moveTo>
                  <a:pt x="246" y="295"/>
                </a:moveTo>
                <a:cubicBezTo>
                  <a:pt x="257" y="289"/>
                  <a:pt x="270" y="284"/>
                  <a:pt x="286" y="284"/>
                </a:cubicBezTo>
                <a:cubicBezTo>
                  <a:pt x="302" y="284"/>
                  <a:pt x="315" y="289"/>
                  <a:pt x="326" y="295"/>
                </a:cubicBezTo>
                <a:lnTo>
                  <a:pt x="246" y="295"/>
                </a:lnTo>
                <a:close/>
                <a:moveTo>
                  <a:pt x="360" y="286"/>
                </a:moveTo>
                <a:cubicBezTo>
                  <a:pt x="344" y="271"/>
                  <a:pt x="319" y="257"/>
                  <a:pt x="286" y="257"/>
                </a:cubicBezTo>
                <a:cubicBezTo>
                  <a:pt x="254" y="257"/>
                  <a:pt x="230" y="271"/>
                  <a:pt x="214" y="285"/>
                </a:cubicBezTo>
                <a:lnTo>
                  <a:pt x="214" y="284"/>
                </a:lnTo>
                <a:cubicBezTo>
                  <a:pt x="244" y="242"/>
                  <a:pt x="308" y="253"/>
                  <a:pt x="308" y="253"/>
                </a:cubicBezTo>
                <a:lnTo>
                  <a:pt x="308" y="73"/>
                </a:lnTo>
                <a:cubicBezTo>
                  <a:pt x="322" y="77"/>
                  <a:pt x="334" y="85"/>
                  <a:pt x="343" y="92"/>
                </a:cubicBezTo>
                <a:cubicBezTo>
                  <a:pt x="349" y="98"/>
                  <a:pt x="354" y="104"/>
                  <a:pt x="357" y="109"/>
                </a:cubicBezTo>
                <a:cubicBezTo>
                  <a:pt x="358" y="110"/>
                  <a:pt x="359" y="111"/>
                  <a:pt x="360" y="112"/>
                </a:cubicBezTo>
                <a:lnTo>
                  <a:pt x="360" y="286"/>
                </a:lnTo>
                <a:lnTo>
                  <a:pt x="360" y="286"/>
                </a:lnTo>
                <a:close/>
              </a:path>
            </a:pathLst>
          </a:custGeom>
          <a:solidFill>
            <a:srgbClr val="255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" descr="2">
            <a:extLst>
              <a:ext uri="{FF2B5EF4-FFF2-40B4-BE49-F238E27FC236}">
                <a16:creationId xmlns:a16="http://schemas.microsoft.com/office/drawing/2014/main" id="{4A261AAE-D4BA-E6CD-C999-68F4D9A9505A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00520" y="188538"/>
            <a:ext cx="1665962" cy="3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43138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0EDD02-3C95-4CC5-A1B5-39CD513731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DD068BF-1DF7-F9DF-750C-93AA2D92893F}"/>
              </a:ext>
            </a:extLst>
          </p:cNvPr>
          <p:cNvCxnSpPr/>
          <p:nvPr userDrawn="1"/>
        </p:nvCxnSpPr>
        <p:spPr>
          <a:xfrm>
            <a:off x="0" y="692696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6E001B7-BC51-4E9A-8059-EBFCA99F3EDC}"/>
              </a:ext>
            </a:extLst>
          </p:cNvPr>
          <p:cNvCxnSpPr/>
          <p:nvPr userDrawn="1"/>
        </p:nvCxnSpPr>
        <p:spPr>
          <a:xfrm>
            <a:off x="0" y="764704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pen-book_299">
            <a:extLst>
              <a:ext uri="{FF2B5EF4-FFF2-40B4-BE49-F238E27FC236}">
                <a16:creationId xmlns:a16="http://schemas.microsoft.com/office/drawing/2014/main" id="{49D74EA6-9F4F-4782-E51F-D067ACD3856B}"/>
              </a:ext>
            </a:extLst>
          </p:cNvPr>
          <p:cNvSpPr/>
          <p:nvPr userDrawn="1"/>
        </p:nvSpPr>
        <p:spPr>
          <a:xfrm>
            <a:off x="335360" y="114432"/>
            <a:ext cx="609685" cy="506257"/>
          </a:xfrm>
          <a:custGeom>
            <a:avLst/>
            <a:gdLst>
              <a:gd name="T0" fmla="*/ 88862 h 440259"/>
              <a:gd name="T1" fmla="*/ 88862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278945 h 440259"/>
              <a:gd name="T27" fmla="*/ 278945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88862 h 440259"/>
              <a:gd name="T41" fmla="*/ 88862 h 440259"/>
              <a:gd name="T42" fmla="*/ 278945 h 440259"/>
              <a:gd name="T43" fmla="*/ 278945 h 440259"/>
              <a:gd name="T44" fmla="*/ 278945 h 440259"/>
              <a:gd name="T45" fmla="*/ 278945 h 440259"/>
              <a:gd name="T46" fmla="*/ 278945 h 440259"/>
              <a:gd name="T47" fmla="*/ 278945 h 440259"/>
              <a:gd name="T48" fmla="*/ 88862 h 440259"/>
              <a:gd name="T49" fmla="*/ 88862 h 440259"/>
              <a:gd name="T50" fmla="*/ 278945 h 440259"/>
              <a:gd name="T51" fmla="*/ 278945 h 440259"/>
              <a:gd name="T52" fmla="*/ 278945 h 440259"/>
              <a:gd name="T53" fmla="*/ 278945 h 440259"/>
              <a:gd name="T54" fmla="*/ 278945 h 440259"/>
              <a:gd name="T55" fmla="*/ 278945 h 440259"/>
              <a:gd name="T56" fmla="*/ 278945 h 440259"/>
              <a:gd name="T57" fmla="*/ 278945 h 440259"/>
              <a:gd name="T58" fmla="*/ 278945 h 440259"/>
              <a:gd name="T59" fmla="*/ 278945 h 440259"/>
              <a:gd name="T60" fmla="*/ 278945 h 440259"/>
              <a:gd name="T61" fmla="*/ 278945 h 440259"/>
              <a:gd name="T62" fmla="*/ 278945 h 440259"/>
              <a:gd name="T63" fmla="*/ 278945 h 440259"/>
              <a:gd name="T64" fmla="*/ 278945 h 440259"/>
              <a:gd name="T65" fmla="*/ 278945 h 440259"/>
              <a:gd name="T66" fmla="*/ 278945 h 440259"/>
              <a:gd name="T67" fmla="*/ 278945 h 440259"/>
              <a:gd name="T68" fmla="*/ 278945 h 440259"/>
              <a:gd name="T69" fmla="*/ 278945 h 440259"/>
              <a:gd name="T70" fmla="*/ 88862 h 440259"/>
              <a:gd name="T71" fmla="*/ 88862 h 440259"/>
              <a:gd name="T72" fmla="*/ 278945 h 440259"/>
              <a:gd name="T73" fmla="*/ 278945 h 440259"/>
              <a:gd name="T74" fmla="*/ 278945 h 440259"/>
              <a:gd name="T75" fmla="*/ 278945 h 440259"/>
              <a:gd name="T76" fmla="*/ 278945 h 440259"/>
              <a:gd name="T77" fmla="*/ 278945 h 440259"/>
              <a:gd name="T78" fmla="*/ 278945 h 440259"/>
              <a:gd name="T79" fmla="*/ 278945 h 440259"/>
              <a:gd name="T80" fmla="*/ 278945 h 440259"/>
              <a:gd name="T81" fmla="*/ 278945 h 440259"/>
              <a:gd name="T82" fmla="*/ 278945 h 440259"/>
              <a:gd name="T83" fmla="*/ 278945 h 440259"/>
              <a:gd name="T84" fmla="*/ 278945 h 440259"/>
              <a:gd name="T85" fmla="*/ 278945 h 440259"/>
              <a:gd name="T86" fmla="*/ 278945 h 440259"/>
              <a:gd name="T87" fmla="*/ 278945 h 440259"/>
              <a:gd name="T88" fmla="*/ 88862 h 440259"/>
              <a:gd name="T89" fmla="*/ 88862 h 440259"/>
              <a:gd name="T90" fmla="*/ 278945 h 440259"/>
              <a:gd name="T91" fmla="*/ 278945 h 440259"/>
              <a:gd name="T92" fmla="*/ 278945 h 440259"/>
              <a:gd name="T93" fmla="*/ 278945 h 440259"/>
              <a:gd name="T94" fmla="*/ 278945 h 440259"/>
              <a:gd name="T95" fmla="*/ 278945 h 440259"/>
              <a:gd name="T96" fmla="*/ 88862 h 440259"/>
              <a:gd name="T97" fmla="*/ 88862 h 440259"/>
              <a:gd name="T98" fmla="*/ 278945 h 440259"/>
              <a:gd name="T99" fmla="*/ 278945 h 440259"/>
              <a:gd name="T100" fmla="*/ 278945 h 440259"/>
              <a:gd name="T101" fmla="*/ 278945 h 440259"/>
              <a:gd name="T102" fmla="*/ 278945 h 440259"/>
              <a:gd name="T103" fmla="*/ 278945 h 440259"/>
              <a:gd name="T104" fmla="*/ 278945 h 440259"/>
              <a:gd name="T105" fmla="*/ 278945 h 440259"/>
              <a:gd name="T106" fmla="*/ 278945 h 440259"/>
              <a:gd name="T107" fmla="*/ 278945 h 440259"/>
              <a:gd name="T108" fmla="*/ 278945 h 440259"/>
              <a:gd name="T109" fmla="*/ 278945 h 440259"/>
              <a:gd name="T110" fmla="*/ 278945 h 440259"/>
              <a:gd name="T111" fmla="*/ 278945 h 440259"/>
              <a:gd name="T112" fmla="*/ 278945 h 440259"/>
              <a:gd name="T113" fmla="*/ 278945 h 440259"/>
              <a:gd name="T114" fmla="*/ 278945 h 440259"/>
              <a:gd name="T115" fmla="*/ 278945 h 440259"/>
              <a:gd name="T116" fmla="*/ 278945 h 440259"/>
              <a:gd name="T117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4" h="336">
                <a:moveTo>
                  <a:pt x="387" y="133"/>
                </a:moveTo>
                <a:lnTo>
                  <a:pt x="387" y="108"/>
                </a:lnTo>
                <a:lnTo>
                  <a:pt x="386" y="102"/>
                </a:lnTo>
                <a:cubicBezTo>
                  <a:pt x="385" y="101"/>
                  <a:pt x="377" y="87"/>
                  <a:pt x="361" y="72"/>
                </a:cubicBezTo>
                <a:cubicBezTo>
                  <a:pt x="348" y="61"/>
                  <a:pt x="331" y="50"/>
                  <a:pt x="308" y="45"/>
                </a:cubicBezTo>
                <a:lnTo>
                  <a:pt x="308" y="0"/>
                </a:lnTo>
                <a:cubicBezTo>
                  <a:pt x="210" y="7"/>
                  <a:pt x="200" y="84"/>
                  <a:pt x="200" y="84"/>
                </a:cubicBezTo>
                <a:lnTo>
                  <a:pt x="200" y="85"/>
                </a:lnTo>
                <a:cubicBezTo>
                  <a:pt x="200" y="85"/>
                  <a:pt x="200" y="85"/>
                  <a:pt x="200" y="85"/>
                </a:cubicBezTo>
                <a:cubicBezTo>
                  <a:pt x="196" y="81"/>
                  <a:pt x="192" y="77"/>
                  <a:pt x="187" y="72"/>
                </a:cubicBezTo>
                <a:cubicBezTo>
                  <a:pt x="171" y="57"/>
                  <a:pt x="145" y="42"/>
                  <a:pt x="112" y="42"/>
                </a:cubicBezTo>
                <a:cubicBezTo>
                  <a:pt x="79" y="42"/>
                  <a:pt x="54" y="58"/>
                  <a:pt x="38" y="72"/>
                </a:cubicBezTo>
                <a:cubicBezTo>
                  <a:pt x="22" y="87"/>
                  <a:pt x="14" y="101"/>
                  <a:pt x="14" y="102"/>
                </a:cubicBezTo>
                <a:lnTo>
                  <a:pt x="12" y="108"/>
                </a:lnTo>
                <a:lnTo>
                  <a:pt x="12" y="133"/>
                </a:lnTo>
                <a:lnTo>
                  <a:pt x="0" y="133"/>
                </a:lnTo>
                <a:lnTo>
                  <a:pt x="0" y="336"/>
                </a:lnTo>
                <a:lnTo>
                  <a:pt x="404" y="336"/>
                </a:lnTo>
                <a:lnTo>
                  <a:pt x="404" y="133"/>
                </a:lnTo>
                <a:lnTo>
                  <a:pt x="387" y="133"/>
                </a:lnTo>
                <a:close/>
                <a:moveTo>
                  <a:pt x="72" y="295"/>
                </a:moveTo>
                <a:cubicBezTo>
                  <a:pt x="83" y="289"/>
                  <a:pt x="96" y="284"/>
                  <a:pt x="112" y="284"/>
                </a:cubicBezTo>
                <a:cubicBezTo>
                  <a:pt x="128" y="284"/>
                  <a:pt x="141" y="289"/>
                  <a:pt x="152" y="295"/>
                </a:cubicBezTo>
                <a:lnTo>
                  <a:pt x="72" y="295"/>
                </a:lnTo>
                <a:close/>
                <a:moveTo>
                  <a:pt x="186" y="286"/>
                </a:moveTo>
                <a:cubicBezTo>
                  <a:pt x="170" y="271"/>
                  <a:pt x="145" y="257"/>
                  <a:pt x="112" y="257"/>
                </a:cubicBezTo>
                <a:lnTo>
                  <a:pt x="112" y="257"/>
                </a:lnTo>
                <a:cubicBezTo>
                  <a:pt x="80" y="257"/>
                  <a:pt x="56" y="271"/>
                  <a:pt x="40" y="285"/>
                </a:cubicBezTo>
                <a:lnTo>
                  <a:pt x="40" y="112"/>
                </a:lnTo>
                <a:cubicBezTo>
                  <a:pt x="42" y="108"/>
                  <a:pt x="49" y="99"/>
                  <a:pt x="58" y="91"/>
                </a:cubicBezTo>
                <a:cubicBezTo>
                  <a:pt x="71" y="80"/>
                  <a:pt x="88" y="70"/>
                  <a:pt x="112" y="70"/>
                </a:cubicBezTo>
                <a:cubicBezTo>
                  <a:pt x="137" y="70"/>
                  <a:pt x="155" y="81"/>
                  <a:pt x="169" y="93"/>
                </a:cubicBezTo>
                <a:cubicBezTo>
                  <a:pt x="175" y="98"/>
                  <a:pt x="180" y="104"/>
                  <a:pt x="183" y="109"/>
                </a:cubicBezTo>
                <a:cubicBezTo>
                  <a:pt x="185" y="110"/>
                  <a:pt x="185" y="111"/>
                  <a:pt x="186" y="112"/>
                </a:cubicBezTo>
                <a:lnTo>
                  <a:pt x="186" y="286"/>
                </a:lnTo>
                <a:close/>
                <a:moveTo>
                  <a:pt x="286" y="24"/>
                </a:moveTo>
                <a:lnTo>
                  <a:pt x="286" y="42"/>
                </a:lnTo>
                <a:lnTo>
                  <a:pt x="286" y="70"/>
                </a:lnTo>
                <a:lnTo>
                  <a:pt x="286" y="229"/>
                </a:lnTo>
                <a:cubicBezTo>
                  <a:pt x="286" y="229"/>
                  <a:pt x="249" y="222"/>
                  <a:pt x="214" y="254"/>
                </a:cubicBezTo>
                <a:lnTo>
                  <a:pt x="214" y="112"/>
                </a:lnTo>
                <a:lnTo>
                  <a:pt x="214" y="112"/>
                </a:lnTo>
                <a:lnTo>
                  <a:pt x="214" y="96"/>
                </a:lnTo>
                <a:cubicBezTo>
                  <a:pt x="214" y="96"/>
                  <a:pt x="227" y="36"/>
                  <a:pt x="286" y="24"/>
                </a:cubicBezTo>
                <a:close/>
                <a:moveTo>
                  <a:pt x="246" y="295"/>
                </a:moveTo>
                <a:cubicBezTo>
                  <a:pt x="257" y="289"/>
                  <a:pt x="270" y="284"/>
                  <a:pt x="286" y="284"/>
                </a:cubicBezTo>
                <a:cubicBezTo>
                  <a:pt x="302" y="284"/>
                  <a:pt x="315" y="289"/>
                  <a:pt x="326" y="295"/>
                </a:cubicBezTo>
                <a:lnTo>
                  <a:pt x="246" y="295"/>
                </a:lnTo>
                <a:close/>
                <a:moveTo>
                  <a:pt x="360" y="286"/>
                </a:moveTo>
                <a:cubicBezTo>
                  <a:pt x="344" y="271"/>
                  <a:pt x="319" y="257"/>
                  <a:pt x="286" y="257"/>
                </a:cubicBezTo>
                <a:cubicBezTo>
                  <a:pt x="254" y="257"/>
                  <a:pt x="230" y="271"/>
                  <a:pt x="214" y="285"/>
                </a:cubicBezTo>
                <a:lnTo>
                  <a:pt x="214" y="284"/>
                </a:lnTo>
                <a:cubicBezTo>
                  <a:pt x="244" y="242"/>
                  <a:pt x="308" y="253"/>
                  <a:pt x="308" y="253"/>
                </a:cubicBezTo>
                <a:lnTo>
                  <a:pt x="308" y="73"/>
                </a:lnTo>
                <a:cubicBezTo>
                  <a:pt x="322" y="77"/>
                  <a:pt x="334" y="85"/>
                  <a:pt x="343" y="92"/>
                </a:cubicBezTo>
                <a:cubicBezTo>
                  <a:pt x="349" y="98"/>
                  <a:pt x="354" y="104"/>
                  <a:pt x="357" y="109"/>
                </a:cubicBezTo>
                <a:cubicBezTo>
                  <a:pt x="358" y="110"/>
                  <a:pt x="359" y="111"/>
                  <a:pt x="360" y="112"/>
                </a:cubicBezTo>
                <a:lnTo>
                  <a:pt x="360" y="286"/>
                </a:lnTo>
                <a:lnTo>
                  <a:pt x="360" y="286"/>
                </a:lnTo>
                <a:close/>
              </a:path>
            </a:pathLst>
          </a:custGeom>
          <a:solidFill>
            <a:srgbClr val="255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" descr="2">
            <a:extLst>
              <a:ext uri="{FF2B5EF4-FFF2-40B4-BE49-F238E27FC236}">
                <a16:creationId xmlns:a16="http://schemas.microsoft.com/office/drawing/2014/main" id="{72E5BAFE-6434-D2BD-DE6A-4A8140EF7C77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00520" y="188538"/>
            <a:ext cx="1665962" cy="3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55788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24F86E2-C643-99F0-9175-56398E852066}"/>
              </a:ext>
            </a:extLst>
          </p:cNvPr>
          <p:cNvCxnSpPr/>
          <p:nvPr userDrawn="1"/>
        </p:nvCxnSpPr>
        <p:spPr>
          <a:xfrm>
            <a:off x="0" y="692696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8D45400-8BBB-B056-5770-27AFA2B61CB5}"/>
              </a:ext>
            </a:extLst>
          </p:cNvPr>
          <p:cNvCxnSpPr/>
          <p:nvPr userDrawn="1"/>
        </p:nvCxnSpPr>
        <p:spPr>
          <a:xfrm>
            <a:off x="0" y="764704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pen-book_299">
            <a:extLst>
              <a:ext uri="{FF2B5EF4-FFF2-40B4-BE49-F238E27FC236}">
                <a16:creationId xmlns:a16="http://schemas.microsoft.com/office/drawing/2014/main" id="{E49DE5C3-E1C5-C4A9-F699-BEF61C206388}"/>
              </a:ext>
            </a:extLst>
          </p:cNvPr>
          <p:cNvSpPr/>
          <p:nvPr userDrawn="1"/>
        </p:nvSpPr>
        <p:spPr>
          <a:xfrm>
            <a:off x="335360" y="114432"/>
            <a:ext cx="609685" cy="506257"/>
          </a:xfrm>
          <a:custGeom>
            <a:avLst/>
            <a:gdLst>
              <a:gd name="T0" fmla="*/ 88862 h 440259"/>
              <a:gd name="T1" fmla="*/ 88862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278945 h 440259"/>
              <a:gd name="T27" fmla="*/ 278945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88862 h 440259"/>
              <a:gd name="T41" fmla="*/ 88862 h 440259"/>
              <a:gd name="T42" fmla="*/ 278945 h 440259"/>
              <a:gd name="T43" fmla="*/ 278945 h 440259"/>
              <a:gd name="T44" fmla="*/ 278945 h 440259"/>
              <a:gd name="T45" fmla="*/ 278945 h 440259"/>
              <a:gd name="T46" fmla="*/ 278945 h 440259"/>
              <a:gd name="T47" fmla="*/ 278945 h 440259"/>
              <a:gd name="T48" fmla="*/ 88862 h 440259"/>
              <a:gd name="T49" fmla="*/ 88862 h 440259"/>
              <a:gd name="T50" fmla="*/ 278945 h 440259"/>
              <a:gd name="T51" fmla="*/ 278945 h 440259"/>
              <a:gd name="T52" fmla="*/ 278945 h 440259"/>
              <a:gd name="T53" fmla="*/ 278945 h 440259"/>
              <a:gd name="T54" fmla="*/ 278945 h 440259"/>
              <a:gd name="T55" fmla="*/ 278945 h 440259"/>
              <a:gd name="T56" fmla="*/ 278945 h 440259"/>
              <a:gd name="T57" fmla="*/ 278945 h 440259"/>
              <a:gd name="T58" fmla="*/ 278945 h 440259"/>
              <a:gd name="T59" fmla="*/ 278945 h 440259"/>
              <a:gd name="T60" fmla="*/ 278945 h 440259"/>
              <a:gd name="T61" fmla="*/ 278945 h 440259"/>
              <a:gd name="T62" fmla="*/ 278945 h 440259"/>
              <a:gd name="T63" fmla="*/ 278945 h 440259"/>
              <a:gd name="T64" fmla="*/ 278945 h 440259"/>
              <a:gd name="T65" fmla="*/ 278945 h 440259"/>
              <a:gd name="T66" fmla="*/ 278945 h 440259"/>
              <a:gd name="T67" fmla="*/ 278945 h 440259"/>
              <a:gd name="T68" fmla="*/ 278945 h 440259"/>
              <a:gd name="T69" fmla="*/ 278945 h 440259"/>
              <a:gd name="T70" fmla="*/ 88862 h 440259"/>
              <a:gd name="T71" fmla="*/ 88862 h 440259"/>
              <a:gd name="T72" fmla="*/ 278945 h 440259"/>
              <a:gd name="T73" fmla="*/ 278945 h 440259"/>
              <a:gd name="T74" fmla="*/ 278945 h 440259"/>
              <a:gd name="T75" fmla="*/ 278945 h 440259"/>
              <a:gd name="T76" fmla="*/ 278945 h 440259"/>
              <a:gd name="T77" fmla="*/ 278945 h 440259"/>
              <a:gd name="T78" fmla="*/ 278945 h 440259"/>
              <a:gd name="T79" fmla="*/ 278945 h 440259"/>
              <a:gd name="T80" fmla="*/ 278945 h 440259"/>
              <a:gd name="T81" fmla="*/ 278945 h 440259"/>
              <a:gd name="T82" fmla="*/ 278945 h 440259"/>
              <a:gd name="T83" fmla="*/ 278945 h 440259"/>
              <a:gd name="T84" fmla="*/ 278945 h 440259"/>
              <a:gd name="T85" fmla="*/ 278945 h 440259"/>
              <a:gd name="T86" fmla="*/ 278945 h 440259"/>
              <a:gd name="T87" fmla="*/ 278945 h 440259"/>
              <a:gd name="T88" fmla="*/ 88862 h 440259"/>
              <a:gd name="T89" fmla="*/ 88862 h 440259"/>
              <a:gd name="T90" fmla="*/ 278945 h 440259"/>
              <a:gd name="T91" fmla="*/ 278945 h 440259"/>
              <a:gd name="T92" fmla="*/ 278945 h 440259"/>
              <a:gd name="T93" fmla="*/ 278945 h 440259"/>
              <a:gd name="T94" fmla="*/ 278945 h 440259"/>
              <a:gd name="T95" fmla="*/ 278945 h 440259"/>
              <a:gd name="T96" fmla="*/ 88862 h 440259"/>
              <a:gd name="T97" fmla="*/ 88862 h 440259"/>
              <a:gd name="T98" fmla="*/ 278945 h 440259"/>
              <a:gd name="T99" fmla="*/ 278945 h 440259"/>
              <a:gd name="T100" fmla="*/ 278945 h 440259"/>
              <a:gd name="T101" fmla="*/ 278945 h 440259"/>
              <a:gd name="T102" fmla="*/ 278945 h 440259"/>
              <a:gd name="T103" fmla="*/ 278945 h 440259"/>
              <a:gd name="T104" fmla="*/ 278945 h 440259"/>
              <a:gd name="T105" fmla="*/ 278945 h 440259"/>
              <a:gd name="T106" fmla="*/ 278945 h 440259"/>
              <a:gd name="T107" fmla="*/ 278945 h 440259"/>
              <a:gd name="T108" fmla="*/ 278945 h 440259"/>
              <a:gd name="T109" fmla="*/ 278945 h 440259"/>
              <a:gd name="T110" fmla="*/ 278945 h 440259"/>
              <a:gd name="T111" fmla="*/ 278945 h 440259"/>
              <a:gd name="T112" fmla="*/ 278945 h 440259"/>
              <a:gd name="T113" fmla="*/ 278945 h 440259"/>
              <a:gd name="T114" fmla="*/ 278945 h 440259"/>
              <a:gd name="T115" fmla="*/ 278945 h 440259"/>
              <a:gd name="T116" fmla="*/ 278945 h 440259"/>
              <a:gd name="T117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4" h="336">
                <a:moveTo>
                  <a:pt x="387" y="133"/>
                </a:moveTo>
                <a:lnTo>
                  <a:pt x="387" y="108"/>
                </a:lnTo>
                <a:lnTo>
                  <a:pt x="386" y="102"/>
                </a:lnTo>
                <a:cubicBezTo>
                  <a:pt x="385" y="101"/>
                  <a:pt x="377" y="87"/>
                  <a:pt x="361" y="72"/>
                </a:cubicBezTo>
                <a:cubicBezTo>
                  <a:pt x="348" y="61"/>
                  <a:pt x="331" y="50"/>
                  <a:pt x="308" y="45"/>
                </a:cubicBezTo>
                <a:lnTo>
                  <a:pt x="308" y="0"/>
                </a:lnTo>
                <a:cubicBezTo>
                  <a:pt x="210" y="7"/>
                  <a:pt x="200" y="84"/>
                  <a:pt x="200" y="84"/>
                </a:cubicBezTo>
                <a:lnTo>
                  <a:pt x="200" y="85"/>
                </a:lnTo>
                <a:cubicBezTo>
                  <a:pt x="200" y="85"/>
                  <a:pt x="200" y="85"/>
                  <a:pt x="200" y="85"/>
                </a:cubicBezTo>
                <a:cubicBezTo>
                  <a:pt x="196" y="81"/>
                  <a:pt x="192" y="77"/>
                  <a:pt x="187" y="72"/>
                </a:cubicBezTo>
                <a:cubicBezTo>
                  <a:pt x="171" y="57"/>
                  <a:pt x="145" y="42"/>
                  <a:pt x="112" y="42"/>
                </a:cubicBezTo>
                <a:cubicBezTo>
                  <a:pt x="79" y="42"/>
                  <a:pt x="54" y="58"/>
                  <a:pt x="38" y="72"/>
                </a:cubicBezTo>
                <a:cubicBezTo>
                  <a:pt x="22" y="87"/>
                  <a:pt x="14" y="101"/>
                  <a:pt x="14" y="102"/>
                </a:cubicBezTo>
                <a:lnTo>
                  <a:pt x="12" y="108"/>
                </a:lnTo>
                <a:lnTo>
                  <a:pt x="12" y="133"/>
                </a:lnTo>
                <a:lnTo>
                  <a:pt x="0" y="133"/>
                </a:lnTo>
                <a:lnTo>
                  <a:pt x="0" y="336"/>
                </a:lnTo>
                <a:lnTo>
                  <a:pt x="404" y="336"/>
                </a:lnTo>
                <a:lnTo>
                  <a:pt x="404" y="133"/>
                </a:lnTo>
                <a:lnTo>
                  <a:pt x="387" y="133"/>
                </a:lnTo>
                <a:close/>
                <a:moveTo>
                  <a:pt x="72" y="295"/>
                </a:moveTo>
                <a:cubicBezTo>
                  <a:pt x="83" y="289"/>
                  <a:pt x="96" y="284"/>
                  <a:pt x="112" y="284"/>
                </a:cubicBezTo>
                <a:cubicBezTo>
                  <a:pt x="128" y="284"/>
                  <a:pt x="141" y="289"/>
                  <a:pt x="152" y="295"/>
                </a:cubicBezTo>
                <a:lnTo>
                  <a:pt x="72" y="295"/>
                </a:lnTo>
                <a:close/>
                <a:moveTo>
                  <a:pt x="186" y="286"/>
                </a:moveTo>
                <a:cubicBezTo>
                  <a:pt x="170" y="271"/>
                  <a:pt x="145" y="257"/>
                  <a:pt x="112" y="257"/>
                </a:cubicBezTo>
                <a:lnTo>
                  <a:pt x="112" y="257"/>
                </a:lnTo>
                <a:cubicBezTo>
                  <a:pt x="80" y="257"/>
                  <a:pt x="56" y="271"/>
                  <a:pt x="40" y="285"/>
                </a:cubicBezTo>
                <a:lnTo>
                  <a:pt x="40" y="112"/>
                </a:lnTo>
                <a:cubicBezTo>
                  <a:pt x="42" y="108"/>
                  <a:pt x="49" y="99"/>
                  <a:pt x="58" y="91"/>
                </a:cubicBezTo>
                <a:cubicBezTo>
                  <a:pt x="71" y="80"/>
                  <a:pt x="88" y="70"/>
                  <a:pt x="112" y="70"/>
                </a:cubicBezTo>
                <a:cubicBezTo>
                  <a:pt x="137" y="70"/>
                  <a:pt x="155" y="81"/>
                  <a:pt x="169" y="93"/>
                </a:cubicBezTo>
                <a:cubicBezTo>
                  <a:pt x="175" y="98"/>
                  <a:pt x="180" y="104"/>
                  <a:pt x="183" y="109"/>
                </a:cubicBezTo>
                <a:cubicBezTo>
                  <a:pt x="185" y="110"/>
                  <a:pt x="185" y="111"/>
                  <a:pt x="186" y="112"/>
                </a:cubicBezTo>
                <a:lnTo>
                  <a:pt x="186" y="286"/>
                </a:lnTo>
                <a:close/>
                <a:moveTo>
                  <a:pt x="286" y="24"/>
                </a:moveTo>
                <a:lnTo>
                  <a:pt x="286" y="42"/>
                </a:lnTo>
                <a:lnTo>
                  <a:pt x="286" y="70"/>
                </a:lnTo>
                <a:lnTo>
                  <a:pt x="286" y="229"/>
                </a:lnTo>
                <a:cubicBezTo>
                  <a:pt x="286" y="229"/>
                  <a:pt x="249" y="222"/>
                  <a:pt x="214" y="254"/>
                </a:cubicBezTo>
                <a:lnTo>
                  <a:pt x="214" y="112"/>
                </a:lnTo>
                <a:lnTo>
                  <a:pt x="214" y="112"/>
                </a:lnTo>
                <a:lnTo>
                  <a:pt x="214" y="96"/>
                </a:lnTo>
                <a:cubicBezTo>
                  <a:pt x="214" y="96"/>
                  <a:pt x="227" y="36"/>
                  <a:pt x="286" y="24"/>
                </a:cubicBezTo>
                <a:close/>
                <a:moveTo>
                  <a:pt x="246" y="295"/>
                </a:moveTo>
                <a:cubicBezTo>
                  <a:pt x="257" y="289"/>
                  <a:pt x="270" y="284"/>
                  <a:pt x="286" y="284"/>
                </a:cubicBezTo>
                <a:cubicBezTo>
                  <a:pt x="302" y="284"/>
                  <a:pt x="315" y="289"/>
                  <a:pt x="326" y="295"/>
                </a:cubicBezTo>
                <a:lnTo>
                  <a:pt x="246" y="295"/>
                </a:lnTo>
                <a:close/>
                <a:moveTo>
                  <a:pt x="360" y="286"/>
                </a:moveTo>
                <a:cubicBezTo>
                  <a:pt x="344" y="271"/>
                  <a:pt x="319" y="257"/>
                  <a:pt x="286" y="257"/>
                </a:cubicBezTo>
                <a:cubicBezTo>
                  <a:pt x="254" y="257"/>
                  <a:pt x="230" y="271"/>
                  <a:pt x="214" y="285"/>
                </a:cubicBezTo>
                <a:lnTo>
                  <a:pt x="214" y="284"/>
                </a:lnTo>
                <a:cubicBezTo>
                  <a:pt x="244" y="242"/>
                  <a:pt x="308" y="253"/>
                  <a:pt x="308" y="253"/>
                </a:cubicBezTo>
                <a:lnTo>
                  <a:pt x="308" y="73"/>
                </a:lnTo>
                <a:cubicBezTo>
                  <a:pt x="322" y="77"/>
                  <a:pt x="334" y="85"/>
                  <a:pt x="343" y="92"/>
                </a:cubicBezTo>
                <a:cubicBezTo>
                  <a:pt x="349" y="98"/>
                  <a:pt x="354" y="104"/>
                  <a:pt x="357" y="109"/>
                </a:cubicBezTo>
                <a:cubicBezTo>
                  <a:pt x="358" y="110"/>
                  <a:pt x="359" y="111"/>
                  <a:pt x="360" y="112"/>
                </a:cubicBezTo>
                <a:lnTo>
                  <a:pt x="360" y="286"/>
                </a:lnTo>
                <a:lnTo>
                  <a:pt x="360" y="286"/>
                </a:lnTo>
                <a:close/>
              </a:path>
            </a:pathLst>
          </a:custGeom>
          <a:solidFill>
            <a:srgbClr val="255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1" descr="2">
            <a:extLst>
              <a:ext uri="{FF2B5EF4-FFF2-40B4-BE49-F238E27FC236}">
                <a16:creationId xmlns:a16="http://schemas.microsoft.com/office/drawing/2014/main" id="{D8BF63DA-8BD8-9479-4FA1-8802BFC6E658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00520" y="188538"/>
            <a:ext cx="1665962" cy="3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3486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fld id="{09D3DD41-1E0E-46B0-ABE7-D5048A3DF737}" type="slidenum">
              <a:rPr lang="en-US" altLang="zh-CN" smtClean="0"/>
              <a:t>‹#›</a:t>
            </a:fld>
            <a:endParaRPr lang="en-US" altLang="zh-CN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02542CE-451A-B29B-A902-8586A4CB1A78}"/>
              </a:ext>
            </a:extLst>
          </p:cNvPr>
          <p:cNvCxnSpPr/>
          <p:nvPr userDrawn="1"/>
        </p:nvCxnSpPr>
        <p:spPr>
          <a:xfrm>
            <a:off x="0" y="692696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52E265C-9DB4-BD21-E68D-BDF9CFC2B451}"/>
              </a:ext>
            </a:extLst>
          </p:cNvPr>
          <p:cNvCxnSpPr/>
          <p:nvPr userDrawn="1"/>
        </p:nvCxnSpPr>
        <p:spPr>
          <a:xfrm>
            <a:off x="0" y="764704"/>
            <a:ext cx="12192000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pen-book_299">
            <a:extLst>
              <a:ext uri="{FF2B5EF4-FFF2-40B4-BE49-F238E27FC236}">
                <a16:creationId xmlns:a16="http://schemas.microsoft.com/office/drawing/2014/main" id="{67C481D9-70AE-78F9-60EE-5AAAC778AD2C}"/>
              </a:ext>
            </a:extLst>
          </p:cNvPr>
          <p:cNvSpPr/>
          <p:nvPr userDrawn="1"/>
        </p:nvSpPr>
        <p:spPr>
          <a:xfrm>
            <a:off x="335360" y="114432"/>
            <a:ext cx="609685" cy="506257"/>
          </a:xfrm>
          <a:custGeom>
            <a:avLst/>
            <a:gdLst>
              <a:gd name="T0" fmla="*/ 88862 h 440259"/>
              <a:gd name="T1" fmla="*/ 88862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278945 h 440259"/>
              <a:gd name="T27" fmla="*/ 278945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88862 h 440259"/>
              <a:gd name="T41" fmla="*/ 88862 h 440259"/>
              <a:gd name="T42" fmla="*/ 278945 h 440259"/>
              <a:gd name="T43" fmla="*/ 278945 h 440259"/>
              <a:gd name="T44" fmla="*/ 278945 h 440259"/>
              <a:gd name="T45" fmla="*/ 278945 h 440259"/>
              <a:gd name="T46" fmla="*/ 278945 h 440259"/>
              <a:gd name="T47" fmla="*/ 278945 h 440259"/>
              <a:gd name="T48" fmla="*/ 88862 h 440259"/>
              <a:gd name="T49" fmla="*/ 88862 h 440259"/>
              <a:gd name="T50" fmla="*/ 278945 h 440259"/>
              <a:gd name="T51" fmla="*/ 278945 h 440259"/>
              <a:gd name="T52" fmla="*/ 278945 h 440259"/>
              <a:gd name="T53" fmla="*/ 278945 h 440259"/>
              <a:gd name="T54" fmla="*/ 278945 h 440259"/>
              <a:gd name="T55" fmla="*/ 278945 h 440259"/>
              <a:gd name="T56" fmla="*/ 278945 h 440259"/>
              <a:gd name="T57" fmla="*/ 278945 h 440259"/>
              <a:gd name="T58" fmla="*/ 278945 h 440259"/>
              <a:gd name="T59" fmla="*/ 278945 h 440259"/>
              <a:gd name="T60" fmla="*/ 278945 h 440259"/>
              <a:gd name="T61" fmla="*/ 278945 h 440259"/>
              <a:gd name="T62" fmla="*/ 278945 h 440259"/>
              <a:gd name="T63" fmla="*/ 278945 h 440259"/>
              <a:gd name="T64" fmla="*/ 278945 h 440259"/>
              <a:gd name="T65" fmla="*/ 278945 h 440259"/>
              <a:gd name="T66" fmla="*/ 278945 h 440259"/>
              <a:gd name="T67" fmla="*/ 278945 h 440259"/>
              <a:gd name="T68" fmla="*/ 278945 h 440259"/>
              <a:gd name="T69" fmla="*/ 278945 h 440259"/>
              <a:gd name="T70" fmla="*/ 88862 h 440259"/>
              <a:gd name="T71" fmla="*/ 88862 h 440259"/>
              <a:gd name="T72" fmla="*/ 278945 h 440259"/>
              <a:gd name="T73" fmla="*/ 278945 h 440259"/>
              <a:gd name="T74" fmla="*/ 278945 h 440259"/>
              <a:gd name="T75" fmla="*/ 278945 h 440259"/>
              <a:gd name="T76" fmla="*/ 278945 h 440259"/>
              <a:gd name="T77" fmla="*/ 278945 h 440259"/>
              <a:gd name="T78" fmla="*/ 278945 h 440259"/>
              <a:gd name="T79" fmla="*/ 278945 h 440259"/>
              <a:gd name="T80" fmla="*/ 278945 h 440259"/>
              <a:gd name="T81" fmla="*/ 278945 h 440259"/>
              <a:gd name="T82" fmla="*/ 278945 h 440259"/>
              <a:gd name="T83" fmla="*/ 278945 h 440259"/>
              <a:gd name="T84" fmla="*/ 278945 h 440259"/>
              <a:gd name="T85" fmla="*/ 278945 h 440259"/>
              <a:gd name="T86" fmla="*/ 278945 h 440259"/>
              <a:gd name="T87" fmla="*/ 278945 h 440259"/>
              <a:gd name="T88" fmla="*/ 88862 h 440259"/>
              <a:gd name="T89" fmla="*/ 88862 h 440259"/>
              <a:gd name="T90" fmla="*/ 278945 h 440259"/>
              <a:gd name="T91" fmla="*/ 278945 h 440259"/>
              <a:gd name="T92" fmla="*/ 278945 h 440259"/>
              <a:gd name="T93" fmla="*/ 278945 h 440259"/>
              <a:gd name="T94" fmla="*/ 278945 h 440259"/>
              <a:gd name="T95" fmla="*/ 278945 h 440259"/>
              <a:gd name="T96" fmla="*/ 88862 h 440259"/>
              <a:gd name="T97" fmla="*/ 88862 h 440259"/>
              <a:gd name="T98" fmla="*/ 278945 h 440259"/>
              <a:gd name="T99" fmla="*/ 278945 h 440259"/>
              <a:gd name="T100" fmla="*/ 278945 h 440259"/>
              <a:gd name="T101" fmla="*/ 278945 h 440259"/>
              <a:gd name="T102" fmla="*/ 278945 h 440259"/>
              <a:gd name="T103" fmla="*/ 278945 h 440259"/>
              <a:gd name="T104" fmla="*/ 278945 h 440259"/>
              <a:gd name="T105" fmla="*/ 278945 h 440259"/>
              <a:gd name="T106" fmla="*/ 278945 h 440259"/>
              <a:gd name="T107" fmla="*/ 278945 h 440259"/>
              <a:gd name="T108" fmla="*/ 278945 h 440259"/>
              <a:gd name="T109" fmla="*/ 278945 h 440259"/>
              <a:gd name="T110" fmla="*/ 278945 h 440259"/>
              <a:gd name="T111" fmla="*/ 278945 h 440259"/>
              <a:gd name="T112" fmla="*/ 278945 h 440259"/>
              <a:gd name="T113" fmla="*/ 278945 h 440259"/>
              <a:gd name="T114" fmla="*/ 278945 h 440259"/>
              <a:gd name="T115" fmla="*/ 278945 h 440259"/>
              <a:gd name="T116" fmla="*/ 278945 h 440259"/>
              <a:gd name="T117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4" h="336">
                <a:moveTo>
                  <a:pt x="387" y="133"/>
                </a:moveTo>
                <a:lnTo>
                  <a:pt x="387" y="108"/>
                </a:lnTo>
                <a:lnTo>
                  <a:pt x="386" y="102"/>
                </a:lnTo>
                <a:cubicBezTo>
                  <a:pt x="385" y="101"/>
                  <a:pt x="377" y="87"/>
                  <a:pt x="361" y="72"/>
                </a:cubicBezTo>
                <a:cubicBezTo>
                  <a:pt x="348" y="61"/>
                  <a:pt x="331" y="50"/>
                  <a:pt x="308" y="45"/>
                </a:cubicBezTo>
                <a:lnTo>
                  <a:pt x="308" y="0"/>
                </a:lnTo>
                <a:cubicBezTo>
                  <a:pt x="210" y="7"/>
                  <a:pt x="200" y="84"/>
                  <a:pt x="200" y="84"/>
                </a:cubicBezTo>
                <a:lnTo>
                  <a:pt x="200" y="85"/>
                </a:lnTo>
                <a:cubicBezTo>
                  <a:pt x="200" y="85"/>
                  <a:pt x="200" y="85"/>
                  <a:pt x="200" y="85"/>
                </a:cubicBezTo>
                <a:cubicBezTo>
                  <a:pt x="196" y="81"/>
                  <a:pt x="192" y="77"/>
                  <a:pt x="187" y="72"/>
                </a:cubicBezTo>
                <a:cubicBezTo>
                  <a:pt x="171" y="57"/>
                  <a:pt x="145" y="42"/>
                  <a:pt x="112" y="42"/>
                </a:cubicBezTo>
                <a:cubicBezTo>
                  <a:pt x="79" y="42"/>
                  <a:pt x="54" y="58"/>
                  <a:pt x="38" y="72"/>
                </a:cubicBezTo>
                <a:cubicBezTo>
                  <a:pt x="22" y="87"/>
                  <a:pt x="14" y="101"/>
                  <a:pt x="14" y="102"/>
                </a:cubicBezTo>
                <a:lnTo>
                  <a:pt x="12" y="108"/>
                </a:lnTo>
                <a:lnTo>
                  <a:pt x="12" y="133"/>
                </a:lnTo>
                <a:lnTo>
                  <a:pt x="0" y="133"/>
                </a:lnTo>
                <a:lnTo>
                  <a:pt x="0" y="336"/>
                </a:lnTo>
                <a:lnTo>
                  <a:pt x="404" y="336"/>
                </a:lnTo>
                <a:lnTo>
                  <a:pt x="404" y="133"/>
                </a:lnTo>
                <a:lnTo>
                  <a:pt x="387" y="133"/>
                </a:lnTo>
                <a:close/>
                <a:moveTo>
                  <a:pt x="72" y="295"/>
                </a:moveTo>
                <a:cubicBezTo>
                  <a:pt x="83" y="289"/>
                  <a:pt x="96" y="284"/>
                  <a:pt x="112" y="284"/>
                </a:cubicBezTo>
                <a:cubicBezTo>
                  <a:pt x="128" y="284"/>
                  <a:pt x="141" y="289"/>
                  <a:pt x="152" y="295"/>
                </a:cubicBezTo>
                <a:lnTo>
                  <a:pt x="72" y="295"/>
                </a:lnTo>
                <a:close/>
                <a:moveTo>
                  <a:pt x="186" y="286"/>
                </a:moveTo>
                <a:cubicBezTo>
                  <a:pt x="170" y="271"/>
                  <a:pt x="145" y="257"/>
                  <a:pt x="112" y="257"/>
                </a:cubicBezTo>
                <a:lnTo>
                  <a:pt x="112" y="257"/>
                </a:lnTo>
                <a:cubicBezTo>
                  <a:pt x="80" y="257"/>
                  <a:pt x="56" y="271"/>
                  <a:pt x="40" y="285"/>
                </a:cubicBezTo>
                <a:lnTo>
                  <a:pt x="40" y="112"/>
                </a:lnTo>
                <a:cubicBezTo>
                  <a:pt x="42" y="108"/>
                  <a:pt x="49" y="99"/>
                  <a:pt x="58" y="91"/>
                </a:cubicBezTo>
                <a:cubicBezTo>
                  <a:pt x="71" y="80"/>
                  <a:pt x="88" y="70"/>
                  <a:pt x="112" y="70"/>
                </a:cubicBezTo>
                <a:cubicBezTo>
                  <a:pt x="137" y="70"/>
                  <a:pt x="155" y="81"/>
                  <a:pt x="169" y="93"/>
                </a:cubicBezTo>
                <a:cubicBezTo>
                  <a:pt x="175" y="98"/>
                  <a:pt x="180" y="104"/>
                  <a:pt x="183" y="109"/>
                </a:cubicBezTo>
                <a:cubicBezTo>
                  <a:pt x="185" y="110"/>
                  <a:pt x="185" y="111"/>
                  <a:pt x="186" y="112"/>
                </a:cubicBezTo>
                <a:lnTo>
                  <a:pt x="186" y="286"/>
                </a:lnTo>
                <a:close/>
                <a:moveTo>
                  <a:pt x="286" y="24"/>
                </a:moveTo>
                <a:lnTo>
                  <a:pt x="286" y="42"/>
                </a:lnTo>
                <a:lnTo>
                  <a:pt x="286" y="70"/>
                </a:lnTo>
                <a:lnTo>
                  <a:pt x="286" y="229"/>
                </a:lnTo>
                <a:cubicBezTo>
                  <a:pt x="286" y="229"/>
                  <a:pt x="249" y="222"/>
                  <a:pt x="214" y="254"/>
                </a:cubicBezTo>
                <a:lnTo>
                  <a:pt x="214" y="112"/>
                </a:lnTo>
                <a:lnTo>
                  <a:pt x="214" y="112"/>
                </a:lnTo>
                <a:lnTo>
                  <a:pt x="214" y="96"/>
                </a:lnTo>
                <a:cubicBezTo>
                  <a:pt x="214" y="96"/>
                  <a:pt x="227" y="36"/>
                  <a:pt x="286" y="24"/>
                </a:cubicBezTo>
                <a:close/>
                <a:moveTo>
                  <a:pt x="246" y="295"/>
                </a:moveTo>
                <a:cubicBezTo>
                  <a:pt x="257" y="289"/>
                  <a:pt x="270" y="284"/>
                  <a:pt x="286" y="284"/>
                </a:cubicBezTo>
                <a:cubicBezTo>
                  <a:pt x="302" y="284"/>
                  <a:pt x="315" y="289"/>
                  <a:pt x="326" y="295"/>
                </a:cubicBezTo>
                <a:lnTo>
                  <a:pt x="246" y="295"/>
                </a:lnTo>
                <a:close/>
                <a:moveTo>
                  <a:pt x="360" y="286"/>
                </a:moveTo>
                <a:cubicBezTo>
                  <a:pt x="344" y="271"/>
                  <a:pt x="319" y="257"/>
                  <a:pt x="286" y="257"/>
                </a:cubicBezTo>
                <a:cubicBezTo>
                  <a:pt x="254" y="257"/>
                  <a:pt x="230" y="271"/>
                  <a:pt x="214" y="285"/>
                </a:cubicBezTo>
                <a:lnTo>
                  <a:pt x="214" y="284"/>
                </a:lnTo>
                <a:cubicBezTo>
                  <a:pt x="244" y="242"/>
                  <a:pt x="308" y="253"/>
                  <a:pt x="308" y="253"/>
                </a:cubicBezTo>
                <a:lnTo>
                  <a:pt x="308" y="73"/>
                </a:lnTo>
                <a:cubicBezTo>
                  <a:pt x="322" y="77"/>
                  <a:pt x="334" y="85"/>
                  <a:pt x="343" y="92"/>
                </a:cubicBezTo>
                <a:cubicBezTo>
                  <a:pt x="349" y="98"/>
                  <a:pt x="354" y="104"/>
                  <a:pt x="357" y="109"/>
                </a:cubicBezTo>
                <a:cubicBezTo>
                  <a:pt x="358" y="110"/>
                  <a:pt x="359" y="111"/>
                  <a:pt x="360" y="112"/>
                </a:cubicBezTo>
                <a:lnTo>
                  <a:pt x="360" y="286"/>
                </a:lnTo>
                <a:lnTo>
                  <a:pt x="360" y="286"/>
                </a:lnTo>
                <a:close/>
              </a:path>
            </a:pathLst>
          </a:custGeom>
          <a:solidFill>
            <a:srgbClr val="255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" descr="2">
            <a:extLst>
              <a:ext uri="{FF2B5EF4-FFF2-40B4-BE49-F238E27FC236}">
                <a16:creationId xmlns:a16="http://schemas.microsoft.com/office/drawing/2014/main" id="{46C6CA68-9911-819A-0417-63C02D03FE31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8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0200520" y="188538"/>
            <a:ext cx="1665962" cy="3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12898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60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4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4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4" Type="http://schemas.openxmlformats.org/officeDocument/2006/relationships/notesSlide" Target="../notesSlides/notesSlid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4" Type="http://schemas.openxmlformats.org/officeDocument/2006/relationships/notesSlide" Target="../notesSlides/notesSlid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4" Type="http://schemas.openxmlformats.org/officeDocument/2006/relationships/notesSlide" Target="../notesSlides/notesSlide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4" Type="http://schemas.openxmlformats.org/officeDocument/2006/relationships/notesSlide" Target="../notesSlides/notesSlide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notesSlide" Target="../notesSlides/notesSlide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4" Type="http://schemas.openxmlformats.org/officeDocument/2006/relationships/notesSlide" Target="../notesSlides/notesSlide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4" Type="http://schemas.openxmlformats.org/officeDocument/2006/relationships/notesSlide" Target="../notesSlides/notesSlide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4" Type="http://schemas.openxmlformats.org/officeDocument/2006/relationships/notesSlide" Target="../notesSlides/notesSlide2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4" Type="http://schemas.openxmlformats.org/officeDocument/2006/relationships/notesSlide" Target="../notesSlides/notesSlide2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4" Type="http://schemas.openxmlformats.org/officeDocument/2006/relationships/notesSlide" Target="../notesSlides/notesSlide3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4" Type="http://schemas.openxmlformats.org/officeDocument/2006/relationships/notesSlide" Target="../notesSlides/notesSlide3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3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4" Type="http://schemas.openxmlformats.org/officeDocument/2006/relationships/notesSlide" Target="../notesSlides/notesSlide3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4" Type="http://schemas.openxmlformats.org/officeDocument/2006/relationships/notesSlide" Target="../notesSlides/notesSlide3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3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4" Type="http://schemas.openxmlformats.org/officeDocument/2006/relationships/notesSlide" Target="../notesSlides/notesSlide3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4" Type="http://schemas.openxmlformats.org/officeDocument/2006/relationships/notesSlide" Target="../notesSlides/notesSlide3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4" Type="http://schemas.openxmlformats.org/officeDocument/2006/relationships/notesSlide" Target="../notesSlides/notesSlide3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4" Type="http://schemas.openxmlformats.org/officeDocument/2006/relationships/notesSlide" Target="../notesSlides/notesSlide3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4" Type="http://schemas.openxmlformats.org/officeDocument/2006/relationships/notesSlide" Target="../notesSlides/notesSlide4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4" Type="http://schemas.openxmlformats.org/officeDocument/2006/relationships/notesSlide" Target="../notesSlides/notesSlide4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4" Type="http://schemas.openxmlformats.org/officeDocument/2006/relationships/notesSlide" Target="../notesSlides/notesSlide4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4" Type="http://schemas.openxmlformats.org/officeDocument/2006/relationships/notesSlide" Target="../notesSlides/notesSlide4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4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4" Type="http://schemas.openxmlformats.org/officeDocument/2006/relationships/notesSlide" Target="../notesSlides/notesSlide4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4" Type="http://schemas.openxmlformats.org/officeDocument/2006/relationships/notesSlide" Target="../notesSlides/notesSlide4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4" Type="http://schemas.openxmlformats.org/officeDocument/2006/relationships/notesSlide" Target="../notesSlides/notesSlide4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4" Type="http://schemas.openxmlformats.org/officeDocument/2006/relationships/notesSlide" Target="../notesSlides/notesSlide4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4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4" Type="http://schemas.openxmlformats.org/officeDocument/2006/relationships/notesSlide" Target="../notesSlides/notesSlide5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4" Type="http://schemas.openxmlformats.org/officeDocument/2006/relationships/notesSlide" Target="../notesSlides/notesSlide5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4" Type="http://schemas.openxmlformats.org/officeDocument/2006/relationships/notesSlide" Target="../notesSlides/notesSlide5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4" Type="http://schemas.openxmlformats.org/officeDocument/2006/relationships/notesSlide" Target="../notesSlides/notesSlide5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4" Type="http://schemas.openxmlformats.org/officeDocument/2006/relationships/notesSlide" Target="../notesSlides/notesSlide5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4" Type="http://schemas.openxmlformats.org/officeDocument/2006/relationships/notesSlide" Target="../notesSlides/notesSlide5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4" Type="http://schemas.openxmlformats.org/officeDocument/2006/relationships/notesSlide" Target="../notesSlides/notesSlide5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4" Type="http://schemas.openxmlformats.org/officeDocument/2006/relationships/notesSlide" Target="../notesSlides/notesSlide5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4" Type="http://schemas.openxmlformats.org/officeDocument/2006/relationships/notesSlide" Target="../notesSlides/notesSlide59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4" Type="http://schemas.openxmlformats.org/officeDocument/2006/relationships/notesSlide" Target="../notesSlides/notesSlide60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4" Type="http://schemas.openxmlformats.org/officeDocument/2006/relationships/notesSlide" Target="../notesSlides/notesSlide6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6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6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4" Type="http://schemas.openxmlformats.org/officeDocument/2006/relationships/notesSlide" Target="../notesSlides/notesSlide6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41.xml"/><Relationship Id="rId1" Type="http://schemas.openxmlformats.org/officeDocument/2006/relationships/tags" Target="../tags/tag140.xml"/><Relationship Id="rId4" Type="http://schemas.openxmlformats.org/officeDocument/2006/relationships/notesSlide" Target="../notesSlides/notesSlide6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4" Type="http://schemas.openxmlformats.org/officeDocument/2006/relationships/notesSlide" Target="../notesSlides/notesSlide6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4" Type="http://schemas.openxmlformats.org/officeDocument/2006/relationships/notesSlide" Target="../notesSlides/notesSlide68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4" Type="http://schemas.openxmlformats.org/officeDocument/2006/relationships/notesSlide" Target="../notesSlides/notesSlide70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4" Type="http://schemas.openxmlformats.org/officeDocument/2006/relationships/notesSlide" Target="../notesSlides/notesSlide7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5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54.xml"/><Relationship Id="rId1" Type="http://schemas.openxmlformats.org/officeDocument/2006/relationships/tags" Target="../tags/tag153.xml"/><Relationship Id="rId4" Type="http://schemas.openxmlformats.org/officeDocument/2006/relationships/notesSlide" Target="../notesSlides/notesSlide7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4" Type="http://schemas.openxmlformats.org/officeDocument/2006/relationships/notesSlide" Target="../notesSlides/notesSlide7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58.xml"/><Relationship Id="rId1" Type="http://schemas.openxmlformats.org/officeDocument/2006/relationships/tags" Target="../tags/tag157.xml"/><Relationship Id="rId4" Type="http://schemas.openxmlformats.org/officeDocument/2006/relationships/notesSlide" Target="../notesSlides/notesSlide75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4" Type="http://schemas.openxmlformats.org/officeDocument/2006/relationships/notesSlide" Target="../notesSlides/notesSlide76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62.xml"/><Relationship Id="rId1" Type="http://schemas.openxmlformats.org/officeDocument/2006/relationships/tags" Target="../tags/tag161.xml"/><Relationship Id="rId4" Type="http://schemas.openxmlformats.org/officeDocument/2006/relationships/notesSlide" Target="../notesSlides/notesSlide7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4" Type="http://schemas.openxmlformats.org/officeDocument/2006/relationships/notesSlide" Target="../notesSlides/notesSlide78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66.xml"/><Relationship Id="rId1" Type="http://schemas.openxmlformats.org/officeDocument/2006/relationships/tags" Target="../tags/tag165.xml"/><Relationship Id="rId4" Type="http://schemas.openxmlformats.org/officeDocument/2006/relationships/notesSlide" Target="../notesSlides/notesSlide79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8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4" Type="http://schemas.openxmlformats.org/officeDocument/2006/relationships/notesSlide" Target="../notesSlides/notesSlide8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4" Type="http://schemas.openxmlformats.org/officeDocument/2006/relationships/notesSlide" Target="../notesSlides/notesSlide83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4" Type="http://schemas.openxmlformats.org/officeDocument/2006/relationships/notesSlide" Target="../notesSlides/notesSlide84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4" Type="http://schemas.openxmlformats.org/officeDocument/2006/relationships/notesSlide" Target="../notesSlides/notesSlide85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78.xml"/><Relationship Id="rId1" Type="http://schemas.openxmlformats.org/officeDocument/2006/relationships/tags" Target="../tags/tag177.xml"/><Relationship Id="rId4" Type="http://schemas.openxmlformats.org/officeDocument/2006/relationships/notesSlide" Target="../notesSlides/notesSlide86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4" Type="http://schemas.openxmlformats.org/officeDocument/2006/relationships/notesSlide" Target="../notesSlides/notesSlide8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82.xml"/><Relationship Id="rId1" Type="http://schemas.openxmlformats.org/officeDocument/2006/relationships/tags" Target="../tags/tag181.xml"/><Relationship Id="rId4" Type="http://schemas.openxmlformats.org/officeDocument/2006/relationships/notesSlide" Target="../notesSlides/notesSlide88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84.xml"/><Relationship Id="rId1" Type="http://schemas.openxmlformats.org/officeDocument/2006/relationships/tags" Target="../tags/tag183.xml"/><Relationship Id="rId4" Type="http://schemas.openxmlformats.org/officeDocument/2006/relationships/notesSlide" Target="../notesSlides/notesSlide89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4" Type="http://schemas.openxmlformats.org/officeDocument/2006/relationships/notesSlide" Target="../notesSlides/notesSlide90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4" Type="http://schemas.openxmlformats.org/officeDocument/2006/relationships/notesSlide" Target="../notesSlides/notesSlide9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4" Type="http://schemas.openxmlformats.org/officeDocument/2006/relationships/notesSlide" Target="../notesSlides/notesSlide9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92.xml"/><Relationship Id="rId1" Type="http://schemas.openxmlformats.org/officeDocument/2006/relationships/tags" Target="../tags/tag191.xml"/><Relationship Id="rId4" Type="http://schemas.openxmlformats.org/officeDocument/2006/relationships/notesSlide" Target="../notesSlides/notesSlide9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94.xml"/><Relationship Id="rId1" Type="http://schemas.openxmlformats.org/officeDocument/2006/relationships/tags" Target="../tags/tag193.xml"/><Relationship Id="rId4" Type="http://schemas.openxmlformats.org/officeDocument/2006/relationships/notesSlide" Target="../notesSlides/notesSlide94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96.xml"/><Relationship Id="rId1" Type="http://schemas.openxmlformats.org/officeDocument/2006/relationships/tags" Target="../tags/tag195.xml"/><Relationship Id="rId4" Type="http://schemas.openxmlformats.org/officeDocument/2006/relationships/notesSlide" Target="../notesSlides/notesSlide95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98.xml"/><Relationship Id="rId1" Type="http://schemas.openxmlformats.org/officeDocument/2006/relationships/tags" Target="../tags/tag197.xml"/><Relationship Id="rId4" Type="http://schemas.openxmlformats.org/officeDocument/2006/relationships/notesSlide" Target="../notesSlides/notesSlide96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00.xml"/><Relationship Id="rId1" Type="http://schemas.openxmlformats.org/officeDocument/2006/relationships/tags" Target="../tags/tag199.xml"/><Relationship Id="rId4" Type="http://schemas.openxmlformats.org/officeDocument/2006/relationships/notesSlide" Target="../notesSlides/notesSlide9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02.xml"/><Relationship Id="rId1" Type="http://schemas.openxmlformats.org/officeDocument/2006/relationships/tags" Target="../tags/tag201.xml"/><Relationship Id="rId4" Type="http://schemas.openxmlformats.org/officeDocument/2006/relationships/notesSlide" Target="../notesSlides/notesSlide98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4" Type="http://schemas.openxmlformats.org/officeDocument/2006/relationships/notesSlide" Target="../notesSlides/notesSlide99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06.xml"/><Relationship Id="rId1" Type="http://schemas.openxmlformats.org/officeDocument/2006/relationships/tags" Target="../tags/tag205.xml"/><Relationship Id="rId4" Type="http://schemas.openxmlformats.org/officeDocument/2006/relationships/notesSlide" Target="../notesSlides/notesSlide100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08.xml"/><Relationship Id="rId1" Type="http://schemas.openxmlformats.org/officeDocument/2006/relationships/tags" Target="../tags/tag207.xml"/><Relationship Id="rId4" Type="http://schemas.openxmlformats.org/officeDocument/2006/relationships/notesSlide" Target="../notesSlides/notesSlide101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10.xml"/><Relationship Id="rId1" Type="http://schemas.openxmlformats.org/officeDocument/2006/relationships/tags" Target="../tags/tag209.xml"/><Relationship Id="rId4" Type="http://schemas.openxmlformats.org/officeDocument/2006/relationships/notesSlide" Target="../notesSlides/notesSlide10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12.xml"/><Relationship Id="rId1" Type="http://schemas.openxmlformats.org/officeDocument/2006/relationships/tags" Target="../tags/tag211.xml"/><Relationship Id="rId4" Type="http://schemas.openxmlformats.org/officeDocument/2006/relationships/notesSlide" Target="../notesSlides/notesSlide103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14.xml"/><Relationship Id="rId1" Type="http://schemas.openxmlformats.org/officeDocument/2006/relationships/tags" Target="../tags/tag213.xml"/><Relationship Id="rId4" Type="http://schemas.openxmlformats.org/officeDocument/2006/relationships/notesSlide" Target="../notesSlides/notesSlide104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16.xml"/><Relationship Id="rId1" Type="http://schemas.openxmlformats.org/officeDocument/2006/relationships/tags" Target="../tags/tag215.xml"/><Relationship Id="rId4" Type="http://schemas.openxmlformats.org/officeDocument/2006/relationships/notesSlide" Target="../notesSlides/notesSlide105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18.xml"/><Relationship Id="rId1" Type="http://schemas.openxmlformats.org/officeDocument/2006/relationships/tags" Target="../tags/tag217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06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20.xml"/><Relationship Id="rId1" Type="http://schemas.openxmlformats.org/officeDocument/2006/relationships/tags" Target="../tags/tag219.xml"/><Relationship Id="rId4" Type="http://schemas.openxmlformats.org/officeDocument/2006/relationships/notesSlide" Target="../notesSlides/notesSlide107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21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2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24.xml"/><Relationship Id="rId1" Type="http://schemas.openxmlformats.org/officeDocument/2006/relationships/tags" Target="../tags/tag223.xml"/><Relationship Id="rId4" Type="http://schemas.openxmlformats.org/officeDocument/2006/relationships/notesSlide" Target="../notesSlides/notesSlide110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26.xml"/><Relationship Id="rId1" Type="http://schemas.openxmlformats.org/officeDocument/2006/relationships/tags" Target="../tags/tag225.xml"/><Relationship Id="rId4" Type="http://schemas.openxmlformats.org/officeDocument/2006/relationships/notesSlide" Target="../notesSlides/notesSlide1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8"/>
          <p:cNvSpPr>
            <a:spLocks noGrp="1" noChangeArrowheads="1"/>
          </p:cNvSpPr>
          <p:nvPr>
            <p:ph type="body" idx="4294967295"/>
          </p:nvPr>
        </p:nvSpPr>
        <p:spPr>
          <a:xfrm>
            <a:off x="3575720" y="1340768"/>
            <a:ext cx="4104456" cy="3960440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/>
          <a:p>
            <a:pPr marL="514350" indent="-514350" eaLnBrk="1" hangingPunct="1">
              <a:lnSpc>
                <a:spcPct val="110000"/>
              </a:lnSpc>
              <a:buFont typeface="+mj-lt"/>
              <a:buAutoNum type="arabicPeriod"/>
            </a:pPr>
            <a:r>
              <a:rPr lang="zh-CN" altLang="en-US" sz="2800" b="1" dirty="0"/>
              <a:t>异常处理简介</a:t>
            </a:r>
            <a:endParaRPr lang="en-US" altLang="zh-CN" sz="2800" b="1" dirty="0"/>
          </a:p>
          <a:p>
            <a:pPr marL="514350" indent="-514350" eaLnBrk="1" hangingPunct="1">
              <a:lnSpc>
                <a:spcPct val="110000"/>
              </a:lnSpc>
              <a:buFont typeface="+mj-lt"/>
              <a:buAutoNum type="arabicPeriod"/>
            </a:pPr>
            <a:r>
              <a:rPr lang="zh-CN" altLang="en-US" sz="2800" b="1" dirty="0"/>
              <a:t>输入/输出流的概念</a:t>
            </a:r>
          </a:p>
          <a:p>
            <a:pPr marL="514350" indent="-514350" eaLnBrk="1" hangingPunct="1">
              <a:lnSpc>
                <a:spcPct val="110000"/>
              </a:lnSpc>
              <a:buFont typeface="+mj-lt"/>
              <a:buAutoNum type="arabicPeriod"/>
            </a:pPr>
            <a:r>
              <a:rPr lang="zh-CN" altLang="en-US" sz="2800" b="1" dirty="0"/>
              <a:t>文本文件读写</a:t>
            </a:r>
            <a:endParaRPr lang="en-US" altLang="zh-CN" sz="2800" b="1" dirty="0"/>
          </a:p>
          <a:p>
            <a:pPr marL="514350" indent="-514350" eaLnBrk="1" hangingPunct="1">
              <a:lnSpc>
                <a:spcPct val="110000"/>
              </a:lnSpc>
              <a:buFont typeface="+mj-lt"/>
              <a:buAutoNum type="arabicPeriod"/>
            </a:pPr>
            <a:r>
              <a:rPr lang="zh-CN" altLang="en-US" sz="2800" b="1" dirty="0"/>
              <a:t>二进制文件读写</a:t>
            </a:r>
            <a:endParaRPr lang="en-US" altLang="zh-CN" sz="2800" b="1" dirty="0"/>
          </a:p>
          <a:p>
            <a:pPr marL="514350" indent="-514350" eaLnBrk="1" hangingPunct="1">
              <a:lnSpc>
                <a:spcPct val="110000"/>
              </a:lnSpc>
              <a:buFont typeface="+mj-lt"/>
              <a:buAutoNum type="arabicPeriod"/>
            </a:pPr>
            <a:r>
              <a:rPr lang="en-US" altLang="zh-CN" sz="2800" b="1" dirty="0"/>
              <a:t>File</a:t>
            </a:r>
            <a:r>
              <a:rPr lang="zh-CN" altLang="en-US" sz="2800" b="1" dirty="0"/>
              <a:t>类</a:t>
            </a:r>
            <a:endParaRPr lang="en-US" altLang="zh-CN" sz="2800" b="1" dirty="0"/>
          </a:p>
          <a:p>
            <a:pPr marL="514350" indent="-514350" eaLnBrk="1" hangingPunct="1">
              <a:lnSpc>
                <a:spcPct val="110000"/>
              </a:lnSpc>
              <a:buFont typeface="+mj-lt"/>
              <a:buAutoNum type="arabicPeriod"/>
            </a:pPr>
            <a:r>
              <a:rPr lang="zh-CN" altLang="en-US" sz="2800" b="1" dirty="0"/>
              <a:t>处理压缩文件</a:t>
            </a:r>
          </a:p>
          <a:p>
            <a:pPr marL="514350" indent="-514350" eaLnBrk="1" hangingPunct="1">
              <a:lnSpc>
                <a:spcPct val="110000"/>
              </a:lnSpc>
              <a:buFont typeface="+mj-lt"/>
              <a:buAutoNum type="arabicPeriod"/>
            </a:pPr>
            <a:r>
              <a:rPr lang="zh-CN" altLang="en-US" sz="2800" b="1" dirty="0"/>
              <a:t>对象序列化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1176000" y="1588"/>
            <a:ext cx="1016000" cy="366712"/>
          </a:xfrm>
        </p:spPr>
        <p:txBody>
          <a:bodyPr/>
          <a:lstStyle/>
          <a:p>
            <a:pPr>
              <a:defRPr/>
            </a:pPr>
            <a:fld id="{B3227BBE-B4C4-4142-B028-1E999C672AE7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3A69972-6AB5-6F71-9BDA-77FB6C09499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359696" y="74325"/>
            <a:ext cx="568863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章 异常处理与输入输出流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0BE3069A-A78A-755F-CEB4-B52E4188C82E}"/>
              </a:ext>
            </a:extLst>
          </p:cNvPr>
          <p:cNvSpPr txBox="1">
            <a:spLocks noChangeArrowheads="1"/>
          </p:cNvSpPr>
          <p:nvPr/>
        </p:nvSpPr>
        <p:spPr>
          <a:xfrm>
            <a:off x="3575720" y="1340768"/>
            <a:ext cx="4104456" cy="3960440"/>
          </a:xfrm>
          <a:prstGeom prst="rect">
            <a:avLst/>
          </a:prstGeom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fontAlgn="auto">
              <a:lnSpc>
                <a:spcPct val="110000"/>
              </a:lnSpc>
              <a:spcAft>
                <a:spcPts val="0"/>
              </a:spcAft>
              <a:buFont typeface="+mj-lt"/>
              <a:buAutoNum type="arabicPeriod"/>
            </a:pPr>
            <a:r>
              <a:rPr kumimoji="0" lang="zh-CN" altLang="en-US" sz="2800" b="1" dirty="0">
                <a:solidFill>
                  <a:srgbClr val="FF00FF"/>
                </a:solidFill>
              </a:rPr>
              <a:t>异常处理简介</a:t>
            </a:r>
            <a:endParaRPr kumimoji="0" lang="en-US" altLang="zh-CN" sz="2800" b="1" dirty="0">
              <a:solidFill>
                <a:srgbClr val="FF00FF"/>
              </a:solidFill>
            </a:endParaRPr>
          </a:p>
          <a:p>
            <a:pPr marL="514350" indent="-514350" fontAlgn="auto">
              <a:lnSpc>
                <a:spcPct val="110000"/>
              </a:lnSpc>
              <a:spcAft>
                <a:spcPts val="0"/>
              </a:spcAft>
              <a:buFont typeface="+mj-lt"/>
              <a:buAutoNum type="arabicPeriod"/>
            </a:pPr>
            <a:r>
              <a:rPr kumimoji="0" lang="zh-CN" altLang="en-US" sz="2800" b="1" dirty="0">
                <a:solidFill>
                  <a:srgbClr val="FF00FF"/>
                </a:solidFill>
              </a:rPr>
              <a:t>输入/输出流的概念</a:t>
            </a:r>
          </a:p>
          <a:p>
            <a:pPr marL="514350" indent="-514350" fontAlgn="auto">
              <a:lnSpc>
                <a:spcPct val="110000"/>
              </a:lnSpc>
              <a:spcAft>
                <a:spcPts val="0"/>
              </a:spcAft>
              <a:buFont typeface="+mj-lt"/>
              <a:buAutoNum type="arabicPeriod"/>
            </a:pPr>
            <a:r>
              <a:rPr kumimoji="0" lang="zh-CN" altLang="en-US" sz="2800" b="1" dirty="0">
                <a:solidFill>
                  <a:srgbClr val="FF00FF"/>
                </a:solidFill>
              </a:rPr>
              <a:t>文本文件读写</a:t>
            </a:r>
            <a:endParaRPr kumimoji="0" lang="en-US" altLang="zh-CN" sz="2800" b="1" dirty="0">
              <a:solidFill>
                <a:srgbClr val="FF00FF"/>
              </a:solidFill>
            </a:endParaRPr>
          </a:p>
          <a:p>
            <a:pPr marL="514350" indent="-514350" fontAlgn="auto">
              <a:lnSpc>
                <a:spcPct val="110000"/>
              </a:lnSpc>
              <a:spcAft>
                <a:spcPts val="0"/>
              </a:spcAft>
              <a:buFont typeface="+mj-lt"/>
              <a:buAutoNum type="arabicPeriod"/>
            </a:pPr>
            <a:r>
              <a:rPr kumimoji="0" lang="zh-CN" altLang="en-US" sz="2800" b="1" dirty="0">
                <a:solidFill>
                  <a:srgbClr val="FF00FF"/>
                </a:solidFill>
              </a:rPr>
              <a:t>二进制文件读写</a:t>
            </a:r>
            <a:endParaRPr kumimoji="0" lang="en-US" altLang="zh-CN" sz="2800" b="1" dirty="0">
              <a:solidFill>
                <a:srgbClr val="FF00FF"/>
              </a:solidFill>
            </a:endParaRPr>
          </a:p>
          <a:p>
            <a:pPr marL="514350" indent="-514350" fontAlgn="auto">
              <a:lnSpc>
                <a:spcPct val="110000"/>
              </a:lnSpc>
              <a:spcAft>
                <a:spcPts val="0"/>
              </a:spcAft>
              <a:buFont typeface="+mj-lt"/>
              <a:buAutoNum type="arabicPeriod"/>
            </a:pPr>
            <a:r>
              <a:rPr kumimoji="0" lang="en-US" altLang="zh-CN" sz="2800" b="1" dirty="0"/>
              <a:t>File</a:t>
            </a:r>
            <a:r>
              <a:rPr kumimoji="0" lang="zh-CN" altLang="en-US" sz="2800" b="1" dirty="0"/>
              <a:t>类</a:t>
            </a:r>
            <a:endParaRPr kumimoji="0" lang="en-US" altLang="zh-CN" sz="2800" b="1" dirty="0"/>
          </a:p>
          <a:p>
            <a:pPr marL="514350" indent="-514350" fontAlgn="auto">
              <a:lnSpc>
                <a:spcPct val="110000"/>
              </a:lnSpc>
              <a:spcAft>
                <a:spcPts val="0"/>
              </a:spcAft>
              <a:buFont typeface="+mj-lt"/>
              <a:buAutoNum type="arabicPeriod"/>
            </a:pPr>
            <a:r>
              <a:rPr kumimoji="0" lang="zh-CN" altLang="en-US" sz="2800" b="1" dirty="0"/>
              <a:t>处理压缩文件</a:t>
            </a:r>
          </a:p>
          <a:p>
            <a:pPr marL="514350" indent="-514350" fontAlgn="auto">
              <a:lnSpc>
                <a:spcPct val="110000"/>
              </a:lnSpc>
              <a:spcAft>
                <a:spcPts val="0"/>
              </a:spcAft>
              <a:buFont typeface="+mj-lt"/>
              <a:buAutoNum type="arabicPeriod"/>
            </a:pPr>
            <a:r>
              <a:rPr kumimoji="0" lang="zh-CN" altLang="en-US" sz="2800" b="1" dirty="0"/>
              <a:t>对象序列化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67408" y="1916832"/>
            <a:ext cx="10802740" cy="2869468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Autofit/>
          </a:bodyPr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700" b="1" dirty="0"/>
              <a:t>在</a:t>
            </a:r>
            <a:r>
              <a:rPr lang="zh-CN" altLang="en-US" sz="2700" b="1" dirty="0">
                <a:solidFill>
                  <a:srgbClr val="FF0000"/>
                </a:solidFill>
              </a:rPr>
              <a:t>程序运行过程中</a:t>
            </a:r>
            <a:r>
              <a:rPr lang="zh-CN" altLang="en-US" sz="2700" b="1" dirty="0"/>
              <a:t>有可能发生</a:t>
            </a:r>
            <a:r>
              <a:rPr lang="zh-CN" altLang="en-US" sz="2700" b="1" dirty="0">
                <a:solidFill>
                  <a:srgbClr val="FF00FF"/>
                </a:solidFill>
              </a:rPr>
              <a:t>异常事件</a:t>
            </a:r>
            <a:r>
              <a:rPr lang="zh-CN" altLang="en-US" sz="2700" b="1" dirty="0"/>
              <a:t>，这些事件的发生将</a:t>
            </a:r>
            <a:r>
              <a:rPr lang="zh-CN" altLang="en-US" sz="2700" b="1" dirty="0">
                <a:solidFill>
                  <a:srgbClr val="FF00FF"/>
                </a:solidFill>
              </a:rPr>
              <a:t>阻止程序的正常运行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700" b="1" dirty="0"/>
              <a:t>如何处理异常事件引起的错误？把错误交给谁去处理？程序又该如何从错误中恢复？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AED6A585-DDAA-9092-03A6-AAA0E021BDB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439248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5.1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异常处理机制简介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C55C813-85EE-911E-99F6-EBFB1DA59FB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244827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异常处理概述</a:t>
            </a:r>
          </a:p>
        </p:txBody>
      </p:sp>
    </p:spTree>
    <p:extLst>
      <p:ext uri="{BB962C8B-B14F-4D97-AF65-F5344CB8AC3E}">
        <p14:creationId xmlns:p14="http://schemas.microsoft.com/office/powerpoint/2010/main" val="52671627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79376" y="1844824"/>
            <a:ext cx="11305256" cy="4176464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10800" b="1" dirty="0"/>
              <a:t>异常又称为</a:t>
            </a:r>
            <a:r>
              <a:rPr lang="zh-CN" altLang="en-US" sz="10800" b="1" dirty="0">
                <a:solidFill>
                  <a:srgbClr val="FF0000"/>
                </a:solidFill>
              </a:rPr>
              <a:t>例外</a:t>
            </a:r>
            <a:r>
              <a:rPr lang="zh-CN" altLang="en-US" sz="10800" b="1" dirty="0"/>
              <a:t>，是</a:t>
            </a:r>
            <a:r>
              <a:rPr lang="zh-CN" altLang="en-US" sz="10800" b="1" dirty="0">
                <a:solidFill>
                  <a:srgbClr val="FF0000"/>
                </a:solidFill>
              </a:rPr>
              <a:t>特殊的运行错误</a:t>
            </a:r>
            <a:r>
              <a:rPr lang="zh-CN" altLang="en-US" sz="10800" b="1" dirty="0">
                <a:solidFill>
                  <a:srgbClr val="FF00FF"/>
                </a:solidFill>
                <a:highlight>
                  <a:srgbClr val="FFFF00"/>
                </a:highlight>
              </a:rPr>
              <a:t>对象</a:t>
            </a:r>
          </a:p>
          <a:p>
            <a:pPr eaLnBrk="1" hangingPunct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10800" b="1" dirty="0"/>
              <a:t>Java</a:t>
            </a:r>
            <a:r>
              <a:rPr lang="zh-CN" altLang="en-US" sz="10800" b="1" dirty="0"/>
              <a:t>声明了很多</a:t>
            </a:r>
            <a:r>
              <a:rPr lang="zh-CN" altLang="en-US" sz="10800" b="1" dirty="0">
                <a:solidFill>
                  <a:srgbClr val="FF00FF"/>
                </a:solidFill>
              </a:rPr>
              <a:t>异常类</a:t>
            </a:r>
            <a:r>
              <a:rPr lang="zh-CN" altLang="en-US" sz="10800" b="1" dirty="0"/>
              <a:t>，每个</a:t>
            </a:r>
            <a:r>
              <a:rPr lang="zh-CN" altLang="en-US" sz="10800" b="1" dirty="0">
                <a:solidFill>
                  <a:srgbClr val="FF00FF"/>
                </a:solidFill>
              </a:rPr>
              <a:t>异常类</a:t>
            </a:r>
            <a:r>
              <a:rPr lang="zh-CN" altLang="en-US" sz="10800" b="1" dirty="0"/>
              <a:t>代表一种</a:t>
            </a:r>
            <a:r>
              <a:rPr lang="zh-CN" altLang="en-US" sz="10800" b="1" dirty="0">
                <a:solidFill>
                  <a:srgbClr val="FF00FF"/>
                </a:solidFill>
              </a:rPr>
              <a:t>运行错误</a:t>
            </a:r>
            <a:r>
              <a:rPr lang="zh-CN" altLang="en-US" sz="10800" b="1" dirty="0"/>
              <a:t>，类中包含：</a:t>
            </a:r>
          </a:p>
          <a:p>
            <a:pPr marL="1344613" lvl="1" indent="-539750" eaLnBrk="1" hangingPunct="1">
              <a:lnSpc>
                <a:spcPct val="16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sz="10800" b="1" dirty="0"/>
              <a:t>该运行错误的信息</a:t>
            </a:r>
          </a:p>
          <a:p>
            <a:pPr marL="1344613" lvl="1" indent="-539750" eaLnBrk="1" hangingPunct="1">
              <a:lnSpc>
                <a:spcPct val="16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sz="10800" b="1" dirty="0"/>
              <a:t>处理错误的方法</a:t>
            </a:r>
          </a:p>
          <a:p>
            <a:pPr eaLnBrk="1" hangingPunct="1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10800" b="1" dirty="0"/>
              <a:t>每当</a:t>
            </a:r>
            <a:r>
              <a:rPr lang="en-US" altLang="zh-CN" sz="10800" b="1" dirty="0"/>
              <a:t>Java</a:t>
            </a:r>
            <a:r>
              <a:rPr lang="zh-CN" altLang="en-US" sz="10800" b="1" dirty="0"/>
              <a:t>程序运行过程中发生一个</a:t>
            </a:r>
            <a:r>
              <a:rPr lang="zh-CN" altLang="en-US" sz="10800" b="1" dirty="0">
                <a:solidFill>
                  <a:srgbClr val="FF00FF"/>
                </a:solidFill>
                <a:highlight>
                  <a:srgbClr val="FFFF00"/>
                </a:highlight>
              </a:rPr>
              <a:t>可识别的</a:t>
            </a:r>
            <a:r>
              <a:rPr lang="zh-CN" altLang="en-US" sz="10800" b="1" dirty="0"/>
              <a:t>运行错误时，即</a:t>
            </a:r>
            <a:r>
              <a:rPr lang="zh-CN" altLang="en-US" sz="10800" b="1" dirty="0">
                <a:solidFill>
                  <a:srgbClr val="FF00FF"/>
                </a:solidFill>
              </a:rPr>
              <a:t>该错误有一个异常类与之相对应</a:t>
            </a:r>
            <a:r>
              <a:rPr lang="zh-CN" altLang="en-US" sz="10800" b="1" dirty="0"/>
              <a:t>时，系统都会产生一个相应的该</a:t>
            </a:r>
            <a:r>
              <a:rPr lang="zh-CN" altLang="en-US" sz="10800" b="1" dirty="0">
                <a:solidFill>
                  <a:srgbClr val="FF00FF"/>
                </a:solidFill>
                <a:highlight>
                  <a:srgbClr val="FFFF00"/>
                </a:highlight>
              </a:rPr>
              <a:t>异常类的对象</a:t>
            </a:r>
            <a:r>
              <a:rPr lang="zh-CN" altLang="en-US" sz="10800" b="1" dirty="0"/>
              <a:t>，即</a:t>
            </a:r>
            <a:r>
              <a:rPr lang="zh-CN" altLang="en-US" sz="10800" b="1" dirty="0">
                <a:solidFill>
                  <a:srgbClr val="FF00FF"/>
                </a:solidFill>
              </a:rPr>
              <a:t>产生一个</a:t>
            </a:r>
            <a:r>
              <a:rPr lang="zh-CN" altLang="en-US" sz="10800" b="1" dirty="0">
                <a:solidFill>
                  <a:srgbClr val="FF00FF"/>
                </a:solidFill>
                <a:highlight>
                  <a:srgbClr val="FFFF00"/>
                </a:highlight>
              </a:rPr>
              <a:t>异常</a:t>
            </a:r>
            <a:r>
              <a:rPr lang="zh-CN" altLang="en-US" sz="10800" b="1" dirty="0"/>
              <a:t>。</a:t>
            </a:r>
          </a:p>
          <a:p>
            <a:pPr lvl="1" eaLnBrk="1" hangingPunct="1">
              <a:lnSpc>
                <a:spcPct val="90000"/>
              </a:lnSpc>
            </a:pPr>
            <a:endParaRPr lang="zh-CN" altLang="en-US" sz="2200" dirty="0"/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7A39D909-B063-A92C-E119-9D78E683B7D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439248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5.1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异常处理机制简介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A4EC6B-C214-388A-3AFC-A7E9C895D13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244827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异常处理概述</a:t>
            </a:r>
          </a:p>
        </p:txBody>
      </p:sp>
    </p:spTree>
    <p:extLst>
      <p:ext uri="{BB962C8B-B14F-4D97-AF65-F5344CB8AC3E}">
        <p14:creationId xmlns:p14="http://schemas.microsoft.com/office/powerpoint/2010/main" val="370720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5400" y="1700808"/>
            <a:ext cx="11017224" cy="3888432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Autofit/>
          </a:bodyPr>
          <a:lstStyle/>
          <a:p>
            <a:pPr marL="457200" indent="-457200" eaLnBrk="1" hangingPunct="1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2700" b="1" dirty="0"/>
              <a:t>抛出(</a:t>
            </a:r>
            <a:r>
              <a:rPr lang="en-US" altLang="zh-CN" sz="2700" b="1" dirty="0">
                <a:solidFill>
                  <a:srgbClr val="FF00FF"/>
                </a:solidFill>
              </a:rPr>
              <a:t>throw</a:t>
            </a:r>
            <a:r>
              <a:rPr lang="en-US" altLang="zh-CN" sz="2700" b="1" dirty="0"/>
              <a:t>)</a:t>
            </a:r>
            <a:r>
              <a:rPr lang="zh-CN" altLang="en-US" sz="2700" b="1" dirty="0"/>
              <a:t>异常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700" b="1" dirty="0"/>
              <a:t>如果</a:t>
            </a:r>
            <a:r>
              <a:rPr lang="zh-CN" altLang="en-US" sz="2700" b="1" dirty="0">
                <a:solidFill>
                  <a:srgbClr val="FF00FF"/>
                </a:solidFill>
              </a:rPr>
              <a:t>方法</a:t>
            </a:r>
            <a:r>
              <a:rPr lang="zh-CN" altLang="en-US" sz="2700" b="1" dirty="0"/>
              <a:t>发生异常，则该方法生成一个代表该异常的对象并把它</a:t>
            </a:r>
            <a:r>
              <a:rPr lang="zh-CN" altLang="en-US" sz="2700" b="1" dirty="0">
                <a:solidFill>
                  <a:srgbClr val="FF00FF"/>
                </a:solidFill>
                <a:highlight>
                  <a:srgbClr val="FFFF00"/>
                </a:highlight>
              </a:rPr>
              <a:t>交给</a:t>
            </a:r>
            <a:r>
              <a:rPr lang="zh-CN" altLang="en-US" sz="2700" b="1" dirty="0">
                <a:solidFill>
                  <a:srgbClr val="FF00FF"/>
                </a:solidFill>
              </a:rPr>
              <a:t>运行时系统</a:t>
            </a:r>
            <a:r>
              <a:rPr lang="zh-CN" altLang="en-US" sz="2700" b="1" dirty="0"/>
              <a:t>，运行时系统便寻找相应的代码来处理这一异常。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2700" b="1" dirty="0"/>
              <a:t>捕获(</a:t>
            </a:r>
            <a:r>
              <a:rPr lang="en-US" altLang="zh-CN" sz="2700" b="1" dirty="0">
                <a:solidFill>
                  <a:srgbClr val="FF00FF"/>
                </a:solidFill>
              </a:rPr>
              <a:t>catch</a:t>
            </a:r>
            <a:r>
              <a:rPr lang="en-US" altLang="zh-CN" sz="2700" b="1" dirty="0"/>
              <a:t>)</a:t>
            </a:r>
            <a:r>
              <a:rPr lang="zh-CN" altLang="en-US" sz="2700" b="1" dirty="0"/>
              <a:t>异常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700" b="1" dirty="0"/>
              <a:t>运行时系统在</a:t>
            </a:r>
            <a:r>
              <a:rPr lang="zh-CN" altLang="en-US" sz="2700" b="1" dirty="0">
                <a:solidFill>
                  <a:srgbClr val="FF00FF"/>
                </a:solidFill>
              </a:rPr>
              <a:t>方法调用栈</a:t>
            </a:r>
            <a:r>
              <a:rPr lang="zh-CN" altLang="en-US" sz="2700" b="1" dirty="0"/>
              <a:t>中查找，从生成异常的方法开始</a:t>
            </a:r>
            <a:r>
              <a:rPr lang="zh-CN" altLang="en-US" sz="2700" b="1" dirty="0">
                <a:solidFill>
                  <a:srgbClr val="FF00FF"/>
                </a:solidFill>
              </a:rPr>
              <a:t>进行回溯</a:t>
            </a:r>
            <a:r>
              <a:rPr lang="zh-CN" altLang="en-US" sz="2700" b="1" dirty="0"/>
              <a:t>，直到找到包含相应异常处理的方法为止。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1176000" y="1588"/>
            <a:ext cx="1016000" cy="366712"/>
          </a:xfrm>
        </p:spPr>
        <p:txBody>
          <a:bodyPr/>
          <a:lstStyle/>
          <a:p>
            <a:pPr>
              <a:defRPr/>
            </a:pPr>
            <a:fld id="{B3227BBE-B4C4-4142-B028-1E999C672AE7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6C7CAF2-B06B-A2EA-5B0E-55FEC0C89C1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439248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5.1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异常处理机制简介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F6F8855-3E95-BE96-9BF6-B96E211BCF2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3456384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java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处理异常的方法</a:t>
            </a:r>
          </a:p>
        </p:txBody>
      </p:sp>
    </p:spTree>
    <p:extLst>
      <p:ext uri="{BB962C8B-B14F-4D97-AF65-F5344CB8AC3E}">
        <p14:creationId xmlns:p14="http://schemas.microsoft.com/office/powerpoint/2010/main" val="2635652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755" name="Group 4"/>
          <p:cNvGrpSpPr>
            <a:grpSpLocks/>
          </p:cNvGrpSpPr>
          <p:nvPr/>
        </p:nvGrpSpPr>
        <p:grpSpPr bwMode="auto">
          <a:xfrm>
            <a:off x="2567608" y="2276872"/>
            <a:ext cx="6172200" cy="2857500"/>
            <a:chOff x="3576" y="1019"/>
            <a:chExt cx="5891" cy="2469"/>
          </a:xfrm>
        </p:grpSpPr>
        <p:grpSp>
          <p:nvGrpSpPr>
            <p:cNvPr id="74758" name="Group 5"/>
            <p:cNvGrpSpPr>
              <a:grpSpLocks/>
            </p:cNvGrpSpPr>
            <p:nvPr/>
          </p:nvGrpSpPr>
          <p:grpSpPr bwMode="auto">
            <a:xfrm>
              <a:off x="4230" y="1019"/>
              <a:ext cx="5237" cy="2469"/>
              <a:chOff x="4230" y="1019"/>
              <a:chExt cx="5237" cy="2469"/>
            </a:xfrm>
          </p:grpSpPr>
          <p:sp>
            <p:nvSpPr>
              <p:cNvPr id="74761" name="Line 6"/>
              <p:cNvSpPr>
                <a:spLocks noChangeShapeType="1"/>
              </p:cNvSpPr>
              <p:nvPr/>
            </p:nvSpPr>
            <p:spPr bwMode="auto">
              <a:xfrm flipV="1">
                <a:off x="4230" y="1454"/>
                <a:ext cx="0" cy="1743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62" name="Rectangle 7"/>
              <p:cNvSpPr>
                <a:spLocks noChangeArrowheads="1"/>
              </p:cNvSpPr>
              <p:nvPr/>
            </p:nvSpPr>
            <p:spPr bwMode="auto">
              <a:xfrm>
                <a:off x="4558" y="1019"/>
                <a:ext cx="1145" cy="2469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2000" dirty="0">
                  <a:latin typeface="Times New Roman" panose="02020603050405020304" pitchFamily="18" charset="0"/>
                </a:endParaRPr>
              </a:p>
              <a:p>
                <a:pPr algn="ctr">
                  <a:lnSpc>
                    <a:spcPct val="11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Method4</a:t>
                </a:r>
              </a:p>
              <a:p>
                <a:pPr algn="ctr">
                  <a:lnSpc>
                    <a:spcPct val="11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2000" dirty="0">
                  <a:latin typeface="Times New Roman" panose="02020603050405020304" pitchFamily="18" charset="0"/>
                </a:endParaRPr>
              </a:p>
              <a:p>
                <a:pPr algn="ctr">
                  <a:lnSpc>
                    <a:spcPct val="11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Method3</a:t>
                </a:r>
              </a:p>
              <a:p>
                <a:pPr algn="ctr">
                  <a:lnSpc>
                    <a:spcPct val="11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2000" dirty="0">
                  <a:latin typeface="Times New Roman" panose="02020603050405020304" pitchFamily="18" charset="0"/>
                </a:endParaRPr>
              </a:p>
              <a:p>
                <a:pPr algn="ctr">
                  <a:lnSpc>
                    <a:spcPct val="11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Method2</a:t>
                </a:r>
              </a:p>
              <a:p>
                <a:pPr algn="ctr">
                  <a:lnSpc>
                    <a:spcPct val="11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en-US" altLang="zh-CN" sz="2000" dirty="0">
                  <a:latin typeface="Times New Roman" panose="02020603050405020304" pitchFamily="18" charset="0"/>
                </a:endParaRPr>
              </a:p>
              <a:p>
                <a:pPr algn="ctr">
                  <a:lnSpc>
                    <a:spcPct val="11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Method1</a:t>
                </a:r>
              </a:p>
            </p:txBody>
          </p:sp>
          <p:sp>
            <p:nvSpPr>
              <p:cNvPr id="74763" name="Line 8"/>
              <p:cNvSpPr>
                <a:spLocks noChangeShapeType="1"/>
              </p:cNvSpPr>
              <p:nvPr/>
            </p:nvSpPr>
            <p:spPr bwMode="auto">
              <a:xfrm>
                <a:off x="4558" y="1600"/>
                <a:ext cx="1145" cy="0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64" name="Line 9"/>
              <p:cNvSpPr>
                <a:spLocks noChangeShapeType="1"/>
              </p:cNvSpPr>
              <p:nvPr/>
            </p:nvSpPr>
            <p:spPr bwMode="auto">
              <a:xfrm>
                <a:off x="4558" y="2907"/>
                <a:ext cx="1145" cy="1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65" name="Line 10"/>
              <p:cNvSpPr>
                <a:spLocks noChangeShapeType="1"/>
              </p:cNvSpPr>
              <p:nvPr/>
            </p:nvSpPr>
            <p:spPr bwMode="auto">
              <a:xfrm flipH="1">
                <a:off x="5703" y="1454"/>
                <a:ext cx="1964" cy="0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66" name="Line 11"/>
              <p:cNvSpPr>
                <a:spLocks noChangeShapeType="1"/>
              </p:cNvSpPr>
              <p:nvPr/>
            </p:nvSpPr>
            <p:spPr bwMode="auto">
              <a:xfrm flipH="1">
                <a:off x="5703" y="3197"/>
                <a:ext cx="1964" cy="0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67" name="Rectangle 12"/>
              <p:cNvSpPr>
                <a:spLocks noChangeArrowheads="1"/>
              </p:cNvSpPr>
              <p:nvPr/>
            </p:nvSpPr>
            <p:spPr bwMode="auto">
              <a:xfrm>
                <a:off x="7667" y="1164"/>
                <a:ext cx="1800" cy="436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1800">
                    <a:latin typeface="Times New Roman" panose="02020603050405020304" pitchFamily="18" charset="0"/>
                  </a:rPr>
                  <a:t>探测抛出异常</a:t>
                </a:r>
              </a:p>
            </p:txBody>
          </p:sp>
          <p:sp>
            <p:nvSpPr>
              <p:cNvPr id="74768" name="Rectangle 13"/>
              <p:cNvSpPr>
                <a:spLocks noChangeArrowheads="1"/>
              </p:cNvSpPr>
              <p:nvPr/>
            </p:nvSpPr>
            <p:spPr bwMode="auto">
              <a:xfrm>
                <a:off x="7667" y="2907"/>
                <a:ext cx="1800" cy="436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1800">
                    <a:latin typeface="Times New Roman" panose="02020603050405020304" pitchFamily="18" charset="0"/>
                  </a:rPr>
                  <a:t>捕获处理异常</a:t>
                </a:r>
              </a:p>
            </p:txBody>
          </p:sp>
        </p:grpSp>
        <p:sp>
          <p:nvSpPr>
            <p:cNvPr id="74759" name="Text Box 14"/>
            <p:cNvSpPr txBox="1">
              <a:spLocks noChangeArrowheads="1"/>
            </p:cNvSpPr>
            <p:nvPr/>
          </p:nvSpPr>
          <p:spPr bwMode="auto">
            <a:xfrm>
              <a:off x="3576" y="2035"/>
              <a:ext cx="600" cy="7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调用</a:t>
              </a:r>
            </a:p>
          </p:txBody>
        </p:sp>
        <p:sp>
          <p:nvSpPr>
            <p:cNvPr id="74760" name="Line 15"/>
            <p:cNvSpPr>
              <a:spLocks noChangeShapeType="1"/>
            </p:cNvSpPr>
            <p:nvPr/>
          </p:nvSpPr>
          <p:spPr bwMode="auto">
            <a:xfrm>
              <a:off x="4558" y="2181"/>
              <a:ext cx="1145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1176000" y="1588"/>
            <a:ext cx="1016000" cy="366712"/>
          </a:xfrm>
        </p:spPr>
        <p:txBody>
          <a:bodyPr/>
          <a:lstStyle/>
          <a:p>
            <a:pPr>
              <a:defRPr/>
            </a:pPr>
            <a:fld id="{B3227BBE-B4C4-4142-B028-1E999C672AE7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AB6677C-8834-E129-57B1-D8A1FA9F0D4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31236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5.2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异常的处理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8B3BFE8-C6C2-D86C-8A38-28509E81369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288032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异常处理示意图</a:t>
            </a:r>
          </a:p>
        </p:txBody>
      </p:sp>
    </p:spTree>
    <p:extLst>
      <p:ext uri="{BB962C8B-B14F-4D97-AF65-F5344CB8AC3E}">
        <p14:creationId xmlns:p14="http://schemas.microsoft.com/office/powerpoint/2010/main" val="589856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8" name="Rectangle 1029"/>
          <p:cNvSpPr>
            <a:spLocks noGrp="1" noChangeArrowheads="1"/>
          </p:cNvSpPr>
          <p:nvPr>
            <p:ph idx="4294967295"/>
          </p:nvPr>
        </p:nvSpPr>
        <p:spPr>
          <a:xfrm>
            <a:off x="1127448" y="1628800"/>
            <a:ext cx="7790656" cy="3484984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en-US" sz="2800" dirty="0"/>
              <a:t>根据错误的严重程度不同，可分为两类</a:t>
            </a:r>
          </a:p>
          <a:p>
            <a:pPr marL="971550" lvl="1" indent="-514350">
              <a:buFont typeface="+mj-ea"/>
              <a:buAutoNum type="circleNumDbPlain"/>
            </a:pPr>
            <a:r>
              <a:rPr lang="zh-CN" altLang="en-US" sz="2700" dirty="0"/>
              <a:t>错误</a:t>
            </a:r>
          </a:p>
          <a:p>
            <a:pPr lvl="2"/>
            <a:r>
              <a:rPr lang="zh-CN" altLang="en-US" dirty="0"/>
              <a:t>致命性的，程序无法处理；</a:t>
            </a:r>
          </a:p>
          <a:p>
            <a:pPr lvl="2"/>
            <a:r>
              <a:rPr lang="en-US" altLang="zh-CN" dirty="0"/>
              <a:t>Error</a:t>
            </a:r>
            <a:r>
              <a:rPr lang="zh-CN" altLang="en-US" dirty="0"/>
              <a:t>类是所有错误类的父类。</a:t>
            </a:r>
          </a:p>
          <a:p>
            <a:pPr marL="971550" lvl="1" indent="-514350">
              <a:buFont typeface="+mj-ea"/>
              <a:buAutoNum type="circleNumDbPlain"/>
            </a:pPr>
            <a:r>
              <a:rPr lang="zh-CN" altLang="en-US" sz="2700" dirty="0"/>
              <a:t>异常</a:t>
            </a:r>
          </a:p>
          <a:p>
            <a:pPr lvl="2"/>
            <a:r>
              <a:rPr lang="zh-CN" altLang="en-US" dirty="0"/>
              <a:t>非致命性的，可编制程序捕获和处理；</a:t>
            </a:r>
          </a:p>
          <a:p>
            <a:pPr lvl="2"/>
            <a:r>
              <a:rPr lang="en-US" altLang="zh-CN" dirty="0"/>
              <a:t>Exception</a:t>
            </a:r>
            <a:r>
              <a:rPr lang="zh-CN" altLang="en-US" dirty="0"/>
              <a:t>类是所有异常类的父类。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2C97F36-1AC2-C68B-A2A8-8F6C94C63B3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439248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5.1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异常处理机制简介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7AF218-B0A3-6664-C6A5-F13D4C00768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208823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错误的分类</a:t>
            </a:r>
          </a:p>
        </p:txBody>
      </p:sp>
    </p:spTree>
    <p:extLst>
      <p:ext uri="{BB962C8B-B14F-4D97-AF65-F5344CB8AC3E}">
        <p14:creationId xmlns:p14="http://schemas.microsoft.com/office/powerpoint/2010/main" val="201918338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171C2-6B89-286C-E591-35BA620BA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28">
            <a:extLst>
              <a:ext uri="{FF2B5EF4-FFF2-40B4-BE49-F238E27FC236}">
                <a16:creationId xmlns:a16="http://schemas.microsoft.com/office/drawing/2014/main" id="{AE3D1134-5521-3669-3B62-F25B5512F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852612"/>
            <a:ext cx="6710362" cy="450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1A805DAA-B140-6534-10DE-5D25495369D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439248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5.1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异常处理机制简介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A2FF07-52E1-26C3-09B5-31DDC8DC6BD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4176464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异常和错误类的层次结构</a:t>
            </a:r>
          </a:p>
        </p:txBody>
      </p:sp>
    </p:spTree>
    <p:extLst>
      <p:ext uri="{BB962C8B-B14F-4D97-AF65-F5344CB8AC3E}">
        <p14:creationId xmlns:p14="http://schemas.microsoft.com/office/powerpoint/2010/main" val="326682035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3DD9D-7F22-CC52-85FD-C4C05FF59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A8DA9E3-FB8A-3536-1BB7-2B26E6A08A9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76000" y="1588"/>
            <a:ext cx="1016000" cy="366712"/>
          </a:xfrm>
        </p:spPr>
        <p:txBody>
          <a:bodyPr/>
          <a:lstStyle/>
          <a:p>
            <a:pPr>
              <a:defRPr/>
            </a:pPr>
            <a:fld id="{B3227BBE-B4C4-4142-B028-1E999C672AE7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F2CED60-C526-3623-566D-C952377A9F2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439248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5.1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异常处理机制简介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0DB91D2-4525-AA14-2007-B1819EAA6E68}"/>
              </a:ext>
            </a:extLst>
          </p:cNvPr>
          <p:cNvSpPr txBox="1">
            <a:spLocks noChangeArrowheads="1"/>
          </p:cNvSpPr>
          <p:nvPr/>
        </p:nvSpPr>
        <p:spPr>
          <a:xfrm>
            <a:off x="1055440" y="980728"/>
            <a:ext cx="8928992" cy="5544616"/>
          </a:xfrm>
          <a:prstGeom prst="rect">
            <a:avLst/>
          </a:prstGeom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700" b="1" dirty="0"/>
              <a:t>import </a:t>
            </a:r>
            <a:r>
              <a:rPr kumimoji="0" lang="en-US" altLang="zh-CN" sz="2700" b="1" dirty="0" err="1"/>
              <a:t>java.util.Scanner</a:t>
            </a:r>
            <a:r>
              <a:rPr kumimoji="0" lang="en-US" altLang="zh-CN" sz="2700" b="1" dirty="0"/>
              <a:t>;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700" b="1" dirty="0"/>
              <a:t>public class </a:t>
            </a:r>
            <a:r>
              <a:rPr kumimoji="0" lang="en-US" altLang="zh-CN" sz="2700" b="1" dirty="0" err="1"/>
              <a:t>zeroExcept</a:t>
            </a:r>
            <a:r>
              <a:rPr kumimoji="0" lang="en-US" altLang="zh-CN" sz="2700" b="1" dirty="0"/>
              <a:t> {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700" b="1" dirty="0"/>
              <a:t>    public static void main(String[] </a:t>
            </a:r>
            <a:r>
              <a:rPr kumimoji="0" lang="en-US" altLang="zh-CN" sz="2700" b="1" dirty="0" err="1"/>
              <a:t>args</a:t>
            </a:r>
            <a:r>
              <a:rPr kumimoji="0" lang="en-US" altLang="zh-CN" sz="2700" b="1" dirty="0"/>
              <a:t>) {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700" b="1" dirty="0"/>
              <a:t>        int x, y, z;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700" b="1" dirty="0"/>
              <a:t>        Scanner </a:t>
            </a:r>
            <a:r>
              <a:rPr kumimoji="0" lang="en-US" altLang="zh-CN" sz="2700" b="1" dirty="0" err="1"/>
              <a:t>sc</a:t>
            </a:r>
            <a:r>
              <a:rPr kumimoji="0" lang="en-US" altLang="zh-CN" sz="2700" b="1" dirty="0"/>
              <a:t> = new Scanner(System.in);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700" b="1" dirty="0"/>
              <a:t>        </a:t>
            </a:r>
            <a:r>
              <a:rPr kumimoji="0" lang="en-US" altLang="zh-CN" sz="2700" b="1" dirty="0" err="1"/>
              <a:t>System.out.print</a:t>
            </a:r>
            <a:r>
              <a:rPr kumimoji="0" lang="en-US" altLang="zh-CN" sz="2700" b="1" dirty="0"/>
              <a:t>("</a:t>
            </a:r>
            <a:r>
              <a:rPr kumimoji="0" lang="zh-CN" altLang="en-US" sz="2700" b="1" dirty="0"/>
              <a:t>请输入被除数：</a:t>
            </a:r>
            <a:r>
              <a:rPr kumimoji="0" lang="en-US" altLang="zh-CN" sz="2700" b="1" dirty="0"/>
              <a:t>");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700" b="1" dirty="0"/>
              <a:t>        x = </a:t>
            </a:r>
            <a:r>
              <a:rPr kumimoji="0" lang="en-US" altLang="zh-CN" sz="2700" b="1" dirty="0" err="1"/>
              <a:t>sc.nextInt</a:t>
            </a:r>
            <a:r>
              <a:rPr kumimoji="0" lang="en-US" altLang="zh-CN" sz="2700" b="1" dirty="0"/>
              <a:t>();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700" b="1" dirty="0"/>
              <a:t>        </a:t>
            </a:r>
            <a:r>
              <a:rPr kumimoji="0" lang="en-US" altLang="zh-CN" sz="2700" b="1" dirty="0" err="1"/>
              <a:t>System.out.print</a:t>
            </a:r>
            <a:r>
              <a:rPr kumimoji="0" lang="en-US" altLang="zh-CN" sz="2700" b="1" dirty="0"/>
              <a:t>("</a:t>
            </a:r>
            <a:r>
              <a:rPr kumimoji="0" lang="zh-CN" altLang="en-US" sz="2700" b="1" dirty="0"/>
              <a:t>请输入除数：</a:t>
            </a:r>
            <a:r>
              <a:rPr kumimoji="0" lang="en-US" altLang="zh-CN" sz="2700" b="1" dirty="0"/>
              <a:t>");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700" b="1" dirty="0"/>
              <a:t>        y = </a:t>
            </a:r>
            <a:r>
              <a:rPr kumimoji="0" lang="en-US" altLang="zh-CN" sz="2700" b="1" dirty="0" err="1"/>
              <a:t>sc.nextInt</a:t>
            </a:r>
            <a:r>
              <a:rPr kumimoji="0" lang="en-US" altLang="zh-CN" sz="2700" b="1" dirty="0"/>
              <a:t>(); 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700" b="1" dirty="0"/>
              <a:t>        z = x / y;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700" b="1" dirty="0"/>
              <a:t>        </a:t>
            </a:r>
            <a:r>
              <a:rPr kumimoji="0" lang="en-US" altLang="zh-CN" sz="2700" b="1" dirty="0" err="1"/>
              <a:t>System.out.println</a:t>
            </a:r>
            <a:r>
              <a:rPr kumimoji="0" lang="en-US" altLang="zh-CN" sz="2700" b="1" dirty="0"/>
              <a:t>(z);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700" b="1" dirty="0"/>
              <a:t>    }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700" b="1" dirty="0"/>
              <a:t>}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kumimoji="0" lang="en-US" altLang="zh-CN" sz="2700" b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56B1AD3-1202-533A-712A-50C489225891}"/>
              </a:ext>
            </a:extLst>
          </p:cNvPr>
          <p:cNvSpPr txBox="1">
            <a:spLocks noChangeArrowheads="1"/>
          </p:cNvSpPr>
          <p:nvPr/>
        </p:nvSpPr>
        <p:spPr>
          <a:xfrm>
            <a:off x="1055440" y="980728"/>
            <a:ext cx="8928992" cy="5544616"/>
          </a:xfrm>
          <a:prstGeom prst="rect">
            <a:avLst/>
          </a:prstGeom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700" b="1" dirty="0"/>
              <a:t>import </a:t>
            </a:r>
            <a:r>
              <a:rPr kumimoji="0" lang="en-US" altLang="zh-CN" sz="2700" b="1" dirty="0" err="1"/>
              <a:t>java.util.Scanner</a:t>
            </a:r>
            <a:r>
              <a:rPr kumimoji="0" lang="en-US" altLang="zh-CN" sz="2700" b="1" dirty="0"/>
              <a:t>;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700" b="1" dirty="0"/>
              <a:t>public class </a:t>
            </a:r>
            <a:r>
              <a:rPr kumimoji="0" lang="en-US" altLang="zh-CN" sz="2700" b="1" dirty="0" err="1"/>
              <a:t>zeroExcept</a:t>
            </a:r>
            <a:r>
              <a:rPr kumimoji="0" lang="en-US" altLang="zh-CN" sz="2700" b="1" dirty="0"/>
              <a:t> {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700" b="1" dirty="0"/>
              <a:t>    public static void main(String[] </a:t>
            </a:r>
            <a:r>
              <a:rPr kumimoji="0" lang="en-US" altLang="zh-CN" sz="2700" b="1" dirty="0" err="1"/>
              <a:t>args</a:t>
            </a:r>
            <a:r>
              <a:rPr kumimoji="0" lang="en-US" altLang="zh-CN" sz="2700" b="1" dirty="0"/>
              <a:t>) {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700" b="1" dirty="0"/>
              <a:t>        int x, y, z;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700" b="1" dirty="0"/>
              <a:t>        Scanner </a:t>
            </a:r>
            <a:r>
              <a:rPr kumimoji="0" lang="en-US" altLang="zh-CN" sz="2700" b="1" dirty="0" err="1"/>
              <a:t>sc</a:t>
            </a:r>
            <a:r>
              <a:rPr kumimoji="0" lang="en-US" altLang="zh-CN" sz="2700" b="1" dirty="0"/>
              <a:t> = new Scanner(System.in);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700" b="1" dirty="0"/>
              <a:t>        </a:t>
            </a:r>
            <a:r>
              <a:rPr kumimoji="0" lang="en-US" altLang="zh-CN" sz="2700" b="1" dirty="0" err="1"/>
              <a:t>System.out.print</a:t>
            </a:r>
            <a:r>
              <a:rPr kumimoji="0" lang="en-US" altLang="zh-CN" sz="2700" b="1" dirty="0"/>
              <a:t>("</a:t>
            </a:r>
            <a:r>
              <a:rPr kumimoji="0" lang="zh-CN" altLang="en-US" sz="2700" b="1" dirty="0"/>
              <a:t>请输入被除数：</a:t>
            </a:r>
            <a:r>
              <a:rPr kumimoji="0" lang="en-US" altLang="zh-CN" sz="2700" b="1" dirty="0"/>
              <a:t>");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700" b="1" dirty="0"/>
              <a:t>        x = </a:t>
            </a:r>
            <a:r>
              <a:rPr kumimoji="0" lang="en-US" altLang="zh-CN" sz="2700" b="1" dirty="0" err="1"/>
              <a:t>sc.nextInt</a:t>
            </a:r>
            <a:r>
              <a:rPr kumimoji="0" lang="en-US" altLang="zh-CN" sz="2700" b="1" dirty="0"/>
              <a:t>();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700" b="1" dirty="0"/>
              <a:t>        </a:t>
            </a:r>
            <a:r>
              <a:rPr kumimoji="0" lang="en-US" altLang="zh-CN" sz="2700" b="1" dirty="0" err="1"/>
              <a:t>System.out.print</a:t>
            </a:r>
            <a:r>
              <a:rPr kumimoji="0" lang="en-US" altLang="zh-CN" sz="2700" b="1" dirty="0"/>
              <a:t>("</a:t>
            </a:r>
            <a:r>
              <a:rPr kumimoji="0" lang="zh-CN" altLang="en-US" sz="2700" b="1" dirty="0"/>
              <a:t>请输入除数：</a:t>
            </a:r>
            <a:r>
              <a:rPr kumimoji="0" lang="en-US" altLang="zh-CN" sz="2700" b="1" dirty="0"/>
              <a:t>");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700" b="1" dirty="0"/>
              <a:t>        y = </a:t>
            </a:r>
            <a:r>
              <a:rPr kumimoji="0" lang="en-US" altLang="zh-CN" sz="2700" b="1" dirty="0" err="1"/>
              <a:t>sc.nextInt</a:t>
            </a:r>
            <a:r>
              <a:rPr kumimoji="0" lang="en-US" altLang="zh-CN" sz="2700" b="1" dirty="0"/>
              <a:t>(); 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700" b="1" dirty="0"/>
              <a:t>        </a:t>
            </a:r>
            <a:r>
              <a:rPr kumimoji="0" lang="en-US" altLang="zh-CN" sz="2700" b="1" dirty="0">
                <a:solidFill>
                  <a:srgbClr val="FF00FF"/>
                </a:solidFill>
              </a:rPr>
              <a:t>z = x / y;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700" b="1" dirty="0">
                <a:solidFill>
                  <a:srgbClr val="FF00FF"/>
                </a:solidFill>
              </a:rPr>
              <a:t>        </a:t>
            </a:r>
            <a:r>
              <a:rPr kumimoji="0" lang="en-US" altLang="zh-CN" sz="2700" b="1" dirty="0" err="1">
                <a:solidFill>
                  <a:srgbClr val="FF00FF"/>
                </a:solidFill>
              </a:rPr>
              <a:t>System.out.println</a:t>
            </a:r>
            <a:r>
              <a:rPr kumimoji="0" lang="en-US" altLang="zh-CN" sz="2700" b="1" dirty="0">
                <a:solidFill>
                  <a:srgbClr val="FF00FF"/>
                </a:solidFill>
              </a:rPr>
              <a:t>(z);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700" b="1" dirty="0"/>
              <a:t>    }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zh-CN" sz="2700" b="1" dirty="0"/>
              <a:t>}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kumimoji="0" lang="en-US" altLang="zh-CN" sz="2700" b="1" dirty="0"/>
          </a:p>
        </p:txBody>
      </p:sp>
    </p:spTree>
    <p:extLst>
      <p:ext uri="{BB962C8B-B14F-4D97-AF65-F5344CB8AC3E}">
        <p14:creationId xmlns:p14="http://schemas.microsoft.com/office/powerpoint/2010/main" val="2557580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4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88312" y="1772816"/>
            <a:ext cx="9433047" cy="4496074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500" dirty="0"/>
              <a:t>Java</a:t>
            </a:r>
            <a:r>
              <a:rPr lang="zh-CN" altLang="en-US" sz="2500" dirty="0"/>
              <a:t>预定义的一些常见异常：</a:t>
            </a:r>
          </a:p>
          <a:p>
            <a:pPr marL="914400" lvl="1" indent="-457200" eaLnBrk="1" hangingPunct="1">
              <a:lnSpc>
                <a:spcPct val="12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2500" dirty="0" err="1">
                <a:solidFill>
                  <a:schemeClr val="tx2"/>
                </a:solidFill>
              </a:rPr>
              <a:t>ArithmeticException</a:t>
            </a:r>
            <a:r>
              <a:rPr lang="en-US" altLang="zh-CN" sz="2500" dirty="0">
                <a:solidFill>
                  <a:schemeClr val="tx2"/>
                </a:solidFill>
              </a:rPr>
              <a:t> </a:t>
            </a:r>
            <a:r>
              <a:rPr lang="zh-CN" altLang="en-US" sz="2500" dirty="0"/>
              <a:t>整数除法中除数为0</a:t>
            </a:r>
          </a:p>
          <a:p>
            <a:pPr marL="914400" lvl="1" indent="-457200" eaLnBrk="1" hangingPunct="1">
              <a:lnSpc>
                <a:spcPct val="12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2500" dirty="0" err="1">
                <a:solidFill>
                  <a:schemeClr val="tx2"/>
                </a:solidFill>
              </a:rPr>
              <a:t>NullPointerException</a:t>
            </a:r>
            <a:r>
              <a:rPr lang="en-US" altLang="zh-CN" sz="2500" dirty="0">
                <a:solidFill>
                  <a:schemeClr val="tx2"/>
                </a:solidFill>
              </a:rPr>
              <a:t> </a:t>
            </a:r>
            <a:r>
              <a:rPr lang="zh-CN" altLang="en-US" sz="2500" dirty="0"/>
              <a:t>访问的对象还没有实例化</a:t>
            </a:r>
          </a:p>
          <a:p>
            <a:pPr marL="914400" lvl="1" indent="-457200" eaLnBrk="1" hangingPunct="1">
              <a:lnSpc>
                <a:spcPct val="12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2500" dirty="0" err="1">
                <a:solidFill>
                  <a:schemeClr val="tx2"/>
                </a:solidFill>
              </a:rPr>
              <a:t>NegativeArraySizeException</a:t>
            </a:r>
            <a:r>
              <a:rPr lang="en-US" altLang="zh-CN" sz="2500" dirty="0">
                <a:solidFill>
                  <a:schemeClr val="tx2"/>
                </a:solidFill>
              </a:rPr>
              <a:t> </a:t>
            </a:r>
            <a:r>
              <a:rPr lang="zh-CN" altLang="en-US" sz="2500" dirty="0"/>
              <a:t>创建数组时元素个数是负数</a:t>
            </a:r>
          </a:p>
          <a:p>
            <a:pPr marL="914400" lvl="1" indent="-457200" eaLnBrk="1" hangingPunct="1">
              <a:lnSpc>
                <a:spcPct val="12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2500" dirty="0" err="1">
                <a:solidFill>
                  <a:schemeClr val="tx2"/>
                </a:solidFill>
              </a:rPr>
              <a:t>ArrayIndexOutOfBoundsException</a:t>
            </a:r>
            <a:r>
              <a:rPr lang="en-US" altLang="zh-CN" sz="2500" dirty="0">
                <a:solidFill>
                  <a:schemeClr val="tx2"/>
                </a:solidFill>
              </a:rPr>
              <a:t> </a:t>
            </a:r>
            <a:r>
              <a:rPr lang="zh-CN" altLang="en-US" sz="2500" dirty="0"/>
              <a:t>访问数组元素时，数组下标越界</a:t>
            </a:r>
          </a:p>
          <a:p>
            <a:pPr marL="914400" lvl="1" indent="-457200" eaLnBrk="1" hangingPunct="1">
              <a:lnSpc>
                <a:spcPct val="12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2500" dirty="0" err="1">
                <a:solidFill>
                  <a:schemeClr val="tx2"/>
                </a:solidFill>
              </a:rPr>
              <a:t>ArrayStoreException</a:t>
            </a:r>
            <a:r>
              <a:rPr lang="en-US" altLang="zh-CN" sz="2500" dirty="0">
                <a:solidFill>
                  <a:schemeClr val="tx2"/>
                </a:solidFill>
              </a:rPr>
              <a:t>  </a:t>
            </a:r>
            <a:r>
              <a:rPr lang="zh-CN" altLang="en-US" sz="2500" dirty="0"/>
              <a:t>程序试图向数组中存取错误类型的数据</a:t>
            </a:r>
          </a:p>
          <a:p>
            <a:pPr marL="914400" lvl="1" indent="-457200" eaLnBrk="1" hangingPunct="1">
              <a:lnSpc>
                <a:spcPct val="12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2500" dirty="0" err="1"/>
              <a:t>FileNotFoundException</a:t>
            </a:r>
            <a:r>
              <a:rPr lang="en-US" altLang="zh-CN" sz="2500" dirty="0"/>
              <a:t>  </a:t>
            </a:r>
            <a:r>
              <a:rPr lang="zh-CN" altLang="en-US" sz="2500" dirty="0"/>
              <a:t>试图存取一个并不存在的文件</a:t>
            </a:r>
          </a:p>
          <a:p>
            <a:pPr marL="914400" lvl="1" indent="-457200" eaLnBrk="1" hangingPunct="1">
              <a:lnSpc>
                <a:spcPct val="12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2500" dirty="0" err="1"/>
              <a:t>IOException</a:t>
            </a:r>
            <a:r>
              <a:rPr lang="en-US" altLang="zh-CN" sz="2500" dirty="0"/>
              <a:t>  </a:t>
            </a:r>
            <a:r>
              <a:rPr lang="zh-CN" altLang="en-US" sz="2500" dirty="0"/>
              <a:t>通常的</a:t>
            </a:r>
            <a:r>
              <a:rPr lang="en-US" altLang="zh-CN" sz="2500" dirty="0"/>
              <a:t>I/O</a:t>
            </a:r>
            <a:r>
              <a:rPr lang="zh-CN" altLang="en-US" sz="2500" dirty="0"/>
              <a:t>错误</a:t>
            </a:r>
          </a:p>
        </p:txBody>
      </p:sp>
      <p:sp>
        <p:nvSpPr>
          <p:cNvPr id="81923" name="Rectangle 18"/>
          <p:cNvSpPr>
            <a:spLocks noChangeArrowheads="1"/>
          </p:cNvSpPr>
          <p:nvPr/>
        </p:nvSpPr>
        <p:spPr bwMode="auto">
          <a:xfrm>
            <a:off x="8382000" y="5715000"/>
            <a:ext cx="838200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81934" name="Text Box 8"/>
          <p:cNvSpPr txBox="1">
            <a:spLocks noChangeArrowheads="1"/>
          </p:cNvSpPr>
          <p:nvPr/>
        </p:nvSpPr>
        <p:spPr bwMode="auto">
          <a:xfrm>
            <a:off x="10108250" y="2952018"/>
            <a:ext cx="1724025" cy="400050"/>
          </a:xfrm>
          <a:prstGeom prst="rect">
            <a:avLst/>
          </a:prstGeom>
          <a:noFill/>
          <a:ln w="12700" cap="sq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</a:rPr>
              <a:t>非检查型异常</a:t>
            </a:r>
          </a:p>
        </p:txBody>
      </p:sp>
      <p:sp>
        <p:nvSpPr>
          <p:cNvPr id="81931" name="Text Box 14"/>
          <p:cNvSpPr txBox="1">
            <a:spLocks noChangeArrowheads="1"/>
          </p:cNvSpPr>
          <p:nvPr/>
        </p:nvSpPr>
        <p:spPr bwMode="auto">
          <a:xfrm>
            <a:off x="10128448" y="5163702"/>
            <a:ext cx="1466850" cy="40957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隶书" panose="02010509060101010101" pitchFamily="49" charset="-122"/>
              </a:rPr>
              <a:t>检查型异常</a:t>
            </a:r>
          </a:p>
        </p:txBody>
      </p:sp>
      <p:sp>
        <p:nvSpPr>
          <p:cNvPr id="6" name="右大括号 5"/>
          <p:cNvSpPr/>
          <p:nvPr/>
        </p:nvSpPr>
        <p:spPr>
          <a:xfrm>
            <a:off x="9644042" y="2164903"/>
            <a:ext cx="361230" cy="197428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右大括号 6"/>
          <p:cNvSpPr/>
          <p:nvPr/>
        </p:nvSpPr>
        <p:spPr>
          <a:xfrm>
            <a:off x="9661531" y="4531270"/>
            <a:ext cx="361230" cy="167444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B49EC1B-B72A-D286-2241-1E626036A3E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368" y="1015213"/>
            <a:ext cx="3816424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预定义的一些常见异常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2C3BFC62-8E30-2F0F-9A87-8E8C9243026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647728" y="44624"/>
            <a:ext cx="439248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5.1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异常处理机制简介</a:t>
            </a:r>
          </a:p>
        </p:txBody>
      </p:sp>
    </p:spTree>
    <p:extLst>
      <p:ext uri="{BB962C8B-B14F-4D97-AF65-F5344CB8AC3E}">
        <p14:creationId xmlns:p14="http://schemas.microsoft.com/office/powerpoint/2010/main" val="1782277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80492" y="1628800"/>
            <a:ext cx="11031016" cy="4680520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/>
          <a:p>
            <a:pPr marL="109537" indent="0" eaLnBrk="1" hangingPunct="1">
              <a:lnSpc>
                <a:spcPct val="80000"/>
              </a:lnSpc>
              <a:spcBef>
                <a:spcPct val="55000"/>
              </a:spcBef>
              <a:buNone/>
            </a:pPr>
            <a:r>
              <a:rPr lang="en-US" altLang="zh-CN" sz="2500" dirty="0"/>
              <a:t>import java.io.*;</a:t>
            </a:r>
          </a:p>
          <a:p>
            <a:pPr marL="109537" indent="0" eaLnBrk="1" hangingPunct="1">
              <a:lnSpc>
                <a:spcPct val="80000"/>
              </a:lnSpc>
              <a:buNone/>
            </a:pPr>
            <a:r>
              <a:rPr lang="en-US" altLang="zh-CN" sz="2500" dirty="0"/>
              <a:t>public class HelloWorld {</a:t>
            </a:r>
          </a:p>
          <a:p>
            <a:pPr marL="109537" indent="0" eaLnBrk="1" hangingPunct="1">
              <a:lnSpc>
                <a:spcPct val="80000"/>
              </a:lnSpc>
              <a:buNone/>
            </a:pPr>
            <a:r>
              <a:rPr lang="en-US" altLang="zh-CN" sz="2500" dirty="0"/>
              <a:t>    public static void main (String </a:t>
            </a:r>
            <a:r>
              <a:rPr lang="en-US" altLang="zh-CN" sz="2500" dirty="0" err="1"/>
              <a:t>args</a:t>
            </a:r>
            <a:r>
              <a:rPr lang="en-US" altLang="zh-CN" sz="2500" dirty="0"/>
              <a:t>[ ]) {</a:t>
            </a:r>
          </a:p>
          <a:p>
            <a:pPr marL="109537" indent="0" eaLnBrk="1" hangingPunct="1">
              <a:lnSpc>
                <a:spcPct val="80000"/>
              </a:lnSpc>
              <a:buNone/>
            </a:pPr>
            <a:r>
              <a:rPr lang="en-US" altLang="zh-CN" sz="2500" dirty="0"/>
              <a:t>        int </a:t>
            </a:r>
            <a:r>
              <a:rPr lang="en-US" altLang="zh-CN" sz="2500" dirty="0" err="1"/>
              <a:t>i</a:t>
            </a:r>
            <a:r>
              <a:rPr lang="en-US" altLang="zh-CN" sz="2500" dirty="0"/>
              <a:t> = 0;</a:t>
            </a:r>
          </a:p>
          <a:p>
            <a:pPr marL="109537" indent="0" eaLnBrk="1" hangingPunct="1">
              <a:lnSpc>
                <a:spcPct val="80000"/>
              </a:lnSpc>
              <a:buNone/>
            </a:pPr>
            <a:r>
              <a:rPr lang="en-US" altLang="zh-CN" sz="2500" dirty="0"/>
              <a:t>        String greetings [ ] = {"Hello world!",  "No, I mean it!", </a:t>
            </a:r>
          </a:p>
          <a:p>
            <a:pPr marL="109537" indent="0" eaLnBrk="1" hangingPunct="1">
              <a:lnSpc>
                <a:spcPct val="80000"/>
              </a:lnSpc>
              <a:buNone/>
            </a:pPr>
            <a:r>
              <a:rPr lang="en-US" altLang="zh-CN" sz="2500" dirty="0"/>
              <a:t>                                            "HELLO WORLD!!"};</a:t>
            </a:r>
          </a:p>
          <a:p>
            <a:pPr marL="109537" indent="0" eaLnBrk="1" hangingPunct="1">
              <a:lnSpc>
                <a:spcPct val="80000"/>
              </a:lnSpc>
              <a:buNone/>
            </a:pPr>
            <a:r>
              <a:rPr lang="en-US" altLang="zh-CN" sz="2500" dirty="0"/>
              <a:t>        while (</a:t>
            </a:r>
            <a:r>
              <a:rPr lang="en-US" altLang="zh-CN" sz="2500" dirty="0" err="1"/>
              <a:t>i</a:t>
            </a:r>
            <a:r>
              <a:rPr lang="en-US" altLang="zh-CN" sz="2500" dirty="0"/>
              <a:t> &lt; 4) {</a:t>
            </a:r>
          </a:p>
          <a:p>
            <a:pPr marL="109537" indent="0" eaLnBrk="1" hangingPunct="1">
              <a:lnSpc>
                <a:spcPct val="80000"/>
              </a:lnSpc>
              <a:buNone/>
            </a:pPr>
            <a:r>
              <a:rPr lang="en-US" altLang="zh-CN" sz="2500" dirty="0"/>
              <a:t>            </a:t>
            </a:r>
            <a:r>
              <a:rPr lang="en-US" altLang="zh-CN" sz="2500" dirty="0" err="1"/>
              <a:t>System.out.println</a:t>
            </a:r>
            <a:r>
              <a:rPr lang="en-US" altLang="zh-CN" sz="2500" dirty="0"/>
              <a:t> (greetings[</a:t>
            </a:r>
            <a:r>
              <a:rPr lang="en-US" altLang="zh-CN" sz="2500" dirty="0" err="1"/>
              <a:t>i</a:t>
            </a:r>
            <a:r>
              <a:rPr lang="en-US" altLang="zh-CN" sz="2500" dirty="0"/>
              <a:t>]);</a:t>
            </a:r>
          </a:p>
          <a:p>
            <a:pPr marL="109537" indent="0" eaLnBrk="1" hangingPunct="1">
              <a:lnSpc>
                <a:spcPct val="80000"/>
              </a:lnSpc>
              <a:buNone/>
            </a:pPr>
            <a:r>
              <a:rPr lang="en-US" altLang="zh-CN" sz="2500" dirty="0"/>
              <a:t>	     </a:t>
            </a:r>
            <a:r>
              <a:rPr lang="en-US" altLang="zh-CN" sz="2500" dirty="0" err="1"/>
              <a:t>i</a:t>
            </a:r>
            <a:r>
              <a:rPr lang="en-US" altLang="zh-CN" sz="2500" dirty="0"/>
              <a:t>++;</a:t>
            </a:r>
          </a:p>
          <a:p>
            <a:pPr marL="109537" indent="0" eaLnBrk="1" hangingPunct="1">
              <a:lnSpc>
                <a:spcPct val="80000"/>
              </a:lnSpc>
              <a:buNone/>
            </a:pPr>
            <a:r>
              <a:rPr lang="en-US" altLang="zh-CN" sz="2500" dirty="0"/>
              <a:t>        }</a:t>
            </a:r>
          </a:p>
          <a:p>
            <a:pPr marL="109537" indent="0" eaLnBrk="1" hangingPunct="1">
              <a:lnSpc>
                <a:spcPct val="80000"/>
              </a:lnSpc>
              <a:buNone/>
            </a:pPr>
            <a:r>
              <a:rPr lang="en-US" altLang="zh-CN" sz="2500" dirty="0"/>
              <a:t>    }</a:t>
            </a:r>
          </a:p>
          <a:p>
            <a:pPr marL="109537" indent="0" eaLnBrk="1" hangingPunct="1">
              <a:lnSpc>
                <a:spcPct val="80000"/>
              </a:lnSpc>
              <a:buNone/>
            </a:pPr>
            <a:r>
              <a:rPr lang="en-US" altLang="zh-CN" sz="2500" dirty="0"/>
              <a:t>}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359696" y="4950235"/>
            <a:ext cx="8438728" cy="178510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sz="2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Hello world!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No, I mean it!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HELLO WORLD!!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Exception in thread "main" java.lang.ArrayIndexOutOfBoundsException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 HelloWorld.main(HelloWorld.java:7)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BD87F6B-3FE4-0FEA-D5B5-BD312466617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368" y="1015213"/>
            <a:ext cx="4896544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非检查型异常：数组越界异常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EFF2138E-5A1D-189C-F2AF-88091632F47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647728" y="44624"/>
            <a:ext cx="439248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5.1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异常处理机制简介</a:t>
            </a:r>
          </a:p>
        </p:txBody>
      </p:sp>
    </p:spTree>
    <p:extLst>
      <p:ext uri="{BB962C8B-B14F-4D97-AF65-F5344CB8AC3E}">
        <p14:creationId xmlns:p14="http://schemas.microsoft.com/office/powerpoint/2010/main" val="2931812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Rectangle 7"/>
          <p:cNvSpPr>
            <a:spLocks noGrp="1" noChangeArrowheads="1"/>
          </p:cNvSpPr>
          <p:nvPr>
            <p:ph type="body" idx="4294967295"/>
          </p:nvPr>
        </p:nvSpPr>
        <p:spPr>
          <a:xfrm>
            <a:off x="695400" y="1773027"/>
            <a:ext cx="11017224" cy="3600190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Autofit/>
          </a:bodyPr>
          <a:lstStyle/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zh-CN" altLang="en-US" sz="2700" dirty="0"/>
              <a:t>声明抛出异常</a:t>
            </a:r>
          </a:p>
          <a:p>
            <a:pPr lvl="1" algn="just" eaLnBrk="1" hangingPunct="1"/>
            <a:r>
              <a:rPr lang="zh-CN" altLang="en-US" sz="2700" dirty="0"/>
              <a:t>若不在当前方法内处理异常，</a:t>
            </a:r>
            <a:r>
              <a:rPr lang="zh-CN" altLang="en-US" sz="2700" dirty="0">
                <a:latin typeface="Times New Roman" panose="02020603050405020304" pitchFamily="18" charset="0"/>
              </a:rPr>
              <a:t>可以使用</a:t>
            </a:r>
            <a:r>
              <a:rPr lang="en-US" altLang="zh-CN" sz="27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throws</a:t>
            </a:r>
            <a:r>
              <a:rPr lang="zh-CN" altLang="en-US" sz="2700" dirty="0"/>
              <a:t>子句</a:t>
            </a:r>
            <a:r>
              <a:rPr lang="zh-CN" altLang="en-US" sz="2700" dirty="0">
                <a:latin typeface="Times New Roman" panose="02020603050405020304" pitchFamily="18" charset="0"/>
              </a:rPr>
              <a:t>声明将异常抛出到调用方法中</a:t>
            </a:r>
            <a:r>
              <a:rPr lang="zh-CN" altLang="en-US" sz="2700" dirty="0"/>
              <a:t>；</a:t>
            </a:r>
            <a:endParaRPr lang="en-US" altLang="zh-CN" sz="2700" dirty="0"/>
          </a:p>
          <a:p>
            <a:pPr lvl="1" algn="just" eaLnBrk="1" hangingPunct="1"/>
            <a:r>
              <a:rPr lang="zh-CN" altLang="en-US" sz="2700" dirty="0">
                <a:latin typeface="Times New Roman" panose="02020603050405020304" pitchFamily="18" charset="0"/>
              </a:rPr>
              <a:t>如果所有的方法都选择了抛出此异常，最后</a:t>
            </a:r>
            <a:r>
              <a:rPr lang="en-US" altLang="zh-CN" sz="2700" dirty="0">
                <a:latin typeface="Times New Roman" panose="02020603050405020304" pitchFamily="18" charset="0"/>
              </a:rPr>
              <a:t>JVM</a:t>
            </a:r>
            <a:r>
              <a:rPr lang="zh-CN" altLang="en-US" sz="2700" dirty="0">
                <a:latin typeface="Times New Roman" panose="02020603050405020304" pitchFamily="18" charset="0"/>
              </a:rPr>
              <a:t>将捕获它，输出相关的错误信息，终止程序的运行。</a:t>
            </a:r>
            <a:endParaRPr lang="zh-CN" altLang="en-US" sz="2700" dirty="0"/>
          </a:p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zh-CN" altLang="en-US" sz="2700" dirty="0"/>
              <a:t>捕获异常</a:t>
            </a:r>
          </a:p>
          <a:p>
            <a:pPr lvl="1" algn="just" eaLnBrk="1" hangingPunct="1"/>
            <a:r>
              <a:rPr lang="zh-CN" altLang="en-US" sz="2700" dirty="0"/>
              <a:t>使用</a:t>
            </a:r>
            <a:r>
              <a:rPr lang="en-US" altLang="zh-CN" sz="2700" b="1" dirty="0">
                <a:solidFill>
                  <a:srgbClr val="FF00FF"/>
                </a:solidFill>
              </a:rPr>
              <a:t>try{}catch(){}</a:t>
            </a:r>
            <a:r>
              <a:rPr lang="zh-CN" altLang="en-US" sz="2700" dirty="0"/>
              <a:t>块，捕获到所发生的异常，并进行相应的处理。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1176000" y="1588"/>
            <a:ext cx="1016000" cy="366712"/>
          </a:xfrm>
        </p:spPr>
        <p:txBody>
          <a:bodyPr/>
          <a:lstStyle/>
          <a:p>
            <a:pPr>
              <a:defRPr/>
            </a:pPr>
            <a:fld id="{B3227BBE-B4C4-4142-B028-1E999C672AE7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6D2BC05-34AD-49AF-0E99-4370FB8C923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31236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5.2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异常的处理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D9CAABE-45BB-0298-9652-A1DCDB8E4B4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316835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检查型异常的处理</a:t>
            </a:r>
          </a:p>
        </p:txBody>
      </p:sp>
    </p:spTree>
    <p:extLst>
      <p:ext uri="{BB962C8B-B14F-4D97-AF65-F5344CB8AC3E}">
        <p14:creationId xmlns:p14="http://schemas.microsoft.com/office/powerpoint/2010/main" val="59476239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8" name="Rectangle 1030"/>
          <p:cNvSpPr>
            <a:spLocks noGrp="1" noChangeArrowheads="1"/>
          </p:cNvSpPr>
          <p:nvPr>
            <p:ph idx="4294967295"/>
          </p:nvPr>
        </p:nvSpPr>
        <p:spPr>
          <a:xfrm>
            <a:off x="609600" y="1628800"/>
            <a:ext cx="8006680" cy="4032448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public void </a:t>
            </a:r>
            <a:r>
              <a:rPr lang="en-US" altLang="zh-CN" sz="2400" dirty="0" err="1">
                <a:solidFill>
                  <a:schemeClr val="hlink"/>
                </a:solidFill>
              </a:rPr>
              <a:t>openThisFile</a:t>
            </a:r>
            <a:r>
              <a:rPr lang="en-US" altLang="zh-CN" sz="2400" dirty="0">
                <a:solidFill>
                  <a:schemeClr val="tx1"/>
                </a:solidFill>
              </a:rPr>
              <a:t>(String </a:t>
            </a:r>
            <a:r>
              <a:rPr lang="en-US" altLang="zh-CN" sz="2400" dirty="0" err="1">
                <a:solidFill>
                  <a:schemeClr val="tx1"/>
                </a:solidFill>
              </a:rPr>
              <a:t>fileName</a:t>
            </a:r>
            <a:r>
              <a:rPr lang="en-US" altLang="zh-CN" sz="2400" dirty="0">
                <a:solidFill>
                  <a:schemeClr val="tx1"/>
                </a:solidFill>
              </a:rPr>
              <a:t>) 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 </a:t>
            </a:r>
            <a:r>
              <a:rPr lang="en-US" altLang="zh-CN" sz="2400" b="1" dirty="0">
                <a:solidFill>
                  <a:srgbClr val="FF00FF"/>
                </a:solidFill>
              </a:rPr>
              <a:t>throws</a:t>
            </a:r>
            <a:r>
              <a:rPr lang="en-US" altLang="zh-CN" sz="2400" dirty="0">
                <a:solidFill>
                  <a:schemeClr val="tx2"/>
                </a:solidFill>
              </a:rPr>
              <a:t> </a:t>
            </a:r>
            <a:r>
              <a:rPr lang="en-US" altLang="zh-CN" sz="2400" dirty="0" err="1">
                <a:solidFill>
                  <a:srgbClr val="FF0000"/>
                </a:solidFill>
                <a:highlight>
                  <a:srgbClr val="FFFF00"/>
                </a:highlight>
              </a:rPr>
              <a:t>java.io.</a:t>
            </a:r>
            <a:r>
              <a:rPr lang="en-US" altLang="zh-CN" sz="2400" dirty="0" err="1">
                <a:solidFill>
                  <a:schemeClr val="tx2"/>
                </a:solidFill>
              </a:rPr>
              <a:t>FileNotFoundException</a:t>
            </a:r>
            <a:r>
              <a:rPr lang="en-US" altLang="zh-CN" sz="2400" dirty="0">
                <a:solidFill>
                  <a:schemeClr val="tx1"/>
                </a:solidFill>
              </a:rPr>
              <a:t> { </a:t>
            </a:r>
            <a:br>
              <a:rPr lang="en-US" altLang="zh-CN" sz="2400" dirty="0">
                <a:solidFill>
                  <a:schemeClr val="tx1"/>
                </a:solidFill>
              </a:rPr>
            </a:br>
            <a:r>
              <a:rPr lang="en-US" altLang="zh-CN" sz="2400" dirty="0">
                <a:solidFill>
                  <a:schemeClr val="tx1"/>
                </a:solidFill>
              </a:rPr>
              <a:t>      //code  for method 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}</a:t>
            </a:r>
            <a:endParaRPr lang="en-US" altLang="zh-CN" sz="2400" dirty="0"/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public void </a:t>
            </a:r>
            <a:r>
              <a:rPr lang="en-US" altLang="zh-CN" sz="2400" dirty="0" err="1">
                <a:solidFill>
                  <a:schemeClr val="hlink"/>
                </a:solidFill>
              </a:rPr>
              <a:t>getCustomerInfo</a:t>
            </a:r>
            <a:r>
              <a:rPr lang="en-US" altLang="zh-CN" sz="2400" dirty="0">
                <a:solidFill>
                  <a:schemeClr val="tx1"/>
                </a:solidFill>
              </a:rPr>
              <a:t>() 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</a:t>
            </a:r>
            <a:r>
              <a:rPr lang="en-US" altLang="zh-CN" sz="2400" b="1" dirty="0">
                <a:solidFill>
                  <a:srgbClr val="FF00FF"/>
                </a:solidFill>
              </a:rPr>
              <a:t>throws</a:t>
            </a:r>
            <a:r>
              <a:rPr lang="en-US" altLang="zh-CN" sz="2400" dirty="0">
                <a:solidFill>
                  <a:schemeClr val="tx2"/>
                </a:solidFill>
              </a:rPr>
              <a:t> </a:t>
            </a:r>
            <a:r>
              <a:rPr lang="en-US" altLang="zh-CN" sz="2400" dirty="0" err="1">
                <a:solidFill>
                  <a:srgbClr val="FF0000"/>
                </a:solidFill>
                <a:highlight>
                  <a:srgbClr val="FFFF00"/>
                </a:highlight>
              </a:rPr>
              <a:t>java.io.</a:t>
            </a:r>
            <a:r>
              <a:rPr lang="en-US" altLang="zh-CN" sz="2400" dirty="0" err="1">
                <a:solidFill>
                  <a:schemeClr val="tx2"/>
                </a:solidFill>
              </a:rPr>
              <a:t>FileNotFoundException</a:t>
            </a:r>
            <a:r>
              <a:rPr lang="en-US" altLang="zh-CN" sz="2400" dirty="0">
                <a:solidFill>
                  <a:schemeClr val="tx1"/>
                </a:solidFill>
              </a:rPr>
              <a:t> { </a:t>
            </a:r>
            <a:br>
              <a:rPr lang="en-US" altLang="zh-CN" sz="2400" dirty="0">
                <a:solidFill>
                  <a:schemeClr val="tx1"/>
                </a:solidFill>
              </a:rPr>
            </a:br>
            <a:r>
              <a:rPr lang="en-US" altLang="zh-CN" sz="2400" dirty="0">
                <a:solidFill>
                  <a:schemeClr val="tx1"/>
                </a:solidFill>
              </a:rPr>
              <a:t>        // do something </a:t>
            </a:r>
            <a:br>
              <a:rPr lang="en-US" altLang="zh-CN" sz="2400" dirty="0">
                <a:solidFill>
                  <a:schemeClr val="tx1"/>
                </a:solidFill>
              </a:rPr>
            </a:br>
            <a:r>
              <a:rPr lang="en-US" altLang="zh-CN" sz="2400" dirty="0">
                <a:solidFill>
                  <a:schemeClr val="tx1"/>
                </a:solidFill>
              </a:rPr>
              <a:t>   </a:t>
            </a:r>
            <a:r>
              <a:rPr lang="en-US" altLang="zh-CN" sz="2400" dirty="0" err="1">
                <a:solidFill>
                  <a:schemeClr val="tx1"/>
                </a:solidFill>
              </a:rPr>
              <a:t>this.</a:t>
            </a:r>
            <a:r>
              <a:rPr lang="en-US" altLang="zh-CN" sz="2400" dirty="0" err="1">
                <a:solidFill>
                  <a:srgbClr val="2222EA"/>
                </a:solidFill>
              </a:rPr>
              <a:t>openThisFile</a:t>
            </a:r>
            <a:r>
              <a:rPr lang="en-US" altLang="zh-CN" sz="2400" dirty="0">
                <a:solidFill>
                  <a:schemeClr val="tx1"/>
                </a:solidFill>
              </a:rPr>
              <a:t>("customer.txt"); </a:t>
            </a:r>
            <a:br>
              <a:rPr lang="en-US" altLang="zh-CN" sz="2400" dirty="0">
                <a:solidFill>
                  <a:schemeClr val="tx1"/>
                </a:solidFill>
              </a:rPr>
            </a:br>
            <a:r>
              <a:rPr lang="en-US" altLang="zh-CN" sz="2400" dirty="0">
                <a:solidFill>
                  <a:schemeClr val="tx1"/>
                </a:solidFill>
              </a:rPr>
              <a:t>        // do something </a:t>
            </a:r>
            <a:br>
              <a:rPr lang="en-US" altLang="zh-CN" sz="2400" dirty="0">
                <a:solidFill>
                  <a:schemeClr val="tx1"/>
                </a:solidFill>
              </a:rPr>
            </a:br>
            <a:r>
              <a:rPr lang="en-US" altLang="zh-CN" sz="2400" dirty="0">
                <a:solidFill>
                  <a:schemeClr val="tx1"/>
                </a:solidFill>
              </a:rPr>
              <a:t> }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FE875DDC-B26B-7953-BDB2-287088241D7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31236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5.2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异常的处理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E001203-9387-B981-896C-C9A6917367E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280831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抛出异常的例子</a:t>
            </a:r>
          </a:p>
        </p:txBody>
      </p:sp>
      <p:sp>
        <p:nvSpPr>
          <p:cNvPr id="4" name="Rectangle 1030">
            <a:extLst>
              <a:ext uri="{FF2B5EF4-FFF2-40B4-BE49-F238E27FC236}">
                <a16:creationId xmlns:a16="http://schemas.microsoft.com/office/drawing/2014/main" id="{2294EA33-7493-A1D7-38F3-2B5AA69DE3C2}"/>
              </a:ext>
            </a:extLst>
          </p:cNvPr>
          <p:cNvSpPr txBox="1">
            <a:spLocks noChangeArrowheads="1"/>
          </p:cNvSpPr>
          <p:nvPr/>
        </p:nvSpPr>
        <p:spPr>
          <a:xfrm>
            <a:off x="377890" y="5517232"/>
            <a:ext cx="11737304" cy="1215425"/>
          </a:xfrm>
          <a:prstGeom prst="rect">
            <a:avLst/>
          </a:prstGeom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zh-CN" altLang="en-US" sz="2500" dirty="0"/>
              <a:t>   如果在</a:t>
            </a:r>
            <a:r>
              <a:rPr kumimoji="0" lang="en-US" altLang="zh-CN" sz="2500" dirty="0" err="1">
                <a:solidFill>
                  <a:schemeClr val="hlink"/>
                </a:solidFill>
              </a:rPr>
              <a:t>openThisFile</a:t>
            </a:r>
            <a:r>
              <a:rPr kumimoji="0" lang="zh-CN" altLang="en-US" sz="2500" dirty="0"/>
              <a:t>中抛出了</a:t>
            </a:r>
            <a:r>
              <a:rPr kumimoji="0" lang="en-US" altLang="zh-CN" sz="2500" dirty="0" err="1">
                <a:solidFill>
                  <a:schemeClr val="tx2"/>
                </a:solidFill>
              </a:rPr>
              <a:t>FileNotfoundException</a:t>
            </a:r>
            <a:r>
              <a:rPr kumimoji="0" lang="zh-CN" altLang="en-US" sz="2500" dirty="0"/>
              <a:t>异常，</a:t>
            </a:r>
            <a:r>
              <a:rPr kumimoji="0" lang="en-US" altLang="zh-CN" sz="2500" dirty="0" err="1">
                <a:solidFill>
                  <a:schemeClr val="hlink"/>
                </a:solidFill>
              </a:rPr>
              <a:t>getCustomerInfo</a:t>
            </a:r>
            <a:r>
              <a:rPr kumimoji="0" lang="zh-CN" altLang="en-US" sz="2500" dirty="0"/>
              <a:t>将停止执行，并将此异常传送给它的调用者</a:t>
            </a:r>
          </a:p>
        </p:txBody>
      </p:sp>
    </p:spTree>
    <p:extLst>
      <p:ext uri="{BB962C8B-B14F-4D97-AF65-F5344CB8AC3E}">
        <p14:creationId xmlns:p14="http://schemas.microsoft.com/office/powerpoint/2010/main" val="24649357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Rectangle 7"/>
          <p:cNvSpPr>
            <a:spLocks noGrp="1" noChangeArrowheads="1"/>
          </p:cNvSpPr>
          <p:nvPr>
            <p:ph idx="4294967295"/>
          </p:nvPr>
        </p:nvSpPr>
        <p:spPr>
          <a:xfrm>
            <a:off x="1991544" y="1772816"/>
            <a:ext cx="7214592" cy="3200938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Autofit/>
          </a:bodyPr>
          <a:lstStyle/>
          <a:p>
            <a:pPr marL="109537" indent="0" eaLnBrk="1" hangingPunct="1">
              <a:lnSpc>
                <a:spcPct val="90000"/>
              </a:lnSpc>
              <a:buNone/>
            </a:pPr>
            <a:r>
              <a:rPr lang="en-US" altLang="zh-CN" sz="2800" b="1" dirty="0">
                <a:solidFill>
                  <a:srgbClr val="FF00FF"/>
                </a:solidFill>
              </a:rPr>
              <a:t>try</a:t>
            </a:r>
            <a:r>
              <a:rPr lang="en-US" altLang="zh-CN" sz="2800" dirty="0"/>
              <a:t> {</a:t>
            </a:r>
          </a:p>
          <a:p>
            <a:pPr marL="109537" indent="0" eaLnBrk="1" hangingPunct="1">
              <a:lnSpc>
                <a:spcPct val="90000"/>
              </a:lnSpc>
              <a:buNone/>
            </a:pPr>
            <a:r>
              <a:rPr lang="en-US" altLang="zh-CN" sz="2800" dirty="0"/>
              <a:t>    //statement(s)</a:t>
            </a:r>
          </a:p>
          <a:p>
            <a:pPr marL="109537" indent="0" eaLnBrk="1" hangingPunct="1">
              <a:lnSpc>
                <a:spcPct val="90000"/>
              </a:lnSpc>
              <a:buNone/>
            </a:pPr>
            <a:r>
              <a:rPr lang="en-US" altLang="zh-CN" sz="2800" dirty="0"/>
              <a:t>} </a:t>
            </a:r>
            <a:r>
              <a:rPr lang="en-US" altLang="zh-CN" sz="2800" b="1" dirty="0">
                <a:solidFill>
                  <a:srgbClr val="FF00FF"/>
                </a:solidFill>
              </a:rPr>
              <a:t>catch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exceptiontype</a:t>
            </a:r>
            <a:r>
              <a:rPr lang="en-US" altLang="zh-CN" sz="2800" dirty="0"/>
              <a:t> name) {</a:t>
            </a:r>
          </a:p>
          <a:p>
            <a:pPr marL="109537" indent="0" eaLnBrk="1" hangingPunct="1">
              <a:lnSpc>
                <a:spcPct val="90000"/>
              </a:lnSpc>
              <a:buNone/>
            </a:pPr>
            <a:r>
              <a:rPr lang="en-US" altLang="zh-CN" sz="2800" dirty="0"/>
              <a:t>    //statement(s)</a:t>
            </a:r>
          </a:p>
          <a:p>
            <a:pPr marL="109537" indent="0" eaLnBrk="1" hangingPunct="1">
              <a:lnSpc>
                <a:spcPct val="90000"/>
              </a:lnSpc>
              <a:buNone/>
            </a:pPr>
            <a:r>
              <a:rPr lang="en-US" altLang="zh-CN" sz="2800" dirty="0"/>
              <a:t>} </a:t>
            </a:r>
            <a:r>
              <a:rPr lang="en-US" altLang="zh-CN" sz="2800" b="1" dirty="0">
                <a:solidFill>
                  <a:srgbClr val="FF00FF"/>
                </a:solidFill>
              </a:rPr>
              <a:t>finally</a:t>
            </a:r>
            <a:r>
              <a:rPr lang="en-US" altLang="zh-CN" sz="2800" dirty="0"/>
              <a:t> {</a:t>
            </a:r>
          </a:p>
          <a:p>
            <a:pPr marL="109537" indent="0" eaLnBrk="1" hangingPunct="1">
              <a:lnSpc>
                <a:spcPct val="90000"/>
              </a:lnSpc>
              <a:buNone/>
            </a:pPr>
            <a:r>
              <a:rPr lang="en-US" altLang="zh-CN" sz="2800" dirty="0"/>
              <a:t>    //statement(s)</a:t>
            </a:r>
          </a:p>
          <a:p>
            <a:pPr marL="109537" indent="0" eaLnBrk="1" hangingPunct="1">
              <a:lnSpc>
                <a:spcPct val="90000"/>
              </a:lnSpc>
              <a:buNone/>
            </a:pPr>
            <a:r>
              <a:rPr lang="en-US" altLang="zh-CN" sz="2800" dirty="0"/>
              <a:t>}</a:t>
            </a:r>
            <a:endParaRPr lang="zh-CN" alt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CDC236-AD3E-7F35-7C3B-E76F53B3661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31236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5.2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异常的处理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A1B1E6-D885-0C43-1363-4FBF6D64900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280831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捕获异常的语法</a:t>
            </a:r>
          </a:p>
        </p:txBody>
      </p:sp>
    </p:spTree>
    <p:extLst>
      <p:ext uri="{BB962C8B-B14F-4D97-AF65-F5344CB8AC3E}">
        <p14:creationId xmlns:p14="http://schemas.microsoft.com/office/powerpoint/2010/main" val="113963780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40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67408" y="1556792"/>
            <a:ext cx="10972800" cy="4608512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700" b="1" dirty="0"/>
              <a:t>说明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zh-CN" sz="2500" b="1" dirty="0">
                <a:solidFill>
                  <a:srgbClr val="FF0000"/>
                </a:solidFill>
                <a:highlight>
                  <a:srgbClr val="FFFF00"/>
                </a:highlight>
              </a:rPr>
              <a:t>try</a:t>
            </a:r>
            <a:r>
              <a:rPr lang="en-US" altLang="zh-CN" sz="2500" b="1" dirty="0"/>
              <a:t> </a:t>
            </a:r>
            <a:r>
              <a:rPr lang="zh-CN" altLang="en-US" sz="2500" b="1" dirty="0"/>
              <a:t>语句 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sz="2500" b="1" dirty="0"/>
              <a:t>其后跟随可能产生异常的代码块。</a:t>
            </a:r>
            <a:endParaRPr lang="en-US" altLang="zh-CN" sz="2500" b="1" dirty="0"/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zh-CN" sz="2500" b="1" dirty="0">
                <a:solidFill>
                  <a:srgbClr val="FF0000"/>
                </a:solidFill>
                <a:highlight>
                  <a:srgbClr val="FFFF00"/>
                </a:highlight>
              </a:rPr>
              <a:t>catch</a:t>
            </a:r>
            <a:r>
              <a:rPr lang="zh-CN" altLang="en-US" sz="2500" b="1" dirty="0"/>
              <a:t>语句</a:t>
            </a:r>
            <a:endParaRPr lang="en-US" altLang="zh-CN" sz="2500" b="1" dirty="0"/>
          </a:p>
          <a:p>
            <a:pPr lvl="2" eaLnBrk="1" hangingPunct="1">
              <a:lnSpc>
                <a:spcPct val="90000"/>
              </a:lnSpc>
            </a:pPr>
            <a:r>
              <a:rPr lang="zh-CN" altLang="en-US" sz="2500" b="1" dirty="0"/>
              <a:t>其后跟随异常处理语句，通常都要用到两个方法：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zh-CN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getMessage</a:t>
            </a:r>
            <a:r>
              <a:rPr lang="en-US" altLang="zh-C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altLang="zh-CN" sz="2500" b="1" dirty="0">
                <a:cs typeface="Times New Roman" panose="02020603050405020304" pitchFamily="18" charset="0"/>
              </a:rPr>
              <a:t>–</a:t>
            </a:r>
            <a:r>
              <a:rPr lang="en-US" altLang="zh-C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500" b="1" dirty="0">
                <a:latin typeface="宋体" panose="02010600030101010101" pitchFamily="2" charset="-122"/>
              </a:rPr>
              <a:t>返回一个字符串，对发生的异常进行描述。</a:t>
            </a:r>
            <a:r>
              <a:rPr lang="zh-CN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zh-CN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printStackTrace</a:t>
            </a:r>
            <a:r>
              <a:rPr lang="en-US" altLang="zh-C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altLang="zh-CN" sz="2500" b="1" dirty="0">
                <a:cs typeface="Times New Roman" panose="02020603050405020304" pitchFamily="18" charset="0"/>
              </a:rPr>
              <a:t>–</a:t>
            </a:r>
            <a:r>
              <a:rPr lang="en-US" altLang="zh-C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500" b="1" dirty="0">
                <a:latin typeface="宋体" panose="02010600030101010101" pitchFamily="2" charset="-122"/>
              </a:rPr>
              <a:t>给出方法的调用序列，一直到异常的产生位置</a:t>
            </a:r>
            <a:r>
              <a:rPr lang="zh-CN" altLang="en-US" sz="2500" b="1" dirty="0"/>
              <a:t> 。</a:t>
            </a:r>
            <a:endParaRPr lang="en-US" altLang="zh-CN" sz="2500" b="1" dirty="0"/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zh-CN" sz="2500" b="1" dirty="0">
                <a:solidFill>
                  <a:srgbClr val="FF0000"/>
                </a:solidFill>
                <a:highlight>
                  <a:srgbClr val="FFFF00"/>
                </a:highlight>
              </a:rPr>
              <a:t>finally</a:t>
            </a:r>
            <a:r>
              <a:rPr lang="zh-CN" altLang="en-US" sz="2500" b="1" dirty="0"/>
              <a:t>语句</a:t>
            </a:r>
            <a:endParaRPr lang="en-US" altLang="zh-CN" sz="2500" b="1" dirty="0"/>
          </a:p>
          <a:p>
            <a:pPr lvl="2" eaLnBrk="1" hangingPunct="1">
              <a:lnSpc>
                <a:spcPct val="90000"/>
              </a:lnSpc>
            </a:pPr>
            <a:r>
              <a:rPr lang="zh-CN" altLang="en-US" sz="2500" b="1" dirty="0"/>
              <a:t>不论在</a:t>
            </a:r>
            <a:r>
              <a:rPr lang="en-US" altLang="zh-CN" sz="2500" b="1" dirty="0"/>
              <a:t>try</a:t>
            </a:r>
            <a:r>
              <a:rPr lang="zh-CN" altLang="en-US" sz="2500" b="1" dirty="0"/>
              <a:t>代码段是否产生异常，</a:t>
            </a:r>
            <a:r>
              <a:rPr lang="en-US" altLang="zh-CN" sz="2500" b="1" dirty="0"/>
              <a:t>finally </a:t>
            </a:r>
            <a:r>
              <a:rPr lang="zh-CN" altLang="en-US" sz="2500" b="1" dirty="0"/>
              <a:t>后的程序代码段都会被执行。通常在这里释放内存以外的其他资源。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BBA453-C846-88F1-50C8-56A0E675A25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31236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5.2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异常的处理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8E007F-9F0C-D729-FC99-DEB2201193C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280831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捕获异常的语法</a:t>
            </a:r>
          </a:p>
        </p:txBody>
      </p:sp>
    </p:spTree>
    <p:extLst>
      <p:ext uri="{BB962C8B-B14F-4D97-AF65-F5344CB8AC3E}">
        <p14:creationId xmlns:p14="http://schemas.microsoft.com/office/powerpoint/2010/main" val="329228882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40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51384" y="1628800"/>
            <a:ext cx="11449272" cy="5033077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500" b="1" dirty="0"/>
              <a:t>注意事项：</a:t>
            </a:r>
          </a:p>
          <a:p>
            <a:pPr marL="714375" lvl="1" indent="-447675" algn="just" eaLnBrk="1" hangingPunct="1">
              <a:lnSpc>
                <a:spcPct val="15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sz="2500" b="1" dirty="0"/>
              <a:t>如果并列有多个</a:t>
            </a:r>
            <a:r>
              <a:rPr lang="en-US" altLang="zh-CN" sz="2500" b="1" dirty="0"/>
              <a:t>catch</a:t>
            </a:r>
            <a:r>
              <a:rPr lang="zh-CN" altLang="en-US" sz="2500" b="1" dirty="0"/>
              <a:t>语句捕获多个异常，则一般的异常类型放在后面，特殊的放在前面。</a:t>
            </a:r>
            <a:endParaRPr lang="en-US" altLang="zh-CN" sz="2500" b="1" dirty="0"/>
          </a:p>
          <a:p>
            <a:pPr marL="714375" lvl="1" indent="-447675" algn="just">
              <a:lnSpc>
                <a:spcPct val="15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en-US" altLang="zh-CN" sz="2500" b="1" dirty="0"/>
              <a:t>Try</a:t>
            </a:r>
            <a:r>
              <a:rPr lang="zh-CN" altLang="en-US" sz="2500" b="1" dirty="0"/>
              <a:t>后面可以没有</a:t>
            </a:r>
            <a:r>
              <a:rPr lang="en-US" altLang="zh-CN" sz="2500" b="1" dirty="0"/>
              <a:t>catch</a:t>
            </a:r>
            <a:r>
              <a:rPr lang="zh-CN" altLang="en-US" sz="2500" b="1" dirty="0"/>
              <a:t>直接跟</a:t>
            </a:r>
            <a:r>
              <a:rPr lang="en-US" altLang="zh-CN" sz="2500" b="1" dirty="0" err="1"/>
              <a:t>finnally</a:t>
            </a:r>
            <a:r>
              <a:rPr lang="zh-CN" altLang="en-US" sz="2500" b="1" dirty="0"/>
              <a:t>，该异常还会往上层抛，</a:t>
            </a:r>
            <a:r>
              <a:rPr lang="en-US" altLang="zh-CN" sz="2500" b="1" dirty="0"/>
              <a:t>try....</a:t>
            </a:r>
            <a:r>
              <a:rPr lang="en-US" altLang="zh-CN" sz="2500" b="1" dirty="0" err="1"/>
              <a:t>finnally</a:t>
            </a:r>
            <a:r>
              <a:rPr lang="en-US" altLang="zh-CN" sz="2500" b="1" dirty="0"/>
              <a:t> </a:t>
            </a:r>
            <a:r>
              <a:rPr lang="zh-CN" altLang="en-US" sz="2500" b="1" dirty="0"/>
              <a:t>的用法主要是为了释放资源，不进行异常捕获，将异常交由上层调用者处理。</a:t>
            </a:r>
          </a:p>
          <a:p>
            <a:pPr marL="714375" lvl="1" indent="-447675" algn="just">
              <a:lnSpc>
                <a:spcPct val="15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zh-CN" altLang="en-US" sz="2500" b="1" dirty="0"/>
              <a:t>当程序执行</a:t>
            </a:r>
            <a:r>
              <a:rPr lang="en-US" altLang="zh-CN" sz="2500" b="1" dirty="0"/>
              <a:t>try{}</a:t>
            </a:r>
            <a:r>
              <a:rPr lang="zh-CN" altLang="en-US" sz="2500" b="1" dirty="0"/>
              <a:t>遇到</a:t>
            </a:r>
            <a:r>
              <a:rPr lang="en-US" altLang="zh-CN" sz="2500" b="1" dirty="0"/>
              <a:t>return</a:t>
            </a:r>
            <a:r>
              <a:rPr lang="zh-CN" altLang="en-US" sz="2500" b="1" dirty="0"/>
              <a:t>时，程序会先将</a:t>
            </a:r>
            <a:r>
              <a:rPr lang="en-US" altLang="zh-CN" sz="2500" b="1" dirty="0"/>
              <a:t>return</a:t>
            </a:r>
            <a:r>
              <a:rPr lang="zh-CN" altLang="en-US" sz="2500" b="1" dirty="0"/>
              <a:t>语句要做的一切事情都准备好，在将要返回、但并未返回的时候，执行流程转去执行</a:t>
            </a:r>
            <a:r>
              <a:rPr lang="en-US" altLang="zh-CN" sz="2500" b="1" dirty="0"/>
              <a:t>finally</a:t>
            </a:r>
            <a:r>
              <a:rPr lang="zh-CN" altLang="en-US" sz="2500" b="1" dirty="0"/>
              <a:t>块，当</a:t>
            </a:r>
            <a:r>
              <a:rPr lang="en-US" altLang="zh-CN" sz="2500" b="1" dirty="0"/>
              <a:t>finally</a:t>
            </a:r>
            <a:r>
              <a:rPr lang="zh-CN" altLang="en-US" sz="2500" b="1" dirty="0"/>
              <a:t>块执行完成后就直接返回刚才</a:t>
            </a:r>
            <a:r>
              <a:rPr lang="en-US" altLang="zh-CN" sz="2500" b="1" dirty="0"/>
              <a:t>return</a:t>
            </a:r>
            <a:r>
              <a:rPr lang="zh-CN" altLang="en-US" sz="2500" b="1" dirty="0"/>
              <a:t>语句已经准备好的结果。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20852E-1BE1-5863-6D25-E88C67AFA99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31236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5.2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异常的处理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5C19F2-0627-4871-D901-96E50D037AA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280831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捕获异常的语法</a:t>
            </a:r>
          </a:p>
        </p:txBody>
      </p:sp>
    </p:spTree>
    <p:extLst>
      <p:ext uri="{BB962C8B-B14F-4D97-AF65-F5344CB8AC3E}">
        <p14:creationId xmlns:p14="http://schemas.microsoft.com/office/powerpoint/2010/main" val="389443027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667508" y="1700808"/>
            <a:ext cx="9289032" cy="4784865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public class ExceptionTester1 {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    public static void main(String </a:t>
            </a:r>
            <a:r>
              <a:rPr lang="en-US" altLang="zh-CN" sz="2200" dirty="0" err="1"/>
              <a:t>args</a:t>
            </a:r>
            <a:r>
              <a:rPr lang="en-US" altLang="zh-CN" sz="2200" dirty="0"/>
              <a:t>[]) {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        </a:t>
            </a:r>
            <a:r>
              <a:rPr lang="en-US" altLang="zh-CN" sz="2200" dirty="0" err="1"/>
              <a:t>System.out.println</a:t>
            </a:r>
            <a:r>
              <a:rPr lang="en-US" altLang="zh-CN" sz="2200" dirty="0"/>
              <a:t>("Enter the first number:");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        int number1 = </a:t>
            </a:r>
            <a:r>
              <a:rPr lang="en-US" altLang="zh-CN" sz="2200" dirty="0" err="1"/>
              <a:t>Keyboard.getInteger</a:t>
            </a:r>
            <a:r>
              <a:rPr lang="en-US" altLang="zh-CN" sz="2200" dirty="0"/>
              <a:t>();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        </a:t>
            </a:r>
            <a:r>
              <a:rPr lang="en-US" altLang="zh-CN" sz="2200" dirty="0" err="1"/>
              <a:t>System.out.println</a:t>
            </a:r>
            <a:r>
              <a:rPr lang="en-US" altLang="zh-CN" sz="2200" dirty="0"/>
              <a:t>("Enter the second number:");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        int number2 = </a:t>
            </a:r>
            <a:r>
              <a:rPr lang="en-US" altLang="zh-CN" sz="2200" dirty="0" err="1"/>
              <a:t>Keyboard.getInteger</a:t>
            </a:r>
            <a:r>
              <a:rPr lang="en-US" altLang="zh-CN" sz="2200" dirty="0"/>
              <a:t>();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        </a:t>
            </a:r>
            <a:r>
              <a:rPr lang="en-US" altLang="zh-CN" sz="2200" dirty="0" err="1"/>
              <a:t>System.out.print</a:t>
            </a:r>
            <a:r>
              <a:rPr lang="en-US" altLang="zh-CN" sz="2200" dirty="0"/>
              <a:t>(number1 + " / " + number2 + "=");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        int result = number1 / number2;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        </a:t>
            </a:r>
            <a:r>
              <a:rPr lang="en-US" altLang="zh-CN" sz="2200" dirty="0" err="1"/>
              <a:t>System.out.println</a:t>
            </a:r>
            <a:r>
              <a:rPr lang="en-US" altLang="zh-CN" sz="2200" dirty="0"/>
              <a:t>(result);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    }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}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CEE18F9-EEB5-2A0A-923F-13929E9F6DA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31236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5.2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异常的处理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A519D02-955A-7252-E740-9A3CD08E9FD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252028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捕获异常举例</a:t>
            </a:r>
          </a:p>
        </p:txBody>
      </p:sp>
    </p:spTree>
    <p:extLst>
      <p:ext uri="{BB962C8B-B14F-4D97-AF65-F5344CB8AC3E}">
        <p14:creationId xmlns:p14="http://schemas.microsoft.com/office/powerpoint/2010/main" val="3142920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1344" y="1916832"/>
            <a:ext cx="11953328" cy="4608512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/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000" dirty="0"/>
              <a:t>import </a:t>
            </a:r>
            <a:r>
              <a:rPr lang="en-US" altLang="zh-CN" sz="2000" dirty="0" err="1"/>
              <a:t>java.io</a:t>
            </a:r>
            <a:r>
              <a:rPr lang="en-US" altLang="zh-CN" sz="2000" dirty="0"/>
              <a:t>.*;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000" dirty="0"/>
              <a:t>public class Keyboard {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000" dirty="0"/>
              <a:t>   static </a:t>
            </a:r>
            <a:r>
              <a:rPr lang="en-US" altLang="zh-CN" sz="2000" dirty="0" err="1"/>
              <a:t>BufferedReader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inputStream</a:t>
            </a:r>
            <a:r>
              <a:rPr lang="en-US" altLang="zh-CN" sz="2000" dirty="0"/>
              <a:t> = </a:t>
            </a:r>
            <a:r>
              <a:rPr lang="en-US" altLang="zh-CN" sz="2000" b="1" dirty="0">
                <a:solidFill>
                  <a:srgbClr val="FF00FF"/>
                </a:solidFill>
              </a:rPr>
              <a:t>new</a:t>
            </a:r>
            <a:r>
              <a:rPr lang="en-US" altLang="zh-CN" sz="2000" dirty="0">
                <a:solidFill>
                  <a:srgbClr val="FF00FF"/>
                </a:solidFill>
              </a:rPr>
              <a:t> </a:t>
            </a:r>
            <a:r>
              <a:rPr lang="en-US" altLang="zh-CN" sz="2000" dirty="0" err="1"/>
              <a:t>BufferedReader</a:t>
            </a:r>
            <a:r>
              <a:rPr lang="en-US" altLang="zh-CN" sz="2000" dirty="0"/>
              <a:t>(</a:t>
            </a:r>
            <a:r>
              <a:rPr lang="en-US" altLang="zh-CN" sz="2000" b="1" dirty="0">
                <a:solidFill>
                  <a:srgbClr val="FF00FF"/>
                </a:solidFill>
              </a:rPr>
              <a:t>new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InputStreamReader</a:t>
            </a:r>
            <a:r>
              <a:rPr lang="en-US" altLang="zh-CN" sz="2000" dirty="0"/>
              <a:t>(System.in));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000" dirty="0"/>
              <a:t>   public static int </a:t>
            </a:r>
            <a:r>
              <a:rPr lang="en-US" altLang="zh-CN" sz="2000" dirty="0" err="1"/>
              <a:t>getInteger</a:t>
            </a:r>
            <a:r>
              <a:rPr lang="en-US" altLang="zh-CN" sz="2000" dirty="0"/>
              <a:t>() {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000" dirty="0"/>
              <a:t>        try {</a:t>
            </a:r>
            <a:r>
              <a:rPr lang="zh-CN" altLang="en-US" sz="2000" dirty="0"/>
              <a:t> </a:t>
            </a:r>
            <a:r>
              <a:rPr lang="en-US" altLang="zh-CN" sz="2000" dirty="0"/>
              <a:t>return (</a:t>
            </a:r>
            <a:r>
              <a:rPr lang="en-US" altLang="zh-CN" sz="2000" dirty="0" err="1">
                <a:solidFill>
                  <a:srgbClr val="FF00FF"/>
                </a:solidFill>
              </a:rPr>
              <a:t>Integer.valueOf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inputStream.</a:t>
            </a:r>
            <a:r>
              <a:rPr lang="en-US" altLang="zh-CN" sz="2000" dirty="0" err="1">
                <a:solidFill>
                  <a:srgbClr val="FF00FF"/>
                </a:solidFill>
              </a:rPr>
              <a:t>readLine</a:t>
            </a:r>
            <a:r>
              <a:rPr lang="en-US" altLang="zh-CN" sz="2000" dirty="0">
                <a:solidFill>
                  <a:srgbClr val="FF00FF"/>
                </a:solidFill>
              </a:rPr>
              <a:t>().trim()</a:t>
            </a:r>
            <a:r>
              <a:rPr lang="en-US" altLang="zh-CN" sz="2000" dirty="0"/>
              <a:t>).</a:t>
            </a:r>
            <a:r>
              <a:rPr lang="en-US" altLang="zh-CN" sz="2000" dirty="0" err="1">
                <a:solidFill>
                  <a:srgbClr val="FF00FF"/>
                </a:solidFill>
              </a:rPr>
              <a:t>intValue</a:t>
            </a:r>
            <a:r>
              <a:rPr lang="en-US" altLang="zh-CN" sz="2000" dirty="0">
                <a:solidFill>
                  <a:srgbClr val="FF00FF"/>
                </a:solidFill>
              </a:rPr>
              <a:t>()</a:t>
            </a:r>
            <a:r>
              <a:rPr lang="en-US" altLang="zh-CN" sz="2000" dirty="0"/>
              <a:t>);</a:t>
            </a:r>
            <a:r>
              <a:rPr lang="zh-CN" altLang="en-US" sz="2000" dirty="0"/>
              <a:t> </a:t>
            </a:r>
            <a:r>
              <a:rPr lang="en-US" altLang="zh-CN" sz="2000" dirty="0"/>
              <a:t>} 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000" dirty="0"/>
              <a:t>        catch (Exception e) {</a:t>
            </a:r>
            <a:r>
              <a:rPr lang="zh-CN" altLang="en-US" sz="2000" dirty="0"/>
              <a:t> </a:t>
            </a:r>
            <a:r>
              <a:rPr lang="en-US" altLang="zh-CN" sz="2000" dirty="0" err="1"/>
              <a:t>e.</a:t>
            </a:r>
            <a:r>
              <a:rPr lang="en-US" altLang="zh-CN" sz="2000" dirty="0" err="1">
                <a:solidFill>
                  <a:srgbClr val="FF00FF"/>
                </a:solidFill>
              </a:rPr>
              <a:t>printStackTrace</a:t>
            </a:r>
            <a:r>
              <a:rPr lang="en-US" altLang="zh-CN" sz="2000" dirty="0">
                <a:solidFill>
                  <a:srgbClr val="FF00FF"/>
                </a:solidFill>
              </a:rPr>
              <a:t>();</a:t>
            </a:r>
            <a:r>
              <a:rPr lang="zh-CN" altLang="en-US" sz="2000" dirty="0">
                <a:solidFill>
                  <a:srgbClr val="FF00FF"/>
                </a:solidFill>
              </a:rPr>
              <a:t> </a:t>
            </a:r>
            <a:r>
              <a:rPr lang="en-US" altLang="zh-CN" sz="2000" dirty="0"/>
              <a:t>return 0; }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000" dirty="0"/>
              <a:t>    }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000" dirty="0"/>
              <a:t>   public static String </a:t>
            </a:r>
            <a:r>
              <a:rPr lang="en-US" altLang="zh-CN" sz="2000" dirty="0" err="1"/>
              <a:t>getString</a:t>
            </a:r>
            <a:r>
              <a:rPr lang="en-US" altLang="zh-CN" sz="2000" dirty="0"/>
              <a:t>() {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000" dirty="0"/>
              <a:t>        try {</a:t>
            </a:r>
            <a:r>
              <a:rPr lang="zh-CN" altLang="en-US" sz="2000" dirty="0"/>
              <a:t> </a:t>
            </a:r>
            <a:r>
              <a:rPr lang="en-US" altLang="zh-CN" sz="2000" dirty="0"/>
              <a:t>return (</a:t>
            </a:r>
            <a:r>
              <a:rPr lang="en-US" altLang="zh-CN" sz="2000" dirty="0" err="1"/>
              <a:t>inputStream.readLine</a:t>
            </a:r>
            <a:r>
              <a:rPr lang="en-US" altLang="zh-CN" sz="2000" dirty="0"/>
              <a:t>());</a:t>
            </a:r>
            <a:r>
              <a:rPr lang="zh-CN" altLang="en-US" sz="2000" dirty="0"/>
              <a:t> </a:t>
            </a:r>
            <a:r>
              <a:rPr lang="en-US" altLang="zh-CN" sz="2000" dirty="0"/>
              <a:t>} 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000" dirty="0"/>
              <a:t>        catch (</a:t>
            </a:r>
            <a:r>
              <a:rPr lang="en-US" altLang="zh-CN" sz="2000" dirty="0" err="1"/>
              <a:t>IOException</a:t>
            </a:r>
            <a:r>
              <a:rPr lang="en-US" altLang="zh-CN" sz="2000" dirty="0"/>
              <a:t> e) {</a:t>
            </a:r>
            <a:r>
              <a:rPr lang="zh-CN" altLang="en-US" sz="2000" dirty="0"/>
              <a:t> </a:t>
            </a:r>
            <a:r>
              <a:rPr lang="en-US" altLang="zh-CN" sz="2000" dirty="0"/>
              <a:t>return "0"; }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000" dirty="0"/>
              <a:t>    }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000" dirty="0"/>
              <a:t>}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91C7D12-08DF-2E27-72D1-F47B677FA96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31236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5.2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异常的处理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8091C35-237C-3D44-68CF-F6249D3A159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252028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捕获异常举例</a:t>
            </a:r>
          </a:p>
        </p:txBody>
      </p:sp>
    </p:spTree>
    <p:extLst>
      <p:ext uri="{BB962C8B-B14F-4D97-AF65-F5344CB8AC3E}">
        <p14:creationId xmlns:p14="http://schemas.microsoft.com/office/powerpoint/2010/main" val="3417725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55440" y="1844824"/>
            <a:ext cx="8078688" cy="2664296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zh-CN" altLang="en-US" sz="2200" dirty="0"/>
              <a:t>依次输入</a:t>
            </a:r>
            <a:r>
              <a:rPr lang="en-US" altLang="zh-CN" sz="2200" dirty="0"/>
              <a:t>143</a:t>
            </a:r>
            <a:r>
              <a:rPr lang="zh-CN" altLang="en-US" sz="2200" dirty="0"/>
              <a:t>和</a:t>
            </a:r>
            <a:r>
              <a:rPr lang="en-US" altLang="zh-CN" sz="2200" dirty="0"/>
              <a:t>24</a:t>
            </a:r>
            <a:r>
              <a:rPr lang="zh-CN" altLang="en-US" sz="2200" dirty="0"/>
              <a:t>，输出结果如下：</a:t>
            </a:r>
            <a:endParaRPr lang="en-US" altLang="zh-CN" sz="2200" dirty="0"/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Enter the first number: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143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Enter the second number: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24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143 / 24=5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endParaRPr lang="en-US" altLang="zh-CN" sz="22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AA17CC4-B72E-8AC1-1B16-2879367BA21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31236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5.2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异常的处理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D2F60F8-33F1-AE3B-E6B4-68DE848C33C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252028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捕获异常举例</a:t>
            </a:r>
          </a:p>
        </p:txBody>
      </p:sp>
    </p:spTree>
    <p:extLst>
      <p:ext uri="{BB962C8B-B14F-4D97-AF65-F5344CB8AC3E}">
        <p14:creationId xmlns:p14="http://schemas.microsoft.com/office/powerpoint/2010/main" val="5378865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1700808"/>
            <a:ext cx="10972800" cy="4784865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1800" dirty="0"/>
              <a:t>public class ExceptionTester2 {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1800" dirty="0"/>
              <a:t>    public static void main(String </a:t>
            </a:r>
            <a:r>
              <a:rPr lang="en-US" altLang="zh-CN" sz="1800" dirty="0" err="1"/>
              <a:t>args</a:t>
            </a:r>
            <a:r>
              <a:rPr lang="en-US" altLang="zh-CN" sz="1800" dirty="0"/>
              <a:t>[]) {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1800" dirty="0"/>
              <a:t>        int number1 = 0, number2 = 0;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1800" dirty="0"/>
              <a:t>        try{</a:t>
            </a:r>
            <a:r>
              <a:rPr lang="zh-CN" altLang="en-US" sz="1800" dirty="0"/>
              <a:t> </a:t>
            </a:r>
            <a:endParaRPr lang="en-US" altLang="zh-CN" sz="1800" dirty="0"/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zh-CN" altLang="en-US" sz="1800" dirty="0"/>
              <a:t>             </a:t>
            </a:r>
            <a:r>
              <a:rPr lang="en-US" altLang="zh-CN" sz="1800" dirty="0" err="1"/>
              <a:t>System.out.println</a:t>
            </a:r>
            <a:r>
              <a:rPr lang="en-US" altLang="zh-CN" sz="1800" dirty="0"/>
              <a:t>("Enter the first number:");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1800" dirty="0"/>
              <a:t>             number1 = </a:t>
            </a:r>
            <a:r>
              <a:rPr lang="en-US" altLang="zh-CN" sz="1800" dirty="0" err="1"/>
              <a:t>Integer.valueOf</a:t>
            </a:r>
            <a:r>
              <a:rPr lang="en-US" altLang="zh-CN" sz="1800" dirty="0"/>
              <a:t>(</a:t>
            </a:r>
            <a:r>
              <a:rPr lang="en-US" altLang="zh-CN" sz="1800" dirty="0" err="1"/>
              <a:t>Keyboard.getString</a:t>
            </a:r>
            <a:r>
              <a:rPr lang="en-US" altLang="zh-CN" sz="1800" dirty="0"/>
              <a:t>()).</a:t>
            </a:r>
            <a:r>
              <a:rPr lang="en-US" altLang="zh-CN" sz="1800" dirty="0" err="1"/>
              <a:t>intValue</a:t>
            </a:r>
            <a:r>
              <a:rPr lang="en-US" altLang="zh-CN" sz="1800" dirty="0"/>
              <a:t>();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1800" dirty="0"/>
              <a:t>             </a:t>
            </a:r>
            <a:r>
              <a:rPr lang="en-US" altLang="zh-CN" sz="1800" dirty="0" err="1"/>
              <a:t>System.out.println</a:t>
            </a:r>
            <a:r>
              <a:rPr lang="en-US" altLang="zh-CN" sz="1800" dirty="0"/>
              <a:t>("Enter the second number:");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1800" dirty="0"/>
              <a:t>             number2 = </a:t>
            </a:r>
            <a:r>
              <a:rPr lang="en-US" altLang="zh-CN" sz="1800" dirty="0" err="1"/>
              <a:t>Integer.valueOf</a:t>
            </a:r>
            <a:r>
              <a:rPr lang="en-US" altLang="zh-CN" sz="1800" dirty="0"/>
              <a:t>(</a:t>
            </a:r>
            <a:r>
              <a:rPr lang="en-US" altLang="zh-CN" sz="1800" dirty="0" err="1"/>
              <a:t>Keyboard.getString</a:t>
            </a:r>
            <a:r>
              <a:rPr lang="en-US" altLang="zh-CN" sz="1800" dirty="0"/>
              <a:t>()).</a:t>
            </a:r>
            <a:r>
              <a:rPr lang="en-US" altLang="zh-CN" sz="1800" dirty="0" err="1"/>
              <a:t>intValue</a:t>
            </a:r>
            <a:r>
              <a:rPr lang="en-US" altLang="zh-CN" sz="1800" dirty="0"/>
              <a:t>();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1800" dirty="0"/>
              <a:t>        } catch (</a:t>
            </a:r>
            <a:r>
              <a:rPr lang="en-US" altLang="zh-CN" sz="1800" dirty="0" err="1"/>
              <a:t>NumberFormatException</a:t>
            </a:r>
            <a:r>
              <a:rPr lang="en-US" altLang="zh-CN" sz="1800" dirty="0"/>
              <a:t> e) {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1800" dirty="0"/>
              <a:t>             </a:t>
            </a:r>
            <a:r>
              <a:rPr lang="en-US" altLang="zh-CN" sz="1800" dirty="0" err="1"/>
              <a:t>System.out.println</a:t>
            </a:r>
            <a:r>
              <a:rPr lang="en-US" altLang="zh-CN" sz="1800" dirty="0"/>
              <a:t>("Those were not proper integers! quit!");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1800" dirty="0"/>
              <a:t>             </a:t>
            </a:r>
            <a:r>
              <a:rPr lang="en-US" altLang="zh-CN" sz="1800" dirty="0" err="1"/>
              <a:t>System.exit</a:t>
            </a:r>
            <a:r>
              <a:rPr lang="en-US" altLang="zh-CN" sz="1800" dirty="0"/>
              <a:t>(-1);  }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1800" dirty="0"/>
              <a:t>        </a:t>
            </a:r>
            <a:r>
              <a:rPr lang="en-US" altLang="zh-CN" sz="1800" dirty="0" err="1"/>
              <a:t>System.out.print</a:t>
            </a:r>
            <a:r>
              <a:rPr lang="en-US" altLang="zh-CN" sz="1800" dirty="0"/>
              <a:t>(number1 + " / " + number2 + "=");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1800" dirty="0"/>
              <a:t>        int result = number1 / number2;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1800" dirty="0"/>
              <a:t>        </a:t>
            </a:r>
            <a:r>
              <a:rPr lang="en-US" altLang="zh-CN" sz="1800" dirty="0" err="1"/>
              <a:t>System.out.println</a:t>
            </a:r>
            <a:r>
              <a:rPr lang="en-US" altLang="zh-CN" sz="1800" dirty="0"/>
              <a:t>(result);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1800" dirty="0"/>
              <a:t>    }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1800" dirty="0"/>
              <a:t>}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81151E2-31B4-CD44-A4B0-97B8C5577B4C}"/>
              </a:ext>
            </a:extLst>
          </p:cNvPr>
          <p:cNvSpPr txBox="1"/>
          <p:nvPr/>
        </p:nvSpPr>
        <p:spPr>
          <a:xfrm>
            <a:off x="7320136" y="5204879"/>
            <a:ext cx="36279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800" dirty="0"/>
              <a:t>输出结果：</a:t>
            </a:r>
            <a:endParaRPr kumimoji="1" lang="en-US" altLang="zh-CN" sz="1800" dirty="0"/>
          </a:p>
          <a:p>
            <a:r>
              <a:rPr lang="en-US" altLang="zh-CN" sz="1800" dirty="0"/>
              <a:t>Enter the first number:</a:t>
            </a:r>
            <a:endParaRPr lang="zh-CN" altLang="zh-CN" sz="1800" dirty="0"/>
          </a:p>
          <a:p>
            <a:r>
              <a:rPr lang="en-US" altLang="zh-CN" sz="1800" dirty="0" err="1"/>
              <a:t>abc</a:t>
            </a:r>
            <a:endParaRPr lang="zh-CN" altLang="zh-CN" sz="1800" dirty="0"/>
          </a:p>
          <a:p>
            <a:r>
              <a:rPr lang="en-US" altLang="zh-CN" sz="1800" dirty="0"/>
              <a:t>Those were not proper integers! quit!</a:t>
            </a:r>
            <a:endParaRPr lang="zh-CN" altLang="zh-CN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02692C-8C3F-1953-6BCD-38E08FF0706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31236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5.2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异常的处理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210D7A6-C91D-08DE-2D2A-0E720718C73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252028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捕获异常举例</a:t>
            </a:r>
          </a:p>
        </p:txBody>
      </p:sp>
    </p:spTree>
    <p:extLst>
      <p:ext uri="{BB962C8B-B14F-4D97-AF65-F5344CB8AC3E}">
        <p14:creationId xmlns:p14="http://schemas.microsoft.com/office/powerpoint/2010/main" val="4290802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51384" y="1772816"/>
            <a:ext cx="9374832" cy="4784865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public class ExceptionTester3 {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public static void main(String </a:t>
            </a:r>
            <a:r>
              <a:rPr lang="en-US" altLang="zh-CN" sz="1800" dirty="0" err="1"/>
              <a:t>args</a:t>
            </a:r>
            <a:r>
              <a:rPr lang="en-US" altLang="zh-CN" sz="1800" dirty="0"/>
              <a:t>[]) {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int number1 = 0, number2 = 0, result = 0;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try{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     </a:t>
            </a:r>
            <a:r>
              <a:rPr lang="en-US" altLang="zh-CN" sz="1800" dirty="0" err="1"/>
              <a:t>System.out.println</a:t>
            </a:r>
            <a:r>
              <a:rPr lang="en-US" altLang="zh-CN" sz="1800" dirty="0"/>
              <a:t>("Enter the first number:");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     number1 = </a:t>
            </a:r>
            <a:r>
              <a:rPr lang="en-US" altLang="zh-CN" sz="1800" dirty="0" err="1"/>
              <a:t>Integer.valueOf</a:t>
            </a:r>
            <a:r>
              <a:rPr lang="en-US" altLang="zh-CN" sz="1800" dirty="0"/>
              <a:t>(</a:t>
            </a:r>
            <a:r>
              <a:rPr lang="en-US" altLang="zh-CN" sz="1800" dirty="0" err="1"/>
              <a:t>Keyboard.getString</a:t>
            </a:r>
            <a:r>
              <a:rPr lang="en-US" altLang="zh-CN" sz="1800" dirty="0"/>
              <a:t>()).</a:t>
            </a:r>
            <a:r>
              <a:rPr lang="en-US" altLang="zh-CN" sz="1800" dirty="0" err="1"/>
              <a:t>intValue</a:t>
            </a:r>
            <a:r>
              <a:rPr lang="en-US" altLang="zh-CN" sz="1800" dirty="0"/>
              <a:t>();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     </a:t>
            </a:r>
            <a:r>
              <a:rPr lang="en-US" altLang="zh-CN" sz="1800" dirty="0" err="1"/>
              <a:t>System.out.println</a:t>
            </a:r>
            <a:r>
              <a:rPr lang="en-US" altLang="zh-CN" sz="1800" dirty="0"/>
              <a:t>("Enter the second number:");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     number2 = </a:t>
            </a:r>
            <a:r>
              <a:rPr lang="en-US" altLang="zh-CN" sz="1800" dirty="0" err="1"/>
              <a:t>Integer.valueOf</a:t>
            </a:r>
            <a:r>
              <a:rPr lang="en-US" altLang="zh-CN" sz="1800" dirty="0"/>
              <a:t>(</a:t>
            </a:r>
            <a:r>
              <a:rPr lang="en-US" altLang="zh-CN" sz="1800" dirty="0" err="1"/>
              <a:t>Keyboard.getString</a:t>
            </a:r>
            <a:r>
              <a:rPr lang="en-US" altLang="zh-CN" sz="1800" dirty="0"/>
              <a:t>()).</a:t>
            </a:r>
            <a:r>
              <a:rPr lang="en-US" altLang="zh-CN" sz="1800" dirty="0" err="1"/>
              <a:t>intValue</a:t>
            </a:r>
            <a:r>
              <a:rPr lang="en-US" altLang="zh-CN" sz="1800" dirty="0"/>
              <a:t>();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     result = number1 / number2; 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} 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catch (</a:t>
            </a:r>
            <a:r>
              <a:rPr lang="en-US" altLang="zh-CN" sz="1800" dirty="0" err="1"/>
              <a:t>NumberFormatException</a:t>
            </a:r>
            <a:r>
              <a:rPr lang="en-US" altLang="zh-CN" sz="1800" dirty="0"/>
              <a:t> e) {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     </a:t>
            </a:r>
            <a:r>
              <a:rPr lang="en-US" altLang="zh-CN" sz="1800" dirty="0" err="1"/>
              <a:t>System.out.println</a:t>
            </a:r>
            <a:r>
              <a:rPr lang="en-US" altLang="zh-CN" sz="1800" dirty="0"/>
              <a:t>("Invalid integer entered!");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     </a:t>
            </a:r>
            <a:r>
              <a:rPr lang="en-US" altLang="zh-CN" sz="1800" dirty="0" err="1"/>
              <a:t>System.exit</a:t>
            </a:r>
            <a:r>
              <a:rPr lang="en-US" altLang="zh-CN" sz="1800" dirty="0"/>
              <a:t>(-1); } 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catch (</a:t>
            </a:r>
            <a:r>
              <a:rPr lang="en-US" altLang="zh-CN" sz="1800" dirty="0" err="1"/>
              <a:t>ArithmeticException</a:t>
            </a:r>
            <a:r>
              <a:rPr lang="en-US" altLang="zh-CN" sz="1800" dirty="0"/>
              <a:t> e) {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     </a:t>
            </a:r>
            <a:r>
              <a:rPr lang="en-US" altLang="zh-CN" sz="1800" dirty="0" err="1"/>
              <a:t>System.out.println</a:t>
            </a:r>
            <a:r>
              <a:rPr lang="en-US" altLang="zh-CN" sz="1800" dirty="0"/>
              <a:t>("Second number is 0, cannot do division!");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     </a:t>
            </a:r>
            <a:r>
              <a:rPr lang="en-US" altLang="zh-CN" sz="1800" dirty="0" err="1"/>
              <a:t>System.exit</a:t>
            </a:r>
            <a:r>
              <a:rPr lang="en-US" altLang="zh-CN" sz="1800" dirty="0"/>
              <a:t>(-1); }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</a:t>
            </a:r>
            <a:r>
              <a:rPr lang="en-US" altLang="zh-CN" sz="1800" dirty="0" err="1"/>
              <a:t>System.out.print</a:t>
            </a:r>
            <a:r>
              <a:rPr lang="en-US" altLang="zh-CN" sz="1800" dirty="0"/>
              <a:t>(number1 + " / " + number2 + "=" + result);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}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}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81151E2-31B4-CD44-A4B0-97B8C5577B4C}"/>
              </a:ext>
            </a:extLst>
          </p:cNvPr>
          <p:cNvSpPr txBox="1"/>
          <p:nvPr/>
        </p:nvSpPr>
        <p:spPr>
          <a:xfrm>
            <a:off x="8040216" y="1015213"/>
            <a:ext cx="391004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800" dirty="0"/>
              <a:t>输出结果：</a:t>
            </a:r>
            <a:endParaRPr kumimoji="1" lang="en-US" altLang="zh-CN" sz="1800" dirty="0"/>
          </a:p>
          <a:p>
            <a:r>
              <a:rPr lang="en-US" altLang="zh-CN" sz="1800" dirty="0"/>
              <a:t>Enter the first number:</a:t>
            </a:r>
          </a:p>
          <a:p>
            <a:r>
              <a:rPr lang="en-US" altLang="zh-CN" sz="1800" dirty="0"/>
              <a:t>143</a:t>
            </a:r>
          </a:p>
          <a:p>
            <a:r>
              <a:rPr lang="en-US" altLang="zh-CN" sz="1800" dirty="0"/>
              <a:t>Enter the second number:</a:t>
            </a:r>
          </a:p>
          <a:p>
            <a:r>
              <a:rPr lang="en-US" altLang="zh-CN" sz="1800" dirty="0"/>
              <a:t>0</a:t>
            </a:r>
          </a:p>
          <a:p>
            <a:r>
              <a:rPr lang="en-US" altLang="zh-CN" sz="1800" dirty="0"/>
              <a:t>Second number is 0, cannot do division!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BEBE37-D1EB-A32A-A795-DE64398E899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31236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5.2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异常的处理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7530B4C-CC94-06E3-3B6B-D9DDAE255D2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252028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捕获异常举例</a:t>
            </a:r>
          </a:p>
        </p:txBody>
      </p:sp>
    </p:spTree>
    <p:extLst>
      <p:ext uri="{BB962C8B-B14F-4D97-AF65-F5344CB8AC3E}">
        <p14:creationId xmlns:p14="http://schemas.microsoft.com/office/powerpoint/2010/main" val="569194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11424" y="1628800"/>
            <a:ext cx="10369152" cy="4784865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/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public class ExceptionTester4 {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public static void main(String </a:t>
            </a:r>
            <a:r>
              <a:rPr lang="en-US" altLang="zh-CN" sz="1800" dirty="0" err="1"/>
              <a:t>args</a:t>
            </a:r>
            <a:r>
              <a:rPr lang="en-US" altLang="zh-CN" sz="1800" dirty="0"/>
              <a:t>[]) {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int result;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int number[] = new int[2];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</a:t>
            </a:r>
            <a:r>
              <a:rPr lang="en-US" altLang="zh-CN" sz="1800" dirty="0" err="1"/>
              <a:t>boolean</a:t>
            </a:r>
            <a:r>
              <a:rPr lang="en-US" altLang="zh-CN" sz="1800" dirty="0"/>
              <a:t> valid;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for (int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 = 0;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 &lt; 2;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++) {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    valid = false;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    while (!valid) {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        try {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              </a:t>
            </a:r>
            <a:r>
              <a:rPr lang="en-US" altLang="zh-CN" sz="1800" dirty="0" err="1"/>
              <a:t>System.out.println</a:t>
            </a:r>
            <a:r>
              <a:rPr lang="en-US" altLang="zh-CN" sz="1800" dirty="0"/>
              <a:t>("Enter</a:t>
            </a:r>
            <a:r>
              <a:rPr lang="zh-CN" altLang="en-US" sz="1800" dirty="0"/>
              <a:t>　</a:t>
            </a:r>
            <a:r>
              <a:rPr lang="en-US" altLang="zh-CN" sz="1800" dirty="0"/>
              <a:t>number " + (</a:t>
            </a:r>
            <a:r>
              <a:rPr lang="en-US" altLang="zh-CN" sz="1800" dirty="0" err="1"/>
              <a:t>i</a:t>
            </a:r>
            <a:r>
              <a:rPr lang="en-US" altLang="zh-CN" sz="1800" dirty="0"/>
              <a:t> + 1));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              number[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 = </a:t>
            </a:r>
            <a:r>
              <a:rPr lang="en-US" altLang="zh-CN" sz="1800" dirty="0" err="1"/>
              <a:t>Integer.valueOf</a:t>
            </a:r>
            <a:r>
              <a:rPr lang="en-US" altLang="zh-CN" sz="1800" dirty="0"/>
              <a:t>(</a:t>
            </a:r>
            <a:r>
              <a:rPr lang="en-US" altLang="zh-CN" sz="1800" dirty="0" err="1"/>
              <a:t>Keyboard.getString</a:t>
            </a:r>
            <a:r>
              <a:rPr lang="en-US" altLang="zh-CN" sz="1800" dirty="0"/>
              <a:t>()).</a:t>
            </a:r>
            <a:r>
              <a:rPr lang="en-US" altLang="zh-CN" sz="1800" dirty="0" err="1"/>
              <a:t>intValue</a:t>
            </a:r>
            <a:r>
              <a:rPr lang="en-US" altLang="zh-CN" sz="1800" dirty="0"/>
              <a:t>();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              valid = true;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        } catch (</a:t>
            </a:r>
            <a:r>
              <a:rPr lang="en-US" altLang="zh-CN" sz="1800" dirty="0" err="1"/>
              <a:t>NumberFormatException</a:t>
            </a:r>
            <a:r>
              <a:rPr lang="en-US" altLang="zh-CN" sz="1800" dirty="0"/>
              <a:t> e) {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              </a:t>
            </a:r>
            <a:r>
              <a:rPr lang="en-US" altLang="zh-CN" sz="1800" dirty="0" err="1"/>
              <a:t>System.out.println</a:t>
            </a:r>
            <a:r>
              <a:rPr lang="en-US" altLang="zh-CN" sz="1800" dirty="0"/>
              <a:t>("Invalid integer entered. Please try again.");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        }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    }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}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BBA65B5-DE21-E6A6-482D-82E14CABF5F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31236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5.2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异常的处理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952AE2-5E83-0A1C-3F3D-7F14B30DAD4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252028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捕获异常举例</a:t>
            </a:r>
          </a:p>
        </p:txBody>
      </p:sp>
    </p:spTree>
    <p:extLst>
      <p:ext uri="{BB962C8B-B14F-4D97-AF65-F5344CB8AC3E}">
        <p14:creationId xmlns:p14="http://schemas.microsoft.com/office/powerpoint/2010/main" val="16089746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BA2FC79-4F96-D64D-BFF7-988599461D72}"/>
              </a:ext>
            </a:extLst>
          </p:cNvPr>
          <p:cNvSpPr/>
          <p:nvPr/>
        </p:nvSpPr>
        <p:spPr>
          <a:xfrm>
            <a:off x="1127448" y="1916832"/>
            <a:ext cx="9649072" cy="27162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537" lvl="0" eaLnBrk="1" hangingPunct="1">
              <a:lnSpc>
                <a:spcPct val="70000"/>
              </a:lnSpc>
              <a:spcBef>
                <a:spcPct val="55000"/>
              </a:spcBef>
              <a:buClr>
                <a:srgbClr val="FFFFFF"/>
              </a:buClr>
            </a:pPr>
            <a:r>
              <a:rPr kumimoji="0"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try {</a:t>
            </a:r>
          </a:p>
          <a:p>
            <a:pPr marL="109537" lvl="0" eaLnBrk="1" hangingPunct="1">
              <a:lnSpc>
                <a:spcPct val="70000"/>
              </a:lnSpc>
              <a:spcBef>
                <a:spcPct val="55000"/>
              </a:spcBef>
              <a:buClr>
                <a:srgbClr val="FFFFFF"/>
              </a:buClr>
            </a:pPr>
            <a:r>
              <a:rPr kumimoji="0"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      result = number[0] / number[1];</a:t>
            </a:r>
          </a:p>
          <a:p>
            <a:pPr marL="109537" lvl="0" eaLnBrk="1" hangingPunct="1">
              <a:lnSpc>
                <a:spcPct val="70000"/>
              </a:lnSpc>
              <a:spcBef>
                <a:spcPct val="55000"/>
              </a:spcBef>
              <a:buClr>
                <a:srgbClr val="FFFFFF"/>
              </a:buClr>
            </a:pPr>
            <a:r>
              <a:rPr kumimoji="0"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      </a:t>
            </a:r>
            <a:r>
              <a:rPr kumimoji="0" lang="en-US" altLang="zh-CN" sz="180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System.out.println</a:t>
            </a:r>
            <a:r>
              <a:rPr kumimoji="0"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(number[0] + " / " + number[1] + "=" + result);</a:t>
            </a:r>
          </a:p>
          <a:p>
            <a:pPr marL="109537" lvl="0" eaLnBrk="1" hangingPunct="1">
              <a:lnSpc>
                <a:spcPct val="70000"/>
              </a:lnSpc>
              <a:spcBef>
                <a:spcPct val="55000"/>
              </a:spcBef>
              <a:buClr>
                <a:srgbClr val="FFFFFF"/>
              </a:buClr>
            </a:pPr>
            <a:r>
              <a:rPr kumimoji="0"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} catch (</a:t>
            </a:r>
            <a:r>
              <a:rPr kumimoji="0" lang="en-US" altLang="zh-CN" sz="180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ArithmeticException</a:t>
            </a:r>
            <a:r>
              <a:rPr kumimoji="0"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e) {</a:t>
            </a:r>
          </a:p>
          <a:p>
            <a:pPr marL="109537" lvl="0" eaLnBrk="1" hangingPunct="1">
              <a:lnSpc>
                <a:spcPct val="70000"/>
              </a:lnSpc>
              <a:spcBef>
                <a:spcPct val="55000"/>
              </a:spcBef>
              <a:buClr>
                <a:srgbClr val="FFFFFF"/>
              </a:buClr>
            </a:pPr>
            <a:r>
              <a:rPr kumimoji="0"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       </a:t>
            </a:r>
            <a:r>
              <a:rPr kumimoji="0" lang="en-US" altLang="zh-CN" sz="180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System.out.println</a:t>
            </a:r>
            <a:r>
              <a:rPr kumimoji="0"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("Second number is 0, cannot do division!“);</a:t>
            </a:r>
            <a:r>
              <a:rPr kumimoji="0" lang="zh-CN" altLang="en-US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</a:t>
            </a:r>
            <a:endParaRPr kumimoji="0" lang="en-US" altLang="zh-CN" sz="1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109537" lvl="0" eaLnBrk="1" hangingPunct="1">
              <a:lnSpc>
                <a:spcPct val="70000"/>
              </a:lnSpc>
              <a:spcBef>
                <a:spcPct val="55000"/>
              </a:spcBef>
              <a:buClr>
                <a:srgbClr val="FFFFFF"/>
              </a:buClr>
            </a:pPr>
            <a:r>
              <a:rPr kumimoji="0"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}</a:t>
            </a:r>
          </a:p>
          <a:p>
            <a:pPr marL="109537" lvl="0" eaLnBrk="1" hangingPunct="1">
              <a:lnSpc>
                <a:spcPct val="70000"/>
              </a:lnSpc>
              <a:spcBef>
                <a:spcPct val="55000"/>
              </a:spcBef>
              <a:buClr>
                <a:srgbClr val="FFFFFF"/>
              </a:buClr>
            </a:pPr>
            <a:r>
              <a:rPr kumimoji="0"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}</a:t>
            </a:r>
          </a:p>
          <a:p>
            <a:pPr marL="109537" lvl="0" eaLnBrk="1" hangingPunct="1">
              <a:lnSpc>
                <a:spcPct val="70000"/>
              </a:lnSpc>
              <a:spcBef>
                <a:spcPct val="55000"/>
              </a:spcBef>
              <a:buClr>
                <a:srgbClr val="FFFFFF"/>
              </a:buClr>
            </a:pPr>
            <a:r>
              <a:rPr kumimoji="0" lang="en-US" altLang="zh-CN" sz="1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</a:t>
            </a:r>
            <a:endParaRPr lang="zh-CN" alt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E370F96-5175-CAC2-1D34-A683591B460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31236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5.2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异常的处理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6CC3F4-C93C-C190-126D-5891F668AEA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252028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捕获异常举例</a:t>
            </a:r>
          </a:p>
        </p:txBody>
      </p:sp>
    </p:spTree>
    <p:extLst>
      <p:ext uri="{BB962C8B-B14F-4D97-AF65-F5344CB8AC3E}">
        <p14:creationId xmlns:p14="http://schemas.microsoft.com/office/powerpoint/2010/main" val="1899261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722E9-1F49-A718-51C5-0B05E853C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783E95C-0FBF-94B4-4180-B2F9F31CFF38}"/>
              </a:ext>
            </a:extLst>
          </p:cNvPr>
          <p:cNvSpPr txBox="1"/>
          <p:nvPr/>
        </p:nvSpPr>
        <p:spPr>
          <a:xfrm>
            <a:off x="3431704" y="1700808"/>
            <a:ext cx="4314001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输出结果：</a:t>
            </a:r>
            <a:endParaRPr kumimoji="1" lang="en-US" altLang="zh-CN" sz="2000" dirty="0"/>
          </a:p>
          <a:p>
            <a:r>
              <a:rPr lang="en-US" altLang="zh-CN" sz="2000" dirty="0"/>
              <a:t>Enter number 1</a:t>
            </a:r>
            <a:endParaRPr lang="zh-CN" altLang="zh-CN" sz="2000" dirty="0"/>
          </a:p>
          <a:p>
            <a:r>
              <a:rPr lang="en-US" altLang="zh-CN" sz="2000" dirty="0" err="1"/>
              <a:t>abc</a:t>
            </a:r>
            <a:endParaRPr lang="zh-CN" altLang="zh-CN" sz="2000" dirty="0"/>
          </a:p>
          <a:p>
            <a:r>
              <a:rPr lang="en-US" altLang="zh-CN" sz="2000" dirty="0"/>
              <a:t>Invalid integer entered. Please try again.</a:t>
            </a:r>
            <a:endParaRPr lang="zh-CN" altLang="zh-CN" sz="2000" dirty="0"/>
          </a:p>
          <a:p>
            <a:r>
              <a:rPr lang="en-US" altLang="zh-CN" sz="2000" dirty="0"/>
              <a:t>Enter number 1</a:t>
            </a:r>
            <a:endParaRPr lang="zh-CN" altLang="zh-CN" sz="2000" dirty="0"/>
          </a:p>
          <a:p>
            <a:r>
              <a:rPr lang="en-US" altLang="zh-CN" sz="2000" dirty="0" err="1"/>
              <a:t>efg</a:t>
            </a:r>
            <a:endParaRPr lang="zh-CN" altLang="zh-CN" sz="2000" dirty="0"/>
          </a:p>
          <a:p>
            <a:r>
              <a:rPr lang="en-US" altLang="zh-CN" sz="2000" dirty="0"/>
              <a:t>Invalid integer entered. Please try again.</a:t>
            </a:r>
            <a:endParaRPr lang="zh-CN" altLang="zh-CN" sz="2000" dirty="0"/>
          </a:p>
          <a:p>
            <a:r>
              <a:rPr lang="en-US" altLang="zh-CN" sz="2000" dirty="0"/>
              <a:t>Enter number 1</a:t>
            </a:r>
            <a:endParaRPr lang="zh-CN" altLang="zh-CN" sz="2000" dirty="0"/>
          </a:p>
          <a:p>
            <a:r>
              <a:rPr lang="en-US" altLang="zh-CN" sz="2000" dirty="0"/>
              <a:t>143</a:t>
            </a:r>
            <a:endParaRPr lang="zh-CN" altLang="zh-CN" sz="2000" dirty="0"/>
          </a:p>
          <a:p>
            <a:r>
              <a:rPr lang="en-US" altLang="zh-CN" sz="2000" dirty="0"/>
              <a:t>Enter number 2</a:t>
            </a:r>
            <a:endParaRPr lang="zh-CN" altLang="zh-CN" sz="2000" dirty="0"/>
          </a:p>
          <a:p>
            <a:r>
              <a:rPr lang="en-US" altLang="zh-CN" sz="2000" dirty="0" err="1"/>
              <a:t>abc</a:t>
            </a:r>
            <a:endParaRPr lang="zh-CN" altLang="zh-CN" sz="2000" dirty="0"/>
          </a:p>
          <a:p>
            <a:r>
              <a:rPr lang="en-US" altLang="zh-CN" sz="2000" dirty="0"/>
              <a:t>Invalid integer entered. Please try again.</a:t>
            </a:r>
            <a:endParaRPr lang="zh-CN" altLang="zh-CN" sz="2000" dirty="0"/>
          </a:p>
          <a:p>
            <a:r>
              <a:rPr lang="en-US" altLang="zh-CN" sz="2000" dirty="0"/>
              <a:t>Enter number 2</a:t>
            </a:r>
            <a:endParaRPr lang="zh-CN" altLang="zh-CN" sz="2000" dirty="0"/>
          </a:p>
          <a:p>
            <a:r>
              <a:rPr lang="en-US" altLang="zh-CN" sz="2000" dirty="0"/>
              <a:t>40</a:t>
            </a:r>
            <a:endParaRPr lang="zh-CN" altLang="zh-CN" sz="2000" dirty="0"/>
          </a:p>
          <a:p>
            <a:r>
              <a:rPr lang="en-US" altLang="zh-CN" sz="2000" dirty="0"/>
              <a:t>143 / 40=3</a:t>
            </a:r>
            <a:endParaRPr lang="zh-CN" altLang="zh-CN" sz="2000" dirty="0"/>
          </a:p>
          <a:p>
            <a:endParaRPr kumimoji="1" lang="zh-CN" altLang="en-US" sz="20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F5B09A4-8F99-C422-2D95-F3ABAC599EC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31236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5.2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异常的处理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9D72DEA-E241-65E2-65E5-4B7CAC65CB9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252028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捕获异常举例</a:t>
            </a:r>
          </a:p>
        </p:txBody>
      </p:sp>
    </p:spTree>
    <p:extLst>
      <p:ext uri="{BB962C8B-B14F-4D97-AF65-F5344CB8AC3E}">
        <p14:creationId xmlns:p14="http://schemas.microsoft.com/office/powerpoint/2010/main" val="1953089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11424" y="1700808"/>
            <a:ext cx="10729192" cy="4104456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sz="2700" dirty="0"/>
              <a:t>三种方式</a:t>
            </a:r>
          </a:p>
          <a:p>
            <a:pPr marL="914400" lvl="1" indent="-457200" eaLnBrk="1" hangingPunct="1">
              <a:lnSpc>
                <a:spcPct val="90000"/>
              </a:lnSpc>
              <a:buFont typeface="+mj-ea"/>
              <a:buAutoNum type="circleNumDbPlain"/>
            </a:pPr>
            <a:r>
              <a:rPr lang="zh-CN" altLang="en-US" sz="2700" dirty="0"/>
              <a:t>由</a:t>
            </a:r>
            <a:r>
              <a:rPr lang="en-US" altLang="zh-CN" sz="2700" dirty="0"/>
              <a:t>Java</a:t>
            </a:r>
            <a:r>
              <a:rPr lang="zh-CN" altLang="en-US" sz="2700" dirty="0"/>
              <a:t>虚拟机生成；</a:t>
            </a:r>
          </a:p>
          <a:p>
            <a:pPr marL="914400" lvl="1" indent="-457200" eaLnBrk="1" hangingPunct="1">
              <a:lnSpc>
                <a:spcPct val="90000"/>
              </a:lnSpc>
              <a:buFont typeface="+mj-ea"/>
              <a:buAutoNum type="circleNumDbPlain"/>
            </a:pPr>
            <a:r>
              <a:rPr lang="zh-CN" altLang="en-US" sz="2700" dirty="0"/>
              <a:t>由</a:t>
            </a:r>
            <a:r>
              <a:rPr lang="en-US" altLang="zh-CN" sz="2700" dirty="0"/>
              <a:t>Java</a:t>
            </a:r>
            <a:r>
              <a:rPr lang="zh-CN" altLang="en-US" sz="2700" dirty="0"/>
              <a:t>类库中的某些类生成；</a:t>
            </a:r>
          </a:p>
          <a:p>
            <a:pPr marL="914400" lvl="1" indent="-457200" eaLnBrk="1" hangingPunct="1">
              <a:lnSpc>
                <a:spcPct val="90000"/>
              </a:lnSpc>
              <a:buFont typeface="+mj-ea"/>
              <a:buAutoNum type="circleNumDbPlain"/>
            </a:pPr>
            <a:r>
              <a:rPr lang="zh-CN" altLang="en-US" sz="2700" dirty="0"/>
              <a:t>在自己写的程序中生成和抛出异常对象。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sz="2700" dirty="0"/>
              <a:t>抛出异常对象都是通过</a:t>
            </a:r>
            <a:r>
              <a:rPr lang="en-US" altLang="zh-CN" sz="2700" dirty="0"/>
              <a:t>throw</a:t>
            </a:r>
            <a:r>
              <a:rPr lang="zh-CN" altLang="en-US" sz="2700" dirty="0"/>
              <a:t>语句实现，异常对象必须是</a:t>
            </a:r>
            <a:r>
              <a:rPr lang="en-US" altLang="zh-CN" sz="2700" dirty="0"/>
              <a:t>Throwable</a:t>
            </a:r>
            <a:r>
              <a:rPr lang="zh-CN" altLang="en-US" sz="2700" dirty="0"/>
              <a:t>或其子类的实例：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700" dirty="0"/>
              <a:t>throw new </a:t>
            </a:r>
            <a:r>
              <a:rPr lang="en-US" altLang="zh-CN" sz="2700" dirty="0" err="1"/>
              <a:t>ThrowableObject</a:t>
            </a:r>
            <a:r>
              <a:rPr lang="en-US" altLang="zh-CN" sz="2700" dirty="0"/>
              <a:t>();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700" dirty="0" err="1"/>
              <a:t>ArithmeticException</a:t>
            </a:r>
            <a:r>
              <a:rPr lang="en-US" altLang="zh-CN" sz="2700" dirty="0"/>
              <a:t>  e = new </a:t>
            </a:r>
            <a:r>
              <a:rPr lang="en-US" altLang="zh-CN" sz="2700" dirty="0" err="1"/>
              <a:t>ArithmeticException</a:t>
            </a:r>
            <a:r>
              <a:rPr lang="en-US" altLang="zh-CN" sz="2700" dirty="0"/>
              <a:t>();</a:t>
            </a:r>
          </a:p>
          <a:p>
            <a:pPr lvl="1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zh-CN" sz="2700" dirty="0"/>
              <a:t>   throw e;</a:t>
            </a:r>
            <a:endParaRPr lang="zh-CN" altLang="en-US" sz="27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626346C-B7BE-0E81-8894-29C1BA83E13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31236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5.2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异常的处理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4852EF-05CB-6BB3-01A4-86057FF9785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252028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生成异常对象</a:t>
            </a:r>
          </a:p>
        </p:txBody>
      </p:sp>
    </p:spTree>
    <p:extLst>
      <p:ext uri="{BB962C8B-B14F-4D97-AF65-F5344CB8AC3E}">
        <p14:creationId xmlns:p14="http://schemas.microsoft.com/office/powerpoint/2010/main" val="15286930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207568" y="908720"/>
            <a:ext cx="8136904" cy="5832647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Autofit/>
          </a:bodyPr>
          <a:lstStyle/>
          <a:p>
            <a:pPr marL="109537" indent="0" eaLnBrk="1" hangingPunct="1">
              <a:lnSpc>
                <a:spcPct val="90000"/>
              </a:lnSpc>
              <a:spcBef>
                <a:spcPct val="55000"/>
              </a:spcBef>
              <a:buNone/>
            </a:pPr>
            <a:r>
              <a:rPr lang="en-US" altLang="zh-CN" sz="1900" dirty="0"/>
              <a:t>class </a:t>
            </a:r>
            <a:r>
              <a:rPr lang="en-US" altLang="zh-CN" sz="1900" dirty="0" err="1"/>
              <a:t>ThrowTest</a:t>
            </a:r>
            <a:r>
              <a:rPr lang="en-US" altLang="zh-CN" sz="1900" dirty="0"/>
              <a:t> {</a:t>
            </a:r>
          </a:p>
          <a:p>
            <a:pPr marL="109537" indent="0" eaLnBrk="1" hangingPunct="1">
              <a:lnSpc>
                <a:spcPct val="90000"/>
              </a:lnSpc>
              <a:buNone/>
            </a:pPr>
            <a:r>
              <a:rPr lang="en-US" altLang="zh-CN" sz="1900" dirty="0"/>
              <a:t>      public static void main(String </a:t>
            </a:r>
            <a:r>
              <a:rPr lang="en-US" altLang="zh-CN" sz="1900" dirty="0" err="1"/>
              <a:t>args</a:t>
            </a:r>
            <a:r>
              <a:rPr lang="en-US" altLang="zh-CN" sz="1900" dirty="0"/>
              <a:t>[])  {</a:t>
            </a:r>
          </a:p>
          <a:p>
            <a:pPr marL="109537" indent="0" eaLnBrk="1" hangingPunct="1">
              <a:lnSpc>
                <a:spcPct val="90000"/>
              </a:lnSpc>
              <a:buNone/>
            </a:pPr>
            <a:r>
              <a:rPr lang="en-US" altLang="zh-CN" sz="1900" dirty="0"/>
              <a:t>          </a:t>
            </a:r>
            <a:r>
              <a:rPr lang="en-US" altLang="zh-CN" sz="1900" dirty="0">
                <a:solidFill>
                  <a:schemeClr val="tx1"/>
                </a:solidFill>
              </a:rPr>
              <a:t>try {  </a:t>
            </a:r>
          </a:p>
          <a:p>
            <a:pPr marL="109537" indent="0" eaLnBrk="1" hangingPunct="1">
              <a:lnSpc>
                <a:spcPct val="90000"/>
              </a:lnSpc>
              <a:buNone/>
            </a:pPr>
            <a:r>
              <a:rPr lang="en-US" altLang="zh-CN" sz="1900" dirty="0"/>
              <a:t>		</a:t>
            </a:r>
            <a:r>
              <a:rPr lang="en-US" altLang="zh-CN" sz="1900" dirty="0">
                <a:solidFill>
                  <a:schemeClr val="tx1"/>
                </a:solidFill>
              </a:rPr>
              <a:t>throw new </a:t>
            </a:r>
            <a:r>
              <a:rPr lang="en-US" altLang="zh-CN" sz="1900" b="1" dirty="0" err="1">
                <a:solidFill>
                  <a:srgbClr val="C00000"/>
                </a:solidFill>
              </a:rPr>
              <a:t>ArithmeticException</a:t>
            </a:r>
            <a:r>
              <a:rPr lang="en-US" altLang="zh-CN" sz="1900" dirty="0">
                <a:solidFill>
                  <a:schemeClr val="tx1"/>
                </a:solidFill>
              </a:rPr>
              <a:t>();</a:t>
            </a:r>
          </a:p>
          <a:p>
            <a:pPr marL="109537" indent="0" eaLnBrk="1" hangingPunct="1">
              <a:lnSpc>
                <a:spcPct val="90000"/>
              </a:lnSpc>
              <a:buNone/>
            </a:pPr>
            <a:r>
              <a:rPr lang="en-US" altLang="zh-CN" sz="1900" dirty="0">
                <a:solidFill>
                  <a:schemeClr val="tx1"/>
                </a:solidFill>
              </a:rPr>
              <a:t>           } catch(</a:t>
            </a:r>
            <a:r>
              <a:rPr lang="en-US" altLang="zh-CN" sz="1900" b="1" dirty="0" err="1">
                <a:solidFill>
                  <a:srgbClr val="C00000"/>
                </a:solidFill>
              </a:rPr>
              <a:t>ArithmeticException</a:t>
            </a:r>
            <a:r>
              <a:rPr lang="en-US" altLang="zh-CN" sz="1900" b="1" dirty="0">
                <a:solidFill>
                  <a:srgbClr val="C00000"/>
                </a:solidFill>
              </a:rPr>
              <a:t> ae</a:t>
            </a:r>
            <a:r>
              <a:rPr lang="en-US" altLang="zh-CN" sz="1900" dirty="0">
                <a:solidFill>
                  <a:schemeClr val="tx1"/>
                </a:solidFill>
              </a:rPr>
              <a:t>){</a:t>
            </a:r>
          </a:p>
          <a:p>
            <a:pPr marL="109537" indent="0" eaLnBrk="1" hangingPunct="1">
              <a:lnSpc>
                <a:spcPct val="90000"/>
              </a:lnSpc>
              <a:buNone/>
            </a:pPr>
            <a:r>
              <a:rPr lang="en-US" altLang="zh-CN" sz="1900" dirty="0">
                <a:solidFill>
                  <a:schemeClr val="tx1"/>
                </a:solidFill>
              </a:rPr>
              <a:t>               </a:t>
            </a:r>
            <a:r>
              <a:rPr lang="en-US" altLang="zh-CN" sz="1900" dirty="0" err="1">
                <a:solidFill>
                  <a:schemeClr val="tx1"/>
                </a:solidFill>
              </a:rPr>
              <a:t>System.out.println</a:t>
            </a:r>
            <a:r>
              <a:rPr lang="en-US" altLang="zh-CN" sz="1900" dirty="0">
                <a:solidFill>
                  <a:schemeClr val="tx1"/>
                </a:solidFill>
              </a:rPr>
              <a:t>(ae);</a:t>
            </a:r>
          </a:p>
          <a:p>
            <a:pPr marL="109537" indent="0" eaLnBrk="1" hangingPunct="1">
              <a:lnSpc>
                <a:spcPct val="90000"/>
              </a:lnSpc>
              <a:buNone/>
            </a:pPr>
            <a:r>
              <a:rPr lang="en-US" altLang="zh-CN" sz="1900" dirty="0">
                <a:solidFill>
                  <a:schemeClr val="tx1"/>
                </a:solidFill>
              </a:rPr>
              <a:t>          }</a:t>
            </a:r>
          </a:p>
          <a:p>
            <a:pPr marL="109537" indent="0" eaLnBrk="1" hangingPunct="1">
              <a:lnSpc>
                <a:spcPct val="90000"/>
              </a:lnSpc>
              <a:buNone/>
            </a:pPr>
            <a:r>
              <a:rPr lang="en-US" altLang="zh-CN" sz="1900" dirty="0"/>
              <a:t>          </a:t>
            </a:r>
            <a:r>
              <a:rPr lang="en-US" altLang="zh-CN" sz="1900" dirty="0">
                <a:solidFill>
                  <a:schemeClr val="tx2"/>
                </a:solidFill>
              </a:rPr>
              <a:t>try {  </a:t>
            </a:r>
          </a:p>
          <a:p>
            <a:pPr marL="109537" indent="0" eaLnBrk="1" hangingPunct="1">
              <a:lnSpc>
                <a:spcPct val="90000"/>
              </a:lnSpc>
              <a:buNone/>
            </a:pPr>
            <a:r>
              <a:rPr lang="en-US" altLang="zh-CN" sz="1900" dirty="0">
                <a:solidFill>
                  <a:schemeClr val="tx2"/>
                </a:solidFill>
              </a:rPr>
              <a:t>		throw new </a:t>
            </a:r>
            <a:r>
              <a:rPr lang="en-US" altLang="zh-CN" sz="1900" b="1" dirty="0" err="1">
                <a:solidFill>
                  <a:srgbClr val="0070C0"/>
                </a:solidFill>
              </a:rPr>
              <a:t>ArrayIndexOutOfBoundsException</a:t>
            </a:r>
            <a:r>
              <a:rPr lang="en-US" altLang="zh-CN" sz="1900" dirty="0">
                <a:solidFill>
                  <a:schemeClr val="tx2"/>
                </a:solidFill>
              </a:rPr>
              <a:t>();</a:t>
            </a:r>
          </a:p>
          <a:p>
            <a:pPr marL="109537" indent="0" eaLnBrk="1" hangingPunct="1">
              <a:lnSpc>
                <a:spcPct val="90000"/>
              </a:lnSpc>
              <a:buNone/>
            </a:pPr>
            <a:r>
              <a:rPr lang="en-US" altLang="zh-CN" sz="1900" dirty="0">
                <a:solidFill>
                  <a:schemeClr val="tx2"/>
                </a:solidFill>
              </a:rPr>
              <a:t>          } catch(</a:t>
            </a:r>
            <a:r>
              <a:rPr lang="en-US" altLang="zh-CN" sz="1900" b="1" dirty="0" err="1">
                <a:solidFill>
                  <a:srgbClr val="0070C0"/>
                </a:solidFill>
              </a:rPr>
              <a:t>ArrayIndexOutOfBoundsException</a:t>
            </a:r>
            <a:r>
              <a:rPr lang="en-US" altLang="zh-CN" sz="1900" b="1" dirty="0">
                <a:solidFill>
                  <a:srgbClr val="0070C0"/>
                </a:solidFill>
              </a:rPr>
              <a:t> </a:t>
            </a:r>
            <a:r>
              <a:rPr lang="en-US" altLang="zh-CN" sz="1900" b="1" dirty="0" err="1">
                <a:solidFill>
                  <a:srgbClr val="0070C0"/>
                </a:solidFill>
              </a:rPr>
              <a:t>ai</a:t>
            </a:r>
            <a:r>
              <a:rPr lang="en-US" altLang="zh-CN" sz="1900" dirty="0">
                <a:solidFill>
                  <a:schemeClr val="tx2"/>
                </a:solidFill>
              </a:rPr>
              <a:t>){</a:t>
            </a:r>
          </a:p>
          <a:p>
            <a:pPr marL="109537" indent="0" eaLnBrk="1" hangingPunct="1">
              <a:lnSpc>
                <a:spcPct val="90000"/>
              </a:lnSpc>
              <a:buNone/>
            </a:pPr>
            <a:r>
              <a:rPr lang="en-US" altLang="zh-CN" sz="1900" dirty="0">
                <a:solidFill>
                  <a:schemeClr val="tx2"/>
                </a:solidFill>
              </a:rPr>
              <a:t>              </a:t>
            </a:r>
            <a:r>
              <a:rPr lang="en-US" altLang="zh-CN" sz="1900" dirty="0" err="1">
                <a:solidFill>
                  <a:schemeClr val="tx2"/>
                </a:solidFill>
              </a:rPr>
              <a:t>System.out.println</a:t>
            </a:r>
            <a:r>
              <a:rPr lang="en-US" altLang="zh-CN" sz="1900" dirty="0">
                <a:solidFill>
                  <a:schemeClr val="tx2"/>
                </a:solidFill>
              </a:rPr>
              <a:t>(ai);</a:t>
            </a:r>
          </a:p>
          <a:p>
            <a:pPr marL="109537" indent="0" eaLnBrk="1" hangingPunct="1">
              <a:lnSpc>
                <a:spcPct val="90000"/>
              </a:lnSpc>
              <a:buNone/>
            </a:pPr>
            <a:r>
              <a:rPr lang="en-US" altLang="zh-CN" sz="1900" dirty="0">
                <a:solidFill>
                  <a:schemeClr val="tx2"/>
                </a:solidFill>
              </a:rPr>
              <a:t>          }</a:t>
            </a:r>
          </a:p>
          <a:p>
            <a:pPr marL="109537" indent="0" eaLnBrk="1" hangingPunct="1">
              <a:lnSpc>
                <a:spcPct val="90000"/>
              </a:lnSpc>
              <a:buNone/>
            </a:pPr>
            <a:r>
              <a:rPr lang="en-US" altLang="zh-CN" sz="1900" dirty="0">
                <a:solidFill>
                  <a:schemeClr val="tx1"/>
                </a:solidFill>
              </a:rPr>
              <a:t>          try {  throw new </a:t>
            </a:r>
            <a:r>
              <a:rPr lang="en-US" altLang="zh-CN" sz="1900" b="1" dirty="0" err="1">
                <a:solidFill>
                  <a:srgbClr val="00B050"/>
                </a:solidFill>
              </a:rPr>
              <a:t>StringIndexOutOfBoundsException</a:t>
            </a:r>
            <a:r>
              <a:rPr lang="en-US" altLang="zh-CN" sz="1900" dirty="0">
                <a:solidFill>
                  <a:schemeClr val="tx1"/>
                </a:solidFill>
              </a:rPr>
              <a:t>();</a:t>
            </a:r>
          </a:p>
          <a:p>
            <a:pPr marL="109537" indent="0" eaLnBrk="1" hangingPunct="1">
              <a:lnSpc>
                <a:spcPct val="90000"/>
              </a:lnSpc>
              <a:buNone/>
            </a:pPr>
            <a:r>
              <a:rPr lang="en-US" altLang="zh-CN" sz="1900" dirty="0">
                <a:solidFill>
                  <a:schemeClr val="tx1"/>
                </a:solidFill>
              </a:rPr>
              <a:t>          } catch(</a:t>
            </a:r>
            <a:r>
              <a:rPr lang="en-US" altLang="zh-CN" sz="1900" b="1" dirty="0" err="1">
                <a:solidFill>
                  <a:srgbClr val="00B050"/>
                </a:solidFill>
              </a:rPr>
              <a:t>StringIndexOutOfBoundsException</a:t>
            </a:r>
            <a:r>
              <a:rPr lang="en-US" altLang="zh-CN" sz="1900" b="1" dirty="0">
                <a:solidFill>
                  <a:srgbClr val="00B050"/>
                </a:solidFill>
              </a:rPr>
              <a:t> </a:t>
            </a:r>
            <a:r>
              <a:rPr lang="en-US" altLang="zh-CN" sz="1900" b="1" dirty="0" err="1">
                <a:solidFill>
                  <a:srgbClr val="00B050"/>
                </a:solidFill>
              </a:rPr>
              <a:t>si</a:t>
            </a:r>
            <a:r>
              <a:rPr lang="en-US" altLang="zh-CN" sz="1900" dirty="0">
                <a:solidFill>
                  <a:schemeClr val="tx1"/>
                </a:solidFill>
              </a:rPr>
              <a:t>){</a:t>
            </a:r>
          </a:p>
          <a:p>
            <a:pPr marL="109537" indent="0" eaLnBrk="1" hangingPunct="1">
              <a:lnSpc>
                <a:spcPct val="90000"/>
              </a:lnSpc>
              <a:buNone/>
            </a:pPr>
            <a:r>
              <a:rPr lang="en-US" altLang="zh-CN" sz="1900" dirty="0">
                <a:solidFill>
                  <a:schemeClr val="tx1"/>
                </a:solidFill>
              </a:rPr>
              <a:t>              </a:t>
            </a:r>
            <a:r>
              <a:rPr lang="en-US" altLang="zh-CN" sz="1900" dirty="0" err="1">
                <a:solidFill>
                  <a:schemeClr val="tx1"/>
                </a:solidFill>
              </a:rPr>
              <a:t>System.out.println</a:t>
            </a:r>
            <a:r>
              <a:rPr lang="en-US" altLang="zh-CN" sz="1900" dirty="0">
                <a:solidFill>
                  <a:schemeClr val="tx1"/>
                </a:solidFill>
              </a:rPr>
              <a:t>(</a:t>
            </a:r>
            <a:r>
              <a:rPr lang="en-US" altLang="zh-CN" sz="1900" dirty="0" err="1">
                <a:solidFill>
                  <a:schemeClr val="tx1"/>
                </a:solidFill>
              </a:rPr>
              <a:t>si</a:t>
            </a:r>
            <a:r>
              <a:rPr lang="en-US" altLang="zh-CN" sz="1900" dirty="0">
                <a:solidFill>
                  <a:schemeClr val="tx1"/>
                </a:solidFill>
              </a:rPr>
              <a:t>);</a:t>
            </a:r>
          </a:p>
          <a:p>
            <a:pPr marL="109537" indent="0" eaLnBrk="1" hangingPunct="1">
              <a:lnSpc>
                <a:spcPct val="90000"/>
              </a:lnSpc>
              <a:buNone/>
            </a:pPr>
            <a:r>
              <a:rPr lang="en-US" altLang="zh-CN" sz="1900" dirty="0">
                <a:solidFill>
                  <a:schemeClr val="tx1"/>
                </a:solidFill>
              </a:rPr>
              <a:t>          }</a:t>
            </a:r>
          </a:p>
          <a:p>
            <a:pPr marL="109537" indent="0" eaLnBrk="1" hangingPunct="1">
              <a:lnSpc>
                <a:spcPct val="90000"/>
              </a:lnSpc>
              <a:buNone/>
            </a:pPr>
            <a:r>
              <a:rPr lang="en-US" altLang="zh-CN" sz="1900" dirty="0"/>
              <a:t>       }</a:t>
            </a:r>
          </a:p>
          <a:p>
            <a:pPr marL="109537" indent="0" eaLnBrk="1" hangingPunct="1">
              <a:lnSpc>
                <a:spcPct val="90000"/>
              </a:lnSpc>
              <a:buNone/>
            </a:pPr>
            <a:r>
              <a:rPr lang="en-US" altLang="zh-CN" sz="1900" dirty="0"/>
              <a:t> }</a:t>
            </a:r>
            <a:endParaRPr lang="zh-CN" altLang="en-US" sz="19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1380641-B6BB-071A-493F-9985DB6CAEC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31236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5.2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异常的处理</a:t>
            </a:r>
          </a:p>
        </p:txBody>
      </p:sp>
    </p:spTree>
    <p:extLst>
      <p:ext uri="{BB962C8B-B14F-4D97-AF65-F5344CB8AC3E}">
        <p14:creationId xmlns:p14="http://schemas.microsoft.com/office/powerpoint/2010/main" val="22866050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11424" y="1700808"/>
            <a:ext cx="9230816" cy="2260848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0" indent="0" eaLnBrk="1" hangingPunct="1">
              <a:lnSpc>
                <a:spcPct val="130000"/>
              </a:lnSpc>
              <a:buNone/>
            </a:pPr>
            <a:r>
              <a:rPr lang="zh-CN" altLang="en-US" sz="2500" b="1" dirty="0"/>
              <a:t>运行结果</a:t>
            </a:r>
          </a:p>
          <a:p>
            <a:pPr lvl="1" eaLnBrk="1" hangingPunct="1">
              <a:lnSpc>
                <a:spcPct val="130000"/>
              </a:lnSpc>
              <a:buFont typeface="Georgia" panose="02040502050405020303" pitchFamily="18" charset="0"/>
              <a:buNone/>
            </a:pPr>
            <a:r>
              <a:rPr lang="en-US" altLang="zh-CN" sz="2500" b="1" dirty="0" err="1"/>
              <a:t>java.lang.ArithmeticException</a:t>
            </a:r>
            <a:endParaRPr lang="en-US" altLang="zh-CN" sz="2500" b="1" dirty="0"/>
          </a:p>
          <a:p>
            <a:pPr lvl="1" eaLnBrk="1" hangingPunct="1">
              <a:lnSpc>
                <a:spcPct val="130000"/>
              </a:lnSpc>
              <a:buFont typeface="Georgia" panose="02040502050405020303" pitchFamily="18" charset="0"/>
              <a:buNone/>
            </a:pPr>
            <a:r>
              <a:rPr lang="en-US" altLang="zh-CN" sz="2500" b="1" dirty="0" err="1"/>
              <a:t>java.lang.ArrayIndexOutOfBoundsException</a:t>
            </a:r>
            <a:endParaRPr lang="en-US" altLang="zh-CN" sz="2500" b="1" dirty="0"/>
          </a:p>
          <a:p>
            <a:pPr lvl="1" eaLnBrk="1" hangingPunct="1">
              <a:lnSpc>
                <a:spcPct val="130000"/>
              </a:lnSpc>
              <a:buFont typeface="Georgia" panose="02040502050405020303" pitchFamily="18" charset="0"/>
              <a:buNone/>
            </a:pPr>
            <a:r>
              <a:rPr lang="en-US" altLang="zh-CN" sz="2500" b="1" dirty="0" err="1"/>
              <a:t>java.lang.StringIndexOutOfBoundsException</a:t>
            </a:r>
            <a:endParaRPr lang="en-US" altLang="zh-CN" sz="2500" b="1" dirty="0"/>
          </a:p>
          <a:p>
            <a:pPr eaLnBrk="1" hangingPunct="1"/>
            <a:endParaRPr lang="zh-CN" altLang="en-US" sz="24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4961065-D265-89DC-EDE9-FA4852BC411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31236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5.2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异常的处理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818DD76-2E9C-CBBA-9F2C-6B6A23B8BAE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252028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生成异常对象</a:t>
            </a:r>
          </a:p>
        </p:txBody>
      </p:sp>
    </p:spTree>
    <p:extLst>
      <p:ext uri="{BB962C8B-B14F-4D97-AF65-F5344CB8AC3E}">
        <p14:creationId xmlns:p14="http://schemas.microsoft.com/office/powerpoint/2010/main" val="2536972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67408" y="1772816"/>
            <a:ext cx="10887000" cy="3052936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zh-CN" altLang="en-US" sz="2500" dirty="0">
                <a:latin typeface="宋体" panose="02010600030101010101" pitchFamily="2" charset="-122"/>
              </a:rPr>
              <a:t>自定义的所有异常类都必须是</a:t>
            </a:r>
            <a:r>
              <a:rPr lang="en-US" altLang="zh-CN" sz="25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r>
              <a:rPr lang="zh-CN" altLang="en-US" sz="2500" dirty="0">
                <a:latin typeface="宋体" panose="02010600030101010101" pitchFamily="2" charset="-122"/>
              </a:rPr>
              <a:t>的子类，</a:t>
            </a:r>
            <a:r>
              <a:rPr lang="zh-CN" altLang="en-US" sz="2500" dirty="0"/>
              <a:t>声明语法如下：</a:t>
            </a:r>
          </a:p>
          <a:p>
            <a:pPr marL="411162" lvl="1" indent="0">
              <a:lnSpc>
                <a:spcPct val="90000"/>
              </a:lnSpc>
              <a:buNone/>
            </a:pPr>
            <a:r>
              <a:rPr lang="en-US" altLang="zh-CN" sz="2500" dirty="0"/>
              <a:t>public class </a:t>
            </a:r>
            <a:r>
              <a:rPr lang="en-US" altLang="zh-CN" sz="2500" dirty="0" err="1"/>
              <a:t>MyExceptionName</a:t>
            </a:r>
            <a:r>
              <a:rPr lang="en-US" altLang="zh-CN" sz="2500" dirty="0"/>
              <a:t> extends </a:t>
            </a:r>
            <a:r>
              <a:rPr lang="en-US" altLang="zh-CN" sz="2500" dirty="0" err="1"/>
              <a:t>SuperclassOfMyException</a:t>
            </a:r>
            <a:r>
              <a:rPr lang="en-US" altLang="zh-CN" sz="2500" dirty="0"/>
              <a:t> { </a:t>
            </a:r>
          </a:p>
          <a:p>
            <a:pPr marL="411162" lvl="1" indent="0">
              <a:lnSpc>
                <a:spcPct val="90000"/>
              </a:lnSpc>
              <a:buNone/>
            </a:pPr>
            <a:r>
              <a:rPr lang="en-US" altLang="zh-CN" sz="2500" dirty="0"/>
              <a:t>     public </a:t>
            </a:r>
            <a:r>
              <a:rPr lang="en-US" altLang="zh-CN" sz="2500" dirty="0" err="1"/>
              <a:t>MyExceptionName</a:t>
            </a:r>
            <a:r>
              <a:rPr lang="en-US" altLang="zh-CN" sz="2500" dirty="0"/>
              <a:t>() { </a:t>
            </a:r>
          </a:p>
          <a:p>
            <a:pPr marL="411162" lvl="1" indent="0">
              <a:lnSpc>
                <a:spcPct val="90000"/>
              </a:lnSpc>
              <a:buNone/>
            </a:pPr>
            <a:r>
              <a:rPr lang="en-US" altLang="zh-CN" sz="2500" dirty="0"/>
              <a:t>          super("Some string explaining the exception"); </a:t>
            </a:r>
          </a:p>
          <a:p>
            <a:pPr marL="411162" lvl="1" indent="0">
              <a:lnSpc>
                <a:spcPct val="90000"/>
              </a:lnSpc>
              <a:buNone/>
            </a:pPr>
            <a:r>
              <a:rPr lang="en-US" altLang="zh-CN" sz="2500" dirty="0"/>
              <a:t>     } </a:t>
            </a:r>
          </a:p>
          <a:p>
            <a:pPr marL="411162" lvl="1" indent="0">
              <a:lnSpc>
                <a:spcPct val="90000"/>
              </a:lnSpc>
              <a:buNone/>
            </a:pPr>
            <a:r>
              <a:rPr lang="en-US" altLang="zh-CN" sz="2500" dirty="0"/>
              <a:t>} </a:t>
            </a:r>
            <a:endParaRPr lang="zh-CN" altLang="en-US" sz="25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71170A8-A0C3-50D1-E6B3-FB448AF6D93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31236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5.2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异常的处理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CCA256E-8EFE-0F5E-2111-912CDA2B68F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2376264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自定义异常类</a:t>
            </a:r>
          </a:p>
        </p:txBody>
      </p:sp>
    </p:spTree>
    <p:extLst>
      <p:ext uri="{BB962C8B-B14F-4D97-AF65-F5344CB8AC3E}">
        <p14:creationId xmlns:p14="http://schemas.microsoft.com/office/powerpoint/2010/main" val="3204284782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95400" y="1844824"/>
            <a:ext cx="10972800" cy="4464496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// </a:t>
            </a:r>
            <a:r>
              <a:rPr lang="en-US" altLang="zh-CN" sz="2200" dirty="0" err="1"/>
              <a:t>DivideByZeroException.java</a:t>
            </a:r>
            <a:endParaRPr lang="en-US" altLang="zh-CN" sz="2200" dirty="0"/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public class </a:t>
            </a:r>
            <a:r>
              <a:rPr lang="en-US" altLang="zh-CN" sz="2200" dirty="0" err="1"/>
              <a:t>DivideByZeroException</a:t>
            </a:r>
            <a:r>
              <a:rPr lang="en-US" altLang="zh-CN" sz="2200" dirty="0"/>
              <a:t> extends </a:t>
            </a:r>
            <a:r>
              <a:rPr lang="en-US" altLang="zh-CN" sz="2200" dirty="0" err="1"/>
              <a:t>ArithmeticException</a:t>
            </a:r>
            <a:r>
              <a:rPr lang="en-US" altLang="zh-CN" sz="2200" dirty="0"/>
              <a:t> {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    public </a:t>
            </a:r>
            <a:r>
              <a:rPr lang="en-US" altLang="zh-CN" sz="2200" dirty="0" err="1"/>
              <a:t>DivideByZeroException</a:t>
            </a:r>
            <a:r>
              <a:rPr lang="en-US" altLang="zh-CN" sz="2200" dirty="0"/>
              <a:t>() {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        super("Attempted to divide by zero");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    }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}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// </a:t>
            </a:r>
            <a:r>
              <a:rPr lang="en-US" altLang="zh-CN" sz="2200" dirty="0" err="1"/>
              <a:t>DivideByZeroExceptionTester.java</a:t>
            </a:r>
            <a:endParaRPr lang="en-US" altLang="zh-CN" sz="2200" dirty="0"/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public class </a:t>
            </a:r>
            <a:r>
              <a:rPr lang="en-US" altLang="zh-CN" sz="2200" dirty="0" err="1"/>
              <a:t>DivideByZeroExceptionTester</a:t>
            </a:r>
            <a:r>
              <a:rPr lang="en-US" altLang="zh-CN" sz="2200" dirty="0"/>
              <a:t> {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    private static int quotient(int numerator, int denominator) throws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       </a:t>
            </a:r>
            <a:r>
              <a:rPr lang="en-US" altLang="zh-CN" sz="2200" dirty="0" err="1"/>
              <a:t>DivideByZeroException</a:t>
            </a:r>
            <a:r>
              <a:rPr lang="en-US" altLang="zh-CN" sz="2200" dirty="0"/>
              <a:t> {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        if (denominator == 0)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            throw new </a:t>
            </a:r>
            <a:r>
              <a:rPr lang="en-US" altLang="zh-CN" sz="2200" dirty="0" err="1"/>
              <a:t>DivideByZeroException</a:t>
            </a:r>
            <a:r>
              <a:rPr lang="en-US" altLang="zh-CN" sz="2200" dirty="0"/>
              <a:t>();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        return(numerator / denominator);</a:t>
            </a:r>
          </a:p>
          <a:p>
            <a:pPr marL="109537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200" dirty="0"/>
              <a:t>    }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13E7C74-DA47-3132-1187-C46A2A2AAC0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31236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5.2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异常的处理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1527385-002A-F6C2-7BF8-845BF4F1576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2376264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自定义异常类</a:t>
            </a:r>
          </a:p>
        </p:txBody>
      </p:sp>
    </p:spTree>
    <p:extLst>
      <p:ext uri="{BB962C8B-B14F-4D97-AF65-F5344CB8AC3E}">
        <p14:creationId xmlns:p14="http://schemas.microsoft.com/office/powerpoint/2010/main" val="34495137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07368" y="1844824"/>
            <a:ext cx="10972800" cy="4784865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public static void main(String </a:t>
            </a:r>
            <a:r>
              <a:rPr lang="en-US" altLang="zh-CN" sz="1800" dirty="0" err="1"/>
              <a:t>args</a:t>
            </a:r>
            <a:r>
              <a:rPr lang="en-US" altLang="zh-CN" sz="1800" dirty="0"/>
              <a:t>[]) {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int number1=0, number2=0, result=0;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try {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    </a:t>
            </a:r>
            <a:r>
              <a:rPr lang="en-US" altLang="zh-CN" sz="1800" dirty="0" err="1"/>
              <a:t>System.out.println</a:t>
            </a:r>
            <a:r>
              <a:rPr lang="en-US" altLang="zh-CN" sz="1800" dirty="0"/>
              <a:t>("Enter the first number:");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    number1 = </a:t>
            </a:r>
            <a:r>
              <a:rPr lang="en-US" altLang="zh-CN" sz="1800" dirty="0" err="1"/>
              <a:t>Integer.valueOf</a:t>
            </a:r>
            <a:r>
              <a:rPr lang="en-US" altLang="zh-CN" sz="1800" dirty="0"/>
              <a:t>(</a:t>
            </a:r>
            <a:r>
              <a:rPr lang="en-US" altLang="zh-CN" sz="1800" dirty="0" err="1"/>
              <a:t>Keyboard.getString</a:t>
            </a:r>
            <a:r>
              <a:rPr lang="en-US" altLang="zh-CN" sz="1800" dirty="0"/>
              <a:t>()).</a:t>
            </a:r>
            <a:r>
              <a:rPr lang="en-US" altLang="zh-CN" sz="1800" dirty="0" err="1"/>
              <a:t>intValue</a:t>
            </a:r>
            <a:r>
              <a:rPr lang="en-US" altLang="zh-CN" sz="1800" dirty="0"/>
              <a:t>();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    </a:t>
            </a:r>
            <a:r>
              <a:rPr lang="en-US" altLang="zh-CN" sz="1800" dirty="0" err="1"/>
              <a:t>System.out.println</a:t>
            </a:r>
            <a:r>
              <a:rPr lang="en-US" altLang="zh-CN" sz="1800" dirty="0"/>
              <a:t>("Enter the second number:");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    number2 = </a:t>
            </a:r>
            <a:r>
              <a:rPr lang="en-US" altLang="zh-CN" sz="1800" dirty="0" err="1"/>
              <a:t>Integer.valueOf</a:t>
            </a:r>
            <a:r>
              <a:rPr lang="en-US" altLang="zh-CN" sz="1800" dirty="0"/>
              <a:t>(</a:t>
            </a:r>
            <a:r>
              <a:rPr lang="en-US" altLang="zh-CN" sz="1800" dirty="0" err="1"/>
              <a:t>Keyboard.getString</a:t>
            </a:r>
            <a:r>
              <a:rPr lang="en-US" altLang="zh-CN" sz="1800" dirty="0"/>
              <a:t>()).</a:t>
            </a:r>
            <a:r>
              <a:rPr lang="en-US" altLang="zh-CN" sz="1800" dirty="0" err="1"/>
              <a:t>intValue</a:t>
            </a:r>
            <a:r>
              <a:rPr lang="en-US" altLang="zh-CN" sz="1800" dirty="0"/>
              <a:t>();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    result = quotient(number1,number2);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}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catch (</a:t>
            </a:r>
            <a:r>
              <a:rPr lang="en-US" altLang="zh-CN" sz="1800" dirty="0" err="1"/>
              <a:t>NumberFormatException</a:t>
            </a:r>
            <a:r>
              <a:rPr lang="en-US" altLang="zh-CN" sz="1800" dirty="0"/>
              <a:t> e) {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    </a:t>
            </a:r>
            <a:r>
              <a:rPr lang="en-US" altLang="zh-CN" sz="1800" dirty="0" err="1"/>
              <a:t>System.out.println</a:t>
            </a:r>
            <a:r>
              <a:rPr lang="en-US" altLang="zh-CN" sz="1800" dirty="0"/>
              <a:t>("Invalid integer entered!");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    </a:t>
            </a:r>
            <a:r>
              <a:rPr lang="en-US" altLang="zh-CN" sz="1800" dirty="0" err="1"/>
              <a:t>System.exit</a:t>
            </a:r>
            <a:r>
              <a:rPr lang="en-US" altLang="zh-CN" sz="1800" dirty="0"/>
              <a:t>(-1);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}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catch (</a:t>
            </a:r>
            <a:r>
              <a:rPr lang="en-US" altLang="zh-CN" sz="1800" dirty="0" err="1"/>
              <a:t>DivideByZeroException</a:t>
            </a:r>
            <a:r>
              <a:rPr lang="en-US" altLang="zh-CN" sz="1800" dirty="0"/>
              <a:t> e) {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    </a:t>
            </a:r>
            <a:r>
              <a:rPr lang="en-US" altLang="zh-CN" sz="1800" dirty="0" err="1"/>
              <a:t>System.out.println</a:t>
            </a:r>
            <a:r>
              <a:rPr lang="en-US" altLang="zh-CN" sz="1800" dirty="0"/>
              <a:t>(</a:t>
            </a:r>
            <a:r>
              <a:rPr lang="en-US" altLang="zh-CN" sz="1800" dirty="0" err="1"/>
              <a:t>e.toString</a:t>
            </a:r>
            <a:r>
              <a:rPr lang="en-US" altLang="zh-CN" sz="1800" dirty="0"/>
              <a:t>());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    </a:t>
            </a:r>
            <a:r>
              <a:rPr lang="en-US" altLang="zh-CN" sz="1800" dirty="0" err="1"/>
              <a:t>System.exit</a:t>
            </a:r>
            <a:r>
              <a:rPr lang="en-US" altLang="zh-CN" sz="1800" dirty="0"/>
              <a:t>(-1); }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    </a:t>
            </a:r>
            <a:r>
              <a:rPr lang="en-US" altLang="zh-CN" sz="1800" dirty="0" err="1"/>
              <a:t>System.out.println</a:t>
            </a:r>
            <a:r>
              <a:rPr lang="en-US" altLang="zh-CN" sz="1800" dirty="0"/>
              <a:t>(number1 + " / " + number2 + "=" + result);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    }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 sz="1800" dirty="0"/>
              <a:t>}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5F447F-7160-F54B-9D5D-2425452436E9}"/>
              </a:ext>
            </a:extLst>
          </p:cNvPr>
          <p:cNvSpPr txBox="1"/>
          <p:nvPr/>
        </p:nvSpPr>
        <p:spPr>
          <a:xfrm>
            <a:off x="6528048" y="836712"/>
            <a:ext cx="5154040" cy="175432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sz="1800" dirty="0"/>
              <a:t>输出结果：</a:t>
            </a:r>
            <a:endParaRPr kumimoji="1" lang="en-US" altLang="zh-CN" sz="1800" dirty="0"/>
          </a:p>
          <a:p>
            <a:r>
              <a:rPr lang="en-US" altLang="zh-CN" sz="1800" dirty="0"/>
              <a:t>Enter the first number:</a:t>
            </a:r>
          </a:p>
          <a:p>
            <a:r>
              <a:rPr lang="en-US" altLang="zh-CN" sz="1800" dirty="0"/>
              <a:t>140</a:t>
            </a:r>
          </a:p>
          <a:p>
            <a:r>
              <a:rPr lang="en-US" altLang="zh-CN" sz="1800" dirty="0"/>
              <a:t>Enter the second number:</a:t>
            </a:r>
          </a:p>
          <a:p>
            <a:r>
              <a:rPr lang="en-US" altLang="zh-CN" sz="1800" dirty="0"/>
              <a:t>0</a:t>
            </a:r>
          </a:p>
          <a:p>
            <a:r>
              <a:rPr lang="en-US" altLang="zh-CN" sz="1800" dirty="0" err="1"/>
              <a:t>DivideByZeroException</a:t>
            </a:r>
            <a:r>
              <a:rPr lang="en-US" altLang="zh-CN" sz="1800" dirty="0"/>
              <a:t>: Attempted to divide by zero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2D3B50-2F6C-48CD-26F5-A998379EA16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31236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5.2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异常的处理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D40F7A-B7CC-B815-60C6-0AB4C4AD9EB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2376264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自定义异常类</a:t>
            </a:r>
          </a:p>
        </p:txBody>
      </p:sp>
    </p:spTree>
    <p:extLst>
      <p:ext uri="{BB962C8B-B14F-4D97-AF65-F5344CB8AC3E}">
        <p14:creationId xmlns:p14="http://schemas.microsoft.com/office/powerpoint/2010/main" val="2155423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559496" y="1628800"/>
            <a:ext cx="8654752" cy="2764904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700" b="1" dirty="0">
                <a:latin typeface="Times New Roman" panose="02020603050405020304" pitchFamily="18" charset="0"/>
              </a:rPr>
              <a:t>在</a:t>
            </a:r>
            <a:r>
              <a:rPr lang="en-US" altLang="zh-CN" sz="2700" b="1" dirty="0">
                <a:latin typeface="Times New Roman" panose="02020603050405020304" pitchFamily="18" charset="0"/>
              </a:rPr>
              <a:t>Java</a:t>
            </a:r>
            <a:r>
              <a:rPr lang="zh-CN" altLang="en-US" sz="2700" b="1" dirty="0">
                <a:latin typeface="Times New Roman" panose="02020603050405020304" pitchFamily="18" charset="0"/>
              </a:rPr>
              <a:t>中将信息的输入与输出过程抽象为</a:t>
            </a:r>
            <a:r>
              <a:rPr lang="en-US" altLang="zh-CN" sz="2700" b="1" dirty="0">
                <a:latin typeface="Times New Roman" panose="02020603050405020304" pitchFamily="18" charset="0"/>
              </a:rPr>
              <a:t>I/O</a:t>
            </a:r>
            <a:r>
              <a:rPr lang="zh-CN" altLang="en-US" sz="2700" b="1" dirty="0">
                <a:latin typeface="Times New Roman" panose="02020603050405020304" pitchFamily="18" charset="0"/>
              </a:rPr>
              <a:t>流：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700" b="1" dirty="0">
                <a:latin typeface="Times New Roman" panose="02020603050405020304" pitchFamily="18" charset="0"/>
              </a:rPr>
              <a:t>输入是指数据流入程序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700" b="1" dirty="0">
                <a:latin typeface="Times New Roman" panose="02020603050405020304" pitchFamily="18" charset="0"/>
              </a:rPr>
              <a:t>输出是指数据从程序流出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700" b="1" dirty="0">
                <a:latin typeface="Times New Roman" panose="02020603050405020304" pitchFamily="18" charset="0"/>
              </a:rPr>
              <a:t>一个流就是一个从源流向目的地的数据序列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0AE8A0A-44A2-92B7-D753-F02F41A0B5B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16835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5.3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输入输出流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23E880-1C19-9A02-2796-86738217C0A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3096344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输入输出流的概念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4"/>
          <p:cNvSpPr>
            <a:spLocks noGrp="1" noChangeArrowheads="1"/>
          </p:cNvSpPr>
          <p:nvPr>
            <p:ph idx="4294967295"/>
          </p:nvPr>
        </p:nvSpPr>
        <p:spPr>
          <a:xfrm>
            <a:off x="2351584" y="1700808"/>
            <a:ext cx="4824536" cy="4608512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700" b="1" dirty="0"/>
              <a:t>从流的方向划分</a:t>
            </a:r>
          </a:p>
          <a:p>
            <a:pPr lvl="1" eaLnBrk="1" hangingPunct="1"/>
            <a:r>
              <a:rPr lang="zh-CN" altLang="en-US" sz="2700" b="1" dirty="0"/>
              <a:t>输入流</a:t>
            </a:r>
          </a:p>
          <a:p>
            <a:pPr lvl="1" eaLnBrk="1" hangingPunct="1"/>
            <a:r>
              <a:rPr lang="zh-CN" altLang="en-US" sz="2700" b="1" dirty="0"/>
              <a:t>输出流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700" b="1" dirty="0"/>
              <a:t>从流的分工划分</a:t>
            </a:r>
          </a:p>
          <a:p>
            <a:pPr lvl="1" eaLnBrk="1" hangingPunct="1"/>
            <a:r>
              <a:rPr lang="zh-CN" altLang="en-US" sz="2700" b="1" dirty="0"/>
              <a:t>节点流</a:t>
            </a:r>
          </a:p>
          <a:p>
            <a:pPr lvl="1" eaLnBrk="1" hangingPunct="1"/>
            <a:r>
              <a:rPr lang="zh-CN" altLang="en-US" sz="2700" b="1" dirty="0"/>
              <a:t>处理流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700" b="1" dirty="0"/>
              <a:t>从流的内容划分</a:t>
            </a:r>
          </a:p>
          <a:p>
            <a:pPr lvl="1" eaLnBrk="1" hangingPunct="1"/>
            <a:r>
              <a:rPr lang="zh-CN" altLang="en-US" sz="2700" b="1" dirty="0"/>
              <a:t>面向字符的流</a:t>
            </a:r>
          </a:p>
          <a:p>
            <a:pPr lvl="1" eaLnBrk="1" hangingPunct="1"/>
            <a:r>
              <a:rPr lang="zh-CN" altLang="en-US" sz="2700" b="1" dirty="0"/>
              <a:t>面向字节的流</a:t>
            </a:r>
            <a:endParaRPr lang="en-US" altLang="zh-CN" sz="2700" b="1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9DCAF86-FF99-D63A-DE26-4B75F473CBD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16835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5.3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输入输出流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869604-8DB4-E4E5-9806-D967C1D862B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3096344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预定义的</a:t>
            </a: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I/O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流类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17"/>
          <p:cNvSpPr>
            <a:spLocks noGrp="1" noChangeArrowheads="1"/>
          </p:cNvSpPr>
          <p:nvPr>
            <p:ph idx="4294967295"/>
          </p:nvPr>
        </p:nvSpPr>
        <p:spPr>
          <a:xfrm>
            <a:off x="749878" y="1767175"/>
            <a:ext cx="6276391" cy="1156623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Autofit/>
          </a:bodyPr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700" b="1" dirty="0"/>
              <a:t>面向字符的流：专门用于字符数据。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700" b="1" dirty="0"/>
              <a:t>面向字节的流：用于一般目的。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567608" y="3133726"/>
            <a:ext cx="7162800" cy="3319463"/>
            <a:chOff x="2567608" y="3133726"/>
            <a:chExt cx="7162800" cy="3319463"/>
          </a:xfrm>
        </p:grpSpPr>
        <p:grpSp>
          <p:nvGrpSpPr>
            <p:cNvPr id="21507" name="Group 12"/>
            <p:cNvGrpSpPr>
              <a:grpSpLocks/>
            </p:cNvGrpSpPr>
            <p:nvPr/>
          </p:nvGrpSpPr>
          <p:grpSpPr bwMode="auto">
            <a:xfrm>
              <a:off x="2567608" y="3133726"/>
              <a:ext cx="7162800" cy="3319463"/>
              <a:chOff x="720" y="1104"/>
              <a:chExt cx="3936" cy="2256"/>
            </a:xfrm>
          </p:grpSpPr>
          <p:grpSp>
            <p:nvGrpSpPr>
              <p:cNvPr id="21511" name="Group 11"/>
              <p:cNvGrpSpPr>
                <a:grpSpLocks/>
              </p:cNvGrpSpPr>
              <p:nvPr/>
            </p:nvGrpSpPr>
            <p:grpSpPr bwMode="auto">
              <a:xfrm>
                <a:off x="720" y="1104"/>
                <a:ext cx="3936" cy="2256"/>
                <a:chOff x="-2" y="-2"/>
                <a:chExt cx="5764" cy="1857"/>
              </a:xfrm>
            </p:grpSpPr>
            <p:grpSp>
              <p:nvGrpSpPr>
                <p:cNvPr id="21513" name="Group 9"/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5760" cy="1853"/>
                  <a:chOff x="0" y="0"/>
                  <a:chExt cx="5760" cy="1853"/>
                </a:xfrm>
              </p:grpSpPr>
              <p:sp>
                <p:nvSpPr>
                  <p:cNvPr id="21515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5760" cy="1853"/>
                  </a:xfrm>
                  <a:prstGeom prst="rect">
                    <a:avLst/>
                  </a:prstGeom>
                  <a:solidFill>
                    <a:srgbClr val="F8FFF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 cap="sq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ts val="300"/>
                      </a:spcBef>
                      <a:buClr>
                        <a:srgbClr val="A04DA3"/>
                      </a:buClr>
                      <a:buFont typeface="Georgia" panose="02040502050405020303" pitchFamily="18" charset="0"/>
                      <a:buChar char="•"/>
                      <a:defRPr sz="2800">
                        <a:solidFill>
                          <a:schemeClr val="tx1"/>
                        </a:solidFill>
                        <a:latin typeface="Georgia" panose="02040502050405020303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ts val="300"/>
                      </a:spcBef>
                      <a:buClr>
                        <a:schemeClr val="accent2"/>
                      </a:buClr>
                      <a:buFont typeface="Georgia" panose="02040502050405020303" pitchFamily="18" charset="0"/>
                      <a:buChar char="▫"/>
                      <a:defRPr sz="2600">
                        <a:solidFill>
                          <a:schemeClr val="accent1"/>
                        </a:solidFill>
                        <a:latin typeface="Georgia" panose="02040502050405020303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ts val="300"/>
                      </a:spcBef>
                      <a:buClr>
                        <a:schemeClr val="accent1"/>
                      </a:buClr>
                      <a:buFont typeface="Wingdings 2" panose="05020102010507070707" pitchFamily="18" charset="2"/>
                      <a:buChar char=""/>
                      <a:defRPr sz="2400">
                        <a:solidFill>
                          <a:schemeClr val="accent1"/>
                        </a:solidFill>
                        <a:latin typeface="Georgia" panose="02040502050405020303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ts val="300"/>
                      </a:spcBef>
                      <a:buClr>
                        <a:schemeClr val="accent1"/>
                      </a:buClr>
                      <a:buFont typeface="Wingdings 2" panose="05020102010507070707" pitchFamily="18" charset="2"/>
                      <a:buChar char=""/>
                      <a:defRPr sz="2200">
                        <a:solidFill>
                          <a:schemeClr val="accent1"/>
                        </a:solidFill>
                        <a:latin typeface="Georgia" panose="02040502050405020303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ts val="300"/>
                      </a:spcBef>
                      <a:buClr>
                        <a:srgbClr val="A04DA3"/>
                      </a:buClr>
                      <a:buFont typeface="Georgia" panose="02040502050405020303" pitchFamily="18" charset="0"/>
                      <a:buChar char="▫"/>
                      <a:defRPr sz="2000">
                        <a:solidFill>
                          <a:srgbClr val="A04DA3"/>
                        </a:solidFill>
                        <a:latin typeface="Georgia" panose="02040502050405020303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ts val="300"/>
                      </a:spcBef>
                      <a:spcAft>
                        <a:spcPct val="0"/>
                      </a:spcAft>
                      <a:buClr>
                        <a:srgbClr val="A04DA3"/>
                      </a:buClr>
                      <a:buFont typeface="Georgia" panose="02040502050405020303" pitchFamily="18" charset="0"/>
                      <a:buChar char="▫"/>
                      <a:defRPr sz="2000">
                        <a:solidFill>
                          <a:srgbClr val="A04DA3"/>
                        </a:solidFill>
                        <a:latin typeface="Georgia" panose="02040502050405020303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ts val="300"/>
                      </a:spcBef>
                      <a:spcAft>
                        <a:spcPct val="0"/>
                      </a:spcAft>
                      <a:buClr>
                        <a:srgbClr val="A04DA3"/>
                      </a:buClr>
                      <a:buFont typeface="Georgia" panose="02040502050405020303" pitchFamily="18" charset="0"/>
                      <a:buChar char="▫"/>
                      <a:defRPr sz="2000">
                        <a:solidFill>
                          <a:srgbClr val="A04DA3"/>
                        </a:solidFill>
                        <a:latin typeface="Georgia" panose="02040502050405020303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ts val="300"/>
                      </a:spcBef>
                      <a:spcAft>
                        <a:spcPct val="0"/>
                      </a:spcAft>
                      <a:buClr>
                        <a:srgbClr val="A04DA3"/>
                      </a:buClr>
                      <a:buFont typeface="Georgia" panose="02040502050405020303" pitchFamily="18" charset="0"/>
                      <a:buChar char="▫"/>
                      <a:defRPr sz="2000">
                        <a:solidFill>
                          <a:srgbClr val="A04DA3"/>
                        </a:solidFill>
                        <a:latin typeface="Georgia" panose="02040502050405020303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ts val="300"/>
                      </a:spcBef>
                      <a:spcAft>
                        <a:spcPct val="0"/>
                      </a:spcAft>
                      <a:buClr>
                        <a:srgbClr val="A04DA3"/>
                      </a:buClr>
                      <a:buFont typeface="Georgia" panose="02040502050405020303" pitchFamily="18" charset="0"/>
                      <a:buChar char="▫"/>
                      <a:defRPr sz="2000">
                        <a:solidFill>
                          <a:srgbClr val="A04DA3"/>
                        </a:solidFill>
                        <a:latin typeface="Georgia" panose="02040502050405020303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400">
                      <a:latin typeface="Times New Roman" panose="02020603050405020304" pitchFamily="18" charset="0"/>
                      <a:ea typeface="隶书" panose="02010509060101010101" pitchFamily="49" charset="-122"/>
                    </a:endParaRPr>
                  </a:p>
                </p:txBody>
              </p:sp>
              <p:grpSp>
                <p:nvGrpSpPr>
                  <p:cNvPr id="21516" name="Group 7"/>
                  <p:cNvGrpSpPr>
                    <a:grpSpLocks/>
                  </p:cNvGrpSpPr>
                  <p:nvPr/>
                </p:nvGrpSpPr>
                <p:grpSpPr bwMode="auto">
                  <a:xfrm>
                    <a:off x="0" y="0"/>
                    <a:ext cx="5760" cy="1853"/>
                    <a:chOff x="0" y="0"/>
                    <a:chExt cx="5760" cy="1853"/>
                  </a:xfrm>
                </p:grpSpPr>
                <p:sp>
                  <p:nvSpPr>
                    <p:cNvPr id="21517" name="Rectangle 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0" y="0"/>
                      <a:ext cx="5760" cy="1853"/>
                    </a:xfrm>
                    <a:prstGeom prst="rect">
                      <a:avLst/>
                    </a:prstGeom>
                    <a:solidFill>
                      <a:srgbClr val="F8FFF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12700" cap="sq">
                          <a:solidFill>
                            <a:srgbClr val="000000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</a:extLst>
                  </p:spPr>
                  <p:txBody>
                    <a:bodyPr anchor="ctr"/>
                    <a:lstStyle>
                      <a:lvl1pPr>
                        <a:spcBef>
                          <a:spcPts val="300"/>
                        </a:spcBef>
                        <a:buClr>
                          <a:srgbClr val="A04DA3"/>
                        </a:buClr>
                        <a:buFont typeface="Georgia" panose="02040502050405020303" pitchFamily="18" charset="0"/>
                        <a:buChar char="•"/>
                        <a:defRPr sz="280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300"/>
                        </a:spcBef>
                        <a:buClr>
                          <a:schemeClr val="accent2"/>
                        </a:buClr>
                        <a:buFont typeface="Georgia" panose="02040502050405020303" pitchFamily="18" charset="0"/>
                        <a:buChar char="▫"/>
                        <a:defRPr sz="2600">
                          <a:solidFill>
                            <a:schemeClr val="accent1"/>
                          </a:solidFill>
                          <a:latin typeface="Georgia" panose="0204050205040502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300"/>
                        </a:spcBef>
                        <a:buClr>
                          <a:schemeClr val="accent1"/>
                        </a:buClr>
                        <a:buFont typeface="Wingdings 2" panose="05020102010507070707" pitchFamily="18" charset="2"/>
                        <a:buChar char=""/>
                        <a:defRPr sz="2400">
                          <a:solidFill>
                            <a:schemeClr val="accent1"/>
                          </a:solidFill>
                          <a:latin typeface="Georgia" panose="0204050205040502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300"/>
                        </a:spcBef>
                        <a:buClr>
                          <a:schemeClr val="accent1"/>
                        </a:buClr>
                        <a:buFont typeface="Wingdings 2" panose="05020102010507070707" pitchFamily="18" charset="2"/>
                        <a:buChar char=""/>
                        <a:defRPr sz="2200">
                          <a:solidFill>
                            <a:schemeClr val="accent1"/>
                          </a:solidFill>
                          <a:latin typeface="Georgia" panose="0204050205040502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00"/>
                        </a:spcBef>
                        <a:buClr>
                          <a:srgbClr val="A04DA3"/>
                        </a:buClr>
                        <a:buFont typeface="Georgia" panose="02040502050405020303" pitchFamily="18" charset="0"/>
                        <a:buChar char="▫"/>
                        <a:defRPr sz="2000">
                          <a:solidFill>
                            <a:srgbClr val="A04DA3"/>
                          </a:solidFill>
                          <a:latin typeface="Georgia" panose="0204050205040502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A04DA3"/>
                        </a:buClr>
                        <a:buFont typeface="Georgia" panose="02040502050405020303" pitchFamily="18" charset="0"/>
                        <a:buChar char="▫"/>
                        <a:defRPr sz="2000">
                          <a:solidFill>
                            <a:srgbClr val="A04DA3"/>
                          </a:solidFill>
                          <a:latin typeface="Georgia" panose="0204050205040502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A04DA3"/>
                        </a:buClr>
                        <a:buFont typeface="Georgia" panose="02040502050405020303" pitchFamily="18" charset="0"/>
                        <a:buChar char="▫"/>
                        <a:defRPr sz="2000">
                          <a:solidFill>
                            <a:srgbClr val="A04DA3"/>
                          </a:solidFill>
                          <a:latin typeface="Georgia" panose="0204050205040502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A04DA3"/>
                        </a:buClr>
                        <a:buFont typeface="Georgia" panose="02040502050405020303" pitchFamily="18" charset="0"/>
                        <a:buChar char="▫"/>
                        <a:defRPr sz="2000">
                          <a:solidFill>
                            <a:srgbClr val="A04DA3"/>
                          </a:solidFill>
                          <a:latin typeface="Georgia" panose="0204050205040502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A04DA3"/>
                        </a:buClr>
                        <a:buFont typeface="Georgia" panose="02040502050405020303" pitchFamily="18" charset="0"/>
                        <a:buChar char="▫"/>
                        <a:defRPr sz="2000">
                          <a:solidFill>
                            <a:srgbClr val="A04DA3"/>
                          </a:solidFill>
                          <a:latin typeface="Georgia" panose="0204050205040502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kumimoji="0" lang="zh-CN" altLang="en-GB" sz="2400" dirty="0"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kumimoji="0" lang="zh-CN" altLang="en-GB" sz="18700" dirty="0">
                          <a:latin typeface="Times New Roman" panose="02020603050405020304" pitchFamily="18" charset="0"/>
                        </a:rPr>
                        <a:t> </a:t>
                      </a:r>
                      <a:r>
                        <a:rPr kumimoji="0" lang="zh-CN" altLang="en-GB" sz="2400" dirty="0">
                          <a:latin typeface="Times New Roman" panose="02020603050405020304" pitchFamily="18" charset="0"/>
                        </a:rPr>
                        <a:t>                                                                          </a:t>
                      </a:r>
                    </a:p>
                  </p:txBody>
                </p:sp>
                <p:sp>
                  <p:nvSpPr>
                    <p:cNvPr id="21518" name="Rectangle 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0" y="0"/>
                      <a:ext cx="5760" cy="1853"/>
                    </a:xfrm>
                    <a:prstGeom prst="rect">
                      <a:avLst/>
                    </a:prstGeom>
                    <a:noFill/>
                    <a:ln w="7" cap="sq">
                      <a:solidFill>
                        <a:srgbClr val="A0A0A0"/>
                      </a:solidFill>
                      <a:miter lim="800000"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ts val="300"/>
                        </a:spcBef>
                        <a:buClr>
                          <a:srgbClr val="A04DA3"/>
                        </a:buClr>
                        <a:buFont typeface="Georgia" panose="02040502050405020303" pitchFamily="18" charset="0"/>
                        <a:buChar char="•"/>
                        <a:defRPr sz="280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300"/>
                        </a:spcBef>
                        <a:buClr>
                          <a:schemeClr val="accent2"/>
                        </a:buClr>
                        <a:buFont typeface="Georgia" panose="02040502050405020303" pitchFamily="18" charset="0"/>
                        <a:buChar char="▫"/>
                        <a:defRPr sz="2600">
                          <a:solidFill>
                            <a:schemeClr val="accent1"/>
                          </a:solidFill>
                          <a:latin typeface="Georgia" panose="020405020504050203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300"/>
                        </a:spcBef>
                        <a:buClr>
                          <a:schemeClr val="accent1"/>
                        </a:buClr>
                        <a:buFont typeface="Wingdings 2" panose="05020102010507070707" pitchFamily="18" charset="2"/>
                        <a:buChar char=""/>
                        <a:defRPr sz="2400">
                          <a:solidFill>
                            <a:schemeClr val="accent1"/>
                          </a:solidFill>
                          <a:latin typeface="Georgia" panose="020405020504050203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300"/>
                        </a:spcBef>
                        <a:buClr>
                          <a:schemeClr val="accent1"/>
                        </a:buClr>
                        <a:buFont typeface="Wingdings 2" panose="05020102010507070707" pitchFamily="18" charset="2"/>
                        <a:buChar char=""/>
                        <a:defRPr sz="2200">
                          <a:solidFill>
                            <a:schemeClr val="accent1"/>
                          </a:solidFill>
                          <a:latin typeface="Georgia" panose="020405020504050203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00"/>
                        </a:spcBef>
                        <a:buClr>
                          <a:srgbClr val="A04DA3"/>
                        </a:buClr>
                        <a:buFont typeface="Georgia" panose="02040502050405020303" pitchFamily="18" charset="0"/>
                        <a:buChar char="▫"/>
                        <a:defRPr sz="2000">
                          <a:solidFill>
                            <a:srgbClr val="A04DA3"/>
                          </a:solidFill>
                          <a:latin typeface="Georgia" panose="020405020504050203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A04DA3"/>
                        </a:buClr>
                        <a:buFont typeface="Georgia" panose="02040502050405020303" pitchFamily="18" charset="0"/>
                        <a:buChar char="▫"/>
                        <a:defRPr sz="2000">
                          <a:solidFill>
                            <a:srgbClr val="A04DA3"/>
                          </a:solidFill>
                          <a:latin typeface="Georgia" panose="020405020504050203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A04DA3"/>
                        </a:buClr>
                        <a:buFont typeface="Georgia" panose="02040502050405020303" pitchFamily="18" charset="0"/>
                        <a:buChar char="▫"/>
                        <a:defRPr sz="2000">
                          <a:solidFill>
                            <a:srgbClr val="A04DA3"/>
                          </a:solidFill>
                          <a:latin typeface="Georgia" panose="020405020504050203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A04DA3"/>
                        </a:buClr>
                        <a:buFont typeface="Georgia" panose="02040502050405020303" pitchFamily="18" charset="0"/>
                        <a:buChar char="▫"/>
                        <a:defRPr sz="2000">
                          <a:solidFill>
                            <a:srgbClr val="A04DA3"/>
                          </a:solidFill>
                          <a:latin typeface="Georgia" panose="020405020504050203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A04DA3"/>
                        </a:buClr>
                        <a:buFont typeface="Georgia" panose="02040502050405020303" pitchFamily="18" charset="0"/>
                        <a:buChar char="▫"/>
                        <a:defRPr sz="2000">
                          <a:solidFill>
                            <a:srgbClr val="A04DA3"/>
                          </a:solidFill>
                          <a:latin typeface="Georgia" panose="020405020504050203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400">
                        <a:latin typeface="Times New Roman" panose="02020603050405020304" pitchFamily="18" charset="0"/>
                        <a:ea typeface="隶书" panose="02010509060101010101" pitchFamily="49" charset="-122"/>
                      </a:endParaRPr>
                    </a:p>
                  </p:txBody>
                </p:sp>
              </p:grpSp>
            </p:grpSp>
            <p:sp>
              <p:nvSpPr>
                <p:cNvPr id="21514" name="Rectangle 10"/>
                <p:cNvSpPr>
                  <a:spLocks noChangeArrowheads="1"/>
                </p:cNvSpPr>
                <p:nvPr/>
              </p:nvSpPr>
              <p:spPr bwMode="auto">
                <a:xfrm>
                  <a:off x="-2" y="-2"/>
                  <a:ext cx="5764" cy="1857"/>
                </a:xfrm>
                <a:prstGeom prst="rect">
                  <a:avLst/>
                </a:prstGeom>
                <a:noFill/>
                <a:ln w="6350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ts val="300"/>
                    </a:spcBef>
                    <a:buClr>
                      <a:srgbClr val="A04DA3"/>
                    </a:buClr>
                    <a:buFont typeface="Georgia" panose="02040502050405020303" pitchFamily="18" charset="0"/>
                    <a:buChar char="•"/>
                    <a:defRPr sz="2800">
                      <a:solidFill>
                        <a:schemeClr val="tx1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ts val="300"/>
                    </a:spcBef>
                    <a:buClr>
                      <a:schemeClr val="accent2"/>
                    </a:buClr>
                    <a:buFont typeface="Georgia" panose="02040502050405020303" pitchFamily="18" charset="0"/>
                    <a:buChar char="▫"/>
                    <a:defRPr sz="2600">
                      <a:solidFill>
                        <a:schemeClr val="accent1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ts val="300"/>
                    </a:spcBef>
                    <a:buClr>
                      <a:schemeClr val="accent1"/>
                    </a:buClr>
                    <a:buFont typeface="Wingdings 2" panose="05020102010507070707" pitchFamily="18" charset="2"/>
                    <a:buChar char=""/>
                    <a:defRPr sz="2400">
                      <a:solidFill>
                        <a:schemeClr val="accent1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ts val="300"/>
                    </a:spcBef>
                    <a:buClr>
                      <a:schemeClr val="accent1"/>
                    </a:buClr>
                    <a:buFont typeface="Wingdings 2" panose="05020102010507070707" pitchFamily="18" charset="2"/>
                    <a:buChar char=""/>
                    <a:defRPr sz="2200">
                      <a:solidFill>
                        <a:schemeClr val="accent1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ts val="300"/>
                    </a:spcBef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ts val="300"/>
                    </a:spcBef>
                    <a:spcAft>
                      <a:spcPct val="0"/>
                    </a:spcAft>
                    <a:buClr>
                      <a:srgbClr val="A04DA3"/>
                    </a:buClr>
                    <a:buFont typeface="Georgia" panose="02040502050405020303" pitchFamily="18" charset="0"/>
                    <a:buChar char="▫"/>
                    <a:defRPr sz="2000">
                      <a:solidFill>
                        <a:srgbClr val="A04DA3"/>
                      </a:solidFill>
                      <a:latin typeface="Georgia" panose="02040502050405020303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  <a:ea typeface="隶书" panose="02010509060101010101" pitchFamily="49" charset="-122"/>
                  </a:endParaRPr>
                </a:p>
              </p:txBody>
            </p:sp>
          </p:grpSp>
          <p:pic>
            <p:nvPicPr>
              <p:cNvPr id="21512" name="Picture 5" descr="ioHierarchyTop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41" y="1240"/>
                <a:ext cx="3564" cy="18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" name="文本框 1"/>
            <p:cNvSpPr txBox="1"/>
            <p:nvPr/>
          </p:nvSpPr>
          <p:spPr>
            <a:xfrm>
              <a:off x="3719736" y="5949280"/>
              <a:ext cx="172819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800" dirty="0">
                  <a:latin typeface="+mn-ea"/>
                  <a:ea typeface="+mn-ea"/>
                </a:rPr>
                <a:t>面向字节的流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026270" y="5963942"/>
              <a:ext cx="202205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800">
                  <a:latin typeface="+mn-ea"/>
                  <a:ea typeface="+mn-ea"/>
                </a:rPr>
                <a:t>面向字符的流</a:t>
              </a:r>
            </a:p>
          </p:txBody>
        </p:sp>
        <p:sp>
          <p:nvSpPr>
            <p:cNvPr id="3" name="等腰三角形 2"/>
            <p:cNvSpPr/>
            <p:nvPr/>
          </p:nvSpPr>
          <p:spPr>
            <a:xfrm>
              <a:off x="3493079" y="4437112"/>
              <a:ext cx="216024" cy="216024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/>
            <p:cNvSpPr/>
            <p:nvPr/>
          </p:nvSpPr>
          <p:spPr>
            <a:xfrm>
              <a:off x="5254358" y="4432865"/>
              <a:ext cx="216024" cy="216024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/>
            <p:cNvSpPr/>
            <p:nvPr/>
          </p:nvSpPr>
          <p:spPr>
            <a:xfrm>
              <a:off x="7005004" y="4432865"/>
              <a:ext cx="216024" cy="216024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>
              <a:off x="8749663" y="4437112"/>
              <a:ext cx="216024" cy="216024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20"/>
            <p:cNvSpPr/>
            <p:nvPr/>
          </p:nvSpPr>
          <p:spPr>
            <a:xfrm>
              <a:off x="5973853" y="4071876"/>
              <a:ext cx="216024" cy="216024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TextBox 3">
            <a:extLst>
              <a:ext uri="{FF2B5EF4-FFF2-40B4-BE49-F238E27FC236}">
                <a16:creationId xmlns:a16="http://schemas.microsoft.com/office/drawing/2014/main" id="{2E7CB9AE-E3B4-651B-4BBE-FDC58218B0B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16835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5.3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输入输出流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377C927-2594-6264-9363-FCC40DBDDC2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432048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java.io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包的顶级层次结构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1034"/>
          <p:cNvSpPr>
            <a:spLocks noGrp="1" noChangeArrowheads="1"/>
          </p:cNvSpPr>
          <p:nvPr>
            <p:ph idx="4294967295"/>
          </p:nvPr>
        </p:nvSpPr>
        <p:spPr>
          <a:xfrm>
            <a:off x="609600" y="1700808"/>
            <a:ext cx="10972800" cy="4349080"/>
          </a:xfrm>
          <a:noFill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500" b="1" dirty="0"/>
              <a:t>针对字符数据的特点进行过优化，提供一些面向字符的有用特性。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500" b="1" dirty="0"/>
              <a:t>源或目标通常是文本文件；</a:t>
            </a:r>
            <a:endParaRPr lang="en-US" altLang="zh-CN" sz="25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GB" sz="2500" b="1" dirty="0"/>
              <a:t>实现内部格式和文本文件中的外部格式之间转换</a:t>
            </a:r>
            <a:endParaRPr lang="en-GB" altLang="zh-CN" sz="2500" b="1" dirty="0"/>
          </a:p>
          <a:p>
            <a:pPr lvl="1"/>
            <a:r>
              <a:rPr lang="zh-CN" altLang="en-GB" sz="2500" b="1" dirty="0"/>
              <a:t>内部格式：</a:t>
            </a:r>
            <a:r>
              <a:rPr lang="en-GB" altLang="zh-CN" sz="2500" b="1" dirty="0"/>
              <a:t>16-bit char </a:t>
            </a:r>
            <a:r>
              <a:rPr lang="zh-CN" altLang="en-GB" sz="2500" b="1" dirty="0"/>
              <a:t>数据类型 </a:t>
            </a:r>
          </a:p>
          <a:p>
            <a:pPr lvl="1"/>
            <a:r>
              <a:rPr lang="zh-CN" altLang="en-GB" sz="2500" b="1" dirty="0"/>
              <a:t>外部格式：</a:t>
            </a:r>
          </a:p>
          <a:p>
            <a:pPr lvl="2"/>
            <a:r>
              <a:rPr lang="en-GB" altLang="zh-CN" sz="2500" b="1" dirty="0"/>
              <a:t>UTF(Universal character set Transformation Format)：</a:t>
            </a:r>
            <a:r>
              <a:rPr lang="zh-CN" altLang="en-GB" sz="2500" b="1" dirty="0"/>
              <a:t>很多人称之为</a:t>
            </a:r>
            <a:r>
              <a:rPr lang="en-GB" altLang="zh-CN" sz="2500" b="1" dirty="0"/>
              <a:t>"Universal Text Format"</a:t>
            </a:r>
          </a:p>
          <a:p>
            <a:pPr lvl="2"/>
            <a:r>
              <a:rPr lang="zh-CN" altLang="en-GB" sz="2500" b="1" dirty="0"/>
              <a:t>包括</a:t>
            </a:r>
            <a:r>
              <a:rPr lang="en-GB" altLang="zh-CN" sz="2500" b="1" dirty="0"/>
              <a:t>ASCII</a:t>
            </a:r>
            <a:r>
              <a:rPr lang="zh-CN" altLang="en-GB" sz="2500" b="1" dirty="0"/>
              <a:t> 码及非</a:t>
            </a:r>
            <a:r>
              <a:rPr lang="en-GB" altLang="zh-CN" sz="2500" b="1" dirty="0"/>
              <a:t>ASCII</a:t>
            </a:r>
            <a:r>
              <a:rPr lang="zh-CN" altLang="en-GB" sz="2500" b="1" dirty="0"/>
              <a:t> 码字符，比如： 斯拉夫</a:t>
            </a:r>
            <a:r>
              <a:rPr lang="en-GB" altLang="zh-CN" sz="2500" b="1" dirty="0"/>
              <a:t>(Cyrillic)</a:t>
            </a:r>
            <a:r>
              <a:rPr lang="zh-CN" altLang="en-GB" sz="2500" b="1" dirty="0"/>
              <a:t>字符</a:t>
            </a:r>
            <a:r>
              <a:rPr lang="en-GB" altLang="zh-CN" sz="2500" b="1" dirty="0"/>
              <a:t>, </a:t>
            </a:r>
            <a:r>
              <a:rPr lang="zh-CN" altLang="en-GB" sz="2500" b="1" dirty="0"/>
              <a:t>希腊字符</a:t>
            </a:r>
            <a:r>
              <a:rPr lang="en-GB" altLang="zh-CN" sz="2500" b="1" dirty="0"/>
              <a:t>,</a:t>
            </a:r>
            <a:r>
              <a:rPr lang="zh-CN" altLang="en-GB" sz="2500" b="1" dirty="0"/>
              <a:t>亚洲字符等</a:t>
            </a:r>
            <a:endParaRPr lang="en-GB" altLang="zh-CN" sz="2500" b="1" dirty="0"/>
          </a:p>
          <a:p>
            <a:pPr eaLnBrk="1" hangingPunct="1">
              <a:lnSpc>
                <a:spcPct val="120000"/>
              </a:lnSpc>
            </a:pPr>
            <a:endParaRPr lang="zh-CN" alt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E3F779A-2396-7510-8062-04BDAB37FB9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16835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5.3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输入输出流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E10750C-36E7-C0D9-F108-DB7A7250CD2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252028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面向字符的流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127448" y="1700808"/>
            <a:ext cx="9833544" cy="3962400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Autofit/>
          </a:bodyPr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500" b="1" dirty="0"/>
              <a:t>java.io</a:t>
            </a:r>
            <a:r>
              <a:rPr lang="zh-CN" altLang="en-US" sz="2500" b="1" dirty="0"/>
              <a:t>包中所有字符流的抽象超类。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500" b="1" dirty="0"/>
              <a:t>Reader</a:t>
            </a:r>
            <a:r>
              <a:rPr lang="zh-CN" altLang="en-US" sz="2500" b="1" dirty="0"/>
              <a:t>提供了输入字符的</a:t>
            </a:r>
            <a:r>
              <a:rPr lang="en-US" altLang="zh-CN" sz="2500" b="1" dirty="0"/>
              <a:t>API</a:t>
            </a:r>
            <a:r>
              <a:rPr lang="zh-CN" altLang="en-US" sz="2500" b="1" dirty="0"/>
              <a:t>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500" b="1" dirty="0"/>
              <a:t>Writer</a:t>
            </a:r>
            <a:r>
              <a:rPr lang="zh-CN" altLang="en-US" sz="2500" b="1" dirty="0"/>
              <a:t>提供了输出字符的</a:t>
            </a:r>
            <a:r>
              <a:rPr lang="en-US" altLang="zh-CN" sz="2500" b="1" dirty="0"/>
              <a:t>API</a:t>
            </a:r>
            <a:r>
              <a:rPr lang="zh-CN" altLang="en-US" sz="2500" b="1" dirty="0"/>
              <a:t>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2500" b="1" dirty="0"/>
              <a:t>它们的子类又可分为两大类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500" b="1" dirty="0"/>
              <a:t>节点流：从数据源读入数据或往目的地写出数据；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500" b="1" dirty="0"/>
              <a:t>处理流：对数据执行某种处理。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2500" b="1" dirty="0"/>
              <a:t>多数程序使用这两个抽象类的一系列子类来读入/写出文本信息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500" b="1" dirty="0"/>
              <a:t>例如</a:t>
            </a:r>
            <a:r>
              <a:rPr lang="en-US" altLang="zh-CN" sz="2500" b="1" dirty="0" err="1">
                <a:solidFill>
                  <a:schemeClr val="tx2"/>
                </a:solidFill>
              </a:rPr>
              <a:t>FileReader</a:t>
            </a:r>
            <a:r>
              <a:rPr lang="en-US" altLang="zh-CN" sz="2500" b="1" dirty="0">
                <a:solidFill>
                  <a:srgbClr val="99CCFF"/>
                </a:solidFill>
              </a:rPr>
              <a:t>/</a:t>
            </a:r>
            <a:r>
              <a:rPr lang="en-US" altLang="zh-CN" sz="2500" b="1" dirty="0" err="1">
                <a:solidFill>
                  <a:schemeClr val="tx2"/>
                </a:solidFill>
              </a:rPr>
              <a:t>FileWriter</a:t>
            </a:r>
            <a:r>
              <a:rPr lang="zh-CN" altLang="en-US" sz="2500" b="1" dirty="0"/>
              <a:t>用来读/写文本文件。</a:t>
            </a:r>
          </a:p>
        </p:txBody>
      </p:sp>
      <p:sp>
        <p:nvSpPr>
          <p:cNvPr id="27651" name="Rectangle 4"/>
          <p:cNvSpPr>
            <a:spLocks noChangeArrowheads="1"/>
          </p:cNvSpPr>
          <p:nvPr/>
        </p:nvSpPr>
        <p:spPr bwMode="auto">
          <a:xfrm>
            <a:off x="7924800" y="5562600"/>
            <a:ext cx="1295400" cy="990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015F7B8-F485-33C4-87A4-C15F8E9B59D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16835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5.3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输入输出流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25947DC-0C59-764C-125D-56C3A19ADA5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6696744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面向字符的抽象流类</a:t>
            </a: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——Reader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和</a:t>
            </a: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Writer</a:t>
            </a:r>
            <a:endParaRPr lang="zh-CN" altLang="en-US" sz="28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思源黑体 CN Heavy" panose="020B0A00000000000000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12"/>
          <p:cNvSpPr>
            <a:spLocks noChangeArrowheads="1"/>
          </p:cNvSpPr>
          <p:nvPr/>
        </p:nvSpPr>
        <p:spPr bwMode="auto">
          <a:xfrm>
            <a:off x="8153400" y="4876800"/>
            <a:ext cx="2514600" cy="1676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1176000" y="1588"/>
            <a:ext cx="1016000" cy="366712"/>
          </a:xfrm>
        </p:spPr>
        <p:txBody>
          <a:bodyPr/>
          <a:lstStyle/>
          <a:p>
            <a:pPr>
              <a:defRPr/>
            </a:pPr>
            <a:fld id="{B3227BBE-B4C4-4142-B028-1E999C672AE7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  <p:sp>
        <p:nvSpPr>
          <p:cNvPr id="29701" name="Text Box 13"/>
          <p:cNvSpPr txBox="1">
            <a:spLocks noChangeArrowheads="1"/>
          </p:cNvSpPr>
          <p:nvPr/>
        </p:nvSpPr>
        <p:spPr bwMode="auto">
          <a:xfrm>
            <a:off x="3359150" y="6237288"/>
            <a:ext cx="6408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隶书" panose="02010509060101010101" pitchFamily="49" charset="-122"/>
              </a:rPr>
              <a:t>阴影部分为节点流，其他为处理流</a:t>
            </a:r>
          </a:p>
        </p:txBody>
      </p:sp>
      <p:pic>
        <p:nvPicPr>
          <p:cNvPr id="29703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988" y="1698626"/>
            <a:ext cx="6551612" cy="446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009C4B8C-11FF-0AD4-54C2-96E193FCAF6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16835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5.3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输入输出流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9D11872-6E61-82EF-4F70-FFA8CDF4374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252028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面向字符的流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11200" y="1772816"/>
            <a:ext cx="10972800" cy="2015802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sz="2700" b="1" dirty="0"/>
              <a:t>数据源或目标中含有非字符数据，必须用字节流来输入/输出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sz="2700" b="1" dirty="0"/>
              <a:t>通常被用来读写诸如图片、声音之类的二进制数据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sz="2700" b="1" dirty="0"/>
              <a:t>绝大多数数据是被存储为二进制文件的，通常二进制文件要比含有相同数据量的文本文件小得多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1176000" y="1588"/>
            <a:ext cx="1016000" cy="366712"/>
          </a:xfrm>
        </p:spPr>
        <p:txBody>
          <a:bodyPr/>
          <a:lstStyle/>
          <a:p>
            <a:pPr>
              <a:defRPr/>
            </a:pPr>
            <a:fld id="{B3227BBE-B4C4-4142-B028-1E999C672AE7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E39C95E-EE09-EAA8-D555-9B6FEE6AC2A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16835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5.3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输入输出流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123739-EBF9-C558-0A80-E7AE74B5DF2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252028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面向字节的流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55440" y="1772816"/>
            <a:ext cx="10297144" cy="2574122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Autofit/>
          </a:bodyPr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700" b="1" dirty="0"/>
              <a:t>用来处理字节流的抽象基类，程序使用这两个类的子类来读写字节信息。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700" b="1" dirty="0"/>
              <a:t>分为两部分：</a:t>
            </a:r>
          </a:p>
          <a:p>
            <a:pPr marL="914400" lvl="1" indent="-457200" eaLnBrk="1" hangingPunct="1">
              <a:buFont typeface="+mj-ea"/>
              <a:buAutoNum type="circleNumDbPlain"/>
            </a:pPr>
            <a:r>
              <a:rPr lang="zh-CN" altLang="en-US" sz="2700" b="1" dirty="0"/>
              <a:t>节点流</a:t>
            </a:r>
          </a:p>
          <a:p>
            <a:pPr marL="914400" lvl="1" indent="-457200" eaLnBrk="1" hangingPunct="1">
              <a:buFont typeface="+mj-ea"/>
              <a:buAutoNum type="circleNumDbPlain"/>
            </a:pPr>
            <a:r>
              <a:rPr lang="zh-CN" altLang="en-US" sz="2700" b="1" dirty="0"/>
              <a:t>处理流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1176000" y="1588"/>
            <a:ext cx="1016000" cy="366712"/>
          </a:xfrm>
        </p:spPr>
        <p:txBody>
          <a:bodyPr/>
          <a:lstStyle/>
          <a:p>
            <a:pPr>
              <a:defRPr/>
            </a:pPr>
            <a:fld id="{B3227BBE-B4C4-4142-B028-1E999C672AE7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6DF1D3E-CD35-DDDB-B69A-FFB659A2D45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16835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5.3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输入输出流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8490F8-514B-A9F0-FCA9-A0187082887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856895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面向字节的抽象流类</a:t>
            </a: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——</a:t>
            </a:r>
            <a:r>
              <a:rPr lang="en-US" altLang="zh-CN" sz="2800" dirty="0" err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InputStream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和</a:t>
            </a:r>
            <a:r>
              <a:rPr lang="en-US" altLang="zh-CN" sz="2800" dirty="0" err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OutputStream</a:t>
            </a: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 </a:t>
            </a:r>
            <a:endParaRPr lang="zh-CN" altLang="en-US" sz="28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思源黑体 CN Heavy" panose="020B0A00000000000000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64E71-AE8A-9A97-C4C9-118591971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2144A92-5688-D6C3-FEAF-4ECA782AE53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76000" y="1588"/>
            <a:ext cx="1016000" cy="366712"/>
          </a:xfrm>
        </p:spPr>
        <p:txBody>
          <a:bodyPr/>
          <a:lstStyle/>
          <a:p>
            <a:pPr>
              <a:defRPr/>
            </a:pPr>
            <a:fld id="{B3227BBE-B4C4-4142-B028-1E999C672AE7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E15AE200-FDE5-2EE3-0B30-98CA8EB1E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2" y="1700808"/>
            <a:ext cx="6940550" cy="433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1034">
            <a:extLst>
              <a:ext uri="{FF2B5EF4-FFF2-40B4-BE49-F238E27FC236}">
                <a16:creationId xmlns:a16="http://schemas.microsoft.com/office/drawing/2014/main" id="{C84C860E-A484-689A-D11C-B67E15825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664" y="6165304"/>
            <a:ext cx="6408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隶书" panose="02010509060101010101" pitchFamily="49" charset="-122"/>
              </a:rPr>
              <a:t>阴影部分为节点流，其他为处理流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A7E28EE8-92F6-C27B-1EB8-9EF1C7E653C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16835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5.3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输入输出流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893737-B760-4CD9-E77A-D2E52C4697C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252028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面向字节的流</a:t>
            </a:r>
          </a:p>
        </p:txBody>
      </p:sp>
    </p:spTree>
    <p:extLst>
      <p:ext uri="{BB962C8B-B14F-4D97-AF65-F5344CB8AC3E}">
        <p14:creationId xmlns:p14="http://schemas.microsoft.com/office/powerpoint/2010/main" val="28236331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67408" y="1878081"/>
            <a:ext cx="10972800" cy="3456384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 eaLnBrk="1" hangingPunct="1">
              <a:buNone/>
            </a:pPr>
            <a:r>
              <a:rPr lang="en-US" altLang="zh-CN" sz="2500" dirty="0"/>
              <a:t>System</a:t>
            </a:r>
            <a:r>
              <a:rPr lang="zh-CN" altLang="en-US" sz="2500" dirty="0"/>
              <a:t>类的静态成员变量包括：</a:t>
            </a:r>
          </a:p>
          <a:p>
            <a:pPr lvl="1" eaLnBrk="1" hangingPunct="1"/>
            <a:r>
              <a:rPr lang="en-US" altLang="zh-CN" sz="2500" dirty="0">
                <a:solidFill>
                  <a:schemeClr val="tx2"/>
                </a:solidFill>
              </a:rPr>
              <a:t>System.in</a:t>
            </a:r>
            <a:r>
              <a:rPr lang="en-US" altLang="zh-CN" sz="2500" dirty="0"/>
              <a:t>： </a:t>
            </a:r>
            <a:r>
              <a:rPr lang="en-US" altLang="zh-CN" sz="2500" dirty="0" err="1"/>
              <a:t>InputStream</a:t>
            </a:r>
            <a:r>
              <a:rPr lang="zh-CN" altLang="en-US" sz="2500" dirty="0"/>
              <a:t>类型的，代表标准输入流，默认状态对应于键盘输入。</a:t>
            </a:r>
            <a:endParaRPr lang="en-US" altLang="zh-CN" sz="2500" dirty="0"/>
          </a:p>
          <a:p>
            <a:pPr lvl="1" eaLnBrk="1" hangingPunct="1"/>
            <a:r>
              <a:rPr lang="en-US" altLang="zh-CN" sz="2500" dirty="0" err="1">
                <a:solidFill>
                  <a:schemeClr val="tx2"/>
                </a:solidFill>
              </a:rPr>
              <a:t>System.out</a:t>
            </a:r>
            <a:r>
              <a:rPr lang="en-US" altLang="zh-CN" sz="2500" dirty="0" err="1"/>
              <a:t>：PrintStream</a:t>
            </a:r>
            <a:r>
              <a:rPr lang="zh-CN" altLang="en-US" sz="2500" dirty="0"/>
              <a:t>类型的，代表标准输出流，默认状态对应于显示器输出。</a:t>
            </a:r>
            <a:endParaRPr lang="en-US" altLang="zh-CN" sz="2500" dirty="0"/>
          </a:p>
          <a:p>
            <a:pPr lvl="1" eaLnBrk="1" hangingPunct="1"/>
            <a:r>
              <a:rPr lang="en-US" altLang="zh-CN" sz="2500" dirty="0" err="1">
                <a:solidFill>
                  <a:schemeClr val="tx2"/>
                </a:solidFill>
              </a:rPr>
              <a:t>System.err</a:t>
            </a:r>
            <a:r>
              <a:rPr lang="en-US" altLang="zh-CN" sz="2500" dirty="0" err="1"/>
              <a:t>：PrintStream</a:t>
            </a:r>
            <a:r>
              <a:rPr lang="zh-CN" altLang="en-US" sz="2500" dirty="0"/>
              <a:t>类型的，代表标准错误信息输出流，默认状态对应于显示器输出。</a:t>
            </a:r>
            <a:endParaRPr lang="en-US" altLang="zh-CN" sz="25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45A6952-95E8-6045-3635-1D3EB09C503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16835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5.3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输入输出流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FAE1B97-3367-4E7E-EC14-B7A7B47AA42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3456384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标准输入输出流对象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75420" y="1734102"/>
            <a:ext cx="8712968" cy="4176462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import </a:t>
            </a:r>
            <a:r>
              <a:rPr lang="en-US" altLang="zh-CN" sz="2000" dirty="0" err="1"/>
              <a:t>java.io</a:t>
            </a:r>
            <a:r>
              <a:rPr lang="en-US" altLang="zh-CN" sz="2000" dirty="0"/>
              <a:t>.*;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public class Echo {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public static void main(String[] 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) throws </a:t>
            </a:r>
            <a:r>
              <a:rPr lang="en-US" altLang="zh-CN" sz="2000" dirty="0" err="1"/>
              <a:t>IOException</a:t>
            </a:r>
            <a:r>
              <a:rPr lang="en-US" altLang="zh-CN" sz="2000" dirty="0"/>
              <a:t> {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    </a:t>
            </a:r>
            <a:r>
              <a:rPr lang="en-US" altLang="zh-CN" sz="2000" dirty="0" err="1"/>
              <a:t>BufferedReader</a:t>
            </a:r>
            <a:r>
              <a:rPr lang="en-US" altLang="zh-CN" sz="2000" dirty="0"/>
              <a:t> in = new </a:t>
            </a:r>
            <a:r>
              <a:rPr lang="en-US" altLang="zh-CN" sz="2000" dirty="0" err="1"/>
              <a:t>BufferedReader</a:t>
            </a:r>
            <a:r>
              <a:rPr lang="en-US" altLang="zh-CN" sz="2000" dirty="0"/>
              <a:t>(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            new </a:t>
            </a:r>
            <a:r>
              <a:rPr lang="en-US" altLang="zh-CN" sz="2000" dirty="0" err="1"/>
              <a:t>InputStreamReader</a:t>
            </a:r>
            <a:r>
              <a:rPr lang="en-US" altLang="zh-CN" sz="2000" dirty="0"/>
              <a:t>(</a:t>
            </a:r>
            <a:r>
              <a:rPr lang="en-US" altLang="zh-CN" sz="2000" dirty="0" err="1"/>
              <a:t>System.in</a:t>
            </a:r>
            <a:r>
              <a:rPr lang="en-US" altLang="zh-CN" sz="2000" dirty="0"/>
              <a:t>));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    String s;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    while ((s = </a:t>
            </a:r>
            <a:r>
              <a:rPr lang="en-US" altLang="zh-CN" sz="2000" dirty="0" err="1"/>
              <a:t>in.readLine</a:t>
            </a:r>
            <a:r>
              <a:rPr lang="en-US" altLang="zh-CN" sz="2000" dirty="0"/>
              <a:t>()).length() != 0) {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        </a:t>
            </a:r>
            <a:r>
              <a:rPr lang="en-US" altLang="zh-CN" sz="2000" dirty="0" err="1"/>
              <a:t>System.out.println</a:t>
            </a:r>
            <a:r>
              <a:rPr lang="en-US" altLang="zh-CN" sz="2000" dirty="0"/>
              <a:t>(s);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    }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}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}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EF6FF95-6478-4E43-94B9-30D830978A1E}"/>
              </a:ext>
            </a:extLst>
          </p:cNvPr>
          <p:cNvSpPr txBox="1"/>
          <p:nvPr/>
        </p:nvSpPr>
        <p:spPr>
          <a:xfrm>
            <a:off x="2913000" y="5319929"/>
            <a:ext cx="46378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输入</a:t>
            </a:r>
            <a:r>
              <a:rPr kumimoji="1" lang="en-US" altLang="zh-CN" dirty="0"/>
              <a:t>Hello</a:t>
            </a:r>
            <a:r>
              <a:rPr kumimoji="1" lang="zh-CN" altLang="en-US" dirty="0"/>
              <a:t> 后回车，输出结果为：</a:t>
            </a:r>
            <a:endParaRPr kumimoji="1" lang="en-US" altLang="zh-CN" dirty="0"/>
          </a:p>
          <a:p>
            <a:r>
              <a:rPr kumimoji="1" lang="en-US" altLang="zh-CN" dirty="0"/>
              <a:t>Hello</a:t>
            </a:r>
          </a:p>
          <a:p>
            <a:r>
              <a:rPr lang="en-US" altLang="zh-CN" dirty="0"/>
              <a:t>Hello</a:t>
            </a:r>
            <a:endParaRPr kumimoji="1" lang="zh-CN" alt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CA6EDEF-4A4D-6E71-614E-6C530D9F61E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16835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5.3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输入输出流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6BAB463-9CBC-9942-3B12-4C10288F9EA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3456384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标准输入输出流对象</a:t>
            </a:r>
          </a:p>
        </p:txBody>
      </p:sp>
    </p:spTree>
    <p:extLst>
      <p:ext uri="{BB962C8B-B14F-4D97-AF65-F5344CB8AC3E}">
        <p14:creationId xmlns:p14="http://schemas.microsoft.com/office/powerpoint/2010/main" val="35240254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88504" y="1700808"/>
            <a:ext cx="10814992" cy="4824536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import </a:t>
            </a:r>
            <a:r>
              <a:rPr lang="en-US" altLang="zh-CN" sz="2000" dirty="0" err="1"/>
              <a:t>java.io</a:t>
            </a:r>
            <a:r>
              <a:rPr lang="en-US" altLang="zh-CN" sz="2000" dirty="0"/>
              <a:t>.*;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public class FinallyTester1 {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public static void main(String[] 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) throws </a:t>
            </a:r>
            <a:r>
              <a:rPr lang="en-US" altLang="zh-CN" sz="2000" dirty="0" err="1"/>
              <a:t>IOException</a:t>
            </a:r>
            <a:r>
              <a:rPr lang="en-US" altLang="zh-CN" sz="2000" dirty="0"/>
              <a:t> {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    </a:t>
            </a:r>
            <a:r>
              <a:rPr lang="en-US" altLang="zh-CN" sz="2000" dirty="0" err="1"/>
              <a:t>BufferedReader</a:t>
            </a:r>
            <a:r>
              <a:rPr lang="en-US" altLang="zh-CN" sz="2000" dirty="0"/>
              <a:t> in = new </a:t>
            </a:r>
            <a:r>
              <a:rPr lang="en-US" altLang="zh-CN" sz="2000" dirty="0" err="1"/>
              <a:t>BufferedReader</a:t>
            </a:r>
            <a:r>
              <a:rPr lang="en-US" altLang="zh-CN" sz="2000" dirty="0"/>
              <a:t>(new </a:t>
            </a:r>
            <a:r>
              <a:rPr lang="en-US" altLang="zh-CN" sz="2000" dirty="0" err="1"/>
              <a:t>InputStreamReader</a:t>
            </a:r>
            <a:r>
              <a:rPr lang="en-US" altLang="zh-CN" sz="2000" dirty="0"/>
              <a:t>(</a:t>
            </a:r>
            <a:r>
              <a:rPr lang="en-US" altLang="zh-CN" sz="2000" dirty="0" err="1"/>
              <a:t>System.in</a:t>
            </a:r>
            <a:r>
              <a:rPr lang="en-US" altLang="zh-CN" sz="2000" dirty="0"/>
              <a:t>));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    String s;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    try {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        </a:t>
            </a:r>
            <a:r>
              <a:rPr lang="en-US" altLang="zh-CN" sz="2000" dirty="0" err="1"/>
              <a:t>BufferedWriter</a:t>
            </a:r>
            <a:r>
              <a:rPr lang="en-US" altLang="zh-CN" sz="2000" dirty="0"/>
              <a:t> out = new </a:t>
            </a:r>
            <a:r>
              <a:rPr lang="en-US" altLang="zh-CN" sz="2000" dirty="0" err="1"/>
              <a:t>BufferedWriter</a:t>
            </a:r>
            <a:r>
              <a:rPr lang="en-US" altLang="zh-CN" sz="2000" dirty="0"/>
              <a:t>(new </a:t>
            </a:r>
            <a:r>
              <a:rPr lang="en-US" altLang="zh-CN" sz="2000" dirty="0" err="1"/>
              <a:t>OutputStreamWriter</a:t>
            </a:r>
            <a:r>
              <a:rPr lang="en-US" altLang="zh-CN" sz="2000" dirty="0"/>
              <a:t>(</a:t>
            </a:r>
            <a:r>
              <a:rPr lang="en-US" altLang="zh-CN" sz="2000" dirty="0" err="1"/>
              <a:t>System.out</a:t>
            </a:r>
            <a:r>
              <a:rPr lang="en-US" altLang="zh-CN" sz="2000" dirty="0"/>
              <a:t>));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        try {while ((s = </a:t>
            </a:r>
            <a:r>
              <a:rPr lang="en-US" altLang="zh-CN" sz="2000" dirty="0" err="1"/>
              <a:t>in.readLine</a:t>
            </a:r>
            <a:r>
              <a:rPr lang="en-US" altLang="zh-CN" sz="2000" dirty="0"/>
              <a:t>()).length() != 0) {</a:t>
            </a:r>
            <a:r>
              <a:rPr lang="zh-CN" altLang="en-US" sz="2000" dirty="0"/>
              <a:t> </a:t>
            </a:r>
            <a:r>
              <a:rPr lang="en-US" altLang="zh-CN" sz="2000" dirty="0" err="1"/>
              <a:t>out.write</a:t>
            </a:r>
            <a:r>
              <a:rPr lang="en-US" altLang="zh-CN" sz="2000" dirty="0"/>
              <a:t>(s); }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        } 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        catch (</a:t>
            </a:r>
            <a:r>
              <a:rPr lang="en-US" altLang="zh-CN" sz="2000" dirty="0" err="1"/>
              <a:t>IOException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ioe</a:t>
            </a:r>
            <a:r>
              <a:rPr lang="en-US" altLang="zh-CN" sz="2000" dirty="0"/>
              <a:t>) {</a:t>
            </a:r>
            <a:r>
              <a:rPr lang="zh-CN" altLang="en-US" sz="2000" dirty="0"/>
              <a:t> </a:t>
            </a:r>
            <a:r>
              <a:rPr lang="en-US" altLang="zh-CN" sz="2000" dirty="0" err="1"/>
              <a:t>ioe.printStackTrace</a:t>
            </a:r>
            <a:r>
              <a:rPr lang="en-US" altLang="zh-CN" sz="2000" dirty="0"/>
              <a:t>(); } 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        finally {</a:t>
            </a:r>
            <a:r>
              <a:rPr lang="zh-CN" altLang="en-US" sz="2000" dirty="0"/>
              <a:t> </a:t>
            </a:r>
            <a:r>
              <a:rPr lang="en-US" altLang="zh-CN" sz="2000" dirty="0" err="1"/>
              <a:t>out.close</a:t>
            </a:r>
            <a:r>
              <a:rPr lang="en-US" altLang="zh-CN" sz="2000" dirty="0"/>
              <a:t>(); }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    } 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    catch (</a:t>
            </a:r>
            <a:r>
              <a:rPr lang="en-US" altLang="zh-CN" sz="2000" dirty="0" err="1"/>
              <a:t>IOException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ioe</a:t>
            </a:r>
            <a:r>
              <a:rPr lang="en-US" altLang="zh-CN" sz="2000" dirty="0"/>
              <a:t>) {</a:t>
            </a:r>
            <a:r>
              <a:rPr lang="zh-CN" altLang="en-US" sz="2000" dirty="0"/>
              <a:t> </a:t>
            </a:r>
            <a:r>
              <a:rPr lang="en-US" altLang="zh-CN" sz="2000" dirty="0" err="1"/>
              <a:t>ioe.printStackTrace</a:t>
            </a:r>
            <a:r>
              <a:rPr lang="en-US" altLang="zh-CN" sz="2000" dirty="0"/>
              <a:t>(); } 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    finally {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        </a:t>
            </a:r>
            <a:r>
              <a:rPr lang="en-US" altLang="zh-CN" sz="2000" dirty="0" err="1"/>
              <a:t>in.close</a:t>
            </a:r>
            <a:r>
              <a:rPr lang="en-US" altLang="zh-CN" sz="2000" dirty="0"/>
              <a:t>();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    }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}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}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3C278908-7895-8DC9-D328-02A9A50199E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16835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5.3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输入输出流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A4EF8AA-048F-0D2E-9C19-A92081D4B11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3456384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标准输入输出流对象</a:t>
            </a:r>
          </a:p>
        </p:txBody>
      </p:sp>
    </p:spTree>
    <p:extLst>
      <p:ext uri="{BB962C8B-B14F-4D97-AF65-F5344CB8AC3E}">
        <p14:creationId xmlns:p14="http://schemas.microsoft.com/office/powerpoint/2010/main" val="35064230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23392" y="1556792"/>
            <a:ext cx="11089232" cy="5040560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import </a:t>
            </a:r>
            <a:r>
              <a:rPr lang="en-US" altLang="zh-CN" sz="2000" dirty="0" err="1"/>
              <a:t>java.io</a:t>
            </a:r>
            <a:r>
              <a:rPr lang="en-US" altLang="zh-CN" sz="2000" dirty="0"/>
              <a:t>.*;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public class TryWithResourcesTester1 {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public static void main(String[] 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) {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    String s;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    try (</a:t>
            </a:r>
            <a:r>
              <a:rPr lang="en-US" altLang="zh-CN" sz="2000" dirty="0" err="1"/>
              <a:t>BufferedReader</a:t>
            </a:r>
            <a:r>
              <a:rPr lang="en-US" altLang="zh-CN" sz="2000" dirty="0"/>
              <a:t> in = new </a:t>
            </a:r>
            <a:r>
              <a:rPr lang="en-US" altLang="zh-CN" sz="2000" dirty="0" err="1"/>
              <a:t>BufferedReader</a:t>
            </a:r>
            <a:r>
              <a:rPr lang="en-US" altLang="zh-CN" sz="2000" dirty="0"/>
              <a:t>(new </a:t>
            </a:r>
            <a:r>
              <a:rPr lang="en-US" altLang="zh-CN" sz="2000" dirty="0" err="1"/>
              <a:t>InputStreamReader</a:t>
            </a:r>
            <a:r>
              <a:rPr lang="en-US" altLang="zh-CN" sz="2000" dirty="0"/>
              <a:t>(</a:t>
            </a:r>
            <a:r>
              <a:rPr lang="en-US" altLang="zh-CN" sz="2000" dirty="0" err="1"/>
              <a:t>System.in</a:t>
            </a:r>
            <a:r>
              <a:rPr lang="en-US" altLang="zh-CN" sz="2000" dirty="0"/>
              <a:t>));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         </a:t>
            </a:r>
            <a:r>
              <a:rPr lang="en-US" altLang="zh-CN" sz="2000" dirty="0" err="1"/>
              <a:t>BufferedWriter</a:t>
            </a:r>
            <a:r>
              <a:rPr lang="en-US" altLang="zh-CN" sz="2000" dirty="0"/>
              <a:t> out = new </a:t>
            </a:r>
            <a:r>
              <a:rPr lang="en-US" altLang="zh-CN" sz="2000" dirty="0" err="1"/>
              <a:t>BufferedWriter</a:t>
            </a:r>
            <a:r>
              <a:rPr lang="en-US" altLang="zh-CN" sz="2000" dirty="0"/>
              <a:t>(new </a:t>
            </a:r>
            <a:r>
              <a:rPr lang="en-US" altLang="zh-CN" sz="2000" dirty="0" err="1"/>
              <a:t>OutputStreamWriter</a:t>
            </a:r>
            <a:r>
              <a:rPr lang="en-US" altLang="zh-CN" sz="2000" dirty="0"/>
              <a:t>(</a:t>
            </a:r>
            <a:r>
              <a:rPr lang="en-US" altLang="zh-CN" sz="2000" dirty="0" err="1"/>
              <a:t>System.out</a:t>
            </a:r>
            <a:r>
              <a:rPr lang="en-US" altLang="zh-CN" sz="2000" dirty="0"/>
              <a:t>));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    ) {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        while ((s = </a:t>
            </a:r>
            <a:r>
              <a:rPr lang="en-US" altLang="zh-CN" sz="2000" dirty="0" err="1"/>
              <a:t>in.readLine</a:t>
            </a:r>
            <a:r>
              <a:rPr lang="en-US" altLang="zh-CN" sz="2000" dirty="0"/>
              <a:t>()).length() != 0) {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            </a:t>
            </a:r>
            <a:r>
              <a:rPr lang="en-US" altLang="zh-CN" sz="2000" dirty="0" err="1"/>
              <a:t>out.write</a:t>
            </a:r>
            <a:r>
              <a:rPr lang="en-US" altLang="zh-CN" sz="2000" dirty="0"/>
              <a:t>(s);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        }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    } catch (</a:t>
            </a:r>
            <a:r>
              <a:rPr lang="en-US" altLang="zh-CN" sz="2000" dirty="0" err="1"/>
              <a:t>IOException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ioe</a:t>
            </a:r>
            <a:r>
              <a:rPr lang="en-US" altLang="zh-CN" sz="2000" dirty="0"/>
              <a:t>) {</a:t>
            </a:r>
            <a:r>
              <a:rPr lang="zh-CN" altLang="en-US" sz="2000" dirty="0"/>
              <a:t> </a:t>
            </a:r>
            <a:r>
              <a:rPr lang="en-US" altLang="zh-CN" sz="2000" dirty="0" err="1"/>
              <a:t>ioe.printStackTrace</a:t>
            </a:r>
            <a:r>
              <a:rPr lang="en-US" altLang="zh-CN" sz="2000" dirty="0"/>
              <a:t>();</a:t>
            </a:r>
            <a:r>
              <a:rPr lang="zh-CN" altLang="en-US" sz="2000" dirty="0"/>
              <a:t> </a:t>
            </a:r>
            <a:r>
              <a:rPr lang="en-US" altLang="zh-CN" sz="2000" dirty="0"/>
              <a:t>}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}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}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3AB58B4D-EECF-9ABB-9F9A-78B249FBF58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16835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5.3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输入输出流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3693DA-0763-F8FF-1A7A-DC71251D185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3456384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标准输入输出流对象</a:t>
            </a:r>
          </a:p>
        </p:txBody>
      </p:sp>
    </p:spTree>
    <p:extLst>
      <p:ext uri="{BB962C8B-B14F-4D97-AF65-F5344CB8AC3E}">
        <p14:creationId xmlns:p14="http://schemas.microsoft.com/office/powerpoint/2010/main" val="11090525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83432" y="1628800"/>
            <a:ext cx="10009112" cy="4525963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2500" b="1" dirty="0" err="1"/>
              <a:t>printf</a:t>
            </a:r>
            <a:r>
              <a:rPr lang="zh-CN" altLang="en-US" sz="2500" b="1" dirty="0"/>
              <a:t>方法</a:t>
            </a:r>
            <a:endParaRPr lang="en-US" altLang="zh-CN" sz="2500" b="1" dirty="0"/>
          </a:p>
          <a:p>
            <a:pPr lvl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500" b="1" dirty="0" err="1"/>
              <a:t>System.out.printf</a:t>
            </a:r>
            <a:r>
              <a:rPr lang="en-US" altLang="zh-CN" sz="2500" b="1" dirty="0"/>
              <a:t>(“%-12s is %2d long”, name, l);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500" b="1" dirty="0" err="1"/>
              <a:t>System.out.printf</a:t>
            </a:r>
            <a:r>
              <a:rPr lang="en-US" altLang="zh-CN" sz="2500" b="1" dirty="0"/>
              <a:t>(“value = %2.2F”, value);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500" b="1" dirty="0"/>
              <a:t>%n </a:t>
            </a:r>
            <a:r>
              <a:rPr lang="zh-CN" altLang="en-US" sz="2500" b="1" dirty="0"/>
              <a:t>是平台无关的换行标志。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2500" b="1" dirty="0"/>
              <a:t>Scanner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500" b="1" dirty="0"/>
              <a:t>Scanner s = new Scanner(System.in);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500" b="1" dirty="0"/>
              <a:t>int n = </a:t>
            </a:r>
            <a:r>
              <a:rPr lang="en-US" altLang="zh-CN" sz="2500" b="1" dirty="0" err="1"/>
              <a:t>s.nextInt</a:t>
            </a:r>
            <a:r>
              <a:rPr lang="en-US" altLang="zh-CN" sz="2500" b="1" dirty="0"/>
              <a:t>();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500" b="1" dirty="0"/>
              <a:t>还有下列方法：</a:t>
            </a:r>
            <a:r>
              <a:rPr lang="en-US" altLang="zh-CN" sz="2500" b="1" dirty="0" err="1"/>
              <a:t>nextByte</a:t>
            </a:r>
            <a:r>
              <a:rPr lang="en-US" altLang="zh-CN" sz="2500" b="1" dirty="0"/>
              <a:t>(),</a:t>
            </a:r>
            <a:r>
              <a:rPr lang="en-US" altLang="zh-CN" sz="2500" b="1" dirty="0" err="1"/>
              <a:t>nextDouble</a:t>
            </a:r>
            <a:r>
              <a:rPr lang="en-US" altLang="zh-CN" sz="2500" b="1" dirty="0"/>
              <a:t>(),</a:t>
            </a:r>
            <a:r>
              <a:rPr lang="en-US" altLang="zh-CN" sz="2500" b="1" dirty="0" err="1"/>
              <a:t>nextFloat,nextInt</a:t>
            </a:r>
            <a:r>
              <a:rPr lang="en-US" altLang="zh-CN" sz="2500" b="1" dirty="0"/>
              <a:t>(),</a:t>
            </a:r>
            <a:br>
              <a:rPr lang="en-US" altLang="zh-CN" sz="2500" b="1" dirty="0"/>
            </a:br>
            <a:r>
              <a:rPr lang="en-US" altLang="zh-CN" sz="2500" b="1" dirty="0" err="1"/>
              <a:t>nextLine</a:t>
            </a:r>
            <a:r>
              <a:rPr lang="en-US" altLang="zh-CN" sz="2500" b="1" dirty="0"/>
              <a:t>(),</a:t>
            </a:r>
            <a:r>
              <a:rPr lang="en-US" altLang="zh-CN" sz="2500" b="1" dirty="0" err="1"/>
              <a:t>nextLong</a:t>
            </a:r>
            <a:r>
              <a:rPr lang="en-US" altLang="zh-CN" sz="2500" b="1" dirty="0"/>
              <a:t>(),</a:t>
            </a:r>
            <a:r>
              <a:rPr lang="en-US" altLang="zh-CN" sz="2500" b="1" dirty="0" err="1"/>
              <a:t>nextShort</a:t>
            </a:r>
            <a:r>
              <a:rPr lang="en-US" altLang="zh-CN" sz="2500" b="1" dirty="0"/>
              <a:t>()</a:t>
            </a:r>
            <a:r>
              <a:rPr lang="zh-CN" altLang="en-US" sz="2500" b="1" dirty="0"/>
              <a:t>。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40E0E0B-17E5-9A2B-8FE2-94E2EDA5D49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16835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5.3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输入输出流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7A3D34-FB9A-E88B-C45E-1441AD7BEF2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3744416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按类型输入</a:t>
            </a: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/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输出数据</a:t>
            </a:r>
          </a:p>
        </p:txBody>
      </p:sp>
    </p:spTree>
    <p:extLst>
      <p:ext uri="{BB962C8B-B14F-4D97-AF65-F5344CB8AC3E}">
        <p14:creationId xmlns:p14="http://schemas.microsoft.com/office/powerpoint/2010/main" val="21483925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55440" y="1772816"/>
            <a:ext cx="8928992" cy="2332856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dirty="0" err="1">
                <a:solidFill>
                  <a:schemeClr val="hlink"/>
                </a:solidFill>
              </a:rPr>
              <a:t>setIn</a:t>
            </a:r>
            <a:r>
              <a:rPr lang="en-US" altLang="zh-CN" dirty="0">
                <a:solidFill>
                  <a:schemeClr val="hlink"/>
                </a:solidFill>
              </a:rPr>
              <a:t>(</a:t>
            </a:r>
            <a:r>
              <a:rPr lang="en-US" altLang="zh-CN" dirty="0" err="1">
                <a:solidFill>
                  <a:schemeClr val="hlink"/>
                </a:solidFill>
              </a:rPr>
              <a:t>InputStream</a:t>
            </a:r>
            <a:r>
              <a:rPr lang="en-US" altLang="zh-CN" dirty="0">
                <a:solidFill>
                  <a:schemeClr val="hlink"/>
                </a:solidFill>
              </a:rPr>
              <a:t>)</a:t>
            </a:r>
            <a:r>
              <a:rPr lang="en-US" altLang="zh-CN" dirty="0"/>
              <a:t>： </a:t>
            </a:r>
            <a:r>
              <a:rPr lang="zh-CN" altLang="en-US" dirty="0"/>
              <a:t>设置标准输入流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dirty="0" err="1">
                <a:solidFill>
                  <a:schemeClr val="hlink"/>
                </a:solidFill>
              </a:rPr>
              <a:t>setOut</a:t>
            </a:r>
            <a:r>
              <a:rPr lang="en-US" altLang="zh-CN" dirty="0">
                <a:solidFill>
                  <a:schemeClr val="hlink"/>
                </a:solidFill>
              </a:rPr>
              <a:t>(</a:t>
            </a:r>
            <a:r>
              <a:rPr lang="en-US" altLang="zh-CN" dirty="0" err="1">
                <a:solidFill>
                  <a:schemeClr val="hlink"/>
                </a:solidFill>
              </a:rPr>
              <a:t>PrintStream</a:t>
            </a:r>
            <a:r>
              <a:rPr lang="en-US" altLang="zh-CN" dirty="0">
                <a:solidFill>
                  <a:schemeClr val="hlink"/>
                </a:solidFill>
              </a:rPr>
              <a:t>)</a:t>
            </a:r>
            <a:r>
              <a:rPr lang="en-US" altLang="zh-CN" dirty="0"/>
              <a:t>：</a:t>
            </a:r>
            <a:r>
              <a:rPr lang="zh-CN" altLang="en-US" dirty="0"/>
              <a:t>设置标准输出流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dirty="0" err="1">
                <a:solidFill>
                  <a:schemeClr val="hlink"/>
                </a:solidFill>
              </a:rPr>
              <a:t>setErr</a:t>
            </a:r>
            <a:r>
              <a:rPr lang="en-US" altLang="zh-CN" dirty="0">
                <a:solidFill>
                  <a:schemeClr val="hlink"/>
                </a:solidFill>
              </a:rPr>
              <a:t>(</a:t>
            </a:r>
            <a:r>
              <a:rPr lang="en-US" altLang="zh-CN" dirty="0" err="1">
                <a:solidFill>
                  <a:schemeClr val="hlink"/>
                </a:solidFill>
              </a:rPr>
              <a:t>PrintStream</a:t>
            </a:r>
            <a:r>
              <a:rPr lang="en-US" altLang="zh-CN" dirty="0">
                <a:solidFill>
                  <a:schemeClr val="hlink"/>
                </a:solidFill>
              </a:rPr>
              <a:t>)</a:t>
            </a:r>
            <a:r>
              <a:rPr lang="en-US" altLang="zh-CN" dirty="0"/>
              <a:t>：</a:t>
            </a:r>
            <a:r>
              <a:rPr lang="zh-CN" altLang="en-US" dirty="0"/>
              <a:t>设置标准错误输出流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2E2C29C-D94F-5AF2-6256-A1298FE1E27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16835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5.3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输入输出流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687E863-5F9F-A872-1A54-FEA2C3CD18F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396044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标准输入</a:t>
            </a: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/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输出重新定向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39416" y="1700808"/>
            <a:ext cx="9793088" cy="4824536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import java.io.*;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public class Redirecting {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public static void main(String[] 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)  throws </a:t>
            </a:r>
            <a:r>
              <a:rPr lang="en-US" altLang="zh-CN" sz="2000" dirty="0" err="1"/>
              <a:t>IOException</a:t>
            </a:r>
            <a:r>
              <a:rPr lang="en-US" altLang="zh-CN" sz="2000" dirty="0"/>
              <a:t> {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BufferedInputStream</a:t>
            </a:r>
            <a:r>
              <a:rPr lang="en-US" altLang="zh-CN" sz="2000" dirty="0"/>
              <a:t> in = new </a:t>
            </a:r>
            <a:r>
              <a:rPr lang="en-US" altLang="zh-CN" sz="2000" dirty="0" err="1"/>
              <a:t>BufferedInputStream</a:t>
            </a:r>
            <a:r>
              <a:rPr lang="en-US" altLang="zh-CN" sz="2000" dirty="0"/>
              <a:t>(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               new </a:t>
            </a:r>
            <a:r>
              <a:rPr lang="en-US" altLang="zh-CN" sz="2000" dirty="0" err="1"/>
              <a:t>FileInputStream</a:t>
            </a:r>
            <a:r>
              <a:rPr lang="en-US" altLang="zh-CN" sz="2000" dirty="0">
                <a:solidFill>
                  <a:schemeClr val="folHlink"/>
                </a:solidFill>
              </a:rPr>
              <a:t>( "Redirecting.java"</a:t>
            </a:r>
            <a:r>
              <a:rPr lang="en-US" altLang="zh-CN" sz="2000" dirty="0"/>
              <a:t>));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PrintStream</a:t>
            </a:r>
            <a:r>
              <a:rPr lang="en-US" altLang="zh-CN" sz="2000" dirty="0"/>
              <a:t> out = new </a:t>
            </a:r>
            <a:r>
              <a:rPr lang="en-US" altLang="zh-CN" sz="2000" dirty="0" err="1"/>
              <a:t>PrintStream</a:t>
            </a:r>
            <a:r>
              <a:rPr lang="en-US" altLang="zh-CN" sz="2000" dirty="0"/>
              <a:t>( new 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      </a:t>
            </a:r>
            <a:r>
              <a:rPr lang="en-US" altLang="zh-CN" sz="2000" dirty="0" err="1"/>
              <a:t>BufferedOutputStream</a:t>
            </a:r>
            <a:r>
              <a:rPr lang="en-US" altLang="zh-CN" sz="2000" dirty="0"/>
              <a:t>( new </a:t>
            </a:r>
            <a:r>
              <a:rPr lang="en-US" altLang="zh-CN" sz="2000" dirty="0" err="1"/>
              <a:t>FileOutputStream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chemeClr val="folHlink"/>
                </a:solidFill>
              </a:rPr>
              <a:t>"</a:t>
            </a:r>
            <a:r>
              <a:rPr lang="en-US" altLang="zh-CN" sz="2000" dirty="0" err="1">
                <a:solidFill>
                  <a:schemeClr val="folHlink"/>
                </a:solidFill>
              </a:rPr>
              <a:t>test.out</a:t>
            </a:r>
            <a:r>
              <a:rPr lang="en-US" altLang="zh-CN" sz="2000" dirty="0">
                <a:solidFill>
                  <a:schemeClr val="folHlink"/>
                </a:solidFill>
              </a:rPr>
              <a:t>"</a:t>
            </a:r>
            <a:r>
              <a:rPr lang="en-US" altLang="zh-CN" sz="2000" dirty="0"/>
              <a:t>)));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>
                <a:solidFill>
                  <a:schemeClr val="hlink"/>
                </a:solidFill>
              </a:rPr>
              <a:t>System.setIn</a:t>
            </a:r>
            <a:r>
              <a:rPr lang="en-US" altLang="zh-CN" sz="2000" dirty="0">
                <a:solidFill>
                  <a:schemeClr val="hlink"/>
                </a:solidFill>
              </a:rPr>
              <a:t>(in);    </a:t>
            </a:r>
            <a:r>
              <a:rPr lang="en-US" altLang="zh-CN" sz="2000" dirty="0" err="1">
                <a:solidFill>
                  <a:schemeClr val="hlink"/>
                </a:solidFill>
              </a:rPr>
              <a:t>System.setOut</a:t>
            </a:r>
            <a:r>
              <a:rPr lang="en-US" altLang="zh-CN" sz="2000" dirty="0">
                <a:solidFill>
                  <a:schemeClr val="hlink"/>
                </a:solidFill>
              </a:rPr>
              <a:t>(out);    </a:t>
            </a:r>
            <a:r>
              <a:rPr lang="en-US" altLang="zh-CN" sz="2000" dirty="0" err="1">
                <a:solidFill>
                  <a:schemeClr val="hlink"/>
                </a:solidFill>
              </a:rPr>
              <a:t>System.setErr</a:t>
            </a:r>
            <a:r>
              <a:rPr lang="en-US" altLang="zh-CN" sz="2000" dirty="0">
                <a:solidFill>
                  <a:schemeClr val="hlink"/>
                </a:solidFill>
              </a:rPr>
              <a:t>(out);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BufferedReader</a:t>
            </a:r>
            <a:r>
              <a:rPr lang="en-US" altLang="zh-CN" sz="2000" dirty="0"/>
              <a:t> </a:t>
            </a:r>
            <a:r>
              <a:rPr lang="en-US" altLang="zh-CN" sz="2000" dirty="0" err="1"/>
              <a:t>br</a:t>
            </a:r>
            <a:r>
              <a:rPr lang="en-US" altLang="zh-CN" sz="2000" dirty="0"/>
              <a:t> = new </a:t>
            </a:r>
            <a:r>
              <a:rPr lang="en-US" altLang="zh-CN" sz="2000" dirty="0" err="1"/>
              <a:t>BufferedReader</a:t>
            </a:r>
            <a:r>
              <a:rPr lang="en-US" altLang="zh-CN" sz="2000" dirty="0"/>
              <a:t>(new </a:t>
            </a:r>
            <a:r>
              <a:rPr lang="en-US" altLang="zh-CN" sz="2000" dirty="0" err="1"/>
              <a:t>InputStreamReader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chemeClr val="tx2"/>
                </a:solidFill>
              </a:rPr>
              <a:t>System.in</a:t>
            </a:r>
            <a:r>
              <a:rPr lang="en-US" altLang="zh-CN" sz="2000" dirty="0"/>
              <a:t>));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String s;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while((s = </a:t>
            </a:r>
            <a:r>
              <a:rPr lang="en-US" altLang="zh-CN" sz="2000" dirty="0" err="1"/>
              <a:t>br.readLine</a:t>
            </a:r>
            <a:r>
              <a:rPr lang="en-US" altLang="zh-CN" sz="2000" dirty="0"/>
              <a:t>()) != null)   </a:t>
            </a:r>
            <a:r>
              <a:rPr lang="en-US" altLang="zh-CN" sz="2000" dirty="0" err="1">
                <a:solidFill>
                  <a:schemeClr val="tx2"/>
                </a:solidFill>
              </a:rPr>
              <a:t>System.out</a:t>
            </a:r>
            <a:r>
              <a:rPr lang="en-US" altLang="zh-CN" sz="2000" dirty="0" err="1"/>
              <a:t>.println</a:t>
            </a:r>
            <a:r>
              <a:rPr lang="en-US" altLang="zh-CN" sz="2000" dirty="0"/>
              <a:t>(s);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in.close</a:t>
            </a:r>
            <a:r>
              <a:rPr lang="en-US" altLang="zh-CN" sz="2000" dirty="0"/>
              <a:t>();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out.close</a:t>
            </a:r>
            <a:r>
              <a:rPr lang="en-US" altLang="zh-CN" sz="2000" dirty="0"/>
              <a:t>();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}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} </a:t>
            </a:r>
            <a:endParaRPr lang="zh-CN" altLang="en-US" sz="2000" dirty="0"/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AD697295-DA3B-10A4-626E-6D66F4CBCF1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316835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5.3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输入输出流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5CE68E4-88E6-0CBA-FFED-C42CE154FDE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396044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标准输入</a:t>
            </a: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/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输出重新定向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1844824"/>
            <a:ext cx="10972800" cy="2044824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 eaLnBrk="1" hangingPunct="1">
              <a:lnSpc>
                <a:spcPct val="120000"/>
              </a:lnSpc>
              <a:buNone/>
            </a:pPr>
            <a:r>
              <a:rPr lang="zh-CN" altLang="en-US" sz="2500" dirty="0"/>
              <a:t>多数</a:t>
            </a:r>
            <a:r>
              <a:rPr lang="en-US" altLang="zh-CN" sz="2500" dirty="0"/>
              <a:t>I/O</a:t>
            </a:r>
            <a:r>
              <a:rPr lang="zh-CN" altLang="en-US" sz="2500" dirty="0"/>
              <a:t>方法在遇到错误时会抛出异常，因此调用这些方法时必须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500" dirty="0"/>
              <a:t>在方法头声明抛出</a:t>
            </a:r>
            <a:r>
              <a:rPr lang="en-US" altLang="zh-CN" sz="2500" dirty="0" err="1"/>
              <a:t>IOException</a:t>
            </a:r>
            <a:r>
              <a:rPr lang="zh-CN" altLang="en-US" sz="2500" dirty="0"/>
              <a:t>异常；</a:t>
            </a:r>
          </a:p>
          <a:p>
            <a:pPr lvl="1">
              <a:lnSpc>
                <a:spcPct val="120000"/>
              </a:lnSpc>
            </a:pPr>
            <a:r>
              <a:rPr lang="zh-CN" altLang="en-US" sz="2500" dirty="0"/>
              <a:t>或者在</a:t>
            </a:r>
            <a:r>
              <a:rPr lang="en-US" altLang="zh-CN" sz="2500" dirty="0"/>
              <a:t>try</a:t>
            </a:r>
            <a:r>
              <a:rPr lang="zh-CN" altLang="en-US" sz="2500" dirty="0"/>
              <a:t>块中执行</a:t>
            </a:r>
            <a:r>
              <a:rPr lang="en-US" altLang="zh-CN" sz="2500" dirty="0"/>
              <a:t>IO，</a:t>
            </a:r>
            <a:r>
              <a:rPr lang="zh-CN" altLang="en-US" sz="2500" dirty="0"/>
              <a:t>然后在</a:t>
            </a:r>
            <a:r>
              <a:rPr lang="en-US" altLang="zh-CN" sz="2500" dirty="0"/>
              <a:t>catch</a:t>
            </a:r>
            <a:r>
              <a:rPr lang="zh-CN" altLang="en-US" sz="2500" dirty="0"/>
              <a:t>块中捕获</a:t>
            </a:r>
            <a:r>
              <a:rPr lang="en-US" altLang="zh-CN" sz="2500" dirty="0" err="1"/>
              <a:t>IOException</a:t>
            </a:r>
            <a:r>
              <a:rPr lang="zh-CN" altLang="en-US" sz="2500" dirty="0"/>
              <a:t>异常。</a:t>
            </a:r>
            <a:endParaRPr lang="en-US" altLang="zh-CN" sz="25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6FEFB9A-CD98-D3B2-3914-AF08514FE5A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46485E4-082D-6AA5-E80D-44F579663D5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151216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I/O</a:t>
            </a:r>
            <a:r>
              <a:rPr lang="zh-CN" altLang="en-US" sz="28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异常</a:t>
            </a:r>
            <a:endParaRPr lang="zh-CN" altLang="en-US" sz="28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思源黑体 CN Heavy" panose="020B0A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25985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1417638"/>
            <a:ext cx="10972800" cy="5328592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buNone/>
            </a:pPr>
            <a:r>
              <a:rPr lang="zh-CN" altLang="en-US" sz="2000" dirty="0"/>
              <a:t>在</a:t>
            </a:r>
            <a:r>
              <a:rPr lang="en-US" altLang="zh-CN" sz="2000" dirty="0"/>
              <a:t>C</a:t>
            </a:r>
            <a:r>
              <a:rPr lang="zh-CN" altLang="en-US" sz="2000" dirty="0"/>
              <a:t>盘根目录创建文本文件</a:t>
            </a:r>
            <a:r>
              <a:rPr lang="en-US" altLang="zh-CN" sz="2000" dirty="0"/>
              <a:t>Hello.txt，</a:t>
            </a:r>
            <a:r>
              <a:rPr lang="zh-CN" altLang="en-US" sz="2000" dirty="0"/>
              <a:t>并往里写入若干行文本</a:t>
            </a:r>
            <a:endParaRPr lang="en-US" altLang="zh-CN" sz="2000" dirty="0"/>
          </a:p>
          <a:p>
            <a:pPr lvl="1" eaLnBrk="1" hangingPunct="1">
              <a:spcBef>
                <a:spcPct val="4500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import java.io.*;   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class FileWriterTester1 {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public static void main ( String[] 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 ) </a:t>
            </a:r>
            <a:r>
              <a:rPr lang="en-US" altLang="zh-CN" sz="2000" dirty="0">
                <a:solidFill>
                  <a:schemeClr val="hlink"/>
                </a:solidFill>
              </a:rPr>
              <a:t>throws </a:t>
            </a:r>
            <a:r>
              <a:rPr lang="en-US" altLang="zh-CN" sz="2000" dirty="0" err="1">
                <a:solidFill>
                  <a:schemeClr val="hlink"/>
                </a:solidFill>
              </a:rPr>
              <a:t>IOException</a:t>
            </a:r>
            <a:r>
              <a:rPr lang="en-US" altLang="zh-CN" sz="2000" dirty="0"/>
              <a:t> {  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     //main</a:t>
            </a:r>
            <a:r>
              <a:rPr lang="zh-CN" altLang="en-US" sz="2000" dirty="0"/>
              <a:t>方法中声明抛出</a:t>
            </a:r>
            <a:r>
              <a:rPr lang="en-US" altLang="zh-CN" sz="2000" dirty="0"/>
              <a:t>IO</a:t>
            </a:r>
            <a:r>
              <a:rPr lang="zh-CN" altLang="en-US" sz="2000" dirty="0"/>
              <a:t>异常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    String </a:t>
            </a:r>
            <a:r>
              <a:rPr lang="en-US" altLang="zh-CN" sz="2000" dirty="0" err="1"/>
              <a:t>fileName</a:t>
            </a:r>
            <a:r>
              <a:rPr lang="en-US" altLang="zh-CN" sz="2000" dirty="0"/>
              <a:t> = "Hello.txt"; 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</a:t>
            </a:r>
            <a:r>
              <a:rPr lang="en-US" altLang="zh-CN" sz="2000" dirty="0">
                <a:solidFill>
                  <a:schemeClr val="tx2"/>
                </a:solidFill>
              </a:rPr>
              <a:t>    </a:t>
            </a:r>
            <a:r>
              <a:rPr lang="en-US" altLang="zh-CN" sz="2000" dirty="0" err="1">
                <a:solidFill>
                  <a:schemeClr val="tx2"/>
                </a:solidFill>
              </a:rPr>
              <a:t>FileWriter</a:t>
            </a:r>
            <a:r>
              <a:rPr lang="en-US" altLang="zh-CN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/>
              <a:t>writer = new </a:t>
            </a:r>
            <a:r>
              <a:rPr lang="en-US" altLang="zh-CN" sz="2000" dirty="0" err="1">
                <a:solidFill>
                  <a:schemeClr val="hlink"/>
                </a:solidFill>
              </a:rPr>
              <a:t>FileWriter</a:t>
            </a:r>
            <a:r>
              <a:rPr lang="en-US" altLang="zh-CN" sz="2000" dirty="0">
                <a:solidFill>
                  <a:schemeClr val="hlink"/>
                </a:solidFill>
              </a:rPr>
              <a:t>( </a:t>
            </a:r>
            <a:r>
              <a:rPr lang="en-US" altLang="zh-CN" sz="2000" dirty="0" err="1">
                <a:solidFill>
                  <a:schemeClr val="hlink"/>
                </a:solidFill>
              </a:rPr>
              <a:t>fileName</a:t>
            </a:r>
            <a:r>
              <a:rPr lang="en-US" altLang="zh-CN" sz="2000" dirty="0">
                <a:solidFill>
                  <a:schemeClr val="hlink"/>
                </a:solidFill>
              </a:rPr>
              <a:t> )</a:t>
            </a:r>
            <a:r>
              <a:rPr lang="en-US" altLang="zh-CN" sz="2000" dirty="0"/>
              <a:t>;</a:t>
            </a:r>
            <a:r>
              <a:rPr lang="zh-CN" altLang="en-US" sz="2000" dirty="0"/>
              <a:t>   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    </a:t>
            </a:r>
            <a:r>
              <a:rPr lang="en-US" altLang="zh-CN" sz="2000" dirty="0" err="1"/>
              <a:t>writer.write</a:t>
            </a:r>
            <a:r>
              <a:rPr lang="en-US" altLang="zh-CN" sz="2000" dirty="0"/>
              <a:t>( "Hello!\n"); 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    </a:t>
            </a:r>
            <a:r>
              <a:rPr lang="en-US" altLang="zh-CN" sz="2000" dirty="0" err="1"/>
              <a:t>writer.write</a:t>
            </a:r>
            <a:r>
              <a:rPr lang="en-US" altLang="zh-CN" sz="2000" dirty="0"/>
              <a:t>( "This is my first text file,\n"  );  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    </a:t>
            </a:r>
            <a:r>
              <a:rPr lang="en-US" altLang="zh-CN" sz="2000" dirty="0" err="1"/>
              <a:t>writer.write</a:t>
            </a:r>
            <a:r>
              <a:rPr lang="en-US" altLang="zh-CN" sz="2000" dirty="0"/>
              <a:t>( "You can see how this is done.\n" ); 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    </a:t>
            </a:r>
            <a:r>
              <a:rPr lang="en-US" altLang="zh-CN" sz="2000" dirty="0" err="1"/>
              <a:t>writer.write</a:t>
            </a:r>
            <a:r>
              <a:rPr lang="en-US" altLang="zh-CN" sz="2000" dirty="0"/>
              <a:t>("</a:t>
            </a:r>
            <a:r>
              <a:rPr lang="zh-CN" altLang="en-US" sz="2000" dirty="0"/>
              <a:t>输入一行中文也可以\</a:t>
            </a:r>
            <a:r>
              <a:rPr lang="en-US" altLang="zh-CN" sz="2000" dirty="0"/>
              <a:t>n");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    </a:t>
            </a:r>
            <a:r>
              <a:rPr lang="en-US" altLang="zh-CN" sz="2000" dirty="0" err="1">
                <a:solidFill>
                  <a:schemeClr val="hlink"/>
                </a:solidFill>
              </a:rPr>
              <a:t>writer.close</a:t>
            </a:r>
            <a:r>
              <a:rPr lang="en-US" altLang="zh-CN" sz="2000" dirty="0">
                <a:solidFill>
                  <a:schemeClr val="hlink"/>
                </a:solidFill>
              </a:rPr>
              <a:t>()</a:t>
            </a:r>
            <a:r>
              <a:rPr lang="en-US" altLang="zh-CN" sz="2000" dirty="0"/>
              <a:t>; 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zh-CN" altLang="en-US" sz="2000" dirty="0"/>
              <a:t>    }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zh-CN" altLang="en-US" sz="2000" dirty="0"/>
              <a:t>}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7DB3F7B1-165D-7CAA-FCF5-7439D21E823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97C1F88-4CDD-B1D2-E456-0BDCC0FA031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1727890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写文本文件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1600201"/>
            <a:ext cx="10972800" cy="3701008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400" dirty="0"/>
              <a:t>打开</a:t>
            </a:r>
            <a:r>
              <a:rPr lang="en-US" altLang="zh-CN" sz="2400" dirty="0"/>
              <a:t>C</a:t>
            </a:r>
            <a:r>
              <a:rPr lang="zh-CN" altLang="en-US" sz="2400" dirty="0"/>
              <a:t>盘根目录下的</a:t>
            </a:r>
            <a:r>
              <a:rPr lang="en-US" altLang="zh-CN" sz="2400" dirty="0"/>
              <a:t>Hello.txt</a:t>
            </a:r>
            <a:r>
              <a:rPr lang="zh-CN" altLang="en-US" sz="2400" dirty="0"/>
              <a:t>文件：</a:t>
            </a:r>
          </a:p>
          <a:p>
            <a:pPr eaLnBrk="1" hangingPunct="1"/>
            <a:endParaRPr lang="zh-CN" altLang="en-US" sz="2400" dirty="0"/>
          </a:p>
          <a:p>
            <a:pPr eaLnBrk="1" hangingPunct="1"/>
            <a:endParaRPr lang="zh-CN" altLang="en-US" sz="2400" dirty="0"/>
          </a:p>
          <a:p>
            <a:pPr eaLnBrk="1" hangingPunct="1"/>
            <a:endParaRPr lang="zh-CN" altLang="en-US" sz="2400" dirty="0"/>
          </a:p>
          <a:p>
            <a:pPr eaLnBrk="1" hangingPunct="1"/>
            <a:endParaRPr lang="zh-CN" altLang="en-US" sz="2400" dirty="0"/>
          </a:p>
          <a:p>
            <a:pPr eaLnBrk="1" hangingPunct="1"/>
            <a:endParaRPr lang="zh-CN" altLang="en-US" sz="2400" dirty="0"/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zh-CN" altLang="en-US" sz="2200" dirty="0"/>
              <a:t>换行有些问题，后面例题中将解决这个问题。</a:t>
            </a:r>
            <a:endParaRPr lang="en-US" altLang="zh-CN" sz="2200" dirty="0"/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zh-CN" altLang="en-US" sz="2200" dirty="0"/>
              <a:t>每次运行都会删除旧文件生成新文件。</a:t>
            </a:r>
          </a:p>
        </p:txBody>
      </p:sp>
      <p:pic>
        <p:nvPicPr>
          <p:cNvPr id="61445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456" y="2132856"/>
            <a:ext cx="708660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80592595-16F9-6F83-8444-F22F72BC4EA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F2E25D7-BEE1-F65A-C51C-4E87F904218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1727890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写文本文件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95400" y="1556792"/>
            <a:ext cx="10972800" cy="5112568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0" indent="0" eaLnBrk="1" hangingPunct="1">
              <a:buNone/>
            </a:pPr>
            <a:r>
              <a:rPr lang="en-US" altLang="zh-CN" sz="2000" dirty="0"/>
              <a:t>import java.io.*;   </a:t>
            </a:r>
          </a:p>
          <a:p>
            <a:pPr marL="0" indent="0" eaLnBrk="1" hangingPunct="1">
              <a:buNone/>
            </a:pPr>
            <a:r>
              <a:rPr lang="en-US" altLang="zh-CN" sz="2000" dirty="0"/>
              <a:t>class FileWriterTester2 {</a:t>
            </a:r>
          </a:p>
          <a:p>
            <a:pPr marL="0" indent="0" eaLnBrk="1" hangingPunct="1">
              <a:buNone/>
            </a:pPr>
            <a:r>
              <a:rPr lang="en-US" altLang="zh-CN" sz="2000" dirty="0"/>
              <a:t>  public static void main ( String[] 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 )</a:t>
            </a:r>
            <a:r>
              <a:rPr lang="zh-CN" altLang="en-US" sz="2000" dirty="0"/>
              <a:t> {</a:t>
            </a:r>
          </a:p>
          <a:p>
            <a:pPr marL="0" indent="0" eaLnBrk="1" hangingPunct="1">
              <a:buNone/>
            </a:pPr>
            <a:r>
              <a:rPr lang="zh-CN" altLang="en-US" sz="2000" dirty="0"/>
              <a:t>    </a:t>
            </a:r>
            <a:r>
              <a:rPr lang="en-US" altLang="zh-CN" sz="2000" dirty="0"/>
              <a:t>String </a:t>
            </a:r>
            <a:r>
              <a:rPr lang="en-US" altLang="zh-CN" sz="2000" dirty="0" err="1"/>
              <a:t>fileName</a:t>
            </a:r>
            <a:r>
              <a:rPr lang="en-US" altLang="zh-CN" sz="2000" dirty="0"/>
              <a:t> = “d:\\Hello.txt" ;</a:t>
            </a:r>
          </a:p>
          <a:p>
            <a:pPr marL="0" indent="0" eaLnBrk="1" hangingPunct="1">
              <a:buNone/>
            </a:pPr>
            <a:r>
              <a:rPr lang="en-US" altLang="zh-CN" sz="2000" dirty="0"/>
              <a:t>    </a:t>
            </a:r>
            <a:r>
              <a:rPr lang="en-US" altLang="zh-CN" sz="2000" dirty="0">
                <a:solidFill>
                  <a:schemeClr val="hlink"/>
                </a:solidFill>
              </a:rPr>
              <a:t>try {</a:t>
            </a:r>
            <a:r>
              <a:rPr lang="en-US" altLang="zh-CN" sz="2000" dirty="0"/>
              <a:t>  </a:t>
            </a:r>
            <a:r>
              <a:rPr lang="en-US" altLang="zh-CN" sz="2000" dirty="0">
                <a:solidFill>
                  <a:schemeClr val="tx1"/>
                </a:solidFill>
              </a:rPr>
              <a:t>//</a:t>
            </a:r>
            <a:r>
              <a:rPr lang="zh-CN" altLang="en-US" sz="2000" dirty="0">
                <a:solidFill>
                  <a:schemeClr val="tx1"/>
                </a:solidFill>
              </a:rPr>
              <a:t>将所有</a:t>
            </a:r>
            <a:r>
              <a:rPr lang="en-US" altLang="zh-CN" sz="2000" dirty="0">
                <a:solidFill>
                  <a:schemeClr val="tx1"/>
                </a:solidFill>
              </a:rPr>
              <a:t>IO</a:t>
            </a:r>
            <a:r>
              <a:rPr lang="zh-CN" altLang="en-US" sz="2000" dirty="0">
                <a:solidFill>
                  <a:schemeClr val="tx1"/>
                </a:solidFill>
              </a:rPr>
              <a:t>操作放入</a:t>
            </a:r>
            <a:r>
              <a:rPr lang="en-US" altLang="zh-CN" sz="2000" dirty="0">
                <a:solidFill>
                  <a:schemeClr val="tx1"/>
                </a:solidFill>
              </a:rPr>
              <a:t>try</a:t>
            </a:r>
            <a:r>
              <a:rPr lang="zh-CN" altLang="en-US" sz="2000" dirty="0">
                <a:solidFill>
                  <a:schemeClr val="tx1"/>
                </a:solidFill>
              </a:rPr>
              <a:t>块中</a:t>
            </a:r>
          </a:p>
          <a:p>
            <a:pPr marL="0" indent="0" eaLnBrk="1" hangingPunct="1">
              <a:buNone/>
            </a:pPr>
            <a:r>
              <a:rPr lang="zh-CN" altLang="en-US" sz="2000" dirty="0"/>
              <a:t>  	   </a:t>
            </a:r>
            <a:r>
              <a:rPr lang="en-US" altLang="zh-CN" sz="2000" dirty="0" err="1"/>
              <a:t>FileWriter</a:t>
            </a:r>
            <a:r>
              <a:rPr lang="en-US" altLang="zh-CN" sz="2000" dirty="0"/>
              <a:t> writer = new </a:t>
            </a:r>
            <a:r>
              <a:rPr lang="en-US" altLang="zh-CN" sz="2000" dirty="0" err="1">
                <a:solidFill>
                  <a:schemeClr val="hlink"/>
                </a:solidFill>
              </a:rPr>
              <a:t>FileWriter</a:t>
            </a:r>
            <a:r>
              <a:rPr lang="en-US" altLang="zh-CN" sz="2000" dirty="0">
                <a:solidFill>
                  <a:schemeClr val="hlink"/>
                </a:solidFill>
              </a:rPr>
              <a:t>( </a:t>
            </a:r>
            <a:r>
              <a:rPr lang="en-US" altLang="zh-CN" sz="2000" dirty="0" err="1">
                <a:solidFill>
                  <a:schemeClr val="hlink"/>
                </a:solidFill>
              </a:rPr>
              <a:t>fileName</a:t>
            </a:r>
            <a:r>
              <a:rPr lang="en-US" altLang="zh-CN" sz="2000" dirty="0">
                <a:solidFill>
                  <a:schemeClr val="hlink"/>
                </a:solidFill>
              </a:rPr>
              <a:t> ,true )</a:t>
            </a:r>
            <a:r>
              <a:rPr lang="en-US" altLang="zh-CN" sz="2000" dirty="0"/>
              <a:t>;</a:t>
            </a:r>
          </a:p>
          <a:p>
            <a:pPr marL="0" indent="0" eaLnBrk="1" hangingPunct="1">
              <a:buNone/>
            </a:pPr>
            <a:r>
              <a:rPr lang="zh-CN" altLang="en-US" sz="2000" dirty="0"/>
              <a:t> 	   </a:t>
            </a:r>
            <a:r>
              <a:rPr lang="en-US" altLang="zh-CN" sz="2000" dirty="0" err="1"/>
              <a:t>writer.write</a:t>
            </a:r>
            <a:r>
              <a:rPr lang="en-US" altLang="zh-CN" sz="2000" dirty="0"/>
              <a:t>( "Hello!\n");  </a:t>
            </a:r>
          </a:p>
          <a:p>
            <a:pPr marL="0" indent="0" eaLnBrk="1" hangingPunct="1">
              <a:buNone/>
            </a:pPr>
            <a:r>
              <a:rPr lang="en-US" altLang="zh-CN" sz="2000" dirty="0"/>
              <a:t>    	   </a:t>
            </a:r>
            <a:r>
              <a:rPr lang="en-US" altLang="zh-CN" sz="2000" dirty="0" err="1"/>
              <a:t>writer.write</a:t>
            </a:r>
            <a:r>
              <a:rPr lang="en-US" altLang="zh-CN" sz="2000" dirty="0"/>
              <a:t>( "This is my first text file,\n"  );  </a:t>
            </a:r>
          </a:p>
          <a:p>
            <a:pPr marL="0" indent="0" eaLnBrk="1" hangingPunct="1">
              <a:buNone/>
            </a:pPr>
            <a:r>
              <a:rPr lang="en-US" altLang="zh-CN" sz="2000" dirty="0"/>
              <a:t>    	   </a:t>
            </a:r>
            <a:r>
              <a:rPr lang="en-US" altLang="zh-CN" sz="2000" dirty="0" err="1"/>
              <a:t>writer.write</a:t>
            </a:r>
            <a:r>
              <a:rPr lang="en-US" altLang="zh-CN" sz="2000" dirty="0"/>
              <a:t>( "You can see how this is done. \n" );</a:t>
            </a:r>
          </a:p>
          <a:p>
            <a:pPr marL="0" indent="0" eaLnBrk="1" hangingPunct="1">
              <a:buNone/>
            </a:pPr>
            <a:r>
              <a:rPr lang="en-US" altLang="zh-CN" sz="2000" dirty="0"/>
              <a:t>               </a:t>
            </a:r>
            <a:r>
              <a:rPr lang="en-US" altLang="zh-CN" sz="2000" dirty="0" err="1"/>
              <a:t>writer.write</a:t>
            </a:r>
            <a:r>
              <a:rPr lang="en-US" altLang="zh-CN" sz="2000" dirty="0"/>
              <a:t>("</a:t>
            </a:r>
            <a:r>
              <a:rPr lang="zh-CN" altLang="en-US" sz="2000" dirty="0"/>
              <a:t>输入一行中文也可以\</a:t>
            </a:r>
            <a:r>
              <a:rPr lang="en-US" altLang="zh-CN" sz="2000" dirty="0"/>
              <a:t>n");</a:t>
            </a:r>
          </a:p>
          <a:p>
            <a:pPr marL="0" indent="0" eaLnBrk="1" hangingPunct="1">
              <a:buNone/>
            </a:pPr>
            <a:r>
              <a:rPr lang="en-US" altLang="zh-CN" sz="2000" dirty="0"/>
              <a:t>     	   </a:t>
            </a:r>
            <a:r>
              <a:rPr lang="en-US" altLang="zh-CN" sz="2000" dirty="0" err="1"/>
              <a:t>writer.close</a:t>
            </a:r>
            <a:r>
              <a:rPr lang="en-US" altLang="zh-CN" sz="2000" dirty="0"/>
              <a:t>();</a:t>
            </a:r>
          </a:p>
          <a:p>
            <a:pPr marL="0" indent="0" eaLnBrk="1" hangingPunct="1">
              <a:buNone/>
            </a:pPr>
            <a:r>
              <a:rPr lang="en-US" altLang="zh-CN" sz="2000" dirty="0"/>
              <a:t>    </a:t>
            </a:r>
            <a:r>
              <a:rPr lang="en-US" altLang="zh-CN" sz="2000" dirty="0">
                <a:solidFill>
                  <a:schemeClr val="hlink"/>
                </a:solidFill>
              </a:rPr>
              <a:t>}</a:t>
            </a:r>
          </a:p>
          <a:p>
            <a:pPr marL="0" indent="0" eaLnBrk="1" hangingPunct="1">
              <a:buNone/>
            </a:pPr>
            <a:r>
              <a:rPr lang="en-US" altLang="zh-CN" sz="2000" dirty="0">
                <a:solidFill>
                  <a:schemeClr val="hlink"/>
                </a:solidFill>
              </a:rPr>
              <a:t>    catch ( </a:t>
            </a:r>
            <a:r>
              <a:rPr lang="en-US" altLang="zh-CN" sz="2000" dirty="0" err="1">
                <a:solidFill>
                  <a:schemeClr val="hlink"/>
                </a:solidFill>
              </a:rPr>
              <a:t>IOException</a:t>
            </a:r>
            <a:r>
              <a:rPr lang="en-US" altLang="zh-CN" sz="2000" dirty="0">
                <a:solidFill>
                  <a:schemeClr val="hlink"/>
                </a:solidFill>
              </a:rPr>
              <a:t> </a:t>
            </a:r>
            <a:r>
              <a:rPr lang="en-US" altLang="zh-CN" sz="2000" dirty="0" err="1">
                <a:solidFill>
                  <a:schemeClr val="hlink"/>
                </a:solidFill>
              </a:rPr>
              <a:t>iox</a:t>
            </a:r>
            <a:r>
              <a:rPr lang="en-US" altLang="zh-CN" sz="2000" dirty="0">
                <a:solidFill>
                  <a:schemeClr val="hlink"/>
                </a:solidFill>
              </a:rPr>
              <a:t>) </a:t>
            </a:r>
            <a:r>
              <a:rPr lang="zh-CN" altLang="en-US" sz="2000" dirty="0">
                <a:solidFill>
                  <a:schemeClr val="hlink"/>
                </a:solidFill>
              </a:rPr>
              <a:t>{ </a:t>
            </a:r>
            <a:r>
              <a:rPr lang="en-US" altLang="zh-CN" sz="2000" dirty="0"/>
              <a:t> </a:t>
            </a:r>
            <a:r>
              <a:rPr lang="en-US" altLang="zh-CN" sz="2000" dirty="0" err="1"/>
              <a:t>System.out.println</a:t>
            </a:r>
            <a:r>
              <a:rPr lang="en-US" altLang="zh-CN" sz="2000" dirty="0"/>
              <a:t>("Problem writing" + </a:t>
            </a:r>
            <a:r>
              <a:rPr lang="en-US" altLang="zh-CN" sz="2000" dirty="0" err="1"/>
              <a:t>fileName</a:t>
            </a:r>
            <a:r>
              <a:rPr lang="en-US" altLang="zh-CN" sz="2000" dirty="0"/>
              <a:t> ); }</a:t>
            </a:r>
          </a:p>
          <a:p>
            <a:pPr marL="0" indent="0" eaLnBrk="1" hangingPunct="1">
              <a:buNone/>
            </a:pPr>
            <a:r>
              <a:rPr lang="en-US" altLang="zh-CN" sz="2000" dirty="0">
                <a:solidFill>
                  <a:schemeClr val="hlink"/>
                </a:solidFill>
              </a:rPr>
              <a:t>    }</a:t>
            </a:r>
          </a:p>
          <a:p>
            <a:pPr marL="0" indent="0" eaLnBrk="1" hangingPunct="1">
              <a:buNone/>
            </a:pPr>
            <a:r>
              <a:rPr lang="en-US" altLang="zh-CN" sz="2000" dirty="0"/>
              <a:t>}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988781C-49C3-4005-623D-66AFDE58D43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CF2954-8627-0637-DFB2-F28CCC24F97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1727890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写文本文件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1600201"/>
            <a:ext cx="10972800" cy="2341092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buNone/>
            </a:pPr>
            <a:r>
              <a:rPr lang="zh-CN" altLang="en-US" sz="2800" dirty="0"/>
              <a:t>说明：</a:t>
            </a:r>
            <a:endParaRPr lang="en-US" altLang="zh-CN" sz="2800" dirty="0"/>
          </a:p>
          <a:p>
            <a:pPr lvl="1" eaLnBrk="1" hangingPunct="1"/>
            <a:r>
              <a:rPr lang="zh-CN" altLang="en-US" sz="2400" dirty="0"/>
              <a:t>运行此程序，会发现在原文件内容后面又追加了重复的内容，这就是将构造方法的第二个参数设为</a:t>
            </a:r>
            <a:r>
              <a:rPr lang="en-US" altLang="zh-CN" sz="2400" dirty="0"/>
              <a:t>true</a:t>
            </a:r>
            <a:r>
              <a:rPr lang="zh-CN" altLang="en-US" sz="2400" dirty="0"/>
              <a:t>的效果。</a:t>
            </a:r>
          </a:p>
          <a:p>
            <a:pPr lvl="1" eaLnBrk="1" hangingPunct="1"/>
            <a:r>
              <a:rPr lang="zh-CN" altLang="en-US" sz="2400" dirty="0"/>
              <a:t>如果将文件属性改为只读属性，再运行本程序，就会出现</a:t>
            </a:r>
            <a:r>
              <a:rPr lang="en-US" altLang="zh-CN" sz="2400" dirty="0"/>
              <a:t>IO</a:t>
            </a:r>
            <a:r>
              <a:rPr lang="zh-CN" altLang="en-US" sz="2400" dirty="0"/>
              <a:t>错误，程序将转入</a:t>
            </a:r>
            <a:r>
              <a:rPr lang="en-US" altLang="zh-CN" sz="2400" dirty="0"/>
              <a:t>catch</a:t>
            </a:r>
            <a:r>
              <a:rPr lang="zh-CN" altLang="en-US" sz="2400" dirty="0"/>
              <a:t>块中，给出出错信息。</a:t>
            </a:r>
            <a:endParaRPr lang="zh-CN" altLang="en-US" sz="44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832E02F-E652-2B6B-186B-3B5CA25EEC6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FC9A0E6-3E1D-D99C-3416-0293D693EDB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1727890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写文本文件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1628800"/>
            <a:ext cx="10972800" cy="4525963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/>
              <a:t>如果需要写入的内容很多，就应该使用更为高效的缓冲器流类</a:t>
            </a:r>
            <a:r>
              <a:rPr lang="en-US" altLang="zh-CN" dirty="0" err="1"/>
              <a:t>BufferedWriter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/>
            <a:r>
              <a:rPr lang="en-US" altLang="zh-CN" dirty="0" err="1"/>
              <a:t>FileWriter</a:t>
            </a:r>
            <a:r>
              <a:rPr lang="zh-CN" altLang="en-US" dirty="0"/>
              <a:t>和</a:t>
            </a:r>
            <a:r>
              <a:rPr lang="en-US" altLang="zh-CN" dirty="0" err="1"/>
              <a:t>BufferedWriter</a:t>
            </a:r>
            <a:r>
              <a:rPr lang="zh-CN" altLang="en-US" dirty="0"/>
              <a:t>类都用于输出字符流，包含的方法几乎完全一样，但</a:t>
            </a:r>
            <a:r>
              <a:rPr lang="en-US" altLang="zh-CN" dirty="0" err="1"/>
              <a:t>BufferedWriter</a:t>
            </a:r>
            <a:r>
              <a:rPr lang="zh-CN" altLang="en-US" dirty="0"/>
              <a:t>多提供了一个</a:t>
            </a:r>
            <a:r>
              <a:rPr lang="en-US" altLang="zh-CN" dirty="0" err="1"/>
              <a:t>newLine</a:t>
            </a:r>
            <a:r>
              <a:rPr lang="en-US" altLang="zh-CN" dirty="0"/>
              <a:t>()</a:t>
            </a:r>
            <a:r>
              <a:rPr lang="zh-CN" altLang="en-US" dirty="0"/>
              <a:t>方法用于换行。</a:t>
            </a:r>
            <a:endParaRPr lang="en-GB" altLang="zh-CN" sz="3200" dirty="0"/>
          </a:p>
          <a:p>
            <a:pPr lvl="1" eaLnBrk="1" hangingPunct="1"/>
            <a:r>
              <a:rPr lang="zh-CN" altLang="en-GB" sz="2400" dirty="0"/>
              <a:t>不同</a:t>
            </a:r>
            <a:r>
              <a:rPr lang="zh-CN" altLang="en-US" sz="2400" dirty="0"/>
              <a:t>的系统</a:t>
            </a:r>
            <a:r>
              <a:rPr lang="zh-CN" altLang="en-GB" sz="2400" dirty="0"/>
              <a:t>对文字的换行方法不同</a:t>
            </a:r>
            <a:r>
              <a:rPr lang="en-GB" altLang="zh-CN" sz="2400" dirty="0"/>
              <a:t>。</a:t>
            </a:r>
            <a:r>
              <a:rPr lang="en-GB" altLang="zh-CN" sz="2400" dirty="0" err="1"/>
              <a:t>newLine</a:t>
            </a:r>
            <a:r>
              <a:rPr lang="en-GB" altLang="zh-CN" sz="2400" dirty="0"/>
              <a:t>()</a:t>
            </a:r>
            <a:r>
              <a:rPr lang="zh-CN" altLang="en-GB" sz="2400" dirty="0"/>
              <a:t>方法可以输出在当前计算机上正确的换行符</a:t>
            </a:r>
            <a:r>
              <a:rPr lang="zh-CN" altLang="en-US" sz="2400" dirty="0"/>
              <a:t>。</a:t>
            </a:r>
            <a:endParaRPr lang="en-GB" altLang="zh-CN" sz="24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0E4214A-3726-DF89-14F7-310CDC2714B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A7C504-841F-4915-3D28-0917FDC2B9F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663994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dirty="0" err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BufferedWriter</a:t>
            </a: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类</a:t>
            </a:r>
          </a:p>
        </p:txBody>
      </p:sp>
    </p:spTree>
    <p:extLst>
      <p:ext uri="{BB962C8B-B14F-4D97-AF65-F5344CB8AC3E}">
        <p14:creationId xmlns:p14="http://schemas.microsoft.com/office/powerpoint/2010/main" val="1424724710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95400" y="1628800"/>
            <a:ext cx="11233248" cy="4784865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0" indent="0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2400" dirty="0"/>
              <a:t>import java.io.*; 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400" dirty="0"/>
              <a:t>class </a:t>
            </a:r>
            <a:r>
              <a:rPr lang="en-US" altLang="zh-CN" sz="2400" dirty="0" err="1"/>
              <a:t>BufferedWriterTester</a:t>
            </a:r>
            <a:r>
              <a:rPr lang="en-US" altLang="zh-CN" sz="2400" dirty="0"/>
              <a:t> {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public static void main ( String[] </a:t>
            </a:r>
            <a:r>
              <a:rPr lang="en-US" altLang="zh-CN" sz="2400" dirty="0" err="1"/>
              <a:t>args</a:t>
            </a:r>
            <a:r>
              <a:rPr lang="en-US" altLang="zh-CN" sz="2400" dirty="0"/>
              <a:t> ) throws </a:t>
            </a:r>
            <a:r>
              <a:rPr lang="en-US" altLang="zh-CN" sz="2400" dirty="0" err="1"/>
              <a:t>IOException</a:t>
            </a:r>
            <a:r>
              <a:rPr lang="en-US" altLang="zh-CN" sz="2400" dirty="0"/>
              <a:t> {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   String </a:t>
            </a:r>
            <a:r>
              <a:rPr lang="en-US" altLang="zh-CN" sz="2400" dirty="0" err="1"/>
              <a:t>fileName</a:t>
            </a:r>
            <a:r>
              <a:rPr lang="en-US" altLang="zh-CN" sz="2400" dirty="0"/>
              <a:t> = "newHello.txt" ;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   </a:t>
            </a:r>
            <a:r>
              <a:rPr lang="en-US" altLang="zh-CN" sz="2400" dirty="0" err="1">
                <a:solidFill>
                  <a:schemeClr val="hlink"/>
                </a:solidFill>
              </a:rPr>
              <a:t>BufferedWriter</a:t>
            </a:r>
            <a:r>
              <a:rPr lang="en-US" altLang="zh-CN" sz="2400" dirty="0">
                <a:solidFill>
                  <a:srgbClr val="00FF00"/>
                </a:solidFill>
              </a:rPr>
              <a:t> </a:t>
            </a:r>
            <a:r>
              <a:rPr lang="en-US" altLang="zh-CN" sz="2400" dirty="0"/>
              <a:t>out = </a:t>
            </a:r>
            <a:r>
              <a:rPr lang="en-US" altLang="zh-CN" sz="2400" dirty="0">
                <a:solidFill>
                  <a:schemeClr val="hlink"/>
                </a:solidFill>
              </a:rPr>
              <a:t>new </a:t>
            </a:r>
            <a:r>
              <a:rPr lang="en-US" altLang="zh-CN" sz="2400" dirty="0" err="1">
                <a:solidFill>
                  <a:schemeClr val="hlink"/>
                </a:solidFill>
              </a:rPr>
              <a:t>BufferedWriter</a:t>
            </a:r>
            <a:r>
              <a:rPr lang="en-US" altLang="zh-CN" sz="2400" dirty="0">
                <a:solidFill>
                  <a:schemeClr val="hlink"/>
                </a:solidFill>
              </a:rPr>
              <a:t>(new  </a:t>
            </a:r>
            <a:r>
              <a:rPr lang="en-US" altLang="zh-CN" sz="2400" dirty="0" err="1">
                <a:solidFill>
                  <a:schemeClr val="hlink"/>
                </a:solidFill>
              </a:rPr>
              <a:t>FileWriter</a:t>
            </a:r>
            <a:r>
              <a:rPr lang="en-US" altLang="zh-CN" sz="2400" dirty="0">
                <a:solidFill>
                  <a:schemeClr val="hlink"/>
                </a:solidFill>
              </a:rPr>
              <a:t>( </a:t>
            </a:r>
            <a:r>
              <a:rPr lang="en-US" altLang="zh-CN" sz="2400" dirty="0" err="1">
                <a:solidFill>
                  <a:schemeClr val="hlink"/>
                </a:solidFill>
              </a:rPr>
              <a:t>fileName</a:t>
            </a:r>
            <a:r>
              <a:rPr lang="en-US" altLang="zh-CN" sz="2400" dirty="0">
                <a:solidFill>
                  <a:schemeClr val="hlink"/>
                </a:solidFill>
              </a:rPr>
              <a:t> ) );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   </a:t>
            </a:r>
            <a:r>
              <a:rPr lang="en-US" altLang="zh-CN" sz="2400" dirty="0" err="1"/>
              <a:t>out.write</a:t>
            </a:r>
            <a:r>
              <a:rPr lang="en-US" altLang="zh-CN" sz="2400" dirty="0"/>
              <a:t>( "Hello!"  );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   </a:t>
            </a:r>
            <a:r>
              <a:rPr lang="en-US" altLang="zh-CN" sz="2400" dirty="0" err="1">
                <a:solidFill>
                  <a:schemeClr val="tx2"/>
                </a:solidFill>
              </a:rPr>
              <a:t>out.newLine</a:t>
            </a:r>
            <a:r>
              <a:rPr lang="en-US" altLang="zh-CN" sz="2400" dirty="0">
                <a:solidFill>
                  <a:schemeClr val="tx2"/>
                </a:solidFill>
              </a:rPr>
              <a:t>() ; 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zh-CN" altLang="en-US" sz="2400" dirty="0"/>
              <a:t>        </a:t>
            </a:r>
            <a:r>
              <a:rPr lang="en-US" altLang="zh-CN" sz="2400" dirty="0" err="1"/>
              <a:t>out.write</a:t>
            </a:r>
            <a:r>
              <a:rPr lang="en-US" altLang="zh-CN" sz="2400" dirty="0"/>
              <a:t>( "This is another text file using </a:t>
            </a:r>
            <a:r>
              <a:rPr lang="en-US" altLang="zh-CN" sz="2400" dirty="0" err="1"/>
              <a:t>BufferedWriter</a:t>
            </a:r>
            <a:r>
              <a:rPr lang="en-US" altLang="zh-CN" sz="2400" dirty="0"/>
              <a:t>,");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   </a:t>
            </a:r>
            <a:r>
              <a:rPr lang="en-US" altLang="zh-CN" sz="2400" dirty="0" err="1">
                <a:solidFill>
                  <a:schemeClr val="tx2"/>
                </a:solidFill>
              </a:rPr>
              <a:t>out.newLine</a:t>
            </a:r>
            <a:r>
              <a:rPr lang="en-US" altLang="zh-CN" sz="2400" dirty="0">
                <a:solidFill>
                  <a:schemeClr val="tx2"/>
                </a:solidFill>
              </a:rPr>
              <a:t>(); ;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   </a:t>
            </a:r>
            <a:r>
              <a:rPr lang="en-US" altLang="zh-CN" sz="2400" dirty="0" err="1"/>
              <a:t>out.write</a:t>
            </a:r>
            <a:r>
              <a:rPr lang="en-US" altLang="zh-CN" sz="2400" dirty="0"/>
              <a:t>( "So I can use a common way to start a newline" ); 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    </a:t>
            </a:r>
            <a:r>
              <a:rPr lang="en-US" altLang="zh-CN" sz="2400" dirty="0" err="1"/>
              <a:t>out.close</a:t>
            </a:r>
            <a:r>
              <a:rPr lang="en-US" altLang="zh-CN" sz="2400" dirty="0"/>
              <a:t>();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}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400" dirty="0"/>
              <a:t>}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7EE6899-EC13-3C7D-63A3-DDFE8C3B0C9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5835E4-2327-214F-9E57-FEC24104F78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663994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dirty="0" err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BufferedWriter</a:t>
            </a: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类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1600201"/>
            <a:ext cx="10972800" cy="834232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buNone/>
            </a:pPr>
            <a:r>
              <a:rPr lang="zh-CN" altLang="en-US" sz="2800" dirty="0"/>
              <a:t>用任何文本编辑器打开</a:t>
            </a:r>
            <a:r>
              <a:rPr lang="en-US" altLang="zh-CN" sz="2800" dirty="0"/>
              <a:t>newHello.txt</a:t>
            </a:r>
            <a:r>
              <a:rPr lang="zh-CN" altLang="en-US" sz="2800" dirty="0"/>
              <a:t>都会出现正确的换行效果</a:t>
            </a:r>
          </a:p>
        </p:txBody>
      </p:sp>
      <p:pic>
        <p:nvPicPr>
          <p:cNvPr id="7475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088" y="2434432"/>
            <a:ext cx="7400852" cy="20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4EDE173A-CE95-0F0B-9CC6-70FCF0A1E2A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5F7DC0C-88B9-3F3D-28D3-2E345B7E5B9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663994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dirty="0" err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BufferedWriter</a:t>
            </a: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类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1600200"/>
            <a:ext cx="10972800" cy="4525963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dirty="0" err="1"/>
              <a:t>FileReader</a:t>
            </a:r>
            <a:r>
              <a:rPr lang="zh-CN" altLang="en-US" dirty="0"/>
              <a:t>类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从文本文件中读取字符。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继承自</a:t>
            </a:r>
            <a:r>
              <a:rPr lang="en-US" altLang="zh-CN" sz="2000" dirty="0">
                <a:solidFill>
                  <a:schemeClr val="tx2"/>
                </a:solidFill>
              </a:rPr>
              <a:t>Reader</a:t>
            </a:r>
            <a:r>
              <a:rPr lang="zh-CN" altLang="en-US" dirty="0"/>
              <a:t>抽象类的子类</a:t>
            </a:r>
            <a:r>
              <a:rPr lang="en-US" altLang="zh-CN" sz="2000" dirty="0" err="1">
                <a:solidFill>
                  <a:schemeClr val="tx2"/>
                </a:solidFill>
              </a:rPr>
              <a:t>InputStreamReader</a:t>
            </a:r>
            <a:r>
              <a:rPr lang="zh-CN" altLang="en-US" sz="2000" dirty="0">
                <a:solidFill>
                  <a:schemeClr val="tx2"/>
                </a:solidFill>
              </a:rPr>
              <a:t>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 err="1"/>
              <a:t>BufferedReader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读文本文件的缓冲器类。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具有</a:t>
            </a:r>
            <a:r>
              <a:rPr lang="en-US" altLang="zh-CN" dirty="0" err="1"/>
              <a:t>readLine</a:t>
            </a:r>
            <a:r>
              <a:rPr lang="en-US" altLang="zh-CN" dirty="0"/>
              <a:t>()</a:t>
            </a:r>
            <a:r>
              <a:rPr lang="zh-CN" altLang="en-US" dirty="0"/>
              <a:t>方法，可以对换行符进行鉴别，一行一行地读取输入流中的内容。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继承自</a:t>
            </a:r>
            <a:r>
              <a:rPr lang="en-US" altLang="zh-CN" sz="2000" dirty="0">
                <a:solidFill>
                  <a:schemeClr val="tx2"/>
                </a:solidFill>
              </a:rPr>
              <a:t>Reader</a:t>
            </a:r>
            <a:r>
              <a:rPr lang="zh-CN" altLang="en-US" sz="2000" dirty="0">
                <a:solidFill>
                  <a:schemeClr val="tx2"/>
                </a:solidFill>
              </a:rPr>
              <a:t>。</a:t>
            </a:r>
            <a:endParaRPr lang="zh-CN" altLang="en-US" dirty="0"/>
          </a:p>
        </p:txBody>
      </p:sp>
      <p:sp>
        <p:nvSpPr>
          <p:cNvPr id="78851" name="Rectangle 4"/>
          <p:cNvSpPr>
            <a:spLocks noChangeArrowheads="1"/>
          </p:cNvSpPr>
          <p:nvPr/>
        </p:nvSpPr>
        <p:spPr bwMode="auto">
          <a:xfrm>
            <a:off x="9144000" y="5105400"/>
            <a:ext cx="609600" cy="838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5F168BE-85F9-2136-A800-80C21DA4487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1727890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读文本文件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5C8A62-A27F-C1F4-C955-0F714C8D14D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07368" y="1628800"/>
            <a:ext cx="11593288" cy="5040560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indent="0" eaLnBrk="1" hangingPunct="1">
              <a:spcBef>
                <a:spcPct val="40000"/>
              </a:spcBef>
              <a:buNone/>
            </a:pPr>
            <a:r>
              <a:rPr lang="en-US" altLang="zh-CN" sz="2000" dirty="0"/>
              <a:t>import java.io.*;</a:t>
            </a:r>
          </a:p>
          <a:p>
            <a:pPr marL="0" indent="0" eaLnBrk="1" hangingPunct="1">
              <a:buNone/>
            </a:pPr>
            <a:r>
              <a:rPr lang="en-US" altLang="zh-CN" sz="2000" dirty="0"/>
              <a:t>class </a:t>
            </a:r>
            <a:r>
              <a:rPr lang="en-US" altLang="zh-CN" sz="2000" dirty="0" err="1"/>
              <a:t>BufferedReaderTester</a:t>
            </a:r>
            <a:r>
              <a:rPr lang="en-US" altLang="zh-CN" sz="2000" dirty="0"/>
              <a:t> {</a:t>
            </a:r>
          </a:p>
          <a:p>
            <a:pPr marL="0" indent="0" eaLnBrk="1" hangingPunct="1">
              <a:buNone/>
            </a:pPr>
            <a:r>
              <a:rPr lang="en-US" altLang="zh-CN" sz="2000" dirty="0"/>
              <a:t>    public static void main ( String[] 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 ) {</a:t>
            </a:r>
          </a:p>
          <a:p>
            <a:pPr marL="0" indent="0" eaLnBrk="1" hangingPunct="1">
              <a:buNone/>
            </a:pPr>
            <a:r>
              <a:rPr lang="en-US" altLang="zh-CN" sz="2000" dirty="0"/>
              <a:t>        String </a:t>
            </a:r>
            <a:r>
              <a:rPr lang="en-US" altLang="zh-CN" sz="2000" dirty="0" err="1"/>
              <a:t>fileName</a:t>
            </a:r>
            <a:r>
              <a:rPr lang="en-US" altLang="zh-CN" sz="2000" dirty="0"/>
              <a:t> = "Hello.txt";</a:t>
            </a:r>
          </a:p>
          <a:p>
            <a:pPr marL="0" indent="0" eaLnBrk="1" hangingPunct="1">
              <a:buNone/>
            </a:pPr>
            <a:r>
              <a:rPr lang="en-US" altLang="zh-CN" sz="2000" dirty="0"/>
              <a:t>        try {</a:t>
            </a:r>
          </a:p>
          <a:p>
            <a:pPr marL="0" indent="0" eaLnBrk="1" hangingPunct="1">
              <a:buNone/>
            </a:pPr>
            <a:r>
              <a:rPr lang="en-US" altLang="zh-CN" sz="2000" dirty="0"/>
              <a:t>             </a:t>
            </a:r>
            <a:r>
              <a:rPr lang="en-US" altLang="zh-CN" sz="2000" dirty="0" err="1"/>
              <a:t>BufferedReader</a:t>
            </a:r>
            <a:r>
              <a:rPr lang="en-US" altLang="zh-CN" sz="2000" dirty="0"/>
              <a:t> in = new </a:t>
            </a:r>
            <a:r>
              <a:rPr lang="en-US" altLang="zh-CN" sz="2000" dirty="0" err="1"/>
              <a:t>BufferedReader</a:t>
            </a:r>
            <a:r>
              <a:rPr lang="en-US" altLang="zh-CN" sz="2000" dirty="0"/>
              <a:t>(new </a:t>
            </a:r>
            <a:r>
              <a:rPr lang="en-US" altLang="zh-CN" sz="2000" dirty="0" err="1"/>
              <a:t>FileReader</a:t>
            </a:r>
            <a:r>
              <a:rPr lang="en-US" altLang="zh-CN" sz="2000" dirty="0"/>
              <a:t>( </a:t>
            </a:r>
            <a:r>
              <a:rPr lang="en-US" altLang="zh-CN" sz="2000" dirty="0" err="1"/>
              <a:t>fileName</a:t>
            </a:r>
            <a:r>
              <a:rPr lang="en-US" altLang="zh-CN" sz="2000" dirty="0"/>
              <a:t>  ) );</a:t>
            </a:r>
          </a:p>
          <a:p>
            <a:pPr marL="0" indent="0" eaLnBrk="1" hangingPunct="1">
              <a:buNone/>
            </a:pPr>
            <a:r>
              <a:rPr lang="en-US" altLang="zh-CN" sz="2000" dirty="0"/>
              <a:t>             line = </a:t>
            </a:r>
            <a:r>
              <a:rPr lang="en-US" altLang="zh-CN" sz="2000" dirty="0" err="1"/>
              <a:t>in.readLine</a:t>
            </a:r>
            <a:r>
              <a:rPr lang="en-US" altLang="zh-CN" sz="2000" dirty="0"/>
              <a:t>();   </a:t>
            </a:r>
            <a:r>
              <a:rPr lang="en-US" altLang="zh-CN" sz="2000" dirty="0">
                <a:solidFill>
                  <a:schemeClr val="tx1"/>
                </a:solidFill>
              </a:rPr>
              <a:t>//</a:t>
            </a:r>
            <a:r>
              <a:rPr lang="zh-CN" altLang="en-US" sz="2000" dirty="0">
                <a:solidFill>
                  <a:schemeClr val="tx1"/>
                </a:solidFill>
              </a:rPr>
              <a:t>读取一行内容</a:t>
            </a:r>
          </a:p>
          <a:p>
            <a:pPr marL="0" indent="0" eaLnBrk="1" hangingPunct="1">
              <a:buNone/>
            </a:pPr>
            <a:r>
              <a:rPr lang="zh-CN" altLang="en-US" sz="2000" dirty="0"/>
              <a:t>             </a:t>
            </a:r>
            <a:r>
              <a:rPr lang="en-US" altLang="zh-CN" sz="2000" dirty="0">
                <a:solidFill>
                  <a:schemeClr val="hlink"/>
                </a:solidFill>
              </a:rPr>
              <a:t>while ( line != null )</a:t>
            </a:r>
            <a:r>
              <a:rPr lang="zh-CN" altLang="en-US" sz="2000" dirty="0">
                <a:solidFill>
                  <a:schemeClr val="hlink"/>
                </a:solidFill>
              </a:rPr>
              <a:t> { </a:t>
            </a:r>
          </a:p>
          <a:p>
            <a:pPr marL="0" indent="0" eaLnBrk="1" hangingPunct="1">
              <a:buNone/>
            </a:pPr>
            <a:r>
              <a:rPr lang="zh-CN" altLang="en-US" sz="2000" dirty="0">
                <a:solidFill>
                  <a:schemeClr val="hlink"/>
                </a:solidFill>
              </a:rPr>
              <a:t>       	         </a:t>
            </a:r>
            <a:r>
              <a:rPr lang="en-US" altLang="zh-CN" sz="2000" dirty="0" err="1">
                <a:solidFill>
                  <a:schemeClr val="hlink"/>
                </a:solidFill>
              </a:rPr>
              <a:t>System.out.println</a:t>
            </a:r>
            <a:r>
              <a:rPr lang="en-US" altLang="zh-CN" sz="2000" dirty="0">
                <a:solidFill>
                  <a:schemeClr val="hlink"/>
                </a:solidFill>
              </a:rPr>
              <a:t>( line );  line = </a:t>
            </a:r>
            <a:r>
              <a:rPr lang="en-US" altLang="zh-CN" sz="2000" dirty="0" err="1">
                <a:solidFill>
                  <a:schemeClr val="hlink"/>
                </a:solidFill>
              </a:rPr>
              <a:t>in.readLine</a:t>
            </a:r>
            <a:r>
              <a:rPr lang="en-US" altLang="zh-CN" sz="2000" dirty="0">
                <a:solidFill>
                  <a:schemeClr val="hlink"/>
                </a:solidFill>
              </a:rPr>
              <a:t>();</a:t>
            </a:r>
          </a:p>
          <a:p>
            <a:pPr marL="0" indent="0" eaLnBrk="1" hangingPunct="1">
              <a:buNone/>
            </a:pPr>
            <a:r>
              <a:rPr lang="en-US" altLang="zh-CN" sz="2000" dirty="0">
                <a:solidFill>
                  <a:schemeClr val="hlink"/>
                </a:solidFill>
              </a:rPr>
              <a:t>             }</a:t>
            </a:r>
          </a:p>
          <a:p>
            <a:pPr marL="0" indent="0" eaLnBrk="1" hangingPunct="1">
              <a:buNone/>
            </a:pPr>
            <a:r>
              <a:rPr lang="en-US" altLang="zh-CN" sz="2000" dirty="0"/>
              <a:t>             </a:t>
            </a:r>
            <a:r>
              <a:rPr lang="en-US" altLang="zh-CN" sz="2000" dirty="0" err="1"/>
              <a:t>in.close</a:t>
            </a:r>
            <a:r>
              <a:rPr lang="en-US" altLang="zh-CN" sz="2000" dirty="0"/>
              <a:t>(); </a:t>
            </a:r>
          </a:p>
          <a:p>
            <a:pPr marL="0" indent="0" eaLnBrk="1" hangingPunct="1">
              <a:buNone/>
            </a:pPr>
            <a:r>
              <a:rPr lang="zh-CN" altLang="en-US" sz="2000" dirty="0"/>
              <a:t>         }</a:t>
            </a:r>
          </a:p>
          <a:p>
            <a:pPr marL="0" indent="0" eaLnBrk="1" hangingPunct="1">
              <a:buNone/>
            </a:pPr>
            <a:r>
              <a:rPr lang="en-US" altLang="zh-CN" sz="2000" dirty="0"/>
              <a:t>         catch ( </a:t>
            </a:r>
            <a:r>
              <a:rPr lang="en-US" altLang="zh-CN" sz="2000" dirty="0" err="1"/>
              <a:t>IOException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iox</a:t>
            </a:r>
            <a:r>
              <a:rPr lang="en-US" altLang="zh-CN" sz="2000" dirty="0"/>
              <a:t> ) </a:t>
            </a:r>
            <a:r>
              <a:rPr lang="zh-CN" altLang="en-US" sz="2000" dirty="0"/>
              <a:t>{ </a:t>
            </a:r>
            <a:r>
              <a:rPr lang="en-US" altLang="zh-CN" sz="2000" dirty="0" err="1"/>
              <a:t>System.out.println</a:t>
            </a:r>
            <a:r>
              <a:rPr lang="en-US" altLang="zh-CN" sz="2000" dirty="0"/>
              <a:t>("Problem reading " + </a:t>
            </a:r>
            <a:r>
              <a:rPr lang="en-US" altLang="zh-CN" sz="2000" dirty="0" err="1"/>
              <a:t>fileName</a:t>
            </a:r>
            <a:r>
              <a:rPr lang="en-US" altLang="zh-CN" sz="2000" dirty="0"/>
              <a:t> ); }</a:t>
            </a:r>
          </a:p>
          <a:p>
            <a:pPr marL="0" indent="0" eaLnBrk="1" hangingPunct="1">
              <a:buNone/>
            </a:pPr>
            <a:r>
              <a:rPr lang="en-US" altLang="zh-CN" sz="2000" dirty="0"/>
              <a:t>    }</a:t>
            </a:r>
          </a:p>
          <a:p>
            <a:pPr marL="0" indent="0" eaLnBrk="1" hangingPunct="1">
              <a:buNone/>
            </a:pPr>
            <a:r>
              <a:rPr lang="zh-CN" altLang="en-US" sz="2000" dirty="0"/>
              <a:t>}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539FD2-808E-484F-4917-0371E023D35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1727890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读文本文件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B7CC264-0C78-7CF8-2C95-5D6FEE7D491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1600200"/>
            <a:ext cx="10972800" cy="4525963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000"/>
              <a:t>运行该程序，屏幕上将逐行显示出</a:t>
            </a:r>
            <a:r>
              <a:rPr lang="en-US" altLang="zh-CN" sz="2000"/>
              <a:t>Hello.txt</a:t>
            </a:r>
            <a:r>
              <a:rPr lang="zh-CN" altLang="en-US" sz="2000"/>
              <a:t>文件中的内容。</a:t>
            </a:r>
            <a:endParaRPr lang="en-US" altLang="zh-CN" sz="2000">
              <a:solidFill>
                <a:schemeClr val="tx2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000">
                <a:solidFill>
                  <a:schemeClr val="tx2"/>
                </a:solidFill>
              </a:rPr>
              <a:t>FileReader</a:t>
            </a:r>
            <a:r>
              <a:rPr lang="zh-CN" altLang="en-US" sz="2000"/>
              <a:t>对象：创建后将打开文件，如果文件不存在，会抛出一个</a:t>
            </a:r>
            <a:r>
              <a:rPr lang="en-US" altLang="zh-CN" sz="2000"/>
              <a:t>IOException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000">
                <a:solidFill>
                  <a:schemeClr val="tx2"/>
                </a:solidFill>
              </a:rPr>
              <a:t>BufferedReader</a:t>
            </a:r>
            <a:r>
              <a:rPr lang="zh-CN" altLang="en-US" sz="2000"/>
              <a:t>类的</a:t>
            </a:r>
            <a:r>
              <a:rPr lang="en-US" altLang="zh-CN" sz="2000">
                <a:solidFill>
                  <a:srgbClr val="2222EA"/>
                </a:solidFill>
              </a:rPr>
              <a:t>readLine()</a:t>
            </a:r>
            <a:r>
              <a:rPr lang="zh-CN" altLang="en-US" sz="2000"/>
              <a:t>方法：从一个面向字符的输入流中读取一行文本。如果其中不再有数据，返回</a:t>
            </a:r>
            <a:r>
              <a:rPr lang="en-US" altLang="zh-CN" sz="2000">
                <a:solidFill>
                  <a:schemeClr val="hlink"/>
                </a:solidFill>
              </a:rPr>
              <a:t>null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000">
                <a:solidFill>
                  <a:schemeClr val="tx2"/>
                </a:solidFill>
              </a:rPr>
              <a:t>Reader</a:t>
            </a:r>
            <a:r>
              <a:rPr lang="zh-CN" altLang="en-US" sz="2000"/>
              <a:t>类的</a:t>
            </a:r>
            <a:r>
              <a:rPr lang="en-US" altLang="zh-CN" sz="2000">
                <a:solidFill>
                  <a:srgbClr val="2222EA"/>
                </a:solidFill>
              </a:rPr>
              <a:t>read()</a:t>
            </a:r>
            <a:r>
              <a:rPr lang="zh-CN" altLang="en-US" sz="2000"/>
              <a:t>方法：也可用来判别文件结束。该方法返回的一个表示某个字符的</a:t>
            </a:r>
            <a:r>
              <a:rPr lang="en-US" altLang="zh-CN" sz="2000"/>
              <a:t>int</a:t>
            </a:r>
            <a:r>
              <a:rPr lang="zh-CN" altLang="en-US" sz="2000"/>
              <a:t>型整数，如果读到文件末尾，返回 -1。据此，可修改本例中的读文件部分：</a:t>
            </a:r>
          </a:p>
          <a:p>
            <a:pPr lvl="1" eaLnBrk="1" hangingPunct="1">
              <a:lnSpc>
                <a:spcPct val="120000"/>
              </a:lnSpc>
              <a:buFont typeface="Georgia" panose="02040502050405020303" pitchFamily="18" charset="0"/>
              <a:buNone/>
            </a:pPr>
            <a:r>
              <a:rPr lang="en-US" altLang="zh-CN" sz="1800"/>
              <a:t>int c;</a:t>
            </a:r>
          </a:p>
          <a:p>
            <a:pPr lvl="1" eaLnBrk="1" hangingPunct="1">
              <a:lnSpc>
                <a:spcPct val="120000"/>
              </a:lnSpc>
              <a:buFont typeface="Georgia" panose="02040502050405020303" pitchFamily="18" charset="0"/>
              <a:buNone/>
            </a:pPr>
            <a:r>
              <a:rPr lang="en-US" altLang="zh-CN" sz="1800"/>
              <a:t>while((c=in.read())!= -1)  System.out.print(</a:t>
            </a:r>
            <a:r>
              <a:rPr lang="en-US" altLang="zh-CN" sz="1800">
                <a:solidFill>
                  <a:schemeClr val="hlink"/>
                </a:solidFill>
              </a:rPr>
              <a:t>(char)c</a:t>
            </a:r>
            <a:r>
              <a:rPr lang="en-US" altLang="zh-CN" sz="1800"/>
              <a:t>);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000">
                <a:solidFill>
                  <a:srgbClr val="2222EA"/>
                </a:solidFill>
              </a:rPr>
              <a:t>close()</a:t>
            </a:r>
            <a:r>
              <a:rPr lang="zh-CN" altLang="en-US" sz="2000"/>
              <a:t>方法：为了操作系统可以更为有效地利用有限的资源，应该在读取完毕后，调用该方法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283019-B1E6-51E5-7681-810CF12D16A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1727890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读文本文件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C62B34F0-1F73-3343-5766-2232B4A9ADA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4" name="Rectangle 16"/>
          <p:cNvSpPr>
            <a:spLocks noGrp="1" noChangeArrowheads="1"/>
          </p:cNvSpPr>
          <p:nvPr>
            <p:ph idx="4294967295"/>
          </p:nvPr>
        </p:nvSpPr>
        <p:spPr>
          <a:xfrm>
            <a:off x="609600" y="1600200"/>
            <a:ext cx="10972800" cy="4525963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400"/>
              <a:t>指定源文件和目标文件名，将源文件的内容复制到目标文件。调用方式为：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200"/>
              <a:t>java copy sourceFile  destinationFile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zh-CN" altLang="en-US" sz="2200"/>
              <a:t>共包括两个类</a:t>
            </a:r>
          </a:p>
          <a:p>
            <a:pPr eaLnBrk="1" hangingPunct="1"/>
            <a:r>
              <a:rPr lang="en-US" altLang="zh-CN" sz="2600"/>
              <a:t>CopyMaker</a:t>
            </a:r>
          </a:p>
          <a:p>
            <a:pPr lvl="1" eaLnBrk="1" hangingPunct="1"/>
            <a:r>
              <a:rPr lang="en-US" altLang="zh-CN" sz="2200"/>
              <a:t>private boolean openFiles()</a:t>
            </a:r>
          </a:p>
          <a:p>
            <a:pPr lvl="1" eaLnBrk="1" hangingPunct="1"/>
            <a:r>
              <a:rPr lang="en-US" altLang="zh-CN" sz="2200"/>
              <a:t>private boolean copyFiles()</a:t>
            </a:r>
          </a:p>
          <a:p>
            <a:pPr lvl="1" eaLnBrk="1" hangingPunct="1"/>
            <a:r>
              <a:rPr lang="en-US" altLang="zh-CN" sz="2200"/>
              <a:t>private boolean closeFiles()</a:t>
            </a:r>
          </a:p>
          <a:p>
            <a:pPr lvl="1" eaLnBrk="1" hangingPunct="1"/>
            <a:r>
              <a:rPr lang="en-US" altLang="zh-CN" sz="2200"/>
              <a:t>public boolean copy(String src, String dst ) </a:t>
            </a:r>
          </a:p>
          <a:p>
            <a:pPr eaLnBrk="1" hangingPunct="1"/>
            <a:r>
              <a:rPr lang="en-US" altLang="zh-CN" sz="2600"/>
              <a:t>FileCopy</a:t>
            </a:r>
          </a:p>
          <a:p>
            <a:pPr lvl="1" eaLnBrk="1" hangingPunct="1"/>
            <a:r>
              <a:rPr lang="en-US" altLang="zh-CN" sz="2200"/>
              <a:t>main() </a:t>
            </a:r>
            <a:endParaRPr lang="zh-CN" altLang="en-US" sz="22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63FF9F4-3956-EAB2-F0FC-5C0D36D59AC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1727890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读文本文件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E98F8956-AF34-AEA3-19A9-72382924E08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1600200"/>
            <a:ext cx="10972800" cy="4525963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50000"/>
              </a:spcBef>
              <a:buFont typeface="Georgia" panose="02040502050405020303" pitchFamily="18" charset="0"/>
              <a:buNone/>
            </a:pPr>
            <a:r>
              <a:rPr lang="en-US" altLang="zh-CN" sz="2400"/>
              <a:t>import java.io.*; 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400"/>
              <a:t>class CopyMaker </a:t>
            </a:r>
            <a:r>
              <a:rPr lang="zh-CN" altLang="en-US" sz="2400"/>
              <a:t>{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zh-CN" altLang="en-US" sz="2400"/>
              <a:t>     </a:t>
            </a:r>
            <a:r>
              <a:rPr lang="en-US" altLang="zh-CN" sz="2400"/>
              <a:t>String sourceName, destName;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400"/>
              <a:t>     BufferedReader source;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400"/>
              <a:t>   	BufferedWriter dest;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400"/>
              <a:t>     String line;</a:t>
            </a:r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1B1D678-4369-4CE1-7694-13D90FD0714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1727890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读文本文件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46ACD3EA-5B99-1E8E-2A68-203AE4E4224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83432" y="1643783"/>
            <a:ext cx="10513168" cy="4649886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private </a:t>
            </a:r>
            <a:r>
              <a:rPr lang="en-US" altLang="zh-CN" sz="2200" dirty="0" err="1"/>
              <a:t>boolean</a:t>
            </a:r>
            <a:r>
              <a:rPr lang="en-US" altLang="zh-CN" sz="2200" dirty="0"/>
              <a:t> </a:t>
            </a:r>
            <a:r>
              <a:rPr lang="en-US" altLang="zh-CN" sz="2200" dirty="0" err="1"/>
              <a:t>openFiles</a:t>
            </a:r>
            <a:r>
              <a:rPr lang="en-US" altLang="zh-CN" sz="2200" dirty="0"/>
              <a:t>(){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   	 try {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   	      source = new </a:t>
            </a:r>
            <a:r>
              <a:rPr lang="en-US" altLang="zh-CN" sz="2200" dirty="0" err="1"/>
              <a:t>BufferedReader</a:t>
            </a:r>
            <a:r>
              <a:rPr lang="en-US" altLang="zh-CN" sz="2200" dirty="0"/>
              <a:t>(new </a:t>
            </a:r>
            <a:r>
              <a:rPr lang="en-US" altLang="zh-CN" sz="2200" dirty="0" err="1"/>
              <a:t>FileReader</a:t>
            </a:r>
            <a:r>
              <a:rPr lang="en-US" altLang="zh-CN" sz="2200" dirty="0"/>
              <a:t>( </a:t>
            </a:r>
            <a:r>
              <a:rPr lang="en-US" altLang="zh-CN" sz="2200" dirty="0" err="1">
                <a:solidFill>
                  <a:srgbClr val="2222EA"/>
                </a:solidFill>
              </a:rPr>
              <a:t>sourceName</a:t>
            </a:r>
            <a:r>
              <a:rPr lang="en-US" altLang="zh-CN" sz="2200" dirty="0"/>
              <a:t> ));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zh-CN" altLang="en-US" sz="2200" dirty="0"/>
              <a:t> 	     } </a:t>
            </a:r>
            <a:r>
              <a:rPr lang="en-US" altLang="zh-CN" sz="2200" dirty="0"/>
              <a:t>catch(</a:t>
            </a:r>
            <a:r>
              <a:rPr lang="en-US" altLang="zh-CN" sz="2200" dirty="0" err="1"/>
              <a:t>IOException</a:t>
            </a:r>
            <a:r>
              <a:rPr lang="en-US" altLang="zh-CN" sz="2200" dirty="0"/>
              <a:t> </a:t>
            </a:r>
            <a:r>
              <a:rPr lang="en-US" altLang="zh-CN" sz="2200" dirty="0" err="1"/>
              <a:t>iox</a:t>
            </a:r>
            <a:r>
              <a:rPr lang="en-US" altLang="zh-CN" sz="2200" dirty="0"/>
              <a:t>){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    	      </a:t>
            </a:r>
            <a:r>
              <a:rPr lang="en-US" altLang="zh-CN" sz="2200" dirty="0" err="1"/>
              <a:t>System.out.println</a:t>
            </a:r>
            <a:r>
              <a:rPr lang="en-US" altLang="zh-CN" sz="2200" dirty="0"/>
              <a:t>("Problem opening " + </a:t>
            </a:r>
            <a:r>
              <a:rPr lang="en-US" altLang="zh-CN" sz="2200" dirty="0" err="1"/>
              <a:t>sourceName</a:t>
            </a:r>
            <a:r>
              <a:rPr lang="en-US" altLang="zh-CN" sz="2200" dirty="0"/>
              <a:t> ); 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             return false;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        }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        try {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    	     </a:t>
            </a:r>
            <a:r>
              <a:rPr lang="en-US" altLang="zh-CN" sz="2200" dirty="0" err="1"/>
              <a:t>dest</a:t>
            </a:r>
            <a:r>
              <a:rPr lang="en-US" altLang="zh-CN" sz="2200" dirty="0"/>
              <a:t> = new </a:t>
            </a:r>
            <a:r>
              <a:rPr lang="en-US" altLang="zh-CN" sz="2200" dirty="0" err="1"/>
              <a:t>BufferedWriter</a:t>
            </a:r>
            <a:r>
              <a:rPr lang="en-US" altLang="zh-CN" sz="2200" dirty="0"/>
              <a:t>(new </a:t>
            </a:r>
            <a:r>
              <a:rPr lang="en-US" altLang="zh-CN" sz="2200" dirty="0" err="1"/>
              <a:t>FileWriter</a:t>
            </a:r>
            <a:r>
              <a:rPr lang="en-US" altLang="zh-CN" sz="2200" dirty="0"/>
              <a:t>( </a:t>
            </a:r>
            <a:r>
              <a:rPr lang="en-US" altLang="zh-CN" sz="2200" dirty="0" err="1">
                <a:solidFill>
                  <a:srgbClr val="2222EA"/>
                </a:solidFill>
              </a:rPr>
              <a:t>destName</a:t>
            </a:r>
            <a:r>
              <a:rPr lang="en-US" altLang="zh-CN" sz="2200" dirty="0"/>
              <a:t> )); 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zh-CN" altLang="en-US" sz="2200" dirty="0"/>
              <a:t>        } </a:t>
            </a:r>
            <a:r>
              <a:rPr lang="en-US" altLang="zh-CN" sz="2200" dirty="0"/>
              <a:t>catch(</a:t>
            </a:r>
            <a:r>
              <a:rPr lang="en-US" altLang="zh-CN" sz="2200" dirty="0" err="1"/>
              <a:t>IOException</a:t>
            </a:r>
            <a:r>
              <a:rPr lang="en-US" altLang="zh-CN" sz="2200" dirty="0"/>
              <a:t> </a:t>
            </a:r>
            <a:r>
              <a:rPr lang="en-US" altLang="zh-CN" sz="2200" dirty="0" err="1"/>
              <a:t>iox</a:t>
            </a:r>
            <a:r>
              <a:rPr lang="en-US" altLang="zh-CN" sz="2200" dirty="0"/>
              <a:t>){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    	      </a:t>
            </a:r>
            <a:r>
              <a:rPr lang="en-US" altLang="zh-CN" sz="2200" dirty="0" err="1"/>
              <a:t>System.out.println</a:t>
            </a:r>
            <a:r>
              <a:rPr lang="en-US" altLang="zh-CN" sz="2200" dirty="0"/>
              <a:t>("Problem opening " + </a:t>
            </a:r>
            <a:r>
              <a:rPr lang="en-US" altLang="zh-CN" sz="2200" dirty="0" err="1"/>
              <a:t>destName</a:t>
            </a:r>
            <a:r>
              <a:rPr lang="en-US" altLang="zh-CN" sz="2200" dirty="0"/>
              <a:t> );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             return false;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        }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        return true;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 }  </a:t>
            </a:r>
            <a:endParaRPr lang="zh-CN" altLang="en-US" sz="2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7B5E152-6A18-CF08-A108-1F36FFCDCF7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1727890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读文本文件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CCD68F8C-89A9-A011-18DC-BB6D8D25130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824" y="28973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39416" y="1484784"/>
            <a:ext cx="10022904" cy="4896544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Autofit/>
          </a:bodyPr>
          <a:lstStyle/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200" dirty="0"/>
              <a:t>private </a:t>
            </a:r>
            <a:r>
              <a:rPr lang="en-US" altLang="zh-CN" sz="2200" dirty="0" err="1"/>
              <a:t>boolean</a:t>
            </a:r>
            <a:r>
              <a:rPr lang="en-US" altLang="zh-CN" sz="2200" dirty="0"/>
              <a:t> </a:t>
            </a:r>
            <a:r>
              <a:rPr lang="en-US" altLang="zh-CN" sz="2200" dirty="0" err="1"/>
              <a:t>copyFiles</a:t>
            </a:r>
            <a:r>
              <a:rPr lang="en-US" altLang="zh-CN" sz="2200" dirty="0"/>
              <a:t>() {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200" dirty="0"/>
              <a:t>     try {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200" dirty="0"/>
              <a:t>   	    line = </a:t>
            </a:r>
            <a:r>
              <a:rPr lang="en-US" altLang="zh-CN" sz="2200" dirty="0" err="1"/>
              <a:t>source.readLine</a:t>
            </a:r>
            <a:r>
              <a:rPr lang="en-US" altLang="zh-CN" sz="2200" dirty="0"/>
              <a:t>(); 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200" dirty="0"/>
              <a:t>            </a:t>
            </a:r>
            <a:r>
              <a:rPr lang="en-US" altLang="zh-CN" sz="2200" dirty="0">
                <a:solidFill>
                  <a:schemeClr val="tx2"/>
                </a:solidFill>
              </a:rPr>
              <a:t>while(</a:t>
            </a:r>
            <a:r>
              <a:rPr lang="en-US" altLang="zh-CN" sz="2200" dirty="0">
                <a:solidFill>
                  <a:schemeClr val="hlink"/>
                </a:solidFill>
              </a:rPr>
              <a:t>line != null</a:t>
            </a:r>
            <a:r>
              <a:rPr lang="en-US" altLang="zh-CN" sz="2200" dirty="0">
                <a:solidFill>
                  <a:schemeClr val="tx2"/>
                </a:solidFill>
              </a:rPr>
              <a:t>)</a:t>
            </a:r>
            <a:r>
              <a:rPr lang="zh-CN" altLang="en-US" sz="2200" dirty="0">
                <a:solidFill>
                  <a:schemeClr val="tx2"/>
                </a:solidFill>
              </a:rPr>
              <a:t>{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2200" dirty="0">
                <a:solidFill>
                  <a:schemeClr val="tx2"/>
                </a:solidFill>
              </a:rPr>
              <a:t>               </a:t>
            </a:r>
            <a:r>
              <a:rPr lang="en-US" altLang="zh-CN" sz="2200" dirty="0" err="1">
                <a:solidFill>
                  <a:schemeClr val="tx2"/>
                </a:solidFill>
              </a:rPr>
              <a:t>dest.write</a:t>
            </a:r>
            <a:r>
              <a:rPr lang="en-US" altLang="zh-CN" sz="2200" dirty="0">
                <a:solidFill>
                  <a:schemeClr val="tx2"/>
                </a:solidFill>
              </a:rPr>
              <a:t>(line); 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200" dirty="0">
                <a:solidFill>
                  <a:schemeClr val="tx2"/>
                </a:solidFill>
              </a:rPr>
              <a:t>               </a:t>
            </a:r>
            <a:r>
              <a:rPr lang="en-US" altLang="zh-CN" sz="2200" dirty="0" err="1">
                <a:solidFill>
                  <a:schemeClr val="tx2"/>
                </a:solidFill>
              </a:rPr>
              <a:t>dest.newLine</a:t>
            </a:r>
            <a:r>
              <a:rPr lang="en-US" altLang="zh-CN" sz="2200" dirty="0">
                <a:solidFill>
                  <a:schemeClr val="tx2"/>
                </a:solidFill>
              </a:rPr>
              <a:t>(); 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200" dirty="0">
                <a:solidFill>
                  <a:schemeClr val="tx2"/>
                </a:solidFill>
              </a:rPr>
              <a:t>               </a:t>
            </a:r>
            <a:r>
              <a:rPr lang="en-US" altLang="zh-CN" sz="2200" dirty="0">
                <a:solidFill>
                  <a:schemeClr val="hlink"/>
                </a:solidFill>
              </a:rPr>
              <a:t>line = </a:t>
            </a:r>
            <a:r>
              <a:rPr lang="en-US" altLang="zh-CN" sz="2200" dirty="0" err="1">
                <a:solidFill>
                  <a:schemeClr val="hlink"/>
                </a:solidFill>
              </a:rPr>
              <a:t>source.readLine</a:t>
            </a:r>
            <a:r>
              <a:rPr lang="en-US" altLang="zh-CN" sz="2200" dirty="0">
                <a:solidFill>
                  <a:schemeClr val="hlink"/>
                </a:solidFill>
              </a:rPr>
              <a:t>()</a:t>
            </a:r>
            <a:r>
              <a:rPr lang="en-US" altLang="zh-CN" sz="2200" dirty="0">
                <a:solidFill>
                  <a:schemeClr val="tx2"/>
                </a:solidFill>
              </a:rPr>
              <a:t>;  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200" dirty="0">
                <a:solidFill>
                  <a:schemeClr val="tx2"/>
                </a:solidFill>
              </a:rPr>
              <a:t>             }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200" dirty="0"/>
              <a:t>      }catch(</a:t>
            </a:r>
            <a:r>
              <a:rPr lang="en-US" altLang="zh-CN" sz="2200" dirty="0" err="1"/>
              <a:t>IOException</a:t>
            </a:r>
            <a:r>
              <a:rPr lang="en-US" altLang="zh-CN" sz="2200" dirty="0"/>
              <a:t> </a:t>
            </a:r>
            <a:r>
              <a:rPr lang="en-US" altLang="zh-CN" sz="2200" dirty="0" err="1"/>
              <a:t>iox</a:t>
            </a:r>
            <a:r>
              <a:rPr lang="en-US" altLang="zh-CN" sz="2200" dirty="0"/>
              <a:t>){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200" dirty="0"/>
              <a:t>    	    </a:t>
            </a:r>
            <a:r>
              <a:rPr lang="en-US" altLang="zh-CN" sz="2200" dirty="0" err="1"/>
              <a:t>System.out.println</a:t>
            </a:r>
            <a:r>
              <a:rPr lang="en-US" altLang="zh-CN" sz="2200" dirty="0"/>
              <a:t>("Problem reading or writing" );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200" dirty="0"/>
              <a:t>           return false;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200" dirty="0"/>
              <a:t>      }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200" dirty="0"/>
              <a:t>      return true;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200" dirty="0"/>
              <a:t> }</a:t>
            </a:r>
            <a:endParaRPr lang="zh-CN" altLang="en-US" sz="2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60C0A2-5C4A-0871-0A6C-7E1F39DC5E5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1727890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读文本文件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5AF8C3A3-CF26-9301-0087-1514EC4AAB9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343472" y="1281466"/>
            <a:ext cx="9158808" cy="5328592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Autofit/>
          </a:bodyPr>
          <a:lstStyle/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private </a:t>
            </a:r>
            <a:r>
              <a:rPr lang="en-US" altLang="zh-CN" sz="2200" dirty="0" err="1"/>
              <a:t>boolean</a:t>
            </a:r>
            <a:r>
              <a:rPr lang="en-US" altLang="zh-CN" sz="2200" dirty="0"/>
              <a:t> </a:t>
            </a:r>
            <a:r>
              <a:rPr lang="en-US" altLang="zh-CN" sz="2200" dirty="0" err="1"/>
              <a:t>closeFiles</a:t>
            </a:r>
            <a:r>
              <a:rPr lang="en-US" altLang="zh-CN" sz="2200" dirty="0"/>
              <a:t>() {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     </a:t>
            </a:r>
            <a:r>
              <a:rPr lang="en-US" altLang="zh-CN" sz="2200" dirty="0" err="1"/>
              <a:t>boolean</a:t>
            </a:r>
            <a:r>
              <a:rPr lang="en-US" altLang="zh-CN" sz="2200" dirty="0"/>
              <a:t> </a:t>
            </a:r>
            <a:r>
              <a:rPr lang="en-US" altLang="zh-CN" sz="2200" dirty="0" err="1"/>
              <a:t>retVal</a:t>
            </a:r>
            <a:r>
              <a:rPr lang="en-US" altLang="zh-CN" sz="2200" dirty="0"/>
              <a:t>=true;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     try {  </a:t>
            </a:r>
            <a:r>
              <a:rPr lang="en-US" altLang="zh-CN" sz="2200" dirty="0" err="1">
                <a:solidFill>
                  <a:srgbClr val="2222EA"/>
                </a:solidFill>
              </a:rPr>
              <a:t>source.close</a:t>
            </a:r>
            <a:r>
              <a:rPr lang="en-US" altLang="zh-CN" sz="2200" dirty="0">
                <a:solidFill>
                  <a:srgbClr val="2222EA"/>
                </a:solidFill>
              </a:rPr>
              <a:t>()</a:t>
            </a:r>
            <a:r>
              <a:rPr lang="en-US" altLang="zh-CN" sz="2200" dirty="0"/>
              <a:t>; 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     }catch (</a:t>
            </a:r>
            <a:r>
              <a:rPr lang="en-US" altLang="zh-CN" sz="2200" dirty="0" err="1"/>
              <a:t>IOException</a:t>
            </a:r>
            <a:r>
              <a:rPr lang="en-US" altLang="zh-CN" sz="2200" dirty="0"/>
              <a:t> </a:t>
            </a:r>
            <a:r>
              <a:rPr lang="en-US" altLang="zh-CN" sz="2200" dirty="0" err="1"/>
              <a:t>iox</a:t>
            </a:r>
            <a:r>
              <a:rPr lang="en-US" altLang="zh-CN" sz="2200" dirty="0"/>
              <a:t>){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          </a:t>
            </a:r>
            <a:r>
              <a:rPr lang="en-US" altLang="zh-CN" sz="2200" dirty="0" err="1"/>
              <a:t>System.out.println</a:t>
            </a:r>
            <a:r>
              <a:rPr lang="en-US" altLang="zh-CN" sz="2200" dirty="0"/>
              <a:t>("Problem closing " + </a:t>
            </a:r>
            <a:r>
              <a:rPr lang="en-US" altLang="zh-CN" sz="2200" dirty="0" err="1"/>
              <a:t>sourceName</a:t>
            </a:r>
            <a:r>
              <a:rPr lang="en-US" altLang="zh-CN" sz="2200" dirty="0"/>
              <a:t> );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           </a:t>
            </a:r>
            <a:r>
              <a:rPr lang="en-US" altLang="zh-CN" sz="2200" dirty="0" err="1"/>
              <a:t>retVal</a:t>
            </a:r>
            <a:r>
              <a:rPr lang="en-US" altLang="zh-CN" sz="2200" dirty="0"/>
              <a:t> = false;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      }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      try {  </a:t>
            </a:r>
            <a:r>
              <a:rPr lang="en-US" altLang="zh-CN" sz="2200" dirty="0" err="1">
                <a:solidFill>
                  <a:srgbClr val="2222EA"/>
                </a:solidFill>
              </a:rPr>
              <a:t>dest.close</a:t>
            </a:r>
            <a:r>
              <a:rPr lang="en-US" altLang="zh-CN" sz="2200" dirty="0">
                <a:solidFill>
                  <a:srgbClr val="2222EA"/>
                </a:solidFill>
              </a:rPr>
              <a:t>()</a:t>
            </a:r>
            <a:r>
              <a:rPr lang="en-US" altLang="zh-CN" sz="2200" dirty="0"/>
              <a:t>;   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      }catch(</a:t>
            </a:r>
            <a:r>
              <a:rPr lang="en-US" altLang="zh-CN" sz="2200" dirty="0" err="1"/>
              <a:t>IOException</a:t>
            </a:r>
            <a:r>
              <a:rPr lang="en-US" altLang="zh-CN" sz="2200" dirty="0"/>
              <a:t> </a:t>
            </a:r>
            <a:r>
              <a:rPr lang="en-US" altLang="zh-CN" sz="2200" dirty="0" err="1"/>
              <a:t>iox</a:t>
            </a:r>
            <a:r>
              <a:rPr lang="en-US" altLang="zh-CN" sz="2200" dirty="0"/>
              <a:t>){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    	    </a:t>
            </a:r>
            <a:r>
              <a:rPr lang="en-US" altLang="zh-CN" sz="2200" dirty="0" err="1"/>
              <a:t>System.out.println</a:t>
            </a:r>
            <a:r>
              <a:rPr lang="en-US" altLang="zh-CN" sz="2200" dirty="0"/>
              <a:t>("Problem closing " + </a:t>
            </a:r>
            <a:r>
              <a:rPr lang="en-US" altLang="zh-CN" sz="2200" dirty="0" err="1"/>
              <a:t>destName</a:t>
            </a:r>
            <a:r>
              <a:rPr lang="en-US" altLang="zh-CN" sz="2200" dirty="0"/>
              <a:t> );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           </a:t>
            </a:r>
            <a:r>
              <a:rPr lang="en-US" altLang="zh-CN" sz="2200" dirty="0" err="1"/>
              <a:t>retVal</a:t>
            </a:r>
            <a:r>
              <a:rPr lang="en-US" altLang="zh-CN" sz="2200" dirty="0"/>
              <a:t> = false;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      }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      return </a:t>
            </a:r>
            <a:r>
              <a:rPr lang="en-US" altLang="zh-CN" sz="2200" dirty="0" err="1"/>
              <a:t>retVal</a:t>
            </a:r>
            <a:r>
              <a:rPr lang="en-US" altLang="zh-CN" sz="2200" dirty="0"/>
              <a:t>;  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 }</a:t>
            </a:r>
            <a:endParaRPr lang="zh-CN" altLang="en-US" sz="2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0FBB06E-57B4-4335-19DC-605C7219786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1727890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读文本文件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1628800"/>
            <a:ext cx="10972800" cy="4349080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   </a:t>
            </a:r>
            <a:r>
              <a:rPr lang="en-US" altLang="zh-CN" sz="2200" dirty="0">
                <a:solidFill>
                  <a:schemeClr val="hlink"/>
                </a:solidFill>
              </a:rPr>
              <a:t>public </a:t>
            </a:r>
            <a:r>
              <a:rPr lang="en-US" altLang="zh-CN" sz="2200" dirty="0" err="1">
                <a:solidFill>
                  <a:schemeClr val="hlink"/>
                </a:solidFill>
              </a:rPr>
              <a:t>boolean</a:t>
            </a:r>
            <a:r>
              <a:rPr lang="en-US" altLang="zh-CN" sz="2200" dirty="0">
                <a:solidFill>
                  <a:schemeClr val="hlink"/>
                </a:solidFill>
              </a:rPr>
              <a:t> copy(String </a:t>
            </a:r>
            <a:r>
              <a:rPr lang="en-US" altLang="zh-CN" sz="2200" dirty="0" err="1">
                <a:solidFill>
                  <a:schemeClr val="hlink"/>
                </a:solidFill>
              </a:rPr>
              <a:t>src</a:t>
            </a:r>
            <a:r>
              <a:rPr lang="en-US" altLang="zh-CN" sz="2200" dirty="0">
                <a:solidFill>
                  <a:schemeClr val="hlink"/>
                </a:solidFill>
              </a:rPr>
              <a:t>, String </a:t>
            </a:r>
            <a:r>
              <a:rPr lang="en-US" altLang="zh-CN" sz="2200" dirty="0" err="1">
                <a:solidFill>
                  <a:schemeClr val="hlink"/>
                </a:solidFill>
              </a:rPr>
              <a:t>dst</a:t>
            </a:r>
            <a:r>
              <a:rPr lang="en-US" altLang="zh-CN" sz="2200" dirty="0">
                <a:solidFill>
                  <a:schemeClr val="hlink"/>
                </a:solidFill>
              </a:rPr>
              <a:t> )</a:t>
            </a:r>
            <a:r>
              <a:rPr lang="zh-CN" altLang="en-US" sz="2200" dirty="0"/>
              <a:t> {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zh-CN" altLang="en-US" sz="2200" dirty="0"/>
              <a:t>        </a:t>
            </a:r>
            <a:r>
              <a:rPr lang="en-US" altLang="zh-CN" sz="2200" dirty="0" err="1"/>
              <a:t>sourceName</a:t>
            </a:r>
            <a:r>
              <a:rPr lang="en-US" altLang="zh-CN" sz="2200" dirty="0"/>
              <a:t> = </a:t>
            </a:r>
            <a:r>
              <a:rPr lang="en-US" altLang="zh-CN" sz="2200" dirty="0" err="1"/>
              <a:t>src</a:t>
            </a:r>
            <a:r>
              <a:rPr lang="en-US" altLang="zh-CN" sz="2200" dirty="0"/>
              <a:t> ;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        </a:t>
            </a:r>
            <a:r>
              <a:rPr lang="en-US" altLang="zh-CN" sz="2200" dirty="0" err="1"/>
              <a:t>destName</a:t>
            </a:r>
            <a:r>
              <a:rPr lang="en-US" altLang="zh-CN" sz="2200" dirty="0"/>
              <a:t>   = </a:t>
            </a:r>
            <a:r>
              <a:rPr lang="en-US" altLang="zh-CN" sz="2200" dirty="0" err="1"/>
              <a:t>dst</a:t>
            </a:r>
            <a:r>
              <a:rPr lang="en-US" altLang="zh-CN" sz="2200" dirty="0"/>
              <a:t> ;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zh-CN" altLang="en-US" sz="2200" dirty="0"/>
              <a:t>        </a:t>
            </a:r>
            <a:r>
              <a:rPr lang="en-US" altLang="zh-CN" sz="2200" dirty="0"/>
              <a:t>return </a:t>
            </a:r>
            <a:r>
              <a:rPr lang="en-US" altLang="zh-CN" sz="2200" dirty="0" err="1">
                <a:solidFill>
                  <a:schemeClr val="accent6"/>
                </a:solidFill>
              </a:rPr>
              <a:t>openFiles</a:t>
            </a:r>
            <a:r>
              <a:rPr lang="en-US" altLang="zh-CN" sz="2200" dirty="0">
                <a:solidFill>
                  <a:schemeClr val="accent6"/>
                </a:solidFill>
              </a:rPr>
              <a:t>() &amp;&amp; </a:t>
            </a:r>
            <a:r>
              <a:rPr lang="en-US" altLang="zh-CN" sz="2200" dirty="0" err="1">
                <a:solidFill>
                  <a:schemeClr val="accent6"/>
                </a:solidFill>
              </a:rPr>
              <a:t>copyFiles</a:t>
            </a:r>
            <a:r>
              <a:rPr lang="en-US" altLang="zh-CN" sz="2200" dirty="0">
                <a:solidFill>
                  <a:schemeClr val="accent6"/>
                </a:solidFill>
              </a:rPr>
              <a:t>() </a:t>
            </a:r>
            <a:r>
              <a:rPr lang="en-US" altLang="zh-CN" sz="2200" dirty="0"/>
              <a:t>&amp;&amp; </a:t>
            </a:r>
            <a:r>
              <a:rPr lang="en-US" altLang="zh-CN" sz="2200" dirty="0" err="1">
                <a:solidFill>
                  <a:schemeClr val="accent6"/>
                </a:solidFill>
              </a:rPr>
              <a:t>closeFiles</a:t>
            </a:r>
            <a:r>
              <a:rPr lang="en-US" altLang="zh-CN" sz="2200" dirty="0">
                <a:solidFill>
                  <a:schemeClr val="accent6"/>
                </a:solidFill>
              </a:rPr>
              <a:t>()</a:t>
            </a:r>
            <a:r>
              <a:rPr lang="en-US" altLang="zh-CN" sz="2200" dirty="0"/>
              <a:t>;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      }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}</a:t>
            </a:r>
          </a:p>
          <a:p>
            <a:pPr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altLang="zh-CN" sz="2200" dirty="0"/>
              <a:t>public class </a:t>
            </a:r>
            <a:r>
              <a:rPr lang="en-US" altLang="zh-CN" sz="2200" dirty="0" err="1"/>
              <a:t>FileCopy</a:t>
            </a:r>
            <a:r>
              <a:rPr lang="en-US" altLang="zh-CN" sz="2200" dirty="0"/>
              <a:t> </a:t>
            </a:r>
            <a:r>
              <a:rPr lang="zh-CN" altLang="en-US" sz="2200" dirty="0"/>
              <a:t>{</a:t>
            </a:r>
            <a:r>
              <a:rPr lang="en-US" altLang="zh-CN" sz="2200" dirty="0"/>
              <a:t>  //</a:t>
            </a:r>
            <a:r>
              <a:rPr lang="zh-CN" altLang="en-US" sz="2200" dirty="0"/>
              <a:t>一个文件中只能有一个公有类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zh-CN" altLang="en-US" sz="2200" dirty="0"/>
              <a:t>	  </a:t>
            </a:r>
            <a:r>
              <a:rPr lang="en-US" altLang="zh-CN" sz="2200" dirty="0"/>
              <a:t>public static void main ( String[] </a:t>
            </a:r>
            <a:r>
              <a:rPr lang="en-US" altLang="zh-CN" sz="2200" dirty="0" err="1"/>
              <a:t>args</a:t>
            </a:r>
            <a:r>
              <a:rPr lang="en-US" altLang="zh-CN" sz="2200" dirty="0"/>
              <a:t> )</a:t>
            </a:r>
            <a:r>
              <a:rPr lang="zh-CN" altLang="en-US" sz="2200" dirty="0"/>
              <a:t> {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zh-CN" altLang="en-US" sz="2200" dirty="0"/>
              <a:t>    	  </a:t>
            </a:r>
            <a:r>
              <a:rPr lang="en-US" altLang="zh-CN" sz="2200" dirty="0"/>
              <a:t>if ( </a:t>
            </a:r>
            <a:r>
              <a:rPr lang="en-US" altLang="zh-CN" sz="2200" dirty="0" err="1"/>
              <a:t>args.length</a:t>
            </a:r>
            <a:r>
              <a:rPr lang="en-US" altLang="zh-CN" sz="2200" dirty="0"/>
              <a:t> == 2 )</a:t>
            </a:r>
            <a:r>
              <a:rPr lang="zh-CN" altLang="en-US" sz="2200" dirty="0"/>
              <a:t>  </a:t>
            </a:r>
            <a:r>
              <a:rPr lang="en-US" altLang="zh-CN" sz="2200" dirty="0">
                <a:solidFill>
                  <a:schemeClr val="hlink"/>
                </a:solidFill>
              </a:rPr>
              <a:t>new </a:t>
            </a:r>
            <a:r>
              <a:rPr lang="en-US" altLang="zh-CN" sz="2200" dirty="0" err="1">
                <a:solidFill>
                  <a:schemeClr val="hlink"/>
                </a:solidFill>
              </a:rPr>
              <a:t>CopyMaker</a:t>
            </a:r>
            <a:r>
              <a:rPr lang="en-US" altLang="zh-CN" sz="2200" dirty="0">
                <a:solidFill>
                  <a:schemeClr val="hlink"/>
                </a:solidFill>
              </a:rPr>
              <a:t>().copy(</a:t>
            </a:r>
            <a:r>
              <a:rPr lang="en-US" altLang="zh-CN" sz="2200" dirty="0" err="1">
                <a:solidFill>
                  <a:schemeClr val="hlink"/>
                </a:solidFill>
              </a:rPr>
              <a:t>args</a:t>
            </a:r>
            <a:r>
              <a:rPr lang="en-US" altLang="zh-CN" sz="2200" dirty="0">
                <a:solidFill>
                  <a:schemeClr val="hlink"/>
                </a:solidFill>
              </a:rPr>
              <a:t>[0], </a:t>
            </a:r>
            <a:r>
              <a:rPr lang="en-US" altLang="zh-CN" sz="2200" dirty="0" err="1">
                <a:solidFill>
                  <a:schemeClr val="hlink"/>
                </a:solidFill>
              </a:rPr>
              <a:t>args</a:t>
            </a:r>
            <a:r>
              <a:rPr lang="en-US" altLang="zh-CN" sz="2200" dirty="0">
                <a:solidFill>
                  <a:schemeClr val="hlink"/>
                </a:solidFill>
              </a:rPr>
              <a:t>[1])</a:t>
            </a:r>
            <a:r>
              <a:rPr lang="en-US" altLang="zh-CN" sz="2200" dirty="0"/>
              <a:t>;</a:t>
            </a:r>
            <a:endParaRPr lang="zh-CN" altLang="en-US" sz="2200" dirty="0"/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         else   </a:t>
            </a:r>
            <a:r>
              <a:rPr lang="en-US" altLang="zh-CN" sz="2200" dirty="0" err="1"/>
              <a:t>System.out.println</a:t>
            </a:r>
            <a:r>
              <a:rPr lang="en-US" altLang="zh-CN" sz="2200" dirty="0"/>
              <a:t>("Please Enter File names"); 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zh-CN" altLang="en-US" sz="2200" dirty="0"/>
              <a:t>     }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zh-CN" altLang="en-US" sz="2200" dirty="0"/>
              <a:t>}</a:t>
            </a:r>
            <a:r>
              <a:rPr lang="zh-CN" altLang="en-US" sz="2200" b="1" dirty="0"/>
              <a:t>    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C14672F-FC21-E405-D8B5-7DBBA9917BC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1727890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读文本文件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40968435-D42A-1E6E-8203-F954B88D7CE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1772816"/>
            <a:ext cx="10972800" cy="3701008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2400" dirty="0"/>
              <a:t>此文件</a:t>
            </a:r>
            <a:r>
              <a:rPr lang="en-US" altLang="zh-CN" sz="2400" dirty="0"/>
              <a:t>FileCopy.java</a:t>
            </a:r>
            <a:r>
              <a:rPr lang="zh-CN" altLang="en-US" sz="2400" dirty="0"/>
              <a:t>编译后生成</a:t>
            </a:r>
            <a:r>
              <a:rPr lang="en-US" altLang="zh-CN" sz="2400" dirty="0" err="1"/>
              <a:t>FileCopy.class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CopyMaker.class</a:t>
            </a:r>
            <a:r>
              <a:rPr lang="zh-CN" altLang="en-US" sz="2400" dirty="0"/>
              <a:t>两个字节码文件。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400" dirty="0"/>
              <a:t>运行结果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sz="2200" dirty="0"/>
              <a:t>在命令行方式下执行如下命令</a:t>
            </a:r>
          </a:p>
          <a:p>
            <a:pPr lvl="2" eaLnBrk="1" hangingPunct="1">
              <a:lnSpc>
                <a:spcPct val="130000"/>
              </a:lnSpc>
              <a:buFont typeface="Wingdings 2" panose="05020102010507070707" pitchFamily="18" charset="2"/>
              <a:buNone/>
            </a:pPr>
            <a:r>
              <a:rPr lang="en-US" altLang="zh-CN" sz="2000" dirty="0"/>
              <a:t>java </a:t>
            </a:r>
            <a:r>
              <a:rPr lang="en-US" altLang="zh-CN" sz="2000" dirty="0" err="1"/>
              <a:t>FileCopy</a:t>
            </a:r>
            <a:r>
              <a:rPr lang="en-US" altLang="zh-CN" sz="2000" dirty="0"/>
              <a:t> c:/Hello.txt c:/CopyHello.txt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sz="2200" dirty="0"/>
              <a:t>则在</a:t>
            </a:r>
            <a:r>
              <a:rPr lang="en-US" altLang="zh-CN" sz="2200" dirty="0"/>
              <a:t>C</a:t>
            </a:r>
            <a:r>
              <a:rPr lang="zh-CN" altLang="en-US" sz="2200" dirty="0"/>
              <a:t>盘根目录下会出现</a:t>
            </a:r>
            <a:r>
              <a:rPr lang="en-US" altLang="zh-CN" sz="2200" dirty="0"/>
              <a:t>CopyHello.txt</a:t>
            </a:r>
            <a:r>
              <a:rPr lang="zh-CN" altLang="en-US" sz="2200" dirty="0"/>
              <a:t>文件，内容与</a:t>
            </a:r>
            <a:r>
              <a:rPr lang="en-US" altLang="zh-CN" sz="2200" dirty="0"/>
              <a:t>Hello.txt</a:t>
            </a:r>
            <a:r>
              <a:rPr lang="zh-CN" altLang="en-US" sz="2200" dirty="0"/>
              <a:t>完全相同。</a:t>
            </a:r>
          </a:p>
          <a:p>
            <a:pPr eaLnBrk="1" hangingPunct="1"/>
            <a:endParaRPr lang="zh-CN" altLang="en-US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109C76-D3DF-889D-519C-6AB43143BCB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1727890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读文本文件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5501F267-CDDB-BF74-BFE3-6604E4B8536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19536" y="1844824"/>
            <a:ext cx="6350496" cy="2231826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dirty="0"/>
              <a:t>输入输出更快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比文本文件小很多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有些数据不容易被表示为字符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1176000" y="1588"/>
            <a:ext cx="1016000" cy="366712"/>
          </a:xfrm>
        </p:spPr>
        <p:txBody>
          <a:bodyPr/>
          <a:lstStyle/>
          <a:p>
            <a:pPr>
              <a:defRPr/>
            </a:pPr>
            <a:fld id="{B3227BBE-B4C4-4142-B028-1E999C672AE7}" type="slidenum">
              <a:rPr lang="en-US" altLang="zh-CN" smtClean="0"/>
              <a:pPr>
                <a:defRPr/>
              </a:pPr>
              <a:t>64</a:t>
            </a:fld>
            <a:endParaRPr lang="en-US" altLang="zh-CN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97E8D1-F2E2-0964-2698-3214FC7AED6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087930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写二进制文件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968E39-C428-DF7C-C11C-5BE9D54B4FC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67408" y="1700808"/>
            <a:ext cx="10972800" cy="4525963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派生类</a:t>
            </a:r>
            <a:r>
              <a:rPr lang="en-US" altLang="zh-CN" dirty="0" err="1"/>
              <a:t>FileOutputStream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用于一般目的输出（非字符输出）；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用于成组字节输出。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派生类</a:t>
            </a:r>
            <a:r>
              <a:rPr lang="en-US" altLang="zh-CN" dirty="0" err="1"/>
              <a:t>DataOutputStream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具有写各种基本数据类型的方法；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将数据写到另一个输出流；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它在所有的计算机平台上使用同样的数据格式；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其中</a:t>
            </a:r>
            <a:r>
              <a:rPr lang="en-US" altLang="zh-CN" dirty="0"/>
              <a:t>size</a:t>
            </a:r>
            <a:r>
              <a:rPr lang="zh-CN" altLang="en-US" dirty="0"/>
              <a:t>方法，可作为计数器，统计写入的字节数。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A25B9F6-772E-2289-C47B-6C53666BE98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53F4D17-FF69-8031-5A06-573DE6EF218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087930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写二进制文件</a:t>
            </a:r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5" name="Rectangle 9"/>
          <p:cNvSpPr>
            <a:spLocks noChangeArrowheads="1"/>
          </p:cNvSpPr>
          <p:nvPr/>
        </p:nvSpPr>
        <p:spPr bwMode="auto">
          <a:xfrm>
            <a:off x="8001000" y="4343400"/>
            <a:ext cx="2590800" cy="220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1176000" y="1588"/>
            <a:ext cx="1016000" cy="366712"/>
          </a:xfrm>
        </p:spPr>
        <p:txBody>
          <a:bodyPr/>
          <a:lstStyle/>
          <a:p>
            <a:pPr>
              <a:defRPr/>
            </a:pPr>
            <a:fld id="{B3227BBE-B4C4-4142-B028-1E999C672AE7}" type="slidenum">
              <a:rPr lang="en-US" altLang="zh-CN" smtClean="0"/>
              <a:pPr>
                <a:defRPr/>
              </a:pPr>
              <a:t>66</a:t>
            </a:fld>
            <a:endParaRPr lang="en-US" altLang="zh-CN"/>
          </a:p>
        </p:txBody>
      </p:sp>
      <p:pic>
        <p:nvPicPr>
          <p:cNvPr id="110598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825" y="1557338"/>
            <a:ext cx="8243888" cy="527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9DBA1283-B1C3-CB65-6191-4AA579B6C15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3DB49A0-6AB1-2197-E46E-29F584A9573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3888130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dirty="0" err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DataOutputStream</a:t>
            </a: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类的成员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150"/>
          <p:cNvSpPr>
            <a:spLocks noChangeArrowheads="1"/>
          </p:cNvSpPr>
          <p:nvPr/>
        </p:nvSpPr>
        <p:spPr bwMode="auto">
          <a:xfrm>
            <a:off x="8153400" y="5029200"/>
            <a:ext cx="2514600" cy="1524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1176000" y="1588"/>
            <a:ext cx="1016000" cy="366712"/>
          </a:xfrm>
        </p:spPr>
        <p:txBody>
          <a:bodyPr/>
          <a:lstStyle/>
          <a:p>
            <a:pPr>
              <a:defRPr/>
            </a:pPr>
            <a:fld id="{B3227BBE-B4C4-4142-B028-1E999C672AE7}" type="slidenum">
              <a:rPr lang="en-US" altLang="zh-CN" smtClean="0"/>
              <a:pPr>
                <a:defRPr/>
              </a:pPr>
              <a:t>67</a:t>
            </a:fld>
            <a:endParaRPr lang="en-US" altLang="zh-CN"/>
          </a:p>
        </p:txBody>
      </p:sp>
      <p:pic>
        <p:nvPicPr>
          <p:cNvPr id="112646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439" y="1590676"/>
            <a:ext cx="8567737" cy="495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3503FA00-D5E9-9848-C2B1-6372E286695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8DBFD24-D7C6-8547-7311-C962719A9B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3888130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dirty="0" err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DataOutputStream</a:t>
            </a: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类的成员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2" name="Rectangle 6"/>
          <p:cNvSpPr>
            <a:spLocks noGrp="1" noChangeArrowheads="1"/>
          </p:cNvSpPr>
          <p:nvPr>
            <p:ph idx="4294967295"/>
          </p:nvPr>
        </p:nvSpPr>
        <p:spPr>
          <a:xfrm>
            <a:off x="767408" y="1700808"/>
            <a:ext cx="11017224" cy="4608512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lnSpc>
                <a:spcPct val="70000"/>
              </a:lnSpc>
              <a:buNone/>
            </a:pPr>
            <a:r>
              <a:rPr lang="en-US" altLang="zh-CN" sz="2000" dirty="0"/>
              <a:t>//</a:t>
            </a:r>
            <a:r>
              <a:rPr lang="zh-CN" altLang="en-US" sz="2000" dirty="0"/>
              <a:t>将三个</a:t>
            </a:r>
            <a:r>
              <a:rPr lang="en-US" altLang="zh-CN" sz="2000" dirty="0"/>
              <a:t>int</a:t>
            </a:r>
            <a:r>
              <a:rPr lang="zh-CN" altLang="en-US" sz="2000" dirty="0"/>
              <a:t>型数字255/0/－1写入数据文件</a:t>
            </a:r>
            <a:r>
              <a:rPr lang="en-US" altLang="zh-CN" sz="2000" dirty="0"/>
              <a:t>data1.dat</a:t>
            </a:r>
          </a:p>
          <a:p>
            <a:pPr marL="0" lvl="1" indent="0" eaLnBrk="1" hangingPunct="1">
              <a:lnSpc>
                <a:spcPct val="70000"/>
              </a:lnSpc>
              <a:buFont typeface="Georgia" panose="02040502050405020303" pitchFamily="18" charset="0"/>
              <a:buNone/>
              <a:tabLst>
                <a:tab pos="804863" algn="l"/>
              </a:tabLst>
            </a:pPr>
            <a:r>
              <a:rPr lang="en-US" altLang="zh-CN" sz="2000" dirty="0"/>
              <a:t>import java.io.*; </a:t>
            </a:r>
          </a:p>
          <a:p>
            <a:pPr marL="0" lvl="1" indent="0" eaLnBrk="1" hangingPunct="1">
              <a:lnSpc>
                <a:spcPct val="70000"/>
              </a:lnSpc>
              <a:buFont typeface="Georgia" panose="02040502050405020303" pitchFamily="18" charset="0"/>
              <a:buNone/>
              <a:tabLst>
                <a:tab pos="804863" algn="l"/>
              </a:tabLst>
            </a:pPr>
            <a:r>
              <a:rPr lang="en-US" altLang="zh-CN" sz="2000" dirty="0"/>
              <a:t>class </a:t>
            </a:r>
            <a:r>
              <a:rPr lang="en-US" altLang="zh-CN" sz="2000" dirty="0" err="1"/>
              <a:t>FileOutputstreamTester</a:t>
            </a:r>
            <a:r>
              <a:rPr lang="en-US" altLang="zh-CN" sz="2000" dirty="0"/>
              <a:t> {</a:t>
            </a:r>
          </a:p>
          <a:p>
            <a:pPr marL="0" lvl="1" indent="0" eaLnBrk="1" hangingPunct="1">
              <a:lnSpc>
                <a:spcPct val="70000"/>
              </a:lnSpc>
              <a:buFont typeface="Georgia" panose="02040502050405020303" pitchFamily="18" charset="0"/>
              <a:buNone/>
              <a:tabLst>
                <a:tab pos="804863" algn="l"/>
              </a:tabLst>
            </a:pPr>
            <a:r>
              <a:rPr lang="en-US" altLang="zh-CN" sz="2000" dirty="0"/>
              <a:t>  public static void main ( String[] 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 ) { </a:t>
            </a:r>
          </a:p>
          <a:p>
            <a:pPr marL="0" lvl="1" indent="0" eaLnBrk="1" hangingPunct="1">
              <a:lnSpc>
                <a:spcPct val="70000"/>
              </a:lnSpc>
              <a:buFont typeface="Georgia" panose="02040502050405020303" pitchFamily="18" charset="0"/>
              <a:buNone/>
              <a:tabLst>
                <a:tab pos="804863" algn="l"/>
              </a:tabLst>
            </a:pPr>
            <a:r>
              <a:rPr lang="en-US" altLang="zh-CN" sz="2000" dirty="0"/>
              <a:t>     String </a:t>
            </a:r>
            <a:r>
              <a:rPr lang="en-US" altLang="zh-CN" sz="2000" dirty="0" err="1"/>
              <a:t>fileName</a:t>
            </a:r>
            <a:r>
              <a:rPr lang="en-US" altLang="zh-CN" sz="2000" dirty="0"/>
              <a:t> = "data1.dat" ;</a:t>
            </a:r>
          </a:p>
          <a:p>
            <a:pPr marL="0" lvl="1" indent="0" eaLnBrk="1" hangingPunct="1">
              <a:lnSpc>
                <a:spcPct val="70000"/>
              </a:lnSpc>
              <a:buFont typeface="Georgia" panose="02040502050405020303" pitchFamily="18" charset="0"/>
              <a:buNone/>
              <a:tabLst>
                <a:tab pos="804863" algn="l"/>
              </a:tabLst>
            </a:pPr>
            <a:r>
              <a:rPr lang="en-US" altLang="zh-CN" sz="2000" dirty="0"/>
              <a:t>     int value0  = 255, value1  = 0, value2 = -1;</a:t>
            </a:r>
          </a:p>
          <a:p>
            <a:pPr marL="0" lvl="1" indent="0" eaLnBrk="1" hangingPunct="1">
              <a:lnSpc>
                <a:spcPct val="70000"/>
              </a:lnSpc>
              <a:buFont typeface="Georgia" panose="02040502050405020303" pitchFamily="18" charset="0"/>
              <a:buNone/>
              <a:tabLst>
                <a:tab pos="804863" algn="l"/>
              </a:tabLst>
            </a:pPr>
            <a:r>
              <a:rPr lang="en-US" altLang="zh-CN" sz="2000" dirty="0"/>
              <a:t>     try {</a:t>
            </a:r>
          </a:p>
          <a:p>
            <a:pPr marL="0" lvl="1" indent="0" eaLnBrk="1" hangingPunct="1">
              <a:lnSpc>
                <a:spcPct val="70000"/>
              </a:lnSpc>
              <a:buFont typeface="Georgia" panose="02040502050405020303" pitchFamily="18" charset="0"/>
              <a:buNone/>
              <a:tabLst>
                <a:tab pos="804863" algn="l"/>
              </a:tabLst>
            </a:pPr>
            <a:r>
              <a:rPr lang="en-US" altLang="zh-CN" sz="2000" dirty="0">
                <a:solidFill>
                  <a:schemeClr val="hlink"/>
                </a:solidFill>
              </a:rPr>
              <a:t>        </a:t>
            </a:r>
            <a:r>
              <a:rPr lang="en-US" altLang="zh-CN" sz="2000" dirty="0" err="1">
                <a:solidFill>
                  <a:schemeClr val="hlink"/>
                </a:solidFill>
              </a:rPr>
              <a:t>DataOutputStream</a:t>
            </a:r>
            <a:r>
              <a:rPr lang="en-US" altLang="zh-CN" sz="2000" dirty="0">
                <a:solidFill>
                  <a:schemeClr val="hlink"/>
                </a:solidFill>
              </a:rPr>
              <a:t> out = new </a:t>
            </a:r>
            <a:r>
              <a:rPr lang="en-US" altLang="zh-CN" sz="2000" dirty="0" err="1">
                <a:solidFill>
                  <a:schemeClr val="hlink"/>
                </a:solidFill>
              </a:rPr>
              <a:t>DataOutputStream</a:t>
            </a:r>
            <a:r>
              <a:rPr lang="en-US" altLang="zh-CN" sz="2000" dirty="0">
                <a:solidFill>
                  <a:schemeClr val="hlink"/>
                </a:solidFill>
              </a:rPr>
              <a:t>(new </a:t>
            </a:r>
            <a:r>
              <a:rPr lang="en-US" altLang="zh-CN" sz="2000" dirty="0" err="1">
                <a:solidFill>
                  <a:schemeClr val="hlink"/>
                </a:solidFill>
              </a:rPr>
              <a:t>FileOutputStream</a:t>
            </a:r>
            <a:r>
              <a:rPr lang="en-US" altLang="zh-CN" sz="2000" dirty="0">
                <a:solidFill>
                  <a:schemeClr val="hlink"/>
                </a:solidFill>
              </a:rPr>
              <a:t>(</a:t>
            </a:r>
            <a:r>
              <a:rPr lang="en-US" altLang="zh-CN" sz="2000" dirty="0" err="1">
                <a:solidFill>
                  <a:schemeClr val="hlink"/>
                </a:solidFill>
              </a:rPr>
              <a:t>fileName</a:t>
            </a:r>
            <a:r>
              <a:rPr lang="en-US" altLang="zh-CN" sz="2000" dirty="0">
                <a:solidFill>
                  <a:schemeClr val="hlink"/>
                </a:solidFill>
              </a:rPr>
              <a:t>));</a:t>
            </a:r>
          </a:p>
          <a:p>
            <a:pPr marL="0" lvl="1" indent="0" eaLnBrk="1" hangingPunct="1">
              <a:lnSpc>
                <a:spcPct val="70000"/>
              </a:lnSpc>
              <a:buFont typeface="Georgia" panose="02040502050405020303" pitchFamily="18" charset="0"/>
              <a:buNone/>
              <a:tabLst>
                <a:tab pos="804863" algn="l"/>
              </a:tabLst>
            </a:pPr>
            <a:r>
              <a:rPr lang="en-US" altLang="zh-CN" sz="2000" dirty="0"/>
              <a:t>        </a:t>
            </a:r>
            <a:r>
              <a:rPr lang="en-US" altLang="zh-CN" sz="2000" dirty="0" err="1"/>
              <a:t>out.</a:t>
            </a:r>
            <a:r>
              <a:rPr lang="en-US" altLang="zh-CN" sz="2000" dirty="0" err="1">
                <a:solidFill>
                  <a:schemeClr val="tx2"/>
                </a:solidFill>
              </a:rPr>
              <a:t>writeInt</a:t>
            </a:r>
            <a:r>
              <a:rPr lang="en-US" altLang="zh-CN" sz="2000" dirty="0"/>
              <a:t>( value0 );</a:t>
            </a:r>
          </a:p>
          <a:p>
            <a:pPr marL="0" lvl="1" indent="0" eaLnBrk="1" hangingPunct="1">
              <a:lnSpc>
                <a:spcPct val="70000"/>
              </a:lnSpc>
              <a:buFont typeface="Georgia" panose="02040502050405020303" pitchFamily="18" charset="0"/>
              <a:buNone/>
              <a:tabLst>
                <a:tab pos="804863" algn="l"/>
              </a:tabLst>
            </a:pPr>
            <a:r>
              <a:rPr lang="en-US" altLang="zh-CN" sz="2000" dirty="0"/>
              <a:t>        </a:t>
            </a:r>
            <a:r>
              <a:rPr lang="en-US" altLang="zh-CN" sz="2000" dirty="0" err="1"/>
              <a:t>out.</a:t>
            </a:r>
            <a:r>
              <a:rPr lang="en-US" altLang="zh-CN" sz="2000" dirty="0" err="1">
                <a:solidFill>
                  <a:schemeClr val="tx2"/>
                </a:solidFill>
              </a:rPr>
              <a:t>writeInt</a:t>
            </a:r>
            <a:r>
              <a:rPr lang="en-US" altLang="zh-CN" sz="2000" dirty="0"/>
              <a:t>( value1 );</a:t>
            </a:r>
          </a:p>
          <a:p>
            <a:pPr marL="0" lvl="1" indent="0" eaLnBrk="1" hangingPunct="1">
              <a:lnSpc>
                <a:spcPct val="70000"/>
              </a:lnSpc>
              <a:buFont typeface="Georgia" panose="02040502050405020303" pitchFamily="18" charset="0"/>
              <a:buNone/>
              <a:tabLst>
                <a:tab pos="804863" algn="l"/>
              </a:tabLst>
            </a:pPr>
            <a:r>
              <a:rPr lang="en-US" altLang="zh-CN" sz="2000" dirty="0"/>
              <a:t>        </a:t>
            </a:r>
            <a:r>
              <a:rPr lang="en-US" altLang="zh-CN" sz="2000" dirty="0" err="1"/>
              <a:t>out.</a:t>
            </a:r>
            <a:r>
              <a:rPr lang="en-US" altLang="zh-CN" sz="2000" dirty="0" err="1">
                <a:solidFill>
                  <a:schemeClr val="tx2"/>
                </a:solidFill>
              </a:rPr>
              <a:t>writeInt</a:t>
            </a:r>
            <a:r>
              <a:rPr lang="en-US" altLang="zh-CN" sz="2000" dirty="0"/>
              <a:t>( value2 );</a:t>
            </a:r>
          </a:p>
          <a:p>
            <a:pPr marL="0" lvl="1" indent="0" eaLnBrk="1" hangingPunct="1">
              <a:lnSpc>
                <a:spcPct val="70000"/>
              </a:lnSpc>
              <a:buFont typeface="Georgia" panose="02040502050405020303" pitchFamily="18" charset="0"/>
              <a:buNone/>
              <a:tabLst>
                <a:tab pos="804863" algn="l"/>
              </a:tabLst>
            </a:pPr>
            <a:r>
              <a:rPr lang="en-US" altLang="zh-CN" sz="2000" dirty="0"/>
              <a:t>        </a:t>
            </a:r>
            <a:r>
              <a:rPr lang="en-US" altLang="zh-CN" sz="2000" dirty="0" err="1"/>
              <a:t>out.close</a:t>
            </a:r>
            <a:r>
              <a:rPr lang="en-US" altLang="zh-CN" sz="2000" dirty="0"/>
              <a:t>();</a:t>
            </a:r>
          </a:p>
          <a:p>
            <a:pPr marL="0" lvl="1" indent="0" eaLnBrk="1" hangingPunct="1">
              <a:lnSpc>
                <a:spcPct val="70000"/>
              </a:lnSpc>
              <a:buFont typeface="Georgia" panose="02040502050405020303" pitchFamily="18" charset="0"/>
              <a:buNone/>
              <a:tabLst>
                <a:tab pos="804863" algn="l"/>
              </a:tabLst>
            </a:pPr>
            <a:r>
              <a:rPr lang="en-US" altLang="zh-CN" sz="2000" dirty="0"/>
              <a:t>      }catch(</a:t>
            </a:r>
            <a:r>
              <a:rPr lang="en-US" altLang="zh-CN" sz="2000" dirty="0" err="1"/>
              <a:t>IOException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iox</a:t>
            </a:r>
            <a:r>
              <a:rPr lang="en-US" altLang="zh-CN" sz="2000" dirty="0"/>
              <a:t>){</a:t>
            </a:r>
          </a:p>
          <a:p>
            <a:pPr marL="0" lvl="1" indent="0" eaLnBrk="1" hangingPunct="1">
              <a:lnSpc>
                <a:spcPct val="70000"/>
              </a:lnSpc>
              <a:buFont typeface="Georgia" panose="02040502050405020303" pitchFamily="18" charset="0"/>
              <a:buNone/>
              <a:tabLst>
                <a:tab pos="804863" algn="l"/>
              </a:tabLst>
            </a:pPr>
            <a:r>
              <a:rPr lang="en-US" altLang="zh-CN" sz="2000" dirty="0"/>
              <a:t>     	    </a:t>
            </a:r>
            <a:r>
              <a:rPr lang="en-US" altLang="zh-CN" sz="2000" dirty="0" err="1"/>
              <a:t>System.out.println</a:t>
            </a:r>
            <a:r>
              <a:rPr lang="en-US" altLang="zh-CN" sz="2000" dirty="0"/>
              <a:t>("Problem writing " + </a:t>
            </a:r>
            <a:r>
              <a:rPr lang="en-US" altLang="zh-CN" sz="2000" dirty="0" err="1"/>
              <a:t>fileName</a:t>
            </a:r>
            <a:r>
              <a:rPr lang="en-US" altLang="zh-CN" sz="2000" dirty="0"/>
              <a:t> );  }</a:t>
            </a:r>
          </a:p>
          <a:p>
            <a:pPr marL="0" lvl="1" indent="0" eaLnBrk="1" hangingPunct="1">
              <a:lnSpc>
                <a:spcPct val="70000"/>
              </a:lnSpc>
              <a:buFont typeface="Georgia" panose="02040502050405020303" pitchFamily="18" charset="0"/>
              <a:buNone/>
              <a:tabLst>
                <a:tab pos="804863" algn="l"/>
              </a:tabLst>
            </a:pPr>
            <a:r>
              <a:rPr lang="en-US" altLang="zh-CN" sz="2000" dirty="0"/>
              <a:t>      }</a:t>
            </a:r>
          </a:p>
          <a:p>
            <a:pPr marL="0" lvl="1" indent="0" eaLnBrk="1" hangingPunct="1">
              <a:lnSpc>
                <a:spcPct val="70000"/>
              </a:lnSpc>
              <a:buFont typeface="Georgia" panose="02040502050405020303" pitchFamily="18" charset="0"/>
              <a:buNone/>
              <a:tabLst>
                <a:tab pos="804863" algn="l"/>
              </a:tabLst>
            </a:pPr>
            <a:r>
              <a:rPr lang="en-US" altLang="zh-CN" sz="2000" dirty="0"/>
              <a:t> }</a:t>
            </a:r>
          </a:p>
          <a:p>
            <a:pPr eaLnBrk="1" hangingPunct="1">
              <a:lnSpc>
                <a:spcPct val="90000"/>
              </a:lnSpc>
            </a:pPr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1BD990D-3227-F89A-2A45-005E3FDC90A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087930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写二进制文件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88A14A8-3010-C274-EB2C-2FA00FABC93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5.3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40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1600200"/>
            <a:ext cx="10972800" cy="4525963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运行结果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200" dirty="0"/>
              <a:t>运行程序后，在</a:t>
            </a:r>
            <a:r>
              <a:rPr lang="en-US" altLang="zh-CN" sz="2200" dirty="0"/>
              <a:t>C</a:t>
            </a:r>
            <a:r>
              <a:rPr lang="zh-CN" altLang="en-US" sz="2200" dirty="0"/>
              <a:t>盘生成数据文件</a:t>
            </a:r>
            <a:r>
              <a:rPr lang="en-US" altLang="zh-CN" sz="2200" dirty="0"/>
              <a:t>data1.dat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200" dirty="0"/>
              <a:t>用写字板打开没有任何显示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200" dirty="0"/>
              <a:t>用</a:t>
            </a:r>
            <a:r>
              <a:rPr lang="en-US" altLang="zh-CN" sz="2200" dirty="0" err="1"/>
              <a:t>ultraEdit</a:t>
            </a:r>
            <a:r>
              <a:rPr lang="zh-CN" altLang="en-US" sz="2200" dirty="0"/>
              <a:t>打开查看其二进制信息</a:t>
            </a:r>
            <a:r>
              <a:rPr lang="en-US" altLang="zh-CN" sz="2200" dirty="0"/>
              <a:t>，</a:t>
            </a:r>
            <a:r>
              <a:rPr lang="zh-CN" altLang="en-US" sz="2200" dirty="0"/>
              <a:t>内容为00 00 00 </a:t>
            </a:r>
            <a:r>
              <a:rPr lang="en-US" altLang="zh-CN" sz="2200" dirty="0"/>
              <a:t>FF 00 00 00 00 FF </a:t>
            </a:r>
            <a:r>
              <a:rPr lang="en-US" altLang="zh-CN" sz="2200" dirty="0" err="1"/>
              <a:t>FF</a:t>
            </a:r>
            <a:r>
              <a:rPr lang="en-US" altLang="zh-CN" sz="2200" dirty="0"/>
              <a:t> </a:t>
            </a:r>
            <a:r>
              <a:rPr lang="en-US" altLang="zh-CN" sz="2200" dirty="0" err="1"/>
              <a:t>FF</a:t>
            </a:r>
            <a:r>
              <a:rPr lang="en-US" altLang="zh-CN" sz="2200" dirty="0"/>
              <a:t> </a:t>
            </a:r>
            <a:r>
              <a:rPr lang="en-US" altLang="zh-CN" sz="2200" dirty="0" err="1"/>
              <a:t>FF</a:t>
            </a:r>
            <a:r>
              <a:rPr lang="en-US" altLang="zh-CN" sz="2200" dirty="0"/>
              <a:t>，</a:t>
            </a:r>
            <a:r>
              <a:rPr lang="zh-CN" altLang="en-US" sz="2200" dirty="0"/>
              <a:t>每个</a:t>
            </a:r>
            <a:r>
              <a:rPr lang="en-US" altLang="zh-CN" sz="2200" dirty="0"/>
              <a:t>int</a:t>
            </a:r>
            <a:r>
              <a:rPr lang="zh-CN" altLang="en-US" sz="2200" dirty="0"/>
              <a:t>数字都是32个</a:t>
            </a:r>
            <a:r>
              <a:rPr lang="en-US" altLang="zh-CN" sz="2200" dirty="0"/>
              <a:t>bit</a:t>
            </a:r>
            <a:r>
              <a:rPr lang="zh-CN" altLang="en-US" sz="2200" dirty="0"/>
              <a:t>的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说明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 err="1"/>
              <a:t>FileOutputStream</a:t>
            </a:r>
            <a:r>
              <a:rPr lang="zh-CN" altLang="en-US" sz="2200" dirty="0"/>
              <a:t>类的构造方法负责打开文件“</a:t>
            </a:r>
            <a:r>
              <a:rPr lang="en-US" altLang="zh-CN" sz="2200" dirty="0"/>
              <a:t>data1.dat”</a:t>
            </a:r>
            <a:r>
              <a:rPr lang="zh-CN" altLang="en-US" sz="2200" dirty="0"/>
              <a:t>用于写数据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 err="1"/>
              <a:t>FileOutputStream</a:t>
            </a:r>
            <a:r>
              <a:rPr lang="zh-CN" altLang="en-US" sz="2200" dirty="0"/>
              <a:t>类的对象与</a:t>
            </a:r>
            <a:r>
              <a:rPr lang="en-US" altLang="zh-CN" sz="2000" dirty="0" err="1"/>
              <a:t>DataOutputStream</a:t>
            </a:r>
            <a:r>
              <a:rPr lang="zh-CN" altLang="en-US" sz="2200" dirty="0"/>
              <a:t>对象连接，写基本类型的数据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427AB13-D655-D694-74A7-27644196A81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087930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写二进制文件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363A3D5-3998-3285-2E41-08B0DFC4E91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83432" y="1844824"/>
            <a:ext cx="6278488" cy="1143001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</a:pPr>
            <a:r>
              <a:rPr lang="zh-CN" altLang="en-GB" sz="2400" dirty="0">
                <a:latin typeface="Arial Unicode MS" panose="020B0604020202020204" pitchFamily="34" charset="-122"/>
              </a:rPr>
              <a:t>写二进制文件的缓冲流类</a:t>
            </a:r>
          </a:p>
          <a:p>
            <a:pPr>
              <a:lnSpc>
                <a:spcPct val="110000"/>
              </a:lnSpc>
            </a:pPr>
            <a:r>
              <a:rPr lang="zh-CN" altLang="en-GB" sz="2400" dirty="0">
                <a:latin typeface="Arial Unicode MS" panose="020B0604020202020204" pitchFamily="34" charset="-122"/>
              </a:rPr>
              <a:t>对于大量数据的写入，可提高效率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F29012-B725-016B-3AF0-5E43E7DF889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424817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 err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BufferedOutputStream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类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17053A-64C6-536F-224E-E10A0EF49744}"/>
              </a:ext>
            </a:extLst>
          </p:cNvPr>
          <p:cNvSpPr txBox="1">
            <a:spLocks noChangeArrowheads="1"/>
          </p:cNvSpPr>
          <p:nvPr/>
        </p:nvSpPr>
        <p:spPr>
          <a:xfrm>
            <a:off x="958002" y="3068960"/>
            <a:ext cx="10972800" cy="1828800"/>
          </a:xfrm>
          <a:prstGeom prst="rect">
            <a:avLst/>
          </a:prstGeom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1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zh-CN" altLang="en-GB" sz="2400" dirty="0">
                <a:latin typeface="Arial Unicode MS" panose="020B0604020202020204" pitchFamily="34" charset="-122"/>
              </a:rPr>
              <a:t>用法示例：</a:t>
            </a:r>
          </a:p>
          <a:p>
            <a:pPr marL="411162" lvl="1" indent="0" fontAlgn="auto">
              <a:lnSpc>
                <a:spcPct val="110000"/>
              </a:lnSpc>
              <a:spcBef>
                <a:spcPct val="500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GB" altLang="zh-CN" sz="2200" dirty="0" err="1">
                <a:solidFill>
                  <a:schemeClr val="tx2"/>
                </a:solidFill>
                <a:latin typeface="Arial Unicode MS" panose="020B0604020202020204" pitchFamily="34" charset="-122"/>
              </a:rPr>
              <a:t>DataOutputStream</a:t>
            </a:r>
            <a:r>
              <a:rPr kumimoji="0" lang="en-GB" altLang="zh-CN" sz="2200" dirty="0">
                <a:latin typeface="Arial Unicode MS" panose="020B0604020202020204" pitchFamily="34" charset="-122"/>
              </a:rPr>
              <a:t> out = new</a:t>
            </a:r>
            <a:r>
              <a:rPr kumimoji="0" lang="en-GB" altLang="zh-CN" sz="2200" dirty="0">
                <a:solidFill>
                  <a:schemeClr val="tx2"/>
                </a:solidFill>
                <a:latin typeface="Arial Unicode MS" panose="020B0604020202020204" pitchFamily="34" charset="-122"/>
              </a:rPr>
              <a:t> </a:t>
            </a:r>
            <a:r>
              <a:rPr kumimoji="0" lang="en-GB" altLang="zh-CN" sz="2200" dirty="0" err="1">
                <a:solidFill>
                  <a:schemeClr val="tx2"/>
                </a:solidFill>
                <a:latin typeface="Arial Unicode MS" panose="020B0604020202020204" pitchFamily="34" charset="-122"/>
              </a:rPr>
              <a:t>DataOutputStream</a:t>
            </a:r>
            <a:r>
              <a:rPr kumimoji="0" lang="en-GB" altLang="zh-CN" sz="2200" dirty="0">
                <a:latin typeface="Arial Unicode MS" panose="020B0604020202020204" pitchFamily="34" charset="-122"/>
              </a:rPr>
              <a:t>( </a:t>
            </a:r>
          </a:p>
          <a:p>
            <a:pPr marL="411162" lvl="1" indent="0" fontAlgn="auto">
              <a:lnSpc>
                <a:spcPct val="11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GB" altLang="zh-CN" sz="2200" dirty="0">
                <a:latin typeface="Arial Unicode MS" panose="020B0604020202020204" pitchFamily="34" charset="-122"/>
              </a:rPr>
              <a:t>                    new </a:t>
            </a:r>
            <a:r>
              <a:rPr kumimoji="0" lang="en-GB" altLang="zh-CN" sz="2200" dirty="0" err="1">
                <a:solidFill>
                  <a:schemeClr val="hlink"/>
                </a:solidFill>
                <a:latin typeface="Arial Unicode MS" panose="020B0604020202020204" pitchFamily="34" charset="-122"/>
              </a:rPr>
              <a:t>BufferedOutputStream</a:t>
            </a:r>
            <a:r>
              <a:rPr kumimoji="0" lang="en-GB" altLang="zh-CN" sz="2200" dirty="0">
                <a:latin typeface="Arial Unicode MS" panose="020B0604020202020204" pitchFamily="34" charset="-122"/>
              </a:rPr>
              <a:t>( new </a:t>
            </a:r>
            <a:r>
              <a:rPr kumimoji="0" lang="en-GB" altLang="zh-CN" sz="2200" dirty="0" err="1">
                <a:solidFill>
                  <a:schemeClr val="tx2"/>
                </a:solidFill>
                <a:latin typeface="Arial Unicode MS" panose="020B0604020202020204" pitchFamily="34" charset="-122"/>
              </a:rPr>
              <a:t>FileOutputStream</a:t>
            </a:r>
            <a:r>
              <a:rPr kumimoji="0" lang="en-GB" altLang="zh-CN" sz="2200" dirty="0">
                <a:latin typeface="Arial Unicode MS" panose="020B0604020202020204" pitchFamily="34" charset="-122"/>
              </a:rPr>
              <a:t>( </a:t>
            </a:r>
            <a:r>
              <a:rPr kumimoji="0" lang="en-GB" altLang="zh-CN" sz="2200" dirty="0" err="1">
                <a:latin typeface="Arial Unicode MS" panose="020B0604020202020204" pitchFamily="34" charset="-122"/>
              </a:rPr>
              <a:t>fileName</a:t>
            </a:r>
            <a:r>
              <a:rPr kumimoji="0" lang="en-GB" altLang="zh-CN" sz="2200" dirty="0">
                <a:latin typeface="Arial Unicode MS" panose="020B0604020202020204" pitchFamily="34" charset="-122"/>
              </a:rPr>
              <a:t> ) ) ); 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1E024CC5-FD22-7727-27AA-7EDDEBDFC6E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1124744"/>
            <a:ext cx="11175032" cy="5328592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0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400" dirty="0"/>
              <a:t>//</a:t>
            </a:r>
            <a:r>
              <a:rPr lang="zh-CN" altLang="en-US" sz="2400" dirty="0"/>
              <a:t>通过</a:t>
            </a:r>
            <a:r>
              <a:rPr lang="en-US" altLang="zh-CN" sz="2400" dirty="0" err="1">
                <a:solidFill>
                  <a:schemeClr val="tx2"/>
                </a:solidFill>
              </a:rPr>
              <a:t>DataOutputStream</a:t>
            </a:r>
            <a:r>
              <a:rPr lang="zh-CN" altLang="en-US" sz="2400" dirty="0">
                <a:solidFill>
                  <a:schemeClr val="tx2"/>
                </a:solidFill>
              </a:rPr>
              <a:t>流向文件中写多种类型的数据，并统计字节数</a:t>
            </a:r>
            <a:endParaRPr lang="en-US" altLang="zh-CN" sz="2400" dirty="0"/>
          </a:p>
          <a:p>
            <a:pPr marL="0" indent="0" eaLnBrk="1" hangingPunct="1">
              <a:lnSpc>
                <a:spcPct val="70000"/>
              </a:lnSpc>
              <a:spcBef>
                <a:spcPct val="55000"/>
              </a:spcBef>
              <a:buNone/>
            </a:pPr>
            <a:r>
              <a:rPr lang="en-US" altLang="zh-CN" sz="2400" dirty="0"/>
              <a:t>import java.io.*; </a:t>
            </a:r>
          </a:p>
          <a:p>
            <a:pPr marL="0" indent="0" eaLnBrk="1" hangingPunct="1">
              <a:lnSpc>
                <a:spcPct val="70000"/>
              </a:lnSpc>
              <a:buNone/>
            </a:pPr>
            <a:r>
              <a:rPr lang="en-US" altLang="zh-CN" sz="2400" dirty="0"/>
              <a:t>class </a:t>
            </a:r>
            <a:r>
              <a:rPr lang="en-US" altLang="zh-CN" sz="2400" dirty="0" err="1"/>
              <a:t>BufferedOutputStreamTester</a:t>
            </a:r>
            <a:r>
              <a:rPr lang="en-US" altLang="zh-CN" sz="2400" dirty="0"/>
              <a:t> {</a:t>
            </a:r>
          </a:p>
          <a:p>
            <a:pPr marL="0" indent="0" eaLnBrk="1" hangingPunct="1">
              <a:lnSpc>
                <a:spcPct val="70000"/>
              </a:lnSpc>
              <a:buNone/>
            </a:pPr>
            <a:r>
              <a:rPr lang="en-US" altLang="zh-CN" sz="2400" dirty="0"/>
              <a:t>  public static void main(String[] </a:t>
            </a:r>
            <a:r>
              <a:rPr lang="en-US" altLang="zh-CN" sz="2400" dirty="0" err="1"/>
              <a:t>args</a:t>
            </a:r>
            <a:r>
              <a:rPr lang="en-US" altLang="zh-CN" sz="2400" dirty="0"/>
              <a:t>)throws </a:t>
            </a:r>
            <a:r>
              <a:rPr lang="en-US" altLang="zh-CN" sz="2400" dirty="0" err="1"/>
              <a:t>IOException</a:t>
            </a:r>
            <a:r>
              <a:rPr lang="en-US" altLang="zh-CN" sz="2400" dirty="0"/>
              <a:t> {</a:t>
            </a:r>
          </a:p>
          <a:p>
            <a:pPr marL="0" indent="0" eaLnBrk="1" hangingPunct="1">
              <a:lnSpc>
                <a:spcPct val="70000"/>
              </a:lnSpc>
              <a:buNone/>
            </a:pPr>
            <a:r>
              <a:rPr lang="en-US" altLang="zh-CN" sz="2400" dirty="0"/>
              <a:t>    	String </a:t>
            </a:r>
            <a:r>
              <a:rPr lang="en-US" altLang="zh-CN" sz="2400" dirty="0" err="1"/>
              <a:t>fileName</a:t>
            </a:r>
            <a:r>
              <a:rPr lang="en-US" altLang="zh-CN" sz="2400" dirty="0"/>
              <a:t> = "mixedTypes.dat" ;</a:t>
            </a:r>
          </a:p>
          <a:p>
            <a:pPr marL="0" indent="0" eaLnBrk="1" hangingPunct="1">
              <a:lnSpc>
                <a:spcPct val="70000"/>
              </a:lnSpc>
              <a:buNone/>
            </a:pPr>
            <a:r>
              <a:rPr lang="en-US" altLang="zh-CN" sz="2400" dirty="0"/>
              <a:t>    	</a:t>
            </a:r>
            <a:r>
              <a:rPr lang="en-US" altLang="zh-CN" sz="2400" dirty="0" err="1">
                <a:solidFill>
                  <a:schemeClr val="tx2"/>
                </a:solidFill>
              </a:rPr>
              <a:t>DataOutputStream</a:t>
            </a:r>
            <a:r>
              <a:rPr lang="en-US" altLang="zh-CN" sz="2400" dirty="0">
                <a:solidFill>
                  <a:schemeClr val="tx2"/>
                </a:solidFill>
              </a:rPr>
              <a:t> </a:t>
            </a:r>
            <a:r>
              <a:rPr lang="en-US" altLang="zh-CN" sz="2400" dirty="0" err="1"/>
              <a:t>dataOut</a:t>
            </a:r>
            <a:r>
              <a:rPr lang="en-US" altLang="zh-CN" sz="2400" dirty="0">
                <a:solidFill>
                  <a:schemeClr val="tx2"/>
                </a:solidFill>
              </a:rPr>
              <a:t> = new </a:t>
            </a:r>
            <a:r>
              <a:rPr lang="en-US" altLang="zh-CN" sz="2400" dirty="0" err="1">
                <a:solidFill>
                  <a:schemeClr val="tx2"/>
                </a:solidFill>
              </a:rPr>
              <a:t>DataOutputStream</a:t>
            </a:r>
            <a:r>
              <a:rPr lang="en-US" altLang="zh-CN" sz="2400" dirty="0">
                <a:solidFill>
                  <a:schemeClr val="tx2"/>
                </a:solidFill>
              </a:rPr>
              <a:t>(</a:t>
            </a:r>
          </a:p>
          <a:p>
            <a:pPr marL="0" indent="0" eaLnBrk="1" hangingPunct="1">
              <a:lnSpc>
                <a:spcPct val="70000"/>
              </a:lnSpc>
              <a:buNone/>
            </a:pPr>
            <a:r>
              <a:rPr lang="en-US" altLang="zh-CN" sz="2400" dirty="0">
                <a:solidFill>
                  <a:schemeClr val="tx2"/>
                </a:solidFill>
              </a:rPr>
              <a:t>                             new </a:t>
            </a:r>
            <a:r>
              <a:rPr lang="en-US" altLang="zh-CN" sz="2400" dirty="0" err="1">
                <a:solidFill>
                  <a:schemeClr val="tx2"/>
                </a:solidFill>
              </a:rPr>
              <a:t>BufferedOutputStream</a:t>
            </a:r>
            <a:r>
              <a:rPr lang="en-US" altLang="zh-CN" sz="2400" dirty="0">
                <a:solidFill>
                  <a:schemeClr val="tx2"/>
                </a:solidFill>
              </a:rPr>
              <a:t>(</a:t>
            </a:r>
          </a:p>
          <a:p>
            <a:pPr marL="0" indent="0" eaLnBrk="1" hangingPunct="1">
              <a:lnSpc>
                <a:spcPct val="70000"/>
              </a:lnSpc>
              <a:buNone/>
            </a:pPr>
            <a:r>
              <a:rPr lang="en-US" altLang="zh-CN" sz="2400" dirty="0">
                <a:solidFill>
                  <a:schemeClr val="tx2"/>
                </a:solidFill>
              </a:rPr>
              <a:t>                               new </a:t>
            </a:r>
            <a:r>
              <a:rPr lang="en-US" altLang="zh-CN" sz="2400" dirty="0" err="1">
                <a:solidFill>
                  <a:schemeClr val="tx2"/>
                </a:solidFill>
              </a:rPr>
              <a:t>FileOutputStream</a:t>
            </a:r>
            <a:r>
              <a:rPr lang="en-US" altLang="zh-CN" sz="2400" dirty="0">
                <a:solidFill>
                  <a:schemeClr val="tx2"/>
                </a:solidFill>
              </a:rPr>
              <a:t>( </a:t>
            </a:r>
            <a:r>
              <a:rPr lang="en-US" altLang="zh-CN" sz="2400" dirty="0" err="1">
                <a:solidFill>
                  <a:schemeClr val="tx2"/>
                </a:solidFill>
              </a:rPr>
              <a:t>fileName</a:t>
            </a:r>
            <a:r>
              <a:rPr lang="en-US" altLang="zh-CN" sz="2400" dirty="0">
                <a:solidFill>
                  <a:schemeClr val="tx2"/>
                </a:solidFill>
              </a:rPr>
              <a:t>  ) ) );</a:t>
            </a:r>
          </a:p>
          <a:p>
            <a:pPr marL="0" indent="0" eaLnBrk="1" hangingPunct="1">
              <a:lnSpc>
                <a:spcPct val="70000"/>
              </a:lnSpc>
              <a:buNone/>
            </a:pPr>
            <a:r>
              <a:rPr lang="en-US" altLang="zh-CN" sz="2400" dirty="0"/>
              <a:t>    	</a:t>
            </a:r>
            <a:r>
              <a:rPr lang="en-US" altLang="zh-CN" sz="2400" dirty="0" err="1"/>
              <a:t>dataOut.</a:t>
            </a:r>
            <a:r>
              <a:rPr lang="en-US" altLang="zh-CN" sz="2400" dirty="0" err="1">
                <a:solidFill>
                  <a:schemeClr val="hlink"/>
                </a:solidFill>
              </a:rPr>
              <a:t>writeInt</a:t>
            </a:r>
            <a:r>
              <a:rPr lang="en-US" altLang="zh-CN" sz="2400" dirty="0">
                <a:solidFill>
                  <a:schemeClr val="hlink"/>
                </a:solidFill>
              </a:rPr>
              <a:t>( 0 )</a:t>
            </a:r>
            <a:r>
              <a:rPr lang="en-US" altLang="zh-CN" sz="2400" dirty="0"/>
              <a:t>;</a:t>
            </a:r>
          </a:p>
          <a:p>
            <a:pPr marL="0" indent="0" eaLnBrk="1" hangingPunct="1">
              <a:lnSpc>
                <a:spcPct val="70000"/>
              </a:lnSpc>
              <a:buNone/>
            </a:pPr>
            <a:r>
              <a:rPr lang="en-US" altLang="zh-CN" sz="2400" dirty="0"/>
              <a:t>    	</a:t>
            </a:r>
            <a:r>
              <a:rPr lang="en-US" altLang="zh-CN" sz="2400" dirty="0" err="1"/>
              <a:t>System.out.println</a:t>
            </a:r>
            <a:r>
              <a:rPr lang="en-US" altLang="zh-CN" sz="2400" dirty="0"/>
              <a:t>( </a:t>
            </a:r>
            <a:r>
              <a:rPr lang="en-US" altLang="zh-CN" sz="1900" dirty="0" err="1"/>
              <a:t>dataOut.size</a:t>
            </a:r>
            <a:r>
              <a:rPr lang="en-US" altLang="zh-CN" sz="1900" dirty="0"/>
              <a:t>()  + " bytes have been written."</a:t>
            </a:r>
            <a:r>
              <a:rPr lang="en-US" altLang="zh-CN" sz="2400" dirty="0"/>
              <a:t>);</a:t>
            </a:r>
          </a:p>
          <a:p>
            <a:pPr marL="0" indent="0" eaLnBrk="1" hangingPunct="1">
              <a:lnSpc>
                <a:spcPct val="70000"/>
              </a:lnSpc>
              <a:buNone/>
            </a:pPr>
            <a:r>
              <a:rPr lang="en-US" altLang="zh-CN" sz="2400" dirty="0"/>
              <a:t>    	</a:t>
            </a:r>
            <a:r>
              <a:rPr lang="en-US" altLang="zh-CN" sz="2400" dirty="0" err="1"/>
              <a:t>dataOut.</a:t>
            </a:r>
            <a:r>
              <a:rPr lang="en-US" altLang="zh-CN" sz="2400" dirty="0" err="1">
                <a:solidFill>
                  <a:schemeClr val="hlink"/>
                </a:solidFill>
              </a:rPr>
              <a:t>writeDouble</a:t>
            </a:r>
            <a:r>
              <a:rPr lang="en-US" altLang="zh-CN" sz="2400" dirty="0">
                <a:solidFill>
                  <a:schemeClr val="hlink"/>
                </a:solidFill>
              </a:rPr>
              <a:t>( 31.2 )</a:t>
            </a:r>
            <a:r>
              <a:rPr lang="en-US" altLang="zh-CN" sz="2400" dirty="0"/>
              <a:t>;</a:t>
            </a:r>
          </a:p>
          <a:p>
            <a:pPr marL="0" indent="0" eaLnBrk="1" hangingPunct="1">
              <a:lnSpc>
                <a:spcPct val="70000"/>
              </a:lnSpc>
              <a:buNone/>
            </a:pPr>
            <a:r>
              <a:rPr lang="en-US" altLang="zh-CN" sz="2400" dirty="0"/>
              <a:t>    	</a:t>
            </a:r>
            <a:r>
              <a:rPr lang="en-US" altLang="zh-CN" sz="2400" dirty="0" err="1"/>
              <a:t>System.out.println</a:t>
            </a:r>
            <a:r>
              <a:rPr lang="en-US" altLang="zh-CN" sz="2400" dirty="0"/>
              <a:t>( </a:t>
            </a:r>
            <a:r>
              <a:rPr lang="en-US" altLang="zh-CN" sz="1900" dirty="0" err="1"/>
              <a:t>dataOut.size</a:t>
            </a:r>
            <a:r>
              <a:rPr lang="en-US" altLang="zh-CN" sz="1900" dirty="0"/>
              <a:t>()  + " bytes have been written."</a:t>
            </a:r>
            <a:r>
              <a:rPr lang="en-US" altLang="zh-CN" sz="2400" dirty="0"/>
              <a:t>);</a:t>
            </a:r>
          </a:p>
          <a:p>
            <a:pPr marL="0" indent="0" eaLnBrk="1" hangingPunct="1">
              <a:lnSpc>
                <a:spcPct val="70000"/>
              </a:lnSpc>
              <a:buNone/>
            </a:pPr>
            <a:r>
              <a:rPr lang="en-US" altLang="zh-CN" sz="2400" dirty="0"/>
              <a:t>    	</a:t>
            </a:r>
            <a:r>
              <a:rPr lang="en-US" altLang="zh-CN" sz="2400" dirty="0" err="1"/>
              <a:t>dataOut.</a:t>
            </a:r>
            <a:r>
              <a:rPr lang="en-US" altLang="zh-CN" sz="2400" dirty="0" err="1">
                <a:solidFill>
                  <a:schemeClr val="hlink"/>
                </a:solidFill>
              </a:rPr>
              <a:t>writeBytes</a:t>
            </a:r>
            <a:r>
              <a:rPr lang="en-US" altLang="zh-CN" sz="2400" dirty="0">
                <a:solidFill>
                  <a:schemeClr val="hlink"/>
                </a:solidFill>
              </a:rPr>
              <a:t>("JAVA")</a:t>
            </a:r>
            <a:r>
              <a:rPr lang="en-US" altLang="zh-CN" sz="2400" dirty="0"/>
              <a:t>;</a:t>
            </a:r>
          </a:p>
          <a:p>
            <a:pPr marL="0" indent="0" eaLnBrk="1" hangingPunct="1">
              <a:lnSpc>
                <a:spcPct val="70000"/>
              </a:lnSpc>
              <a:buNone/>
            </a:pPr>
            <a:r>
              <a:rPr lang="en-US" altLang="zh-CN" sz="2400" dirty="0"/>
              <a:t>    	</a:t>
            </a:r>
            <a:r>
              <a:rPr lang="en-US" altLang="zh-CN" sz="2400" dirty="0" err="1"/>
              <a:t>System.out.println</a:t>
            </a:r>
            <a:r>
              <a:rPr lang="en-US" altLang="zh-CN" sz="2400" dirty="0"/>
              <a:t>( </a:t>
            </a:r>
            <a:r>
              <a:rPr lang="en-US" altLang="zh-CN" sz="1900" dirty="0" err="1"/>
              <a:t>dataOut.size</a:t>
            </a:r>
            <a:r>
              <a:rPr lang="en-US" altLang="zh-CN" sz="1900" dirty="0"/>
              <a:t>()  + " bytes have been written."</a:t>
            </a:r>
            <a:r>
              <a:rPr lang="en-US" altLang="zh-CN" sz="2400" dirty="0"/>
              <a:t>);</a:t>
            </a:r>
          </a:p>
          <a:p>
            <a:pPr marL="0" indent="0" eaLnBrk="1" hangingPunct="1">
              <a:lnSpc>
                <a:spcPct val="70000"/>
              </a:lnSpc>
              <a:buNone/>
            </a:pPr>
            <a:r>
              <a:rPr lang="en-US" altLang="zh-CN" sz="2400" dirty="0"/>
              <a:t>    	</a:t>
            </a:r>
            <a:r>
              <a:rPr lang="en-US" altLang="zh-CN" sz="2400" dirty="0" err="1"/>
              <a:t>dataOut.close</a:t>
            </a:r>
            <a:r>
              <a:rPr lang="en-US" altLang="zh-CN" sz="2400" dirty="0"/>
              <a:t>();</a:t>
            </a:r>
          </a:p>
          <a:p>
            <a:pPr marL="0" indent="0" eaLnBrk="1" hangingPunct="1">
              <a:lnSpc>
                <a:spcPct val="70000"/>
              </a:lnSpc>
              <a:buNone/>
            </a:pPr>
            <a:r>
              <a:rPr lang="en-US" altLang="zh-CN" sz="2400" dirty="0"/>
              <a:t>  }</a:t>
            </a:r>
          </a:p>
          <a:p>
            <a:pPr marL="0" indent="0" eaLnBrk="1" hangingPunct="1">
              <a:lnSpc>
                <a:spcPct val="70000"/>
              </a:lnSpc>
              <a:buNone/>
            </a:pPr>
            <a:r>
              <a:rPr lang="en-US" altLang="zh-CN" sz="2400" dirty="0"/>
              <a:t>}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3899F886-53FF-37C6-3C9E-D477471A618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271464" y="1556792"/>
            <a:ext cx="7214592" cy="2260848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 dirty="0"/>
              <a:t>运行结果</a:t>
            </a:r>
          </a:p>
          <a:p>
            <a:pPr lvl="1" eaLnBrk="1" hangingPunct="1"/>
            <a:r>
              <a:rPr lang="zh-CN" altLang="en-US" sz="2400" dirty="0"/>
              <a:t>4 </a:t>
            </a:r>
            <a:r>
              <a:rPr lang="en-US" altLang="zh-CN" sz="2400" dirty="0"/>
              <a:t>bytes have been written</a:t>
            </a:r>
          </a:p>
          <a:p>
            <a:pPr lvl="1" eaLnBrk="1" hangingPunct="1"/>
            <a:r>
              <a:rPr lang="en-US" altLang="zh-CN" sz="2400" dirty="0"/>
              <a:t>12 bytes have been written</a:t>
            </a:r>
          </a:p>
          <a:p>
            <a:pPr lvl="1" eaLnBrk="1" hangingPunct="1"/>
            <a:r>
              <a:rPr lang="en-US" altLang="zh-CN" sz="2400" dirty="0"/>
              <a:t>16 bytes have been written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26C27B1-8D7E-BB60-524E-4FBDEEEB21C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087930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写二进制文件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F62DDC6-94B2-942D-5B4B-0A9F0204E2B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07368" y="1124744"/>
            <a:ext cx="11665296" cy="5621614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 eaLnBrk="1" hangingPunct="1">
              <a:lnSpc>
                <a:spcPct val="70000"/>
              </a:lnSpc>
              <a:buNone/>
            </a:pPr>
            <a:r>
              <a:rPr lang="en-US" altLang="zh-CN" sz="2100" dirty="0"/>
              <a:t>//</a:t>
            </a:r>
            <a:r>
              <a:rPr lang="zh-CN" altLang="en-US" sz="2100" dirty="0"/>
              <a:t>向文件中写入内容为-1的一个字节，并读取出来。</a:t>
            </a:r>
          </a:p>
          <a:p>
            <a:pPr lvl="1" indent="-742950" eaLnBrk="1" hangingPunct="1">
              <a:lnSpc>
                <a:spcPct val="110000"/>
              </a:lnSpc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100" dirty="0"/>
              <a:t>import java.io.*;</a:t>
            </a:r>
          </a:p>
          <a:p>
            <a:pPr lvl="1" indent="-742950" eaLnBrk="1" hangingPunct="1">
              <a:lnSpc>
                <a:spcPct val="110000"/>
              </a:lnSpc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100" dirty="0"/>
              <a:t>public class </a:t>
            </a:r>
            <a:r>
              <a:rPr lang="en-US" altLang="zh-CN" sz="2100" dirty="0" err="1"/>
              <a:t>ByteIOTester</a:t>
            </a:r>
            <a:r>
              <a:rPr lang="en-US" altLang="zh-CN" sz="2100" dirty="0"/>
              <a:t> {</a:t>
            </a:r>
          </a:p>
          <a:p>
            <a:pPr lvl="1" eaLnBrk="1" hangingPunct="1">
              <a:lnSpc>
                <a:spcPct val="110000"/>
              </a:lnSpc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100" dirty="0"/>
              <a:t>public static void main(String[] </a:t>
            </a:r>
            <a:r>
              <a:rPr lang="en-US" altLang="zh-CN" sz="2100" dirty="0" err="1"/>
              <a:t>args</a:t>
            </a:r>
            <a:r>
              <a:rPr lang="en-US" altLang="zh-CN" sz="2100" dirty="0"/>
              <a:t>) throws Exception {</a:t>
            </a:r>
          </a:p>
          <a:p>
            <a:pPr lvl="1" eaLnBrk="1" hangingPunct="1">
              <a:lnSpc>
                <a:spcPct val="110000"/>
              </a:lnSpc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100" dirty="0"/>
              <a:t>    </a:t>
            </a:r>
            <a:r>
              <a:rPr lang="en-US" altLang="zh-CN" sz="2100" dirty="0" err="1"/>
              <a:t>DataOutputStream</a:t>
            </a:r>
            <a:r>
              <a:rPr lang="en-US" altLang="zh-CN" sz="2100" dirty="0"/>
              <a:t> </a:t>
            </a:r>
            <a:r>
              <a:rPr lang="en-US" altLang="zh-CN" sz="2100" dirty="0">
                <a:solidFill>
                  <a:schemeClr val="tx2"/>
                </a:solidFill>
              </a:rPr>
              <a:t>out</a:t>
            </a:r>
            <a:r>
              <a:rPr lang="en-US" altLang="zh-CN" sz="2100" dirty="0"/>
              <a:t>=new </a:t>
            </a:r>
            <a:r>
              <a:rPr lang="en-US" altLang="zh-CN" sz="2100" dirty="0" err="1"/>
              <a:t>DataOutputStream</a:t>
            </a:r>
            <a:r>
              <a:rPr lang="en-US" altLang="zh-CN" sz="2100" dirty="0"/>
              <a:t>(new </a:t>
            </a:r>
            <a:r>
              <a:rPr lang="en-US" altLang="zh-CN" sz="2100" dirty="0" err="1"/>
              <a:t>FileOutputStream</a:t>
            </a:r>
            <a:r>
              <a:rPr lang="en-US" altLang="zh-CN" sz="2100" dirty="0"/>
              <a:t>("try.dat"));</a:t>
            </a:r>
          </a:p>
          <a:p>
            <a:pPr lvl="1" eaLnBrk="1" hangingPunct="1">
              <a:lnSpc>
                <a:spcPct val="110000"/>
              </a:lnSpc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100" dirty="0"/>
              <a:t>	  </a:t>
            </a:r>
            <a:r>
              <a:rPr lang="en-US" altLang="zh-CN" sz="2100" dirty="0" err="1">
                <a:solidFill>
                  <a:schemeClr val="tx2"/>
                </a:solidFill>
              </a:rPr>
              <a:t>out</a:t>
            </a:r>
            <a:r>
              <a:rPr lang="en-US" altLang="zh-CN" sz="2100" dirty="0" err="1"/>
              <a:t>.</a:t>
            </a:r>
            <a:r>
              <a:rPr lang="en-US" altLang="zh-CN" sz="2100" dirty="0" err="1">
                <a:solidFill>
                  <a:schemeClr val="hlink"/>
                </a:solidFill>
              </a:rPr>
              <a:t>writeByte</a:t>
            </a:r>
            <a:r>
              <a:rPr lang="en-US" altLang="zh-CN" sz="2100" dirty="0">
                <a:solidFill>
                  <a:schemeClr val="hlink"/>
                </a:solidFill>
              </a:rPr>
              <a:t>(-1)</a:t>
            </a:r>
            <a:r>
              <a:rPr lang="en-US" altLang="zh-CN" sz="2100" dirty="0"/>
              <a:t>;  </a:t>
            </a:r>
            <a:r>
              <a:rPr lang="en-US" altLang="zh-CN" sz="2100" dirty="0" err="1">
                <a:solidFill>
                  <a:schemeClr val="tx2"/>
                </a:solidFill>
              </a:rPr>
              <a:t>out</a:t>
            </a:r>
            <a:r>
              <a:rPr lang="en-US" altLang="zh-CN" sz="2100" dirty="0" err="1"/>
              <a:t>.close</a:t>
            </a:r>
            <a:r>
              <a:rPr lang="en-US" altLang="zh-CN" sz="2100" dirty="0"/>
              <a:t>();</a:t>
            </a:r>
          </a:p>
          <a:p>
            <a:pPr lvl="1" eaLnBrk="1" hangingPunct="1">
              <a:lnSpc>
                <a:spcPct val="110000"/>
              </a:lnSpc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100" dirty="0"/>
              <a:t>	  </a:t>
            </a:r>
            <a:r>
              <a:rPr lang="en-US" altLang="zh-CN" sz="2100" dirty="0" err="1"/>
              <a:t>DataInputStream</a:t>
            </a:r>
            <a:r>
              <a:rPr lang="en-US" altLang="zh-CN" sz="2100" dirty="0"/>
              <a:t> in=new </a:t>
            </a:r>
            <a:r>
              <a:rPr lang="en-US" altLang="zh-CN" sz="2100" dirty="0" err="1"/>
              <a:t>DataInputStream</a:t>
            </a:r>
            <a:r>
              <a:rPr lang="en-US" altLang="zh-CN" sz="2100" dirty="0"/>
              <a:t>(new </a:t>
            </a:r>
            <a:r>
              <a:rPr lang="en-US" altLang="zh-CN" sz="2100" dirty="0" err="1"/>
              <a:t>FileInputStream</a:t>
            </a:r>
            <a:r>
              <a:rPr lang="en-US" altLang="zh-CN" sz="2100" dirty="0"/>
              <a:t>("try.dat"));</a:t>
            </a:r>
          </a:p>
          <a:p>
            <a:pPr lvl="1" eaLnBrk="1" hangingPunct="1">
              <a:lnSpc>
                <a:spcPct val="110000"/>
              </a:lnSpc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100" dirty="0"/>
              <a:t>	  int a=</a:t>
            </a:r>
            <a:r>
              <a:rPr lang="en-US" altLang="zh-CN" sz="2100" dirty="0" err="1"/>
              <a:t>in.</a:t>
            </a:r>
            <a:r>
              <a:rPr lang="en-US" altLang="zh-CN" sz="2100" dirty="0" err="1">
                <a:solidFill>
                  <a:schemeClr val="hlink"/>
                </a:solidFill>
              </a:rPr>
              <a:t>readByte</a:t>
            </a:r>
            <a:r>
              <a:rPr lang="en-US" altLang="zh-CN" sz="2100" dirty="0">
                <a:solidFill>
                  <a:schemeClr val="hlink"/>
                </a:solidFill>
              </a:rPr>
              <a:t>()</a:t>
            </a:r>
            <a:r>
              <a:rPr lang="en-US" altLang="zh-CN" sz="2100" dirty="0"/>
              <a:t>;</a:t>
            </a:r>
          </a:p>
          <a:p>
            <a:pPr lvl="1" eaLnBrk="1" hangingPunct="1">
              <a:lnSpc>
                <a:spcPct val="110000"/>
              </a:lnSpc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100" dirty="0"/>
              <a:t>	  </a:t>
            </a:r>
            <a:r>
              <a:rPr lang="en-US" altLang="zh-CN" sz="2100" dirty="0" err="1"/>
              <a:t>System.out.println</a:t>
            </a:r>
            <a:r>
              <a:rPr lang="en-US" altLang="zh-CN" sz="2100" dirty="0"/>
              <a:t>(</a:t>
            </a:r>
            <a:r>
              <a:rPr lang="en-US" altLang="zh-CN" sz="2100" dirty="0" err="1"/>
              <a:t>Integer.toHexString</a:t>
            </a:r>
            <a:r>
              <a:rPr lang="en-US" altLang="zh-CN" sz="2100" dirty="0"/>
              <a:t> (a));</a:t>
            </a:r>
          </a:p>
          <a:p>
            <a:pPr lvl="1" eaLnBrk="1" hangingPunct="1">
              <a:lnSpc>
                <a:spcPct val="110000"/>
              </a:lnSpc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100" dirty="0"/>
              <a:t>	  </a:t>
            </a:r>
            <a:r>
              <a:rPr lang="en-US" altLang="zh-CN" sz="2100" dirty="0" err="1"/>
              <a:t>System.out.println</a:t>
            </a:r>
            <a:r>
              <a:rPr lang="en-US" altLang="zh-CN" sz="2100" dirty="0"/>
              <a:t>(a);</a:t>
            </a:r>
          </a:p>
          <a:p>
            <a:pPr lvl="1" eaLnBrk="1" hangingPunct="1">
              <a:lnSpc>
                <a:spcPct val="110000"/>
              </a:lnSpc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100" dirty="0"/>
              <a:t>	  </a:t>
            </a:r>
            <a:r>
              <a:rPr lang="en-US" altLang="zh-CN" sz="2100" dirty="0" err="1"/>
              <a:t>in.</a:t>
            </a:r>
            <a:r>
              <a:rPr lang="en-US" altLang="zh-CN" sz="2100" dirty="0" err="1">
                <a:solidFill>
                  <a:schemeClr val="hlink"/>
                </a:solidFill>
              </a:rPr>
              <a:t>skip</a:t>
            </a:r>
            <a:r>
              <a:rPr lang="en-US" altLang="zh-CN" sz="2100" dirty="0">
                <a:solidFill>
                  <a:schemeClr val="hlink"/>
                </a:solidFill>
              </a:rPr>
              <a:t> (-1)</a:t>
            </a:r>
            <a:r>
              <a:rPr lang="en-US" altLang="zh-CN" sz="2100" dirty="0"/>
              <a:t>;  //</a:t>
            </a:r>
            <a:r>
              <a:rPr lang="zh-CN" altLang="en-US" sz="2100" dirty="0"/>
              <a:t>往后一个位置，以便下面重新读出</a:t>
            </a:r>
          </a:p>
          <a:p>
            <a:pPr lvl="1" eaLnBrk="1" hangingPunct="1">
              <a:lnSpc>
                <a:spcPct val="110000"/>
              </a:lnSpc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2100" dirty="0"/>
              <a:t>	  </a:t>
            </a:r>
            <a:r>
              <a:rPr lang="en-US" altLang="zh-CN" sz="2100" dirty="0"/>
              <a:t>a=</a:t>
            </a:r>
            <a:r>
              <a:rPr lang="en-US" altLang="zh-CN" sz="2100" dirty="0" err="1"/>
              <a:t>in.</a:t>
            </a:r>
            <a:r>
              <a:rPr lang="en-US" altLang="zh-CN" sz="2100" dirty="0" err="1">
                <a:solidFill>
                  <a:schemeClr val="hlink"/>
                </a:solidFill>
              </a:rPr>
              <a:t>readUnsignedByte</a:t>
            </a:r>
            <a:r>
              <a:rPr lang="en-US" altLang="zh-CN" sz="2100" dirty="0">
                <a:solidFill>
                  <a:schemeClr val="hlink"/>
                </a:solidFill>
              </a:rPr>
              <a:t>()</a:t>
            </a:r>
            <a:r>
              <a:rPr lang="en-US" altLang="zh-CN" sz="2100" dirty="0"/>
              <a:t>;</a:t>
            </a:r>
          </a:p>
          <a:p>
            <a:pPr lvl="1" eaLnBrk="1" hangingPunct="1">
              <a:lnSpc>
                <a:spcPct val="110000"/>
              </a:lnSpc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100" dirty="0"/>
              <a:t>	  </a:t>
            </a:r>
            <a:r>
              <a:rPr lang="en-US" altLang="zh-CN" sz="2100" dirty="0" err="1"/>
              <a:t>System.out.println</a:t>
            </a:r>
            <a:r>
              <a:rPr lang="en-US" altLang="zh-CN" sz="2100" dirty="0"/>
              <a:t>(</a:t>
            </a:r>
            <a:r>
              <a:rPr lang="en-US" altLang="zh-CN" sz="2100" dirty="0" err="1"/>
              <a:t>Integer.toHexString</a:t>
            </a:r>
            <a:r>
              <a:rPr lang="en-US" altLang="zh-CN" sz="2100" dirty="0"/>
              <a:t> (a));</a:t>
            </a:r>
          </a:p>
          <a:p>
            <a:pPr lvl="1" eaLnBrk="1" hangingPunct="1">
              <a:lnSpc>
                <a:spcPct val="110000"/>
              </a:lnSpc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100" dirty="0"/>
              <a:t>	  </a:t>
            </a:r>
            <a:r>
              <a:rPr lang="en-US" altLang="zh-CN" sz="2100" dirty="0" err="1"/>
              <a:t>System.out.println</a:t>
            </a:r>
            <a:r>
              <a:rPr lang="en-US" altLang="zh-CN" sz="2100" dirty="0"/>
              <a:t>(a);  </a:t>
            </a:r>
            <a:r>
              <a:rPr lang="en-US" altLang="zh-CN" sz="2100" dirty="0" err="1"/>
              <a:t>in.close</a:t>
            </a:r>
            <a:r>
              <a:rPr lang="en-US" altLang="zh-CN" sz="2100" dirty="0"/>
              <a:t>();		</a:t>
            </a:r>
          </a:p>
          <a:p>
            <a:pPr lvl="1" eaLnBrk="1" hangingPunct="1">
              <a:lnSpc>
                <a:spcPct val="110000"/>
              </a:lnSpc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100" dirty="0"/>
              <a:t>}</a:t>
            </a:r>
          </a:p>
          <a:p>
            <a:pPr lvl="1" indent="-742950" eaLnBrk="1" hangingPunct="1">
              <a:lnSpc>
                <a:spcPct val="110000"/>
              </a:lnSpc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100" dirty="0"/>
              <a:t>}  </a:t>
            </a:r>
            <a:endParaRPr lang="zh-CN" altLang="en-US" sz="2100" dirty="0"/>
          </a:p>
        </p:txBody>
      </p:sp>
      <p:sp>
        <p:nvSpPr>
          <p:cNvPr id="2" name="文本框 1"/>
          <p:cNvSpPr txBox="1"/>
          <p:nvPr/>
        </p:nvSpPr>
        <p:spPr>
          <a:xfrm>
            <a:off x="9408368" y="3871522"/>
            <a:ext cx="1512168" cy="240065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2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运行结果：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ffffffff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ff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255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4F4E20D-2B9B-372B-16E8-4BA6275AC17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99356" y="1524322"/>
            <a:ext cx="11593288" cy="5333678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000" dirty="0"/>
              <a:t>import java.io.*;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000" dirty="0"/>
              <a:t>class </a:t>
            </a:r>
            <a:r>
              <a:rPr lang="en-US" altLang="zh-CN" sz="2000" dirty="0" err="1"/>
              <a:t>DataInputStreamTester</a:t>
            </a:r>
            <a:r>
              <a:rPr lang="en-US" altLang="zh-CN" sz="2000" dirty="0"/>
              <a:t> {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000" dirty="0"/>
              <a:t>    public static void main ( String[] 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 ) {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000" dirty="0"/>
              <a:t>    	 String </a:t>
            </a:r>
            <a:r>
              <a:rPr lang="en-US" altLang="zh-CN" sz="2000" dirty="0" err="1"/>
              <a:t>fileName</a:t>
            </a:r>
            <a:r>
              <a:rPr lang="en-US" altLang="zh-CN" sz="2000" dirty="0"/>
              <a:t> = "data1.dat";  int sum = 0;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000" dirty="0"/>
              <a:t>        try {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000" dirty="0"/>
              <a:t>            </a:t>
            </a:r>
            <a:r>
              <a:rPr lang="en-US" altLang="zh-CN" sz="2000" dirty="0" err="1"/>
              <a:t>DataInputStream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instr</a:t>
            </a:r>
            <a:r>
              <a:rPr lang="en-US" altLang="zh-CN" sz="2000" dirty="0"/>
              <a:t> = new </a:t>
            </a:r>
            <a:r>
              <a:rPr lang="en-US" altLang="zh-CN" sz="2000" dirty="0" err="1"/>
              <a:t>DataInputStream</a:t>
            </a:r>
            <a:r>
              <a:rPr lang="en-US" altLang="zh-CN" sz="2000" dirty="0"/>
              <a:t>(new </a:t>
            </a:r>
            <a:r>
              <a:rPr lang="en-US" altLang="zh-CN" sz="2000" dirty="0" err="1"/>
              <a:t>BufferedInputStream</a:t>
            </a:r>
            <a:r>
              <a:rPr lang="en-US" altLang="zh-CN" sz="2000" dirty="0"/>
              <a:t>(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000" dirty="0"/>
              <a:t>                                                       new </a:t>
            </a:r>
            <a:r>
              <a:rPr lang="en-US" altLang="zh-CN" sz="2000" dirty="0" err="1"/>
              <a:t>FileInputStream</a:t>
            </a:r>
            <a:r>
              <a:rPr lang="en-US" altLang="zh-CN" sz="2000" dirty="0"/>
              <a:t>( </a:t>
            </a:r>
            <a:r>
              <a:rPr lang="en-US" altLang="zh-CN" sz="2000" dirty="0" err="1"/>
              <a:t>fileName</a:t>
            </a:r>
            <a:r>
              <a:rPr lang="en-US" altLang="zh-CN" sz="2000" dirty="0"/>
              <a:t> )));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000" dirty="0"/>
              <a:t>            sum += </a:t>
            </a:r>
            <a:r>
              <a:rPr lang="en-US" altLang="zh-CN" sz="2000" dirty="0" err="1">
                <a:solidFill>
                  <a:schemeClr val="tx2"/>
                </a:solidFill>
              </a:rPr>
              <a:t>instr.readInt</a:t>
            </a:r>
            <a:r>
              <a:rPr lang="en-US" altLang="zh-CN" sz="2000" dirty="0">
                <a:solidFill>
                  <a:schemeClr val="tx2"/>
                </a:solidFill>
              </a:rPr>
              <a:t>()</a:t>
            </a:r>
            <a:r>
              <a:rPr lang="en-US" altLang="zh-CN" sz="2000" dirty="0"/>
              <a:t>;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000" dirty="0"/>
              <a:t>            sum += </a:t>
            </a:r>
            <a:r>
              <a:rPr lang="en-US" altLang="zh-CN" sz="2000" dirty="0" err="1">
                <a:solidFill>
                  <a:schemeClr val="tx2"/>
                </a:solidFill>
              </a:rPr>
              <a:t>instr.readInt</a:t>
            </a:r>
            <a:r>
              <a:rPr lang="en-US" altLang="zh-CN" sz="2000" dirty="0">
                <a:solidFill>
                  <a:schemeClr val="tx2"/>
                </a:solidFill>
              </a:rPr>
              <a:t>()</a:t>
            </a:r>
            <a:r>
              <a:rPr lang="en-US" altLang="zh-CN" sz="2000" dirty="0"/>
              <a:t>;  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000" dirty="0"/>
              <a:t>            sum += </a:t>
            </a:r>
            <a:r>
              <a:rPr lang="en-US" altLang="zh-CN" sz="2000" dirty="0" err="1">
                <a:solidFill>
                  <a:schemeClr val="tx2"/>
                </a:solidFill>
              </a:rPr>
              <a:t>instr.readInt</a:t>
            </a:r>
            <a:r>
              <a:rPr lang="en-US" altLang="zh-CN" sz="2000" dirty="0">
                <a:solidFill>
                  <a:schemeClr val="tx2"/>
                </a:solidFill>
              </a:rPr>
              <a:t>()</a:t>
            </a:r>
            <a:r>
              <a:rPr lang="en-US" altLang="zh-CN" sz="2000" dirty="0"/>
              <a:t>;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000" dirty="0"/>
              <a:t>            </a:t>
            </a:r>
            <a:r>
              <a:rPr lang="en-US" altLang="zh-CN" sz="2000" dirty="0" err="1"/>
              <a:t>System.out.println</a:t>
            </a:r>
            <a:r>
              <a:rPr lang="en-US" altLang="zh-CN" sz="2000" dirty="0"/>
              <a:t>( "The sum is: " + sum );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000" dirty="0"/>
              <a:t>            </a:t>
            </a:r>
            <a:r>
              <a:rPr lang="en-US" altLang="zh-CN" sz="2000" dirty="0" err="1"/>
              <a:t>instr.close</a:t>
            </a:r>
            <a:r>
              <a:rPr lang="en-US" altLang="zh-CN" sz="2000" dirty="0"/>
              <a:t>();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000" dirty="0"/>
              <a:t>        }catch (</a:t>
            </a:r>
            <a:r>
              <a:rPr lang="en-US" altLang="zh-CN" sz="2000" dirty="0" err="1"/>
              <a:t>IOException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iox</a:t>
            </a:r>
            <a:r>
              <a:rPr lang="en-US" altLang="zh-CN" sz="2000" dirty="0"/>
              <a:t>){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000" dirty="0"/>
              <a:t>             </a:t>
            </a:r>
            <a:r>
              <a:rPr lang="en-US" altLang="zh-CN" sz="2000" dirty="0" err="1"/>
              <a:t>System.out.println</a:t>
            </a:r>
            <a:r>
              <a:rPr lang="en-US" altLang="zh-CN" sz="2000" dirty="0"/>
              <a:t>("Problem reading " + </a:t>
            </a:r>
            <a:r>
              <a:rPr lang="en-US" altLang="zh-CN" sz="2000" dirty="0" err="1"/>
              <a:t>fileName</a:t>
            </a:r>
            <a:r>
              <a:rPr lang="en-US" altLang="zh-CN" sz="2000" dirty="0"/>
              <a:t> ); 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000" dirty="0"/>
              <a:t>        }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000" dirty="0"/>
              <a:t>    }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000" dirty="0"/>
              <a:t>}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048328" y="5373216"/>
            <a:ext cx="1728192" cy="646331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运行结果：</a:t>
            </a:r>
            <a:endParaRPr lang="en-US" altLang="zh-CN" sz="18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254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2E4A12-BF7E-90FA-589D-7884E87C00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087930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写二进制文件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44268D22-4314-951F-2AF8-3769B1423F8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201731011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07670" y="1484784"/>
            <a:ext cx="10972800" cy="5256584"/>
          </a:xfrm>
        </p:spPr>
        <p:txBody>
          <a:bodyPr>
            <a:normAutofit fontScale="85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600" dirty="0"/>
              <a:t>import java.io.*;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600" dirty="0"/>
              <a:t>class DataInputStreamTester2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600" dirty="0"/>
              <a:t>    public static void main(String[] </a:t>
            </a:r>
            <a:r>
              <a:rPr lang="en-US" altLang="zh-CN" sz="2600" dirty="0" err="1"/>
              <a:t>args</a:t>
            </a:r>
            <a:r>
              <a:rPr lang="en-US" altLang="zh-CN" sz="2600" dirty="0"/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600" dirty="0"/>
              <a:t>        String </a:t>
            </a:r>
            <a:r>
              <a:rPr lang="en-US" altLang="zh-CN" sz="2600" dirty="0" err="1"/>
              <a:t>fileName</a:t>
            </a:r>
            <a:r>
              <a:rPr lang="en-US" altLang="zh-CN" sz="2600" dirty="0"/>
              <a:t> = "D:/data1.dat";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600" dirty="0"/>
              <a:t>        long sum =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600" dirty="0"/>
              <a:t>        try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600" dirty="0"/>
              <a:t>             </a:t>
            </a:r>
            <a:r>
              <a:rPr lang="en-US" altLang="zh-CN" sz="2600" dirty="0" err="1"/>
              <a:t>DataInputStream</a:t>
            </a:r>
            <a:r>
              <a:rPr lang="en-US" altLang="zh-CN" sz="2600" dirty="0"/>
              <a:t> </a:t>
            </a:r>
            <a:r>
              <a:rPr lang="en-US" altLang="zh-CN" sz="2600" dirty="0" err="1"/>
              <a:t>instr</a:t>
            </a:r>
            <a:r>
              <a:rPr lang="en-US" altLang="zh-CN" sz="2600" dirty="0"/>
              <a:t> = new </a:t>
            </a:r>
            <a:r>
              <a:rPr lang="en-US" altLang="zh-CN" sz="2600" dirty="0" err="1"/>
              <a:t>DataInputStream</a:t>
            </a:r>
            <a:r>
              <a:rPr lang="en-US" altLang="zh-CN" sz="2600" dirty="0"/>
              <a:t>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600" dirty="0"/>
              <a:t>                    new </a:t>
            </a:r>
            <a:r>
              <a:rPr lang="en-US" altLang="zh-CN" sz="2600" dirty="0" err="1"/>
              <a:t>BufferedInputStream</a:t>
            </a:r>
            <a:r>
              <a:rPr lang="en-US" altLang="zh-CN" sz="2600" dirty="0"/>
              <a:t>(new </a:t>
            </a:r>
            <a:r>
              <a:rPr lang="en-US" altLang="zh-CN" sz="2600" dirty="0" err="1"/>
              <a:t>FileInputStream</a:t>
            </a:r>
            <a:r>
              <a:rPr lang="en-US" altLang="zh-CN" sz="2600" dirty="0"/>
              <a:t>(</a:t>
            </a:r>
            <a:r>
              <a:rPr lang="en-US" altLang="zh-CN" sz="2600" dirty="0" err="1"/>
              <a:t>fileName</a:t>
            </a:r>
            <a:r>
              <a:rPr lang="en-US" altLang="zh-CN" sz="2600" dirty="0"/>
              <a:t>)));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600" dirty="0"/>
              <a:t>              try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600" dirty="0"/>
              <a:t>                    while (true) { sum += </a:t>
            </a:r>
            <a:r>
              <a:rPr lang="en-US" altLang="zh-CN" sz="2600" dirty="0" err="1"/>
              <a:t>instr.readInt</a:t>
            </a:r>
            <a:r>
              <a:rPr lang="en-US" altLang="zh-CN" sz="2600" dirty="0"/>
              <a:t>();}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600" dirty="0"/>
              <a:t>              }catch (</a:t>
            </a:r>
            <a:r>
              <a:rPr lang="en-US" altLang="zh-CN" sz="2600" dirty="0" err="1"/>
              <a:t>EOFException</a:t>
            </a:r>
            <a:r>
              <a:rPr lang="en-US" altLang="zh-CN" sz="2600" dirty="0"/>
              <a:t> </a:t>
            </a:r>
            <a:r>
              <a:rPr lang="en-US" altLang="zh-CN" sz="2600" dirty="0" err="1"/>
              <a:t>eof</a:t>
            </a:r>
            <a:r>
              <a:rPr lang="en-US" altLang="zh-CN" sz="2600" dirty="0"/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600" dirty="0"/>
              <a:t>                 </a:t>
            </a:r>
            <a:r>
              <a:rPr lang="en-US" altLang="zh-CN" sz="2600" dirty="0" err="1"/>
              <a:t>System.out.println</a:t>
            </a:r>
            <a:r>
              <a:rPr lang="en-US" altLang="zh-CN" sz="2600" dirty="0"/>
              <a:t>("The sum is: " + sum);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600" dirty="0"/>
              <a:t>                 </a:t>
            </a:r>
            <a:r>
              <a:rPr lang="en-US" altLang="zh-CN" sz="2600" dirty="0" err="1"/>
              <a:t>instr.close</a:t>
            </a:r>
            <a:r>
              <a:rPr lang="en-US" altLang="zh-CN" sz="2600" dirty="0"/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600" dirty="0"/>
              <a:t>      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600" dirty="0"/>
              <a:t>        }catch (</a:t>
            </a:r>
            <a:r>
              <a:rPr lang="en-US" altLang="zh-CN" sz="2600" dirty="0" err="1"/>
              <a:t>IOException</a:t>
            </a:r>
            <a:r>
              <a:rPr lang="en-US" altLang="zh-CN" sz="2600" dirty="0"/>
              <a:t> </a:t>
            </a:r>
            <a:r>
              <a:rPr lang="en-US" altLang="zh-CN" sz="2600" dirty="0" err="1"/>
              <a:t>iox</a:t>
            </a:r>
            <a:r>
              <a:rPr lang="en-US" altLang="zh-CN" sz="2600" dirty="0"/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600" dirty="0"/>
              <a:t>             </a:t>
            </a:r>
            <a:r>
              <a:rPr lang="en-US" altLang="zh-CN" sz="2600" dirty="0" err="1"/>
              <a:t>System.out.println</a:t>
            </a:r>
            <a:r>
              <a:rPr lang="en-US" altLang="zh-CN" sz="2600" dirty="0"/>
              <a:t>("IO Problems with " + </a:t>
            </a:r>
            <a:r>
              <a:rPr lang="en-US" altLang="zh-CN" sz="2600" dirty="0" err="1"/>
              <a:t>fileName</a:t>
            </a:r>
            <a:r>
              <a:rPr lang="en-US" altLang="zh-CN" sz="2600" dirty="0"/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600" dirty="0"/>
              <a:t>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600" dirty="0"/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600" dirty="0"/>
              <a:t>}</a:t>
            </a:r>
          </a:p>
          <a:p>
            <a:pPr>
              <a:spcBef>
                <a:spcPts val="0"/>
              </a:spcBef>
            </a:pPr>
            <a:endParaRPr lang="zh-CN" altLang="en-US" sz="1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58572D-9349-9746-B6AE-FAE04F286153}"/>
              </a:ext>
            </a:extLst>
          </p:cNvPr>
          <p:cNvSpPr txBox="1"/>
          <p:nvPr/>
        </p:nvSpPr>
        <p:spPr>
          <a:xfrm>
            <a:off x="9855452" y="5661248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输出结果：</a:t>
            </a:r>
            <a:endParaRPr kumimoji="1" lang="en-US" altLang="zh-CN" dirty="0"/>
          </a:p>
          <a:p>
            <a:r>
              <a:rPr lang="en-US" altLang="zh-CN" dirty="0"/>
              <a:t>254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B54A700-DBD6-0607-F05B-06D8E3DF706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087930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写二进制文件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2B641846-297F-0AB3-479A-D8E17BC15E2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399419400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09600" y="1600201"/>
            <a:ext cx="10972800" cy="2188840"/>
          </a:xfrm>
        </p:spPr>
        <p:txBody>
          <a:bodyPr/>
          <a:lstStyle/>
          <a:p>
            <a:r>
              <a:rPr lang="zh-CN" altLang="en-US" dirty="0"/>
              <a:t>由于文本文件的存储方式其实也是二进制代码，因此也可使用</a:t>
            </a:r>
            <a:r>
              <a:rPr lang="en-US" altLang="zh-CN" dirty="0" err="1"/>
              <a:t>InputStream</a:t>
            </a:r>
            <a:r>
              <a:rPr lang="zh-CN" altLang="en-US" dirty="0"/>
              <a:t>类的方法读取</a:t>
            </a:r>
          </a:p>
          <a:p>
            <a:pPr>
              <a:lnSpc>
                <a:spcPct val="80000"/>
              </a:lnSpc>
            </a:pPr>
            <a:r>
              <a:rPr lang="zh-CN" altLang="en-US" dirty="0"/>
              <a:t>下面的例题用</a:t>
            </a:r>
            <a:r>
              <a:rPr lang="en-US" altLang="zh-CN" dirty="0" err="1"/>
              <a:t>InputStream</a:t>
            </a:r>
            <a:r>
              <a:rPr lang="zh-CN" altLang="en-US" dirty="0"/>
              <a:t>类读取文本文件并显示：</a:t>
            </a:r>
          </a:p>
          <a:p>
            <a:endParaRPr lang="zh-CN" altLang="en-US" dirty="0"/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8AA08570-B499-2FA6-C82B-EFA36A6A08F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227840873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1556792"/>
            <a:ext cx="10972800" cy="4685510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dirty="0"/>
              <a:t>import java.io.*;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InputStreamTester</a:t>
            </a:r>
            <a:r>
              <a:rPr lang="en-US" altLang="zh-CN" dirty="0"/>
              <a:t>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dirty="0"/>
              <a:t>    public static void main(String[] </a:t>
            </a:r>
            <a:r>
              <a:rPr lang="en-US" altLang="zh-CN" dirty="0" err="1"/>
              <a:t>args</a:t>
            </a:r>
            <a:r>
              <a:rPr lang="en-US" altLang="zh-CN" dirty="0"/>
              <a:t>) throws </a:t>
            </a:r>
            <a:r>
              <a:rPr lang="en-US" altLang="zh-CN" dirty="0" err="1"/>
              <a:t>IOException</a:t>
            </a:r>
            <a:r>
              <a:rPr lang="en-US" altLang="zh-CN" dirty="0"/>
              <a:t>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FileInputStream</a:t>
            </a:r>
            <a:r>
              <a:rPr lang="en-US" altLang="zh-CN" dirty="0"/>
              <a:t> s = new </a:t>
            </a:r>
            <a:r>
              <a:rPr lang="en-US" altLang="zh-CN" dirty="0" err="1"/>
              <a:t>FileInputStream</a:t>
            </a:r>
            <a:r>
              <a:rPr lang="en-US" altLang="zh-CN" dirty="0"/>
              <a:t>("D:/Hello.txt");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dirty="0"/>
              <a:t>        int c;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dirty="0"/>
              <a:t>        while ((c = </a:t>
            </a:r>
            <a:r>
              <a:rPr lang="en-US" altLang="zh-CN" dirty="0" err="1"/>
              <a:t>s.read</a:t>
            </a:r>
            <a:r>
              <a:rPr lang="en-US" altLang="zh-CN" dirty="0"/>
              <a:t>()) != -1)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dirty="0"/>
              <a:t>            </a:t>
            </a:r>
            <a:r>
              <a:rPr lang="en-US" altLang="zh-CN" dirty="0" err="1"/>
              <a:t>System.out.write</a:t>
            </a:r>
            <a:r>
              <a:rPr lang="en-US" altLang="zh-CN" dirty="0"/>
              <a:t>(c);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dirty="0"/>
              <a:t>        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s.close</a:t>
            </a:r>
            <a:r>
              <a:rPr lang="en-US" altLang="zh-CN" dirty="0"/>
              <a:t>();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dirty="0"/>
              <a:t>    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dirty="0"/>
              <a:t>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zh-CN" altLang="en-US" dirty="0"/>
              <a:t>说明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zh-CN" sz="2400" dirty="0"/>
              <a:t>read()</a:t>
            </a:r>
            <a:r>
              <a:rPr lang="zh-CN" altLang="en-US" sz="2400" dirty="0"/>
              <a:t>方法读取一个字节，转化为</a:t>
            </a:r>
            <a:r>
              <a:rPr lang="en-US" altLang="zh-CN" sz="2400" dirty="0"/>
              <a:t>[0 ,255]</a:t>
            </a:r>
            <a:r>
              <a:rPr lang="zh-CN" altLang="en-US" sz="2400" dirty="0"/>
              <a:t>的之间的一个整数，返回一个</a:t>
            </a:r>
            <a:r>
              <a:rPr lang="en-US" altLang="zh-CN" sz="2400" dirty="0"/>
              <a:t>int</a:t>
            </a:r>
            <a:r>
              <a:rPr lang="zh-CN" altLang="en-US" sz="2400" dirty="0"/>
              <a:t>。如果读到了文件末尾，则返回</a:t>
            </a:r>
            <a:r>
              <a:rPr lang="en-US" altLang="zh-CN" sz="2400" dirty="0"/>
              <a:t>-1</a:t>
            </a:r>
            <a:r>
              <a:rPr lang="zh-CN" altLang="en-US" sz="2400" dirty="0"/>
              <a:t>。</a:t>
            </a:r>
          </a:p>
          <a:p>
            <a:pPr marL="457200" lvl="1" indent="0" eaLnBrk="1" hangingPunct="1">
              <a:spcBef>
                <a:spcPts val="0"/>
              </a:spcBef>
              <a:buNone/>
            </a:pPr>
            <a:r>
              <a:rPr lang="en-US" altLang="zh-CN" sz="2400" dirty="0"/>
              <a:t>write(int)</a:t>
            </a:r>
            <a:r>
              <a:rPr lang="zh-CN" altLang="en-US" sz="2400" dirty="0"/>
              <a:t>方法写一个</a:t>
            </a:r>
            <a:r>
              <a:rPr lang="en-US" altLang="zh-CN" sz="2400" dirty="0"/>
              <a:t>int</a:t>
            </a:r>
            <a:r>
              <a:rPr lang="zh-CN" altLang="en-US" sz="2400" dirty="0"/>
              <a:t>的低</a:t>
            </a:r>
            <a:r>
              <a:rPr lang="en-US" altLang="zh-CN" sz="2400" dirty="0"/>
              <a:t>8</a:t>
            </a:r>
            <a:r>
              <a:rPr lang="zh-CN" altLang="en-US" sz="2400" dirty="0"/>
              <a:t>位，忽略高</a:t>
            </a:r>
            <a:r>
              <a:rPr lang="en-US" altLang="zh-CN" sz="2400" dirty="0"/>
              <a:t>24</a:t>
            </a:r>
            <a:r>
              <a:rPr lang="zh-CN" altLang="en-US" sz="2400" dirty="0"/>
              <a:t>位。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E0B8DB3-1344-53C1-C295-04A4C787841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087930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写二进制文件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145269A-EBE6-C45F-C4CE-51057185427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79634524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1772816"/>
            <a:ext cx="10972800" cy="4205064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40000"/>
              </a:lnSpc>
            </a:pPr>
            <a:r>
              <a:rPr lang="en-US" altLang="zh-CN" sz="2400" dirty="0" err="1"/>
              <a:t>Data</a:t>
            </a:r>
            <a:r>
              <a:rPr lang="en-US" altLang="zh-CN" sz="2400" dirty="0" err="1">
                <a:solidFill>
                  <a:schemeClr val="hlink"/>
                </a:solidFill>
              </a:rPr>
              <a:t>Output</a:t>
            </a:r>
            <a:r>
              <a:rPr lang="en-US" altLang="zh-CN" sz="2400" dirty="0" err="1"/>
              <a:t>Stream</a:t>
            </a:r>
            <a:r>
              <a:rPr lang="zh-CN" altLang="en-US" sz="2400" dirty="0"/>
              <a:t>的</a:t>
            </a:r>
            <a:r>
              <a:rPr lang="en-US" altLang="zh-CN" sz="2400" dirty="0" err="1">
                <a:solidFill>
                  <a:schemeClr val="accent1"/>
                </a:solidFill>
              </a:rPr>
              <a:t>writeByte</a:t>
            </a:r>
            <a:r>
              <a:rPr lang="zh-CN" altLang="en-US" sz="2400" dirty="0"/>
              <a:t>方法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zh-CN" sz="2400" dirty="0"/>
              <a:t>public final void </a:t>
            </a:r>
            <a:r>
              <a:rPr lang="en-US" altLang="zh-CN" sz="2400" dirty="0" err="1"/>
              <a:t>writeByte</a:t>
            </a:r>
            <a:r>
              <a:rPr lang="en-US" altLang="zh-CN" sz="2400" dirty="0"/>
              <a:t>(int b) throws </a:t>
            </a:r>
            <a:r>
              <a:rPr lang="en-US" altLang="zh-CN" sz="2400" dirty="0" err="1"/>
              <a:t>IOException</a:t>
            </a:r>
            <a:endParaRPr lang="en-US" altLang="zh-CN" sz="2400" dirty="0"/>
          </a:p>
          <a:p>
            <a:pPr lvl="1" eaLnBrk="1" hangingPunct="1">
              <a:lnSpc>
                <a:spcPct val="140000"/>
              </a:lnSpc>
            </a:pPr>
            <a:r>
              <a:rPr lang="zh-CN" altLang="en-US" sz="2400" dirty="0"/>
              <a:t>将</a:t>
            </a:r>
            <a:r>
              <a:rPr lang="en-US" altLang="zh-CN" sz="2400" dirty="0"/>
              <a:t>int</a:t>
            </a:r>
            <a:r>
              <a:rPr lang="zh-CN" altLang="en-US" sz="2400" dirty="0"/>
              <a:t>的最不重要字节写入输出流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sz="2400" dirty="0" err="1"/>
              <a:t>Data</a:t>
            </a:r>
            <a:r>
              <a:rPr lang="en-US" altLang="zh-CN" sz="2400" dirty="0" err="1">
                <a:solidFill>
                  <a:schemeClr val="hlink"/>
                </a:solidFill>
              </a:rPr>
              <a:t>Input</a:t>
            </a:r>
            <a:r>
              <a:rPr lang="en-US" altLang="zh-CN" sz="2400" dirty="0" err="1"/>
              <a:t>Stream</a:t>
            </a:r>
            <a:r>
              <a:rPr lang="zh-CN" altLang="en-US" sz="2400" dirty="0"/>
              <a:t>的</a:t>
            </a:r>
            <a:r>
              <a:rPr lang="en-US" altLang="zh-CN" sz="2400" dirty="0" err="1">
                <a:solidFill>
                  <a:schemeClr val="accent1"/>
                </a:solidFill>
              </a:rPr>
              <a:t>readUnsignedByte</a:t>
            </a:r>
            <a:r>
              <a:rPr lang="zh-CN" altLang="en-US" sz="2400" dirty="0"/>
              <a:t>方法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zh-CN" sz="2400" dirty="0"/>
              <a:t>public final int </a:t>
            </a:r>
            <a:r>
              <a:rPr lang="en-US" altLang="zh-CN" sz="2400" dirty="0" err="1"/>
              <a:t>readUnsignedByte</a:t>
            </a:r>
            <a:r>
              <a:rPr lang="en-US" altLang="zh-CN" sz="2400" dirty="0"/>
              <a:t>() throws </a:t>
            </a:r>
            <a:r>
              <a:rPr lang="en-US" altLang="zh-CN" sz="2400" dirty="0" err="1"/>
              <a:t>IOException</a:t>
            </a:r>
            <a:endParaRPr lang="en-US" altLang="zh-CN" sz="2400" dirty="0"/>
          </a:p>
          <a:p>
            <a:pPr lvl="1" eaLnBrk="1" hangingPunct="1">
              <a:lnSpc>
                <a:spcPct val="140000"/>
              </a:lnSpc>
            </a:pPr>
            <a:r>
              <a:rPr lang="zh-CN" altLang="en-US" sz="2400" dirty="0"/>
              <a:t>从输入流中读取1字节存入</a:t>
            </a:r>
            <a:r>
              <a:rPr lang="en-US" altLang="zh-CN" sz="2400" dirty="0"/>
              <a:t>int</a:t>
            </a:r>
            <a:r>
              <a:rPr lang="zh-CN" altLang="en-US" sz="2400" dirty="0"/>
              <a:t>的最不重要字节</a:t>
            </a:r>
          </a:p>
          <a:p>
            <a:pPr lvl="2" eaLnBrk="1" hangingPunct="1">
              <a:lnSpc>
                <a:spcPct val="90000"/>
              </a:lnSpc>
            </a:pPr>
            <a:endParaRPr lang="zh-CN" altLang="en-US" sz="1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C8AA79-A7FD-01AF-3DB9-60C6FD35946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165588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读写字节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9D66A4-AF11-CBC2-AE1E-049A857CF06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126410832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1556792"/>
            <a:ext cx="10972800" cy="5184576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dirty="0"/>
              <a:t>//</a:t>
            </a:r>
            <a:r>
              <a:rPr lang="zh-CN" altLang="en-US" sz="2000" dirty="0"/>
              <a:t>从命令行输入源文件名和目标文件名，将源文件复制为目标文件。</a:t>
            </a:r>
          </a:p>
          <a:p>
            <a:pPr lvl="1" indent="-742950" eaLnBrk="1" hangingPunct="1">
              <a:lnSpc>
                <a:spcPct val="80000"/>
              </a:lnSpc>
              <a:spcBef>
                <a:spcPct val="5000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import java.io.*; </a:t>
            </a:r>
          </a:p>
          <a:p>
            <a:pPr lvl="1" indent="-742950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class </a:t>
            </a:r>
            <a:r>
              <a:rPr lang="en-US" altLang="zh-CN" sz="2000" dirty="0" err="1"/>
              <a:t>CopyBytes</a:t>
            </a:r>
            <a:r>
              <a:rPr lang="en-US" altLang="zh-CN" sz="2000" dirty="0"/>
              <a:t> {</a:t>
            </a:r>
          </a:p>
          <a:p>
            <a:pPr lvl="1" indent="-742950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public static void main ( String[] 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 ) {</a:t>
            </a:r>
          </a:p>
          <a:p>
            <a:pPr lvl="1" indent="-742950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 </a:t>
            </a:r>
            <a:r>
              <a:rPr lang="en-US" altLang="zh-CN" sz="2000" dirty="0" err="1">
                <a:solidFill>
                  <a:schemeClr val="hlink"/>
                </a:solidFill>
              </a:rPr>
              <a:t>DataInputStream</a:t>
            </a:r>
            <a:r>
              <a:rPr lang="en-US" altLang="zh-CN" sz="2000" dirty="0"/>
              <a:t>  </a:t>
            </a:r>
            <a:r>
              <a:rPr lang="en-US" altLang="zh-CN" sz="2000" dirty="0" err="1"/>
              <a:t>instr</a:t>
            </a:r>
            <a:r>
              <a:rPr lang="en-US" altLang="zh-CN" sz="2000" dirty="0"/>
              <a:t>;</a:t>
            </a:r>
          </a:p>
          <a:p>
            <a:pPr lvl="1" indent="-742950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 </a:t>
            </a:r>
            <a:r>
              <a:rPr lang="en-US" altLang="zh-CN" sz="2000" dirty="0" err="1">
                <a:solidFill>
                  <a:schemeClr val="hlink"/>
                </a:solidFill>
              </a:rPr>
              <a:t>DataOutputStream</a:t>
            </a:r>
            <a:r>
              <a:rPr lang="en-US" altLang="zh-CN" sz="2000" dirty="0"/>
              <a:t> </a:t>
            </a:r>
            <a:r>
              <a:rPr lang="en-US" altLang="zh-CN" sz="2000" dirty="0" err="1"/>
              <a:t>outstr</a:t>
            </a:r>
            <a:r>
              <a:rPr lang="en-US" altLang="zh-CN" sz="2000" dirty="0"/>
              <a:t>;</a:t>
            </a:r>
          </a:p>
          <a:p>
            <a:pPr lvl="1" indent="-742950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 if(</a:t>
            </a:r>
            <a:r>
              <a:rPr lang="en-US" altLang="zh-CN" sz="2000" dirty="0" err="1"/>
              <a:t>args.length</a:t>
            </a:r>
            <a:r>
              <a:rPr lang="en-US" altLang="zh-CN" sz="2000" dirty="0"/>
              <a:t> != 2){</a:t>
            </a:r>
          </a:p>
          <a:p>
            <a:pPr lvl="1" indent="-742950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     </a:t>
            </a:r>
            <a:r>
              <a:rPr lang="en-US" altLang="zh-CN" sz="2000" dirty="0" err="1"/>
              <a:t>System.out.println</a:t>
            </a:r>
            <a:r>
              <a:rPr lang="en-US" altLang="zh-CN" sz="2000" dirty="0"/>
              <a:t>("Please enter file names");</a:t>
            </a:r>
          </a:p>
          <a:p>
            <a:pPr lvl="1" indent="-742950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     return;</a:t>
            </a:r>
          </a:p>
          <a:p>
            <a:pPr lvl="1" indent="-742950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 }</a:t>
            </a:r>
          </a:p>
          <a:p>
            <a:pPr lvl="1" indent="-742950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try { </a:t>
            </a:r>
          </a:p>
          <a:p>
            <a:pPr lvl="1" indent="-742950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     </a:t>
            </a:r>
            <a:r>
              <a:rPr lang="en-US" altLang="zh-CN" sz="2000" dirty="0" err="1"/>
              <a:t>instr</a:t>
            </a:r>
            <a:r>
              <a:rPr lang="en-US" altLang="zh-CN" sz="2000" dirty="0"/>
              <a:t> = new </a:t>
            </a:r>
            <a:r>
              <a:rPr lang="en-US" altLang="zh-CN" sz="2000" dirty="0" err="1"/>
              <a:t>DataInputStream</a:t>
            </a:r>
            <a:r>
              <a:rPr lang="en-US" altLang="zh-CN" sz="2000" dirty="0"/>
              <a:t>(new   </a:t>
            </a:r>
          </a:p>
          <a:p>
            <a:pPr lvl="1" indent="-742950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     </a:t>
            </a:r>
            <a:r>
              <a:rPr lang="en-US" altLang="zh-CN" sz="2000" dirty="0" err="1"/>
              <a:t>BufferedInputStream</a:t>
            </a:r>
            <a:r>
              <a:rPr lang="en-US" altLang="zh-CN" sz="2000" dirty="0"/>
              <a:t>(new </a:t>
            </a:r>
            <a:r>
              <a:rPr lang="en-US" altLang="zh-CN" sz="1700" dirty="0" err="1"/>
              <a:t>FileInputStream</a:t>
            </a:r>
            <a:r>
              <a:rPr lang="en-US" altLang="zh-CN" sz="1700" dirty="0"/>
              <a:t>( </a:t>
            </a:r>
            <a:r>
              <a:rPr lang="en-US" altLang="zh-CN" sz="1700" dirty="0" err="1">
                <a:solidFill>
                  <a:schemeClr val="hlink"/>
                </a:solidFill>
              </a:rPr>
              <a:t>args</a:t>
            </a:r>
            <a:r>
              <a:rPr lang="en-US" altLang="zh-CN" sz="1700" dirty="0">
                <a:solidFill>
                  <a:schemeClr val="hlink"/>
                </a:solidFill>
              </a:rPr>
              <a:t>[0]</a:t>
            </a:r>
            <a:r>
              <a:rPr lang="en-US" altLang="zh-CN" sz="1700" dirty="0"/>
              <a:t> )</a:t>
            </a:r>
            <a:r>
              <a:rPr lang="en-US" altLang="zh-CN" sz="2000" dirty="0"/>
              <a:t>));</a:t>
            </a:r>
          </a:p>
          <a:p>
            <a:pPr lvl="1" indent="-742950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     </a:t>
            </a:r>
            <a:r>
              <a:rPr lang="en-US" altLang="zh-CN" sz="2000" dirty="0" err="1"/>
              <a:t>outstr</a:t>
            </a:r>
            <a:r>
              <a:rPr lang="en-US" altLang="zh-CN" sz="2000" dirty="0"/>
              <a:t> = new </a:t>
            </a:r>
            <a:r>
              <a:rPr lang="en-US" altLang="zh-CN" sz="2000" dirty="0" err="1"/>
              <a:t>DataOutputStream</a:t>
            </a:r>
            <a:r>
              <a:rPr lang="en-US" altLang="zh-CN" sz="2000" dirty="0"/>
              <a:t>(new  </a:t>
            </a:r>
          </a:p>
          <a:p>
            <a:pPr lvl="1" indent="-742950"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     </a:t>
            </a:r>
            <a:r>
              <a:rPr lang="en-US" altLang="zh-CN" sz="2000" dirty="0" err="1"/>
              <a:t>BufferedOutputStream</a:t>
            </a:r>
            <a:r>
              <a:rPr lang="en-US" altLang="zh-CN" sz="2000" dirty="0"/>
              <a:t>(</a:t>
            </a:r>
            <a:r>
              <a:rPr lang="en-US" altLang="zh-CN" sz="1700" dirty="0"/>
              <a:t>new </a:t>
            </a:r>
            <a:r>
              <a:rPr lang="en-US" altLang="zh-CN" sz="1700" dirty="0" err="1"/>
              <a:t>FileOutputStream</a:t>
            </a:r>
            <a:r>
              <a:rPr lang="en-US" altLang="zh-CN" sz="1700" dirty="0"/>
              <a:t>( </a:t>
            </a:r>
            <a:r>
              <a:rPr lang="en-US" altLang="zh-CN" sz="1700" dirty="0" err="1">
                <a:solidFill>
                  <a:schemeClr val="hlink"/>
                </a:solidFill>
              </a:rPr>
              <a:t>args</a:t>
            </a:r>
            <a:r>
              <a:rPr lang="en-US" altLang="zh-CN" sz="1700" dirty="0">
                <a:solidFill>
                  <a:schemeClr val="hlink"/>
                </a:solidFill>
              </a:rPr>
              <a:t>[1]</a:t>
            </a:r>
            <a:r>
              <a:rPr lang="en-US" altLang="zh-CN" sz="1700" dirty="0"/>
              <a:t> ))</a:t>
            </a:r>
            <a:r>
              <a:rPr lang="en-US" altLang="zh-CN" sz="2000" dirty="0"/>
              <a:t>);       </a:t>
            </a:r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BDE6098-8E24-F3DC-8B5D-93B32920D4E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165588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读写字节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6D3DDBA-DCA2-AAB8-446B-5B7B5EB96EC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429166684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415480" y="1700808"/>
            <a:ext cx="8942784" cy="4968552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Autofit/>
          </a:bodyPr>
          <a:lstStyle/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try { 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    int data;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    while(true){ 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        data = </a:t>
            </a:r>
            <a:r>
              <a:rPr lang="en-US" altLang="zh-CN" sz="2000" dirty="0" err="1"/>
              <a:t>instr.</a:t>
            </a:r>
            <a:r>
              <a:rPr lang="en-US" altLang="zh-CN" sz="2000" dirty="0" err="1">
                <a:solidFill>
                  <a:schemeClr val="hlink"/>
                </a:solidFill>
              </a:rPr>
              <a:t>readUnsignedByte</a:t>
            </a:r>
            <a:r>
              <a:rPr lang="en-US" altLang="zh-CN" sz="2000" dirty="0">
                <a:solidFill>
                  <a:schemeClr val="hlink"/>
                </a:solidFill>
              </a:rPr>
              <a:t>()</a:t>
            </a:r>
            <a:r>
              <a:rPr lang="en-US" altLang="zh-CN" sz="2000" dirty="0"/>
              <a:t> ;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        </a:t>
            </a:r>
            <a:r>
              <a:rPr lang="en-US" altLang="zh-CN" sz="2000" dirty="0" err="1"/>
              <a:t>outstr.</a:t>
            </a:r>
            <a:r>
              <a:rPr lang="en-US" altLang="zh-CN" sz="2000" dirty="0" err="1">
                <a:solidFill>
                  <a:schemeClr val="hlink"/>
                </a:solidFill>
              </a:rPr>
              <a:t>writeByte</a:t>
            </a:r>
            <a:r>
              <a:rPr lang="en-US" altLang="zh-CN" sz="2000" dirty="0">
                <a:solidFill>
                  <a:schemeClr val="hlink"/>
                </a:solidFill>
              </a:rPr>
              <a:t>( data ) </a:t>
            </a:r>
            <a:r>
              <a:rPr lang="en-US" altLang="zh-CN" sz="2000" dirty="0"/>
              <a:t>;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     }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 }catch(</a:t>
            </a:r>
            <a:r>
              <a:rPr lang="en-US" altLang="zh-CN" sz="2000" dirty="0" err="1"/>
              <a:t>EOFException</a:t>
            </a:r>
            <a:r>
              <a:rPr lang="en-US" altLang="zh-CN" sz="2000" dirty="0"/>
              <a:t>  </a:t>
            </a:r>
            <a:r>
              <a:rPr lang="en-US" altLang="zh-CN" sz="2000" dirty="0" err="1"/>
              <a:t>eof</a:t>
            </a:r>
            <a:r>
              <a:rPr lang="en-US" altLang="zh-CN" sz="2000" dirty="0"/>
              <a:t>){ 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     </a:t>
            </a:r>
            <a:r>
              <a:rPr lang="en-US" altLang="zh-CN" sz="2000" dirty="0" err="1"/>
              <a:t>outstr.close</a:t>
            </a:r>
            <a:r>
              <a:rPr lang="en-US" altLang="zh-CN" sz="2000" dirty="0"/>
              <a:t>();   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     </a:t>
            </a:r>
            <a:r>
              <a:rPr lang="en-US" altLang="zh-CN" sz="2000" dirty="0" err="1"/>
              <a:t>instr.close</a:t>
            </a:r>
            <a:r>
              <a:rPr lang="en-US" altLang="zh-CN" sz="2000" dirty="0"/>
              <a:t>(); 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     return;     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 }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}catch ( </a:t>
            </a:r>
            <a:r>
              <a:rPr lang="en-US" altLang="zh-CN" sz="2000" dirty="0" err="1">
                <a:solidFill>
                  <a:schemeClr val="tx2"/>
                </a:solidFill>
              </a:rPr>
              <a:t>FileNotFoundException</a:t>
            </a:r>
            <a:r>
              <a:rPr lang="en-US" altLang="zh-CN" sz="2000" dirty="0"/>
              <a:t> </a:t>
            </a:r>
            <a:r>
              <a:rPr lang="en-US" altLang="zh-CN" sz="2000" dirty="0" err="1"/>
              <a:t>nfx</a:t>
            </a:r>
            <a:r>
              <a:rPr lang="en-US" altLang="zh-CN" sz="2000" dirty="0"/>
              <a:t> )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 {  </a:t>
            </a:r>
            <a:r>
              <a:rPr lang="en-US" altLang="zh-CN" sz="2000" dirty="0" err="1"/>
              <a:t>System.out.println</a:t>
            </a:r>
            <a:r>
              <a:rPr lang="en-US" altLang="zh-CN" sz="2000" dirty="0"/>
              <a:t>("Problem opening files" );    }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catch(</a:t>
            </a:r>
            <a:r>
              <a:rPr lang="en-US" altLang="zh-CN" sz="2000" dirty="0" err="1">
                <a:solidFill>
                  <a:schemeClr val="tx2"/>
                </a:solidFill>
              </a:rPr>
              <a:t>IOException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iox</a:t>
            </a:r>
            <a:r>
              <a:rPr lang="en-US" altLang="zh-CN" sz="2000" dirty="0"/>
              <a:t> )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 {  </a:t>
            </a:r>
            <a:r>
              <a:rPr lang="en-US" altLang="zh-CN" sz="2000" dirty="0" err="1"/>
              <a:t>System.out.println</a:t>
            </a:r>
            <a:r>
              <a:rPr lang="en-US" altLang="zh-CN" sz="2000" dirty="0"/>
              <a:t>("IO Problems" );    }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}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}</a:t>
            </a:r>
            <a:endParaRPr lang="zh-CN" altLang="en-US" sz="2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D81573B-F492-23C5-A6BF-E2DACF5F03E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381612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读写字节</a:t>
            </a: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——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文件复制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010708-6251-F85D-BF8A-CD08E609F0B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312442449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516596" y="1844824"/>
            <a:ext cx="7027676" cy="3340968"/>
          </a:xfrm>
        </p:spPr>
        <p:txBody>
          <a:bodyPr/>
          <a:lstStyle/>
          <a:p>
            <a:r>
              <a:rPr lang="zh-CN" altLang="en-GB" sz="2400" dirty="0"/>
              <a:t>表示磁盘文件信息</a:t>
            </a:r>
          </a:p>
          <a:p>
            <a:r>
              <a:rPr lang="zh-CN" altLang="en-GB" sz="2400" dirty="0"/>
              <a:t>定义了一些与平台无关的方法来操纵文件</a:t>
            </a:r>
          </a:p>
          <a:p>
            <a:r>
              <a:rPr lang="zh-CN" altLang="en-GB" sz="2400" dirty="0"/>
              <a:t>创建、删除文件</a:t>
            </a:r>
            <a:r>
              <a:rPr lang="zh-CN" altLang="en-US" sz="2400" dirty="0"/>
              <a:t>；</a:t>
            </a:r>
            <a:endParaRPr lang="zh-CN" altLang="en-GB" sz="2400" dirty="0"/>
          </a:p>
          <a:p>
            <a:r>
              <a:rPr lang="zh-CN" altLang="en-GB" sz="2400" dirty="0"/>
              <a:t>重命名文件</a:t>
            </a:r>
            <a:r>
              <a:rPr lang="zh-CN" altLang="en-US" sz="2400" dirty="0"/>
              <a:t>；</a:t>
            </a:r>
            <a:endParaRPr lang="zh-CN" altLang="en-GB" sz="2400" dirty="0"/>
          </a:p>
          <a:p>
            <a:r>
              <a:rPr lang="zh-CN" altLang="en-GB" sz="2400" dirty="0"/>
              <a:t>判断文件的读写权限及是否存在</a:t>
            </a:r>
            <a:r>
              <a:rPr lang="zh-CN" altLang="en-US" sz="2400" dirty="0"/>
              <a:t>；</a:t>
            </a:r>
            <a:endParaRPr lang="zh-CN" altLang="en-GB" sz="2400" dirty="0"/>
          </a:p>
          <a:p>
            <a:r>
              <a:rPr lang="zh-CN" altLang="en-GB" sz="2400" dirty="0"/>
              <a:t>设置和查询文件的最近修改时间等</a:t>
            </a:r>
            <a:r>
              <a:rPr lang="zh-CN" altLang="en-US" sz="2400" dirty="0"/>
              <a:t>；</a:t>
            </a:r>
            <a:endParaRPr lang="zh-CN" altLang="en-GB" sz="2400" dirty="0"/>
          </a:p>
          <a:p>
            <a:r>
              <a:rPr lang="zh-CN" altLang="en-GB" sz="2400" dirty="0"/>
              <a:t>构造文件流可以使用</a:t>
            </a:r>
            <a:r>
              <a:rPr lang="en-GB" altLang="zh-CN" sz="2400" dirty="0"/>
              <a:t>File</a:t>
            </a:r>
            <a:r>
              <a:rPr lang="zh-CN" altLang="en-GB" sz="2400" dirty="0"/>
              <a:t>类的对象作为参数</a:t>
            </a:r>
            <a:r>
              <a:rPr lang="zh-CN" altLang="en-US" sz="2400" dirty="0"/>
              <a:t>。</a:t>
            </a:r>
            <a:endParaRPr lang="en-GB" altLang="zh-CN" sz="2400" dirty="0"/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3670D46-9749-DEA3-49A5-120FC8122B5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44797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File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类的作用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EECAD37-A822-D552-0281-861913D0A60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300656206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55440" y="1772816"/>
            <a:ext cx="10238928" cy="4525963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000" dirty="0"/>
              <a:t>//</a:t>
            </a:r>
            <a:r>
              <a:rPr lang="zh-CN" altLang="en-US" sz="2000" dirty="0"/>
              <a:t>在</a:t>
            </a:r>
            <a:r>
              <a:rPr lang="en-US" altLang="zh-CN" sz="2000" dirty="0"/>
              <a:t>C</a:t>
            </a:r>
            <a:r>
              <a:rPr lang="zh-CN" altLang="en-US" sz="2000" dirty="0"/>
              <a:t>盘创建文件</a:t>
            </a:r>
            <a:r>
              <a:rPr lang="en-US" altLang="zh-CN" sz="2000" dirty="0"/>
              <a:t>Hello.txt，</a:t>
            </a:r>
            <a:r>
              <a:rPr lang="zh-CN" altLang="en-US" sz="2000" dirty="0"/>
              <a:t>如果存在则删除旧文件，不存在则直接创建新的</a:t>
            </a:r>
          </a:p>
          <a:p>
            <a:pPr marL="457200" lvl="1" indent="-457200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2000" dirty="0"/>
              <a:t>import java.io.*;</a:t>
            </a:r>
          </a:p>
          <a:p>
            <a:pPr marL="457200" lvl="1" indent="-457200" eaLnBrk="1" hangingPunct="1">
              <a:lnSpc>
                <a:spcPct val="80000"/>
              </a:lnSpc>
              <a:buNone/>
            </a:pPr>
            <a:r>
              <a:rPr lang="en-US" altLang="zh-CN" sz="2000" dirty="0"/>
              <a:t>public class </a:t>
            </a:r>
            <a:r>
              <a:rPr lang="en-US" altLang="zh-CN" sz="2000" dirty="0" err="1"/>
              <a:t>FileTester</a:t>
            </a:r>
            <a:r>
              <a:rPr lang="en-US" altLang="zh-CN" sz="2000" dirty="0"/>
              <a:t> {</a:t>
            </a:r>
          </a:p>
          <a:p>
            <a:pPr marL="457200" lvl="1" indent="-457200" eaLnBrk="1" hangingPunct="1">
              <a:lnSpc>
                <a:spcPct val="80000"/>
              </a:lnSpc>
              <a:buNone/>
            </a:pPr>
            <a:r>
              <a:rPr lang="en-US" altLang="zh-CN" sz="2000" dirty="0"/>
              <a:t>	public static void main(String[] 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) {</a:t>
            </a:r>
          </a:p>
          <a:p>
            <a:pPr marL="457200" lvl="1" indent="-457200" eaLnBrk="1" hangingPunct="1">
              <a:lnSpc>
                <a:spcPct val="80000"/>
              </a:lnSpc>
              <a:buNone/>
            </a:pPr>
            <a:r>
              <a:rPr lang="en-US" altLang="zh-CN" sz="2000" dirty="0"/>
              <a:t>	File f=new File("Hello.txt");</a:t>
            </a:r>
          </a:p>
          <a:p>
            <a:pPr marL="457200" lvl="1" indent="-457200" eaLnBrk="1" hangingPunct="1">
              <a:lnSpc>
                <a:spcPct val="80000"/>
              </a:lnSpc>
              <a:buNone/>
            </a:pPr>
            <a:r>
              <a:rPr lang="en-US" altLang="zh-CN" sz="2000" dirty="0"/>
              <a:t> </a:t>
            </a:r>
            <a:r>
              <a:rPr lang="zh-CN" altLang="en-US" sz="2000" dirty="0"/>
              <a:t>	</a:t>
            </a:r>
            <a:r>
              <a:rPr lang="en-US" altLang="zh-CN" sz="2000" dirty="0"/>
              <a:t>if (</a:t>
            </a:r>
            <a:r>
              <a:rPr lang="en-US" altLang="zh-CN" sz="2000" dirty="0" err="1"/>
              <a:t>f.exists</a:t>
            </a:r>
            <a:r>
              <a:rPr lang="en-US" altLang="zh-CN" sz="2000" dirty="0"/>
              <a:t>())  </a:t>
            </a:r>
            <a:r>
              <a:rPr lang="en-US" altLang="zh-CN" sz="2000" dirty="0" err="1"/>
              <a:t>f.delete</a:t>
            </a:r>
            <a:r>
              <a:rPr lang="en-US" altLang="zh-CN" sz="2000" dirty="0"/>
              <a:t>();</a:t>
            </a:r>
          </a:p>
          <a:p>
            <a:pPr marL="457200" lvl="1" indent="-457200" eaLnBrk="1" hangingPunct="1">
              <a:lnSpc>
                <a:spcPct val="80000"/>
              </a:lnSpc>
              <a:buNone/>
            </a:pPr>
            <a:r>
              <a:rPr lang="en-US" altLang="zh-CN" sz="2000" dirty="0"/>
              <a:t>	else</a:t>
            </a:r>
          </a:p>
          <a:p>
            <a:pPr marL="457200" lvl="1" indent="-457200" eaLnBrk="1" hangingPunct="1">
              <a:lnSpc>
                <a:spcPct val="80000"/>
              </a:lnSpc>
              <a:buNone/>
            </a:pPr>
            <a:r>
              <a:rPr lang="en-US" altLang="zh-CN" sz="2000" dirty="0"/>
              <a:t>	       </a:t>
            </a:r>
            <a:r>
              <a:rPr lang="en-US" altLang="zh-CN" sz="2000" dirty="0">
                <a:solidFill>
                  <a:schemeClr val="hlink"/>
                </a:solidFill>
              </a:rPr>
              <a:t>try{</a:t>
            </a:r>
          </a:p>
          <a:p>
            <a:pPr marL="457200" lvl="1" indent="-457200" eaLnBrk="1" hangingPunct="1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chemeClr val="hlink"/>
                </a:solidFill>
              </a:rPr>
              <a:t>		       </a:t>
            </a:r>
            <a:r>
              <a:rPr lang="en-US" altLang="zh-CN" sz="2000" dirty="0" err="1">
                <a:solidFill>
                  <a:schemeClr val="hlink"/>
                </a:solidFill>
              </a:rPr>
              <a:t>f.createNewFile</a:t>
            </a:r>
            <a:r>
              <a:rPr lang="en-US" altLang="zh-CN" sz="2000" dirty="0">
                <a:solidFill>
                  <a:schemeClr val="hlink"/>
                </a:solidFill>
              </a:rPr>
              <a:t>();</a:t>
            </a:r>
          </a:p>
          <a:p>
            <a:pPr marL="457200" lvl="1" indent="-457200" eaLnBrk="1" hangingPunct="1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chemeClr val="hlink"/>
                </a:solidFill>
              </a:rPr>
              <a:t>           }catch(Exception e){ 	  </a:t>
            </a:r>
          </a:p>
          <a:p>
            <a:pPr marL="457200" lvl="1" indent="-457200" eaLnBrk="1" hangingPunct="1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chemeClr val="hlink"/>
                </a:solidFill>
              </a:rPr>
              <a:t>              </a:t>
            </a:r>
            <a:r>
              <a:rPr lang="en-US" altLang="zh-CN" sz="2000" dirty="0" err="1">
                <a:solidFill>
                  <a:schemeClr val="hlink"/>
                </a:solidFill>
              </a:rPr>
              <a:t>System.out.println</a:t>
            </a:r>
            <a:r>
              <a:rPr lang="en-US" altLang="zh-CN" sz="2000" dirty="0">
                <a:solidFill>
                  <a:schemeClr val="hlink"/>
                </a:solidFill>
              </a:rPr>
              <a:t>(</a:t>
            </a:r>
            <a:r>
              <a:rPr lang="en-US" altLang="zh-CN" sz="2000" dirty="0" err="1">
                <a:solidFill>
                  <a:schemeClr val="hlink"/>
                </a:solidFill>
              </a:rPr>
              <a:t>e.getMessage</a:t>
            </a:r>
            <a:r>
              <a:rPr lang="en-US" altLang="zh-CN" sz="2000" dirty="0">
                <a:solidFill>
                  <a:schemeClr val="hlink"/>
                </a:solidFill>
              </a:rPr>
              <a:t>());</a:t>
            </a:r>
          </a:p>
          <a:p>
            <a:pPr marL="457200" lvl="1" indent="-457200" eaLnBrk="1" hangingPunct="1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chemeClr val="hlink"/>
                </a:solidFill>
              </a:rPr>
              <a:t>	       }</a:t>
            </a:r>
          </a:p>
          <a:p>
            <a:pPr marL="457200" lvl="1" indent="-457200" eaLnBrk="1" hangingPunct="1">
              <a:lnSpc>
                <a:spcPct val="80000"/>
              </a:lnSpc>
              <a:buNone/>
            </a:pPr>
            <a:r>
              <a:rPr lang="en-US" altLang="zh-CN" sz="2000" dirty="0"/>
              <a:t>	 }</a:t>
            </a:r>
          </a:p>
          <a:p>
            <a:pPr marL="457200" lvl="1" indent="-457200" eaLnBrk="1" hangingPunct="1">
              <a:lnSpc>
                <a:spcPct val="80000"/>
              </a:lnSpc>
              <a:buNone/>
            </a:pPr>
            <a:r>
              <a:rPr lang="en-US" altLang="zh-CN" sz="2000" dirty="0"/>
              <a:t>}</a:t>
            </a:r>
            <a:endParaRPr lang="zh-CN" altLang="en-US" sz="20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FE59D48-46D0-22D8-ECFA-7D0BDDC5DCD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511ECCA-0116-8A1D-0E82-531EAD2A9D9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208793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File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类举例</a:t>
            </a:r>
          </a:p>
        </p:txBody>
      </p:sp>
    </p:spTree>
    <p:extLst>
      <p:ext uri="{BB962C8B-B14F-4D97-AF65-F5344CB8AC3E}">
        <p14:creationId xmlns:p14="http://schemas.microsoft.com/office/powerpoint/2010/main" val="173675489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1600200"/>
            <a:ext cx="10972800" cy="4525963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400" dirty="0"/>
              <a:t>运行结果</a:t>
            </a:r>
          </a:p>
          <a:p>
            <a:pPr lvl="1" eaLnBrk="1" hangingPunct="1"/>
            <a:r>
              <a:rPr lang="zh-CN" altLang="en-US" sz="2200" dirty="0"/>
              <a:t>因为在前面的例子中已经创建了</a:t>
            </a:r>
            <a:r>
              <a:rPr lang="en-US" altLang="zh-CN" sz="2200" dirty="0"/>
              <a:t>c:\Hello.txt，</a:t>
            </a:r>
            <a:r>
              <a:rPr lang="zh-CN" altLang="en-US" sz="2200" dirty="0"/>
              <a:t>所以第一次运行将删除这个文件</a:t>
            </a:r>
          </a:p>
          <a:p>
            <a:pPr lvl="1" eaLnBrk="1" hangingPunct="1"/>
            <a:r>
              <a:rPr lang="zh-CN" altLang="en-US" sz="2200" dirty="0"/>
              <a:t>第二次运行则又创建了一个此名的空文件</a:t>
            </a:r>
          </a:p>
          <a:p>
            <a:pPr eaLnBrk="1" hangingPunct="1"/>
            <a:r>
              <a:rPr lang="zh-CN" altLang="en-US" sz="2400" dirty="0"/>
              <a:t>分析</a:t>
            </a:r>
          </a:p>
          <a:p>
            <a:pPr lvl="1" eaLnBrk="1" hangingPunct="1"/>
            <a:r>
              <a:rPr lang="zh-CN" altLang="en-US" sz="2200" dirty="0"/>
              <a:t>在试图打开文件之前，可以使用</a:t>
            </a:r>
            <a:r>
              <a:rPr lang="en-US" altLang="zh-CN" sz="2200" dirty="0"/>
              <a:t>File</a:t>
            </a:r>
            <a:r>
              <a:rPr lang="zh-CN" altLang="en-US" sz="2200" dirty="0"/>
              <a:t>类的</a:t>
            </a:r>
            <a:r>
              <a:rPr lang="en-US" altLang="zh-CN" sz="2200" dirty="0" err="1">
                <a:solidFill>
                  <a:schemeClr val="folHlink"/>
                </a:solidFill>
              </a:rPr>
              <a:t>isFile</a:t>
            </a:r>
            <a:r>
              <a:rPr lang="zh-CN" altLang="en-US" sz="2200" dirty="0"/>
              <a:t>方法来确定</a:t>
            </a:r>
            <a:r>
              <a:rPr lang="en-US" altLang="zh-CN" sz="2200" dirty="0"/>
              <a:t>File</a:t>
            </a:r>
            <a:r>
              <a:rPr lang="zh-CN" altLang="en-US" sz="2200" dirty="0"/>
              <a:t>对象是否代表一个文件而非目录）</a:t>
            </a:r>
          </a:p>
          <a:p>
            <a:pPr lvl="1" eaLnBrk="1" hangingPunct="1"/>
            <a:r>
              <a:rPr lang="zh-CN" altLang="en-US" sz="2200" dirty="0"/>
              <a:t>还可通过</a:t>
            </a:r>
            <a:r>
              <a:rPr lang="en-US" altLang="zh-CN" sz="2200" dirty="0">
                <a:solidFill>
                  <a:schemeClr val="folHlink"/>
                </a:solidFill>
              </a:rPr>
              <a:t>exists</a:t>
            </a:r>
            <a:r>
              <a:rPr lang="zh-CN" altLang="en-US" sz="2200" dirty="0"/>
              <a:t>方法判断同名文件或路径是否存在，进而采取正确的方法，以免造成误操作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AB92A17-6D47-46F5-108D-24A326DBF68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087930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File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类举例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048116-5626-C06C-4500-BF57778884C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344221662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4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86178" y="1196752"/>
            <a:ext cx="10972800" cy="5184576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 eaLnBrk="1" hangingPunct="1">
              <a:lnSpc>
                <a:spcPct val="80000"/>
              </a:lnSpc>
              <a:spcBef>
                <a:spcPct val="10000"/>
              </a:spcBef>
              <a:buNone/>
            </a:pPr>
            <a:r>
              <a:rPr lang="en-US" altLang="zh-CN" sz="1800" dirty="0"/>
              <a:t>//</a:t>
            </a:r>
            <a:r>
              <a:rPr lang="zh-CN" altLang="en-US" sz="1800" dirty="0"/>
              <a:t>在复制之前先判断文件是否存在</a:t>
            </a:r>
            <a:endParaRPr lang="en-GB" altLang="zh-CN" sz="1800" dirty="0"/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Georgia" panose="02040502050405020303" pitchFamily="18" charset="0"/>
              <a:buNone/>
            </a:pPr>
            <a:r>
              <a:rPr lang="en-GB" altLang="zh-CN" sz="1800" dirty="0"/>
              <a:t>import java.io.*; 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Georgia" panose="02040502050405020303" pitchFamily="18" charset="0"/>
              <a:buNone/>
            </a:pPr>
            <a:r>
              <a:rPr lang="en-GB" altLang="zh-CN" sz="1800" dirty="0"/>
              <a:t>class </a:t>
            </a:r>
            <a:r>
              <a:rPr lang="en-GB" altLang="zh-CN" sz="1800" dirty="0" err="1"/>
              <a:t>NewCopyBytes</a:t>
            </a:r>
            <a:r>
              <a:rPr lang="en-GB" altLang="zh-CN" sz="1800" dirty="0"/>
              <a:t>{ 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Georgia" panose="02040502050405020303" pitchFamily="18" charset="0"/>
              <a:buNone/>
            </a:pPr>
            <a:r>
              <a:rPr lang="en-GB" altLang="zh-CN" sz="1800" dirty="0"/>
              <a:t>   public static void main ( String[] </a:t>
            </a:r>
            <a:r>
              <a:rPr lang="en-GB" altLang="zh-CN" sz="1800" dirty="0" err="1"/>
              <a:t>args</a:t>
            </a:r>
            <a:r>
              <a:rPr lang="en-GB" altLang="zh-CN" sz="1800" dirty="0"/>
              <a:t> ) {  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Georgia" panose="02040502050405020303" pitchFamily="18" charset="0"/>
              <a:buNone/>
            </a:pPr>
            <a:r>
              <a:rPr lang="en-GB" altLang="zh-CN" sz="1800" dirty="0"/>
              <a:t>       </a:t>
            </a:r>
            <a:r>
              <a:rPr lang="en-GB" altLang="zh-CN" sz="1800" dirty="0" err="1"/>
              <a:t>DataInputStream</a:t>
            </a:r>
            <a:r>
              <a:rPr lang="en-GB" altLang="zh-CN" sz="1800" dirty="0"/>
              <a:t>  </a:t>
            </a:r>
            <a:r>
              <a:rPr lang="en-GB" altLang="zh-CN" sz="1800" dirty="0" err="1"/>
              <a:t>instr</a:t>
            </a:r>
            <a:r>
              <a:rPr lang="en-GB" altLang="zh-CN" sz="1800" dirty="0"/>
              <a:t>;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Georgia" panose="02040502050405020303" pitchFamily="18" charset="0"/>
              <a:buNone/>
            </a:pPr>
            <a:r>
              <a:rPr lang="en-GB" altLang="zh-CN" sz="1800" dirty="0"/>
              <a:t>       </a:t>
            </a:r>
            <a:r>
              <a:rPr lang="en-GB" altLang="zh-CN" sz="1800" dirty="0" err="1"/>
              <a:t>DataOutputStream</a:t>
            </a:r>
            <a:r>
              <a:rPr lang="en-GB" altLang="zh-CN" sz="1800" dirty="0"/>
              <a:t> </a:t>
            </a:r>
            <a:r>
              <a:rPr lang="en-GB" altLang="zh-CN" sz="1800" dirty="0" err="1"/>
              <a:t>outstr</a:t>
            </a:r>
            <a:r>
              <a:rPr lang="en-GB" altLang="zh-CN" sz="1800" dirty="0"/>
              <a:t>;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Georgia" panose="02040502050405020303" pitchFamily="18" charset="0"/>
              <a:buNone/>
            </a:pPr>
            <a:r>
              <a:rPr lang="en-GB" altLang="zh-CN" sz="1800" dirty="0"/>
              <a:t>       if ( </a:t>
            </a:r>
            <a:r>
              <a:rPr lang="en-GB" altLang="zh-CN" sz="1800" dirty="0" err="1"/>
              <a:t>args.length</a:t>
            </a:r>
            <a:r>
              <a:rPr lang="en-GB" altLang="zh-CN" sz="1800" dirty="0"/>
              <a:t> != 2 ) { 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Georgia" panose="02040502050405020303" pitchFamily="18" charset="0"/>
              <a:buNone/>
            </a:pPr>
            <a:r>
              <a:rPr lang="en-GB" altLang="zh-CN" sz="1800" dirty="0"/>
              <a:t>          </a:t>
            </a:r>
            <a:r>
              <a:rPr lang="en-GB" altLang="zh-CN" sz="1800" dirty="0" err="1"/>
              <a:t>System.out.println</a:t>
            </a:r>
            <a:r>
              <a:rPr lang="en-GB" altLang="zh-CN" sz="1800" dirty="0"/>
              <a:t>("Please Enter file names!");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Georgia" panose="02040502050405020303" pitchFamily="18" charset="0"/>
              <a:buNone/>
            </a:pPr>
            <a:r>
              <a:rPr lang="en-GB" altLang="zh-CN" sz="1800" dirty="0"/>
              <a:t>          return;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Georgia" panose="02040502050405020303" pitchFamily="18" charset="0"/>
              <a:buNone/>
            </a:pPr>
            <a:r>
              <a:rPr lang="en-GB" altLang="zh-CN" sz="1800" dirty="0"/>
              <a:t>       }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Georgia" panose="02040502050405020303" pitchFamily="18" charset="0"/>
              <a:buNone/>
            </a:pPr>
            <a:r>
              <a:rPr lang="en-GB" altLang="zh-CN" sz="1800" dirty="0"/>
              <a:t>      </a:t>
            </a:r>
            <a:r>
              <a:rPr lang="en-GB" altLang="zh-CN" sz="1800" dirty="0">
                <a:solidFill>
                  <a:schemeClr val="hlink"/>
                </a:solidFill>
              </a:rPr>
              <a:t>File </a:t>
            </a:r>
            <a:r>
              <a:rPr lang="en-GB" altLang="zh-CN" sz="1800" dirty="0" err="1">
                <a:solidFill>
                  <a:schemeClr val="hlink"/>
                </a:solidFill>
              </a:rPr>
              <a:t>inFile</a:t>
            </a:r>
            <a:r>
              <a:rPr lang="en-GB" altLang="zh-CN" sz="1800" dirty="0">
                <a:solidFill>
                  <a:schemeClr val="hlink"/>
                </a:solidFill>
              </a:rPr>
              <a:t>  = new File( </a:t>
            </a:r>
            <a:r>
              <a:rPr lang="en-GB" altLang="zh-CN" sz="1800" dirty="0" err="1">
                <a:solidFill>
                  <a:schemeClr val="hlink"/>
                </a:solidFill>
              </a:rPr>
              <a:t>args</a:t>
            </a:r>
            <a:r>
              <a:rPr lang="en-GB" altLang="zh-CN" sz="1800" dirty="0">
                <a:solidFill>
                  <a:schemeClr val="hlink"/>
                </a:solidFill>
              </a:rPr>
              <a:t>[0] );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Georgia" panose="02040502050405020303" pitchFamily="18" charset="0"/>
              <a:buNone/>
            </a:pPr>
            <a:r>
              <a:rPr lang="en-GB" altLang="zh-CN" sz="1800" dirty="0">
                <a:solidFill>
                  <a:schemeClr val="hlink"/>
                </a:solidFill>
              </a:rPr>
              <a:t>      File </a:t>
            </a:r>
            <a:r>
              <a:rPr lang="en-GB" altLang="zh-CN" sz="1800" dirty="0" err="1">
                <a:solidFill>
                  <a:schemeClr val="hlink"/>
                </a:solidFill>
              </a:rPr>
              <a:t>outFile</a:t>
            </a:r>
            <a:r>
              <a:rPr lang="en-GB" altLang="zh-CN" sz="1800" dirty="0">
                <a:solidFill>
                  <a:schemeClr val="hlink"/>
                </a:solidFill>
              </a:rPr>
              <a:t> = new File( </a:t>
            </a:r>
            <a:r>
              <a:rPr lang="en-GB" altLang="zh-CN" sz="1800" dirty="0" err="1">
                <a:solidFill>
                  <a:schemeClr val="hlink"/>
                </a:solidFill>
              </a:rPr>
              <a:t>args</a:t>
            </a:r>
            <a:r>
              <a:rPr lang="en-GB" altLang="zh-CN" sz="1800" dirty="0">
                <a:solidFill>
                  <a:schemeClr val="hlink"/>
                </a:solidFill>
              </a:rPr>
              <a:t>[1] );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Georgia" panose="02040502050405020303" pitchFamily="18" charset="0"/>
              <a:buNone/>
            </a:pPr>
            <a:r>
              <a:rPr lang="en-GB" altLang="zh-CN" sz="1800" dirty="0">
                <a:solidFill>
                  <a:schemeClr val="hlink"/>
                </a:solidFill>
              </a:rPr>
              <a:t>      if ( </a:t>
            </a:r>
            <a:r>
              <a:rPr lang="en-GB" altLang="zh-CN" sz="1800" dirty="0" err="1">
                <a:solidFill>
                  <a:schemeClr val="hlink"/>
                </a:solidFill>
              </a:rPr>
              <a:t>outFile.exists</a:t>
            </a:r>
            <a:r>
              <a:rPr lang="en-GB" altLang="zh-CN" sz="1800" dirty="0">
                <a:solidFill>
                  <a:schemeClr val="hlink"/>
                </a:solidFill>
              </a:rPr>
              <a:t>() ) { 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Georgia" panose="02040502050405020303" pitchFamily="18" charset="0"/>
              <a:buNone/>
            </a:pPr>
            <a:r>
              <a:rPr lang="en-GB" altLang="zh-CN" sz="1800" dirty="0">
                <a:solidFill>
                  <a:schemeClr val="hlink"/>
                </a:solidFill>
              </a:rPr>
              <a:t>         </a:t>
            </a:r>
            <a:r>
              <a:rPr lang="en-GB" altLang="zh-CN" sz="1800" dirty="0" err="1">
                <a:solidFill>
                  <a:schemeClr val="hlink"/>
                </a:solidFill>
              </a:rPr>
              <a:t>System.out.println</a:t>
            </a:r>
            <a:r>
              <a:rPr lang="en-GB" altLang="zh-CN" sz="1800" dirty="0">
                <a:solidFill>
                  <a:schemeClr val="hlink"/>
                </a:solidFill>
              </a:rPr>
              <a:t>( </a:t>
            </a:r>
            <a:r>
              <a:rPr lang="en-GB" altLang="zh-CN" sz="1800" dirty="0" err="1">
                <a:solidFill>
                  <a:schemeClr val="hlink"/>
                </a:solidFill>
              </a:rPr>
              <a:t>args</a:t>
            </a:r>
            <a:r>
              <a:rPr lang="en-GB" altLang="zh-CN" sz="1800" dirty="0">
                <a:solidFill>
                  <a:schemeClr val="hlink"/>
                </a:solidFill>
              </a:rPr>
              <a:t>[1] + " already exists");      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Georgia" panose="02040502050405020303" pitchFamily="18" charset="0"/>
              <a:buNone/>
            </a:pPr>
            <a:r>
              <a:rPr lang="en-GB" altLang="zh-CN" sz="1800" dirty="0">
                <a:solidFill>
                  <a:schemeClr val="hlink"/>
                </a:solidFill>
              </a:rPr>
              <a:t>         return;   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Georgia" panose="02040502050405020303" pitchFamily="18" charset="0"/>
              <a:buNone/>
            </a:pPr>
            <a:r>
              <a:rPr lang="en-GB" altLang="zh-CN" sz="1800" dirty="0">
                <a:solidFill>
                  <a:schemeClr val="hlink"/>
                </a:solidFill>
              </a:rPr>
              <a:t>      }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Georgia" panose="02040502050405020303" pitchFamily="18" charset="0"/>
              <a:buNone/>
            </a:pPr>
            <a:r>
              <a:rPr lang="en-GB" altLang="zh-CN" sz="1800" dirty="0">
                <a:solidFill>
                  <a:schemeClr val="hlink"/>
                </a:solidFill>
              </a:rPr>
              <a:t>      if ( !</a:t>
            </a:r>
            <a:r>
              <a:rPr lang="en-GB" altLang="zh-CN" sz="1800" dirty="0" err="1">
                <a:solidFill>
                  <a:schemeClr val="hlink"/>
                </a:solidFill>
              </a:rPr>
              <a:t>inFile.exists</a:t>
            </a:r>
            <a:r>
              <a:rPr lang="en-GB" altLang="zh-CN" sz="1800" dirty="0">
                <a:solidFill>
                  <a:schemeClr val="hlink"/>
                </a:solidFill>
              </a:rPr>
              <a:t>() )  { 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Georgia" panose="02040502050405020303" pitchFamily="18" charset="0"/>
              <a:buNone/>
            </a:pPr>
            <a:r>
              <a:rPr lang="en-GB" altLang="zh-CN" sz="1800" dirty="0">
                <a:solidFill>
                  <a:schemeClr val="hlink"/>
                </a:solidFill>
              </a:rPr>
              <a:t>         </a:t>
            </a:r>
            <a:r>
              <a:rPr lang="en-GB" altLang="zh-CN" sz="1800" dirty="0" err="1">
                <a:solidFill>
                  <a:schemeClr val="hlink"/>
                </a:solidFill>
              </a:rPr>
              <a:t>System.out.println</a:t>
            </a:r>
            <a:r>
              <a:rPr lang="en-GB" altLang="zh-CN" sz="1800" dirty="0">
                <a:solidFill>
                  <a:schemeClr val="hlink"/>
                </a:solidFill>
              </a:rPr>
              <a:t>( </a:t>
            </a:r>
            <a:r>
              <a:rPr lang="en-GB" altLang="zh-CN" sz="1800" dirty="0" err="1">
                <a:solidFill>
                  <a:schemeClr val="hlink"/>
                </a:solidFill>
              </a:rPr>
              <a:t>args</a:t>
            </a:r>
            <a:r>
              <a:rPr lang="en-GB" altLang="zh-CN" sz="1800" dirty="0">
                <a:solidFill>
                  <a:schemeClr val="hlink"/>
                </a:solidFill>
              </a:rPr>
              <a:t>[0] + " does not exist");   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Georgia" panose="02040502050405020303" pitchFamily="18" charset="0"/>
              <a:buNone/>
            </a:pPr>
            <a:r>
              <a:rPr lang="en-GB" altLang="zh-CN" sz="1800" dirty="0">
                <a:solidFill>
                  <a:schemeClr val="hlink"/>
                </a:solidFill>
              </a:rPr>
              <a:t>         return;   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Georgia" panose="02040502050405020303" pitchFamily="18" charset="0"/>
              <a:buNone/>
            </a:pPr>
            <a:r>
              <a:rPr lang="en-GB" altLang="zh-CN" sz="1800" dirty="0">
                <a:solidFill>
                  <a:schemeClr val="hlink"/>
                </a:solidFill>
              </a:rPr>
              <a:t>      }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71C4773-2CEB-BDB8-C64F-5DA2B94AEFA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3530196331"/>
      </p:ext>
    </p:extLst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7"/>
          <p:cNvSpPr>
            <a:spLocks noGrp="1"/>
          </p:cNvSpPr>
          <p:nvPr>
            <p:ph idx="4294967295"/>
          </p:nvPr>
        </p:nvSpPr>
        <p:spPr>
          <a:xfrm>
            <a:off x="191344" y="1484784"/>
            <a:ext cx="11809312" cy="5112568"/>
          </a:xfrm>
        </p:spPr>
        <p:txBody>
          <a:bodyPr>
            <a:normAutofit fontScale="25000" lnSpcReduction="20000"/>
          </a:bodyPr>
          <a:lstStyle/>
          <a:p>
            <a:pPr eaLnBrk="1" hangingPunct="1">
              <a:lnSpc>
                <a:spcPct val="170000"/>
              </a:lnSpc>
              <a:spcBef>
                <a:spcPts val="0"/>
              </a:spcBef>
              <a:buClr>
                <a:schemeClr val="accent2"/>
              </a:buClr>
              <a:buSzPct val="80000"/>
              <a:buNone/>
            </a:pPr>
            <a:r>
              <a:rPr lang="en-GB" altLang="zh-CN" sz="8000" dirty="0"/>
              <a:t>try{ </a:t>
            </a:r>
          </a:p>
          <a:p>
            <a:pPr eaLnBrk="1" hangingPunct="1">
              <a:lnSpc>
                <a:spcPct val="170000"/>
              </a:lnSpc>
              <a:spcBef>
                <a:spcPts val="0"/>
              </a:spcBef>
              <a:buClr>
                <a:schemeClr val="accent2"/>
              </a:buClr>
              <a:buSzPct val="80000"/>
              <a:buNone/>
            </a:pPr>
            <a:r>
              <a:rPr lang="en-GB" altLang="zh-CN" sz="8000" dirty="0"/>
              <a:t>  </a:t>
            </a:r>
            <a:r>
              <a:rPr lang="en-GB" altLang="zh-CN" sz="8000" dirty="0" err="1"/>
              <a:t>instr</a:t>
            </a:r>
            <a:r>
              <a:rPr lang="en-GB" altLang="zh-CN" sz="8000" dirty="0"/>
              <a:t> = new </a:t>
            </a:r>
            <a:r>
              <a:rPr lang="en-GB" altLang="zh-CN" sz="8000" dirty="0" err="1"/>
              <a:t>DataInputStream</a:t>
            </a:r>
            <a:r>
              <a:rPr lang="en-GB" altLang="zh-CN" sz="8000" dirty="0"/>
              <a:t>(new </a:t>
            </a:r>
            <a:r>
              <a:rPr lang="en-GB" altLang="zh-CN" sz="8000" dirty="0" err="1"/>
              <a:t>BufferedInputStream</a:t>
            </a:r>
            <a:r>
              <a:rPr lang="en-GB" altLang="zh-CN" sz="8000" dirty="0"/>
              <a:t>(new </a:t>
            </a:r>
            <a:r>
              <a:rPr lang="en-GB" altLang="zh-CN" sz="8000" dirty="0" err="1"/>
              <a:t>FileInputStream</a:t>
            </a:r>
            <a:r>
              <a:rPr lang="en-GB" altLang="zh-CN" sz="8000" dirty="0"/>
              <a:t>( </a:t>
            </a:r>
            <a:r>
              <a:rPr lang="en-GB" altLang="zh-CN" sz="8000" dirty="0" err="1"/>
              <a:t>inFile</a:t>
            </a:r>
            <a:r>
              <a:rPr lang="en-GB" altLang="zh-CN" sz="8000" dirty="0"/>
              <a:t> )));</a:t>
            </a:r>
          </a:p>
          <a:p>
            <a:pPr eaLnBrk="1" hangingPunct="1">
              <a:lnSpc>
                <a:spcPct val="170000"/>
              </a:lnSpc>
              <a:spcBef>
                <a:spcPts val="0"/>
              </a:spcBef>
              <a:buClr>
                <a:schemeClr val="accent2"/>
              </a:buClr>
              <a:buSzPct val="80000"/>
              <a:buNone/>
            </a:pPr>
            <a:r>
              <a:rPr lang="en-GB" altLang="zh-CN" sz="8000" dirty="0"/>
              <a:t>  </a:t>
            </a:r>
            <a:r>
              <a:rPr lang="en-GB" altLang="zh-CN" sz="8000" dirty="0" err="1"/>
              <a:t>outstr</a:t>
            </a:r>
            <a:r>
              <a:rPr lang="en-GB" altLang="zh-CN" sz="8000" dirty="0"/>
              <a:t> = new </a:t>
            </a:r>
            <a:r>
              <a:rPr lang="en-GB" altLang="zh-CN" sz="8000" dirty="0" err="1"/>
              <a:t>DataOutputStream</a:t>
            </a:r>
            <a:r>
              <a:rPr lang="en-GB" altLang="zh-CN" sz="8000" dirty="0"/>
              <a:t>(new </a:t>
            </a:r>
            <a:r>
              <a:rPr lang="en-GB" altLang="zh-CN" sz="8000" dirty="0" err="1"/>
              <a:t>BufferedOutputStream</a:t>
            </a:r>
            <a:r>
              <a:rPr lang="en-GB" altLang="zh-CN" sz="8000" dirty="0"/>
              <a:t>(new </a:t>
            </a:r>
            <a:r>
              <a:rPr lang="en-GB" altLang="zh-CN" sz="8000" dirty="0" err="1"/>
              <a:t>FileOutputStream</a:t>
            </a:r>
            <a:r>
              <a:rPr lang="en-GB" altLang="zh-CN" sz="8000" dirty="0"/>
              <a:t>( </a:t>
            </a:r>
            <a:r>
              <a:rPr lang="en-GB" altLang="zh-CN" sz="8000" dirty="0" err="1"/>
              <a:t>outFile</a:t>
            </a:r>
            <a:r>
              <a:rPr lang="en-GB" altLang="zh-CN" sz="8000" dirty="0"/>
              <a:t>  )));</a:t>
            </a:r>
          </a:p>
          <a:p>
            <a:pPr eaLnBrk="1" hangingPunct="1">
              <a:lnSpc>
                <a:spcPct val="170000"/>
              </a:lnSpc>
              <a:spcBef>
                <a:spcPts val="0"/>
              </a:spcBef>
              <a:buClr>
                <a:schemeClr val="accent2"/>
              </a:buClr>
              <a:buSzPct val="80000"/>
              <a:buNone/>
            </a:pPr>
            <a:r>
              <a:rPr lang="en-GB" altLang="zh-CN" sz="8000" dirty="0"/>
              <a:t>  </a:t>
            </a:r>
            <a:r>
              <a:rPr lang="en-GB" altLang="zh-CN" sz="8000" dirty="0">
                <a:solidFill>
                  <a:schemeClr val="hlink"/>
                </a:solidFill>
              </a:rPr>
              <a:t>try { </a:t>
            </a:r>
          </a:p>
          <a:p>
            <a:pPr eaLnBrk="1" hangingPunct="1">
              <a:lnSpc>
                <a:spcPct val="170000"/>
              </a:lnSpc>
              <a:spcBef>
                <a:spcPts val="0"/>
              </a:spcBef>
              <a:buClr>
                <a:schemeClr val="accent2"/>
              </a:buClr>
              <a:buSzPct val="80000"/>
              <a:buNone/>
            </a:pPr>
            <a:r>
              <a:rPr lang="en-GB" altLang="zh-CN" sz="8000" dirty="0">
                <a:solidFill>
                  <a:schemeClr val="hlink"/>
                </a:solidFill>
              </a:rPr>
              <a:t>      int data;</a:t>
            </a:r>
          </a:p>
          <a:p>
            <a:pPr eaLnBrk="1" hangingPunct="1">
              <a:lnSpc>
                <a:spcPct val="170000"/>
              </a:lnSpc>
              <a:spcBef>
                <a:spcPts val="0"/>
              </a:spcBef>
              <a:buClr>
                <a:schemeClr val="accent2"/>
              </a:buClr>
              <a:buSzPct val="80000"/>
              <a:buNone/>
            </a:pPr>
            <a:r>
              <a:rPr lang="en-GB" altLang="zh-CN" sz="8000" dirty="0">
                <a:solidFill>
                  <a:schemeClr val="hlink"/>
                </a:solidFill>
              </a:rPr>
              <a:t>      while(true){ data = </a:t>
            </a:r>
            <a:r>
              <a:rPr lang="en-GB" altLang="zh-CN" sz="8000" dirty="0" err="1">
                <a:solidFill>
                  <a:schemeClr val="hlink"/>
                </a:solidFill>
              </a:rPr>
              <a:t>instr.readUnsignedByte</a:t>
            </a:r>
            <a:r>
              <a:rPr lang="en-GB" altLang="zh-CN" sz="8000" dirty="0">
                <a:solidFill>
                  <a:schemeClr val="hlink"/>
                </a:solidFill>
              </a:rPr>
              <a:t>() ; </a:t>
            </a:r>
            <a:r>
              <a:rPr lang="en-GB" altLang="zh-CN" sz="8000" dirty="0" err="1">
                <a:solidFill>
                  <a:schemeClr val="hlink"/>
                </a:solidFill>
              </a:rPr>
              <a:t>outstr.writeByte</a:t>
            </a:r>
            <a:r>
              <a:rPr lang="en-GB" altLang="zh-CN" sz="8000" dirty="0">
                <a:solidFill>
                  <a:schemeClr val="hlink"/>
                </a:solidFill>
              </a:rPr>
              <a:t>( data ) ;  }</a:t>
            </a:r>
          </a:p>
          <a:p>
            <a:pPr eaLnBrk="1" hangingPunct="1">
              <a:lnSpc>
                <a:spcPct val="170000"/>
              </a:lnSpc>
              <a:spcBef>
                <a:spcPts val="0"/>
              </a:spcBef>
              <a:buClr>
                <a:schemeClr val="accent2"/>
              </a:buClr>
              <a:buSzPct val="80000"/>
              <a:buNone/>
            </a:pPr>
            <a:r>
              <a:rPr lang="en-GB" altLang="zh-CN" sz="8000" dirty="0">
                <a:solidFill>
                  <a:schemeClr val="hlink"/>
                </a:solidFill>
              </a:rPr>
              <a:t>  }catch ( </a:t>
            </a:r>
            <a:r>
              <a:rPr lang="en-GB" altLang="zh-CN" sz="8000" dirty="0" err="1">
                <a:solidFill>
                  <a:schemeClr val="hlink"/>
                </a:solidFill>
              </a:rPr>
              <a:t>EOFException</a:t>
            </a:r>
            <a:r>
              <a:rPr lang="en-GB" altLang="zh-CN" sz="8000" dirty="0">
                <a:solidFill>
                  <a:schemeClr val="hlink"/>
                </a:solidFill>
              </a:rPr>
              <a:t>  </a:t>
            </a:r>
            <a:r>
              <a:rPr lang="en-GB" altLang="zh-CN" sz="8000" dirty="0" err="1">
                <a:solidFill>
                  <a:schemeClr val="hlink"/>
                </a:solidFill>
              </a:rPr>
              <a:t>eof</a:t>
            </a:r>
            <a:r>
              <a:rPr lang="en-GB" altLang="zh-CN" sz="8000" dirty="0">
                <a:solidFill>
                  <a:schemeClr val="hlink"/>
                </a:solidFill>
              </a:rPr>
              <a:t> ) {   </a:t>
            </a:r>
            <a:r>
              <a:rPr lang="en-GB" altLang="zh-CN" sz="8000" dirty="0" err="1">
                <a:solidFill>
                  <a:schemeClr val="hlink"/>
                </a:solidFill>
              </a:rPr>
              <a:t>outstr.close</a:t>
            </a:r>
            <a:r>
              <a:rPr lang="en-GB" altLang="zh-CN" sz="8000" dirty="0">
                <a:solidFill>
                  <a:schemeClr val="hlink"/>
                </a:solidFill>
              </a:rPr>
              <a:t>();  </a:t>
            </a:r>
            <a:r>
              <a:rPr lang="en-GB" altLang="zh-CN" sz="8000" dirty="0" err="1">
                <a:solidFill>
                  <a:schemeClr val="hlink"/>
                </a:solidFill>
              </a:rPr>
              <a:t>instr.close</a:t>
            </a:r>
            <a:r>
              <a:rPr lang="en-GB" altLang="zh-CN" sz="8000" dirty="0">
                <a:solidFill>
                  <a:schemeClr val="hlink"/>
                </a:solidFill>
              </a:rPr>
              <a:t>();  return;   }</a:t>
            </a:r>
          </a:p>
          <a:p>
            <a:pPr eaLnBrk="1" hangingPunct="1">
              <a:lnSpc>
                <a:spcPct val="170000"/>
              </a:lnSpc>
              <a:spcBef>
                <a:spcPts val="0"/>
              </a:spcBef>
              <a:buClr>
                <a:schemeClr val="accent2"/>
              </a:buClr>
              <a:buSzPct val="80000"/>
              <a:buNone/>
            </a:pPr>
            <a:r>
              <a:rPr lang="en-GB" altLang="zh-CN" sz="8000" dirty="0"/>
              <a:t>  </a:t>
            </a:r>
            <a:r>
              <a:rPr lang="en-GB" altLang="zh-CN" sz="8000" b="1" dirty="0"/>
              <a:t>}</a:t>
            </a:r>
            <a:r>
              <a:rPr lang="en-GB" altLang="zh-CN" sz="8000" dirty="0"/>
              <a:t>catch ( </a:t>
            </a:r>
            <a:r>
              <a:rPr lang="en-GB" altLang="zh-CN" sz="8000" dirty="0" err="1"/>
              <a:t>FileNotFoundException</a:t>
            </a:r>
            <a:r>
              <a:rPr lang="en-GB" altLang="zh-CN" sz="8000" dirty="0"/>
              <a:t> </a:t>
            </a:r>
            <a:r>
              <a:rPr lang="en-GB" altLang="zh-CN" sz="8000" dirty="0" err="1"/>
              <a:t>nfx</a:t>
            </a:r>
            <a:r>
              <a:rPr lang="en-GB" altLang="zh-CN" sz="8000" dirty="0"/>
              <a:t> ){  </a:t>
            </a:r>
            <a:r>
              <a:rPr lang="en-GB" altLang="zh-CN" sz="8000" dirty="0" err="1"/>
              <a:t>System.out.println</a:t>
            </a:r>
            <a:r>
              <a:rPr lang="en-GB" altLang="zh-CN" sz="8000" dirty="0"/>
              <a:t>("Problem opening files" ); }</a:t>
            </a:r>
          </a:p>
          <a:p>
            <a:pPr eaLnBrk="1" hangingPunct="1">
              <a:lnSpc>
                <a:spcPct val="170000"/>
              </a:lnSpc>
              <a:spcBef>
                <a:spcPts val="0"/>
              </a:spcBef>
              <a:buClr>
                <a:schemeClr val="accent2"/>
              </a:buClr>
              <a:buSzPct val="80000"/>
              <a:buNone/>
            </a:pPr>
            <a:r>
              <a:rPr lang="en-GB" altLang="zh-CN" sz="8000" dirty="0"/>
              <a:t>   catch ( </a:t>
            </a:r>
            <a:r>
              <a:rPr lang="en-GB" altLang="zh-CN" sz="8000" dirty="0" err="1"/>
              <a:t>IOException</a:t>
            </a:r>
            <a:r>
              <a:rPr lang="en-GB" altLang="zh-CN" sz="8000" dirty="0"/>
              <a:t> </a:t>
            </a:r>
            <a:r>
              <a:rPr lang="en-GB" altLang="zh-CN" sz="8000" dirty="0" err="1"/>
              <a:t>iox</a:t>
            </a:r>
            <a:r>
              <a:rPr lang="en-GB" altLang="zh-CN" sz="8000" dirty="0"/>
              <a:t> ) {  </a:t>
            </a:r>
            <a:r>
              <a:rPr lang="en-GB" altLang="zh-CN" sz="8000" dirty="0" err="1"/>
              <a:t>System.out.println</a:t>
            </a:r>
            <a:r>
              <a:rPr lang="en-GB" altLang="zh-CN" sz="8000" dirty="0"/>
              <a:t>("IO Problems" );   }</a:t>
            </a:r>
          </a:p>
          <a:p>
            <a:pPr eaLnBrk="1" hangingPunct="1">
              <a:lnSpc>
                <a:spcPct val="170000"/>
              </a:lnSpc>
              <a:spcBef>
                <a:spcPts val="0"/>
              </a:spcBef>
              <a:buClr>
                <a:schemeClr val="accent2"/>
              </a:buClr>
              <a:buSzPct val="80000"/>
              <a:buNone/>
            </a:pPr>
            <a:r>
              <a:rPr lang="en-GB" altLang="zh-CN" sz="8000" dirty="0"/>
              <a:t>  }</a:t>
            </a:r>
          </a:p>
          <a:p>
            <a:pPr eaLnBrk="1" hangingPunct="1">
              <a:lnSpc>
                <a:spcPct val="170000"/>
              </a:lnSpc>
              <a:spcBef>
                <a:spcPts val="0"/>
              </a:spcBef>
              <a:buClr>
                <a:schemeClr val="accent2"/>
              </a:buClr>
              <a:buSzPct val="80000"/>
              <a:buNone/>
            </a:pPr>
            <a:r>
              <a:rPr lang="en-GB" altLang="zh-CN" sz="8000" dirty="0"/>
              <a:t>}</a:t>
            </a:r>
          </a:p>
          <a:p>
            <a:endParaRPr lang="zh-CN" altLang="en-US" sz="2000" dirty="0"/>
          </a:p>
        </p:txBody>
      </p:sp>
      <p:sp>
        <p:nvSpPr>
          <p:cNvPr id="165891" name="Rectangle 8"/>
          <p:cNvSpPr>
            <a:spLocks noChangeArrowheads="1"/>
          </p:cNvSpPr>
          <p:nvPr/>
        </p:nvSpPr>
        <p:spPr bwMode="auto">
          <a:xfrm>
            <a:off x="2667000" y="1700214"/>
            <a:ext cx="8229600" cy="243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4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GB" altLang="zh-CN" sz="2000">
                <a:latin typeface="Arial" panose="020B0604020202020204" pitchFamily="34" charset="0"/>
              </a:rPr>
              <a:t>   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0D454F9B-55D5-F41E-2646-BDC7196CA45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1963976536"/>
      </p:ext>
    </p:extLst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40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83432" y="2348880"/>
            <a:ext cx="9721080" cy="2908920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chemeClr val="folHlink"/>
                </a:solidFill>
              </a:rPr>
              <a:t>java.util.zip</a:t>
            </a:r>
            <a:r>
              <a:rPr lang="zh-CN" altLang="en-US" sz="2400" dirty="0"/>
              <a:t>包中提供了一些类，使我们可以以压缩格式对流进行读写，都继承自字节流类</a:t>
            </a:r>
            <a:r>
              <a:rPr lang="en-US" altLang="zh-CN" sz="2400" dirty="0" err="1">
                <a:solidFill>
                  <a:schemeClr val="folHlink"/>
                </a:solidFill>
              </a:rPr>
              <a:t>OutputStream</a:t>
            </a:r>
            <a:r>
              <a:rPr lang="zh-CN" altLang="en-US" sz="2400" dirty="0"/>
              <a:t>和</a:t>
            </a:r>
            <a:r>
              <a:rPr lang="en-US" altLang="zh-CN" sz="2400" dirty="0" err="1">
                <a:solidFill>
                  <a:schemeClr val="folHlink"/>
                </a:solidFill>
              </a:rPr>
              <a:t>InputStream</a:t>
            </a:r>
            <a:endParaRPr lang="en-US" altLang="zh-CN" sz="2400" dirty="0">
              <a:solidFill>
                <a:schemeClr val="folHlink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 err="1">
                <a:solidFill>
                  <a:schemeClr val="folHlink"/>
                </a:solidFill>
              </a:rPr>
              <a:t>GZIPOutputStream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ZipOutputStream</a:t>
            </a:r>
            <a:endParaRPr lang="en-US" altLang="zh-CN" sz="240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200" dirty="0"/>
              <a:t>可分别把数据压缩成</a:t>
            </a:r>
            <a:r>
              <a:rPr lang="en-US" altLang="zh-CN" sz="2200" dirty="0">
                <a:solidFill>
                  <a:schemeClr val="folHlink"/>
                </a:solidFill>
              </a:rPr>
              <a:t>GZIP</a:t>
            </a:r>
            <a:r>
              <a:rPr lang="zh-CN" altLang="en-US" sz="2200" dirty="0"/>
              <a:t>格式和</a:t>
            </a:r>
            <a:r>
              <a:rPr lang="en-US" altLang="zh-CN" sz="2200" dirty="0"/>
              <a:t>Zip</a:t>
            </a:r>
            <a:r>
              <a:rPr lang="zh-CN" altLang="en-US" sz="2200" dirty="0"/>
              <a:t>格式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 err="1">
                <a:solidFill>
                  <a:schemeClr val="folHlink"/>
                </a:solidFill>
              </a:rPr>
              <a:t>GZIPInputStream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ZipInputStream</a:t>
            </a:r>
            <a:endParaRPr lang="en-US" altLang="zh-CN" sz="2400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200" dirty="0"/>
              <a:t>可以分别把压缩成</a:t>
            </a:r>
            <a:r>
              <a:rPr lang="en-US" altLang="zh-CN" sz="2200" dirty="0">
                <a:solidFill>
                  <a:schemeClr val="folHlink"/>
                </a:solidFill>
              </a:rPr>
              <a:t>GZIP</a:t>
            </a:r>
            <a:r>
              <a:rPr lang="zh-CN" altLang="en-US" sz="2200" dirty="0"/>
              <a:t>格式或</a:t>
            </a:r>
            <a:r>
              <a:rPr lang="en-US" altLang="zh-CN" sz="2200" dirty="0"/>
              <a:t>Zip</a:t>
            </a:r>
            <a:r>
              <a:rPr lang="zh-CN" altLang="en-US" sz="2200" dirty="0"/>
              <a:t>的数据解压缩恢复原状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6320548-C60F-0A56-551D-1B619FAA325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087930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处理压缩文件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9DF491-B852-AF56-87DE-906DE96C6C28}"/>
              </a:ext>
            </a:extLst>
          </p:cNvPr>
          <p:cNvSpPr txBox="1">
            <a:spLocks noChangeArrowheads="1"/>
          </p:cNvSpPr>
          <p:nvPr/>
        </p:nvSpPr>
        <p:spPr>
          <a:xfrm>
            <a:off x="911425" y="1740714"/>
            <a:ext cx="1728192" cy="500391"/>
          </a:xfrm>
          <a:prstGeom prst="rect">
            <a:avLst/>
          </a:prstGeom>
        </p:spPr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zh-CN" altLang="en-US" sz="2400" dirty="0">
                <a:solidFill>
                  <a:schemeClr val="folHlink"/>
                </a:solidFill>
              </a:rPr>
              <a:t>压缩流类</a:t>
            </a:r>
            <a:endParaRPr kumimoji="0" lang="zh-CN" altLang="en-US" sz="2200" dirty="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FF21B496-B877-1B48-57AC-9023FD3930C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412911987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55440" y="1772816"/>
            <a:ext cx="8280920" cy="3556992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dirty="0" err="1"/>
              <a:t>GZIPOutputStream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父类是</a:t>
            </a:r>
            <a:r>
              <a:rPr lang="en-US" altLang="zh-CN" dirty="0" err="1"/>
              <a:t>DeflaterOutputStream</a:t>
            </a:r>
            <a:r>
              <a:rPr lang="zh-CN" altLang="en-US" dirty="0"/>
              <a:t> </a:t>
            </a:r>
          </a:p>
          <a:p>
            <a:pPr lvl="1" eaLnBrk="1" hangingPunct="1"/>
            <a:r>
              <a:rPr lang="zh-CN" altLang="en-US" dirty="0"/>
              <a:t>可以把数据压缩成</a:t>
            </a:r>
            <a:r>
              <a:rPr lang="en-US" altLang="zh-CN" dirty="0"/>
              <a:t>GZIP</a:t>
            </a:r>
            <a:r>
              <a:rPr lang="zh-CN" altLang="en-US" dirty="0"/>
              <a:t>格式</a:t>
            </a:r>
            <a:endParaRPr lang="en-US" altLang="zh-CN" dirty="0"/>
          </a:p>
          <a:p>
            <a:pPr eaLnBrk="1" hangingPunct="1"/>
            <a:r>
              <a:rPr lang="en-US" altLang="zh-CN" dirty="0" err="1"/>
              <a:t>GZIPInputStream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父类是</a:t>
            </a:r>
            <a:r>
              <a:rPr lang="en-US" altLang="zh-CN" dirty="0"/>
              <a:t> </a:t>
            </a:r>
            <a:r>
              <a:rPr lang="en-US" altLang="zh-CN" dirty="0" err="1"/>
              <a:t>InflaterInputStream</a:t>
            </a:r>
            <a:r>
              <a:rPr lang="en-US" altLang="zh-CN" dirty="0"/>
              <a:t> </a:t>
            </a:r>
          </a:p>
          <a:p>
            <a:pPr lvl="1" eaLnBrk="1" hangingPunct="1"/>
            <a:r>
              <a:rPr lang="zh-CN" altLang="en-US" dirty="0"/>
              <a:t>可以把压缩成</a:t>
            </a:r>
            <a:r>
              <a:rPr lang="en-US" altLang="zh-CN" dirty="0"/>
              <a:t>GZIP</a:t>
            </a:r>
            <a:r>
              <a:rPr lang="zh-CN" altLang="en-US" dirty="0"/>
              <a:t>格式的数据解压缩</a:t>
            </a: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46586FD-7606-AFF9-78FF-DE199BD7906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3024034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简单的</a:t>
            </a:r>
            <a:r>
              <a:rPr lang="en-US" altLang="zh-CN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GZIP</a:t>
            </a: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压缩格式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F8D68A-1BD6-10D1-06CD-C937F5D51E8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2478102309"/>
      </p:ext>
    </p:extLst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39416" y="1700808"/>
            <a:ext cx="10310936" cy="4608512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import java.io.*;</a:t>
            </a:r>
          </a:p>
          <a:p>
            <a:pPr marL="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import java.util.zip.*;</a:t>
            </a:r>
          </a:p>
          <a:p>
            <a:pPr marL="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public class </a:t>
            </a:r>
            <a:r>
              <a:rPr lang="en-US" altLang="zh-CN" sz="2000" dirty="0" err="1"/>
              <a:t>GZIPTester</a:t>
            </a:r>
            <a:r>
              <a:rPr lang="en-US" altLang="zh-CN" sz="2000" dirty="0"/>
              <a:t> {</a:t>
            </a:r>
          </a:p>
          <a:p>
            <a:pPr marL="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public static void main(String[] 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) throws </a:t>
            </a:r>
            <a:r>
              <a:rPr lang="en-US" altLang="zh-CN" sz="2000" dirty="0" err="1"/>
              <a:t>IOException</a:t>
            </a:r>
            <a:r>
              <a:rPr lang="en-US" altLang="zh-CN" sz="2000" dirty="0"/>
              <a:t> {</a:t>
            </a:r>
          </a:p>
          <a:p>
            <a:pPr marL="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</a:t>
            </a:r>
            <a:r>
              <a:rPr lang="en-US" altLang="zh-CN" sz="2000" dirty="0" err="1"/>
              <a:t>FileInputStream</a:t>
            </a:r>
            <a:r>
              <a:rPr lang="en-US" altLang="zh-CN" sz="2000" dirty="0"/>
              <a:t> in = new </a:t>
            </a:r>
            <a:r>
              <a:rPr lang="en-US" altLang="zh-CN" sz="2000" dirty="0" err="1"/>
              <a:t>FileInputStream</a:t>
            </a:r>
            <a:r>
              <a:rPr lang="en-US" altLang="zh-CN" sz="2000" dirty="0"/>
              <a:t>("Hello.txt"); </a:t>
            </a:r>
          </a:p>
          <a:p>
            <a:pPr marL="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</a:t>
            </a:r>
            <a:r>
              <a:rPr lang="en-US" altLang="zh-CN" sz="2000" dirty="0" err="1"/>
              <a:t>GZIPOutputStream</a:t>
            </a:r>
            <a:r>
              <a:rPr lang="en-US" altLang="zh-CN" sz="2000" dirty="0"/>
              <a:t> out = new</a:t>
            </a:r>
            <a:r>
              <a:rPr lang="en-US" altLang="zh-CN" sz="2000" dirty="0">
                <a:solidFill>
                  <a:schemeClr val="folHlink"/>
                </a:solidFill>
              </a:rPr>
              <a:t> </a:t>
            </a:r>
            <a:r>
              <a:rPr lang="en-US" altLang="zh-CN" sz="2000" dirty="0" err="1">
                <a:solidFill>
                  <a:schemeClr val="folHlink"/>
                </a:solidFill>
              </a:rPr>
              <a:t>GZIPOutputStream</a:t>
            </a:r>
            <a:r>
              <a:rPr lang="en-US" altLang="zh-CN" sz="2000" dirty="0"/>
              <a:t>(</a:t>
            </a:r>
          </a:p>
          <a:p>
            <a:pPr marL="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                            new </a:t>
            </a:r>
            <a:r>
              <a:rPr lang="en-US" altLang="zh-CN" sz="2000" dirty="0" err="1"/>
              <a:t>FileOutputStream</a:t>
            </a:r>
            <a:r>
              <a:rPr lang="en-US" altLang="zh-CN" sz="2000" dirty="0"/>
              <a:t>("test.gz"));</a:t>
            </a:r>
          </a:p>
          <a:p>
            <a:pPr marL="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</a:t>
            </a:r>
            <a:r>
              <a:rPr lang="en-US" altLang="zh-CN" sz="2000" dirty="0" err="1"/>
              <a:t>System.out.println</a:t>
            </a:r>
            <a:r>
              <a:rPr lang="en-US" altLang="zh-CN" sz="2000" dirty="0"/>
              <a:t>("Writing compressing file from Hello.txt to test.gz");</a:t>
            </a:r>
          </a:p>
          <a:p>
            <a:pPr marL="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int c;</a:t>
            </a:r>
          </a:p>
          <a:p>
            <a:pPr marL="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while((c = </a:t>
            </a:r>
            <a:r>
              <a:rPr lang="en-US" altLang="zh-CN" sz="2000" dirty="0" err="1"/>
              <a:t>in.read</a:t>
            </a:r>
            <a:r>
              <a:rPr lang="en-US" altLang="zh-CN" sz="2000" dirty="0"/>
              <a:t>()) != -1) </a:t>
            </a:r>
            <a:r>
              <a:rPr lang="en-US" altLang="zh-CN" sz="2000" dirty="0" err="1"/>
              <a:t>out.write</a:t>
            </a:r>
            <a:r>
              <a:rPr lang="en-US" altLang="zh-CN" sz="2000" dirty="0"/>
              <a:t>(c); //</a:t>
            </a:r>
            <a:r>
              <a:rPr lang="zh-CN" altLang="en-US" sz="2000" dirty="0"/>
              <a:t>写压缩文件    </a:t>
            </a:r>
            <a:endParaRPr lang="en-US" altLang="zh-CN" sz="2000" dirty="0"/>
          </a:p>
          <a:p>
            <a:pPr marL="0" indent="0"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 </a:t>
            </a:r>
            <a:r>
              <a:rPr lang="en-US" altLang="zh-CN" sz="2000" dirty="0" err="1"/>
              <a:t>in.close</a:t>
            </a:r>
            <a:r>
              <a:rPr lang="en-US" altLang="zh-CN" sz="2000" dirty="0"/>
              <a:t>();</a:t>
            </a:r>
          </a:p>
          <a:p>
            <a:pPr marL="0" indent="0"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 </a:t>
            </a:r>
            <a:r>
              <a:rPr lang="en-US" altLang="zh-CN" sz="2000" dirty="0" err="1"/>
              <a:t>out.close</a:t>
            </a:r>
            <a:r>
              <a:rPr lang="en-US" altLang="zh-CN" sz="2000" dirty="0"/>
              <a:t>();     </a:t>
            </a:r>
            <a:endParaRPr lang="zh-CN" altLang="en-US" sz="2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6E3CAD-9654-F61A-7F98-66F5E87B52E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3024034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简单的</a:t>
            </a:r>
            <a:r>
              <a:rPr lang="en-US" altLang="zh-CN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GZIP</a:t>
            </a: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压缩格式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49F09D-7E4B-4FA6-0ECB-5AD7DEAF2B3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108891846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4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1344" y="1604873"/>
            <a:ext cx="11737304" cy="4520760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</a:t>
            </a:r>
            <a:r>
              <a:rPr lang="en-US" altLang="zh-CN" sz="2000" dirty="0" err="1"/>
              <a:t>System.out.println</a:t>
            </a:r>
            <a:r>
              <a:rPr lang="en-US" altLang="zh-CN" sz="2000" dirty="0"/>
              <a:t>("Reading file form c:/test.gz to monitor");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</a:t>
            </a:r>
            <a:r>
              <a:rPr lang="en-US" altLang="zh-CN" sz="2000" dirty="0" err="1"/>
              <a:t>BufferedReader</a:t>
            </a:r>
            <a:r>
              <a:rPr lang="en-US" altLang="zh-CN" sz="2000" dirty="0">
                <a:solidFill>
                  <a:schemeClr val="tx2"/>
                </a:solidFill>
              </a:rPr>
              <a:t> in2 </a:t>
            </a:r>
            <a:r>
              <a:rPr lang="en-US" altLang="zh-CN" sz="2000" dirty="0"/>
              <a:t>= new </a:t>
            </a:r>
            <a:r>
              <a:rPr lang="en-US" altLang="zh-CN" sz="2000" dirty="0" err="1"/>
              <a:t>BufferedReader</a:t>
            </a:r>
            <a:r>
              <a:rPr lang="en-US" altLang="zh-CN" sz="2000" dirty="0"/>
              <a:t>( new </a:t>
            </a:r>
            <a:r>
              <a:rPr lang="en-US" altLang="zh-CN" sz="2000" dirty="0" err="1"/>
              <a:t>InputStreamReader</a:t>
            </a:r>
            <a:r>
              <a:rPr lang="en-US" altLang="zh-CN" sz="2000" dirty="0"/>
              <a:t>(new </a:t>
            </a:r>
            <a:r>
              <a:rPr lang="en-US" altLang="zh-CN" sz="2000" dirty="0" err="1">
                <a:solidFill>
                  <a:schemeClr val="tx2"/>
                </a:solidFill>
              </a:rPr>
              <a:t>GZIPInputStream</a:t>
            </a:r>
            <a:r>
              <a:rPr lang="en-US" altLang="zh-CN" sz="2000" dirty="0"/>
              <a:t>(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                                                                                        new </a:t>
            </a:r>
            <a:r>
              <a:rPr lang="en-US" altLang="zh-CN" sz="2000" dirty="0" err="1"/>
              <a:t>FileInputStream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chemeClr val="tx2"/>
                </a:solidFill>
              </a:rPr>
              <a:t>"test.gz"</a:t>
            </a:r>
            <a:r>
              <a:rPr lang="en-US" altLang="zh-CN" sz="2000" dirty="0"/>
              <a:t>))));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String s;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while((s = </a:t>
            </a:r>
            <a:r>
              <a:rPr lang="en-US" altLang="zh-CN" sz="2000" dirty="0">
                <a:solidFill>
                  <a:schemeClr val="hlink"/>
                </a:solidFill>
              </a:rPr>
              <a:t>in2.readLine()</a:t>
            </a:r>
            <a:r>
              <a:rPr lang="en-US" altLang="zh-CN" sz="2000" dirty="0"/>
              <a:t>) != null) </a:t>
            </a:r>
            <a:r>
              <a:rPr lang="en-US" altLang="zh-CN" sz="2000" dirty="0" err="1"/>
              <a:t>System.out.println</a:t>
            </a:r>
            <a:r>
              <a:rPr lang="en-US" altLang="zh-CN" sz="2000" dirty="0"/>
              <a:t>(s); 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in2.close();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</a:t>
            </a:r>
            <a:r>
              <a:rPr lang="en-US" altLang="zh-CN" sz="2000" dirty="0" err="1"/>
              <a:t>System.out.println</a:t>
            </a:r>
            <a:r>
              <a:rPr lang="en-US" altLang="zh-CN" sz="2000" dirty="0"/>
              <a:t>("Writing decompression to newHello.txt");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</a:t>
            </a:r>
            <a:r>
              <a:rPr lang="en-US" altLang="zh-CN" sz="2000" dirty="0" err="1"/>
              <a:t>GZIPInputStream</a:t>
            </a:r>
            <a:r>
              <a:rPr lang="en-US" altLang="zh-CN" sz="2000" dirty="0">
                <a:solidFill>
                  <a:schemeClr val="tx2"/>
                </a:solidFill>
              </a:rPr>
              <a:t> in3</a:t>
            </a:r>
            <a:r>
              <a:rPr lang="en-US" altLang="zh-CN" sz="2000" dirty="0"/>
              <a:t>=new </a:t>
            </a:r>
            <a:r>
              <a:rPr lang="en-US" altLang="zh-CN" sz="2000" dirty="0" err="1"/>
              <a:t>GZIPInputStream</a:t>
            </a:r>
            <a:r>
              <a:rPr lang="en-US" altLang="zh-CN" sz="2000" dirty="0"/>
              <a:t>(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                                    new </a:t>
            </a:r>
            <a:r>
              <a:rPr lang="en-US" altLang="zh-CN" sz="2000" dirty="0" err="1"/>
              <a:t>FileInputStream</a:t>
            </a:r>
            <a:r>
              <a:rPr lang="en-US" altLang="zh-CN" sz="2000" dirty="0"/>
              <a:t>("test.gz"));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</a:t>
            </a:r>
            <a:r>
              <a:rPr lang="en-US" altLang="zh-CN" sz="2000" dirty="0" err="1"/>
              <a:t>FileOutputStream</a:t>
            </a:r>
            <a:r>
              <a:rPr lang="en-US" altLang="zh-CN" sz="2000" dirty="0"/>
              <a:t> out2=new </a:t>
            </a:r>
            <a:r>
              <a:rPr lang="en-US" altLang="zh-CN" sz="2000" dirty="0" err="1"/>
              <a:t>FileOutputStream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chemeClr val="tx2"/>
                </a:solidFill>
              </a:rPr>
              <a:t>"newHello.txt"</a:t>
            </a:r>
            <a:r>
              <a:rPr lang="en-US" altLang="zh-CN" sz="2000" dirty="0"/>
              <a:t>);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while((c=in3.read())!=-1) out2.write(c);  </a:t>
            </a:r>
            <a:endParaRPr lang="zh-CN" altLang="en-US" sz="2000" dirty="0"/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zh-CN" altLang="en-US" sz="2000" dirty="0"/>
              <a:t>     </a:t>
            </a:r>
            <a:r>
              <a:rPr lang="en-US" altLang="zh-CN" sz="2000" dirty="0"/>
              <a:t>in3.close();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out2.close(); 	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}</a:t>
            </a:r>
          </a:p>
          <a:p>
            <a:pPr eaLnBrk="1" hangingPunct="1"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}</a:t>
            </a:r>
            <a:endParaRPr lang="zh-CN" altLang="en-US" sz="2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4C0AD5-A3F4-8E4C-B798-588C845BFEF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3024034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简单的</a:t>
            </a:r>
            <a:r>
              <a:rPr lang="en-US" altLang="zh-CN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GZIP</a:t>
            </a: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压缩格式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61119C-A145-1771-5C64-389715509D1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341932240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1600201"/>
            <a:ext cx="10972800" cy="2980928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000"/>
              <a:t>运行结果</a:t>
            </a:r>
          </a:p>
          <a:p>
            <a:pPr lvl="1" eaLnBrk="1" hangingPunct="1"/>
            <a:r>
              <a:rPr lang="zh-CN" altLang="en-US" sz="2000"/>
              <a:t>首先生成了压缩文件“</a:t>
            </a:r>
            <a:r>
              <a:rPr lang="en-US" altLang="zh-CN" sz="2000"/>
              <a:t>test.gz”</a:t>
            </a:r>
          </a:p>
          <a:p>
            <a:pPr lvl="1" eaLnBrk="1" hangingPunct="1"/>
            <a:r>
              <a:rPr lang="zh-CN" altLang="en-US" sz="2000"/>
              <a:t>再读取显示其中的内容，和“</a:t>
            </a:r>
            <a:r>
              <a:rPr lang="en-US" altLang="zh-CN" sz="2000"/>
              <a:t>Hello.txt”</a:t>
            </a:r>
            <a:r>
              <a:rPr lang="zh-CN" altLang="en-US" sz="2000"/>
              <a:t>中的内容完全一样</a:t>
            </a:r>
          </a:p>
          <a:p>
            <a:pPr lvl="1" eaLnBrk="1" hangingPunct="1"/>
            <a:r>
              <a:rPr lang="zh-CN" altLang="en-US" sz="2000"/>
              <a:t>解压缩文件“</a:t>
            </a:r>
            <a:r>
              <a:rPr lang="en-US" altLang="zh-CN" sz="2000"/>
              <a:t>newHello.txt”，</a:t>
            </a:r>
            <a:r>
              <a:rPr lang="zh-CN" altLang="en-US" sz="2000"/>
              <a:t>和“</a:t>
            </a:r>
            <a:r>
              <a:rPr lang="en-US" altLang="zh-CN" sz="2000"/>
              <a:t>Hello.txt”</a:t>
            </a:r>
            <a:r>
              <a:rPr lang="zh-CN" altLang="en-US" sz="2000"/>
              <a:t>中的内容也完全相同</a:t>
            </a:r>
          </a:p>
          <a:p>
            <a:pPr eaLnBrk="1" hangingPunct="1"/>
            <a:r>
              <a:rPr lang="zh-CN" altLang="en-US" sz="2000"/>
              <a:t>说明</a:t>
            </a:r>
          </a:p>
          <a:p>
            <a:pPr lvl="1" eaLnBrk="1" hangingPunct="1"/>
            <a:r>
              <a:rPr lang="en-US" altLang="zh-CN" sz="2000"/>
              <a:t>read()</a:t>
            </a:r>
            <a:r>
              <a:rPr lang="zh-CN" altLang="en-US" sz="2000"/>
              <a:t>方法读取一个字节，转化为[0 ,255]的之间的一个整数，返回一个</a:t>
            </a:r>
            <a:r>
              <a:rPr lang="en-US" altLang="zh-CN" sz="2000"/>
              <a:t>int</a:t>
            </a:r>
            <a:r>
              <a:rPr lang="zh-CN" altLang="en-US" sz="2000"/>
              <a:t>。如果读到了文件末尾，则返回-1。</a:t>
            </a:r>
          </a:p>
          <a:p>
            <a:pPr lvl="1" eaLnBrk="1" hangingPunct="1"/>
            <a:r>
              <a:rPr lang="en-US" altLang="zh-CN" sz="2000"/>
              <a:t>write(int)</a:t>
            </a:r>
            <a:r>
              <a:rPr lang="zh-CN" altLang="en-US" sz="2000"/>
              <a:t>方法写一个</a:t>
            </a:r>
            <a:r>
              <a:rPr lang="en-US" altLang="zh-CN" sz="2000"/>
              <a:t>int</a:t>
            </a:r>
            <a:r>
              <a:rPr lang="zh-CN" altLang="en-US" sz="2000"/>
              <a:t>的低8位，忽略了高24位。</a:t>
            </a:r>
          </a:p>
          <a:p>
            <a:pPr eaLnBrk="1" hangingPunct="1"/>
            <a:endParaRPr lang="zh-CN" altLang="en-US" sz="20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0BEF28-F316-0F23-2360-17B15A6335F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3024034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简单的</a:t>
            </a:r>
            <a:r>
              <a:rPr lang="en-US" altLang="zh-CN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GZIP</a:t>
            </a: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压缩格式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1F59CAC-3DFC-B897-4FD9-0F34C85AD71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385212352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82121" y="1844824"/>
            <a:ext cx="11027758" cy="3744416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sz="2400" dirty="0"/>
              <a:t>Zip</a:t>
            </a:r>
            <a:r>
              <a:rPr lang="zh-CN" altLang="en-US" sz="2400" dirty="0"/>
              <a:t>文件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200" dirty="0"/>
              <a:t>可能含有多个文件，所以有多个入口（</a:t>
            </a:r>
            <a:r>
              <a:rPr lang="en-US" altLang="zh-CN" sz="2200" dirty="0"/>
              <a:t>Entry</a:t>
            </a:r>
            <a:r>
              <a:rPr lang="zh-CN" altLang="en-US" sz="2200" dirty="0"/>
              <a:t>）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200" dirty="0"/>
              <a:t>每个入口用一个</a:t>
            </a:r>
            <a:r>
              <a:rPr lang="en-US" altLang="zh-CN" sz="2200" dirty="0" err="1"/>
              <a:t>ZipEntity</a:t>
            </a:r>
            <a:r>
              <a:rPr lang="zh-CN" altLang="en-US" sz="2200" dirty="0"/>
              <a:t>对象表示，该对象的</a:t>
            </a:r>
            <a:r>
              <a:rPr lang="en-US" altLang="zh-CN" sz="2200" dirty="0" err="1"/>
              <a:t>getName</a:t>
            </a:r>
            <a:r>
              <a:rPr lang="en-US" altLang="zh-CN" sz="2200" dirty="0"/>
              <a:t>()</a:t>
            </a:r>
            <a:r>
              <a:rPr lang="zh-CN" altLang="en-US" sz="2200" dirty="0"/>
              <a:t>方法返回文件的最初名称</a:t>
            </a:r>
            <a:endParaRPr lang="en-US" altLang="zh-CN" sz="22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 err="1"/>
              <a:t>ZipOutputStream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200" dirty="0"/>
              <a:t>父类是</a:t>
            </a:r>
            <a:r>
              <a:rPr lang="en-US" altLang="zh-CN" sz="2200" dirty="0" err="1"/>
              <a:t>DeflaterOutputStream</a:t>
            </a:r>
            <a:endParaRPr lang="en-US" altLang="zh-CN" sz="22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200" dirty="0"/>
              <a:t>可以把数据压缩成</a:t>
            </a:r>
            <a:r>
              <a:rPr lang="en-US" altLang="zh-CN" sz="2200" dirty="0"/>
              <a:t>ZIP</a:t>
            </a:r>
            <a:r>
              <a:rPr lang="zh-CN" altLang="en-US" sz="2200" dirty="0"/>
              <a:t>格式</a:t>
            </a:r>
            <a:endParaRPr lang="en-US" altLang="zh-CN" sz="22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 err="1"/>
              <a:t>ZipInputStream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200" dirty="0"/>
              <a:t>父类是</a:t>
            </a:r>
            <a:r>
              <a:rPr lang="en-US" altLang="zh-CN" sz="2200" dirty="0" err="1"/>
              <a:t>InflaterInputStream</a:t>
            </a:r>
            <a:endParaRPr lang="en-US" altLang="zh-CN" sz="22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200" dirty="0"/>
              <a:t>可以把压缩成</a:t>
            </a:r>
            <a:r>
              <a:rPr lang="en-US" altLang="zh-CN" sz="2200" dirty="0"/>
              <a:t>ZIP</a:t>
            </a:r>
            <a:r>
              <a:rPr lang="zh-CN" altLang="en-US" sz="2200" dirty="0"/>
              <a:t>格式的数据解压缩</a:t>
            </a:r>
            <a:endParaRPr lang="en-US" altLang="zh-CN" sz="22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CC83F7B-1AE9-4F2B-2BE5-1D0DF565581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360009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Zip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文件压缩与解压缩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924AD434-366F-4AFD-0604-D94DD930582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1697970586"/>
      </p:ext>
    </p:extLst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51384" y="1700808"/>
            <a:ext cx="11233248" cy="4525963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lnSpc>
                <a:spcPct val="120000"/>
              </a:lnSpc>
              <a:buNone/>
            </a:pPr>
            <a:r>
              <a:rPr lang="zh-CN" altLang="en-US" sz="2000" dirty="0"/>
              <a:t> 从命令行输入若干个文件名，将所有文件压缩为“</a:t>
            </a:r>
            <a:r>
              <a:rPr lang="en-US" altLang="zh-CN" sz="2000" dirty="0"/>
              <a:t>c:/test.zip”，</a:t>
            </a:r>
            <a:r>
              <a:rPr lang="zh-CN" altLang="en-US" sz="2000" dirty="0"/>
              <a:t>再从此压缩文件中解压并显示</a:t>
            </a:r>
          </a:p>
          <a:p>
            <a:pPr lvl="1" eaLnBrk="1" hangingPunct="1">
              <a:lnSpc>
                <a:spcPct val="12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import java.io.*;</a:t>
            </a:r>
          </a:p>
          <a:p>
            <a:pPr lvl="1" eaLnBrk="1" hangingPunct="1">
              <a:lnSpc>
                <a:spcPct val="12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import </a:t>
            </a:r>
            <a:r>
              <a:rPr lang="en-US" altLang="zh-CN" sz="2000" dirty="0" err="1"/>
              <a:t>java.util</a:t>
            </a:r>
            <a:r>
              <a:rPr lang="en-US" altLang="zh-CN" sz="2000" dirty="0"/>
              <a:t>.*;</a:t>
            </a:r>
          </a:p>
          <a:p>
            <a:pPr lvl="1" eaLnBrk="1" hangingPunct="1">
              <a:lnSpc>
                <a:spcPct val="12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import java.util.zip.*;</a:t>
            </a:r>
          </a:p>
          <a:p>
            <a:pPr lvl="1" eaLnBrk="1" hangingPunct="1">
              <a:lnSpc>
                <a:spcPct val="12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public class </a:t>
            </a:r>
            <a:r>
              <a:rPr lang="en-US" altLang="zh-CN" sz="2000" dirty="0" err="1"/>
              <a:t>ZipOutputStreamTester</a:t>
            </a:r>
            <a:r>
              <a:rPr lang="en-US" altLang="zh-CN" sz="2000" dirty="0"/>
              <a:t> {</a:t>
            </a:r>
          </a:p>
          <a:p>
            <a:pPr lvl="1" eaLnBrk="1" hangingPunct="1">
              <a:lnSpc>
                <a:spcPct val="12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</a:t>
            </a:r>
            <a:r>
              <a:rPr lang="zh-CN" altLang="en-US" sz="2000" dirty="0"/>
              <a:t> </a:t>
            </a:r>
            <a:r>
              <a:rPr lang="en-US" altLang="zh-CN" sz="2000" dirty="0"/>
              <a:t>public static void main(String[] 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) throws </a:t>
            </a:r>
            <a:r>
              <a:rPr lang="en-US" altLang="zh-CN" sz="2000" dirty="0" err="1"/>
              <a:t>IOException</a:t>
            </a:r>
            <a:r>
              <a:rPr lang="en-US" altLang="zh-CN" sz="2000" dirty="0"/>
              <a:t> {</a:t>
            </a:r>
          </a:p>
          <a:p>
            <a:pPr lvl="1" eaLnBrk="1" hangingPunct="1">
              <a:lnSpc>
                <a:spcPct val="12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</a:t>
            </a:r>
            <a:r>
              <a:rPr lang="en-US" altLang="zh-CN" sz="2000" dirty="0" err="1"/>
              <a:t>ZipOutputStream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chemeClr val="tx2"/>
                </a:solidFill>
              </a:rPr>
              <a:t>out</a:t>
            </a:r>
            <a:r>
              <a:rPr lang="en-US" altLang="zh-CN" sz="2000" dirty="0"/>
              <a:t>=new </a:t>
            </a:r>
            <a:r>
              <a:rPr lang="en-US" altLang="zh-CN" sz="2000" dirty="0" err="1">
                <a:solidFill>
                  <a:schemeClr val="hlink"/>
                </a:solidFill>
              </a:rPr>
              <a:t>ZipOutputStream</a:t>
            </a:r>
            <a:r>
              <a:rPr lang="en-US" altLang="zh-CN" sz="2000" dirty="0"/>
              <a:t>(</a:t>
            </a:r>
          </a:p>
          <a:p>
            <a:pPr lvl="1" eaLnBrk="1" hangingPunct="1">
              <a:lnSpc>
                <a:spcPct val="12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                                 new </a:t>
            </a:r>
            <a:r>
              <a:rPr lang="en-US" altLang="zh-CN" sz="2000" dirty="0" err="1">
                <a:solidFill>
                  <a:schemeClr val="hlink"/>
                </a:solidFill>
              </a:rPr>
              <a:t>BufferedOutputStream</a:t>
            </a:r>
            <a:r>
              <a:rPr lang="en-US" altLang="zh-CN" sz="2000" dirty="0"/>
              <a:t>(</a:t>
            </a:r>
          </a:p>
          <a:p>
            <a:pPr lvl="1" eaLnBrk="1" hangingPunct="1">
              <a:lnSpc>
                <a:spcPct val="12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                                     new </a:t>
            </a:r>
            <a:r>
              <a:rPr lang="en-US" altLang="zh-CN" sz="2000" dirty="0" err="1">
                <a:solidFill>
                  <a:schemeClr val="hlink"/>
                </a:solidFill>
              </a:rPr>
              <a:t>FileOutputStream</a:t>
            </a:r>
            <a:r>
              <a:rPr lang="en-US" altLang="zh-CN" sz="2000" dirty="0"/>
              <a:t>("test.zip")));   </a:t>
            </a:r>
            <a:endParaRPr lang="zh-CN" altLang="en-US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405CC78-AF38-18FD-97DD-24AB45ACB8C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360009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Zip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文件压缩与解压缩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ED3110-2F6C-CFEB-2439-4B205938561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120407102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1700808"/>
            <a:ext cx="10972800" cy="4525963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1800" dirty="0"/>
              <a:t>    </a:t>
            </a:r>
            <a:r>
              <a:rPr lang="en-US" altLang="zh-CN" sz="2400" dirty="0"/>
              <a:t>for(int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= 0;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&lt; </a:t>
            </a:r>
            <a:r>
              <a:rPr lang="en-US" altLang="zh-CN" sz="2400" dirty="0" err="1"/>
              <a:t>args.length</a:t>
            </a:r>
            <a:r>
              <a:rPr lang="en-US" altLang="zh-CN" sz="2400" dirty="0"/>
              <a:t>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++) </a:t>
            </a:r>
            <a:r>
              <a:rPr lang="zh-CN" altLang="en-US" sz="2400" dirty="0"/>
              <a:t>{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zh-CN" altLang="en-US" sz="2400" dirty="0"/>
              <a:t>       </a:t>
            </a:r>
            <a:r>
              <a:rPr lang="en-US" altLang="zh-CN" sz="2400" dirty="0" err="1"/>
              <a:t>System.out.println</a:t>
            </a:r>
            <a:r>
              <a:rPr lang="en-US" altLang="zh-CN" sz="2400" dirty="0"/>
              <a:t>("Writing file " + </a:t>
            </a:r>
            <a:r>
              <a:rPr lang="en-US" altLang="zh-CN" sz="2400" dirty="0" err="1"/>
              <a:t>args</a:t>
            </a:r>
            <a:r>
              <a:rPr lang="en-US" altLang="zh-CN" sz="2400" dirty="0"/>
              <a:t>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]);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400" dirty="0"/>
              <a:t>       </a:t>
            </a:r>
            <a:r>
              <a:rPr lang="en-US" altLang="zh-CN" sz="2400" dirty="0" err="1"/>
              <a:t>BufferedInputStream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chemeClr val="tx2"/>
                </a:solidFill>
              </a:rPr>
              <a:t>in</a:t>
            </a:r>
            <a:r>
              <a:rPr lang="en-US" altLang="zh-CN" sz="2400" dirty="0"/>
              <a:t> =new </a:t>
            </a:r>
            <a:r>
              <a:rPr lang="en-US" altLang="zh-CN" sz="2400" dirty="0" err="1">
                <a:solidFill>
                  <a:schemeClr val="hlink"/>
                </a:solidFill>
              </a:rPr>
              <a:t>BufferedInputStream</a:t>
            </a:r>
            <a:r>
              <a:rPr lang="en-US" altLang="zh-CN" sz="2400" dirty="0"/>
              <a:t>(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400" dirty="0"/>
              <a:t>                                             new</a:t>
            </a:r>
            <a:r>
              <a:rPr lang="en-US" altLang="zh-CN" sz="2400" dirty="0">
                <a:solidFill>
                  <a:srgbClr val="00FF00"/>
                </a:solidFill>
              </a:rPr>
              <a:t> </a:t>
            </a:r>
            <a:r>
              <a:rPr lang="en-US" altLang="zh-CN" sz="2400" dirty="0" err="1">
                <a:solidFill>
                  <a:schemeClr val="hlink"/>
                </a:solidFill>
              </a:rPr>
              <a:t>FileInputStream</a:t>
            </a:r>
            <a:r>
              <a:rPr lang="en-US" altLang="zh-CN" sz="2400" dirty="0"/>
              <a:t>(</a:t>
            </a:r>
            <a:r>
              <a:rPr lang="en-US" altLang="zh-CN" sz="2400" dirty="0" err="1"/>
              <a:t>args</a:t>
            </a:r>
            <a:r>
              <a:rPr lang="en-US" altLang="zh-CN" sz="2400" dirty="0"/>
              <a:t>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]));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400" dirty="0"/>
              <a:t>       </a:t>
            </a:r>
            <a:r>
              <a:rPr lang="en-US" altLang="zh-CN" sz="2400" dirty="0" err="1">
                <a:solidFill>
                  <a:schemeClr val="tx2"/>
                </a:solidFill>
              </a:rPr>
              <a:t>out.putNextEntry</a:t>
            </a:r>
            <a:r>
              <a:rPr lang="en-US" altLang="zh-CN" sz="2400" dirty="0"/>
              <a:t>(new </a:t>
            </a:r>
            <a:r>
              <a:rPr lang="en-US" altLang="zh-CN" sz="2400" dirty="0" err="1"/>
              <a:t>ZipEntry</a:t>
            </a:r>
            <a:r>
              <a:rPr lang="en-US" altLang="zh-CN" sz="2400" dirty="0"/>
              <a:t>(</a:t>
            </a:r>
            <a:r>
              <a:rPr lang="en-US" altLang="zh-CN" sz="2400" dirty="0" err="1"/>
              <a:t>args</a:t>
            </a:r>
            <a:r>
              <a:rPr lang="en-US" altLang="zh-CN" sz="2400" dirty="0"/>
              <a:t>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])); 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400" dirty="0"/>
              <a:t>       int c;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400" dirty="0"/>
              <a:t>       while((c = </a:t>
            </a:r>
            <a:r>
              <a:rPr lang="en-US" altLang="zh-CN" sz="2400" dirty="0" err="1">
                <a:solidFill>
                  <a:schemeClr val="tx2"/>
                </a:solidFill>
              </a:rPr>
              <a:t>in.read</a:t>
            </a:r>
            <a:r>
              <a:rPr lang="en-US" altLang="zh-CN" sz="2400" dirty="0">
                <a:solidFill>
                  <a:schemeClr val="tx2"/>
                </a:solidFill>
              </a:rPr>
              <a:t>()</a:t>
            </a:r>
            <a:r>
              <a:rPr lang="en-US" altLang="zh-CN" sz="2400" dirty="0"/>
              <a:t>) != -1)  </a:t>
            </a:r>
            <a:r>
              <a:rPr lang="en-US" altLang="zh-CN" sz="2400" dirty="0" err="1">
                <a:solidFill>
                  <a:schemeClr val="tx2"/>
                </a:solidFill>
              </a:rPr>
              <a:t>out.write</a:t>
            </a:r>
            <a:r>
              <a:rPr lang="en-US" altLang="zh-CN" sz="2400" dirty="0">
                <a:solidFill>
                  <a:schemeClr val="tx2"/>
                </a:solidFill>
              </a:rPr>
              <a:t>(c)</a:t>
            </a:r>
            <a:r>
              <a:rPr lang="en-US" altLang="zh-CN" sz="2400" dirty="0"/>
              <a:t>; 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400" dirty="0"/>
              <a:t>       </a:t>
            </a:r>
            <a:r>
              <a:rPr lang="en-US" altLang="zh-CN" sz="2400" dirty="0" err="1"/>
              <a:t>in.close</a:t>
            </a:r>
            <a:r>
              <a:rPr lang="en-US" altLang="zh-CN" sz="2400" dirty="0"/>
              <a:t>();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400" dirty="0"/>
              <a:t>    }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out.close</a:t>
            </a:r>
            <a:r>
              <a:rPr lang="en-US" altLang="zh-CN" sz="2400" dirty="0"/>
              <a:t>(); </a:t>
            </a:r>
            <a:endParaRPr lang="zh-CN" altLang="en-US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7F05B5B-6CE9-1DFB-14B7-AE187A3F33A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360009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Zip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文件压缩与解压缩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020097-BEC2-BDAE-904E-79EF3BE3C1C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319523865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1600200"/>
            <a:ext cx="10972800" cy="4525963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1800"/>
              <a:t>    System.out.println("Reading file");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1800"/>
              <a:t>    ZipInputStream</a:t>
            </a:r>
            <a:r>
              <a:rPr lang="en-US" altLang="zh-CN" sz="1800">
                <a:solidFill>
                  <a:schemeClr val="tx2"/>
                </a:solidFill>
              </a:rPr>
              <a:t> in2</a:t>
            </a:r>
            <a:r>
              <a:rPr lang="en-US" altLang="zh-CN" sz="1800"/>
              <a:t> =new</a:t>
            </a:r>
            <a:r>
              <a:rPr lang="en-US" altLang="zh-CN" sz="1800">
                <a:solidFill>
                  <a:srgbClr val="00FF00"/>
                </a:solidFill>
              </a:rPr>
              <a:t> </a:t>
            </a:r>
            <a:r>
              <a:rPr lang="en-US" altLang="zh-CN" sz="1800">
                <a:solidFill>
                  <a:schemeClr val="hlink"/>
                </a:solidFill>
              </a:rPr>
              <a:t>ZipInputStream</a:t>
            </a:r>
            <a:r>
              <a:rPr lang="en-US" altLang="zh-CN" sz="1800"/>
              <a:t>(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1800"/>
              <a:t>                                      new </a:t>
            </a:r>
            <a:r>
              <a:rPr lang="en-US" altLang="zh-CN" sz="1800">
                <a:solidFill>
                  <a:schemeClr val="hlink"/>
                </a:solidFill>
              </a:rPr>
              <a:t>BufferedInputStream</a:t>
            </a:r>
            <a:r>
              <a:rPr lang="en-US" altLang="zh-CN" sz="1800"/>
              <a:t>(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1800"/>
              <a:t>                                       new </a:t>
            </a:r>
            <a:r>
              <a:rPr lang="en-US" altLang="zh-CN" sz="1800">
                <a:solidFill>
                  <a:schemeClr val="hlink"/>
                </a:solidFill>
              </a:rPr>
              <a:t>FileInputStream</a:t>
            </a:r>
            <a:r>
              <a:rPr lang="en-US" altLang="zh-CN" sz="1800"/>
              <a:t>("test.zip"))); 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1800"/>
              <a:t>    ZipEntry ze;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1800"/>
              <a:t>    while((ze = in2.getNextEntry()) != null)</a:t>
            </a:r>
            <a:r>
              <a:rPr lang="zh-CN" altLang="en-US" sz="1800"/>
              <a:t> {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zh-CN" altLang="en-US" sz="1800"/>
              <a:t>       </a:t>
            </a:r>
            <a:r>
              <a:rPr lang="en-US" altLang="zh-CN" sz="1800"/>
              <a:t>System.out.println("Reading file " + ze.getName());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zh-CN" altLang="en-US" sz="1800"/>
              <a:t>       </a:t>
            </a:r>
            <a:r>
              <a:rPr lang="en-US" altLang="zh-CN" sz="1800"/>
              <a:t>int x;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1800"/>
              <a:t>       while((x = in2.read()) != -1)  System.out.write(x); </a:t>
            </a:r>
            <a:endParaRPr lang="zh-CN" altLang="en-US" sz="1800"/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zh-CN" altLang="en-US" sz="1800"/>
              <a:t>       </a:t>
            </a:r>
            <a:r>
              <a:rPr lang="en-US" altLang="zh-CN" sz="1800"/>
              <a:t>System.out.println();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1800"/>
              <a:t>    }    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1800"/>
              <a:t>    in2.close();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1800"/>
              <a:t>  }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1800"/>
              <a:t>}</a:t>
            </a:r>
          </a:p>
          <a:p>
            <a:pPr eaLnBrk="1" hangingPunct="1">
              <a:lnSpc>
                <a:spcPct val="90000"/>
              </a:lnSpc>
            </a:pPr>
            <a:endParaRPr lang="zh-CN" altLang="en-US" sz="24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B3C0C5B-79C2-8729-C224-0AF4F1C677F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360009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Zip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文件压缩与解压缩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89C0ED-7F21-02D0-0140-A0191706C11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68889148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1600200"/>
            <a:ext cx="10972800" cy="4525963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800"/>
              <a:t>运行结果</a:t>
            </a:r>
          </a:p>
          <a:p>
            <a:pPr lvl="1" eaLnBrk="1" hangingPunct="1"/>
            <a:r>
              <a:rPr lang="zh-CN" altLang="en-US" sz="2400"/>
              <a:t>在命令行输入两个文本文件名后，将生成</a:t>
            </a:r>
            <a:r>
              <a:rPr lang="en-US" altLang="zh-CN" sz="2400"/>
              <a:t>c:/test.zip</a:t>
            </a:r>
            <a:r>
              <a:rPr lang="zh-CN" altLang="en-US" sz="2400"/>
              <a:t>文件 </a:t>
            </a:r>
          </a:p>
          <a:p>
            <a:pPr lvl="1" eaLnBrk="1" hangingPunct="1"/>
            <a:r>
              <a:rPr lang="zh-CN" altLang="en-US" sz="2400"/>
              <a:t>在屏幕上显示出解压后每个文件的内容</a:t>
            </a:r>
          </a:p>
          <a:p>
            <a:pPr lvl="1" eaLnBrk="1" hangingPunct="1"/>
            <a:r>
              <a:rPr lang="zh-CN" altLang="en-US" sz="2400"/>
              <a:t>在资源管理器窗口中，使用</a:t>
            </a:r>
            <a:r>
              <a:rPr lang="en-US" altLang="zh-CN" sz="2400"/>
              <a:t>winzip</a:t>
            </a:r>
            <a:r>
              <a:rPr lang="zh-CN" altLang="en-US" sz="2400"/>
              <a:t>软件可解压缩该文件，恢复出和原来文件相同的两个文本文件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1CD99E-0BBE-C93F-5FB3-B8BDA2D9788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360009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Zip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文件压缩与解压缩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2B405C-FFB9-59E3-9D25-4518987B479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159013834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199456" y="1628800"/>
            <a:ext cx="8366720" cy="4928881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2000" dirty="0"/>
              <a:t>import </a:t>
            </a:r>
            <a:r>
              <a:rPr lang="en-US" altLang="zh-CN" sz="2000" dirty="0" err="1"/>
              <a:t>java.util</a:t>
            </a:r>
            <a:r>
              <a:rPr lang="en-US" altLang="zh-CN" sz="2000" dirty="0"/>
              <a:t>.*;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2000" dirty="0"/>
              <a:t>import java.util.zip.*;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2000" dirty="0"/>
              <a:t>import </a:t>
            </a:r>
            <a:r>
              <a:rPr lang="en-US" altLang="zh-CN" sz="2000" dirty="0" err="1"/>
              <a:t>java.lang</a:t>
            </a:r>
            <a:r>
              <a:rPr lang="en-US" altLang="zh-CN" sz="2000" dirty="0"/>
              <a:t>.*;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2000" dirty="0"/>
              <a:t>import java.io.*;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2000" dirty="0"/>
              <a:t>class Unzip {   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2000" dirty="0"/>
              <a:t>   byte doc[]=null;   //</a:t>
            </a:r>
            <a:r>
              <a:rPr lang="zh-CN" altLang="en-US" sz="2000" dirty="0"/>
              <a:t>存储解压缩数据的缓冲字节数组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zh-CN" altLang="en-US" sz="2000" dirty="0"/>
              <a:t>   </a:t>
            </a:r>
            <a:r>
              <a:rPr lang="en-US" altLang="zh-CN" sz="2000" dirty="0"/>
              <a:t>String Filename=null;  //</a:t>
            </a:r>
            <a:r>
              <a:rPr lang="zh-CN" altLang="en-US" sz="2000" dirty="0"/>
              <a:t>压缩文件名字符串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zh-CN" altLang="en-US" sz="2000" dirty="0"/>
              <a:t>   </a:t>
            </a:r>
            <a:r>
              <a:rPr lang="en-US" altLang="zh-CN" sz="2000" dirty="0"/>
              <a:t>String </a:t>
            </a:r>
            <a:r>
              <a:rPr lang="en-US" altLang="zh-CN" sz="2000" dirty="0" err="1"/>
              <a:t>UnZipPath</a:t>
            </a:r>
            <a:r>
              <a:rPr lang="en-US" altLang="zh-CN" sz="2000" dirty="0"/>
              <a:t>=null; //</a:t>
            </a:r>
            <a:r>
              <a:rPr lang="zh-CN" altLang="en-US" sz="2000" dirty="0"/>
              <a:t>解压缩路径字符串 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2000" dirty="0"/>
              <a:t>   </a:t>
            </a:r>
            <a:r>
              <a:rPr lang="en-US" altLang="zh-CN" sz="2000" dirty="0">
                <a:solidFill>
                  <a:schemeClr val="hlink"/>
                </a:solidFill>
              </a:rPr>
              <a:t>public Unzip(String </a:t>
            </a:r>
            <a:r>
              <a:rPr lang="en-US" altLang="zh-CN" sz="2000" dirty="0" err="1">
                <a:solidFill>
                  <a:schemeClr val="hlink"/>
                </a:solidFill>
              </a:rPr>
              <a:t>filename,String</a:t>
            </a:r>
            <a:r>
              <a:rPr lang="en-US" altLang="zh-CN" sz="2000" dirty="0">
                <a:solidFill>
                  <a:schemeClr val="hlink"/>
                </a:solidFill>
              </a:rPr>
              <a:t> </a:t>
            </a:r>
            <a:r>
              <a:rPr lang="en-US" altLang="zh-CN" sz="2000" dirty="0" err="1">
                <a:solidFill>
                  <a:schemeClr val="hlink"/>
                </a:solidFill>
              </a:rPr>
              <a:t>unZipPath</a:t>
            </a:r>
            <a:r>
              <a:rPr lang="en-US" altLang="zh-CN" sz="2000" dirty="0">
                <a:solidFill>
                  <a:schemeClr val="hlink"/>
                </a:solidFill>
              </a:rPr>
              <a:t>)</a:t>
            </a:r>
            <a:r>
              <a:rPr lang="en-US" altLang="zh-CN" sz="2000" dirty="0"/>
              <a:t> 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2000" dirty="0"/>
              <a:t>     </a:t>
            </a:r>
            <a:r>
              <a:rPr lang="en-US" altLang="zh-CN" sz="2000" dirty="0" err="1"/>
              <a:t>this.Filename</a:t>
            </a:r>
            <a:r>
              <a:rPr lang="en-US" altLang="zh-CN" sz="2000" dirty="0"/>
              <a:t>=filename;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2000" dirty="0"/>
              <a:t>     </a:t>
            </a:r>
            <a:r>
              <a:rPr lang="en-US" altLang="zh-CN" sz="2000" dirty="0" err="1"/>
              <a:t>this.UnZipPath</a:t>
            </a:r>
            <a:r>
              <a:rPr lang="en-US" altLang="zh-CN" sz="2000" dirty="0"/>
              <a:t>=</a:t>
            </a:r>
            <a:r>
              <a:rPr lang="en-US" altLang="zh-CN" sz="2000" dirty="0" err="1"/>
              <a:t>unZipPath</a:t>
            </a:r>
            <a:r>
              <a:rPr lang="en-US" altLang="zh-CN" sz="2000" dirty="0"/>
              <a:t>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2000" dirty="0"/>
              <a:t>     </a:t>
            </a:r>
            <a:r>
              <a:rPr lang="en-US" altLang="zh-CN" sz="2000" dirty="0" err="1"/>
              <a:t>this.setUnZipPath</a:t>
            </a:r>
            <a:r>
              <a:rPr lang="en-US" altLang="zh-CN" sz="2000" dirty="0"/>
              <a:t> (</a:t>
            </a:r>
            <a:r>
              <a:rPr lang="en-US" altLang="zh-CN" sz="2000" dirty="0" err="1"/>
              <a:t>this.UnZipPath</a:t>
            </a:r>
            <a:r>
              <a:rPr lang="en-US" altLang="zh-CN" sz="2000" dirty="0"/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2000" dirty="0"/>
              <a:t>   }  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2000" dirty="0"/>
              <a:t>   </a:t>
            </a:r>
            <a:r>
              <a:rPr lang="en-US" altLang="zh-CN" sz="2000" dirty="0">
                <a:solidFill>
                  <a:schemeClr val="hlink"/>
                </a:solidFill>
              </a:rPr>
              <a:t>public Unzip(String filename)</a:t>
            </a:r>
            <a:r>
              <a:rPr lang="en-US" altLang="zh-CN" sz="2000" dirty="0"/>
              <a:t> </a:t>
            </a:r>
            <a:r>
              <a:rPr lang="zh-CN" altLang="en-US" sz="2000" dirty="0"/>
              <a:t>{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zh-CN" altLang="en-US" sz="2000" dirty="0"/>
              <a:t>     </a:t>
            </a:r>
            <a:r>
              <a:rPr lang="en-US" altLang="zh-CN" sz="2000" dirty="0" err="1"/>
              <a:t>this.Filename</a:t>
            </a:r>
            <a:r>
              <a:rPr lang="en-US" altLang="zh-CN" sz="2000" dirty="0"/>
              <a:t>=new String(filename);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2000" dirty="0"/>
              <a:t>     </a:t>
            </a:r>
            <a:r>
              <a:rPr lang="en-US" altLang="zh-CN" sz="2000" dirty="0" err="1"/>
              <a:t>this.UnZipPath</a:t>
            </a:r>
            <a:r>
              <a:rPr lang="en-US" altLang="zh-CN" sz="2000" dirty="0"/>
              <a:t>=null;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2000" dirty="0"/>
              <a:t>     </a:t>
            </a:r>
            <a:r>
              <a:rPr lang="en-US" altLang="zh-CN" sz="2000" dirty="0" err="1"/>
              <a:t>this.setUnZipPath</a:t>
            </a:r>
            <a:r>
              <a:rPr lang="en-US" altLang="zh-CN" sz="2000" dirty="0"/>
              <a:t> (</a:t>
            </a:r>
            <a:r>
              <a:rPr lang="en-US" altLang="zh-CN" sz="2000" dirty="0" err="1"/>
              <a:t>this.UnZipPath</a:t>
            </a:r>
            <a:r>
              <a:rPr lang="en-US" altLang="zh-CN" sz="2000" dirty="0"/>
              <a:t>);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2000" dirty="0"/>
              <a:t>   }</a:t>
            </a:r>
            <a:endParaRPr lang="zh-CN" altLang="en-US" sz="2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E275AC-7FD2-66F6-1D87-2C50A0EE2AF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360009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Zip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文件压缩与解压缩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B85871-3ED3-F4D9-F565-423BDA54255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5.3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380354476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15616" y="1628800"/>
            <a:ext cx="10972800" cy="4712857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800" dirty="0"/>
              <a:t>  </a:t>
            </a:r>
            <a:r>
              <a:rPr lang="en-US" altLang="zh-CN" sz="2000" dirty="0">
                <a:solidFill>
                  <a:schemeClr val="hlink"/>
                </a:solidFill>
              </a:rPr>
              <a:t>private void </a:t>
            </a:r>
            <a:r>
              <a:rPr lang="en-US" altLang="zh-CN" sz="2000" dirty="0" err="1">
                <a:solidFill>
                  <a:schemeClr val="hlink"/>
                </a:solidFill>
              </a:rPr>
              <a:t>setUnZipPath</a:t>
            </a:r>
            <a:r>
              <a:rPr lang="en-US" altLang="zh-CN" sz="2000" dirty="0">
                <a:solidFill>
                  <a:schemeClr val="hlink"/>
                </a:solidFill>
              </a:rPr>
              <a:t>(String </a:t>
            </a:r>
            <a:r>
              <a:rPr lang="en-US" altLang="zh-CN" sz="2000" dirty="0" err="1">
                <a:solidFill>
                  <a:schemeClr val="hlink"/>
                </a:solidFill>
              </a:rPr>
              <a:t>unZipPath</a:t>
            </a:r>
            <a:r>
              <a:rPr lang="en-US" altLang="zh-CN" sz="2000" dirty="0">
                <a:solidFill>
                  <a:schemeClr val="hlink"/>
                </a:solidFill>
              </a:rPr>
              <a:t>)</a:t>
            </a:r>
            <a:r>
              <a:rPr lang="en-US" altLang="zh-CN" sz="2000" dirty="0"/>
              <a:t> </a:t>
            </a:r>
            <a:r>
              <a:rPr lang="zh-CN" altLang="en-US" sz="2000" dirty="0"/>
              <a:t>{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2000" dirty="0"/>
              <a:t>     </a:t>
            </a:r>
            <a:r>
              <a:rPr lang="en-US" altLang="zh-CN" sz="2000" dirty="0"/>
              <a:t>if(</a:t>
            </a:r>
            <a:r>
              <a:rPr lang="en-US" altLang="zh-CN" sz="2000" dirty="0" err="1"/>
              <a:t>unZipPath.endsWith</a:t>
            </a:r>
            <a:r>
              <a:rPr lang="en-US" altLang="zh-CN" sz="2000" dirty="0"/>
              <a:t>("\\"))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   </a:t>
            </a:r>
            <a:r>
              <a:rPr lang="en-US" altLang="zh-CN" sz="2000" dirty="0" err="1"/>
              <a:t>this.UnZipPath</a:t>
            </a:r>
            <a:r>
              <a:rPr lang="en-US" altLang="zh-CN" sz="2000" dirty="0"/>
              <a:t>=new String(</a:t>
            </a:r>
            <a:r>
              <a:rPr lang="en-US" altLang="zh-CN" sz="2000" dirty="0" err="1"/>
              <a:t>unZipPath</a:t>
            </a:r>
            <a:r>
              <a:rPr lang="en-US" altLang="zh-CN" sz="2000" dirty="0"/>
              <a:t>);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 else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   </a:t>
            </a:r>
            <a:r>
              <a:rPr lang="en-US" altLang="zh-CN" sz="2000" dirty="0" err="1"/>
              <a:t>this.UnZipPath</a:t>
            </a:r>
            <a:r>
              <a:rPr lang="en-US" altLang="zh-CN" sz="2000" dirty="0"/>
              <a:t>=new String(</a:t>
            </a:r>
            <a:r>
              <a:rPr lang="en-US" altLang="zh-CN" sz="2000" dirty="0" err="1"/>
              <a:t>unZipPath</a:t>
            </a:r>
            <a:r>
              <a:rPr lang="en-US" altLang="zh-CN" sz="2000" dirty="0"/>
              <a:t>+"\\");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}   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</a:t>
            </a:r>
            <a:r>
              <a:rPr lang="en-US" altLang="zh-CN" sz="2000" dirty="0">
                <a:solidFill>
                  <a:schemeClr val="hlink"/>
                </a:solidFill>
              </a:rPr>
              <a:t>public void </a:t>
            </a:r>
            <a:r>
              <a:rPr lang="en-US" altLang="zh-CN" sz="2000" dirty="0" err="1">
                <a:solidFill>
                  <a:schemeClr val="hlink"/>
                </a:solidFill>
              </a:rPr>
              <a:t>doUnZip</a:t>
            </a:r>
            <a:r>
              <a:rPr lang="en-US" altLang="zh-CN" sz="2000" dirty="0">
                <a:solidFill>
                  <a:schemeClr val="hlink"/>
                </a:solidFill>
              </a:rPr>
              <a:t>()</a:t>
            </a:r>
            <a:r>
              <a:rPr lang="en-US" altLang="zh-CN" sz="2000" dirty="0"/>
              <a:t> </a:t>
            </a:r>
            <a:r>
              <a:rPr lang="zh-CN" altLang="en-US" sz="2000" dirty="0"/>
              <a:t>{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2000" dirty="0"/>
              <a:t>     </a:t>
            </a:r>
            <a:r>
              <a:rPr lang="en-US" altLang="zh-CN" sz="2000" dirty="0"/>
              <a:t>try {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         </a:t>
            </a:r>
            <a:r>
              <a:rPr lang="en-US" altLang="zh-CN" sz="2000" dirty="0" err="1"/>
              <a:t>ZipInputStream</a:t>
            </a:r>
            <a:r>
              <a:rPr lang="en-US" altLang="zh-CN" sz="2000" dirty="0">
                <a:solidFill>
                  <a:schemeClr val="tx2"/>
                </a:solidFill>
              </a:rPr>
              <a:t> </a:t>
            </a:r>
            <a:r>
              <a:rPr lang="en-US" altLang="zh-CN" sz="2000" dirty="0" err="1">
                <a:solidFill>
                  <a:schemeClr val="accent1"/>
                </a:solidFill>
              </a:rPr>
              <a:t>zipis</a:t>
            </a:r>
            <a:r>
              <a:rPr lang="en-US" altLang="zh-CN" sz="2000" dirty="0"/>
              <a:t>=new </a:t>
            </a:r>
            <a:r>
              <a:rPr lang="en-US" altLang="zh-CN" sz="2000" dirty="0" err="1"/>
              <a:t>ZipInputStream</a:t>
            </a:r>
            <a:r>
              <a:rPr lang="en-US" altLang="zh-CN" sz="2000" dirty="0"/>
              <a:t>(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                                      new </a:t>
            </a:r>
            <a:r>
              <a:rPr lang="en-US" altLang="zh-CN" sz="2000" dirty="0" err="1"/>
              <a:t>FileInputStream</a:t>
            </a:r>
            <a:r>
              <a:rPr lang="en-US" altLang="zh-CN" sz="2000" dirty="0"/>
              <a:t>(Filename));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         </a:t>
            </a:r>
            <a:r>
              <a:rPr lang="en-US" altLang="zh-CN" sz="2000" dirty="0" err="1"/>
              <a:t>ZipEntry</a:t>
            </a:r>
            <a:r>
              <a:rPr lang="en-US" altLang="zh-CN" sz="2000" dirty="0"/>
              <a:t> </a:t>
            </a:r>
            <a:r>
              <a:rPr lang="en-US" altLang="zh-CN" sz="2000" dirty="0" err="1"/>
              <a:t>fEntry</a:t>
            </a:r>
            <a:r>
              <a:rPr lang="en-US" altLang="zh-CN" sz="2000" dirty="0"/>
              <a:t>=null;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        while((</a:t>
            </a:r>
            <a:r>
              <a:rPr lang="en-US" altLang="zh-CN" sz="2000" dirty="0" err="1"/>
              <a:t>fEntry</a:t>
            </a:r>
            <a:r>
              <a:rPr lang="en-US" altLang="zh-CN" sz="2000" dirty="0"/>
              <a:t>=</a:t>
            </a:r>
            <a:r>
              <a:rPr lang="en-US" altLang="zh-CN" sz="2000" dirty="0" err="1"/>
              <a:t>zipis.getNextEntry</a:t>
            </a:r>
            <a:r>
              <a:rPr lang="en-US" altLang="zh-CN" sz="2000" dirty="0"/>
              <a:t>())!=null) </a:t>
            </a:r>
            <a:r>
              <a:rPr lang="zh-CN" altLang="en-US" sz="2000" dirty="0"/>
              <a:t>{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2000" dirty="0"/>
              <a:t>                  </a:t>
            </a:r>
            <a:r>
              <a:rPr lang="en-US" altLang="zh-CN" sz="2000" dirty="0"/>
              <a:t>if (</a:t>
            </a:r>
            <a:r>
              <a:rPr lang="en-US" altLang="zh-CN" sz="2000" dirty="0" err="1"/>
              <a:t>fEntry.isDirectory</a:t>
            </a:r>
            <a:r>
              <a:rPr lang="en-US" altLang="zh-CN" sz="2000" dirty="0"/>
              <a:t>())  //</a:t>
            </a:r>
            <a:r>
              <a:rPr lang="zh-CN" altLang="en-US" sz="2000" dirty="0"/>
              <a:t>是路径则创建路径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2000" dirty="0"/>
              <a:t>                     </a:t>
            </a:r>
            <a:r>
              <a:rPr lang="en-US" altLang="zh-CN" sz="2000" dirty="0" err="1"/>
              <a:t>checkFilePath</a:t>
            </a:r>
            <a:r>
              <a:rPr lang="en-US" altLang="zh-CN" sz="2000" dirty="0"/>
              <a:t>(</a:t>
            </a:r>
            <a:r>
              <a:rPr lang="en-US" altLang="zh-CN" sz="2000" dirty="0" err="1"/>
              <a:t>UnZipPath+fEntry.getName</a:t>
            </a:r>
            <a:r>
              <a:rPr lang="en-US" altLang="zh-CN" sz="2000" dirty="0"/>
              <a:t>());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b="1" dirty="0"/>
              <a:t>       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C047A73-70D0-78D1-4AFD-A3EA01170F0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360009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Zip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文件压缩与解压缩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0BF603-C0B3-4C18-4B79-732CA2EEC7B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204326872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1628800"/>
            <a:ext cx="10972800" cy="4712857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   else {   //</a:t>
            </a:r>
            <a:r>
              <a:rPr lang="zh-CN" altLang="en-US" sz="1800" dirty="0"/>
              <a:t>是文件则解压缩文件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1800" dirty="0"/>
              <a:t>           </a:t>
            </a:r>
            <a:r>
              <a:rPr lang="en-US" altLang="zh-CN" sz="1800" dirty="0"/>
              <a:t>String </a:t>
            </a:r>
            <a:r>
              <a:rPr lang="en-US" altLang="zh-CN" sz="1800" dirty="0" err="1"/>
              <a:t>fname</a:t>
            </a:r>
            <a:r>
              <a:rPr lang="en-US" altLang="zh-CN" sz="1800" dirty="0"/>
              <a:t>=new String(</a:t>
            </a:r>
            <a:r>
              <a:rPr lang="en-US" altLang="zh-CN" sz="1800" dirty="0" err="1"/>
              <a:t>UnZipPath+fEntry.getName</a:t>
            </a:r>
            <a:r>
              <a:rPr lang="en-US" altLang="zh-CN" sz="1800" dirty="0"/>
              <a:t>());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1800" dirty="0"/>
              <a:t>           </a:t>
            </a:r>
            <a:r>
              <a:rPr lang="en-US" altLang="zh-CN" sz="1800" dirty="0"/>
              <a:t>try{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               </a:t>
            </a:r>
            <a:r>
              <a:rPr lang="en-US" altLang="zh-CN" sz="1800" dirty="0" err="1"/>
              <a:t>FileOutputStream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chemeClr val="accent1"/>
                </a:solidFill>
              </a:rPr>
              <a:t>out</a:t>
            </a:r>
            <a:r>
              <a:rPr lang="en-US" altLang="zh-CN" sz="1800" dirty="0"/>
              <a:t> = new </a:t>
            </a:r>
            <a:r>
              <a:rPr lang="en-US" altLang="zh-CN" sz="1800" dirty="0" err="1"/>
              <a:t>FileOutputStream</a:t>
            </a:r>
            <a:r>
              <a:rPr lang="en-US" altLang="zh-CN" sz="1800" dirty="0"/>
              <a:t>(</a:t>
            </a:r>
            <a:r>
              <a:rPr lang="en-US" altLang="zh-CN" sz="1800" dirty="0" err="1"/>
              <a:t>fname</a:t>
            </a:r>
            <a:r>
              <a:rPr lang="en-US" altLang="zh-CN" sz="1800" dirty="0"/>
              <a:t>);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               doc=new byte[512];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               int n;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               while ((n = </a:t>
            </a:r>
            <a:r>
              <a:rPr lang="en-US" altLang="zh-CN" sz="1800" dirty="0" err="1">
                <a:solidFill>
                  <a:schemeClr val="accent1"/>
                </a:solidFill>
              </a:rPr>
              <a:t>zipis</a:t>
            </a:r>
            <a:r>
              <a:rPr lang="en-US" altLang="zh-CN" sz="1800" dirty="0" err="1">
                <a:solidFill>
                  <a:schemeClr val="tx2"/>
                </a:solidFill>
              </a:rPr>
              <a:t>.read</a:t>
            </a:r>
            <a:r>
              <a:rPr lang="en-US" altLang="zh-CN" sz="1800" dirty="0">
                <a:solidFill>
                  <a:schemeClr val="tx2"/>
                </a:solidFill>
              </a:rPr>
              <a:t>(doc,0,512)</a:t>
            </a:r>
            <a:r>
              <a:rPr lang="en-US" altLang="zh-CN" sz="1800" dirty="0"/>
              <a:t>) != -1)  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                  </a:t>
            </a:r>
            <a:r>
              <a:rPr lang="en-US" altLang="zh-CN" sz="1800" dirty="0" err="1">
                <a:solidFill>
                  <a:schemeClr val="accent1"/>
                </a:solidFill>
              </a:rPr>
              <a:t>out</a:t>
            </a:r>
            <a:r>
              <a:rPr lang="en-US" altLang="zh-CN" sz="1800" dirty="0" err="1">
                <a:solidFill>
                  <a:schemeClr val="tx2"/>
                </a:solidFill>
              </a:rPr>
              <a:t>.write</a:t>
            </a:r>
            <a:r>
              <a:rPr lang="en-US" altLang="zh-CN" sz="1800" dirty="0">
                <a:solidFill>
                  <a:schemeClr val="tx2"/>
                </a:solidFill>
              </a:rPr>
              <a:t>(doc, 0, n)</a:t>
            </a:r>
            <a:r>
              <a:rPr lang="en-US" altLang="zh-CN" sz="1800" dirty="0"/>
              <a:t>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               </a:t>
            </a:r>
            <a:r>
              <a:rPr lang="en-US" altLang="zh-CN" sz="1800" dirty="0" err="1"/>
              <a:t>out.close</a:t>
            </a:r>
            <a:r>
              <a:rPr lang="en-US" altLang="zh-CN" sz="1800" dirty="0"/>
              <a:t>();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               out=null;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               doc=null; 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             }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             catch (Exception ex) {   }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        }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      }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zipis.close</a:t>
            </a:r>
            <a:r>
              <a:rPr lang="en-US" altLang="zh-CN" sz="1800" dirty="0"/>
              <a:t>(); //</a:t>
            </a:r>
            <a:r>
              <a:rPr lang="zh-CN" altLang="en-US" sz="1800" dirty="0"/>
              <a:t>关闭输入流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1800" dirty="0"/>
              <a:t>    }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1800" dirty="0"/>
              <a:t>	</a:t>
            </a:r>
            <a:r>
              <a:rPr lang="en-US" altLang="zh-CN" sz="1800" dirty="0"/>
              <a:t>catch(</a:t>
            </a:r>
            <a:r>
              <a:rPr lang="en-US" altLang="zh-CN" sz="1800" dirty="0" err="1"/>
              <a:t>IOException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ioe</a:t>
            </a:r>
            <a:r>
              <a:rPr lang="en-US" altLang="zh-CN" sz="1800" dirty="0"/>
              <a:t>) { </a:t>
            </a:r>
            <a:r>
              <a:rPr lang="en-US" altLang="zh-CN" sz="1800" dirty="0" err="1"/>
              <a:t>System.out.println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ioe</a:t>
            </a:r>
            <a:r>
              <a:rPr lang="en-US" altLang="zh-CN" sz="1800" dirty="0"/>
              <a:t>);    }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  }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518A3D2-2EF3-BA6D-D9C3-E56442C88F4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360009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Zip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文件压缩与解压缩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9F4C77-23E8-0D92-0D71-130CD1BAAE2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422884007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55440" y="1628800"/>
            <a:ext cx="9158808" cy="4525963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chemeClr val="hlink"/>
                </a:solidFill>
              </a:rPr>
              <a:t>private void </a:t>
            </a:r>
            <a:r>
              <a:rPr lang="en-US" altLang="zh-CN" sz="1800" dirty="0" err="1">
                <a:solidFill>
                  <a:schemeClr val="hlink"/>
                </a:solidFill>
              </a:rPr>
              <a:t>checkFilePath</a:t>
            </a:r>
            <a:r>
              <a:rPr lang="en-US" altLang="zh-CN" sz="1800" dirty="0">
                <a:solidFill>
                  <a:schemeClr val="hlink"/>
                </a:solidFill>
              </a:rPr>
              <a:t>(String </a:t>
            </a:r>
            <a:r>
              <a:rPr lang="en-US" altLang="zh-CN" sz="1800" dirty="0" err="1">
                <a:solidFill>
                  <a:schemeClr val="hlink"/>
                </a:solidFill>
              </a:rPr>
              <a:t>dirName</a:t>
            </a:r>
            <a:r>
              <a:rPr lang="en-US" altLang="zh-CN" sz="1800" dirty="0">
                <a:solidFill>
                  <a:schemeClr val="hlink"/>
                </a:solidFill>
              </a:rPr>
              <a:t>) throws </a:t>
            </a:r>
            <a:r>
              <a:rPr lang="en-US" altLang="zh-CN" sz="1800" dirty="0" err="1">
                <a:solidFill>
                  <a:schemeClr val="hlink"/>
                </a:solidFill>
              </a:rPr>
              <a:t>IOException</a:t>
            </a:r>
            <a:r>
              <a:rPr lang="en-US" altLang="zh-CN" sz="1800" dirty="0"/>
              <a:t> {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        File </a:t>
            </a:r>
            <a:r>
              <a:rPr lang="en-US" altLang="zh-CN" sz="1800" dirty="0" err="1"/>
              <a:t>dir</a:t>
            </a:r>
            <a:r>
              <a:rPr lang="en-US" altLang="zh-CN" sz="1800" dirty="0"/>
              <a:t> = new File(</a:t>
            </a:r>
            <a:r>
              <a:rPr lang="en-US" altLang="zh-CN" sz="1800" dirty="0" err="1"/>
              <a:t>dirName</a:t>
            </a:r>
            <a:r>
              <a:rPr lang="en-US" altLang="zh-CN" sz="1800" dirty="0"/>
              <a:t>);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        if(!</a:t>
            </a:r>
            <a:r>
              <a:rPr lang="en-US" altLang="zh-CN" sz="1800" dirty="0" err="1"/>
              <a:t>dir.exists</a:t>
            </a:r>
            <a:r>
              <a:rPr lang="en-US" altLang="zh-CN" sz="1800" dirty="0"/>
              <a:t>())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           </a:t>
            </a:r>
            <a:r>
              <a:rPr lang="en-US" altLang="zh-CN" sz="1800" dirty="0" err="1"/>
              <a:t>dir.mkdirs</a:t>
            </a:r>
            <a:r>
              <a:rPr lang="en-US" altLang="zh-CN" sz="1800" dirty="0"/>
              <a:t>(); 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  } 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}</a:t>
            </a:r>
            <a:endParaRPr lang="en-US" altLang="zh-CN" sz="2000" dirty="0"/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//</a:t>
            </a:r>
            <a:r>
              <a:rPr lang="zh-CN" altLang="en-US" sz="1800" dirty="0"/>
              <a:t>主类，用于输入参数，生成</a:t>
            </a:r>
            <a:r>
              <a:rPr lang="en-US" altLang="zh-CN" sz="1800" dirty="0"/>
              <a:t>Unzip</a:t>
            </a:r>
            <a:r>
              <a:rPr lang="zh-CN" altLang="en-US" sz="1800" dirty="0"/>
              <a:t>类的实例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public class </a:t>
            </a:r>
            <a:r>
              <a:rPr lang="en-US" altLang="zh-CN" sz="1800" dirty="0" err="1"/>
              <a:t>UnZipTester</a:t>
            </a:r>
            <a:r>
              <a:rPr lang="en-US" altLang="zh-CN" sz="1800" dirty="0"/>
              <a:t> {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   </a:t>
            </a:r>
            <a:r>
              <a:rPr lang="en-US" altLang="zh-CN" sz="1800" dirty="0">
                <a:solidFill>
                  <a:schemeClr val="hlink"/>
                </a:solidFill>
              </a:rPr>
              <a:t>public static void main(String [] </a:t>
            </a:r>
            <a:r>
              <a:rPr lang="en-US" altLang="zh-CN" sz="1800" dirty="0" err="1">
                <a:solidFill>
                  <a:schemeClr val="hlink"/>
                </a:solidFill>
              </a:rPr>
              <a:t>args</a:t>
            </a:r>
            <a:r>
              <a:rPr lang="en-US" altLang="zh-CN" sz="1800" dirty="0">
                <a:solidFill>
                  <a:schemeClr val="hlink"/>
                </a:solidFill>
              </a:rPr>
              <a:t>)</a:t>
            </a:r>
            <a:r>
              <a:rPr lang="en-US" altLang="zh-CN" sz="1800" dirty="0"/>
              <a:t> {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     String </a:t>
            </a:r>
            <a:r>
              <a:rPr lang="en-US" altLang="zh-CN" sz="1800" dirty="0" err="1"/>
              <a:t>zipFile</a:t>
            </a:r>
            <a:r>
              <a:rPr lang="en-US" altLang="zh-CN" sz="1800" dirty="0"/>
              <a:t>=</a:t>
            </a:r>
            <a:r>
              <a:rPr lang="en-US" altLang="zh-CN" sz="1800" dirty="0" err="1">
                <a:solidFill>
                  <a:schemeClr val="tx2"/>
                </a:solidFill>
              </a:rPr>
              <a:t>args</a:t>
            </a:r>
            <a:r>
              <a:rPr lang="en-US" altLang="zh-CN" sz="1800" dirty="0">
                <a:solidFill>
                  <a:schemeClr val="tx2"/>
                </a:solidFill>
              </a:rPr>
              <a:t>[0]</a:t>
            </a:r>
            <a:r>
              <a:rPr lang="en-US" altLang="zh-CN" sz="1800" dirty="0"/>
              <a:t>; //</a:t>
            </a:r>
            <a:r>
              <a:rPr lang="zh-CN" altLang="en-US" sz="1800" dirty="0"/>
              <a:t>第一个参数为</a:t>
            </a:r>
            <a:r>
              <a:rPr lang="en-US" altLang="zh-CN" sz="1800" dirty="0"/>
              <a:t>zip</a:t>
            </a:r>
            <a:r>
              <a:rPr lang="zh-CN" altLang="en-US" sz="1800" dirty="0"/>
              <a:t>文件名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1800" dirty="0"/>
              <a:t>     </a:t>
            </a:r>
            <a:r>
              <a:rPr lang="en-US" altLang="zh-CN" sz="1800" dirty="0"/>
              <a:t>String </a:t>
            </a:r>
            <a:r>
              <a:rPr lang="en-US" altLang="zh-CN" sz="1800" dirty="0" err="1"/>
              <a:t>unZipPath</a:t>
            </a:r>
            <a:r>
              <a:rPr lang="en-US" altLang="zh-CN" sz="1800" dirty="0"/>
              <a:t>=</a:t>
            </a:r>
            <a:r>
              <a:rPr lang="en-US" altLang="zh-CN" sz="1800" dirty="0" err="1">
                <a:solidFill>
                  <a:schemeClr val="tx2"/>
                </a:solidFill>
              </a:rPr>
              <a:t>args</a:t>
            </a:r>
            <a:r>
              <a:rPr lang="en-US" altLang="zh-CN" sz="1800" dirty="0">
                <a:solidFill>
                  <a:schemeClr val="tx2"/>
                </a:solidFill>
              </a:rPr>
              <a:t>[1]</a:t>
            </a:r>
            <a:r>
              <a:rPr lang="en-US" altLang="zh-CN" sz="1800" dirty="0"/>
              <a:t>+"\\";  //</a:t>
            </a:r>
            <a:r>
              <a:rPr lang="zh-CN" altLang="en-US" sz="1800" dirty="0"/>
              <a:t>第二个参数为指定解压缩路径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1800" dirty="0"/>
              <a:t>     </a:t>
            </a:r>
            <a:r>
              <a:rPr lang="en-US" altLang="zh-CN" sz="1800" dirty="0"/>
              <a:t>Unzip </a:t>
            </a:r>
            <a:r>
              <a:rPr lang="en-US" altLang="zh-CN" sz="1800" dirty="0" err="1"/>
              <a:t>myZip</a:t>
            </a:r>
            <a:r>
              <a:rPr lang="en-US" altLang="zh-CN" sz="1800" dirty="0"/>
              <a:t>=new Unzip(</a:t>
            </a:r>
            <a:r>
              <a:rPr lang="en-US" altLang="zh-CN" sz="1800" dirty="0" err="1"/>
              <a:t>zipFile,unZipPath</a:t>
            </a:r>
            <a:r>
              <a:rPr lang="en-US" altLang="zh-CN" sz="1800" dirty="0"/>
              <a:t>); 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     </a:t>
            </a:r>
            <a:r>
              <a:rPr lang="en-US" altLang="zh-CN" sz="1800" dirty="0" err="1"/>
              <a:t>myZip.doUnZip</a:t>
            </a:r>
            <a:r>
              <a:rPr lang="en-US" altLang="zh-CN" sz="1800" dirty="0"/>
              <a:t>(); 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1800" dirty="0"/>
              <a:t>   }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1800" dirty="0"/>
              <a:t>}</a:t>
            </a:r>
          </a:p>
          <a:p>
            <a:pPr eaLnBrk="1" hangingPunct="1">
              <a:spcBef>
                <a:spcPts val="0"/>
              </a:spcBef>
            </a:pPr>
            <a:endParaRPr lang="zh-CN" altLang="en-US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DC7A522-2399-A5EE-289F-CF8A727E9EE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360009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Zip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文件压缩与解压缩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C909F2-54F8-DC94-03A0-522DB194F4A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9617869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95400" y="2060848"/>
            <a:ext cx="10972800" cy="4133056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实现对象的读写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通过</a:t>
            </a:r>
            <a:r>
              <a:rPr lang="en-US" altLang="zh-CN" dirty="0" err="1"/>
              <a:t>ObjectOutputStream</a:t>
            </a:r>
            <a:r>
              <a:rPr lang="zh-CN" altLang="en-US" dirty="0"/>
              <a:t>把对象写入磁盘文件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通过</a:t>
            </a:r>
            <a:r>
              <a:rPr lang="en-US" altLang="zh-CN" dirty="0" err="1"/>
              <a:t>ObjectInputStream</a:t>
            </a:r>
            <a:r>
              <a:rPr lang="zh-CN" altLang="en-US" dirty="0"/>
              <a:t>把对象读入程序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不保存对象的</a:t>
            </a:r>
            <a:r>
              <a:rPr lang="en-US" altLang="zh-CN" dirty="0">
                <a:solidFill>
                  <a:schemeClr val="hlink"/>
                </a:solidFill>
              </a:rPr>
              <a:t>transient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chemeClr val="hlink"/>
                </a:solidFill>
              </a:rPr>
              <a:t>static</a:t>
            </a:r>
            <a:r>
              <a:rPr lang="zh-CN" altLang="en-US" dirty="0"/>
              <a:t>类型的变量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对象要想实现序列化，其所属的类必须实现</a:t>
            </a:r>
            <a:r>
              <a:rPr lang="en-US" altLang="zh-CN" dirty="0">
                <a:solidFill>
                  <a:schemeClr val="hlink"/>
                </a:solidFill>
              </a:rPr>
              <a:t>Serializable</a:t>
            </a:r>
            <a:r>
              <a:rPr lang="zh-CN" altLang="en-US" dirty="0"/>
              <a:t>接口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EF869D-EBDA-F5C1-F774-F2FA4488EC4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15993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对象序列化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69F6E3-B488-96FE-CE14-09FDCC044D9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54954836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11424" y="1628800"/>
            <a:ext cx="8798768" cy="3484984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lnSpc>
                <a:spcPct val="140000"/>
              </a:lnSpc>
              <a:buNone/>
            </a:pPr>
            <a:r>
              <a:rPr lang="zh-CN" altLang="en-US" sz="2400" dirty="0"/>
              <a:t>必须通过另一个流构造</a:t>
            </a:r>
            <a:r>
              <a:rPr lang="en-US" altLang="zh-CN" sz="2400" dirty="0" err="1"/>
              <a:t>ObjectOutputStream</a:t>
            </a:r>
            <a:r>
              <a:rPr lang="en-US" altLang="zh-CN" dirty="0"/>
              <a:t>:</a:t>
            </a:r>
          </a:p>
          <a:p>
            <a:pPr lvl="1" eaLnBrk="1" hangingPunct="1">
              <a:lnSpc>
                <a:spcPct val="140000"/>
              </a:lnSpc>
              <a:buFont typeface="Georgia" panose="02040502050405020303" pitchFamily="18" charset="0"/>
              <a:buNone/>
            </a:pPr>
            <a:r>
              <a:rPr lang="en-US" altLang="zh-CN" sz="2100" dirty="0" err="1"/>
              <a:t>FileOutputStream</a:t>
            </a:r>
            <a:r>
              <a:rPr lang="en-US" altLang="zh-CN" sz="2100" dirty="0"/>
              <a:t> out = new </a:t>
            </a:r>
            <a:r>
              <a:rPr lang="en-US" altLang="zh-CN" sz="2100" dirty="0" err="1"/>
              <a:t>FileOutputStream</a:t>
            </a:r>
            <a:r>
              <a:rPr lang="en-US" altLang="zh-CN" sz="2100" dirty="0"/>
              <a:t>("</a:t>
            </a:r>
            <a:r>
              <a:rPr lang="en-US" altLang="zh-CN" sz="2100" dirty="0" err="1"/>
              <a:t>theTime</a:t>
            </a:r>
            <a:r>
              <a:rPr lang="en-US" altLang="zh-CN" sz="2100" dirty="0"/>
              <a:t>");</a:t>
            </a:r>
            <a:r>
              <a:rPr lang="en-US" altLang="zh-CN" sz="2200" dirty="0"/>
              <a:t>                    </a:t>
            </a:r>
          </a:p>
          <a:p>
            <a:pPr lvl="1" eaLnBrk="1" hangingPunct="1">
              <a:lnSpc>
                <a:spcPct val="140000"/>
              </a:lnSpc>
              <a:buFont typeface="Georgia" panose="02040502050405020303" pitchFamily="18" charset="0"/>
              <a:buNone/>
            </a:pPr>
            <a:r>
              <a:rPr lang="en-US" altLang="zh-CN" sz="2100" dirty="0" err="1">
                <a:solidFill>
                  <a:schemeClr val="folHlink"/>
                </a:solidFill>
              </a:rPr>
              <a:t>ObjectOutputStream</a:t>
            </a:r>
            <a:r>
              <a:rPr lang="en-US" altLang="zh-CN" sz="2100" dirty="0">
                <a:solidFill>
                  <a:srgbClr val="FFFF66"/>
                </a:solidFill>
              </a:rPr>
              <a:t> </a:t>
            </a:r>
            <a:r>
              <a:rPr lang="en-US" altLang="zh-CN" sz="2100" dirty="0">
                <a:solidFill>
                  <a:schemeClr val="hlink"/>
                </a:solidFill>
              </a:rPr>
              <a:t>s</a:t>
            </a:r>
            <a:r>
              <a:rPr lang="en-US" altLang="zh-CN" sz="2100" dirty="0"/>
              <a:t> =  new </a:t>
            </a:r>
            <a:r>
              <a:rPr lang="en-US" altLang="zh-CN" sz="2100" dirty="0" err="1">
                <a:solidFill>
                  <a:schemeClr val="folHlink"/>
                </a:solidFill>
              </a:rPr>
              <a:t>ObjectOutputStream</a:t>
            </a:r>
            <a:r>
              <a:rPr lang="en-US" altLang="zh-CN" sz="2100" dirty="0"/>
              <a:t>(out);</a:t>
            </a:r>
          </a:p>
          <a:p>
            <a:pPr lvl="1" eaLnBrk="1" hangingPunct="1">
              <a:lnSpc>
                <a:spcPct val="140000"/>
              </a:lnSpc>
              <a:buFont typeface="Georgia" panose="02040502050405020303" pitchFamily="18" charset="0"/>
              <a:buNone/>
            </a:pPr>
            <a:r>
              <a:rPr lang="en-US" altLang="zh-CN" sz="2100" dirty="0" err="1">
                <a:solidFill>
                  <a:schemeClr val="hlink"/>
                </a:solidFill>
              </a:rPr>
              <a:t>s.writeObject</a:t>
            </a:r>
            <a:r>
              <a:rPr lang="en-US" altLang="zh-CN" sz="2100" dirty="0"/>
              <a:t>("Today");</a:t>
            </a:r>
          </a:p>
          <a:p>
            <a:pPr lvl="1" eaLnBrk="1" hangingPunct="1">
              <a:lnSpc>
                <a:spcPct val="140000"/>
              </a:lnSpc>
              <a:buFont typeface="Georgia" panose="02040502050405020303" pitchFamily="18" charset="0"/>
              <a:buNone/>
            </a:pPr>
            <a:r>
              <a:rPr lang="en-US" altLang="zh-CN" sz="2100" dirty="0" err="1">
                <a:solidFill>
                  <a:schemeClr val="hlink"/>
                </a:solidFill>
              </a:rPr>
              <a:t>s.writeObject</a:t>
            </a:r>
            <a:r>
              <a:rPr lang="en-US" altLang="zh-CN" sz="2100" dirty="0"/>
              <a:t>(new Date());</a:t>
            </a:r>
          </a:p>
          <a:p>
            <a:pPr lvl="1" eaLnBrk="1" hangingPunct="1">
              <a:lnSpc>
                <a:spcPct val="140000"/>
              </a:lnSpc>
              <a:buFont typeface="Georgia" panose="02040502050405020303" pitchFamily="18" charset="0"/>
              <a:buNone/>
            </a:pPr>
            <a:r>
              <a:rPr lang="en-US" altLang="zh-CN" sz="2100" dirty="0" err="1">
                <a:solidFill>
                  <a:schemeClr val="hlink"/>
                </a:solidFill>
              </a:rPr>
              <a:t>s.flush</a:t>
            </a:r>
            <a:r>
              <a:rPr lang="en-US" altLang="zh-CN" sz="2100" dirty="0"/>
              <a:t>();</a:t>
            </a:r>
            <a:endParaRPr lang="zh-CN" altLang="en-US" sz="21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9518AF0-060D-BC7F-8967-C9AF735714F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D1E6591-34B8-4BAE-248C-4DABE0122C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670" y="980440"/>
            <a:ext cx="345608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 err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ObjectOutputStream</a:t>
            </a:r>
            <a:endParaRPr lang="zh-CN" altLang="en-US" sz="28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思源黑体 CN Heavy" panose="020B0A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3393049"/>
      </p:ext>
    </p:extLst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67408" y="1650504"/>
            <a:ext cx="9086800" cy="3556992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lnSpc>
                <a:spcPct val="170000"/>
              </a:lnSpc>
              <a:buNone/>
            </a:pPr>
            <a:r>
              <a:rPr lang="zh-CN" altLang="en-US" sz="2400" dirty="0"/>
              <a:t>必须通过另一个流构造</a:t>
            </a:r>
            <a:r>
              <a:rPr lang="en-US" altLang="zh-CN" sz="2400" dirty="0" err="1"/>
              <a:t>ObjectInputStream</a:t>
            </a:r>
            <a:r>
              <a:rPr lang="zh-CN" altLang="en-US" sz="2400" dirty="0"/>
              <a:t>：</a:t>
            </a:r>
          </a:p>
          <a:p>
            <a:pPr lvl="1" eaLnBrk="1" hangingPunct="1">
              <a:lnSpc>
                <a:spcPct val="170000"/>
              </a:lnSpc>
              <a:buFont typeface="Georgia" panose="02040502050405020303" pitchFamily="18" charset="0"/>
              <a:buNone/>
            </a:pPr>
            <a:r>
              <a:rPr lang="en-US" altLang="zh-CN" sz="2200" dirty="0" err="1"/>
              <a:t>FileInputStream</a:t>
            </a:r>
            <a:r>
              <a:rPr lang="en-US" altLang="zh-CN" sz="2200" dirty="0"/>
              <a:t> in = new </a:t>
            </a:r>
            <a:r>
              <a:rPr lang="en-US" altLang="zh-CN" sz="2200" dirty="0" err="1"/>
              <a:t>FileInputStream</a:t>
            </a:r>
            <a:r>
              <a:rPr lang="en-US" altLang="zh-CN" sz="2200" dirty="0"/>
              <a:t>("</a:t>
            </a:r>
            <a:r>
              <a:rPr lang="en-US" altLang="zh-CN" sz="2200" dirty="0" err="1"/>
              <a:t>theTime</a:t>
            </a:r>
            <a:r>
              <a:rPr lang="en-US" altLang="zh-CN" sz="2200" dirty="0"/>
              <a:t>");</a:t>
            </a:r>
          </a:p>
          <a:p>
            <a:pPr lvl="1" eaLnBrk="1" hangingPunct="1">
              <a:lnSpc>
                <a:spcPct val="170000"/>
              </a:lnSpc>
              <a:buFont typeface="Georgia" panose="02040502050405020303" pitchFamily="18" charset="0"/>
              <a:buNone/>
            </a:pPr>
            <a:r>
              <a:rPr lang="en-US" altLang="zh-CN" sz="2200" dirty="0" err="1">
                <a:solidFill>
                  <a:schemeClr val="folHlink"/>
                </a:solidFill>
              </a:rPr>
              <a:t>ObjectInputStream</a:t>
            </a:r>
            <a:r>
              <a:rPr lang="en-US" altLang="zh-CN" sz="2200" dirty="0">
                <a:solidFill>
                  <a:schemeClr val="folHlink"/>
                </a:solidFill>
              </a:rPr>
              <a:t> s</a:t>
            </a:r>
            <a:r>
              <a:rPr lang="en-US" altLang="zh-CN" sz="2200" dirty="0"/>
              <a:t> = new </a:t>
            </a:r>
            <a:r>
              <a:rPr lang="en-US" altLang="zh-CN" sz="2200" dirty="0" err="1">
                <a:solidFill>
                  <a:schemeClr val="folHlink"/>
                </a:solidFill>
              </a:rPr>
              <a:t>ObjectInputStream</a:t>
            </a:r>
            <a:r>
              <a:rPr lang="en-US" altLang="zh-CN" sz="2200" dirty="0"/>
              <a:t>(in);</a:t>
            </a:r>
          </a:p>
          <a:p>
            <a:pPr lvl="1" eaLnBrk="1" hangingPunct="1">
              <a:lnSpc>
                <a:spcPct val="17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String today = (String)</a:t>
            </a:r>
            <a:r>
              <a:rPr lang="en-US" altLang="zh-CN" sz="2200" dirty="0" err="1">
                <a:solidFill>
                  <a:schemeClr val="hlink"/>
                </a:solidFill>
              </a:rPr>
              <a:t>s.readObject</a:t>
            </a:r>
            <a:r>
              <a:rPr lang="en-US" altLang="zh-CN" sz="2200" dirty="0">
                <a:solidFill>
                  <a:schemeClr val="hlink"/>
                </a:solidFill>
              </a:rPr>
              <a:t>()</a:t>
            </a:r>
            <a:r>
              <a:rPr lang="en-US" altLang="zh-CN" sz="2200" dirty="0"/>
              <a:t>;</a:t>
            </a:r>
          </a:p>
          <a:p>
            <a:pPr lvl="1" eaLnBrk="1" hangingPunct="1">
              <a:lnSpc>
                <a:spcPct val="170000"/>
              </a:lnSpc>
              <a:buFont typeface="Georgia" panose="02040502050405020303" pitchFamily="18" charset="0"/>
              <a:buNone/>
            </a:pPr>
            <a:r>
              <a:rPr lang="en-US" altLang="zh-CN" sz="2200" dirty="0"/>
              <a:t>Date </a:t>
            </a:r>
            <a:r>
              <a:rPr lang="en-US" altLang="zh-CN" sz="2200" dirty="0" err="1"/>
              <a:t>date</a:t>
            </a:r>
            <a:r>
              <a:rPr lang="en-US" altLang="zh-CN" sz="2200" dirty="0"/>
              <a:t> = (Date)</a:t>
            </a:r>
            <a:r>
              <a:rPr lang="en-US" altLang="zh-CN" sz="2200" dirty="0" err="1">
                <a:solidFill>
                  <a:schemeClr val="hlink"/>
                </a:solidFill>
              </a:rPr>
              <a:t>s.readObject</a:t>
            </a:r>
            <a:r>
              <a:rPr lang="en-US" altLang="zh-CN" sz="2200" dirty="0">
                <a:solidFill>
                  <a:schemeClr val="hlink"/>
                </a:solidFill>
              </a:rPr>
              <a:t>()</a:t>
            </a:r>
            <a:r>
              <a:rPr lang="en-US" altLang="zh-CN" sz="2200" dirty="0"/>
              <a:t>;</a:t>
            </a:r>
            <a:endParaRPr lang="zh-CN" altLang="en-US" sz="2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B9F9C9-5124-BF6D-2C7A-5D3F907497E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345608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 err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ObjectInputStream</a:t>
            </a:r>
            <a:endParaRPr lang="zh-CN" altLang="en-US" sz="28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思源黑体 CN Heavy" panose="020B0A00000000000000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F14F6-FADF-F980-80E1-F9E7096999C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4163979136"/>
      </p:ext>
    </p:extLst>
  </p:cSld>
  <p:clrMapOvr>
    <a:masterClrMapping/>
  </p:clrMapOvr>
  <p:transition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17536" y="1700808"/>
            <a:ext cx="10972800" cy="4525963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zh-CN" altLang="en-US" sz="2400" dirty="0"/>
              <a:t>空接口，使类的对象可实现序列化</a:t>
            </a:r>
            <a:endParaRPr lang="en-US" altLang="zh-CN" sz="24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400" dirty="0"/>
              <a:t>Serializable </a:t>
            </a:r>
            <a:r>
              <a:rPr lang="zh-CN" altLang="en-US" sz="2400" dirty="0"/>
              <a:t>接口的定义</a:t>
            </a:r>
          </a:p>
          <a:p>
            <a:pPr marL="457200" lvl="1" indent="0" eaLnBrk="1" hangingPunct="1">
              <a:lnSpc>
                <a:spcPct val="80000"/>
              </a:lnSpc>
              <a:buNone/>
            </a:pPr>
            <a:r>
              <a:rPr lang="en-US" altLang="zh-CN" sz="2200" dirty="0"/>
              <a:t>package java.io;</a:t>
            </a:r>
          </a:p>
          <a:p>
            <a:pPr marL="457200" lvl="1" indent="0" eaLnBrk="1" hangingPunct="1">
              <a:lnSpc>
                <a:spcPct val="80000"/>
              </a:lnSpc>
              <a:buNone/>
            </a:pPr>
            <a:r>
              <a:rPr lang="en-US" altLang="zh-CN" sz="2200" dirty="0"/>
              <a:t>public interface Serializable {</a:t>
            </a:r>
          </a:p>
          <a:p>
            <a:pPr marL="457200" lvl="1" indent="0" eaLnBrk="1" hangingPunct="1">
              <a:lnSpc>
                <a:spcPct val="80000"/>
              </a:lnSpc>
              <a:buNone/>
            </a:pPr>
            <a:r>
              <a:rPr lang="en-US" altLang="zh-CN" sz="2200" dirty="0"/>
              <a:t>    // there's nothing in here!</a:t>
            </a:r>
          </a:p>
          <a:p>
            <a:pPr marL="457200" lvl="1" indent="0" eaLnBrk="1" hangingPunct="1">
              <a:lnSpc>
                <a:spcPct val="80000"/>
              </a:lnSpc>
              <a:buNone/>
            </a:pPr>
            <a:r>
              <a:rPr lang="en-US" altLang="zh-CN" sz="2200" dirty="0"/>
              <a:t>};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zh-CN" altLang="en-US" sz="2400" dirty="0"/>
              <a:t>实现</a:t>
            </a:r>
            <a:r>
              <a:rPr lang="en-US" altLang="zh-CN" sz="2400" dirty="0"/>
              <a:t>Serializable</a:t>
            </a:r>
            <a:r>
              <a:rPr lang="zh-CN" altLang="en-US" sz="2400" dirty="0"/>
              <a:t>接口的语句</a:t>
            </a:r>
          </a:p>
          <a:p>
            <a:pPr marL="457200" lvl="1" indent="0" eaLnBrk="1" hangingPunct="1">
              <a:lnSpc>
                <a:spcPct val="80000"/>
              </a:lnSpc>
              <a:buNone/>
            </a:pPr>
            <a:r>
              <a:rPr lang="en-US" altLang="zh-CN" sz="2200" dirty="0"/>
              <a:t>public class </a:t>
            </a:r>
            <a:r>
              <a:rPr lang="en-US" altLang="zh-CN" sz="2200" dirty="0" err="1"/>
              <a:t>MyClass</a:t>
            </a:r>
            <a:r>
              <a:rPr lang="en-US" altLang="zh-CN" sz="2200" dirty="0"/>
              <a:t> implements Serializable {</a:t>
            </a:r>
          </a:p>
          <a:p>
            <a:pPr marL="457200" lvl="1" indent="0" eaLnBrk="1" hangingPunct="1">
              <a:lnSpc>
                <a:spcPct val="80000"/>
              </a:lnSpc>
              <a:buNone/>
            </a:pPr>
            <a:r>
              <a:rPr lang="en-US" altLang="zh-CN" sz="2200" dirty="0"/>
              <a:t>    ...</a:t>
            </a:r>
          </a:p>
          <a:p>
            <a:pPr marL="457200" lvl="1" indent="0" eaLnBrk="1" hangingPunct="1">
              <a:lnSpc>
                <a:spcPct val="80000"/>
              </a:lnSpc>
              <a:buNone/>
            </a:pPr>
            <a:r>
              <a:rPr lang="en-US" altLang="zh-CN" sz="2200" dirty="0"/>
              <a:t>}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zh-CN" altLang="en-US" sz="2400" dirty="0"/>
              <a:t>使用关键字</a:t>
            </a:r>
            <a:r>
              <a:rPr lang="en-US" altLang="zh-CN" sz="2400" dirty="0">
                <a:solidFill>
                  <a:schemeClr val="hlink"/>
                </a:solidFill>
              </a:rPr>
              <a:t>transient</a:t>
            </a:r>
            <a:r>
              <a:rPr lang="zh-CN" altLang="en-US" sz="2400" dirty="0"/>
              <a:t>可以阻止对象的某些成员被自动写入文件</a:t>
            </a:r>
            <a:endParaRPr lang="en-US" altLang="zh-CN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2BCBB25-C7AD-6712-C2EE-062C5F6CF71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51997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 err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Seriealizable</a:t>
            </a:r>
            <a:endParaRPr lang="zh-CN" altLang="en-US" sz="28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思源黑体 CN Heavy" panose="020B0A00000000000000" charset="-122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6ADF58F5-8A01-3306-F265-97D16A097FC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3273937329"/>
      </p:ext>
    </p:extLst>
  </p:cSld>
  <p:clrMapOvr>
    <a:masterClrMapping/>
  </p:clrMapOvr>
  <p:transition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20113" y="1700808"/>
            <a:ext cx="10972800" cy="4525963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/>
          <a:p>
            <a:pPr marL="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class Book implements Serializable </a:t>
            </a:r>
            <a:r>
              <a:rPr lang="zh-CN" altLang="en-US" sz="2000" dirty="0"/>
              <a:t>{</a:t>
            </a:r>
          </a:p>
          <a:p>
            <a:pPr marL="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zh-CN" altLang="en-US" sz="2000" dirty="0"/>
              <a:t>	</a:t>
            </a:r>
            <a:r>
              <a:rPr lang="en-US" altLang="zh-CN" sz="2000" dirty="0"/>
              <a:t>int </a:t>
            </a:r>
            <a:r>
              <a:rPr lang="en-US" altLang="zh-CN" sz="2000" dirty="0">
                <a:solidFill>
                  <a:schemeClr val="hlink"/>
                </a:solidFill>
              </a:rPr>
              <a:t>id</a:t>
            </a:r>
            <a:r>
              <a:rPr lang="en-US" altLang="zh-CN" sz="2000" dirty="0"/>
              <a:t>;</a:t>
            </a:r>
          </a:p>
          <a:p>
            <a:pPr marL="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	String </a:t>
            </a:r>
            <a:r>
              <a:rPr lang="en-US" altLang="zh-CN" sz="2000" dirty="0">
                <a:solidFill>
                  <a:schemeClr val="hlink"/>
                </a:solidFill>
              </a:rPr>
              <a:t>name</a:t>
            </a:r>
            <a:r>
              <a:rPr lang="en-US" altLang="zh-CN" sz="2000" dirty="0"/>
              <a:t>;</a:t>
            </a:r>
          </a:p>
          <a:p>
            <a:pPr marL="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	String </a:t>
            </a:r>
            <a:r>
              <a:rPr lang="en-US" altLang="zh-CN" sz="2000" dirty="0">
                <a:solidFill>
                  <a:schemeClr val="hlink"/>
                </a:solidFill>
              </a:rPr>
              <a:t>author</a:t>
            </a:r>
            <a:r>
              <a:rPr lang="en-US" altLang="zh-CN" sz="2000" dirty="0"/>
              <a:t>;</a:t>
            </a:r>
          </a:p>
          <a:p>
            <a:pPr marL="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	float </a:t>
            </a:r>
            <a:r>
              <a:rPr lang="en-US" altLang="zh-CN" sz="2000" dirty="0">
                <a:solidFill>
                  <a:schemeClr val="hlink"/>
                </a:solidFill>
              </a:rPr>
              <a:t>price</a:t>
            </a:r>
            <a:r>
              <a:rPr lang="en-US" altLang="zh-CN" sz="2000" dirty="0"/>
              <a:t>;</a:t>
            </a:r>
          </a:p>
          <a:p>
            <a:pPr marL="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	public Book(int </a:t>
            </a:r>
            <a:r>
              <a:rPr lang="en-US" altLang="zh-CN" sz="2000" dirty="0" err="1"/>
              <a:t>id,String</a:t>
            </a:r>
            <a:r>
              <a:rPr lang="en-US" altLang="zh-CN" sz="2000" dirty="0"/>
              <a:t> </a:t>
            </a:r>
            <a:r>
              <a:rPr lang="en-US" altLang="zh-CN" sz="2000" dirty="0" err="1"/>
              <a:t>name,String</a:t>
            </a:r>
            <a:r>
              <a:rPr lang="en-US" altLang="zh-CN" sz="2000" dirty="0"/>
              <a:t> </a:t>
            </a:r>
            <a:r>
              <a:rPr lang="en-US" altLang="zh-CN" sz="2000" dirty="0" err="1"/>
              <a:t>author,float</a:t>
            </a:r>
            <a:r>
              <a:rPr lang="en-US" altLang="zh-CN" sz="2000" dirty="0"/>
              <a:t> price) {</a:t>
            </a:r>
          </a:p>
          <a:p>
            <a:pPr marL="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		this.id=id;</a:t>
            </a:r>
          </a:p>
          <a:p>
            <a:pPr marL="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		this.name=name;</a:t>
            </a:r>
          </a:p>
          <a:p>
            <a:pPr marL="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		</a:t>
            </a:r>
            <a:r>
              <a:rPr lang="en-US" altLang="zh-CN" sz="2000" dirty="0" err="1"/>
              <a:t>this.author</a:t>
            </a:r>
            <a:r>
              <a:rPr lang="en-US" altLang="zh-CN" sz="2000" dirty="0"/>
              <a:t>=author;</a:t>
            </a:r>
          </a:p>
          <a:p>
            <a:pPr marL="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		</a:t>
            </a:r>
            <a:r>
              <a:rPr lang="en-US" altLang="zh-CN" sz="2000" dirty="0" err="1"/>
              <a:t>this.price</a:t>
            </a:r>
            <a:r>
              <a:rPr lang="en-US" altLang="zh-CN" sz="2000" dirty="0"/>
              <a:t>=price;</a:t>
            </a:r>
          </a:p>
          <a:p>
            <a:pPr marL="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	}</a:t>
            </a:r>
          </a:p>
          <a:p>
            <a:pPr marL="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000" dirty="0"/>
              <a:t>}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6B2E165-0A96-361A-3432-1AA6C2BDF1F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15993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对象序列化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1CDCBC-1695-1C84-ED2A-43E41E8DF38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229877330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1600200"/>
            <a:ext cx="10972800" cy="4525963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import java.io.*;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public class </a:t>
            </a:r>
            <a:r>
              <a:rPr lang="en-US" altLang="zh-CN" sz="2000" dirty="0" err="1"/>
              <a:t>SerializableTester</a:t>
            </a:r>
            <a:r>
              <a:rPr lang="en-US" altLang="zh-CN" sz="2000" dirty="0"/>
              <a:t> {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	public static void main(String 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[]) throws </a:t>
            </a:r>
            <a:r>
              <a:rPr lang="en-US" altLang="zh-CN" sz="2000" dirty="0" err="1"/>
              <a:t>IOException,ClassNotFoundException</a:t>
            </a:r>
            <a:r>
              <a:rPr lang="en-US" altLang="zh-CN" sz="2000" dirty="0"/>
              <a:t> {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zh-CN" altLang="en-US" sz="2000" dirty="0"/>
              <a:t>	    </a:t>
            </a:r>
            <a:r>
              <a:rPr lang="en-US" altLang="zh-CN" sz="2000" dirty="0"/>
              <a:t>Book book=new Book(100032,"Java Programming </a:t>
            </a:r>
            <a:r>
              <a:rPr lang="en-US" altLang="zh-CN" sz="2000" dirty="0" err="1"/>
              <a:t>Skills","Wang</a:t>
            </a:r>
            <a:r>
              <a:rPr lang="en-US" altLang="zh-CN" sz="2000" dirty="0"/>
              <a:t> Sir",30);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	    </a:t>
            </a:r>
            <a:r>
              <a:rPr lang="en-US" altLang="zh-CN" sz="2000" dirty="0" err="1"/>
              <a:t>ObjectOutputStream</a:t>
            </a:r>
            <a:r>
              <a:rPr lang="en-US" altLang="zh-CN" sz="2000" dirty="0"/>
              <a:t> </a:t>
            </a:r>
            <a:r>
              <a:rPr lang="en-US" altLang="zh-CN" sz="2000" dirty="0" err="1"/>
              <a:t>oos</a:t>
            </a:r>
            <a:r>
              <a:rPr lang="en-US" altLang="zh-CN" sz="2000" dirty="0"/>
              <a:t>=new </a:t>
            </a:r>
            <a:r>
              <a:rPr lang="en-US" altLang="zh-CN" sz="2000" dirty="0" err="1"/>
              <a:t>ObjectOutputStream</a:t>
            </a:r>
            <a:r>
              <a:rPr lang="en-US" altLang="zh-CN" sz="2000" dirty="0"/>
              <a:t>(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                           new </a:t>
            </a:r>
            <a:r>
              <a:rPr lang="en-US" altLang="zh-CN" sz="2000" dirty="0" err="1"/>
              <a:t>FileOutputStream</a:t>
            </a:r>
            <a:r>
              <a:rPr lang="en-US" altLang="zh-CN" sz="2000" dirty="0"/>
              <a:t>("book.dat"));       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            </a:t>
            </a:r>
            <a:r>
              <a:rPr lang="en-US" altLang="zh-CN" sz="2000" dirty="0" err="1"/>
              <a:t>oos.writeObject</a:t>
            </a:r>
            <a:r>
              <a:rPr lang="en-US" altLang="zh-CN" sz="2000" dirty="0"/>
              <a:t>(book);</a:t>
            </a:r>
            <a:endParaRPr lang="zh-CN" altLang="en-US" sz="2000" dirty="0"/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zh-CN" altLang="en-US" sz="2000" dirty="0"/>
              <a:t>	    </a:t>
            </a:r>
            <a:r>
              <a:rPr lang="en-US" altLang="zh-CN" sz="2000" dirty="0" err="1"/>
              <a:t>oos.close</a:t>
            </a:r>
            <a:r>
              <a:rPr lang="en-US" altLang="zh-CN" sz="2000" dirty="0"/>
              <a:t>(); </a:t>
            </a:r>
            <a:r>
              <a:rPr lang="zh-CN" altLang="en-US" sz="1800" dirty="0"/>
              <a:t>	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7466A6-BB7A-540C-657E-B54B9D5B4BE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15993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对象序列化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120C71-79C6-146A-D09F-418A4A934FD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377292783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5" name="Rectangle 1027"/>
          <p:cNvSpPr>
            <a:spLocks noGrp="1" noChangeArrowheads="1"/>
          </p:cNvSpPr>
          <p:nvPr>
            <p:ph idx="4294967295"/>
          </p:nvPr>
        </p:nvSpPr>
        <p:spPr>
          <a:xfrm>
            <a:off x="335360" y="1556792"/>
            <a:ext cx="11391056" cy="4525963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b="1" dirty="0"/>
              <a:t>                </a:t>
            </a:r>
            <a:r>
              <a:rPr lang="en-US" altLang="zh-CN" sz="2000" dirty="0"/>
              <a:t>book=null;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	     </a:t>
            </a:r>
            <a:r>
              <a:rPr lang="en-US" altLang="zh-CN" sz="2000" dirty="0" err="1"/>
              <a:t>ObjectInputStream</a:t>
            </a:r>
            <a:r>
              <a:rPr lang="en-US" altLang="zh-CN" sz="2000" dirty="0"/>
              <a:t> </a:t>
            </a:r>
            <a:r>
              <a:rPr lang="en-US" altLang="zh-CN" sz="2000" dirty="0" err="1"/>
              <a:t>ois</a:t>
            </a:r>
            <a:r>
              <a:rPr lang="en-US" altLang="zh-CN" sz="2000" dirty="0"/>
              <a:t>=new </a:t>
            </a:r>
            <a:r>
              <a:rPr lang="en-US" altLang="zh-CN" sz="2000" dirty="0" err="1"/>
              <a:t>ObjectInputStream</a:t>
            </a:r>
            <a:r>
              <a:rPr lang="en-US" altLang="zh-CN" sz="2000" dirty="0"/>
              <a:t>(new </a:t>
            </a:r>
            <a:r>
              <a:rPr lang="en-US" altLang="zh-CN" sz="2000" dirty="0" err="1"/>
              <a:t>FileInputStream</a:t>
            </a:r>
            <a:r>
              <a:rPr lang="en-US" altLang="zh-CN" sz="2000" dirty="0"/>
              <a:t>("book.dat"));    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        book=(Book)</a:t>
            </a:r>
            <a:r>
              <a:rPr lang="en-US" altLang="zh-CN" sz="2000" dirty="0" err="1"/>
              <a:t>ois.readObject</a:t>
            </a:r>
            <a:r>
              <a:rPr lang="en-US" altLang="zh-CN" sz="2000" dirty="0"/>
              <a:t>(); </a:t>
            </a:r>
            <a:endParaRPr lang="zh-CN" altLang="en-US" sz="2000" dirty="0"/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zh-CN" altLang="en-US" sz="2000" dirty="0"/>
              <a:t>	     </a:t>
            </a:r>
            <a:r>
              <a:rPr lang="en-US" altLang="zh-CN" sz="2000" dirty="0" err="1"/>
              <a:t>ois.close</a:t>
            </a:r>
            <a:r>
              <a:rPr lang="en-US" altLang="zh-CN" sz="2000" dirty="0"/>
              <a:t>(); 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zh-CN" altLang="en-US" sz="2000" dirty="0"/>
              <a:t> 	     </a:t>
            </a:r>
            <a:r>
              <a:rPr lang="en-US" altLang="zh-CN" sz="2000" dirty="0" err="1"/>
              <a:t>System.out.println</a:t>
            </a:r>
            <a:r>
              <a:rPr lang="en-US" altLang="zh-CN" sz="2000" dirty="0"/>
              <a:t>("ID is:"+book.id);  </a:t>
            </a:r>
            <a:endParaRPr lang="zh-CN" altLang="en-US" sz="2000" dirty="0"/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zh-CN" altLang="en-US" sz="2000" dirty="0"/>
              <a:t>	     </a:t>
            </a:r>
            <a:r>
              <a:rPr lang="en-US" altLang="zh-CN" sz="2000" dirty="0" err="1"/>
              <a:t>System.out.println</a:t>
            </a:r>
            <a:r>
              <a:rPr lang="en-US" altLang="zh-CN" sz="2000" dirty="0"/>
              <a:t>("name is:"+book.name);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	     </a:t>
            </a:r>
            <a:r>
              <a:rPr lang="en-US" altLang="zh-CN" sz="2000" dirty="0" err="1"/>
              <a:t>System.out.println</a:t>
            </a:r>
            <a:r>
              <a:rPr lang="en-US" altLang="zh-CN" sz="2000" dirty="0"/>
              <a:t>("author is:"+</a:t>
            </a:r>
            <a:r>
              <a:rPr lang="en-US" altLang="zh-CN" sz="2000" dirty="0" err="1"/>
              <a:t>book.author</a:t>
            </a:r>
            <a:r>
              <a:rPr lang="en-US" altLang="zh-CN" sz="2000" dirty="0"/>
              <a:t>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	     </a:t>
            </a:r>
            <a:r>
              <a:rPr lang="en-US" altLang="zh-CN" sz="2000" dirty="0" err="1"/>
              <a:t>System.out.println</a:t>
            </a:r>
            <a:r>
              <a:rPr lang="en-US" altLang="zh-CN" sz="2000" dirty="0"/>
              <a:t>("price is:"+</a:t>
            </a:r>
            <a:r>
              <a:rPr lang="en-US" altLang="zh-CN" sz="2000" dirty="0" err="1"/>
              <a:t>book.price</a:t>
            </a:r>
            <a:r>
              <a:rPr lang="en-US" altLang="zh-CN" sz="2000" dirty="0"/>
              <a:t>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	}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}</a:t>
            </a:r>
          </a:p>
          <a:p>
            <a:pPr eaLnBrk="1" hangingPunct="1"/>
            <a:endParaRPr lang="en-US" altLang="zh-CN" sz="2000" dirty="0"/>
          </a:p>
        </p:txBody>
      </p:sp>
      <p:sp>
        <p:nvSpPr>
          <p:cNvPr id="3" name="文本框 2"/>
          <p:cNvSpPr txBox="1"/>
          <p:nvPr/>
        </p:nvSpPr>
        <p:spPr>
          <a:xfrm>
            <a:off x="8040216" y="4149080"/>
            <a:ext cx="3456384" cy="240065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运行结果：</a:t>
            </a:r>
          </a:p>
          <a:p>
            <a:pPr lvl="1" eaLnBrk="1" hangingPunct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将生成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book.dat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文件，并在屏幕显示：</a:t>
            </a:r>
          </a:p>
          <a:p>
            <a:pPr lvl="1" eaLnBrk="1" hangingPunct="1"/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ID is:100032</a:t>
            </a:r>
          </a:p>
          <a:p>
            <a:pPr lvl="1" eaLnBrk="1" hangingPunct="1"/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name is:Java Programming Skills</a:t>
            </a:r>
          </a:p>
          <a:p>
            <a:pPr lvl="1" eaLnBrk="1" hangingPunct="1"/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author is:Wang Sir</a:t>
            </a:r>
          </a:p>
          <a:p>
            <a:pPr lvl="1" eaLnBrk="1" hangingPunct="1"/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price is:30.0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F149744-F627-0677-0CE7-D34C3C24A86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159938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对象序列化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110135DB-F312-4E98-192C-3923A95F600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323931849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9" name="Rectangle 1027"/>
          <p:cNvSpPr>
            <a:spLocks noGrp="1" noChangeArrowheads="1"/>
          </p:cNvSpPr>
          <p:nvPr>
            <p:ph idx="4294967295"/>
          </p:nvPr>
        </p:nvSpPr>
        <p:spPr>
          <a:xfrm>
            <a:off x="609600" y="1600201"/>
            <a:ext cx="10972800" cy="4061048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</a:pPr>
            <a:r>
              <a:rPr lang="zh-CN" altLang="en-US" sz="2400" dirty="0"/>
              <a:t>实现该接口可以控制对象的读写</a:t>
            </a:r>
            <a:endParaRPr lang="en-US" altLang="zh-CN" sz="2400" dirty="0"/>
          </a:p>
          <a:p>
            <a:pPr>
              <a:lnSpc>
                <a:spcPct val="110000"/>
              </a:lnSpc>
            </a:pPr>
            <a:r>
              <a:rPr lang="en-US" altLang="zh-CN" sz="2400" dirty="0"/>
              <a:t>API</a:t>
            </a:r>
            <a:r>
              <a:rPr lang="zh-CN" altLang="en-US" sz="2400" dirty="0"/>
              <a:t>中的说明为</a:t>
            </a:r>
          </a:p>
          <a:p>
            <a:pPr lvl="1">
              <a:lnSpc>
                <a:spcPct val="110000"/>
              </a:lnSpc>
              <a:buFont typeface="Wingdings 2" panose="05020102010507070707" pitchFamily="18" charset="2"/>
              <a:buNone/>
            </a:pPr>
            <a:r>
              <a:rPr lang="en-US" altLang="zh-CN" sz="2200" dirty="0"/>
              <a:t>public interface Externalizable extends Serializable</a:t>
            </a:r>
          </a:p>
          <a:p>
            <a:pPr>
              <a:lnSpc>
                <a:spcPct val="110000"/>
              </a:lnSpc>
            </a:pPr>
            <a:r>
              <a:rPr lang="zh-CN" altLang="en-US" sz="2400" dirty="0"/>
              <a:t>其中有两个方法</a:t>
            </a:r>
            <a:r>
              <a:rPr lang="en-US" altLang="zh-CN" sz="2200" dirty="0" err="1">
                <a:solidFill>
                  <a:schemeClr val="hlink"/>
                </a:solidFill>
              </a:rPr>
              <a:t>writeExternal</a:t>
            </a:r>
            <a:r>
              <a:rPr lang="en-US" altLang="zh-CN" sz="2200" dirty="0">
                <a:solidFill>
                  <a:schemeClr val="hlink"/>
                </a:solidFill>
              </a:rPr>
              <a:t>()</a:t>
            </a:r>
            <a:r>
              <a:rPr lang="zh-CN" altLang="en-US" sz="2400" dirty="0"/>
              <a:t>和</a:t>
            </a:r>
            <a:r>
              <a:rPr lang="en-US" altLang="zh-CN" sz="2200" dirty="0" err="1">
                <a:solidFill>
                  <a:schemeClr val="hlink"/>
                </a:solidFill>
              </a:rPr>
              <a:t>readExternal</a:t>
            </a:r>
            <a:r>
              <a:rPr lang="en-US" altLang="zh-CN" sz="2200" dirty="0">
                <a:solidFill>
                  <a:schemeClr val="hlink"/>
                </a:solidFill>
              </a:rPr>
              <a:t>()</a:t>
            </a:r>
            <a:r>
              <a:rPr lang="en-US" altLang="zh-CN" sz="2400" dirty="0"/>
              <a:t>，</a:t>
            </a:r>
            <a:r>
              <a:rPr lang="zh-CN" altLang="en-US" sz="2400" dirty="0"/>
              <a:t>因此实现该接口的类必须实现这两个方法</a:t>
            </a:r>
          </a:p>
          <a:p>
            <a:pPr>
              <a:lnSpc>
                <a:spcPct val="110000"/>
              </a:lnSpc>
            </a:pPr>
            <a:r>
              <a:rPr lang="en-US" altLang="zh-CN" sz="2200" dirty="0" err="1">
                <a:solidFill>
                  <a:schemeClr val="tx2"/>
                </a:solidFill>
              </a:rPr>
              <a:t>ObjectOutputStream</a:t>
            </a:r>
            <a:r>
              <a:rPr lang="zh-CN" altLang="en-US" sz="2400" dirty="0"/>
              <a:t>的</a:t>
            </a:r>
            <a:r>
              <a:rPr lang="en-US" altLang="zh-CN" sz="2200" dirty="0" err="1"/>
              <a:t>writeObject</a:t>
            </a:r>
            <a:r>
              <a:rPr lang="en-US" altLang="zh-CN" sz="2200" dirty="0"/>
              <a:t>()</a:t>
            </a:r>
            <a:r>
              <a:rPr lang="zh-CN" altLang="en-US" sz="2400" dirty="0"/>
              <a:t>方法只写入对象的标识，然后调用对象所属类的</a:t>
            </a:r>
            <a:r>
              <a:rPr lang="en-US" altLang="zh-CN" sz="2200" dirty="0" err="1">
                <a:solidFill>
                  <a:schemeClr val="hlink"/>
                </a:solidFill>
              </a:rPr>
              <a:t>writeExternal</a:t>
            </a:r>
            <a:r>
              <a:rPr lang="en-US" altLang="zh-CN" sz="2200" dirty="0">
                <a:solidFill>
                  <a:schemeClr val="hlink"/>
                </a:solidFill>
              </a:rPr>
              <a:t>()</a:t>
            </a:r>
          </a:p>
          <a:p>
            <a:pPr>
              <a:lnSpc>
                <a:spcPct val="110000"/>
              </a:lnSpc>
            </a:pPr>
            <a:r>
              <a:rPr lang="en-US" altLang="zh-CN" sz="2200" dirty="0" err="1">
                <a:solidFill>
                  <a:schemeClr val="tx2"/>
                </a:solidFill>
              </a:rPr>
              <a:t>ObjectInputStream</a:t>
            </a:r>
            <a:r>
              <a:rPr lang="zh-CN" altLang="en-US" sz="2400" dirty="0"/>
              <a:t>的</a:t>
            </a:r>
            <a:r>
              <a:rPr lang="en-US" altLang="zh-CN" sz="2200" dirty="0" err="1"/>
              <a:t>readObject</a:t>
            </a:r>
            <a:r>
              <a:rPr lang="en-US" altLang="zh-CN" sz="2200" dirty="0"/>
              <a:t>()</a:t>
            </a:r>
            <a:r>
              <a:rPr lang="zh-CN" altLang="en-US" sz="2400" dirty="0"/>
              <a:t>方法调用对象所属类的</a:t>
            </a:r>
            <a:r>
              <a:rPr lang="en-US" altLang="zh-CN" sz="2200" dirty="0" err="1">
                <a:solidFill>
                  <a:schemeClr val="hlink"/>
                </a:solidFill>
              </a:rPr>
              <a:t>readExternal</a:t>
            </a:r>
            <a:r>
              <a:rPr lang="en-US" altLang="zh-CN" sz="2200" dirty="0">
                <a:solidFill>
                  <a:schemeClr val="hlink"/>
                </a:solidFill>
              </a:rPr>
              <a:t>()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DAC52B-2304-A459-5B33-ED037FB4190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3384074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Externalizable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接口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A4D99917-7E45-F0C4-0598-F64D327E880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1111822628"/>
      </p:ext>
    </p:extLst>
  </p:cSld>
  <p:clrMapOvr>
    <a:masterClrMapping/>
  </p:clrMapOvr>
  <p:transition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8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51384" y="2103437"/>
            <a:ext cx="10972800" cy="4525963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</a:pPr>
            <a:r>
              <a:rPr lang="zh-CN" altLang="en-US" sz="2200" dirty="0"/>
              <a:t>可跳转到文件的任意位置读/写数据</a:t>
            </a:r>
          </a:p>
          <a:p>
            <a:pPr>
              <a:lnSpc>
                <a:spcPct val="110000"/>
              </a:lnSpc>
            </a:pPr>
            <a:r>
              <a:rPr lang="zh-CN" altLang="en-US" sz="2200" dirty="0"/>
              <a:t>可在随机文件中插入数据，而不破坏该文件的其他数据</a:t>
            </a:r>
          </a:p>
          <a:p>
            <a:pPr>
              <a:lnSpc>
                <a:spcPct val="110000"/>
              </a:lnSpc>
            </a:pPr>
            <a:r>
              <a:rPr lang="zh-CN" altLang="en-US" sz="2200" dirty="0"/>
              <a:t>实现了</a:t>
            </a:r>
            <a:r>
              <a:rPr lang="en-US" altLang="zh-CN" sz="2200" dirty="0" err="1"/>
              <a:t>DataInput</a:t>
            </a:r>
            <a:r>
              <a:rPr lang="en-US" altLang="zh-CN" sz="2200" dirty="0"/>
              <a:t> </a:t>
            </a:r>
            <a:r>
              <a:rPr lang="zh-CN" altLang="en-US" sz="2200" dirty="0"/>
              <a:t>和 </a:t>
            </a:r>
            <a:r>
              <a:rPr lang="en-US" altLang="zh-CN" sz="2200" dirty="0" err="1"/>
              <a:t>DataOutput</a:t>
            </a:r>
            <a:r>
              <a:rPr lang="en-US" altLang="zh-CN" sz="2200" dirty="0"/>
              <a:t> </a:t>
            </a:r>
            <a:r>
              <a:rPr lang="zh-CN" altLang="en-US" sz="2200" dirty="0"/>
              <a:t>接口，可使用普通的读写方法</a:t>
            </a:r>
          </a:p>
          <a:p>
            <a:pPr>
              <a:lnSpc>
                <a:spcPct val="110000"/>
              </a:lnSpc>
            </a:pPr>
            <a:r>
              <a:rPr lang="zh-CN" altLang="en-US" sz="2200" dirty="0"/>
              <a:t>有个位置指示器，指向当前读写处的位置。刚打开文件时，文件指示器指向文件的开头处。对文件指针显式操作的方法有：</a:t>
            </a:r>
          </a:p>
          <a:p>
            <a:pPr lvl="1">
              <a:lnSpc>
                <a:spcPct val="110000"/>
              </a:lnSpc>
            </a:pPr>
            <a:r>
              <a:rPr lang="en-US" altLang="zh-CN" sz="2000" dirty="0"/>
              <a:t>int </a:t>
            </a:r>
            <a:r>
              <a:rPr lang="en-US" altLang="zh-CN" sz="2000" dirty="0" err="1"/>
              <a:t>skipBytes</a:t>
            </a:r>
            <a:r>
              <a:rPr lang="en-US" altLang="zh-CN" sz="2000" dirty="0"/>
              <a:t>(int n)：</a:t>
            </a:r>
            <a:r>
              <a:rPr lang="zh-CN" altLang="en-US" sz="2000" dirty="0"/>
              <a:t>把文件指针向前移动指定的</a:t>
            </a:r>
            <a:r>
              <a:rPr lang="en-US" altLang="zh-CN" sz="2000" dirty="0"/>
              <a:t>n</a:t>
            </a:r>
            <a:r>
              <a:rPr lang="zh-CN" altLang="en-US" sz="2000" dirty="0"/>
              <a:t>个字节</a:t>
            </a:r>
          </a:p>
          <a:p>
            <a:pPr lvl="1">
              <a:lnSpc>
                <a:spcPct val="110000"/>
              </a:lnSpc>
            </a:pPr>
            <a:r>
              <a:rPr lang="en-US" altLang="zh-CN" sz="2000" dirty="0"/>
              <a:t>void seek(long)：</a:t>
            </a:r>
            <a:r>
              <a:rPr lang="zh-CN" altLang="en-US" sz="2000" dirty="0"/>
              <a:t>移动文件指针到指定的位置。</a:t>
            </a:r>
          </a:p>
          <a:p>
            <a:pPr lvl="1">
              <a:lnSpc>
                <a:spcPct val="110000"/>
              </a:lnSpc>
            </a:pPr>
            <a:r>
              <a:rPr lang="en-US" altLang="zh-CN" sz="2000" dirty="0"/>
              <a:t>long </a:t>
            </a:r>
            <a:r>
              <a:rPr lang="en-US" altLang="zh-CN" sz="2000" dirty="0" err="1"/>
              <a:t>getFilePointer</a:t>
            </a:r>
            <a:r>
              <a:rPr lang="en-US" altLang="zh-CN" sz="2000" dirty="0"/>
              <a:t>()：</a:t>
            </a:r>
            <a:r>
              <a:rPr lang="zh-CN" altLang="en-US" sz="2000" dirty="0"/>
              <a:t>得到当前的文件指针。</a:t>
            </a:r>
          </a:p>
          <a:p>
            <a:pPr>
              <a:lnSpc>
                <a:spcPct val="110000"/>
              </a:lnSpc>
            </a:pPr>
            <a:r>
              <a:rPr lang="zh-CN" altLang="en-US" sz="2200" dirty="0"/>
              <a:t>在等长记录格式文件的随机读取时有很大的优势，但仅限于操作文件，不能访问其它</a:t>
            </a:r>
            <a:r>
              <a:rPr lang="en-US" altLang="zh-CN" sz="2200" dirty="0"/>
              <a:t>IO</a:t>
            </a:r>
            <a:r>
              <a:rPr lang="zh-CN" altLang="en-US" sz="2200" dirty="0"/>
              <a:t>设备，如网络、内存映像等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F2345B2-D3D1-CF7F-5EC9-AA7676D1B8A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37596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随机文件读写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01359C-4D0D-D7FE-B731-D1E1610AC2C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15386021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1600200"/>
            <a:ext cx="10972800" cy="4525963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400"/>
              <a:t>构造方法</a:t>
            </a:r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Font typeface="Wingdings 2" panose="05020102010507070707" pitchFamily="18" charset="2"/>
              <a:buNone/>
            </a:pPr>
            <a:r>
              <a:rPr lang="en-US" altLang="zh-CN" sz="2000"/>
              <a:t>public RandomAccessFile(File file,String mode)</a:t>
            </a:r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Font typeface="Wingdings 2" panose="05020102010507070707" pitchFamily="18" charset="2"/>
              <a:buNone/>
            </a:pPr>
            <a:r>
              <a:rPr lang="en-US" altLang="zh-CN" sz="2000"/>
              <a:t>                 throws FileNotFoundException</a:t>
            </a:r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Font typeface="Wingdings 2" panose="05020102010507070707" pitchFamily="18" charset="2"/>
              <a:buNone/>
            </a:pPr>
            <a:r>
              <a:rPr lang="en-US" altLang="zh-CN" sz="2000"/>
              <a:t>public RandomAccessFile(String name, String mode)</a:t>
            </a:r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Font typeface="Wingdings 2" panose="05020102010507070707" pitchFamily="18" charset="2"/>
              <a:buNone/>
            </a:pPr>
            <a:r>
              <a:rPr lang="en-US" altLang="zh-CN" sz="2000"/>
              <a:t>                 throws FileNotFoundException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/>
              <a:t>构造</a:t>
            </a:r>
            <a:r>
              <a:rPr lang="en-US" altLang="zh-CN" sz="2400"/>
              <a:t>RandomAccessFile</a:t>
            </a:r>
            <a:r>
              <a:rPr lang="zh-CN" altLang="en-US" sz="2400"/>
              <a:t>对象时，要指出操作：仅读，还是读写</a:t>
            </a:r>
          </a:p>
          <a:p>
            <a:pPr lvl="2" eaLnBrk="1" hangingPunct="1">
              <a:lnSpc>
                <a:spcPct val="120000"/>
              </a:lnSpc>
              <a:buFont typeface="Wingdings 2" panose="05020102010507070707" pitchFamily="18" charset="2"/>
              <a:buNone/>
            </a:pPr>
            <a:r>
              <a:rPr lang="en-US" altLang="zh-CN" sz="2000"/>
              <a:t>new RandomAccessFile("farrago.txt", "r");</a:t>
            </a:r>
          </a:p>
          <a:p>
            <a:pPr lvl="2" eaLnBrk="1" hangingPunct="1">
              <a:lnSpc>
                <a:spcPct val="120000"/>
              </a:lnSpc>
              <a:buFont typeface="Wingdings 2" panose="05020102010507070707" pitchFamily="18" charset="2"/>
              <a:buNone/>
            </a:pPr>
            <a:r>
              <a:rPr lang="en-US" altLang="zh-CN" sz="2000"/>
              <a:t>new RandomAccessFile("farrago.txt", "rw");</a:t>
            </a:r>
            <a:endParaRPr lang="zh-CN" altLang="en-US" sz="2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AA7E055-ED8E-4713-0706-37554AFEB82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345608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 err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RandomAccessFile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4393F8-BC8B-022A-A16D-1735556A6ED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2380531142"/>
      </p:ext>
    </p:extLst>
  </p:cSld>
  <p:clrMapOvr>
    <a:masterClrMapping/>
  </p:clrMapOvr>
  <p:transition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5" name="Rectangle 8"/>
          <p:cNvSpPr>
            <a:spLocks noChangeArrowheads="1"/>
          </p:cNvSpPr>
          <p:nvPr/>
        </p:nvSpPr>
        <p:spPr bwMode="auto">
          <a:xfrm>
            <a:off x="7620000" y="4800600"/>
            <a:ext cx="3048000" cy="1752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aphicFrame>
        <p:nvGraphicFramePr>
          <p:cNvPr id="233476" name="Object 1024"/>
          <p:cNvGraphicFramePr>
            <a:graphicFrameLocks noChangeAspect="1"/>
          </p:cNvGraphicFramePr>
          <p:nvPr/>
        </p:nvGraphicFramePr>
        <p:xfrm>
          <a:off x="1770337" y="1821950"/>
          <a:ext cx="8532589" cy="4772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5354386" imgH="3001780" progId="Word.Document.8">
                  <p:embed/>
                </p:oleObj>
              </mc:Choice>
              <mc:Fallback>
                <p:oleObj name="Document" r:id="rId5" imgW="5354386" imgH="30017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0337" y="1821950"/>
                        <a:ext cx="8532589" cy="47724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D718D211-55E6-7E2A-6004-CF751E17111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4032146" cy="432811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dirty="0" err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RandomAccessFile</a:t>
            </a: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类常用</a:t>
            </a:r>
            <a:r>
              <a:rPr lang="en-US" altLang="zh-CN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API</a:t>
            </a:r>
            <a:endParaRPr lang="zh-CN" altLang="en-US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思源黑体 CN Heavy" panose="020B0A00000000000000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8466E8-C26E-E973-0482-9529B14BFA9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271147010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4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1344" y="1772816"/>
            <a:ext cx="11881320" cy="4421088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2000" dirty="0"/>
              <a:t>//</a:t>
            </a:r>
            <a:r>
              <a:rPr lang="zh-CN" altLang="en-US" sz="2000" dirty="0"/>
              <a:t>创建一个雇员类，包括姓名、年龄。姓名不超过8个字符，年龄是</a:t>
            </a:r>
            <a:r>
              <a:rPr lang="en-US" altLang="zh-CN" sz="2000" dirty="0"/>
              <a:t>int</a:t>
            </a:r>
            <a:r>
              <a:rPr lang="zh-CN" altLang="en-US" sz="2000" dirty="0"/>
              <a:t>类型。每条记录固定为20个字节。使用</a:t>
            </a:r>
            <a:r>
              <a:rPr lang="en-US" altLang="zh-CN" sz="2000" dirty="0" err="1"/>
              <a:t>RandomAccessFile</a:t>
            </a:r>
            <a:r>
              <a:rPr lang="zh-CN" altLang="en-US" sz="2000" dirty="0"/>
              <a:t>向文件添加、修改、读取雇员信息</a:t>
            </a:r>
          </a:p>
          <a:p>
            <a:pPr lvl="1" indent="-742950"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import java.io.*;</a:t>
            </a:r>
          </a:p>
          <a:p>
            <a:pPr lvl="1" indent="-742950"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class Employee </a:t>
            </a:r>
            <a:r>
              <a:rPr lang="zh-CN" altLang="en-US" sz="2000" dirty="0"/>
              <a:t>{</a:t>
            </a:r>
          </a:p>
          <a:p>
            <a:pPr lvl="1" indent="-742950"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char name[]={'\u0000','\u0000','\u0000','\u0000','\u0000','\u0000','\u0000','\u0000'};</a:t>
            </a:r>
          </a:p>
          <a:p>
            <a:pPr lvl="1" indent="-742950"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int age; </a:t>
            </a:r>
          </a:p>
          <a:p>
            <a:pPr lvl="1" indent="-742950"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public </a:t>
            </a:r>
            <a:r>
              <a:rPr lang="en-US" altLang="zh-CN" sz="2000" dirty="0">
                <a:solidFill>
                  <a:schemeClr val="hlink"/>
                </a:solidFill>
              </a:rPr>
              <a:t>Employee(String </a:t>
            </a:r>
            <a:r>
              <a:rPr lang="en-US" altLang="zh-CN" sz="2000" dirty="0" err="1">
                <a:solidFill>
                  <a:schemeClr val="hlink"/>
                </a:solidFill>
              </a:rPr>
              <a:t>name,int</a:t>
            </a:r>
            <a:r>
              <a:rPr lang="en-US" altLang="zh-CN" sz="2000" dirty="0">
                <a:solidFill>
                  <a:schemeClr val="hlink"/>
                </a:solidFill>
              </a:rPr>
              <a:t> age)</a:t>
            </a:r>
            <a:r>
              <a:rPr lang="en-US" altLang="zh-CN" sz="2000" dirty="0"/>
              <a:t> throws Exception </a:t>
            </a:r>
            <a:r>
              <a:rPr lang="zh-CN" altLang="en-US" sz="2000" dirty="0"/>
              <a:t>{</a:t>
            </a:r>
          </a:p>
          <a:p>
            <a:pPr lvl="1" indent="-742950"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  if(</a:t>
            </a:r>
            <a:r>
              <a:rPr lang="en-US" altLang="zh-CN" sz="2000" dirty="0" err="1"/>
              <a:t>name.toCharArray</a:t>
            </a:r>
            <a:r>
              <a:rPr lang="en-US" altLang="zh-CN" sz="2000" dirty="0"/>
              <a:t> ().length&gt;8) </a:t>
            </a:r>
            <a:r>
              <a:rPr lang="zh-CN" altLang="en-US" sz="2000" dirty="0"/>
              <a:t>	     </a:t>
            </a:r>
          </a:p>
          <a:p>
            <a:pPr lvl="1" indent="-742950"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      </a:t>
            </a:r>
            <a:r>
              <a:rPr lang="en-US" altLang="zh-CN" sz="2000" dirty="0" err="1"/>
              <a:t>System.arraycopy</a:t>
            </a:r>
            <a:r>
              <a:rPr lang="en-US" altLang="zh-CN" sz="2000" dirty="0"/>
              <a:t>(</a:t>
            </a:r>
            <a:r>
              <a:rPr lang="en-US" altLang="zh-CN" sz="2000" dirty="0" err="1"/>
              <a:t>name.toCharArray</a:t>
            </a:r>
            <a:r>
              <a:rPr lang="en-US" altLang="zh-CN" sz="2000" dirty="0"/>
              <a:t>(),0,this.name,0,8);</a:t>
            </a:r>
          </a:p>
          <a:p>
            <a:pPr lvl="1" indent="-742950"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  else     </a:t>
            </a:r>
          </a:p>
          <a:p>
            <a:pPr lvl="1" indent="-742950"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      </a:t>
            </a:r>
            <a:r>
              <a:rPr lang="en-US" altLang="zh-CN" sz="2000" dirty="0" err="1"/>
              <a:t>System.arraycopy</a:t>
            </a:r>
            <a:r>
              <a:rPr lang="en-US" altLang="zh-CN" sz="2000" dirty="0"/>
              <a:t>(</a:t>
            </a:r>
            <a:r>
              <a:rPr lang="en-US" altLang="zh-CN" sz="2000" dirty="0" err="1"/>
              <a:t>name.toCharArray</a:t>
            </a:r>
            <a:r>
              <a:rPr lang="en-US" altLang="zh-CN" sz="2000" dirty="0"/>
              <a:t>(),0,this.name,0,name.toCharArray().length);</a:t>
            </a:r>
          </a:p>
          <a:p>
            <a:pPr lvl="1" indent="-742950"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	    </a:t>
            </a:r>
            <a:r>
              <a:rPr lang="en-US" altLang="zh-CN" sz="2000" dirty="0" err="1"/>
              <a:t>this.age</a:t>
            </a:r>
            <a:r>
              <a:rPr lang="en-US" altLang="zh-CN" sz="2000" dirty="0"/>
              <a:t>=age;</a:t>
            </a:r>
          </a:p>
          <a:p>
            <a:pPr lvl="1" indent="-742950"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}</a:t>
            </a:r>
          </a:p>
          <a:p>
            <a:pPr lvl="1" indent="-742950"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}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34D276E-B61D-D966-9CDD-39318D8DD65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07670" y="980440"/>
            <a:ext cx="237596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随机文件读写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00AFC81-C21D-5563-E12D-2B81612B38E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3064382155"/>
      </p:ext>
    </p:extLst>
  </p:cSld>
  <p:clrMapOvr>
    <a:masterClrMapping/>
  </p:clrMapOvr>
  <p:transition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271464" y="1169368"/>
            <a:ext cx="9289032" cy="5688632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Autofit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public class </a:t>
            </a:r>
            <a:r>
              <a:rPr lang="en-US" altLang="zh-CN" sz="1800" dirty="0" err="1"/>
              <a:t>RandomAccessFileTester</a:t>
            </a:r>
            <a:r>
              <a:rPr lang="en-US" altLang="zh-CN" sz="1800" dirty="0"/>
              <a:t> </a:t>
            </a:r>
            <a:r>
              <a:rPr lang="zh-CN" altLang="en-US" sz="1800" dirty="0"/>
              <a:t>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zh-CN" altLang="en-US" sz="1800" dirty="0"/>
              <a:t>	</a:t>
            </a:r>
            <a:r>
              <a:rPr lang="en-US" altLang="zh-CN" sz="1800" dirty="0"/>
              <a:t>String Filename;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	public </a:t>
            </a:r>
            <a:r>
              <a:rPr lang="en-US" altLang="zh-CN" sz="1800" dirty="0" err="1"/>
              <a:t>RandomAccessFileTester</a:t>
            </a:r>
            <a:r>
              <a:rPr lang="en-US" altLang="zh-CN" sz="1800" dirty="0"/>
              <a:t> (String Filename) </a:t>
            </a:r>
            <a:r>
              <a:rPr lang="zh-CN" altLang="en-US" sz="1800" dirty="0"/>
              <a:t>	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zh-CN" altLang="en-US" sz="1800" dirty="0"/>
              <a:t>	    </a:t>
            </a:r>
            <a:r>
              <a:rPr lang="en-US" altLang="zh-CN" sz="1800" dirty="0" err="1"/>
              <a:t>this.Filename</a:t>
            </a:r>
            <a:r>
              <a:rPr lang="en-US" altLang="zh-CN" sz="1800" dirty="0"/>
              <a:t>=Filename;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	}	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	public void </a:t>
            </a:r>
            <a:r>
              <a:rPr lang="en-US" altLang="zh-CN" sz="1800" dirty="0" err="1">
                <a:solidFill>
                  <a:srgbClr val="7030A0"/>
                </a:solidFill>
              </a:rPr>
              <a:t>writeEmployee</a:t>
            </a:r>
            <a:r>
              <a:rPr lang="en-US" altLang="zh-CN" sz="1800" dirty="0">
                <a:solidFill>
                  <a:srgbClr val="7030A0"/>
                </a:solidFill>
              </a:rPr>
              <a:t>(Employee </a:t>
            </a:r>
            <a:r>
              <a:rPr lang="en-US" altLang="zh-CN" sz="1800" dirty="0" err="1">
                <a:solidFill>
                  <a:srgbClr val="7030A0"/>
                </a:solidFill>
              </a:rPr>
              <a:t>e,int</a:t>
            </a:r>
            <a:r>
              <a:rPr lang="en-US" altLang="zh-CN" sz="1800" dirty="0">
                <a:solidFill>
                  <a:srgbClr val="7030A0"/>
                </a:solidFill>
              </a:rPr>
              <a:t> n) </a:t>
            </a:r>
            <a:r>
              <a:rPr lang="en-US" altLang="zh-CN" sz="1800" dirty="0"/>
              <a:t>throws Exception </a:t>
            </a:r>
            <a:r>
              <a:rPr lang="zh-CN" altLang="en-US" sz="1800" dirty="0"/>
              <a:t>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zh-CN" altLang="en-US" sz="1800" dirty="0"/>
              <a:t>	    </a:t>
            </a:r>
            <a:r>
              <a:rPr lang="en-US" altLang="zh-CN" sz="1800" dirty="0" err="1"/>
              <a:t>RandomAccessFile</a:t>
            </a:r>
            <a:r>
              <a:rPr lang="en-US" altLang="zh-CN" sz="1800" dirty="0"/>
              <a:t> </a:t>
            </a:r>
            <a:r>
              <a:rPr lang="en-US" altLang="zh-CN" sz="1800" dirty="0" err="1"/>
              <a:t>ra</a:t>
            </a:r>
            <a:r>
              <a:rPr lang="en-US" altLang="zh-CN" sz="1800" dirty="0"/>
              <a:t>=new </a:t>
            </a:r>
            <a:r>
              <a:rPr lang="en-US" altLang="zh-CN" sz="1800" dirty="0" err="1"/>
              <a:t>RandomAccessFile</a:t>
            </a:r>
            <a:r>
              <a:rPr lang="en-US" altLang="zh-CN" sz="1800" dirty="0"/>
              <a:t>(Filename,"</a:t>
            </a:r>
            <a:r>
              <a:rPr lang="en-US" altLang="zh-CN" sz="1800" dirty="0" err="1"/>
              <a:t>rw</a:t>
            </a:r>
            <a:r>
              <a:rPr lang="en-US" altLang="zh-CN" sz="1800" dirty="0"/>
              <a:t>");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	    </a:t>
            </a:r>
            <a:r>
              <a:rPr lang="en-US" altLang="zh-CN" sz="1800" dirty="0" err="1"/>
              <a:t>ra.seek</a:t>
            </a:r>
            <a:r>
              <a:rPr lang="en-US" altLang="zh-CN" sz="1800" dirty="0"/>
              <a:t>(n*20); //</a:t>
            </a:r>
            <a:r>
              <a:rPr lang="zh-CN" altLang="en-US" sz="1800" dirty="0"/>
              <a:t>将位置指示器移到指定位置上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zh-CN" altLang="en-US" sz="1800" dirty="0"/>
              <a:t>	    </a:t>
            </a:r>
            <a:r>
              <a:rPr lang="en-US" altLang="zh-CN" sz="1800" dirty="0"/>
              <a:t>for(int I=0;I&lt;8;I++)  </a:t>
            </a:r>
            <a:r>
              <a:rPr lang="en-US" altLang="zh-CN" sz="1800" dirty="0" err="1">
                <a:solidFill>
                  <a:schemeClr val="hlink"/>
                </a:solidFill>
              </a:rPr>
              <a:t>ra.writeChar</a:t>
            </a:r>
            <a:r>
              <a:rPr lang="en-US" altLang="zh-CN" sz="1800" dirty="0"/>
              <a:t> (e.name[I]);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	    </a:t>
            </a:r>
            <a:r>
              <a:rPr lang="en-US" altLang="zh-CN" sz="1800" dirty="0" err="1">
                <a:solidFill>
                  <a:schemeClr val="hlink"/>
                </a:solidFill>
              </a:rPr>
              <a:t>ra.writeInt</a:t>
            </a:r>
            <a:r>
              <a:rPr lang="en-US" altLang="zh-CN" sz="1800" dirty="0"/>
              <a:t>(</a:t>
            </a:r>
            <a:r>
              <a:rPr lang="en-US" altLang="zh-CN" sz="1800" dirty="0" err="1"/>
              <a:t>e.age</a:t>
            </a:r>
            <a:r>
              <a:rPr lang="en-US" altLang="zh-CN" sz="1800" dirty="0"/>
              <a:t>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	    </a:t>
            </a:r>
            <a:r>
              <a:rPr lang="en-US" altLang="zh-CN" sz="1800" dirty="0" err="1"/>
              <a:t>ra.close</a:t>
            </a:r>
            <a:r>
              <a:rPr lang="en-US" altLang="zh-CN" sz="1800" dirty="0"/>
              <a:t>();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	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   public void </a:t>
            </a:r>
            <a:r>
              <a:rPr lang="en-US" altLang="zh-CN" sz="1800" dirty="0" err="1">
                <a:solidFill>
                  <a:srgbClr val="7030A0"/>
                </a:solidFill>
              </a:rPr>
              <a:t>readEmployee</a:t>
            </a:r>
            <a:r>
              <a:rPr lang="en-US" altLang="zh-CN" sz="1800" dirty="0">
                <a:solidFill>
                  <a:srgbClr val="7030A0"/>
                </a:solidFill>
              </a:rPr>
              <a:t>(int n)</a:t>
            </a:r>
            <a:r>
              <a:rPr lang="en-US" altLang="zh-CN" sz="1800" dirty="0"/>
              <a:t> throws Exception </a:t>
            </a:r>
            <a:r>
              <a:rPr lang="zh-CN" altLang="en-US" sz="1800" dirty="0"/>
              <a:t>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zh-CN" altLang="en-US" sz="1800" dirty="0"/>
              <a:t>	    </a:t>
            </a:r>
            <a:r>
              <a:rPr lang="en-US" altLang="zh-CN" sz="1800" dirty="0"/>
              <a:t>char </a:t>
            </a:r>
            <a:r>
              <a:rPr lang="en-US" altLang="zh-CN" sz="1800" dirty="0" err="1"/>
              <a:t>buf</a:t>
            </a:r>
            <a:r>
              <a:rPr lang="en-US" altLang="zh-CN" sz="1800" dirty="0"/>
              <a:t>[]=new char[8];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	    </a:t>
            </a:r>
            <a:r>
              <a:rPr lang="en-US" altLang="zh-CN" sz="1800" dirty="0" err="1"/>
              <a:t>RandomAccessFile</a:t>
            </a:r>
            <a:r>
              <a:rPr lang="en-US" altLang="zh-CN" sz="1800" dirty="0"/>
              <a:t> </a:t>
            </a:r>
            <a:r>
              <a:rPr lang="en-US" altLang="zh-CN" sz="1800" dirty="0" err="1"/>
              <a:t>ra</a:t>
            </a:r>
            <a:r>
              <a:rPr lang="en-US" altLang="zh-CN" sz="1800" dirty="0"/>
              <a:t>=new </a:t>
            </a:r>
            <a:r>
              <a:rPr lang="en-US" altLang="zh-CN" sz="1800" dirty="0" err="1"/>
              <a:t>RandomAccessFile</a:t>
            </a:r>
            <a:r>
              <a:rPr lang="en-US" altLang="zh-CN" sz="1800" dirty="0"/>
              <a:t>(</a:t>
            </a:r>
            <a:r>
              <a:rPr lang="en-US" altLang="zh-CN" sz="1800" dirty="0" err="1"/>
              <a:t>Filename,"r</a:t>
            </a:r>
            <a:r>
              <a:rPr lang="en-US" altLang="zh-CN" sz="1800" dirty="0"/>
              <a:t>");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	    </a:t>
            </a:r>
            <a:r>
              <a:rPr lang="en-US" altLang="zh-CN" sz="1800" dirty="0" err="1"/>
              <a:t>ra.seek</a:t>
            </a:r>
            <a:r>
              <a:rPr lang="en-US" altLang="zh-CN" sz="1800" dirty="0"/>
              <a:t>(n*20);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	    for(int I=0;I&lt;8;I++) </a:t>
            </a:r>
            <a:r>
              <a:rPr lang="en-US" altLang="zh-CN" sz="1800" dirty="0" err="1"/>
              <a:t>buf</a:t>
            </a:r>
            <a:r>
              <a:rPr lang="en-US" altLang="zh-CN" sz="1800" dirty="0"/>
              <a:t>[I]=</a:t>
            </a:r>
            <a:r>
              <a:rPr lang="en-US" altLang="zh-CN" sz="1800" dirty="0" err="1">
                <a:solidFill>
                  <a:schemeClr val="hlink"/>
                </a:solidFill>
              </a:rPr>
              <a:t>ra.readChar</a:t>
            </a:r>
            <a:r>
              <a:rPr lang="en-US" altLang="zh-CN" sz="1800" dirty="0"/>
              <a:t>();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	    </a:t>
            </a:r>
            <a:r>
              <a:rPr lang="en-US" altLang="zh-CN" sz="1800" dirty="0" err="1"/>
              <a:t>System.out.print</a:t>
            </a:r>
            <a:r>
              <a:rPr lang="en-US" altLang="zh-CN" sz="1800" dirty="0"/>
              <a:t>("name:");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	    </a:t>
            </a:r>
            <a:r>
              <a:rPr lang="en-US" altLang="zh-CN" sz="1800" dirty="0" err="1"/>
              <a:t>System.out.println</a:t>
            </a:r>
            <a:r>
              <a:rPr lang="en-US" altLang="zh-CN" sz="1800" dirty="0"/>
              <a:t>(</a:t>
            </a:r>
            <a:r>
              <a:rPr lang="en-US" altLang="zh-CN" sz="1800" dirty="0" err="1"/>
              <a:t>buf</a:t>
            </a:r>
            <a:r>
              <a:rPr lang="en-US" altLang="zh-CN" sz="1800" dirty="0"/>
              <a:t>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       </a:t>
            </a:r>
            <a:r>
              <a:rPr lang="en-US" altLang="zh-CN" sz="1800" dirty="0" err="1"/>
              <a:t>System.out.println</a:t>
            </a:r>
            <a:r>
              <a:rPr lang="en-US" altLang="zh-CN" sz="1800" dirty="0"/>
              <a:t>("age:"+</a:t>
            </a:r>
            <a:r>
              <a:rPr lang="en-US" altLang="zh-CN" sz="1800" dirty="0" err="1">
                <a:solidFill>
                  <a:schemeClr val="hlink"/>
                </a:solidFill>
              </a:rPr>
              <a:t>ra.readInt</a:t>
            </a:r>
            <a:r>
              <a:rPr lang="en-US" altLang="zh-CN" sz="1800" dirty="0"/>
              <a:t>());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	    </a:t>
            </a:r>
            <a:r>
              <a:rPr lang="en-US" altLang="zh-CN" sz="1800" dirty="0" err="1"/>
              <a:t>ra.close</a:t>
            </a:r>
            <a:r>
              <a:rPr lang="en-US" altLang="zh-CN" sz="1800" dirty="0"/>
              <a:t>();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	}</a:t>
            </a:r>
            <a:endParaRPr lang="zh-CN" altLang="en-US" sz="18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A930892-05A2-52FD-D09E-43795306060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3913828416"/>
      </p:ext>
    </p:extLst>
  </p:cSld>
  <p:clrMapOvr>
    <a:masterClrMapping/>
  </p:clrMapOvr>
  <p:transition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09600" y="1600200"/>
            <a:ext cx="10972800" cy="4525963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	public static void main(String[] 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) throws Exception </a:t>
            </a:r>
            <a:r>
              <a:rPr lang="zh-CN" altLang="en-US" sz="2000" dirty="0"/>
              <a:t>{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2000" dirty="0"/>
              <a:t>       </a:t>
            </a:r>
            <a:r>
              <a:rPr lang="en-US" altLang="zh-CN" sz="2000" dirty="0" err="1"/>
              <a:t>RandomAccessFileTester</a:t>
            </a:r>
            <a:r>
              <a:rPr lang="fr-FR" altLang="zh-CN" sz="2000" dirty="0"/>
              <a:t> t=new </a:t>
            </a:r>
            <a:r>
              <a:rPr lang="en-US" altLang="zh-CN" sz="2000" dirty="0" err="1"/>
              <a:t>RandomAccessFileTester</a:t>
            </a:r>
            <a:r>
              <a:rPr lang="en-US" altLang="zh-CN" sz="2000" dirty="0"/>
              <a:t> </a:t>
            </a:r>
            <a:r>
              <a:rPr lang="fr-FR" altLang="zh-CN" sz="2000" dirty="0"/>
              <a:t>("temp/1.txt");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   Employee e1=new Employee("ZhangSantt",23); 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   Employee e2=new Employee("</a:t>
            </a:r>
            <a:r>
              <a:rPr lang="zh-CN" altLang="en-US" sz="2000" dirty="0"/>
              <a:t>李晓珊</a:t>
            </a:r>
            <a:r>
              <a:rPr lang="en-US" altLang="zh-CN" sz="2000" dirty="0"/>
              <a:t>"</a:t>
            </a:r>
            <a:r>
              <a:rPr lang="zh-CN" altLang="en-US" sz="2000" dirty="0"/>
              <a:t>,33); 	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   Employee e3=new Employee("</a:t>
            </a:r>
            <a:r>
              <a:rPr lang="zh-CN" altLang="en-US" sz="2000" dirty="0"/>
              <a:t>王华</a:t>
            </a:r>
            <a:r>
              <a:rPr lang="en-US" altLang="zh-CN" sz="2000" dirty="0"/>
              <a:t>"</a:t>
            </a:r>
            <a:r>
              <a:rPr lang="zh-CN" altLang="en-US" sz="2000" dirty="0"/>
              <a:t>,19);      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   </a:t>
            </a:r>
            <a:r>
              <a:rPr lang="en-US" altLang="zh-CN" sz="2000" dirty="0" err="1"/>
              <a:t>t.</a:t>
            </a:r>
            <a:r>
              <a:rPr lang="en-US" altLang="zh-CN" sz="2000" dirty="0" err="1">
                <a:solidFill>
                  <a:schemeClr val="tx2"/>
                </a:solidFill>
              </a:rPr>
              <a:t>writeEmployee</a:t>
            </a:r>
            <a:r>
              <a:rPr lang="en-US" altLang="zh-CN" sz="2000" dirty="0"/>
              <a:t>(e1,0); </a:t>
            </a:r>
            <a:endParaRPr lang="zh-CN" altLang="en-US" sz="2000" dirty="0"/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2000" dirty="0"/>
              <a:t>	    </a:t>
            </a:r>
            <a:r>
              <a:rPr lang="en-US" altLang="zh-CN" sz="2000" dirty="0" err="1"/>
              <a:t>t.</a:t>
            </a:r>
            <a:r>
              <a:rPr lang="en-US" altLang="zh-CN" sz="2000" dirty="0" err="1">
                <a:solidFill>
                  <a:schemeClr val="tx2"/>
                </a:solidFill>
              </a:rPr>
              <a:t>writeEmployee</a:t>
            </a:r>
            <a:r>
              <a:rPr lang="en-US" altLang="zh-CN" sz="2000" dirty="0"/>
              <a:t>(e3,2); </a:t>
            </a:r>
            <a:r>
              <a:rPr lang="zh-CN" altLang="en-US" sz="2000" dirty="0"/>
              <a:t>	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000" dirty="0"/>
              <a:t>       </a:t>
            </a:r>
            <a:r>
              <a:rPr lang="en-US" altLang="zh-CN" sz="2000" dirty="0" err="1"/>
              <a:t>System.out.println</a:t>
            </a:r>
            <a:r>
              <a:rPr lang="en-US" altLang="zh-CN" sz="2000" dirty="0"/>
              <a:t>("</a:t>
            </a:r>
            <a:r>
              <a:rPr lang="zh-CN" altLang="en-US" sz="2000" dirty="0"/>
              <a:t>第一个雇员信息");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2000" dirty="0"/>
              <a:t>	    </a:t>
            </a:r>
            <a:r>
              <a:rPr lang="en-US" altLang="zh-CN" sz="2000" dirty="0" err="1"/>
              <a:t>t.</a:t>
            </a:r>
            <a:r>
              <a:rPr lang="en-US" altLang="zh-CN" sz="2000" dirty="0" err="1">
                <a:solidFill>
                  <a:schemeClr val="hlink"/>
                </a:solidFill>
              </a:rPr>
              <a:t>readEmployee</a:t>
            </a:r>
            <a:r>
              <a:rPr lang="en-US" altLang="zh-CN" sz="2000" dirty="0"/>
              <a:t>(0); </a:t>
            </a:r>
            <a:endParaRPr lang="zh-CN" altLang="en-US" sz="2000" dirty="0"/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2000" dirty="0"/>
              <a:t>	    </a:t>
            </a:r>
            <a:r>
              <a:rPr lang="en-US" altLang="zh-CN" sz="2000" dirty="0" err="1"/>
              <a:t>System.out.println</a:t>
            </a:r>
            <a:r>
              <a:rPr lang="en-US" altLang="zh-CN" sz="2000" dirty="0"/>
              <a:t>("</a:t>
            </a:r>
            <a:r>
              <a:rPr lang="zh-CN" altLang="en-US" sz="2000" dirty="0"/>
              <a:t>第三个雇员信息");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2000" dirty="0"/>
              <a:t>	    </a:t>
            </a:r>
            <a:r>
              <a:rPr lang="en-US" altLang="zh-CN" sz="2000" dirty="0" err="1"/>
              <a:t>t.</a:t>
            </a:r>
            <a:r>
              <a:rPr lang="en-US" altLang="zh-CN" sz="2000" dirty="0" err="1">
                <a:solidFill>
                  <a:schemeClr val="hlink"/>
                </a:solidFill>
              </a:rPr>
              <a:t>readEmployee</a:t>
            </a:r>
            <a:r>
              <a:rPr lang="en-US" altLang="zh-CN" sz="2000" dirty="0"/>
              <a:t>(2); </a:t>
            </a:r>
            <a:r>
              <a:rPr lang="zh-CN" altLang="en-US" sz="2000" dirty="0"/>
              <a:t>  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2000" dirty="0"/>
              <a:t>	    </a:t>
            </a:r>
            <a:r>
              <a:rPr lang="en-US" altLang="zh-CN" sz="2000" dirty="0" err="1"/>
              <a:t>t.</a:t>
            </a:r>
            <a:r>
              <a:rPr lang="en-US" altLang="zh-CN" sz="2000" dirty="0" err="1">
                <a:solidFill>
                  <a:schemeClr val="tx2"/>
                </a:solidFill>
              </a:rPr>
              <a:t>writeEmployee</a:t>
            </a:r>
            <a:r>
              <a:rPr lang="en-US" altLang="zh-CN" sz="2000" dirty="0"/>
              <a:t> (e2,1);</a:t>
            </a:r>
            <a:endParaRPr lang="zh-CN" altLang="en-US" sz="2000" dirty="0"/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2000" dirty="0"/>
              <a:t>	    </a:t>
            </a:r>
            <a:r>
              <a:rPr lang="en-US" altLang="zh-CN" sz="2000" dirty="0" err="1"/>
              <a:t>System.out.println</a:t>
            </a:r>
            <a:r>
              <a:rPr lang="en-US" altLang="zh-CN" sz="2000" dirty="0"/>
              <a:t>("</a:t>
            </a:r>
            <a:r>
              <a:rPr lang="zh-CN" altLang="en-US" sz="2000" dirty="0"/>
              <a:t>第二个雇员信息");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2000" dirty="0"/>
              <a:t>	    </a:t>
            </a:r>
            <a:r>
              <a:rPr lang="en-US" altLang="zh-CN" sz="2000" dirty="0" err="1"/>
              <a:t>t.</a:t>
            </a:r>
            <a:r>
              <a:rPr lang="en-US" altLang="zh-CN" sz="2000" dirty="0" err="1">
                <a:solidFill>
                  <a:schemeClr val="hlink"/>
                </a:solidFill>
              </a:rPr>
              <a:t>readEmployee</a:t>
            </a:r>
            <a:r>
              <a:rPr lang="en-US" altLang="zh-CN" sz="2000" dirty="0"/>
              <a:t> (1); </a:t>
            </a:r>
            <a:r>
              <a:rPr lang="zh-CN" altLang="en-US" sz="2000" dirty="0"/>
              <a:t>	    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2000" dirty="0"/>
              <a:t>	}	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2000" dirty="0"/>
              <a:t>}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184232" y="3429000"/>
            <a:ext cx="2664296" cy="258532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运行结果：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zh-CN" altLang="en-US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第一个雇员信息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name:ZhangSan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age:23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zh-CN" altLang="en-US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第三个雇员信息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name:</a:t>
            </a:r>
            <a:r>
              <a:rPr lang="zh-CN" altLang="en-US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王华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age:19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zh-CN" altLang="en-US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第二个雇员信息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name:</a:t>
            </a:r>
            <a:r>
              <a:rPr lang="zh-CN" altLang="en-US" sz="1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李晓珊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C8E963-D673-5A72-94C6-E3D99849904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295800" y="44624"/>
            <a:ext cx="2808312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</a:t>
            </a:r>
          </a:p>
        </p:txBody>
      </p:sp>
    </p:spTree>
    <p:extLst>
      <p:ext uri="{BB962C8B-B14F-4D97-AF65-F5344CB8AC3E}">
        <p14:creationId xmlns:p14="http://schemas.microsoft.com/office/powerpoint/2010/main" val="1070623974"/>
      </p:ext>
    </p:extLst>
  </p:cSld>
  <p:clrMapOvr>
    <a:masterClrMapping/>
  </p:clrMapOvr>
  <p:transition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1344" y="1556792"/>
            <a:ext cx="11665296" cy="4896544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Autofit/>
          </a:bodyPr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500" b="1" dirty="0"/>
              <a:t>非检查型异常</a:t>
            </a:r>
            <a:r>
              <a:rPr lang="en-US" altLang="zh-CN" sz="2500" b="1" dirty="0"/>
              <a:t>——</a:t>
            </a:r>
            <a:r>
              <a:rPr lang="zh-CN" altLang="en-US" sz="2500" b="1" dirty="0"/>
              <a:t>不期望程序捕获的异常</a:t>
            </a:r>
          </a:p>
          <a:p>
            <a:pPr marL="630238" lvl="2" indent="-273050" eaLnBrk="1" hangingPunct="1"/>
            <a:r>
              <a:rPr lang="zh-CN" altLang="en-US" sz="2500" b="1" dirty="0"/>
              <a:t>在方法中不需要声明，编译器也不进行检查，继承自</a:t>
            </a:r>
            <a:r>
              <a:rPr lang="en-US" altLang="zh-CN" sz="2500" b="1" dirty="0" err="1"/>
              <a:t>RuntimeException</a:t>
            </a:r>
            <a:r>
              <a:rPr lang="zh-CN" altLang="en-US" sz="2500" b="1" dirty="0"/>
              <a:t>。</a:t>
            </a:r>
            <a:endParaRPr lang="en-US" altLang="zh-CN" sz="2500" b="1" dirty="0"/>
          </a:p>
          <a:p>
            <a:pPr marL="630238" lvl="2" indent="-273050" eaLnBrk="1" hangingPunct="1"/>
            <a:r>
              <a:rPr lang="zh-CN" altLang="en-US" sz="2500" b="1" dirty="0"/>
              <a:t>不要求捕获和声明的原因：</a:t>
            </a:r>
            <a:endParaRPr lang="en-US" altLang="zh-CN" sz="2500" b="1" dirty="0"/>
          </a:p>
          <a:p>
            <a:pPr marL="1262063" lvl="3" indent="-457200" eaLnBrk="1" hangingPunct="1">
              <a:buFont typeface="+mj-ea"/>
              <a:buAutoNum type="circleNumDbPlain"/>
            </a:pPr>
            <a:r>
              <a:rPr lang="zh-CN" altLang="en-US" sz="2500" b="1" dirty="0"/>
              <a:t>引发</a:t>
            </a:r>
            <a:r>
              <a:rPr lang="en-US" altLang="zh-CN" sz="2500" b="1" dirty="0" err="1"/>
              <a:t>RuntimeException</a:t>
            </a:r>
            <a:r>
              <a:rPr lang="zh-CN" altLang="en-US" sz="2500" b="1" dirty="0"/>
              <a:t>的操作。如：若每次使用对象时都必须编写异常处理代码来检查</a:t>
            </a:r>
            <a:r>
              <a:rPr lang="en-US" altLang="zh-CN" sz="2500" b="1" dirty="0"/>
              <a:t>null</a:t>
            </a:r>
            <a:r>
              <a:rPr lang="zh-CN" altLang="en-US" sz="2500" b="1" dirty="0"/>
              <a:t>引用，则整个应用程序很快将变成一个庞大的</a:t>
            </a:r>
            <a:r>
              <a:rPr lang="en-US" altLang="zh-CN" sz="2500" b="1" dirty="0"/>
              <a:t>try-catch</a:t>
            </a:r>
            <a:r>
              <a:rPr lang="zh-CN" altLang="en-US" sz="2500" b="1" dirty="0"/>
              <a:t>块。</a:t>
            </a:r>
            <a:endParaRPr lang="en-US" altLang="zh-CN" sz="2500" b="1" dirty="0"/>
          </a:p>
          <a:p>
            <a:pPr marL="1262063" lvl="3" indent="-457200" eaLnBrk="1" hangingPunct="1">
              <a:buFont typeface="+mj-ea"/>
              <a:buAutoNum type="circleNumDbPlain"/>
            </a:pPr>
            <a:r>
              <a:rPr lang="zh-CN" altLang="en-US" sz="2500" b="1" dirty="0"/>
              <a:t>它们表示的问题不一定作为异常处理。如：可在除法运算时检查</a:t>
            </a:r>
            <a:r>
              <a:rPr lang="en-US" altLang="zh-CN" sz="2500" b="1" dirty="0"/>
              <a:t>0</a:t>
            </a:r>
            <a:r>
              <a:rPr lang="zh-CN" altLang="en-US" sz="2500" b="1" dirty="0"/>
              <a:t>值，而不使用</a:t>
            </a:r>
            <a:r>
              <a:rPr lang="en-US" altLang="zh-CN" sz="2500" b="1" dirty="0" err="1"/>
              <a:t>ArithmeticException</a:t>
            </a:r>
            <a:r>
              <a:rPr lang="zh-CN" altLang="en-US" sz="2500" b="1" dirty="0"/>
              <a:t>。可以在使用引用前测试空值</a:t>
            </a:r>
            <a:r>
              <a:rPr lang="en-US" altLang="zh-CN" sz="2500" b="1" dirty="0"/>
              <a:t>null</a:t>
            </a:r>
            <a:r>
              <a:rPr lang="zh-CN" altLang="en-US" sz="2500" b="1" dirty="0"/>
              <a:t>。</a:t>
            </a:r>
            <a:endParaRPr lang="en-US" altLang="zh-CN" sz="2500" b="1" dirty="0"/>
          </a:p>
          <a:p>
            <a:pPr marL="566737" lvl="1" indent="-457200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检查型异常：</a:t>
            </a:r>
            <a:r>
              <a:rPr lang="zh-CN" altLang="en-US" sz="2500" b="1" dirty="0"/>
              <a:t>其他类型的异常。</a:t>
            </a:r>
          </a:p>
          <a:p>
            <a:pPr marL="630238" lvl="2" indent="-273050" eaLnBrk="1" hangingPunct="1"/>
            <a:r>
              <a:rPr lang="zh-CN" altLang="en-US" sz="2500" b="1" dirty="0"/>
              <a:t>如果被调用的方法抛出一个类型为</a:t>
            </a:r>
            <a:r>
              <a:rPr lang="en-US" altLang="zh-CN" sz="2500" b="1" dirty="0"/>
              <a:t>E</a:t>
            </a:r>
            <a:r>
              <a:rPr lang="zh-CN" altLang="en-US" sz="2500" b="1" dirty="0"/>
              <a:t>的检查型异常，那么调用者必须捕获</a:t>
            </a:r>
            <a:r>
              <a:rPr lang="en-US" altLang="zh-CN" sz="2500" b="1" dirty="0"/>
              <a:t>E</a:t>
            </a:r>
            <a:r>
              <a:rPr lang="zh-CN" altLang="en-US" sz="2500" b="1" dirty="0"/>
              <a:t>或者声明抛出</a:t>
            </a:r>
            <a:r>
              <a:rPr lang="en-US" altLang="zh-CN" sz="2500" b="1" dirty="0"/>
              <a:t>E（</a:t>
            </a:r>
            <a:r>
              <a:rPr lang="zh-CN" altLang="en-US" sz="2500" b="1" dirty="0"/>
              <a:t>或者</a:t>
            </a:r>
            <a:r>
              <a:rPr lang="en-US" altLang="zh-CN" sz="2500" b="1" dirty="0"/>
              <a:t>E</a:t>
            </a:r>
            <a:r>
              <a:rPr lang="zh-CN" altLang="en-US" sz="2500" b="1" dirty="0"/>
              <a:t>的一个父类），对此编译器要进行检查。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1244D93-E32C-B4F1-66ED-79346B1BF02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439248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5.1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异常处理机制简介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6865CA6-BC3C-69EF-E9D5-E051B5461C4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2088232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异常的分类</a:t>
            </a:r>
          </a:p>
        </p:txBody>
      </p:sp>
    </p:spTree>
    <p:extLst>
      <p:ext uri="{BB962C8B-B14F-4D97-AF65-F5344CB8AC3E}">
        <p14:creationId xmlns:p14="http://schemas.microsoft.com/office/powerpoint/2010/main" val="1654360786"/>
      </p:ext>
    </p:extLst>
  </p:cSld>
  <p:clrMapOvr>
    <a:masterClrMapping/>
  </p:clrMapOvr>
  <p:transition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631504" y="1901480"/>
            <a:ext cx="7488832" cy="3168352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Autofit/>
          </a:bodyPr>
          <a:lstStyle/>
          <a:p>
            <a:pPr marL="457200" indent="-457200" eaLnBrk="1" hangingPunct="1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2700" b="1" dirty="0"/>
              <a:t>将错误处理代码从常规代码中分离出来；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2700" b="1" dirty="0"/>
              <a:t>按错误类型和差别分组；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2700" b="1" dirty="0"/>
              <a:t>对无法预测的错误的捕获和处理；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2700" b="1" dirty="0"/>
              <a:t>克服了传统方法的错误信息有限的问题；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z="2700" b="1" dirty="0"/>
              <a:t>把错误传播给调用堆栈。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1176000" y="1588"/>
            <a:ext cx="1016000" cy="366712"/>
          </a:xfrm>
        </p:spPr>
        <p:txBody>
          <a:bodyPr/>
          <a:lstStyle/>
          <a:p>
            <a:pPr>
              <a:defRPr/>
            </a:pPr>
            <a:fld id="{B3227BBE-B4C4-4142-B028-1E999C672AE7}" type="slidenum">
              <a:rPr lang="en-US" altLang="zh-CN" smtClean="0"/>
              <a:pPr>
                <a:defRPr/>
              </a:pPr>
              <a:t>115</a:t>
            </a:fld>
            <a:endParaRPr lang="en-US" altLang="zh-C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A2044CF-D171-22F5-7045-B87CC48BB73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47728" y="44624"/>
            <a:ext cx="4392488" cy="58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255EAB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5.1</a:t>
            </a:r>
            <a:r>
              <a:rPr lang="zh-CN" altLang="en-US" sz="3200" dirty="0">
                <a:ln w="11430">
                  <a:noFill/>
                </a:ln>
                <a:solidFill>
                  <a:srgbClr val="255EA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异常处理机制简介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CF984CC-F291-3CA9-9052-FE74021ED5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7368" y="1015213"/>
            <a:ext cx="4104456" cy="477054"/>
          </a:xfrm>
          <a:prstGeom prst="rect">
            <a:avLst/>
          </a:prstGeom>
          <a:solidFill>
            <a:srgbClr val="255EAB"/>
          </a:solidFill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java</a:t>
            </a:r>
            <a:r>
              <a:rPr lang="zh-CN" altLang="en-US" sz="28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思源黑体 CN Heavy" panose="020B0A00000000000000" charset="-122"/>
              </a:rPr>
              <a:t>异常处理机制的优点</a:t>
            </a:r>
          </a:p>
        </p:txBody>
      </p:sp>
    </p:spTree>
    <p:extLst>
      <p:ext uri="{BB962C8B-B14F-4D97-AF65-F5344CB8AC3E}">
        <p14:creationId xmlns:p14="http://schemas.microsoft.com/office/powerpoint/2010/main" val="7764818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</a:majorFont>
      <a:min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tailEnd type="arrow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ts val="3000"/>
          </a:lnSpc>
          <a:spcBef>
            <a:spcPts val="0"/>
          </a:spcBef>
          <a:defRPr sz="2000" smtClean="0">
            <a:solidFill>
              <a:srgbClr val="0000FF"/>
            </a:solidFill>
            <a:latin typeface="仿宋" panose="02010609060101010101" pitchFamily="49" charset="-122"/>
            <a:ea typeface="仿宋" panose="02010609060101010101" pitchFamily="49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Settings\zheng\My Documents\MyCourse\java1.ppt</Template>
  <TotalTime>18417</TotalTime>
  <Words>11742</Words>
  <Application>Microsoft Office PowerPoint</Application>
  <PresentationFormat>宽屏</PresentationFormat>
  <Paragraphs>1587</Paragraphs>
  <Slides>115</Slides>
  <Notes>111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115</vt:i4>
      </vt:variant>
    </vt:vector>
  </HeadingPairs>
  <TitlesOfParts>
    <vt:vector size="126" baseType="lpstr">
      <vt:lpstr>Arial Unicode MS</vt:lpstr>
      <vt:lpstr>楷体</vt:lpstr>
      <vt:lpstr>宋体</vt:lpstr>
      <vt:lpstr>微软雅黑</vt:lpstr>
      <vt:lpstr>Arial</vt:lpstr>
      <vt:lpstr>Georgia</vt:lpstr>
      <vt:lpstr>Times New Roman</vt:lpstr>
      <vt:lpstr>Wingdings</vt:lpstr>
      <vt:lpstr>Wingdings 2</vt:lpstr>
      <vt:lpstr>1_Office 主题</vt:lpstr>
      <vt:lpstr>Document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CARET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 Streams</dc:title>
  <dc:creator>Zheng Li</dc:creator>
  <cp:lastModifiedBy>pan gao</cp:lastModifiedBy>
  <cp:revision>660</cp:revision>
  <dcterms:created xsi:type="dcterms:W3CDTF">2001-10-29T21:31:58Z</dcterms:created>
  <dcterms:modified xsi:type="dcterms:W3CDTF">2026-05-19T07:17:44Z</dcterms:modified>
</cp:coreProperties>
</file>