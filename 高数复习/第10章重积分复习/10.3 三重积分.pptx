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29"/>
  </p:handoutMasterIdLst>
  <p:sldIdLst>
    <p:sldId id="257" r:id="rId3"/>
    <p:sldId id="824" r:id="rId4"/>
    <p:sldId id="814" r:id="rId5"/>
    <p:sldId id="817" r:id="rId6"/>
    <p:sldId id="711" r:id="rId7"/>
    <p:sldId id="811" r:id="rId8"/>
    <p:sldId id="785" r:id="rId9"/>
    <p:sldId id="786" r:id="rId10"/>
    <p:sldId id="787" r:id="rId11"/>
    <p:sldId id="788" r:id="rId12"/>
    <p:sldId id="789" r:id="rId14"/>
    <p:sldId id="790" r:id="rId15"/>
    <p:sldId id="791" r:id="rId16"/>
    <p:sldId id="792" r:id="rId17"/>
    <p:sldId id="793" r:id="rId18"/>
    <p:sldId id="794" r:id="rId19"/>
    <p:sldId id="795" r:id="rId20"/>
    <p:sldId id="796" r:id="rId21"/>
    <p:sldId id="797" r:id="rId22"/>
    <p:sldId id="798" r:id="rId23"/>
    <p:sldId id="799" r:id="rId24"/>
    <p:sldId id="800" r:id="rId25"/>
    <p:sldId id="813" r:id="rId26"/>
    <p:sldId id="809" r:id="rId27"/>
    <p:sldId id="364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4A7BA8"/>
    <a:srgbClr val="A9D18E"/>
    <a:srgbClr val="993300"/>
    <a:srgbClr val="CEEAE2"/>
    <a:srgbClr val="0000FF"/>
    <a:srgbClr val="99FF99"/>
    <a:srgbClr val="0033CC"/>
    <a:srgbClr val="FF00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24" d="100"/>
          <a:sy n="124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handoutMaster" Target="handoutMasters/handoutMaster1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emf"/><Relationship Id="rId1" Type="http://schemas.openxmlformats.org/officeDocument/2006/relationships/image" Target="../media/image124.e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151.wmf"/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D3AAC4-AEC9-45B6-8129-7AC04A374C4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7B50E2-0B44-4175-B25E-BDF40D2119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E2628-425B-4711-85D1-DD3DDE2BDF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15AC77-7EE5-47C0-B214-037F908F1CB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26129F1-2A38-4A73-AE56-6DF36B3F17EF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7586" name="Rectangle 2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</a:ln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5EC2596-7197-4FC4-8A05-06366AD2857A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770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5C63932-D122-4C18-9C50-DFE5889D86D7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842" name="Rectangle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fontAlgn="auto">
              <a:lnSpc>
                <a:spcPct val="300000"/>
              </a:lnSpc>
              <a:defRPr sz="4400" b="1" baseline="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  <p:sp>
        <p:nvSpPr>
          <p:cNvPr id="16" name="棱台 15"/>
          <p:cNvSpPr/>
          <p:nvPr userDrawn="1"/>
        </p:nvSpPr>
        <p:spPr>
          <a:xfrm>
            <a:off x="1" y="-27160"/>
            <a:ext cx="540000" cy="6885160"/>
          </a:xfrm>
          <a:prstGeom prst="bevel">
            <a:avLst/>
          </a:prstGeom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dirty="0"/>
          </a:p>
          <a:p>
            <a:pPr algn="ctr"/>
            <a:endParaRPr lang="zh-CN" altLang="en-US" sz="2800" b="1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b="0"/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b="1"/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 rot="2659048">
            <a:off x="10203538" y="278301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476828" y="6435405"/>
            <a:ext cx="154721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三重积分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10458710" y="218520"/>
            <a:ext cx="136768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第十章  重积分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-1" y="343834"/>
            <a:ext cx="9936000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 userDrawn="1"/>
        </p:nvCxnSpPr>
        <p:spPr>
          <a:xfrm>
            <a:off x="2105024" y="6585362"/>
            <a:ext cx="10080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microsoft.com/office/2007/relationships/hdphoto" Target="../media/image5.wdp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image" Target="../media/image13.png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image" Target="../media/image22.png"/><Relationship Id="rId7" Type="http://schemas.openxmlformats.org/officeDocument/2006/relationships/image" Target="../media/image21.png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2" Type="http://schemas.openxmlformats.org/officeDocument/2006/relationships/slideLayout" Target="../slideLayouts/slideLayout5.xml"/><Relationship Id="rId11" Type="http://schemas.openxmlformats.org/officeDocument/2006/relationships/image" Target="../media/image25.png"/><Relationship Id="rId10" Type="http://schemas.openxmlformats.org/officeDocument/2006/relationships/image" Target="../media/image24.png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35.jpeg"/><Relationship Id="rId1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42.jpeg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png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52.png"/><Relationship Id="rId1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tags" Target="../tags/tag8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png"/><Relationship Id="rId8" Type="http://schemas.openxmlformats.org/officeDocument/2006/relationships/image" Target="../media/image79.png"/><Relationship Id="rId7" Type="http://schemas.openxmlformats.org/officeDocument/2006/relationships/image" Target="../media/image78.png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84.jpeg"/><Relationship Id="rId12" Type="http://schemas.openxmlformats.org/officeDocument/2006/relationships/image" Target="../media/image83.png"/><Relationship Id="rId11" Type="http://schemas.openxmlformats.org/officeDocument/2006/relationships/image" Target="../media/image82.png"/><Relationship Id="rId10" Type="http://schemas.openxmlformats.org/officeDocument/2006/relationships/image" Target="../media/image81.png"/><Relationship Id="rId1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92.png"/><Relationship Id="rId8" Type="http://schemas.openxmlformats.org/officeDocument/2006/relationships/image" Target="../media/image91.png"/><Relationship Id="rId7" Type="http://schemas.openxmlformats.org/officeDocument/2006/relationships/image" Target="../media/image90.png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95.jpeg"/><Relationship Id="rId11" Type="http://schemas.openxmlformats.org/officeDocument/2006/relationships/image" Target="../media/image94.png"/><Relationship Id="rId10" Type="http://schemas.openxmlformats.org/officeDocument/2006/relationships/image" Target="../media/image93.png"/><Relationship Id="rId1" Type="http://schemas.openxmlformats.org/officeDocument/2006/relationships/image" Target="../media/image72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4.png"/><Relationship Id="rId8" Type="http://schemas.openxmlformats.org/officeDocument/2006/relationships/image" Target="../media/image103.png"/><Relationship Id="rId7" Type="http://schemas.openxmlformats.org/officeDocument/2006/relationships/image" Target="../media/image102.png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06.jpeg"/><Relationship Id="rId10" Type="http://schemas.openxmlformats.org/officeDocument/2006/relationships/image" Target="../media/image105.png"/><Relationship Id="rId1" Type="http://schemas.openxmlformats.org/officeDocument/2006/relationships/image" Target="../media/image96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14.jpeg"/><Relationship Id="rId7" Type="http://schemas.openxmlformats.org/officeDocument/2006/relationships/image" Target="../media/image113.png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10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2.png"/><Relationship Id="rId8" Type="http://schemas.openxmlformats.org/officeDocument/2006/relationships/image" Target="../media/image121.png"/><Relationship Id="rId7" Type="http://schemas.openxmlformats.org/officeDocument/2006/relationships/image" Target="../media/image120.png"/><Relationship Id="rId6" Type="http://schemas.openxmlformats.org/officeDocument/2006/relationships/image" Target="../media/image119.png"/><Relationship Id="rId5" Type="http://schemas.openxmlformats.org/officeDocument/2006/relationships/image" Target="../media/image118.png"/><Relationship Id="rId4" Type="http://schemas.openxmlformats.org/officeDocument/2006/relationships/image" Target="../media/image117.png"/><Relationship Id="rId3" Type="http://schemas.openxmlformats.org/officeDocument/2006/relationships/image" Target="../media/image116.png"/><Relationship Id="rId26" Type="http://schemas.openxmlformats.org/officeDocument/2006/relationships/vmlDrawing" Target="../drawings/vmlDrawing1.v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35.png"/><Relationship Id="rId23" Type="http://schemas.openxmlformats.org/officeDocument/2006/relationships/image" Target="../media/image134.png"/><Relationship Id="rId22" Type="http://schemas.openxmlformats.org/officeDocument/2006/relationships/image" Target="../media/image133.png"/><Relationship Id="rId21" Type="http://schemas.openxmlformats.org/officeDocument/2006/relationships/image" Target="../media/image132.png"/><Relationship Id="rId20" Type="http://schemas.openxmlformats.org/officeDocument/2006/relationships/image" Target="../media/image131.png"/><Relationship Id="rId2" Type="http://schemas.openxmlformats.org/officeDocument/2006/relationships/image" Target="../media/image115.png"/><Relationship Id="rId19" Type="http://schemas.openxmlformats.org/officeDocument/2006/relationships/image" Target="../media/image130.png"/><Relationship Id="rId18" Type="http://schemas.openxmlformats.org/officeDocument/2006/relationships/image" Target="../media/image129.png"/><Relationship Id="rId17" Type="http://schemas.openxmlformats.org/officeDocument/2006/relationships/image" Target="../media/image128.png"/><Relationship Id="rId16" Type="http://schemas.openxmlformats.org/officeDocument/2006/relationships/image" Target="../media/image127.png"/><Relationship Id="rId15" Type="http://schemas.openxmlformats.org/officeDocument/2006/relationships/image" Target="../media/image126.png"/><Relationship Id="rId14" Type="http://schemas.openxmlformats.org/officeDocument/2006/relationships/image" Target="../media/image125.emf"/><Relationship Id="rId13" Type="http://schemas.openxmlformats.org/officeDocument/2006/relationships/oleObject" Target="../embeddings/oleObject2.bin"/><Relationship Id="rId12" Type="http://schemas.openxmlformats.org/officeDocument/2006/relationships/image" Target="../media/image124.emf"/><Relationship Id="rId11" Type="http://schemas.openxmlformats.org/officeDocument/2006/relationships/oleObject" Target="../embeddings/oleObject1.bin"/><Relationship Id="rId10" Type="http://schemas.openxmlformats.org/officeDocument/2006/relationships/image" Target="../media/image123.png"/><Relationship Id="rId1" Type="http://schemas.openxmlformats.org/officeDocument/2006/relationships/image" Target="../media/image72.pn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.bin"/><Relationship Id="rId8" Type="http://schemas.openxmlformats.org/officeDocument/2006/relationships/image" Target="../media/image142.png"/><Relationship Id="rId7" Type="http://schemas.openxmlformats.org/officeDocument/2006/relationships/image" Target="../media/image141.png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Relationship Id="rId3" Type="http://schemas.openxmlformats.org/officeDocument/2006/relationships/image" Target="../media/image137.png"/><Relationship Id="rId29" Type="http://schemas.openxmlformats.org/officeDocument/2006/relationships/vmlDrawing" Target="../drawings/vmlDrawing2.vml"/><Relationship Id="rId28" Type="http://schemas.openxmlformats.org/officeDocument/2006/relationships/slideLayout" Target="../slideLayouts/slideLayout7.xml"/><Relationship Id="rId27" Type="http://schemas.openxmlformats.org/officeDocument/2006/relationships/image" Target="../media/image157.png"/><Relationship Id="rId26" Type="http://schemas.openxmlformats.org/officeDocument/2006/relationships/image" Target="../media/image156.png"/><Relationship Id="rId25" Type="http://schemas.openxmlformats.org/officeDocument/2006/relationships/image" Target="../media/image155.png"/><Relationship Id="rId24" Type="http://schemas.openxmlformats.org/officeDocument/2006/relationships/image" Target="../media/image154.png"/><Relationship Id="rId23" Type="http://schemas.openxmlformats.org/officeDocument/2006/relationships/image" Target="../media/image153.png"/><Relationship Id="rId22" Type="http://schemas.openxmlformats.org/officeDocument/2006/relationships/image" Target="../media/image152.png"/><Relationship Id="rId21" Type="http://schemas.openxmlformats.org/officeDocument/2006/relationships/image" Target="../media/image151.wmf"/><Relationship Id="rId20" Type="http://schemas.openxmlformats.org/officeDocument/2006/relationships/oleObject" Target="../embeddings/oleObject6.bin"/><Relationship Id="rId2" Type="http://schemas.openxmlformats.org/officeDocument/2006/relationships/image" Target="../media/image136.png"/><Relationship Id="rId19" Type="http://schemas.openxmlformats.org/officeDocument/2006/relationships/image" Target="../media/image150.wmf"/><Relationship Id="rId18" Type="http://schemas.openxmlformats.org/officeDocument/2006/relationships/oleObject" Target="../embeddings/oleObject5.bin"/><Relationship Id="rId17" Type="http://schemas.openxmlformats.org/officeDocument/2006/relationships/image" Target="../media/image149.wmf"/><Relationship Id="rId16" Type="http://schemas.openxmlformats.org/officeDocument/2006/relationships/oleObject" Target="../embeddings/oleObject4.bin"/><Relationship Id="rId15" Type="http://schemas.openxmlformats.org/officeDocument/2006/relationships/image" Target="../media/image148.png"/><Relationship Id="rId14" Type="http://schemas.openxmlformats.org/officeDocument/2006/relationships/image" Target="../media/image147.png"/><Relationship Id="rId13" Type="http://schemas.openxmlformats.org/officeDocument/2006/relationships/image" Target="../media/image146.png"/><Relationship Id="rId12" Type="http://schemas.openxmlformats.org/officeDocument/2006/relationships/image" Target="../media/image145.png"/><Relationship Id="rId11" Type="http://schemas.openxmlformats.org/officeDocument/2006/relationships/image" Target="../media/image144.png"/><Relationship Id="rId10" Type="http://schemas.openxmlformats.org/officeDocument/2006/relationships/image" Target="../media/image143.emf"/><Relationship Id="rId1" Type="http://schemas.openxmlformats.org/officeDocument/2006/relationships/image" Target="../media/image72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5.png"/><Relationship Id="rId8" Type="http://schemas.openxmlformats.org/officeDocument/2006/relationships/image" Target="../media/image164.png"/><Relationship Id="rId7" Type="http://schemas.openxmlformats.org/officeDocument/2006/relationships/image" Target="../media/image163.png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Relationship Id="rId3" Type="http://schemas.openxmlformats.org/officeDocument/2006/relationships/image" Target="../media/image159.png"/><Relationship Id="rId2" Type="http://schemas.openxmlformats.org/officeDocument/2006/relationships/image" Target="../media/image158.png"/><Relationship Id="rId16" Type="http://schemas.openxmlformats.org/officeDocument/2006/relationships/slideLayout" Target="../slideLayouts/slideLayout7.xml"/><Relationship Id="rId15" Type="http://schemas.openxmlformats.org/officeDocument/2006/relationships/image" Target="../media/image171.jpeg"/><Relationship Id="rId14" Type="http://schemas.openxmlformats.org/officeDocument/2006/relationships/image" Target="../media/image170.png"/><Relationship Id="rId13" Type="http://schemas.openxmlformats.org/officeDocument/2006/relationships/image" Target="../media/image169.png"/><Relationship Id="rId12" Type="http://schemas.openxmlformats.org/officeDocument/2006/relationships/image" Target="../media/image168.png"/><Relationship Id="rId11" Type="http://schemas.openxmlformats.org/officeDocument/2006/relationships/image" Target="../media/image167.png"/><Relationship Id="rId10" Type="http://schemas.openxmlformats.org/officeDocument/2006/relationships/image" Target="../media/image166.png"/><Relationship Id="rId1" Type="http://schemas.openxmlformats.org/officeDocument/2006/relationships/tags" Target="../tags/tag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78.jpeg"/><Relationship Id="rId6" Type="http://schemas.openxmlformats.org/officeDocument/2006/relationships/image" Target="../media/image177.png"/><Relationship Id="rId5" Type="http://schemas.openxmlformats.org/officeDocument/2006/relationships/image" Target="../media/image176.png"/><Relationship Id="rId4" Type="http://schemas.openxmlformats.org/officeDocument/2006/relationships/image" Target="../media/image175.png"/><Relationship Id="rId3" Type="http://schemas.openxmlformats.org/officeDocument/2006/relationships/image" Target="../media/image174.png"/><Relationship Id="rId2" Type="http://schemas.openxmlformats.org/officeDocument/2006/relationships/image" Target="../media/image173.png"/><Relationship Id="rId1" Type="http://schemas.openxmlformats.org/officeDocument/2006/relationships/image" Target="../media/image172.png"/></Relationships>
</file>

<file path=ppt/slides/_rels/slide2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84.png"/><Relationship Id="rId5" Type="http://schemas.openxmlformats.org/officeDocument/2006/relationships/image" Target="../media/image183.png"/><Relationship Id="rId4" Type="http://schemas.openxmlformats.org/officeDocument/2006/relationships/image" Target="../media/image182.png"/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image" Target="../media/image179.pn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2.png"/><Relationship Id="rId8" Type="http://schemas.openxmlformats.org/officeDocument/2006/relationships/image" Target="../media/image191.png"/><Relationship Id="rId7" Type="http://schemas.openxmlformats.org/officeDocument/2006/relationships/image" Target="../media/image190.png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Relationship Id="rId3" Type="http://schemas.openxmlformats.org/officeDocument/2006/relationships/image" Target="../media/image186.png"/><Relationship Id="rId2" Type="http://schemas.openxmlformats.org/officeDocument/2006/relationships/image" Target="../media/image185.png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197.jpeg"/><Relationship Id="rId13" Type="http://schemas.openxmlformats.org/officeDocument/2006/relationships/image" Target="../media/image196.png"/><Relationship Id="rId12" Type="http://schemas.openxmlformats.org/officeDocument/2006/relationships/image" Target="../media/image195.png"/><Relationship Id="rId11" Type="http://schemas.openxmlformats.org/officeDocument/2006/relationships/image" Target="../media/image194.png"/><Relationship Id="rId10" Type="http://schemas.openxmlformats.org/officeDocument/2006/relationships/image" Target="../media/image193.png"/><Relationship Id="rId1" Type="http://schemas.openxmlformats.org/officeDocument/2006/relationships/image" Target="../media/image7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  <a:endParaRPr lang="zh-CN" altLang="en-US" sz="22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>
          <a:xfrm>
            <a:off x="1399663" y="4118384"/>
            <a:ext cx="2469515" cy="1557020"/>
            <a:chOff x="3032" y="6990"/>
            <a:chExt cx="3889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965" y="6486"/>
              <a:ext cx="2023" cy="388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3338" y="6990"/>
              <a:ext cx="32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一元函数</a:t>
              </a:r>
              <a:endPara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100" y="8196"/>
              <a:ext cx="3752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积分学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659331" y="4118384"/>
            <a:ext cx="2795905" cy="1561109"/>
            <a:chOff x="7155" y="6949"/>
            <a:chExt cx="4403" cy="2458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45" y="6193"/>
              <a:ext cx="2024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7719" y="6949"/>
              <a:ext cx="3277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多元函数</a:t>
              </a:r>
              <a:endPara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8192" y="8109"/>
              <a:ext cx="2329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积分学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8065" y="4118384"/>
            <a:ext cx="2080895" cy="1559203"/>
            <a:chOff x="8027" y="6949"/>
            <a:chExt cx="3277" cy="2455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5" y="6745"/>
              <a:ext cx="2041" cy="3277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337" y="6949"/>
              <a:ext cx="2656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本章聚焦</a:t>
              </a:r>
              <a:endParaRPr lang="zh-CN" altLang="en-US" sz="2400" b="1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8551" y="7873"/>
              <a:ext cx="2240" cy="13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二重积分</a:t>
              </a:r>
              <a:endPara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lvl="0"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三重积分</a:t>
              </a:r>
              <a:endParaRPr lang="zh-CN" altLang="en-US" sz="24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6" name="矩形 25"/>
          <p:cNvSpPr/>
          <p:nvPr/>
        </p:nvSpPr>
        <p:spPr>
          <a:xfrm>
            <a:off x="4020027" y="884555"/>
            <a:ext cx="4151947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第十章   重积分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933317" y="4128544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7358085" y="4140609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图文框 19"/>
          <p:cNvSpPr/>
          <p:nvPr/>
        </p:nvSpPr>
        <p:spPr>
          <a:xfrm>
            <a:off x="0" y="0"/>
            <a:ext cx="12192001" cy="686915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-1" y="569167"/>
            <a:ext cx="6996701" cy="5718449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0" y="575945"/>
            <a:ext cx="7143115" cy="5731549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A-102232"/>
          <p:cNvSpPr/>
          <p:nvPr>
            <p:custDataLst>
              <p:tags r:id="rId2"/>
            </p:custDataLst>
          </p:nvPr>
        </p:nvSpPr>
        <p:spPr>
          <a:xfrm>
            <a:off x="3193962" y="985594"/>
            <a:ext cx="8667480" cy="48894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7" name="PA-文本框 8"/>
          <p:cNvSpPr txBox="1"/>
          <p:nvPr>
            <p:custDataLst>
              <p:tags r:id="rId3"/>
            </p:custDataLst>
          </p:nvPr>
        </p:nvSpPr>
        <p:spPr>
          <a:xfrm>
            <a:off x="763914" y="3419985"/>
            <a:ext cx="243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CONTENTS</a:t>
            </a:r>
            <a:endParaRPr kumimoji="1" lang="en-GB" altLang="zh-CN" sz="32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9" name="PA-矩形 6"/>
          <p:cNvSpPr/>
          <p:nvPr>
            <p:custDataLst>
              <p:tags r:id="rId4"/>
            </p:custDataLst>
          </p:nvPr>
        </p:nvSpPr>
        <p:spPr>
          <a:xfrm>
            <a:off x="705880" y="4171950"/>
            <a:ext cx="2114550" cy="72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E79937"/>
              </a:solidFill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8250" y="2640333"/>
            <a:ext cx="16498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  录</a:t>
            </a:r>
            <a:endParaRPr kumimoji="1"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824436" y="1860681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第十章</a:t>
            </a:r>
            <a:endParaRPr kumimoji="1" lang="zh-CN" altLang="en-US" sz="4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48849" y="1652691"/>
            <a:ext cx="45882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二重积分的概念与性质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5748849" y="2437275"/>
            <a:ext cx="383951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二重积分的计算法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5748849" y="3221859"/>
            <a:ext cx="26132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 三重积分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749162" y="4006443"/>
            <a:ext cx="345672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重积分的应用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5749162" y="4791026"/>
            <a:ext cx="35365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第五节   含参变量的积分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225323" y="1652691"/>
            <a:ext cx="26504" cy="360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/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/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/>
          <p:cNvSpPr/>
          <p:nvPr>
            <p:custDataLst>
              <p:tags r:id="rId2"/>
            </p:custDataLst>
          </p:nvPr>
        </p:nvSpPr>
        <p:spPr>
          <a:xfrm>
            <a:off x="369888" y="1731523"/>
            <a:ext cx="11536045" cy="42898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4445548" y="686345"/>
            <a:ext cx="3300904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第三节  三重积分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877722" y="2223698"/>
            <a:ext cx="4436557" cy="901065"/>
            <a:chOff x="3376753" y="2223698"/>
            <a:chExt cx="4436557" cy="901065"/>
          </a:xfrm>
        </p:grpSpPr>
        <p:sp>
          <p:nvSpPr>
            <p:cNvPr id="4" name="矩形: 圆角 40"/>
            <p:cNvSpPr/>
            <p:nvPr/>
          </p:nvSpPr>
          <p:spPr>
            <a:xfrm flipV="1">
              <a:off x="3376753" y="2223698"/>
              <a:ext cx="4436557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3616931" y="2412933"/>
              <a:ext cx="34163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一、三重积分的概念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3877722" y="3448291"/>
            <a:ext cx="4436557" cy="901065"/>
            <a:chOff x="3376753" y="3448291"/>
            <a:chExt cx="4436557" cy="901065"/>
          </a:xfrm>
        </p:grpSpPr>
        <p:sp>
          <p:nvSpPr>
            <p:cNvPr id="22" name="矩形: 圆角 40"/>
            <p:cNvSpPr/>
            <p:nvPr/>
          </p:nvSpPr>
          <p:spPr>
            <a:xfrm flipV="1">
              <a:off x="3376753" y="3448291"/>
              <a:ext cx="4436557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3616931" y="3637526"/>
              <a:ext cx="3523722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二、三重积分的计算 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877722" y="4664247"/>
            <a:ext cx="4436558" cy="901065"/>
            <a:chOff x="3376754" y="4664247"/>
            <a:chExt cx="4436558" cy="901065"/>
          </a:xfrm>
        </p:grpSpPr>
        <p:sp>
          <p:nvSpPr>
            <p:cNvPr id="17" name="矩形: 圆角 40"/>
            <p:cNvSpPr/>
            <p:nvPr/>
          </p:nvSpPr>
          <p:spPr>
            <a:xfrm flipV="1">
              <a:off x="3376754" y="4664247"/>
              <a:ext cx="4436558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3616931" y="4853484"/>
              <a:ext cx="3950120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*</a:t>
              </a:r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三、二重积分的换元法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95" name="Rectangle 27"/>
          <p:cNvSpPr>
            <a:spLocks noGrp="1" noChangeArrowheads="1"/>
          </p:cNvSpPr>
          <p:nvPr>
            <p:ph type="title" idx="4294967295"/>
          </p:nvPr>
        </p:nvSpPr>
        <p:spPr>
          <a:xfrm>
            <a:off x="1218028" y="525330"/>
            <a:ext cx="4068347" cy="541303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一、三重积分的概念</a:t>
            </a:r>
            <a:endParaRPr lang="zh-CN" altLang="en-US" sz="32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1576289" y="1174592"/>
            <a:ext cx="1400901" cy="523220"/>
          </a:xfrm>
          <a:prstGeom prst="rect">
            <a:avLst/>
          </a:prstGeom>
          <a:ln w="28575">
            <a:noFill/>
            <a:prstDash val="dashDot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引例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3642190" y="3009677"/>
            <a:ext cx="60197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类似二重积分解决问题的思想</a:t>
            </a:r>
            <a:r>
              <a:rPr kumimoji="1" lang="zh-CN" altLang="en-US" sz="2800" noProof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  <a:sym typeface="Symbol" panose="05050102010706020507" pitchFamily="18" charset="2"/>
              </a:rPr>
              <a:t>采用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  <a:sym typeface="Symbol" panose="05050102010706020507" pitchFamily="18" charset="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Object 4"/>
              <p:cNvSpPr txBox="1"/>
              <p:nvPr/>
            </p:nvSpPr>
            <p:spPr bwMode="auto">
              <a:xfrm>
                <a:off x="4483587" y="5010397"/>
                <a:ext cx="2689932" cy="6727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7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83587" y="5010397"/>
                <a:ext cx="2689932" cy="672712"/>
              </a:xfrm>
              <a:prstGeom prst="rect">
                <a:avLst/>
              </a:prstGeom>
              <a:blipFill rotWithShape="1">
                <a:blip r:embed="rId1"/>
                <a:stretch>
                  <a:fillRect l="-18" t="-37" r="21" b="7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5"/>
          <p:cNvGrpSpPr/>
          <p:nvPr/>
        </p:nvGrpSpPr>
        <p:grpSpPr bwMode="auto">
          <a:xfrm>
            <a:off x="7392772" y="4503524"/>
            <a:ext cx="1638300" cy="1638300"/>
            <a:chOff x="1008" y="1008"/>
            <a:chExt cx="1032" cy="1032"/>
          </a:xfrm>
          <a:solidFill>
            <a:srgbClr val="CEEAE2"/>
          </a:solidFill>
        </p:grpSpPr>
        <p:sp>
          <p:nvSpPr>
            <p:cNvPr id="19" name="Freeform 6"/>
            <p:cNvSpPr/>
            <p:nvPr/>
          </p:nvSpPr>
          <p:spPr bwMode="auto">
            <a:xfrm>
              <a:off x="1008" y="1008"/>
              <a:ext cx="1032" cy="1032"/>
            </a:xfrm>
            <a:custGeom>
              <a:avLst/>
              <a:gdLst>
                <a:gd name="T0" fmla="*/ 32 w 1032"/>
                <a:gd name="T1" fmla="*/ 384 h 1032"/>
                <a:gd name="T2" fmla="*/ 368 w 1032"/>
                <a:gd name="T3" fmla="*/ 48 h 1032"/>
                <a:gd name="T4" fmla="*/ 896 w 1032"/>
                <a:gd name="T5" fmla="*/ 96 h 1032"/>
                <a:gd name="T6" fmla="*/ 992 w 1032"/>
                <a:gd name="T7" fmla="*/ 480 h 1032"/>
                <a:gd name="T8" fmla="*/ 896 w 1032"/>
                <a:gd name="T9" fmla="*/ 960 h 1032"/>
                <a:gd name="T10" fmla="*/ 176 w 1032"/>
                <a:gd name="T11" fmla="*/ 912 h 1032"/>
                <a:gd name="T12" fmla="*/ 32 w 1032"/>
                <a:gd name="T13" fmla="*/ 384 h 10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32" h="1032">
                  <a:moveTo>
                    <a:pt x="32" y="384"/>
                  </a:moveTo>
                  <a:cubicBezTo>
                    <a:pt x="64" y="240"/>
                    <a:pt x="224" y="96"/>
                    <a:pt x="368" y="48"/>
                  </a:cubicBezTo>
                  <a:cubicBezTo>
                    <a:pt x="512" y="0"/>
                    <a:pt x="792" y="24"/>
                    <a:pt x="896" y="96"/>
                  </a:cubicBezTo>
                  <a:cubicBezTo>
                    <a:pt x="1000" y="168"/>
                    <a:pt x="992" y="336"/>
                    <a:pt x="992" y="480"/>
                  </a:cubicBezTo>
                  <a:cubicBezTo>
                    <a:pt x="992" y="624"/>
                    <a:pt x="1032" y="888"/>
                    <a:pt x="896" y="960"/>
                  </a:cubicBezTo>
                  <a:cubicBezTo>
                    <a:pt x="760" y="1032"/>
                    <a:pt x="320" y="1008"/>
                    <a:pt x="176" y="912"/>
                  </a:cubicBezTo>
                  <a:cubicBezTo>
                    <a:pt x="32" y="816"/>
                    <a:pt x="0" y="528"/>
                    <a:pt x="32" y="384"/>
                  </a:cubicBezTo>
                  <a:close/>
                </a:path>
              </a:pathLst>
            </a:custGeom>
            <a:grpFill/>
            <a:ln w="9525">
              <a:solidFill>
                <a:schemeClr val="accent5">
                  <a:lumMod val="75000"/>
                </a:schemeClr>
              </a:solidFill>
              <a:round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 Box 7"/>
                <p:cNvSpPr txBox="1">
                  <a:spLocks noChangeArrowheads="1"/>
                </p:cNvSpPr>
                <p:nvPr/>
              </p:nvSpPr>
              <p:spPr bwMode="auto">
                <a:xfrm>
                  <a:off x="1344" y="1056"/>
                  <a:ext cx="384" cy="327"/>
                </a:xfrm>
                <a:prstGeom prst="rect">
                  <a:avLst/>
                </a:pr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l-GR" altLang="zh-CN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𝛺</m:t>
                        </m:r>
                      </m:oMath>
                    </m:oMathPara>
                  </a14:m>
                  <a:endParaRPr kumimoji="1" lang="en-US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仿宋_GB2312" pitchFamily="49" charset="-122"/>
                    <a:cs typeface="+mn-cs"/>
                    <a:sym typeface="Symbol" panose="05050102010706020507" pitchFamily="18" charset="2"/>
                  </a:endParaRPr>
                </a:p>
              </p:txBody>
            </p:sp>
          </mc:Choice>
          <mc:Fallback>
            <p:sp>
              <p:nvSpPr>
                <p:cNvPr id="20" name="Text 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44" y="1056"/>
                  <a:ext cx="384" cy="327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Oval 8"/>
          <p:cNvSpPr>
            <a:spLocks noChangeArrowheads="1"/>
          </p:cNvSpPr>
          <p:nvPr/>
        </p:nvSpPr>
        <p:spPr bwMode="auto">
          <a:xfrm>
            <a:off x="8192872" y="5068674"/>
            <a:ext cx="457200" cy="533400"/>
          </a:xfrm>
          <a:prstGeom prst="ellipse">
            <a:avLst/>
          </a:prstGeom>
          <a:gradFill rotWithShape="0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rgbClr val="4D4D4D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2" name="Group 9"/>
          <p:cNvGrpSpPr/>
          <p:nvPr/>
        </p:nvGrpSpPr>
        <p:grpSpPr bwMode="auto">
          <a:xfrm>
            <a:off x="8401974" y="5393106"/>
            <a:ext cx="2473304" cy="824613"/>
            <a:chOff x="4789" y="1920"/>
            <a:chExt cx="1381" cy="37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Object 10"/>
                <p:cNvSpPr txBox="1"/>
                <p:nvPr/>
              </p:nvSpPr>
              <p:spPr bwMode="auto">
                <a:xfrm>
                  <a:off x="5255" y="2039"/>
                  <a:ext cx="915" cy="2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sz="2400" i="1" dirty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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kumimoji="1" lang="en-US" altLang="zh-CN" sz="2400" i="1" dirty="0">
                                <a:latin typeface="Cambria Math" panose="02040503050406030204" pitchFamily="18" charset="0"/>
                                <a:ea typeface="MS Mincho" panose="02020609040205080304" charset="-128"/>
                                <a:cs typeface="Cambria Math" panose="02040503050406030204" pitchFamily="18" charset="0"/>
                                <a:sym typeface="Symbol" panose="05050102010706020507" pitchFamily="18" charset="2"/>
                              </a:rPr>
                              <m:t>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23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55" y="2039"/>
                  <a:ext cx="915" cy="255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Line 11"/>
            <p:cNvSpPr>
              <a:spLocks noChangeShapeType="1"/>
            </p:cNvSpPr>
            <p:nvPr/>
          </p:nvSpPr>
          <p:spPr bwMode="auto">
            <a:xfrm flipH="1" flipV="1">
              <a:off x="4789" y="1920"/>
              <a:ext cx="474" cy="2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25" name="Oval 12"/>
          <p:cNvSpPr>
            <a:spLocks noChangeArrowheads="1"/>
          </p:cNvSpPr>
          <p:nvPr/>
        </p:nvSpPr>
        <p:spPr bwMode="auto">
          <a:xfrm>
            <a:off x="8380198" y="5287750"/>
            <a:ext cx="74613" cy="74613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26" name="Group 13"/>
          <p:cNvGrpSpPr/>
          <p:nvPr/>
        </p:nvGrpSpPr>
        <p:grpSpPr bwMode="auto">
          <a:xfrm>
            <a:off x="8532599" y="4722602"/>
            <a:ext cx="1373188" cy="619125"/>
            <a:chOff x="2640" y="1002"/>
            <a:chExt cx="865" cy="39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Object 14"/>
                <p:cNvSpPr txBox="1"/>
                <p:nvPr/>
              </p:nvSpPr>
              <p:spPr bwMode="auto">
                <a:xfrm>
                  <a:off x="3032" y="1002"/>
                  <a:ext cx="473" cy="33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27" name="Object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32" y="1002"/>
                  <a:ext cx="473" cy="335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Line 15"/>
            <p:cNvSpPr>
              <a:spLocks noChangeShapeType="1"/>
            </p:cNvSpPr>
            <p:nvPr/>
          </p:nvSpPr>
          <p:spPr bwMode="auto">
            <a:xfrm flipH="1">
              <a:off x="2640" y="1246"/>
              <a:ext cx="386" cy="1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 Box 16"/>
              <p:cNvSpPr txBox="1">
                <a:spLocks noChangeArrowheads="1"/>
              </p:cNvSpPr>
              <p:nvPr/>
            </p:nvSpPr>
            <p:spPr bwMode="auto">
              <a:xfrm>
                <a:off x="2841198" y="1803424"/>
                <a:ext cx="8313126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设在空间有限闭区域</a:t>
                </a:r>
                <a14:m>
                  <m:oMath xmlns:m="http://schemas.openxmlformats.org/officeDocument/2006/math">
                    <m:r>
                      <a:rPr lang="el-GR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内分布着某种不均匀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的物质，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29" name="Text 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41198" y="1803424"/>
                <a:ext cx="8313126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3" t="-5" r="7" b="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18"/>
              <p:cNvSpPr txBox="1"/>
              <p:nvPr/>
            </p:nvSpPr>
            <p:spPr bwMode="auto">
              <a:xfrm>
                <a:off x="3783637" y="2383506"/>
                <a:ext cx="2297821" cy="6017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1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83637" y="2383506"/>
                <a:ext cx="2297821" cy="601780"/>
              </a:xfrm>
              <a:prstGeom prst="rect">
                <a:avLst/>
              </a:prstGeom>
              <a:blipFill rotWithShape="1">
                <a:blip r:embed="rId6"/>
                <a:stretch>
                  <a:fillRect l="-13" t="-58" r="3" b="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Box 19"/>
              <p:cNvSpPr txBox="1">
                <a:spLocks noChangeArrowheads="1"/>
              </p:cNvSpPr>
              <p:nvPr/>
            </p:nvSpPr>
            <p:spPr bwMode="auto">
              <a:xfrm>
                <a:off x="5903483" y="2406828"/>
                <a:ext cx="482221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求分布在</a:t>
                </a:r>
                <a14:m>
                  <m:oMath xmlns:m="http://schemas.openxmlformats.org/officeDocument/2006/math">
                    <m:r>
                      <a:rPr lang="el-GR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  <a:sym typeface="Symbol" panose="05050102010706020507" pitchFamily="18" charset="2"/>
                  </a:rPr>
                  <a:t>内的物质</a:t>
                </a:r>
                <a:r>
                  <a:rPr kumimoji="1"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的质量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.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32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03483" y="2406828"/>
                <a:ext cx="4822215" cy="523220"/>
              </a:xfrm>
              <a:prstGeom prst="rect">
                <a:avLst/>
              </a:prstGeom>
              <a:blipFill rotWithShape="1">
                <a:blip r:embed="rId7"/>
                <a:stretch>
                  <a:fillRect l="-11" t="-34" r="11" b="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 Box 20"/>
          <p:cNvSpPr txBox="1">
            <a:spLocks noChangeArrowheads="1"/>
          </p:cNvSpPr>
          <p:nvPr/>
        </p:nvSpPr>
        <p:spPr bwMode="auto">
          <a:xfrm>
            <a:off x="2030676" y="4141359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可得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bject 21"/>
              <p:cNvSpPr txBox="1"/>
              <p:nvPr/>
            </p:nvSpPr>
            <p:spPr bwMode="auto">
              <a:xfrm flipH="1">
                <a:off x="3882354" y="4677117"/>
                <a:ext cx="601233" cy="13367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4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 flipH="1">
                <a:off x="3882354" y="4677117"/>
                <a:ext cx="601233" cy="1336781"/>
              </a:xfrm>
              <a:prstGeom prst="rect">
                <a:avLst/>
              </a:prstGeom>
              <a:blipFill rotWithShape="1">
                <a:blip r:embed="rId8"/>
                <a:stretch>
                  <a:fillRect l="-100" t="-26" r="-16395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Object 22"/>
              <p:cNvSpPr txBox="1"/>
              <p:nvPr/>
            </p:nvSpPr>
            <p:spPr bwMode="auto">
              <a:xfrm>
                <a:off x="3332527" y="4974868"/>
                <a:ext cx="730235" cy="8054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5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32527" y="4974868"/>
                <a:ext cx="730235" cy="805426"/>
              </a:xfrm>
              <a:prstGeom prst="rect">
                <a:avLst/>
              </a:prstGeom>
              <a:blipFill rotWithShape="1">
                <a:blip r:embed="rId9"/>
                <a:stretch>
                  <a:fillRect l="-6" t="-35" r="4" b="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Object 23"/>
              <p:cNvSpPr txBox="1"/>
              <p:nvPr/>
            </p:nvSpPr>
            <p:spPr bwMode="auto">
              <a:xfrm>
                <a:off x="2680901" y="5008988"/>
                <a:ext cx="962545" cy="6730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6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80901" y="5008988"/>
                <a:ext cx="962545" cy="673040"/>
              </a:xfrm>
              <a:prstGeom prst="rect">
                <a:avLst/>
              </a:prstGeom>
              <a:blipFill rotWithShape="1">
                <a:blip r:embed="rId10"/>
                <a:stretch>
                  <a:fillRect l="-59" t="-16" r="47" b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 Box 24"/>
          <p:cNvSpPr txBox="1">
            <a:spLocks noChangeArrowheads="1"/>
          </p:cNvSpPr>
          <p:nvPr/>
        </p:nvSpPr>
        <p:spPr bwMode="auto">
          <a:xfrm>
            <a:off x="3497526" y="3599988"/>
            <a:ext cx="6019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sz="2800" dirty="0">
                <a:solidFill>
                  <a:srgbClr val="4A7BA8"/>
                </a:solidFill>
                <a:latin typeface="Times New Roman" panose="02020603050405020304" pitchFamily="18" charset="0"/>
                <a:ea typeface="黑体" panose="02010609060101010101" pitchFamily="49" charset="-122"/>
                <a:sym typeface="Symbol" panose="05050102010706020507" pitchFamily="18" charset="2"/>
              </a:rPr>
              <a:t>“大化小，常代变，近似和，求极限”</a:t>
            </a:r>
            <a:endParaRPr lang="zh-CN" altLang="en-US" sz="2800" dirty="0">
              <a:solidFill>
                <a:srgbClr val="4A7BA8"/>
              </a:solidFill>
              <a:latin typeface="Times New Roman" panose="02020603050405020304" pitchFamily="18" charset="0"/>
              <a:ea typeface="黑体" panose="02010609060101010101" pitchFamily="49" charset="-122"/>
              <a:sym typeface="Symbol" panose="05050102010706020507" pitchFamily="18" charset="2"/>
            </a:endParaRPr>
          </a:p>
        </p:txBody>
      </p:sp>
      <p:sp>
        <p:nvSpPr>
          <p:cNvPr id="42" name="Text Box 25"/>
          <p:cNvSpPr txBox="1">
            <a:spLocks noChangeArrowheads="1"/>
          </p:cNvSpPr>
          <p:nvPr/>
        </p:nvSpPr>
        <p:spPr bwMode="auto">
          <a:xfrm>
            <a:off x="2025161" y="3014057"/>
            <a:ext cx="17383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解决方法</a:t>
            </a:r>
            <a:r>
              <a:rPr kumimoji="1" lang="en-US" altLang="zh-CN" sz="28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kumimoji="1" lang="en-US" altLang="zh-CN" sz="2800" dirty="0">
              <a:solidFill>
                <a:srgbClr val="04926A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44" name="Text Box 27"/>
          <p:cNvSpPr txBox="1">
            <a:spLocks noChangeArrowheads="1"/>
          </p:cNvSpPr>
          <p:nvPr/>
        </p:nvSpPr>
        <p:spPr bwMode="auto">
          <a:xfrm>
            <a:off x="1993034" y="2405984"/>
            <a:ext cx="1979439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密度函数为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93034" y="1812851"/>
            <a:ext cx="90601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sz="2800" dirty="0">
                <a:solidFill>
                  <a:srgbClr val="04926A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引例</a:t>
            </a:r>
            <a:endParaRPr kumimoji="1" lang="zh-CN" altLang="en-US" sz="2800" dirty="0">
              <a:solidFill>
                <a:srgbClr val="04926A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95" grpId="0"/>
      <p:bldP spid="37" grpId="0" animBg="1"/>
      <p:bldP spid="16" grpId="0" autoUpdateAnimBg="0"/>
      <p:bldP spid="17" grpId="0"/>
      <p:bldP spid="29" grpId="0"/>
      <p:bldP spid="31" grpId="0"/>
      <p:bldP spid="32" grpId="0" autoUpdateAnimBg="0"/>
      <p:bldP spid="33" grpId="0" autoUpdateAnimBg="0"/>
      <p:bldP spid="34" grpId="0"/>
      <p:bldP spid="35" grpId="0"/>
      <p:bldP spid="36" grpId="0"/>
      <p:bldP spid="40" grpId="0" autoUpdateAnimBg="0"/>
      <p:bldP spid="42" grpId="0" autoUpdateAnimBg="0" build="p"/>
      <p:bldP spid="44" grpId="0" autoUpdateAnimBg="0"/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87189" y="982941"/>
            <a:ext cx="10800497" cy="5166818"/>
            <a:chOff x="592673" y="1109939"/>
            <a:chExt cx="10800497" cy="5043211"/>
          </a:xfrm>
        </p:grpSpPr>
        <p:sp>
          <p:nvSpPr>
            <p:cNvPr id="3" name="Rectangle 1"/>
            <p:cNvSpPr/>
            <p:nvPr/>
          </p:nvSpPr>
          <p:spPr>
            <a:xfrm>
              <a:off x="1054100" y="1109939"/>
              <a:ext cx="10339070" cy="5043211"/>
            </a:xfrm>
            <a:prstGeom prst="rect">
              <a:avLst/>
            </a:prstGeom>
            <a:solidFill>
              <a:srgbClr val="04926A">
                <a:alpha val="2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PA-102231"/>
            <p:cNvSpPr/>
            <p:nvPr>
              <p:custDataLst>
                <p:tags r:id="rId1"/>
              </p:custDataLst>
            </p:nvPr>
          </p:nvSpPr>
          <p:spPr>
            <a:xfrm>
              <a:off x="592673" y="3191076"/>
              <a:ext cx="950345" cy="900000"/>
            </a:xfrm>
            <a:prstGeom prst="rect">
              <a:avLst/>
            </a:prstGeom>
            <a:solidFill>
              <a:schemeClr val="bg1"/>
            </a:solidFill>
            <a:ln w="19050">
              <a:gradFill>
                <a:gsLst>
                  <a:gs pos="5000">
                    <a:srgbClr val="17A45E"/>
                  </a:gs>
                  <a:gs pos="56000">
                    <a:srgbClr val="039267"/>
                  </a:gs>
                  <a:gs pos="100000">
                    <a:srgbClr val="068983"/>
                  </a:gs>
                </a:gsLst>
                <a:lin ang="10800000" scaled="0"/>
              </a:gradFill>
            </a:ln>
            <a:effectLst>
              <a:outerShdw blurRad="203200" dist="63500" dir="3000000" algn="ctr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n>
                  <a:solidFill>
                    <a:schemeClr val="bg1">
                      <a:lumMod val="95000"/>
                    </a:schemeClr>
                  </a:solidFill>
                </a:ln>
                <a:cs typeface="+mn-ea"/>
                <a:sym typeface="+mn-lt"/>
              </a:endParaRPr>
            </a:p>
          </p:txBody>
        </p:sp>
        <p:sp>
          <p:nvSpPr>
            <p:cNvPr id="10" name="Rectangle 2"/>
            <p:cNvSpPr txBox="1">
              <a:spLocks noChangeArrowheads="1"/>
            </p:cNvSpPr>
            <p:nvPr/>
          </p:nvSpPr>
          <p:spPr>
            <a:xfrm>
              <a:off x="592673" y="3404999"/>
              <a:ext cx="965957" cy="526262"/>
            </a:xfrm>
            <a:noFill/>
            <a:ln>
              <a:noFill/>
            </a:ln>
          </p:spPr>
          <p:txBody>
            <a:bodyPr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b="1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lnSpc>
                  <a:spcPct val="100000"/>
                </a:lnSpc>
              </a:pPr>
              <a:r>
                <a:rPr kumimoji="1" lang="zh-CN" altLang="en-US" sz="2800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定义</a:t>
              </a:r>
              <a:r>
                <a:rPr kumimoji="1" lang="en-US" altLang="zh-CN" sz="2800" dirty="0">
                  <a:solidFill>
                    <a:srgbClr val="0492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endParaRPr kumimoji="1"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37" name="矩形 36"/>
          <p:cNvSpPr/>
          <p:nvPr/>
        </p:nvSpPr>
        <p:spPr>
          <a:xfrm>
            <a:off x="941407" y="463112"/>
            <a:ext cx="1492938" cy="523220"/>
          </a:xfrm>
          <a:prstGeom prst="rect">
            <a:avLst/>
          </a:prstGeom>
          <a:ln w="28575">
            <a:noFill/>
            <a:prstDash val="dashDot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 Box 185"/>
              <p:cNvSpPr txBox="1">
                <a:spLocks noChangeArrowheads="1"/>
              </p:cNvSpPr>
              <p:nvPr/>
            </p:nvSpPr>
            <p:spPr bwMode="auto">
              <a:xfrm>
                <a:off x="1935526" y="1022169"/>
                <a:ext cx="74803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设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是空间有界闭区域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上的有界函数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38" name="Text Box 1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35526" y="1022169"/>
                <a:ext cx="7480300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1" t="-87" r="1" b="8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 Box 188"/>
              <p:cNvSpPr txBox="1">
                <a:spLocks noChangeArrowheads="1"/>
              </p:cNvSpPr>
              <p:nvPr/>
            </p:nvSpPr>
            <p:spPr bwMode="auto">
              <a:xfrm>
                <a:off x="8454243" y="1584988"/>
                <a:ext cx="246023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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800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i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表示</a:t>
                </a:r>
                <a:endPara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41" name="Text Box 1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54243" y="1584988"/>
                <a:ext cx="2460231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20" t="-5" r="4" b="-388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 Box 193"/>
          <p:cNvSpPr txBox="1">
            <a:spLocks noChangeArrowheads="1"/>
          </p:cNvSpPr>
          <p:nvPr/>
        </p:nvSpPr>
        <p:spPr bwMode="auto">
          <a:xfrm>
            <a:off x="9440113" y="2503097"/>
            <a:ext cx="1905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并作和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 Box 198"/>
          <p:cNvSpPr txBox="1">
            <a:spLocks noChangeArrowheads="1"/>
          </p:cNvSpPr>
          <p:nvPr/>
        </p:nvSpPr>
        <p:spPr bwMode="auto">
          <a:xfrm>
            <a:off x="8360818" y="4423056"/>
            <a:ext cx="24638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这和的极限总</a:t>
            </a:r>
            <a:endParaRPr lang="en-US" altLang="zh-C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对象 3"/>
              <p:cNvSpPr txBox="1"/>
              <p:nvPr/>
            </p:nvSpPr>
            <p:spPr>
              <a:xfrm>
                <a:off x="4229303" y="3075766"/>
                <a:ext cx="3046261" cy="1288817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  <a:ln>
                <a:noFill/>
              </a:ln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kumimoji="1" lang="en-US" altLang="zh-CN" sz="2800" i="1" dirty="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  <a:sym typeface="Symbol" panose="05050102010706020507" pitchFamily="18" charset="2"/>
                                </a:rPr>
                                <m:t>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9303" y="3075766"/>
                <a:ext cx="3046261" cy="1288817"/>
              </a:xfrm>
              <a:prstGeom prst="rect">
                <a:avLst/>
              </a:prstGeom>
              <a:blipFill rotWithShape="1">
                <a:blip r:embed="rId4"/>
                <a:stretch>
                  <a:fillRect l="-7" t="-36" r="12" b="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对象 5"/>
              <p:cNvSpPr txBox="1"/>
              <p:nvPr/>
            </p:nvSpPr>
            <p:spPr>
              <a:xfrm>
                <a:off x="1935526" y="2010672"/>
                <a:ext cx="5493974" cy="57752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第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个小闭区域，也表示它的体积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526" y="2010672"/>
                <a:ext cx="5493974" cy="577520"/>
              </a:xfrm>
              <a:prstGeom prst="rect">
                <a:avLst/>
              </a:prstGeom>
              <a:blipFill rotWithShape="1">
                <a:blip r:embed="rId5"/>
                <a:stretch>
                  <a:fillRect l="-1" t="-45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对象 6"/>
              <p:cNvSpPr txBox="1"/>
              <p:nvPr/>
            </p:nvSpPr>
            <p:spPr>
              <a:xfrm>
                <a:off x="7139037" y="2021510"/>
                <a:ext cx="3606838" cy="457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在每个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上任取一点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7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9037" y="2021510"/>
                <a:ext cx="3606838" cy="457200"/>
              </a:xfrm>
              <a:prstGeom prst="rect">
                <a:avLst/>
              </a:prstGeom>
              <a:blipFill rotWithShape="1">
                <a:blip r:embed="rId6"/>
                <a:stretch>
                  <a:fillRect l="-10" t="-67" r="11" b="-9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对象 7"/>
              <p:cNvSpPr txBox="1"/>
              <p:nvPr/>
            </p:nvSpPr>
            <p:spPr>
              <a:xfrm>
                <a:off x="1935526" y="2482541"/>
                <a:ext cx="8103824" cy="58362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，作乘积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,⋯,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8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526" y="2482541"/>
                <a:ext cx="8103824" cy="583623"/>
              </a:xfrm>
              <a:prstGeom prst="rect">
                <a:avLst/>
              </a:prstGeom>
              <a:blipFill rotWithShape="1">
                <a:blip r:embed="rId7"/>
                <a:stretch>
                  <a:fillRect l="-1" t="-56" b="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对象 8"/>
              <p:cNvSpPr txBox="1"/>
              <p:nvPr/>
            </p:nvSpPr>
            <p:spPr>
              <a:xfrm>
                <a:off x="1935526" y="1539468"/>
                <a:ext cx="6770324" cy="62563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任意分成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个小闭区域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9" name="对象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526" y="1539468"/>
                <a:ext cx="6770324" cy="625636"/>
              </a:xfrm>
              <a:prstGeom prst="rect">
                <a:avLst/>
              </a:prstGeom>
              <a:blipFill rotWithShape="1">
                <a:blip r:embed="rId8"/>
                <a:stretch>
                  <a:fillRect l="-1" t="-36" b="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对象 14"/>
              <p:cNvSpPr txBox="1"/>
              <p:nvPr/>
            </p:nvSpPr>
            <p:spPr>
              <a:xfrm>
                <a:off x="1843722" y="4403489"/>
                <a:ext cx="6953931" cy="52322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若当各小闭区域直径中的最大值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时，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5" name="对象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3722" y="4403489"/>
                <a:ext cx="6953931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5" t="-76" r="5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 Box 193"/>
              <p:cNvSpPr txBox="1">
                <a:spLocks noChangeArrowheads="1"/>
              </p:cNvSpPr>
              <p:nvPr/>
            </p:nvSpPr>
            <p:spPr bwMode="auto">
              <a:xfrm>
                <a:off x="1921458" y="5533730"/>
                <a:ext cx="939936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则称此极限为函数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)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在区域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上的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三重积分</a:t>
                </a:r>
                <a:r>
                  <a:rPr lang="en-US" altLang="zh-CN" sz="2800" dirty="0">
                    <a:solidFill>
                      <a:srgbClr val="04926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.</a:t>
                </a:r>
                <a:endParaRPr lang="zh-CN" altLang="en-US" sz="2800" dirty="0">
                  <a:solidFill>
                    <a:srgbClr val="04926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7" name="Text Box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1458" y="5533730"/>
                <a:ext cx="9399368" cy="523220"/>
              </a:xfrm>
              <a:prstGeom prst="rect">
                <a:avLst/>
              </a:prstGeom>
              <a:blipFill rotWithShape="1">
                <a:blip r:embed="rId10"/>
                <a:stretch>
                  <a:fillRect l="-6" t="-65" b="6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Box 193"/>
              <p:cNvSpPr txBox="1">
                <a:spLocks noChangeArrowheads="1"/>
              </p:cNvSpPr>
              <p:nvPr/>
            </p:nvSpPr>
            <p:spPr bwMode="auto">
              <a:xfrm>
                <a:off x="1893341" y="4982745"/>
                <a:ext cx="939936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存在，且与闭区域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的分法及点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  <a:sym typeface="Symbol" panose="05050102010706020507" pitchFamily="18" charset="2"/>
                          </a:rPr>
                          <m:t>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kumimoji="1"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MS Mincho" panose="02020609040205080304" charset="-128"/>
                            <a:cs typeface="Cambria Math" panose="02040503050406030204" pitchFamily="18" charset="0"/>
                            <a:sym typeface="Symbol" panose="05050102010706020507" pitchFamily="18" charset="2"/>
                          </a:rPr>
                          <m:t></m:t>
                        </m:r>
                      </m:e>
                      <m:sub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的取法无关，</a:t>
                </a:r>
                <a:endParaRPr lang="zh-CN" altLang="en-US" sz="2800" dirty="0">
                  <a:solidFill>
                    <a:srgbClr val="04926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1" name="Text Box 1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93341" y="4982745"/>
                <a:ext cx="9399368" cy="523220"/>
              </a:xfrm>
              <a:prstGeom prst="rect">
                <a:avLst/>
              </a:prstGeom>
              <a:blipFill rotWithShape="1">
                <a:blip r:embed="rId11"/>
                <a:stretch>
                  <a:fillRect l="-4" t="-102" r="5" b="9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/>
      <p:bldP spid="41" grpId="0"/>
      <p:bldP spid="46" grpId="0"/>
      <p:bldP spid="50" grpId="0"/>
      <p:bldP spid="4" grpId="0" animBg="1"/>
      <p:bldP spid="6" grpId="0"/>
      <p:bldP spid="7" grpId="0"/>
      <p:bldP spid="8" grpId="0"/>
      <p:bldP spid="9" grpId="0"/>
      <p:bldP spid="15" grpId="0"/>
      <p:bldP spid="27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6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8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0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"/>
          <p:cNvGrpSpPr/>
          <p:nvPr/>
        </p:nvGrpSpPr>
        <p:grpSpPr bwMode="auto">
          <a:xfrm>
            <a:off x="2549076" y="2550884"/>
            <a:ext cx="563562" cy="685800"/>
            <a:chOff x="0" y="1536"/>
            <a:chExt cx="480" cy="528"/>
          </a:xfrm>
        </p:grpSpPr>
        <p:sp>
          <p:nvSpPr>
            <p:cNvPr id="28" name="Rectangle 3"/>
            <p:cNvSpPr>
              <a:spLocks noChangeArrowheads="1"/>
            </p:cNvSpPr>
            <p:nvPr/>
          </p:nvSpPr>
          <p:spPr bwMode="auto">
            <a:xfrm>
              <a:off x="0" y="1536"/>
              <a:ext cx="480" cy="240"/>
            </a:xfrm>
            <a:prstGeom prst="rect">
              <a:avLst/>
            </a:prstGeom>
            <a:solidFill>
              <a:srgbClr val="04926A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AutoShape 4"/>
            <p:cNvSpPr>
              <a:spLocks noChangeArrowheads="1"/>
            </p:cNvSpPr>
            <p:nvPr/>
          </p:nvSpPr>
          <p:spPr bwMode="auto">
            <a:xfrm>
              <a:off x="176" y="1776"/>
              <a:ext cx="144" cy="288"/>
            </a:xfrm>
            <a:prstGeom prst="downArrow">
              <a:avLst>
                <a:gd name="adj1" fmla="val 50000"/>
                <a:gd name="adj2" fmla="val 50000"/>
              </a:avLst>
            </a:prstGeom>
            <a:solidFill>
              <a:srgbClr val="04926A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86036" name="Rectangle 20"/>
          <p:cNvSpPr>
            <a:spLocks noChangeArrowheads="1"/>
          </p:cNvSpPr>
          <p:nvPr/>
        </p:nvSpPr>
        <p:spPr bwMode="auto">
          <a:xfrm>
            <a:off x="1389508" y="880125"/>
            <a:ext cx="9203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记作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6038" name="Text Box 22"/>
          <p:cNvSpPr txBox="1">
            <a:spLocks noChangeArrowheads="1"/>
          </p:cNvSpPr>
          <p:nvPr/>
        </p:nvSpPr>
        <p:spPr bwMode="auto">
          <a:xfrm>
            <a:off x="4767224" y="857459"/>
            <a:ext cx="92034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即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041" name="Text Box 25"/>
          <p:cNvSpPr txBox="1">
            <a:spLocks noChangeArrowheads="1"/>
          </p:cNvSpPr>
          <p:nvPr/>
        </p:nvSpPr>
        <p:spPr bwMode="auto">
          <a:xfrm>
            <a:off x="1389508" y="5371048"/>
            <a:ext cx="533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在直角坐标系中，体积元素</a:t>
            </a:r>
            <a:endParaRPr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042" name="Text Box 26"/>
              <p:cNvSpPr txBox="1">
                <a:spLocks noChangeArrowheads="1"/>
              </p:cNvSpPr>
              <p:nvPr/>
            </p:nvSpPr>
            <p:spPr bwMode="auto">
              <a:xfrm>
                <a:off x="5725109" y="5357655"/>
                <a:ext cx="28194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= </a:t>
                </a:r>
                <a:r>
                  <a:rPr lang="en-US" altLang="zh-CN" sz="2800" dirty="0" err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2800" dirty="0" err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zh-CN" sz="2800" dirty="0" err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altLang="zh-CN" sz="280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a:t>.</a:t>
                </a:r>
                <a:endPara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86042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25109" y="5357655"/>
                <a:ext cx="2819400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21" t="-31" r="21" b="2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2186748" y="518754"/>
                <a:ext cx="2690596" cy="124265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6748" y="518754"/>
                <a:ext cx="2690596" cy="1242654"/>
              </a:xfrm>
              <a:prstGeom prst="rect">
                <a:avLst/>
              </a:prstGeom>
              <a:blipFill rotWithShape="1">
                <a:blip r:embed="rId3"/>
                <a:stretch>
                  <a:fillRect l="-16" t="-48" r="20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对象 3"/>
              <p:cNvSpPr txBox="1"/>
              <p:nvPr/>
            </p:nvSpPr>
            <p:spPr>
              <a:xfrm>
                <a:off x="2518913" y="1599767"/>
                <a:ext cx="6679835" cy="150652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→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zh-CN" sz="2800" i="1" dirty="0">
                                      <a:latin typeface="Cambria Math" panose="02040503050406030204" pitchFamily="18" charset="0"/>
                                      <a:ea typeface="MS Mincho" panose="02020609040205080304" charset="-128"/>
                                      <a:cs typeface="Cambria Math" panose="02040503050406030204" pitchFamily="18" charset="0"/>
                                      <a:sym typeface="Symbol" panose="05050102010706020507" pitchFamily="18" charset="2"/>
                                    </a:rPr>
                                    <m:t>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𝜂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kumimoji="1" lang="en-US" altLang="zh-CN" sz="2800" i="1" dirty="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  <a:sym typeface="Symbol" panose="05050102010706020507" pitchFamily="18" charset="2"/>
                            </a:rPr>
                            <m:t>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8913" y="1599767"/>
                <a:ext cx="6679835" cy="1506527"/>
              </a:xfrm>
              <a:prstGeom prst="rect">
                <a:avLst/>
              </a:prstGeom>
              <a:blipFill rotWithShape="1">
                <a:blip r:embed="rId4"/>
                <a:stretch>
                  <a:fillRect l="-8" t="-13" r="2" b="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 Box 5" descr="大网格"/>
          <p:cNvSpPr txBox="1">
            <a:spLocks noChangeArrowheads="1"/>
          </p:cNvSpPr>
          <p:nvPr/>
        </p:nvSpPr>
        <p:spPr bwMode="auto">
          <a:xfrm>
            <a:off x="2549626" y="3426081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</a:rPr>
              <a:t>积分区域</a:t>
            </a:r>
            <a:endParaRPr lang="zh-CN" altLang="en-US" sz="4000" dirty="0">
              <a:solidFill>
                <a:srgbClr val="04926A"/>
              </a:solidFill>
            </a:endParaRPr>
          </a:p>
        </p:txBody>
      </p:sp>
      <p:grpSp>
        <p:nvGrpSpPr>
          <p:cNvPr id="31" name="Group 7"/>
          <p:cNvGrpSpPr/>
          <p:nvPr/>
        </p:nvGrpSpPr>
        <p:grpSpPr bwMode="auto">
          <a:xfrm>
            <a:off x="5971291" y="1661270"/>
            <a:ext cx="3060890" cy="1838538"/>
            <a:chOff x="3353" y="883"/>
            <a:chExt cx="2664" cy="1270"/>
          </a:xfrm>
        </p:grpSpPr>
        <p:sp>
          <p:nvSpPr>
            <p:cNvPr id="32" name="Rectangle 8" descr="大网格"/>
            <p:cNvSpPr>
              <a:spLocks noChangeArrowheads="1"/>
            </p:cNvSpPr>
            <p:nvPr/>
          </p:nvSpPr>
          <p:spPr bwMode="auto">
            <a:xfrm>
              <a:off x="3353" y="883"/>
              <a:ext cx="2664" cy="845"/>
            </a:xfrm>
            <a:prstGeom prst="rect">
              <a:avLst/>
            </a:prstGeom>
            <a:noFill/>
            <a:ln w="38100" cap="sq">
              <a:solidFill>
                <a:srgbClr val="92D05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" name="AutoShape 9"/>
            <p:cNvSpPr>
              <a:spLocks noChangeArrowheads="1"/>
            </p:cNvSpPr>
            <p:nvPr/>
          </p:nvSpPr>
          <p:spPr bwMode="auto">
            <a:xfrm>
              <a:off x="5673" y="1719"/>
              <a:ext cx="117" cy="434"/>
            </a:xfrm>
            <a:prstGeom prst="downArrow">
              <a:avLst>
                <a:gd name="adj1" fmla="val 50000"/>
                <a:gd name="adj2" fmla="val 175000"/>
              </a:avLst>
            </a:prstGeom>
            <a:solidFill>
              <a:srgbClr val="A9D18E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4" name="Text Box 10" descr="大网格"/>
          <p:cNvSpPr txBox="1">
            <a:spLocks noChangeArrowheads="1"/>
          </p:cNvSpPr>
          <p:nvPr/>
        </p:nvSpPr>
        <p:spPr bwMode="auto">
          <a:xfrm>
            <a:off x="8396369" y="3629306"/>
            <a:ext cx="615553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A9D18E"/>
                </a:solidFill>
              </a:rPr>
              <a:t>积分和</a:t>
            </a:r>
            <a:endParaRPr lang="zh-CN" altLang="en-US" sz="4000" dirty="0">
              <a:solidFill>
                <a:srgbClr val="A9D18E"/>
              </a:solidFill>
            </a:endParaRPr>
          </a:p>
        </p:txBody>
      </p:sp>
      <p:grpSp>
        <p:nvGrpSpPr>
          <p:cNvPr id="35" name="Group 11"/>
          <p:cNvGrpSpPr/>
          <p:nvPr/>
        </p:nvGrpSpPr>
        <p:grpSpPr bwMode="auto">
          <a:xfrm>
            <a:off x="3149983" y="2025012"/>
            <a:ext cx="1423377" cy="1403350"/>
            <a:chOff x="414" y="1056"/>
            <a:chExt cx="1457" cy="1056"/>
          </a:xfrm>
        </p:grpSpPr>
        <p:sp>
          <p:nvSpPr>
            <p:cNvPr id="36" name="Rectangle 12" descr="大网格"/>
            <p:cNvSpPr>
              <a:spLocks noChangeArrowheads="1"/>
            </p:cNvSpPr>
            <p:nvPr/>
          </p:nvSpPr>
          <p:spPr bwMode="auto">
            <a:xfrm>
              <a:off x="414" y="1056"/>
              <a:ext cx="1457" cy="485"/>
            </a:xfrm>
            <a:prstGeom prst="rect">
              <a:avLst/>
            </a:prstGeom>
            <a:noFill/>
            <a:ln w="38100" cap="sq">
              <a:solidFill>
                <a:srgbClr val="4A7BA8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AutoShape 13"/>
            <p:cNvSpPr>
              <a:spLocks noChangeArrowheads="1"/>
            </p:cNvSpPr>
            <p:nvPr/>
          </p:nvSpPr>
          <p:spPr bwMode="auto">
            <a:xfrm>
              <a:off x="960" y="1632"/>
              <a:ext cx="48" cy="480"/>
            </a:xfrm>
            <a:prstGeom prst="downArrow">
              <a:avLst>
                <a:gd name="adj1" fmla="val 50000"/>
                <a:gd name="adj2" fmla="val 250000"/>
              </a:avLst>
            </a:prstGeom>
            <a:solidFill>
              <a:srgbClr val="4A7BA8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" name="Text Box 14" descr="大网格"/>
          <p:cNvSpPr txBox="1">
            <a:spLocks noChangeArrowheads="1"/>
          </p:cNvSpPr>
          <p:nvPr/>
        </p:nvSpPr>
        <p:spPr bwMode="auto">
          <a:xfrm>
            <a:off x="3429644" y="3528374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4A7BA8"/>
                </a:solidFill>
              </a:rPr>
              <a:t>被积函数</a:t>
            </a:r>
            <a:endParaRPr lang="zh-CN" altLang="en-US" sz="1800" dirty="0">
              <a:solidFill>
                <a:srgbClr val="4A7BA8"/>
              </a:solidFill>
            </a:endParaRPr>
          </a:p>
        </p:txBody>
      </p:sp>
      <p:grpSp>
        <p:nvGrpSpPr>
          <p:cNvPr id="39" name="Group 15"/>
          <p:cNvGrpSpPr/>
          <p:nvPr/>
        </p:nvGrpSpPr>
        <p:grpSpPr bwMode="auto">
          <a:xfrm>
            <a:off x="3592520" y="2064383"/>
            <a:ext cx="929875" cy="1251540"/>
            <a:chOff x="876" y="1177"/>
            <a:chExt cx="762" cy="996"/>
          </a:xfrm>
        </p:grpSpPr>
        <p:sp>
          <p:nvSpPr>
            <p:cNvPr id="40" name="Rectangle 16" descr="大网格"/>
            <p:cNvSpPr>
              <a:spLocks noChangeArrowheads="1"/>
            </p:cNvSpPr>
            <p:nvPr/>
          </p:nvSpPr>
          <p:spPr bwMode="auto">
            <a:xfrm>
              <a:off x="876" y="1177"/>
              <a:ext cx="762" cy="288"/>
            </a:xfrm>
            <a:prstGeom prst="rect">
              <a:avLst/>
            </a:prstGeom>
            <a:noFill/>
            <a:ln w="19050" cap="sq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AutoShape 17"/>
            <p:cNvSpPr>
              <a:spLocks noChangeArrowheads="1"/>
            </p:cNvSpPr>
            <p:nvPr/>
          </p:nvSpPr>
          <p:spPr bwMode="auto">
            <a:xfrm rot="20124323">
              <a:off x="1517" y="1453"/>
              <a:ext cx="48" cy="720"/>
            </a:xfrm>
            <a:prstGeom prst="downArrow">
              <a:avLst>
                <a:gd name="adj1" fmla="val 50000"/>
                <a:gd name="adj2" fmla="val 375000"/>
              </a:avLst>
            </a:prstGeom>
            <a:solidFill>
              <a:srgbClr val="FF0000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" name="Text Box 18" descr="大网格"/>
          <p:cNvSpPr txBox="1">
            <a:spLocks noChangeArrowheads="1"/>
          </p:cNvSpPr>
          <p:nvPr/>
        </p:nvSpPr>
        <p:spPr bwMode="auto">
          <a:xfrm>
            <a:off x="4337694" y="3452174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</a:rPr>
              <a:t>积分变量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43" name="Text Box 19" descr="大网格"/>
          <p:cNvSpPr txBox="1">
            <a:spLocks noChangeArrowheads="1"/>
          </p:cNvSpPr>
          <p:nvPr/>
        </p:nvSpPr>
        <p:spPr bwMode="auto">
          <a:xfrm>
            <a:off x="5417333" y="3455845"/>
            <a:ext cx="615553" cy="18876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993300"/>
                </a:solidFill>
              </a:rPr>
              <a:t>被积表达式</a:t>
            </a:r>
            <a:endParaRPr lang="zh-CN" altLang="en-US" sz="4000" dirty="0">
              <a:solidFill>
                <a:srgbClr val="993300"/>
              </a:solidFill>
            </a:endParaRPr>
          </a:p>
        </p:txBody>
      </p:sp>
      <p:grpSp>
        <p:nvGrpSpPr>
          <p:cNvPr id="44" name="Group 20"/>
          <p:cNvGrpSpPr/>
          <p:nvPr/>
        </p:nvGrpSpPr>
        <p:grpSpPr bwMode="auto">
          <a:xfrm>
            <a:off x="3196876" y="1925000"/>
            <a:ext cx="2543512" cy="1504104"/>
            <a:chOff x="864" y="1920"/>
            <a:chExt cx="1429" cy="836"/>
          </a:xfrm>
        </p:grpSpPr>
        <p:sp>
          <p:nvSpPr>
            <p:cNvPr id="45" name="Rectangle 21" descr="大网格"/>
            <p:cNvSpPr>
              <a:spLocks noChangeArrowheads="1"/>
            </p:cNvSpPr>
            <p:nvPr/>
          </p:nvSpPr>
          <p:spPr bwMode="auto">
            <a:xfrm>
              <a:off x="864" y="1920"/>
              <a:ext cx="986" cy="460"/>
            </a:xfrm>
            <a:prstGeom prst="rect">
              <a:avLst/>
            </a:prstGeom>
            <a:noFill/>
            <a:ln w="38100" cap="sq">
              <a:solidFill>
                <a:srgbClr val="9933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22"/>
            <p:cNvSpPr>
              <a:spLocks noChangeShapeType="1"/>
            </p:cNvSpPr>
            <p:nvPr/>
          </p:nvSpPr>
          <p:spPr bwMode="auto">
            <a:xfrm>
              <a:off x="1850" y="2390"/>
              <a:ext cx="443" cy="366"/>
            </a:xfrm>
            <a:prstGeom prst="line">
              <a:avLst/>
            </a:prstGeom>
            <a:noFill/>
            <a:ln w="38100" cap="sq">
              <a:solidFill>
                <a:srgbClr val="993300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7" name="Group 23"/>
          <p:cNvGrpSpPr/>
          <p:nvPr/>
        </p:nvGrpSpPr>
        <p:grpSpPr bwMode="auto">
          <a:xfrm>
            <a:off x="4516050" y="1910141"/>
            <a:ext cx="1990764" cy="992758"/>
            <a:chOff x="1792" y="1069"/>
            <a:chExt cx="1808" cy="800"/>
          </a:xfrm>
        </p:grpSpPr>
        <p:sp>
          <p:nvSpPr>
            <p:cNvPr id="48" name="Oval 24" descr="大网格"/>
            <p:cNvSpPr>
              <a:spLocks noChangeArrowheads="1"/>
            </p:cNvSpPr>
            <p:nvPr/>
          </p:nvSpPr>
          <p:spPr bwMode="auto">
            <a:xfrm>
              <a:off x="1792" y="1069"/>
              <a:ext cx="528" cy="480"/>
            </a:xfrm>
            <a:prstGeom prst="ellipse">
              <a:avLst/>
            </a:prstGeom>
            <a:noFill/>
            <a:ln w="28575" cap="sq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pattFill prst="lgGrid">
                    <a:fgClr>
                      <a:schemeClr val="tx2"/>
                    </a:fgClr>
                    <a:bgClr>
                      <a:srgbClr val="FFFFFF"/>
                    </a:bgClr>
                  </a:patt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AutoShape 25"/>
            <p:cNvSpPr>
              <a:spLocks noChangeArrowheads="1"/>
            </p:cNvSpPr>
            <p:nvPr/>
          </p:nvSpPr>
          <p:spPr bwMode="auto">
            <a:xfrm rot="17650697">
              <a:off x="2764" y="1034"/>
              <a:ext cx="93" cy="1578"/>
            </a:xfrm>
            <a:prstGeom prst="downArrow">
              <a:avLst>
                <a:gd name="adj1" fmla="val 50000"/>
                <a:gd name="adj2" fmla="val 424194"/>
              </a:avLst>
            </a:prstGeom>
            <a:solidFill>
              <a:srgbClr val="00B0F0"/>
            </a:solidFill>
            <a:ln w="12700" cap="sq">
              <a:noFill/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0" name="Text Box 26" descr="大网格"/>
          <p:cNvSpPr txBox="1">
            <a:spLocks noChangeArrowheads="1"/>
          </p:cNvSpPr>
          <p:nvPr/>
        </p:nvSpPr>
        <p:spPr bwMode="auto">
          <a:xfrm>
            <a:off x="6172669" y="3418720"/>
            <a:ext cx="615553" cy="1528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pattFill prst="lgGrid">
                  <a:fgClr>
                    <a:schemeClr val="tx2"/>
                  </a:fgClr>
                  <a:bgClr>
                    <a:srgbClr val="FFFFFF"/>
                  </a:bgClr>
                </a:patt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0B0F0"/>
                </a:solidFill>
              </a:rPr>
              <a:t>体积元素</a:t>
            </a:r>
            <a:endParaRPr lang="zh-CN" altLang="en-US" sz="40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6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75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75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75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6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86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36" grpId="0"/>
      <p:bldP spid="86038" grpId="0"/>
      <p:bldP spid="86041" grpId="0"/>
      <p:bldP spid="86042" grpId="0"/>
      <p:bldP spid="3" grpId="0"/>
      <p:bldP spid="4" grpId="0"/>
      <p:bldP spid="30" grpId="0" autoUpdateAnimBg="0"/>
      <p:bldP spid="34" grpId="0" autoUpdateAnimBg="0"/>
      <p:bldP spid="38" grpId="0" autoUpdateAnimBg="0"/>
      <p:bldP spid="42" grpId="0" autoUpdateAnimBg="0"/>
      <p:bldP spid="43" grpId="0" autoUpdateAnimBg="0"/>
      <p:bldP spid="50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8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14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7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8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2" name="Text Box 1073"/>
          <p:cNvSpPr txBox="1">
            <a:spLocks noChangeArrowheads="1"/>
          </p:cNvSpPr>
          <p:nvPr/>
        </p:nvSpPr>
        <p:spPr bwMode="auto">
          <a:xfrm>
            <a:off x="2167276" y="1488186"/>
            <a:ext cx="5410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三重积分的性质与二重积分相似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</a:t>
            </a:r>
            <a:endParaRPr kumimoji="1" lang="en-US" altLang="zh-CN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4" name="Text Box 1075"/>
          <p:cNvSpPr txBox="1">
            <a:spLocks noChangeArrowheads="1"/>
          </p:cNvSpPr>
          <p:nvPr/>
        </p:nvSpPr>
        <p:spPr bwMode="auto">
          <a:xfrm>
            <a:off x="7308102" y="1491613"/>
            <a:ext cx="101021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rgbClr val="04926A"/>
                </a:solidFill>
                <a:latin typeface="+mn-ea"/>
              </a:rPr>
              <a:t>例如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 Box 1080"/>
          <p:cNvSpPr txBox="1">
            <a:spLocks noChangeArrowheads="1"/>
          </p:cNvSpPr>
          <p:nvPr/>
        </p:nvSpPr>
        <p:spPr bwMode="auto">
          <a:xfrm>
            <a:off x="1931543" y="3319219"/>
            <a:ext cx="433163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（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</a:t>
            </a: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）三重积分的中值定理</a:t>
            </a:r>
            <a:endParaRPr kumimoji="1" lang="en-US" altLang="zh-CN" sz="2800" i="0" u="none" strike="noStrike" kern="1200" cap="none" spc="0" normalizeH="0" baseline="0" noProof="0" dirty="0">
              <a:ln>
                <a:noFill/>
              </a:ln>
              <a:solidFill>
                <a:srgbClr val="04926A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1086"/>
              <p:cNvSpPr txBox="1"/>
              <p:nvPr/>
            </p:nvSpPr>
            <p:spPr bwMode="auto">
              <a:xfrm>
                <a:off x="2167276" y="4917073"/>
                <a:ext cx="3162714" cy="69106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则存在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9" name="Object 10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7276" y="4917073"/>
                <a:ext cx="3162714" cy="691066"/>
              </a:xfrm>
              <a:prstGeom prst="rect">
                <a:avLst/>
              </a:prstGeom>
              <a:blipFill rotWithShape="1">
                <a:blip r:embed="rId2"/>
                <a:stretch>
                  <a:fillRect l="-1" t="-39" r="14" b="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1087"/>
          <p:cNvSpPr txBox="1">
            <a:spLocks noChangeArrowheads="1"/>
          </p:cNvSpPr>
          <p:nvPr/>
        </p:nvSpPr>
        <p:spPr bwMode="auto">
          <a:xfrm>
            <a:off x="5207827" y="4922048"/>
            <a:ext cx="933471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使得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089"/>
              <p:cNvSpPr txBox="1"/>
              <p:nvPr/>
            </p:nvSpPr>
            <p:spPr bwMode="auto">
              <a:xfrm>
                <a:off x="5937124" y="4570165"/>
                <a:ext cx="4834574" cy="13373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nor/>
                        </m:rPr>
                        <a:rPr kumimoji="1" lang="en-US" altLang="zh-CN" sz="2800" i="1" dirty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</m:t>
                      </m:r>
                      <m:r>
                        <m:rPr>
                          <m:nor/>
                        </m:rPr>
                        <a:rPr kumimoji="1" lang="en-US" altLang="zh-CN" sz="2800" b="0" i="1" dirty="0" smtClean="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  <a:sym typeface="Symbol" panose="05050102010706020507" pitchFamily="18" charset="2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2" name="Object 10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37124" y="4570165"/>
                <a:ext cx="4834574" cy="1337342"/>
              </a:xfrm>
              <a:prstGeom prst="rect">
                <a:avLst/>
              </a:prstGeom>
              <a:blipFill rotWithShape="1">
                <a:blip r:embed="rId3"/>
                <a:stretch>
                  <a:fillRect l="-11" t="-5" r="4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对象 14"/>
              <p:cNvSpPr txBox="1"/>
              <p:nvPr/>
            </p:nvSpPr>
            <p:spPr>
              <a:xfrm>
                <a:off x="2167277" y="4015975"/>
                <a:ext cx="5316366" cy="69106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在有界闭域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上连续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5" name="对象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7277" y="4015975"/>
                <a:ext cx="5316366" cy="691067"/>
              </a:xfrm>
              <a:prstGeom prst="rect">
                <a:avLst/>
              </a:prstGeom>
              <a:blipFill rotWithShape="1">
                <a:blip r:embed="rId4"/>
                <a:stretch>
                  <a:fillRect t="-34" r="3" b="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对象 15"/>
              <p:cNvSpPr txBox="1"/>
              <p:nvPr/>
            </p:nvSpPr>
            <p:spPr>
              <a:xfrm>
                <a:off x="7143555" y="4011865"/>
                <a:ext cx="2565930" cy="5842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的体积，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6" name="对象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555" y="4011865"/>
                <a:ext cx="2565930" cy="584200"/>
              </a:xfrm>
              <a:prstGeom prst="rect">
                <a:avLst/>
              </a:prstGeom>
              <a:blipFill rotWithShape="1">
                <a:blip r:embed="rId5"/>
                <a:stretch>
                  <a:fillRect l="-17" t="-98" r="13" b="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1258631" y="873157"/>
            <a:ext cx="1492938" cy="523220"/>
          </a:xfrm>
          <a:prstGeom prst="rect">
            <a:avLst/>
          </a:prstGeom>
          <a:ln w="28575">
            <a:noFill/>
            <a:prstDash val="dashDot"/>
          </a:ln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 </a:t>
            </a: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性质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对象 5"/>
              <p:cNvSpPr txBox="1"/>
              <p:nvPr/>
            </p:nvSpPr>
            <p:spPr>
              <a:xfrm>
                <a:off x="1931543" y="2020945"/>
                <a:ext cx="6538689" cy="127027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 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，其中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的体积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1543" y="2020945"/>
                <a:ext cx="6538689" cy="1270275"/>
              </a:xfrm>
              <a:prstGeom prst="rect">
                <a:avLst/>
              </a:prstGeom>
              <a:blipFill rotWithShape="1">
                <a:blip r:embed="rId6"/>
                <a:stretch>
                  <a:fillRect l="-8" t="-30" r="9"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  <p:bldP spid="9" grpId="0"/>
      <p:bldP spid="10" grpId="0"/>
      <p:bldP spid="12" grpId="0"/>
      <p:bldP spid="15" grpId="0"/>
      <p:bldP spid="16" grpId="0"/>
      <p:bldP spid="11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46175" y="1879600"/>
            <a:ext cx="9863974" cy="439220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ct val="50000"/>
              </a:spcBef>
            </a:pP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58395" name="Rectangle 27"/>
          <p:cNvSpPr>
            <a:spLocks noGrp="1" noChangeArrowheads="1"/>
          </p:cNvSpPr>
          <p:nvPr>
            <p:ph type="title" idx="4294967295"/>
          </p:nvPr>
        </p:nvSpPr>
        <p:spPr>
          <a:xfrm>
            <a:off x="1125610" y="625211"/>
            <a:ext cx="4360790" cy="518266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二、三重积分的计算</a:t>
            </a:r>
            <a:endParaRPr lang="zh-CN" altLang="en-US" sz="32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Text Box 2082"/>
          <p:cNvSpPr txBox="1">
            <a:spLocks noChangeArrowheads="1"/>
          </p:cNvSpPr>
          <p:nvPr/>
        </p:nvSpPr>
        <p:spPr bwMode="auto">
          <a:xfrm>
            <a:off x="2398940" y="3786270"/>
            <a:ext cx="4953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1.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投影法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(“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先一后二”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；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8" name="Text Box 2083"/>
          <p:cNvSpPr txBox="1">
            <a:spLocks noChangeArrowheads="1"/>
          </p:cNvSpPr>
          <p:nvPr/>
        </p:nvSpPr>
        <p:spPr bwMode="auto">
          <a:xfrm>
            <a:off x="2398940" y="4386345"/>
            <a:ext cx="534473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2.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截面法 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(“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先二后一”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；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9" name="Text Box 2084"/>
          <p:cNvSpPr txBox="1">
            <a:spLocks noChangeArrowheads="1"/>
          </p:cNvSpPr>
          <p:nvPr/>
        </p:nvSpPr>
        <p:spPr bwMode="auto">
          <a:xfrm>
            <a:off x="2398940" y="5035063"/>
            <a:ext cx="3302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3.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FF00FF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三次积分法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Object 2089"/>
              <p:cNvSpPr txBox="1"/>
              <p:nvPr/>
            </p:nvSpPr>
            <p:spPr bwMode="auto">
              <a:xfrm>
                <a:off x="4154977" y="2108818"/>
                <a:ext cx="2366141" cy="6054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0" name="Object 20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4977" y="2108818"/>
                <a:ext cx="2366141" cy="605486"/>
              </a:xfrm>
              <a:prstGeom prst="rect">
                <a:avLst/>
              </a:prstGeom>
              <a:blipFill rotWithShape="1">
                <a:blip r:embed="rId1"/>
                <a:stretch>
                  <a:fillRect l="-7" t="-102" r="13" b="5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90"/>
          <p:cNvSpPr>
            <a:spLocks noChangeArrowheads="1"/>
          </p:cNvSpPr>
          <p:nvPr/>
        </p:nvSpPr>
        <p:spPr bwMode="auto">
          <a:xfrm>
            <a:off x="1576612" y="2102403"/>
            <a:ext cx="27622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先假设连续函数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2" name="Text Box 2091"/>
          <p:cNvSpPr txBox="1">
            <a:spLocks noChangeArrowheads="1"/>
          </p:cNvSpPr>
          <p:nvPr/>
        </p:nvSpPr>
        <p:spPr bwMode="auto">
          <a:xfrm>
            <a:off x="6254482" y="2103743"/>
            <a:ext cx="31178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并将它看作某物体 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3" name="Text Box 2092"/>
          <p:cNvSpPr txBox="1">
            <a:spLocks noChangeArrowheads="1"/>
          </p:cNvSpPr>
          <p:nvPr/>
        </p:nvSpPr>
        <p:spPr bwMode="auto">
          <a:xfrm>
            <a:off x="3593669" y="2747683"/>
            <a:ext cx="6324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通过计算该物体的质量引出下列各计算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" name="Text Box 2095"/>
          <p:cNvSpPr txBox="1">
            <a:spLocks noChangeArrowheads="1"/>
          </p:cNvSpPr>
          <p:nvPr/>
        </p:nvSpPr>
        <p:spPr bwMode="auto">
          <a:xfrm>
            <a:off x="1531424" y="5621454"/>
            <a:ext cx="646843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最后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推广到一般可积函数的积分计算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5" name="Text Box 2096"/>
          <p:cNvSpPr txBox="1">
            <a:spLocks noChangeArrowheads="1"/>
          </p:cNvSpPr>
          <p:nvPr/>
        </p:nvSpPr>
        <p:spPr bwMode="auto">
          <a:xfrm>
            <a:off x="1531424" y="2723619"/>
            <a:ext cx="23391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的密度函数</a:t>
            </a:r>
            <a:r>
              <a:rPr kumimoji="1"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6" name="Text Box 2097"/>
          <p:cNvSpPr txBox="1">
            <a:spLocks noChangeArrowheads="1"/>
          </p:cNvSpPr>
          <p:nvPr/>
        </p:nvSpPr>
        <p:spPr bwMode="auto">
          <a:xfrm>
            <a:off x="1531424" y="3347758"/>
            <a:ext cx="9937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</a:t>
            </a:r>
            <a:endParaRPr kumimoji="1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5" name="Rectangle 2"/>
          <p:cNvSpPr txBox="1">
            <a:spLocks noChangeArrowheads="1"/>
          </p:cNvSpPr>
          <p:nvPr/>
        </p:nvSpPr>
        <p:spPr>
          <a:xfrm>
            <a:off x="1514571" y="1178552"/>
            <a:ext cx="5054672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利用直接坐标计算三重积分</a:t>
            </a:r>
            <a:endParaRPr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3" descr="图示, 示意图&#10;&#10;描述已自动生成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8453" y="3446033"/>
            <a:ext cx="2156404" cy="2313027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8395" grpId="0"/>
      <p:bldP spid="17" grpId="0" autoUpdateAnimBg="0" build="p"/>
      <p:bldP spid="18" grpId="0" autoUpdateAnimBg="0" build="p"/>
      <p:bldP spid="19" grpId="0" autoUpdateAnimBg="0" build="p"/>
      <p:bldP spid="20" grpId="0"/>
      <p:bldP spid="21" grpId="0" autoUpdateAnimBg="0"/>
      <p:bldP spid="22" grpId="0" advAuto="0" autoUpdateAnimBg="0" build="p"/>
      <p:bldP spid="23" grpId="0" autoUpdateAnimBg="0" build="p"/>
      <p:bldP spid="24" grpId="0" autoUpdateAnimBg="0" build="p"/>
      <p:bldP spid="25" grpId="0" advAuto="0" autoUpdateAnimBg="0" build="p"/>
      <p:bldP spid="26" grpId="0" advAuto="0" autoUpdateAnimBg="0" build="p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6562" name="Object 3074"/>
              <p:cNvSpPr txBox="1"/>
              <p:nvPr/>
            </p:nvSpPr>
            <p:spPr bwMode="auto">
              <a:xfrm>
                <a:off x="2943473" y="4408375"/>
                <a:ext cx="4203285" cy="108584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b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p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)​​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2200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d</m:t>
                                  </m:r>
                                  <m:r>
                                    <a:rPr lang="en-US" altLang="zh-CN" sz="22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</m:nary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6562" name="Object 30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3473" y="4408375"/>
                <a:ext cx="4203285" cy="1085849"/>
              </a:xfrm>
              <a:prstGeom prst="rect">
                <a:avLst/>
              </a:prstGeom>
              <a:blipFill rotWithShape="1">
                <a:blip r:embed="rId1"/>
                <a:stretch>
                  <a:fillRect l="-6" t="-19" r="11" b="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77" name="Rectangle 3089"/>
          <p:cNvSpPr>
            <a:spLocks noGrp="1" noChangeArrowheads="1"/>
          </p:cNvSpPr>
          <p:nvPr>
            <p:ph type="title" idx="4294967295"/>
          </p:nvPr>
        </p:nvSpPr>
        <p:spPr>
          <a:xfrm>
            <a:off x="692150" y="478962"/>
            <a:ext cx="4685966" cy="59465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 </a:t>
            </a:r>
            <a:r>
              <a:rPr lang="zh-CN" altLang="en-US" sz="2200" b="0" dirty="0">
                <a:ea typeface="黑体" panose="02010609060101010101" pitchFamily="49" charset="-122"/>
              </a:rPr>
              <a:t>投影法 </a:t>
            </a:r>
            <a:r>
              <a:rPr lang="en-US" altLang="zh-CN" sz="2200" b="0" dirty="0">
                <a:ea typeface="黑体" panose="02010609060101010101" pitchFamily="49" charset="-122"/>
              </a:rPr>
              <a:t>(</a:t>
            </a:r>
            <a:r>
              <a:rPr lang="zh-CN" altLang="en-US" sz="2200" b="0" dirty="0">
                <a:ea typeface="黑体" panose="02010609060101010101" pitchFamily="49" charset="-122"/>
              </a:rPr>
              <a:t>“先一后二” </a:t>
            </a:r>
            <a:r>
              <a:rPr lang="en-US" altLang="zh-CN" sz="2200" b="0" dirty="0">
                <a:ea typeface="黑体" panose="02010609060101010101" pitchFamily="49" charset="-122"/>
              </a:rPr>
              <a:t>) </a:t>
            </a:r>
            <a:endParaRPr lang="en-US" altLang="zh-CN" sz="22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578" name="Object 3090"/>
              <p:cNvSpPr txBox="1"/>
              <p:nvPr/>
            </p:nvSpPr>
            <p:spPr bwMode="auto">
              <a:xfrm>
                <a:off x="2604369" y="940182"/>
                <a:ext cx="3491631" cy="89498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)∈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dirty="0"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dirty="0"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6578" name="Object 30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4369" y="940182"/>
                <a:ext cx="3491631" cy="894982"/>
              </a:xfrm>
              <a:prstGeom prst="rect">
                <a:avLst/>
              </a:prstGeom>
              <a:blipFill rotWithShape="1">
                <a:blip r:embed="rId2"/>
                <a:stretch>
                  <a:fillRect l="-7" t="-43" b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579" name="Object 3091"/>
              <p:cNvSpPr txBox="1"/>
              <p:nvPr/>
            </p:nvSpPr>
            <p:spPr bwMode="auto">
              <a:xfrm>
                <a:off x="2604369" y="2188859"/>
                <a:ext cx="3613868" cy="9556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)​​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nary>
                        </m:e>
                      </m:d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6579" name="Object 309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04369" y="2188859"/>
                <a:ext cx="3613868" cy="955602"/>
              </a:xfrm>
              <a:prstGeom prst="rect">
                <a:avLst/>
              </a:prstGeom>
              <a:blipFill rotWithShape="1">
                <a:blip r:embed="rId3"/>
                <a:stretch>
                  <a:fillRect l="-6" t="-1" r="9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80" name="Text Box 3092"/>
          <p:cNvSpPr txBox="1">
            <a:spLocks noChangeArrowheads="1"/>
          </p:cNvSpPr>
          <p:nvPr/>
        </p:nvSpPr>
        <p:spPr bwMode="auto">
          <a:xfrm>
            <a:off x="1976437" y="3130936"/>
            <a:ext cx="28956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该物体的质量为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581" name="Object 3093"/>
              <p:cNvSpPr txBox="1"/>
              <p:nvPr/>
            </p:nvSpPr>
            <p:spPr bwMode="auto">
              <a:xfrm>
                <a:off x="2943472" y="3424684"/>
                <a:ext cx="2526431" cy="10429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6581" name="Object 309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43472" y="3424684"/>
                <a:ext cx="2526431" cy="1042964"/>
              </a:xfrm>
              <a:prstGeom prst="rect">
                <a:avLst/>
              </a:prstGeom>
              <a:blipFill rotWithShape="1">
                <a:blip r:embed="rId4"/>
                <a:stretch>
                  <a:fillRect l="-10" t="-12" r="1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584" name="Object 3096"/>
              <p:cNvSpPr txBox="1"/>
              <p:nvPr/>
            </p:nvSpPr>
            <p:spPr bwMode="auto">
              <a:xfrm>
                <a:off x="3174292" y="5400268"/>
                <a:ext cx="3871912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)​​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nary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6584" name="Object 30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74292" y="5400268"/>
                <a:ext cx="3871912" cy="876300"/>
              </a:xfrm>
              <a:prstGeom prst="rect">
                <a:avLst/>
              </a:prstGeom>
              <a:blipFill rotWithShape="1">
                <a:blip r:embed="rId5"/>
                <a:stretch>
                  <a:fillRect l="-15" t="-26" r="6" b="-707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587" name="Object 3099"/>
              <p:cNvSpPr txBox="1"/>
              <p:nvPr/>
            </p:nvSpPr>
            <p:spPr bwMode="auto">
              <a:xfrm>
                <a:off x="8466813" y="5198767"/>
                <a:ext cx="2084387" cy="3825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6587" name="Object 309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66813" y="5198767"/>
                <a:ext cx="2084387" cy="382587"/>
              </a:xfrm>
              <a:prstGeom prst="rect">
                <a:avLst/>
              </a:prstGeom>
              <a:blipFill rotWithShape="1">
                <a:blip r:embed="rId6"/>
                <a:stretch>
                  <a:fillRect l="-17" t="-6" r="2" b="8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593" name="Text Box 3105"/>
          <p:cNvSpPr txBox="1">
            <a:spLocks noChangeArrowheads="1"/>
          </p:cNvSpPr>
          <p:nvPr/>
        </p:nvSpPr>
        <p:spPr bwMode="auto">
          <a:xfrm>
            <a:off x="1976437" y="1821781"/>
            <a:ext cx="319714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细长柱体微元的质量为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6607" name="Text Box 3119"/>
          <p:cNvSpPr txBox="1">
            <a:spLocks noChangeArrowheads="1"/>
          </p:cNvSpPr>
          <p:nvPr/>
        </p:nvSpPr>
        <p:spPr bwMode="auto">
          <a:xfrm>
            <a:off x="8458200" y="4876800"/>
            <a:ext cx="22098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微元线密度≈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66614" name="Group 3126"/>
          <p:cNvGrpSpPr/>
          <p:nvPr/>
        </p:nvGrpSpPr>
        <p:grpSpPr bwMode="auto">
          <a:xfrm>
            <a:off x="2492705" y="5589319"/>
            <a:ext cx="762000" cy="533400"/>
            <a:chOff x="912" y="3456"/>
            <a:chExt cx="480" cy="336"/>
          </a:xfrm>
        </p:grpSpPr>
        <p:sp>
          <p:nvSpPr>
            <p:cNvPr id="66611" name="Text Box 3123"/>
            <p:cNvSpPr txBox="1">
              <a:spLocks noChangeArrowheads="1"/>
            </p:cNvSpPr>
            <p:nvPr/>
          </p:nvSpPr>
          <p:spPr bwMode="auto">
            <a:xfrm>
              <a:off x="912" y="3456"/>
              <a:ext cx="474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b="1" i="0" u="none" strike="noStrike" kern="1200" cap="none" spc="0" normalizeH="0" baseline="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记作</a:t>
              </a:r>
              <a:endPara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6612" name="Line 3124"/>
            <p:cNvSpPr>
              <a:spLocks noChangeShapeType="1"/>
            </p:cNvSpPr>
            <p:nvPr/>
          </p:nvSpPr>
          <p:spPr bwMode="auto">
            <a:xfrm flipV="1">
              <a:off x="960" y="37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6613" name="Line 3125"/>
            <p:cNvSpPr>
              <a:spLocks noChangeShapeType="1"/>
            </p:cNvSpPr>
            <p:nvPr/>
          </p:nvSpPr>
          <p:spPr bwMode="auto">
            <a:xfrm flipV="1">
              <a:off x="960" y="37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66618" name="Rectangle 3130"/>
          <p:cNvSpPr>
            <a:spLocks noChangeArrowheads="1"/>
          </p:cNvSpPr>
          <p:nvPr/>
        </p:nvSpPr>
        <p:spPr bwMode="auto">
          <a:xfrm>
            <a:off x="8382000" y="4876800"/>
            <a:ext cx="2209800" cy="810981"/>
          </a:xfrm>
          <a:prstGeom prst="rect">
            <a:avLst/>
          </a:prstGeom>
          <a:noFill/>
          <a:ln w="9525">
            <a:solidFill>
              <a:srgbClr val="04926A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2" name="图片 1" descr="图示, 示意图&#10;&#10;描述已自动生成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7352" y="1276646"/>
            <a:ext cx="2418542" cy="2594204"/>
          </a:xfrm>
          <a:prstGeom prst="rect">
            <a:avLst/>
          </a:prstGeom>
        </p:spPr>
      </p:pic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6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66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6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6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6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6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6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6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6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6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2" grpId="0"/>
      <p:bldP spid="66577" grpId="0" animBg="1"/>
      <p:bldP spid="66578" grpId="0"/>
      <p:bldP spid="66579" grpId="0"/>
      <p:bldP spid="66580" grpId="0" autoUpdateAnimBg="0"/>
      <p:bldP spid="66581" grpId="0"/>
      <p:bldP spid="66584" grpId="0"/>
      <p:bldP spid="66587" grpId="0"/>
      <p:bldP spid="66593" grpId="0" autoUpdateAnimBg="0"/>
      <p:bldP spid="66607" grpId="0" autoUpdateAnimBg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7" name="Rectangle 9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528079"/>
            <a:ext cx="5150168" cy="519113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</a:t>
            </a:r>
            <a:r>
              <a:rPr lang="en-US" altLang="zh-CN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  </a:t>
            </a:r>
            <a:r>
              <a:rPr lang="zh-CN" altLang="en-US" sz="2200" b="0" dirty="0">
                <a:ea typeface="黑体" panose="02010609060101010101" pitchFamily="49" charset="-122"/>
              </a:rPr>
              <a:t>截面法 </a:t>
            </a:r>
            <a:r>
              <a:rPr lang="en-US" altLang="zh-CN" sz="2200" b="0" dirty="0">
                <a:ea typeface="黑体" panose="02010609060101010101" pitchFamily="49" charset="-122"/>
              </a:rPr>
              <a:t>(</a:t>
            </a:r>
            <a:r>
              <a:rPr lang="zh-CN" altLang="en-US" sz="2200" b="0" dirty="0">
                <a:ea typeface="黑体" panose="02010609060101010101" pitchFamily="49" charset="-122"/>
              </a:rPr>
              <a:t>“先二后一”</a:t>
            </a:r>
            <a:r>
              <a:rPr lang="en-US" altLang="zh-CN" sz="2200" b="0" dirty="0">
                <a:ea typeface="黑体" panose="02010609060101010101" pitchFamily="49" charset="-122"/>
              </a:rPr>
              <a:t>)</a:t>
            </a:r>
            <a:endParaRPr lang="en-US" altLang="zh-CN" sz="22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618" name="Object 10"/>
              <p:cNvSpPr txBox="1"/>
              <p:nvPr/>
            </p:nvSpPr>
            <p:spPr bwMode="auto">
              <a:xfrm>
                <a:off x="2867307" y="986069"/>
                <a:ext cx="2322512" cy="8669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0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)∈</m:t>
                                </m:r>
                                <m:sSub>
                                  <m:sSubPr>
                                    <m:ctrlP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</m:e>
                                  <m:sub>
                                    <m:r>
                                      <a:rPr lang="zh-CN" altLang="en-US" sz="22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sub>
                                </m:sSub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861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67307" y="986069"/>
                <a:ext cx="2322512" cy="866968"/>
              </a:xfrm>
              <a:prstGeom prst="rect">
                <a:avLst/>
              </a:prstGeom>
              <a:blipFill rotWithShape="1">
                <a:blip r:embed="rId1"/>
                <a:stretch>
                  <a:fillRect l="-12" t="-63" r="26" b="1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620" name="Text Box 12"/>
              <p:cNvSpPr txBox="1">
                <a:spLocks noChangeArrowheads="1"/>
              </p:cNvSpPr>
              <p:nvPr/>
            </p:nvSpPr>
            <p:spPr bwMode="auto">
              <a:xfrm>
                <a:off x="2785571" y="1795829"/>
                <a:ext cx="5465762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为底</a:t>
                </a:r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zh-CN" altLang="en-US" sz="22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fName>
                      <m:e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func>
                  </m:oMath>
                </a14:m>
                <a:r>
                  <a:rPr kumimoji="1" lang="en-US" altLang="zh-CN" sz="22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 </a:t>
                </a:r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为高的柱形薄片质量为</a:t>
                </a:r>
                <a:endParaRPr kumimoji="1" lang="zh-CN" altLang="en-US" sz="2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68620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5571" y="1795829"/>
                <a:ext cx="5465762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8" t="-11" r="3" b="9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629" name="Text Box 21"/>
          <p:cNvSpPr txBox="1">
            <a:spLocks noChangeArrowheads="1"/>
          </p:cNvSpPr>
          <p:nvPr/>
        </p:nvSpPr>
        <p:spPr bwMode="auto">
          <a:xfrm>
            <a:off x="2175888" y="3123071"/>
            <a:ext cx="233544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该物体的质量为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8630" name="Object 22"/>
              <p:cNvSpPr txBox="1"/>
              <p:nvPr/>
            </p:nvSpPr>
            <p:spPr bwMode="auto">
              <a:xfrm>
                <a:off x="3095134" y="3458528"/>
                <a:ext cx="2335444" cy="9856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8630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95134" y="3458528"/>
                <a:ext cx="2335444" cy="985660"/>
              </a:xfrm>
              <a:prstGeom prst="rect">
                <a:avLst/>
              </a:prstGeom>
              <a:blipFill rotWithShape="1">
                <a:blip r:embed="rId3"/>
                <a:stretch>
                  <a:fillRect l="-6" t="-32" r="2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631" name="Object 23"/>
              <p:cNvSpPr txBox="1"/>
              <p:nvPr/>
            </p:nvSpPr>
            <p:spPr bwMode="auto">
              <a:xfrm>
                <a:off x="3089726" y="4444324"/>
                <a:ext cx="1421606" cy="10507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d>
                            <m:dPr>
                              <m:endChr m:val="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8631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9726" y="4444324"/>
                <a:ext cx="1421606" cy="1050740"/>
              </a:xfrm>
              <a:prstGeom prst="rect">
                <a:avLst/>
              </a:prstGeom>
              <a:blipFill rotWithShape="1">
                <a:blip r:embed="rId4"/>
                <a:stretch>
                  <a:fillRect l="-32" t="-57" r="21" b="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632" name="Object 24"/>
              <p:cNvSpPr txBox="1"/>
              <p:nvPr/>
            </p:nvSpPr>
            <p:spPr bwMode="auto">
              <a:xfrm>
                <a:off x="3854767" y="4398023"/>
                <a:ext cx="2819401" cy="10618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8632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54767" y="4398023"/>
                <a:ext cx="2819401" cy="1061859"/>
              </a:xfrm>
              <a:prstGeom prst="rect">
                <a:avLst/>
              </a:prstGeom>
              <a:blipFill rotWithShape="1">
                <a:blip r:embed="rId5"/>
                <a:stretch>
                  <a:fillRect l="-11" t="-1" r="11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634" name="Object 26"/>
              <p:cNvSpPr txBox="1"/>
              <p:nvPr/>
            </p:nvSpPr>
            <p:spPr bwMode="auto">
              <a:xfrm>
                <a:off x="3089726" y="5433008"/>
                <a:ext cx="3256842" cy="104097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)​​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8634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9726" y="5433008"/>
                <a:ext cx="3256842" cy="1040976"/>
              </a:xfrm>
              <a:prstGeom prst="rect">
                <a:avLst/>
              </a:prstGeom>
              <a:blipFill rotWithShape="1">
                <a:blip r:embed="rId6"/>
                <a:stretch>
                  <a:fillRect l="-14" t="-56" r="12" b="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636" name="Object 28"/>
              <p:cNvSpPr txBox="1"/>
              <p:nvPr/>
            </p:nvSpPr>
            <p:spPr bwMode="auto">
              <a:xfrm>
                <a:off x="5243844" y="2402853"/>
                <a:ext cx="670973" cy="46330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8636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43844" y="2402853"/>
                <a:ext cx="670973" cy="463301"/>
              </a:xfrm>
              <a:prstGeom prst="rect">
                <a:avLst/>
              </a:prstGeom>
              <a:blipFill rotWithShape="1">
                <a:blip r:embed="rId7"/>
                <a:stretch>
                  <a:fillRect l="-2" t="-3" r="64" b="8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644" name="Object 36"/>
              <p:cNvSpPr txBox="1"/>
              <p:nvPr/>
            </p:nvSpPr>
            <p:spPr bwMode="auto">
              <a:xfrm>
                <a:off x="2805699" y="2173115"/>
                <a:ext cx="2645190" cy="108923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∬"/>
                              <m:limLoc m:val="undOvr"/>
                              <m:supHide m:val="on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zh-CN" altLang="en-US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nary>
                        </m:e>
                      </m:d>
                    </m:oMath>
                  </m:oMathPara>
                </a14:m>
                <a:endParaRPr lang="zh-CN" altLang="en-US" sz="2400" dirty="0"/>
              </a:p>
              <a:p>
                <a:endParaRPr lang="zh-CN" altLang="en-US" sz="2200" dirty="0"/>
              </a:p>
            </p:txBody>
          </p:sp>
        </mc:Choice>
        <mc:Fallback>
          <p:sp>
            <p:nvSpPr>
              <p:cNvPr id="68644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05699" y="2173115"/>
                <a:ext cx="2645190" cy="1089236"/>
              </a:xfrm>
              <a:prstGeom prst="rect">
                <a:avLst/>
              </a:prstGeom>
              <a:blipFill rotWithShape="1">
                <a:blip r:embed="rId8"/>
                <a:stretch>
                  <a:fillRect l="-10" t="-13" r="2" b="-3080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653" name="Object 45"/>
              <p:cNvSpPr txBox="1"/>
              <p:nvPr/>
            </p:nvSpPr>
            <p:spPr bwMode="auto">
              <a:xfrm>
                <a:off x="5884093" y="4639383"/>
                <a:ext cx="6604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r>
                        <m:rPr>
                          <m:sty m:val="p"/>
                        </m:rPr>
                        <a:rPr lang="en-US" altLang="zh-CN" sz="22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8653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84093" y="4639383"/>
                <a:ext cx="660400" cy="431800"/>
              </a:xfrm>
              <a:prstGeom prst="rect">
                <a:avLst/>
              </a:prstGeom>
              <a:blipFill rotWithShape="1">
                <a:blip r:embed="rId9"/>
                <a:stretch>
                  <a:fillRect l="-28" t="-17" r="28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657" name="Group 49"/>
          <p:cNvGrpSpPr/>
          <p:nvPr/>
        </p:nvGrpSpPr>
        <p:grpSpPr bwMode="auto">
          <a:xfrm>
            <a:off x="2416858" y="5540090"/>
            <a:ext cx="762000" cy="533400"/>
            <a:chOff x="912" y="3456"/>
            <a:chExt cx="480" cy="336"/>
          </a:xfrm>
        </p:grpSpPr>
        <p:sp>
          <p:nvSpPr>
            <p:cNvPr id="68658" name="Text Box 50"/>
            <p:cNvSpPr txBox="1">
              <a:spLocks noChangeArrowheads="1"/>
            </p:cNvSpPr>
            <p:nvPr/>
          </p:nvSpPr>
          <p:spPr bwMode="auto">
            <a:xfrm>
              <a:off x="912" y="3456"/>
              <a:ext cx="472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200" i="0" u="none" strike="noStrike" kern="1200" cap="none" spc="0" normalizeH="0" baseline="0" noProof="0" dirty="0">
                  <a:ln>
                    <a:noFill/>
                  </a:ln>
                  <a:solidFill>
                    <a:srgbClr val="04926A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记作</a:t>
              </a:r>
              <a:endPara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8659" name="Line 51"/>
            <p:cNvSpPr>
              <a:spLocks noChangeShapeType="1"/>
            </p:cNvSpPr>
            <p:nvPr/>
          </p:nvSpPr>
          <p:spPr bwMode="auto">
            <a:xfrm flipV="1">
              <a:off x="960" y="3744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68660" name="Line 52"/>
            <p:cNvSpPr>
              <a:spLocks noChangeShapeType="1"/>
            </p:cNvSpPr>
            <p:nvPr/>
          </p:nvSpPr>
          <p:spPr bwMode="auto">
            <a:xfrm flipV="1">
              <a:off x="960" y="3792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12"/>
              <p:cNvSpPr txBox="1">
                <a:spLocks noChangeArrowheads="1"/>
              </p:cNvSpPr>
              <p:nvPr/>
            </p:nvSpPr>
            <p:spPr bwMode="auto">
              <a:xfrm>
                <a:off x="2175888" y="1792791"/>
                <a:ext cx="1034713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以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zh-CN" altLang="en-US" sz="2200" i="1" baseline="-2500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endParaRPr kumimoji="1" lang="zh-CN" altLang="en-US" sz="2200" b="0" i="0" u="none" strike="noStrike" kern="1200" cap="none" spc="0" normalizeH="0" baseline="-25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9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5888" y="1792791"/>
                <a:ext cx="1034713" cy="430887"/>
              </a:xfrm>
              <a:prstGeom prst="rect">
                <a:avLst/>
              </a:prstGeom>
              <a:blipFill rotWithShape="1">
                <a:blip r:embed="rId10"/>
                <a:stretch>
                  <a:fillRect l="-37" t="-43" r="4" b="-134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8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8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86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8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6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8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8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8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8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7" grpId="0" animBg="1"/>
      <p:bldP spid="68618" grpId="0"/>
      <p:bldP spid="68620" grpId="0" advAuto="0" autoUpdateAnimBg="0" build="p"/>
      <p:bldP spid="68629" grpId="0" autoUpdateAnimBg="0"/>
      <p:bldP spid="68630" grpId="0"/>
      <p:bldP spid="68631" grpId="0"/>
      <p:bldP spid="68632" grpId="0"/>
      <p:bldP spid="68634" grpId="0"/>
      <p:bldP spid="68636" grpId="0"/>
      <p:bldP spid="68644" grpId="0"/>
      <p:bldP spid="68653" grpId="0"/>
      <p:bldP spid="9" grpId="0" advAuto="0" autoUpdateAnimBg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Text Box 4"/>
          <p:cNvSpPr txBox="1">
            <a:spLocks noChangeArrowheads="1"/>
          </p:cNvSpPr>
          <p:nvPr/>
        </p:nvSpPr>
        <p:spPr bwMode="auto">
          <a:xfrm>
            <a:off x="3240505" y="5060335"/>
            <a:ext cx="116305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3333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投影法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rgbClr val="04926A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title" idx="4294967295"/>
          </p:nvPr>
        </p:nvSpPr>
        <p:spPr>
          <a:xfrm>
            <a:off x="2031269" y="580608"/>
            <a:ext cx="2925741" cy="6096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方法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 </a:t>
            </a:r>
            <a:r>
              <a:rPr lang="zh-CN" altLang="en-US" sz="2200" b="0" dirty="0">
                <a:ea typeface="黑体" panose="02010609060101010101" pitchFamily="49" charset="-122"/>
              </a:rPr>
              <a:t>三次积分法</a:t>
            </a:r>
            <a:endParaRPr lang="zh-CN" altLang="en-US" sz="2200" b="0" dirty="0">
              <a:ea typeface="黑体" panose="02010609060101010101" pitchFamily="49" charset="-122"/>
            </a:endParaRPr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3249443" y="1596938"/>
            <a:ext cx="1981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设区域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9640" name="Text Box 8"/>
          <p:cNvSpPr txBox="1">
            <a:spLocks noChangeArrowheads="1"/>
          </p:cNvSpPr>
          <p:nvPr/>
        </p:nvSpPr>
        <p:spPr bwMode="auto">
          <a:xfrm>
            <a:off x="3249443" y="2636398"/>
            <a:ext cx="32004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利用投影法结果，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641" name="Object 9"/>
              <p:cNvSpPr txBox="1"/>
              <p:nvPr/>
            </p:nvSpPr>
            <p:spPr bwMode="auto">
              <a:xfrm>
                <a:off x="4733685" y="1614442"/>
                <a:ext cx="3984284" cy="98621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dirty="0"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dirty="0"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dirty="0"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nor/>
                                </m:rPr>
                                <a:rPr lang="en-US" altLang="zh-CN" sz="2200" dirty="0">
                                  <a:latin typeface="宋体" panose="02010600030101010101" pitchFamily="2" charset="-122"/>
                                  <a:ea typeface="宋体" panose="02010600030101010101" pitchFamily="2" charset="-122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9641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33685" y="1614442"/>
                <a:ext cx="3984284" cy="986217"/>
              </a:xfrm>
              <a:prstGeom prst="rect">
                <a:avLst/>
              </a:prstGeom>
              <a:blipFill rotWithShape="1">
                <a:blip r:embed="rId1"/>
                <a:stretch>
                  <a:fillRect l="-10" t="-28" r="1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642" name="Object 10"/>
              <p:cNvSpPr txBox="1"/>
              <p:nvPr/>
            </p:nvSpPr>
            <p:spPr bwMode="auto">
              <a:xfrm>
                <a:off x="4753107" y="1182529"/>
                <a:ext cx="31496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964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53107" y="1182529"/>
                <a:ext cx="3149600" cy="431800"/>
              </a:xfrm>
              <a:prstGeom prst="rect">
                <a:avLst/>
              </a:prstGeom>
              <a:blipFill rotWithShape="1">
                <a:blip r:embed="rId2"/>
                <a:stretch>
                  <a:fillRect l="-4" t="-37" r="4" b="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43" name="Text Box 11"/>
          <p:cNvSpPr txBox="1">
            <a:spLocks noChangeArrowheads="1"/>
          </p:cNvSpPr>
          <p:nvPr/>
        </p:nvSpPr>
        <p:spPr bwMode="auto">
          <a:xfrm>
            <a:off x="5449658" y="2633638"/>
            <a:ext cx="410341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把二重积分化成二次积分即得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9647" name="Object 15"/>
              <p:cNvSpPr txBox="1"/>
              <p:nvPr/>
            </p:nvSpPr>
            <p:spPr bwMode="auto">
              <a:xfrm>
                <a:off x="3931400" y="3007184"/>
                <a:ext cx="2247457" cy="1031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9647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31400" y="3007184"/>
                <a:ext cx="2247457" cy="1031200"/>
              </a:xfrm>
              <a:prstGeom prst="rect">
                <a:avLst/>
              </a:prstGeom>
              <a:blipFill rotWithShape="1">
                <a:blip r:embed="rId3"/>
                <a:stretch>
                  <a:fillRect l="-5" t="-45" r="14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648" name="Object 16"/>
              <p:cNvSpPr txBox="1"/>
              <p:nvPr/>
            </p:nvSpPr>
            <p:spPr bwMode="auto">
              <a:xfrm>
                <a:off x="5991984" y="3889053"/>
                <a:ext cx="2584881" cy="96674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9648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91984" y="3889053"/>
                <a:ext cx="2584881" cy="966745"/>
              </a:xfrm>
              <a:prstGeom prst="rect">
                <a:avLst/>
              </a:prstGeom>
              <a:blipFill rotWithShape="1">
                <a:blip r:embed="rId4"/>
                <a:stretch>
                  <a:fillRect l="-5" t="-32" r="21" b="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649" name="Object 17"/>
              <p:cNvSpPr txBox="1"/>
              <p:nvPr/>
            </p:nvSpPr>
            <p:spPr bwMode="auto">
              <a:xfrm>
                <a:off x="4910559" y="3925073"/>
                <a:ext cx="1366375" cy="1031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9649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0559" y="3925073"/>
                <a:ext cx="1366375" cy="1031200"/>
              </a:xfrm>
              <a:prstGeom prst="rect">
                <a:avLst/>
              </a:prstGeom>
              <a:blipFill rotWithShape="1">
                <a:blip r:embed="rId5"/>
                <a:stretch>
                  <a:fillRect l="-8" t="-13" r="43" b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650" name="Object 18"/>
              <p:cNvSpPr txBox="1"/>
              <p:nvPr/>
            </p:nvSpPr>
            <p:spPr bwMode="auto">
              <a:xfrm>
                <a:off x="3949820" y="3957114"/>
                <a:ext cx="1675741" cy="8986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9650" name="Object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9820" y="3957114"/>
                <a:ext cx="1675741" cy="898684"/>
              </a:xfrm>
              <a:prstGeom prst="rect">
                <a:avLst/>
              </a:prstGeom>
              <a:blipFill rotWithShape="1">
                <a:blip r:embed="rId6"/>
                <a:stretch>
                  <a:fillRect l="-7" t="-48" r="6" b="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51" name="Line 19"/>
          <p:cNvSpPr>
            <a:spLocks noChangeShapeType="1"/>
          </p:cNvSpPr>
          <p:nvPr/>
        </p:nvSpPr>
        <p:spPr bwMode="auto">
          <a:xfrm>
            <a:off x="3315186" y="5055166"/>
            <a:ext cx="5760000" cy="0"/>
          </a:xfrm>
          <a:prstGeom prst="line">
            <a:avLst/>
          </a:prstGeom>
          <a:noFill/>
          <a:ln w="9525">
            <a:solidFill>
              <a:srgbClr val="04926A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9653" name="AutoShape 21"/>
          <p:cNvSpPr/>
          <p:nvPr/>
        </p:nvSpPr>
        <p:spPr bwMode="auto">
          <a:xfrm>
            <a:off x="4587543" y="1151522"/>
            <a:ext cx="200148" cy="1323162"/>
          </a:xfrm>
          <a:prstGeom prst="leftBrace">
            <a:avLst>
              <a:gd name="adj1" fmla="val 640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8"/>
              <p:cNvSpPr txBox="1"/>
              <p:nvPr/>
            </p:nvSpPr>
            <p:spPr bwMode="auto">
              <a:xfrm>
                <a:off x="4126577" y="1582221"/>
                <a:ext cx="458183" cy="4607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en-US" altLang="zh-CN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200" i="1" dirty="0"/>
              </a:p>
            </p:txBody>
          </p:sp>
        </mc:Choice>
        <mc:Fallback>
          <p:sp>
            <p:nvSpPr>
              <p:cNvPr id="9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26577" y="1582221"/>
                <a:ext cx="458183" cy="460740"/>
              </a:xfrm>
              <a:prstGeom prst="rect">
                <a:avLst/>
              </a:prstGeom>
              <a:blipFill rotWithShape="1">
                <a:blip r:embed="rId7"/>
                <a:stretch>
                  <a:fillRect l="-76" t="-95" r="13" b="3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5"/>
              <p:cNvSpPr txBox="1"/>
              <p:nvPr/>
            </p:nvSpPr>
            <p:spPr bwMode="auto">
              <a:xfrm>
                <a:off x="3271033" y="5447681"/>
                <a:ext cx="2579351" cy="1031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0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1033" y="5447681"/>
                <a:ext cx="2579351" cy="1031200"/>
              </a:xfrm>
              <a:prstGeom prst="rect">
                <a:avLst/>
              </a:prstGeom>
              <a:blipFill rotWithShape="1">
                <a:blip r:embed="rId8"/>
                <a:stretch>
                  <a:fillRect l="-6" t="-2" r="5" b="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3096"/>
              <p:cNvSpPr txBox="1"/>
              <p:nvPr/>
            </p:nvSpPr>
            <p:spPr bwMode="auto">
              <a:xfrm>
                <a:off x="5452621" y="5432047"/>
                <a:ext cx="3873294" cy="87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nary>
                            <m:nary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)​​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altLang="zh-CN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nary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1" name="Object 30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52621" y="5432047"/>
                <a:ext cx="3873294" cy="876300"/>
              </a:xfrm>
              <a:prstGeom prst="rect">
                <a:avLst/>
              </a:prstGeom>
              <a:blipFill rotWithShape="1">
                <a:blip r:embed="rId9"/>
                <a:stretch>
                  <a:fillRect l="-13" t="-29" r="8" b="-70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9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9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69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69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6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6" grpId="0" autoUpdateAnimBg="0" build="p"/>
      <p:bldP spid="69637" grpId="0" animBg="1"/>
      <p:bldP spid="69638" grpId="0" autoUpdateAnimBg="0"/>
      <p:bldP spid="69640" grpId="0" autoUpdateAnimBg="0"/>
      <p:bldP spid="69641" grpId="0"/>
      <p:bldP spid="69642" grpId="0"/>
      <p:bldP spid="69643" grpId="0" autoUpdateAnimBg="0" build="p"/>
      <p:bldP spid="69647" grpId="0"/>
      <p:bldP spid="69648" grpId="0"/>
      <p:bldP spid="69649" grpId="0"/>
      <p:bldP spid="69650" grpId="0"/>
      <p:bldP spid="9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65538" name="Text Box 2"/>
          <p:cNvSpPr txBox="1">
            <a:spLocks noChangeArrowheads="1"/>
          </p:cNvSpPr>
          <p:nvPr/>
        </p:nvSpPr>
        <p:spPr bwMode="auto">
          <a:xfrm>
            <a:off x="1645918" y="995343"/>
            <a:ext cx="595804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当被积函数在积分域上变号时，因为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539" name="Object 3"/>
              <p:cNvSpPr txBox="1"/>
              <p:nvPr/>
            </p:nvSpPr>
            <p:spPr bwMode="auto">
              <a:xfrm>
                <a:off x="2705100" y="1565692"/>
                <a:ext cx="1760167" cy="59639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553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5100" y="1565692"/>
                <a:ext cx="1760167" cy="596393"/>
              </a:xfrm>
              <a:prstGeom prst="rect">
                <a:avLst/>
              </a:prstGeom>
              <a:blipFill rotWithShape="1">
                <a:blip r:embed="rId2"/>
                <a:stretch>
                  <a:fillRect t="-70" r="33" b="9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540" name="Object 4"/>
              <p:cNvSpPr txBox="1"/>
              <p:nvPr/>
            </p:nvSpPr>
            <p:spPr bwMode="auto">
              <a:xfrm>
                <a:off x="6436228" y="2293724"/>
                <a:ext cx="4157912" cy="10673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554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36228" y="2293724"/>
                <a:ext cx="4157912" cy="1067333"/>
              </a:xfrm>
              <a:prstGeom prst="rect">
                <a:avLst/>
              </a:prstGeom>
              <a:blipFill rotWithShape="1">
                <a:blip r:embed="rId3"/>
                <a:stretch>
                  <a:fillRect l="-12" t="-10" r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541" name="Object 5"/>
              <p:cNvSpPr txBox="1"/>
              <p:nvPr/>
            </p:nvSpPr>
            <p:spPr bwMode="auto">
              <a:xfrm>
                <a:off x="2705100" y="3367873"/>
                <a:ext cx="2208209" cy="6523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554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5100" y="3367873"/>
                <a:ext cx="2208209" cy="652305"/>
              </a:xfrm>
              <a:prstGeom prst="rect">
                <a:avLst/>
              </a:prstGeom>
              <a:blipFill rotWithShape="1">
                <a:blip r:embed="rId4"/>
                <a:stretch>
                  <a:fillRect t="-72" r="14" b="9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542" name="Object 6"/>
              <p:cNvSpPr txBox="1"/>
              <p:nvPr/>
            </p:nvSpPr>
            <p:spPr bwMode="auto">
              <a:xfrm>
                <a:off x="4622800" y="3367873"/>
                <a:ext cx="2240212" cy="65230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554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22800" y="3367873"/>
                <a:ext cx="2240212" cy="652305"/>
              </a:xfrm>
              <a:prstGeom prst="rect">
                <a:avLst/>
              </a:prstGeom>
              <a:blipFill rotWithShape="1">
                <a:blip r:embed="rId5"/>
                <a:stretch>
                  <a:fillRect t="-72" r="25" b="9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543" name="Text Box 7"/>
          <p:cNvSpPr txBox="1">
            <a:spLocks noChangeArrowheads="1"/>
          </p:cNvSpPr>
          <p:nvPr/>
        </p:nvSpPr>
        <p:spPr bwMode="auto">
          <a:xfrm>
            <a:off x="3429000" y="4368324"/>
            <a:ext cx="2438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均为非负函数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5544" name="Text Box 8"/>
          <p:cNvSpPr txBox="1">
            <a:spLocks noChangeArrowheads="1"/>
          </p:cNvSpPr>
          <p:nvPr/>
        </p:nvSpPr>
        <p:spPr bwMode="auto">
          <a:xfrm>
            <a:off x="1645918" y="5008265"/>
            <a:ext cx="7239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根据重积分性质仍可用前面介绍的方法计算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5545" name="Object 9"/>
              <p:cNvSpPr txBox="1"/>
              <p:nvPr/>
            </p:nvSpPr>
            <p:spPr bwMode="auto">
              <a:xfrm>
                <a:off x="2705100" y="2287374"/>
                <a:ext cx="4157912" cy="11441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|"/>
                              <m:endChr m:val="|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554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5100" y="2287374"/>
                <a:ext cx="4157912" cy="1144168"/>
              </a:xfrm>
              <a:prstGeom prst="rect">
                <a:avLst/>
              </a:prstGeom>
              <a:blipFill rotWithShape="1">
                <a:blip r:embed="rId6"/>
                <a:stretch>
                  <a:fillRect t="-9" r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546" name="Freeform 10"/>
          <p:cNvSpPr/>
          <p:nvPr/>
        </p:nvSpPr>
        <p:spPr bwMode="auto">
          <a:xfrm>
            <a:off x="3585183" y="3902601"/>
            <a:ext cx="1905000" cy="381000"/>
          </a:xfrm>
          <a:custGeom>
            <a:avLst/>
            <a:gdLst>
              <a:gd name="T0" fmla="*/ 0 w 1200"/>
              <a:gd name="T1" fmla="*/ 0 h 240"/>
              <a:gd name="T2" fmla="*/ 0 w 1200"/>
              <a:gd name="T3" fmla="*/ 240 h 240"/>
              <a:gd name="T4" fmla="*/ 1200 w 1200"/>
              <a:gd name="T5" fmla="*/ 240 h 240"/>
              <a:gd name="T6" fmla="*/ 1200 w 1200"/>
              <a:gd name="T7" fmla="*/ 0 h 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00" h="240">
                <a:moveTo>
                  <a:pt x="0" y="0"/>
                </a:moveTo>
                <a:lnTo>
                  <a:pt x="0" y="240"/>
                </a:lnTo>
                <a:lnTo>
                  <a:pt x="1200" y="240"/>
                </a:lnTo>
                <a:lnTo>
                  <a:pt x="1200" y="0"/>
                </a:lnTo>
              </a:path>
            </a:pathLst>
          </a:custGeom>
          <a:noFill/>
          <a:ln w="19050" cmpd="sng">
            <a:solidFill>
              <a:srgbClr val="04926A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5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5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5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/>
      <p:bldP spid="65539" grpId="0"/>
      <p:bldP spid="65540" grpId="0"/>
      <p:bldP spid="65541" grpId="0"/>
      <p:bldP spid="65542" grpId="0"/>
      <p:bldP spid="65543" grpId="0" autoUpdateAnimBg="0"/>
      <p:bldP spid="65544" grpId="0" autoUpdateAnimBg="0"/>
      <p:bldP spid="6554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933575" y="1167759"/>
            <a:ext cx="9076574" cy="51040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Bef>
                <a:spcPct val="50000"/>
              </a:spcBef>
            </a:pPr>
            <a:endParaRPr lang="zh-CN" altLang="en-US" sz="2800" dirty="0">
              <a:solidFill>
                <a:srgbClr val="04926A"/>
              </a:solidFill>
              <a:latin typeface="黑体" panose="02010609060101010101" pitchFamily="49" charset="-122"/>
              <a:ea typeface="黑体" panose="02010609060101010101" pitchFamily="49" charset="-122"/>
              <a:sym typeface="+mn-ea"/>
            </a:endParaRPr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33474" y="586734"/>
            <a:ext cx="4427061" cy="521977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小结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:</a:t>
            </a:r>
            <a:r>
              <a:rPr lang="en-US" altLang="zh-CN" sz="2800" b="1" dirty="0"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三重积分的计算方法</a:t>
            </a:r>
            <a:endParaRPr lang="zh-CN" altLang="en-US" sz="28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2133600" y="1229972"/>
            <a:ext cx="28098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1.  </a:t>
            </a:r>
            <a:r>
              <a:rPr kumimoji="1" lang="zh-CN" altLang="en-US" sz="2200" dirty="0">
                <a:solidFill>
                  <a:srgbClr val="4A7BA8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“先一后二”</a:t>
            </a:r>
            <a:endParaRPr kumimoji="1" lang="zh-CN" altLang="en-US" sz="2200" i="0" u="none" strike="noStrike" kern="1200" cap="none" spc="0" normalizeH="0" baseline="0" noProof="0" dirty="0">
              <a:ln>
                <a:noFill/>
              </a:ln>
              <a:solidFill>
                <a:srgbClr val="4A7BA8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581" name="Text Box 5"/>
          <p:cNvSpPr txBox="1">
            <a:spLocks noChangeArrowheads="1"/>
          </p:cNvSpPr>
          <p:nvPr/>
        </p:nvSpPr>
        <p:spPr bwMode="auto">
          <a:xfrm>
            <a:off x="2133600" y="2539789"/>
            <a:ext cx="280987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2.  </a:t>
            </a:r>
            <a:r>
              <a:rPr kumimoji="1" lang="zh-CN" altLang="en-US" sz="2200" dirty="0">
                <a:solidFill>
                  <a:srgbClr val="4A7BA8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“先二后一”</a:t>
            </a:r>
            <a:endParaRPr kumimoji="1" lang="zh-CN" altLang="en-US" sz="2200" i="0" u="none" strike="noStrike" kern="1200" cap="none" spc="0" normalizeH="0" baseline="0" noProof="0" dirty="0">
              <a:ln>
                <a:noFill/>
              </a:ln>
              <a:solidFill>
                <a:srgbClr val="4A7BA8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2133600" y="4001273"/>
            <a:ext cx="263354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方法</a:t>
            </a:r>
            <a:r>
              <a:rPr kumimoji="1" lang="en-US" altLang="zh-CN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3.  </a:t>
            </a:r>
            <a:r>
              <a:rPr kumimoji="1" lang="zh-CN" altLang="en-US" sz="2200" dirty="0">
                <a:solidFill>
                  <a:srgbClr val="4A7BA8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“三次积分”</a:t>
            </a:r>
            <a:endParaRPr kumimoji="1" lang="zh-CN" altLang="en-US" sz="2200" i="0" u="none" strike="noStrike" kern="1200" cap="none" spc="0" normalizeH="0" baseline="0" noProof="0" dirty="0">
              <a:ln>
                <a:noFill/>
              </a:ln>
              <a:solidFill>
                <a:srgbClr val="4A7BA8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580" name="Object 4"/>
              <p:cNvSpPr txBox="1"/>
              <p:nvPr/>
            </p:nvSpPr>
            <p:spPr bwMode="auto">
              <a:xfrm>
                <a:off x="4767140" y="1570328"/>
                <a:ext cx="4419600" cy="11179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)​​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4580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7140" y="1570328"/>
                <a:ext cx="4419600" cy="1117934"/>
              </a:xfrm>
              <a:prstGeom prst="rect">
                <a:avLst/>
              </a:prstGeom>
              <a:blipFill rotWithShape="1">
                <a:blip r:embed="rId1"/>
                <a:stretch>
                  <a:fillRect l="-4" t="-54" r="4" b="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584" name="Object 8"/>
              <p:cNvSpPr txBox="1"/>
              <p:nvPr/>
            </p:nvSpPr>
            <p:spPr bwMode="auto">
              <a:xfrm>
                <a:off x="2744311" y="1566843"/>
                <a:ext cx="2578100" cy="103379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458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4311" y="1566843"/>
                <a:ext cx="2578100" cy="1033796"/>
              </a:xfrm>
              <a:prstGeom prst="rect">
                <a:avLst/>
              </a:prstGeom>
              <a:blipFill rotWithShape="1">
                <a:blip r:embed="rId2"/>
                <a:stretch>
                  <a:fillRect l="-18" t="-29" r="18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582" name="Object 6"/>
              <p:cNvSpPr txBox="1"/>
              <p:nvPr/>
            </p:nvSpPr>
            <p:spPr bwMode="auto">
              <a:xfrm>
                <a:off x="4767141" y="2873069"/>
                <a:ext cx="3367210" cy="111793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)​​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4582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7141" y="2873069"/>
                <a:ext cx="3367210" cy="1117935"/>
              </a:xfrm>
              <a:prstGeom prst="rect">
                <a:avLst/>
              </a:prstGeom>
              <a:blipFill rotWithShape="1">
                <a:blip r:embed="rId3"/>
                <a:stretch>
                  <a:fillRect l="-6" t="-29" b="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585" name="Object 9"/>
              <p:cNvSpPr txBox="1"/>
              <p:nvPr/>
            </p:nvSpPr>
            <p:spPr bwMode="auto">
              <a:xfrm>
                <a:off x="4714875" y="4440113"/>
                <a:ext cx="5343525" cy="825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4585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14875" y="4440113"/>
                <a:ext cx="5343525" cy="825500"/>
              </a:xfrm>
              <a:prstGeom prst="rect">
                <a:avLst/>
              </a:prstGeom>
              <a:blipFill rotWithShape="1">
                <a:blip r:embed="rId4"/>
                <a:stretch>
                  <a:fillRect t="-23" b="-320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6448746" y="5490663"/>
            <a:ext cx="24416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具体计算时应根据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601" name="Object 25"/>
              <p:cNvSpPr txBox="1"/>
              <p:nvPr/>
            </p:nvSpPr>
            <p:spPr bwMode="auto">
              <a:xfrm>
                <a:off x="2744311" y="2917284"/>
                <a:ext cx="2303939" cy="10504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4601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4311" y="2917284"/>
                <a:ext cx="2303939" cy="1050427"/>
              </a:xfrm>
              <a:prstGeom prst="rect">
                <a:avLst/>
              </a:prstGeom>
              <a:blipFill rotWithShape="1">
                <a:blip r:embed="rId5"/>
                <a:stretch>
                  <a:fillRect l="-21" t="-9" b="2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602" name="Object 26"/>
              <p:cNvSpPr txBox="1"/>
              <p:nvPr/>
            </p:nvSpPr>
            <p:spPr bwMode="auto">
              <a:xfrm>
                <a:off x="2744311" y="4463406"/>
                <a:ext cx="2199164" cy="10922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460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4311" y="4463406"/>
                <a:ext cx="2199164" cy="1092227"/>
              </a:xfrm>
              <a:prstGeom prst="rect">
                <a:avLst/>
              </a:prstGeom>
              <a:blipFill rotWithShape="1">
                <a:blip r:embed="rId6"/>
                <a:stretch>
                  <a:fillRect l="-22" t="-57" b="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603" name="Text Box 27"/>
          <p:cNvSpPr txBox="1">
            <a:spLocks noChangeArrowheads="1"/>
          </p:cNvSpPr>
          <p:nvPr/>
        </p:nvSpPr>
        <p:spPr bwMode="auto">
          <a:xfrm>
            <a:off x="2133600" y="5455050"/>
            <a:ext cx="460574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三种方法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(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包含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12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种形式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)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各有特点</a:t>
            </a:r>
            <a:r>
              <a:rPr kumimoji="1" lang="zh-CN" altLang="en-US" sz="2200" noProof="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，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4604" name="Text Box 28"/>
          <p:cNvSpPr txBox="1">
            <a:spLocks noChangeArrowheads="1"/>
          </p:cNvSpPr>
          <p:nvPr/>
        </p:nvSpPr>
        <p:spPr bwMode="auto">
          <a:xfrm>
            <a:off x="2133600" y="5829379"/>
            <a:ext cx="455765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被积函数及积分域的特点灵活选择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 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45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45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4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46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460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4578" grpId="0"/>
      <p:bldP spid="24579" grpId="0" autoUpdateAnimBg="0" build="p"/>
      <p:bldP spid="24581" grpId="0" autoUpdateAnimBg="0" build="p"/>
      <p:bldP spid="24583" grpId="0" autoUpdateAnimBg="0" build="p"/>
      <p:bldP spid="24580" grpId="0"/>
      <p:bldP spid="24584" grpId="0"/>
      <p:bldP spid="24582" grpId="0"/>
      <p:bldP spid="24585" grpId="0"/>
      <p:bldP spid="24600" grpId="0" autoUpdateAnimBg="0" build="p"/>
      <p:bldP spid="24601" grpId="0"/>
      <p:bldP spid="24602" grpId="0"/>
      <p:bldP spid="24603" grpId="0" autoUpdateAnimBg="0" build="p"/>
      <p:bldP spid="24604" grpId="0" advAuto="0" autoUpdateAnimBg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矩形 5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6" name="矩形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半闭框 6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半闭框 8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10" name="半闭框 9"/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515" name="Text Box 11"/>
              <p:cNvSpPr txBox="1">
                <a:spLocks noChangeArrowheads="1"/>
              </p:cNvSpPr>
              <p:nvPr/>
            </p:nvSpPr>
            <p:spPr bwMode="auto">
              <a:xfrm>
                <a:off x="6377201" y="934632"/>
                <a:ext cx="32004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为三个坐标</a:t>
                </a:r>
                <a:endParaRPr kumimoji="1" lang="zh-CN" altLang="en-US" sz="28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21515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77201" y="934632"/>
                <a:ext cx="3200400" cy="519112"/>
              </a:xfrm>
              <a:prstGeom prst="rect">
                <a:avLst/>
              </a:prstGeom>
              <a:blipFill rotWithShape="1">
                <a:blip r:embed="rId2"/>
                <a:stretch>
                  <a:fillRect l="-17" t="-105" r="17" b="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0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04067" y="978288"/>
            <a:ext cx="3257550" cy="6096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   </a:t>
            </a:r>
            <a:r>
              <a:rPr lang="zh-CN" altLang="en-US" sz="2800" b="0" dirty="0">
                <a:ea typeface="黑体" panose="02010609060101010101" pitchFamily="49" charset="-122"/>
              </a:rPr>
              <a:t>计算三重积分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14" name="Object 10"/>
              <p:cNvSpPr txBox="1"/>
              <p:nvPr/>
            </p:nvSpPr>
            <p:spPr bwMode="auto">
              <a:xfrm>
                <a:off x="4224016" y="599042"/>
                <a:ext cx="2269665" cy="12678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1514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24016" y="599042"/>
                <a:ext cx="2269665" cy="1267858"/>
              </a:xfrm>
              <a:prstGeom prst="rect">
                <a:avLst/>
              </a:prstGeom>
              <a:blipFill rotWithShape="1">
                <a:blip r:embed="rId3"/>
                <a:stretch>
                  <a:fillRect l="-28" t="-19" r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17" name="Object 13"/>
              <p:cNvSpPr txBox="1"/>
              <p:nvPr/>
            </p:nvSpPr>
            <p:spPr bwMode="auto">
              <a:xfrm>
                <a:off x="3589275" y="1814047"/>
                <a:ext cx="2481002" cy="5271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151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589275" y="1814047"/>
                <a:ext cx="2481002" cy="527174"/>
              </a:xfrm>
              <a:prstGeom prst="rect">
                <a:avLst/>
              </a:prstGeom>
              <a:blipFill rotWithShape="1">
                <a:blip r:embed="rId4"/>
                <a:stretch>
                  <a:fillRect l="-10" t="-92" r="13" b="11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5893078" y="1822108"/>
            <a:ext cx="286039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所围成的闭区域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en-US" altLang="zh-CN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1545" name="Text Box 41"/>
          <p:cNvSpPr txBox="1">
            <a:spLocks noChangeArrowheads="1"/>
          </p:cNvSpPr>
          <p:nvPr/>
        </p:nvSpPr>
        <p:spPr bwMode="auto">
          <a:xfrm>
            <a:off x="1204067" y="2533618"/>
            <a:ext cx="91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547" name="Object 43"/>
              <p:cNvSpPr txBox="1"/>
              <p:nvPr/>
            </p:nvSpPr>
            <p:spPr bwMode="auto">
              <a:xfrm>
                <a:off x="1902839" y="3027214"/>
                <a:ext cx="4474362" cy="10263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highlight>
                                    <a:srgbClr val="FFFF00"/>
                                  </a:highlight>
                                  <a:latin typeface="Cambria Math" panose="02040503050406030204" pitchFamily="18" charset="0"/>
                                </a:rPr>
                                <m:t>𝑥𝑦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en-US" altLang="zh-CN" sz="2200" i="1" dirty="0">
                  <a:solidFill>
                    <a:srgbClr val="000000"/>
                  </a:solidFill>
                  <a:highlight>
                    <a:srgbClr val="FFFF00"/>
                  </a:highlight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1547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02839" y="3027214"/>
                <a:ext cx="4474362" cy="1026380"/>
              </a:xfrm>
              <a:prstGeom prst="rect">
                <a:avLst/>
              </a:prstGeom>
              <a:blipFill rotWithShape="1">
                <a:blip r:embed="rId5"/>
                <a:stretch>
                  <a:fillRect l="-8" t="-16" r="12" b="3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48" name="Object 44"/>
              <p:cNvSpPr txBox="1"/>
              <p:nvPr/>
            </p:nvSpPr>
            <p:spPr bwMode="auto">
              <a:xfrm>
                <a:off x="2089364" y="5075523"/>
                <a:ext cx="4054734" cy="11010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(​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)​​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1548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9364" y="5075523"/>
                <a:ext cx="4054734" cy="1101039"/>
              </a:xfrm>
              <a:prstGeom prst="rect">
                <a:avLst/>
              </a:prstGeom>
              <a:blipFill rotWithShape="1">
                <a:blip r:embed="rId6"/>
                <a:stretch>
                  <a:fillRect l="-5" t="-55" r="12" b="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49" name="Object 45"/>
              <p:cNvSpPr txBox="1"/>
              <p:nvPr/>
            </p:nvSpPr>
            <p:spPr bwMode="auto">
              <a:xfrm>
                <a:off x="4491491" y="4187332"/>
                <a:ext cx="1578786" cy="10793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1549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91491" y="4187332"/>
                <a:ext cx="1578786" cy="1079329"/>
              </a:xfrm>
              <a:prstGeom prst="rect">
                <a:avLst/>
              </a:prstGeom>
              <a:blipFill rotWithShape="1">
                <a:blip r:embed="rId7"/>
                <a:stretch>
                  <a:fillRect l="-9" t="-13" r="20" b="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50" name="Object 46"/>
              <p:cNvSpPr txBox="1"/>
              <p:nvPr/>
            </p:nvSpPr>
            <p:spPr bwMode="auto">
              <a:xfrm>
                <a:off x="6048111" y="5195836"/>
                <a:ext cx="3172089" cy="95901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)​​</m:t>
                          </m:r>
                          <m:r>
                            <m:rPr>
                              <m:sty m:val="p"/>
                            </m:rP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1550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048111" y="5195836"/>
                <a:ext cx="3172089" cy="959016"/>
              </a:xfrm>
              <a:prstGeom prst="rect">
                <a:avLst/>
              </a:prstGeom>
              <a:blipFill rotWithShape="1">
                <a:blip r:embed="rId8"/>
                <a:stretch>
                  <a:fillRect l="-12" t="-28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54" name="Object 50"/>
              <p:cNvSpPr txBox="1"/>
              <p:nvPr/>
            </p:nvSpPr>
            <p:spPr bwMode="auto">
              <a:xfrm>
                <a:off x="3195271" y="4063591"/>
                <a:ext cx="1481953" cy="11165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1554" name="Object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5271" y="4063591"/>
                <a:ext cx="1481953" cy="1116547"/>
              </a:xfrm>
              <a:prstGeom prst="rect">
                <a:avLst/>
              </a:prstGeom>
              <a:blipFill rotWithShape="1">
                <a:blip r:embed="rId9"/>
                <a:stretch>
                  <a:fillRect l="-40" t="-20" r="30" b="4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55" name="Object 51"/>
              <p:cNvSpPr txBox="1"/>
              <p:nvPr/>
            </p:nvSpPr>
            <p:spPr bwMode="auto">
              <a:xfrm>
                <a:off x="2105200" y="4161134"/>
                <a:ext cx="1286402" cy="10793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1555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5200" y="4161134"/>
                <a:ext cx="1286402" cy="1079329"/>
              </a:xfrm>
              <a:prstGeom prst="rect">
                <a:avLst/>
              </a:prstGeom>
              <a:blipFill rotWithShape="1">
                <a:blip r:embed="rId10"/>
                <a:stretch>
                  <a:fillRect l="-14" t="-57" r="5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556" name="Object 52"/>
              <p:cNvSpPr txBox="1"/>
              <p:nvPr/>
            </p:nvSpPr>
            <p:spPr bwMode="auto">
              <a:xfrm>
                <a:off x="9001598" y="5243461"/>
                <a:ext cx="8128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48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1556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001598" y="5243461"/>
                <a:ext cx="812800" cy="838200"/>
              </a:xfrm>
              <a:prstGeom prst="rect">
                <a:avLst/>
              </a:prstGeom>
              <a:blipFill rotWithShape="1">
                <a:blip r:embed="rId11"/>
                <a:stretch>
                  <a:fillRect l="-58" t="-32" r="58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557" name="Text Box 53"/>
          <p:cNvSpPr txBox="1">
            <a:spLocks noChangeArrowheads="1"/>
          </p:cNvSpPr>
          <p:nvPr/>
        </p:nvSpPr>
        <p:spPr bwMode="auto">
          <a:xfrm>
            <a:off x="2089363" y="1830369"/>
            <a:ext cx="1752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面及平面</a:t>
            </a:r>
            <a:endParaRPr kumimoji="1" lang="zh-CN" altLang="en-US" sz="28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2089363" y="2563138"/>
                <a:ext cx="5473700" cy="495300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如图，</m:t>
                      </m:r>
                      <m:r>
                        <a:rPr lang="zh-CN" altLang="en-US" sz="2200" b="1" i="1" smtClean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mbria Math" panose="02040503050406030204" pitchFamily="18" charset="0"/>
                        </a:rPr>
                        <m:t>𝜴</m:t>
                      </m:r>
                      <m:r>
                        <a:rPr lang="zh-CN" altLang="en-US" sz="2200" b="1" i="1" smtClean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b="1" i="1" smtClean="0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mbria Math" panose="02040503050406030204" pitchFamily="18" charset="0"/>
                        </a:rPr>
                        <m:t>𝒙𝑶𝒚</m:t>
                      </m:r>
                      <m:r>
                        <a:rPr lang="zh-CN" altLang="en-US" sz="2200" b="1" i="1">
                          <a:solidFill>
                            <a:schemeClr val="tx1"/>
                          </a:solidFill>
                          <a:highlight>
                            <a:srgbClr val="00FF00"/>
                          </a:highlight>
                          <a:latin typeface="Cambria Math" panose="02040503050406030204" pitchFamily="18" charset="0"/>
                        </a:rPr>
                        <m:t>面上的投影区为</m:t>
                      </m:r>
                      <m:sSub>
                        <m:sSubPr>
                          <m:ctrlPr>
                            <a:rPr lang="zh-CN" altLang="en-US" sz="2200" b="1" i="1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b="1" i="1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  <m:t>𝑫</m:t>
                          </m:r>
                        </m:e>
                        <m:sub>
                          <m:r>
                            <a:rPr lang="zh-CN" altLang="en-US" sz="2200" b="1" i="1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  <m:t>𝒙𝒚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363" y="2563138"/>
                <a:ext cx="5473700" cy="495300"/>
              </a:xfrm>
              <a:prstGeom prst="rect">
                <a:avLst/>
              </a:prstGeom>
              <a:blipFill rotWithShape="1">
                <a:blip r:embed="rId12"/>
                <a:stretch>
                  <a:fillRect l="-4" t="-56" r="4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 descr="图示, 形状&#10;&#10;描述已自动生成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7362" y="2409156"/>
            <a:ext cx="2610083" cy="28139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15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1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5" grpId="0" autoUpdateAnimBg="0" build="p"/>
      <p:bldP spid="21506" grpId="0"/>
      <p:bldP spid="21514" grpId="0"/>
      <p:bldP spid="21517" grpId="0"/>
      <p:bldP spid="21518" grpId="0" advAuto="0" autoUpdateAnimBg="0" build="p"/>
      <p:bldP spid="21545" grpId="0" autoUpdateAnimBg="0" build="p"/>
      <p:bldP spid="21547" grpId="0" bldLvl="0" animBg="1"/>
      <p:bldP spid="21548" grpId="0"/>
      <p:bldP spid="21549" grpId="0"/>
      <p:bldP spid="21550" grpId="0"/>
      <p:bldP spid="21554" grpId="0"/>
      <p:bldP spid="21555" grpId="0"/>
      <p:bldP spid="21556" grpId="0"/>
      <p:bldP spid="21557" grpId="0" advAuto="0" autoUpdateAnimBg="0" build="p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矩形 2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" name="矩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253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191419" y="1032034"/>
            <a:ext cx="3581400" cy="6096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 </a:t>
            </a:r>
            <a:r>
              <a:rPr lang="en-US" altLang="zh-CN" sz="2800" b="1" dirty="0"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ea typeface="黑体" panose="02010609060101010101" pitchFamily="49" charset="-122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计算三重积分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38" name="Object 10"/>
              <p:cNvSpPr txBox="1"/>
              <p:nvPr/>
            </p:nvSpPr>
            <p:spPr bwMode="auto">
              <a:xfrm>
                <a:off x="4219578" y="646050"/>
                <a:ext cx="2733984" cy="1246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func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253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19578" y="646050"/>
                <a:ext cx="2733984" cy="1246300"/>
              </a:xfrm>
              <a:prstGeom prst="rect">
                <a:avLst/>
              </a:prstGeom>
              <a:blipFill rotWithShape="1">
                <a:blip r:embed="rId2"/>
                <a:stretch>
                  <a:fillRect t="-20" r="11" b="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39" name="Object 11"/>
              <p:cNvSpPr txBox="1"/>
              <p:nvPr/>
            </p:nvSpPr>
            <p:spPr bwMode="auto">
              <a:xfrm>
                <a:off x="2081970" y="1853784"/>
                <a:ext cx="4654429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其中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253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81970" y="1853784"/>
                <a:ext cx="4654429" cy="889000"/>
              </a:xfrm>
              <a:prstGeom prst="rect">
                <a:avLst/>
              </a:prstGeom>
              <a:blipFill rotWithShape="1">
                <a:blip r:embed="rId3"/>
                <a:stretch>
                  <a:fillRect l="-9" t="-25" r="7" b="-90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65" name="Text Box 37"/>
          <p:cNvSpPr txBox="1">
            <a:spLocks noChangeArrowheads="1"/>
          </p:cNvSpPr>
          <p:nvPr/>
        </p:nvSpPr>
        <p:spPr bwMode="auto">
          <a:xfrm>
            <a:off x="1191419" y="3267350"/>
            <a:ext cx="7524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endParaRPr lang="en-US" altLang="zh-CN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566" name="Object 38"/>
              <p:cNvSpPr txBox="1"/>
              <p:nvPr/>
            </p:nvSpPr>
            <p:spPr bwMode="auto">
              <a:xfrm>
                <a:off x="2139950" y="3349155"/>
                <a:ext cx="787400" cy="609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2566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39950" y="3349155"/>
                <a:ext cx="787400" cy="609600"/>
              </a:xfrm>
              <a:prstGeom prst="rect">
                <a:avLst/>
              </a:prstGeom>
              <a:blipFill rotWithShape="1">
                <a:blip r:embed="rId4"/>
                <a:stretch>
                  <a:fillRect t="-27" b="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67" name="Object 39"/>
              <p:cNvSpPr txBox="1"/>
              <p:nvPr/>
            </p:nvSpPr>
            <p:spPr bwMode="auto">
              <a:xfrm>
                <a:off x="2090736" y="4133281"/>
                <a:ext cx="2396209" cy="10850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</m:r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2567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90736" y="4133281"/>
                <a:ext cx="2396209" cy="1085008"/>
              </a:xfrm>
              <a:prstGeom prst="rect">
                <a:avLst/>
              </a:prstGeom>
              <a:blipFill rotWithShape="1">
                <a:blip r:embed="rId5"/>
                <a:stretch>
                  <a:fillRect l="-13" t="-6" r="1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68" name="Object 40"/>
              <p:cNvSpPr txBox="1"/>
              <p:nvPr/>
            </p:nvSpPr>
            <p:spPr bwMode="auto">
              <a:xfrm>
                <a:off x="2771456" y="5201529"/>
                <a:ext cx="3467100" cy="977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𝑎𝑏</m:t>
                          </m:r>
                          <m:d>
                            <m:d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𝑧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sz="22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2568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71456" y="5201529"/>
                <a:ext cx="3467100" cy="977900"/>
              </a:xfrm>
              <a:prstGeom prst="rect">
                <a:avLst/>
              </a:prstGeom>
              <a:blipFill rotWithShape="1">
                <a:blip r:embed="rId6"/>
                <a:stretch>
                  <a:fillRect l="-9" t="-25" r="9" b="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69" name="Object 41"/>
              <p:cNvSpPr txBox="1"/>
              <p:nvPr/>
            </p:nvSpPr>
            <p:spPr bwMode="auto">
              <a:xfrm>
                <a:off x="2695695" y="2893832"/>
                <a:ext cx="1695621" cy="4369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2569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5695" y="2893832"/>
                <a:ext cx="1695621" cy="436955"/>
              </a:xfrm>
              <a:prstGeom prst="rect">
                <a:avLst/>
              </a:prstGeom>
              <a:blipFill rotWithShape="1">
                <a:blip r:embed="rId7"/>
                <a:stretch>
                  <a:fillRect l="-7" t="-31" r="17" b="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70" name="Object 42"/>
              <p:cNvSpPr txBox="1"/>
              <p:nvPr/>
            </p:nvSpPr>
            <p:spPr bwMode="auto">
              <a:xfrm>
                <a:off x="2698750" y="3333541"/>
                <a:ext cx="2959100" cy="889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2570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8750" y="3333541"/>
                <a:ext cx="2959100" cy="889000"/>
              </a:xfrm>
              <a:prstGeom prst="rect">
                <a:avLst/>
              </a:prstGeom>
              <a:blipFill rotWithShape="1">
                <a:blip r:embed="rId8"/>
                <a:stretch>
                  <a:fillRect t="-48" b="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71" name="Object 43"/>
              <p:cNvSpPr txBox="1"/>
              <p:nvPr/>
            </p:nvSpPr>
            <p:spPr bwMode="auto">
              <a:xfrm>
                <a:off x="5270599" y="4144828"/>
                <a:ext cx="1170905" cy="108500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2571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70599" y="4144828"/>
                <a:ext cx="1170905" cy="1085009"/>
              </a:xfrm>
              <a:prstGeom prst="rect">
                <a:avLst/>
              </a:prstGeom>
              <a:blipFill rotWithShape="1">
                <a:blip r:embed="rId9"/>
                <a:stretch>
                  <a:fillRect l="-8" t="-17" r="5" b="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72" name="Object 44"/>
              <p:cNvSpPr txBox="1"/>
              <p:nvPr/>
            </p:nvSpPr>
            <p:spPr bwMode="auto">
              <a:xfrm>
                <a:off x="4325468" y="4177480"/>
                <a:ext cx="1232368" cy="977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2572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5468" y="4177480"/>
                <a:ext cx="1232368" cy="977900"/>
              </a:xfrm>
              <a:prstGeom prst="rect">
                <a:avLst/>
              </a:prstGeom>
              <a:blipFill rotWithShape="1">
                <a:blip r:embed="rId10"/>
                <a:stretch>
                  <a:fillRect l="-39" t="-46" r="26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73" name="Object 45"/>
              <p:cNvSpPr txBox="1"/>
              <p:nvPr/>
            </p:nvSpPr>
            <p:spPr bwMode="auto">
              <a:xfrm>
                <a:off x="5950341" y="5245978"/>
                <a:ext cx="1651000" cy="86515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22573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0341" y="5245978"/>
                <a:ext cx="1651000" cy="865159"/>
              </a:xfrm>
              <a:prstGeom prst="rect">
                <a:avLst/>
              </a:prstGeom>
              <a:blipFill rotWithShape="1">
                <a:blip r:embed="rId11"/>
                <a:stretch>
                  <a:fillRect l="-24" t="-28" r="24" b="6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85" name="Text Box 57"/>
          <p:cNvSpPr txBox="1">
            <a:spLocks noChangeArrowheads="1"/>
          </p:cNvSpPr>
          <p:nvPr/>
        </p:nvSpPr>
        <p:spPr bwMode="auto">
          <a:xfrm>
            <a:off x="7876885" y="3949751"/>
            <a:ext cx="25908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用“</a:t>
            </a: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srgbClr val="4A7BA8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先二后一</a:t>
            </a:r>
            <a:r>
              <a:rPr kumimoji="1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”  </a:t>
            </a:r>
            <a:endParaRPr kumimoji="1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2599" name="AutoShape 71"/>
          <p:cNvSpPr/>
          <p:nvPr/>
        </p:nvSpPr>
        <p:spPr bwMode="auto">
          <a:xfrm>
            <a:off x="2578894" y="3005411"/>
            <a:ext cx="70351" cy="953344"/>
          </a:xfrm>
          <a:prstGeom prst="leftBrace">
            <a:avLst>
              <a:gd name="adj1" fmla="val 625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pic>
        <p:nvPicPr>
          <p:cNvPr id="9" name="图片 8" descr="图示&#10;&#10;描述已自动生成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889" y="1327583"/>
            <a:ext cx="2959100" cy="24588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2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2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2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2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0" grpId="0"/>
      <p:bldP spid="22538" grpId="0"/>
      <p:bldP spid="22539" grpId="0"/>
      <p:bldP spid="22565" grpId="0" autoUpdateAnimBg="0"/>
      <p:bldP spid="22566" grpId="0"/>
      <p:bldP spid="22567" grpId="0"/>
      <p:bldP spid="22568" grpId="0"/>
      <p:bldP spid="22569" grpId="0"/>
      <p:bldP spid="22570" grpId="0"/>
      <p:bldP spid="22571" grpId="0"/>
      <p:bldP spid="22572" grpId="0"/>
      <p:bldP spid="22573" grpId="0"/>
      <p:bldP spid="22585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00355" name="Object 3"/>
              <p:cNvSpPr txBox="1"/>
              <p:nvPr/>
            </p:nvSpPr>
            <p:spPr bwMode="auto">
              <a:xfrm>
                <a:off x="1828800" y="1270592"/>
                <a:ext cx="2943225" cy="53989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0355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28800" y="1270592"/>
                <a:ext cx="2943225" cy="539890"/>
              </a:xfrm>
              <a:prstGeom prst="rect">
                <a:avLst/>
              </a:prstGeom>
              <a:blipFill rotWithShape="1">
                <a:blip r:embed="rId1"/>
                <a:stretch>
                  <a:fillRect t="-110" b="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356" name="Object 4"/>
              <p:cNvSpPr txBox="1"/>
              <p:nvPr/>
            </p:nvSpPr>
            <p:spPr bwMode="auto">
              <a:xfrm>
                <a:off x="4544483" y="1279846"/>
                <a:ext cx="4481514" cy="73735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用极坐标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代替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035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44483" y="1279846"/>
                <a:ext cx="4481514" cy="737352"/>
              </a:xfrm>
              <a:prstGeom prst="rect">
                <a:avLst/>
              </a:prstGeom>
              <a:blipFill rotWithShape="1">
                <a:blip r:embed="rId2"/>
                <a:stretch>
                  <a:fillRect l="-9" t="-44" r="2" b="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357" name="Object 5"/>
              <p:cNvSpPr txBox="1"/>
              <p:nvPr/>
            </p:nvSpPr>
            <p:spPr bwMode="auto">
              <a:xfrm>
                <a:off x="8241771" y="1259228"/>
                <a:ext cx="1868063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0357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41771" y="1259228"/>
                <a:ext cx="1868063" cy="431800"/>
              </a:xfrm>
              <a:prstGeom prst="rect">
                <a:avLst/>
              </a:prstGeom>
              <a:blipFill rotWithShape="1">
                <a:blip r:embed="rId3"/>
                <a:stretch>
                  <a:fillRect l="-6" t="-5" r="34" b="-1705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58" name="Text Box 6"/>
          <p:cNvSpPr txBox="1">
            <a:spLocks noChangeArrowheads="1"/>
          </p:cNvSpPr>
          <p:nvPr/>
        </p:nvSpPr>
        <p:spPr bwMode="auto">
          <a:xfrm>
            <a:off x="1828800" y="1811221"/>
            <a:ext cx="3733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就称为点</a:t>
            </a:r>
            <a:r>
              <a:rPr lang="en-US" altLang="zh-CN" sz="2800" i="1" dirty="0">
                <a:solidFill>
                  <a:srgbClr val="000000"/>
                </a:solidFill>
                <a:latin typeface="Cambria Math" panose="02040503050406030204" pitchFamily="18" charset="0"/>
              </a:rPr>
              <a:t>M 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的柱坐标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378" name="Object 26"/>
              <p:cNvSpPr txBox="1"/>
              <p:nvPr/>
            </p:nvSpPr>
            <p:spPr bwMode="auto">
              <a:xfrm>
                <a:off x="4107301" y="2303554"/>
                <a:ext cx="2298700" cy="1346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&lt;+∞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−∞&lt;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&lt;+∞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0378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07301" y="2303554"/>
                <a:ext cx="2298700" cy="1346200"/>
              </a:xfrm>
              <a:prstGeom prst="rect">
                <a:avLst/>
              </a:prstGeom>
              <a:blipFill rotWithShape="1">
                <a:blip r:embed="rId4"/>
                <a:stretch>
                  <a:fillRect l="-5" t="-30" r="-19249" b="3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379" name="Object 27"/>
              <p:cNvSpPr txBox="1"/>
              <p:nvPr/>
            </p:nvSpPr>
            <p:spPr bwMode="auto">
              <a:xfrm>
                <a:off x="2321169" y="2720602"/>
                <a:ext cx="1919302" cy="5896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0379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69" y="2720602"/>
                <a:ext cx="1919302" cy="589606"/>
              </a:xfrm>
              <a:prstGeom prst="rect">
                <a:avLst/>
              </a:prstGeom>
              <a:blipFill rotWithShape="1">
                <a:blip r:embed="rId5"/>
                <a:stretch>
                  <a:fillRect l="-13" t="-44" r="30" b="10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380" name="Object 28"/>
              <p:cNvSpPr txBox="1"/>
              <p:nvPr/>
            </p:nvSpPr>
            <p:spPr bwMode="auto">
              <a:xfrm>
                <a:off x="2321169" y="3142030"/>
                <a:ext cx="1752153" cy="6834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0380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69" y="3142030"/>
                <a:ext cx="1752153" cy="683433"/>
              </a:xfrm>
              <a:prstGeom prst="rect">
                <a:avLst/>
              </a:prstGeom>
              <a:blipFill rotWithShape="1">
                <a:blip r:embed="rId6"/>
                <a:stretch>
                  <a:fillRect l="-14" t="-7" r="25" b="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381" name="Object 29"/>
              <p:cNvSpPr txBox="1"/>
              <p:nvPr/>
            </p:nvSpPr>
            <p:spPr bwMode="auto">
              <a:xfrm>
                <a:off x="2321169" y="2283195"/>
                <a:ext cx="1947864" cy="57118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0381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69" y="2283195"/>
                <a:ext cx="1947864" cy="571181"/>
              </a:xfrm>
              <a:prstGeom prst="rect">
                <a:avLst/>
              </a:prstGeom>
              <a:blipFill rotWithShape="1">
                <a:blip r:embed="rId7"/>
                <a:stretch>
                  <a:fillRect l="-13" t="-65" r="29" b="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82" name="AutoShape 30"/>
          <p:cNvSpPr/>
          <p:nvPr/>
        </p:nvSpPr>
        <p:spPr bwMode="auto">
          <a:xfrm>
            <a:off x="2155875" y="2397641"/>
            <a:ext cx="230646" cy="1283674"/>
          </a:xfrm>
          <a:prstGeom prst="leftBrace">
            <a:avLst>
              <a:gd name="adj1" fmla="val 625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0383" name="Text Box 31"/>
          <p:cNvSpPr txBox="1">
            <a:spLocks noChangeArrowheads="1"/>
          </p:cNvSpPr>
          <p:nvPr/>
        </p:nvSpPr>
        <p:spPr bwMode="auto">
          <a:xfrm>
            <a:off x="5334000" y="1811221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直角坐标与柱面坐标的关系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:</a:t>
            </a:r>
            <a:endParaRPr kumimoji="1" lang="en-US" altLang="zh-CN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384" name="Object 32"/>
              <p:cNvSpPr txBox="1"/>
              <p:nvPr/>
            </p:nvSpPr>
            <p:spPr bwMode="auto">
              <a:xfrm>
                <a:off x="2321169" y="4281488"/>
                <a:ext cx="1946031" cy="641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常数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0384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69" y="4281488"/>
                <a:ext cx="1946031" cy="641350"/>
              </a:xfrm>
              <a:prstGeom prst="rect">
                <a:avLst/>
              </a:prstGeom>
              <a:blipFill rotWithShape="1">
                <a:blip r:embed="rId8"/>
                <a:stretch>
                  <a:fillRect l="-13" t="-50" b="5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85" name="Text Box 33"/>
          <p:cNvSpPr txBox="1">
            <a:spLocks noChangeArrowheads="1"/>
          </p:cNvSpPr>
          <p:nvPr/>
        </p:nvSpPr>
        <p:spPr bwMode="auto">
          <a:xfrm>
            <a:off x="1828800" y="3697457"/>
            <a:ext cx="2590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坐标面分别为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0386" name="AutoShape 34"/>
          <p:cNvSpPr>
            <a:spLocks noChangeArrowheads="1"/>
          </p:cNvSpPr>
          <p:nvPr/>
        </p:nvSpPr>
        <p:spPr bwMode="auto">
          <a:xfrm>
            <a:off x="3921125" y="4496593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rgbClr val="04926A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0387" name="Text Box 35"/>
          <p:cNvSpPr txBox="1">
            <a:spLocks noChangeArrowheads="1"/>
          </p:cNvSpPr>
          <p:nvPr/>
        </p:nvSpPr>
        <p:spPr bwMode="auto">
          <a:xfrm>
            <a:off x="4948102" y="4281488"/>
            <a:ext cx="1371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圆柱面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388" name="Object 36"/>
              <p:cNvSpPr txBox="1"/>
              <p:nvPr/>
            </p:nvSpPr>
            <p:spPr bwMode="auto">
              <a:xfrm>
                <a:off x="2321169" y="4835874"/>
                <a:ext cx="1874617" cy="5879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常数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0388" name="Object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69" y="4835874"/>
                <a:ext cx="1874617" cy="587904"/>
              </a:xfrm>
              <a:prstGeom prst="rect">
                <a:avLst/>
              </a:prstGeom>
              <a:blipFill rotWithShape="1">
                <a:blip r:embed="rId9"/>
                <a:stretch>
                  <a:fillRect l="-13" t="-59" r="18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89" name="AutoShape 37"/>
          <p:cNvSpPr>
            <a:spLocks noChangeArrowheads="1"/>
          </p:cNvSpPr>
          <p:nvPr/>
        </p:nvSpPr>
        <p:spPr bwMode="auto">
          <a:xfrm>
            <a:off x="3941517" y="5063648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rgbClr val="04926A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0390" name="Text Box 38"/>
          <p:cNvSpPr txBox="1">
            <a:spLocks noChangeArrowheads="1"/>
          </p:cNvSpPr>
          <p:nvPr/>
        </p:nvSpPr>
        <p:spPr bwMode="auto">
          <a:xfrm>
            <a:off x="4948102" y="4848303"/>
            <a:ext cx="1676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半平面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391" name="Object 39"/>
              <p:cNvSpPr txBox="1"/>
              <p:nvPr/>
            </p:nvSpPr>
            <p:spPr bwMode="auto">
              <a:xfrm>
                <a:off x="2321169" y="5395552"/>
                <a:ext cx="1838910" cy="5879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常数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0391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21169" y="5395552"/>
                <a:ext cx="1838910" cy="587904"/>
              </a:xfrm>
              <a:prstGeom prst="rect">
                <a:avLst/>
              </a:prstGeom>
              <a:blipFill rotWithShape="1">
                <a:blip r:embed="rId10"/>
                <a:stretch>
                  <a:fillRect l="-13" t="-101" r="11" b="8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92" name="AutoShape 40"/>
          <p:cNvSpPr>
            <a:spLocks noChangeArrowheads="1"/>
          </p:cNvSpPr>
          <p:nvPr/>
        </p:nvSpPr>
        <p:spPr bwMode="auto">
          <a:xfrm>
            <a:off x="3921125" y="5610065"/>
            <a:ext cx="1066800" cy="152400"/>
          </a:xfrm>
          <a:prstGeom prst="rightArrow">
            <a:avLst>
              <a:gd name="adj1" fmla="val 50000"/>
              <a:gd name="adj2" fmla="val 175000"/>
            </a:avLst>
          </a:prstGeom>
          <a:solidFill>
            <a:srgbClr val="04926A"/>
          </a:solidFill>
          <a:ln w="9525">
            <a:noFill/>
            <a:miter lim="800000"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0393" name="Text Box 41"/>
          <p:cNvSpPr txBox="1">
            <a:spLocks noChangeArrowheads="1"/>
          </p:cNvSpPr>
          <p:nvPr/>
        </p:nvSpPr>
        <p:spPr bwMode="auto">
          <a:xfrm>
            <a:off x="4948102" y="5395076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平面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59" name="Rectangle 2"/>
          <p:cNvSpPr txBox="1">
            <a:spLocks noChangeArrowheads="1"/>
          </p:cNvSpPr>
          <p:nvPr/>
        </p:nvSpPr>
        <p:spPr>
          <a:xfrm>
            <a:off x="1407805" y="499433"/>
            <a:ext cx="4984320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利用柱坐标计算三重积分</a:t>
            </a:r>
            <a:endParaRPr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图片包含 形状&#10;&#10;描述已自动生成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7068" y="2690012"/>
            <a:ext cx="3015503" cy="29230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0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0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100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0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0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03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0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0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0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00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0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/>
      <p:bldP spid="100356" grpId="0"/>
      <p:bldP spid="100357" grpId="0"/>
      <p:bldP spid="100358" grpId="0" autoUpdateAnimBg="0"/>
      <p:bldP spid="100379" grpId="0"/>
      <p:bldP spid="100380" grpId="0"/>
      <p:bldP spid="100381" grpId="0"/>
      <p:bldP spid="100383" grpId="0" autoUpdateAnimBg="0"/>
      <p:bldP spid="100384" grpId="0"/>
      <p:bldP spid="100385" grpId="0" autoUpdateAnimBg="0"/>
      <p:bldP spid="100387" grpId="0" autoUpdateAnimBg="0"/>
      <p:bldP spid="100388" grpId="0"/>
      <p:bldP spid="100390" grpId="0" autoUpdateAnimBg="0"/>
      <p:bldP spid="100391" grpId="0"/>
      <p:bldP spid="100393" grpId="0" autoUpdateAnimBg="0"/>
      <p:bldP spid="5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518233" y="613290"/>
            <a:ext cx="6377992" cy="44521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如图所示，在柱面坐标系中体积元素为</a:t>
            </a:r>
            <a:endParaRPr lang="zh-CN" altLang="en-US" sz="2800" b="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779" name="Object 107"/>
              <p:cNvSpPr txBox="1"/>
              <p:nvPr/>
            </p:nvSpPr>
            <p:spPr bwMode="auto">
              <a:xfrm>
                <a:off x="3127250" y="1083511"/>
                <a:ext cx="3352771" cy="58801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zh-CN" altLang="en-US" sz="2800" dirty="0"/>
              </a:p>
              <a:p>
                <a:endParaRPr lang="zh-CN" altLang="en-US" sz="2800" dirty="0"/>
              </a:p>
            </p:txBody>
          </p:sp>
        </mc:Choice>
        <mc:Fallback>
          <p:sp>
            <p:nvSpPr>
              <p:cNvPr id="28779" name="Object 10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27250" y="1083511"/>
                <a:ext cx="3352771" cy="588019"/>
              </a:xfrm>
              <a:prstGeom prst="rect">
                <a:avLst/>
              </a:prstGeom>
              <a:blipFill rotWithShape="1">
                <a:blip r:embed="rId1"/>
                <a:stretch>
                  <a:fillRect l="-15" t="-34" r="14" b="-5287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80" name="Text Box 108"/>
          <p:cNvSpPr txBox="1">
            <a:spLocks noChangeArrowheads="1"/>
          </p:cNvSpPr>
          <p:nvPr/>
        </p:nvSpPr>
        <p:spPr bwMode="auto">
          <a:xfrm>
            <a:off x="1506218" y="1852151"/>
            <a:ext cx="1066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因此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8787" name="Text Box 115"/>
          <p:cNvSpPr txBox="1">
            <a:spLocks noChangeArrowheads="1"/>
          </p:cNvSpPr>
          <p:nvPr/>
        </p:nvSpPr>
        <p:spPr bwMode="auto">
          <a:xfrm>
            <a:off x="1506218" y="3860336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其中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788" name="Object 116"/>
              <p:cNvSpPr txBox="1"/>
              <p:nvPr/>
            </p:nvSpPr>
            <p:spPr bwMode="auto">
              <a:xfrm>
                <a:off x="2271550" y="3854369"/>
                <a:ext cx="5251457" cy="59142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8788" name="Object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71550" y="3854369"/>
                <a:ext cx="5251457" cy="591427"/>
              </a:xfrm>
              <a:prstGeom prst="rect">
                <a:avLst/>
              </a:prstGeom>
              <a:blipFill rotWithShape="1">
                <a:blip r:embed="rId2"/>
                <a:stretch>
                  <a:fillRect l="-3" t="-94" r="3" b="2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789" name="Text Box 117"/>
          <p:cNvSpPr txBox="1">
            <a:spLocks noChangeArrowheads="1"/>
          </p:cNvSpPr>
          <p:nvPr/>
        </p:nvSpPr>
        <p:spPr bwMode="auto">
          <a:xfrm>
            <a:off x="1506218" y="4379158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+mn-ea"/>
                <a:cs typeface="+mn-cs"/>
              </a:rPr>
              <a:t>适用范围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srgbClr val="04926A"/>
                </a:solidFill>
                <a:effectLst/>
                <a:uLnTx/>
                <a:uFillTx/>
                <a:latin typeface="+mn-ea"/>
                <a:cs typeface="+mn-cs"/>
              </a:rPr>
              <a:t>:</a:t>
            </a:r>
            <a:endParaRPr kumimoji="1" lang="en-US" altLang="zh-CN" sz="2800" i="0" u="none" strike="noStrike" kern="1200" cap="none" spc="0" normalizeH="0" baseline="0" noProof="0" dirty="0">
              <a:ln>
                <a:noFill/>
              </a:ln>
              <a:solidFill>
                <a:srgbClr val="04926A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793" name="Object 121"/>
              <p:cNvSpPr txBox="1"/>
              <p:nvPr/>
            </p:nvSpPr>
            <p:spPr bwMode="auto">
              <a:xfrm>
                <a:off x="4819657" y="2901442"/>
                <a:ext cx="1811778" cy="56679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8793" name="Object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19657" y="2901442"/>
                <a:ext cx="1811778" cy="566792"/>
              </a:xfrm>
              <a:prstGeom prst="rect">
                <a:avLst/>
              </a:prstGeom>
              <a:blipFill rotWithShape="1">
                <a:blip r:embed="rId3"/>
                <a:stretch>
                  <a:fillRect t="-22" r="7" b="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1506217" y="5511300"/>
                <a:ext cx="9494715" cy="8382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被积函数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中含有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或者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arctan</m:t>
                      </m:r>
                      <m:r>
                        <a:rPr lang="en-US" altLang="zh-CN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217" y="5511300"/>
                <a:ext cx="9494715" cy="838200"/>
              </a:xfrm>
              <a:prstGeom prst="rect">
                <a:avLst/>
              </a:prstGeom>
              <a:blipFill rotWithShape="1">
                <a:blip r:embed="rId4"/>
                <a:stretch>
                  <a:fillRect l="-7" t="-16" r="2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1506218" y="4965201"/>
                <a:ext cx="8674100" cy="70167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积分域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面的投影为圆或圆的一部分；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6218" y="4965201"/>
                <a:ext cx="8674100" cy="701676"/>
              </a:xfrm>
              <a:prstGeom prst="rect">
                <a:avLst/>
              </a:prstGeom>
              <a:blipFill rotWithShape="1">
                <a:blip r:embed="rId5"/>
                <a:stretch>
                  <a:fillRect l="-7" t="-19" r="7" b="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Object 10"/>
              <p:cNvSpPr txBox="1"/>
              <p:nvPr/>
            </p:nvSpPr>
            <p:spPr bwMode="auto">
              <a:xfrm>
                <a:off x="2417845" y="1536151"/>
                <a:ext cx="3773403" cy="12244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2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17845" y="1536151"/>
                <a:ext cx="3773403" cy="1224457"/>
              </a:xfrm>
              <a:prstGeom prst="rect">
                <a:avLst/>
              </a:prstGeom>
              <a:blipFill rotWithShape="1">
                <a:blip r:embed="rId6"/>
                <a:stretch>
                  <a:fillRect l="-11" t="-7" r="17" b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Object 10"/>
              <p:cNvSpPr txBox="1"/>
              <p:nvPr/>
            </p:nvSpPr>
            <p:spPr bwMode="auto">
              <a:xfrm>
                <a:off x="2404789" y="2671942"/>
                <a:ext cx="2376762" cy="124237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3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04789" y="2671942"/>
                <a:ext cx="2376762" cy="1242379"/>
              </a:xfrm>
              <a:prstGeom prst="rect">
                <a:avLst/>
              </a:prstGeom>
              <a:blipFill rotWithShape="1">
                <a:blip r:embed="rId7"/>
                <a:stretch>
                  <a:fillRect l="-2" t="-40" r="-2538" b="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 descr="图示&#10;&#10;描述已自动生成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3887" y="1167201"/>
            <a:ext cx="3167045" cy="34684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8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8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8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8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/>
      <p:bldP spid="28779" grpId="0"/>
      <p:bldP spid="28780" grpId="0" autoUpdateAnimBg="0"/>
      <p:bldP spid="28787" grpId="0" autoUpdateAnimBg="0"/>
      <p:bldP spid="28788" grpId="0"/>
      <p:bldP spid="28789" grpId="0" autoUpdateAnimBg="0"/>
      <p:bldP spid="28793" grpId="0"/>
      <p:bldP spid="2" grpId="0"/>
      <p:bldP spid="3" grpId="0"/>
      <p:bldP spid="12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矩形 2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3" name="矩形 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半闭框 3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半闭框 4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106" name="Text Box 2"/>
              <p:cNvSpPr txBox="1">
                <a:spLocks noChangeArrowheads="1"/>
              </p:cNvSpPr>
              <p:nvPr/>
            </p:nvSpPr>
            <p:spPr bwMode="auto">
              <a:xfrm>
                <a:off x="7776018" y="775159"/>
                <a:ext cx="187518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r>
                      <a:rPr lang="el-GR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为由</a:t>
                </a:r>
                <a:endParaRPr kumimoji="1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47106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6018" y="775159"/>
                <a:ext cx="1875187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24" t="-88" r="25" b="8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7" name="Rectangle 3"/>
          <p:cNvSpPr>
            <a:spLocks noGrp="1" noChangeArrowheads="1"/>
          </p:cNvSpPr>
          <p:nvPr>
            <p:ph type="title" idx="4294967295"/>
          </p:nvPr>
        </p:nvSpPr>
        <p:spPr>
          <a:xfrm>
            <a:off x="1262891" y="817362"/>
            <a:ext cx="3276600" cy="6096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计算三重积分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108" name="Object 4"/>
              <p:cNvSpPr txBox="1"/>
              <p:nvPr/>
            </p:nvSpPr>
            <p:spPr bwMode="auto">
              <a:xfrm>
                <a:off x="4230407" y="488584"/>
                <a:ext cx="3680185" cy="12323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nary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m:rPr>
                          <m:nor/>
                        </m:rPr>
                        <a:rPr lang="zh-CN" altLang="en-US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710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30407" y="488584"/>
                <a:ext cx="3680185" cy="1232346"/>
              </a:xfrm>
              <a:prstGeom prst="rect">
                <a:avLst/>
              </a:prstGeom>
              <a:blipFill rotWithShape="1">
                <a:blip r:embed="rId3"/>
                <a:stretch>
                  <a:fillRect l="-1" t="-22" r="11" b="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09" name="Object 5"/>
              <p:cNvSpPr txBox="1"/>
              <p:nvPr/>
            </p:nvSpPr>
            <p:spPr bwMode="auto">
              <a:xfrm>
                <a:off x="2835911" y="1585144"/>
                <a:ext cx="2359440" cy="5482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710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5911" y="1585144"/>
                <a:ext cx="2359440" cy="548269"/>
              </a:xfrm>
              <a:prstGeom prst="rect">
                <a:avLst/>
              </a:prstGeom>
              <a:blipFill rotWithShape="1">
                <a:blip r:embed="rId4"/>
                <a:stretch>
                  <a:fillRect t="-34" r="18" b="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10" name="Object 6"/>
              <p:cNvSpPr txBox="1"/>
              <p:nvPr/>
            </p:nvSpPr>
            <p:spPr bwMode="auto">
              <a:xfrm>
                <a:off x="5956232" y="1567114"/>
                <a:ext cx="4269066" cy="61260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7110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56232" y="1567114"/>
                <a:ext cx="4269066" cy="612604"/>
              </a:xfrm>
              <a:prstGeom prst="rect">
                <a:avLst/>
              </a:prstGeom>
              <a:blipFill rotWithShape="1">
                <a:blip r:embed="rId5"/>
                <a:stretch>
                  <a:fillRect l="-13" t="-93" r="12" b="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11" name="Text Box 7"/>
          <p:cNvSpPr txBox="1">
            <a:spLocks noChangeArrowheads="1"/>
          </p:cNvSpPr>
          <p:nvPr/>
        </p:nvSpPr>
        <p:spPr bwMode="auto">
          <a:xfrm>
            <a:off x="9941937" y="1565329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所围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7112" name="Text Box 8"/>
          <p:cNvSpPr txBox="1">
            <a:spLocks noChangeArrowheads="1"/>
          </p:cNvSpPr>
          <p:nvPr/>
        </p:nvSpPr>
        <p:spPr bwMode="auto">
          <a:xfrm>
            <a:off x="1262891" y="2807052"/>
            <a:ext cx="305818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kumimoji="1" lang="zh-CN" altLang="en-US" sz="22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在柱面坐标系下</a:t>
            </a:r>
            <a:endParaRPr kumimoji="1" lang="zh-CN" altLang="en-US" sz="2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113" name="Object 9"/>
              <p:cNvSpPr txBox="1"/>
              <p:nvPr/>
            </p:nvSpPr>
            <p:spPr bwMode="auto">
              <a:xfrm>
                <a:off x="4138775" y="2861985"/>
                <a:ext cx="482544" cy="489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47113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38775" y="2861985"/>
                <a:ext cx="482544" cy="489450"/>
              </a:xfrm>
              <a:prstGeom prst="rect">
                <a:avLst/>
              </a:prstGeom>
              <a:blipFill rotWithShape="1">
                <a:blip r:embed="rId6"/>
                <a:stretch>
                  <a:fillRect l="-99" t="-8" r="88" b="1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16" name="Object 12"/>
              <p:cNvSpPr txBox="1"/>
              <p:nvPr/>
            </p:nvSpPr>
            <p:spPr bwMode="auto">
              <a:xfrm>
                <a:off x="2746905" y="5305765"/>
                <a:ext cx="2600619" cy="105530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47116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6905" y="5305765"/>
                <a:ext cx="2600619" cy="1055306"/>
              </a:xfrm>
              <a:prstGeom prst="rect">
                <a:avLst/>
              </a:prstGeom>
              <a:blipFill rotWithShape="1">
                <a:blip r:embed="rId7"/>
                <a:stretch>
                  <a:fillRect l="-20" t="-32" r="7" b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35" name="Object 31"/>
              <p:cNvSpPr txBox="1"/>
              <p:nvPr/>
            </p:nvSpPr>
            <p:spPr bwMode="auto">
              <a:xfrm>
                <a:off x="4748969" y="2849577"/>
                <a:ext cx="2027021" cy="5018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47135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8969" y="2849577"/>
                <a:ext cx="2027021" cy="501858"/>
              </a:xfrm>
              <a:prstGeom prst="rect">
                <a:avLst/>
              </a:prstGeom>
              <a:blipFill rotWithShape="1">
                <a:blip r:embed="rId8"/>
                <a:stretch>
                  <a:fillRect l="-22" t="-66" r="27" b="1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36" name="Object 32"/>
              <p:cNvSpPr txBox="1"/>
              <p:nvPr/>
            </p:nvSpPr>
            <p:spPr bwMode="auto">
              <a:xfrm>
                <a:off x="4748969" y="2205952"/>
                <a:ext cx="1455637" cy="685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47136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8969" y="2205952"/>
                <a:ext cx="1455637" cy="685230"/>
              </a:xfrm>
              <a:prstGeom prst="rect">
                <a:avLst/>
              </a:prstGeom>
              <a:blipFill rotWithShape="1">
                <a:blip r:embed="rId9"/>
                <a:stretch>
                  <a:fillRect l="-30" t="-87" r="1" b="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37" name="Object 33"/>
              <p:cNvSpPr txBox="1"/>
              <p:nvPr/>
            </p:nvSpPr>
            <p:spPr bwMode="auto">
              <a:xfrm>
                <a:off x="4748969" y="3281765"/>
                <a:ext cx="1294473" cy="4658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47137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48969" y="3281765"/>
                <a:ext cx="1294473" cy="465884"/>
              </a:xfrm>
              <a:prstGeom prst="rect">
                <a:avLst/>
              </a:prstGeom>
              <a:blipFill rotWithShape="1">
                <a:blip r:embed="rId10"/>
                <a:stretch>
                  <a:fillRect l="-34" t="-18" r="11" b="1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41" name="Text Box 37"/>
          <p:cNvSpPr txBox="1">
            <a:spLocks noChangeArrowheads="1"/>
          </p:cNvSpPr>
          <p:nvPr/>
        </p:nvSpPr>
        <p:spPr bwMode="auto">
          <a:xfrm>
            <a:off x="4881842" y="1574176"/>
            <a:ext cx="1447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及平面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pSp>
        <p:nvGrpSpPr>
          <p:cNvPr id="47170" name="Group 66"/>
          <p:cNvGrpSpPr/>
          <p:nvPr/>
        </p:nvGrpSpPr>
        <p:grpSpPr bwMode="auto">
          <a:xfrm>
            <a:off x="7986976" y="2276780"/>
            <a:ext cx="2009776" cy="3016250"/>
            <a:chOff x="4066" y="1239"/>
            <a:chExt cx="1266" cy="1900"/>
          </a:xfrm>
        </p:grpSpPr>
        <p:sp>
          <p:nvSpPr>
            <p:cNvPr id="47131" name="Line 27"/>
            <p:cNvSpPr>
              <a:spLocks noChangeShapeType="1"/>
            </p:cNvSpPr>
            <p:nvPr/>
          </p:nvSpPr>
          <p:spPr bwMode="auto">
            <a:xfrm>
              <a:off x="4966" y="1832"/>
              <a:ext cx="0" cy="6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graphicFrame>
          <p:nvGraphicFramePr>
            <p:cNvPr id="47134" name="Object 30"/>
            <p:cNvGraphicFramePr>
              <a:graphicFrameLocks noChangeAspect="1"/>
            </p:cNvGraphicFramePr>
            <p:nvPr/>
          </p:nvGraphicFramePr>
          <p:xfrm>
            <a:off x="4232" y="2496"/>
            <a:ext cx="136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" name="Equation" r:id="rId11" imgW="292100" imgH="406400" progId="Equation.3">
                    <p:embed/>
                  </p:oleObj>
                </mc:Choice>
                <mc:Fallback>
                  <p:oleObj name="Equation" r:id="rId11" imgW="292100" imgH="406400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32" y="2496"/>
                          <a:ext cx="136" cy="1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7133" name="Object 29"/>
            <p:cNvGraphicFramePr>
              <a:graphicFrameLocks noChangeAspect="1"/>
            </p:cNvGraphicFramePr>
            <p:nvPr/>
          </p:nvGraphicFramePr>
          <p:xfrm>
            <a:off x="4656" y="1528"/>
            <a:ext cx="144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6" name="Equation" r:id="rId13" imgW="304800" imgH="317500" progId="Equation.3">
                    <p:embed/>
                  </p:oleObj>
                </mc:Choice>
                <mc:Fallback>
                  <p:oleObj name="Equation" r:id="rId13" imgW="304800" imgH="31750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528"/>
                          <a:ext cx="144" cy="1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121" name="Object 17"/>
                <p:cNvSpPr txBox="1"/>
                <p:nvPr/>
              </p:nvSpPr>
              <p:spPr bwMode="auto">
                <a:xfrm>
                  <a:off x="4066" y="2699"/>
                  <a:ext cx="584" cy="4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47121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66" y="2699"/>
                  <a:ext cx="584" cy="440"/>
                </a:xfrm>
                <a:prstGeom prst="rect">
                  <a:avLst/>
                </a:prstGeom>
                <a:blipFill rotWithShape="1">
                  <a:blip r:embed="rId15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122" name="Object 18"/>
                <p:cNvSpPr txBox="1"/>
                <p:nvPr/>
              </p:nvSpPr>
              <p:spPr bwMode="auto">
                <a:xfrm>
                  <a:off x="5125" y="2202"/>
                  <a:ext cx="207" cy="29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47122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125" y="2202"/>
                  <a:ext cx="207" cy="294"/>
                </a:xfrm>
                <a:prstGeom prst="rect">
                  <a:avLst/>
                </a:prstGeom>
                <a:blipFill rotWithShape="1">
                  <a:blip r:embed="rId16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123" name="Object 19"/>
                <p:cNvSpPr txBox="1"/>
                <p:nvPr/>
              </p:nvSpPr>
              <p:spPr bwMode="auto">
                <a:xfrm>
                  <a:off x="4650" y="1239"/>
                  <a:ext cx="367" cy="3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47123" name="Object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50" y="1239"/>
                  <a:ext cx="367" cy="380"/>
                </a:xfrm>
                <a:prstGeom prst="rect">
                  <a:avLst/>
                </a:prstGeom>
                <a:blipFill rotWithShape="1">
                  <a:blip r:embed="rId17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132" name="Object 28"/>
                <p:cNvSpPr txBox="1"/>
                <p:nvPr/>
              </p:nvSpPr>
              <p:spPr bwMode="auto">
                <a:xfrm>
                  <a:off x="4612" y="2082"/>
                  <a:ext cx="327" cy="45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47132" name="Object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12" y="2082"/>
                  <a:ext cx="327" cy="459"/>
                </a:xfrm>
                <a:prstGeom prst="rect">
                  <a:avLst/>
                </a:prstGeom>
                <a:blipFill rotWithShape="1">
                  <a:blip r:embed="rId18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119" name="Line 15"/>
            <p:cNvSpPr>
              <a:spLocks noChangeShapeType="1"/>
            </p:cNvSpPr>
            <p:nvPr/>
          </p:nvSpPr>
          <p:spPr bwMode="auto">
            <a:xfrm>
              <a:off x="4966" y="2256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45" name="Arc 41"/>
            <p:cNvSpPr/>
            <p:nvPr/>
          </p:nvSpPr>
          <p:spPr bwMode="auto">
            <a:xfrm>
              <a:off x="4498" y="2255"/>
              <a:ext cx="466" cy="221"/>
            </a:xfrm>
            <a:custGeom>
              <a:avLst/>
              <a:gdLst>
                <a:gd name="G0" fmla="+- 0 0 0"/>
                <a:gd name="G1" fmla="+- 13038 0 0"/>
                <a:gd name="G2" fmla="+- 21600 0 0"/>
                <a:gd name="T0" fmla="*/ 17221 w 21600"/>
                <a:gd name="T1" fmla="*/ 0 h 17613"/>
                <a:gd name="T2" fmla="*/ 21110 w 21600"/>
                <a:gd name="T3" fmla="*/ 17613 h 17613"/>
                <a:gd name="T4" fmla="*/ 0 w 21600"/>
                <a:gd name="T5" fmla="*/ 13038 h 176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17613" fill="none" extrusionOk="0">
                  <a:moveTo>
                    <a:pt x="17221" y="-1"/>
                  </a:moveTo>
                  <a:cubicBezTo>
                    <a:pt x="20062" y="3752"/>
                    <a:pt x="21600" y="8330"/>
                    <a:pt x="21600" y="13038"/>
                  </a:cubicBezTo>
                  <a:cubicBezTo>
                    <a:pt x="21600" y="14576"/>
                    <a:pt x="21435" y="16109"/>
                    <a:pt x="21109" y="17612"/>
                  </a:cubicBezTo>
                </a:path>
                <a:path w="21600" h="17613" stroke="0" extrusionOk="0">
                  <a:moveTo>
                    <a:pt x="17221" y="-1"/>
                  </a:moveTo>
                  <a:cubicBezTo>
                    <a:pt x="20062" y="3752"/>
                    <a:pt x="21600" y="8330"/>
                    <a:pt x="21600" y="13038"/>
                  </a:cubicBezTo>
                  <a:cubicBezTo>
                    <a:pt x="21600" y="14576"/>
                    <a:pt x="21435" y="16109"/>
                    <a:pt x="21109" y="17612"/>
                  </a:cubicBezTo>
                  <a:lnTo>
                    <a:pt x="0" y="13038"/>
                  </a:lnTo>
                  <a:close/>
                </a:path>
              </a:pathLst>
            </a:custGeom>
            <a:noFill/>
            <a:ln w="19050">
              <a:solidFill>
                <a:schemeClr val="tx2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46" name="Arc 42"/>
            <p:cNvSpPr/>
            <p:nvPr/>
          </p:nvSpPr>
          <p:spPr bwMode="auto">
            <a:xfrm>
              <a:off x="4421" y="2422"/>
              <a:ext cx="544" cy="272"/>
            </a:xfrm>
            <a:custGeom>
              <a:avLst/>
              <a:gdLst>
                <a:gd name="G0" fmla="+- 3560 0 0"/>
                <a:gd name="G1" fmla="+- 0 0 0"/>
                <a:gd name="G2" fmla="+- 21600 0 0"/>
                <a:gd name="T0" fmla="*/ 25148 w 25148"/>
                <a:gd name="T1" fmla="*/ 706 h 21600"/>
                <a:gd name="T2" fmla="*/ 0 w 25148"/>
                <a:gd name="T3" fmla="*/ 21305 h 21600"/>
                <a:gd name="T4" fmla="*/ 3560 w 25148"/>
                <a:gd name="T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148" h="21600" fill="none" extrusionOk="0">
                  <a:moveTo>
                    <a:pt x="25148" y="706"/>
                  </a:moveTo>
                  <a:cubicBezTo>
                    <a:pt x="24767" y="12354"/>
                    <a:pt x="15214" y="21599"/>
                    <a:pt x="3560" y="21599"/>
                  </a:cubicBezTo>
                  <a:cubicBezTo>
                    <a:pt x="2367" y="21599"/>
                    <a:pt x="1176" y="21501"/>
                    <a:pt x="0" y="21304"/>
                  </a:cubicBezTo>
                </a:path>
                <a:path w="25148" h="21600" stroke="0" extrusionOk="0">
                  <a:moveTo>
                    <a:pt x="25148" y="706"/>
                  </a:moveTo>
                  <a:cubicBezTo>
                    <a:pt x="24767" y="12354"/>
                    <a:pt x="15214" y="21599"/>
                    <a:pt x="3560" y="21599"/>
                  </a:cubicBezTo>
                  <a:cubicBezTo>
                    <a:pt x="2367" y="21599"/>
                    <a:pt x="1176" y="21501"/>
                    <a:pt x="0" y="21304"/>
                  </a:cubicBezTo>
                  <a:lnTo>
                    <a:pt x="3560" y="0"/>
                  </a:lnTo>
                  <a:close/>
                </a:path>
              </a:pathLst>
            </a:custGeom>
            <a:noFill/>
            <a:ln w="19050">
              <a:solidFill>
                <a:schemeClr val="tx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20" name="Line 16"/>
            <p:cNvSpPr>
              <a:spLocks noChangeShapeType="1"/>
            </p:cNvSpPr>
            <p:nvPr/>
          </p:nvSpPr>
          <p:spPr bwMode="auto">
            <a:xfrm flipV="1">
              <a:off x="4850" y="1322"/>
              <a:ext cx="0" cy="31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24" name="Line 20"/>
            <p:cNvSpPr>
              <a:spLocks noChangeShapeType="1"/>
            </p:cNvSpPr>
            <p:nvPr/>
          </p:nvSpPr>
          <p:spPr bwMode="auto">
            <a:xfrm flipH="1">
              <a:off x="4421" y="2259"/>
              <a:ext cx="429" cy="4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25" name="Line 21"/>
            <p:cNvSpPr>
              <a:spLocks noChangeShapeType="1"/>
            </p:cNvSpPr>
            <p:nvPr/>
          </p:nvSpPr>
          <p:spPr bwMode="auto">
            <a:xfrm flipV="1">
              <a:off x="4850" y="1599"/>
              <a:ext cx="0" cy="6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27" name="Line 23"/>
            <p:cNvSpPr>
              <a:spLocks noChangeShapeType="1"/>
            </p:cNvSpPr>
            <p:nvPr/>
          </p:nvSpPr>
          <p:spPr bwMode="auto">
            <a:xfrm flipH="1">
              <a:off x="4227" y="2687"/>
              <a:ext cx="194" cy="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28" name="Arc 24"/>
            <p:cNvSpPr/>
            <p:nvPr/>
          </p:nvSpPr>
          <p:spPr bwMode="auto">
            <a:xfrm>
              <a:off x="4424" y="1630"/>
              <a:ext cx="544" cy="446"/>
            </a:xfrm>
            <a:custGeom>
              <a:avLst/>
              <a:gdLst>
                <a:gd name="G0" fmla="+- 3560 0 0"/>
                <a:gd name="G1" fmla="+- 13804 0 0"/>
                <a:gd name="G2" fmla="+- 21600 0 0"/>
                <a:gd name="T0" fmla="*/ 20174 w 25160"/>
                <a:gd name="T1" fmla="*/ 0 h 35404"/>
                <a:gd name="T2" fmla="*/ 0 w 25160"/>
                <a:gd name="T3" fmla="*/ 35109 h 35404"/>
                <a:gd name="T4" fmla="*/ 3560 w 25160"/>
                <a:gd name="T5" fmla="*/ 13804 h 354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5160" h="35404" fill="none" extrusionOk="0">
                  <a:moveTo>
                    <a:pt x="20173" y="0"/>
                  </a:moveTo>
                  <a:cubicBezTo>
                    <a:pt x="23396" y="3878"/>
                    <a:pt x="25160" y="8761"/>
                    <a:pt x="25160" y="13804"/>
                  </a:cubicBezTo>
                  <a:cubicBezTo>
                    <a:pt x="25160" y="25733"/>
                    <a:pt x="15489" y="35404"/>
                    <a:pt x="3560" y="35404"/>
                  </a:cubicBezTo>
                  <a:cubicBezTo>
                    <a:pt x="2367" y="35403"/>
                    <a:pt x="1176" y="35305"/>
                    <a:pt x="0" y="35108"/>
                  </a:cubicBezTo>
                </a:path>
                <a:path w="25160" h="35404" stroke="0" extrusionOk="0">
                  <a:moveTo>
                    <a:pt x="20173" y="0"/>
                  </a:moveTo>
                  <a:cubicBezTo>
                    <a:pt x="23396" y="3878"/>
                    <a:pt x="25160" y="8761"/>
                    <a:pt x="25160" y="13804"/>
                  </a:cubicBezTo>
                  <a:cubicBezTo>
                    <a:pt x="25160" y="25733"/>
                    <a:pt x="15489" y="35404"/>
                    <a:pt x="3560" y="35404"/>
                  </a:cubicBezTo>
                  <a:cubicBezTo>
                    <a:pt x="2367" y="35403"/>
                    <a:pt x="1176" y="35305"/>
                    <a:pt x="0" y="35108"/>
                  </a:cubicBezTo>
                  <a:lnTo>
                    <a:pt x="3560" y="13804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29" name="Line 25"/>
            <p:cNvSpPr>
              <a:spLocks noChangeShapeType="1"/>
            </p:cNvSpPr>
            <p:nvPr/>
          </p:nvSpPr>
          <p:spPr bwMode="auto">
            <a:xfrm>
              <a:off x="4421" y="2065"/>
              <a:ext cx="0" cy="6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30" name="Line 26"/>
            <p:cNvSpPr>
              <a:spLocks noChangeShapeType="1"/>
            </p:cNvSpPr>
            <p:nvPr/>
          </p:nvSpPr>
          <p:spPr bwMode="auto">
            <a:xfrm flipH="1">
              <a:off x="4421" y="1638"/>
              <a:ext cx="429" cy="4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7151" name="Line 47"/>
            <p:cNvSpPr>
              <a:spLocks noChangeShapeType="1"/>
            </p:cNvSpPr>
            <p:nvPr/>
          </p:nvSpPr>
          <p:spPr bwMode="auto">
            <a:xfrm>
              <a:off x="4850" y="2256"/>
              <a:ext cx="1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7155" name="Object 51"/>
              <p:cNvSpPr txBox="1"/>
              <p:nvPr/>
            </p:nvSpPr>
            <p:spPr bwMode="auto">
              <a:xfrm>
                <a:off x="7910592" y="5378682"/>
                <a:ext cx="2314706" cy="503522"/>
              </a:xfrm>
              <a:prstGeom prst="rect">
                <a:avLst/>
              </a:prstGeom>
              <a:noFill/>
              <a:ln w="9525">
                <a:solidFill>
                  <a:srgbClr val="04926A"/>
                </a:solidFill>
                <a:miter lim="800000"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2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nor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z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47155" name="Object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0592" y="5378682"/>
                <a:ext cx="2314706" cy="503522"/>
              </a:xfrm>
              <a:prstGeom prst="rect">
                <a:avLst/>
              </a:prstGeom>
              <a:blipFill rotWithShape="1">
                <a:blip r:embed="rId19"/>
                <a:stretch>
                  <a:fillRect l="-209" t="-1055" r="-197" b="-843"/>
                </a:stretch>
              </a:blipFill>
              <a:ln w="9525">
                <a:solidFill>
                  <a:srgbClr val="04926A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56" name="Object 52"/>
              <p:cNvSpPr txBox="1"/>
              <p:nvPr/>
            </p:nvSpPr>
            <p:spPr bwMode="auto">
              <a:xfrm>
                <a:off x="2748240" y="4418884"/>
                <a:ext cx="2908023" cy="10011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</m:func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47156" name="Object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8240" y="4418884"/>
                <a:ext cx="2908023" cy="1001151"/>
              </a:xfrm>
              <a:prstGeom prst="rect">
                <a:avLst/>
              </a:prstGeom>
              <a:blipFill rotWithShape="1">
                <a:blip r:embed="rId20"/>
                <a:stretch>
                  <a:fillRect l="-20" t="-55" r="11" b="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57" name="Object 53"/>
              <p:cNvSpPr txBox="1"/>
              <p:nvPr/>
            </p:nvSpPr>
            <p:spPr bwMode="auto">
              <a:xfrm>
                <a:off x="5426757" y="4575696"/>
                <a:ext cx="1006449" cy="8443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p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47157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26757" y="4575696"/>
                <a:ext cx="1006449" cy="844339"/>
              </a:xfrm>
              <a:prstGeom prst="rect">
                <a:avLst/>
              </a:prstGeom>
              <a:blipFill rotWithShape="1">
                <a:blip r:embed="rId21"/>
                <a:stretch>
                  <a:fillRect l="-5" t="-62" r="2" b="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58" name="Object 54"/>
              <p:cNvSpPr txBox="1"/>
              <p:nvPr/>
            </p:nvSpPr>
            <p:spPr bwMode="auto">
              <a:xfrm>
                <a:off x="2164119" y="3482903"/>
                <a:ext cx="3408006" cy="100115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原式</m:t>
                      </m:r>
                      <m: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47158" name="Object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4119" y="3482903"/>
                <a:ext cx="3408006" cy="1001151"/>
              </a:xfrm>
              <a:prstGeom prst="rect">
                <a:avLst/>
              </a:prstGeom>
              <a:blipFill rotWithShape="1">
                <a:blip r:embed="rId22"/>
                <a:stretch>
                  <a:fillRect l="-1" t="-56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159" name="Object 55"/>
              <p:cNvSpPr txBox="1"/>
              <p:nvPr/>
            </p:nvSpPr>
            <p:spPr bwMode="auto">
              <a:xfrm>
                <a:off x="5264802" y="5443205"/>
                <a:ext cx="1089171" cy="8443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47159" name="Object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264802" y="5443205"/>
                <a:ext cx="1089171" cy="844339"/>
              </a:xfrm>
              <a:prstGeom prst="rect">
                <a:avLst/>
              </a:prstGeom>
              <a:blipFill rotWithShape="1">
                <a:blip r:embed="rId23"/>
                <a:stretch>
                  <a:fillRect l="-2" t="-73" r="15" b="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61" name="Text Box 57"/>
          <p:cNvSpPr txBox="1">
            <a:spLocks noChangeArrowheads="1"/>
          </p:cNvSpPr>
          <p:nvPr/>
        </p:nvSpPr>
        <p:spPr bwMode="auto">
          <a:xfrm>
            <a:off x="2098834" y="1608780"/>
            <a:ext cx="92937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柱面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47162" name="AutoShape 58"/>
          <p:cNvSpPr/>
          <p:nvPr/>
        </p:nvSpPr>
        <p:spPr bwMode="auto">
          <a:xfrm>
            <a:off x="4573693" y="2440577"/>
            <a:ext cx="159099" cy="1233414"/>
          </a:xfrm>
          <a:prstGeom prst="leftBrace">
            <a:avLst>
              <a:gd name="adj1" fmla="val 55052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7144" name="Object 40"/>
              <p:cNvSpPr txBox="1"/>
              <p:nvPr/>
            </p:nvSpPr>
            <p:spPr bwMode="auto">
              <a:xfrm>
                <a:off x="8752036" y="4572854"/>
                <a:ext cx="1798338" cy="3524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func>
                        <m:funcPr>
                          <m:ctrlP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4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47144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52036" y="4572854"/>
                <a:ext cx="1798338" cy="352425"/>
              </a:xfrm>
              <a:prstGeom prst="rect">
                <a:avLst/>
              </a:prstGeom>
              <a:blipFill rotWithShape="1">
                <a:blip r:embed="rId24"/>
                <a:stretch>
                  <a:fillRect l="-26" t="-62" r="27" b="-1669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64" name="Text Box 60"/>
          <p:cNvSpPr txBox="1">
            <a:spLocks noChangeArrowheads="1"/>
          </p:cNvSpPr>
          <p:nvPr/>
        </p:nvSpPr>
        <p:spPr bwMode="auto">
          <a:xfrm>
            <a:off x="2111272" y="2087576"/>
            <a:ext cx="2066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成半圆柱体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7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7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7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7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7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4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7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7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7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47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47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7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/>
      <p:bldP spid="47107" grpId="0"/>
      <p:bldP spid="47108" grpId="0"/>
      <p:bldP spid="47109" grpId="0"/>
      <p:bldP spid="47110" grpId="0"/>
      <p:bldP spid="47111" grpId="0"/>
      <p:bldP spid="47112" grpId="0" autoUpdateAnimBg="0"/>
      <p:bldP spid="47113" grpId="0"/>
      <p:bldP spid="47116" grpId="0"/>
      <p:bldP spid="47135" grpId="0"/>
      <p:bldP spid="47136" grpId="0"/>
      <p:bldP spid="47137" grpId="0"/>
      <p:bldP spid="47141" grpId="0"/>
      <p:bldP spid="47155" grpId="0" animBg="1"/>
      <p:bldP spid="47156" grpId="0"/>
      <p:bldP spid="47157" grpId="0"/>
      <p:bldP spid="47158" grpId="0"/>
      <p:bldP spid="47159" grpId="0"/>
      <p:bldP spid="47161" grpId="0"/>
      <p:bldP spid="47144" grpId="0"/>
      <p:bldP spid="47164" grpId="0" advAuto="0" autoUpdateAnimBg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矩形 3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/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36590" y="929346"/>
            <a:ext cx="3276600" cy="533400"/>
          </a:xfrm>
          <a:prstGeom prst="rect">
            <a:avLst/>
          </a:prstGeom>
        </p:spPr>
        <p:txBody>
          <a:bodyPr/>
          <a:lstStyle/>
          <a:p>
            <a:r>
              <a:rPr lang="zh-CN" altLang="en-US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 </a:t>
            </a:r>
            <a:r>
              <a:rPr lang="en-US" altLang="zh-CN" sz="2800" dirty="0">
                <a:ea typeface="黑体" panose="02010609060101010101" pitchFamily="49" charset="-122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计算三重积分</a:t>
            </a:r>
            <a:endParaRPr lang="zh-CN" altLang="en-US" sz="2800" b="0" dirty="0">
              <a:ea typeface="黑体" panose="02010609060101010101" pitchFamily="49" charset="-122"/>
            </a:endParaRPr>
          </a:p>
        </p:txBody>
      </p:sp>
      <p:sp>
        <p:nvSpPr>
          <p:cNvPr id="30745" name="Text Box 25"/>
          <p:cNvSpPr txBox="1">
            <a:spLocks noChangeArrowheads="1"/>
          </p:cNvSpPr>
          <p:nvPr/>
        </p:nvSpPr>
        <p:spPr bwMode="auto">
          <a:xfrm>
            <a:off x="1236591" y="2866799"/>
            <a:ext cx="54949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endParaRPr lang="zh-CN" altLang="en-US" sz="2800" b="1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75" name="Object 55"/>
              <p:cNvSpPr txBox="1"/>
              <p:nvPr/>
            </p:nvSpPr>
            <p:spPr bwMode="auto">
              <a:xfrm>
                <a:off x="2071427" y="5163011"/>
                <a:ext cx="3828078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rad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𝜌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d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30775" name="Object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71427" y="5163011"/>
                <a:ext cx="3828078" cy="952500"/>
              </a:xfrm>
              <a:prstGeom prst="rect">
                <a:avLst/>
              </a:prstGeom>
              <a:blipFill rotWithShape="1">
                <a:blip r:embed="rId2"/>
                <a:stretch>
                  <a:fillRect l="-1" t="-48" r="9" b="4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76" name="Object 56"/>
              <p:cNvSpPr txBox="1"/>
              <p:nvPr/>
            </p:nvSpPr>
            <p:spPr bwMode="auto">
              <a:xfrm>
                <a:off x="5768621" y="5326222"/>
                <a:ext cx="4191000" cy="838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[(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​​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30776" name="Object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68621" y="5326222"/>
                <a:ext cx="4191000" cy="838200"/>
              </a:xfrm>
              <a:prstGeom prst="rect">
                <a:avLst/>
              </a:prstGeom>
              <a:blipFill rotWithShape="1">
                <a:blip r:embed="rId3"/>
                <a:stretch>
                  <a:fillRect l="-7" t="-57" r="7" b="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88" name="Object 68"/>
              <p:cNvSpPr txBox="1"/>
              <p:nvPr/>
            </p:nvSpPr>
            <p:spPr bwMode="auto">
              <a:xfrm>
                <a:off x="2906261" y="4124068"/>
                <a:ext cx="3723139" cy="10963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fNam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func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ℎ</m:t>
                              </m:r>
                            </m:e>
                          </m:rad>
                        </m:sup>
                        <m:e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nary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sup>
                        <m:e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30788" name="Object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06261" y="4124068"/>
                <a:ext cx="3723139" cy="1096387"/>
              </a:xfrm>
              <a:prstGeom prst="rect">
                <a:avLst/>
              </a:prstGeom>
              <a:blipFill rotWithShape="1">
                <a:blip r:embed="rId4"/>
                <a:stretch>
                  <a:fillRect l="-13" t="-34" b="1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39" name="Object 19"/>
              <p:cNvSpPr txBox="1"/>
              <p:nvPr/>
            </p:nvSpPr>
            <p:spPr bwMode="auto">
              <a:xfrm>
                <a:off x="4166545" y="514946"/>
                <a:ext cx="2758538" cy="125360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073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6545" y="514946"/>
                <a:ext cx="2758538" cy="1253608"/>
              </a:xfrm>
              <a:prstGeom prst="rect">
                <a:avLst/>
              </a:prstGeom>
              <a:blipFill rotWithShape="1">
                <a:blip r:embed="rId5"/>
                <a:stretch>
                  <a:fillRect l="-11" t="-48" r="15" b="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42" name="Object 22"/>
              <p:cNvSpPr txBox="1"/>
              <p:nvPr/>
            </p:nvSpPr>
            <p:spPr bwMode="auto">
              <a:xfrm>
                <a:off x="2050501" y="1676533"/>
                <a:ext cx="2374259" cy="55775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​​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0742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0501" y="1676533"/>
                <a:ext cx="2374259" cy="557757"/>
              </a:xfrm>
              <a:prstGeom prst="rect">
                <a:avLst/>
              </a:prstGeom>
              <a:blipFill rotWithShape="1">
                <a:blip r:embed="rId6"/>
                <a:stretch>
                  <a:fillRect l="-4" t="-24" r="3" b="6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743" name="Object 23"/>
              <p:cNvSpPr txBox="1"/>
              <p:nvPr/>
            </p:nvSpPr>
            <p:spPr bwMode="auto">
              <a:xfrm>
                <a:off x="5188470" y="1657071"/>
                <a:ext cx="2332674" cy="55775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074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88470" y="1657071"/>
                <a:ext cx="2332674" cy="557758"/>
              </a:xfrm>
              <a:prstGeom prst="rect">
                <a:avLst/>
              </a:prstGeom>
              <a:blipFill rotWithShape="1">
                <a:blip r:embed="rId7"/>
                <a:stretch>
                  <a:fillRect l="-22" t="-64" r="9" b="10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44" name="Text Box 24"/>
          <p:cNvSpPr txBox="1">
            <a:spLocks noChangeArrowheads="1"/>
          </p:cNvSpPr>
          <p:nvPr/>
        </p:nvSpPr>
        <p:spPr bwMode="auto">
          <a:xfrm>
            <a:off x="7316248" y="1674597"/>
            <a:ext cx="135142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所围成</a:t>
            </a:r>
            <a:r>
              <a:rPr kumimoji="1" lang="en-US" altLang="zh-CN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en-US" altLang="zh-CN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30789" name="Text Box 69"/>
          <p:cNvSpPr txBox="1">
            <a:spLocks noChangeArrowheads="1"/>
          </p:cNvSpPr>
          <p:nvPr/>
        </p:nvSpPr>
        <p:spPr bwMode="auto">
          <a:xfrm>
            <a:off x="4124960" y="1674845"/>
            <a:ext cx="1321724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与平面</a:t>
            </a:r>
            <a:endParaRPr kumimoji="1" lang="zh-CN" altLang="en-US" sz="28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40" name="Text Box 20"/>
              <p:cNvSpPr txBox="1">
                <a:spLocks noChangeArrowheads="1"/>
              </p:cNvSpPr>
              <p:nvPr/>
            </p:nvSpPr>
            <p:spPr bwMode="auto">
              <a:xfrm>
                <a:off x="6797864" y="913104"/>
                <a:ext cx="2758539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其中</a:t>
                </a:r>
                <a14:m>
                  <m:oMath xmlns:m="http://schemas.openxmlformats.org/officeDocument/2006/math">
                    <m:r>
                      <a:rPr lang="el-GR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kumimoji="1" lang="zh-CN" altLang="en-US" sz="280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由抛物面</a:t>
                </a:r>
                <a:endParaRPr kumimoji="1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30740" name="Text 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97864" y="913104"/>
                <a:ext cx="2758539" cy="519112"/>
              </a:xfrm>
              <a:prstGeom prst="rect">
                <a:avLst/>
              </a:prstGeom>
              <a:blipFill rotWithShape="1">
                <a:blip r:embed="rId8"/>
                <a:stretch>
                  <a:fillRect l="-7" t="-117" r="10" b="5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802" name="Text Box 82"/>
          <p:cNvSpPr txBox="1">
            <a:spLocks noChangeArrowheads="1"/>
          </p:cNvSpPr>
          <p:nvPr/>
        </p:nvSpPr>
        <p:spPr bwMode="auto">
          <a:xfrm>
            <a:off x="2071427" y="4399330"/>
            <a:ext cx="97815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原式 </a:t>
            </a:r>
            <a:r>
              <a:rPr kumimoji="1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=</a:t>
            </a:r>
            <a:endParaRPr kumimoji="1" lang="en-US" altLang="zh-CN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graphicFrame>
        <p:nvGraphicFramePr>
          <p:cNvPr id="42" name="Object 18"/>
          <p:cNvGraphicFramePr>
            <a:graphicFrameLocks noChangeAspect="1"/>
          </p:cNvGraphicFramePr>
          <p:nvPr/>
        </p:nvGraphicFramePr>
        <p:xfrm>
          <a:off x="9561264" y="3741811"/>
          <a:ext cx="204788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9" imgW="292100" imgH="317500" progId="Equation.3">
                  <p:embed/>
                </p:oleObj>
              </mc:Choice>
              <mc:Fallback>
                <p:oleObj name="Equation" r:id="rId9" imgW="292100" imgH="3175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biLevel thresh="50000"/>
                        <a:lum bright="-100000" contrast="10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61264" y="3741811"/>
                        <a:ext cx="204788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3" name="Group 86"/>
          <p:cNvGrpSpPr/>
          <p:nvPr/>
        </p:nvGrpSpPr>
        <p:grpSpPr bwMode="auto">
          <a:xfrm>
            <a:off x="9024675" y="2463873"/>
            <a:ext cx="1260472" cy="1684336"/>
            <a:chOff x="4606" y="1259"/>
            <a:chExt cx="794" cy="1061"/>
          </a:xfrm>
        </p:grpSpPr>
        <p:grpSp>
          <p:nvGrpSpPr>
            <p:cNvPr id="44" name="Group 62"/>
            <p:cNvGrpSpPr/>
            <p:nvPr/>
          </p:nvGrpSpPr>
          <p:grpSpPr bwMode="auto">
            <a:xfrm>
              <a:off x="4606" y="1259"/>
              <a:ext cx="794" cy="979"/>
              <a:chOff x="4512" y="1104"/>
              <a:chExt cx="930" cy="1144"/>
            </a:xfrm>
          </p:grpSpPr>
          <p:sp>
            <p:nvSpPr>
              <p:cNvPr id="46" name="Oval 61"/>
              <p:cNvSpPr>
                <a:spLocks noChangeArrowheads="1"/>
              </p:cNvSpPr>
              <p:nvPr/>
            </p:nvSpPr>
            <p:spPr bwMode="auto">
              <a:xfrm>
                <a:off x="4512" y="1968"/>
                <a:ext cx="930" cy="280"/>
              </a:xfrm>
              <a:prstGeom prst="ellipse">
                <a:avLst/>
              </a:prstGeom>
              <a:solidFill>
                <a:srgbClr val="66CCFF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47" name="Line 59"/>
              <p:cNvSpPr>
                <a:spLocks noChangeShapeType="1"/>
              </p:cNvSpPr>
              <p:nvPr/>
            </p:nvSpPr>
            <p:spPr bwMode="auto">
              <a:xfrm>
                <a:off x="4512" y="1104"/>
                <a:ext cx="0" cy="9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48" name="Line 60"/>
              <p:cNvSpPr>
                <a:spLocks noChangeShapeType="1"/>
              </p:cNvSpPr>
              <p:nvPr/>
            </p:nvSpPr>
            <p:spPr bwMode="auto">
              <a:xfrm>
                <a:off x="5442" y="1104"/>
                <a:ext cx="0" cy="9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Object 85"/>
                <p:cNvSpPr txBox="1"/>
                <p:nvPr/>
              </p:nvSpPr>
              <p:spPr bwMode="auto">
                <a:xfrm>
                  <a:off x="4944" y="2076"/>
                  <a:ext cx="409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45" name="Object 8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944" y="2076"/>
                  <a:ext cx="409" cy="244"/>
                </a:xfrm>
                <a:prstGeom prst="rect">
                  <a:avLst/>
                </a:prstGeom>
                <a:blipFill rotWithShape="1">
                  <a:blip r:embed="rId11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9" name="Group 84"/>
          <p:cNvGrpSpPr/>
          <p:nvPr/>
        </p:nvGrpSpPr>
        <p:grpSpPr bwMode="auto">
          <a:xfrm>
            <a:off x="8910619" y="1630437"/>
            <a:ext cx="1845244" cy="2706688"/>
            <a:chOff x="4543" y="734"/>
            <a:chExt cx="1023" cy="17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Object 7"/>
                <p:cNvSpPr txBox="1"/>
                <p:nvPr/>
              </p:nvSpPr>
              <p:spPr bwMode="auto">
                <a:xfrm>
                  <a:off x="4543" y="2163"/>
                  <a:ext cx="375" cy="27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50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43" y="2163"/>
                  <a:ext cx="375" cy="276"/>
                </a:xfrm>
                <a:prstGeom prst="rect">
                  <a:avLst/>
                </a:prstGeom>
                <a:blipFill rotWithShape="1">
                  <a:blip r:embed="rId1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Object 8"/>
                <p:cNvSpPr txBox="1"/>
                <p:nvPr/>
              </p:nvSpPr>
              <p:spPr bwMode="auto">
                <a:xfrm>
                  <a:off x="5415" y="2130"/>
                  <a:ext cx="151" cy="19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>
            <p:sp>
              <p:nvSpPr>
                <p:cNvPr id="51" name="Object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415" y="2130"/>
                  <a:ext cx="151" cy="190"/>
                </a:xfrm>
                <a:prstGeom prst="rect">
                  <a:avLst/>
                </a:prstGeom>
                <a:blipFill rotWithShape="1">
                  <a:blip r:embed="rId1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Object 9"/>
                <p:cNvSpPr txBox="1"/>
                <p:nvPr/>
              </p:nvSpPr>
              <p:spPr bwMode="auto">
                <a:xfrm>
                  <a:off x="4769" y="734"/>
                  <a:ext cx="490" cy="4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0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000" dirty="0"/>
                </a:p>
              </p:txBody>
            </p:sp>
          </mc:Choice>
          <mc:Fallback>
            <p:sp>
              <p:nvSpPr>
                <p:cNvPr id="52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769" y="734"/>
                  <a:ext cx="490" cy="486"/>
                </a:xfrm>
                <a:prstGeom prst="rect">
                  <a:avLst/>
                </a:prstGeom>
                <a:blipFill rotWithShape="1">
                  <a:blip r:embed="rId1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3" name="Group 83"/>
            <p:cNvGrpSpPr/>
            <p:nvPr/>
          </p:nvGrpSpPr>
          <p:grpSpPr bwMode="auto">
            <a:xfrm>
              <a:off x="4608" y="807"/>
              <a:ext cx="934" cy="1539"/>
              <a:chOff x="4608" y="807"/>
              <a:chExt cx="934" cy="1539"/>
            </a:xfrm>
          </p:grpSpPr>
          <p:sp>
            <p:nvSpPr>
              <p:cNvPr id="54" name="Arc 71"/>
              <p:cNvSpPr/>
              <p:nvPr/>
            </p:nvSpPr>
            <p:spPr bwMode="auto">
              <a:xfrm>
                <a:off x="4609" y="1259"/>
                <a:ext cx="697" cy="823"/>
              </a:xfrm>
              <a:custGeom>
                <a:avLst/>
                <a:gdLst>
                  <a:gd name="G0" fmla="+- 21600 0 0"/>
                  <a:gd name="G1" fmla="+- 852 0 0"/>
                  <a:gd name="G2" fmla="+- 21600 0 0"/>
                  <a:gd name="T0" fmla="*/ 43200 w 43200"/>
                  <a:gd name="T1" fmla="*/ 771 h 22452"/>
                  <a:gd name="T2" fmla="*/ 17 w 43200"/>
                  <a:gd name="T3" fmla="*/ 0 h 22452"/>
                  <a:gd name="T4" fmla="*/ 21600 w 43200"/>
                  <a:gd name="T5" fmla="*/ 852 h 224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200" h="22452" fill="none" extrusionOk="0">
                    <a:moveTo>
                      <a:pt x="43199" y="771"/>
                    </a:moveTo>
                    <a:cubicBezTo>
                      <a:pt x="43199" y="798"/>
                      <a:pt x="43200" y="825"/>
                      <a:pt x="43200" y="852"/>
                    </a:cubicBezTo>
                    <a:cubicBezTo>
                      <a:pt x="43200" y="12781"/>
                      <a:pt x="33529" y="22452"/>
                      <a:pt x="21600" y="22452"/>
                    </a:cubicBezTo>
                    <a:cubicBezTo>
                      <a:pt x="9670" y="22452"/>
                      <a:pt x="0" y="12781"/>
                      <a:pt x="0" y="852"/>
                    </a:cubicBezTo>
                    <a:cubicBezTo>
                      <a:pt x="0" y="567"/>
                      <a:pt x="5" y="283"/>
                      <a:pt x="16" y="-1"/>
                    </a:cubicBezTo>
                  </a:path>
                  <a:path w="43200" h="22452" stroke="0" extrusionOk="0">
                    <a:moveTo>
                      <a:pt x="43199" y="771"/>
                    </a:moveTo>
                    <a:cubicBezTo>
                      <a:pt x="43199" y="798"/>
                      <a:pt x="43200" y="825"/>
                      <a:pt x="43200" y="852"/>
                    </a:cubicBezTo>
                    <a:cubicBezTo>
                      <a:pt x="43200" y="12781"/>
                      <a:pt x="33529" y="22452"/>
                      <a:pt x="21600" y="22452"/>
                    </a:cubicBezTo>
                    <a:cubicBezTo>
                      <a:pt x="9670" y="22452"/>
                      <a:pt x="0" y="12781"/>
                      <a:pt x="0" y="852"/>
                    </a:cubicBezTo>
                    <a:cubicBezTo>
                      <a:pt x="0" y="567"/>
                      <a:pt x="5" y="283"/>
                      <a:pt x="16" y="-1"/>
                    </a:cubicBezTo>
                    <a:lnTo>
                      <a:pt x="21600" y="852"/>
                    </a:lnTo>
                    <a:close/>
                  </a:path>
                </a:pathLst>
              </a:custGeom>
              <a:solidFill>
                <a:srgbClr val="04926A"/>
              </a:solidFill>
              <a:ln w="9525">
                <a:solidFill>
                  <a:srgbClr val="04926A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5" name="Oval 31"/>
              <p:cNvSpPr>
                <a:spLocks noChangeArrowheads="1"/>
              </p:cNvSpPr>
              <p:nvPr/>
            </p:nvSpPr>
            <p:spPr bwMode="auto">
              <a:xfrm>
                <a:off x="4608" y="1177"/>
                <a:ext cx="697" cy="164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6" name="Line 4"/>
              <p:cNvSpPr>
                <a:spLocks noChangeShapeType="1"/>
              </p:cNvSpPr>
              <p:nvPr/>
            </p:nvSpPr>
            <p:spPr bwMode="auto">
              <a:xfrm>
                <a:off x="4968" y="2082"/>
                <a:ext cx="57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7" name="Line 6"/>
              <p:cNvSpPr>
                <a:spLocks noChangeShapeType="1"/>
              </p:cNvSpPr>
              <p:nvPr/>
            </p:nvSpPr>
            <p:spPr bwMode="auto">
              <a:xfrm flipH="1">
                <a:off x="4704" y="2082"/>
                <a:ext cx="264" cy="26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8" name="Line 5"/>
              <p:cNvSpPr>
                <a:spLocks noChangeShapeType="1"/>
              </p:cNvSpPr>
              <p:nvPr/>
            </p:nvSpPr>
            <p:spPr bwMode="auto">
              <a:xfrm flipV="1">
                <a:off x="4968" y="807"/>
                <a:ext cx="0" cy="4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59" name="Line 30"/>
              <p:cNvSpPr>
                <a:spLocks noChangeShapeType="1"/>
              </p:cNvSpPr>
              <p:nvPr/>
            </p:nvSpPr>
            <p:spPr bwMode="auto">
              <a:xfrm flipV="1">
                <a:off x="4968" y="1181"/>
                <a:ext cx="0" cy="9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Object 32"/>
              <p:cNvSpPr txBox="1"/>
              <p:nvPr/>
            </p:nvSpPr>
            <p:spPr bwMode="auto">
              <a:xfrm>
                <a:off x="10068382" y="1981092"/>
                <a:ext cx="1035355" cy="22243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</m:oMath>
                  </m:oMathPara>
                </a14:m>
                <a:endParaRPr lang="zh-CN" altLang="en-US" sz="2400" i="1" dirty="0"/>
              </a:p>
            </p:txBody>
          </p:sp>
        </mc:Choice>
        <mc:Fallback>
          <p:sp>
            <p:nvSpPr>
              <p:cNvPr id="60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068382" y="1981092"/>
                <a:ext cx="1035355" cy="222432"/>
              </a:xfrm>
              <a:prstGeom prst="rect">
                <a:avLst/>
              </a:prstGeom>
              <a:blipFill rotWithShape="1">
                <a:blip r:embed="rId15"/>
                <a:stretch>
                  <a:fillRect l="-44" t="-237" r="12" b="-8475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组合 60"/>
          <p:cNvGrpSpPr/>
          <p:nvPr/>
        </p:nvGrpSpPr>
        <p:grpSpPr>
          <a:xfrm>
            <a:off x="9197806" y="1991369"/>
            <a:ext cx="192537" cy="1962497"/>
            <a:chOff x="10540312" y="1556991"/>
            <a:chExt cx="192537" cy="1962497"/>
          </a:xfrm>
        </p:grpSpPr>
        <p:grpSp>
          <p:nvGrpSpPr>
            <p:cNvPr id="62" name="组合 61"/>
            <p:cNvGrpSpPr/>
            <p:nvPr/>
          </p:nvGrpSpPr>
          <p:grpSpPr>
            <a:xfrm>
              <a:off x="10540312" y="1556991"/>
              <a:ext cx="190500" cy="1793036"/>
              <a:chOff x="7592725" y="2084331"/>
              <a:chExt cx="190500" cy="1793036"/>
            </a:xfrm>
          </p:grpSpPr>
          <p:sp>
            <p:nvSpPr>
              <p:cNvPr id="64" name="Line 391"/>
              <p:cNvSpPr>
                <a:spLocks noChangeShapeType="1"/>
              </p:cNvSpPr>
              <p:nvPr/>
            </p:nvSpPr>
            <p:spPr bwMode="auto">
              <a:xfrm>
                <a:off x="7670517" y="2084331"/>
                <a:ext cx="7401" cy="1793036"/>
              </a:xfrm>
              <a:prstGeom prst="line">
                <a:avLst/>
              </a:prstGeom>
              <a:noFill/>
              <a:ln w="28575">
                <a:solidFill>
                  <a:srgbClr val="FF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65" name="对象 64"/>
              <p:cNvGraphicFramePr>
                <a:graphicFrameLocks noChangeAspect="1"/>
              </p:cNvGraphicFramePr>
              <p:nvPr/>
            </p:nvGraphicFramePr>
            <p:xfrm>
              <a:off x="7592725" y="2440423"/>
              <a:ext cx="1905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0" name="Equation" r:id="rId16" imgW="4572000" imgH="5486400" progId="Equation.DSMT4">
                      <p:embed/>
                    </p:oleObj>
                  </mc:Choice>
                  <mc:Fallback>
                    <p:oleObj name="Equation" r:id="rId16" imgW="4572000" imgH="5486400" progId="Equation.DSMT4">
                      <p:embed/>
                      <p:pic>
                        <p:nvPicPr>
                          <p:cNvPr id="0" name="对象 38"/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7592725" y="2440423"/>
                            <a:ext cx="190500" cy="228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6" name="对象 65"/>
              <p:cNvGraphicFramePr>
                <a:graphicFrameLocks noChangeAspect="1"/>
              </p:cNvGraphicFramePr>
              <p:nvPr/>
            </p:nvGraphicFramePr>
            <p:xfrm>
              <a:off x="7592725" y="3487702"/>
              <a:ext cx="1905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051" name="Equation" r:id="rId18" imgW="4572000" imgH="5486400" progId="Equation.DSMT4">
                      <p:embed/>
                    </p:oleObj>
                  </mc:Choice>
                  <mc:Fallback>
                    <p:oleObj name="Equation" r:id="rId18" imgW="4572000" imgH="5486400" progId="Equation.DSMT4">
                      <p:embed/>
                      <p:pic>
                        <p:nvPicPr>
                          <p:cNvPr id="0" name="对象 39"/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7592725" y="3487702"/>
                            <a:ext cx="190500" cy="2286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3" name="对象 62"/>
            <p:cNvGraphicFramePr>
              <a:graphicFrameLocks noChangeAspect="1"/>
            </p:cNvGraphicFramePr>
            <p:nvPr/>
          </p:nvGraphicFramePr>
          <p:xfrm>
            <a:off x="10542349" y="3290888"/>
            <a:ext cx="1905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" name="Equation" r:id="rId20" imgW="4572000" imgH="5486400" progId="Equation.DSMT4">
                    <p:embed/>
                  </p:oleObj>
                </mc:Choice>
                <mc:Fallback>
                  <p:oleObj name="Equation" r:id="rId20" imgW="4572000" imgH="5486400" progId="Equation.DSMT4">
                    <p:embed/>
                    <p:pic>
                      <p:nvPicPr>
                        <p:cNvPr id="0" name="对象 40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10542349" y="3290888"/>
                          <a:ext cx="190500" cy="2286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2050502" y="2903758"/>
                <a:ext cx="1958732" cy="482153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在柱坐标系下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502" y="2903758"/>
                <a:ext cx="1958732" cy="482153"/>
              </a:xfrm>
              <a:prstGeom prst="rect">
                <a:avLst/>
              </a:prstGeom>
              <a:blipFill rotWithShape="1">
                <a:blip r:embed="rId22"/>
                <a:stretch>
                  <a:fillRect l="-4" t="-112" r="24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Object 31"/>
              <p:cNvSpPr txBox="1"/>
              <p:nvPr/>
            </p:nvSpPr>
            <p:spPr bwMode="auto">
              <a:xfrm>
                <a:off x="4557972" y="2822429"/>
                <a:ext cx="1693731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ℎ</m:t>
                          </m:r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8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7972" y="2822429"/>
                <a:ext cx="1693731" cy="519113"/>
              </a:xfrm>
              <a:prstGeom prst="rect">
                <a:avLst/>
              </a:prstGeom>
              <a:blipFill rotWithShape="1">
                <a:blip r:embed="rId23"/>
                <a:stretch>
                  <a:fillRect l="-34" t="-94" r="8" b="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Object 32"/>
              <p:cNvSpPr txBox="1"/>
              <p:nvPr/>
            </p:nvSpPr>
            <p:spPr bwMode="auto">
              <a:xfrm>
                <a:off x="4557972" y="2365279"/>
                <a:ext cx="1447800" cy="444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9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7972" y="2365279"/>
                <a:ext cx="1447800" cy="444500"/>
              </a:xfrm>
              <a:prstGeom prst="rect">
                <a:avLst/>
              </a:prstGeom>
              <a:blipFill rotWithShape="1">
                <a:blip r:embed="rId24"/>
                <a:stretch>
                  <a:fillRect l="-40" t="-121" r="40" b="1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Object 33"/>
              <p:cNvSpPr txBox="1"/>
              <p:nvPr/>
            </p:nvSpPr>
            <p:spPr bwMode="auto">
              <a:xfrm>
                <a:off x="4611275" y="3346904"/>
                <a:ext cx="1538026" cy="8181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ℎ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70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11275" y="3346904"/>
                <a:ext cx="1538026" cy="818178"/>
              </a:xfrm>
              <a:prstGeom prst="rect">
                <a:avLst/>
              </a:prstGeom>
              <a:blipFill rotWithShape="1">
                <a:blip r:embed="rId25"/>
                <a:stretch>
                  <a:fillRect l="-35" t="-55" r="39" b="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AutoShape 58"/>
          <p:cNvSpPr/>
          <p:nvPr/>
        </p:nvSpPr>
        <p:spPr bwMode="auto">
          <a:xfrm>
            <a:off x="4382804" y="2409868"/>
            <a:ext cx="170169" cy="1469089"/>
          </a:xfrm>
          <a:prstGeom prst="leftBrace">
            <a:avLst>
              <a:gd name="adj1" fmla="val 55052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1" i="0" u="none" strike="noStrike" kern="1200" cap="none" spc="0" normalizeH="0" baseline="0" noProof="0" dirty="0">
              <a:ln>
                <a:solidFill>
                  <a:schemeClr val="tx1"/>
                </a:solidFill>
              </a:ln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文本框 72"/>
              <p:cNvSpPr txBox="1"/>
              <p:nvPr/>
            </p:nvSpPr>
            <p:spPr bwMode="auto">
              <a:xfrm>
                <a:off x="3791664" y="2869641"/>
                <a:ext cx="669976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altLang="zh-CN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𝛺</m:t>
                    </m:r>
                  </m:oMath>
                </a14:m>
                <a:r>
                  <a:rPr kumimoji="1" lang="zh-CN" altLang="en-US" sz="2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sym typeface="Symbol" panose="05050102010706020507" pitchFamily="18" charset="2"/>
                  </a:rPr>
                  <a:t>：</a:t>
                </a:r>
                <a:endParaRPr lang="zh-CN" altLang="en-US" sz="2200" dirty="0"/>
              </a:p>
            </p:txBody>
          </p:sp>
        </mc:Choice>
        <mc:Fallback>
          <p:sp>
            <p:nvSpPr>
              <p:cNvPr id="73" name="文本框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1664" y="2869641"/>
                <a:ext cx="669976" cy="430887"/>
              </a:xfrm>
              <a:prstGeom prst="rect">
                <a:avLst/>
              </a:prstGeom>
              <a:blipFill rotWithShape="1">
                <a:blip r:embed="rId26"/>
                <a:stretch>
                  <a:fillRect l="-12" t="-18" r="19" b="1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Object 22"/>
              <p:cNvSpPr txBox="1"/>
              <p:nvPr/>
            </p:nvSpPr>
            <p:spPr bwMode="auto">
              <a:xfrm>
                <a:off x="8710246" y="4491840"/>
                <a:ext cx="2253029" cy="55097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altLang="zh-CN" sz="2200" i="1" baseline="-250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𝑥𝑦</m:t>
                          </m:r>
                          <m:r>
                            <a:rPr lang="en-US" altLang="zh-CN" sz="22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​​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74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10246" y="4491840"/>
                <a:ext cx="2253029" cy="550978"/>
              </a:xfrm>
              <a:prstGeom prst="rect">
                <a:avLst/>
              </a:prstGeom>
              <a:blipFill rotWithShape="1">
                <a:blip r:embed="rId27"/>
                <a:stretch>
                  <a:fillRect l="-26" t="-88" b="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07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07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08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3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/>
      <p:bldP spid="30745" grpId="0" autoUpdateAnimBg="0" build="p"/>
      <p:bldP spid="30775" grpId="0"/>
      <p:bldP spid="30776" grpId="0"/>
      <p:bldP spid="30788" grpId="0"/>
      <p:bldP spid="30739" grpId="0"/>
      <p:bldP spid="30742" grpId="0"/>
      <p:bldP spid="30743" grpId="0"/>
      <p:bldP spid="30744" grpId="0" advAuto="0" autoUpdateAnimBg="0" build="p"/>
      <p:bldP spid="30789" grpId="0" autoUpdateAnimBg="0" build="p"/>
      <p:bldP spid="30740" grpId="0" autoUpdateAnimBg="0" build="p"/>
      <p:bldP spid="30802" grpId="0" autoUpdateAnimBg="0" build="p"/>
      <p:bldP spid="60" grpId="0"/>
      <p:bldP spid="3" grpId="0"/>
      <p:bldP spid="68" grpId="0"/>
      <p:bldP spid="69" grpId="0"/>
      <p:bldP spid="70" grpId="0"/>
      <p:bldP spid="73" grpId="0"/>
      <p:bldP spid="7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/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/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/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/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/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6502" name="Object 2054"/>
              <p:cNvSpPr txBox="1"/>
              <p:nvPr/>
            </p:nvSpPr>
            <p:spPr bwMode="auto">
              <a:xfrm>
                <a:off x="1412021" y="1186187"/>
                <a:ext cx="3481754" cy="520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)∈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b="1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𝐑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6502" name="Object 20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2021" y="1186187"/>
                <a:ext cx="3481754" cy="520700"/>
              </a:xfrm>
              <a:prstGeom prst="rect">
                <a:avLst/>
              </a:prstGeom>
              <a:blipFill rotWithShape="1">
                <a:blip r:embed="rId2"/>
                <a:stretch>
                  <a:fillRect l="-12" t="-1" r="13" b="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503" name="Object 2055"/>
              <p:cNvSpPr txBox="1"/>
              <p:nvPr/>
            </p:nvSpPr>
            <p:spPr bwMode="auto">
              <a:xfrm>
                <a:off x="4208780" y="1178274"/>
                <a:ext cx="3733800" cy="431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其柱坐标为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6503" name="Object 20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08780" y="1178274"/>
                <a:ext cx="3733800" cy="431800"/>
              </a:xfrm>
              <a:prstGeom prst="rect">
                <a:avLst/>
              </a:prstGeom>
              <a:blipFill rotWithShape="1">
                <a:blip r:embed="rId3"/>
                <a:stretch>
                  <a:fillRect t="-81" b="-1697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504" name="Text Box 2056"/>
              <p:cNvSpPr txBox="1">
                <a:spLocks noChangeArrowheads="1"/>
              </p:cNvSpPr>
              <p:nvPr/>
            </p:nvSpPr>
            <p:spPr bwMode="auto">
              <a:xfrm>
                <a:off x="4914900" y="1685344"/>
                <a:ext cx="37338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就称为点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的球坐标</a:t>
                </a:r>
                <a:r>
                  <a:rPr kumimoji="1" lang="en-US" altLang="zh-CN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黑体" panose="02010609060101010101" pitchFamily="49" charset="-122"/>
                    <a:cs typeface="+mn-cs"/>
                  </a:rPr>
                  <a:t>.</a:t>
                </a:r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endParaRPr>
              </a:p>
            </p:txBody>
          </p:sp>
        </mc:Choice>
        <mc:Fallback>
          <p:sp>
            <p:nvSpPr>
              <p:cNvPr id="106504" name="Text Box 20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4900" y="1685344"/>
                <a:ext cx="3733800" cy="519113"/>
              </a:xfrm>
              <a:prstGeom prst="rect">
                <a:avLst/>
              </a:prstGeom>
              <a:blipFill rotWithShape="1">
                <a:blip r:embed="rId4"/>
                <a:stretch>
                  <a:fillRect t="-10" b="7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505" name="Text Box 2057"/>
          <p:cNvSpPr txBox="1">
            <a:spLocks noChangeArrowheads="1"/>
          </p:cNvSpPr>
          <p:nvPr/>
        </p:nvSpPr>
        <p:spPr bwMode="auto">
          <a:xfrm>
            <a:off x="1412021" y="2176155"/>
            <a:ext cx="4648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直角坐标与球面坐标的关系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506" name="Object 2058"/>
              <p:cNvSpPr txBox="1"/>
              <p:nvPr/>
            </p:nvSpPr>
            <p:spPr bwMode="auto">
              <a:xfrm>
                <a:off x="1412021" y="1665660"/>
                <a:ext cx="2093179" cy="5471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𝑍𝑂𝑀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6506" name="Object 20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12021" y="1665660"/>
                <a:ext cx="2093179" cy="547173"/>
              </a:xfrm>
              <a:prstGeom prst="rect">
                <a:avLst/>
              </a:prstGeom>
              <a:blipFill rotWithShape="1">
                <a:blip r:embed="rId5"/>
                <a:stretch>
                  <a:fillRect l="-20" t="-10" b="9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529" name="Object 2081"/>
              <p:cNvSpPr txBox="1"/>
              <p:nvPr/>
            </p:nvSpPr>
            <p:spPr bwMode="auto">
              <a:xfrm>
                <a:off x="3282627" y="1684824"/>
                <a:ext cx="1822773" cy="5367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6529" name="Object 20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82627" y="1684824"/>
                <a:ext cx="1822773" cy="536780"/>
              </a:xfrm>
              <a:prstGeom prst="rect">
                <a:avLst/>
              </a:prstGeom>
              <a:blipFill rotWithShape="1">
                <a:blip r:embed="rId6"/>
                <a:stretch>
                  <a:fillRect l="-17" t="-31" b="7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530" name="Object 2082"/>
              <p:cNvSpPr txBox="1"/>
              <p:nvPr/>
            </p:nvSpPr>
            <p:spPr bwMode="auto">
              <a:xfrm>
                <a:off x="4950656" y="2752725"/>
                <a:ext cx="2516943" cy="155010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plcHide m:val="on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&lt;+∞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en-US" altLang="zh-CN" sz="2800">
                                    <a:latin typeface="Cambria Math" panose="02040503050406030204" pitchFamily="18" charset="0"/>
                                    <a:ea typeface="MS Mincho" panose="02020609040205080304" charset="-128"/>
                                    <a:cs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6530" name="Object 20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0656" y="2752725"/>
                <a:ext cx="2516943" cy="1550107"/>
              </a:xfrm>
              <a:prstGeom prst="rect">
                <a:avLst/>
              </a:prstGeom>
              <a:blipFill rotWithShape="1">
                <a:blip r:embed="rId7"/>
                <a:stretch>
                  <a:fillRect l="-8" r="25" b="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531" name="Object 2083"/>
              <p:cNvSpPr txBox="1"/>
              <p:nvPr/>
            </p:nvSpPr>
            <p:spPr bwMode="auto">
              <a:xfrm>
                <a:off x="2245660" y="2739489"/>
                <a:ext cx="2717193" cy="57514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6531" name="Object 208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5660" y="2739489"/>
                <a:ext cx="2717193" cy="575146"/>
              </a:xfrm>
              <a:prstGeom prst="rect">
                <a:avLst/>
              </a:prstGeom>
              <a:blipFill rotWithShape="1">
                <a:blip r:embed="rId8"/>
                <a:stretch>
                  <a:fillRect l="-11" t="-17" r="12" b="9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532" name="Object 2084"/>
              <p:cNvSpPr txBox="1"/>
              <p:nvPr/>
            </p:nvSpPr>
            <p:spPr bwMode="auto">
              <a:xfrm>
                <a:off x="2245660" y="3111182"/>
                <a:ext cx="2734379" cy="5543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80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6532" name="Object 20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5660" y="3111182"/>
                <a:ext cx="2734379" cy="554380"/>
              </a:xfrm>
              <a:prstGeom prst="rect">
                <a:avLst/>
              </a:prstGeom>
              <a:blipFill rotWithShape="1">
                <a:blip r:embed="rId9"/>
                <a:stretch>
                  <a:fillRect l="-11" t="-57" r="13" b="6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533" name="Object 2085"/>
              <p:cNvSpPr txBox="1"/>
              <p:nvPr/>
            </p:nvSpPr>
            <p:spPr bwMode="auto">
              <a:xfrm>
                <a:off x="2245660" y="3480806"/>
                <a:ext cx="1878931" cy="5191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80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6533" name="Object 208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5660" y="3480806"/>
                <a:ext cx="1878931" cy="519113"/>
              </a:xfrm>
              <a:prstGeom prst="rect">
                <a:avLst/>
              </a:prstGeom>
              <a:blipFill rotWithShape="1">
                <a:blip r:embed="rId10"/>
                <a:stretch>
                  <a:fillRect l="-16" t="-71" r="14" b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534" name="AutoShape 2086"/>
          <p:cNvSpPr/>
          <p:nvPr/>
        </p:nvSpPr>
        <p:spPr bwMode="auto">
          <a:xfrm>
            <a:off x="2062481" y="2876386"/>
            <a:ext cx="198512" cy="1052858"/>
          </a:xfrm>
          <a:prstGeom prst="leftBrace">
            <a:avLst>
              <a:gd name="adj1" fmla="val 62500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06535" name="Text Box 2087"/>
          <p:cNvSpPr txBox="1">
            <a:spLocks noChangeArrowheads="1"/>
          </p:cNvSpPr>
          <p:nvPr/>
        </p:nvSpPr>
        <p:spPr bwMode="auto">
          <a:xfrm>
            <a:off x="1412021" y="4062014"/>
            <a:ext cx="2317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坐标面分别为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536" name="Object 2088"/>
              <p:cNvSpPr txBox="1"/>
              <p:nvPr/>
            </p:nvSpPr>
            <p:spPr bwMode="auto">
              <a:xfrm>
                <a:off x="2212559" y="4569004"/>
                <a:ext cx="2146300" cy="4175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常数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6536" name="Object 208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2559" y="4569004"/>
                <a:ext cx="2146300" cy="417512"/>
              </a:xfrm>
              <a:prstGeom prst="rect">
                <a:avLst/>
              </a:prstGeom>
              <a:blipFill rotWithShape="1">
                <a:blip r:embed="rId11"/>
                <a:stretch>
                  <a:fillRect l="-10" t="-43" r="10" b="-164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537" name="Group 2089"/>
          <p:cNvGrpSpPr/>
          <p:nvPr/>
        </p:nvGrpSpPr>
        <p:grpSpPr bwMode="auto">
          <a:xfrm>
            <a:off x="3779755" y="4563911"/>
            <a:ext cx="2743200" cy="519112"/>
            <a:chOff x="1264" y="2064"/>
            <a:chExt cx="1728" cy="327"/>
          </a:xfrm>
        </p:grpSpPr>
        <p:sp>
          <p:nvSpPr>
            <p:cNvPr id="106538" name="AutoShape 2090"/>
            <p:cNvSpPr>
              <a:spLocks noChangeArrowheads="1"/>
            </p:cNvSpPr>
            <p:nvPr/>
          </p:nvSpPr>
          <p:spPr bwMode="auto">
            <a:xfrm>
              <a:off x="1264" y="2208"/>
              <a:ext cx="672" cy="96"/>
            </a:xfrm>
            <a:prstGeom prst="rightArrow">
              <a:avLst>
                <a:gd name="adj1" fmla="val 50000"/>
                <a:gd name="adj2" fmla="val 175000"/>
              </a:avLst>
            </a:prstGeom>
            <a:solidFill>
              <a:srgbClr val="04926A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6539" name="Text Box 2091"/>
            <p:cNvSpPr txBox="1">
              <a:spLocks noChangeArrowheads="1"/>
            </p:cNvSpPr>
            <p:nvPr/>
          </p:nvSpPr>
          <p:spPr bwMode="auto">
            <a:xfrm>
              <a:off x="1936" y="2064"/>
              <a:ext cx="10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球面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6540" name="Object 2092"/>
              <p:cNvSpPr txBox="1"/>
              <p:nvPr/>
            </p:nvSpPr>
            <p:spPr bwMode="auto">
              <a:xfrm>
                <a:off x="2212559" y="5064304"/>
                <a:ext cx="2026920" cy="4191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常数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6540" name="Object 20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2559" y="5064304"/>
                <a:ext cx="2026920" cy="419100"/>
              </a:xfrm>
              <a:prstGeom prst="rect">
                <a:avLst/>
              </a:prstGeom>
              <a:blipFill rotWithShape="1">
                <a:blip r:embed="rId12"/>
                <a:stretch>
                  <a:fillRect l="-11" t="-43" r="11" b="-160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541" name="Group 2093"/>
          <p:cNvGrpSpPr/>
          <p:nvPr/>
        </p:nvGrpSpPr>
        <p:grpSpPr bwMode="auto">
          <a:xfrm>
            <a:off x="3779755" y="5018026"/>
            <a:ext cx="2743200" cy="519112"/>
            <a:chOff x="1264" y="2352"/>
            <a:chExt cx="1728" cy="327"/>
          </a:xfrm>
        </p:grpSpPr>
        <p:sp>
          <p:nvSpPr>
            <p:cNvPr id="106542" name="AutoShape 2094"/>
            <p:cNvSpPr>
              <a:spLocks noChangeArrowheads="1"/>
            </p:cNvSpPr>
            <p:nvPr/>
          </p:nvSpPr>
          <p:spPr bwMode="auto">
            <a:xfrm>
              <a:off x="1264" y="2496"/>
              <a:ext cx="672" cy="96"/>
            </a:xfrm>
            <a:prstGeom prst="rightArrow">
              <a:avLst>
                <a:gd name="adj1" fmla="val 50000"/>
                <a:gd name="adj2" fmla="val 175000"/>
              </a:avLst>
            </a:prstGeom>
            <a:solidFill>
              <a:srgbClr val="04926A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6543" name="Text Box 2095"/>
            <p:cNvSpPr txBox="1">
              <a:spLocks noChangeArrowheads="1"/>
            </p:cNvSpPr>
            <p:nvPr/>
          </p:nvSpPr>
          <p:spPr bwMode="auto">
            <a:xfrm>
              <a:off x="1936" y="2352"/>
              <a:ext cx="105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半平面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6544" name="Object 2096"/>
              <p:cNvSpPr txBox="1"/>
              <p:nvPr/>
            </p:nvSpPr>
            <p:spPr bwMode="auto">
              <a:xfrm>
                <a:off x="2212559" y="5470705"/>
                <a:ext cx="2146300" cy="457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常数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06544" name="Object 209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2559" y="5470705"/>
                <a:ext cx="2146300" cy="457200"/>
              </a:xfrm>
              <a:prstGeom prst="rect">
                <a:avLst/>
              </a:prstGeom>
              <a:blipFill rotWithShape="1">
                <a:blip r:embed="rId13"/>
                <a:stretch>
                  <a:fillRect l="-10" t="-39" r="10" b="3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6545" name="Group 2097"/>
          <p:cNvGrpSpPr/>
          <p:nvPr/>
        </p:nvGrpSpPr>
        <p:grpSpPr bwMode="auto">
          <a:xfrm>
            <a:off x="3779755" y="5423284"/>
            <a:ext cx="2362200" cy="519113"/>
            <a:chOff x="1264" y="2640"/>
            <a:chExt cx="1488" cy="327"/>
          </a:xfrm>
        </p:grpSpPr>
        <p:sp>
          <p:nvSpPr>
            <p:cNvPr id="106546" name="AutoShape 2098"/>
            <p:cNvSpPr>
              <a:spLocks noChangeArrowheads="1"/>
            </p:cNvSpPr>
            <p:nvPr/>
          </p:nvSpPr>
          <p:spPr bwMode="auto">
            <a:xfrm>
              <a:off x="1264" y="2784"/>
              <a:ext cx="672" cy="96"/>
            </a:xfrm>
            <a:prstGeom prst="rightArrow">
              <a:avLst>
                <a:gd name="adj1" fmla="val 50000"/>
                <a:gd name="adj2" fmla="val 175000"/>
              </a:avLst>
            </a:prstGeom>
            <a:solidFill>
              <a:srgbClr val="04926A"/>
            </a:solidFill>
            <a:ln w="9525">
              <a:noFill/>
              <a:miter lim="800000"/>
            </a:ln>
          </p:spPr>
          <p:txBody>
            <a:bodyPr wrap="none" anchor="ctr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106547" name="Text Box 2099"/>
            <p:cNvSpPr txBox="1">
              <a:spLocks noChangeArrowheads="1"/>
            </p:cNvSpPr>
            <p:nvPr/>
          </p:nvSpPr>
          <p:spPr bwMode="auto">
            <a:xfrm>
              <a:off x="1936" y="2640"/>
              <a:ext cx="81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黑体" panose="02010609060101010101" pitchFamily="49" charset="-122"/>
                  <a:cs typeface="+mn-cs"/>
                </a:rPr>
                <a:t>锥面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106548" name="Group 2100"/>
          <p:cNvGrpSpPr/>
          <p:nvPr/>
        </p:nvGrpSpPr>
        <p:grpSpPr bwMode="auto">
          <a:xfrm>
            <a:off x="7225358" y="1149957"/>
            <a:ext cx="2247292" cy="482600"/>
            <a:chOff x="4264" y="672"/>
            <a:chExt cx="1104" cy="30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6549" name="Object 2101"/>
                <p:cNvSpPr txBox="1"/>
                <p:nvPr/>
              </p:nvSpPr>
              <p:spPr bwMode="auto">
                <a:xfrm>
                  <a:off x="4264" y="672"/>
                  <a:ext cx="1104" cy="3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令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𝑂𝑀</m:t>
                            </m:r>
                          </m:e>
                        </m:d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106549" name="Object 210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64" y="672"/>
                  <a:ext cx="1104" cy="304"/>
                </a:xfrm>
                <a:prstGeom prst="rect">
                  <a:avLst/>
                </a:prstGeom>
                <a:blipFill rotWithShape="1">
                  <a:blip r:embed="rId1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6550" name="Line 2102"/>
            <p:cNvSpPr>
              <a:spLocks noChangeShapeType="1"/>
            </p:cNvSpPr>
            <p:nvPr/>
          </p:nvSpPr>
          <p:spPr bwMode="auto">
            <a:xfrm>
              <a:off x="4493" y="695"/>
              <a:ext cx="3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endParaRPr>
            </a:p>
          </p:txBody>
        </p:sp>
      </p:grpSp>
      <p:sp>
        <p:nvSpPr>
          <p:cNvPr id="58" name="Rectangle 2"/>
          <p:cNvSpPr txBox="1">
            <a:spLocks noChangeArrowheads="1"/>
          </p:cNvSpPr>
          <p:nvPr/>
        </p:nvSpPr>
        <p:spPr>
          <a:xfrm>
            <a:off x="930743" y="609920"/>
            <a:ext cx="4984320" cy="609600"/>
          </a:xfrm>
          <a:prstGeom prst="rect">
            <a:avLst/>
          </a:prstGeom>
          <a:ln w="28575">
            <a:noFill/>
            <a:prstDash val="dashDot"/>
          </a:ln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3. </a:t>
            </a:r>
            <a:r>
              <a:rPr lang="zh-CN" altLang="en-US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利用球坐标计算三重积分</a:t>
            </a:r>
            <a:endParaRPr lang="en-US" altLang="zh-CN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9" name="图片 8" descr="图示&#10;&#10;描述已自动生成"/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6706" y="1907177"/>
            <a:ext cx="2752687" cy="27463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6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6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6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6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6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6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0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06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06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06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6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06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6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06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06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502" grpId="0"/>
      <p:bldP spid="106503" grpId="0"/>
      <p:bldP spid="106504" grpId="0" autoUpdateAnimBg="0"/>
      <p:bldP spid="106505" grpId="0" autoUpdateAnimBg="0"/>
      <p:bldP spid="106506" grpId="0"/>
      <p:bldP spid="106529" grpId="0"/>
      <p:bldP spid="106530" grpId="0"/>
      <p:bldP spid="106531" grpId="0"/>
      <p:bldP spid="106532" grpId="0"/>
      <p:bldP spid="106533" grpId="0"/>
      <p:bldP spid="106535" grpId="0" autoUpdateAnimBg="0" build="p"/>
      <p:bldP spid="106536" grpId="0"/>
      <p:bldP spid="106540" grpId="0"/>
      <p:bldP spid="106544" grpId="0"/>
      <p:bldP spid="5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351012" y="583473"/>
            <a:ext cx="6400800" cy="519113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zh-CN" altLang="en-US" sz="2800" b="0" dirty="0">
                <a:solidFill>
                  <a:schemeClr val="tx1"/>
                </a:solidFill>
                <a:ea typeface="黑体" panose="02010609060101010101" pitchFamily="49" charset="-122"/>
              </a:rPr>
              <a:t>如图所示，在球面坐标系中体积元素为</a:t>
            </a:r>
            <a:endParaRPr lang="zh-CN" altLang="en-US" sz="2800" b="0" dirty="0">
              <a:solidFill>
                <a:schemeClr val="tx1"/>
              </a:solidFill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948" name="Object 156"/>
              <p:cNvSpPr txBox="1"/>
              <p:nvPr/>
            </p:nvSpPr>
            <p:spPr bwMode="auto">
              <a:xfrm>
                <a:off x="2693194" y="1019911"/>
                <a:ext cx="3545682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80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𝜑</m:t>
                      </m:r>
                      <m:r>
                        <m:rPr>
                          <m:sty m:val="p"/>
                        </m:rPr>
                        <a:rPr lang="en-US" altLang="zh-CN" sz="28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3948" name="Object 1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93194" y="1019911"/>
                <a:ext cx="3545682" cy="469900"/>
              </a:xfrm>
              <a:prstGeom prst="rect">
                <a:avLst/>
              </a:prstGeom>
              <a:blipFill rotWithShape="1">
                <a:blip r:embed="rId1"/>
                <a:stretch>
                  <a:fillRect l="-4" t="-21" b="2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50" name="Text Box 158"/>
          <p:cNvSpPr txBox="1">
            <a:spLocks noChangeArrowheads="1"/>
          </p:cNvSpPr>
          <p:nvPr/>
        </p:nvSpPr>
        <p:spPr bwMode="auto">
          <a:xfrm>
            <a:off x="1351013" y="1457035"/>
            <a:ext cx="1295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因此有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951" name="Object 159"/>
              <p:cNvSpPr txBox="1"/>
              <p:nvPr/>
            </p:nvSpPr>
            <p:spPr bwMode="auto">
              <a:xfrm>
                <a:off x="2379712" y="1819438"/>
                <a:ext cx="3440910" cy="1307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)​​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3951" name="Object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9712" y="1819438"/>
                <a:ext cx="3440910" cy="1307687"/>
              </a:xfrm>
              <a:prstGeom prst="rect">
                <a:avLst/>
              </a:prstGeom>
              <a:blipFill rotWithShape="1">
                <a:blip r:embed="rId2"/>
                <a:stretch>
                  <a:fillRect l="-11" t="-12" r="6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952" name="Object 160"/>
              <p:cNvSpPr txBox="1"/>
              <p:nvPr/>
            </p:nvSpPr>
            <p:spPr bwMode="auto">
              <a:xfrm>
                <a:off x="2379712" y="2948443"/>
                <a:ext cx="5208126" cy="13076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𝜑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​,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3952" name="Object 1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79712" y="2948443"/>
                <a:ext cx="5208126" cy="1307687"/>
              </a:xfrm>
              <a:prstGeom prst="rect">
                <a:avLst/>
              </a:prstGeom>
              <a:blipFill rotWithShape="1">
                <a:blip r:embed="rId3"/>
                <a:stretch>
                  <a:fillRect l="-7" t="-11" r="4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953" name="Text Box 161"/>
          <p:cNvSpPr txBox="1">
            <a:spLocks noChangeArrowheads="1"/>
          </p:cNvSpPr>
          <p:nvPr/>
        </p:nvSpPr>
        <p:spPr bwMode="auto">
          <a:xfrm>
            <a:off x="1351012" y="4152908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其中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954" name="Object 162"/>
              <p:cNvSpPr txBox="1"/>
              <p:nvPr/>
            </p:nvSpPr>
            <p:spPr bwMode="auto">
              <a:xfrm>
                <a:off x="2106467" y="4136655"/>
                <a:ext cx="7828108" cy="59869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​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3954" name="Object 1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06467" y="4136655"/>
                <a:ext cx="7828108" cy="598698"/>
              </a:xfrm>
              <a:prstGeom prst="rect">
                <a:avLst/>
              </a:prstGeom>
              <a:blipFill rotWithShape="1">
                <a:blip r:embed="rId4"/>
                <a:stretch>
                  <a:fillRect l="-2" t="-44" b="2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 Box 117"/>
          <p:cNvSpPr txBox="1">
            <a:spLocks noChangeArrowheads="1"/>
          </p:cNvSpPr>
          <p:nvPr/>
        </p:nvSpPr>
        <p:spPr bwMode="auto">
          <a:xfrm>
            <a:off x="1351012" y="4678405"/>
            <a:ext cx="2057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rgbClr val="04926A"/>
                </a:solidFill>
                <a:latin typeface="+mn-ea"/>
              </a:rPr>
              <a:t>适用范围</a:t>
            </a:r>
            <a:r>
              <a:rPr kumimoji="1" lang="en-US" altLang="zh-CN" sz="2800" dirty="0">
                <a:solidFill>
                  <a:srgbClr val="04926A"/>
                </a:solidFill>
                <a:latin typeface="+mn-ea"/>
              </a:rPr>
              <a:t>:</a:t>
            </a:r>
            <a:endParaRPr kumimoji="1" lang="en-US" altLang="zh-CN" sz="2800" dirty="0">
              <a:solidFill>
                <a:srgbClr val="04926A"/>
              </a:solidFill>
              <a:latin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对象 14"/>
              <p:cNvSpPr txBox="1"/>
              <p:nvPr/>
            </p:nvSpPr>
            <p:spPr>
              <a:xfrm>
                <a:off x="1351012" y="5723551"/>
                <a:ext cx="7421513" cy="469900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被积函数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中含有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的项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5" name="对象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012" y="5723551"/>
                <a:ext cx="7421513" cy="469900"/>
              </a:xfrm>
              <a:prstGeom prst="rect">
                <a:avLst/>
              </a:prstGeom>
              <a:blipFill rotWithShape="1">
                <a:blip r:embed="rId5"/>
                <a:stretch>
                  <a:fillRect l="-5" t="-63" b="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对象 15"/>
              <p:cNvSpPr txBox="1"/>
              <p:nvPr/>
            </p:nvSpPr>
            <p:spPr>
              <a:xfrm>
                <a:off x="1351012" y="5188914"/>
                <a:ext cx="5306963" cy="53463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积分域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为球或球的一部分；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6" name="对象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012" y="5188914"/>
                <a:ext cx="5306963" cy="534637"/>
              </a:xfrm>
              <a:prstGeom prst="rect">
                <a:avLst/>
              </a:prstGeom>
              <a:blipFill rotWithShape="1">
                <a:blip r:embed="rId6"/>
                <a:stretch>
                  <a:fillRect l="-7" t="-62" b="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 descr="图示&#10;&#10;描述已自动生成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4498" y="916911"/>
            <a:ext cx="2665788" cy="28520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39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3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3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3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3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3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4" grpId="0"/>
      <p:bldP spid="33948" grpId="0"/>
      <p:bldP spid="33950" grpId="0" autoUpdateAnimBg="0"/>
      <p:bldP spid="33951" grpId="0"/>
      <p:bldP spid="33952" grpId="0"/>
      <p:bldP spid="33953" grpId="0" autoUpdateAnimBg="0"/>
      <p:bldP spid="33954" grpId="0"/>
      <p:bldP spid="14" grpId="0" autoUpdateAnimBg="0"/>
      <p:bldP spid="15" grpId="0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2307" name="Object 19"/>
              <p:cNvSpPr txBox="1"/>
              <p:nvPr/>
            </p:nvSpPr>
            <p:spPr bwMode="auto">
              <a:xfrm>
                <a:off x="2525662" y="3237559"/>
                <a:ext cx="5427714" cy="1310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𝜑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230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25662" y="3237559"/>
                <a:ext cx="5427714" cy="1310441"/>
              </a:xfrm>
              <a:prstGeom prst="rect">
                <a:avLst/>
              </a:prstGeom>
              <a:blipFill rotWithShape="1">
                <a:blip r:embed="rId1"/>
                <a:stretch>
                  <a:fillRect l="-5" t="-25" b="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1903036" y="699143"/>
            <a:ext cx="613148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latin typeface="楷体_GB2312" pitchFamily="49" charset="-122"/>
              </a:rPr>
              <a:t>将球坐标系下的三重积分化为累次积分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692021" y="1229624"/>
            <a:ext cx="378789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</a:rPr>
              <a:t>1</a:t>
            </a:r>
            <a:r>
              <a:rPr lang="zh-CN" altLang="en-US" sz="2800" dirty="0">
                <a:latin typeface="楷体_GB2312" pitchFamily="49" charset="-122"/>
              </a:rPr>
              <a:t>）积分次序的选择：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10" name="Text Box 5"/>
          <p:cNvSpPr txBox="1">
            <a:spLocks noChangeArrowheads="1"/>
          </p:cNvSpPr>
          <p:nvPr/>
        </p:nvSpPr>
        <p:spPr bwMode="auto">
          <a:xfrm>
            <a:off x="1692021" y="1743346"/>
            <a:ext cx="342722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itchFamily="49" charset="-122"/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</a:rPr>
              <a:t>2</a:t>
            </a:r>
            <a:r>
              <a:rPr lang="zh-CN" altLang="en-US" sz="2800" dirty="0">
                <a:latin typeface="楷体_GB2312" pitchFamily="49" charset="-122"/>
              </a:rPr>
              <a:t>）积分限的确定：</a:t>
            </a:r>
            <a:endParaRPr lang="zh-CN" altLang="en-US" sz="2800" dirty="0">
              <a:latin typeface="楷体_GB2312" pitchFamily="49" charset="-122"/>
            </a:endParaRPr>
          </a:p>
        </p:txBody>
      </p:sp>
      <p:sp>
        <p:nvSpPr>
          <p:cNvPr id="11" name="Text Box 37"/>
          <p:cNvSpPr txBox="1">
            <a:spLocks noChangeArrowheads="1"/>
          </p:cNvSpPr>
          <p:nvPr/>
        </p:nvSpPr>
        <p:spPr bwMode="auto">
          <a:xfrm>
            <a:off x="4968779" y="1760837"/>
            <a:ext cx="216405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l" eaLnBrk="1" hangingPunct="1">
              <a:spcBef>
                <a:spcPct val="50000"/>
              </a:spcBef>
              <a:buFont typeface="Wingdings" panose="05000000000000000000" pitchFamily="2" charset="2"/>
              <a:buNone/>
            </a:pPr>
            <a:r>
              <a:rPr lang="zh-CN" altLang="en-US" sz="2800" dirty="0">
                <a:latin typeface="楷体_GB2312" pitchFamily="49" charset="-122"/>
              </a:rPr>
              <a:t>观察、想象．</a:t>
            </a:r>
            <a:endParaRPr lang="zh-CN" altLang="en-US" sz="2800" dirty="0">
              <a:latin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对象 2"/>
              <p:cNvSpPr txBox="1"/>
              <p:nvPr/>
            </p:nvSpPr>
            <p:spPr>
              <a:xfrm>
                <a:off x="5228355" y="1207871"/>
                <a:ext cx="5096745" cy="61277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一般选择先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再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的次序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" name="对象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8355" y="1207871"/>
                <a:ext cx="5096745" cy="612775"/>
              </a:xfrm>
              <a:prstGeom prst="rect">
                <a:avLst/>
              </a:prstGeom>
              <a:blipFill rotWithShape="1">
                <a:blip r:embed="rId2"/>
                <a:stretch>
                  <a:fillRect l="-8" t="-16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对象 3"/>
              <p:cNvSpPr txBox="1"/>
              <p:nvPr/>
            </p:nvSpPr>
            <p:spPr>
              <a:xfrm>
                <a:off x="1596548" y="2261273"/>
                <a:ext cx="9414351" cy="52444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）当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的边界曲面是一个包含原点在内的闭曲面，其球面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4" name="对象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6548" y="2261273"/>
                <a:ext cx="9414351" cy="524445"/>
              </a:xfrm>
              <a:prstGeom prst="rect">
                <a:avLst/>
              </a:prstGeom>
              <a:blipFill rotWithShape="1">
                <a:blip r:embed="rId3"/>
                <a:stretch>
                  <a:fillRect l="-2" t="-7" r="-54" b="1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对象 5"/>
              <p:cNvSpPr txBox="1"/>
              <p:nvPr/>
            </p:nvSpPr>
            <p:spPr>
              <a:xfrm>
                <a:off x="2478701" y="2785718"/>
                <a:ext cx="4265000" cy="52444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坐标方程为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701" y="2785718"/>
                <a:ext cx="4265000" cy="524446"/>
              </a:xfrm>
              <a:prstGeom prst="rect">
                <a:avLst/>
              </a:prstGeom>
              <a:blipFill rotWithShape="1">
                <a:blip r:embed="rId4"/>
                <a:stretch>
                  <a:fillRect l="-7" t="-116" b="1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对象 11"/>
              <p:cNvSpPr txBox="1"/>
              <p:nvPr/>
            </p:nvSpPr>
            <p:spPr>
              <a:xfrm>
                <a:off x="2478700" y="5452196"/>
                <a:ext cx="8609623" cy="102994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特别地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当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则可求得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的体积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2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8700" y="5452196"/>
                <a:ext cx="8609623" cy="1029947"/>
              </a:xfrm>
              <a:prstGeom prst="rect">
                <a:avLst/>
              </a:prstGeom>
              <a:blipFill rotWithShape="1">
                <a:blip r:embed="rId5"/>
                <a:stretch>
                  <a:fillRect l="-3" t="-8" r="7" b="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对象 12"/>
              <p:cNvSpPr txBox="1"/>
              <p:nvPr/>
            </p:nvSpPr>
            <p:spPr>
              <a:xfrm>
                <a:off x="2758977" y="4449836"/>
                <a:ext cx="7775673" cy="1158035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nary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)​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80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𝜑</m:t>
                          </m:r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13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8977" y="4449836"/>
                <a:ext cx="7775673" cy="1158035"/>
              </a:xfrm>
              <a:prstGeom prst="rect">
                <a:avLst/>
              </a:prstGeom>
              <a:blipFill rotWithShape="1">
                <a:blip r:embed="rId6"/>
                <a:stretch>
                  <a:fillRect l="-7" t="-34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组合 16"/>
          <p:cNvGrpSpPr/>
          <p:nvPr/>
        </p:nvGrpSpPr>
        <p:grpSpPr>
          <a:xfrm>
            <a:off x="1079416" y="614105"/>
            <a:ext cx="612775" cy="612775"/>
            <a:chOff x="1601" y="872"/>
            <a:chExt cx="965" cy="965"/>
          </a:xfrm>
        </p:grpSpPr>
        <p:sp>
          <p:nvSpPr>
            <p:cNvPr id="18" name="椭圆 17"/>
            <p:cNvSpPr/>
            <p:nvPr/>
          </p:nvSpPr>
          <p:spPr>
            <a:xfrm>
              <a:off x="1663" y="934"/>
              <a:ext cx="841" cy="841"/>
            </a:xfrm>
            <a:prstGeom prst="ellipse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sp>
          <p:nvSpPr>
            <p:cNvPr id="20" name="文本框 19"/>
            <p:cNvSpPr txBox="1"/>
            <p:nvPr/>
          </p:nvSpPr>
          <p:spPr bwMode="auto">
            <a:xfrm>
              <a:off x="1625" y="921"/>
              <a:ext cx="848" cy="8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rtlCol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注</a:t>
              </a:r>
              <a:endParaRPr lang="zh-CN" altLang="en-US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601" y="872"/>
              <a:ext cx="965" cy="965"/>
            </a:xfrm>
            <a:prstGeom prst="ellipse">
              <a:avLst/>
            </a:prstGeom>
            <a:noFill/>
            <a:ln>
              <a:solidFill>
                <a:srgbClr val="04926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07" grpId="0"/>
      <p:bldP spid="7" grpId="0" autoUpdateAnimBg="0"/>
      <p:bldP spid="8" grpId="0" autoUpdateAnimBg="0"/>
      <p:bldP spid="10" grpId="0" autoUpdateAnimBg="0"/>
      <p:bldP spid="11" grpId="0" autoUpdateAnimBg="0"/>
      <p:bldP spid="3" grpId="0"/>
      <p:bldP spid="4" grpId="0"/>
      <p:bldP spid="6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矩形 3"/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>
            <p:sp>
              <p:nvSpPr>
                <p:cNvPr id="4" name="矩形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/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/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/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/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2492" name="Rectangle 28"/>
          <p:cNvSpPr>
            <a:spLocks noGrp="1" noChangeArrowheads="1"/>
          </p:cNvSpPr>
          <p:nvPr>
            <p:ph type="title" idx="4294967295"/>
          </p:nvPr>
        </p:nvSpPr>
        <p:spPr>
          <a:xfrm>
            <a:off x="1326458" y="821067"/>
            <a:ext cx="1181100" cy="4572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l"/>
            <a:r>
              <a:rPr lang="zh-CN" altLang="en-US" sz="31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31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 </a:t>
            </a:r>
            <a:r>
              <a:rPr lang="en-US" altLang="zh-CN" sz="28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endParaRPr lang="zh-CN" altLang="en-US" sz="2800" dirty="0">
              <a:solidFill>
                <a:srgbClr val="04926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2495" name="Text Box 31"/>
          <p:cNvSpPr txBox="1">
            <a:spLocks noChangeArrowheads="1"/>
          </p:cNvSpPr>
          <p:nvPr/>
        </p:nvSpPr>
        <p:spPr bwMode="auto">
          <a:xfrm>
            <a:off x="2030915" y="1261844"/>
            <a:ext cx="496996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内接锥面所围成的立体的体积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.</a:t>
            </a:r>
            <a:endParaRPr kumimoji="1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629DD1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62497" name="Text Box 33"/>
          <p:cNvSpPr txBox="1">
            <a:spLocks noChangeArrowheads="1"/>
          </p:cNvSpPr>
          <p:nvPr/>
        </p:nvSpPr>
        <p:spPr bwMode="auto">
          <a:xfrm>
            <a:off x="1326458" y="1871839"/>
            <a:ext cx="5402901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242852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  </a:t>
            </a: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在球坐标系下空间立体所占区域为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498" name="Object 34"/>
              <p:cNvSpPr txBox="1"/>
              <p:nvPr/>
            </p:nvSpPr>
            <p:spPr bwMode="auto">
              <a:xfrm>
                <a:off x="2787695" y="2862529"/>
                <a:ext cx="476205" cy="430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𝛺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2498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87695" y="2862529"/>
                <a:ext cx="476205" cy="430887"/>
              </a:xfrm>
              <a:prstGeom prst="rect">
                <a:avLst/>
              </a:prstGeom>
              <a:blipFill rotWithShape="1">
                <a:blip r:embed="rId2"/>
                <a:stretch>
                  <a:fillRect l="-9" t="-136" b="7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499" name="Text Box 35"/>
          <p:cNvSpPr txBox="1">
            <a:spLocks noChangeArrowheads="1"/>
          </p:cNvSpPr>
          <p:nvPr/>
        </p:nvSpPr>
        <p:spPr bwMode="auto">
          <a:xfrm>
            <a:off x="2016564" y="3808164"/>
            <a:ext cx="187916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黑体" panose="02010609060101010101" pitchFamily="49" charset="-122"/>
                <a:cs typeface="+mn-cs"/>
              </a:rPr>
              <a:t>则立体体积为</a:t>
            </a: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501" name="Object 37"/>
              <p:cNvSpPr txBox="1"/>
              <p:nvPr/>
            </p:nvSpPr>
            <p:spPr bwMode="auto">
              <a:xfrm>
                <a:off x="6729359" y="4251443"/>
                <a:ext cx="1930956" cy="962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</m:sup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2501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29359" y="4251443"/>
                <a:ext cx="1930956" cy="962475"/>
              </a:xfrm>
              <a:prstGeom prst="rect">
                <a:avLst/>
              </a:prstGeom>
              <a:blipFill rotWithShape="1">
                <a:blip r:embed="rId3"/>
                <a:stretch>
                  <a:fillRect l="-14" t="-12" r="10" b="5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02" name="Object 38"/>
              <p:cNvSpPr txBox="1"/>
              <p:nvPr/>
            </p:nvSpPr>
            <p:spPr bwMode="auto">
              <a:xfrm>
                <a:off x="2246021" y="5309871"/>
                <a:ext cx="3628920" cy="9004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US" altLang="zh-CN" sz="22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func>
                        </m:e>
                      </m:nary>
                      <m:r>
                        <a:rPr lang="en-US" altLang="zh-CN" sz="220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𝜑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nor/>
                            </m:rPr>
                            <a:rPr lang="en-US" altLang="zh-CN" sz="220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2502" name="Object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6021" y="5309871"/>
                <a:ext cx="3628920" cy="900429"/>
              </a:xfrm>
              <a:prstGeom prst="rect">
                <a:avLst/>
              </a:prstGeom>
              <a:blipFill rotWithShape="1">
                <a:blip r:embed="rId4"/>
                <a:stretch>
                  <a:fillRect l="-1" r="1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03" name="Object 39"/>
              <p:cNvSpPr txBox="1"/>
              <p:nvPr/>
            </p:nvSpPr>
            <p:spPr bwMode="auto">
              <a:xfrm>
                <a:off x="5736865" y="5339775"/>
                <a:ext cx="2778485" cy="870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2503" name="Object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6865" y="5339775"/>
                <a:ext cx="2778485" cy="870525"/>
              </a:xfrm>
              <a:prstGeom prst="rect">
                <a:avLst/>
              </a:prstGeom>
              <a:blipFill rotWithShape="1">
                <a:blip r:embed="rId5"/>
                <a:stretch>
                  <a:fillRect l="-10" t="-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19" name="Object 55"/>
              <p:cNvSpPr txBox="1"/>
              <p:nvPr/>
            </p:nvSpPr>
            <p:spPr bwMode="auto">
              <a:xfrm>
                <a:off x="3381953" y="2424921"/>
                <a:ext cx="2152072" cy="503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2519" name="Object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1953" y="2424921"/>
                <a:ext cx="2152072" cy="503475"/>
              </a:xfrm>
              <a:prstGeom prst="rect">
                <a:avLst/>
              </a:prstGeom>
              <a:blipFill rotWithShape="1">
                <a:blip r:embed="rId6"/>
                <a:stretch>
                  <a:fillRect l="-27" t="-98" b="8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20" name="Object 56"/>
              <p:cNvSpPr txBox="1"/>
              <p:nvPr/>
            </p:nvSpPr>
            <p:spPr bwMode="auto">
              <a:xfrm>
                <a:off x="3381953" y="2892040"/>
                <a:ext cx="1312787" cy="503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𝜑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2520" name="Object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1953" y="2892040"/>
                <a:ext cx="1312787" cy="503475"/>
              </a:xfrm>
              <a:prstGeom prst="rect">
                <a:avLst/>
              </a:prstGeom>
              <a:blipFill rotWithShape="1">
                <a:blip r:embed="rId7"/>
                <a:stretch>
                  <a:fillRect l="-44" t="-50" r="14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21" name="Object 57"/>
              <p:cNvSpPr txBox="1"/>
              <p:nvPr/>
            </p:nvSpPr>
            <p:spPr bwMode="auto">
              <a:xfrm>
                <a:off x="3381954" y="3388928"/>
                <a:ext cx="1506398" cy="40602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2521" name="Object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81954" y="3388928"/>
                <a:ext cx="1506398" cy="406029"/>
              </a:xfrm>
              <a:prstGeom prst="rect">
                <a:avLst/>
              </a:prstGeom>
              <a:blipFill rotWithShape="1">
                <a:blip r:embed="rId8"/>
                <a:stretch>
                  <a:fillRect l="-38" t="-140" r="8" b="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23" name="Object 59"/>
              <p:cNvSpPr txBox="1"/>
              <p:nvPr/>
            </p:nvSpPr>
            <p:spPr bwMode="auto">
              <a:xfrm>
                <a:off x="5345615" y="4318600"/>
                <a:ext cx="2079205" cy="8953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  <m:e>
                          <m:func>
                            <m:func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2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US" altLang="zh-CN" sz="2200">
                                  <a:latin typeface="Cambria Math" panose="02040503050406030204" pitchFamily="18" charset="0"/>
                                  <a:ea typeface="MS Mincho" panose="02020609040205080304" charset="-128"/>
                                  <a:cs typeface="Cambria Math" panose="02040503050406030204" pitchFamily="18" charset="0"/>
                                </a:rPr>
                                <m:t>𝜑</m:t>
                              </m:r>
                            </m:e>
                          </m:func>
                          <m:r>
                            <m:rPr>
                              <m:sty m:val="p"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sz="220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𝜑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2523" name="Object 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45615" y="4318600"/>
                <a:ext cx="2079205" cy="895318"/>
              </a:xfrm>
              <a:prstGeom prst="rect">
                <a:avLst/>
              </a:prstGeom>
              <a:blipFill rotWithShape="1">
                <a:blip r:embed="rId9"/>
                <a:stretch>
                  <a:fillRect l="-9" t="-67" r="19" b="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24" name="Object 60"/>
              <p:cNvSpPr txBox="1"/>
              <p:nvPr/>
            </p:nvSpPr>
            <p:spPr bwMode="auto">
              <a:xfrm>
                <a:off x="4264729" y="4272588"/>
                <a:ext cx="1610211" cy="10556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sup>
                        <m:e>
                          <m:r>
                            <m:rPr>
                              <m:sty m:val="p"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2524" name="Object 6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4729" y="4272588"/>
                <a:ext cx="1610211" cy="1055674"/>
              </a:xfrm>
              <a:prstGeom prst="rect">
                <a:avLst/>
              </a:prstGeom>
              <a:blipFill rotWithShape="1">
                <a:blip r:embed="rId10"/>
                <a:stretch>
                  <a:fillRect l="-4" t="-29" r="34" b="5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525" name="Object 61"/>
              <p:cNvSpPr txBox="1"/>
              <p:nvPr/>
            </p:nvSpPr>
            <p:spPr bwMode="auto">
              <a:xfrm>
                <a:off x="7974765" y="3591018"/>
                <a:ext cx="2804611" cy="471114"/>
              </a:xfrm>
              <a:prstGeom prst="rect">
                <a:avLst/>
              </a:prstGeom>
              <a:noFill/>
              <a:ln w="9525">
                <a:solidFill>
                  <a:srgbClr val="04926A"/>
                </a:solidFill>
                <a:miter lim="800000"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altLang="zh-CN" sz="2200">
                              <a:latin typeface="Cambria Math" panose="02040503050406030204" pitchFamily="18" charset="0"/>
                              <a:ea typeface="MS Mincho" panose="02020609040205080304" charset="-128"/>
                              <a:cs typeface="Cambria Math" panose="02040503050406030204" pitchFamily="18" charset="0"/>
                            </a:rPr>
                            <m:t>𝜑</m:t>
                          </m:r>
                        </m:e>
                      </m:func>
                      <m:r>
                        <m:rPr>
                          <m:sty m:val="p"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  <m:r>
                        <m:rPr>
                          <m:sty m:val="p"/>
                        </m:rP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>
                          <a:latin typeface="Cambria Math" panose="02040503050406030204" pitchFamily="18" charset="0"/>
                          <a:ea typeface="MS Mincho" panose="02020609040205080304" charset="-128"/>
                          <a:cs typeface="Cambria Math" panose="02040503050406030204" pitchFamily="18" charset="0"/>
                        </a:rPr>
                        <m:t>𝜑</m:t>
                      </m:r>
                      <m:r>
                        <m:rPr>
                          <m:sty m:val="p"/>
                        </m:rPr>
                        <a:rPr lang="en-US" altLang="zh-CN" sz="22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altLang="zh-CN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62525" name="Object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74765" y="3591018"/>
                <a:ext cx="2804611" cy="471114"/>
              </a:xfrm>
              <a:prstGeom prst="rect">
                <a:avLst/>
              </a:prstGeom>
              <a:blipFill rotWithShape="1">
                <a:blip r:embed="rId11"/>
                <a:stretch>
                  <a:fillRect l="-174" t="-1098" r="-150" b="-936"/>
                </a:stretch>
              </a:blipFill>
              <a:ln w="9525">
                <a:solidFill>
                  <a:srgbClr val="04926A"/>
                </a:solidFill>
                <a:miter lim="800000"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552" name="AutoShape 88"/>
          <p:cNvSpPr/>
          <p:nvPr/>
        </p:nvSpPr>
        <p:spPr bwMode="auto">
          <a:xfrm>
            <a:off x="3263900" y="2521262"/>
            <a:ext cx="152400" cy="1219200"/>
          </a:xfrm>
          <a:prstGeom prst="leftBrace">
            <a:avLst>
              <a:gd name="adj1" fmla="val 66667"/>
              <a:gd name="adj2" fmla="val 50000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黑体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对象 1"/>
              <p:cNvSpPr txBox="1"/>
              <p:nvPr/>
            </p:nvSpPr>
            <p:spPr>
              <a:xfrm>
                <a:off x="2044984" y="760130"/>
                <a:ext cx="5353050" cy="519687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求半径为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的球面与半顶角为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的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" name="对象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4984" y="760130"/>
                <a:ext cx="5353050" cy="519687"/>
              </a:xfrm>
              <a:prstGeom prst="rect">
                <a:avLst/>
              </a:prstGeom>
              <a:blipFill rotWithShape="1">
                <a:blip r:embed="rId12"/>
                <a:stretch>
                  <a:fillRect l="-5" t="-7" r="5" b="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Object 15"/>
              <p:cNvSpPr txBox="1"/>
              <p:nvPr/>
            </p:nvSpPr>
            <p:spPr bwMode="auto">
              <a:xfrm>
                <a:off x="2036195" y="4252258"/>
                <a:ext cx="2973517" cy="1031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∭"/>
                          <m:limLoc m:val="undOvr"/>
                          <m:sup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𝛺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m:rPr>
                              <m:nor/>
                            </m:rPr>
                            <a:rPr lang="zh-CN" altLang="en-US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​</m:t>
                          </m:r>
                          <m:r>
                            <m:rPr>
                              <m:nor/>
                            </m:rPr>
                            <a:rPr lang="en-US" altLang="zh-CN" sz="22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m:rPr>
                              <m:nor/>
                            </m:rPr>
                            <a:rPr lang="en-US" altLang="zh-CN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z</m:t>
                          </m:r>
                        </m:e>
                      </m:nary>
                    </m:oMath>
                  </m:oMathPara>
                </a14:m>
                <a:endParaRPr lang="zh-CN" altLang="en-US" sz="2200" dirty="0"/>
              </a:p>
            </p:txBody>
          </p:sp>
        </mc:Choice>
        <mc:Fallback>
          <p:sp>
            <p:nvSpPr>
              <p:cNvPr id="10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6195" y="4252258"/>
                <a:ext cx="2973517" cy="1031200"/>
              </a:xfrm>
              <a:prstGeom prst="rect">
                <a:avLst/>
              </a:prstGeom>
              <a:blipFill rotWithShape="1">
                <a:blip r:embed="rId13"/>
                <a:stretch>
                  <a:fillRect l="-13" t="-29" r="7" b="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 descr="图表, 雷达图&#10;&#10;描述已自动生成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7439" y="749967"/>
            <a:ext cx="2053732" cy="27151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2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2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2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2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2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2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2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62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2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6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6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62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92" grpId="0"/>
      <p:bldP spid="62495" grpId="0" autoUpdateAnimBg="0"/>
      <p:bldP spid="62497" grpId="0" autoUpdateAnimBg="0"/>
      <p:bldP spid="62498" grpId="0"/>
      <p:bldP spid="62499" grpId="0" autoUpdateAnimBg="0"/>
      <p:bldP spid="62501" grpId="0"/>
      <p:bldP spid="62502" grpId="0"/>
      <p:bldP spid="62503" grpId="0"/>
      <p:bldP spid="62519" grpId="0"/>
      <p:bldP spid="62520" grpId="0"/>
      <p:bldP spid="62521" grpId="0"/>
      <p:bldP spid="62523" grpId="0"/>
      <p:bldP spid="62524" grpId="0"/>
      <p:bldP spid="62525" grpId="0" animBg="1"/>
      <p:bldP spid="2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PA" val="v5.2.9"/>
</p:tagLst>
</file>

<file path=ppt/tags/tag2.xml><?xml version="1.0" encoding="utf-8"?>
<p:tagLst xmlns:p="http://schemas.openxmlformats.org/presentationml/2006/main">
  <p:tag name="PA" val="v5.2.9"/>
</p:tagLst>
</file>

<file path=ppt/tags/tag3.xml><?xml version="1.0" encoding="utf-8"?>
<p:tagLst xmlns:p="http://schemas.openxmlformats.org/presentationml/2006/main">
  <p:tag name="PA" val="v5.2.9"/>
</p:tagLst>
</file>

<file path=ppt/tags/tag4.xml><?xml version="1.0" encoding="utf-8"?>
<p:tagLst xmlns:p="http://schemas.openxmlformats.org/presentationml/2006/main">
  <p:tag name="PA" val="v5.2.9"/>
</p:tagLst>
</file>

<file path=ppt/tags/tag5.xml><?xml version="1.0" encoding="utf-8"?>
<p:tagLst xmlns:p="http://schemas.openxmlformats.org/presentationml/2006/main">
  <p:tag name="PA" val="v5.2.9"/>
</p:tagLst>
</file>

<file path=ppt/tags/tag6.xml><?xml version="1.0" encoding="utf-8"?>
<p:tagLst xmlns:p="http://schemas.openxmlformats.org/presentationml/2006/main">
  <p:tag name="PA" val="v5.2.9"/>
</p:tagLst>
</file>

<file path=ppt/tags/tag7.xml><?xml version="1.0" encoding="utf-8"?>
<p:tagLst xmlns:p="http://schemas.openxmlformats.org/presentationml/2006/main">
  <p:tag name="PA" val="v5.2.9"/>
</p:tagLst>
</file>

<file path=ppt/tags/tag8.xml><?xml version="1.0" encoding="utf-8"?>
<p:tagLst xmlns:p="http://schemas.openxmlformats.org/presentationml/2006/main">
  <p:tag name="PA" val="v5.2.9"/>
</p:tagLst>
</file>

<file path=ppt/tags/tag9.xml><?xml version="1.0" encoding="utf-8"?>
<p:tagLst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cuilh纯白模板 </Template>
  <TotalTime>0</TotalTime>
  <Words>5205</Words>
  <Application>WPS 演示</Application>
  <PresentationFormat>宽屏</PresentationFormat>
  <Paragraphs>627</Paragraphs>
  <Slides>25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25</vt:i4>
      </vt:variant>
    </vt:vector>
  </HeadingPairs>
  <TitlesOfParts>
    <vt:vector size="52" baseType="lpstr">
      <vt:lpstr>Arial</vt:lpstr>
      <vt:lpstr>宋体</vt:lpstr>
      <vt:lpstr>Wingdings</vt:lpstr>
      <vt:lpstr>Calibri</vt:lpstr>
      <vt:lpstr>微软雅黑</vt:lpstr>
      <vt:lpstr>字魂36号-正文宋楷</vt:lpstr>
      <vt:lpstr>华文中宋</vt:lpstr>
      <vt:lpstr>方正大标宋简体</vt:lpstr>
      <vt:lpstr>Arial Unicode MS</vt:lpstr>
      <vt:lpstr>微软雅黑 Light</vt:lpstr>
      <vt:lpstr>Times New Roman</vt:lpstr>
      <vt:lpstr>黑体</vt:lpstr>
      <vt:lpstr>Symbol</vt:lpstr>
      <vt:lpstr>Cambria Math</vt:lpstr>
      <vt:lpstr>MS Mincho</vt:lpstr>
      <vt:lpstr>仿宋_GB2312</vt:lpstr>
      <vt:lpstr>等线</vt:lpstr>
      <vt:lpstr>楷体_GB2312</vt:lpstr>
      <vt:lpstr>新宋体</vt:lpstr>
      <vt:lpstr>仿宋</vt:lpstr>
      <vt:lpstr>Office 主题​​</vt:lpstr>
      <vt:lpstr>Equation.3</vt:lpstr>
      <vt:lpstr>Equation.3</vt:lpstr>
      <vt:lpstr>Equation.3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一、三重积分的概念</vt:lpstr>
      <vt:lpstr>PowerPoint 演示文稿</vt:lpstr>
      <vt:lpstr>PowerPoint 演示文稿</vt:lpstr>
      <vt:lpstr>PowerPoint 演示文稿</vt:lpstr>
      <vt:lpstr>二、三重积分的计算</vt:lpstr>
      <vt:lpstr>方法1.  投影法 (“先一后二” ) </vt:lpstr>
      <vt:lpstr>方法2.  截面法 (“先二后一”)</vt:lpstr>
      <vt:lpstr>方法3.  三次积分法</vt:lpstr>
      <vt:lpstr>PowerPoint 演示文稿</vt:lpstr>
      <vt:lpstr>小结: 三重积分的计算方法</vt:lpstr>
      <vt:lpstr>例1   计算三重积分</vt:lpstr>
      <vt:lpstr>例2   计算三重积分</vt:lpstr>
      <vt:lpstr>PowerPoint 演示文稿</vt:lpstr>
      <vt:lpstr>如图所示，在柱面坐标系中体积元素为</vt:lpstr>
      <vt:lpstr>例3   计算三重积分</vt:lpstr>
      <vt:lpstr>例4  计算三重积分</vt:lpstr>
      <vt:lpstr>PowerPoint 演示文稿</vt:lpstr>
      <vt:lpstr>如图所示，在球面坐标系中体积元素为</vt:lpstr>
      <vt:lpstr>PowerPoint 演示文稿</vt:lpstr>
      <vt:lpstr>例5 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 崔丽鸿</dc:creator>
  <cp:lastModifiedBy>wps</cp:lastModifiedBy>
  <cp:revision>1251</cp:revision>
  <dcterms:created xsi:type="dcterms:W3CDTF">2021-12-25T10:05:00Z</dcterms:created>
  <dcterms:modified xsi:type="dcterms:W3CDTF">2026-05-13T03:08:31Z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C11D54EC36BF4ABCA3EA94D456EAD657_12</vt:lpwstr>
  </property>
  <property fmtid="{D5CDD505-2E9C-101B-9397-08002B2CF9AE}" pid="3" name="KSOProductBuildVer">
    <vt:lpwstr>2052-12.1.0.23542</vt:lpwstr>
  </property>
</Properties>
</file>