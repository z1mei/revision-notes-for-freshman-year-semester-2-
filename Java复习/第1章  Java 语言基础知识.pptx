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tags/tag18.xml" ContentType="application/vnd.openxmlformats-officedocument.presentationml.tags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notesSlides/notesSlide9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0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1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4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6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7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8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9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20.xml" ContentType="application/vnd.openxmlformats-officedocument.presentationml.notesSlide+xml"/>
  <Override PartName="/ppt/tags/tag54.xml" ContentType="application/vnd.openxmlformats-officedocument.presentationml.tags+xml"/>
  <Override PartName="/ppt/notesSlides/notesSlide21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22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3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4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25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26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27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8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29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0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31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32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33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34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35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36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37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38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39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40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8" r:id="rId1"/>
  </p:sldMasterIdLst>
  <p:notesMasterIdLst>
    <p:notesMasterId r:id="rId60"/>
  </p:notesMasterIdLst>
  <p:handoutMasterIdLst>
    <p:handoutMasterId r:id="rId61"/>
  </p:handoutMasterIdLst>
  <p:sldIdLst>
    <p:sldId id="338" r:id="rId2"/>
    <p:sldId id="814" r:id="rId3"/>
    <p:sldId id="816" r:id="rId4"/>
    <p:sldId id="817" r:id="rId5"/>
    <p:sldId id="818" r:id="rId6"/>
    <p:sldId id="819" r:id="rId7"/>
    <p:sldId id="821" r:id="rId8"/>
    <p:sldId id="822" r:id="rId9"/>
    <p:sldId id="666" r:id="rId10"/>
    <p:sldId id="741" r:id="rId11"/>
    <p:sldId id="668" r:id="rId12"/>
    <p:sldId id="667" r:id="rId13"/>
    <p:sldId id="737" r:id="rId14"/>
    <p:sldId id="738" r:id="rId15"/>
    <p:sldId id="742" r:id="rId16"/>
    <p:sldId id="744" r:id="rId17"/>
    <p:sldId id="745" r:id="rId18"/>
    <p:sldId id="673" r:id="rId19"/>
    <p:sldId id="679" r:id="rId20"/>
    <p:sldId id="675" r:id="rId21"/>
    <p:sldId id="747" r:id="rId22"/>
    <p:sldId id="682" r:id="rId23"/>
    <p:sldId id="683" r:id="rId24"/>
    <p:sldId id="684" r:id="rId25"/>
    <p:sldId id="686" r:id="rId26"/>
    <p:sldId id="687" r:id="rId27"/>
    <p:sldId id="823" r:id="rId28"/>
    <p:sldId id="688" r:id="rId29"/>
    <p:sldId id="689" r:id="rId30"/>
    <p:sldId id="691" r:id="rId31"/>
    <p:sldId id="694" r:id="rId32"/>
    <p:sldId id="749" r:id="rId33"/>
    <p:sldId id="696" r:id="rId34"/>
    <p:sldId id="750" r:id="rId35"/>
    <p:sldId id="698" r:id="rId36"/>
    <p:sldId id="751" r:id="rId37"/>
    <p:sldId id="700" r:id="rId38"/>
    <p:sldId id="752" r:id="rId39"/>
    <p:sldId id="753" r:id="rId40"/>
    <p:sldId id="707" r:id="rId41"/>
    <p:sldId id="710" r:id="rId42"/>
    <p:sldId id="711" r:id="rId43"/>
    <p:sldId id="755" r:id="rId44"/>
    <p:sldId id="714" r:id="rId45"/>
    <p:sldId id="717" r:id="rId46"/>
    <p:sldId id="802" r:id="rId47"/>
    <p:sldId id="756" r:id="rId48"/>
    <p:sldId id="761" r:id="rId49"/>
    <p:sldId id="764" r:id="rId50"/>
    <p:sldId id="771" r:id="rId51"/>
    <p:sldId id="811" r:id="rId52"/>
    <p:sldId id="812" r:id="rId53"/>
    <p:sldId id="777" r:id="rId54"/>
    <p:sldId id="813" r:id="rId55"/>
    <p:sldId id="779" r:id="rId56"/>
    <p:sldId id="785" r:id="rId57"/>
    <p:sldId id="788" r:id="rId58"/>
    <p:sldId id="794" r:id="rId59"/>
  </p:sldIdLst>
  <p:sldSz cx="12192000" cy="6858000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FF"/>
    <a:srgbClr val="FFFF66"/>
    <a:srgbClr val="85FFFF"/>
    <a:srgbClr val="CCFFCC"/>
    <a:srgbClr val="66FFCC"/>
    <a:srgbClr val="00CC99"/>
    <a:srgbClr val="009999"/>
    <a:srgbClr val="6699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153" autoAdjust="0"/>
    <p:restoredTop sz="85225" autoAdjust="0"/>
  </p:normalViewPr>
  <p:slideViewPr>
    <p:cSldViewPr>
      <p:cViewPr>
        <p:scale>
          <a:sx n="70" d="100"/>
          <a:sy n="70" d="100"/>
        </p:scale>
        <p:origin x="-66" y="39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2060"/>
    </p:cViewPr>
  </p:sorterViewPr>
  <p:notesViewPr>
    <p:cSldViewPr>
      <p:cViewPr>
        <p:scale>
          <a:sx n="100" d="100"/>
          <a:sy n="100" d="100"/>
        </p:scale>
        <p:origin x="-1008" y="2045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C0BA3A9C-6852-46E6-9E55-7B8AEE264C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10291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83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6C1CA5B8-1141-4763-9E68-FF7CCB6E0F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0019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学习这门课之前需明白三个问题：什么是程序设计？为什么要掌握程序设计方法？为什么在</a:t>
            </a:r>
            <a:r>
              <a:rPr lang="en-US" altLang="zh-CN" dirty="0"/>
              <a:t>AI</a:t>
            </a:r>
            <a:r>
              <a:rPr lang="zh-CN" altLang="en-US" dirty="0"/>
              <a:t>时代还要学习程序设计方法？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D035D-6BCE-C98D-E751-4A160745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95DB7154-B17A-BAC2-6D2D-A78597D693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D87FCFA-805C-0BE7-8D88-B93FDAD41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71053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79A85-263E-336C-E53F-FA928FCD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24D5E32D-3C30-8B73-832A-25E73A6C9F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ACAAD77-4AE6-AD26-3326-98640006C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展示不同语言书写的程序各一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597524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5FFC-DA29-B86C-9099-793BF207E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07E857CD-6833-2F08-9B20-19475EBA79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7499D9B1-AF39-4682-7D64-816D808F8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072316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40D67-D412-1262-11EF-A4A1ECC8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B3B36320-66BC-D255-3689-C702E271B0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696A82B-BEBB-FB8F-B36B-502FE5BEBB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5598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807DF-13EC-FE12-6E54-2C1902A3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B3072E8E-816C-080F-5734-2C16E5A0C3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6D508924-B66F-05EF-2301-78C48CF59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暂且按下不表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336421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24E11-4228-F3CE-9F4E-65671A4A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292CD1A1-4764-E8BC-F8C5-D309422E49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46B8D9D-F6F5-4837-22CF-B47315E50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解释“一次编写，各处运行”含义，说明执行</a:t>
            </a:r>
            <a:r>
              <a:rPr lang="en-US" altLang="zh-CN" dirty="0"/>
              <a:t>java</a:t>
            </a:r>
            <a:r>
              <a:rPr lang="zh-CN" altLang="en-US" dirty="0"/>
              <a:t>程序的机制。编译型语言程序、解释型语言程序的执行机制，</a:t>
            </a:r>
            <a:r>
              <a:rPr lang="en-US" altLang="zh-CN" dirty="0"/>
              <a:t>java </a:t>
            </a:r>
            <a:r>
              <a:rPr lang="zh-CN" altLang="en-US" dirty="0"/>
              <a:t>程序执行机制。</a:t>
            </a:r>
          </a:p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083499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45778-4908-BE08-048F-C70658432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02FFBCF2-486E-4FA8-934B-8CBFD10309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7266D5BD-462C-C26F-784B-E78DDA5F0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解释程序各部分的含义、程序文件名称、文件扩展名等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990789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展示一个程序：九九乘法表</a:t>
            </a:r>
          </a:p>
        </p:txBody>
      </p:sp>
    </p:spTree>
    <p:extLst>
      <p:ext uri="{BB962C8B-B14F-4D97-AF65-F5344CB8AC3E}">
        <p14:creationId xmlns:p14="http://schemas.microsoft.com/office/powerpoint/2010/main" val="3141931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9424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添加一段程序展示标识符</a:t>
            </a:r>
          </a:p>
        </p:txBody>
      </p:sp>
    </p:spTree>
    <p:extLst>
      <p:ext uri="{BB962C8B-B14F-4D97-AF65-F5344CB8AC3E}">
        <p14:creationId xmlns:p14="http://schemas.microsoft.com/office/powerpoint/2010/main" val="1508685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添加一段程序展示变量和常量</a:t>
            </a:r>
          </a:p>
        </p:txBody>
      </p:sp>
    </p:spTree>
    <p:extLst>
      <p:ext uri="{BB962C8B-B14F-4D97-AF65-F5344CB8AC3E}">
        <p14:creationId xmlns:p14="http://schemas.microsoft.com/office/powerpoint/2010/main" val="29569071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775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解释不同的数据类型的类型标识，特别要注意不同数值型之间的差别。</a:t>
            </a:r>
          </a:p>
        </p:txBody>
      </p:sp>
    </p:spTree>
    <p:extLst>
      <p:ext uri="{BB962C8B-B14F-4D97-AF65-F5344CB8AC3E}">
        <p14:creationId xmlns:p14="http://schemas.microsoft.com/office/powerpoint/2010/main" val="18355169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9581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GB" sz="1200" b="1" dirty="0">
                <a:latin typeface="Times New Roman" panose="02020603050405020304" pitchFamily="18" charset="0"/>
              </a:rPr>
              <a:t>每一个字符都可以用转义序列来表示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3942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Times New Roman" panose="02020603050405020304" pitchFamily="18" charset="0"/>
              </a:rPr>
              <a:t>类 的含义与形式须等到 第</a:t>
            </a:r>
            <a:r>
              <a:rPr lang="en-US" altLang="zh-CN" sz="1200" b="1" dirty="0">
                <a:latin typeface="Times New Roman" panose="02020603050405020304" pitchFamily="18" charset="0"/>
              </a:rPr>
              <a:t>2</a:t>
            </a:r>
            <a:r>
              <a:rPr lang="zh-CN" altLang="en-US" sz="1200" b="1" dirty="0">
                <a:latin typeface="Times New Roman" panose="02020603050405020304" pitchFamily="18" charset="0"/>
              </a:rPr>
              <a:t>章 解释。</a:t>
            </a:r>
            <a:endParaRPr lang="en-US" altLang="zh-CN" sz="1200" b="1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Times New Roman" panose="02020603050405020304" pitchFamily="18" charset="0"/>
              </a:rPr>
              <a:t>但是，</a:t>
            </a:r>
            <a:r>
              <a:rPr lang="en-GB" altLang="zh-CN" sz="1200" b="1" dirty="0" err="1">
                <a:latin typeface="Times New Roman" panose="02020603050405020304" pitchFamily="18" charset="0"/>
              </a:rPr>
              <a:t>StringBuffer</a:t>
            </a:r>
            <a:r>
              <a:rPr lang="zh-CN" altLang="en-US" sz="1200" b="1" dirty="0">
                <a:latin typeface="Times New Roman" panose="02020603050405020304" pitchFamily="18" charset="0"/>
              </a:rPr>
              <a:t>类的对象的内容可变。</a:t>
            </a:r>
            <a:endParaRPr lang="en-US" altLang="zh-CN" sz="1200" b="1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Times New Roman" panose="02020603050405020304" pitchFamily="18" charset="0"/>
              </a:rPr>
              <a:t>展示 </a:t>
            </a:r>
            <a:r>
              <a:rPr lang="en-US" altLang="zh-CN" sz="1200" b="1" dirty="0">
                <a:latin typeface="Times New Roman" panose="02020603050405020304" pitchFamily="18" charset="0"/>
              </a:rPr>
              <a:t>HelloWorld.java</a:t>
            </a:r>
            <a:r>
              <a:rPr lang="zh-CN" altLang="en-US" sz="1200" b="1" dirty="0">
                <a:latin typeface="Times New Roman" panose="02020603050405020304" pitchFamily="18" charset="0"/>
              </a:rPr>
              <a:t>程序中的输出内容：双引号包括的文字</a:t>
            </a:r>
            <a:endParaRPr lang="en-GB" altLang="zh-CN" sz="1200" b="1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32332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普通加、减、乘、除 运算</a:t>
            </a:r>
          </a:p>
        </p:txBody>
      </p:sp>
    </p:spTree>
    <p:extLst>
      <p:ext uri="{BB962C8B-B14F-4D97-AF65-F5344CB8AC3E}">
        <p14:creationId xmlns:p14="http://schemas.microsoft.com/office/powerpoint/2010/main" val="34436520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83604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特别要记住表达式的形式、含义、计算规则</a:t>
            </a:r>
          </a:p>
        </p:txBody>
      </p:sp>
    </p:spTree>
    <p:extLst>
      <p:ext uri="{BB962C8B-B14F-4D97-AF65-F5344CB8AC3E}">
        <p14:creationId xmlns:p14="http://schemas.microsoft.com/office/powerpoint/2010/main" val="34243133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04FDA-A0F2-4A23-C34D-98D608CB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7B1F40-5C43-0119-0AD5-B4B120051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6413EF-2E4F-E09E-A1DE-91EDB36BB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变量类型的声明与赋值需严格确保数据类型相匹配</a:t>
            </a:r>
          </a:p>
        </p:txBody>
      </p:sp>
    </p:spTree>
    <p:extLst>
      <p:ext uri="{BB962C8B-B14F-4D97-AF65-F5344CB8AC3E}">
        <p14:creationId xmlns:p14="http://schemas.microsoft.com/office/powerpoint/2010/main" val="30338296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2609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GB" sz="1200" b="1" dirty="0">
                <a:latin typeface="Times New Roman" panose="02020603050405020304" pitchFamily="18" charset="0"/>
              </a:rPr>
              <a:t>只当一个操作数是</a:t>
            </a:r>
            <a:r>
              <a:rPr lang="en-GB" altLang="zh-CN" sz="1200" b="1" dirty="0">
                <a:latin typeface="Times New Roman" panose="02020603050405020304" pitchFamily="18" charset="0"/>
              </a:rPr>
              <a:t>String</a:t>
            </a:r>
            <a:r>
              <a:rPr lang="zh-CN" altLang="en-GB" sz="1200" b="1" dirty="0">
                <a:latin typeface="Times New Roman" panose="02020603050405020304" pitchFamily="18" charset="0"/>
              </a:rPr>
              <a:t>类型时，适用于</a:t>
            </a:r>
            <a:r>
              <a:rPr lang="en-GB" altLang="zh-CN" sz="1200" b="1" dirty="0">
                <a:latin typeface="Times New Roman" panose="02020603050405020304" pitchFamily="18" charset="0"/>
              </a:rPr>
              <a:t>+</a:t>
            </a:r>
            <a:r>
              <a:rPr lang="zh-CN" altLang="en-GB" sz="1200" b="1" dirty="0">
                <a:latin typeface="Times New Roman" panose="02020603050405020304" pitchFamily="18" charset="0"/>
              </a:rPr>
              <a:t>运算符的操作数</a:t>
            </a:r>
            <a:endParaRPr lang="en-GB" altLang="zh-CN" sz="1200" b="1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9029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 dirty="0"/>
              <a:t>数组变量声明：类型名称  </a:t>
            </a:r>
            <a:r>
              <a:rPr lang="en-US" altLang="zh-CN" dirty="0"/>
              <a:t>[] </a:t>
            </a:r>
            <a:r>
              <a:rPr lang="zh-CN" altLang="en-US" dirty="0"/>
              <a:t>变量名称</a:t>
            </a:r>
            <a:r>
              <a:rPr lang="en-US" altLang="zh-CN" dirty="0"/>
              <a:t>; </a:t>
            </a:r>
            <a:r>
              <a:rPr lang="zh-CN" altLang="en-US" dirty="0"/>
              <a:t>如  </a:t>
            </a:r>
            <a:r>
              <a:rPr lang="en-US" altLang="zh-CN" dirty="0"/>
              <a:t>int  []  data;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12223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 dirty="0"/>
              <a:t>第二章 才详细说对象，但这里需要解释基本类型与非基本类型变量分配内存的机制：基本类型变量直接对应存放数据的地址，即变量是数据在内存单元的代号；非基本类型变量是间接存放数据的地址，即变量对应的单元存放的是数据在内存单元的地址，而不是数据。</a:t>
            </a:r>
          </a:p>
        </p:txBody>
      </p:sp>
    </p:spTree>
    <p:extLst>
      <p:ext uri="{BB962C8B-B14F-4D97-AF65-F5344CB8AC3E}">
        <p14:creationId xmlns:p14="http://schemas.microsoft.com/office/powerpoint/2010/main" val="10831203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解释声明中各部分内容的意义（表明要求计算机明白要做些什么事情）</a:t>
            </a:r>
          </a:p>
        </p:txBody>
      </p:sp>
    </p:spTree>
    <p:extLst>
      <p:ext uri="{BB962C8B-B14F-4D97-AF65-F5344CB8AC3E}">
        <p14:creationId xmlns:p14="http://schemas.microsoft.com/office/powerpoint/2010/main" val="5107539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对象的引用：存放对象数据单元的地址</a:t>
            </a:r>
          </a:p>
        </p:txBody>
      </p:sp>
    </p:spTree>
    <p:extLst>
      <p:ext uri="{BB962C8B-B14F-4D97-AF65-F5344CB8AC3E}">
        <p14:creationId xmlns:p14="http://schemas.microsoft.com/office/powerpoint/2010/main" val="8112173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sz="1200" b="1" dirty="0" err="1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componets</a:t>
            </a:r>
            <a:r>
              <a:rPr lang="en-GB" altLang="zh-CN" sz="12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 number </a:t>
            </a:r>
            <a:r>
              <a:rPr lang="zh-CN" altLang="en-US" sz="12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设定长度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08181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a[] = </a:t>
            </a:r>
            <a:r>
              <a:rPr lang="en-US" altLang="zh-CN" sz="12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{22, 33, 44, 55}</a:t>
            </a:r>
            <a:r>
              <a:rPr lang="en-US" altLang="zh-CN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此方式也称静态初始化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73733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系统自动将 </a:t>
            </a:r>
            <a:r>
              <a:rPr lang="en-US" altLang="zh-CN" dirty="0"/>
              <a:t>char </a:t>
            </a:r>
            <a:r>
              <a:rPr lang="zh-CN" altLang="en-US" dirty="0"/>
              <a:t>转换成 </a:t>
            </a:r>
            <a:r>
              <a:rPr lang="en-US" altLang="zh-CN" dirty="0"/>
              <a:t>int——</a:t>
            </a:r>
            <a:r>
              <a:rPr lang="zh-CN" altLang="en-US" dirty="0"/>
              <a:t>字符对应的</a:t>
            </a:r>
            <a:r>
              <a:rPr lang="en-US" altLang="zh-CN" dirty="0"/>
              <a:t>ASCII</a:t>
            </a:r>
            <a:r>
              <a:rPr lang="zh-CN" altLang="en-US" dirty="0"/>
              <a:t>码</a:t>
            </a:r>
          </a:p>
        </p:txBody>
      </p:sp>
    </p:spTree>
    <p:extLst>
      <p:ext uri="{BB962C8B-B14F-4D97-AF65-F5344CB8AC3E}">
        <p14:creationId xmlns:p14="http://schemas.microsoft.com/office/powerpoint/2010/main" val="40105969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GB" dirty="0">
                <a:latin typeface="Times New Roman" panose="02020603050405020304" pitchFamily="18" charset="0"/>
              </a:rPr>
              <a:t>数组名是一个引用</a:t>
            </a:r>
            <a:r>
              <a:rPr lang="zh-CN" altLang="en-US" dirty="0">
                <a:latin typeface="Times New Roman" panose="02020603050405020304" pitchFamily="18" charset="0"/>
              </a:rPr>
              <a:t>，数值型数组的每个元素都是数值。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简要解释 </a:t>
            </a:r>
            <a:r>
              <a:rPr lang="en-US" altLang="zh-CN" dirty="0">
                <a:latin typeface="Times New Roman" panose="02020603050405020304" pitchFamily="18" charset="0"/>
              </a:rPr>
              <a:t>for </a:t>
            </a:r>
            <a:r>
              <a:rPr lang="zh-CN" altLang="en-US" dirty="0">
                <a:latin typeface="Times New Roman" panose="02020603050405020304" pitchFamily="18" charset="0"/>
              </a:rPr>
              <a:t>循环语句的执行逻辑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52698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字符串引用构成的数组，每个数组元素是一个引用。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6611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GB" dirty="0">
                <a:latin typeface="Times New Roman" panose="02020603050405020304" pitchFamily="18" charset="0"/>
              </a:rPr>
              <a:t>复制数组</a:t>
            </a:r>
            <a:r>
              <a:rPr lang="zh-CN" altLang="en-US" dirty="0">
                <a:latin typeface="Times New Roman" panose="02020603050405020304" pitchFamily="18" charset="0"/>
              </a:rPr>
              <a:t>或数组的部分元素</a:t>
            </a:r>
            <a:r>
              <a:rPr lang="zh-CN" altLang="en-GB" dirty="0">
                <a:latin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1411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二维数组的声明和构造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多种方式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49914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二</a:t>
            </a:r>
            <a:r>
              <a:rPr lang="zh-CN" altLang="en-GB" dirty="0">
                <a:latin typeface="Times New Roman" panose="02020603050405020304" pitchFamily="18" charset="0"/>
              </a:rPr>
              <a:t>维数组</a:t>
            </a:r>
            <a:r>
              <a:rPr lang="zh-CN" altLang="en-US" dirty="0">
                <a:latin typeface="Times New Roman" panose="02020603050405020304" pitchFamily="18" charset="0"/>
              </a:rPr>
              <a:t>的长度及每行的长度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列数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0538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9318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用一个完整的程序展示语句的执行逻辑</a:t>
            </a:r>
          </a:p>
        </p:txBody>
      </p:sp>
    </p:spTree>
    <p:extLst>
      <p:ext uri="{BB962C8B-B14F-4D97-AF65-F5344CB8AC3E}">
        <p14:creationId xmlns:p14="http://schemas.microsoft.com/office/powerpoint/2010/main" val="42383738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9523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0296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6475" y="6926263"/>
            <a:ext cx="4754563" cy="2674937"/>
          </a:xfrm>
          <a:ln/>
        </p:spPr>
      </p:sp>
      <p:sp>
        <p:nvSpPr>
          <p:cNvPr id="9830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7496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2662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946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pen-book_299"/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2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052477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/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2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093622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/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2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699596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65407-1EEB-46D9-A833-FD9CB25D86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877721B-5E8A-F63F-7D7A-DE559B9D52E9}"/>
              </a:ext>
            </a:extLst>
          </p:cNvPr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B86848F-DA02-E4C8-C528-04F3C1BAEBE9}"/>
              </a:ext>
            </a:extLst>
          </p:cNvPr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>
            <a:extLst>
              <a:ext uri="{FF2B5EF4-FFF2-40B4-BE49-F238E27FC236}">
                <a16:creationId xmlns:a16="http://schemas.microsoft.com/office/drawing/2014/main" id="{A57B1D60-CC7F-0F6B-B332-5738A7A59F43}"/>
              </a:ext>
            </a:extLst>
          </p:cNvPr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" descr="2">
            <a:extLst>
              <a:ext uri="{FF2B5EF4-FFF2-40B4-BE49-F238E27FC236}">
                <a16:creationId xmlns:a16="http://schemas.microsoft.com/office/drawing/2014/main" id="{4A261AAE-D4BA-E6CD-C999-68F4D9A9505A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722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EDD02-3C95-4CC5-A1B5-39CD513731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DD068BF-1DF7-F9DF-750C-93AA2D92893F}"/>
              </a:ext>
            </a:extLst>
          </p:cNvPr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6E001B7-BC51-4E9A-8059-EBFCA99F3EDC}"/>
              </a:ext>
            </a:extLst>
          </p:cNvPr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>
            <a:extLst>
              <a:ext uri="{FF2B5EF4-FFF2-40B4-BE49-F238E27FC236}">
                <a16:creationId xmlns:a16="http://schemas.microsoft.com/office/drawing/2014/main" id="{49D74EA6-9F4F-4782-E51F-D067ACD3856B}"/>
              </a:ext>
            </a:extLst>
          </p:cNvPr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" descr="2">
            <a:extLst>
              <a:ext uri="{FF2B5EF4-FFF2-40B4-BE49-F238E27FC236}">
                <a16:creationId xmlns:a16="http://schemas.microsoft.com/office/drawing/2014/main" id="{72E5BAFE-6434-D2BD-DE6A-4A8140EF7C77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97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圆角矩形 11"/>
          <p:cNvSpPr/>
          <p:nvPr/>
        </p:nvSpPr>
        <p:spPr bwMode="white">
          <a:xfrm>
            <a:off x="9836151" y="4060826"/>
            <a:ext cx="21336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auto">
          <a:xfrm>
            <a:off x="1775884" y="50800"/>
            <a:ext cx="103632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3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Java</a:t>
            </a:r>
            <a:r>
              <a:rPr lang="zh-CN" altLang="en-US" sz="3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语言</a:t>
            </a:r>
            <a:r>
              <a:rPr lang="zh-CN" altLang="zh-CN" sz="3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程序设计</a:t>
            </a:r>
            <a:r>
              <a:rPr lang="zh-CN" altLang="en-US" sz="3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（第</a:t>
            </a:r>
            <a:r>
              <a:rPr lang="en-US" altLang="zh-CN" sz="3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3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版）</a:t>
            </a:r>
          </a:p>
        </p:txBody>
      </p:sp>
      <p:sp>
        <p:nvSpPr>
          <p:cNvPr id="20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11093451" y="1589"/>
            <a:ext cx="99694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EE649F4-1E79-466F-AFD2-C232D4619D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20D6C33-BE63-C910-93E9-74530D3B0BF1}"/>
              </a:ext>
            </a:extLst>
          </p:cNvPr>
          <p:cNvCxnSpPr/>
          <p:nvPr userDrawn="1"/>
        </p:nvCxnSpPr>
        <p:spPr>
          <a:xfrm>
            <a:off x="0" y="692696"/>
            <a:ext cx="12193201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808680C-AC05-4386-5664-2E56F6BB9973}"/>
              </a:ext>
            </a:extLst>
          </p:cNvPr>
          <p:cNvCxnSpPr/>
          <p:nvPr userDrawn="1"/>
        </p:nvCxnSpPr>
        <p:spPr>
          <a:xfrm>
            <a:off x="0" y="764704"/>
            <a:ext cx="12193201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pen-book_299">
            <a:extLst>
              <a:ext uri="{FF2B5EF4-FFF2-40B4-BE49-F238E27FC236}">
                <a16:creationId xmlns:a16="http://schemas.microsoft.com/office/drawing/2014/main" id="{8FD0957F-5314-1D8F-CF45-8E6362D4EE5A}"/>
              </a:ext>
            </a:extLst>
          </p:cNvPr>
          <p:cNvSpPr/>
          <p:nvPr userDrawn="1"/>
        </p:nvSpPr>
        <p:spPr>
          <a:xfrm>
            <a:off x="335393" y="114432"/>
            <a:ext cx="60974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1" descr="2">
            <a:extLst>
              <a:ext uri="{FF2B5EF4-FFF2-40B4-BE49-F238E27FC236}">
                <a16:creationId xmlns:a16="http://schemas.microsoft.com/office/drawing/2014/main" id="{B4D37AC0-306B-BF3D-DE85-42228C58FC58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1524" y="188538"/>
            <a:ext cx="1666126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52041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fld id="{09D3DD41-1E0E-46B0-ABE7-D5048A3DF737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239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9" r:id="rId1"/>
    <p:sldLayoutId id="2147484450" r:id="rId2"/>
    <p:sldLayoutId id="2147484451" r:id="rId3"/>
    <p:sldLayoutId id="2147484452" r:id="rId4"/>
    <p:sldLayoutId id="2147484453" r:id="rId5"/>
    <p:sldLayoutId id="21474844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notesSlide" Target="../notesSlides/notesSlid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notesSlide" Target="../notesSlides/notesSlid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notesSlide" Target="../notesSlides/notesSlide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notesSlide" Target="../notesSlides/notesSlide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notesSlide" Target="../notesSlides/notesSlide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notesSlide" Target="../notesSlides/notesSlide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notesSlide" Target="../notesSlides/notesSlide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notesSlide" Target="../notesSlides/notesSlide2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notesSlide" Target="../notesSlides/notesSlide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notesSlide" Target="../notesSlides/notesSlide2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notesSlide" Target="../notesSlides/notesSlide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4" Type="http://schemas.openxmlformats.org/officeDocument/2006/relationships/notesSlide" Target="../notesSlides/notesSlide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notesSlide" Target="../notesSlides/notesSlide3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notesSlide" Target="../notesSlides/notesSlide3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4" Type="http://schemas.openxmlformats.org/officeDocument/2006/relationships/notesSlide" Target="../notesSlides/notesSlide3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4" Type="http://schemas.openxmlformats.org/officeDocument/2006/relationships/notesSlide" Target="../notesSlides/notesSlide3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4" Type="http://schemas.openxmlformats.org/officeDocument/2006/relationships/notesSlide" Target="../notesSlides/notesSlide3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4" Type="http://schemas.openxmlformats.org/officeDocument/2006/relationships/notesSlide" Target="../notesSlides/notesSlide3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4" Type="http://schemas.openxmlformats.org/officeDocument/2006/relationships/notesSlide" Target="../notesSlides/notesSlide3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4" Type="http://schemas.openxmlformats.org/officeDocument/2006/relationships/notesSlide" Target="../notesSlides/notesSlide3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notesSlide" Target="../notesSlides/notesSlide4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981960" y="3760471"/>
            <a:ext cx="6228080" cy="970915"/>
          </a:xfrm>
          <a:prstGeom prst="rect">
            <a:avLst/>
          </a:prstGeom>
        </p:spPr>
        <p:txBody>
          <a:bodyPr lIns="81547" tIns="40773" rIns="81547" bIns="40773"/>
          <a:lstStyle>
            <a:lvl1pPr marL="0" indent="0" algn="ctr">
              <a:buFontTx/>
              <a:buNone/>
              <a:defRPr sz="2400"/>
            </a:lvl1pPr>
          </a:lstStyle>
          <a:p>
            <a:pPr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3600" b="1" kern="0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授课教师：高平安</a:t>
            </a:r>
            <a:endParaRPr lang="en-US" altLang="zh-CN" sz="3600" b="1" kern="0" dirty="0">
              <a:solidFill>
                <a:srgbClr val="0000CC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125" name="标题 1"/>
          <p:cNvSpPr>
            <a:spLocks noGrp="1"/>
          </p:cNvSpPr>
          <p:nvPr>
            <p:ph type="ctrTitle" idx="4294967295"/>
          </p:nvPr>
        </p:nvSpPr>
        <p:spPr>
          <a:xfrm>
            <a:off x="2351584" y="1844824"/>
            <a:ext cx="7319702" cy="964406"/>
          </a:xfrm>
          <a:prstGeom prst="rect">
            <a:avLst/>
          </a:prstGeom>
        </p:spPr>
        <p:txBody>
          <a:bodyPr>
            <a:noAutofit/>
          </a:bodyPr>
          <a:lstStyle/>
          <a:p>
            <a:pPr eaLnBrk="1" hangingPunct="1"/>
            <a:r>
              <a:rPr lang="en-US" altLang="zh-CN" sz="66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Java</a:t>
            </a:r>
            <a:r>
              <a:rPr lang="zh-CN" altLang="en-US" sz="66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语言程序设计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320541" y="4939031"/>
            <a:ext cx="3775075" cy="450215"/>
          </a:xfrm>
          <a:prstGeom prst="rect">
            <a:avLst/>
          </a:prstGeom>
          <a:noFill/>
        </p:spPr>
        <p:txBody>
          <a:bodyPr wrap="square" lIns="81547" tIns="40773" rIns="81547" bIns="40773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联系电话</a:t>
            </a:r>
            <a:r>
              <a:rPr lang="en-US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: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18675968721</a:t>
            </a:r>
            <a:endParaRPr lang="zh-CN" altLang="en-US" sz="2400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203A-E34F-2D61-B9A1-01E1E6F2F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772F9C-E0FA-9954-20B2-3F77B12A0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649F4-1E79-466F-AFD2-C232D4619D34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D5505B3-1906-A0FB-28D9-C9B50D136CED}"/>
              </a:ext>
            </a:extLst>
          </p:cNvPr>
          <p:cNvSpPr txBox="1">
            <a:spLocks noChangeArrowheads="1"/>
          </p:cNvSpPr>
          <p:nvPr/>
        </p:nvSpPr>
        <p:spPr>
          <a:xfrm>
            <a:off x="2927648" y="1340768"/>
            <a:ext cx="6264696" cy="2664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fontAlgn="auto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Java</a:t>
            </a:r>
            <a:r>
              <a:rPr kumimoji="0" lang="zh-CN" altLang="en-US" sz="2800" b="1" dirty="0">
                <a:latin typeface="Times New Roman" panose="02020603050405020304" pitchFamily="18" charset="0"/>
              </a:rPr>
              <a:t>与面向对象程序设计简介</a:t>
            </a:r>
          </a:p>
          <a:p>
            <a:pPr marL="514350" indent="-514350" fontAlgn="auto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altLang="en-US" sz="2800" b="1" dirty="0" err="1">
                <a:latin typeface="Times New Roman" panose="02020603050405020304" pitchFamily="18" charset="0"/>
              </a:rPr>
              <a:t>基本数据类型与表达式</a:t>
            </a:r>
            <a:endParaRPr kumimoji="0" lang="en-US" altLang="en-US" sz="2800" b="1" dirty="0">
              <a:latin typeface="Times New Roman" panose="02020603050405020304" pitchFamily="18" charset="0"/>
            </a:endParaRPr>
          </a:p>
          <a:p>
            <a:pPr marL="514350" indent="-514350" fontAlgn="auto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数组</a:t>
            </a:r>
          </a:p>
          <a:p>
            <a:pPr marL="514350" indent="-514350" fontAlgn="auto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算法的流程控制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17F4E6E-7BCA-703C-50CC-E0D7F34AB7F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99656" y="74326"/>
            <a:ext cx="540060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 </a:t>
            </a:r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</a:t>
            </a:r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Java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语言基础知识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6D6D3AA-88F1-C5B0-36B0-BA6BFB2928AE}"/>
              </a:ext>
            </a:extLst>
          </p:cNvPr>
          <p:cNvSpPr txBox="1">
            <a:spLocks noChangeArrowheads="1"/>
          </p:cNvSpPr>
          <p:nvPr/>
        </p:nvSpPr>
        <p:spPr>
          <a:xfrm>
            <a:off x="2927648" y="1340768"/>
            <a:ext cx="6264696" cy="2664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fontAlgn="auto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Java</a:t>
            </a:r>
            <a:r>
              <a:rPr kumimoji="0" lang="zh-CN" altLang="en-US" sz="2800" b="1" dirty="0">
                <a:latin typeface="Times New Roman" panose="02020603050405020304" pitchFamily="18" charset="0"/>
              </a:rPr>
              <a:t>与面向对象程序设计简介</a:t>
            </a:r>
          </a:p>
          <a:p>
            <a:pPr marL="514350" indent="-514350" fontAlgn="auto">
              <a:lnSpc>
                <a:spcPct val="120000"/>
              </a:lnSpc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kumimoji="0" lang="en-US" alt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基本数据类型与表达式</a:t>
            </a:r>
            <a:endParaRPr kumimoji="0" lang="en-US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514350" indent="-514350" fontAlgn="auto">
              <a:lnSpc>
                <a:spcPct val="120000"/>
              </a:lnSpc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kumimoji="0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数组</a:t>
            </a:r>
          </a:p>
          <a:p>
            <a:pPr marL="514350" indent="-514350" fontAlgn="auto">
              <a:lnSpc>
                <a:spcPct val="120000"/>
              </a:lnSpc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kumimoji="0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算法的流程控制</a:t>
            </a:r>
          </a:p>
        </p:txBody>
      </p:sp>
    </p:spTree>
    <p:extLst>
      <p:ext uri="{BB962C8B-B14F-4D97-AF65-F5344CB8AC3E}">
        <p14:creationId xmlns:p14="http://schemas.microsoft.com/office/powerpoint/2010/main" val="57559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CDB-86DE-F9A6-DBB0-CDECA9EF2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5A002B-3C67-63D1-5F39-CC055744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649F4-1E79-466F-AFD2-C232D4619D34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B327ED-EC17-D409-56CD-0810E50A06A8}"/>
              </a:ext>
            </a:extLst>
          </p:cNvPr>
          <p:cNvSpPr txBox="1">
            <a:spLocks/>
          </p:cNvSpPr>
          <p:nvPr/>
        </p:nvSpPr>
        <p:spPr>
          <a:xfrm>
            <a:off x="3215680" y="1810004"/>
            <a:ext cx="3780571" cy="3087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74688" indent="-457200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机器语言</a:t>
            </a:r>
          </a:p>
          <a:p>
            <a:pPr marL="674688" indent="-457200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汇编语言</a:t>
            </a:r>
          </a:p>
          <a:p>
            <a:pPr marL="674688" indent="-457200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高级语言</a:t>
            </a:r>
          </a:p>
          <a:p>
            <a:pPr marL="674688" indent="-457200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面向对象的语言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345EB76-268A-BFEC-10DE-D2248220168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711624" y="71866"/>
            <a:ext cx="655272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1.1  Java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与面向对象程序设计简介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9A19B9-17A7-F8A1-42A4-56F4249DCE2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5360" y="980728"/>
            <a:ext cx="410415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程序设计语言发展的历程</a:t>
            </a:r>
          </a:p>
        </p:txBody>
      </p:sp>
    </p:spTree>
    <p:extLst>
      <p:ext uri="{BB962C8B-B14F-4D97-AF65-F5344CB8AC3E}">
        <p14:creationId xmlns:p14="http://schemas.microsoft.com/office/powerpoint/2010/main" val="415915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BA359-70F9-9EDD-DEF0-3EBB175CC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184EE99-56C3-5331-91F3-D957B4D8F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649F4-1E79-466F-AFD2-C232D4619D34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8717DD6-1D78-2803-041A-F29E61934A2F}"/>
              </a:ext>
            </a:extLst>
          </p:cNvPr>
          <p:cNvSpPr txBox="1">
            <a:spLocks/>
          </p:cNvSpPr>
          <p:nvPr/>
        </p:nvSpPr>
        <p:spPr>
          <a:xfrm>
            <a:off x="716818" y="1844824"/>
            <a:ext cx="10974387" cy="1368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</a:pPr>
            <a:r>
              <a:rPr kumimoji="0" lang="zh-CN" altLang="en-US" sz="2600" b="1" dirty="0">
                <a:latin typeface="Times New Roman" panose="02020603050405020304" pitchFamily="18" charset="0"/>
              </a:rPr>
              <a:t>         </a:t>
            </a:r>
            <a:r>
              <a:rPr kumimoji="0" lang="zh-CN" altLang="en-US" sz="2700" b="1" dirty="0">
                <a:latin typeface="Times New Roman" panose="02020603050405020304" pitchFamily="18" charset="0"/>
              </a:rPr>
              <a:t>将客观事物看作具有</a:t>
            </a:r>
            <a:r>
              <a:rPr kumimoji="0" lang="zh-CN" altLang="en-US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状态和行为</a:t>
            </a:r>
            <a:r>
              <a:rPr kumimoji="0" lang="zh-CN" altLang="en-US" sz="2700" b="1" dirty="0">
                <a:latin typeface="Times New Roman" panose="02020603050405020304" pitchFamily="18" charset="0"/>
              </a:rPr>
              <a:t>的对象，通过抽象找出同一类对象的共同状态和行为，构成</a:t>
            </a:r>
            <a:r>
              <a:rPr kumimoji="0" lang="zh-CN" altLang="en-US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类</a:t>
            </a:r>
            <a:r>
              <a:rPr kumimoji="0" lang="zh-CN" altLang="en-US" sz="2700" b="1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7892042-FAFD-0F78-D328-16DEB8849D7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4326"/>
            <a:ext cx="655272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1.1  Java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与面向对象程序设计简介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08D3F7-0F84-5C8D-6253-D0D673AE7D8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73600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面向对象的思想</a:t>
            </a:r>
          </a:p>
        </p:txBody>
      </p:sp>
    </p:spTree>
    <p:extLst>
      <p:ext uri="{BB962C8B-B14F-4D97-AF65-F5344CB8AC3E}">
        <p14:creationId xmlns:p14="http://schemas.microsoft.com/office/powerpoint/2010/main" val="214333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FFAD9-14CE-3D20-E60B-A7A21768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2086AA-2006-20BB-9D06-241F3F17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649F4-1E79-466F-AFD2-C232D4619D34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323A379-90AF-4BDE-153B-F21CD6CEB489}"/>
              </a:ext>
            </a:extLst>
          </p:cNvPr>
          <p:cNvSpPr txBox="1">
            <a:spLocks/>
          </p:cNvSpPr>
          <p:nvPr/>
        </p:nvSpPr>
        <p:spPr>
          <a:xfrm>
            <a:off x="3503712" y="2060848"/>
            <a:ext cx="2952328" cy="129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fontAlgn="auto"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可重用性</a:t>
            </a:r>
          </a:p>
          <a:p>
            <a:pPr marL="447675" indent="-447675" fontAlgn="auto"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可靠性 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9F91914-CECA-13EB-004D-7949AE7DFDC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4326"/>
            <a:ext cx="655272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1.1  Java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与面向对象程序设计简介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B82CE8-EDC3-E0F7-D403-2AE37C8BDBC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5904656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面向对象技术给软件发展带来的益处</a:t>
            </a:r>
          </a:p>
        </p:txBody>
      </p:sp>
    </p:spTree>
    <p:extLst>
      <p:ext uri="{BB962C8B-B14F-4D97-AF65-F5344CB8AC3E}">
        <p14:creationId xmlns:p14="http://schemas.microsoft.com/office/powerpoint/2010/main" val="295640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75DA6-0B6D-E249-C8D9-3630F11D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B15D41-0612-1973-3AED-89E82F84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649F4-1E79-466F-AFD2-C232D4619D34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D015AFE-2B0E-C252-B837-61015441FD4B}"/>
              </a:ext>
            </a:extLst>
          </p:cNvPr>
          <p:cNvSpPr txBox="1">
            <a:spLocks/>
          </p:cNvSpPr>
          <p:nvPr/>
        </p:nvSpPr>
        <p:spPr>
          <a:xfrm>
            <a:off x="3215680" y="1916832"/>
            <a:ext cx="3816424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fontAlgn="auto"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抽象和封装</a:t>
            </a:r>
          </a:p>
          <a:p>
            <a:pPr marL="447675" indent="-447675" fontAlgn="auto"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继承</a:t>
            </a:r>
          </a:p>
          <a:p>
            <a:pPr marL="447675" indent="-447675" fontAlgn="auto"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多态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58DB34C-5E75-20B6-F6BB-5FA5F12748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4326"/>
            <a:ext cx="655272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1.1  Java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与面向对象程序设计简介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9D576A-DA26-908B-9358-25B021A42E5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41761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面向对象语言的基本特征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4DE08FE-F9E1-EA3F-8547-EFB5EC704B87}"/>
              </a:ext>
            </a:extLst>
          </p:cNvPr>
          <p:cNvSpPr txBox="1">
            <a:spLocks/>
          </p:cNvSpPr>
          <p:nvPr/>
        </p:nvSpPr>
        <p:spPr>
          <a:xfrm>
            <a:off x="3215680" y="1916832"/>
            <a:ext cx="3816424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fontAlgn="auto"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抽象和</a:t>
            </a:r>
            <a:r>
              <a:rPr kumimoji="0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封装</a:t>
            </a:r>
          </a:p>
          <a:p>
            <a:pPr marL="447675" indent="-447675" fontAlgn="auto"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kumimoji="0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继承</a:t>
            </a:r>
          </a:p>
          <a:p>
            <a:pPr marL="447675" indent="-447675" fontAlgn="auto"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kumimoji="0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多态</a:t>
            </a:r>
          </a:p>
        </p:txBody>
      </p:sp>
    </p:spTree>
    <p:extLst>
      <p:ext uri="{BB962C8B-B14F-4D97-AF65-F5344CB8AC3E}">
        <p14:creationId xmlns:p14="http://schemas.microsoft.com/office/powerpoint/2010/main" val="239511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0DB31-9DE0-3746-B888-3F00F9F6B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E62EE62-57DF-1BE3-191C-17142264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649F4-1E79-466F-AFD2-C232D4619D34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9309E95-4F20-0BE4-4899-5685C8E685FC}"/>
              </a:ext>
            </a:extLst>
          </p:cNvPr>
          <p:cNvSpPr txBox="1">
            <a:spLocks/>
          </p:cNvSpPr>
          <p:nvPr/>
        </p:nvSpPr>
        <p:spPr>
          <a:xfrm>
            <a:off x="1343472" y="1687164"/>
            <a:ext cx="3600400" cy="4770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一次编写，各处运行</a:t>
            </a:r>
            <a:endParaRPr kumimoji="0"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3" descr="Java0_g2">
            <a:extLst>
              <a:ext uri="{FF2B5EF4-FFF2-40B4-BE49-F238E27FC236}">
                <a16:creationId xmlns:a16="http://schemas.microsoft.com/office/drawing/2014/main" id="{6708331C-9748-C051-EBC6-1C4AEE81F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2636912"/>
            <a:ext cx="8292541" cy="38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A2E9D6D-356A-579B-7876-25F967F3683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88813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Java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程序的跨平台特性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AF136-829D-04C7-A462-78196F97DDC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927648" y="74326"/>
            <a:ext cx="655272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1.1  Java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与面向对象程序设计简介</a:t>
            </a:r>
          </a:p>
        </p:txBody>
      </p:sp>
    </p:spTree>
    <p:extLst>
      <p:ext uri="{BB962C8B-B14F-4D97-AF65-F5344CB8AC3E}">
        <p14:creationId xmlns:p14="http://schemas.microsoft.com/office/powerpoint/2010/main" val="222649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9AC88-E966-CA56-0222-5B344BC0F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AB3DFB-6F91-A0D8-9053-5F40ABF3B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649F4-1E79-466F-AFD2-C232D4619D34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E4D9D1-BBA1-449F-64B0-4DADF7DB81F4}"/>
              </a:ext>
            </a:extLst>
          </p:cNvPr>
          <p:cNvSpPr txBox="1">
            <a:spLocks noChangeArrowheads="1"/>
          </p:cNvSpPr>
          <p:nvPr/>
        </p:nvSpPr>
        <p:spPr>
          <a:xfrm>
            <a:off x="1991544" y="1844825"/>
            <a:ext cx="8712968" cy="3240360"/>
          </a:xfrm>
          <a:prstGeom prst="rect">
            <a:avLst/>
          </a:prstGeom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0238" lvl="1" indent="-63023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public </a:t>
            </a:r>
            <a:r>
              <a:rPr kumimoji="0"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class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700" b="1" dirty="0" err="1">
                <a:latin typeface="Times New Roman" panose="02020603050405020304" pitchFamily="18" charset="0"/>
              </a:rPr>
              <a:t>HelloJava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 {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7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public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7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static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void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7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main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(</a:t>
            </a:r>
            <a:r>
              <a:rPr kumimoji="0"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String[]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700" b="1" dirty="0" err="1">
                <a:latin typeface="Times New Roman" panose="02020603050405020304" pitchFamily="18" charset="0"/>
              </a:rPr>
              <a:t>args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) {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              </a:t>
            </a:r>
            <a:r>
              <a:rPr kumimoji="0" lang="en-US" altLang="zh-CN" sz="2700" b="1" dirty="0" err="1">
                <a:latin typeface="Times New Roman" panose="02020603050405020304" pitchFamily="18" charset="0"/>
              </a:rPr>
              <a:t>System.out.println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("Hello Java!");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  }</a:t>
            </a:r>
          </a:p>
          <a:p>
            <a:pPr lvl="1" indent="-7429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281F583-D094-54B5-0E06-0986A538E1D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4326"/>
            <a:ext cx="46085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1.2  Java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程序概述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B7FFA8C-981C-5B5C-CAB3-23C6B2553DCC}"/>
              </a:ext>
            </a:extLst>
          </p:cNvPr>
          <p:cNvSpPr txBox="1">
            <a:spLocks/>
          </p:cNvSpPr>
          <p:nvPr/>
        </p:nvSpPr>
        <p:spPr>
          <a:xfrm>
            <a:off x="1127448" y="1052736"/>
            <a:ext cx="3600400" cy="4770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700" b="1" dirty="0">
                <a:latin typeface="Times New Roman" panose="02020603050405020304" pitchFamily="18" charset="0"/>
              </a:rPr>
              <a:t>例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1-1   </a:t>
            </a:r>
            <a:r>
              <a:rPr kumimoji="0" lang="zh-CN" altLang="en-US" sz="2700" b="1" dirty="0">
                <a:latin typeface="Times New Roman" panose="02020603050405020304" pitchFamily="18" charset="0"/>
              </a:rPr>
              <a:t>一个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Java</a:t>
            </a:r>
            <a:r>
              <a:rPr kumimoji="0" lang="zh-CN" altLang="en-US" sz="2700" b="1" dirty="0">
                <a:latin typeface="Times New Roman" panose="02020603050405020304" pitchFamily="18" charset="0"/>
              </a:rPr>
              <a:t>程序</a:t>
            </a:r>
          </a:p>
        </p:txBody>
      </p:sp>
    </p:spTree>
    <p:extLst>
      <p:ext uri="{BB962C8B-B14F-4D97-AF65-F5344CB8AC3E}">
        <p14:creationId xmlns:p14="http://schemas.microsoft.com/office/powerpoint/2010/main" val="877491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2"/>
          <p:cNvSpPr>
            <a:spLocks noGrp="1"/>
          </p:cNvSpPr>
          <p:nvPr>
            <p:ph idx="4294967295"/>
          </p:nvPr>
        </p:nvSpPr>
        <p:spPr>
          <a:xfrm>
            <a:off x="3359696" y="1484784"/>
            <a:ext cx="3996780" cy="2520280"/>
          </a:xfrm>
        </p:spPr>
        <p:txBody>
          <a:bodyPr>
            <a:normAutofit/>
          </a:bodyPr>
          <a:lstStyle/>
          <a:p>
            <a:pPr marL="447675" indent="-447675" eaLnBrk="1" hangingPunct="1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</a:rPr>
              <a:t>变量与常量</a:t>
            </a:r>
          </a:p>
          <a:p>
            <a:pPr marL="447675" indent="-447675" eaLnBrk="1" hangingPunct="1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</a:rPr>
              <a:t>基本数据类型</a:t>
            </a:r>
          </a:p>
          <a:p>
            <a:pPr marL="447675" indent="-447675" eaLnBrk="1" hangingPunct="1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</a:rPr>
              <a:t>运算符与表达式</a:t>
            </a:r>
          </a:p>
          <a:p>
            <a:pPr marL="447675" indent="-447675" eaLnBrk="1" hangingPunct="1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</a:rPr>
              <a:t>类型转换</a:t>
            </a:r>
          </a:p>
        </p:txBody>
      </p:sp>
      <p:sp>
        <p:nvSpPr>
          <p:cNvPr id="34819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6EF2410-1F94-408D-A99C-F6E505076D3D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4820" name="标题 4"/>
          <p:cNvSpPr txBox="1">
            <a:spLocks/>
          </p:cNvSpPr>
          <p:nvPr/>
        </p:nvSpPr>
        <p:spPr bwMode="auto">
          <a:xfrm>
            <a:off x="1703389" y="1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1ADF934F-EE63-A89A-5595-98457905D53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内容占位符 2"/>
          <p:cNvSpPr>
            <a:spLocks noGrp="1"/>
          </p:cNvSpPr>
          <p:nvPr>
            <p:ph idx="4294967295"/>
          </p:nvPr>
        </p:nvSpPr>
        <p:spPr>
          <a:xfrm>
            <a:off x="479376" y="1844824"/>
            <a:ext cx="11233248" cy="14401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700" b="1" dirty="0">
                <a:latin typeface="Times New Roman" panose="02020603050405020304" pitchFamily="18" charset="0"/>
              </a:rPr>
              <a:t>        </a:t>
            </a:r>
            <a:r>
              <a:rPr lang="zh-CN" altLang="zh-CN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文字量</a:t>
            </a:r>
            <a:r>
              <a:rPr lang="zh-CN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直接出现在程序中</a:t>
            </a:r>
            <a:r>
              <a:rPr lang="zh-CN" altLang="zh-CN" sz="2700" b="1" dirty="0">
                <a:latin typeface="Times New Roman" panose="02020603050405020304" pitchFamily="18" charset="0"/>
              </a:rPr>
              <a:t>并被编译器直接使用，比如</a:t>
            </a:r>
            <a:r>
              <a:rPr lang="en-US" altLang="zh-CN" sz="2700" b="1" dirty="0">
                <a:latin typeface="Times New Roman" panose="02020603050405020304" pitchFamily="18" charset="0"/>
              </a:rPr>
              <a:t>17</a:t>
            </a:r>
            <a:r>
              <a:rPr lang="zh-CN" altLang="zh-CN" sz="2700" b="1" dirty="0">
                <a:latin typeface="Times New Roman" panose="02020603050405020304" pitchFamily="18" charset="0"/>
              </a:rPr>
              <a:t>、</a:t>
            </a:r>
            <a:r>
              <a:rPr lang="en-GB" altLang="zh-CN" sz="2700" b="1" dirty="0">
                <a:latin typeface="Times New Roman" panose="02020603050405020304" pitchFamily="18" charset="0"/>
              </a:rPr>
              <a:t>3.14</a:t>
            </a:r>
            <a:r>
              <a:rPr lang="zh-CN" altLang="zh-CN" sz="2700" b="1" dirty="0">
                <a:latin typeface="Times New Roman" panose="02020603050405020304" pitchFamily="18" charset="0"/>
              </a:rPr>
              <a:t>。文字量也称为</a:t>
            </a:r>
            <a:r>
              <a:rPr lang="zh-CN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文字常量</a:t>
            </a:r>
            <a:r>
              <a:rPr lang="zh-CN" altLang="en-US" sz="2700" b="1" dirty="0">
                <a:latin typeface="Times New Roman" panose="02020603050405020304" pitchFamily="18" charset="0"/>
              </a:rPr>
              <a:t>。</a:t>
            </a:r>
            <a:r>
              <a:rPr lang="zh-CN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常量</a:t>
            </a:r>
            <a:r>
              <a:rPr lang="zh-CN" altLang="zh-CN" sz="2700" b="1" dirty="0">
                <a:latin typeface="Times New Roman" panose="02020603050405020304" pitchFamily="18" charset="0"/>
              </a:rPr>
              <a:t>是在其生存期内值不可改变的量。</a:t>
            </a:r>
          </a:p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513B7FB6-263D-4318-B0D4-B20F91E8EA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226C30-4867-70F5-FD49-1F5B2414E1A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511866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文字量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内容占位符 2"/>
          <p:cNvSpPr>
            <a:spLocks noGrp="1"/>
          </p:cNvSpPr>
          <p:nvPr>
            <p:ph idx="4294967295"/>
          </p:nvPr>
        </p:nvSpPr>
        <p:spPr>
          <a:xfrm>
            <a:off x="1127599" y="1700808"/>
            <a:ext cx="9433048" cy="4525963"/>
          </a:xfrm>
        </p:spPr>
        <p:txBody>
          <a:bodyPr>
            <a:normAutofit/>
          </a:bodyPr>
          <a:lstStyle/>
          <a:p>
            <a:pPr marL="447675" indent="-447675" eaLnBrk="1" hangingPunct="1"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标识符是一个名称，与内存中的某个位置（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地址</a:t>
            </a:r>
            <a:r>
              <a:rPr lang="zh-CN" altLang="en-GB" sz="2700" b="1" dirty="0">
                <a:latin typeface="Times New Roman" panose="02020603050405020304" pitchFamily="18" charset="0"/>
              </a:rPr>
              <a:t>）相对应</a:t>
            </a:r>
          </a:p>
          <a:p>
            <a:pPr marL="447675" indent="-447675" eaLnBrk="1" hangingPunct="1"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标识符的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第一个字符必须</a:t>
            </a:r>
            <a:r>
              <a:rPr lang="zh-CN" altLang="en-GB" sz="2700" b="1" dirty="0">
                <a:latin typeface="Times New Roman" panose="02020603050405020304" pitchFamily="18" charset="0"/>
              </a:rPr>
              <a:t>是下列字符之一： </a:t>
            </a:r>
          </a:p>
          <a:p>
            <a:pPr marL="896938" lvl="1" indent="-449263" eaLnBrk="1" hangingPunct="1"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大写字母 (</a:t>
            </a:r>
            <a:r>
              <a:rPr lang="en-GB" altLang="zh-CN" sz="2700" b="1" dirty="0">
                <a:latin typeface="Times New Roman" panose="02020603050405020304" pitchFamily="18" charset="0"/>
              </a:rPr>
              <a:t>A-Z) </a:t>
            </a:r>
          </a:p>
          <a:p>
            <a:pPr marL="896938" lvl="1" indent="-449263" eaLnBrk="1" hangingPunct="1"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小写字母 (</a:t>
            </a:r>
            <a:r>
              <a:rPr lang="en-GB" altLang="zh-CN" sz="2700" b="1" dirty="0">
                <a:latin typeface="Times New Roman" panose="02020603050405020304" pitchFamily="18" charset="0"/>
              </a:rPr>
              <a:t>a-z) </a:t>
            </a:r>
          </a:p>
          <a:p>
            <a:pPr marL="896938" lvl="1" indent="-449263" eaLnBrk="1" hangingPunct="1"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下划线(_) </a:t>
            </a:r>
          </a:p>
          <a:p>
            <a:pPr marL="896938" lvl="1" indent="-449263" eaLnBrk="1" hangingPunct="1"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美元符号 ($) </a:t>
            </a:r>
          </a:p>
          <a:p>
            <a:pPr marL="447675" indent="-447675" eaLnBrk="1" hangingPunct="1"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标识符的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第二个字符及后继字符</a:t>
            </a:r>
            <a:r>
              <a:rPr lang="zh-CN" altLang="en-GB" sz="2700" b="1" dirty="0">
                <a:latin typeface="Times New Roman" panose="02020603050405020304" pitchFamily="18" charset="0"/>
              </a:rPr>
              <a:t>必须是： </a:t>
            </a:r>
          </a:p>
          <a:p>
            <a:pPr marL="896938" lvl="1" indent="-449263" eaLnBrk="1" hangingPunct="1"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上述列表中的任意字符 </a:t>
            </a:r>
          </a:p>
          <a:p>
            <a:pPr marL="896938" lvl="1" indent="-449263" eaLnBrk="1" hangingPunct="1"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数字字符 (0-9) </a:t>
            </a:r>
          </a:p>
        </p:txBody>
      </p:sp>
      <p:sp>
        <p:nvSpPr>
          <p:cNvPr id="36867" name="灯片编号占位符 3"/>
          <p:cNvSpPr txBox="1">
            <a:spLocks noGrp="1"/>
          </p:cNvSpPr>
          <p:nvPr/>
        </p:nvSpPr>
        <p:spPr bwMode="auto">
          <a:xfrm>
            <a:off x="11136560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FD7F33C-6191-41AD-AEF0-0093BB310FE5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8D520F6-C2A9-01CB-480E-5DBA1FA07B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A67B5F-6C56-9C62-C79C-C4864FB2F3E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43985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标识符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2"/>
          <p:cNvSpPr>
            <a:spLocks noGrp="1"/>
          </p:cNvSpPr>
          <p:nvPr>
            <p:ph idx="4294967295"/>
          </p:nvPr>
        </p:nvSpPr>
        <p:spPr>
          <a:xfrm>
            <a:off x="1415631" y="1772816"/>
            <a:ext cx="7560840" cy="3096344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变量：</a:t>
            </a:r>
          </a:p>
          <a:p>
            <a:pPr marL="1081088" lvl="1" indent="-514350" eaLnBrk="1" hangingPunct="1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700" b="1" dirty="0">
                <a:latin typeface="Times New Roman" panose="02020603050405020304" pitchFamily="18" charset="0"/>
              </a:rPr>
              <a:t>一个由标识符命名的项；</a:t>
            </a:r>
          </a:p>
          <a:p>
            <a:pPr marL="1081088" lvl="1" indent="-514350" eaLnBrk="1" hangingPunct="1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700" b="1" dirty="0">
                <a:latin typeface="Times New Roman" panose="02020603050405020304" pitchFamily="18" charset="0"/>
              </a:rPr>
              <a:t>每个变量都有类型；</a:t>
            </a:r>
            <a:endParaRPr lang="zh-CN" altLang="en-GB" sz="2700" b="1" dirty="0">
              <a:latin typeface="Times New Roman" panose="02020603050405020304" pitchFamily="18" charset="0"/>
            </a:endParaRPr>
          </a:p>
          <a:p>
            <a:pPr marL="1081088" lvl="1" indent="-514350" eaLnBrk="1" hangingPunct="1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变量的值可以被改变</a:t>
            </a:r>
            <a:r>
              <a:rPr lang="zh-CN" altLang="en-US" sz="2700" b="1" dirty="0">
                <a:latin typeface="Times New Roman" panose="02020603050405020304" pitchFamily="18" charset="0"/>
              </a:rPr>
              <a:t>。</a:t>
            </a:r>
            <a:endParaRPr lang="zh-CN" altLang="en-GB" sz="27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常量</a:t>
            </a:r>
            <a:r>
              <a:rPr lang="zh-CN" altLang="en-US" sz="2700" b="1" dirty="0">
                <a:latin typeface="Times New Roman" panose="02020603050405020304" pitchFamily="18" charset="0"/>
              </a:rPr>
              <a:t>：</a:t>
            </a:r>
            <a:r>
              <a:rPr lang="zh-CN" altLang="en-GB" sz="2700" b="1" dirty="0">
                <a:latin typeface="Times New Roman" panose="02020603050405020304" pitchFamily="18" charset="0"/>
              </a:rPr>
              <a:t>常量一旦被初始化以后就不可改变。</a:t>
            </a:r>
          </a:p>
        </p:txBody>
      </p:sp>
      <p:sp>
        <p:nvSpPr>
          <p:cNvPr id="37891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75B8179-E9BD-47F9-B574-1E7C39636480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13CC0E8-9D07-0952-440F-94FA7D48523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B8A473-5E4E-EFBC-F54C-EB2CC01485D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01592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变量与常量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2999656" y="1988840"/>
            <a:ext cx="2736304" cy="172819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</a:rPr>
              <a:t>数值型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</a:rPr>
              <a:t>字符型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</a:rPr>
              <a:t>布尔型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F09E14C-4EAE-0566-9AAC-7954FE49EFD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7E1EA0-9410-93FF-FB95-EBEEE39EE44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基本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数据类型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180735"/>
              </p:ext>
            </p:extLst>
          </p:nvPr>
        </p:nvGraphicFramePr>
        <p:xfrm>
          <a:off x="983432" y="1988840"/>
          <a:ext cx="10517035" cy="40498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4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85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97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zh-TW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类型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说明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zh-TW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长度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</a:tabLst>
                      </a:pPr>
                      <a:r>
                        <a:rPr lang="zh-TW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最小值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最大值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7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byte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带符号微整数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TW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位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</a:tabLs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-128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127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7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short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带符号短整数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16</a:t>
                      </a:r>
                      <a:r>
                        <a:rPr lang="zh-TW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位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</a:tabLs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-2</a:t>
                      </a:r>
                      <a:r>
                        <a:rPr lang="en-US" sz="2400" b="1" baseline="300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15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en-US" sz="2400" b="1" baseline="300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-1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7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int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带符号整数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32</a:t>
                      </a:r>
                      <a:r>
                        <a:rPr lang="zh-TW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位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</a:tabLs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-2</a:t>
                      </a:r>
                      <a:r>
                        <a:rPr lang="en-US" sz="2400" b="1" baseline="300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31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en-US" sz="2400" b="1" baseline="300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31</a:t>
                      </a: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-1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7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long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带符号长整数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64</a:t>
                      </a:r>
                      <a:r>
                        <a:rPr lang="zh-TW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位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</a:tabLs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-2</a:t>
                      </a:r>
                      <a:r>
                        <a:rPr lang="en-US" sz="2400" b="1" baseline="300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63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en-US" sz="2400" b="1" baseline="300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63</a:t>
                      </a: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-1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7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float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单精度浮点数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32</a:t>
                      </a:r>
                      <a:r>
                        <a:rPr lang="zh-TW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位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</a:tabLs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-2</a:t>
                      </a:r>
                      <a:r>
                        <a:rPr lang="en-US" sz="2400" b="1" baseline="300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-149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(2-2</a:t>
                      </a:r>
                      <a:r>
                        <a:rPr lang="en-US" sz="2400" b="1" baseline="300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-23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)·2</a:t>
                      </a:r>
                      <a:r>
                        <a:rPr lang="en-US" sz="2400" b="1" baseline="300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127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8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double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双精度浮点数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  <a:tab pos="14173200" algn="l"/>
                          <a:tab pos="14630400" algn="l"/>
                        </a:tabLs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64</a:t>
                      </a:r>
                      <a:r>
                        <a:rPr lang="zh-TW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位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  <a:tab pos="13258800" algn="l"/>
                          <a:tab pos="13716000" algn="l"/>
                        </a:tabLs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en-US" sz="2400" b="1" baseline="300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-1074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(2-2</a:t>
                      </a:r>
                      <a:r>
                        <a:rPr lang="en-US" sz="2400" b="1" baseline="300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-52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)·2</a:t>
                      </a:r>
                      <a:r>
                        <a:rPr lang="en-US" sz="2400" b="1" baseline="300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1023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6394" marR="106394" marT="106394" marB="10639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3">
            <a:extLst>
              <a:ext uri="{FF2B5EF4-FFF2-40B4-BE49-F238E27FC236}">
                <a16:creationId xmlns:a16="http://schemas.microsoft.com/office/drawing/2014/main" id="{5C2251F1-D788-8ACA-5E33-459C0AC2660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B3A901-A6D4-4896-0002-75DF55717AE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36785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数值型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785992076"/>
              </p:ext>
            </p:extLst>
          </p:nvPr>
        </p:nvGraphicFramePr>
        <p:xfrm>
          <a:off x="839416" y="1844824"/>
          <a:ext cx="10646266" cy="324629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822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3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741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数据类型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37064" marR="137064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文字量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37064" marR="137064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835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byte,short,int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37064" marR="137064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十进制数，开头不为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；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0X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跟十六进制数，如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0XF1C4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；</a:t>
                      </a:r>
                    </a:p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跟八进制数，如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0726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37064" marR="137064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680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long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37064" marR="137064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同上，但后面跟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l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或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L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，如：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84l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0X1F39L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37064" marR="137064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680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float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37064" marR="137064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数字后跟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f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或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F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，如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1.23456F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1.893E2F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37064" marR="137064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680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double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37064" marR="137064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后面可选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或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做后缀，如：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1.23D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37064" marR="137064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680"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boolean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37064" marR="137064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true</a:t>
                      </a:r>
                      <a:r>
                        <a:rPr lang="zh-CN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或</a:t>
                      </a:r>
                      <a:r>
                        <a:rPr lang="en-US" sz="2400" b="1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false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37064" marR="137064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3">
            <a:extLst>
              <a:ext uri="{FF2B5EF4-FFF2-40B4-BE49-F238E27FC236}">
                <a16:creationId xmlns:a16="http://schemas.microsoft.com/office/drawing/2014/main" id="{1811E2C4-FD73-1582-8762-1FE9A7454DC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ED51F0-206E-D4B4-2882-B89F6BB92B8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36785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数值型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/>
          <p:cNvSpPr>
            <a:spLocks noGrp="1"/>
          </p:cNvSpPr>
          <p:nvPr>
            <p:ph idx="4294967295"/>
          </p:nvPr>
        </p:nvSpPr>
        <p:spPr>
          <a:xfrm>
            <a:off x="407670" y="1844824"/>
            <a:ext cx="11521280" cy="23042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700" b="1" dirty="0">
                <a:latin typeface="Times New Roman" panose="02020603050405020304" pitchFamily="18" charset="0"/>
              </a:rPr>
              <a:t>       </a:t>
            </a:r>
            <a:r>
              <a:rPr lang="zh-CN" altLang="zh-CN" sz="2700" b="1" dirty="0">
                <a:latin typeface="Times New Roman" panose="02020603050405020304" pitchFamily="18" charset="0"/>
              </a:rPr>
              <a:t>字符类型的文字量是</a:t>
            </a:r>
            <a:r>
              <a:rPr lang="zh-CN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单引号括起来</a:t>
            </a:r>
            <a:r>
              <a:rPr lang="zh-CN" altLang="zh-CN" sz="2700" b="1" dirty="0">
                <a:latin typeface="Times New Roman" panose="02020603050405020304" pitchFamily="18" charset="0"/>
              </a:rPr>
              <a:t>的字符或</a:t>
            </a:r>
            <a:r>
              <a:rPr lang="zh-CN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转义序列</a:t>
            </a:r>
            <a:r>
              <a:rPr lang="zh-CN" altLang="zh-CN" sz="2700" b="1" dirty="0">
                <a:latin typeface="Times New Roman" panose="02020603050405020304" pitchFamily="18" charset="0"/>
              </a:rPr>
              <a:t>，如：</a:t>
            </a:r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en-US" altLang="zh-CN" sz="2700" b="1" dirty="0">
                <a:latin typeface="Times New Roman" panose="02020603050405020304" pitchFamily="18" charset="0"/>
              </a:rPr>
              <a:t>Z</a:t>
            </a:r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en-US" altLang="zh-CN" sz="2700" b="1" dirty="0">
                <a:latin typeface="Times New Roman" panose="02020603050405020304" pitchFamily="18" charset="0"/>
              </a:rPr>
              <a:t>, </a:t>
            </a:r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en-US" altLang="zh-CN" sz="2700" b="1" dirty="0">
                <a:latin typeface="Times New Roman" panose="02020603050405020304" pitchFamily="18" charset="0"/>
              </a:rPr>
              <a:t>k</a:t>
            </a:r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en-US" altLang="zh-CN" sz="2700" b="1" dirty="0">
                <a:latin typeface="Times New Roman" panose="02020603050405020304" pitchFamily="18" charset="0"/>
              </a:rPr>
              <a:t>, </a:t>
            </a:r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en-US" altLang="zh-CN" sz="2700" b="1" dirty="0">
                <a:latin typeface="Times New Roman" panose="02020603050405020304" pitchFamily="18" charset="0"/>
              </a:rPr>
              <a:t>\t</a:t>
            </a:r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zh-CN" altLang="zh-CN" sz="2700" b="1" dirty="0">
                <a:latin typeface="Times New Roman" panose="02020603050405020304" pitchFamily="18" charset="0"/>
              </a:rPr>
              <a:t>。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zh-CN" sz="2700" b="1" dirty="0">
                <a:latin typeface="Times New Roman" panose="02020603050405020304" pitchFamily="18" charset="0"/>
              </a:rPr>
              <a:t>用16位的Unicode字符作为编码方式，如</a:t>
            </a:r>
            <a:r>
              <a:rPr lang="en-US" altLang="zh-TW" sz="2700" b="1" dirty="0">
                <a:latin typeface="Times New Roman" panose="02020603050405020304" pitchFamily="18" charset="0"/>
              </a:rPr>
              <a:t>:</a:t>
            </a:r>
            <a:endParaRPr lang="zh-CN" altLang="zh-CN" sz="2700" b="1" dirty="0">
              <a:latin typeface="Times New Roman" panose="02020603050405020304" pitchFamily="18" charset="0"/>
            </a:endParaRPr>
          </a:p>
          <a:p>
            <a:pPr marL="0" indent="714375">
              <a:buNone/>
            </a:pPr>
            <a:r>
              <a:rPr lang="zh-TW" altLang="zh-CN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char</a:t>
            </a:r>
            <a:r>
              <a:rPr lang="zh-TW" altLang="zh-CN" sz="2700" b="1" dirty="0">
                <a:latin typeface="Times New Roman" panose="02020603050405020304" pitchFamily="18" charset="0"/>
              </a:rPr>
              <a:t> var_char = </a:t>
            </a:r>
            <a:r>
              <a:rPr lang="en-US" altLang="zh-CN" sz="2700" b="1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zh-TW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700" b="1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zh-TW" altLang="zh-CN" sz="2700" b="1" dirty="0">
                <a:latin typeface="Times New Roman" panose="02020603050405020304" pitchFamily="18" charset="0"/>
              </a:rPr>
              <a:t>;</a:t>
            </a:r>
            <a:endParaRPr lang="zh-CN" altLang="zh-CN" sz="2700" b="1" dirty="0">
              <a:latin typeface="Times New Roman" panose="02020603050405020304" pitchFamily="18" charset="0"/>
            </a:endParaRPr>
          </a:p>
          <a:p>
            <a:pPr marL="0" indent="714375">
              <a:buNone/>
            </a:pPr>
            <a:r>
              <a:rPr lang="zh-TW" altLang="zh-CN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char</a:t>
            </a:r>
            <a:r>
              <a:rPr lang="zh-TW" altLang="zh-CN" sz="2700" b="1" dirty="0">
                <a:latin typeface="Times New Roman" panose="02020603050405020304" pitchFamily="18" charset="0"/>
              </a:rPr>
              <a:t> char_tab = </a:t>
            </a:r>
            <a:r>
              <a:rPr lang="en-US" altLang="zh-CN" sz="2700" b="1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</a:t>
            </a:r>
            <a:r>
              <a:rPr lang="zh-TW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\t</a:t>
            </a:r>
            <a:r>
              <a:rPr lang="en-US" altLang="zh-CN" sz="2700" b="1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’</a:t>
            </a:r>
            <a:r>
              <a:rPr lang="zh-TW" altLang="zh-CN" sz="2700" b="1" dirty="0">
                <a:latin typeface="Times New Roman" panose="02020603050405020304" pitchFamily="18" charset="0"/>
              </a:rPr>
              <a:t>;</a:t>
            </a:r>
            <a:endParaRPr lang="zh-CN" altLang="en-US" sz="2700" b="1" dirty="0">
              <a:latin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8F74DCF-93EF-19F7-8BCF-6602788D8DF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208BC7-7F43-C772-FD86-92E876AE185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36785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字符型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内容占位符 2"/>
          <p:cNvSpPr>
            <a:spLocks noGrp="1"/>
          </p:cNvSpPr>
          <p:nvPr>
            <p:ph idx="4294967295"/>
          </p:nvPr>
        </p:nvSpPr>
        <p:spPr>
          <a:xfrm>
            <a:off x="1631504" y="1628800"/>
            <a:ext cx="7992888" cy="5758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CN" sz="2700" b="1" dirty="0">
                <a:latin typeface="Times New Roman" panose="02020603050405020304" pitchFamily="18" charset="0"/>
              </a:rPr>
              <a:t>某些</a:t>
            </a:r>
            <a:r>
              <a:rPr lang="zh-TW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特殊的字符型常量</a:t>
            </a:r>
            <a:r>
              <a:rPr lang="zh-TW" altLang="zh-CN" sz="2700" b="1" dirty="0">
                <a:latin typeface="Times New Roman" panose="02020603050405020304" pitchFamily="18" charset="0"/>
              </a:rPr>
              <a:t>需要使用转义的形式来表示</a:t>
            </a:r>
            <a:endParaRPr lang="en-US" altLang="zh-TW" sz="2700" b="1" dirty="0">
              <a:latin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756859"/>
              </p:ext>
            </p:extLst>
          </p:nvPr>
        </p:nvGraphicFramePr>
        <p:xfrm>
          <a:off x="2999656" y="2276872"/>
          <a:ext cx="6264696" cy="4248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0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48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lang="zh-TW" sz="20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转义字符</a:t>
                      </a:r>
                      <a:endParaRPr lang="zh-CN" sz="2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</a:tabLst>
                      </a:pPr>
                      <a:r>
                        <a:rPr lang="zh-TW" sz="20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表示含义</a:t>
                      </a:r>
                      <a:endParaRPr lang="zh-CN" sz="2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7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lang="zh-TW" sz="22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\’</a:t>
                      </a:r>
                      <a:endParaRPr lang="zh-CN" sz="2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</a:tabLst>
                      </a:pPr>
                      <a:r>
                        <a:rPr lang="zh-TW" sz="20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单引号字符</a:t>
                      </a:r>
                      <a:endParaRPr lang="zh-CN" sz="2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7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lang="zh-TW" sz="22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\”</a:t>
                      </a:r>
                      <a:endParaRPr lang="zh-CN" sz="2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</a:tabLst>
                      </a:pPr>
                      <a:r>
                        <a:rPr lang="zh-TW" sz="20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双引号字符</a:t>
                      </a:r>
                      <a:endParaRPr lang="zh-CN" sz="2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8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\\</a:t>
                      </a:r>
                      <a:endParaRPr lang="zh-CN" sz="2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</a:tabLst>
                      </a:pPr>
                      <a:r>
                        <a:rPr lang="zh-TW" sz="20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反斜</a:t>
                      </a:r>
                      <a:r>
                        <a:rPr lang="zh-CN" altLang="en-US" sz="20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线</a:t>
                      </a:r>
                      <a:r>
                        <a:rPr lang="zh-TW" sz="20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字符</a:t>
                      </a:r>
                      <a:endParaRPr lang="zh-CN" sz="2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8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\r</a:t>
                      </a:r>
                      <a:endParaRPr lang="zh-CN" sz="2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</a:tabLst>
                      </a:pPr>
                      <a:r>
                        <a:rPr lang="zh-TW" sz="20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回车</a:t>
                      </a:r>
                      <a:endParaRPr lang="zh-CN" sz="2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8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\n</a:t>
                      </a:r>
                      <a:endParaRPr lang="zh-CN" sz="2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</a:tabLst>
                      </a:pPr>
                      <a:r>
                        <a:rPr lang="zh-TW" sz="20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回车并换行</a:t>
                      </a:r>
                      <a:endParaRPr lang="zh-CN" sz="2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8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\t</a:t>
                      </a:r>
                      <a:endParaRPr lang="zh-CN" sz="2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</a:tabLst>
                      </a:pPr>
                      <a:r>
                        <a:rPr lang="zh-TW" sz="20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水平制表符</a:t>
                      </a:r>
                      <a:endParaRPr lang="zh-CN" sz="2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8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\b</a:t>
                      </a:r>
                      <a:endParaRPr lang="zh-CN" sz="2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  <a:tab pos="12344400" algn="l"/>
                          <a:tab pos="12801600" algn="l"/>
                        </a:tabLst>
                      </a:pPr>
                      <a:r>
                        <a:rPr lang="zh-TW" sz="2000" b="1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退格</a:t>
                      </a:r>
                      <a:endParaRPr lang="zh-CN" sz="2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01887" marR="101887" marT="101911" marB="10191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extBox 3">
            <a:extLst>
              <a:ext uri="{FF2B5EF4-FFF2-40B4-BE49-F238E27FC236}">
                <a16:creationId xmlns:a16="http://schemas.microsoft.com/office/drawing/2014/main" id="{4CDBDEE7-D2FD-426C-C59A-3D2CCED59AD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2F444F-45B6-3EB3-30B9-9C0DD2E079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36785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字符型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内容占位符 2"/>
          <p:cNvSpPr>
            <a:spLocks noGrp="1"/>
          </p:cNvSpPr>
          <p:nvPr>
            <p:ph idx="4294967295"/>
          </p:nvPr>
        </p:nvSpPr>
        <p:spPr>
          <a:xfrm>
            <a:off x="1235611" y="1772816"/>
            <a:ext cx="8856984" cy="3456384"/>
          </a:xfrm>
        </p:spPr>
        <p:txBody>
          <a:bodyPr>
            <a:noAutofit/>
          </a:bodyPr>
          <a:lstStyle/>
          <a:p>
            <a:pPr marL="0" indent="0" eaLnBrk="1" hangingPunct="1">
              <a:buNone/>
              <a:tabLst>
                <a:tab pos="447675" algn="l"/>
              </a:tabLst>
            </a:pPr>
            <a:r>
              <a:rPr lang="zh-CN" altLang="en-GB" sz="2700" b="1" dirty="0">
                <a:latin typeface="Times New Roman" panose="02020603050405020304" pitchFamily="18" charset="0"/>
              </a:rPr>
              <a:t>布尔类型表示一个逻辑量， 有两个取值： 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true</a:t>
            </a:r>
            <a:r>
              <a:rPr lang="zh-CN" altLang="en-GB" sz="2700" b="1" dirty="0">
                <a:latin typeface="Times New Roman" panose="02020603050405020304" pitchFamily="18" charset="0"/>
              </a:rPr>
              <a:t>和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false</a:t>
            </a:r>
            <a:r>
              <a:rPr lang="zh-CN" altLang="en-US" sz="2700" b="1" dirty="0">
                <a:latin typeface="Times New Roman" panose="02020603050405020304" pitchFamily="18" charset="0"/>
              </a:rPr>
              <a:t>。</a:t>
            </a:r>
            <a:endParaRPr lang="en-GB" altLang="zh-CN" sz="2700" b="1" dirty="0">
              <a:latin typeface="Times New Roman" panose="02020603050405020304" pitchFamily="18" charset="0"/>
            </a:endParaRPr>
          </a:p>
          <a:p>
            <a:pPr marL="0" indent="447675" eaLnBrk="1" hangingPunct="1">
              <a:buNone/>
            </a:pPr>
            <a:r>
              <a:rPr lang="zh-CN" altLang="en-GB" sz="2700" b="1" dirty="0">
                <a:latin typeface="Times New Roman" panose="02020603050405020304" pitchFamily="18" charset="0"/>
              </a:rPr>
              <a:t>   例如:</a:t>
            </a:r>
          </a:p>
          <a:p>
            <a:pPr marL="357188" lvl="1" indent="447675" eaLnBrk="1" hangingPunct="1">
              <a:buNone/>
            </a:pPr>
            <a:r>
              <a:rPr lang="en-GB" altLang="zh-CN" sz="2700" b="1" dirty="0" err="1">
                <a:solidFill>
                  <a:srgbClr val="FF00FF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boolean</a:t>
            </a:r>
            <a:r>
              <a:rPr lang="en-GB" altLang="zh-CN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GB" altLang="zh-CN" sz="2700" b="1" dirty="0" err="1">
                <a:latin typeface="Times New Roman" panose="02020603050405020304" pitchFamily="18" charset="0"/>
                <a:cs typeface="Courier New" panose="02070309020205020404" pitchFamily="49" charset="0"/>
              </a:rPr>
              <a:t>is_salaried</a:t>
            </a:r>
            <a:r>
              <a:rPr lang="en-GB" altLang="zh-CN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357188" lvl="1" indent="447675" eaLnBrk="1" hangingPunct="1">
              <a:buNone/>
            </a:pPr>
            <a:r>
              <a:rPr lang="en-GB" altLang="zh-CN" sz="2700" b="1" dirty="0" err="1">
                <a:solidFill>
                  <a:srgbClr val="FF00FF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boolean</a:t>
            </a:r>
            <a:r>
              <a:rPr lang="en-GB" altLang="zh-CN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GB" altLang="zh-CN" sz="2700" b="1" dirty="0" err="1">
                <a:latin typeface="Times New Roman" panose="02020603050405020304" pitchFamily="18" charset="0"/>
                <a:cs typeface="Courier New" panose="02070309020205020404" pitchFamily="49" charset="0"/>
              </a:rPr>
              <a:t>is_hourly</a:t>
            </a:r>
            <a:r>
              <a:rPr lang="en-GB" altLang="zh-CN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357188" lvl="1" indent="447675" eaLnBrk="1" hangingPunct="1">
              <a:buNone/>
            </a:pPr>
            <a:r>
              <a:rPr lang="en-GB" altLang="zh-CN" sz="2700" b="1" dirty="0" err="1">
                <a:latin typeface="Times New Roman" panose="02020603050405020304" pitchFamily="18" charset="0"/>
                <a:cs typeface="Courier New" panose="02070309020205020404" pitchFamily="49" charset="0"/>
              </a:rPr>
              <a:t>is_salaried</a:t>
            </a:r>
            <a:r>
              <a:rPr lang="en-GB" altLang="zh-CN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lang="en-GB" altLang="zh-CN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;       //</a:t>
            </a:r>
            <a:r>
              <a:rPr lang="zh-CN" altLang="en-GB" sz="2700" b="1" dirty="0">
                <a:latin typeface="Times New Roman" panose="02020603050405020304" pitchFamily="18" charset="0"/>
              </a:rPr>
              <a:t>将 </a:t>
            </a:r>
            <a:r>
              <a:rPr lang="en-GB" altLang="zh-CN" sz="2700" b="1" dirty="0" err="1">
                <a:latin typeface="Times New Roman" panose="02020603050405020304" pitchFamily="18" charset="0"/>
              </a:rPr>
              <a:t>is_salaried</a:t>
            </a:r>
            <a:r>
              <a:rPr lang="zh-CN" altLang="en-GB" sz="2700" b="1" dirty="0">
                <a:latin typeface="Times New Roman" panose="02020603050405020304" pitchFamily="18" charset="0"/>
              </a:rPr>
              <a:t>设置为</a:t>
            </a:r>
            <a:r>
              <a:rPr lang="en-GB" altLang="zh-CN" sz="2700" b="1" dirty="0">
                <a:latin typeface="Times New Roman" panose="02020603050405020304" pitchFamily="18" charset="0"/>
              </a:rPr>
              <a:t>true</a:t>
            </a:r>
            <a:endParaRPr lang="en-GB" altLang="zh-CN" sz="2700" b="1" dirty="0"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57188" lvl="1" indent="447675" eaLnBrk="1" hangingPunct="1">
              <a:buNone/>
            </a:pPr>
            <a:r>
              <a:rPr lang="en-GB" altLang="zh-CN" sz="2700" b="1" dirty="0" err="1">
                <a:latin typeface="Times New Roman" panose="02020603050405020304" pitchFamily="18" charset="0"/>
                <a:cs typeface="Courier New" panose="02070309020205020404" pitchFamily="49" charset="0"/>
              </a:rPr>
              <a:t>is_hourly</a:t>
            </a:r>
            <a:r>
              <a:rPr lang="en-GB" altLang="zh-CN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false</a:t>
            </a:r>
            <a:r>
              <a:rPr lang="en-GB" altLang="zh-CN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;        //</a:t>
            </a:r>
            <a:r>
              <a:rPr lang="zh-CN" altLang="en-GB" sz="2700" b="1" dirty="0">
                <a:latin typeface="Times New Roman" panose="02020603050405020304" pitchFamily="18" charset="0"/>
              </a:rPr>
              <a:t>将</a:t>
            </a:r>
            <a:r>
              <a:rPr lang="en-GB" altLang="zh-CN" sz="2700" b="1" dirty="0" err="1">
                <a:latin typeface="Times New Roman" panose="02020603050405020304" pitchFamily="18" charset="0"/>
                <a:cs typeface="Courier New" panose="02070309020205020404" pitchFamily="49" charset="0"/>
              </a:rPr>
              <a:t>is_hourly</a:t>
            </a:r>
            <a:r>
              <a:rPr lang="zh-CN" altLang="en-GB" sz="2700" b="1" dirty="0">
                <a:latin typeface="Times New Roman" panose="02020603050405020304" pitchFamily="18" charset="0"/>
              </a:rPr>
              <a:t>设置为</a:t>
            </a:r>
            <a:r>
              <a:rPr lang="en-GB" altLang="zh-CN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false</a:t>
            </a:r>
            <a:r>
              <a:rPr lang="en-GB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6083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AC39357-0DBF-4DE8-8522-2528B5B60552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C7C80A8-708A-DDB3-8233-54A3ECCA2F2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FB6EFE-8626-36CE-648D-CDA1AB5F179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65588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布尔类型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内容占位符 2"/>
          <p:cNvSpPr>
            <a:spLocks noGrp="1"/>
          </p:cNvSpPr>
          <p:nvPr>
            <p:ph idx="4294967295"/>
          </p:nvPr>
        </p:nvSpPr>
        <p:spPr>
          <a:xfrm>
            <a:off x="911424" y="1628801"/>
            <a:ext cx="10822160" cy="3528392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GB" sz="2700" b="1" dirty="0">
                <a:latin typeface="Times New Roman" panose="02020603050405020304" pitchFamily="18" charset="0"/>
              </a:rPr>
              <a:t>字符串文字量</a:t>
            </a:r>
            <a:r>
              <a:rPr lang="zh-CN" altLang="en-US" sz="2700" b="1" dirty="0">
                <a:latin typeface="Times New Roman" panose="02020603050405020304" pitchFamily="18" charset="0"/>
              </a:rPr>
              <a:t>：</a:t>
            </a:r>
            <a:r>
              <a:rPr lang="zh-CN" altLang="en-GB" sz="2700" b="1" dirty="0">
                <a:latin typeface="Times New Roman" panose="02020603050405020304" pitchFamily="18" charset="0"/>
              </a:rPr>
              <a:t>由零个或多个字符组成，以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双引号括起</a:t>
            </a:r>
            <a:r>
              <a:rPr lang="zh-CN" altLang="en-US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。</a:t>
            </a:r>
            <a:endParaRPr lang="zh-CN" altLang="en-GB" sz="2700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  <a:p>
            <a:pPr marL="649287" lvl="1" indent="0" eaLnBrk="1" hangingPunct="1">
              <a:lnSpc>
                <a:spcPct val="120000"/>
              </a:lnSpc>
              <a:buNone/>
            </a:pPr>
            <a:r>
              <a:rPr lang="zh-CN" altLang="en-GB" sz="2700" b="1" dirty="0">
                <a:latin typeface="Times New Roman" panose="02020603050405020304" pitchFamily="18" charset="0"/>
              </a:rPr>
              <a:t>例如：</a:t>
            </a:r>
          </a:p>
          <a:p>
            <a:pPr marL="1343025" lvl="2" indent="-228600" eaLnBrk="1" hangingPunct="1">
              <a:lnSpc>
                <a:spcPct val="120000"/>
              </a:lnSpc>
              <a:buNone/>
            </a:pPr>
            <a:r>
              <a:rPr lang="en-GB" altLang="zh-CN" b="1" dirty="0">
                <a:latin typeface="Times New Roman" panose="02020603050405020304" pitchFamily="18" charset="0"/>
              </a:rPr>
              <a:t>""                                          // </a:t>
            </a:r>
            <a:r>
              <a:rPr lang="zh-CN" altLang="en-GB" b="1" dirty="0">
                <a:latin typeface="Times New Roman" panose="02020603050405020304" pitchFamily="18" charset="0"/>
              </a:rPr>
              <a:t>空字符串 </a:t>
            </a:r>
          </a:p>
          <a:p>
            <a:pPr marL="1343025" lvl="2" indent="-228600" eaLnBrk="1" hangingPunct="1">
              <a:lnSpc>
                <a:spcPct val="120000"/>
              </a:lnSpc>
              <a:buNone/>
            </a:pPr>
            <a:r>
              <a:rPr lang="en-GB" altLang="zh-CN" b="1" dirty="0">
                <a:latin typeface="Times New Roman" panose="02020603050405020304" pitchFamily="18" charset="0"/>
              </a:rPr>
              <a:t>"\""                                      // </a:t>
            </a:r>
            <a:r>
              <a:rPr lang="zh-CN" altLang="en-GB" b="1" dirty="0">
                <a:latin typeface="Times New Roman" panose="02020603050405020304" pitchFamily="18" charset="0"/>
              </a:rPr>
              <a:t>只包含 " 的字符串 </a:t>
            </a:r>
          </a:p>
          <a:p>
            <a:pPr marL="1343025" lvl="2" indent="-228600" eaLnBrk="1" hangingPunct="1">
              <a:lnSpc>
                <a:spcPct val="120000"/>
              </a:lnSpc>
              <a:buNone/>
            </a:pPr>
            <a:r>
              <a:rPr lang="en-GB" altLang="zh-CN" b="1" dirty="0">
                <a:latin typeface="Times New Roman" panose="02020603050405020304" pitchFamily="18" charset="0"/>
              </a:rPr>
              <a:t>"This is a string"                // </a:t>
            </a:r>
            <a:r>
              <a:rPr lang="zh-CN" altLang="en-GB" b="1" dirty="0">
                <a:latin typeface="Times New Roman" panose="02020603050405020304" pitchFamily="18" charset="0"/>
              </a:rPr>
              <a:t>有16个字符的字符串 </a:t>
            </a:r>
          </a:p>
          <a:p>
            <a:pPr marL="1343025" lvl="2" indent="-228600" eaLnBrk="1" hangingPunct="1">
              <a:lnSpc>
                <a:spcPct val="120000"/>
              </a:lnSpc>
              <a:buNone/>
            </a:pPr>
            <a:r>
              <a:rPr lang="en-GB" altLang="zh-CN" b="1" dirty="0">
                <a:latin typeface="Times New Roman" panose="02020603050405020304" pitchFamily="18" charset="0"/>
              </a:rPr>
              <a:t>"This is a " + "string"       //</a:t>
            </a:r>
            <a:r>
              <a:rPr lang="zh-CN" altLang="en-GB" b="1" dirty="0">
                <a:latin typeface="Times New Roman" panose="02020603050405020304" pitchFamily="18" charset="0"/>
              </a:rPr>
              <a:t>字符串常量表达式,由两个字符串常量组成</a:t>
            </a:r>
            <a:endParaRPr lang="en-GB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49155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F4857EB-493E-4CD9-98CC-A07AA9FCE422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7EC1440-0902-5F2E-2CD4-AF74E986B91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D902F5-07C8-8C67-6B74-A6D3494C0DC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986302"/>
            <a:ext cx="129614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字符串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内容占位符 2"/>
          <p:cNvSpPr>
            <a:spLocks noGrp="1"/>
          </p:cNvSpPr>
          <p:nvPr>
            <p:ph idx="4294967295"/>
          </p:nvPr>
        </p:nvSpPr>
        <p:spPr>
          <a:xfrm>
            <a:off x="1055440" y="1700808"/>
            <a:ext cx="9865096" cy="3024336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altLang="zh-CN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String</a:t>
            </a:r>
            <a:r>
              <a:rPr lang="en-GB" altLang="zh-CN" sz="2700" b="1" dirty="0">
                <a:latin typeface="Times New Roman" panose="02020603050405020304" pitchFamily="18" charset="0"/>
              </a:rPr>
              <a:t> </a:t>
            </a:r>
            <a:r>
              <a:rPr lang="zh-CN" altLang="en-GB" sz="2700" b="1" dirty="0">
                <a:latin typeface="Times New Roman" panose="02020603050405020304" pitchFamily="18" charset="0"/>
              </a:rPr>
              <a:t>是一个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类</a:t>
            </a:r>
            <a:r>
              <a:rPr lang="zh-CN" altLang="en-US" sz="2700" b="1" dirty="0">
                <a:latin typeface="Times New Roman" panose="02020603050405020304" pitchFamily="18" charset="0"/>
              </a:rPr>
              <a:t>；</a:t>
            </a:r>
            <a:endParaRPr lang="zh-CN" altLang="en-GB" sz="27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GB" altLang="zh-CN" sz="2700" b="1" dirty="0">
                <a:latin typeface="Times New Roman" panose="02020603050405020304" pitchFamily="18" charset="0"/>
              </a:rPr>
              <a:t>String</a:t>
            </a:r>
            <a:r>
              <a:rPr lang="zh-CN" altLang="en-GB" sz="2700" b="1" dirty="0">
                <a:latin typeface="Times New Roman" panose="02020603050405020304" pitchFamily="18" charset="0"/>
              </a:rPr>
              <a:t>类</a:t>
            </a:r>
            <a:r>
              <a:rPr lang="zh-CN" altLang="en-US" sz="2700" b="1" dirty="0">
                <a:latin typeface="Times New Roman" panose="02020603050405020304" pitchFamily="18" charset="0"/>
              </a:rPr>
              <a:t>是</a:t>
            </a:r>
            <a:r>
              <a:rPr lang="en-GB" altLang="zh-CN" sz="2700" b="1" dirty="0">
                <a:latin typeface="Times New Roman" panose="02020603050405020304" pitchFamily="18" charset="0"/>
              </a:rPr>
              <a:t>JDK</a:t>
            </a:r>
            <a:r>
              <a:rPr lang="zh-CN" altLang="en-GB" sz="2700" b="1" dirty="0">
                <a:latin typeface="Times New Roman" panose="02020603050405020304" pitchFamily="18" charset="0"/>
              </a:rPr>
              <a:t>标准类集合中的一部分</a:t>
            </a:r>
            <a:r>
              <a:rPr lang="zh-CN" altLang="en-US" sz="2700" b="1" dirty="0">
                <a:latin typeface="Times New Roman" panose="02020603050405020304" pitchFamily="18" charset="0"/>
              </a:rPr>
              <a:t>，是</a:t>
            </a:r>
            <a:r>
              <a:rPr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常量</a:t>
            </a:r>
            <a:r>
              <a:rPr lang="zh-CN" altLang="en-US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字符串类型</a:t>
            </a:r>
            <a:r>
              <a:rPr lang="zh-CN" altLang="en-US" sz="2700" b="1" dirty="0">
                <a:latin typeface="Times New Roman" panose="02020603050405020304" pitchFamily="18" charset="0"/>
              </a:rPr>
              <a:t>，一旦</a:t>
            </a:r>
            <a:r>
              <a:rPr lang="zh-CN" altLang="en-US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被初始化就</a:t>
            </a:r>
            <a:r>
              <a:rPr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不能再改变</a:t>
            </a:r>
            <a:r>
              <a:rPr lang="zh-CN" altLang="en-US" sz="2700" b="1" dirty="0">
                <a:latin typeface="Times New Roman" panose="02020603050405020304" pitchFamily="18" charset="0"/>
              </a:rPr>
              <a:t>；</a:t>
            </a:r>
            <a:endParaRPr lang="en-GB" altLang="zh-CN" sz="2700" b="1" dirty="0">
              <a:latin typeface="Times New Roman" panose="02020603050405020304" pitchFamily="18" charset="0"/>
            </a:endParaRPr>
          </a:p>
          <a:p>
            <a:pPr marL="357188" lvl="1" indent="-357188" eaLnBrk="1" hangingPunct="1">
              <a:lnSpc>
                <a:spcPct val="120000"/>
              </a:lnSpc>
              <a:buNone/>
            </a:pPr>
            <a:r>
              <a:rPr lang="en-GB" altLang="zh-CN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		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String </a:t>
            </a:r>
            <a:r>
              <a:rPr lang="en-GB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Courier New" panose="02070309020205020404" pitchFamily="49" charset="0"/>
              </a:rPr>
              <a:t>animal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GB" altLang="zh-CN" sz="2700" b="1" dirty="0">
                <a:solidFill>
                  <a:srgbClr val="00B05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"walrus"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所有字符串</a:t>
            </a:r>
            <a:r>
              <a:rPr lang="zh-CN" altLang="en-US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文字常量</a:t>
            </a:r>
            <a:r>
              <a:rPr lang="zh-CN" altLang="en-US" sz="2700" b="1" dirty="0">
                <a:latin typeface="Times New Roman" panose="02020603050405020304" pitchFamily="18" charset="0"/>
              </a:rPr>
              <a:t>都是</a:t>
            </a:r>
            <a:r>
              <a:rPr lang="en-US" altLang="zh-CN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String</a:t>
            </a:r>
            <a:r>
              <a:rPr lang="zh-CN" altLang="en-US" sz="2700" b="1" dirty="0">
                <a:latin typeface="Times New Roman" panose="02020603050405020304" pitchFamily="18" charset="0"/>
              </a:rPr>
              <a:t>类型，例如</a:t>
            </a:r>
            <a:r>
              <a:rPr lang="en-GB" altLang="zh-CN" sz="2700" b="1" dirty="0">
                <a:solidFill>
                  <a:srgbClr val="00B05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" </a:t>
            </a:r>
            <a:r>
              <a:rPr lang="en-US" altLang="zh-CN" sz="2700" b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abc</a:t>
            </a:r>
            <a:r>
              <a:rPr lang="en-GB" altLang="zh-CN" sz="2700" b="1" dirty="0">
                <a:solidFill>
                  <a:srgbClr val="00B05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 " </a:t>
            </a:r>
            <a:r>
              <a:rPr lang="zh-CN" altLang="en-US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，</a:t>
            </a:r>
            <a:r>
              <a:rPr lang="en-GB" altLang="zh-CN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GB" altLang="zh-CN" sz="2700" b="1" dirty="0">
                <a:solidFill>
                  <a:srgbClr val="00B05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zh-CN" altLang="en-US" sz="2700" b="1" dirty="0">
                <a:solidFill>
                  <a:srgbClr val="00B05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平安</a:t>
            </a:r>
            <a:r>
              <a:rPr lang="en-GB" altLang="zh-CN" sz="2700" b="1" dirty="0">
                <a:solidFill>
                  <a:srgbClr val="00B05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" </a:t>
            </a:r>
            <a:r>
              <a:rPr lang="zh-CN" altLang="en-US" sz="27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。</a:t>
            </a:r>
            <a:endParaRPr lang="en-US" altLang="zh-CN" sz="2700" b="1" dirty="0">
              <a:latin typeface="Times New Roman" panose="02020603050405020304" pitchFamily="18" charset="0"/>
            </a:endParaRPr>
          </a:p>
        </p:txBody>
      </p:sp>
      <p:sp>
        <p:nvSpPr>
          <p:cNvPr id="48131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F57744C-2001-46A6-8719-BB67D180D757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10D3FF17-2E8D-57EB-E7D7-3D96F364C6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047E4B-5579-B582-D0D8-7A8F57D9BC9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986302"/>
            <a:ext cx="129614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字符串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2557076" y="1794520"/>
            <a:ext cx="3178884" cy="3362672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700" b="1" dirty="0">
                <a:latin typeface="Times New Roman" panose="02020603050405020304" pitchFamily="18" charset="0"/>
              </a:rPr>
              <a:t>算术运算符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GB" sz="2700" b="1" dirty="0">
                <a:latin typeface="Times New Roman" panose="02020603050405020304" pitchFamily="18" charset="0"/>
              </a:rPr>
              <a:t>赋值运算符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GB" sz="2700" b="1" dirty="0">
                <a:latin typeface="Times New Roman" panose="02020603050405020304" pitchFamily="18" charset="0"/>
              </a:rPr>
              <a:t>关系运算符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GB" sz="2700" b="1" dirty="0">
                <a:latin typeface="Times New Roman" panose="02020603050405020304" pitchFamily="18" charset="0"/>
              </a:rPr>
              <a:t>逻辑运算符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700" b="1" dirty="0">
                <a:latin typeface="Times New Roman" panose="02020603050405020304" pitchFamily="18" charset="0"/>
              </a:rPr>
              <a:t>条件运算符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504092B-EE18-49EA-118F-6EB3E884A56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107A90-750A-B992-8BFA-58D9AE5B7C5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73600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运算符与表达式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4D171E5-0E78-4AAE-BF8B-7670CEBC8B32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631504" y="1844824"/>
            <a:ext cx="5976664" cy="2952328"/>
          </a:xfrm>
        </p:spPr>
        <p:txBody>
          <a:bodyPr>
            <a:noAutofit/>
          </a:bodyPr>
          <a:lstStyle/>
          <a:p>
            <a:pPr marL="538163" indent="-45720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运算符 ++ 和 --</a:t>
            </a:r>
          </a:p>
          <a:p>
            <a:pPr marL="538163" lvl="1" indent="0" eaLnBrk="1" hangingPunct="1">
              <a:lnSpc>
                <a:spcPct val="110000"/>
              </a:lnSpc>
              <a:buNone/>
            </a:pPr>
            <a:r>
              <a:rPr lang="zh-CN" altLang="en-GB" sz="2700" b="1" dirty="0">
                <a:latin typeface="Times New Roman" panose="02020603050405020304" pitchFamily="18" charset="0"/>
              </a:rPr>
              <a:t>例如</a:t>
            </a:r>
            <a:r>
              <a:rPr lang="zh-CN" altLang="en-US" sz="2700" b="1" dirty="0">
                <a:latin typeface="Times New Roman" panose="02020603050405020304" pitchFamily="18" charset="0"/>
              </a:rPr>
              <a:t>：</a:t>
            </a:r>
            <a:r>
              <a:rPr lang="en-US" altLang="zh-CN" sz="2700" b="1" dirty="0">
                <a:latin typeface="Times New Roman" panose="02020603050405020304" pitchFamily="18" charset="0"/>
              </a:rPr>
              <a:t>int </a:t>
            </a:r>
            <a:r>
              <a:rPr lang="en-US" altLang="zh-CN" sz="2700" b="1" dirty="0" err="1">
                <a:latin typeface="Times New Roman" panose="02020603050405020304" pitchFamily="18" charset="0"/>
              </a:rPr>
              <a:t>i</a:t>
            </a:r>
            <a:r>
              <a:rPr lang="en-US" altLang="zh-CN" sz="2700" b="1" dirty="0">
                <a:latin typeface="Times New Roman" panose="02020603050405020304" pitchFamily="18" charset="0"/>
              </a:rPr>
              <a:t>=0, j=0;   j=</a:t>
            </a:r>
            <a:r>
              <a:rPr lang="en-US" altLang="zh-CN" sz="2700" b="1" dirty="0" err="1">
                <a:latin typeface="Times New Roman" panose="02020603050405020304" pitchFamily="18" charset="0"/>
              </a:rPr>
              <a:t>i</a:t>
            </a:r>
            <a:r>
              <a:rPr lang="en-US" altLang="zh-CN" sz="2700" b="1" dirty="0">
                <a:latin typeface="Times New Roman" panose="02020603050405020304" pitchFamily="18" charset="0"/>
              </a:rPr>
              <a:t>++;  j=--</a:t>
            </a:r>
            <a:r>
              <a:rPr lang="en-US" altLang="zh-CN" sz="2700" b="1" dirty="0" err="1">
                <a:latin typeface="Times New Roman" panose="02020603050405020304" pitchFamily="18" charset="0"/>
              </a:rPr>
              <a:t>i</a:t>
            </a:r>
            <a:r>
              <a:rPr lang="en-US" altLang="zh-CN" sz="2700" b="1" dirty="0">
                <a:latin typeface="Times New Roman" panose="02020603050405020304" pitchFamily="18" charset="0"/>
              </a:rPr>
              <a:t>;</a:t>
            </a:r>
          </a:p>
          <a:p>
            <a:pPr marL="538163" indent="-45720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一元运算符 + 和 –</a:t>
            </a:r>
          </a:p>
          <a:p>
            <a:pPr marL="538163" indent="-45720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加法运算符 + 和 -</a:t>
            </a:r>
          </a:p>
          <a:p>
            <a:pPr marL="538163" indent="-45720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乘法运算符 *, /, 和 % </a:t>
            </a:r>
            <a:endParaRPr lang="en-US" altLang="zh-CN" sz="2700" b="1" dirty="0"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7F2BF-025B-46DE-B965-067A5EA1851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CE599D-EF1B-1408-07A1-A249A38736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算术运算符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24EB662-18CA-4C87-ADFA-27D4E17C48D0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1199456" y="1700808"/>
            <a:ext cx="10225136" cy="2448272"/>
          </a:xfrm>
        </p:spPr>
        <p:txBody>
          <a:bodyPr>
            <a:normAutofit/>
          </a:bodyPr>
          <a:lstStyle/>
          <a:p>
            <a:pPr marL="457200" indent="-45720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简单赋值运算符 =</a:t>
            </a:r>
          </a:p>
          <a:p>
            <a:pPr marL="457200" indent="-45720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复合赋值运算符</a:t>
            </a:r>
            <a:r>
              <a:rPr lang="en-US" altLang="zh-CN" sz="2700" b="1" dirty="0">
                <a:latin typeface="Times New Roman" panose="02020603050405020304" pitchFamily="18" charset="0"/>
              </a:rPr>
              <a:t>:</a:t>
            </a:r>
            <a:endParaRPr lang="zh-CN" altLang="en-GB" sz="2700" b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*=   /=   %=   +=   -=   &lt;&lt;=   &gt;&gt;=   &gt;&gt;&gt;=   &amp;=   ^=   |= </a:t>
            </a:r>
          </a:p>
          <a:p>
            <a:pPr lvl="1" eaLnBrk="1" hangingPunct="1">
              <a:lnSpc>
                <a:spcPct val="120000"/>
              </a:lnSpc>
              <a:buNone/>
            </a:pPr>
            <a:r>
              <a:rPr lang="en-GB" altLang="zh-CN" sz="2700" b="1" i="1" dirty="0">
                <a:latin typeface="Times New Roman" panose="02020603050405020304" pitchFamily="18" charset="0"/>
              </a:rPr>
              <a:t>E1</a:t>
            </a:r>
            <a:r>
              <a:rPr lang="en-GB" altLang="zh-CN" sz="2700" b="1" dirty="0">
                <a:latin typeface="Times New Roman" panose="02020603050405020304" pitchFamily="18" charset="0"/>
              </a:rPr>
              <a:t> </a:t>
            </a:r>
            <a:r>
              <a:rPr lang="en-GB" altLang="zh-CN" sz="2700" b="1" i="1" dirty="0">
                <a:latin typeface="Times New Roman" panose="02020603050405020304" pitchFamily="18" charset="0"/>
              </a:rPr>
              <a:t>op</a:t>
            </a:r>
            <a:r>
              <a:rPr lang="en-GB" altLang="zh-CN" sz="2700" b="1" dirty="0">
                <a:latin typeface="Times New Roman" panose="02020603050405020304" pitchFamily="18" charset="0"/>
              </a:rPr>
              <a:t>= </a:t>
            </a:r>
            <a:r>
              <a:rPr lang="en-GB" altLang="zh-CN" sz="2700" b="1" i="1" dirty="0">
                <a:latin typeface="Times New Roman" panose="02020603050405020304" pitchFamily="18" charset="0"/>
              </a:rPr>
              <a:t>E2</a:t>
            </a:r>
            <a:r>
              <a:rPr lang="en-GB" altLang="zh-CN" sz="2700" b="1" dirty="0">
                <a:latin typeface="Times New Roman" panose="02020603050405020304" pitchFamily="18" charset="0"/>
              </a:rPr>
              <a:t> </a:t>
            </a:r>
            <a:r>
              <a:rPr lang="zh-CN" altLang="en-GB" sz="2700" b="1" dirty="0">
                <a:latin typeface="Times New Roman" panose="02020603050405020304" pitchFamily="18" charset="0"/>
              </a:rPr>
              <a:t>等效于 </a:t>
            </a:r>
            <a:r>
              <a:rPr lang="en-GB" altLang="zh-CN" sz="2700" b="1" i="1" dirty="0">
                <a:latin typeface="Times New Roman" panose="02020603050405020304" pitchFamily="18" charset="0"/>
              </a:rPr>
              <a:t>E1</a:t>
            </a:r>
            <a:r>
              <a:rPr lang="en-GB" altLang="zh-CN" sz="2700" b="1" dirty="0">
                <a:latin typeface="Times New Roman" panose="02020603050405020304" pitchFamily="18" charset="0"/>
              </a:rPr>
              <a:t> = (</a:t>
            </a:r>
            <a:r>
              <a:rPr lang="en-GB" altLang="zh-CN" sz="2700" b="1" i="1" dirty="0">
                <a:latin typeface="Times New Roman" panose="02020603050405020304" pitchFamily="18" charset="0"/>
              </a:rPr>
              <a:t>T</a:t>
            </a:r>
            <a:r>
              <a:rPr lang="en-GB" altLang="zh-CN" sz="2700" b="1" dirty="0">
                <a:latin typeface="Times New Roman" panose="02020603050405020304" pitchFamily="18" charset="0"/>
              </a:rPr>
              <a:t>)((</a:t>
            </a:r>
            <a:r>
              <a:rPr lang="en-GB" altLang="zh-CN" sz="2700" b="1" i="1" dirty="0">
                <a:latin typeface="Times New Roman" panose="02020603050405020304" pitchFamily="18" charset="0"/>
              </a:rPr>
              <a:t>E1</a:t>
            </a:r>
            <a:r>
              <a:rPr lang="en-GB" altLang="zh-CN" sz="2700" b="1" dirty="0">
                <a:latin typeface="Times New Roman" panose="02020603050405020304" pitchFamily="18" charset="0"/>
              </a:rPr>
              <a:t>) </a:t>
            </a:r>
            <a:r>
              <a:rPr lang="en-GB" altLang="zh-CN" sz="2700" b="1" i="1" dirty="0">
                <a:latin typeface="Times New Roman" panose="02020603050405020304" pitchFamily="18" charset="0"/>
              </a:rPr>
              <a:t>op</a:t>
            </a:r>
            <a:r>
              <a:rPr lang="en-GB" altLang="zh-CN" sz="2700" b="1" dirty="0">
                <a:latin typeface="Times New Roman" panose="02020603050405020304" pitchFamily="18" charset="0"/>
              </a:rPr>
              <a:t> (</a:t>
            </a:r>
            <a:r>
              <a:rPr lang="en-GB" altLang="zh-CN" sz="2700" b="1" i="1" dirty="0">
                <a:latin typeface="Times New Roman" panose="02020603050405020304" pitchFamily="18" charset="0"/>
              </a:rPr>
              <a:t>E2</a:t>
            </a:r>
            <a:r>
              <a:rPr lang="en-GB" altLang="zh-CN" sz="2700" b="1" dirty="0">
                <a:latin typeface="Times New Roman" panose="02020603050405020304" pitchFamily="18" charset="0"/>
              </a:rPr>
              <a:t>)), </a:t>
            </a:r>
            <a:r>
              <a:rPr lang="zh-CN" altLang="en-GB" sz="2700" b="1" dirty="0">
                <a:latin typeface="Times New Roman" panose="02020603050405020304" pitchFamily="18" charset="0"/>
              </a:rPr>
              <a:t>其中</a:t>
            </a:r>
            <a:r>
              <a:rPr lang="en-GB" altLang="zh-CN" sz="2700" b="1" i="1" dirty="0">
                <a:latin typeface="Times New Roman" panose="02020603050405020304" pitchFamily="18" charset="0"/>
              </a:rPr>
              <a:t>T</a:t>
            </a:r>
            <a:r>
              <a:rPr lang="en-GB" altLang="zh-CN" sz="2700" b="1" dirty="0">
                <a:latin typeface="Times New Roman" panose="02020603050405020304" pitchFamily="18" charset="0"/>
              </a:rPr>
              <a:t> </a:t>
            </a:r>
            <a:r>
              <a:rPr lang="zh-CN" altLang="en-GB" sz="2700" b="1" dirty="0">
                <a:latin typeface="Times New Roman" panose="02020603050405020304" pitchFamily="18" charset="0"/>
              </a:rPr>
              <a:t>是 </a:t>
            </a:r>
            <a:r>
              <a:rPr lang="en-GB" altLang="zh-CN" sz="2700" b="1" i="1" dirty="0">
                <a:latin typeface="Times New Roman" panose="02020603050405020304" pitchFamily="18" charset="0"/>
              </a:rPr>
              <a:t>E1</a:t>
            </a:r>
            <a:r>
              <a:rPr lang="zh-CN" altLang="en-GB" sz="2700" b="1" dirty="0">
                <a:latin typeface="Times New Roman" panose="02020603050405020304" pitchFamily="18" charset="0"/>
              </a:rPr>
              <a:t>的类型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13B8462B-A360-0D5A-98E1-76766729E49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08B0C6-A278-6D4F-2C7C-282A11D141E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赋值运算符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E773ADB-15A1-417B-8CA4-A6730C37CE3B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487639" y="1628800"/>
            <a:ext cx="9648921" cy="4536504"/>
          </a:xfrm>
        </p:spPr>
        <p:txBody>
          <a:bodyPr>
            <a:normAutofit/>
          </a:bodyPr>
          <a:lstStyle/>
          <a:p>
            <a:pPr marL="514350" indent="-514350" eaLnBrk="1" hangingPunct="1">
              <a:lnSpc>
                <a:spcPct val="12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关系表达式</a:t>
            </a:r>
            <a:r>
              <a:rPr lang="zh-CN" altLang="en-GB" sz="2700" b="1" dirty="0">
                <a:latin typeface="Times New Roman" panose="02020603050405020304" pitchFamily="18" charset="0"/>
              </a:rPr>
              <a:t>的类型永远是布尔类型（</a:t>
            </a:r>
            <a:r>
              <a:rPr lang="en-GB" altLang="zh-CN" sz="2700" b="1" dirty="0">
                <a:latin typeface="Times New Roman" panose="02020603050405020304" pitchFamily="18" charset="0"/>
              </a:rPr>
              <a:t>bool）</a:t>
            </a:r>
          </a:p>
          <a:p>
            <a:pPr marL="514350" indent="-514350" eaLnBrk="1" hangingPunct="1">
              <a:lnSpc>
                <a:spcPct val="12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算术比较运算符</a:t>
            </a:r>
            <a:r>
              <a:rPr lang="zh-CN" altLang="en-US" sz="2700" b="1" dirty="0">
                <a:latin typeface="Times New Roman" panose="02020603050405020304" pitchFamily="18" charset="0"/>
              </a:rPr>
              <a:t>：</a:t>
            </a:r>
            <a:r>
              <a:rPr lang="zh-CN" altLang="en-GB" sz="2700" b="1" dirty="0">
                <a:latin typeface="Times New Roman" panose="02020603050405020304" pitchFamily="18" charset="0"/>
              </a:rPr>
              <a:t> &lt;, &lt;=, &gt;, </a:t>
            </a:r>
            <a:r>
              <a:rPr lang="en-GB" altLang="zh-CN" sz="2700" b="1" dirty="0">
                <a:latin typeface="Times New Roman" panose="02020603050405020304" pitchFamily="18" charset="0"/>
              </a:rPr>
              <a:t>&gt;= </a:t>
            </a:r>
          </a:p>
          <a:p>
            <a:pPr marL="514350" indent="-514350" eaLnBrk="1" hangingPunct="1">
              <a:lnSpc>
                <a:spcPct val="12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类型比较运算符 </a:t>
            </a:r>
            <a:r>
              <a:rPr lang="en-GB" altLang="zh-CN" sz="2700" b="1" dirty="0" err="1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instanceof</a:t>
            </a:r>
            <a:endParaRPr lang="en-GB" altLang="zh-CN" sz="2700" b="1" dirty="0">
              <a:solidFill>
                <a:srgbClr val="FF00FF"/>
              </a:solidFill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GB" sz="2700" b="1" dirty="0">
                <a:latin typeface="Times New Roman" panose="02020603050405020304" pitchFamily="18" charset="0"/>
              </a:rPr>
              <a:t>例如： </a:t>
            </a:r>
            <a:r>
              <a:rPr lang="en-GB" altLang="zh-CN" sz="2700" b="1" dirty="0">
                <a:latin typeface="Times New Roman" panose="02020603050405020304" pitchFamily="18" charset="0"/>
              </a:rPr>
              <a:t>e  </a:t>
            </a:r>
            <a:r>
              <a:rPr lang="en-GB" altLang="zh-CN" sz="2700" b="1" dirty="0" err="1">
                <a:latin typeface="Times New Roman" panose="02020603050405020304" pitchFamily="18" charset="0"/>
              </a:rPr>
              <a:t>instanceof</a:t>
            </a:r>
            <a:r>
              <a:rPr lang="en-GB" altLang="zh-CN" sz="2700" b="1" dirty="0">
                <a:latin typeface="Times New Roman" panose="02020603050405020304" pitchFamily="18" charset="0"/>
              </a:rPr>
              <a:t>  Point</a:t>
            </a:r>
            <a:r>
              <a:rPr lang="en-US" altLang="zh-CN" sz="2700" b="1" dirty="0">
                <a:latin typeface="Times New Roman" panose="02020603050405020304" pitchFamily="18" charset="0"/>
              </a:rPr>
              <a:t>;</a:t>
            </a:r>
            <a:r>
              <a:rPr lang="en-GB" altLang="zh-CN" sz="2700" b="1" dirty="0">
                <a:latin typeface="Times New Roman" panose="02020603050405020304" pitchFamily="18" charset="0"/>
              </a:rPr>
              <a:t>		//Point </a:t>
            </a:r>
            <a:r>
              <a:rPr lang="zh-CN" altLang="en-GB" sz="2700" b="1" dirty="0">
                <a:latin typeface="Times New Roman" panose="02020603050405020304" pitchFamily="18" charset="0"/>
              </a:rPr>
              <a:t>是一个类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marL="514350" indent="-514350" eaLnBrk="1" hangingPunct="1">
              <a:buClr>
                <a:schemeClr val="tx1"/>
              </a:buClr>
              <a:buFont typeface="+mj-lt"/>
              <a:buAutoNum type="arabicPeriod"/>
            </a:pP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相等关系运算符</a:t>
            </a:r>
            <a:r>
              <a:rPr lang="zh-CN" altLang="en-US" sz="2700" b="1" dirty="0">
                <a:latin typeface="Times New Roman" panose="02020603050405020304" pitchFamily="18" charset="0"/>
              </a:rPr>
              <a:t>：</a:t>
            </a:r>
            <a:endParaRPr lang="zh-CN" altLang="en-GB" sz="2700" b="1" dirty="0">
              <a:latin typeface="Times New Roman" panose="02020603050405020304" pitchFamily="18" charset="0"/>
            </a:endParaRPr>
          </a:p>
          <a:p>
            <a:pPr marL="971550" lvl="1" indent="-51435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数字相等运算符 == ，</a:t>
            </a:r>
            <a:r>
              <a:rPr lang="en-GB" altLang="zh-CN" sz="2700" b="1" dirty="0">
                <a:latin typeface="Times New Roman" panose="02020603050405020304" pitchFamily="18" charset="0"/>
              </a:rPr>
              <a:t> != </a:t>
            </a:r>
          </a:p>
          <a:p>
            <a:pPr marL="971550" lvl="1" indent="-51435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布尔相等运算符 == ， </a:t>
            </a:r>
            <a:r>
              <a:rPr lang="en-GB" altLang="zh-CN" sz="2700" b="1" dirty="0">
                <a:latin typeface="Times New Roman" panose="02020603050405020304" pitchFamily="18" charset="0"/>
              </a:rPr>
              <a:t>!= </a:t>
            </a:r>
          </a:p>
          <a:p>
            <a:pPr marL="971550" lvl="1" indent="-514350" eaLnBrk="1" hangingPunct="1">
              <a:lnSpc>
                <a:spcPct val="12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zh-CN" altLang="en-GB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引用</a:t>
            </a:r>
            <a:r>
              <a:rPr lang="zh-CN" altLang="en-GB" sz="2700" b="1" dirty="0">
                <a:latin typeface="Times New Roman" panose="02020603050405020304" pitchFamily="18" charset="0"/>
              </a:rPr>
              <a:t>相等运算符 == ， </a:t>
            </a:r>
            <a:r>
              <a:rPr lang="en-GB" altLang="zh-CN" sz="2700" b="1" dirty="0">
                <a:latin typeface="Times New Roman" panose="02020603050405020304" pitchFamily="18" charset="0"/>
              </a:rPr>
              <a:t>!=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D1FCC-7ECC-5F6C-BB06-372A7A3400A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F689B1-2D1A-AFC1-7A77-58EC3548F4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关系运算符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05DD107-C171-48C7-88D9-0D319160F862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08806" y="1556792"/>
            <a:ext cx="11319842" cy="5040560"/>
          </a:xfrm>
        </p:spPr>
        <p:txBody>
          <a:bodyPr>
            <a:noAutofit/>
          </a:bodyPr>
          <a:lstStyle/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GB" sz="2700" b="1" dirty="0">
                <a:latin typeface="Times New Roman" panose="02020603050405020304" pitchFamily="18" charset="0"/>
              </a:rPr>
              <a:t>“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与</a:t>
            </a:r>
            <a:r>
              <a:rPr lang="zh-CN" altLang="en-GB" sz="2700" b="1" dirty="0">
                <a:latin typeface="Times New Roman" panose="02020603050405020304" pitchFamily="18" charset="0"/>
              </a:rPr>
              <a:t>”运算 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&amp;&amp;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GB" sz="2700" b="1" dirty="0">
                <a:latin typeface="Times New Roman" panose="02020603050405020304" pitchFamily="18" charset="0"/>
              </a:rPr>
              <a:t>如果两个操作数的值都为</a:t>
            </a:r>
            <a:r>
              <a:rPr lang="en-GB" altLang="zh-CN" sz="2700" b="1" dirty="0">
                <a:latin typeface="Times New Roman" panose="02020603050405020304" pitchFamily="18" charset="0"/>
              </a:rPr>
              <a:t>true</a:t>
            </a:r>
            <a:r>
              <a:rPr lang="zh-CN" altLang="en-GB" sz="2700" b="1" dirty="0">
                <a:latin typeface="Times New Roman" panose="02020603050405020304" pitchFamily="18" charset="0"/>
              </a:rPr>
              <a:t>运算结果为</a:t>
            </a:r>
            <a:r>
              <a:rPr lang="en-GB" altLang="zh-CN" sz="2700" b="1" dirty="0">
                <a:latin typeface="Times New Roman" panose="02020603050405020304" pitchFamily="18" charset="0"/>
              </a:rPr>
              <a:t>true; </a:t>
            </a:r>
            <a:r>
              <a:rPr lang="zh-CN" altLang="en-GB" sz="2700" b="1" dirty="0">
                <a:latin typeface="Times New Roman" panose="02020603050405020304" pitchFamily="18" charset="0"/>
              </a:rPr>
              <a:t>否则，结果为</a:t>
            </a:r>
            <a:r>
              <a:rPr lang="en-GB" altLang="zh-CN" sz="2700" b="1" dirty="0">
                <a:latin typeface="Times New Roman" panose="02020603050405020304" pitchFamily="18" charset="0"/>
              </a:rPr>
              <a:t>false.</a:t>
            </a:r>
          </a:p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GB" altLang="zh-CN" sz="2700" b="1" dirty="0">
                <a:latin typeface="Times New Roman" panose="02020603050405020304" pitchFamily="18" charset="0"/>
              </a:rPr>
              <a:t>“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或</a:t>
            </a:r>
            <a:r>
              <a:rPr lang="zh-CN" altLang="en-GB" sz="2700" b="1" dirty="0">
                <a:latin typeface="Times New Roman" panose="02020603050405020304" pitchFamily="18" charset="0"/>
              </a:rPr>
              <a:t>”运算 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||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GB" sz="2700" b="1" dirty="0">
                <a:latin typeface="Times New Roman" panose="02020603050405020304" pitchFamily="18" charset="0"/>
              </a:rPr>
              <a:t>如果两个操作数的值都为</a:t>
            </a:r>
            <a:r>
              <a:rPr lang="en-GB" altLang="zh-CN" sz="2700" b="1" dirty="0">
                <a:latin typeface="Times New Roman" panose="02020603050405020304" pitchFamily="18" charset="0"/>
              </a:rPr>
              <a:t>false</a:t>
            </a:r>
            <a:r>
              <a:rPr lang="zh-CN" altLang="en-GB" sz="2700" b="1" dirty="0">
                <a:latin typeface="Times New Roman" panose="02020603050405020304" pitchFamily="18" charset="0"/>
              </a:rPr>
              <a:t>运算结果为</a:t>
            </a:r>
            <a:r>
              <a:rPr lang="en-GB" altLang="zh-CN" sz="2700" b="1" dirty="0">
                <a:latin typeface="Times New Roman" panose="02020603050405020304" pitchFamily="18" charset="0"/>
              </a:rPr>
              <a:t>false;</a:t>
            </a:r>
            <a:r>
              <a:rPr lang="zh-CN" altLang="en-GB" sz="2700" b="1" dirty="0">
                <a:latin typeface="Times New Roman" panose="02020603050405020304" pitchFamily="18" charset="0"/>
              </a:rPr>
              <a:t>否则，结果</a:t>
            </a:r>
            <a:r>
              <a:rPr lang="en-GB" altLang="zh-CN" sz="2700" b="1" dirty="0">
                <a:latin typeface="Times New Roman" panose="02020603050405020304" pitchFamily="18" charset="0"/>
              </a:rPr>
              <a:t>true</a:t>
            </a:r>
          </a:p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GB" sz="2700" b="1" dirty="0">
                <a:latin typeface="Times New Roman" panose="02020603050405020304" pitchFamily="18" charset="0"/>
              </a:rPr>
              <a:t>“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非</a:t>
            </a:r>
            <a:r>
              <a:rPr lang="zh-CN" altLang="en-GB" sz="2700" b="1" dirty="0">
                <a:latin typeface="Times New Roman" panose="02020603050405020304" pitchFamily="18" charset="0"/>
              </a:rPr>
              <a:t>”运算符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！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GB" sz="2700" b="1" dirty="0">
                <a:latin typeface="Times New Roman" panose="02020603050405020304" pitchFamily="18" charset="0"/>
              </a:rPr>
              <a:t>操作数的类型</a:t>
            </a:r>
            <a:r>
              <a:rPr lang="zh-CN" altLang="en-GB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必须是布尔类型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GB" sz="2700" b="1" dirty="0">
                <a:latin typeface="Times New Roman" panose="02020603050405020304" pitchFamily="18" charset="0"/>
              </a:rPr>
              <a:t>如果操作数的结果为 </a:t>
            </a:r>
            <a:r>
              <a:rPr lang="en-GB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false</a:t>
            </a:r>
            <a:r>
              <a:rPr lang="en-GB" altLang="zh-CN" sz="2700" b="1" dirty="0">
                <a:latin typeface="Times New Roman" panose="02020603050405020304" pitchFamily="18" charset="0"/>
              </a:rPr>
              <a:t>，</a:t>
            </a:r>
            <a:r>
              <a:rPr lang="zh-CN" altLang="en-GB" sz="2700" b="1" dirty="0">
                <a:latin typeface="Times New Roman" panose="02020603050405020304" pitchFamily="18" charset="0"/>
              </a:rPr>
              <a:t>则表达式的结果为</a:t>
            </a:r>
            <a:r>
              <a:rPr lang="zh-CN" altLang="en-GB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true </a:t>
            </a:r>
            <a:r>
              <a:rPr lang="en-GB" altLang="zh-CN" sz="2700" b="1" dirty="0">
                <a:latin typeface="Times New Roman" panose="02020603050405020304" pitchFamily="18" charset="0"/>
              </a:rPr>
              <a:t>，</a:t>
            </a:r>
            <a:r>
              <a:rPr lang="zh-CN" altLang="en-GB" sz="2700" b="1" dirty="0">
                <a:latin typeface="Times New Roman" panose="02020603050405020304" pitchFamily="18" charset="0"/>
              </a:rPr>
              <a:t>如果操作数的结果为 </a:t>
            </a:r>
            <a:r>
              <a:rPr lang="en-GB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true</a:t>
            </a:r>
            <a:r>
              <a:rPr lang="zh-CN" altLang="en-GB" sz="2700" b="1" dirty="0">
                <a:latin typeface="Times New Roman" panose="02020603050405020304" pitchFamily="18" charset="0"/>
              </a:rPr>
              <a:t>则表达式的结果为</a:t>
            </a:r>
            <a:r>
              <a:rPr lang="en-GB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false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4A4B2-31CF-B203-8618-72A8180C14D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86924D-52AE-A0D3-ADA6-BAA7FFC0332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逻辑运算符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C30446F-5E85-41F3-98DF-9D8B988AF087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682552" y="3407610"/>
            <a:ext cx="7962800" cy="1944216"/>
          </a:xfrm>
        </p:spPr>
        <p:txBody>
          <a:bodyPr>
            <a:normAutofit/>
          </a:bodyPr>
          <a:lstStyle/>
          <a:p>
            <a:pPr marL="457200" indent="-457200" eaLnBrk="1" hangingPunct="1">
              <a:lnSpc>
                <a:spcPct val="130000"/>
              </a:lnSpc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首先计算表达式1</a:t>
            </a:r>
          </a:p>
          <a:p>
            <a:pPr marL="457200" indent="-457200" eaLnBrk="1" hangingPunct="1">
              <a:lnSpc>
                <a:spcPct val="130000"/>
              </a:lnSpc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如果表达式1的值为 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true</a:t>
            </a:r>
            <a:r>
              <a:rPr lang="en-GB" altLang="zh-CN" sz="2700" b="1" dirty="0">
                <a:latin typeface="Times New Roman" panose="02020603050405020304" pitchFamily="18" charset="0"/>
              </a:rPr>
              <a:t>, </a:t>
            </a:r>
            <a:r>
              <a:rPr lang="zh-CN" altLang="en-GB" sz="2700" b="1" dirty="0">
                <a:latin typeface="Times New Roman" panose="02020603050405020304" pitchFamily="18" charset="0"/>
              </a:rPr>
              <a:t>则选择表达式2的值</a:t>
            </a:r>
          </a:p>
          <a:p>
            <a:pPr marL="457200" indent="-457200" eaLnBrk="1" hangingPunct="1">
              <a:lnSpc>
                <a:spcPct val="130000"/>
              </a:lnSpc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如果表达式1的值为 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false</a:t>
            </a:r>
            <a:r>
              <a:rPr lang="en-GB" altLang="zh-CN" sz="2700" b="1" dirty="0">
                <a:latin typeface="Times New Roman" panose="02020603050405020304" pitchFamily="18" charset="0"/>
              </a:rPr>
              <a:t>,</a:t>
            </a:r>
            <a:r>
              <a:rPr lang="zh-CN" altLang="en-GB" sz="2700" b="1" dirty="0">
                <a:latin typeface="Times New Roman" panose="02020603050405020304" pitchFamily="18" charset="0"/>
              </a:rPr>
              <a:t>则选择表达式3的值</a:t>
            </a:r>
            <a:endParaRPr lang="en-US" altLang="zh-CN" sz="2700" b="1" dirty="0"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34E4F-235F-B3CE-81E3-32B22ED3986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1201CA-3B7B-C611-CA37-0FD6A735C43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条件运算符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AEB489-F86D-ED1B-A17F-D3D983DC2A69}"/>
              </a:ext>
            </a:extLst>
          </p:cNvPr>
          <p:cNvSpPr txBox="1"/>
          <p:nvPr/>
        </p:nvSpPr>
        <p:spPr>
          <a:xfrm>
            <a:off x="1415480" y="1844824"/>
            <a:ext cx="525658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/>
              <a:t>(</a:t>
            </a:r>
            <a:r>
              <a:rPr lang="zh-CN" altLang="en-US" sz="2800" dirty="0"/>
              <a:t>表达式</a:t>
            </a:r>
            <a:r>
              <a:rPr lang="en-US" altLang="zh-CN" sz="2800" dirty="0"/>
              <a:t>1</a:t>
            </a:r>
            <a:r>
              <a:rPr lang="zh-CN" altLang="en-US" sz="2800" dirty="0">
                <a:solidFill>
                  <a:srgbClr val="FF00FF"/>
                </a:solidFill>
                <a:highlight>
                  <a:srgbClr val="FFFF00"/>
                </a:highlight>
              </a:rPr>
              <a:t>？</a:t>
            </a:r>
            <a:r>
              <a:rPr lang="zh-CN" altLang="en-US" sz="2800" dirty="0"/>
              <a:t>表达式</a:t>
            </a:r>
            <a:r>
              <a:rPr lang="en-US" altLang="zh-CN" sz="2800" dirty="0"/>
              <a:t>2</a:t>
            </a:r>
            <a:r>
              <a:rPr lang="zh-CN" altLang="en-US" sz="2800" dirty="0">
                <a:solidFill>
                  <a:srgbClr val="FF00FF"/>
                </a:solidFill>
                <a:highlight>
                  <a:srgbClr val="FFFF00"/>
                </a:highlight>
              </a:rPr>
              <a:t>：</a:t>
            </a:r>
            <a:r>
              <a:rPr lang="zh-CN" altLang="en-US" sz="2800" dirty="0"/>
              <a:t>表达式</a:t>
            </a:r>
            <a:r>
              <a:rPr lang="en-US" altLang="zh-CN" sz="2800" dirty="0"/>
              <a:t>3)</a:t>
            </a:r>
            <a:endParaRPr lang="zh-CN" altLang="en-US" sz="2800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7A0351E-4418-562C-25CC-9A1AA110731D}"/>
              </a:ext>
            </a:extLst>
          </p:cNvPr>
          <p:cNvSpPr txBox="1">
            <a:spLocks/>
          </p:cNvSpPr>
          <p:nvPr/>
        </p:nvSpPr>
        <p:spPr>
          <a:xfrm>
            <a:off x="911424" y="2641631"/>
            <a:ext cx="3456384" cy="58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zh-CN" altLang="en-US" sz="2700" b="1" dirty="0">
                <a:latin typeface="Times New Roman" panose="02020603050405020304" pitchFamily="18" charset="0"/>
              </a:rPr>
              <a:t>表达式的计算规则：</a:t>
            </a:r>
            <a:endParaRPr kumimoji="0" lang="en-US" altLang="zh-CN" sz="27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7C1B-E361-FCBD-629A-90C132CA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3">
            <a:extLst>
              <a:ext uri="{FF2B5EF4-FFF2-40B4-BE49-F238E27FC236}">
                <a16:creationId xmlns:a16="http://schemas.microsoft.com/office/drawing/2014/main" id="{D4013AEC-4D86-C852-FC61-767BEC359D18}"/>
              </a:ext>
            </a:extLst>
          </p:cNvPr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C30446F-5E85-41F3-98DF-9D8B988AF087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AE7F4-5CB0-5FEF-1E04-F7D37FEDD76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99856" y="75912"/>
            <a:ext cx="115212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小结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0CAF8B9-5040-3D83-7A8E-99304BD87F57}"/>
              </a:ext>
            </a:extLst>
          </p:cNvPr>
          <p:cNvSpPr txBox="1">
            <a:spLocks/>
          </p:cNvSpPr>
          <p:nvPr/>
        </p:nvSpPr>
        <p:spPr>
          <a:xfrm>
            <a:off x="839416" y="908720"/>
            <a:ext cx="3528392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Java</a:t>
            </a:r>
            <a:r>
              <a:rPr kumimoji="0" lang="zh-CN" altLang="en-US" sz="2700" b="1" dirty="0">
                <a:latin typeface="Times New Roman" panose="02020603050405020304" pitchFamily="18" charset="0"/>
              </a:rPr>
              <a:t>语言的数据类型：</a:t>
            </a:r>
            <a:endParaRPr kumimoji="0" lang="en-US" altLang="zh-CN" sz="2700" b="1" dirty="0">
              <a:latin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16F00F8-2D39-48BB-1B73-D2D151428E77}"/>
              </a:ext>
            </a:extLst>
          </p:cNvPr>
          <p:cNvSpPr txBox="1">
            <a:spLocks/>
          </p:cNvSpPr>
          <p:nvPr/>
        </p:nvSpPr>
        <p:spPr>
          <a:xfrm>
            <a:off x="1739516" y="1688987"/>
            <a:ext cx="2304256" cy="226825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char  x1,x3;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int  </a:t>
            </a:r>
            <a:r>
              <a:rPr kumimoji="0" lang="en-US" altLang="zh-CN" sz="2700" b="1" dirty="0" err="1">
                <a:latin typeface="Times New Roman" panose="02020603050405020304" pitchFamily="18" charset="0"/>
              </a:rPr>
              <a:t>x,y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float  </a:t>
            </a:r>
            <a:r>
              <a:rPr kumimoji="0" lang="en-US" altLang="zh-CN" sz="2700" b="1" dirty="0" err="1">
                <a:latin typeface="Times New Roman" panose="02020603050405020304" pitchFamily="18" charset="0"/>
              </a:rPr>
              <a:t>a,b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double  s1,s2;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 err="1">
                <a:latin typeface="Times New Roman" panose="02020603050405020304" pitchFamily="18" charset="0"/>
              </a:rPr>
              <a:t>boolean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 t1,tx;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81CF3D1-1F6F-94BF-586F-A0D890DDEE3B}"/>
              </a:ext>
            </a:extLst>
          </p:cNvPr>
          <p:cNvSpPr txBox="1">
            <a:spLocks/>
          </p:cNvSpPr>
          <p:nvPr/>
        </p:nvSpPr>
        <p:spPr>
          <a:xfrm>
            <a:off x="5577972" y="1680056"/>
            <a:ext cx="3312368" cy="226825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x1 = </a:t>
            </a:r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z</a:t>
            </a:r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;       x3 = </a:t>
            </a:r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kumimoji="0" lang="en-US" altLang="zh-CN" sz="2700" b="1" dirty="0" err="1">
                <a:latin typeface="Times New Roman" panose="02020603050405020304" pitchFamily="18" charset="0"/>
              </a:rPr>
              <a:t>asd</a:t>
            </a:r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x = 12;          y = 123.56;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a=123;          b = 123.56;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s1 = 1234;     s2 = 12.567;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t1 = false;      </a:t>
            </a:r>
            <a:r>
              <a:rPr kumimoji="0" lang="en-US" altLang="zh-CN" sz="2700" b="1" dirty="0" err="1">
                <a:latin typeface="Times New Roman" panose="02020603050405020304" pitchFamily="18" charset="0"/>
              </a:rPr>
              <a:t>tx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 = 0;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FCB552E9-2574-3617-A05A-CA2E3BEDA601}"/>
              </a:ext>
            </a:extLst>
          </p:cNvPr>
          <p:cNvSpPr txBox="1">
            <a:spLocks/>
          </p:cNvSpPr>
          <p:nvPr/>
        </p:nvSpPr>
        <p:spPr>
          <a:xfrm>
            <a:off x="5585956" y="1680056"/>
            <a:ext cx="3312368" cy="226825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x1 = </a:t>
            </a:r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z</a:t>
            </a:r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;       </a:t>
            </a:r>
            <a:r>
              <a:rPr kumimoji="0"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x3 = </a:t>
            </a:r>
            <a:r>
              <a:rPr lang="en-US" altLang="zh-CN" sz="2700" b="1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kumimoji="0" lang="en-US" altLang="zh-CN" sz="27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asd</a:t>
            </a:r>
            <a:r>
              <a:rPr lang="en-US" altLang="zh-CN" sz="2700" b="1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kumimoji="0"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x = 12;          </a:t>
            </a:r>
            <a:r>
              <a:rPr kumimoji="0"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y = 123.56;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a=123;          </a:t>
            </a:r>
            <a:r>
              <a:rPr kumimoji="0"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b = 123.56;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s1 = 1234;     s2 = 12.567;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t1 = false;      </a:t>
            </a:r>
            <a:r>
              <a:rPr kumimoji="0" lang="en-US" altLang="zh-CN" sz="27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tx</a:t>
            </a:r>
            <a:r>
              <a:rPr kumimoji="0"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= 0;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6B743446-AA62-8EF7-A968-9C09339A84D4}"/>
              </a:ext>
            </a:extLst>
          </p:cNvPr>
          <p:cNvSpPr txBox="1">
            <a:spLocks/>
          </p:cNvSpPr>
          <p:nvPr/>
        </p:nvSpPr>
        <p:spPr>
          <a:xfrm>
            <a:off x="875420" y="3957239"/>
            <a:ext cx="1728192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zh-CN" altLang="en-US" sz="2700" b="1" dirty="0">
                <a:latin typeface="Times New Roman" panose="02020603050405020304" pitchFamily="18" charset="0"/>
              </a:rPr>
              <a:t>表达式：</a:t>
            </a:r>
            <a:endParaRPr kumimoji="0" lang="en-US" altLang="zh-CN" sz="2700" b="1" dirty="0">
              <a:latin typeface="Times New Roman" panose="02020603050405020304" pitchFamily="18" charset="0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052BA71B-9090-6B3D-77AD-87CDD35AE2CE}"/>
              </a:ext>
            </a:extLst>
          </p:cNvPr>
          <p:cNvSpPr txBox="1">
            <a:spLocks/>
          </p:cNvSpPr>
          <p:nvPr/>
        </p:nvSpPr>
        <p:spPr>
          <a:xfrm>
            <a:off x="1631504" y="4653136"/>
            <a:ext cx="8064896" cy="1782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int xx = 10,  </a:t>
            </a:r>
            <a:r>
              <a:rPr kumimoji="0" lang="en-US" altLang="zh-CN" sz="2700" b="1" dirty="0" err="1">
                <a:latin typeface="Times New Roman" panose="02020603050405020304" pitchFamily="18" charset="0"/>
              </a:rPr>
              <a:t>yy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 = 20,  </a:t>
            </a:r>
            <a:r>
              <a:rPr kumimoji="0" lang="en-US" altLang="zh-CN" sz="2700" b="1" dirty="0" err="1">
                <a:latin typeface="Times New Roman" panose="02020603050405020304" pitchFamily="18" charset="0"/>
              </a:rPr>
              <a:t>zz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 = 30;   String  </a:t>
            </a:r>
            <a:r>
              <a:rPr kumimoji="0" lang="en-US" altLang="zh-CN" sz="2700" b="1" dirty="0" err="1">
                <a:latin typeface="Times New Roman" panose="02020603050405020304" pitchFamily="18" charset="0"/>
              </a:rPr>
              <a:t>tt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 = "Hello Java!";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>
                <a:latin typeface="Times New Roman" panose="02020603050405020304" pitchFamily="18" charset="0"/>
              </a:rPr>
              <a:t>xx = xx +</a:t>
            </a:r>
            <a:r>
              <a:rPr kumimoji="0" lang="en-US" altLang="zh-CN" sz="2700" b="1" dirty="0" err="1">
                <a:latin typeface="Times New Roman" panose="02020603050405020304" pitchFamily="18" charset="0"/>
              </a:rPr>
              <a:t>yy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*</a:t>
            </a:r>
            <a:r>
              <a:rPr kumimoji="0" lang="en-US" altLang="zh-CN" sz="2700" b="1" dirty="0" err="1">
                <a:latin typeface="Times New Roman" panose="02020603050405020304" pitchFamily="18" charset="0"/>
              </a:rPr>
              <a:t>zz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;</a:t>
            </a:r>
          </a:p>
          <a:p>
            <a:pPr marL="0" indent="0" fontAlgn="auto">
              <a:lnSpc>
                <a:spcPct val="130000"/>
              </a:lnSpc>
              <a:spcAft>
                <a:spcPts val="0"/>
              </a:spcAft>
              <a:buNone/>
            </a:pPr>
            <a:r>
              <a:rPr kumimoji="0" lang="en-US" altLang="zh-CN" sz="2700" b="1" dirty="0" err="1">
                <a:latin typeface="Times New Roman" panose="02020603050405020304" pitchFamily="18" charset="0"/>
              </a:rPr>
              <a:t>tt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=(xx&gt;100? "Hello Java! ": "Hello </a:t>
            </a:r>
            <a:r>
              <a:rPr kumimoji="0" lang="zh-CN" altLang="en-US" sz="2700" b="1" dirty="0">
                <a:latin typeface="Times New Roman" panose="02020603050405020304" pitchFamily="18" charset="0"/>
              </a:rPr>
              <a:t>平安</a:t>
            </a:r>
            <a:r>
              <a:rPr kumimoji="0" lang="en-US" altLang="zh-CN" sz="2700" b="1" dirty="0">
                <a:latin typeface="Times New Roman" panose="02020603050405020304" pitchFamily="18" charset="0"/>
              </a:rPr>
              <a:t>!")</a:t>
            </a:r>
          </a:p>
        </p:txBody>
      </p:sp>
    </p:spTree>
    <p:extLst>
      <p:ext uri="{BB962C8B-B14F-4D97-AF65-F5344CB8AC3E}">
        <p14:creationId xmlns:p14="http://schemas.microsoft.com/office/powerpoint/2010/main" val="147082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1487488" y="1772816"/>
            <a:ext cx="7128792" cy="252028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每个表达式都有类型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如果表达式的类型对于上下文不合适</a:t>
            </a:r>
            <a:r>
              <a:rPr lang="zh-CN" altLang="en-US" sz="2700" b="1" dirty="0">
                <a:latin typeface="Times New Roman" panose="02020603050405020304" pitchFamily="18" charset="0"/>
              </a:rPr>
              <a:t>，则：</a:t>
            </a:r>
            <a:endParaRPr lang="zh-CN" altLang="en-GB" sz="2700" b="1" dirty="0">
              <a:latin typeface="Times New Roman" panose="02020603050405020304" pitchFamily="18" charset="0"/>
            </a:endParaRPr>
          </a:p>
          <a:p>
            <a:pPr marL="971550" lvl="1" indent="-514350" eaLnBrk="1" hangingPunct="1">
              <a:lnSpc>
                <a:spcPct val="12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有时可能会导致编译错误</a:t>
            </a:r>
          </a:p>
          <a:p>
            <a:pPr marL="971550" lvl="1" indent="-514350" eaLnBrk="1" hangingPunct="1">
              <a:lnSpc>
                <a:spcPct val="12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有时语言会进行隐含类型转换</a:t>
            </a:r>
          </a:p>
        </p:txBody>
      </p:sp>
      <p:sp>
        <p:nvSpPr>
          <p:cNvPr id="56323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90E2885-DD59-418D-8A61-87D40EDC9CA5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4970F0B-256C-4B96-35EE-F21E5FAD545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FBAE30-FE6E-4583-13C9-E2491718F52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72789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类型转换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114867" y="1628800"/>
            <a:ext cx="10081120" cy="4525963"/>
          </a:xfrm>
        </p:spPr>
        <p:txBody>
          <a:bodyPr>
            <a:normAutofit/>
          </a:bodyPr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zh-CN" altLang="en-US" sz="2500" b="1" dirty="0">
                <a:latin typeface="Times New Roman" panose="02020603050405020304" pitchFamily="18" charset="0"/>
              </a:rPr>
              <a:t>扩展转换</a:t>
            </a:r>
            <a:endParaRPr lang="en-GB" altLang="zh-CN" sz="2500" b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GB" altLang="zh-CN" sz="2500" b="1" dirty="0">
                <a:latin typeface="Times New Roman" panose="02020603050405020304" pitchFamily="18" charset="0"/>
              </a:rPr>
              <a:t>byte, char,  short, int, long, float, double</a:t>
            </a:r>
            <a:endParaRPr lang="zh-CN" altLang="en-GB" sz="2500" b="1" dirty="0">
              <a:latin typeface="Times New Roman" panose="02020603050405020304" pitchFamily="18" charset="0"/>
            </a:endParaRPr>
          </a:p>
          <a:p>
            <a:pPr marL="411162" lvl="1" indent="0" eaLnBrk="1" hangingPunct="1">
              <a:buNone/>
            </a:pPr>
            <a:endParaRPr lang="zh-CN" altLang="en-GB" sz="2500" b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GB" sz="2500" b="1" dirty="0">
                <a:latin typeface="Times New Roman" panose="02020603050405020304" pitchFamily="18" charset="0"/>
              </a:rPr>
              <a:t>从一种整数类型到另一种整数类型，或者从</a:t>
            </a:r>
            <a:r>
              <a:rPr lang="en-GB" altLang="zh-CN" sz="2500" b="1" dirty="0">
                <a:latin typeface="Times New Roman" panose="02020603050405020304" pitchFamily="18" charset="0"/>
              </a:rPr>
              <a:t>float</a:t>
            </a:r>
            <a:r>
              <a:rPr lang="zh-CN" altLang="en-GB" sz="2500" b="1" dirty="0">
                <a:latin typeface="Times New Roman" panose="02020603050405020304" pitchFamily="18" charset="0"/>
              </a:rPr>
              <a:t>到</a:t>
            </a:r>
            <a:r>
              <a:rPr lang="en-GB" altLang="zh-CN" sz="2500" b="1" dirty="0">
                <a:latin typeface="Times New Roman" panose="02020603050405020304" pitchFamily="18" charset="0"/>
              </a:rPr>
              <a:t>double</a:t>
            </a:r>
            <a:r>
              <a:rPr lang="zh-CN" altLang="en-GB" sz="2500" b="1" dirty="0">
                <a:latin typeface="Times New Roman" panose="02020603050405020304" pitchFamily="18" charset="0"/>
              </a:rPr>
              <a:t>的转换不损失任何信息</a:t>
            </a:r>
          </a:p>
          <a:p>
            <a:pPr lvl="1" eaLnBrk="1" hangingPunct="1"/>
            <a:r>
              <a:rPr lang="zh-CN" altLang="en-GB" sz="2500" b="1" dirty="0">
                <a:latin typeface="Times New Roman" panose="02020603050405020304" pitchFamily="18" charset="0"/>
              </a:rPr>
              <a:t>从整数类形向</a:t>
            </a:r>
            <a:r>
              <a:rPr lang="en-GB" altLang="zh-CN" sz="2500" b="1" dirty="0">
                <a:latin typeface="Times New Roman" panose="02020603050405020304" pitchFamily="18" charset="0"/>
              </a:rPr>
              <a:t>float</a:t>
            </a:r>
            <a:r>
              <a:rPr lang="zh-CN" altLang="en-GB" sz="2500" b="1" dirty="0">
                <a:latin typeface="Times New Roman" panose="02020603050405020304" pitchFamily="18" charset="0"/>
              </a:rPr>
              <a:t>或</a:t>
            </a:r>
            <a:r>
              <a:rPr lang="en-GB" altLang="zh-CN" sz="2500" b="1" dirty="0">
                <a:latin typeface="Times New Roman" panose="02020603050405020304" pitchFamily="18" charset="0"/>
              </a:rPr>
              <a:t>double</a:t>
            </a:r>
            <a:r>
              <a:rPr lang="zh-CN" altLang="en-GB" sz="2500" b="1" dirty="0">
                <a:latin typeface="Times New Roman" panose="02020603050405020304" pitchFamily="18" charset="0"/>
              </a:rPr>
              <a:t>转换会损失精度</a:t>
            </a:r>
            <a:endParaRPr lang="en-US" altLang="zh-CN" sz="25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buFont typeface="+mj-lt"/>
              <a:buAutoNum type="arabicPeriod"/>
            </a:pPr>
            <a:r>
              <a:rPr lang="zh-CN" altLang="en-US" sz="2500" b="1" dirty="0">
                <a:latin typeface="Times New Roman" panose="02020603050405020304" pitchFamily="18" charset="0"/>
              </a:rPr>
              <a:t>窄化转换</a:t>
            </a:r>
            <a:endParaRPr lang="en-US" altLang="zh-CN" sz="2500" b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500" b="1" dirty="0">
                <a:latin typeface="Times New Roman" panose="02020603050405020304" pitchFamily="18" charset="0"/>
              </a:rPr>
              <a:t>double, float, long, int, </a:t>
            </a:r>
            <a:r>
              <a:rPr lang="en-US" altLang="zh-CN" sz="2500" b="1" dirty="0" err="1">
                <a:latin typeface="Times New Roman" panose="02020603050405020304" pitchFamily="18" charset="0"/>
              </a:rPr>
              <a:t>short,char</a:t>
            </a:r>
            <a:r>
              <a:rPr lang="en-US" altLang="zh-CN" sz="2500" b="1" dirty="0">
                <a:latin typeface="Times New Roman" panose="02020603050405020304" pitchFamily="18" charset="0"/>
              </a:rPr>
              <a:t>, byte</a:t>
            </a:r>
          </a:p>
          <a:p>
            <a:pPr marL="411162" lvl="1" indent="0" eaLnBrk="1" hangingPunct="1">
              <a:buNone/>
            </a:pPr>
            <a:endParaRPr lang="en-US" altLang="zh-CN" sz="2500" b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500" b="1" dirty="0">
                <a:latin typeface="Times New Roman" panose="02020603050405020304" pitchFamily="18" charset="0"/>
              </a:rPr>
              <a:t>窄化转换可能会丢失信息</a:t>
            </a:r>
          </a:p>
        </p:txBody>
      </p:sp>
      <p:sp>
        <p:nvSpPr>
          <p:cNvPr id="57346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9833B8D-13C8-40C5-8205-827576599811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57348" name="Line 4"/>
          <p:cNvSpPr>
            <a:spLocks noChangeShapeType="1"/>
          </p:cNvSpPr>
          <p:nvPr/>
        </p:nvSpPr>
        <p:spPr bwMode="auto">
          <a:xfrm>
            <a:off x="1271464" y="2780928"/>
            <a:ext cx="576064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1271464" y="5445224"/>
            <a:ext cx="5760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79C1F-F151-370B-A005-C33140A6654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E88F9E-DC20-BB6A-3F4D-60ADAB49219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45608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扩展转换与窄化转换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7FB060A-D774-4226-B848-25E86C8C6833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39416" y="1628800"/>
            <a:ext cx="10873208" cy="4032448"/>
          </a:xfrm>
        </p:spPr>
        <p:txBody>
          <a:bodyPr>
            <a:normAutofit/>
          </a:bodyPr>
          <a:lstStyle/>
          <a:p>
            <a:pPr marL="514350" indent="-514350" eaLnBrk="1" hangingPunct="1">
              <a:lnSpc>
                <a:spcPct val="12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2700" b="1" dirty="0">
                <a:latin typeface="Times New Roman" panose="02020603050405020304" pitchFamily="18" charset="0"/>
              </a:rPr>
              <a:t>隐含转换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</a:pP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赋值转换</a:t>
            </a:r>
            <a:r>
              <a:rPr lang="en-US" altLang="zh-CN" sz="2700" b="1" dirty="0">
                <a:latin typeface="Times New Roman" panose="02020603050405020304" pitchFamily="18" charset="0"/>
              </a:rPr>
              <a:t>: </a:t>
            </a:r>
            <a:r>
              <a:rPr lang="zh-CN" altLang="en-GB" sz="2700" b="1" dirty="0">
                <a:latin typeface="Times New Roman" panose="02020603050405020304" pitchFamily="18" charset="0"/>
              </a:rPr>
              <a:t>将表达式类型转换为</a:t>
            </a:r>
            <a:r>
              <a:rPr lang="zh-CN" altLang="en-US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指</a:t>
            </a:r>
            <a:r>
              <a:rPr lang="zh-CN" altLang="en-GB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定变量</a:t>
            </a:r>
            <a:r>
              <a:rPr lang="zh-CN" altLang="en-GB" sz="2700" b="1" dirty="0">
                <a:latin typeface="Times New Roman" panose="02020603050405020304" pitchFamily="18" charset="0"/>
              </a:rPr>
              <a:t>的类型</a:t>
            </a:r>
            <a:r>
              <a:rPr lang="en-US" altLang="zh-CN" sz="2700" b="1" dirty="0">
                <a:latin typeface="Times New Roman" panose="02020603050405020304" pitchFamily="18" charset="0"/>
              </a:rPr>
              <a:t>;</a:t>
            </a:r>
            <a:endParaRPr lang="zh-CN" altLang="en-GB" sz="2700" b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</a:pP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方法调用转换</a:t>
            </a:r>
            <a:r>
              <a:rPr lang="en-US" altLang="zh-CN" sz="2700" b="1" dirty="0">
                <a:latin typeface="Times New Roman" panose="02020603050405020304" pitchFamily="18" charset="0"/>
              </a:rPr>
              <a:t>: </a:t>
            </a:r>
            <a:r>
              <a:rPr lang="zh-CN" altLang="en-GB" sz="2700" b="1" dirty="0">
                <a:latin typeface="Times New Roman" panose="02020603050405020304" pitchFamily="18" charset="0"/>
              </a:rPr>
              <a:t>适用于</a:t>
            </a:r>
            <a:r>
              <a:rPr lang="zh-CN" altLang="en-GB" sz="27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方法</a:t>
            </a:r>
            <a:r>
              <a:rPr lang="zh-CN" altLang="en-GB" sz="2700" b="1" dirty="0">
                <a:latin typeface="Times New Roman" panose="02020603050405020304" pitchFamily="18" charset="0"/>
              </a:rPr>
              <a:t>或</a:t>
            </a:r>
            <a:r>
              <a:rPr lang="zh-CN" altLang="en-GB" sz="27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构造方法</a:t>
            </a:r>
            <a:r>
              <a:rPr lang="zh-CN" altLang="en-GB" sz="2700" b="1" dirty="0">
                <a:latin typeface="Times New Roman" panose="02020603050405020304" pitchFamily="18" charset="0"/>
              </a:rPr>
              <a:t>调用中的每一个参数</a:t>
            </a:r>
            <a:r>
              <a:rPr lang="en-US" altLang="zh-CN" sz="2700" b="1" dirty="0">
                <a:latin typeface="Times New Roman" panose="02020603050405020304" pitchFamily="18" charset="0"/>
              </a:rPr>
              <a:t>;</a:t>
            </a:r>
            <a:endParaRPr lang="zh-CN" altLang="en-GB" sz="2700" b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</a:pP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字符串转换</a:t>
            </a:r>
            <a:r>
              <a:rPr lang="en-US" altLang="zh-CN" sz="27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en-US" sz="2700" b="1" dirty="0">
                <a:latin typeface="Times New Roman" panose="02020603050405020304" pitchFamily="18" charset="0"/>
              </a:rPr>
              <a:t>任何类型</a:t>
            </a:r>
            <a:r>
              <a:rPr lang="en-US" altLang="zh-CN" sz="2700" b="1" dirty="0">
                <a:latin typeface="Times New Roman" panose="02020603050405020304" pitchFamily="18" charset="0"/>
              </a:rPr>
              <a:t>(</a:t>
            </a:r>
            <a:r>
              <a:rPr lang="zh-CN" altLang="en-US" sz="2700" b="1" dirty="0">
                <a:latin typeface="Times New Roman" panose="02020603050405020304" pitchFamily="18" charset="0"/>
              </a:rPr>
              <a:t>包括</a:t>
            </a:r>
            <a:r>
              <a:rPr lang="en-US" altLang="zh-CN" sz="2700" b="1" dirty="0">
                <a:latin typeface="Times New Roman" panose="02020603050405020304" pitchFamily="18" charset="0"/>
              </a:rPr>
              <a:t>null</a:t>
            </a:r>
            <a:r>
              <a:rPr lang="zh-CN" altLang="en-US" sz="2700" b="1" dirty="0">
                <a:latin typeface="Times New Roman" panose="02020603050405020304" pitchFamily="18" charset="0"/>
              </a:rPr>
              <a:t>类型</a:t>
            </a:r>
            <a:r>
              <a:rPr lang="en-US" altLang="zh-CN" sz="2700" b="1" dirty="0">
                <a:latin typeface="Times New Roman" panose="02020603050405020304" pitchFamily="18" charset="0"/>
              </a:rPr>
              <a:t>)</a:t>
            </a:r>
            <a:r>
              <a:rPr lang="zh-CN" altLang="en-US" sz="2700" b="1" dirty="0">
                <a:latin typeface="Times New Roman" panose="02020603050405020304" pitchFamily="18" charset="0"/>
              </a:rPr>
              <a:t>都可以转换为字符串类型。</a:t>
            </a:r>
          </a:p>
          <a:p>
            <a:pPr marL="514350" indent="-514350" eaLnBrk="1" hangingPunct="1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2700" b="1" dirty="0">
                <a:latin typeface="Times New Roman" panose="02020603050405020304" pitchFamily="18" charset="0"/>
              </a:rPr>
              <a:t>显式转换</a:t>
            </a:r>
            <a:r>
              <a:rPr lang="en-US" altLang="zh-CN" sz="2700" b="1" dirty="0">
                <a:latin typeface="Times New Roman" panose="02020603050405020304" pitchFamily="18" charset="0"/>
              </a:rPr>
              <a:t>(</a:t>
            </a:r>
            <a:r>
              <a:rPr lang="zh-CN" altLang="en-GB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强制转换</a:t>
            </a:r>
            <a:r>
              <a:rPr lang="en-US" altLang="zh-CN" sz="2700" b="1" dirty="0">
                <a:latin typeface="Times New Roman" panose="02020603050405020304" pitchFamily="18" charset="0"/>
              </a:rPr>
              <a:t>)</a:t>
            </a:r>
            <a:endParaRPr lang="zh-CN" altLang="en-GB" sz="2700" b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GB" sz="2700" b="1" dirty="0">
                <a:latin typeface="Times New Roman" panose="02020603050405020304" pitchFamily="18" charset="0"/>
              </a:rPr>
              <a:t>将一个表达式转换为指定的类型</a:t>
            </a:r>
            <a:endParaRPr lang="en-GB" altLang="zh-CN" sz="2700" b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GB" sz="2700" b="1" dirty="0">
                <a:latin typeface="Times New Roman" panose="02020603050405020304" pitchFamily="18" charset="0"/>
              </a:rPr>
              <a:t>例如  (</a:t>
            </a:r>
            <a:r>
              <a:rPr lang="en-GB" altLang="zh-CN" sz="2700" b="1" dirty="0">
                <a:latin typeface="Times New Roman" panose="02020603050405020304" pitchFamily="18" charset="0"/>
              </a:rPr>
              <a:t>float)5.0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13D10-965A-EDF4-52BF-0CB6E2F9B94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27648" y="75912"/>
            <a:ext cx="547260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基本数据类型与表达式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0AB653-3050-384D-2DD4-02769B5D32F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38407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隐含转换与显式转换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内容占位符 2"/>
          <p:cNvSpPr>
            <a:spLocks noGrp="1"/>
          </p:cNvSpPr>
          <p:nvPr>
            <p:ph idx="4294967295"/>
          </p:nvPr>
        </p:nvSpPr>
        <p:spPr>
          <a:xfrm>
            <a:off x="575401" y="1556792"/>
            <a:ext cx="11041197" cy="144016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GB" sz="2800" dirty="0">
                <a:latin typeface="Times New Roman" panose="02020603050405020304" pitchFamily="18" charset="0"/>
              </a:rPr>
              <a:t>        </a:t>
            </a:r>
            <a:r>
              <a:rPr lang="zh-CN" altLang="en-GB" sz="2800" b="1" dirty="0">
                <a:latin typeface="Times New Roman" panose="02020603050405020304" pitchFamily="18" charset="0"/>
              </a:rPr>
              <a:t>数组由</a:t>
            </a:r>
            <a:r>
              <a:rPr lang="zh-CN" altLang="en-GB" sz="28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同一类型</a:t>
            </a:r>
            <a:r>
              <a:rPr lang="zh-CN" altLang="en-GB" sz="2800" b="1" dirty="0">
                <a:latin typeface="Times New Roman" panose="02020603050405020304" pitchFamily="18" charset="0"/>
              </a:rPr>
              <a:t>的对象或者基本数据组成，并</a:t>
            </a:r>
            <a:r>
              <a:rPr lang="zh-CN" altLang="en-GB" sz="28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封装在同一个标识符</a:t>
            </a:r>
            <a:r>
              <a:rPr lang="zh-CN" altLang="en-GB" sz="2800" b="1" dirty="0">
                <a:latin typeface="Times New Roman" panose="02020603050405020304" pitchFamily="18" charset="0"/>
              </a:rPr>
              <a:t>（数组名称）下。</a:t>
            </a:r>
            <a:endParaRPr lang="en-GB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61444" name="灯片编号占位符 3"/>
          <p:cNvSpPr txBox="1">
            <a:spLocks noGrp="1"/>
          </p:cNvSpPr>
          <p:nvPr/>
        </p:nvSpPr>
        <p:spPr bwMode="auto">
          <a:xfrm>
            <a:off x="11136560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B78319C-BFD5-4929-8016-F041CA7247A3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61445" name="标题 4"/>
          <p:cNvSpPr txBox="1">
            <a:spLocks/>
          </p:cNvSpPr>
          <p:nvPr/>
        </p:nvSpPr>
        <p:spPr bwMode="auto">
          <a:xfrm>
            <a:off x="1738314" y="1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pic>
        <p:nvPicPr>
          <p:cNvPr id="61447" name="Picture 5" descr="Java4_g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872" y="2492896"/>
            <a:ext cx="1296144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E7277787-63B1-9863-5A54-77A647CF645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46CA34-60E7-DEF1-BF61-CE5352A29DD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数组的概念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内容占位符 2"/>
          <p:cNvSpPr>
            <a:spLocks noGrp="1"/>
          </p:cNvSpPr>
          <p:nvPr>
            <p:ph idx="4294967295"/>
          </p:nvPr>
        </p:nvSpPr>
        <p:spPr>
          <a:xfrm>
            <a:off x="983432" y="1700808"/>
            <a:ext cx="10873208" cy="4536503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数组是</a:t>
            </a:r>
            <a:r>
              <a:rPr lang="zh-CN" altLang="en-GB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对象</a:t>
            </a:r>
            <a:endParaRPr lang="en-GB" altLang="zh-CN" sz="2700" b="1" dirty="0">
              <a:solidFill>
                <a:srgbClr val="FF00FF"/>
              </a:solidFill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 marL="1081088" lvl="1" indent="-514350" eaLnBrk="1" hangingPunct="1">
              <a:buClr>
                <a:schemeClr val="tx1"/>
              </a:buClr>
              <a:buFont typeface="+mj-ea"/>
              <a:buAutoNum type="circleNumDbPlain"/>
            </a:pPr>
            <a:r>
              <a:rPr lang="zh-CN" altLang="en-GB" sz="27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动态初始化</a:t>
            </a:r>
            <a:endParaRPr lang="en-GB" altLang="zh-CN" sz="27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1081088" lvl="1" indent="-514350" eaLnBrk="1" hangingPunct="1"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可以赋值给</a:t>
            </a:r>
            <a:r>
              <a:rPr lang="en-GB" altLang="zh-CN" sz="27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Object</a:t>
            </a:r>
            <a:r>
              <a:rPr lang="zh-CN" altLang="en-GB" sz="27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类型</a:t>
            </a:r>
            <a:r>
              <a:rPr lang="zh-CN" altLang="en-GB" sz="2700" b="1" dirty="0">
                <a:latin typeface="Times New Roman" panose="02020603050405020304" pitchFamily="18" charset="0"/>
              </a:rPr>
              <a:t>的变量</a:t>
            </a:r>
            <a:endParaRPr lang="en-GB" altLang="zh-CN" sz="2700" b="1" dirty="0">
              <a:latin typeface="Times New Roman" panose="02020603050405020304" pitchFamily="18" charset="0"/>
            </a:endParaRPr>
          </a:p>
          <a:p>
            <a:pPr marL="1081088" lvl="1" indent="-514350"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在数组中可以调用</a:t>
            </a:r>
            <a:r>
              <a:rPr lang="en-GB" altLang="zh-CN" sz="2700" b="1" dirty="0">
                <a:latin typeface="Times New Roman" panose="02020603050405020304" pitchFamily="18" charset="0"/>
              </a:rPr>
              <a:t>Object</a:t>
            </a:r>
            <a:r>
              <a:rPr lang="zh-CN" altLang="en-GB" sz="2700" b="1" dirty="0">
                <a:latin typeface="Times New Roman" panose="02020603050405020304" pitchFamily="18" charset="0"/>
              </a:rPr>
              <a:t>类的</a:t>
            </a:r>
            <a:r>
              <a:rPr lang="zh-CN" altLang="en-GB" sz="27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所有方法</a:t>
            </a:r>
            <a:endParaRPr lang="en-US" altLang="zh-CN" sz="27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1081088" lvl="1" indent="-514350" eaLnBrk="1" hangingPunct="1"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每个数组都有一个由 </a:t>
            </a:r>
            <a:r>
              <a:rPr lang="en-GB" altLang="zh-CN" sz="2700" b="1" dirty="0">
                <a:latin typeface="Times New Roman" panose="02020603050405020304" pitchFamily="18" charset="0"/>
              </a:rPr>
              <a:t>public final </a:t>
            </a:r>
            <a:r>
              <a:rPr lang="zh-CN" altLang="en-GB" sz="2700" b="1" dirty="0">
                <a:latin typeface="Times New Roman" panose="02020603050405020304" pitchFamily="18" charset="0"/>
              </a:rPr>
              <a:t>修饰的成员变量：</a:t>
            </a:r>
            <a:r>
              <a:rPr lang="en-GB" altLang="zh-CN" sz="2700" b="1" i="1" dirty="0">
                <a:solidFill>
                  <a:srgbClr val="FF00FF"/>
                </a:solidFill>
                <a:latin typeface="Times New Roman" panose="02020603050405020304" pitchFamily="18" charset="0"/>
              </a:rPr>
              <a:t>length</a:t>
            </a:r>
            <a:r>
              <a:rPr lang="zh-CN" altLang="en-GB" sz="2700" b="1" dirty="0">
                <a:latin typeface="Times New Roman" panose="02020603050405020304" pitchFamily="18" charset="0"/>
              </a:rPr>
              <a:t> ，即数组含有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元素的个数</a:t>
            </a:r>
            <a:r>
              <a:rPr lang="zh-CN" altLang="en-GB" sz="2700" b="1" dirty="0">
                <a:latin typeface="Times New Roman" panose="02020603050405020304" pitchFamily="18" charset="0"/>
              </a:rPr>
              <a:t>（</a:t>
            </a:r>
            <a:r>
              <a:rPr lang="en-GB" altLang="zh-CN" sz="27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length</a:t>
            </a:r>
            <a:r>
              <a:rPr lang="zh-CN" altLang="en-GB" sz="2700" b="1" dirty="0">
                <a:latin typeface="Times New Roman" panose="02020603050405020304" pitchFamily="18" charset="0"/>
              </a:rPr>
              <a:t>可以是正数或零）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数组元素</a:t>
            </a:r>
            <a:endParaRPr lang="en-GB" altLang="zh-CN" sz="2700" b="1" dirty="0">
              <a:latin typeface="Times New Roman" panose="02020603050405020304" pitchFamily="18" charset="0"/>
            </a:endParaRPr>
          </a:p>
          <a:p>
            <a:pPr marL="1081088" lvl="1" indent="-514350" eaLnBrk="1" hangingPunct="1"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数组中的变量被称作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数组元素</a:t>
            </a:r>
          </a:p>
          <a:p>
            <a:pPr marL="1081088" lvl="1" indent="-514350" eaLnBrk="1" hangingPunct="1">
              <a:buFont typeface="+mj-ea"/>
              <a:buAutoNum type="circleNumDbPlain"/>
            </a:pPr>
            <a:r>
              <a:rPr lang="zh-CN" altLang="en-GB" sz="2700" b="1" dirty="0">
                <a:latin typeface="Times New Roman" panose="02020603050405020304" pitchFamily="18" charset="0"/>
              </a:rPr>
              <a:t>元素没有名字，通过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数组名字</a:t>
            </a:r>
            <a:r>
              <a:rPr lang="zh-CN" altLang="en-GB" sz="2700" b="1" dirty="0">
                <a:latin typeface="Times New Roman" panose="02020603050405020304" pitchFamily="18" charset="0"/>
              </a:rPr>
              <a:t>和</a:t>
            </a:r>
            <a:r>
              <a:rPr lang="zh-CN" altLang="en-GB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非负整数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下标值</a:t>
            </a:r>
            <a:r>
              <a:rPr lang="zh-CN" altLang="en-GB" sz="2700" b="1" dirty="0">
                <a:latin typeface="Times New Roman" panose="02020603050405020304" pitchFamily="18" charset="0"/>
              </a:rPr>
              <a:t>引用数组元素。</a:t>
            </a:r>
            <a:endParaRPr lang="en-GB" altLang="zh-CN" sz="2700" b="1" dirty="0">
              <a:latin typeface="Times New Roman" panose="02020603050405020304" pitchFamily="18" charset="0"/>
            </a:endParaRPr>
          </a:p>
        </p:txBody>
      </p:sp>
      <p:sp>
        <p:nvSpPr>
          <p:cNvPr id="63491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F3D1E4A-23C7-45BA-A786-63DA4DED0DE4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4B4248C2-870F-7CA5-CA63-DE60B678B2E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1141C1-AF6D-194F-3462-D2E7F7CF0F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数组的概念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内容占位符 2"/>
          <p:cNvSpPr>
            <a:spLocks noGrp="1"/>
          </p:cNvSpPr>
          <p:nvPr>
            <p:ph idx="4294967295"/>
          </p:nvPr>
        </p:nvSpPr>
        <p:spPr>
          <a:xfrm>
            <a:off x="2639616" y="1772816"/>
            <a:ext cx="4824536" cy="3096344"/>
          </a:xfrm>
        </p:spPr>
        <p:txBody>
          <a:bodyPr>
            <a:normAutofit/>
          </a:bodyPr>
          <a:lstStyle/>
          <a:p>
            <a:pPr marL="457200" indent="-457200" eaLnBrk="1" hangingPunct="1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700" b="1" dirty="0">
                <a:latin typeface="Times New Roman" panose="02020603050405020304" pitchFamily="18" charset="0"/>
              </a:rPr>
              <a:t>数组的声明</a:t>
            </a:r>
          </a:p>
          <a:p>
            <a:pPr marL="457200" indent="-457200" eaLnBrk="1" hangingPunct="1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700" b="1" dirty="0">
                <a:latin typeface="Times New Roman" panose="02020603050405020304" pitchFamily="18" charset="0"/>
              </a:rPr>
              <a:t>数组的创建</a:t>
            </a:r>
          </a:p>
          <a:p>
            <a:pPr marL="457200" indent="-457200" eaLnBrk="1" hangingPunct="1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700" b="1" dirty="0">
                <a:latin typeface="Times New Roman" panose="02020603050405020304" pitchFamily="18" charset="0"/>
              </a:rPr>
              <a:t>数组元素的初始化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700" b="1" dirty="0">
                <a:latin typeface="Times New Roman" panose="02020603050405020304" pitchFamily="18" charset="0"/>
              </a:rPr>
              <a:t>数组的引用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700" b="1" dirty="0">
                <a:latin typeface="Times New Roman" panose="02020603050405020304" pitchFamily="18" charset="0"/>
              </a:rPr>
              <a:t>多维数组</a:t>
            </a:r>
            <a:endParaRPr lang="en-US" altLang="zh-CN" sz="2700" b="1" dirty="0">
              <a:latin typeface="Times New Roman" panose="02020603050405020304" pitchFamily="18" charset="0"/>
            </a:endParaRPr>
          </a:p>
        </p:txBody>
      </p:sp>
      <p:sp>
        <p:nvSpPr>
          <p:cNvPr id="66564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CBC4230-BBE8-4479-9DA0-7078AA00BD65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66565" name="标题 4"/>
          <p:cNvSpPr txBox="1">
            <a:spLocks/>
          </p:cNvSpPr>
          <p:nvPr/>
        </p:nvSpPr>
        <p:spPr bwMode="auto">
          <a:xfrm>
            <a:off x="1738314" y="1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F38AB7AC-E301-5228-2A45-E62CDBE3C54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267401-F1BD-01A3-99A7-670AABA09E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09604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数组的创建和使用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767408" y="1844824"/>
            <a:ext cx="10873208" cy="172819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声明数组时</a:t>
            </a:r>
            <a:r>
              <a:rPr lang="zh-CN" altLang="en-GB" sz="2700" b="1" dirty="0">
                <a:solidFill>
                  <a:srgbClr val="00B0F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无需</a:t>
            </a:r>
            <a:r>
              <a:rPr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（可以不）</a:t>
            </a:r>
            <a:r>
              <a:rPr lang="zh-CN" altLang="en-GB" sz="2700" b="1" dirty="0">
                <a:latin typeface="Times New Roman" panose="02020603050405020304" pitchFamily="18" charset="0"/>
              </a:rPr>
              <a:t>指明数组元素的个数，也不为数组元素分配内存空间</a:t>
            </a:r>
            <a:r>
              <a:rPr lang="zh-CN" altLang="en-US" sz="2700" b="1" dirty="0">
                <a:latin typeface="Times New Roman" panose="02020603050405020304" pitchFamily="18" charset="0"/>
              </a:rPr>
              <a:t>。</a:t>
            </a:r>
            <a:endParaRPr lang="zh-CN" altLang="en-GB" sz="27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不能直接使用，</a:t>
            </a:r>
            <a:r>
              <a:rPr lang="zh-CN" altLang="en-GB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必须经过初始化分配内存后才能使用</a:t>
            </a:r>
            <a:r>
              <a:rPr lang="zh-CN" altLang="en-US" sz="2700" b="1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68611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79A3027-3012-440C-B09C-E8CF75E95B28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85CF286-8A47-51F8-4C4A-CD608BAB520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DEB082-F95A-9F72-507C-291C8AC1668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73600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数组引用的声明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063552" y="1700809"/>
            <a:ext cx="5382443" cy="3960440"/>
          </a:xfrm>
        </p:spPr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  <a:buNone/>
            </a:pPr>
            <a:r>
              <a:rPr lang="en-GB" altLang="zh-CN" sz="2700" b="1" dirty="0">
                <a:latin typeface="Times New Roman" panose="02020603050405020304" pitchFamily="18" charset="0"/>
              </a:rPr>
              <a:t>Type[ ] </a:t>
            </a:r>
            <a:r>
              <a:rPr lang="en-GB" altLang="zh-CN" sz="2700" b="1" dirty="0" err="1">
                <a:latin typeface="Times New Roman" panose="02020603050405020304" pitchFamily="18" charset="0"/>
              </a:rPr>
              <a:t>arrayName</a:t>
            </a:r>
            <a:r>
              <a:rPr lang="en-GB" altLang="zh-CN" sz="2700" b="1" dirty="0">
                <a:latin typeface="Times New Roman" panose="02020603050405020304" pitchFamily="18" charset="0"/>
              </a:rPr>
              <a:t>;   </a:t>
            </a:r>
          </a:p>
          <a:p>
            <a:pPr lvl="1" eaLnBrk="1" hangingPunct="1">
              <a:spcBef>
                <a:spcPct val="10000"/>
              </a:spcBef>
              <a:buNone/>
            </a:pPr>
            <a:r>
              <a:rPr lang="zh-CN" altLang="en-GB" sz="27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例如：</a:t>
            </a:r>
          </a:p>
          <a:p>
            <a:pPr lvl="1" eaLnBrk="1" hangingPunct="1">
              <a:spcBef>
                <a:spcPct val="10000"/>
              </a:spcBef>
              <a:buNone/>
            </a:pPr>
            <a:r>
              <a:rPr lang="en-GB" altLang="zh-CN" sz="27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 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int[] </a:t>
            </a:r>
            <a:r>
              <a:rPr lang="en-GB" altLang="zh-CN" sz="27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intArray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; </a:t>
            </a:r>
          </a:p>
          <a:p>
            <a:pPr lvl="1" eaLnBrk="1" hangingPunct="1">
              <a:spcBef>
                <a:spcPct val="10000"/>
              </a:spcBef>
              <a:buNone/>
            </a:pP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String[]  </a:t>
            </a:r>
            <a:r>
              <a:rPr lang="en-US" altLang="zh-CN" sz="2700" b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stringArray</a:t>
            </a: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</a:t>
            </a:r>
            <a:endParaRPr lang="zh-CN" altLang="en-GB" sz="2700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lang="en-GB" altLang="zh-CN" sz="2700" b="1" dirty="0">
                <a:latin typeface="Times New Roman" panose="02020603050405020304" pitchFamily="18" charset="0"/>
              </a:rPr>
              <a:t>Type  </a:t>
            </a:r>
            <a:r>
              <a:rPr lang="en-GB" altLang="zh-CN" sz="2700" b="1" dirty="0" err="1">
                <a:latin typeface="Times New Roman" panose="02020603050405020304" pitchFamily="18" charset="0"/>
              </a:rPr>
              <a:t>arrayName</a:t>
            </a:r>
            <a:r>
              <a:rPr lang="en-GB" altLang="zh-CN" sz="2700" b="1" dirty="0">
                <a:latin typeface="Times New Roman" panose="02020603050405020304" pitchFamily="18" charset="0"/>
              </a:rPr>
              <a:t>[ ];   </a:t>
            </a:r>
          </a:p>
          <a:p>
            <a:pPr lvl="1" eaLnBrk="1" hangingPunct="1">
              <a:spcBef>
                <a:spcPct val="10000"/>
              </a:spcBef>
              <a:buNone/>
            </a:pPr>
            <a:r>
              <a:rPr lang="zh-CN" altLang="en-GB" sz="27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例如：</a:t>
            </a:r>
          </a:p>
          <a:p>
            <a:pPr lvl="1" eaLnBrk="1" hangingPunct="1">
              <a:spcBef>
                <a:spcPct val="10000"/>
              </a:spcBef>
              <a:buNone/>
            </a:pPr>
            <a:r>
              <a:rPr lang="en-US" altLang="zh-CN" sz="27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int </a:t>
            </a:r>
            <a:r>
              <a:rPr lang="en-US" altLang="zh-CN" sz="27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intArray</a:t>
            </a: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[];  </a:t>
            </a:r>
          </a:p>
          <a:p>
            <a:pPr lvl="1" eaLnBrk="1" hangingPunct="1">
              <a:spcBef>
                <a:spcPct val="10000"/>
              </a:spcBef>
              <a:buNone/>
            </a:pP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         String  </a:t>
            </a:r>
            <a:r>
              <a:rPr lang="en-US" altLang="zh-CN" sz="27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stringArray</a:t>
            </a: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[];</a:t>
            </a:r>
          </a:p>
        </p:txBody>
      </p:sp>
      <p:sp>
        <p:nvSpPr>
          <p:cNvPr id="69635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12F1EA6-52DA-4E45-8B5E-7E2A30879833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928CD48C-5511-C987-53E4-575BC907319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9E28AA-9560-2A45-9773-0CC1C303FAC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73600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数组引用的声明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39416" y="1772816"/>
            <a:ext cx="10974387" cy="2520280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用关键字</a:t>
            </a:r>
            <a:r>
              <a:rPr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zh-CN" altLang="en-US" sz="2700" b="1" dirty="0">
                <a:latin typeface="Times New Roman" panose="02020603050405020304" pitchFamily="18" charset="0"/>
              </a:rPr>
              <a:t>构成数组的</a:t>
            </a:r>
            <a:r>
              <a:rPr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创建表达式</a:t>
            </a:r>
            <a:r>
              <a:rPr lang="zh-CN" altLang="en-US" sz="2700" b="1" dirty="0">
                <a:latin typeface="Times New Roman" panose="02020603050405020304" pitchFamily="18" charset="0"/>
              </a:rPr>
              <a:t>，可以指定数组的类型和数组元素的个数（</a:t>
            </a:r>
            <a:r>
              <a:rPr lang="zh-CN" altLang="en-US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可以是常量也可以是变量</a:t>
            </a:r>
            <a:r>
              <a:rPr lang="zh-CN" altLang="en-US" sz="2700" b="1" dirty="0">
                <a:latin typeface="Times New Roman" panose="02020603050405020304" pitchFamily="18" charset="0"/>
              </a:rPr>
              <a:t>）。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基本类型数组的每个元素都是一个基本类型的变量；引用类型数组的每个元素都是</a:t>
            </a:r>
            <a:r>
              <a:rPr lang="zh-CN" altLang="en-US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对象的引用</a:t>
            </a:r>
            <a:r>
              <a:rPr lang="zh-CN" altLang="en-US" sz="2700" b="1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71683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4AE7C43-0A83-43F9-BE14-1D9D092D46FB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CC88A0DF-0A2D-FC6F-23F9-43735571D98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999E92-9313-CBA5-C15E-A92DC1177E6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数组的创建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343472" y="1700809"/>
            <a:ext cx="9217024" cy="4320480"/>
          </a:xfrm>
        </p:spPr>
        <p:txBody>
          <a:bodyPr>
            <a:normAutofit/>
          </a:bodyPr>
          <a:lstStyle/>
          <a:p>
            <a:pPr eaLnBrk="1" hangingPunct="1">
              <a:buNone/>
            </a:pPr>
            <a:r>
              <a:rPr lang="en-GB" altLang="zh-CN" sz="2700" b="1" dirty="0" err="1">
                <a:latin typeface="Times New Roman" panose="02020603050405020304" pitchFamily="18" charset="0"/>
              </a:rPr>
              <a:t>arryName</a:t>
            </a:r>
            <a:r>
              <a:rPr lang="en-GB" altLang="zh-CN" sz="2700" b="1" dirty="0">
                <a:latin typeface="Times New Roman" panose="02020603050405020304" pitchFamily="18" charset="0"/>
              </a:rPr>
              <a:t>=</a:t>
            </a:r>
            <a:r>
              <a:rPr lang="en-GB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new</a:t>
            </a:r>
            <a:r>
              <a:rPr lang="en-GB" altLang="zh-CN" sz="2700" b="1" dirty="0">
                <a:latin typeface="Times New Roman" panose="02020603050405020304" pitchFamily="18" charset="0"/>
              </a:rPr>
              <a:t> Type[</a:t>
            </a:r>
            <a:r>
              <a:rPr lang="en-GB" altLang="zh-CN" sz="2700" b="1" dirty="0" err="1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componets</a:t>
            </a:r>
            <a:r>
              <a:rPr lang="en-GB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 number</a:t>
            </a:r>
            <a:r>
              <a:rPr lang="en-GB" altLang="zh-CN" sz="2700" b="1" dirty="0">
                <a:latin typeface="Times New Roman" panose="02020603050405020304" pitchFamily="18" charset="0"/>
              </a:rPr>
              <a:t>];</a:t>
            </a:r>
          </a:p>
          <a:p>
            <a:pPr lvl="1" eaLnBrk="1" hangingPunct="1"/>
            <a:r>
              <a:rPr lang="zh-CN" altLang="en-GB" sz="27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例如：</a:t>
            </a:r>
          </a:p>
          <a:p>
            <a:pPr lvl="1" eaLnBrk="1" hangingPunct="1">
              <a:buNone/>
            </a:pPr>
            <a:r>
              <a:rPr lang="en-GB" altLang="zh-CN" b="1" dirty="0">
                <a:solidFill>
                  <a:srgbClr val="00CC99"/>
                </a:solidFill>
                <a:latin typeface="Times New Roman" panose="02020603050405020304" pitchFamily="18" charset="0"/>
              </a:rPr>
              <a:t>	</a:t>
            </a:r>
            <a:r>
              <a:rPr lang="en-GB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       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int[] ai;    ai = </a:t>
            </a:r>
            <a:r>
              <a:rPr lang="en-GB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new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int[10];</a:t>
            </a:r>
          </a:p>
          <a:p>
            <a:pPr lvl="1" eaLnBrk="1" hangingPunct="1">
              <a:buNone/>
            </a:pP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	        String[] s;   s = </a:t>
            </a:r>
            <a:r>
              <a:rPr lang="en-GB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new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String[3];</a:t>
            </a:r>
          </a:p>
          <a:p>
            <a:pPr lvl="1" eaLnBrk="1" hangingPunct="1"/>
            <a:r>
              <a:rPr lang="zh-CN" altLang="en-GB" sz="27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或者</a:t>
            </a:r>
            <a:r>
              <a:rPr lang="zh-CN" altLang="en-US" sz="27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将数组的声明和创建一并执行</a:t>
            </a:r>
            <a:endParaRPr lang="en-GB" altLang="zh-CN" sz="27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zh-CN" altLang="en-US" b="1" dirty="0">
                <a:solidFill>
                  <a:srgbClr val="00CC99"/>
                </a:solidFill>
                <a:latin typeface="Times New Roman" panose="02020603050405020304" pitchFamily="18" charset="0"/>
              </a:rPr>
              <a:t>	        </a:t>
            </a: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int ai[] = </a:t>
            </a:r>
            <a:r>
              <a:rPr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new</a:t>
            </a: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int[10];</a:t>
            </a:r>
          </a:p>
          <a:p>
            <a:pPr lvl="1" eaLnBrk="1" hangingPunct="1"/>
            <a:r>
              <a:rPr lang="zh-CN" altLang="en-US" sz="27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或在一条声明语句中创建多个数组 </a:t>
            </a:r>
          </a:p>
          <a:p>
            <a:pPr lvl="1" eaLnBrk="1" hangingPunct="1">
              <a:buNone/>
            </a:pPr>
            <a:r>
              <a:rPr lang="zh-CN" altLang="en-US" b="1" dirty="0">
                <a:solidFill>
                  <a:srgbClr val="00CC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700" b="1" dirty="0">
                <a:solidFill>
                  <a:srgbClr val="00CC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String[]  s1 = </a:t>
            </a:r>
            <a:r>
              <a:rPr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String[3],  s2 = </a:t>
            </a:r>
            <a:r>
              <a:rPr lang="en-US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String[8];</a:t>
            </a:r>
          </a:p>
        </p:txBody>
      </p:sp>
      <p:sp>
        <p:nvSpPr>
          <p:cNvPr id="72707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3EB8A60-3FD7-497B-AE94-FB1347DF26A1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99908200-C2A8-641D-BF56-1DEF426CD73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AE7F18-2D33-AB9F-1B54-D35CCCB7947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数组的创建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67408" y="1457494"/>
            <a:ext cx="10873208" cy="5040560"/>
          </a:xfrm>
        </p:spPr>
        <p:txBody>
          <a:bodyPr>
            <a:noAutofit/>
          </a:bodyPr>
          <a:lstStyle/>
          <a:p>
            <a:pPr eaLnBrk="1" hangingPunct="1">
              <a:lnSpc>
                <a:spcPct val="16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声明数组名时，给出了数组的初始值，程序便会利用数组初始值创建数组并对它的各个元素进行初始化</a:t>
            </a:r>
          </a:p>
          <a:p>
            <a:pPr eaLnBrk="1" hangingPunct="1">
              <a:lnSpc>
                <a:spcPct val="16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99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a[] = 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{22, 33, 44, 55}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zh-CN" altLang="en-GB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6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创建数组的时，如果没有指定初始值，数组便被赋予</a:t>
            </a:r>
            <a:r>
              <a:rPr lang="zh-CN" altLang="en-US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默认值初始值</a:t>
            </a:r>
            <a:r>
              <a:rPr lang="zh-CN" altLang="en-US" sz="2700" b="1" dirty="0">
                <a:latin typeface="Times New Roman" panose="02020603050405020304" pitchFamily="18" charset="0"/>
              </a:rPr>
              <a:t>。 </a:t>
            </a:r>
          </a:p>
          <a:p>
            <a:pPr lvl="1" eaLnBrk="1" hangingPunct="1">
              <a:lnSpc>
                <a:spcPct val="16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基本类型数值数据，默认的初始值为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；</a:t>
            </a:r>
          </a:p>
          <a:p>
            <a:pPr lvl="1" eaLnBrk="1" hangingPunct="1">
              <a:lnSpc>
                <a:spcPct val="160000"/>
              </a:lnSpc>
              <a:spcBef>
                <a:spcPct val="0"/>
              </a:spcBef>
            </a:pPr>
            <a:r>
              <a:rPr lang="en-US" altLang="zh-CN" sz="2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boolean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类型数据，默认值为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false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; </a:t>
            </a:r>
          </a:p>
          <a:p>
            <a:pPr lvl="1" eaLnBrk="1" hangingPunct="1">
              <a:lnSpc>
                <a:spcPct val="16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引用类型元素的默认值为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null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。 </a:t>
            </a:r>
          </a:p>
          <a:p>
            <a:pPr eaLnBrk="1" hangingPunct="1">
              <a:lnSpc>
                <a:spcPct val="16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程序可以在</a:t>
            </a:r>
            <a:r>
              <a:rPr lang="zh-CN" altLang="en-US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数组被构造</a:t>
            </a:r>
            <a:r>
              <a:rPr lang="zh-CN" altLang="en-US" sz="2700" b="1" dirty="0">
                <a:latin typeface="Times New Roman" panose="02020603050405020304" pitchFamily="18" charset="0"/>
              </a:rPr>
              <a:t>之后改变数组元素值</a:t>
            </a:r>
            <a:endParaRPr lang="en-GB" altLang="zh-CN" sz="2700" b="1" dirty="0">
              <a:latin typeface="Times New Roman" panose="02020603050405020304" pitchFamily="18" charset="0"/>
            </a:endParaRPr>
          </a:p>
        </p:txBody>
      </p:sp>
      <p:sp>
        <p:nvSpPr>
          <p:cNvPr id="75779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5158E85-B3AE-4897-91A5-1D8807C5F388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5EE7DDC2-2DE2-8E4E-74C7-710E3A2DDC5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BEC5FF-85A5-F38D-53DC-B0ECD2ED497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09604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数组元素的初始化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983432" y="1700808"/>
            <a:ext cx="10945216" cy="3517221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引用数组的一个元素：</a:t>
            </a:r>
            <a:r>
              <a:rPr lang="en-GB" altLang="zh-CN" sz="2700" b="1" dirty="0">
                <a:latin typeface="Times New Roman" panose="02020603050405020304" pitchFamily="18" charset="0"/>
              </a:rPr>
              <a:t>  </a:t>
            </a:r>
            <a:r>
              <a:rPr lang="en-GB" altLang="zh-CN" sz="27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arrayName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[index]</a:t>
            </a:r>
          </a:p>
          <a:p>
            <a:pPr lvl="1" eaLnBrk="1" hangingPunct="1"/>
            <a:r>
              <a:rPr lang="zh-CN" altLang="en-GB" sz="2700" b="1" dirty="0">
                <a:latin typeface="Times New Roman" panose="02020603050405020304" pitchFamily="18" charset="0"/>
              </a:rPr>
              <a:t>数组下标必须是 </a:t>
            </a:r>
            <a:r>
              <a:rPr lang="en-GB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int , short, byte, </a:t>
            </a:r>
            <a:r>
              <a:rPr lang="zh-CN" altLang="en-GB" sz="2700" b="1" dirty="0">
                <a:latin typeface="Times New Roman" panose="02020603050405020304" pitchFamily="18" charset="0"/>
              </a:rPr>
              <a:t>或者</a:t>
            </a:r>
            <a:r>
              <a:rPr lang="en-GB" altLang="zh-CN" sz="2700" b="1" dirty="0">
                <a:latin typeface="Times New Roman" panose="02020603050405020304" pitchFamily="18" charset="0"/>
              </a:rPr>
              <a:t> </a:t>
            </a:r>
            <a:r>
              <a:rPr lang="en-GB" altLang="zh-CN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char</a:t>
            </a:r>
            <a:r>
              <a:rPr lang="zh-CN" altLang="en-US" sz="2700" b="1" dirty="0">
                <a:latin typeface="Times New Roman" panose="02020603050405020304" pitchFamily="18" charset="0"/>
              </a:rPr>
              <a:t>。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GB" sz="2700" b="1" dirty="0">
                <a:latin typeface="Times New Roman" panose="02020603050405020304" pitchFamily="18" charset="0"/>
              </a:rPr>
              <a:t>下标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从零开始</a:t>
            </a:r>
            <a:r>
              <a:rPr lang="zh-CN" altLang="en-GB" sz="2700" b="1" dirty="0">
                <a:latin typeface="Times New Roman" panose="02020603050405020304" pitchFamily="18" charset="0"/>
              </a:rPr>
              <a:t>计数</a:t>
            </a:r>
            <a:r>
              <a:rPr lang="zh-CN" altLang="en-US" sz="2700" b="1" dirty="0">
                <a:latin typeface="Times New Roman" panose="02020603050405020304" pitchFamily="18" charset="0"/>
              </a:rPr>
              <a:t>。</a:t>
            </a:r>
            <a:endParaRPr lang="en-GB" altLang="zh-CN" sz="27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元素的个数即为数组的长度，可以通过 </a:t>
            </a:r>
            <a:r>
              <a:rPr lang="en-GB" altLang="zh-CN" sz="2700" b="1" dirty="0" err="1">
                <a:latin typeface="Times New Roman" panose="02020603050405020304" pitchFamily="18" charset="0"/>
              </a:rPr>
              <a:t>arryName.length</a:t>
            </a:r>
            <a:r>
              <a:rPr lang="zh-CN" altLang="en-US" sz="2700" b="1" dirty="0">
                <a:latin typeface="Times New Roman" panose="02020603050405020304" pitchFamily="18" charset="0"/>
              </a:rPr>
              <a:t>得到。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GB" sz="2700" b="1" dirty="0">
                <a:latin typeface="Times New Roman" panose="02020603050405020304" pitchFamily="18" charset="0"/>
              </a:rPr>
              <a:t>元素</a:t>
            </a:r>
            <a:r>
              <a:rPr lang="zh-CN" altLang="en-GB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下标最大值为</a:t>
            </a:r>
            <a:r>
              <a:rPr lang="en-GB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length – 1</a:t>
            </a:r>
            <a:r>
              <a:rPr lang="en-GB" altLang="zh-CN" sz="2700" b="1" dirty="0">
                <a:latin typeface="Times New Roman" panose="02020603050405020304" pitchFamily="18" charset="0"/>
              </a:rPr>
              <a:t>，</a:t>
            </a:r>
            <a:r>
              <a:rPr lang="zh-CN" altLang="en-GB" sz="2700" b="1" dirty="0">
                <a:latin typeface="Times New Roman" panose="02020603050405020304" pitchFamily="18" charset="0"/>
              </a:rPr>
              <a:t>如果</a:t>
            </a:r>
            <a:r>
              <a:rPr lang="zh-CN" altLang="en-US" sz="2700" b="1" dirty="0">
                <a:latin typeface="Times New Roman" panose="02020603050405020304" pitchFamily="18" charset="0"/>
              </a:rPr>
              <a:t>超过最大值，将会产生数组越界异常（</a:t>
            </a:r>
            <a:r>
              <a:rPr lang="en-US" altLang="zh-CN" sz="27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ArrayIndexOutOfBoundsException</a:t>
            </a:r>
            <a:r>
              <a:rPr lang="zh-CN" altLang="en-US" sz="2700" b="1" dirty="0">
                <a:latin typeface="Times New Roman" panose="02020603050405020304" pitchFamily="18" charset="0"/>
              </a:rPr>
              <a:t>） </a:t>
            </a:r>
            <a:endParaRPr lang="en-GB" altLang="zh-CN" sz="2700" b="1" dirty="0">
              <a:latin typeface="Times New Roman" panose="02020603050405020304" pitchFamily="18" charset="0"/>
            </a:endParaRPr>
          </a:p>
        </p:txBody>
      </p:sp>
      <p:sp>
        <p:nvSpPr>
          <p:cNvPr id="78851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6DF575-33D8-4715-BF94-77F830573E5B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5A6EAF93-401B-4471-9C61-5E2BD51357F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98BC92-138C-8747-950C-1DC469315AA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72789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使用数组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内容占位符 2"/>
          <p:cNvSpPr>
            <a:spLocks/>
          </p:cNvSpPr>
          <p:nvPr/>
        </p:nvSpPr>
        <p:spPr bwMode="auto">
          <a:xfrm>
            <a:off x="1839913" y="765176"/>
            <a:ext cx="8229600" cy="53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2438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852488" indent="-246063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en-GB" altLang="zh-CN" sz="2200">
              <a:latin typeface="Arial Unicode MS" panose="020B0604020202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408368" y="3717032"/>
            <a:ext cx="2232025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Georgia" panose="02040502050405020303" pitchFamily="18" charset="0"/>
              <a:buNone/>
              <a:defRPr/>
            </a:pPr>
            <a:r>
              <a:rPr kumimoji="0" lang="zh-CN" altLang="pt-BR" dirty="0">
                <a:ea typeface="楷体" panose="02010609060101010101" pitchFamily="49" charset="-122"/>
              </a:rPr>
              <a:t>运行结果：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kumimoji="0" lang="pt-BR" altLang="zh-CN" dirty="0">
                <a:ea typeface="楷体" panose="02010609060101010101" pitchFamily="49" charset="-122"/>
              </a:rPr>
              <a:t>a1[0] = 2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kumimoji="0" lang="pt-BR" altLang="zh-CN" dirty="0">
                <a:ea typeface="楷体" panose="02010609060101010101" pitchFamily="49" charset="-122"/>
              </a:rPr>
              <a:t>a1[1] = 3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kumimoji="0" lang="pt-BR" altLang="zh-CN" dirty="0">
                <a:ea typeface="楷体" panose="02010609060101010101" pitchFamily="49" charset="-122"/>
              </a:rPr>
              <a:t>a1[2] = 4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kumimoji="0" lang="pt-BR" altLang="zh-CN" dirty="0">
                <a:ea typeface="楷体" panose="02010609060101010101" pitchFamily="49" charset="-122"/>
              </a:rPr>
              <a:t>a1[3] = 5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kumimoji="0" lang="pt-BR" altLang="zh-CN" dirty="0">
                <a:ea typeface="楷体" panose="02010609060101010101" pitchFamily="49" charset="-122"/>
              </a:rPr>
              <a:t>a1[4] = 6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294967295"/>
          </p:nvPr>
        </p:nvSpPr>
        <p:spPr>
          <a:xfrm>
            <a:off x="983432" y="1559172"/>
            <a:ext cx="8667559" cy="4570167"/>
          </a:xfrm>
        </p:spPr>
        <p:txBody>
          <a:bodyPr>
            <a:normAutofit/>
          </a:bodyPr>
          <a:lstStyle/>
          <a:p>
            <a:pPr>
              <a:spcBef>
                <a:spcPct val="15000"/>
              </a:spcBef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public </a:t>
            </a:r>
            <a:r>
              <a:rPr lang="en-GB" altLang="zh-CN" sz="25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class</a:t>
            </a:r>
            <a:r>
              <a:rPr lang="en-GB" altLang="zh-CN" sz="2500" b="1" dirty="0">
                <a:latin typeface="Times New Roman" panose="02020603050405020304" pitchFamily="18" charset="0"/>
              </a:rPr>
              <a:t> Arrays {</a:t>
            </a:r>
          </a:p>
          <a:p>
            <a:pPr>
              <a:spcBef>
                <a:spcPct val="15000"/>
              </a:spcBef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 public static void </a:t>
            </a:r>
            <a:r>
              <a:rPr lang="en-GB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main</a:t>
            </a:r>
            <a:r>
              <a:rPr lang="en-GB" altLang="zh-CN" sz="2500" b="1" dirty="0">
                <a:latin typeface="Times New Roman" panose="02020603050405020304" pitchFamily="18" charset="0"/>
              </a:rPr>
              <a:t>(String[]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args</a:t>
            </a:r>
            <a:r>
              <a:rPr lang="en-GB" altLang="zh-CN" sz="2500" b="1" dirty="0">
                <a:latin typeface="Times New Roman" panose="02020603050405020304" pitchFamily="18" charset="0"/>
              </a:rPr>
              <a:t>) { </a:t>
            </a:r>
          </a:p>
          <a:p>
            <a:pPr eaLnBrk="1" hangingPunct="1">
              <a:spcBef>
                <a:spcPct val="15000"/>
              </a:spcBef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        int[] a1 = { 1, 2, 3, 4, 5 }; </a:t>
            </a:r>
          </a:p>
          <a:p>
            <a:pPr eaLnBrk="1" hangingPunct="1">
              <a:spcBef>
                <a:spcPct val="15000"/>
              </a:spcBef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        int[] a2; </a:t>
            </a:r>
          </a:p>
          <a:p>
            <a:pPr eaLnBrk="1" hangingPunct="1">
              <a:spcBef>
                <a:spcPct val="15000"/>
              </a:spcBef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        </a:t>
            </a:r>
            <a:r>
              <a:rPr lang="en-GB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a2 = a1;</a:t>
            </a:r>
            <a:r>
              <a:rPr lang="en-GB" altLang="zh-CN" sz="2500" b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15000"/>
              </a:spcBef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        for(int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latin typeface="Times New Roman" panose="02020603050405020304" pitchFamily="18" charset="0"/>
              </a:rPr>
              <a:t> = 0; </a:t>
            </a:r>
            <a:r>
              <a:rPr lang="en-GB" altLang="zh-CN" sz="2500" b="1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 &lt; a2.length</a:t>
            </a:r>
            <a:r>
              <a:rPr lang="en-GB" altLang="zh-CN" sz="2500" b="1" dirty="0">
                <a:latin typeface="Times New Roman" panose="02020603050405020304" pitchFamily="18" charset="0"/>
              </a:rPr>
              <a:t>;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latin typeface="Times New Roman" panose="02020603050405020304" pitchFamily="18" charset="0"/>
              </a:rPr>
              <a:t>++)   a2[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latin typeface="Times New Roman" panose="02020603050405020304" pitchFamily="18" charset="0"/>
              </a:rPr>
              <a:t>]++; </a:t>
            </a:r>
          </a:p>
          <a:p>
            <a:pPr eaLnBrk="1" hangingPunct="1">
              <a:spcBef>
                <a:spcPct val="15000"/>
              </a:spcBef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        for(int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latin typeface="Times New Roman" panose="02020603050405020304" pitchFamily="18" charset="0"/>
              </a:rPr>
              <a:t> = 0;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latin typeface="Times New Roman" panose="02020603050405020304" pitchFamily="18" charset="0"/>
              </a:rPr>
              <a:t> &lt; a1.length;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latin typeface="Times New Roman" panose="02020603050405020304" pitchFamily="18" charset="0"/>
              </a:rPr>
              <a:t>++) </a:t>
            </a:r>
          </a:p>
          <a:p>
            <a:pPr eaLnBrk="1" hangingPunct="1">
              <a:spcBef>
                <a:spcPct val="15000"/>
              </a:spcBef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              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System.out.println</a:t>
            </a:r>
            <a:r>
              <a:rPr lang="en-GB" altLang="zh-CN" sz="2500" b="1" dirty="0">
                <a:latin typeface="Times New Roman" panose="02020603050405020304" pitchFamily="18" charset="0"/>
              </a:rPr>
              <a:t>( </a:t>
            </a:r>
            <a:r>
              <a:rPr lang="en-GB" altLang="zh-CN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"a1[" + </a:t>
            </a:r>
            <a:r>
              <a:rPr lang="en-GB" altLang="zh-CN" sz="25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+ "] = " + a1[</a:t>
            </a:r>
            <a:r>
              <a:rPr lang="en-GB" altLang="zh-CN" sz="25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]</a:t>
            </a:r>
            <a:r>
              <a:rPr lang="en-GB" altLang="zh-CN" sz="2500" b="1" dirty="0">
                <a:latin typeface="Times New Roman" panose="02020603050405020304" pitchFamily="18" charset="0"/>
              </a:rPr>
              <a:t>); </a:t>
            </a:r>
          </a:p>
          <a:p>
            <a:pPr eaLnBrk="1" hangingPunct="1">
              <a:spcBef>
                <a:spcPct val="15000"/>
              </a:spcBef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  } </a:t>
            </a:r>
          </a:p>
          <a:p>
            <a:pPr eaLnBrk="1" hangingPunct="1">
              <a:spcBef>
                <a:spcPct val="15000"/>
              </a:spcBef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} </a:t>
            </a:r>
            <a:endParaRPr lang="zh-CN" altLang="en-US" sz="2500" dirty="0">
              <a:latin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3E1D374-A098-07E0-3472-B6FF626FF92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5C2EA8-6BC5-D156-1FA7-913FF84D9A3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714817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使用数组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911424" y="1656392"/>
            <a:ext cx="10974387" cy="4248472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//</a:t>
            </a:r>
            <a:r>
              <a:rPr lang="zh-CN" altLang="en-US" sz="2800" dirty="0">
                <a:latin typeface="Times New Roman" panose="02020603050405020304" pitchFamily="18" charset="0"/>
              </a:rPr>
              <a:t>每个数组元素都是</a:t>
            </a:r>
            <a:r>
              <a:rPr lang="zh-CN" altLang="en-US" sz="2800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引用</a:t>
            </a:r>
            <a:endParaRPr lang="zh-CN" altLang="en-GB" sz="2800" dirty="0">
              <a:solidFill>
                <a:srgbClr val="FF00FF"/>
              </a:solidFill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public </a:t>
            </a:r>
            <a:r>
              <a:rPr lang="en-GB" altLang="zh-CN" sz="25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class</a:t>
            </a:r>
            <a:r>
              <a:rPr lang="en-GB" altLang="zh-CN" sz="2500" b="1" dirty="0">
                <a:latin typeface="Times New Roman" panose="02020603050405020304" pitchFamily="18" charset="0"/>
              </a:rPr>
              <a:t>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ArrayOfStringsDemo</a:t>
            </a:r>
            <a:r>
              <a:rPr lang="en-GB" altLang="zh-CN" sz="2500" b="1" dirty="0">
                <a:latin typeface="Times New Roman" panose="02020603050405020304" pitchFamily="18" charset="0"/>
              </a:rPr>
              <a:t> { </a:t>
            </a:r>
          </a:p>
          <a:p>
            <a:pPr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public static void </a:t>
            </a:r>
            <a:r>
              <a:rPr lang="en-GB" altLang="zh-CN" sz="25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main</a:t>
            </a:r>
            <a:r>
              <a:rPr lang="en-GB" altLang="zh-CN" sz="2500" b="1" dirty="0">
                <a:latin typeface="Times New Roman" panose="02020603050405020304" pitchFamily="18" charset="0"/>
              </a:rPr>
              <a:t>(String[]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args</a:t>
            </a:r>
            <a:r>
              <a:rPr lang="en-GB" altLang="zh-CN" sz="2500" b="1" dirty="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       String[]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anArray</a:t>
            </a:r>
            <a:r>
              <a:rPr lang="en-GB" altLang="zh-CN" sz="2500" b="1" dirty="0">
                <a:latin typeface="Times New Roman" panose="02020603050405020304" pitchFamily="18" charset="0"/>
              </a:rPr>
              <a:t> = { "String One", "String Two", "String Three"};</a:t>
            </a:r>
          </a:p>
          <a:p>
            <a:pPr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       for (int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latin typeface="Times New Roman" panose="02020603050405020304" pitchFamily="18" charset="0"/>
              </a:rPr>
              <a:t> = 0; </a:t>
            </a:r>
            <a:r>
              <a:rPr lang="en-GB" altLang="zh-CN" sz="2500" b="1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 &lt; </a:t>
            </a:r>
            <a:r>
              <a:rPr lang="en-GB" altLang="zh-CN" sz="2500" b="1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anArray.length</a:t>
            </a:r>
            <a:r>
              <a:rPr lang="en-GB" altLang="zh-CN" sz="2500" b="1" dirty="0">
                <a:latin typeface="Times New Roman" panose="02020603050405020304" pitchFamily="18" charset="0"/>
              </a:rPr>
              <a:t>;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latin typeface="Times New Roman" panose="02020603050405020304" pitchFamily="18" charset="0"/>
              </a:rPr>
              <a:t>++) {</a:t>
            </a:r>
          </a:p>
          <a:p>
            <a:pPr eaLnBrk="1" hangingPunct="1"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                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System.out.println</a:t>
            </a:r>
            <a:r>
              <a:rPr lang="en-GB" altLang="zh-CN" sz="2500" b="1" dirty="0">
                <a:latin typeface="Times New Roman" panose="02020603050405020304" pitchFamily="18" charset="0"/>
              </a:rPr>
              <a:t>(</a:t>
            </a:r>
            <a:r>
              <a:rPr lang="en-GB" altLang="zh-CN" sz="25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anArray</a:t>
            </a:r>
            <a:r>
              <a:rPr lang="en-GB" altLang="zh-CN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[</a:t>
            </a:r>
            <a:r>
              <a:rPr lang="en-GB" altLang="zh-CN" sz="25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i</a:t>
            </a:r>
            <a:r>
              <a:rPr lang="en-GB" altLang="zh-CN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]</a:t>
            </a:r>
            <a:r>
              <a:rPr lang="en-GB" altLang="zh-CN" sz="2500" b="1" dirty="0">
                <a:latin typeface="Times New Roman" panose="02020603050405020304" pitchFamily="18" charset="0"/>
              </a:rPr>
              <a:t>.</a:t>
            </a:r>
            <a:r>
              <a:rPr lang="en-GB" altLang="zh-CN" sz="2500" b="1" dirty="0" err="1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toLowerCase</a:t>
            </a:r>
            <a:r>
              <a:rPr lang="en-GB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()</a:t>
            </a:r>
            <a:r>
              <a:rPr lang="en-GB" altLang="zh-CN" sz="2500" b="1" dirty="0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       } </a:t>
            </a:r>
          </a:p>
          <a:p>
            <a:pPr eaLnBrk="1" hangingPunct="1"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       } </a:t>
            </a:r>
          </a:p>
          <a:p>
            <a:pPr eaLnBrk="1" hangingPunct="1"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} </a:t>
            </a:r>
          </a:p>
        </p:txBody>
      </p:sp>
      <p:sp>
        <p:nvSpPr>
          <p:cNvPr id="80900" name="Text Box 7"/>
          <p:cNvSpPr txBox="1">
            <a:spLocks noChangeArrowheads="1"/>
          </p:cNvSpPr>
          <p:nvPr/>
        </p:nvSpPr>
        <p:spPr bwMode="auto">
          <a:xfrm>
            <a:off x="9120336" y="5085184"/>
            <a:ext cx="261726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运行结果：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string one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string two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string three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12DCD0F-4A5B-16C7-46C8-BD3E4F3B534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CF7023-87E9-8AF4-6EB7-0C74A8D1C52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72789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使用数组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9397584-35C6-48C9-A5DC-57E940318C81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82948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2" y="2685238"/>
            <a:ext cx="8597522" cy="35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12247" y="1556792"/>
            <a:ext cx="11122905" cy="584775"/>
          </a:xfrm>
        </p:spPr>
        <p:txBody>
          <a:bodyPr>
            <a:normAutofit fontScale="85000" lnSpcReduction="10000"/>
          </a:bodyPr>
          <a:lstStyle/>
          <a:p>
            <a:pPr marL="0" indent="0" eaLnBrk="1" hangingPunct="1">
              <a:buNone/>
            </a:pPr>
            <a:r>
              <a:rPr lang="en-GB" altLang="zh-CN" sz="2500" b="1" dirty="0">
                <a:latin typeface="Times New Roman" panose="02020603050405020304" pitchFamily="18" charset="0"/>
              </a:rPr>
              <a:t>public static void </a:t>
            </a:r>
            <a:r>
              <a:rPr lang="en-GB" altLang="zh-CN" sz="2500" b="1" dirty="0" err="1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arraycopy</a:t>
            </a:r>
            <a:r>
              <a:rPr lang="en-GB" altLang="zh-CN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(</a:t>
            </a:r>
            <a:r>
              <a:rPr lang="en-GB" altLang="zh-CN" sz="2500" b="1" dirty="0">
                <a:latin typeface="Times New Roman" panose="02020603050405020304" pitchFamily="18" charset="0"/>
              </a:rPr>
              <a:t>Object []</a:t>
            </a:r>
            <a:r>
              <a:rPr lang="en-GB" altLang="zh-CN" sz="2500" b="1" i="1" dirty="0" err="1">
                <a:latin typeface="Times New Roman" panose="02020603050405020304" pitchFamily="18" charset="0"/>
              </a:rPr>
              <a:t>source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,int</a:t>
            </a:r>
            <a:r>
              <a:rPr lang="en-GB" altLang="zh-CN" sz="2500" b="1" dirty="0">
                <a:latin typeface="Times New Roman" panose="02020603050405020304" pitchFamily="18" charset="0"/>
              </a:rPr>
              <a:t> </a:t>
            </a:r>
            <a:r>
              <a:rPr lang="en-GB" altLang="zh-CN" sz="2500" b="1" i="1" dirty="0" err="1">
                <a:latin typeface="Times New Roman" panose="02020603050405020304" pitchFamily="18" charset="0"/>
              </a:rPr>
              <a:t>srcIndex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,Object</a:t>
            </a:r>
            <a:r>
              <a:rPr lang="en-GB" altLang="zh-CN" sz="2500" b="1" dirty="0">
                <a:latin typeface="Times New Roman" panose="02020603050405020304" pitchFamily="18" charset="0"/>
              </a:rPr>
              <a:t> []</a:t>
            </a:r>
            <a:r>
              <a:rPr lang="en-GB" altLang="zh-CN" sz="2500" b="1" i="1" dirty="0" err="1">
                <a:latin typeface="Times New Roman" panose="02020603050405020304" pitchFamily="18" charset="0"/>
              </a:rPr>
              <a:t>dest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,int</a:t>
            </a:r>
            <a:r>
              <a:rPr lang="en-GB" altLang="zh-CN" sz="2500" b="1" dirty="0">
                <a:latin typeface="Times New Roman" panose="02020603050405020304" pitchFamily="18" charset="0"/>
              </a:rPr>
              <a:t> </a:t>
            </a:r>
            <a:r>
              <a:rPr lang="en-GB" altLang="zh-CN" sz="2500" b="1" i="1" dirty="0" err="1">
                <a:latin typeface="Times New Roman" panose="02020603050405020304" pitchFamily="18" charset="0"/>
              </a:rPr>
              <a:t>destIndex</a:t>
            </a:r>
            <a:r>
              <a:rPr lang="en-GB" altLang="zh-CN" sz="2500" b="1" dirty="0" err="1">
                <a:latin typeface="Times New Roman" panose="02020603050405020304" pitchFamily="18" charset="0"/>
              </a:rPr>
              <a:t>,int</a:t>
            </a:r>
            <a:r>
              <a:rPr lang="en-GB" altLang="zh-CN" sz="2500" b="1" dirty="0">
                <a:latin typeface="Times New Roman" panose="02020603050405020304" pitchFamily="18" charset="0"/>
              </a:rPr>
              <a:t> </a:t>
            </a:r>
            <a:r>
              <a:rPr lang="en-GB" altLang="zh-CN" sz="2500" b="1" i="1" dirty="0">
                <a:latin typeface="Times New Roman" panose="02020603050405020304" pitchFamily="18" charset="0"/>
              </a:rPr>
              <a:t>length</a:t>
            </a:r>
            <a:r>
              <a:rPr lang="en-GB" altLang="zh-CN" sz="2500" b="1" dirty="0">
                <a:latin typeface="Times New Roman" panose="02020603050405020304" pitchFamily="18" charset="0"/>
              </a:rPr>
              <a:t> 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F2457-F44B-F19E-1D7A-FE7CBD57C2D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882C00-F231-D166-7D7B-0404C7047F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159938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使用数组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17553" y="1979713"/>
            <a:ext cx="4702384" cy="3249487"/>
          </a:xfrm>
        </p:spPr>
        <p:txBody>
          <a:bodyPr>
            <a:normAutofit/>
          </a:bodyPr>
          <a:lstStyle/>
          <a:p>
            <a:pPr eaLnBrk="1" hangingPunct="1">
              <a:buNone/>
            </a:pPr>
            <a:r>
              <a:rPr lang="en-US" altLang="zh-CN" sz="2500" b="1" dirty="0">
                <a:latin typeface="Times New Roman" panose="02020603050405020304" pitchFamily="18" charset="0"/>
                <a:cs typeface="Arial Unicode MS" panose="020B0604020202020204" pitchFamily="34" charset="-122"/>
              </a:rPr>
              <a:t>int[][] </a:t>
            </a:r>
            <a:r>
              <a:rPr lang="en-US" altLang="zh-CN" sz="2500" b="1" dirty="0" err="1">
                <a:latin typeface="Times New Roman" panose="02020603050405020304" pitchFamily="18" charset="0"/>
                <a:cs typeface="Arial Unicode MS" panose="020B0604020202020204" pitchFamily="34" charset="-122"/>
              </a:rPr>
              <a:t>gradeTable</a:t>
            </a:r>
            <a:r>
              <a:rPr lang="en-US" altLang="zh-CN" sz="2500" b="1" dirty="0">
                <a:latin typeface="Times New Roman" panose="02020603050405020304" pitchFamily="18" charset="0"/>
                <a:cs typeface="Arial Unicode MS" panose="020B0604020202020204" pitchFamily="34" charset="-122"/>
              </a:rPr>
              <a:t>;</a:t>
            </a:r>
          </a:p>
          <a:p>
            <a:pPr eaLnBrk="1" hangingPunct="1">
              <a:buNone/>
            </a:pPr>
            <a:r>
              <a:rPr lang="en-US" altLang="zh-CN" sz="2500" b="1" dirty="0">
                <a:latin typeface="Times New Roman" panose="02020603050405020304" pitchFamily="18" charset="0"/>
                <a:cs typeface="Arial Unicode MS" panose="020B0604020202020204" pitchFamily="34" charset="-122"/>
              </a:rPr>
              <a:t>……</a:t>
            </a:r>
          </a:p>
          <a:p>
            <a:pPr eaLnBrk="1" hangingPunct="1">
              <a:buNone/>
            </a:pPr>
            <a:endParaRPr lang="en-US" altLang="zh-CN" sz="2500" b="1" dirty="0">
              <a:latin typeface="Times New Roman" panose="02020603050405020304" pitchFamily="18" charset="0"/>
              <a:cs typeface="Arial Unicode MS" panose="020B0604020202020204" pitchFamily="34" charset="-122"/>
            </a:endParaRPr>
          </a:p>
          <a:p>
            <a:pPr eaLnBrk="1" hangingPunct="1">
              <a:buNone/>
            </a:pPr>
            <a:r>
              <a:rPr lang="en-US" altLang="zh-CN" sz="2500" b="1" dirty="0" err="1">
                <a:latin typeface="Times New Roman" panose="02020603050405020304" pitchFamily="18" charset="0"/>
                <a:cs typeface="Arial Unicode MS" panose="020B0604020202020204" pitchFamily="34" charset="-122"/>
              </a:rPr>
              <a:t>gradeTable</a:t>
            </a:r>
            <a:r>
              <a:rPr lang="en-US" altLang="zh-CN" sz="2500" b="1" dirty="0">
                <a:latin typeface="Times New Roman" panose="02020603050405020304" pitchFamily="18" charset="0"/>
                <a:cs typeface="Arial Unicode MS" panose="020B0604020202020204" pitchFamily="34" charset="-122"/>
              </a:rPr>
              <a:t>[ 0 ][ 1 ]</a:t>
            </a:r>
            <a:r>
              <a:rPr lang="en-US" altLang="zh-CN" sz="2500" b="1" dirty="0">
                <a:latin typeface="Times New Roman" panose="02020603050405020304" pitchFamily="18" charset="0"/>
              </a:rPr>
              <a:t> </a:t>
            </a:r>
            <a:r>
              <a:rPr lang="zh-CN" altLang="en-US" sz="2500" b="1" dirty="0">
                <a:latin typeface="Times New Roman" panose="02020603050405020304" pitchFamily="18" charset="0"/>
              </a:rPr>
              <a:t>为</a:t>
            </a:r>
            <a:r>
              <a:rPr lang="en-US" altLang="zh-CN" sz="2500" b="1" dirty="0">
                <a:latin typeface="Times New Roman" panose="02020603050405020304" pitchFamily="18" charset="0"/>
              </a:rPr>
              <a:t>42</a:t>
            </a:r>
          </a:p>
          <a:p>
            <a:pPr eaLnBrk="1" hangingPunct="1">
              <a:buNone/>
            </a:pPr>
            <a:r>
              <a:rPr lang="en-US" altLang="zh-CN" sz="2500" b="1" dirty="0" err="1">
                <a:latin typeface="Times New Roman" panose="02020603050405020304" pitchFamily="18" charset="0"/>
                <a:cs typeface="Arial Unicode MS" panose="020B0604020202020204" pitchFamily="34" charset="-122"/>
              </a:rPr>
              <a:t>gradeTable</a:t>
            </a:r>
            <a:r>
              <a:rPr lang="en-US" altLang="zh-CN" sz="2500" b="1" dirty="0">
                <a:latin typeface="Times New Roman" panose="02020603050405020304" pitchFamily="18" charset="0"/>
                <a:cs typeface="Arial Unicode MS" panose="020B0604020202020204" pitchFamily="34" charset="-122"/>
              </a:rPr>
              <a:t>[ 3 ][ 4 ]</a:t>
            </a:r>
            <a:r>
              <a:rPr lang="en-US" altLang="zh-CN" sz="2500" b="1" dirty="0">
                <a:latin typeface="Times New Roman" panose="02020603050405020304" pitchFamily="18" charset="0"/>
              </a:rPr>
              <a:t> </a:t>
            </a:r>
            <a:r>
              <a:rPr lang="zh-CN" altLang="en-US" sz="2500" b="1" dirty="0">
                <a:latin typeface="Times New Roman" panose="02020603050405020304" pitchFamily="18" charset="0"/>
              </a:rPr>
              <a:t>为</a:t>
            </a:r>
            <a:r>
              <a:rPr lang="en-US" altLang="zh-CN" sz="2500" b="1" dirty="0">
                <a:latin typeface="Times New Roman" panose="02020603050405020304" pitchFamily="18" charset="0"/>
              </a:rPr>
              <a:t>93</a:t>
            </a:r>
          </a:p>
          <a:p>
            <a:pPr eaLnBrk="1" hangingPunct="1">
              <a:buNone/>
            </a:pPr>
            <a:r>
              <a:rPr lang="en-US" altLang="zh-CN" sz="2500" b="1" dirty="0" err="1">
                <a:latin typeface="Times New Roman" panose="02020603050405020304" pitchFamily="18" charset="0"/>
                <a:cs typeface="Arial Unicode MS" panose="020B0604020202020204" pitchFamily="34" charset="-122"/>
              </a:rPr>
              <a:t>gradeTable</a:t>
            </a:r>
            <a:r>
              <a:rPr lang="en-US" altLang="zh-CN" sz="2500" b="1" dirty="0">
                <a:latin typeface="Times New Roman" panose="02020603050405020304" pitchFamily="18" charset="0"/>
                <a:cs typeface="Arial Unicode MS" panose="020B0604020202020204" pitchFamily="34" charset="-122"/>
              </a:rPr>
              <a:t>[ 6 ][ 2 ]</a:t>
            </a:r>
            <a:r>
              <a:rPr lang="en-US" altLang="zh-CN" sz="2500" b="1" dirty="0">
                <a:latin typeface="Times New Roman" panose="02020603050405020304" pitchFamily="18" charset="0"/>
              </a:rPr>
              <a:t> </a:t>
            </a:r>
            <a:r>
              <a:rPr lang="zh-CN" altLang="en-US" sz="2500" b="1" dirty="0">
                <a:latin typeface="Times New Roman" panose="02020603050405020304" pitchFamily="18" charset="0"/>
              </a:rPr>
              <a:t>为</a:t>
            </a:r>
            <a:r>
              <a:rPr lang="en-US" altLang="zh-CN" sz="2500" b="1" dirty="0">
                <a:latin typeface="Times New Roman" panose="02020603050405020304" pitchFamily="18" charset="0"/>
              </a:rPr>
              <a:t>78</a:t>
            </a:r>
          </a:p>
        </p:txBody>
      </p:sp>
      <p:sp>
        <p:nvSpPr>
          <p:cNvPr id="86019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2F6AF6E-4A04-446E-93B6-1551D92EEA74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86021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992" y="1772816"/>
            <a:ext cx="3606800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1E757E2E-A0E5-656D-A755-C00BA7B421E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7CD05C0-229B-500C-689B-BAED63D68A9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72789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使用数组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3"/>
          <p:cNvSpPr txBox="1">
            <a:spLocks noGrp="1"/>
          </p:cNvSpPr>
          <p:nvPr/>
        </p:nvSpPr>
        <p:spPr bwMode="auto">
          <a:xfrm>
            <a:off x="11166648" y="15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95C8E29-E103-421D-921D-F39690F73F81}" type="slidenum"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kumimoji="0"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67408" y="1700809"/>
            <a:ext cx="10974387" cy="3600399"/>
          </a:xfrm>
        </p:spPr>
        <p:txBody>
          <a:bodyPr>
            <a:normAutofit/>
          </a:bodyPr>
          <a:lstStyle/>
          <a:p>
            <a:pPr marL="457200" indent="-457200" eaLnBrk="1" hangingPunct="1">
              <a:buClr>
                <a:schemeClr val="tx1"/>
              </a:buClr>
              <a:buFont typeface="+mj-lt"/>
              <a:buAutoNum type="arabicPeriod"/>
            </a:pPr>
            <a:r>
              <a:rPr lang="en-US" altLang="zh-CN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int[ ][ ] </a:t>
            </a:r>
            <a:r>
              <a:rPr lang="en-US" altLang="zh-CN" sz="25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myArray</a:t>
            </a:r>
            <a:r>
              <a:rPr lang="en-US" altLang="zh-CN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;</a:t>
            </a:r>
          </a:p>
          <a:p>
            <a:pPr lvl="1" eaLnBrk="1" hangingPunct="1"/>
            <a:r>
              <a:rPr lang="en-US" altLang="zh-CN" sz="2500" b="1" dirty="0" err="1">
                <a:latin typeface="Times New Roman" panose="02020603050405020304" pitchFamily="18" charset="0"/>
              </a:rPr>
              <a:t>myArray</a:t>
            </a:r>
            <a:r>
              <a:rPr lang="en-US" altLang="zh-CN" sz="2500" b="1" dirty="0">
                <a:latin typeface="Times New Roman" panose="02020603050405020304" pitchFamily="18" charset="0"/>
              </a:rPr>
              <a:t> </a:t>
            </a:r>
            <a:r>
              <a:rPr lang="zh-CN" altLang="en-US" sz="2500" b="1" dirty="0">
                <a:latin typeface="Times New Roman" panose="02020603050405020304" pitchFamily="18" charset="0"/>
              </a:rPr>
              <a:t>是一个指向</a:t>
            </a:r>
            <a:r>
              <a:rPr lang="en-US" altLang="zh-CN" sz="2500" b="1" dirty="0">
                <a:latin typeface="Times New Roman" panose="02020603050405020304" pitchFamily="18" charset="0"/>
              </a:rPr>
              <a:t>2</a:t>
            </a:r>
            <a:r>
              <a:rPr lang="zh-CN" altLang="en-US" sz="2500" b="1" dirty="0">
                <a:latin typeface="Times New Roman" panose="02020603050405020304" pitchFamily="18" charset="0"/>
              </a:rPr>
              <a:t>维整数数组的引用。其初始值为</a:t>
            </a:r>
            <a:r>
              <a:rPr lang="en-US" altLang="zh-CN" sz="2500" b="1" dirty="0">
                <a:latin typeface="Times New Roman" panose="02020603050405020304" pitchFamily="18" charset="0"/>
              </a:rPr>
              <a:t>null</a:t>
            </a:r>
            <a:r>
              <a:rPr lang="zh-CN" altLang="en-US" sz="2500" b="1" dirty="0">
                <a:latin typeface="Times New Roman" panose="02020603050405020304" pitchFamily="18" charset="0"/>
              </a:rPr>
              <a:t>。</a:t>
            </a:r>
          </a:p>
          <a:p>
            <a:pPr marL="457200" indent="-457200" eaLnBrk="1" hangingPunct="1">
              <a:buClr>
                <a:schemeClr val="tx1"/>
              </a:buClr>
              <a:buFont typeface="+mj-lt"/>
              <a:buAutoNum type="arabicPeriod"/>
            </a:pPr>
            <a:r>
              <a:rPr lang="en-US" altLang="zh-CN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int[ ][ ] </a:t>
            </a:r>
            <a:r>
              <a:rPr lang="en-US" altLang="zh-CN" sz="25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myArray</a:t>
            </a:r>
            <a:r>
              <a:rPr lang="en-US" altLang="zh-CN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= new int[3][5] ;</a:t>
            </a:r>
          </a:p>
          <a:p>
            <a:pPr lvl="1" eaLnBrk="1" hangingPunct="1"/>
            <a:r>
              <a:rPr lang="zh-CN" altLang="en-US" sz="2500" b="1" dirty="0">
                <a:latin typeface="Times New Roman" panose="02020603050405020304" pitchFamily="18" charset="0"/>
              </a:rPr>
              <a:t>定义引用时，同时构造数组并初始化引用。这个数组所有元素的初始值为零。</a:t>
            </a:r>
          </a:p>
          <a:p>
            <a:pPr marL="457200" indent="-457200" eaLnBrk="1" hangingPunct="1">
              <a:buClr>
                <a:schemeClr val="tx1"/>
              </a:buClr>
              <a:buFont typeface="+mj-lt"/>
              <a:buAutoNum type="arabicPeriod"/>
            </a:pPr>
            <a:r>
              <a:rPr lang="en-US" altLang="zh-CN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int[ ][ ] </a:t>
            </a:r>
            <a:r>
              <a:rPr lang="en-US" altLang="zh-CN" sz="25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myArray</a:t>
            </a:r>
            <a:r>
              <a:rPr lang="en-US" altLang="zh-CN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= { {8,1,2,2,9}, {1,9,4,0,3}, {0,3,0,0,7} };</a:t>
            </a:r>
          </a:p>
          <a:p>
            <a:pPr lvl="1" eaLnBrk="1" hangingPunct="1"/>
            <a:r>
              <a:rPr lang="zh-CN" altLang="en-US" sz="2500" b="1" dirty="0">
                <a:latin typeface="Times New Roman" panose="02020603050405020304" pitchFamily="18" charset="0"/>
              </a:rPr>
              <a:t>定义引用、构造数组，初始化数组元素。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DF013C-6F82-E910-071C-5DC1C5F7A5A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CACC95-9DEB-431F-A5C2-7C18C25BFDA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88813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二维数组的声明和构造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76" y="1844824"/>
            <a:ext cx="11448970" cy="3456383"/>
          </a:xfrm>
        </p:spPr>
        <p:txBody>
          <a:bodyPr>
            <a:normAutofit/>
          </a:bodyPr>
          <a:lstStyle/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class </a:t>
            </a:r>
            <a:r>
              <a:rPr lang="en-US" altLang="zh-CN" sz="2400" dirty="0" err="1">
                <a:latin typeface="Times New Roman" panose="02020603050405020304" pitchFamily="18" charset="0"/>
              </a:rPr>
              <a:t>UnevenExample</a:t>
            </a:r>
            <a:r>
              <a:rPr lang="en-US" altLang="zh-CN" sz="2400" dirty="0">
                <a:latin typeface="Times New Roman" panose="02020603050405020304" pitchFamily="18" charset="0"/>
              </a:rPr>
              <a:t>{</a:t>
            </a: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    public static void </a:t>
            </a:r>
            <a:r>
              <a:rPr lang="en-US" altLang="zh-CN" sz="2400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main</a:t>
            </a:r>
            <a:r>
              <a:rPr lang="en-US" altLang="zh-CN" sz="2400" dirty="0">
                <a:latin typeface="Times New Roman" panose="02020603050405020304" pitchFamily="18" charset="0"/>
              </a:rPr>
              <a:t>( String[] </a:t>
            </a:r>
            <a:r>
              <a:rPr lang="en-US" altLang="zh-CN" sz="2400" dirty="0" err="1">
                <a:latin typeface="Times New Roman" panose="02020603050405020304" pitchFamily="18" charset="0"/>
              </a:rPr>
              <a:t>arg</a:t>
            </a:r>
            <a:r>
              <a:rPr lang="en-US" altLang="zh-CN" sz="2400" dirty="0">
                <a:latin typeface="Times New Roman" panose="02020603050405020304" pitchFamily="18" charset="0"/>
              </a:rPr>
              <a:t> )  {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400" dirty="0">
                <a:solidFill>
                  <a:srgbClr val="FF00FF"/>
                </a:solidFill>
                <a:latin typeface="Times New Roman" panose="02020603050405020304" pitchFamily="18" charset="0"/>
              </a:rPr>
              <a:t>int[][] uneven </a:t>
            </a:r>
            <a:r>
              <a:rPr lang="en-US" altLang="zh-CN" sz="2400" dirty="0">
                <a:latin typeface="Times New Roman" panose="02020603050405020304" pitchFamily="18" charset="0"/>
              </a:rPr>
              <a:t>= {{1,9,4},{0,2},{0,1,2,3,4}}; // </a:t>
            </a:r>
            <a:r>
              <a:rPr lang="zh-CN" altLang="en-US" sz="2400" dirty="0">
                <a:latin typeface="Times New Roman" panose="02020603050405020304" pitchFamily="18" charset="0"/>
              </a:rPr>
              <a:t>声明并构造一个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维数组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System.out.println</a:t>
            </a:r>
            <a:r>
              <a:rPr lang="en-US" altLang="zh-CN" sz="2400" dirty="0">
                <a:latin typeface="Times New Roman" panose="02020603050405020304" pitchFamily="18" charset="0"/>
              </a:rPr>
              <a:t>("Length of array is: " + </a:t>
            </a:r>
            <a:r>
              <a:rPr lang="en-US" altLang="zh-CN" sz="2400" dirty="0" err="1">
                <a:latin typeface="Times New Roman" panose="02020603050405020304" pitchFamily="18" charset="0"/>
              </a:rPr>
              <a:t>uneven.length</a:t>
            </a:r>
            <a:r>
              <a:rPr lang="en-US" altLang="zh-CN" sz="2400" dirty="0">
                <a:latin typeface="Times New Roman" panose="02020603050405020304" pitchFamily="18" charset="0"/>
              </a:rPr>
              <a:t> ); //</a:t>
            </a:r>
            <a:r>
              <a:rPr lang="zh-CN" altLang="en-US" sz="2400" dirty="0">
                <a:latin typeface="Times New Roman" panose="02020603050405020304" pitchFamily="18" charset="0"/>
              </a:rPr>
              <a:t>数组的长度 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</a:rPr>
              <a:t>行数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System.out.println</a:t>
            </a:r>
            <a:r>
              <a:rPr lang="en-US" altLang="zh-CN" sz="2400" dirty="0">
                <a:latin typeface="Times New Roman" panose="02020603050405020304" pitchFamily="18" charset="0"/>
              </a:rPr>
              <a:t>(“Length of row[0] is: ” + </a:t>
            </a:r>
            <a:r>
              <a:rPr lang="en-US" altLang="zh-CN" sz="2400" dirty="0">
                <a:solidFill>
                  <a:srgbClr val="FF00FF"/>
                </a:solidFill>
                <a:latin typeface="Times New Roman" panose="02020603050405020304" pitchFamily="18" charset="0"/>
              </a:rPr>
              <a:t>uneven[0].length </a:t>
            </a:r>
            <a:r>
              <a:rPr lang="en-US" altLang="zh-CN" sz="2400" dirty="0">
                <a:latin typeface="Times New Roman" panose="02020603050405020304" pitchFamily="18" charset="0"/>
              </a:rPr>
              <a:t>); // </a:t>
            </a:r>
            <a:r>
              <a:rPr lang="zh-CN" altLang="en-US" sz="2400" dirty="0">
                <a:latin typeface="Times New Roman" panose="02020603050405020304" pitchFamily="18" charset="0"/>
              </a:rPr>
              <a:t>数组一行的长度</a:t>
            </a:r>
            <a:r>
              <a:rPr lang="en-US" altLang="zh-CN" sz="2400" dirty="0">
                <a:latin typeface="Times New Roman" panose="02020603050405020304" pitchFamily="18" charset="0"/>
              </a:rPr>
              <a:t>            	</a:t>
            </a:r>
            <a:r>
              <a:rPr lang="en-US" altLang="zh-CN" sz="2400" dirty="0" err="1">
                <a:latin typeface="Times New Roman" panose="02020603050405020304" pitchFamily="18" charset="0"/>
              </a:rPr>
              <a:t>System.out.println</a:t>
            </a:r>
            <a:r>
              <a:rPr lang="en-US" altLang="zh-CN" sz="2400" dirty="0">
                <a:latin typeface="Times New Roman" panose="02020603050405020304" pitchFamily="18" charset="0"/>
              </a:rPr>
              <a:t>("Length of row[1] is: " + </a:t>
            </a:r>
            <a:r>
              <a:rPr lang="en-US" altLang="zh-CN" sz="2400" dirty="0">
                <a:solidFill>
                  <a:srgbClr val="FF00FF"/>
                </a:solidFill>
                <a:latin typeface="Times New Roman" panose="02020603050405020304" pitchFamily="18" charset="0"/>
              </a:rPr>
              <a:t>uneven[1].length </a:t>
            </a:r>
            <a:r>
              <a:rPr lang="en-US" altLang="zh-CN" sz="2400" dirty="0">
                <a:latin typeface="Times New Roman" panose="02020603050405020304" pitchFamily="18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System.out.println</a:t>
            </a:r>
            <a:r>
              <a:rPr lang="en-US" altLang="zh-CN" sz="2400" dirty="0">
                <a:latin typeface="Times New Roman" panose="02020603050405020304" pitchFamily="18" charset="0"/>
              </a:rPr>
              <a:t>("Length of row[2] is: " + </a:t>
            </a:r>
            <a:r>
              <a:rPr lang="en-US" altLang="zh-CN" sz="2400" dirty="0">
                <a:solidFill>
                  <a:srgbClr val="FF00FF"/>
                </a:solidFill>
                <a:latin typeface="Times New Roman" panose="02020603050405020304" pitchFamily="18" charset="0"/>
              </a:rPr>
              <a:t>uneven[2].length </a:t>
            </a:r>
            <a:r>
              <a:rPr lang="en-US" altLang="zh-CN" sz="2400" dirty="0">
                <a:latin typeface="Times New Roman" panose="02020603050405020304" pitchFamily="18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    }</a:t>
            </a: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}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C4A4341A-2ED8-BD01-A6AD-1C8AF61427A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2376264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1.4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5215D4-43D4-5E3F-575C-241796C5309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81612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二维数组的声明和构造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内容占位符 5"/>
          <p:cNvSpPr>
            <a:spLocks noGrp="1"/>
          </p:cNvSpPr>
          <p:nvPr>
            <p:ph idx="4294967295"/>
          </p:nvPr>
        </p:nvSpPr>
        <p:spPr>
          <a:xfrm>
            <a:off x="3071664" y="1988840"/>
            <a:ext cx="3456384" cy="2664296"/>
          </a:xfrm>
        </p:spPr>
        <p:txBody>
          <a:bodyPr/>
          <a:lstStyle/>
          <a:p>
            <a:pPr marL="357188" indent="-357188">
              <a:buFont typeface="+mj-lt"/>
              <a:buAutoNum type="arabicPeriod"/>
            </a:pPr>
            <a:r>
              <a:rPr lang="en-US" altLang="zh-CN" sz="2700" b="1" dirty="0">
                <a:latin typeface="Times New Roman" panose="02020603050405020304" pitchFamily="18" charset="0"/>
              </a:rPr>
              <a:t>if</a:t>
            </a:r>
            <a:r>
              <a:rPr lang="zh-CN" altLang="en-US" sz="2700" b="1" dirty="0">
                <a:latin typeface="Times New Roman" panose="02020603050405020304" pitchFamily="18" charset="0"/>
              </a:rPr>
              <a:t>语句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marL="357188" indent="-357188">
              <a:buFont typeface="+mj-lt"/>
              <a:buAutoNum type="arabicPeriod"/>
            </a:pPr>
            <a:r>
              <a:rPr lang="en-US" altLang="zh-CN" sz="2700" b="1" dirty="0">
                <a:latin typeface="Times New Roman" panose="02020603050405020304" pitchFamily="18" charset="0"/>
              </a:rPr>
              <a:t>switch</a:t>
            </a:r>
            <a:r>
              <a:rPr lang="zh-CN" altLang="en-US" sz="2700" b="1" dirty="0">
                <a:latin typeface="Times New Roman" panose="02020603050405020304" pitchFamily="18" charset="0"/>
              </a:rPr>
              <a:t>语句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marL="357188" indent="-357188">
              <a:buFont typeface="+mj-lt"/>
              <a:buAutoNum type="arabicPeriod"/>
            </a:pPr>
            <a:r>
              <a:rPr lang="en-US" altLang="zh-CN" sz="2700" b="1" dirty="0">
                <a:latin typeface="Times New Roman" panose="02020603050405020304" pitchFamily="18" charset="0"/>
              </a:rPr>
              <a:t>for</a:t>
            </a:r>
            <a:r>
              <a:rPr lang="zh-CN" altLang="en-US" sz="2700" b="1" dirty="0">
                <a:latin typeface="Times New Roman" panose="02020603050405020304" pitchFamily="18" charset="0"/>
              </a:rPr>
              <a:t>语句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marL="357188" indent="-357188">
              <a:buFont typeface="+mj-lt"/>
              <a:buAutoNum type="arabicPeriod"/>
            </a:pPr>
            <a:r>
              <a:rPr lang="en-US" altLang="zh-CN" sz="2700" b="1" dirty="0">
                <a:latin typeface="Times New Roman" panose="02020603050405020304" pitchFamily="18" charset="0"/>
              </a:rPr>
              <a:t>while</a:t>
            </a:r>
            <a:r>
              <a:rPr lang="zh-CN" altLang="en-US" sz="2700" b="1" dirty="0">
                <a:latin typeface="Times New Roman" panose="02020603050405020304" pitchFamily="18" charset="0"/>
              </a:rPr>
              <a:t>语句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pPr marL="357188" indent="-357188">
              <a:buFont typeface="+mj-lt"/>
              <a:buAutoNum type="arabicPeriod"/>
            </a:pPr>
            <a:r>
              <a:rPr lang="en-US" altLang="zh-CN" sz="2700" b="1" dirty="0">
                <a:latin typeface="Times New Roman" panose="02020603050405020304" pitchFamily="18" charset="0"/>
              </a:rPr>
              <a:t>do while</a:t>
            </a:r>
            <a:r>
              <a:rPr lang="zh-CN" altLang="en-US" sz="2700" b="1" dirty="0">
                <a:latin typeface="Times New Roman" panose="02020603050405020304" pitchFamily="18" charset="0"/>
              </a:rPr>
              <a:t>语句</a:t>
            </a:r>
            <a:endParaRPr lang="en-US" altLang="zh-CN" sz="2700" b="1" dirty="0">
              <a:latin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57DCA8CA-BF0C-E2BF-8F02-43A7D8D61FF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D1A1BF-FC3B-C22C-595C-F1444F0D066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流程控制语句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Rectangle 8"/>
          <p:cNvSpPr>
            <a:spLocks noGrp="1" noChangeArrowheads="1"/>
          </p:cNvSpPr>
          <p:nvPr>
            <p:ph idx="4294967295"/>
          </p:nvPr>
        </p:nvSpPr>
        <p:spPr>
          <a:xfrm>
            <a:off x="623391" y="1592962"/>
            <a:ext cx="4896541" cy="496855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只有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if</a:t>
            </a:r>
            <a:r>
              <a:rPr lang="zh-CN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分支，没有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else</a:t>
            </a:r>
            <a:r>
              <a:rPr lang="zh-CN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分支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:</a:t>
            </a:r>
            <a:endParaRPr lang="zh-CN" altLang="en-US" sz="2400" b="1" dirty="0"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if (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boolean</a:t>
            </a:r>
            <a:r>
              <a:rPr lang="en-US" altLang="zh-CN" sz="2400" b="1" dirty="0">
                <a:latin typeface="Times New Roman" panose="02020603050405020304" pitchFamily="18" charset="0"/>
              </a:rPr>
              <a:t>-expression)  {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// statement1; 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}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if-else</a:t>
            </a:r>
            <a:r>
              <a:rPr lang="zh-CN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语句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:</a:t>
            </a:r>
            <a:endParaRPr lang="zh-CN" altLang="en-US" sz="2400" b="1" dirty="0"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if (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boolean</a:t>
            </a:r>
            <a:r>
              <a:rPr lang="en-US" altLang="zh-CN" sz="2400" b="1" dirty="0">
                <a:latin typeface="Times New Roman" panose="02020603050405020304" pitchFamily="18" charset="0"/>
              </a:rPr>
              <a:t>-expression)  {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// statement1 ;  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else {  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// statement2 ; 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92166" name="Rectangle 8"/>
          <p:cNvSpPr txBox="1">
            <a:spLocks noChangeArrowheads="1"/>
          </p:cNvSpPr>
          <p:nvPr/>
        </p:nvSpPr>
        <p:spPr bwMode="auto">
          <a:xfrm>
            <a:off x="6384032" y="1191822"/>
            <a:ext cx="4932548" cy="525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65125" indent="-255588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657225" indent="-246063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922338" indent="-219075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179513" indent="-200025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1389063" indent="-182563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1846263" indent="-1825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303463" indent="-1825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2760663" indent="-1825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217863" indent="-1825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</a:rPr>
              <a:t>if-else</a:t>
            </a:r>
            <a:r>
              <a:rPr lang="zh-CN" altLang="en-US" sz="2400" b="1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</a:rPr>
              <a:t>语句的特殊形式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endParaRPr lang="zh-CN" altLang="en-US" sz="2400" b="1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if (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boolean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expression) {</a:t>
            </a: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//statement1;</a:t>
            </a: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}</a:t>
            </a: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else if (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boolean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expression) {</a:t>
            </a: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//statement2; </a:t>
            </a: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}</a:t>
            </a: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else if (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boolean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expression){</a:t>
            </a: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//statement3; </a:t>
            </a: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} </a:t>
            </a: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…</a:t>
            </a: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else {    </a:t>
            </a: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//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statementX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;</a:t>
            </a:r>
          </a:p>
          <a:p>
            <a:pPr marL="411162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} 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129C400-98EA-11AB-43DA-115AAE81D11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13B101-1DB4-9DFF-8D97-DB2A9C7F607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29584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if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语句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1E1620E-765D-3C97-887C-C29A0776F61B}"/>
              </a:ext>
            </a:extLst>
          </p:cNvPr>
          <p:cNvCxnSpPr/>
          <p:nvPr/>
        </p:nvCxnSpPr>
        <p:spPr bwMode="auto">
          <a:xfrm>
            <a:off x="5735960" y="1197352"/>
            <a:ext cx="0" cy="5400000"/>
          </a:xfrm>
          <a:prstGeom prst="line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55440" y="1661855"/>
            <a:ext cx="10974387" cy="399939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500" b="1" dirty="0">
                <a:latin typeface="Times New Roman" panose="02020603050405020304" pitchFamily="18" charset="0"/>
              </a:rPr>
              <a:t>if-else: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if (a&gt;b)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       </a:t>
            </a:r>
            <a:r>
              <a:rPr lang="en-US" altLang="zh-CN" sz="2500" b="1" dirty="0" err="1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System.out.println</a:t>
            </a:r>
            <a:r>
              <a:rPr lang="en-US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("The larger one is: "+a);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      </a:t>
            </a:r>
            <a:r>
              <a:rPr lang="en-US" altLang="zh-CN" sz="2500" b="1" dirty="0" err="1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System.out.println</a:t>
            </a:r>
            <a:r>
              <a:rPr lang="en-US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("The larger one is: "+b);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500" b="1" dirty="0">
                <a:latin typeface="Times New Roman" panose="02020603050405020304" pitchFamily="18" charset="0"/>
              </a:rPr>
              <a:t>用条件运算符重写</a:t>
            </a:r>
            <a:r>
              <a:rPr lang="en-US" altLang="zh-CN" sz="2500" b="1" dirty="0">
                <a:latin typeface="Times New Roman" panose="02020603050405020304" pitchFamily="18" charset="0"/>
              </a:rPr>
              <a:t>: 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500" b="1" dirty="0" err="1">
                <a:latin typeface="Times New Roman" panose="02020603050405020304" pitchFamily="18" charset="0"/>
              </a:rPr>
              <a:t>System.out.println</a:t>
            </a:r>
            <a:r>
              <a:rPr lang="en-US" altLang="zh-CN" sz="2500" b="1" dirty="0">
                <a:latin typeface="Times New Roman" panose="02020603050405020304" pitchFamily="18" charset="0"/>
              </a:rPr>
              <a:t>("The larger one is: " + </a:t>
            </a:r>
            <a:r>
              <a:rPr lang="en-US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(a&gt;b)?</a:t>
            </a:r>
            <a:r>
              <a:rPr lang="en-US" altLang="zh-CN" sz="2500" b="1" dirty="0" err="1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a:b</a:t>
            </a:r>
            <a:r>
              <a:rPr lang="en-US" altLang="zh-CN" sz="2500" b="1" dirty="0">
                <a:latin typeface="Times New Roman" panose="02020603050405020304" pitchFamily="18" charset="0"/>
              </a:rPr>
              <a:t>);</a:t>
            </a:r>
          </a:p>
          <a:p>
            <a:pPr lvl="1" eaLnBrk="1" hangingPunct="1"/>
            <a:endParaRPr lang="en-GB" altLang="zh-CN" sz="2200" dirty="0">
              <a:latin typeface="Times New Roman" panose="02020603050405020304" pitchFamily="18" charset="0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8FF83479-7DB6-C28D-B6DB-0A6F358539B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C8AAB6-9A4A-CC36-4F9B-19C03739F61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29584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if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语句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63352" y="1484784"/>
            <a:ext cx="11809312" cy="520224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语法形式：</a:t>
            </a:r>
          </a:p>
          <a:p>
            <a:pPr lvl="1" eaLnBrk="1" hangingPunct="1">
              <a:lnSpc>
                <a:spcPct val="80000"/>
              </a:lnSpc>
              <a:spcBef>
                <a:spcPct val="55000"/>
              </a:spcBef>
              <a:buFont typeface="Georgia" panose="02040502050405020303" pitchFamily="18" charset="0"/>
              <a:buNone/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switch</a:t>
            </a:r>
            <a:r>
              <a:rPr lang="en-US" altLang="zh-CN" sz="2400" dirty="0">
                <a:latin typeface="Times New Roman" panose="02020603050405020304" pitchFamily="18" charset="0"/>
              </a:rPr>
              <a:t> (</a:t>
            </a:r>
            <a:r>
              <a:rPr lang="en-US" altLang="zh-CN" sz="2400" dirty="0">
                <a:solidFill>
                  <a:srgbClr val="FF00FF"/>
                </a:solidFill>
                <a:latin typeface="Times New Roman" panose="02020603050405020304" pitchFamily="18" charset="0"/>
              </a:rPr>
              <a:t>switch-expression</a:t>
            </a:r>
            <a:r>
              <a:rPr lang="en-US" altLang="zh-CN" sz="2400" dirty="0">
                <a:latin typeface="Times New Roman" panose="02020603050405020304" pitchFamily="18" charset="0"/>
              </a:rPr>
              <a:t>) { </a:t>
            </a:r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case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FF"/>
                </a:solidFill>
                <a:latin typeface="Times New Roman" panose="02020603050405020304" pitchFamily="18" charset="0"/>
              </a:rPr>
              <a:t>value1</a:t>
            </a:r>
            <a:r>
              <a:rPr lang="en-US" altLang="zh-CN" sz="2400" dirty="0">
                <a:latin typeface="Times New Roman" panose="02020603050405020304" pitchFamily="18" charset="0"/>
              </a:rPr>
              <a:t>:   statements for case1; </a:t>
            </a:r>
            <a:r>
              <a:rPr lang="en-US" altLang="zh-CN" sz="2400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break</a:t>
            </a:r>
            <a:r>
              <a:rPr lang="en-US" altLang="zh-CN" sz="2400" dirty="0">
                <a:latin typeface="Times New Roman" panose="02020603050405020304" pitchFamily="18" charset="0"/>
              </a:rPr>
              <a:t>; </a:t>
            </a:r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case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FF"/>
                </a:solidFill>
                <a:latin typeface="Times New Roman" panose="02020603050405020304" pitchFamily="18" charset="0"/>
              </a:rPr>
              <a:t>value2</a:t>
            </a:r>
            <a:r>
              <a:rPr lang="en-US" altLang="zh-CN" sz="2400" dirty="0">
                <a:latin typeface="Times New Roman" panose="02020603050405020304" pitchFamily="18" charset="0"/>
              </a:rPr>
              <a:t>:   statements for case2; </a:t>
            </a:r>
            <a:r>
              <a:rPr lang="en-US" altLang="zh-CN" sz="2400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break</a:t>
            </a:r>
            <a:r>
              <a:rPr lang="en-US" altLang="zh-CN" sz="2400" dirty="0">
                <a:latin typeface="Times New Roman" panose="02020603050405020304" pitchFamily="18" charset="0"/>
              </a:rPr>
              <a:t>; </a:t>
            </a:r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... </a:t>
            </a:r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case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valueN</a:t>
            </a:r>
            <a:r>
              <a:rPr lang="en-US" altLang="zh-CN" sz="2400" dirty="0">
                <a:latin typeface="Times New Roman" panose="02020603050405020304" pitchFamily="18" charset="0"/>
              </a:rPr>
              <a:t>:   statements for </a:t>
            </a:r>
            <a:r>
              <a:rPr lang="en-US" altLang="zh-CN" sz="2400" dirty="0" err="1">
                <a:latin typeface="Times New Roman" panose="02020603050405020304" pitchFamily="18" charset="0"/>
              </a:rPr>
              <a:t>caseN</a:t>
            </a:r>
            <a:r>
              <a:rPr lang="en-US" altLang="zh-CN" sz="2400" dirty="0">
                <a:latin typeface="Times New Roman" panose="02020603050405020304" pitchFamily="18" charset="0"/>
              </a:rPr>
              <a:t>; </a:t>
            </a:r>
            <a:r>
              <a:rPr lang="en-US" altLang="zh-CN" sz="2400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break</a:t>
            </a:r>
            <a:r>
              <a:rPr lang="en-US" altLang="zh-CN" sz="2400" dirty="0">
                <a:latin typeface="Times New Roman" panose="02020603050405020304" pitchFamily="18" charset="0"/>
              </a:rPr>
              <a:t>; </a:t>
            </a:r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default</a:t>
            </a:r>
            <a:r>
              <a:rPr lang="en-US" altLang="zh-CN" sz="2400" dirty="0">
                <a:latin typeface="Times New Roman" panose="02020603050405020304" pitchFamily="18" charset="0"/>
              </a:rPr>
              <a:t>:       statements for default case; </a:t>
            </a:r>
            <a:r>
              <a:rPr lang="en-US" altLang="zh-CN" sz="2400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break</a:t>
            </a:r>
            <a:r>
              <a:rPr lang="en-US" altLang="zh-CN" sz="2400" dirty="0">
                <a:latin typeface="Times New Roman" panose="02020603050405020304" pitchFamily="18" charset="0"/>
              </a:rPr>
              <a:t>; </a:t>
            </a:r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注意问题</a:t>
            </a:r>
          </a:p>
          <a:p>
            <a:pPr marL="914400" lvl="1" indent="-457200" eaLnBrk="1" hangingPunct="1"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2400" dirty="0">
                <a:latin typeface="Times New Roman" panose="02020603050405020304" pitchFamily="18" charset="0"/>
              </a:rPr>
              <a:t>switch-expression、</a:t>
            </a:r>
            <a:r>
              <a:rPr lang="zh-CN" altLang="en-US" sz="2400" dirty="0">
                <a:latin typeface="Times New Roman" panose="02020603050405020304" pitchFamily="18" charset="0"/>
              </a:rPr>
              <a:t>常量值</a:t>
            </a:r>
            <a:r>
              <a:rPr lang="en-US" altLang="zh-CN" sz="2400" dirty="0">
                <a:latin typeface="Times New Roman" panose="02020603050405020304" pitchFamily="18" charset="0"/>
              </a:rPr>
              <a:t>value1</a:t>
            </a:r>
            <a:r>
              <a:rPr lang="zh-CN" altLang="en-US" sz="2400" dirty="0">
                <a:latin typeface="Times New Roman" panose="02020603050405020304" pitchFamily="18" charset="0"/>
              </a:rPr>
              <a:t>到</a:t>
            </a:r>
            <a:r>
              <a:rPr lang="en-US" altLang="zh-CN" sz="2400" dirty="0" err="1">
                <a:latin typeface="Times New Roman" panose="02020603050405020304" pitchFamily="18" charset="0"/>
              </a:rPr>
              <a:t>valueN</a:t>
            </a:r>
            <a:r>
              <a:rPr lang="zh-CN" altLang="en-US" sz="2400" dirty="0">
                <a:latin typeface="Times New Roman" panose="02020603050405020304" pitchFamily="18" charset="0"/>
              </a:rPr>
              <a:t>必须是整形或字符型。</a:t>
            </a:r>
          </a:p>
          <a:p>
            <a:pPr marL="914400" lvl="1" indent="-457200" eaLnBrk="1" hangingPunct="1"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400" dirty="0">
                <a:latin typeface="Times New Roman" panose="02020603050405020304" pitchFamily="18" charset="0"/>
              </a:rPr>
              <a:t>如果表达式的值和某个</a:t>
            </a:r>
            <a:r>
              <a:rPr lang="en-US" altLang="zh-CN" sz="2400" dirty="0">
                <a:latin typeface="Times New Roman" panose="02020603050405020304" pitchFamily="18" charset="0"/>
              </a:rPr>
              <a:t>case</a:t>
            </a:r>
            <a:r>
              <a:rPr lang="zh-CN" altLang="en-US" sz="2400" dirty="0">
                <a:latin typeface="Times New Roman" panose="02020603050405020304" pitchFamily="18" charset="0"/>
              </a:rPr>
              <a:t>后面的值相同，则从该</a:t>
            </a:r>
            <a:r>
              <a:rPr lang="en-US" altLang="zh-CN" sz="2400" dirty="0">
                <a:latin typeface="Times New Roman" panose="02020603050405020304" pitchFamily="18" charset="0"/>
              </a:rPr>
              <a:t>case</a:t>
            </a:r>
            <a:r>
              <a:rPr lang="zh-CN" altLang="en-US" sz="2400" dirty="0">
                <a:latin typeface="Times New Roman" panose="02020603050405020304" pitchFamily="18" charset="0"/>
              </a:rPr>
              <a:t>之后开始执行，直到</a:t>
            </a:r>
            <a:r>
              <a:rPr lang="en-US" altLang="zh-CN" sz="2400" dirty="0">
                <a:latin typeface="Times New Roman" panose="02020603050405020304" pitchFamily="18" charset="0"/>
              </a:rPr>
              <a:t>break</a:t>
            </a:r>
            <a:r>
              <a:rPr lang="zh-CN" altLang="en-US" sz="2400" dirty="0">
                <a:latin typeface="Times New Roman" panose="02020603050405020304" pitchFamily="18" charset="0"/>
              </a:rPr>
              <a:t>语句为止。</a:t>
            </a:r>
          </a:p>
          <a:p>
            <a:pPr marL="914400" lvl="1" indent="-457200" eaLnBrk="1" hangingPunct="1"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2400" dirty="0">
                <a:latin typeface="Times New Roman" panose="02020603050405020304" pitchFamily="18" charset="0"/>
              </a:rPr>
              <a:t>default</a:t>
            </a:r>
            <a:r>
              <a:rPr lang="zh-CN" altLang="en-US" sz="2400" dirty="0">
                <a:latin typeface="Times New Roman" panose="02020603050405020304" pitchFamily="18" charset="0"/>
              </a:rPr>
              <a:t>可有可无，若没有一个常量与表达式的值相同，则从</a:t>
            </a:r>
            <a:r>
              <a:rPr lang="en-US" altLang="zh-CN" sz="2400" dirty="0">
                <a:latin typeface="Times New Roman" panose="02020603050405020304" pitchFamily="18" charset="0"/>
              </a:rPr>
              <a:t>default</a:t>
            </a:r>
            <a:r>
              <a:rPr lang="zh-CN" altLang="en-US" sz="2400" dirty="0">
                <a:latin typeface="Times New Roman" panose="02020603050405020304" pitchFamily="18" charset="0"/>
              </a:rPr>
              <a:t>之后开始执行。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5A7AE124-19B8-A2F4-A1F0-B6FBEEEDAEF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7C221C-CD53-A861-BD86-2AE050A7BAB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63352" y="908720"/>
            <a:ext cx="201622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switch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语句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551384" y="1628800"/>
            <a:ext cx="11305256" cy="489654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600" b="1" dirty="0">
                <a:latin typeface="Times New Roman" panose="02020603050405020304" pitchFamily="18" charset="0"/>
              </a:rPr>
              <a:t>for </a:t>
            </a:r>
            <a:r>
              <a:rPr lang="zh-CN" altLang="en-US" sz="2600" b="1" dirty="0">
                <a:latin typeface="Times New Roman" panose="02020603050405020304" pitchFamily="18" charset="0"/>
              </a:rPr>
              <a:t>语句是</a:t>
            </a:r>
            <a:r>
              <a:rPr lang="en-US" altLang="zh-CN" sz="2600" b="1" dirty="0">
                <a:latin typeface="Times New Roman" panose="02020603050405020304" pitchFamily="18" charset="0"/>
              </a:rPr>
              <a:t>Java</a:t>
            </a:r>
            <a:r>
              <a:rPr lang="zh-CN" altLang="en-US" sz="2600" b="1" dirty="0">
                <a:latin typeface="Times New Roman" panose="02020603050405020304" pitchFamily="18" charset="0"/>
              </a:rPr>
              <a:t>三个循环语句中功能较强、使用较广泛的一个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600" b="1" dirty="0">
                <a:latin typeface="Times New Roman" panose="02020603050405020304" pitchFamily="18" charset="0"/>
              </a:rPr>
              <a:t>for</a:t>
            </a:r>
            <a:r>
              <a:rPr lang="zh-CN" altLang="en-US" sz="2600" b="1" dirty="0">
                <a:latin typeface="Times New Roman" panose="02020603050405020304" pitchFamily="18" charset="0"/>
              </a:rPr>
              <a:t>循环可以</a:t>
            </a:r>
            <a:r>
              <a:rPr lang="zh-CN" altLang="en-US" sz="26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嵌套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</a:rPr>
              <a:t>语法格式如下：</a:t>
            </a:r>
          </a:p>
          <a:p>
            <a:pPr lvl="1" eaLnBrk="1" hangingPunct="1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for (</a:t>
            </a:r>
            <a:r>
              <a:rPr lang="en-US" altLang="zh-CN" sz="26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start-expression</a:t>
            </a:r>
            <a:r>
              <a:rPr lang="en-US" altLang="zh-CN" sz="2600" b="1" dirty="0">
                <a:latin typeface="Times New Roman" panose="02020603050405020304" pitchFamily="18" charset="0"/>
              </a:rPr>
              <a:t>; </a:t>
            </a:r>
            <a:r>
              <a:rPr lang="en-US" altLang="zh-CN" sz="2600" b="1" dirty="0">
                <a:solidFill>
                  <a:srgbClr val="FF6699"/>
                </a:solidFill>
                <a:latin typeface="Times New Roman" panose="02020603050405020304" pitchFamily="18" charset="0"/>
              </a:rPr>
              <a:t>check-expression</a:t>
            </a:r>
            <a:r>
              <a:rPr lang="en-US" altLang="zh-CN" sz="2600" b="1" dirty="0">
                <a:latin typeface="Times New Roman" panose="02020603050405020304" pitchFamily="18" charset="0"/>
              </a:rPr>
              <a:t>; </a:t>
            </a:r>
            <a:r>
              <a:rPr lang="en-US" altLang="zh-CN" sz="26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update-expression</a:t>
            </a:r>
            <a:r>
              <a:rPr lang="en-US" altLang="zh-CN" sz="2600" b="1" dirty="0">
                <a:latin typeface="Times New Roman" panose="02020603050405020304" pitchFamily="18" charset="0"/>
              </a:rPr>
              <a:t>) { </a:t>
            </a:r>
          </a:p>
          <a:p>
            <a:pPr lvl="1" eaLnBrk="1" hangingPunct="1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//body of the loop; </a:t>
            </a:r>
          </a:p>
          <a:p>
            <a:pPr lvl="1" eaLnBrk="1" hangingPunct="1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}</a:t>
            </a:r>
          </a:p>
          <a:p>
            <a:pPr marL="971550" lvl="1" indent="-514350" eaLnBrk="1" hangingPunct="1"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26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start-expression</a:t>
            </a:r>
            <a:r>
              <a:rPr lang="zh-CN" altLang="en-US" sz="2600" b="1" dirty="0">
                <a:latin typeface="Times New Roman" panose="02020603050405020304" pitchFamily="18" charset="0"/>
              </a:rPr>
              <a:t>完成循环变量和其他变量的初始化工作</a:t>
            </a:r>
          </a:p>
          <a:p>
            <a:pPr marL="971550" lvl="1" indent="-514350" eaLnBrk="1" hangingPunct="1">
              <a:spcBef>
                <a:spcPts val="6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en-US" altLang="zh-CN" sz="2600" b="1" dirty="0">
                <a:solidFill>
                  <a:srgbClr val="FF6699"/>
                </a:solidFill>
                <a:latin typeface="Times New Roman" panose="02020603050405020304" pitchFamily="18" charset="0"/>
              </a:rPr>
              <a:t>check-expression</a:t>
            </a:r>
            <a:r>
              <a:rPr lang="zh-CN" altLang="en-US" sz="2600" b="1" dirty="0">
                <a:latin typeface="Times New Roman" panose="02020603050405020304" pitchFamily="18" charset="0"/>
              </a:rPr>
              <a:t>是返回布尔值的条件表达式，用于判断循环是否继续</a:t>
            </a:r>
          </a:p>
          <a:p>
            <a:pPr marL="971550" lvl="1" indent="-514350" eaLnBrk="1" hangingPunct="1">
              <a:spcBef>
                <a:spcPts val="6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en-US" altLang="zh-CN" sz="26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update-expression</a:t>
            </a:r>
            <a:r>
              <a:rPr lang="zh-CN" altLang="en-US" sz="2600" b="1" dirty="0">
                <a:latin typeface="Times New Roman" panose="02020603050405020304" pitchFamily="18" charset="0"/>
              </a:rPr>
              <a:t>用来修整循环变量，改变循环条件</a:t>
            </a:r>
          </a:p>
          <a:p>
            <a:pPr marL="971550" lvl="1" indent="-514350" eaLnBrk="1" hangingPunct="1"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600" b="1" dirty="0">
                <a:latin typeface="Times New Roman" panose="02020603050405020304" pitchFamily="18" charset="0"/>
              </a:rPr>
              <a:t>三个表达式之间用</a:t>
            </a:r>
            <a:r>
              <a:rPr lang="zh-CN" altLang="en-US" sz="26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分号隔开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BBC04DD-885B-9CB3-F72F-10EA8B1BC8B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648F71-DB06-8A35-3C93-4480F88D7AB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43985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for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语句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983432" y="1772816"/>
            <a:ext cx="9937104" cy="46085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900" b="1" dirty="0">
                <a:latin typeface="Times New Roman" panose="02020603050405020304" pitchFamily="18" charset="0"/>
              </a:rPr>
              <a:t>public </a:t>
            </a:r>
            <a:r>
              <a:rPr lang="en-US" altLang="zh-CN" sz="29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class</a:t>
            </a:r>
            <a:r>
              <a:rPr lang="en-US" altLang="zh-CN" sz="2900" b="1" dirty="0">
                <a:latin typeface="Times New Roman" panose="02020603050405020304" pitchFamily="18" charset="0"/>
              </a:rPr>
              <a:t> </a:t>
            </a:r>
            <a:r>
              <a:rPr lang="en-US" altLang="zh-CN" sz="2900" b="1" dirty="0" err="1">
                <a:latin typeface="Times New Roman" panose="02020603050405020304" pitchFamily="18" charset="0"/>
              </a:rPr>
              <a:t>MultiTable</a:t>
            </a:r>
            <a:r>
              <a:rPr lang="en-US" altLang="zh-CN" sz="2900" b="1" dirty="0">
                <a:latin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altLang="zh-CN" sz="2900" b="1" dirty="0">
                <a:latin typeface="Times New Roman" panose="02020603050405020304" pitchFamily="18" charset="0"/>
              </a:rPr>
              <a:t>       public static void </a:t>
            </a:r>
            <a:r>
              <a:rPr lang="en-US" altLang="zh-CN" sz="29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main</a:t>
            </a:r>
            <a:r>
              <a:rPr lang="en-US" altLang="zh-CN" sz="2900" b="1" dirty="0">
                <a:latin typeface="Times New Roman" panose="02020603050405020304" pitchFamily="18" charset="0"/>
              </a:rPr>
              <a:t>(String[] </a:t>
            </a:r>
            <a:r>
              <a:rPr lang="en-US" altLang="zh-CN" sz="2900" b="1" dirty="0" err="1">
                <a:latin typeface="Times New Roman" panose="02020603050405020304" pitchFamily="18" charset="0"/>
              </a:rPr>
              <a:t>args</a:t>
            </a:r>
            <a:r>
              <a:rPr lang="en-US" altLang="zh-CN" sz="2900" b="1" dirty="0">
                <a:latin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US" altLang="zh-CN" sz="2900" b="1" dirty="0">
                <a:latin typeface="Times New Roman" panose="02020603050405020304" pitchFamily="18" charset="0"/>
              </a:rPr>
              <a:t>              for (int </a:t>
            </a:r>
            <a:r>
              <a:rPr lang="en-US" altLang="zh-CN" sz="2900" b="1" dirty="0" err="1">
                <a:latin typeface="Times New Roman" panose="02020603050405020304" pitchFamily="18" charset="0"/>
              </a:rPr>
              <a:t>i</a:t>
            </a:r>
            <a:r>
              <a:rPr lang="en-US" altLang="zh-CN" sz="2900" b="1" dirty="0">
                <a:latin typeface="Times New Roman" panose="02020603050405020304" pitchFamily="18" charset="0"/>
              </a:rPr>
              <a:t> = 1; </a:t>
            </a:r>
            <a:r>
              <a:rPr lang="en-US" altLang="zh-CN" sz="2900" b="1" dirty="0" err="1">
                <a:latin typeface="Times New Roman" panose="02020603050405020304" pitchFamily="18" charset="0"/>
              </a:rPr>
              <a:t>i</a:t>
            </a:r>
            <a:r>
              <a:rPr lang="en-US" altLang="zh-CN" sz="2900" b="1" dirty="0">
                <a:latin typeface="Times New Roman" panose="02020603050405020304" pitchFamily="18" charset="0"/>
              </a:rPr>
              <a:t> &lt;= 9; </a:t>
            </a:r>
            <a:r>
              <a:rPr lang="en-US" altLang="zh-CN" sz="2900" b="1" dirty="0" err="1">
                <a:latin typeface="Times New Roman" panose="02020603050405020304" pitchFamily="18" charset="0"/>
              </a:rPr>
              <a:t>i</a:t>
            </a:r>
            <a:r>
              <a:rPr lang="en-US" altLang="zh-CN" sz="2900" b="1" dirty="0">
                <a:latin typeface="Times New Roman" panose="02020603050405020304" pitchFamily="18" charset="0"/>
              </a:rPr>
              <a:t>++) {</a:t>
            </a:r>
          </a:p>
          <a:p>
            <a:pPr marL="0" indent="0">
              <a:buNone/>
            </a:pPr>
            <a:r>
              <a:rPr lang="en-US" altLang="zh-CN" sz="2900" b="1" dirty="0">
                <a:latin typeface="Times New Roman" panose="02020603050405020304" pitchFamily="18" charset="0"/>
              </a:rPr>
              <a:t>                     for (</a:t>
            </a:r>
            <a:r>
              <a:rPr lang="en-US" altLang="zh-CN" sz="29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int j = 1; j &lt;= </a:t>
            </a:r>
            <a:r>
              <a:rPr lang="en-US" altLang="zh-CN" sz="29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9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29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j++</a:t>
            </a:r>
            <a:r>
              <a:rPr lang="en-US" altLang="zh-CN" sz="29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900" b="1" dirty="0">
                <a:latin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altLang="zh-CN" sz="2900" b="1" dirty="0">
                <a:latin typeface="Times New Roman" panose="02020603050405020304" pitchFamily="18" charset="0"/>
              </a:rPr>
              <a:t>                            </a:t>
            </a:r>
            <a:r>
              <a:rPr lang="en-US" altLang="zh-CN" sz="2900" b="1" dirty="0" err="1">
                <a:latin typeface="Times New Roman" panose="02020603050405020304" pitchFamily="18" charset="0"/>
              </a:rPr>
              <a:t>System.out.</a:t>
            </a:r>
            <a:r>
              <a:rPr lang="en-US" altLang="zh-CN" sz="29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print</a:t>
            </a:r>
            <a:r>
              <a:rPr lang="en-US" altLang="zh-CN" sz="2900" b="1" dirty="0">
                <a:latin typeface="Times New Roman" panose="02020603050405020304" pitchFamily="18" charset="0"/>
              </a:rPr>
              <a:t>("  " + </a:t>
            </a:r>
            <a:r>
              <a:rPr lang="en-US" altLang="zh-CN" sz="2900" b="1" dirty="0" err="1">
                <a:latin typeface="Times New Roman" panose="02020603050405020304" pitchFamily="18" charset="0"/>
              </a:rPr>
              <a:t>i</a:t>
            </a:r>
            <a:r>
              <a:rPr lang="en-US" altLang="zh-CN" sz="2900" b="1" dirty="0">
                <a:latin typeface="Times New Roman" panose="02020603050405020304" pitchFamily="18" charset="0"/>
              </a:rPr>
              <a:t> + "*" + j + "=" + </a:t>
            </a:r>
            <a:r>
              <a:rPr lang="en-US" altLang="zh-CN" sz="2900" b="1" dirty="0" err="1">
                <a:latin typeface="Times New Roman" panose="02020603050405020304" pitchFamily="18" charset="0"/>
              </a:rPr>
              <a:t>i</a:t>
            </a:r>
            <a:r>
              <a:rPr lang="en-US" altLang="zh-CN" sz="2900" b="1" dirty="0">
                <a:latin typeface="Times New Roman" panose="02020603050405020304" pitchFamily="18" charset="0"/>
              </a:rPr>
              <a:t> * j);</a:t>
            </a:r>
          </a:p>
          <a:p>
            <a:pPr marL="0" indent="0">
              <a:buNone/>
            </a:pPr>
            <a:r>
              <a:rPr lang="en-US" altLang="zh-CN" sz="2900" b="1" dirty="0">
                <a:latin typeface="Times New Roman" panose="02020603050405020304" pitchFamily="18" charset="0"/>
              </a:rPr>
              <a:t>                     }</a:t>
            </a:r>
          </a:p>
          <a:p>
            <a:pPr marL="0" indent="0">
              <a:buNone/>
            </a:pPr>
            <a:r>
              <a:rPr lang="en-US" altLang="zh-CN" sz="2900" b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2900" b="1" dirty="0" err="1">
                <a:latin typeface="Times New Roman" panose="02020603050405020304" pitchFamily="18" charset="0"/>
              </a:rPr>
              <a:t>System.out.</a:t>
            </a:r>
            <a:r>
              <a:rPr lang="en-US" altLang="zh-CN" sz="2900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println</a:t>
            </a:r>
            <a:r>
              <a:rPr lang="en-US" altLang="zh-CN" sz="2900" b="1" dirty="0">
                <a:latin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altLang="zh-CN" sz="2900" b="1" dirty="0">
                <a:latin typeface="Times New Roman" panose="02020603050405020304" pitchFamily="18" charset="0"/>
              </a:rPr>
              <a:t>             }</a:t>
            </a:r>
          </a:p>
          <a:p>
            <a:pPr marL="0" indent="0">
              <a:buNone/>
            </a:pPr>
            <a:r>
              <a:rPr lang="en-US" altLang="zh-CN" sz="2900" b="1" dirty="0">
                <a:latin typeface="Times New Roman" panose="02020603050405020304" pitchFamily="18" charset="0"/>
              </a:rPr>
              <a:t>      }</a:t>
            </a:r>
          </a:p>
          <a:p>
            <a:pPr marL="0" indent="0">
              <a:buNone/>
            </a:pPr>
            <a:r>
              <a:rPr lang="en-US" altLang="zh-CN" sz="2900" b="1" dirty="0">
                <a:latin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00AA2-7783-8A05-DA5D-5D5BF6CCF9A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0DFD39-42BF-6C9A-9041-16B0C82D002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43985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for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19292379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271464" y="1772816"/>
            <a:ext cx="10224986" cy="4680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运行结果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</a:rPr>
              <a:t>1*1=1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2*1=2  2*2=4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3*1=3  3*2=6  3*3=9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4*1=4  4*2=8  4*3=12  4*4=16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5*1=5  5*2=10  5*3=15  5*4=20  5*5=25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6*1=6  6*2=12  6*3=18  6*4=24  6*5=30  6*6=36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7*1=7  7*2=14  7*3=21  7*4=28  7*5=35  7*6=42  7*7=49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8*1=8  8*2=16  8*3=24  8*4=32  8*5=40  8*6=48  8*7=56  8*8=64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9*1=9  9*2=18  9*3=27  9*4=36  9*5=45  9*6=54  9*7=63  9*8=72  9*9=81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2F525A-A950-E2AF-6D1C-5E016E4CFD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442FFE-40B7-C080-E528-E256E562802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43985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for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12784899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495934" y="1772816"/>
            <a:ext cx="7416824" cy="244827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用来对</a:t>
            </a:r>
            <a:r>
              <a:rPr lang="zh-CN" altLang="en-US" sz="27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数组或者集合对象</a:t>
            </a:r>
            <a:r>
              <a:rPr lang="zh-CN" altLang="en-US" sz="2700" b="1" dirty="0">
                <a:latin typeface="Times New Roman" panose="02020603050405020304" pitchFamily="18" charset="0"/>
              </a:rPr>
              <a:t>进行遍历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语法格式：</a:t>
            </a:r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 sz="2700" b="1" dirty="0">
                <a:latin typeface="Times New Roman" panose="02020603050405020304" pitchFamily="18" charset="0"/>
              </a:rPr>
              <a:t>   for (Type name : </a:t>
            </a:r>
            <a:r>
              <a:rPr lang="zh-CN" altLang="en-US" sz="2700" b="1" dirty="0">
                <a:latin typeface="Times New Roman" panose="02020603050405020304" pitchFamily="18" charset="0"/>
              </a:rPr>
              <a:t>数组或集合类型对象</a:t>
            </a:r>
            <a:r>
              <a:rPr lang="en-US" altLang="zh-CN" sz="2700" b="1" dirty="0">
                <a:latin typeface="Times New Roman" panose="02020603050405020304" pitchFamily="18" charset="0"/>
              </a:rPr>
              <a:t>) {</a:t>
            </a:r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 sz="2700" b="1" dirty="0">
                <a:latin typeface="Times New Roman" panose="02020603050405020304" pitchFamily="18" charset="0"/>
              </a:rPr>
              <a:t>         //</a:t>
            </a:r>
            <a:r>
              <a:rPr lang="zh-CN" altLang="en-US" sz="2700" b="1" dirty="0">
                <a:latin typeface="Times New Roman" panose="02020603050405020304" pitchFamily="18" charset="0"/>
              </a:rPr>
              <a:t>循环体</a:t>
            </a:r>
            <a:r>
              <a:rPr lang="en-US" altLang="zh-CN" sz="2700" b="1" dirty="0">
                <a:latin typeface="Times New Roman" panose="02020603050405020304" pitchFamily="18" charset="0"/>
              </a:rPr>
              <a:t>;</a:t>
            </a:r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 sz="2700" b="1" dirty="0">
                <a:latin typeface="Times New Roman" panose="02020603050405020304" pitchFamily="18" charset="0"/>
              </a:rPr>
              <a:t>   }</a:t>
            </a:r>
            <a:endParaRPr lang="zh-CN" altLang="en-US" sz="2700" b="1" dirty="0">
              <a:latin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8997609-9380-352F-0D29-D508DC3CA24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B6D345-143E-2676-865A-2AF6F9F649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增强</a:t>
            </a: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for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循环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055440" y="5578896"/>
            <a:ext cx="9722979" cy="1080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500" b="1" dirty="0">
                <a:latin typeface="Times New Roman" panose="02020603050405020304" pitchFamily="18" charset="0"/>
              </a:rPr>
              <a:t>运行结果如下：</a:t>
            </a:r>
          </a:p>
          <a:p>
            <a:pPr marL="0" indent="0">
              <a:buNone/>
            </a:pPr>
            <a:r>
              <a:rPr lang="en-US" altLang="zh-CN" sz="2500" b="1" dirty="0">
                <a:latin typeface="Times New Roman" panose="02020603050405020304" pitchFamily="18" charset="0"/>
              </a:rPr>
              <a:t>Monday Tuesday Wednesday Thursday Friday Saturday Sunday </a:t>
            </a:r>
          </a:p>
          <a:p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661E07-BD20-8CA7-94A4-0A53EF4D5A6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7F83AC-B862-1610-B431-3F3FEB3455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159938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增强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for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循环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0AB1653-B9F1-C83D-1A95-72850F6A2FC1}"/>
              </a:ext>
            </a:extLst>
          </p:cNvPr>
          <p:cNvSpPr txBox="1">
            <a:spLocks/>
          </p:cNvSpPr>
          <p:nvPr/>
        </p:nvSpPr>
        <p:spPr>
          <a:xfrm>
            <a:off x="695400" y="1529436"/>
            <a:ext cx="11017224" cy="40494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500" b="1" dirty="0">
                <a:latin typeface="Times New Roman" panose="02020603050405020304" pitchFamily="18" charset="0"/>
              </a:rPr>
              <a:t>public class </a:t>
            </a:r>
            <a:r>
              <a:rPr kumimoji="0" lang="en-US" altLang="zh-CN" sz="2500" b="1" dirty="0" err="1">
                <a:latin typeface="Times New Roman" panose="02020603050405020304" pitchFamily="18" charset="0"/>
              </a:rPr>
              <a:t>PrintDay</a:t>
            </a:r>
            <a:r>
              <a:rPr kumimoji="0" lang="en-US" altLang="zh-CN" sz="2500" b="1" dirty="0">
                <a:latin typeface="Times New Roman" panose="02020603050405020304" pitchFamily="18" charset="0"/>
              </a:rPr>
              <a:t> {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500" b="1" dirty="0">
                <a:latin typeface="Times New Roman" panose="02020603050405020304" pitchFamily="18" charset="0"/>
              </a:rPr>
              <a:t>       public static void main(String[] </a:t>
            </a:r>
            <a:r>
              <a:rPr kumimoji="0" lang="en-US" altLang="zh-CN" sz="2500" b="1" dirty="0" err="1">
                <a:latin typeface="Times New Roman" panose="02020603050405020304" pitchFamily="18" charset="0"/>
              </a:rPr>
              <a:t>args</a:t>
            </a:r>
            <a:r>
              <a:rPr kumimoji="0" lang="en-US" altLang="zh-CN" sz="2500" b="1" dirty="0">
                <a:latin typeface="Times New Roman" panose="02020603050405020304" pitchFamily="18" charset="0"/>
              </a:rPr>
              <a:t>) {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500" b="1" dirty="0">
                <a:latin typeface="Times New Roman" panose="02020603050405020304" pitchFamily="18" charset="0"/>
              </a:rPr>
              <a:t>           String[] days = {"Monday", "Tuesday", "Wednesday", "Thursday", "Friday", "Saturday", "Sunday "};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500" b="1" dirty="0">
                <a:latin typeface="Times New Roman" panose="02020603050405020304" pitchFamily="18" charset="0"/>
              </a:rPr>
              <a:t>          for (</a:t>
            </a:r>
            <a:r>
              <a:rPr kumimoji="0" lang="en-US" altLang="zh-CN" sz="25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String day : days</a:t>
            </a:r>
            <a:r>
              <a:rPr kumimoji="0" lang="en-US" altLang="zh-CN" sz="2500" b="1" dirty="0">
                <a:latin typeface="Times New Roman" panose="02020603050405020304" pitchFamily="18" charset="0"/>
              </a:rPr>
              <a:t>) {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500" b="1" dirty="0">
                <a:latin typeface="Times New Roman" panose="02020603050405020304" pitchFamily="18" charset="0"/>
              </a:rPr>
              <a:t>                 </a:t>
            </a:r>
            <a:r>
              <a:rPr kumimoji="0" lang="en-US" altLang="zh-CN" sz="2500" b="1" dirty="0" err="1">
                <a:latin typeface="Times New Roman" panose="02020603050405020304" pitchFamily="18" charset="0"/>
              </a:rPr>
              <a:t>System.out.print</a:t>
            </a:r>
            <a:r>
              <a:rPr kumimoji="0" lang="en-US" altLang="zh-CN" sz="2500" b="1" dirty="0">
                <a:latin typeface="Times New Roman" panose="02020603050405020304" pitchFamily="18" charset="0"/>
              </a:rPr>
              <a:t>(day + " ");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500" b="1" dirty="0">
                <a:latin typeface="Times New Roman" panose="02020603050405020304" pitchFamily="18" charset="0"/>
              </a:rPr>
              <a:t>          }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500" b="1" dirty="0">
                <a:latin typeface="Times New Roman" panose="02020603050405020304" pitchFamily="18" charset="0"/>
              </a:rPr>
              <a:t>      }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500" b="1" dirty="0">
                <a:latin typeface="Times New Roman" panose="02020603050405020304" pitchFamily="18" charset="0"/>
              </a:rPr>
              <a:t>}</a:t>
            </a:r>
            <a:endParaRPr kumimoji="0" lang="zh-CN" altLang="en-US" sz="25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2676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9416" y="1556792"/>
            <a:ext cx="10974387" cy="496855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500" b="1" dirty="0">
                <a:latin typeface="Times New Roman" panose="02020603050405020304" pitchFamily="18" charset="0"/>
              </a:rPr>
              <a:t>语法形式：</a:t>
            </a:r>
          </a:p>
          <a:p>
            <a:pPr lvl="1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zh-CN" sz="2500" b="1" dirty="0">
                <a:latin typeface="Times New Roman" panose="02020603050405020304" pitchFamily="18" charset="0"/>
              </a:rPr>
              <a:t>   while (check-expression) { </a:t>
            </a:r>
          </a:p>
          <a:p>
            <a:pPr lvl="1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zh-CN" sz="2500" b="1" dirty="0">
                <a:latin typeface="Times New Roman" panose="02020603050405020304" pitchFamily="18" charset="0"/>
              </a:rPr>
              <a:t>          //body of the loop; </a:t>
            </a:r>
          </a:p>
          <a:p>
            <a:pPr lvl="1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zh-CN" sz="2500" b="1" dirty="0">
                <a:latin typeface="Times New Roman" panose="02020603050405020304" pitchFamily="18" charset="0"/>
              </a:rPr>
              <a:t>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500" b="1" dirty="0">
                <a:latin typeface="Times New Roman" panose="02020603050405020304" pitchFamily="18" charset="0"/>
              </a:rPr>
              <a:t>解释</a:t>
            </a:r>
          </a:p>
          <a:p>
            <a:pPr marL="914400" lvl="1" indent="-457200" eaLnBrk="1" hangingPunct="1">
              <a:lnSpc>
                <a:spcPct val="90000"/>
              </a:lnSpc>
              <a:buFont typeface="+mj-ea"/>
              <a:buAutoNum type="circleNumDbPlain"/>
            </a:pPr>
            <a:r>
              <a:rPr lang="zh-CN" altLang="en-US" sz="2500" b="1" dirty="0">
                <a:latin typeface="Times New Roman" panose="02020603050405020304" pitchFamily="18" charset="0"/>
              </a:rPr>
              <a:t>条件表达式(</a:t>
            </a:r>
            <a:r>
              <a:rPr lang="en-US" altLang="zh-CN" sz="2500" b="1" dirty="0">
                <a:latin typeface="Times New Roman" panose="02020603050405020304" pitchFamily="18" charset="0"/>
              </a:rPr>
              <a:t>check-expression)</a:t>
            </a:r>
            <a:r>
              <a:rPr lang="zh-CN" altLang="en-US" sz="2500" b="1" dirty="0">
                <a:latin typeface="Times New Roman" panose="02020603050405020304" pitchFamily="18" charset="0"/>
              </a:rPr>
              <a:t>的返回值为</a:t>
            </a:r>
            <a:r>
              <a:rPr lang="zh-CN" altLang="en-US" sz="25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布尔型</a:t>
            </a:r>
          </a:p>
          <a:p>
            <a:pPr marL="914400" lvl="1" indent="-457200" eaLnBrk="1" hangingPunct="1">
              <a:lnSpc>
                <a:spcPct val="90000"/>
              </a:lnSpc>
              <a:buFont typeface="+mj-ea"/>
              <a:buAutoNum type="circleNumDbPlain"/>
            </a:pPr>
            <a:r>
              <a:rPr lang="zh-CN" altLang="en-US" sz="2500" b="1" dirty="0">
                <a:latin typeface="Times New Roman" panose="02020603050405020304" pitchFamily="18" charset="0"/>
              </a:rPr>
              <a:t>循环体可以是单个语句，也可以是复合语句块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500" b="1" dirty="0">
                <a:latin typeface="Times New Roman" panose="02020603050405020304" pitchFamily="18" charset="0"/>
              </a:rPr>
              <a:t>执行过程</a:t>
            </a:r>
            <a:r>
              <a:rPr lang="en-US" altLang="zh-CN" sz="2500" b="1" dirty="0">
                <a:latin typeface="Times New Roman" panose="02020603050405020304" pitchFamily="18" charset="0"/>
              </a:rPr>
              <a:t>:</a:t>
            </a:r>
            <a:endParaRPr lang="zh-CN" altLang="en-US" sz="2500" b="1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lnSpc>
                <a:spcPct val="90000"/>
              </a:lnSpc>
              <a:buFont typeface="+mj-ea"/>
              <a:buAutoNum type="circleNumDbPlain"/>
            </a:pPr>
            <a:r>
              <a:rPr lang="zh-CN" altLang="en-US" sz="2500" b="1" dirty="0">
                <a:latin typeface="Times New Roman" panose="02020603050405020304" pitchFamily="18" charset="0"/>
              </a:rPr>
              <a:t>先判断</a:t>
            </a:r>
            <a:r>
              <a:rPr lang="en-US" altLang="zh-CN" sz="2500" b="1" dirty="0">
                <a:latin typeface="Times New Roman" panose="02020603050405020304" pitchFamily="18" charset="0"/>
              </a:rPr>
              <a:t>check-expression</a:t>
            </a:r>
            <a:r>
              <a:rPr lang="zh-CN" altLang="en-US" sz="2500" b="1" dirty="0">
                <a:latin typeface="Times New Roman" panose="02020603050405020304" pitchFamily="18" charset="0"/>
              </a:rPr>
              <a:t>的值，为真则执行循环体</a:t>
            </a:r>
          </a:p>
          <a:p>
            <a:pPr marL="914400" lvl="1" indent="-457200" eaLnBrk="1" hangingPunct="1">
              <a:lnSpc>
                <a:spcPct val="90000"/>
              </a:lnSpc>
              <a:buFont typeface="+mj-ea"/>
              <a:buAutoNum type="circleNumDbPlain"/>
            </a:pPr>
            <a:r>
              <a:rPr lang="zh-CN" altLang="en-US" sz="2500" b="1" dirty="0">
                <a:latin typeface="Times New Roman" panose="02020603050405020304" pitchFamily="18" charset="0"/>
              </a:rPr>
              <a:t>循环体执行完后再无条件转向条件表达式做计算与判断；当计算出条件表达式的值为假时，跳过循环体执行</a:t>
            </a:r>
            <a:r>
              <a:rPr lang="en-US" altLang="zh-CN" sz="2500" b="1" dirty="0">
                <a:latin typeface="Times New Roman" panose="02020603050405020304" pitchFamily="18" charset="0"/>
              </a:rPr>
              <a:t>while</a:t>
            </a:r>
            <a:r>
              <a:rPr lang="zh-CN" altLang="en-US" sz="2500" b="1" dirty="0">
                <a:latin typeface="Times New Roman" panose="02020603050405020304" pitchFamily="18" charset="0"/>
              </a:rPr>
              <a:t>语句后面的语句。若为真，则继续执行循环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AA55B1F-D5A6-A0AE-7120-DEC37A69D70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076438-E307-87D0-95F0-064D47B0F14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79989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while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语句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7408" y="1556792"/>
            <a:ext cx="11161240" cy="49685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700" dirty="0">
                <a:latin typeface="Times New Roman" panose="02020603050405020304" pitchFamily="18" charset="0"/>
              </a:rPr>
              <a:t>语法形式：</a:t>
            </a:r>
          </a:p>
          <a:p>
            <a:pPr marL="411162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700" dirty="0">
                <a:latin typeface="Times New Roman" panose="02020603050405020304" pitchFamily="18" charset="0"/>
              </a:rPr>
              <a:t>  </a:t>
            </a:r>
            <a:r>
              <a:rPr lang="en-US" altLang="zh-CN" sz="2700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do { </a:t>
            </a:r>
          </a:p>
          <a:p>
            <a:pPr marL="411162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700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         //body of the loop; </a:t>
            </a:r>
          </a:p>
          <a:p>
            <a:pPr marL="411162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700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   } while (check-expression);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latin typeface="Times New Roman" panose="02020603050405020304" pitchFamily="18" charset="0"/>
              </a:rPr>
              <a:t>        与</a:t>
            </a:r>
            <a:r>
              <a:rPr lang="en-US" altLang="zh-CN" sz="2700" b="1" dirty="0">
                <a:latin typeface="Times New Roman" panose="02020603050405020304" pitchFamily="18" charset="0"/>
              </a:rPr>
              <a:t>while</a:t>
            </a:r>
            <a:r>
              <a:rPr lang="zh-CN" altLang="en-US" sz="2700" b="1" dirty="0">
                <a:latin typeface="Times New Roman" panose="02020603050405020304" pitchFamily="18" charset="0"/>
              </a:rPr>
              <a:t>语句很类似，不同的是它首先无条件的执行一遍循环体，再来判断条件表达式的值，若表达式的值为真，则再运行循环体，否则跳出</a:t>
            </a:r>
            <a:r>
              <a:rPr lang="en-US" altLang="zh-CN" sz="2700" b="1" dirty="0">
                <a:latin typeface="Times New Roman" panose="02020603050405020304" pitchFamily="18" charset="0"/>
              </a:rPr>
              <a:t>do-while</a:t>
            </a:r>
            <a:r>
              <a:rPr lang="zh-CN" altLang="en-US" sz="2700" b="1" dirty="0">
                <a:latin typeface="Times New Roman" panose="02020603050405020304" pitchFamily="18" charset="0"/>
              </a:rPr>
              <a:t>循环，执行下面的语句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latin typeface="Times New Roman" panose="02020603050405020304" pitchFamily="18" charset="0"/>
              </a:rPr>
              <a:t>特点：它的</a:t>
            </a:r>
            <a:r>
              <a:rPr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循环体至少要执行一次。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8BA80A5-27EE-F777-325E-BB6F958D215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A71FC5-4832-EA6C-89B3-EF56D7D39F0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44797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do-while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语句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79376" y="1700809"/>
            <a:ext cx="11161240" cy="38884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功能</a:t>
            </a:r>
            <a:r>
              <a:rPr lang="en-US" altLang="zh-CN" sz="2700" b="1" dirty="0">
                <a:latin typeface="Times New Roman" panose="02020603050405020304" pitchFamily="18" charset="0"/>
              </a:rPr>
              <a:t>:</a:t>
            </a:r>
            <a:r>
              <a:rPr lang="zh-CN" altLang="en-US" sz="2700" b="1" dirty="0">
                <a:latin typeface="Times New Roman" panose="02020603050405020304" pitchFamily="18" charset="0"/>
              </a:rPr>
              <a:t>跳出循环，不再执行剩余部分。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适用场合</a:t>
            </a:r>
            <a:r>
              <a:rPr lang="en-US" altLang="zh-CN" sz="2700" b="1" dirty="0">
                <a:latin typeface="Times New Roman" panose="02020603050405020304" pitchFamily="18" charset="0"/>
              </a:rPr>
              <a:t>:</a:t>
            </a:r>
            <a:endParaRPr lang="zh-CN" altLang="en-US" sz="2700" b="1" dirty="0">
              <a:latin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700" b="1" dirty="0">
                <a:latin typeface="Times New Roman" panose="02020603050405020304" pitchFamily="18" charset="0"/>
              </a:rPr>
              <a:t>在</a:t>
            </a:r>
            <a:r>
              <a:rPr lang="en-US" altLang="zh-CN" sz="2700" b="1" dirty="0">
                <a:latin typeface="Times New Roman" panose="02020603050405020304" pitchFamily="18" charset="0"/>
              </a:rPr>
              <a:t>switch </a:t>
            </a:r>
            <a:r>
              <a:rPr lang="zh-CN" altLang="en-US" sz="2700" b="1" dirty="0">
                <a:latin typeface="Times New Roman" panose="02020603050405020304" pitchFamily="18" charset="0"/>
              </a:rPr>
              <a:t>结构中用来终止</a:t>
            </a:r>
            <a:r>
              <a:rPr lang="en-US" altLang="zh-CN" sz="2700" b="1" dirty="0">
                <a:latin typeface="Times New Roman" panose="02020603050405020304" pitchFamily="18" charset="0"/>
              </a:rPr>
              <a:t>switch</a:t>
            </a:r>
            <a:r>
              <a:rPr lang="zh-CN" altLang="en-US" sz="2700" b="1" dirty="0">
                <a:latin typeface="Times New Roman" panose="02020603050405020304" pitchFamily="18" charset="0"/>
              </a:rPr>
              <a:t>语句的执行；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700" b="1" dirty="0">
                <a:latin typeface="Times New Roman" panose="02020603050405020304" pitchFamily="18" charset="0"/>
              </a:rPr>
              <a:t>在</a:t>
            </a:r>
            <a:r>
              <a:rPr lang="en-US" altLang="zh-CN" sz="2700" b="1" dirty="0">
                <a:latin typeface="Times New Roman" panose="02020603050405020304" pitchFamily="18" charset="0"/>
              </a:rPr>
              <a:t>for</a:t>
            </a:r>
            <a:r>
              <a:rPr lang="zh-CN" altLang="en-US" sz="2700" b="1" dirty="0">
                <a:latin typeface="Times New Roman" panose="02020603050405020304" pitchFamily="18" charset="0"/>
              </a:rPr>
              <a:t>循环及</a:t>
            </a:r>
            <a:r>
              <a:rPr lang="en-US" altLang="zh-CN" sz="2700" b="1" dirty="0">
                <a:latin typeface="Times New Roman" panose="02020603050405020304" pitchFamily="18" charset="0"/>
              </a:rPr>
              <a:t>while</a:t>
            </a:r>
            <a:r>
              <a:rPr lang="zh-CN" altLang="en-US" sz="2700" b="1" dirty="0">
                <a:latin typeface="Times New Roman" panose="02020603050405020304" pitchFamily="18" charset="0"/>
              </a:rPr>
              <a:t>循环结构中用于终止</a:t>
            </a:r>
            <a:r>
              <a:rPr lang="en-US" altLang="zh-CN" sz="2700" b="1" dirty="0">
                <a:latin typeface="Times New Roman" panose="02020603050405020304" pitchFamily="18" charset="0"/>
              </a:rPr>
              <a:t>break</a:t>
            </a:r>
            <a:r>
              <a:rPr lang="zh-CN" altLang="en-US" sz="2700" b="1" dirty="0">
                <a:latin typeface="Times New Roman" panose="02020603050405020304" pitchFamily="18" charset="0"/>
              </a:rPr>
              <a:t>语句所在的最内层循环；与标号一同使用时将跳出</a:t>
            </a:r>
            <a:r>
              <a:rPr lang="zh-CN" altLang="en-US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标号所标识的循环；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700" b="1" dirty="0">
                <a:latin typeface="Times New Roman" panose="02020603050405020304" pitchFamily="18" charset="0"/>
              </a:rPr>
              <a:t>在代码块中</a:t>
            </a:r>
            <a:r>
              <a:rPr lang="zh-CN" altLang="en-US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用于跳出它所指定的块。</a:t>
            </a:r>
          </a:p>
        </p:txBody>
      </p:sp>
      <p:sp>
        <p:nvSpPr>
          <p:cNvPr id="102403" name="Rectangle 6"/>
          <p:cNvSpPr>
            <a:spLocks noChangeArrowheads="1"/>
          </p:cNvSpPr>
          <p:nvPr/>
        </p:nvSpPr>
        <p:spPr bwMode="auto">
          <a:xfrm>
            <a:off x="9144000" y="5029200"/>
            <a:ext cx="685800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3B111B1F-509D-5B05-8792-6EE65BB358B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A0BC88-2A9E-53A5-0B8E-AE039B1A779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871906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break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语句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1424" y="1556792"/>
            <a:ext cx="10333148" cy="453650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必须用于循环结构中；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停止本次迭代，回到循环起始处，开始下一次迭代过程；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有两种使用格式：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700" b="1" dirty="0">
                <a:latin typeface="Times New Roman" panose="02020603050405020304" pitchFamily="18" charset="0"/>
              </a:rPr>
              <a:t>不带标号的</a:t>
            </a:r>
            <a:r>
              <a:rPr lang="en-US" altLang="zh-CN" sz="2700" b="1" dirty="0">
                <a:latin typeface="Times New Roman" panose="02020603050405020304" pitchFamily="18" charset="0"/>
              </a:rPr>
              <a:t>continue</a:t>
            </a:r>
            <a:r>
              <a:rPr lang="zh-CN" altLang="en-US" sz="2700" b="1" dirty="0">
                <a:latin typeface="Times New Roman" panose="02020603050405020304" pitchFamily="18" charset="0"/>
              </a:rPr>
              <a:t>语句</a:t>
            </a:r>
            <a:r>
              <a:rPr lang="en-US" altLang="zh-CN" sz="2700" b="1" dirty="0">
                <a:latin typeface="Times New Roman" panose="02020603050405020304" pitchFamily="18" charset="0"/>
              </a:rPr>
              <a:t>:</a:t>
            </a:r>
            <a:r>
              <a:rPr lang="zh-CN" altLang="en-US" sz="2700" b="1" dirty="0">
                <a:latin typeface="Times New Roman" panose="02020603050405020304" pitchFamily="18" charset="0"/>
              </a:rPr>
              <a:t>终止当前这一轮的循环，跳出本轮循环剩余的语句，直接进入当前循环的下一轮；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700" b="1" dirty="0">
                <a:latin typeface="Times New Roman" panose="02020603050405020304" pitchFamily="18" charset="0"/>
              </a:rPr>
              <a:t>带标号的</a:t>
            </a:r>
            <a:r>
              <a:rPr lang="en-US" altLang="zh-CN" sz="2700" b="1" dirty="0">
                <a:latin typeface="Times New Roman" panose="02020603050405020304" pitchFamily="18" charset="0"/>
              </a:rPr>
              <a:t>continue</a:t>
            </a:r>
            <a:r>
              <a:rPr lang="zh-CN" altLang="en-US" sz="2700" b="1" dirty="0">
                <a:latin typeface="Times New Roman" panose="02020603050405020304" pitchFamily="18" charset="0"/>
              </a:rPr>
              <a:t>语句</a:t>
            </a:r>
            <a:r>
              <a:rPr lang="en-US" altLang="zh-CN" sz="2700" b="1" dirty="0">
                <a:latin typeface="Times New Roman" panose="02020603050405020304" pitchFamily="18" charset="0"/>
              </a:rPr>
              <a:t>:</a:t>
            </a:r>
            <a:r>
              <a:rPr lang="zh-CN" altLang="en-US" sz="2700" b="1" dirty="0">
                <a:latin typeface="Times New Roman" panose="02020603050405020304" pitchFamily="18" charset="0"/>
              </a:rPr>
              <a:t>使程序的流程直接转入标号标明的循环层次。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9007227-85DA-F288-5115-ADB512BC8DF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83832" y="44624"/>
            <a:ext cx="3240360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 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流程控制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A96C53-0C59-F246-2D0C-D24CAEA1125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continue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语句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arrow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ts val="3000"/>
          </a:lnSpc>
          <a:spcBef>
            <a:spcPts val="0"/>
          </a:spcBef>
          <a:defRPr sz="2000" smtClean="0">
            <a:solidFill>
              <a:srgbClr val="0000FF"/>
            </a:solidFill>
            <a:latin typeface="仿宋" panose="02010609060101010101" pitchFamily="49" charset="-122"/>
            <a:ea typeface="仿宋" panose="02010609060101010101" pitchFamily="49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5626</TotalTime>
  <Words>4025</Words>
  <Application>Microsoft Office PowerPoint</Application>
  <PresentationFormat>宽屏</PresentationFormat>
  <Paragraphs>604</Paragraphs>
  <Slides>58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2" baseType="lpstr">
      <vt:lpstr>Arial Unicode MS</vt:lpstr>
      <vt:lpstr>仿宋</vt:lpstr>
      <vt:lpstr>华文楷体</vt:lpstr>
      <vt:lpstr>华文细黑</vt:lpstr>
      <vt:lpstr>楷体</vt:lpstr>
      <vt:lpstr>隶书</vt:lpstr>
      <vt:lpstr>Arial</vt:lpstr>
      <vt:lpstr>Calibri</vt:lpstr>
      <vt:lpstr>Georgia</vt:lpstr>
      <vt:lpstr>Times New Roman</vt:lpstr>
      <vt:lpstr>Trebuchet MS</vt:lpstr>
      <vt:lpstr>Wingdings</vt:lpstr>
      <vt:lpstr>Wingdings 2</vt:lpstr>
      <vt:lpstr>1_Office 主题</vt:lpstr>
      <vt:lpstr>Java语言程序设计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 多态性</dc:title>
  <dc:creator>Li Yushan</dc:creator>
  <cp:lastModifiedBy>pan gao</cp:lastModifiedBy>
  <cp:revision>589</cp:revision>
  <dcterms:created xsi:type="dcterms:W3CDTF">2010-07-20T13:20:04Z</dcterms:created>
  <dcterms:modified xsi:type="dcterms:W3CDTF">2026-03-10T09:17:21Z</dcterms:modified>
</cp:coreProperties>
</file>