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678" r:id="rId3"/>
    <p:sldId id="679" r:id="rId4"/>
    <p:sldId id="877" r:id="rId5"/>
    <p:sldId id="264" r:id="rId6"/>
    <p:sldId id="730" r:id="rId7"/>
    <p:sldId id="731" r:id="rId8"/>
    <p:sldId id="732" r:id="rId9"/>
    <p:sldId id="729" r:id="rId10"/>
    <p:sldId id="734" r:id="rId11"/>
    <p:sldId id="733" r:id="rId12"/>
    <p:sldId id="735" r:id="rId13"/>
    <p:sldId id="738" r:id="rId14"/>
    <p:sldId id="739" r:id="rId15"/>
    <p:sldId id="736" r:id="rId16"/>
    <p:sldId id="740" r:id="rId17"/>
    <p:sldId id="36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96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7051"/>
    <a:srgbClr val="04926A"/>
    <a:srgbClr val="4A7BA8"/>
    <a:srgbClr val="A9D18E"/>
    <a:srgbClr val="00B0F0"/>
    <a:srgbClr val="3333CC"/>
    <a:srgbClr val="335AE6"/>
    <a:srgbClr val="EEF9FE"/>
    <a:srgbClr val="019B4E"/>
    <a:srgbClr val="1D9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60" autoAdjust="0"/>
    <p:restoredTop sz="97078" autoAdjust="0"/>
  </p:normalViewPr>
  <p:slideViewPr>
    <p:cSldViewPr snapToGrid="0" showGuides="1">
      <p:cViewPr varScale="1">
        <p:scale>
          <a:sx n="73" d="100"/>
          <a:sy n="73" d="100"/>
        </p:scale>
        <p:origin x="60" y="144"/>
      </p:cViewPr>
      <p:guideLst>
        <p:guide orient="horz" pos="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61489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7774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定积分在物理学上的应用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70065" y="88804"/>
            <a:ext cx="19411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定积分的应用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AD294AF-2E49-5EC0-32D6-B48216B846FD}"/>
              </a:ext>
            </a:extLst>
          </p:cNvPr>
          <p:cNvCxnSpPr/>
          <p:nvPr userDrawn="1"/>
        </p:nvCxnSpPr>
        <p:spPr>
          <a:xfrm>
            <a:off x="0" y="244552"/>
            <a:ext cx="930348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44705E6-84DF-F2E9-C572-02064995FB79}"/>
              </a:ext>
            </a:extLst>
          </p:cNvPr>
          <p:cNvCxnSpPr/>
          <p:nvPr userDrawn="1"/>
        </p:nvCxnSpPr>
        <p:spPr>
          <a:xfrm>
            <a:off x="3408000" y="6581549"/>
            <a:ext cx="878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9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18" Type="http://schemas.openxmlformats.org/officeDocument/2006/relationships/image" Target="../media/image20.png"/><Relationship Id="rId3" Type="http://schemas.openxmlformats.org/officeDocument/2006/relationships/image" Target="../media/image22.png"/><Relationship Id="rId21" Type="http://schemas.openxmlformats.org/officeDocument/2006/relationships/image" Target="../media/image37.png"/><Relationship Id="rId7" Type="http://schemas.openxmlformats.org/officeDocument/2006/relationships/image" Target="../media/image11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510.png"/><Relationship Id="rId21" Type="http://schemas.openxmlformats.org/officeDocument/2006/relationships/image" Target="../media/image51.png"/><Relationship Id="rId7" Type="http://schemas.openxmlformats.org/officeDocument/2006/relationships/image" Target="../media/image390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23" Type="http://schemas.openxmlformats.org/officeDocument/2006/relationships/image" Target="../media/image49.png"/><Relationship Id="rId10" Type="http://schemas.openxmlformats.org/officeDocument/2006/relationships/image" Target="../media/image420.png"/><Relationship Id="rId19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14" Type="http://schemas.openxmlformats.org/officeDocument/2006/relationships/image" Target="../media/image46.png"/><Relationship Id="rId22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3.png"/><Relationship Id="rId21" Type="http://schemas.openxmlformats.org/officeDocument/2006/relationships/image" Target="../media/image69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0.png"/><Relationship Id="rId11" Type="http://schemas.openxmlformats.org/officeDocument/2006/relationships/image" Target="../media/image59.png"/><Relationship Id="rId5" Type="http://schemas.openxmlformats.org/officeDocument/2006/relationships/image" Target="../media/image55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4.png"/><Relationship Id="rId9" Type="http://schemas.openxmlformats.org/officeDocument/2006/relationships/image" Target="../media/image570.png"/><Relationship Id="rId1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13" Type="http://schemas.openxmlformats.org/officeDocument/2006/relationships/image" Target="../media/image82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0.png"/><Relationship Id="rId15" Type="http://schemas.openxmlformats.org/officeDocument/2006/relationships/image" Target="../media/image5.jpe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png"/><Relationship Id="rId12" Type="http://schemas.openxmlformats.org/officeDocument/2006/relationships/image" Target="../media/image94.png"/><Relationship Id="rId2" Type="http://schemas.openxmlformats.org/officeDocument/2006/relationships/image" Target="../media/image75.png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3.png"/><Relationship Id="rId15" Type="http://schemas.openxmlformats.org/officeDocument/2006/relationships/image" Target="../media/image86.png"/><Relationship Id="rId10" Type="http://schemas.openxmlformats.org/officeDocument/2006/relationships/image" Target="../media/image84.png"/><Relationship Id="rId14" Type="http://schemas.openxmlformats.org/officeDocument/2006/relationships/image" Target="../media/image9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7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9" Type="http://schemas.openxmlformats.org/officeDocument/2006/relationships/image" Target="../media/image124.png"/><Relationship Id="rId34" Type="http://schemas.openxmlformats.org/officeDocument/2006/relationships/image" Target="../media/image119.png"/><Relationship Id="rId7" Type="http://schemas.openxmlformats.org/officeDocument/2006/relationships/oleObject" Target="../embeddings/oleObject1.bin"/><Relationship Id="rId33" Type="http://schemas.openxmlformats.org/officeDocument/2006/relationships/image" Target="../media/image120.png"/><Relationship Id="rId38" Type="http://schemas.openxmlformats.org/officeDocument/2006/relationships/image" Target="../media/image1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37" Type="http://schemas.openxmlformats.org/officeDocument/2006/relationships/image" Target="../media/image122.png"/><Relationship Id="rId40" Type="http://schemas.openxmlformats.org/officeDocument/2006/relationships/image" Target="../media/image12.jpeg"/><Relationship Id="rId5" Type="http://schemas.openxmlformats.org/officeDocument/2006/relationships/image" Target="../media/image104.png"/><Relationship Id="rId36" Type="http://schemas.openxmlformats.org/officeDocument/2006/relationships/image" Target="../media/image11.emf"/><Relationship Id="rId4" Type="http://schemas.openxmlformats.org/officeDocument/2006/relationships/image" Target="../media/image103.png"/><Relationship Id="rId35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13.png"/><Relationship Id="rId21" Type="http://schemas.openxmlformats.org/officeDocument/2006/relationships/image" Target="../media/image14.jpeg"/><Relationship Id="rId17" Type="http://schemas.openxmlformats.org/officeDocument/2006/relationships/image" Target="../media/image112.png"/><Relationship Id="rId2" Type="http://schemas.openxmlformats.org/officeDocument/2006/relationships/image" Target="../media/image13.emf"/><Relationship Id="rId20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19" Type="http://schemas.openxmlformats.org/officeDocument/2006/relationships/image" Target="../media/image11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1" Type="http://schemas.openxmlformats.org/officeDocument/2006/relationships/image" Target="../media/image14.jpeg"/><Relationship Id="rId12" Type="http://schemas.openxmlformats.org/officeDocument/2006/relationships/image" Target="../media/image150.png"/><Relationship Id="rId16" Type="http://schemas.openxmlformats.org/officeDocument/2006/relationships/image" Target="../media/image16.emf"/><Relationship Id="rId20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5.emf"/><Relationship Id="rId19" Type="http://schemas.openxmlformats.org/officeDocument/2006/relationships/image" Target="../media/image157.png"/><Relationship Id="rId14" Type="http://schemas.openxmlformats.org/officeDocument/2006/relationships/image" Target="../media/image1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1" Type="http://schemas.openxmlformats.org/officeDocument/2006/relationships/image" Target="../media/image138.png"/><Relationship Id="rId2" Type="http://schemas.openxmlformats.org/officeDocument/2006/relationships/image" Target="../media/image17.emf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24" Type="http://schemas.openxmlformats.org/officeDocument/2006/relationships/image" Target="../media/image22.jpeg"/><Relationship Id="rId5" Type="http://schemas.openxmlformats.org/officeDocument/2006/relationships/image" Target="../media/image20.emf"/><Relationship Id="rId23" Type="http://schemas.openxmlformats.org/officeDocument/2006/relationships/image" Target="../media/image142.png"/><Relationship Id="rId4" Type="http://schemas.openxmlformats.org/officeDocument/2006/relationships/image" Target="../media/image19.emf"/><Relationship Id="rId22" Type="http://schemas.openxmlformats.org/officeDocument/2006/relationships/image" Target="../media/image1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926715" y="4335145"/>
            <a:ext cx="2205355" cy="1557020"/>
            <a:chOff x="4791" y="6990"/>
            <a:chExt cx="3473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5516" y="6694"/>
              <a:ext cx="2023" cy="347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5307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核心思想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794" y="8159"/>
              <a:ext cx="3467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dk1"/>
                  </a:solidFill>
                  <a:sym typeface="+mn-ea"/>
                </a:rPr>
                <a:t>微元法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234690" y="884555"/>
            <a:ext cx="656590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第六章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定积分的应用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586220" y="4335145"/>
            <a:ext cx="2415540" cy="1557655"/>
            <a:chOff x="4779" y="6990"/>
            <a:chExt cx="3804" cy="2453"/>
          </a:xfrm>
        </p:grpSpPr>
        <p:sp>
          <p:nvSpPr>
            <p:cNvPr id="6" name="矩形: 圆角 40"/>
            <p:cNvSpPr/>
            <p:nvPr/>
          </p:nvSpPr>
          <p:spPr>
            <a:xfrm rot="16200000" flipV="1">
              <a:off x="5669" y="6529"/>
              <a:ext cx="2023" cy="3804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505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典型应用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6778308" y="5080000"/>
            <a:ext cx="20383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dk1"/>
                </a:solidFill>
                <a:sym typeface="+mn-ea"/>
              </a:rPr>
              <a:t>几何与物理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568960"/>
            <a:ext cx="9034145" cy="5718175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9287510" cy="570801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4646930" y="1570355"/>
            <a:ext cx="6727825" cy="37471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1298931" y="3419985"/>
            <a:ext cx="2000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8" name="PA-矩形 6"/>
          <p:cNvSpPr/>
          <p:nvPr>
            <p:custDataLst>
              <p:tags r:id="rId3"/>
            </p:custDataLst>
          </p:nvPr>
        </p:nvSpPr>
        <p:spPr>
          <a:xfrm>
            <a:off x="124182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419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2" name="矩形 11"/>
          <p:cNvSpPr/>
          <p:nvPr/>
        </p:nvSpPr>
        <p:spPr>
          <a:xfrm>
            <a:off x="1369455" y="1860681"/>
            <a:ext cx="1859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第六章</a:t>
            </a:r>
          </a:p>
        </p:txBody>
      </p:sp>
      <p:sp>
        <p:nvSpPr>
          <p:cNvPr id="3" name="矩形 2"/>
          <p:cNvSpPr/>
          <p:nvPr/>
        </p:nvSpPr>
        <p:spPr>
          <a:xfrm>
            <a:off x="5957570" y="2432050"/>
            <a:ext cx="55581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定积分的元素法</a:t>
            </a:r>
            <a:endParaRPr lang="en-US" altLang="zh-CN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57570" y="3121660"/>
            <a:ext cx="47631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定积分在几何上的应用</a:t>
            </a:r>
          </a:p>
        </p:txBody>
      </p:sp>
      <p:sp>
        <p:nvSpPr>
          <p:cNvPr id="28" name="矩形 27"/>
          <p:cNvSpPr/>
          <p:nvPr/>
        </p:nvSpPr>
        <p:spPr>
          <a:xfrm>
            <a:off x="5957570" y="3811270"/>
            <a:ext cx="4973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第三节   定积分在物理学上的应用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508000" y="2235610"/>
            <a:ext cx="3810" cy="2376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783745"/>
            <a:ext cx="11536045" cy="58214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461537" y="142455"/>
            <a:ext cx="617348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定积分在物理学上的应用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09A5F7-B0FD-E26E-00F0-9A59A2EEA141}"/>
              </a:ext>
            </a:extLst>
          </p:cNvPr>
          <p:cNvGrpSpPr/>
          <p:nvPr/>
        </p:nvGrpSpPr>
        <p:grpSpPr>
          <a:xfrm>
            <a:off x="3829645" y="1359212"/>
            <a:ext cx="4761906" cy="901065"/>
            <a:chOff x="2834548" y="1410968"/>
            <a:chExt cx="4761906" cy="901065"/>
          </a:xfrm>
        </p:grpSpPr>
        <p:sp>
          <p:nvSpPr>
            <p:cNvPr id="2" name="矩形: 圆角 40">
              <a:extLst>
                <a:ext uri="{FF2B5EF4-FFF2-40B4-BE49-F238E27FC236}">
                  <a16:creationId xmlns:a16="http://schemas.microsoft.com/office/drawing/2014/main" id="{0044EBD3-069A-6835-D6DA-7ABC431C7DCD}"/>
                </a:ext>
              </a:extLst>
            </p:cNvPr>
            <p:cNvSpPr/>
            <p:nvPr/>
          </p:nvSpPr>
          <p:spPr>
            <a:xfrm flipV="1">
              <a:off x="2834548" y="1410968"/>
              <a:ext cx="4761906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AA5506F-7280-9193-1014-B8A80FBF06FC}"/>
                </a:ext>
              </a:extLst>
            </p:cNvPr>
            <p:cNvSpPr/>
            <p:nvPr/>
          </p:nvSpPr>
          <p:spPr>
            <a:xfrm>
              <a:off x="3096476" y="1600200"/>
              <a:ext cx="4134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变力沿直线所作的功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92287A-FDEB-2C07-FE82-BEC7E48951E5}"/>
              </a:ext>
            </a:extLst>
          </p:cNvPr>
          <p:cNvGrpSpPr/>
          <p:nvPr/>
        </p:nvGrpSpPr>
        <p:grpSpPr>
          <a:xfrm>
            <a:off x="3829644" y="3867358"/>
            <a:ext cx="4761908" cy="901065"/>
            <a:chOff x="2834548" y="3644898"/>
            <a:chExt cx="4761908" cy="901065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54F6AD93-E083-C3B4-DDAA-3370685E36C8}"/>
                </a:ext>
              </a:extLst>
            </p:cNvPr>
            <p:cNvSpPr/>
            <p:nvPr/>
          </p:nvSpPr>
          <p:spPr>
            <a:xfrm flipV="1">
              <a:off x="2834548" y="3644898"/>
              <a:ext cx="4761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9F4853E-42EB-494C-1A8F-2573F6744E3B}"/>
                </a:ext>
              </a:extLst>
            </p:cNvPr>
            <p:cNvSpPr/>
            <p:nvPr/>
          </p:nvSpPr>
          <p:spPr>
            <a:xfrm>
              <a:off x="3057560" y="3834130"/>
              <a:ext cx="172835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引</a:t>
              </a:r>
              <a:r>
                <a:rPr kumimoji="1" lang="en-US" altLang="zh-CN" sz="28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zh-CN" altLang="en-US" sz="28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力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51F542-9793-B910-FA79-627367400601}"/>
              </a:ext>
            </a:extLst>
          </p:cNvPr>
          <p:cNvGrpSpPr/>
          <p:nvPr/>
        </p:nvGrpSpPr>
        <p:grpSpPr>
          <a:xfrm>
            <a:off x="3829643" y="2613285"/>
            <a:ext cx="4761906" cy="901065"/>
            <a:chOff x="2834548" y="2527933"/>
            <a:chExt cx="4761906" cy="901065"/>
          </a:xfrm>
        </p:grpSpPr>
        <p:sp>
          <p:nvSpPr>
            <p:cNvPr id="10" name="矩形: 圆角 40">
              <a:extLst>
                <a:ext uri="{FF2B5EF4-FFF2-40B4-BE49-F238E27FC236}">
                  <a16:creationId xmlns:a16="http://schemas.microsoft.com/office/drawing/2014/main" id="{2C129FD0-9A4E-CEE4-94B0-177A1EA56D7F}"/>
                </a:ext>
              </a:extLst>
            </p:cNvPr>
            <p:cNvSpPr/>
            <p:nvPr/>
          </p:nvSpPr>
          <p:spPr>
            <a:xfrm flipV="1">
              <a:off x="2834548" y="2527933"/>
              <a:ext cx="4761906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C4C8B76-161B-F689-5C8D-2BE32774A082}"/>
                </a:ext>
              </a:extLst>
            </p:cNvPr>
            <p:cNvSpPr/>
            <p:nvPr/>
          </p:nvSpPr>
          <p:spPr>
            <a:xfrm>
              <a:off x="3048851" y="2717165"/>
              <a:ext cx="19800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二、水压力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ABAF98C-8AED-08DA-5D07-1597E9D695B3}"/>
              </a:ext>
            </a:extLst>
          </p:cNvPr>
          <p:cNvGrpSpPr/>
          <p:nvPr/>
        </p:nvGrpSpPr>
        <p:grpSpPr>
          <a:xfrm>
            <a:off x="3829642" y="5121431"/>
            <a:ext cx="4761906" cy="901065"/>
            <a:chOff x="2834548" y="4761862"/>
            <a:chExt cx="4761906" cy="901065"/>
          </a:xfrm>
        </p:grpSpPr>
        <p:sp>
          <p:nvSpPr>
            <p:cNvPr id="18" name="矩形: 圆角 40">
              <a:extLst>
                <a:ext uri="{FF2B5EF4-FFF2-40B4-BE49-F238E27FC236}">
                  <a16:creationId xmlns:a16="http://schemas.microsoft.com/office/drawing/2014/main" id="{56BD99E4-8310-953E-662F-2C1BA459093B}"/>
                </a:ext>
              </a:extLst>
            </p:cNvPr>
            <p:cNvSpPr/>
            <p:nvPr/>
          </p:nvSpPr>
          <p:spPr>
            <a:xfrm flipV="1">
              <a:off x="2834548" y="4761862"/>
              <a:ext cx="4761906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DA9A2F9-3A3E-CA92-B6AC-ABD31F51B13A}"/>
                </a:ext>
              </a:extLst>
            </p:cNvPr>
            <p:cNvSpPr/>
            <p:nvPr/>
          </p:nvSpPr>
          <p:spPr>
            <a:xfrm>
              <a:off x="3028715" y="4951095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四、转动惯量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/>
          <p:cNvSpPr/>
          <p:nvPr/>
        </p:nvSpPr>
        <p:spPr>
          <a:xfrm>
            <a:off x="610235" y="1134110"/>
            <a:ext cx="10990580" cy="2099945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标题 1"/>
          <p:cNvSpPr>
            <a:spLocks noGrp="1"/>
          </p:cNvSpPr>
          <p:nvPr/>
        </p:nvSpPr>
        <p:spPr>
          <a:xfrm>
            <a:off x="534035" y="440690"/>
            <a:ext cx="5461635" cy="625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一、变力沿直线所作的功</a:t>
            </a:r>
          </a:p>
        </p:txBody>
      </p:sp>
      <p:grpSp>
        <p:nvGrpSpPr>
          <p:cNvPr id="68" name="Group 20"/>
          <p:cNvGrpSpPr/>
          <p:nvPr/>
        </p:nvGrpSpPr>
        <p:grpSpPr bwMode="auto">
          <a:xfrm>
            <a:off x="6008909" y="4613414"/>
            <a:ext cx="646112" cy="366713"/>
            <a:chOff x="3321" y="3417"/>
            <a:chExt cx="407" cy="231"/>
          </a:xfrm>
        </p:grpSpPr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3321" y="3417"/>
              <a:ext cx="231" cy="2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" name="Line 22"/>
            <p:cNvSpPr>
              <a:spLocks noChangeShapeType="1"/>
            </p:cNvSpPr>
            <p:nvPr/>
          </p:nvSpPr>
          <p:spPr bwMode="auto">
            <a:xfrm>
              <a:off x="3456" y="3552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3" name="Rectangle 46"/>
          <p:cNvSpPr>
            <a:spLocks noChangeArrowheads="1"/>
          </p:cNvSpPr>
          <p:nvPr/>
        </p:nvSpPr>
        <p:spPr bwMode="auto">
          <a:xfrm>
            <a:off x="5823171" y="4514988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77" name="Group 11"/>
          <p:cNvGrpSpPr/>
          <p:nvPr/>
        </p:nvGrpSpPr>
        <p:grpSpPr bwMode="auto">
          <a:xfrm>
            <a:off x="5994621" y="4976959"/>
            <a:ext cx="3581400" cy="250825"/>
            <a:chOff x="3312" y="3646"/>
            <a:chExt cx="2256" cy="158"/>
          </a:xfrm>
        </p:grpSpPr>
        <p:sp>
          <p:nvSpPr>
            <p:cNvPr id="78" name="Line 12"/>
            <p:cNvSpPr>
              <a:spLocks noChangeShapeType="1"/>
            </p:cNvSpPr>
            <p:nvPr/>
          </p:nvSpPr>
          <p:spPr bwMode="auto">
            <a:xfrm>
              <a:off x="3312" y="3648"/>
              <a:ext cx="22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bject 13"/>
                <p:cNvSpPr txBox="1"/>
                <p:nvPr/>
              </p:nvSpPr>
              <p:spPr bwMode="auto">
                <a:xfrm>
                  <a:off x="5386" y="3646"/>
                  <a:ext cx="165" cy="1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6" y="3646"/>
                  <a:ext cx="165" cy="158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1900501" y="1906811"/>
                <a:ext cx="922188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设物体在连续变力</a:t>
                </a: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F </a:t>
                </a:r>
                <a:r>
                  <a:rPr kumimoji="1" lang="en-US" altLang="zh-CN" sz="2800" b="0" i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作用下沿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轴从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＝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b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移动到</a:t>
                </a:r>
                <a:endParaRPr kumimoji="1" lang="en-US" altLang="zh-CN" sz="2800" b="0" i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7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0501" y="1906811"/>
                <a:ext cx="9221885" cy="523220"/>
              </a:xfrm>
              <a:prstGeom prst="rect">
                <a:avLst/>
              </a:prstGeom>
              <a:blipFill>
                <a:blip r:embed="rId3"/>
                <a:stretch>
                  <a:fillRect l="-1388"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1900503" y="2552606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力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的方向与运动方向平行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5971667" y="2552606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求变力所做的功 .</a:t>
            </a:r>
          </a:p>
        </p:txBody>
      </p:sp>
      <p:grpSp>
        <p:nvGrpSpPr>
          <p:cNvPr id="80" name="Group 14"/>
          <p:cNvGrpSpPr/>
          <p:nvPr/>
        </p:nvGrpSpPr>
        <p:grpSpPr bwMode="auto">
          <a:xfrm>
            <a:off x="6037227" y="4886159"/>
            <a:ext cx="305290" cy="392470"/>
            <a:chOff x="3350" y="3616"/>
            <a:chExt cx="359" cy="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bject 15"/>
                <p:cNvSpPr txBox="1"/>
                <p:nvPr/>
              </p:nvSpPr>
              <p:spPr bwMode="auto">
                <a:xfrm>
                  <a:off x="3350" y="3773"/>
                  <a:ext cx="359" cy="3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50" y="3773"/>
                  <a:ext cx="359" cy="3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Line 16"/>
            <p:cNvSpPr>
              <a:spLocks noChangeShapeType="1"/>
            </p:cNvSpPr>
            <p:nvPr/>
          </p:nvSpPr>
          <p:spPr bwMode="auto">
            <a:xfrm flipH="1">
              <a:off x="3522" y="3616"/>
              <a:ext cx="0" cy="1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3" name="Group 17"/>
          <p:cNvGrpSpPr/>
          <p:nvPr/>
        </p:nvGrpSpPr>
        <p:grpSpPr bwMode="auto">
          <a:xfrm>
            <a:off x="8763241" y="4903941"/>
            <a:ext cx="198438" cy="363538"/>
            <a:chOff x="5056" y="3600"/>
            <a:chExt cx="125" cy="2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bject 18"/>
                <p:cNvSpPr txBox="1"/>
                <p:nvPr/>
              </p:nvSpPr>
              <p:spPr bwMode="auto">
                <a:xfrm>
                  <a:off x="5056" y="3648"/>
                  <a:ext cx="125" cy="1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56" y="3648"/>
                  <a:ext cx="125" cy="181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Line 19"/>
            <p:cNvSpPr>
              <a:spLocks noChangeShapeType="1"/>
            </p:cNvSpPr>
            <p:nvPr/>
          </p:nvSpPr>
          <p:spPr bwMode="auto">
            <a:xfrm>
              <a:off x="5136" y="3600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6" name="Group 23"/>
          <p:cNvGrpSpPr/>
          <p:nvPr/>
        </p:nvGrpSpPr>
        <p:grpSpPr bwMode="auto">
          <a:xfrm>
            <a:off x="6985222" y="4610239"/>
            <a:ext cx="646113" cy="366713"/>
            <a:chOff x="3321" y="3417"/>
            <a:chExt cx="407" cy="231"/>
          </a:xfrm>
        </p:grpSpPr>
        <p:sp>
          <p:nvSpPr>
            <p:cNvPr id="87" name="Rectangle 24"/>
            <p:cNvSpPr>
              <a:spLocks noChangeArrowheads="1"/>
            </p:cNvSpPr>
            <p:nvPr/>
          </p:nvSpPr>
          <p:spPr bwMode="auto">
            <a:xfrm>
              <a:off x="3321" y="3417"/>
              <a:ext cx="231" cy="231"/>
            </a:xfrm>
            <a:prstGeom prst="rect">
              <a:avLst/>
            </a:prstGeom>
            <a:solidFill>
              <a:srgbClr val="1D9D79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3456" y="3552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9" name="Group 56"/>
          <p:cNvGrpSpPr/>
          <p:nvPr/>
        </p:nvGrpSpPr>
        <p:grpSpPr bwMode="auto">
          <a:xfrm>
            <a:off x="6997922" y="4903926"/>
            <a:ext cx="279400" cy="346075"/>
            <a:chOff x="3944" y="2441"/>
            <a:chExt cx="176" cy="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Object 27"/>
                <p:cNvSpPr txBox="1"/>
                <p:nvPr/>
              </p:nvSpPr>
              <p:spPr bwMode="auto">
                <a:xfrm>
                  <a:off x="3944" y="2498"/>
                  <a:ext cx="176" cy="1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0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44" y="2498"/>
                  <a:ext cx="176" cy="16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Line 28"/>
            <p:cNvSpPr>
              <a:spLocks noChangeShapeType="1"/>
            </p:cNvSpPr>
            <p:nvPr/>
          </p:nvSpPr>
          <p:spPr bwMode="auto">
            <a:xfrm>
              <a:off x="4032" y="2441"/>
              <a:ext cx="0" cy="4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92" name="Group 55"/>
          <p:cNvGrpSpPr/>
          <p:nvPr/>
        </p:nvGrpSpPr>
        <p:grpSpPr bwMode="auto">
          <a:xfrm>
            <a:off x="7567835" y="4903926"/>
            <a:ext cx="1050925" cy="385762"/>
            <a:chOff x="4303" y="2441"/>
            <a:chExt cx="662" cy="2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Object 30"/>
                <p:cNvSpPr txBox="1"/>
                <p:nvPr/>
              </p:nvSpPr>
              <p:spPr bwMode="auto">
                <a:xfrm>
                  <a:off x="4303" y="2491"/>
                  <a:ext cx="662" cy="1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3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3" y="2491"/>
                  <a:ext cx="662" cy="193"/>
                </a:xfrm>
                <a:prstGeom prst="rect">
                  <a:avLst/>
                </a:prstGeom>
                <a:blipFill>
                  <a:blip r:embed="rId7"/>
                  <a:stretch>
                    <a:fillRect b="-137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Line 31"/>
            <p:cNvSpPr>
              <a:spLocks noChangeShapeType="1"/>
            </p:cNvSpPr>
            <p:nvPr/>
          </p:nvSpPr>
          <p:spPr bwMode="auto">
            <a:xfrm>
              <a:off x="4512" y="2441"/>
              <a:ext cx="0" cy="4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Box 39"/>
              <p:cNvSpPr txBox="1">
                <a:spLocks noChangeArrowheads="1"/>
              </p:cNvSpPr>
              <p:nvPr/>
            </p:nvSpPr>
            <p:spPr bwMode="auto">
              <a:xfrm>
                <a:off x="1917921" y="5635625"/>
                <a:ext cx="35814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因此变力</a:t>
                </a:r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F </a:t>
                </a:r>
                <a:r>
                  <a:rPr kumimoji="1" lang="en-US" altLang="zh-CN" sz="2800" b="0" i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在区间 </a:t>
                </a:r>
              </a:p>
            </p:txBody>
          </p:sp>
        </mc:Choice>
        <mc:Fallback xmlns="">
          <p:sp>
            <p:nvSpPr>
              <p:cNvPr id="97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7921" y="5635625"/>
                <a:ext cx="3581400" cy="523220"/>
              </a:xfrm>
              <a:prstGeom prst="rect">
                <a:avLst/>
              </a:prstGeom>
              <a:blipFill>
                <a:blip r:embed="rId8"/>
                <a:stretch>
                  <a:fillRect l="-3578" t="-15116" r="-153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 Box 41"/>
          <p:cNvSpPr txBox="1">
            <a:spLocks noChangeArrowheads="1"/>
          </p:cNvSpPr>
          <p:nvPr/>
        </p:nvSpPr>
        <p:spPr bwMode="auto">
          <a:xfrm>
            <a:off x="6037227" y="5635308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上所作的功为</a:t>
            </a:r>
          </a:p>
        </p:txBody>
      </p:sp>
      <p:sp>
        <p:nvSpPr>
          <p:cNvPr id="105" name="文本框 104"/>
          <p:cNvSpPr txBox="1"/>
          <p:nvPr/>
        </p:nvSpPr>
        <p:spPr bwMode="auto">
          <a:xfrm>
            <a:off x="864870" y="3303431"/>
            <a:ext cx="28905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解决方法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微元法</a:t>
            </a:r>
          </a:p>
        </p:txBody>
      </p:sp>
      <p:sp>
        <p:nvSpPr>
          <p:cNvPr id="102" name="文本框 101"/>
          <p:cNvSpPr txBox="1"/>
          <p:nvPr/>
        </p:nvSpPr>
        <p:spPr bwMode="auto">
          <a:xfrm>
            <a:off x="847452" y="1266096"/>
            <a:ext cx="1087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回顾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4" name="文本框 103"/>
          <p:cNvSpPr txBox="1"/>
          <p:nvPr/>
        </p:nvSpPr>
        <p:spPr bwMode="auto">
          <a:xfrm>
            <a:off x="847452" y="1915142"/>
            <a:ext cx="1087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00282" y="1256030"/>
            <a:ext cx="7773670" cy="431800"/>
            <a:chOff x="3140" y="1998"/>
            <a:chExt cx="12242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对象 67"/>
                <p:cNvSpPr txBox="1"/>
                <p:nvPr/>
              </p:nvSpPr>
              <p:spPr>
                <a:xfrm>
                  <a:off x="3140" y="1998"/>
                  <a:ext cx="12243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常力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沿直线所做的功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𝑠</m:t>
                        </m:r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3" name="对象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" y="1998"/>
                  <a:ext cx="12243" cy="6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10970" y="205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256247" y="1844675"/>
            <a:ext cx="1738630" cy="462915"/>
            <a:chOff x="16299" y="2925"/>
            <a:chExt cx="2738" cy="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对象 65"/>
                <p:cNvSpPr txBox="1"/>
                <p:nvPr/>
              </p:nvSpPr>
              <p:spPr>
                <a:xfrm>
                  <a:off x="16299" y="3034"/>
                  <a:ext cx="2331" cy="6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1" name="对象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9" y="3034"/>
                  <a:ext cx="2331" cy="620"/>
                </a:xfrm>
                <a:prstGeom prst="rect">
                  <a:avLst/>
                </a:prstGeom>
                <a:blipFill>
                  <a:blip r:embed="rId10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18549" y="292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17700" y="3952875"/>
            <a:ext cx="5713730" cy="577215"/>
            <a:chOff x="3140" y="6305"/>
            <a:chExt cx="8998" cy="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Object 33"/>
                <p:cNvSpPr txBox="1"/>
                <p:nvPr/>
              </p:nvSpPr>
              <p:spPr bwMode="auto">
                <a:xfrm>
                  <a:off x="3140" y="6305"/>
                  <a:ext cx="8998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在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e>
                        </m:d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上任取子区间</m:t>
                        </m:r>
                        <m:r>
                          <a:rPr kumimoji="1" lang="en-US" altLang="zh-CN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5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40" y="6305"/>
                  <a:ext cx="8998" cy="700"/>
                </a:xfrm>
                <a:prstGeom prst="rect">
                  <a:avLst/>
                </a:prstGeom>
                <a:blipFill>
                  <a:blip r:embed="rId11"/>
                  <a:stretch>
                    <a:fillRect b="-274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/>
            <p:cNvSpPr txBox="1"/>
            <p:nvPr/>
          </p:nvSpPr>
          <p:spPr>
            <a:xfrm>
              <a:off x="9583" y="6390"/>
              <a:ext cx="488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020560" y="3919672"/>
            <a:ext cx="4702175" cy="603250"/>
            <a:chOff x="9555" y="6299"/>
            <a:chExt cx="7405" cy="950"/>
          </a:xfrm>
        </p:grpSpPr>
        <p:grpSp>
          <p:nvGrpSpPr>
            <p:cNvPr id="10" name="组合 9"/>
            <p:cNvGrpSpPr/>
            <p:nvPr/>
          </p:nvGrpSpPr>
          <p:grpSpPr>
            <a:xfrm>
              <a:off x="9555" y="6335"/>
              <a:ext cx="7405" cy="914"/>
              <a:chOff x="9555" y="6335"/>
              <a:chExt cx="7405" cy="9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对象 70"/>
                  <p:cNvSpPr txBox="1"/>
                  <p:nvPr/>
                </p:nvSpPr>
                <p:spPr>
                  <a:xfrm>
                    <a:off x="9555" y="6335"/>
                    <a:ext cx="7405" cy="64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kumimoji="1" lang="zh-CN" altLang="en-US" sz="2800" i="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在其上所作的功元素为</m:t>
                          </m:r>
                        </m:oMath>
                      </m:oMathPara>
                    </a14:m>
                    <a:endParaRPr kumimoji="1" lang="zh-CN" altLang="en-US" sz="2800" i="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06" name="对象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5" y="6335"/>
                    <a:ext cx="7405" cy="64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文本框 8"/>
              <p:cNvSpPr txBox="1"/>
              <p:nvPr/>
            </p:nvSpPr>
            <p:spPr>
              <a:xfrm>
                <a:off x="14315" y="6425"/>
                <a:ext cx="291" cy="8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2800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13" y="6299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965325" y="4845050"/>
            <a:ext cx="2994025" cy="561340"/>
            <a:chOff x="3215" y="7710"/>
            <a:chExt cx="4715" cy="8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Object 38"/>
                <p:cNvSpPr txBox="1"/>
                <p:nvPr/>
              </p:nvSpPr>
              <p:spPr bwMode="auto">
                <a:xfrm>
                  <a:off x="3215" y="7710"/>
                  <a:ext cx="4715" cy="8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𝑊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6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15" y="7710"/>
                  <a:ext cx="4715" cy="88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6274" y="7770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20335" y="5607050"/>
            <a:ext cx="1053465" cy="523240"/>
            <a:chOff x="8341" y="8990"/>
            <a:chExt cx="1659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Object 40"/>
                <p:cNvSpPr txBox="1"/>
                <p:nvPr/>
              </p:nvSpPr>
              <p:spPr bwMode="auto">
                <a:xfrm>
                  <a:off x="8341" y="8990"/>
                  <a:ext cx="1659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8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41" y="8990"/>
                  <a:ext cx="1659" cy="640"/>
                </a:xfrm>
                <a:prstGeom prst="rect">
                  <a:avLst/>
                </a:prstGeom>
                <a:blipFill>
                  <a:blip r:embed="rId14"/>
                  <a:stretch>
                    <a:fillRect b="-181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8608" y="8990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228012" y="5365440"/>
            <a:ext cx="3630295" cy="1105207"/>
            <a:chOff x="11288" y="8670"/>
            <a:chExt cx="5717" cy="11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Object 42"/>
                <p:cNvSpPr txBox="1"/>
                <p:nvPr/>
              </p:nvSpPr>
              <p:spPr bwMode="auto">
                <a:xfrm>
                  <a:off x="11288" y="8670"/>
                  <a:ext cx="5717" cy="1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𝐹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0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88" y="8670"/>
                  <a:ext cx="5717" cy="116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/>
            <p:cNvSpPr txBox="1"/>
            <p:nvPr/>
          </p:nvSpPr>
          <p:spPr>
            <a:xfrm>
              <a:off x="14895" y="9030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66" grpId="0"/>
      <p:bldP spid="66" grpId="1"/>
      <p:bldP spid="73" grpId="0" animBg="1"/>
      <p:bldP spid="73" grpId="1" animBg="1"/>
      <p:bldP spid="74" grpId="0"/>
      <p:bldP spid="74" grpId="1"/>
      <p:bldP spid="75" grpId="0"/>
      <p:bldP spid="75" grpId="1"/>
      <p:bldP spid="76" grpId="0"/>
      <p:bldP spid="76" grpId="1"/>
      <p:bldP spid="97" grpId="0"/>
      <p:bldP spid="97" grpId="1"/>
      <p:bldP spid="99" grpId="0"/>
      <p:bldP spid="99" grpId="1"/>
      <p:bldP spid="105" grpId="0"/>
      <p:bldP spid="105" grpId="1"/>
      <p:bldP spid="102" grpId="0"/>
      <p:bldP spid="102" grpId="1"/>
      <p:bldP spid="104" grpId="0"/>
      <p:bldP spid="10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527281" y="523875"/>
            <a:ext cx="11137438" cy="46786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527281" y="510307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983573" y="509693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527281" y="4524955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983573" y="4505089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/>
        </p:nvSpPr>
        <p:spPr>
          <a:xfrm>
            <a:off x="744353" y="606028"/>
            <a:ext cx="90805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例1 </a:t>
            </a:r>
            <a:endParaRPr lang="en-US" altLang="zh-CN" sz="2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7704538" y="652859"/>
            <a:ext cx="328590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一个单位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正电荷沿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8313553" y="1304527"/>
            <a:ext cx="327496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求电场力所作的功. </a:t>
            </a:r>
          </a:p>
        </p:txBody>
      </p:sp>
      <p:grpSp>
        <p:nvGrpSpPr>
          <p:cNvPr id="33" name="Group 52"/>
          <p:cNvGrpSpPr/>
          <p:nvPr/>
        </p:nvGrpSpPr>
        <p:grpSpPr bwMode="auto">
          <a:xfrm>
            <a:off x="6225284" y="3006802"/>
            <a:ext cx="3856037" cy="363538"/>
            <a:chOff x="2995" y="2016"/>
            <a:chExt cx="2429" cy="229"/>
          </a:xfrm>
        </p:grpSpPr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3072" y="2064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5" name="Line 8"/>
            <p:cNvSpPr>
              <a:spLocks noChangeShapeType="1"/>
            </p:cNvSpPr>
            <p:nvPr/>
          </p:nvSpPr>
          <p:spPr bwMode="auto">
            <a:xfrm>
              <a:off x="3072" y="2016"/>
              <a:ext cx="0" cy="48"/>
            </a:xfrm>
            <a:prstGeom prst="line">
              <a:avLst/>
            </a:prstGeom>
            <a:noFill/>
            <a:ln w="571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21" name="Object 9"/>
                <p:cNvSpPr txBox="1"/>
                <p:nvPr/>
              </p:nvSpPr>
              <p:spPr bwMode="auto">
                <a:xfrm>
                  <a:off x="2995" y="2093"/>
                  <a:ext cx="136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𝑜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2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5" y="2093"/>
                  <a:ext cx="136" cy="15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22" name="Object 10"/>
                <p:cNvSpPr txBox="1"/>
                <p:nvPr/>
              </p:nvSpPr>
              <p:spPr bwMode="auto">
                <a:xfrm>
                  <a:off x="5296" y="2100"/>
                  <a:ext cx="128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2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96" y="2100"/>
                  <a:ext cx="128" cy="144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744353" y="1888714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26"/>
              <p:cNvSpPr txBox="1">
                <a:spLocks noChangeArrowheads="1"/>
              </p:cNvSpPr>
              <p:nvPr/>
            </p:nvSpPr>
            <p:spPr bwMode="auto">
              <a:xfrm>
                <a:off x="1489555" y="1981835"/>
                <a:ext cx="3950335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defRPr/>
                </a:pPr>
                <a:r>
                  <a:rPr lang="zh-CN" altLang="en-US" sz="2200" b="0" i="0" u="none" strike="noStrike" kern="1200" cap="none" spc="0" normalizeH="0" baseline="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当单位正电荷距离原点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sz="2200" b="0" i="0" u="none" strike="noStrike" kern="1200" cap="none" spc="0" normalizeH="0" baseline="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时，</a:t>
                </a:r>
              </a:p>
            </p:txBody>
          </p:sp>
        </mc:Choice>
        <mc:Fallback xmlns="">
          <p:sp>
            <p:nvSpPr>
              <p:cNvPr id="4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555" y="1981835"/>
                <a:ext cx="3950335" cy="429895"/>
              </a:xfrm>
              <a:prstGeom prst="rect">
                <a:avLst/>
              </a:prstGeom>
              <a:blipFill>
                <a:blip r:embed="rId5"/>
                <a:stretch>
                  <a:fillRect l="-2006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4927603" y="1981835"/>
            <a:ext cx="3505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由</a:t>
            </a:r>
            <a:r>
              <a:rPr lang="zh-CN" altLang="en-US" sz="2200" i="0" u="none" strike="noStrike" kern="1200" cap="none" spc="0" normalizeH="0" baseline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库仑定律</a:t>
            </a: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电场力为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0" name="Group 53"/>
          <p:cNvGrpSpPr/>
          <p:nvPr/>
        </p:nvGrpSpPr>
        <p:grpSpPr bwMode="auto">
          <a:xfrm>
            <a:off x="6877746" y="3006802"/>
            <a:ext cx="228600" cy="374650"/>
            <a:chOff x="3406" y="2016"/>
            <a:chExt cx="144" cy="2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24" name="Object 12"/>
                <p:cNvSpPr txBox="1"/>
                <p:nvPr/>
              </p:nvSpPr>
              <p:spPr bwMode="auto">
                <a:xfrm>
                  <a:off x="3406" y="2100"/>
                  <a:ext cx="144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oMath>
                    </m:oMathPara>
                  </a14:m>
                  <a:endPara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924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6" y="2100"/>
                  <a:ext cx="144" cy="152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350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52" name="Group 54"/>
          <p:cNvGrpSpPr/>
          <p:nvPr/>
        </p:nvGrpSpPr>
        <p:grpSpPr bwMode="auto">
          <a:xfrm>
            <a:off x="9211371" y="3006803"/>
            <a:ext cx="215900" cy="442913"/>
            <a:chOff x="4876" y="2016"/>
            <a:chExt cx="136" cy="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27" name="Object 15"/>
                <p:cNvSpPr txBox="1"/>
                <p:nvPr/>
              </p:nvSpPr>
              <p:spPr bwMode="auto">
                <a:xfrm>
                  <a:off x="4876" y="2095"/>
                  <a:ext cx="136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27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6" y="2095"/>
                  <a:ext cx="136" cy="20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Line 16"/>
            <p:cNvSpPr>
              <a:spLocks noChangeShapeType="1"/>
            </p:cNvSpPr>
            <p:nvPr/>
          </p:nvSpPr>
          <p:spPr bwMode="auto">
            <a:xfrm>
              <a:off x="4944" y="201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655304" y="3006802"/>
            <a:ext cx="203200" cy="361952"/>
            <a:chOff x="7708583" y="3200400"/>
            <a:chExt cx="203200" cy="3619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30" name="Object 18"/>
                <p:cNvSpPr txBox="1"/>
                <p:nvPr/>
              </p:nvSpPr>
              <p:spPr bwMode="auto">
                <a:xfrm>
                  <a:off x="7708583" y="3333752"/>
                  <a:ext cx="2032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30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08583" y="3333752"/>
                  <a:ext cx="203200" cy="22860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Line 19"/>
            <p:cNvSpPr>
              <a:spLocks noChangeShapeType="1"/>
            </p:cNvSpPr>
            <p:nvPr/>
          </p:nvSpPr>
          <p:spPr bwMode="auto">
            <a:xfrm>
              <a:off x="7848600" y="3200400"/>
              <a:ext cx="0" cy="71438"/>
            </a:xfrm>
            <a:prstGeom prst="line">
              <a:avLst/>
            </a:prstGeom>
            <a:noFill/>
            <a:ln w="57150">
              <a:solidFill>
                <a:srgbClr val="00B0F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144571" y="3006802"/>
            <a:ext cx="876300" cy="516257"/>
            <a:chOff x="8197850" y="3200400"/>
            <a:chExt cx="876300" cy="516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33" name="Object 21"/>
                <p:cNvSpPr txBox="1"/>
                <p:nvPr/>
              </p:nvSpPr>
              <p:spPr bwMode="auto">
                <a:xfrm>
                  <a:off x="8197850" y="3335657"/>
                  <a:ext cx="87630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33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97850" y="3335657"/>
                  <a:ext cx="876300" cy="38100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22"/>
            <p:cNvSpPr>
              <a:spLocks noChangeShapeType="1"/>
            </p:cNvSpPr>
            <p:nvPr/>
          </p:nvSpPr>
          <p:spPr bwMode="auto">
            <a:xfrm>
              <a:off x="8534400" y="3200400"/>
              <a:ext cx="0" cy="71438"/>
            </a:xfrm>
            <a:prstGeom prst="line">
              <a:avLst/>
            </a:prstGeom>
            <a:noFill/>
            <a:ln w="57150">
              <a:solidFill>
                <a:srgbClr val="00B0F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58" name="Line 30"/>
          <p:cNvSpPr>
            <a:spLocks noChangeShapeType="1"/>
          </p:cNvSpPr>
          <p:nvPr/>
        </p:nvSpPr>
        <p:spPr bwMode="auto">
          <a:xfrm>
            <a:off x="7809230" y="3078240"/>
            <a:ext cx="6858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1489555" y="3323537"/>
            <a:ext cx="2590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则功的元素为</a:t>
            </a:r>
          </a:p>
        </p:txBody>
      </p:sp>
      <p:sp>
        <p:nvSpPr>
          <p:cNvPr id="60" name="Text Box 33"/>
          <p:cNvSpPr txBox="1">
            <a:spLocks noChangeArrowheads="1"/>
          </p:cNvSpPr>
          <p:nvPr/>
        </p:nvSpPr>
        <p:spPr bwMode="auto">
          <a:xfrm>
            <a:off x="1489555" y="4263344"/>
            <a:ext cx="1676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所求功为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51"/>
              <p:cNvSpPr txBox="1">
                <a:spLocks noChangeArrowheads="1"/>
              </p:cNvSpPr>
              <p:nvPr/>
            </p:nvSpPr>
            <p:spPr bwMode="auto">
              <a:xfrm>
                <a:off x="1489555" y="1304527"/>
                <a:ext cx="812116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直线从距离点电荷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处移动到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b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&lt;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b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555" y="1304527"/>
                <a:ext cx="8121168" cy="523220"/>
              </a:xfrm>
              <a:prstGeom prst="rect">
                <a:avLst/>
              </a:prstGeom>
              <a:blipFill>
                <a:blip r:embed="rId9"/>
                <a:stretch>
                  <a:fillRect l="-1500"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58"/>
              <p:cNvSpPr txBox="1">
                <a:spLocks noChangeArrowheads="1"/>
              </p:cNvSpPr>
              <p:nvPr/>
            </p:nvSpPr>
            <p:spPr bwMode="auto">
              <a:xfrm>
                <a:off x="1489555" y="652859"/>
                <a:ext cx="626645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在一个带 </a:t>
                </a:r>
                <a:r>
                  <a:rPr kumimoji="1" lang="en-US" altLang="zh-CN" sz="2800" b="0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+</a:t>
                </a:r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q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电荷所产生的电场作用下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3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555" y="652859"/>
                <a:ext cx="6266459" cy="523220"/>
              </a:xfrm>
              <a:prstGeom prst="rect">
                <a:avLst/>
              </a:prstGeom>
              <a:blipFill>
                <a:blip r:embed="rId10"/>
                <a:stretch>
                  <a:fillRect l="-1946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/>
          <p:cNvGrpSpPr/>
          <p:nvPr/>
        </p:nvGrpSpPr>
        <p:grpSpPr>
          <a:xfrm>
            <a:off x="820553" y="5535930"/>
            <a:ext cx="612775" cy="612775"/>
            <a:chOff x="1601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" name="文本框 7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54420" y="2654300"/>
            <a:ext cx="596900" cy="405130"/>
            <a:chOff x="9812" y="4180"/>
            <a:chExt cx="940" cy="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9"/>
                <p:cNvSpPr txBox="1"/>
                <p:nvPr/>
              </p:nvSpPr>
              <p:spPr bwMode="auto">
                <a:xfrm>
                  <a:off x="9812" y="4180"/>
                  <a:ext cx="712" cy="4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12" y="4180"/>
                  <a:ext cx="712" cy="431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10264" y="4238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583170" y="2606675"/>
            <a:ext cx="709930" cy="368300"/>
            <a:chOff x="12062" y="4105"/>
            <a:chExt cx="1118" cy="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9"/>
                <p:cNvSpPr txBox="1"/>
                <p:nvPr/>
              </p:nvSpPr>
              <p:spPr bwMode="auto">
                <a:xfrm>
                  <a:off x="12062" y="4180"/>
                  <a:ext cx="712" cy="4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62" y="4180"/>
                  <a:ext cx="712" cy="431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12692" y="410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418715" y="2493010"/>
            <a:ext cx="1605280" cy="876300"/>
            <a:chOff x="3929" y="3881"/>
            <a:chExt cx="2528" cy="1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0" name="Object 28"/>
                <p:cNvSpPr txBox="1"/>
                <p:nvPr/>
              </p:nvSpPr>
              <p:spPr bwMode="auto">
                <a:xfrm>
                  <a:off x="3929" y="3881"/>
                  <a:ext cx="2040" cy="1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𝑞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40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9" y="3881"/>
                  <a:ext cx="2040" cy="138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5969" y="403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70885" y="3148173"/>
            <a:ext cx="2598420" cy="876300"/>
            <a:chOff x="5271" y="5147"/>
            <a:chExt cx="4092" cy="1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4" name="Object 32"/>
                <p:cNvSpPr txBox="1"/>
                <p:nvPr/>
              </p:nvSpPr>
              <p:spPr bwMode="auto">
                <a:xfrm>
                  <a:off x="5271" y="5147"/>
                  <a:ext cx="3390" cy="1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𝑘𝑞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44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1" y="5147"/>
                  <a:ext cx="3390" cy="138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/>
            <p:cNvSpPr txBox="1"/>
            <p:nvPr/>
          </p:nvSpPr>
          <p:spPr>
            <a:xfrm>
              <a:off x="8875" y="5472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858770" y="4049554"/>
            <a:ext cx="2955290" cy="876300"/>
            <a:chOff x="4622" y="6663"/>
            <a:chExt cx="4654" cy="1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6" name="Object 34"/>
                <p:cNvSpPr txBox="1"/>
                <p:nvPr/>
              </p:nvSpPr>
              <p:spPr bwMode="auto">
                <a:xfrm>
                  <a:off x="4622" y="6663"/>
                  <a:ext cx="4654" cy="1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𝑘𝑞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19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46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2" y="6663"/>
                  <a:ext cx="4654" cy="138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/>
            <p:cNvSpPr txBox="1"/>
            <p:nvPr/>
          </p:nvSpPr>
          <p:spPr>
            <a:xfrm>
              <a:off x="8687" y="7097"/>
              <a:ext cx="5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624705" y="4106704"/>
            <a:ext cx="1550670" cy="914400"/>
            <a:chOff x="7796" y="6753"/>
            <a:chExt cx="2442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8" name="Object 36"/>
                <p:cNvSpPr txBox="1"/>
                <p:nvPr/>
              </p:nvSpPr>
              <p:spPr bwMode="auto">
                <a:xfrm>
                  <a:off x="7796" y="6753"/>
                  <a:ext cx="240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𝑘𝑞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48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96" y="6753"/>
                  <a:ext cx="2400" cy="1440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9750" y="715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10909" y="4117896"/>
            <a:ext cx="622300" cy="758190"/>
            <a:chOff x="10166" y="6816"/>
            <a:chExt cx="980" cy="11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49" name="Object 37"/>
                <p:cNvSpPr txBox="1"/>
                <p:nvPr/>
              </p:nvSpPr>
              <p:spPr bwMode="auto">
                <a:xfrm>
                  <a:off x="10166" y="6816"/>
                  <a:ext cx="966" cy="1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oMath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49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166" y="6816"/>
                  <a:ext cx="966" cy="1194"/>
                </a:xfrm>
                <a:prstGeom prst="rect">
                  <a:avLst/>
                </a:prstGeom>
                <a:blipFill>
                  <a:blip r:embed="rId17"/>
                  <a:stretch>
                    <a:fillRect l="-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10658" y="718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950" name="Object 38"/>
              <p:cNvSpPr txBox="1"/>
              <p:nvPr/>
            </p:nvSpPr>
            <p:spPr bwMode="auto">
              <a:xfrm>
                <a:off x="6138176" y="4109641"/>
                <a:ext cx="1897114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𝑘𝑞</m:t>
                      </m:r>
                      <m:d>
                        <m:d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den>
                          </m:f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95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8176" y="4109641"/>
                <a:ext cx="1897114" cy="8509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1565910" y="5572760"/>
            <a:ext cx="4372610" cy="504190"/>
            <a:chOff x="2586" y="8776"/>
            <a:chExt cx="6886" cy="7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2" name="Object 40"/>
                <p:cNvSpPr txBox="1"/>
                <p:nvPr/>
              </p:nvSpPr>
              <p:spPr bwMode="auto">
                <a:xfrm>
                  <a:off x="2586" y="8776"/>
                  <a:ext cx="6886" cy="7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电场在</m:t>
                        </m:r>
                        <m:r>
                          <a:rPr kumimoji="1" lang="en-US" altLang="zh-CN" sz="2800" b="0" i="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处的电势为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52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6" y="8776"/>
                  <a:ext cx="6886" cy="79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8525" y="891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577208" y="5310505"/>
            <a:ext cx="2294890" cy="876300"/>
            <a:chOff x="8807" y="8363"/>
            <a:chExt cx="3614" cy="1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3" name="Object 41"/>
                <p:cNvSpPr txBox="1"/>
                <p:nvPr/>
              </p:nvSpPr>
              <p:spPr bwMode="auto">
                <a:xfrm>
                  <a:off x="8807" y="8363"/>
                  <a:ext cx="3614" cy="1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+∞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𝑘𝑞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53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07" y="8363"/>
                  <a:ext cx="3614" cy="1380"/>
                </a:xfrm>
                <a:prstGeom prst="rect">
                  <a:avLst/>
                </a:prstGeom>
                <a:blipFill>
                  <a:blip r:embed="rId20"/>
                  <a:stretch>
                    <a:fillRect b="-138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/>
            <p:cNvSpPr txBox="1"/>
            <p:nvPr/>
          </p:nvSpPr>
          <p:spPr>
            <a:xfrm>
              <a:off x="11933" y="891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218680" y="5337175"/>
            <a:ext cx="1181100" cy="850900"/>
            <a:chOff x="12104" y="8405"/>
            <a:chExt cx="1860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54" name="Object 42"/>
                <p:cNvSpPr txBox="1"/>
                <p:nvPr/>
              </p:nvSpPr>
              <p:spPr bwMode="auto">
                <a:xfrm>
                  <a:off x="12104" y="8405"/>
                  <a:ext cx="1240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𝑘𝑞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954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04" y="8405"/>
                  <a:ext cx="1240" cy="1340"/>
                </a:xfrm>
                <a:prstGeom prst="rect">
                  <a:avLst/>
                </a:prstGeom>
                <a:blipFill rotWithShape="1">
                  <a:blip r:embed="rId2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/>
            <p:cNvSpPr txBox="1"/>
            <p:nvPr/>
          </p:nvSpPr>
          <p:spPr>
            <a:xfrm>
              <a:off x="13476" y="891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0" grpId="1"/>
      <p:bldP spid="31" grpId="0"/>
      <p:bldP spid="31" grpId="1"/>
      <p:bldP spid="43" grpId="0"/>
      <p:bldP spid="43" grpId="1"/>
      <p:bldP spid="45" grpId="0"/>
      <p:bldP spid="45" grpId="1"/>
      <p:bldP spid="46" grpId="0"/>
      <p:bldP spid="46" grpId="1"/>
      <p:bldP spid="58" grpId="0" animBg="1"/>
      <p:bldP spid="59" grpId="0"/>
      <p:bldP spid="59" grpId="1"/>
      <p:bldP spid="60" grpId="0"/>
      <p:bldP spid="60" grpId="1"/>
      <p:bldP spid="62" grpId="0"/>
      <p:bldP spid="62" grpId="1"/>
      <p:bldP spid="63" grpId="0"/>
      <p:bldP spid="389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05435" y="486680"/>
            <a:ext cx="11562080" cy="58000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305435" y="482548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1186369" y="481934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305435" y="5611508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1186369" y="5591642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949" name="Rectangle 13"/>
          <p:cNvSpPr>
            <a:spLocks noGrp="1" noChangeArrowheads="1"/>
          </p:cNvSpPr>
          <p:nvPr/>
        </p:nvSpPr>
        <p:spPr>
          <a:xfrm>
            <a:off x="837825" y="600504"/>
            <a:ext cx="9080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例2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1660109" y="1803727"/>
            <a:ext cx="65354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求移动过程中气体压力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所作的功 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837825" y="2417944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57" name="Text Box 21"/>
              <p:cNvSpPr txBox="1">
                <a:spLocks noChangeArrowheads="1"/>
              </p:cNvSpPr>
              <p:nvPr/>
            </p:nvSpPr>
            <p:spPr bwMode="auto">
              <a:xfrm>
                <a:off x="1660109" y="1215429"/>
                <a:ext cx="83058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的膨胀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把容器中的一个面积为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S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的活塞从</a:t>
                </a:r>
              </a:p>
            </p:txBody>
          </p:sp>
        </mc:Choice>
        <mc:Fallback xmlns="">
          <p:sp>
            <p:nvSpPr>
              <p:cNvPr id="39957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0109" y="1215429"/>
                <a:ext cx="8305800" cy="521970"/>
              </a:xfrm>
              <a:prstGeom prst="rect">
                <a:avLst/>
              </a:prstGeom>
              <a:blipFill>
                <a:blip r:embed="rId3"/>
                <a:stretch>
                  <a:fillRect l="-1467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58" name="Text Box 22"/>
              <p:cNvSpPr txBox="1">
                <a:spLocks noChangeArrowheads="1"/>
              </p:cNvSpPr>
              <p:nvPr/>
            </p:nvSpPr>
            <p:spPr bwMode="auto">
              <a:xfrm>
                <a:off x="8074401" y="1189719"/>
                <a:ext cx="46482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处移动到点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b </a:t>
                </a: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9958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4401" y="1189719"/>
                <a:ext cx="4648200" cy="521970"/>
              </a:xfrm>
              <a:prstGeom prst="rect">
                <a:avLst/>
              </a:prstGeom>
              <a:blipFill>
                <a:blip r:embed="rId4"/>
                <a:stretch>
                  <a:fillRect l="-275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66" name="Text Box 30"/>
          <p:cNvSpPr txBox="1">
            <a:spLocks noChangeArrowheads="1"/>
          </p:cNvSpPr>
          <p:nvPr/>
        </p:nvSpPr>
        <p:spPr bwMode="auto">
          <a:xfrm>
            <a:off x="1660109" y="2463462"/>
            <a:ext cx="2971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建立坐标系如图.</a:t>
            </a:r>
          </a:p>
        </p:txBody>
      </p:sp>
      <p:sp>
        <p:nvSpPr>
          <p:cNvPr id="39973" name="Text Box 37"/>
          <p:cNvSpPr txBox="1">
            <a:spLocks noChangeArrowheads="1"/>
          </p:cNvSpPr>
          <p:nvPr/>
        </p:nvSpPr>
        <p:spPr bwMode="auto">
          <a:xfrm>
            <a:off x="3808730" y="2463435"/>
            <a:ext cx="287655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由物理学知压强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74" name="Text Box 38"/>
              <p:cNvSpPr txBox="1">
                <a:spLocks noChangeArrowheads="1"/>
              </p:cNvSpPr>
              <p:nvPr/>
            </p:nvSpPr>
            <p:spPr bwMode="auto">
              <a:xfrm>
                <a:off x="1660109" y="3224192"/>
                <a:ext cx="3797300" cy="429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p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与体积 </a:t>
                </a: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V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成反比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即</a:t>
                </a:r>
              </a:p>
            </p:txBody>
          </p:sp>
        </mc:Choice>
        <mc:Fallback xmlns="">
          <p:sp>
            <p:nvSpPr>
              <p:cNvPr id="39974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0109" y="3224192"/>
                <a:ext cx="3797300" cy="429895"/>
              </a:xfrm>
              <a:prstGeom prst="rect">
                <a:avLst/>
              </a:prstGeom>
              <a:blipFill>
                <a:blip r:embed="rId5"/>
                <a:stretch>
                  <a:fillRect l="-482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77" name="Text Box 41"/>
          <p:cNvSpPr txBox="1">
            <a:spLocks noChangeArrowheads="1"/>
          </p:cNvSpPr>
          <p:nvPr/>
        </p:nvSpPr>
        <p:spPr bwMode="auto">
          <a:xfrm>
            <a:off x="1660109" y="4745652"/>
            <a:ext cx="1676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功元素为</a:t>
            </a:r>
          </a:p>
        </p:txBody>
      </p:sp>
      <p:sp>
        <p:nvSpPr>
          <p:cNvPr id="39981" name="Text Box 45"/>
          <p:cNvSpPr txBox="1">
            <a:spLocks noChangeArrowheads="1"/>
          </p:cNvSpPr>
          <p:nvPr/>
        </p:nvSpPr>
        <p:spPr bwMode="auto">
          <a:xfrm>
            <a:off x="6254433" y="3184478"/>
            <a:ext cx="3048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故作用在活塞上的</a:t>
            </a:r>
          </a:p>
        </p:txBody>
      </p:sp>
      <p:sp>
        <p:nvSpPr>
          <p:cNvPr id="39984" name="Text Box 48"/>
          <p:cNvSpPr txBox="1">
            <a:spLocks noChangeArrowheads="1"/>
          </p:cNvSpPr>
          <p:nvPr/>
        </p:nvSpPr>
        <p:spPr bwMode="auto">
          <a:xfrm>
            <a:off x="1660109" y="5506382"/>
            <a:ext cx="2209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所求功为</a:t>
            </a:r>
          </a:p>
        </p:txBody>
      </p:sp>
      <p:sp>
        <p:nvSpPr>
          <p:cNvPr id="39995" name="Text Box 59"/>
          <p:cNvSpPr txBox="1">
            <a:spLocks noChangeArrowheads="1"/>
          </p:cNvSpPr>
          <p:nvPr/>
        </p:nvSpPr>
        <p:spPr bwMode="auto">
          <a:xfrm>
            <a:off x="1660109" y="3984922"/>
            <a:ext cx="10541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力为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97" name="Text Box 61"/>
              <p:cNvSpPr txBox="1">
                <a:spLocks noChangeArrowheads="1"/>
              </p:cNvSpPr>
              <p:nvPr/>
            </p:nvSpPr>
            <p:spPr bwMode="auto">
              <a:xfrm>
                <a:off x="1695034" y="615902"/>
                <a:ext cx="813876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在底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面积为</a:t>
                </a:r>
                <a:r>
                  <a:rPr kumimoji="1" lang="zh-CN" altLang="en-US" sz="280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S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的圆柱形容器中盛有一定量的气体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9997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5034" y="615902"/>
                <a:ext cx="8138766" cy="523220"/>
              </a:xfrm>
              <a:prstGeom prst="rect">
                <a:avLst/>
              </a:prstGeom>
              <a:blipFill>
                <a:blip r:embed="rId6"/>
                <a:stretch>
                  <a:fillRect l="-1498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9361995" y="615902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由于气体</a:t>
            </a:r>
            <a:endParaRPr lang="zh-CN" altLang="en-US" sz="2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8552180" y="4920885"/>
            <a:ext cx="494030" cy="455295"/>
            <a:chOff x="12918" y="7828"/>
            <a:chExt cx="778" cy="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67" name="Object 31"/>
                <p:cNvSpPr txBox="1"/>
                <p:nvPr/>
              </p:nvSpPr>
              <p:spPr bwMode="auto">
                <a:xfrm>
                  <a:off x="12918" y="7828"/>
                  <a:ext cx="360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67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18" y="7828"/>
                  <a:ext cx="360" cy="38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13208" y="796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530884" y="2996835"/>
            <a:ext cx="1063625" cy="850900"/>
            <a:chOff x="6863" y="4798"/>
            <a:chExt cx="1675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6" name="Object 40"/>
                <p:cNvSpPr txBox="1"/>
                <p:nvPr/>
              </p:nvSpPr>
              <p:spPr bwMode="auto">
                <a:xfrm>
                  <a:off x="6863" y="4798"/>
                  <a:ext cx="1440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𝑉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76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63" y="4798"/>
                  <a:ext cx="1440" cy="134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/>
            <p:cNvSpPr txBox="1"/>
            <p:nvPr/>
          </p:nvSpPr>
          <p:spPr>
            <a:xfrm>
              <a:off x="8050" y="520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397659" y="2998105"/>
            <a:ext cx="1313180" cy="927100"/>
            <a:chOff x="8228" y="4800"/>
            <a:chExt cx="2068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5" name="Object 39"/>
                <p:cNvSpPr txBox="1"/>
                <p:nvPr/>
              </p:nvSpPr>
              <p:spPr bwMode="auto">
                <a:xfrm>
                  <a:off x="8228" y="4800"/>
                  <a:ext cx="2069" cy="1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𝑥𝑆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75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28" y="4800"/>
                  <a:ext cx="2069" cy="14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9614" y="525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131503" y="3988705"/>
            <a:ext cx="1333500" cy="426085"/>
            <a:chOff x="4587" y="6360"/>
            <a:chExt cx="2100" cy="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2" name="Object 46"/>
                <p:cNvSpPr txBox="1"/>
                <p:nvPr/>
              </p:nvSpPr>
              <p:spPr bwMode="auto">
                <a:xfrm>
                  <a:off x="4587" y="6360"/>
                  <a:ext cx="2100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82" name="Object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7" y="6360"/>
                  <a:ext cx="2100" cy="62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6007" y="645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264343" y="3819887"/>
            <a:ext cx="855980" cy="850900"/>
            <a:chOff x="6371" y="6053"/>
            <a:chExt cx="1348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3" name="Object 47"/>
                <p:cNvSpPr txBox="1"/>
                <p:nvPr/>
              </p:nvSpPr>
              <p:spPr bwMode="auto">
                <a:xfrm>
                  <a:off x="6371" y="6053"/>
                  <a:ext cx="860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83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71" y="6053"/>
                  <a:ext cx="860" cy="1340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/>
            <p:cNvSpPr txBox="1"/>
            <p:nvPr/>
          </p:nvSpPr>
          <p:spPr>
            <a:xfrm>
              <a:off x="7231" y="640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123777" y="4738005"/>
            <a:ext cx="1211580" cy="406400"/>
            <a:chOff x="4587" y="7540"/>
            <a:chExt cx="1908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8" name="Object 42"/>
                <p:cNvSpPr txBox="1"/>
                <p:nvPr/>
              </p:nvSpPr>
              <p:spPr bwMode="auto">
                <a:xfrm>
                  <a:off x="4587" y="7540"/>
                  <a:ext cx="142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78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7" y="7540"/>
                  <a:ext cx="1420" cy="640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6007" y="754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972035" y="4738005"/>
            <a:ext cx="944880" cy="482600"/>
            <a:chOff x="5863" y="7540"/>
            <a:chExt cx="1488" cy="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9" name="Object 43"/>
                <p:cNvSpPr txBox="1"/>
                <p:nvPr/>
              </p:nvSpPr>
              <p:spPr bwMode="auto">
                <a:xfrm>
                  <a:off x="5863" y="7540"/>
                  <a:ext cx="106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79" name="Object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3" y="7540"/>
                  <a:ext cx="1060" cy="64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6863" y="772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647703" y="4551407"/>
            <a:ext cx="1149350" cy="850900"/>
            <a:chOff x="7038" y="7205"/>
            <a:chExt cx="1810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0" name="Object 44"/>
                <p:cNvSpPr txBox="1"/>
                <p:nvPr/>
              </p:nvSpPr>
              <p:spPr bwMode="auto">
                <a:xfrm>
                  <a:off x="7038" y="7205"/>
                  <a:ext cx="1500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80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38" y="7205"/>
                  <a:ext cx="1500" cy="1340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/>
            <p:cNvSpPr txBox="1"/>
            <p:nvPr/>
          </p:nvSpPr>
          <p:spPr>
            <a:xfrm>
              <a:off x="8360" y="777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123777" y="5267707"/>
            <a:ext cx="2312035" cy="850900"/>
            <a:chOff x="4587" y="8390"/>
            <a:chExt cx="3641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5" name="Object 49"/>
                <p:cNvSpPr txBox="1"/>
                <p:nvPr/>
              </p:nvSpPr>
              <p:spPr bwMode="auto">
                <a:xfrm>
                  <a:off x="4587" y="8390"/>
                  <a:ext cx="3345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e>
                        </m:nary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85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7" y="8390"/>
                  <a:ext cx="3345" cy="134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7584" y="8922"/>
              <a:ext cx="6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986" name="Object 50"/>
              <p:cNvSpPr txBox="1"/>
              <p:nvPr/>
            </p:nvSpPr>
            <p:spPr bwMode="auto">
              <a:xfrm>
                <a:off x="4805836" y="5498641"/>
                <a:ext cx="1616511" cy="4751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sSubSup>
                        <m:sSubSup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  <m:r>
                                <a:rPr kumimoji="1" lang="en-US" altLang="zh-CN" sz="22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1" lang="en-US" altLang="zh-CN" sz="22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98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5836" y="5498641"/>
                <a:ext cx="1616511" cy="4751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87" name="Object 51"/>
              <p:cNvSpPr txBox="1"/>
              <p:nvPr/>
            </p:nvSpPr>
            <p:spPr bwMode="auto">
              <a:xfrm>
                <a:off x="6108023" y="5315545"/>
                <a:ext cx="1066800" cy="7828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num>
                            <m:den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987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8023" y="5315545"/>
                <a:ext cx="1066800" cy="78281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938" name="Group 2"/>
          <p:cNvGrpSpPr/>
          <p:nvPr/>
        </p:nvGrpSpPr>
        <p:grpSpPr bwMode="auto">
          <a:xfrm>
            <a:off x="7832725" y="3971560"/>
            <a:ext cx="2667000" cy="914400"/>
            <a:chOff x="3648" y="1248"/>
            <a:chExt cx="1680" cy="576"/>
          </a:xfrm>
        </p:grpSpPr>
        <p:grpSp>
          <p:nvGrpSpPr>
            <p:cNvPr id="39939" name="Group 3"/>
            <p:cNvGrpSpPr/>
            <p:nvPr/>
          </p:nvGrpSpPr>
          <p:grpSpPr bwMode="auto">
            <a:xfrm>
              <a:off x="3648" y="1248"/>
              <a:ext cx="1680" cy="576"/>
              <a:chOff x="3648" y="1632"/>
              <a:chExt cx="1680" cy="576"/>
            </a:xfrm>
          </p:grpSpPr>
          <p:sp>
            <p:nvSpPr>
              <p:cNvPr id="39940" name="Freeform 4"/>
              <p:cNvSpPr/>
              <p:nvPr/>
            </p:nvSpPr>
            <p:spPr bwMode="auto">
              <a:xfrm>
                <a:off x="3744" y="1632"/>
                <a:ext cx="1488" cy="576"/>
              </a:xfrm>
              <a:custGeom>
                <a:avLst/>
                <a:gdLst>
                  <a:gd name="T0" fmla="*/ 0 w 1488"/>
                  <a:gd name="T1" fmla="*/ 0 h 576"/>
                  <a:gd name="T2" fmla="*/ 1488 w 1488"/>
                  <a:gd name="T3" fmla="*/ 0 h 576"/>
                  <a:gd name="T4" fmla="*/ 1488 w 1488"/>
                  <a:gd name="T5" fmla="*/ 576 h 576"/>
                  <a:gd name="T6" fmla="*/ 0 w 1488"/>
                  <a:gd name="T7" fmla="*/ 576 h 576"/>
                  <a:gd name="T8" fmla="*/ 0 w 1488"/>
                  <a:gd name="T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8" h="576">
                    <a:moveTo>
                      <a:pt x="0" y="0"/>
                    </a:moveTo>
                    <a:lnTo>
                      <a:pt x="1488" y="0"/>
                    </a:lnTo>
                    <a:lnTo>
                      <a:pt x="1488" y="576"/>
                    </a:lnTo>
                    <a:lnTo>
                      <a:pt x="0" y="5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69900">
                      <a:gamma/>
                      <a:shade val="46275"/>
                      <a:invGamma/>
                    </a:srgbClr>
                  </a:gs>
                  <a:gs pos="50000">
                    <a:srgbClr val="669900"/>
                  </a:gs>
                  <a:gs pos="100000">
                    <a:srgbClr val="669900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39941" name="Group 5"/>
              <p:cNvGrpSpPr/>
              <p:nvPr/>
            </p:nvGrpSpPr>
            <p:grpSpPr bwMode="auto">
              <a:xfrm>
                <a:off x="3648" y="1632"/>
                <a:ext cx="240" cy="567"/>
                <a:chOff x="3024" y="2208"/>
                <a:chExt cx="240" cy="567"/>
              </a:xfrm>
            </p:grpSpPr>
            <p:sp>
              <p:nvSpPr>
                <p:cNvPr id="39942" name="Arc 6"/>
                <p:cNvSpPr/>
                <p:nvPr/>
              </p:nvSpPr>
              <p:spPr bwMode="auto">
                <a:xfrm>
                  <a:off x="3151" y="2208"/>
                  <a:ext cx="113" cy="56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43180"/>
                    <a:gd name="T2" fmla="*/ 927 w 21600"/>
                    <a:gd name="T3" fmla="*/ 43180 h 43180"/>
                    <a:gd name="T4" fmla="*/ 0 w 21600"/>
                    <a:gd name="T5" fmla="*/ 21600 h 4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4318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</a:path>
                    <a:path w="21600" h="4318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69900">
                        <a:gamma/>
                        <a:shade val="46275"/>
                        <a:invGamma/>
                      </a:srgbClr>
                    </a:gs>
                    <a:gs pos="50000">
                      <a:srgbClr val="669900"/>
                    </a:gs>
                    <a:gs pos="100000">
                      <a:srgbClr val="66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prstDash val="dash"/>
                  <a:rou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9943" name="Arc 7"/>
                <p:cNvSpPr/>
                <p:nvPr/>
              </p:nvSpPr>
              <p:spPr bwMode="auto">
                <a:xfrm rot="10800000">
                  <a:off x="3024" y="2208"/>
                  <a:ext cx="113" cy="56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43180"/>
                    <a:gd name="T2" fmla="*/ 927 w 21600"/>
                    <a:gd name="T3" fmla="*/ 43180 h 43180"/>
                    <a:gd name="T4" fmla="*/ 0 w 21600"/>
                    <a:gd name="T5" fmla="*/ 21600 h 4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4318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</a:path>
                    <a:path w="21600" h="4318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69900">
                        <a:gamma/>
                        <a:shade val="46275"/>
                        <a:invGamma/>
                      </a:srgbClr>
                    </a:gs>
                    <a:gs pos="50000">
                      <a:srgbClr val="669900"/>
                    </a:gs>
                    <a:gs pos="100000">
                      <a:srgbClr val="66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9944" name="Oval 8"/>
              <p:cNvSpPr>
                <a:spLocks noChangeArrowheads="1"/>
              </p:cNvSpPr>
              <p:nvPr/>
            </p:nvSpPr>
            <p:spPr bwMode="auto">
              <a:xfrm>
                <a:off x="5101" y="1632"/>
                <a:ext cx="227" cy="567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46275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39945" name="Group 9"/>
              <p:cNvGrpSpPr/>
              <p:nvPr/>
            </p:nvGrpSpPr>
            <p:grpSpPr bwMode="auto">
              <a:xfrm>
                <a:off x="4081" y="1632"/>
                <a:ext cx="231" cy="567"/>
                <a:chOff x="4081" y="1632"/>
                <a:chExt cx="231" cy="567"/>
              </a:xfrm>
            </p:grpSpPr>
            <p:sp>
              <p:nvSpPr>
                <p:cNvPr id="39946" name="Arc 10"/>
                <p:cNvSpPr/>
                <p:nvPr/>
              </p:nvSpPr>
              <p:spPr bwMode="auto">
                <a:xfrm>
                  <a:off x="4176" y="1632"/>
                  <a:ext cx="136" cy="567"/>
                </a:xfrm>
                <a:custGeom>
                  <a:avLst/>
                  <a:gdLst>
                    <a:gd name="G0" fmla="+- 1337 0 0"/>
                    <a:gd name="G1" fmla="+- 21600 0 0"/>
                    <a:gd name="G2" fmla="+- 21600 0 0"/>
                    <a:gd name="T0" fmla="*/ 1337 w 22937"/>
                    <a:gd name="T1" fmla="*/ 0 h 43200"/>
                    <a:gd name="T2" fmla="*/ 0 w 22937"/>
                    <a:gd name="T3" fmla="*/ 43159 h 43200"/>
                    <a:gd name="T4" fmla="*/ 1337 w 22937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937" h="43200" fill="none" extrusionOk="0">
                      <a:moveTo>
                        <a:pt x="1337" y="0"/>
                      </a:moveTo>
                      <a:cubicBezTo>
                        <a:pt x="13266" y="0"/>
                        <a:pt x="22937" y="9670"/>
                        <a:pt x="22937" y="21600"/>
                      </a:cubicBezTo>
                      <a:cubicBezTo>
                        <a:pt x="22937" y="33529"/>
                        <a:pt x="13266" y="43200"/>
                        <a:pt x="1337" y="43200"/>
                      </a:cubicBezTo>
                      <a:cubicBezTo>
                        <a:pt x="891" y="43199"/>
                        <a:pt x="445" y="43186"/>
                        <a:pt x="0" y="43158"/>
                      </a:cubicBezTo>
                    </a:path>
                    <a:path w="22937" h="43200" stroke="0" extrusionOk="0">
                      <a:moveTo>
                        <a:pt x="1337" y="0"/>
                      </a:moveTo>
                      <a:cubicBezTo>
                        <a:pt x="13266" y="0"/>
                        <a:pt x="22937" y="9670"/>
                        <a:pt x="22937" y="21600"/>
                      </a:cubicBezTo>
                      <a:cubicBezTo>
                        <a:pt x="22937" y="33529"/>
                        <a:pt x="13266" y="43200"/>
                        <a:pt x="1337" y="43200"/>
                      </a:cubicBezTo>
                      <a:cubicBezTo>
                        <a:pt x="891" y="43199"/>
                        <a:pt x="445" y="43186"/>
                        <a:pt x="0" y="43158"/>
                      </a:cubicBezTo>
                      <a:lnTo>
                        <a:pt x="1337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6600">
                        <a:gamma/>
                        <a:shade val="46275"/>
                        <a:invGamma/>
                      </a:srgbClr>
                    </a:gs>
                    <a:gs pos="50000">
                      <a:srgbClr val="006600"/>
                    </a:gs>
                    <a:gs pos="100000">
                      <a:srgbClr val="0066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prstDash val="dash"/>
                  <a:rou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9947" name="Arc 11"/>
                <p:cNvSpPr/>
                <p:nvPr/>
              </p:nvSpPr>
              <p:spPr bwMode="auto">
                <a:xfrm rot="10800000">
                  <a:off x="4081" y="1632"/>
                  <a:ext cx="126" cy="567"/>
                </a:xfrm>
                <a:custGeom>
                  <a:avLst/>
                  <a:gdLst>
                    <a:gd name="G0" fmla="+- 2567 0 0"/>
                    <a:gd name="G1" fmla="+- 21600 0 0"/>
                    <a:gd name="G2" fmla="+- 21600 0 0"/>
                    <a:gd name="T0" fmla="*/ 0 w 24167"/>
                    <a:gd name="T1" fmla="*/ 153 h 43180"/>
                    <a:gd name="T2" fmla="*/ 3494 w 24167"/>
                    <a:gd name="T3" fmla="*/ 43180 h 43180"/>
                    <a:gd name="T4" fmla="*/ 2567 w 24167"/>
                    <a:gd name="T5" fmla="*/ 21600 h 4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167" h="43180" fill="none" extrusionOk="0">
                      <a:moveTo>
                        <a:pt x="0" y="153"/>
                      </a:moveTo>
                      <a:cubicBezTo>
                        <a:pt x="851" y="51"/>
                        <a:pt x="1709" y="0"/>
                        <a:pt x="2567" y="0"/>
                      </a:cubicBezTo>
                      <a:cubicBezTo>
                        <a:pt x="14496" y="0"/>
                        <a:pt x="24167" y="9670"/>
                        <a:pt x="24167" y="21600"/>
                      </a:cubicBezTo>
                      <a:cubicBezTo>
                        <a:pt x="24167" y="33168"/>
                        <a:pt x="15052" y="42683"/>
                        <a:pt x="3494" y="43180"/>
                      </a:cubicBezTo>
                    </a:path>
                    <a:path w="24167" h="43180" stroke="0" extrusionOk="0">
                      <a:moveTo>
                        <a:pt x="0" y="153"/>
                      </a:moveTo>
                      <a:cubicBezTo>
                        <a:pt x="851" y="51"/>
                        <a:pt x="1709" y="0"/>
                        <a:pt x="2567" y="0"/>
                      </a:cubicBezTo>
                      <a:cubicBezTo>
                        <a:pt x="14496" y="0"/>
                        <a:pt x="24167" y="9670"/>
                        <a:pt x="24167" y="21600"/>
                      </a:cubicBezTo>
                      <a:cubicBezTo>
                        <a:pt x="24167" y="33168"/>
                        <a:pt x="15052" y="42683"/>
                        <a:pt x="3494" y="43180"/>
                      </a:cubicBezTo>
                      <a:lnTo>
                        <a:pt x="2567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6600">
                        <a:gamma/>
                        <a:shade val="46275"/>
                        <a:invGamma/>
                      </a:srgbClr>
                    </a:gs>
                    <a:gs pos="50000">
                      <a:srgbClr val="006600"/>
                    </a:gs>
                    <a:gs pos="100000">
                      <a:srgbClr val="0066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48" name="Object 12"/>
                <p:cNvSpPr txBox="1"/>
                <p:nvPr/>
              </p:nvSpPr>
              <p:spPr bwMode="auto">
                <a:xfrm>
                  <a:off x="4063" y="1445"/>
                  <a:ext cx="161" cy="1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oMath>
                    </m:oMathPara>
                  </a14:m>
                  <a:endParaRPr kumimoji="1" lang="en-US" altLang="zh-CN" sz="11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4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3" y="1445"/>
                  <a:ext cx="161" cy="181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963" name="Group 27"/>
          <p:cNvGrpSpPr/>
          <p:nvPr/>
        </p:nvGrpSpPr>
        <p:grpSpPr bwMode="auto">
          <a:xfrm>
            <a:off x="10139045" y="4809769"/>
            <a:ext cx="215900" cy="455614"/>
            <a:chOff x="5101" y="1776"/>
            <a:chExt cx="136" cy="2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64" name="Object 28"/>
                <p:cNvSpPr txBox="1"/>
                <p:nvPr/>
              </p:nvSpPr>
              <p:spPr bwMode="auto">
                <a:xfrm>
                  <a:off x="5101" y="1863"/>
                  <a:ext cx="136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964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1" y="1863"/>
                  <a:ext cx="136" cy="200"/>
                </a:xfrm>
                <a:prstGeom prst="rect">
                  <a:avLst/>
                </a:prstGeom>
                <a:blipFill rotWithShape="1">
                  <a:blip r:embed="rId1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>
              <a:off x="5211" y="1776"/>
              <a:ext cx="0" cy="4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9952" name="Group 16"/>
          <p:cNvGrpSpPr/>
          <p:nvPr/>
        </p:nvGrpSpPr>
        <p:grpSpPr bwMode="auto">
          <a:xfrm>
            <a:off x="7902632" y="4887245"/>
            <a:ext cx="3073401" cy="293689"/>
            <a:chOff x="3699" y="1824"/>
            <a:chExt cx="1936" cy="185"/>
          </a:xfrm>
        </p:grpSpPr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>
              <a:off x="3763" y="1824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4" name="Object 18"/>
                <p:cNvSpPr txBox="1"/>
                <p:nvPr/>
              </p:nvSpPr>
              <p:spPr bwMode="auto">
                <a:xfrm>
                  <a:off x="3699" y="1842"/>
                  <a:ext cx="136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𝑂</m:t>
                        </m:r>
                      </m:oMath>
                    </m:oMathPara>
                  </a14:m>
                  <a:endParaRPr kumimoji="1" lang="en-US" altLang="zh-CN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5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9" y="1842"/>
                  <a:ext cx="136" cy="152"/>
                </a:xfrm>
                <a:prstGeom prst="rect">
                  <a:avLst/>
                </a:prstGeom>
                <a:blipFill>
                  <a:blip r:embed="rId20"/>
                  <a:stretch>
                    <a:fillRect r="-52778" b="-4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5" name="Object 19"/>
                <p:cNvSpPr txBox="1"/>
                <p:nvPr/>
              </p:nvSpPr>
              <p:spPr bwMode="auto">
                <a:xfrm>
                  <a:off x="5475" y="1857"/>
                  <a:ext cx="160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1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95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5" y="1857"/>
                  <a:ext cx="160" cy="152"/>
                </a:xfrm>
                <a:prstGeom prst="rect">
                  <a:avLst/>
                </a:prstGeom>
                <a:blipFill rotWithShape="1">
                  <a:blip r:embed="rId2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/>
          <p:cNvGrpSpPr/>
          <p:nvPr/>
        </p:nvGrpSpPr>
        <p:grpSpPr>
          <a:xfrm>
            <a:off x="8975725" y="3974100"/>
            <a:ext cx="1009650" cy="1340485"/>
            <a:chOff x="13585" y="6337"/>
            <a:chExt cx="1590" cy="2111"/>
          </a:xfrm>
        </p:grpSpPr>
        <p:grpSp>
          <p:nvGrpSpPr>
            <p:cNvPr id="39968" name="Group 32"/>
            <p:cNvGrpSpPr/>
            <p:nvPr/>
          </p:nvGrpSpPr>
          <p:grpSpPr bwMode="auto">
            <a:xfrm>
              <a:off x="13585" y="6337"/>
              <a:ext cx="1590" cy="2111"/>
              <a:chOff x="4272" y="1248"/>
              <a:chExt cx="636" cy="844"/>
            </a:xfrm>
          </p:grpSpPr>
          <p:grpSp>
            <p:nvGrpSpPr>
              <p:cNvPr id="39969" name="Group 33"/>
              <p:cNvGrpSpPr/>
              <p:nvPr/>
            </p:nvGrpSpPr>
            <p:grpSpPr bwMode="auto">
              <a:xfrm>
                <a:off x="4272" y="1248"/>
                <a:ext cx="217" cy="567"/>
                <a:chOff x="4368" y="1632"/>
                <a:chExt cx="217" cy="567"/>
              </a:xfrm>
            </p:grpSpPr>
            <p:sp>
              <p:nvSpPr>
                <p:cNvPr id="39970" name="Arc 34"/>
                <p:cNvSpPr/>
                <p:nvPr/>
              </p:nvSpPr>
              <p:spPr bwMode="auto">
                <a:xfrm>
                  <a:off x="4472" y="1632"/>
                  <a:ext cx="113" cy="56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43180"/>
                    <a:gd name="T2" fmla="*/ 927 w 21600"/>
                    <a:gd name="T3" fmla="*/ 43180 h 43180"/>
                    <a:gd name="T4" fmla="*/ 0 w 21600"/>
                    <a:gd name="T5" fmla="*/ 21600 h 4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4318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</a:path>
                    <a:path w="21600" h="4318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39971" name="Arc 35"/>
                <p:cNvSpPr/>
                <p:nvPr/>
              </p:nvSpPr>
              <p:spPr bwMode="auto">
                <a:xfrm rot="10800000">
                  <a:off x="4368" y="1632"/>
                  <a:ext cx="113" cy="56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43180"/>
                    <a:gd name="T2" fmla="*/ 927 w 21600"/>
                    <a:gd name="T3" fmla="*/ 43180 h 43180"/>
                    <a:gd name="T4" fmla="*/ 0 w 21600"/>
                    <a:gd name="T5" fmla="*/ 21600 h 4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4318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</a:path>
                    <a:path w="21600" h="4318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68"/>
                        <a:pt x="12485" y="42683"/>
                        <a:pt x="927" y="4318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972" name="Object 36"/>
                  <p:cNvSpPr txBox="1"/>
                  <p:nvPr/>
                </p:nvSpPr>
                <p:spPr bwMode="auto">
                  <a:xfrm>
                    <a:off x="4284" y="1852"/>
                    <a:ext cx="624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buClrTx/>
                      <a:buSzTx/>
                      <a:buFontTx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oMath>
                      </m:oMathPara>
                    </a14:m>
                    <a:endParaRPr kumimoji="1" lang="en-US" altLang="zh-CN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9972" name="Object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84" y="1852"/>
                    <a:ext cx="624" cy="240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文本框 13"/>
            <p:cNvSpPr txBox="1"/>
            <p:nvPr/>
          </p:nvSpPr>
          <p:spPr>
            <a:xfrm>
              <a:off x="14557" y="784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8373110" y="4810713"/>
            <a:ext cx="0" cy="714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8">
                <a:extLst>
                  <a:ext uri="{FF2B5EF4-FFF2-40B4-BE49-F238E27FC236}">
                    <a16:creationId xmlns:a16="http://schemas.microsoft.com/office/drawing/2014/main" id="{08597756-EA81-F25A-86EE-A7CF05CE75B6}"/>
                  </a:ext>
                </a:extLst>
              </p:cNvPr>
              <p:cNvSpPr txBox="1"/>
              <p:nvPr/>
            </p:nvSpPr>
            <p:spPr bwMode="auto">
              <a:xfrm>
                <a:off x="8235725" y="4933454"/>
                <a:ext cx="123415" cy="3393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lang="zh-CN" altLang="en-US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bject 28">
                <a:extLst>
                  <a:ext uri="{FF2B5EF4-FFF2-40B4-BE49-F238E27FC236}">
                    <a16:creationId xmlns:a16="http://schemas.microsoft.com/office/drawing/2014/main" id="{08597756-EA81-F25A-86EE-A7CF05CE7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5725" y="4933454"/>
                <a:ext cx="123415" cy="339398"/>
              </a:xfrm>
              <a:prstGeom prst="rect">
                <a:avLst/>
              </a:prstGeom>
              <a:blipFill>
                <a:blip r:embed="rId23"/>
                <a:stretch>
                  <a:fillRect r="-10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9" grpId="0"/>
      <p:bldP spid="39951" grpId="0"/>
      <p:bldP spid="39951" grpId="1"/>
      <p:bldP spid="39956" grpId="0"/>
      <p:bldP spid="39956" grpId="1"/>
      <p:bldP spid="39957" grpId="0"/>
      <p:bldP spid="39957" grpId="1"/>
      <p:bldP spid="39958" grpId="0"/>
      <p:bldP spid="39958" grpId="1"/>
      <p:bldP spid="39966" grpId="0"/>
      <p:bldP spid="39966" grpId="1"/>
      <p:bldP spid="39973" grpId="0"/>
      <p:bldP spid="39973" grpId="1"/>
      <p:bldP spid="39974" grpId="0"/>
      <p:bldP spid="39974" grpId="1"/>
      <p:bldP spid="39977" grpId="0"/>
      <p:bldP spid="39977" grpId="1"/>
      <p:bldP spid="39981" grpId="0"/>
      <p:bldP spid="39981" grpId="1"/>
      <p:bldP spid="39984" grpId="0"/>
      <p:bldP spid="39984" grpId="1"/>
      <p:bldP spid="39995" grpId="0"/>
      <p:bldP spid="39995" grpId="1"/>
      <p:bldP spid="39997" grpId="0"/>
      <p:bldP spid="8" grpId="0"/>
      <p:bldP spid="39986" grpId="0"/>
      <p:bldP spid="39987" grpId="0"/>
      <p:bldP spid="29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39634" y="539115"/>
            <a:ext cx="11521439" cy="58000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33963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1179927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33963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1179927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790439" y="2004488"/>
            <a:ext cx="8703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</a:t>
            </a:r>
          </a:p>
        </p:txBody>
      </p:sp>
      <p:sp>
        <p:nvSpPr>
          <p:cNvPr id="9244" name="Rectangle 28"/>
          <p:cNvSpPr>
            <a:spLocks noChangeArrowheads="1"/>
          </p:cNvSpPr>
          <p:nvPr/>
        </p:nvSpPr>
        <p:spPr bwMode="auto">
          <a:xfrm>
            <a:off x="8407414" y="2800233"/>
            <a:ext cx="1079500" cy="1809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45" name="Line 29"/>
          <p:cNvSpPr>
            <a:spLocks noChangeShapeType="1"/>
          </p:cNvSpPr>
          <p:nvPr/>
        </p:nvSpPr>
        <p:spPr bwMode="auto">
          <a:xfrm>
            <a:off x="8994789" y="2800233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52" name="Rectangle 36"/>
          <p:cNvSpPr>
            <a:spLocks noChangeArrowheads="1"/>
          </p:cNvSpPr>
          <p:nvPr/>
        </p:nvSpPr>
        <p:spPr bwMode="auto">
          <a:xfrm>
            <a:off x="8401064" y="3657479"/>
            <a:ext cx="1079500" cy="191529"/>
          </a:xfrm>
          <a:prstGeom prst="rect">
            <a:avLst/>
          </a:prstGeom>
          <a:solidFill>
            <a:srgbClr val="04926A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9258" name="Group 42"/>
          <p:cNvGrpSpPr/>
          <p:nvPr/>
        </p:nvGrpSpPr>
        <p:grpSpPr bwMode="auto">
          <a:xfrm>
            <a:off x="8405827" y="4624588"/>
            <a:ext cx="582612" cy="304800"/>
            <a:chOff x="4851" y="2448"/>
            <a:chExt cx="367" cy="192"/>
          </a:xfrm>
        </p:grpSpPr>
        <p:sp>
          <p:nvSpPr>
            <p:cNvPr id="9256" name="Line 40"/>
            <p:cNvSpPr>
              <a:spLocks noChangeShapeType="1"/>
            </p:cNvSpPr>
            <p:nvPr/>
          </p:nvSpPr>
          <p:spPr bwMode="auto">
            <a:xfrm>
              <a:off x="4851" y="2448"/>
              <a:ext cx="0" cy="192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57" name="Line 41"/>
            <p:cNvSpPr>
              <a:spLocks noChangeShapeType="1"/>
            </p:cNvSpPr>
            <p:nvPr/>
          </p:nvSpPr>
          <p:spPr bwMode="auto">
            <a:xfrm>
              <a:off x="4878" y="2544"/>
              <a:ext cx="34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1631383" y="3112200"/>
            <a:ext cx="30575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一薄层水的重力为</a:t>
            </a: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1631383" y="3644330"/>
            <a:ext cx="6248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这薄层水吸出桶外所作的功(</a:t>
            </a:r>
            <a:r>
              <a:rPr lang="zh-CN" altLang="en-US" sz="2200" i="0" u="none" strike="noStrike" kern="1200" cap="none" spc="0" normalizeH="0" baseline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功元素</a:t>
            </a: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)为</a:t>
            </a:r>
          </a:p>
        </p:txBody>
      </p:sp>
      <p:sp>
        <p:nvSpPr>
          <p:cNvPr id="9279" name="Text Box 63"/>
          <p:cNvSpPr txBox="1">
            <a:spLocks noChangeArrowheads="1"/>
          </p:cNvSpPr>
          <p:nvPr/>
        </p:nvSpPr>
        <p:spPr bwMode="auto">
          <a:xfrm>
            <a:off x="1631383" y="4685095"/>
            <a:ext cx="2209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0" i="0" u="none" strike="noStrike" kern="1200" cap="none" spc="0" normalizeH="0" baseline="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故所求功为</a:t>
            </a:r>
          </a:p>
        </p:txBody>
      </p:sp>
      <p:sp>
        <p:nvSpPr>
          <p:cNvPr id="9299" name="Line 83"/>
          <p:cNvSpPr>
            <a:spLocks noChangeShapeType="1"/>
          </p:cNvSpPr>
          <p:nvPr/>
        </p:nvSpPr>
        <p:spPr bwMode="auto">
          <a:xfrm>
            <a:off x="5618709" y="5312847"/>
            <a:ext cx="0" cy="72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72290" y="5034638"/>
            <a:ext cx="312906" cy="11143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FontTx/>
            </a:pPr>
            <a:r>
              <a:rPr kumimoji="1" lang="en-US" altLang="zh-CN" dirty="0">
                <a:latin typeface="Cambria Math" panose="02040503050406030204" pitchFamily="18" charset="0"/>
                <a:ea typeface="黑体" panose="02010609060101010101" pitchFamily="49" charset="-122"/>
              </a:rPr>
              <a:t>5</a:t>
            </a:r>
          </a:p>
          <a:p>
            <a:pPr>
              <a:lnSpc>
                <a:spcPct val="200000"/>
              </a:lnSpc>
            </a:pPr>
            <a:r>
              <a:rPr kumimoji="1" lang="en-US" altLang="zh-CN" dirty="0">
                <a:latin typeface="Cambria Math" panose="02040503050406030204" pitchFamily="18" charset="0"/>
                <a:ea typeface="黑体" panose="02010609060101010101" pitchFamily="49" charset="-122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465450" y="4781550"/>
                <a:ext cx="56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m:rPr>
                          <m:sty m:val="p"/>
                        </m:rPr>
                        <a:rPr kumimoji="1" lang="en-US" altLang="zh-CN" i="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m</m:t>
                      </m:r>
                    </m:oMath>
                  </m:oMathPara>
                </a14:m>
                <a:endParaRPr kumimoji="1" lang="en-US" altLang="zh-CN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450" y="4781550"/>
                <a:ext cx="56214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8" name="Rectangle 2"/>
          <p:cNvSpPr>
            <a:spLocks noGrp="1" noChangeArrowheads="1"/>
          </p:cNvSpPr>
          <p:nvPr/>
        </p:nvSpPr>
        <p:spPr>
          <a:xfrm>
            <a:off x="790439" y="859877"/>
            <a:ext cx="9080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例3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03" name="Text Box 87"/>
              <p:cNvSpPr txBox="1">
                <a:spLocks noChangeArrowheads="1"/>
              </p:cNvSpPr>
              <p:nvPr/>
            </p:nvSpPr>
            <p:spPr bwMode="auto">
              <a:xfrm>
                <a:off x="1631383" y="893662"/>
                <a:ext cx="759374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一蓄满水的圆柱形水桶高为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5m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底圆半径为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3m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303" name="Text 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383" y="893662"/>
                <a:ext cx="7593745" cy="523220"/>
              </a:xfrm>
              <a:prstGeom prst="rect">
                <a:avLst/>
              </a:prstGeom>
              <a:blipFill>
                <a:blip r:embed="rId4"/>
                <a:stretch>
                  <a:fillRect l="-1687" t="-17647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060448" y="893662"/>
                <a:ext cx="25590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桶内盛满了水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448" y="893662"/>
                <a:ext cx="2559019" cy="523220"/>
              </a:xfrm>
              <a:prstGeom prst="rect">
                <a:avLst/>
              </a:prstGeom>
              <a:blipFill>
                <a:blip r:embed="rId5"/>
                <a:stretch>
                  <a:fillRect l="-4762" t="-17647" b="-28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2707908" y="1439134"/>
            <a:ext cx="6115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把桶中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的水全部吸出需作多少功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?  </a:t>
            </a: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7934593" y="1439134"/>
            <a:ext cx="35344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（设水的密度为</a:t>
            </a:r>
            <a:r>
              <a:rPr kumimoji="1" lang="en-US" altLang="zh-CN" sz="2800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ρ</a:t>
            </a:r>
            <a:r>
              <a:rPr kumimoji="1" 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20" name="文本框 219"/>
          <p:cNvSpPr txBox="1"/>
          <p:nvPr/>
        </p:nvSpPr>
        <p:spPr bwMode="auto">
          <a:xfrm>
            <a:off x="1631383" y="1439134"/>
            <a:ext cx="16586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试问要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631583" y="2056765"/>
            <a:ext cx="2578100" cy="450215"/>
            <a:chOff x="2474" y="3159"/>
            <a:chExt cx="4060" cy="7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2"/>
                <p:cNvSpPr txBox="1"/>
                <p:nvPr/>
              </p:nvSpPr>
              <p:spPr>
                <a:xfrm>
                  <a:off x="2474" y="3159"/>
                  <a:ext cx="406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200" i="0" dirty="0"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建立坐标系如图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" y="3159"/>
                  <a:ext cx="4060" cy="64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5731" y="3189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767088" y="2072005"/>
            <a:ext cx="4508500" cy="454025"/>
            <a:chOff x="5837" y="3183"/>
            <a:chExt cx="7100" cy="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3"/>
                <p:cNvSpPr txBox="1"/>
                <p:nvPr/>
              </p:nvSpPr>
              <p:spPr>
                <a:xfrm>
                  <a:off x="5837" y="3183"/>
                  <a:ext cx="7100" cy="68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取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为积分变量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则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∈[0,3].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7" y="3183"/>
                  <a:ext cx="7100" cy="680"/>
                </a:xfrm>
                <a:prstGeom prst="rect">
                  <a:avLst/>
                </a:prstGeom>
                <a:blipFill>
                  <a:blip r:embed="rId7"/>
                  <a:stretch>
                    <a:fillRect l="-811" b="-183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11905" y="3219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7"/>
              <p:cNvSpPr txBox="1"/>
              <p:nvPr/>
            </p:nvSpPr>
            <p:spPr bwMode="auto">
              <a:xfrm>
                <a:off x="8822958" y="2452186"/>
                <a:ext cx="325120" cy="2959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𝑂</m:t>
                      </m:r>
                    </m:oMath>
                  </m:oMathPara>
                </a14:m>
                <a:endParaRPr kumimoji="1" lang="en-US" altLang="zh-CN" sz="1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2958" y="2452186"/>
                <a:ext cx="325120" cy="295910"/>
              </a:xfrm>
              <a:prstGeom prst="rect">
                <a:avLst/>
              </a:prstGeom>
              <a:blipFill>
                <a:blip r:embed="rId8"/>
                <a:stretch>
                  <a:fillRect r="-1852" b="-163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/>
          <p:cNvGrpSpPr/>
          <p:nvPr/>
        </p:nvGrpSpPr>
        <p:grpSpPr>
          <a:xfrm>
            <a:off x="8842008" y="5314950"/>
            <a:ext cx="429895" cy="455295"/>
            <a:chOff x="13829" y="8290"/>
            <a:chExt cx="677" cy="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53" name="Object 37"/>
                <p:cNvSpPr txBox="1"/>
                <p:nvPr/>
              </p:nvSpPr>
              <p:spPr bwMode="auto">
                <a:xfrm>
                  <a:off x="13829" y="8290"/>
                  <a:ext cx="485" cy="4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1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53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29" y="8290"/>
                  <a:ext cx="485" cy="439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14280" y="8427"/>
              <a:ext cx="22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930148" y="2800350"/>
            <a:ext cx="828675" cy="1811020"/>
            <a:chOff x="12393" y="4330"/>
            <a:chExt cx="1305" cy="2852"/>
          </a:xfrm>
        </p:grpSpPr>
        <p:grpSp>
          <p:nvGrpSpPr>
            <p:cNvPr id="9264" name="Group 48"/>
            <p:cNvGrpSpPr/>
            <p:nvPr/>
          </p:nvGrpSpPr>
          <p:grpSpPr bwMode="auto">
            <a:xfrm>
              <a:off x="12393" y="4330"/>
              <a:ext cx="860" cy="2853"/>
              <a:chOff x="4554" y="1296"/>
              <a:chExt cx="344" cy="11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50" name="Object 34"/>
                  <p:cNvSpPr txBox="1"/>
                  <p:nvPr/>
                </p:nvSpPr>
                <p:spPr bwMode="auto">
                  <a:xfrm>
                    <a:off x="4554" y="1711"/>
                    <a:ext cx="344" cy="2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kumimoji="1" lang="en-US" altLang="zh-CN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m</m:t>
                          </m:r>
                        </m:oMath>
                      </m:oMathPara>
                    </a14:m>
                    <a:endParaRPr kumimoji="1" lang="en-US" altLang="zh-CN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9250" name="Object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54" y="1711"/>
                    <a:ext cx="344" cy="204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59" name="Line 43"/>
              <p:cNvSpPr>
                <a:spLocks noChangeShapeType="1"/>
              </p:cNvSpPr>
              <p:nvPr/>
            </p:nvSpPr>
            <p:spPr bwMode="auto">
              <a:xfrm flipH="1">
                <a:off x="4608" y="1296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9260" name="Line 44"/>
              <p:cNvSpPr>
                <a:spLocks noChangeShapeType="1"/>
              </p:cNvSpPr>
              <p:nvPr/>
            </p:nvSpPr>
            <p:spPr bwMode="auto">
              <a:xfrm flipH="1">
                <a:off x="4608" y="2437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9263" name="Group 47"/>
              <p:cNvGrpSpPr/>
              <p:nvPr/>
            </p:nvGrpSpPr>
            <p:grpSpPr bwMode="auto">
              <a:xfrm>
                <a:off x="4726" y="1296"/>
                <a:ext cx="0" cy="1128"/>
                <a:chOff x="4704" y="1296"/>
                <a:chExt cx="0" cy="1128"/>
              </a:xfrm>
            </p:grpSpPr>
            <p:sp>
              <p:nvSpPr>
                <p:cNvPr id="9261" name="Line 45"/>
                <p:cNvSpPr>
                  <a:spLocks noChangeShapeType="1"/>
                </p:cNvSpPr>
                <p:nvPr/>
              </p:nvSpPr>
              <p:spPr bwMode="auto">
                <a:xfrm>
                  <a:off x="4704" y="2016"/>
                  <a:ext cx="0" cy="408"/>
                </a:xfrm>
                <a:prstGeom prst="line">
                  <a:avLst/>
                </a:prstGeom>
                <a:noFill/>
                <a:ln w="19050">
                  <a:solidFill>
                    <a:srgbClr val="00B0F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9262" name="Line 46"/>
                <p:cNvSpPr>
                  <a:spLocks noChangeShapeType="1"/>
                </p:cNvSpPr>
                <p:nvPr/>
              </p:nvSpPr>
              <p:spPr bwMode="auto">
                <a:xfrm>
                  <a:off x="4704" y="1296"/>
                  <a:ext cx="0" cy="408"/>
                </a:xfrm>
                <a:prstGeom prst="line">
                  <a:avLst/>
                </a:prstGeom>
                <a:noFill/>
                <a:ln w="19050">
                  <a:solidFill>
                    <a:srgbClr val="00B0F0"/>
                  </a:solidFill>
                  <a:round/>
                  <a:head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</p:grpSp>
        <p:sp>
          <p:nvSpPr>
            <p:cNvPr id="31" name="文本框 30"/>
            <p:cNvSpPr txBox="1"/>
            <p:nvPr/>
          </p:nvSpPr>
          <p:spPr>
            <a:xfrm>
              <a:off x="13210" y="540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551813" y="3829685"/>
            <a:ext cx="1112520" cy="387350"/>
            <a:chOff x="13372" y="5951"/>
            <a:chExt cx="1752" cy="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54" name="Object 38"/>
                <p:cNvSpPr txBox="1"/>
                <p:nvPr/>
              </p:nvSpPr>
              <p:spPr bwMode="auto">
                <a:xfrm>
                  <a:off x="13372" y="5951"/>
                  <a:ext cx="1602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14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54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72" y="5951"/>
                  <a:ext cx="1602" cy="468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本框 33"/>
            <p:cNvSpPr txBox="1"/>
            <p:nvPr/>
          </p:nvSpPr>
          <p:spPr>
            <a:xfrm>
              <a:off x="14636" y="598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958848" y="3305175"/>
            <a:ext cx="705485" cy="368300"/>
            <a:chOff x="14013" y="5125"/>
            <a:chExt cx="1111" cy="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bject 37"/>
                <p:cNvSpPr txBox="1"/>
                <p:nvPr/>
              </p:nvSpPr>
              <p:spPr bwMode="auto">
                <a:xfrm>
                  <a:off x="14013" y="5157"/>
                  <a:ext cx="485" cy="4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1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3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13" y="5157"/>
                  <a:ext cx="485" cy="439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/>
            <p:cNvSpPr txBox="1"/>
            <p:nvPr/>
          </p:nvSpPr>
          <p:spPr>
            <a:xfrm>
              <a:off x="14636" y="512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003372" y="3072130"/>
            <a:ext cx="708660" cy="532765"/>
            <a:chOff x="6400" y="4758"/>
            <a:chExt cx="1116" cy="8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53"/>
                <p:cNvSpPr txBox="1"/>
                <p:nvPr/>
              </p:nvSpPr>
              <p:spPr bwMode="auto">
                <a:xfrm>
                  <a:off x="6400" y="4758"/>
                  <a:ext cx="1116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g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0" y="4758"/>
                  <a:ext cx="1116" cy="800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文本框 37"/>
            <p:cNvSpPr txBox="1"/>
            <p:nvPr/>
          </p:nvSpPr>
          <p:spPr>
            <a:xfrm>
              <a:off x="6801" y="4918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380562" y="3072130"/>
            <a:ext cx="1719580" cy="508000"/>
            <a:chOff x="6994" y="4758"/>
            <a:chExt cx="2708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9" name="Object 53"/>
                <p:cNvSpPr txBox="1"/>
                <p:nvPr/>
              </p:nvSpPr>
              <p:spPr bwMode="auto">
                <a:xfrm>
                  <a:off x="6994" y="4758"/>
                  <a:ext cx="2708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𝜌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π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69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94" y="4758"/>
                  <a:ext cx="2708" cy="800"/>
                </a:xfrm>
                <a:prstGeom prst="rect">
                  <a:avLst/>
                </a:prstGeom>
                <a:blipFill>
                  <a:blip r:embed="rId13"/>
                  <a:stretch>
                    <a:fillRect l="-70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/>
            <p:cNvSpPr txBox="1"/>
            <p:nvPr/>
          </p:nvSpPr>
          <p:spPr>
            <a:xfrm>
              <a:off x="9214" y="482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542718" y="3058358"/>
            <a:ext cx="894715" cy="463550"/>
            <a:chOff x="9432" y="4819"/>
            <a:chExt cx="1409" cy="730"/>
          </a:xfrm>
        </p:grpSpPr>
        <p:sp>
          <p:nvSpPr>
            <p:cNvPr id="9301" name="Text Box 85"/>
            <p:cNvSpPr txBox="1">
              <a:spLocks noChangeArrowheads="1"/>
            </p:cNvSpPr>
            <p:nvPr/>
          </p:nvSpPr>
          <p:spPr bwMode="auto">
            <a:xfrm>
              <a:off x="9432" y="4819"/>
              <a:ext cx="119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200" b="0" i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en-US" altLang="zh-CN" sz="2200" b="0" i="0" u="none" strike="noStrike" kern="1200" cap="none" spc="0" normalizeH="0" baseline="0" dirty="0" err="1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kN</a:t>
              </a:r>
              <a:r>
                <a:rPr kumimoji="1" lang="en-US" altLang="zh-CN" sz="2200" b="0" i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550" y="4870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631583" y="2565400"/>
            <a:ext cx="4167505" cy="507365"/>
            <a:chOff x="2474" y="3960"/>
            <a:chExt cx="6563" cy="7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6" name="Object 50"/>
                <p:cNvSpPr txBox="1"/>
                <p:nvPr/>
              </p:nvSpPr>
              <p:spPr bwMode="auto">
                <a:xfrm>
                  <a:off x="2474" y="3960"/>
                  <a:ext cx="6563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200" i="0" dirty="0"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在任一小区间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[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 </m:t>
                        </m:r>
                        <m:r>
                          <a:rPr lang="zh-CN" altLang="en-US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上的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66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74" y="3960"/>
                  <a:ext cx="6563" cy="700"/>
                </a:xfrm>
                <a:prstGeom prst="rect">
                  <a:avLst/>
                </a:prstGeom>
                <a:blipFill>
                  <a:blip r:embed="rId14"/>
                  <a:stretch>
                    <a:fillRect l="-1025" b="-150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/>
            <p:cNvSpPr txBox="1"/>
            <p:nvPr/>
          </p:nvSpPr>
          <p:spPr>
            <a:xfrm>
              <a:off x="8480" y="4080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666443" y="4138360"/>
            <a:ext cx="718185" cy="496570"/>
            <a:chOff x="4026" y="6497"/>
            <a:chExt cx="1131" cy="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73" name="Object 57"/>
                <p:cNvSpPr txBox="1"/>
                <p:nvPr/>
              </p:nvSpPr>
              <p:spPr bwMode="auto">
                <a:xfrm>
                  <a:off x="4026" y="6497"/>
                  <a:ext cx="96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73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26" y="6497"/>
                  <a:ext cx="960" cy="64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本框 50"/>
            <p:cNvSpPr txBox="1"/>
            <p:nvPr/>
          </p:nvSpPr>
          <p:spPr>
            <a:xfrm>
              <a:off x="4866" y="6600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199843" y="4138360"/>
            <a:ext cx="2038350" cy="511175"/>
            <a:chOff x="4866" y="6497"/>
            <a:chExt cx="3210" cy="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78" name="Object 62"/>
                <p:cNvSpPr txBox="1"/>
                <p:nvPr/>
              </p:nvSpPr>
              <p:spPr bwMode="auto">
                <a:xfrm>
                  <a:off x="4866" y="6497"/>
                  <a:ext cx="3040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=9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g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𝜌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78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66" y="6497"/>
                  <a:ext cx="3040" cy="640"/>
                </a:xfrm>
                <a:prstGeom prst="rect">
                  <a:avLst/>
                </a:prstGeom>
                <a:blipFill>
                  <a:blip r:embed="rId16"/>
                  <a:stretch>
                    <a:fillRect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7785" y="6623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632218" y="5264785"/>
            <a:ext cx="1244600" cy="800100"/>
            <a:chOff x="2475" y="8211"/>
            <a:chExt cx="1960" cy="12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80" name="Object 64"/>
                <p:cNvSpPr txBox="1"/>
                <p:nvPr/>
              </p:nvSpPr>
              <p:spPr bwMode="auto">
                <a:xfrm>
                  <a:off x="2475" y="8211"/>
                  <a:ext cx="1960" cy="1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5</m:t>
                            </m:r>
                          </m:sup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80" name="Object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75" y="8211"/>
                  <a:ext cx="1960" cy="1260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本框 54"/>
            <p:cNvSpPr txBox="1"/>
            <p:nvPr/>
          </p:nvSpPr>
          <p:spPr>
            <a:xfrm>
              <a:off x="3947" y="8729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703463" y="5436870"/>
            <a:ext cx="1918970" cy="502920"/>
            <a:chOff x="4162" y="8482"/>
            <a:chExt cx="3022" cy="7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81" name="Object 65"/>
                <p:cNvSpPr txBox="1"/>
                <p:nvPr/>
              </p:nvSpPr>
              <p:spPr bwMode="auto">
                <a:xfrm>
                  <a:off x="4162" y="8482"/>
                  <a:ext cx="3022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g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𝜌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281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62" y="8482"/>
                  <a:ext cx="3022" cy="640"/>
                </a:xfrm>
                <a:prstGeom prst="rect">
                  <a:avLst/>
                </a:prstGeom>
                <a:blipFill>
                  <a:blip r:embed="rId18"/>
                  <a:stretch>
                    <a:fillRect l="-317"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本框 56"/>
            <p:cNvSpPr txBox="1"/>
            <p:nvPr/>
          </p:nvSpPr>
          <p:spPr>
            <a:xfrm>
              <a:off x="5912" y="8595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084727" y="5243195"/>
            <a:ext cx="648970" cy="852805"/>
            <a:chOff x="8083" y="8207"/>
            <a:chExt cx="1022" cy="1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53"/>
                <p:cNvSpPr txBox="1"/>
                <p:nvPr/>
              </p:nvSpPr>
              <p:spPr bwMode="auto">
                <a:xfrm>
                  <a:off x="8083" y="8207"/>
                  <a:ext cx="731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83" y="8207"/>
                  <a:ext cx="731" cy="800"/>
                </a:xfrm>
                <a:prstGeom prst="rect">
                  <a:avLst/>
                </a:prstGeom>
                <a:blipFill rotWithShape="1">
                  <a:blip r:embed="rId1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文本框 60"/>
            <p:cNvSpPr txBox="1"/>
            <p:nvPr/>
          </p:nvSpPr>
          <p:spPr>
            <a:xfrm>
              <a:off x="8814" y="887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250353" y="5449372"/>
            <a:ext cx="981684" cy="453390"/>
            <a:chOff x="11911" y="8546"/>
            <a:chExt cx="1887" cy="714"/>
          </a:xfrm>
        </p:grpSpPr>
        <p:sp>
          <p:nvSpPr>
            <p:cNvPr id="9288" name="Text Box 72"/>
            <p:cNvSpPr txBox="1">
              <a:spLocks noChangeArrowheads="1"/>
            </p:cNvSpPr>
            <p:nvPr/>
          </p:nvSpPr>
          <p:spPr bwMode="auto">
            <a:xfrm>
              <a:off x="11911" y="8546"/>
              <a:ext cx="1887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algn="l" defTabSz="914400" rtl="0" eaLnBrk="1" latinLnBrk="0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200" b="0" i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en-US" altLang="zh-CN" sz="2200" b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kJ</a:t>
              </a:r>
              <a:r>
                <a:rPr kumimoji="1" lang="en-US" altLang="zh-CN" sz="2200" b="0" i="0" u="none" strike="noStrike" kern="1200" cap="none" spc="0" normalizeH="0" baseline="0" dirty="0"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3086" y="8581"/>
              <a:ext cx="355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65"/>
              <p:cNvSpPr txBox="1"/>
              <p:nvPr/>
            </p:nvSpPr>
            <p:spPr bwMode="auto">
              <a:xfrm>
                <a:off x="3977541" y="5433060"/>
                <a:ext cx="132270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=9</m:t>
                      </m:r>
                      <m:r>
                        <m:rPr>
                          <m:sty m:val="p"/>
                        </m:rPr>
                        <a:rPr kumimoji="1" lang="en-US" altLang="zh-CN" sz="2200" i="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m:rPr>
                          <m:nor/>
                        </m:rP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g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𝜌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541" y="5433060"/>
                <a:ext cx="1322705" cy="406400"/>
              </a:xfrm>
              <a:prstGeom prst="rect">
                <a:avLst/>
              </a:prstGeom>
              <a:blipFill>
                <a:blip r:embed="rId20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5717187" y="5433060"/>
            <a:ext cx="1722120" cy="542290"/>
            <a:chOff x="9037" y="7123"/>
            <a:chExt cx="2712" cy="8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65"/>
                <p:cNvSpPr txBox="1"/>
                <p:nvPr/>
              </p:nvSpPr>
              <p:spPr bwMode="auto">
                <a:xfrm>
                  <a:off x="9037" y="7123"/>
                  <a:ext cx="2712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=112.5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r>
                          <m:rPr>
                            <m:nor/>
                          </m:r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g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𝜌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37" y="7123"/>
                  <a:ext cx="2712" cy="640"/>
                </a:xfrm>
                <a:prstGeom prst="rect">
                  <a:avLst/>
                </a:prstGeom>
                <a:blipFill>
                  <a:blip r:embed="rId21"/>
                  <a:stretch>
                    <a:fillRect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1423" y="7298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1" animBg="1"/>
      <p:bldP spid="9242" grpId="0"/>
      <p:bldP spid="9242" grpId="1"/>
      <p:bldP spid="9244" grpId="0" animBg="1"/>
      <p:bldP spid="9244" grpId="1" animBg="1"/>
      <p:bldP spid="9245" grpId="0" animBg="1"/>
      <p:bldP spid="9252" grpId="0" animBg="1"/>
      <p:bldP spid="9252" grpId="1" animBg="1"/>
      <p:bldP spid="9267" grpId="0"/>
      <p:bldP spid="9267" grpId="1"/>
      <p:bldP spid="9271" grpId="0"/>
      <p:bldP spid="9271" grpId="1"/>
      <p:bldP spid="9279" grpId="0"/>
      <p:bldP spid="9279" grpId="1"/>
      <p:bldP spid="9299" grpId="0" animBg="1"/>
      <p:bldP spid="17" grpId="1"/>
      <p:bldP spid="17" grpId="2"/>
      <p:bldP spid="19" grpId="0"/>
      <p:bldP spid="19" grpId="1"/>
      <p:bldP spid="9218" grpId="0"/>
      <p:bldP spid="9218" grpId="1"/>
      <p:bldP spid="9303" grpId="0" animBg="1"/>
      <p:bldP spid="9303" grpId="1" animBg="1"/>
      <p:bldP spid="10" grpId="0"/>
      <p:bldP spid="10" grpId="1"/>
      <p:bldP spid="9240" grpId="0"/>
      <p:bldP spid="9240" grpId="1"/>
      <p:bldP spid="8" grpId="0"/>
      <p:bldP spid="8" grpId="1"/>
      <p:bldP spid="220" grpId="0"/>
      <p:bldP spid="220" grpId="1"/>
      <p:bldP spid="20" grpId="0"/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1478140" y="624113"/>
            <a:ext cx="3237865" cy="904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二、水压力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1478140" y="1591149"/>
            <a:ext cx="9989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回顾</a:t>
            </a:r>
            <a:r>
              <a:rPr kumimoji="1" lang="en-US" altLang="zh-CN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  <a:endParaRPr kumimoji="1" lang="zh-CN" altLang="en-US" sz="2800" b="1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1478140" y="4037188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问题</a:t>
            </a:r>
            <a:r>
              <a:rPr kumimoji="1" lang="en-US" altLang="zh-CN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  <a:endParaRPr kumimoji="1" lang="zh-CN" altLang="en-US" sz="2800" b="1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1478140" y="5449473"/>
            <a:ext cx="28023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解决方法</a:t>
            </a:r>
            <a:r>
              <a:rPr kumimoji="1" lang="en-US" altLang="zh-CN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微元法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Box 32"/>
              <p:cNvSpPr txBox="1">
                <a:spLocks noChangeArrowheads="1"/>
              </p:cNvSpPr>
              <p:nvPr/>
            </p:nvSpPr>
            <p:spPr bwMode="auto">
              <a:xfrm>
                <a:off x="1478140" y="4734044"/>
                <a:ext cx="4275482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当平板铅直放置在水中时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7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8140" y="4734044"/>
                <a:ext cx="4275482" cy="521970"/>
              </a:xfrm>
              <a:prstGeom prst="rect">
                <a:avLst/>
              </a:prstGeom>
              <a:blipFill>
                <a:blip r:embed="rId3"/>
                <a:stretch>
                  <a:fillRect l="-2849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5633197" y="4725957"/>
            <a:ext cx="533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平板所受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压力（侧压力）.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478007" y="2997743"/>
            <a:ext cx="7979410" cy="521970"/>
            <a:chOff x="1455" y="4602"/>
            <a:chExt cx="13076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455" y="4602"/>
                  <a:ext cx="13076" cy="8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fontAlgn="base">
                    <a:spcBef>
                      <a:spcPct val="50000"/>
                    </a:spcBef>
                    <a:buClrTx/>
                    <a:buSzTx/>
                    <a:buFontTx/>
                    <a:defRPr/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当平板与水面平行时</a:t>
                  </a:r>
                  <a14:m>
                    <m:oMath xmlns:m="http://schemas.openxmlformats.org/officeDocument/2006/math">
                      <m:r>
                        <a:rPr kumimoji="1" lang="en-US" altLang="zh-CN" sz="28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  <a:cs typeface="+mn-cs"/>
                    </a:rPr>
                    <a:t>平板一侧所受的压力为</a:t>
                  </a:r>
                </a:p>
              </p:txBody>
            </p:sp>
          </mc:Choice>
          <mc:Fallback xmlns="">
            <p:sp>
              <p:nvSpPr>
                <p:cNvPr id="8" name="Text 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55" y="4602"/>
                  <a:ext cx="13076" cy="822"/>
                </a:xfrm>
                <a:prstGeom prst="rect">
                  <a:avLst/>
                </a:prstGeom>
                <a:blipFill>
                  <a:blip r:embed="rId4"/>
                  <a:stretch>
                    <a:fillRect l="-1528" t="-16471" b="-2941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13012" y="4612"/>
              <a:ext cx="4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747487" y="3011983"/>
            <a:ext cx="1766570" cy="556260"/>
            <a:chOff x="12903" y="4693"/>
            <a:chExt cx="2782" cy="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2"/>
                <p:cNvSpPr txBox="1"/>
                <p:nvPr/>
              </p:nvSpPr>
              <p:spPr>
                <a:xfrm>
                  <a:off x="12903" y="4693"/>
                  <a:ext cx="2783" cy="877"/>
                </a:xfrm>
                <a:prstGeom prst="rect">
                  <a:avLst/>
                </a:prstGeom>
              </p:spPr>
              <p:txBody>
                <a:bodyPr>
                  <a:normAutofit fontScale="6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4665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4665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4665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4665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en-US" altLang="zh-CN" sz="4665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03" y="4693"/>
                  <a:ext cx="2783" cy="8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4829" y="484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126582" y="2271303"/>
            <a:ext cx="1997710" cy="420370"/>
            <a:chOff x="13500" y="3458"/>
            <a:chExt cx="3146" cy="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对象 65"/>
                <p:cNvSpPr txBox="1"/>
                <p:nvPr/>
              </p:nvSpPr>
              <p:spPr>
                <a:xfrm>
                  <a:off x="13500" y="3458"/>
                  <a:ext cx="3146" cy="620"/>
                </a:xfrm>
                <a:prstGeom prst="rect">
                  <a:avLst/>
                </a:prstGeom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𝜌</m:t>
                        </m:r>
                        <m:r>
                          <m:rPr>
                            <m:nor/>
                          </m:r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g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6" name="对象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0" y="3458"/>
                  <a:ext cx="3146" cy="62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15911" y="354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" name="Text Box 43">
            <a:extLst>
              <a:ext uri="{FF2B5EF4-FFF2-40B4-BE49-F238E27FC236}">
                <a16:creationId xmlns:a16="http://schemas.microsoft.com/office/drawing/2014/main" id="{BDFE07B8-42B1-B952-D8A1-DF5616F88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132" y="2325552"/>
            <a:ext cx="79794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0" i="0" u="none" strike="noStrike" kern="1200" cap="none" spc="0" normalizeH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液体的压强等于液体的比重乘以液体的深度，即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73" grpId="0"/>
      <p:bldP spid="73" grpId="1"/>
      <p:bldP spid="74" grpId="0"/>
      <p:bldP spid="74" grpId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96033" y="52864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96033" y="52864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32239" y="52864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96033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32239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979" name="Rectangle 19"/>
          <p:cNvSpPr>
            <a:spLocks noGrp="1" noChangeArrowheads="1"/>
          </p:cNvSpPr>
          <p:nvPr/>
        </p:nvSpPr>
        <p:spPr>
          <a:xfrm>
            <a:off x="1234059" y="742417"/>
            <a:ext cx="9080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0" fontAlgn="base" hangingPunct="0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例4 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2143303" y="1414050"/>
            <a:ext cx="57746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求桶的一个端面所受的侧压力. </a:t>
            </a:r>
          </a:p>
        </p:txBody>
      </p:sp>
      <p:sp>
        <p:nvSpPr>
          <p:cNvPr id="40982" name="Text Box 22"/>
          <p:cNvSpPr txBox="1">
            <a:spLocks noChangeArrowheads="1"/>
          </p:cNvSpPr>
          <p:nvPr/>
        </p:nvSpPr>
        <p:spPr bwMode="auto">
          <a:xfrm>
            <a:off x="1234059" y="2059658"/>
            <a:ext cx="3498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建立坐标系如图.</a:t>
            </a: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4274363" y="2118304"/>
            <a:ext cx="320167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所讨论半圆的方程为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4" name="Text Box 34"/>
              <p:cNvSpPr txBox="1">
                <a:spLocks noChangeArrowheads="1"/>
              </p:cNvSpPr>
              <p:nvPr/>
            </p:nvSpPr>
            <p:spPr bwMode="auto">
              <a:xfrm>
                <a:off x="2186848" y="3365853"/>
                <a:ext cx="377028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利用对称性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侧压力元素</a:t>
                </a:r>
              </a:p>
            </p:txBody>
          </p:sp>
        </mc:Choice>
        <mc:Fallback xmlns="">
          <p:sp>
            <p:nvSpPr>
              <p:cNvPr id="40994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6848" y="3365853"/>
                <a:ext cx="3770281" cy="430887"/>
              </a:xfrm>
              <a:prstGeom prst="rect">
                <a:avLst/>
              </a:prstGeom>
              <a:blipFill>
                <a:blip r:embed="rId3"/>
                <a:stretch>
                  <a:fillRect l="-2104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2186848" y="4579973"/>
            <a:ext cx="3505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端面所受侧压力为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24" name="Text Box 64"/>
              <p:cNvSpPr txBox="1">
                <a:spLocks noChangeArrowheads="1"/>
              </p:cNvSpPr>
              <p:nvPr/>
            </p:nvSpPr>
            <p:spPr bwMode="auto">
              <a:xfrm>
                <a:off x="2143075" y="796751"/>
                <a:ext cx="880882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一水平横放的半径为</a:t>
                </a:r>
                <a:r>
                  <a:rPr kumimoji="1" lang="en-US" altLang="zh-CN" sz="2800" b="0" i="1" u="none" strike="noStrike" kern="1200" cap="none" spc="0" normalizeH="0" baseline="0" dirty="0"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R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的圆桶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内盛半桶密度为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</a:t>
                </a:r>
                <a:r>
                  <a:rPr kumimoji="1" lang="en-US" altLang="zh-CN" sz="28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液体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1024" name="Text 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3075" y="796751"/>
                <a:ext cx="8808822" cy="523220"/>
              </a:xfrm>
              <a:prstGeom prst="rect">
                <a:avLst/>
              </a:prstGeom>
              <a:blipFill>
                <a:blip r:embed="rId4"/>
                <a:stretch>
                  <a:fillRect l="-1453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661220" y="3997848"/>
                <a:ext cx="812800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g ρ</a:t>
                </a:r>
                <a:r>
                  <a:rPr kumimoji="1" lang="en-US" altLang="zh-CN" sz="22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220" y="3997848"/>
                <a:ext cx="812800" cy="429895"/>
              </a:xfrm>
              <a:prstGeom prst="rect">
                <a:avLst/>
              </a:prstGeom>
              <a:blipFill>
                <a:blip r:embed="rId6"/>
                <a:stretch>
                  <a:fillRect l="-9774" t="-12857"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2644680" y="4011930"/>
            <a:ext cx="1078230" cy="464820"/>
            <a:chOff x="4624" y="6298"/>
            <a:chExt cx="1698" cy="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99" name="Object 39"/>
                <p:cNvSpPr txBox="1"/>
                <p:nvPr/>
              </p:nvSpPr>
              <p:spPr bwMode="auto">
                <a:xfrm>
                  <a:off x="4624" y="6298"/>
                  <a:ext cx="1640" cy="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15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0999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4" y="6298"/>
                  <a:ext cx="1640" cy="600"/>
                </a:xfrm>
                <a:prstGeom prst="rect">
                  <a:avLst/>
                </a:prstGeom>
                <a:blipFill>
                  <a:blip r:embed="rId7"/>
                  <a:stretch>
                    <a:fillRect l="-1170" b="-95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5834" y="645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795402" y="5154930"/>
            <a:ext cx="1324610" cy="736600"/>
            <a:chOff x="4685" y="8098"/>
            <a:chExt cx="2086" cy="1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95" name="Object 35"/>
                <p:cNvSpPr txBox="1"/>
                <p:nvPr/>
              </p:nvSpPr>
              <p:spPr bwMode="auto">
                <a:xfrm>
                  <a:off x="4685" y="8098"/>
                  <a:ext cx="1980" cy="1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sup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19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0995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5" y="8098"/>
                  <a:ext cx="1980" cy="116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6283" y="861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31"/>
              <p:cNvSpPr txBox="1"/>
              <p:nvPr/>
            </p:nvSpPr>
            <p:spPr bwMode="auto">
              <a:xfrm>
                <a:off x="4768804" y="2790190"/>
                <a:ext cx="168769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8804" y="2790190"/>
                <a:ext cx="1687695" cy="406400"/>
              </a:xfrm>
              <a:prstGeom prst="rect">
                <a:avLst/>
              </a:prstGeom>
              <a:blipFill>
                <a:blip r:embed="rId9"/>
                <a:stretch>
                  <a:fillRect l="-2166"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38"/>
              <p:cNvSpPr txBox="1"/>
              <p:nvPr/>
            </p:nvSpPr>
            <p:spPr bwMode="auto">
              <a:xfrm>
                <a:off x="3441827" y="3911275"/>
                <a:ext cx="216845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2  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827" y="3911275"/>
                <a:ext cx="2168450" cy="558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30"/>
              <p:cNvSpPr txBox="1"/>
              <p:nvPr/>
            </p:nvSpPr>
            <p:spPr bwMode="auto">
              <a:xfrm>
                <a:off x="2815498" y="2705259"/>
                <a:ext cx="22479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5498" y="2705259"/>
                <a:ext cx="2247900" cy="533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"/>
              <p:cNvSpPr txBox="1"/>
              <p:nvPr/>
            </p:nvSpPr>
            <p:spPr bwMode="auto">
              <a:xfrm>
                <a:off x="6068366" y="5207655"/>
                <a:ext cx="15494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nor/>
                                </m:r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g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8366" y="5207655"/>
                <a:ext cx="1549400" cy="850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36"/>
              <p:cNvSpPr txBox="1"/>
              <p:nvPr/>
            </p:nvSpPr>
            <p:spPr bwMode="auto">
              <a:xfrm>
                <a:off x="3781029" y="5293819"/>
                <a:ext cx="29337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func>
                        <m:func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g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1029" y="5293819"/>
                <a:ext cx="2933700" cy="533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782965D9-106C-8A82-3D0E-9C471A39CD54}"/>
                  </a:ext>
                </a:extLst>
              </p:cNvPr>
              <p:cNvSpPr txBox="1"/>
              <p:nvPr/>
            </p:nvSpPr>
            <p:spPr bwMode="auto">
              <a:xfrm>
                <a:off x="5502039" y="3972566"/>
                <a:ext cx="485941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782965D9-106C-8A82-3D0E-9C471A39C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2039" y="3972566"/>
                <a:ext cx="485941" cy="558800"/>
              </a:xfrm>
              <a:prstGeom prst="rect">
                <a:avLst/>
              </a:prstGeom>
              <a:blipFill>
                <a:blip r:embed="rId14"/>
                <a:stretch>
                  <a:fillRect l="-25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中度可信度描述已自动生成">
            <a:extLst>
              <a:ext uri="{FF2B5EF4-FFF2-40B4-BE49-F238E27FC236}">
                <a16:creationId xmlns:a16="http://schemas.microsoft.com/office/drawing/2014/main" id="{A6ECB6DE-1BC9-BA14-6F86-F9C5EEF522E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192" y="1808963"/>
            <a:ext cx="2619741" cy="3544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2" grpId="0"/>
      <p:bldP spid="40982" grpId="1"/>
      <p:bldP spid="40989" grpId="1"/>
      <p:bldP spid="40989" grpId="2"/>
      <p:bldP spid="40994" grpId="0"/>
      <p:bldP spid="40994" grpId="1"/>
      <p:bldP spid="41001" grpId="1"/>
      <p:bldP spid="41001" grpId="2"/>
      <p:bldP spid="2" grpId="1"/>
      <p:bldP spid="2" grpId="2"/>
      <p:bldP spid="43" grpId="0"/>
      <p:bldP spid="44" grpId="0"/>
      <p:bldP spid="45" grpId="0"/>
      <p:bldP spid="46" grpId="0" bldLvl="0" animBg="1"/>
      <p:bldP spid="50" grpId="0" bldLvl="0" animBg="1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995" name="Text Box 11"/>
              <p:cNvSpPr txBox="1">
                <a:spLocks noChangeArrowheads="1"/>
              </p:cNvSpPr>
              <p:nvPr/>
            </p:nvSpPr>
            <p:spPr bwMode="auto">
              <a:xfrm>
                <a:off x="2156016" y="508788"/>
                <a:ext cx="35814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当桶内充满液体时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199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6016" y="508788"/>
                <a:ext cx="3581400" cy="521970"/>
              </a:xfrm>
              <a:prstGeom prst="rect">
                <a:avLst/>
              </a:prstGeom>
              <a:blipFill>
                <a:blip r:embed="rId2"/>
                <a:stretch>
                  <a:fillRect l="-3578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5198050" y="503922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小窄条上的压强为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2156016" y="1170564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侧压力元素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2156016" y="1764949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故端面所受侧压力为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6879569" y="3647538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奇函数</a:t>
            </a:r>
          </a:p>
        </p:txBody>
      </p:sp>
      <p:sp>
        <p:nvSpPr>
          <p:cNvPr id="42004" name="Freeform 20"/>
          <p:cNvSpPr/>
          <p:nvPr/>
        </p:nvSpPr>
        <p:spPr bwMode="auto">
          <a:xfrm flipV="1">
            <a:off x="5024694" y="3121123"/>
            <a:ext cx="2185989" cy="514351"/>
          </a:xfrm>
          <a:custGeom>
            <a:avLst/>
            <a:gdLst>
              <a:gd name="T0" fmla="*/ 0 w 672"/>
              <a:gd name="T1" fmla="*/ 336 h 336"/>
              <a:gd name="T2" fmla="*/ 336 w 672"/>
              <a:gd name="T3" fmla="*/ 96 h 336"/>
              <a:gd name="T4" fmla="*/ 672 w 672"/>
              <a:gd name="T5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2" h="336">
                <a:moveTo>
                  <a:pt x="0" y="336"/>
                </a:moveTo>
                <a:cubicBezTo>
                  <a:pt x="112" y="244"/>
                  <a:pt x="224" y="152"/>
                  <a:pt x="336" y="96"/>
                </a:cubicBezTo>
                <a:cubicBezTo>
                  <a:pt x="448" y="40"/>
                  <a:pt x="616" y="16"/>
                  <a:pt x="672" y="0"/>
                </a:cubicBezTo>
              </a:path>
            </a:pathLst>
          </a:custGeom>
          <a:noFill/>
          <a:ln w="28575" cmpd="sng">
            <a:solidFill>
              <a:srgbClr val="1D9D79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009" name="Line 25"/>
          <p:cNvSpPr>
            <a:spLocks noChangeShapeType="1"/>
          </p:cNvSpPr>
          <p:nvPr/>
        </p:nvSpPr>
        <p:spPr bwMode="auto">
          <a:xfrm>
            <a:off x="2740600" y="4311725"/>
            <a:ext cx="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033" name="Line 49"/>
          <p:cNvSpPr>
            <a:spLocks noChangeShapeType="1"/>
          </p:cNvSpPr>
          <p:nvPr/>
        </p:nvSpPr>
        <p:spPr bwMode="auto">
          <a:xfrm>
            <a:off x="4864675" y="3057623"/>
            <a:ext cx="3048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2909904" y="4433682"/>
            <a:ext cx="3027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定积分的几何意义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1310005" y="461010"/>
            <a:ext cx="612775" cy="612775"/>
            <a:chOff x="1601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文本框 9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144292" y="459856"/>
                <a:ext cx="224218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g ρ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( 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+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292" y="459856"/>
                <a:ext cx="2242185" cy="521970"/>
              </a:xfrm>
              <a:prstGeom prst="rect">
                <a:avLst/>
              </a:prstGeom>
              <a:blipFill>
                <a:blip r:embed="rId10"/>
                <a:stretch>
                  <a:fillRect l="-5435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2155824" y="2334260"/>
            <a:ext cx="7348733" cy="751205"/>
            <a:chOff x="3335" y="3846"/>
            <a:chExt cx="9182" cy="1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01" name="Object 17"/>
                <p:cNvSpPr txBox="1"/>
                <p:nvPr/>
              </p:nvSpPr>
              <p:spPr bwMode="auto">
                <a:xfrm>
                  <a:off x="3335" y="3846"/>
                  <a:ext cx="9182" cy="1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sup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nor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g</m:t>
                                </m:r>
                              </m:fName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𝜌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 )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200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5" y="3846"/>
                  <a:ext cx="9182" cy="1160"/>
                </a:xfrm>
                <a:prstGeom prst="rect">
                  <a:avLst/>
                </a:prstGeom>
                <a:blipFill>
                  <a:blip r:embed="rId11"/>
                  <a:stretch>
                    <a:fillRect b="-363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11575" y="444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489200" y="3362960"/>
            <a:ext cx="4625340" cy="800100"/>
            <a:chOff x="3860" y="5466"/>
            <a:chExt cx="7284" cy="12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11" name="Object 27"/>
                <p:cNvSpPr txBox="1"/>
                <p:nvPr/>
              </p:nvSpPr>
              <p:spPr bwMode="auto">
                <a:xfrm>
                  <a:off x="3860" y="5466"/>
                  <a:ext cx="7284" cy="1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=4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g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𝜌</m:t>
                            </m:r>
                          </m:e>
                        </m:func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2011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60" y="5466"/>
                  <a:ext cx="7284" cy="1260"/>
                </a:xfrm>
                <a:prstGeom prst="rect">
                  <a:avLst/>
                </a:prstGeom>
                <a:blipFill>
                  <a:blip r:embed="rId12"/>
                  <a:stretch>
                    <a:fillRect b="-259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10445" y="5995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489200" y="4994275"/>
            <a:ext cx="3437255" cy="958850"/>
            <a:chOff x="3860" y="7750"/>
            <a:chExt cx="5413" cy="15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27"/>
                <p:cNvSpPr txBox="1"/>
                <p:nvPr/>
              </p:nvSpPr>
              <p:spPr bwMode="auto">
                <a:xfrm>
                  <a:off x="3860" y="7750"/>
                  <a:ext cx="5413" cy="15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=4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g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𝜌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∙</m:t>
                        </m:r>
                        <m:f>
                          <m:f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60" y="7750"/>
                  <a:ext cx="5413" cy="15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7367" y="825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489200" y="5877560"/>
            <a:ext cx="2224405" cy="535305"/>
            <a:chOff x="3860" y="9036"/>
            <a:chExt cx="3503" cy="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05" name="Object 21"/>
                <p:cNvSpPr txBox="1"/>
                <p:nvPr/>
              </p:nvSpPr>
              <p:spPr bwMode="auto">
                <a:xfrm>
                  <a:off x="3860" y="9036"/>
                  <a:ext cx="3315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π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g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𝜌</m:t>
                            </m:r>
                          </m:e>
                        </m:func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2005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60" y="9036"/>
                  <a:ext cx="3315" cy="800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6695" y="9299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22"/>
              <p:cNvSpPr txBox="1"/>
              <p:nvPr/>
            </p:nvSpPr>
            <p:spPr bwMode="auto">
              <a:xfrm>
                <a:off x="4207827" y="1046962"/>
                <a:ext cx="4021659" cy="5977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en-US" altLang="zh-CN" sz="28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=2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g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 )</m:t>
                          </m:r>
                          <m:rad>
                            <m:radPr>
                              <m:degHide m:val="on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fName>
                        <m:e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7827" y="1046962"/>
                <a:ext cx="4021659" cy="597714"/>
              </a:xfrm>
              <a:prstGeom prst="rect">
                <a:avLst/>
              </a:prstGeom>
              <a:blipFill>
                <a:blip r:embed="rId15"/>
                <a:stretch>
                  <a:fillRect r="-178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片包含 图表&#10;&#10;描述已自动生成">
            <a:extLst>
              <a:ext uri="{FF2B5EF4-FFF2-40B4-BE49-F238E27FC236}">
                <a16:creationId xmlns:a16="http://schemas.microsoft.com/office/drawing/2014/main" id="{952AB1A7-EF0D-6DF6-CB25-4FB93EDAA2F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557" y="2016205"/>
            <a:ext cx="2185986" cy="2138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/>
      <p:bldP spid="41995" grpId="1"/>
      <p:bldP spid="41997" grpId="0"/>
      <p:bldP spid="41997" grpId="1"/>
      <p:bldP spid="41998" grpId="0"/>
      <p:bldP spid="41998" grpId="1"/>
      <p:bldP spid="42000" grpId="0"/>
      <p:bldP spid="42000" grpId="1"/>
      <p:bldP spid="42003" grpId="0"/>
      <p:bldP spid="42003" grpId="1"/>
      <p:bldP spid="42004" grpId="0" animBg="1"/>
      <p:bldP spid="42004" grpId="1" animBg="1"/>
      <p:bldP spid="19" grpId="0"/>
      <p:bldP spid="19" grpId="1"/>
      <p:bldP spid="2" grpId="0"/>
      <p:bldP spid="2" grpId="1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1810199" y="680718"/>
            <a:ext cx="3042920" cy="668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三、引力</a:t>
            </a:r>
          </a:p>
        </p:txBody>
      </p:sp>
      <p:sp>
        <p:nvSpPr>
          <p:cNvPr id="67" name="文本框 66"/>
          <p:cNvSpPr txBox="1"/>
          <p:nvPr/>
        </p:nvSpPr>
        <p:spPr bwMode="auto">
          <a:xfrm>
            <a:off x="1810199" y="1800235"/>
            <a:ext cx="10005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回顾</a:t>
            </a:r>
            <a:r>
              <a:rPr kumimoji="1" lang="en-US" altLang="zh-CN" sz="2800" dirty="0">
                <a:solidFill>
                  <a:srgbClr val="037051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037051"/>
              </a:solidFill>
              <a:latin typeface="+mn-ea"/>
            </a:endParaRPr>
          </a:p>
        </p:txBody>
      </p:sp>
      <p:sp>
        <p:nvSpPr>
          <p:cNvPr id="69" name="文本框 68"/>
          <p:cNvSpPr txBox="1"/>
          <p:nvPr/>
        </p:nvSpPr>
        <p:spPr bwMode="auto">
          <a:xfrm>
            <a:off x="1810199" y="4669310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问题：</a:t>
            </a:r>
          </a:p>
        </p:txBody>
      </p:sp>
      <p:sp>
        <p:nvSpPr>
          <p:cNvPr id="70" name="文本框 69"/>
          <p:cNvSpPr txBox="1"/>
          <p:nvPr/>
        </p:nvSpPr>
        <p:spPr bwMode="auto">
          <a:xfrm>
            <a:off x="1810199" y="5590548"/>
            <a:ext cx="28039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解决方法</a:t>
            </a:r>
            <a:r>
              <a:rPr kumimoji="1" lang="en-US" altLang="zh-CN" sz="2800" dirty="0">
                <a:solidFill>
                  <a:srgbClr val="037051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微元法</a:t>
            </a:r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2830080" y="4669310"/>
            <a:ext cx="533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求物体对质点的引力.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2830080" y="2740023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大小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2830080" y="3744593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方向: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3914315" y="3744593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沿两质点的连线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30009" y="1812923"/>
            <a:ext cx="6359525" cy="540385"/>
            <a:chOff x="3931" y="2695"/>
            <a:chExt cx="10015" cy="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对象 67"/>
                <p:cNvSpPr txBox="1"/>
                <p:nvPr/>
              </p:nvSpPr>
              <p:spPr>
                <a:xfrm>
                  <a:off x="3931" y="2695"/>
                  <a:ext cx="9495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质量分别为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的质点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相距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对象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" y="2695"/>
                  <a:ext cx="9495" cy="700"/>
                </a:xfrm>
                <a:prstGeom prst="rect">
                  <a:avLst/>
                </a:prstGeom>
                <a:blipFill>
                  <a:blip r:embed="rId5"/>
                  <a:stretch>
                    <a:fillRect b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13655" y="2722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914589" y="2607943"/>
            <a:ext cx="3089910" cy="901700"/>
            <a:chOff x="5639" y="3947"/>
            <a:chExt cx="4866" cy="14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8"/>
                <p:cNvSpPr txBox="1"/>
                <p:nvPr/>
              </p:nvSpPr>
              <p:spPr bwMode="auto">
                <a:xfrm>
                  <a:off x="5639" y="3947"/>
                  <a:ext cx="4866" cy="14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9" y="3947"/>
                  <a:ext cx="4866" cy="142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8803" y="4276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59626" y="1803398"/>
            <a:ext cx="3715194" cy="626745"/>
            <a:chOff x="12168" y="2680"/>
            <a:chExt cx="4962" cy="9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对象 65"/>
                <p:cNvSpPr txBox="1"/>
                <p:nvPr/>
              </p:nvSpPr>
              <p:spPr>
                <a:xfrm>
                  <a:off x="12168" y="2680"/>
                  <a:ext cx="362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二者间的引力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: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6" name="对象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68" y="2680"/>
                  <a:ext cx="3620" cy="640"/>
                </a:xfrm>
                <a:prstGeom prst="rect">
                  <a:avLst/>
                </a:prstGeom>
                <a:blipFill>
                  <a:blip r:embed="rId7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16883" y="2843"/>
              <a:ext cx="247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pic>
        <p:nvPicPr>
          <p:cNvPr id="20" name="图片 19" descr="图表, 折线图&#10;&#10;描述已自动生成">
            <a:extLst>
              <a:ext uri="{FF2B5EF4-FFF2-40B4-BE49-F238E27FC236}">
                <a16:creationId xmlns:a16="http://schemas.microsoft.com/office/drawing/2014/main" id="{E3915282-2F3A-3596-6C57-DC6B1FB8D61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89" y="2982022"/>
            <a:ext cx="2812318" cy="1783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7" grpId="0"/>
      <p:bldP spid="67" grpId="1"/>
      <p:bldP spid="69" grpId="0"/>
      <p:bldP spid="69" grpId="1"/>
      <p:bldP spid="70" grpId="0"/>
      <p:bldP spid="70" grpId="1"/>
      <p:bldP spid="74" grpId="0"/>
      <p:bldP spid="74" grpId="1"/>
      <p:bldP spid="12" grpId="0"/>
      <p:bldP spid="12" grpId="1"/>
      <p:bldP spid="14" grpId="0"/>
      <p:bldP spid="14" grpId="1"/>
      <p:bldP spid="15" grpId="0"/>
      <p:bldP spid="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2102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2102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210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4740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2753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/>
        </p:nvSpPr>
        <p:spPr>
          <a:xfrm>
            <a:off x="1607820" y="715645"/>
            <a:ext cx="9080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例5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0" name="Text Box 6"/>
              <p:cNvSpPr txBox="1">
                <a:spLocks noChangeArrowheads="1"/>
              </p:cNvSpPr>
              <p:nvPr/>
            </p:nvSpPr>
            <p:spPr bwMode="auto">
              <a:xfrm>
                <a:off x="2498725" y="726532"/>
                <a:ext cx="73152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设有一长度为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线密度为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𝜇</m:t>
                    </m:r>
                  </m:oMath>
                </a14:m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的均匀细直棒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639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8725" y="726532"/>
                <a:ext cx="7315200" cy="521970"/>
              </a:xfrm>
              <a:prstGeom prst="rect">
                <a:avLst/>
              </a:prstGeom>
              <a:blipFill>
                <a:blip r:embed="rId4"/>
                <a:stretch>
                  <a:fillRect l="-1750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4" name="Text Box 10"/>
              <p:cNvSpPr txBox="1">
                <a:spLocks noChangeArrowheads="1"/>
              </p:cNvSpPr>
              <p:nvPr/>
            </p:nvSpPr>
            <p:spPr bwMode="auto">
              <a:xfrm>
                <a:off x="2498725" y="1279617"/>
                <a:ext cx="84065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线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上距棒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单位处有一质量为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的质点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M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639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8725" y="1279617"/>
                <a:ext cx="8406584" cy="523220"/>
              </a:xfrm>
              <a:prstGeom prst="rect">
                <a:avLst/>
              </a:prstGeom>
              <a:blipFill>
                <a:blip r:embed="rId5"/>
                <a:stretch>
                  <a:fillRect l="-1523" t="-17442" b="-302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2498725" y="1806575"/>
            <a:ext cx="4648200" cy="5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该棒对质点的引力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1645920" y="2315528"/>
            <a:ext cx="3962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   </a:t>
            </a:r>
            <a:r>
              <a:rPr kumimoji="1" lang="en-US" altLang="zh-CN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建立坐标系如图.</a:t>
            </a:r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4721225" y="2373539"/>
            <a:ext cx="2514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细棒上小段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429" name="Text Box 45"/>
          <p:cNvSpPr txBox="1">
            <a:spLocks noChangeArrowheads="1"/>
          </p:cNvSpPr>
          <p:nvPr/>
        </p:nvSpPr>
        <p:spPr bwMode="auto">
          <a:xfrm>
            <a:off x="3861708" y="2895918"/>
            <a:ext cx="3505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对质点的引力大小为</a:t>
            </a:r>
          </a:p>
        </p:txBody>
      </p:sp>
      <p:sp>
        <p:nvSpPr>
          <p:cNvPr id="16437" name="Text Box 53"/>
          <p:cNvSpPr txBox="1">
            <a:spLocks noChangeArrowheads="1"/>
          </p:cNvSpPr>
          <p:nvPr/>
        </p:nvSpPr>
        <p:spPr bwMode="auto">
          <a:xfrm>
            <a:off x="2568575" y="4148366"/>
            <a:ext cx="3200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故垂直分力元素为</a:t>
            </a:r>
          </a:p>
        </p:txBody>
      </p:sp>
      <p:pic>
        <p:nvPicPr>
          <p:cNvPr id="23" name="图片 22"/>
          <p:cNvPicPr>
            <a:picLocks noChangeAspect="1" noChangeArrowheads="1"/>
          </p:cNvPicPr>
          <p:nvPr/>
        </p:nvPicPr>
        <p:blipFill>
          <a:blip r:embed="rId6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295" y="5155098"/>
            <a:ext cx="1140460" cy="74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460" name="Text Box 76"/>
          <p:cNvSpPr txBox="1">
            <a:spLocks noChangeArrowheads="1"/>
          </p:cNvSpPr>
          <p:nvPr/>
        </p:nvSpPr>
        <p:spPr bwMode="auto">
          <a:xfrm>
            <a:off x="9027794" y="719409"/>
            <a:ext cx="283009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在其中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461" name="Text Box 77"/>
          <p:cNvSpPr txBox="1">
            <a:spLocks noChangeArrowheads="1"/>
          </p:cNvSpPr>
          <p:nvPr/>
        </p:nvSpPr>
        <p:spPr bwMode="auto">
          <a:xfrm>
            <a:off x="9392285" y="1266350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试计算</a:t>
            </a:r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640404"/>
              </p:ext>
            </p:extLst>
          </p:nvPr>
        </p:nvGraphicFramePr>
        <p:xfrm>
          <a:off x="8670926" y="3195909"/>
          <a:ext cx="225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800" imgH="317500" progId="Equation.3">
                  <p:embed/>
                </p:oleObj>
              </mc:Choice>
              <mc:Fallback>
                <p:oleObj name="Equation" r:id="rId7" imgW="304800" imgH="317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biLevel thresh="50000"/>
                        <a:lum bright="-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0926" y="3195909"/>
                        <a:ext cx="225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65"/>
          <p:cNvSpPr>
            <a:spLocks noChangeArrowheads="1"/>
          </p:cNvSpPr>
          <p:nvPr/>
        </p:nvSpPr>
        <p:spPr bwMode="auto">
          <a:xfrm>
            <a:off x="8488363" y="3080022"/>
            <a:ext cx="411162" cy="48101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568575" y="2896235"/>
            <a:ext cx="1654810" cy="462915"/>
            <a:chOff x="3205" y="4501"/>
            <a:chExt cx="2606" cy="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47"/>
                <p:cNvSpPr txBox="1"/>
                <p:nvPr/>
              </p:nvSpPr>
              <p:spPr bwMode="auto">
                <a:xfrm>
                  <a:off x="3205" y="4501"/>
                  <a:ext cx="2606" cy="6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05" y="4501"/>
                  <a:ext cx="2606" cy="673"/>
                </a:xfrm>
                <a:prstGeom prst="rect">
                  <a:avLst/>
                </a:prstGeom>
                <a:blipFill rotWithShape="1">
                  <a:blip r:embed="rId3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/>
            <p:cNvSpPr txBox="1"/>
            <p:nvPr/>
          </p:nvSpPr>
          <p:spPr>
            <a:xfrm>
              <a:off x="5127" y="4650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31" name="Object 47"/>
              <p:cNvSpPr txBox="1"/>
              <p:nvPr/>
            </p:nvSpPr>
            <p:spPr bwMode="auto">
              <a:xfrm>
                <a:off x="2849880" y="3497199"/>
                <a:ext cx="2400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</m:func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𝐺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       </m:t>
                          </m:r>
                        </m:num>
                        <m:den>
                          <m: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431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9880" y="3497199"/>
                <a:ext cx="2400300" cy="927100"/>
              </a:xfrm>
              <a:prstGeom prst="rect">
                <a:avLst/>
              </a:prstGeom>
              <a:blipFill>
                <a:blip r:embed="rId34"/>
                <a:stretch>
                  <a:fillRect l="-5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组合 54"/>
          <p:cNvGrpSpPr/>
          <p:nvPr/>
        </p:nvGrpSpPr>
        <p:grpSpPr>
          <a:xfrm>
            <a:off x="3935752" y="3394875"/>
            <a:ext cx="1076325" cy="391795"/>
            <a:chOff x="5304" y="5292"/>
            <a:chExt cx="1695" cy="617"/>
          </a:xfrm>
        </p:grpSpPr>
        <p:pic>
          <p:nvPicPr>
            <p:cNvPr id="27" name="图片 26"/>
            <p:cNvPicPr>
              <a:picLocks noChangeAspect="1" noChangeArrowheads="1"/>
            </p:cNvPicPr>
            <p:nvPr/>
          </p:nvPicPr>
          <p:blipFill>
            <a:blip r:embed="rId35">
              <a:biLevel thresh="50000"/>
              <a:lum bright="-100000" contrast="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4" y="5292"/>
              <a:ext cx="1234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3" name="文本框 52"/>
            <p:cNvSpPr txBox="1"/>
            <p:nvPr/>
          </p:nvSpPr>
          <p:spPr>
            <a:xfrm>
              <a:off x="6511" y="532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28" name="图片 27"/>
          <p:cNvPicPr>
            <a:picLocks noChangeAspect="1" noChangeArrowheads="1"/>
          </p:cNvPicPr>
          <p:nvPr/>
        </p:nvPicPr>
        <p:blipFill>
          <a:blip r:embed="rId36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245" y="3751645"/>
            <a:ext cx="833120" cy="335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9" name="组合 58"/>
          <p:cNvGrpSpPr/>
          <p:nvPr/>
        </p:nvGrpSpPr>
        <p:grpSpPr>
          <a:xfrm>
            <a:off x="3418205" y="5137521"/>
            <a:ext cx="2428875" cy="889000"/>
            <a:chOff x="4623" y="8173"/>
            <a:chExt cx="3825" cy="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50" name="Object 66"/>
                <p:cNvSpPr txBox="1"/>
                <p:nvPr/>
              </p:nvSpPr>
              <p:spPr bwMode="auto">
                <a:xfrm>
                  <a:off x="4623" y="8173"/>
                  <a:ext cx="3825" cy="1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𝜇</m:t>
                            </m:r>
                            <m:r>
                              <m:rPr>
                                <m:nor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50" name="Object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3" y="8173"/>
                  <a:ext cx="3825" cy="140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文本框 57"/>
            <p:cNvSpPr txBox="1"/>
            <p:nvPr/>
          </p:nvSpPr>
          <p:spPr>
            <a:xfrm>
              <a:off x="7428" y="856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642213" y="5139314"/>
            <a:ext cx="3121660" cy="1066800"/>
            <a:chOff x="9678" y="8160"/>
            <a:chExt cx="4916" cy="1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52" name="Object 68"/>
                <p:cNvSpPr txBox="1"/>
                <p:nvPr/>
              </p:nvSpPr>
              <p:spPr bwMode="auto">
                <a:xfrm>
                  <a:off x="9678" y="8160"/>
                  <a:ext cx="4917" cy="1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𝐺𝑚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en-US" altLang="zh-CN" sz="22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52" name="Object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78" y="8160"/>
                  <a:ext cx="4917" cy="168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文本框 59"/>
            <p:cNvSpPr txBox="1"/>
            <p:nvPr/>
          </p:nvSpPr>
          <p:spPr>
            <a:xfrm>
              <a:off x="13787" y="856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54"/>
              <p:cNvSpPr txBox="1"/>
              <p:nvPr/>
            </p:nvSpPr>
            <p:spPr bwMode="auto">
              <a:xfrm>
                <a:off x="2859133" y="4730339"/>
                <a:ext cx="25781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8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133" y="4730339"/>
                <a:ext cx="2578100" cy="508000"/>
              </a:xfrm>
              <a:prstGeom prst="rect">
                <a:avLst/>
              </a:prstGeom>
              <a:blipFill>
                <a:blip r:embed="rId39"/>
                <a:stretch>
                  <a:fillRect l="-2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表&#10;&#10;描述已自动生成">
            <a:extLst>
              <a:ext uri="{FF2B5EF4-FFF2-40B4-BE49-F238E27FC236}">
                <a16:creationId xmlns:a16="http://schemas.microsoft.com/office/drawing/2014/main" id="{6384543B-7FC2-B076-0386-C581DC1141C0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378" y="2161724"/>
            <a:ext cx="2744283" cy="2686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90" grpId="0"/>
      <p:bldP spid="16394" grpId="0"/>
      <p:bldP spid="16394" grpId="1"/>
      <p:bldP spid="16399" grpId="0"/>
      <p:bldP spid="16399" grpId="1"/>
      <p:bldP spid="16400" grpId="0"/>
      <p:bldP spid="16400" grpId="1"/>
      <p:bldP spid="16428" grpId="0"/>
      <p:bldP spid="16428" grpId="1"/>
      <p:bldP spid="16429" grpId="0"/>
      <p:bldP spid="16429" grpId="1"/>
      <p:bldP spid="16437" grpId="1"/>
      <p:bldP spid="16437" grpId="2"/>
      <p:bldP spid="16460" grpId="0"/>
      <p:bldP spid="16461" grpId="0" animBg="1"/>
      <p:bldP spid="16461" grpId="1" animBg="1"/>
      <p:bldP spid="16431" grpId="0" bldLvl="0" animBg="1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sp>
          <p:nvSpPr>
            <p:cNvPr id="27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7709388" y="4247096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利用对称性</a:t>
            </a: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2004606" y="4850407"/>
            <a:ext cx="42673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棒对质点引力的水平分力</a:t>
            </a: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653" y="4892867"/>
            <a:ext cx="1261576" cy="501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536" name="Text Box 128"/>
          <p:cNvSpPr txBox="1">
            <a:spLocks noChangeArrowheads="1"/>
          </p:cNvSpPr>
          <p:nvPr/>
        </p:nvSpPr>
        <p:spPr bwMode="auto">
          <a:xfrm>
            <a:off x="2004765" y="404514"/>
            <a:ext cx="49311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fontAlgn="base" latinLnBrk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棒对质点的引力的垂直分力为 </a:t>
            </a:r>
          </a:p>
        </p:txBody>
      </p:sp>
      <p:sp>
        <p:nvSpPr>
          <p:cNvPr id="13" name="Text Box 113"/>
          <p:cNvSpPr txBox="1">
            <a:spLocks noChangeArrowheads="1"/>
          </p:cNvSpPr>
          <p:nvPr/>
        </p:nvSpPr>
        <p:spPr bwMode="auto">
          <a:xfrm>
            <a:off x="2004765" y="5610861"/>
            <a:ext cx="426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fontAlgn="base" latinLnBrk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故棒对质点的引力大小为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3276" y="7291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41" name="Object 33"/>
              <p:cNvSpPr txBox="1"/>
              <p:nvPr/>
            </p:nvSpPr>
            <p:spPr bwMode="auto">
              <a:xfrm>
                <a:off x="2040166" y="927734"/>
                <a:ext cx="4895757" cy="13877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=−2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𝐺𝑚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𝜇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nary>
                        <m:nary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𝑙</m:t>
                              </m:r>
                            </m:num>
                            <m:den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en-US" altLang="zh-CN" sz="28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type m:val="skw"/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800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1" lang="en-US" altLang="zh-CN" sz="2800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44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0166" y="927734"/>
                <a:ext cx="4895757" cy="138779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6" name="Object 38"/>
              <p:cNvSpPr txBox="1"/>
              <p:nvPr/>
            </p:nvSpPr>
            <p:spPr bwMode="auto">
              <a:xfrm>
                <a:off x="2452916" y="2311222"/>
                <a:ext cx="4138384" cy="1370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𝐺𝑚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𝜇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bSup>
                        <m:sSub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800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1" lang="en-US" altLang="zh-CN" sz="2800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𝑙</m:t>
                              </m:r>
                            </m:num>
                            <m:den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</m:m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446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2916" y="2311222"/>
                <a:ext cx="4138384" cy="137064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7" name="Object 39"/>
              <p:cNvSpPr txBox="1"/>
              <p:nvPr/>
            </p:nvSpPr>
            <p:spPr bwMode="auto">
              <a:xfrm>
                <a:off x="2494190" y="3846513"/>
                <a:ext cx="3573463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𝐺𝑚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44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4190" y="3846513"/>
                <a:ext cx="3573463" cy="9398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5990819" y="5418435"/>
            <a:ext cx="3997960" cy="1191895"/>
            <a:chOff x="8109" y="8423"/>
            <a:chExt cx="6296" cy="1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10"/>
                <p:cNvSpPr txBox="1"/>
                <p:nvPr/>
              </p:nvSpPr>
              <p:spPr bwMode="auto">
                <a:xfrm>
                  <a:off x="8109" y="8423"/>
                  <a:ext cx="6296" cy="18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𝐺𝑚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𝜇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𝑙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den>
                        </m:f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Object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09" y="8423"/>
                  <a:ext cx="6296" cy="18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12122" y="8923"/>
              <a:ext cx="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2EDC834-9F54-646B-BD45-115670CE9370}"/>
              </a:ext>
            </a:extLst>
          </p:cNvPr>
          <p:cNvGrpSpPr/>
          <p:nvPr/>
        </p:nvGrpSpPr>
        <p:grpSpPr>
          <a:xfrm>
            <a:off x="244554" y="195131"/>
            <a:ext cx="11695446" cy="6483184"/>
            <a:chOff x="244554" y="195131"/>
            <a:chExt cx="11695446" cy="6483184"/>
          </a:xfrm>
        </p:grpSpPr>
        <p:sp>
          <p:nvSpPr>
            <p:cNvPr id="48" name="Rectangle 1">
              <a:extLst>
                <a:ext uri="{FF2B5EF4-FFF2-40B4-BE49-F238E27FC236}">
                  <a16:creationId xmlns:a16="http://schemas.microsoft.com/office/drawing/2014/main" id="{2B55AC9E-0CCE-E7EA-9CC6-63429E6DDBD8}"/>
                </a:ext>
              </a:extLst>
            </p:cNvPr>
            <p:cNvSpPr/>
            <p:nvPr/>
          </p:nvSpPr>
          <p:spPr>
            <a:xfrm>
              <a:off x="297498" y="648253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1">
              <a:extLst>
                <a:ext uri="{FF2B5EF4-FFF2-40B4-BE49-F238E27FC236}">
                  <a16:creationId xmlns:a16="http://schemas.microsoft.com/office/drawing/2014/main" id="{0017DEBE-C7A8-C740-1307-BFC1F83323CB}"/>
                </a:ext>
              </a:extLst>
            </p:cNvPr>
            <p:cNvSpPr/>
            <p:nvPr/>
          </p:nvSpPr>
          <p:spPr>
            <a:xfrm rot="2659048">
              <a:off x="9614893" y="278465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D0FC982-4AC0-DC39-99F8-A65B05CB9F6F}"/>
                </a:ext>
              </a:extLst>
            </p:cNvPr>
            <p:cNvSpPr/>
            <p:nvPr/>
          </p:nvSpPr>
          <p:spPr>
            <a:xfrm>
              <a:off x="476828" y="6371610"/>
              <a:ext cx="27774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定积分在物理学上的应用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8C06E05-191D-ABE4-477C-9632E74C7918}"/>
                </a:ext>
              </a:extLst>
            </p:cNvPr>
            <p:cNvSpPr/>
            <p:nvPr/>
          </p:nvSpPr>
          <p:spPr>
            <a:xfrm>
              <a:off x="9870065" y="195131"/>
              <a:ext cx="19411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定积分的应用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8C60115-806E-DE6F-5EC8-1EFD6D2034CA}"/>
                </a:ext>
              </a:extLst>
            </p:cNvPr>
            <p:cNvCxnSpPr/>
            <p:nvPr/>
          </p:nvCxnSpPr>
          <p:spPr>
            <a:xfrm>
              <a:off x="244554" y="350879"/>
              <a:ext cx="9036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215C218-141C-3FAF-6E1B-39E1C1E49FB9}"/>
                </a:ext>
              </a:extLst>
            </p:cNvPr>
            <p:cNvCxnSpPr/>
            <p:nvPr/>
          </p:nvCxnSpPr>
          <p:spPr>
            <a:xfrm>
              <a:off x="3408000" y="6517754"/>
              <a:ext cx="85320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E83B627A-6CF0-0078-4CA7-8415FC543E0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743" y="1549480"/>
            <a:ext cx="2527725" cy="2474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0" grpId="0"/>
      <p:bldP spid="17440" grpId="1"/>
      <p:bldP spid="17449" grpId="0"/>
      <p:bldP spid="17449" grpId="1"/>
      <p:bldP spid="17536" grpId="0"/>
      <p:bldP spid="13" grpId="0" animBg="1"/>
      <p:bldP spid="13" grpId="1" animBg="1"/>
      <p:bldP spid="17441" grpId="0"/>
      <p:bldP spid="17446" grpId="0"/>
      <p:bldP spid="174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64" name="Text Box 8"/>
              <p:cNvSpPr txBox="1">
                <a:spLocks noChangeArrowheads="1"/>
              </p:cNvSpPr>
              <p:nvPr/>
            </p:nvSpPr>
            <p:spPr bwMode="auto">
              <a:xfrm>
                <a:off x="1617980" y="2442309"/>
                <a:ext cx="722020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（2）</a:t>
                </a: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若考虑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质点克服引力沿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轴从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</a:t>
                </a:r>
              </a:p>
            </p:txBody>
          </p:sp>
        </mc:Choice>
        <mc:Fallback xmlns="">
          <p:sp>
            <p:nvSpPr>
              <p:cNvPr id="4506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7980" y="2442309"/>
                <a:ext cx="7220207" cy="523220"/>
              </a:xfrm>
              <a:prstGeom prst="rect">
                <a:avLst/>
              </a:prstGeom>
              <a:blipFill>
                <a:blip r:embed="rId12"/>
                <a:stretch>
                  <a:fillRect l="-1688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6" name="Text Box 10"/>
              <p:cNvSpPr txBox="1">
                <a:spLocks noChangeArrowheads="1"/>
              </p:cNvSpPr>
              <p:nvPr/>
            </p:nvSpPr>
            <p:spPr bwMode="auto">
              <a:xfrm>
                <a:off x="1617980" y="551815"/>
                <a:ext cx="801243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（1） 当细棒很长时，可视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为无穷大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</a:t>
                </a:r>
              </a:p>
            </p:txBody>
          </p:sp>
        </mc:Choice>
        <mc:Fallback xmlns="">
          <p:sp>
            <p:nvSpPr>
              <p:cNvPr id="4506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7980" y="551815"/>
                <a:ext cx="8012430" cy="521970"/>
              </a:xfrm>
              <a:prstGeom prst="rect">
                <a:avLst/>
              </a:prstGeom>
              <a:blipFill>
                <a:blip r:embed="rId13"/>
                <a:stretch>
                  <a:fillRect l="-1521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7" name="Text Box 11"/>
          <p:cNvSpPr txBox="1">
            <a:spLocks noChangeArrowheads="1"/>
          </p:cNvSpPr>
          <p:nvPr/>
        </p:nvSpPr>
        <p:spPr bwMode="auto">
          <a:xfrm>
            <a:off x="2623125" y="1177071"/>
            <a:ext cx="2673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此时引力大小为</a:t>
            </a:r>
          </a:p>
        </p:txBody>
      </p:sp>
      <p:sp>
        <p:nvSpPr>
          <p:cNvPr id="45068" name="Text Box 12"/>
          <p:cNvSpPr txBox="1">
            <a:spLocks noChangeArrowheads="1"/>
          </p:cNvSpPr>
          <p:nvPr/>
        </p:nvSpPr>
        <p:spPr bwMode="auto">
          <a:xfrm>
            <a:off x="2623125" y="1832709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方向与细棒垂直且指向细棒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9" name="Text Box 13"/>
              <p:cNvSpPr txBox="1">
                <a:spLocks noChangeArrowheads="1"/>
              </p:cNvSpPr>
              <p:nvPr/>
            </p:nvSpPr>
            <p:spPr bwMode="auto">
              <a:xfrm>
                <a:off x="2575500" y="3104594"/>
                <a:ext cx="57150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移到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b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&lt;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b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)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处时克服引力作的功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506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5500" y="3104594"/>
                <a:ext cx="5715000" cy="521970"/>
              </a:xfrm>
              <a:prstGeom prst="rect">
                <a:avLst/>
              </a:prstGeom>
              <a:blipFill>
                <a:blip r:embed="rId14"/>
                <a:stretch>
                  <a:fillRect l="-2132" t="-15116" r="-3412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15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501" y="4474309"/>
            <a:ext cx="892175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图片 18"/>
          <p:cNvPicPr>
            <a:picLocks noChangeAspect="1" noChangeArrowheads="1"/>
          </p:cNvPicPr>
          <p:nvPr/>
        </p:nvPicPr>
        <p:blipFill>
          <a:blip r:embed="rId16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083" y="4490085"/>
            <a:ext cx="419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158" name="Text Box 102"/>
          <p:cNvSpPr txBox="1">
            <a:spLocks noChangeArrowheads="1"/>
          </p:cNvSpPr>
          <p:nvPr/>
        </p:nvSpPr>
        <p:spPr bwMode="auto">
          <a:xfrm>
            <a:off x="2629475" y="3762454"/>
            <a:ext cx="990600" cy="5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1122680" y="469900"/>
            <a:ext cx="612775" cy="612775"/>
            <a:chOff x="1601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文本框 9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302884" y="997585"/>
            <a:ext cx="1624965" cy="844550"/>
            <a:chOff x="8531" y="1551"/>
            <a:chExt cx="2559" cy="1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3" name="Object 7"/>
                <p:cNvSpPr txBox="1"/>
                <p:nvPr/>
              </p:nvSpPr>
              <p:spPr bwMode="auto">
                <a:xfrm>
                  <a:off x="8531" y="1551"/>
                  <a:ext cx="1865" cy="1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800" b="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5063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31" y="1551"/>
                  <a:ext cx="1865" cy="1330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10602" y="1953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110" name="Object 54"/>
              <p:cNvSpPr txBox="1"/>
              <p:nvPr/>
            </p:nvSpPr>
            <p:spPr bwMode="auto">
              <a:xfrm>
                <a:off x="3642359" y="4146550"/>
                <a:ext cx="3285490" cy="11404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en-US" altLang="zh-CN" sz="2800" b="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  <m: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zh-CN" sz="2800" b="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en-US" altLang="zh-CN" sz="2800" i="1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800" i="1" noProof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800" i="1" noProof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i="1" noProof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kumimoji="1" lang="en-US" altLang="zh-CN" sz="2800" i="1" noProof="0" dirty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en-US" altLang="zh-CN" sz="2800" i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110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2359" y="4146550"/>
                <a:ext cx="3285490" cy="114046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/>
          <p:cNvGrpSpPr/>
          <p:nvPr/>
        </p:nvGrpSpPr>
        <p:grpSpPr>
          <a:xfrm>
            <a:off x="2702560" y="5287010"/>
            <a:ext cx="4748530" cy="1012190"/>
            <a:chOff x="4236" y="8306"/>
            <a:chExt cx="7478" cy="1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115" name="Object 59"/>
                <p:cNvSpPr txBox="1"/>
                <p:nvPr/>
              </p:nvSpPr>
              <p:spPr bwMode="auto">
                <a:xfrm>
                  <a:off x="4236" y="8306"/>
                  <a:ext cx="7478" cy="15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𝑊</m:t>
                        </m:r>
                        <m:r>
                          <a:rPr kumimoji="1" lang="en-US" altLang="zh-CN" sz="2800" i="1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=−2</m:t>
                        </m:r>
                        <m:r>
                          <a:rPr kumimoji="1" lang="en-US" altLang="zh-CN" sz="2800" b="0" i="1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𝑙</m:t>
                        </m:r>
                        <m:nary>
                          <m:nary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b="0" i="1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i="1" noProof="0" dirty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nary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5115" name="Object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36" y="8306"/>
                  <a:ext cx="7478" cy="1595"/>
                </a:xfrm>
                <a:prstGeom prst="rect">
                  <a:avLst/>
                </a:prstGeom>
                <a:blipFill>
                  <a:blip r:embed="rId20"/>
                  <a:stretch>
                    <a:fillRect b="-78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11090" y="896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2" name="图片 1" descr="图表&#10;&#10;描述已自动生成">
            <a:extLst>
              <a:ext uri="{FF2B5EF4-FFF2-40B4-BE49-F238E27FC236}">
                <a16:creationId xmlns:a16="http://schemas.microsoft.com/office/drawing/2014/main" id="{3067C19F-2EE8-3C3F-2544-6C7C5D77075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123" y="2525233"/>
            <a:ext cx="2527725" cy="2474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4" grpId="0"/>
      <p:bldP spid="45064" grpId="1"/>
      <p:bldP spid="45066" grpId="0"/>
      <p:bldP spid="45066" grpId="1"/>
      <p:bldP spid="45067" grpId="0"/>
      <p:bldP spid="45067" grpId="1"/>
      <p:bldP spid="45068" grpId="0"/>
      <p:bldP spid="45068" grpId="1"/>
      <p:bldP spid="45069" grpId="0"/>
      <p:bldP spid="45069" grpId="1"/>
      <p:bldP spid="45158" grpId="0"/>
      <p:bldP spid="45158" grpId="1"/>
      <p:bldP spid="451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483" y="1373165"/>
            <a:ext cx="204470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3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758" y="1322364"/>
            <a:ext cx="5969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4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283" y="2499972"/>
            <a:ext cx="5715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90" name="Text Box 58"/>
          <p:cNvSpPr txBox="1">
            <a:spLocks noChangeArrowheads="1"/>
          </p:cNvSpPr>
          <p:nvPr/>
        </p:nvSpPr>
        <p:spPr bwMode="auto">
          <a:xfrm>
            <a:off x="1657033" y="583912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引力大小为</a:t>
            </a:r>
          </a:p>
        </p:txBody>
      </p:sp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5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920" y="5793558"/>
            <a:ext cx="2282825" cy="62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6">
            <a:biLevel thresh="50000"/>
            <a:lum bright="-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230" y="2511085"/>
            <a:ext cx="173990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518" name="Text Box 86"/>
          <p:cNvSpPr txBox="1">
            <a:spLocks noChangeArrowheads="1"/>
          </p:cNvSpPr>
          <p:nvPr/>
        </p:nvSpPr>
        <p:spPr bwMode="auto">
          <a:xfrm>
            <a:off x="744221" y="530837"/>
            <a:ext cx="63578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（3）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当质点位于棒的左端点垂线上时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837930" y="1457143"/>
            <a:ext cx="1960880" cy="521970"/>
          </a:xfrm>
          <a:prstGeom prst="rect">
            <a:avLst/>
          </a:prstGeom>
          <a:solidFill>
            <a:srgbClr val="04926A">
              <a:alpha val="42000"/>
            </a:srgbClr>
          </a:solidFill>
        </p:spPr>
        <p:txBody>
          <a:bodyPr wrap="none" rtlCol="0" anchor="t">
            <a:spAutoFit/>
          </a:bodyPr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注意正负号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209280" y="3843473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1044" y="1058998"/>
            <a:ext cx="3983355" cy="1012825"/>
            <a:chOff x="7160" y="1572"/>
            <a:chExt cx="6273" cy="1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75" name="Object 43"/>
                <p:cNvSpPr txBox="1"/>
                <p:nvPr/>
              </p:nvSpPr>
              <p:spPr bwMode="auto">
                <a:xfrm>
                  <a:off x="7160" y="1572"/>
                  <a:ext cx="5972" cy="15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800" b="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f>
                          <m:f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75" name="Object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60" y="1572"/>
                  <a:ext cx="5972" cy="159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12945" y="240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657350" y="3333568"/>
            <a:ext cx="5934710" cy="1016000"/>
            <a:chOff x="2610" y="5114"/>
            <a:chExt cx="9346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8" name="Object 56"/>
                <p:cNvSpPr txBox="1"/>
                <p:nvPr/>
              </p:nvSpPr>
              <p:spPr bwMode="auto">
                <a:xfrm>
                  <a:off x="2610" y="5114"/>
                  <a:ext cx="9347" cy="1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∴</m:t>
                        </m:r>
                        <m:r>
                          <a:rPr kumimoji="1" lang="en-US" altLang="zh-CN" sz="2800" i="1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 </m:t>
                        </m:r>
                        <m:sSub>
                          <m:sSub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sub>
                        </m:sSub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800" b="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nary>
                          <m:nary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𝑙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f>
                                      <m:fPr>
                                        <m:type m:val="skw"/>
                                        <m:ctrlP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88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0" y="5114"/>
                  <a:ext cx="9347" cy="16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10605" y="5962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01160" y="2212793"/>
            <a:ext cx="3319780" cy="1021080"/>
            <a:chOff x="6466" y="3349"/>
            <a:chExt cx="5228" cy="1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2" name="Object 50"/>
                <p:cNvSpPr txBox="1"/>
                <p:nvPr/>
              </p:nvSpPr>
              <p:spPr bwMode="auto">
                <a:xfrm>
                  <a:off x="6466" y="3349"/>
                  <a:ext cx="5228" cy="16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= </m:t>
                        </m:r>
                        <m:r>
                          <a:rPr kumimoji="1" lang="en-US" altLang="zh-CN" sz="2800" b="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f>
                          <m:f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CN" sz="2800" i="1" baseline="5000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82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66" y="3349"/>
                  <a:ext cx="5228" cy="160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11206" y="4214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324735" y="4440373"/>
            <a:ext cx="4634865" cy="1016000"/>
            <a:chOff x="3661" y="6857"/>
            <a:chExt cx="7299" cy="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9" name="Object 57"/>
                <p:cNvSpPr txBox="1"/>
                <p:nvPr/>
              </p:nvSpPr>
              <p:spPr bwMode="auto">
                <a:xfrm>
                  <a:off x="3661" y="6857"/>
                  <a:ext cx="7299" cy="1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noProof="0" dirty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b="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</m:t>
                        </m:r>
                        <m:r>
                          <a:rPr kumimoji="1" lang="en-US" altLang="zh-CN" sz="2800" i="1" noProof="0" dirty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nary>
                          <m:naryPr>
                            <m:ctrlP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800" i="1" noProof="0" dirty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𝑙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b="0" i="0" noProof="0" dirty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b="0" i="1" noProof="0" dirty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i="1" noProof="0" dirty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noProof="0" dirty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f>
                                      <m:fPr>
                                        <m:type m:val="skw"/>
                                        <m:ctrlP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sz="2800" i="1" baseline="5000" noProof="0" dirty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kumimoji="1" lang="en-US" altLang="zh-CN" sz="2800" i="1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489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61" y="6857"/>
                  <a:ext cx="7299" cy="16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10302" y="7521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9" name="图片 8" descr="图示, 示意图&#10;&#10;描述已自动生成">
            <a:extLst>
              <a:ext uri="{FF2B5EF4-FFF2-40B4-BE49-F238E27FC236}">
                <a16:creationId xmlns:a16="http://schemas.microsoft.com/office/drawing/2014/main" id="{64A792B7-C8B5-6B12-E39E-60C3413B3037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139" y="3233873"/>
            <a:ext cx="3078117" cy="2822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90" grpId="0"/>
      <p:bldP spid="18490" grpId="1"/>
      <p:bldP spid="21" grpId="0" animBg="1"/>
      <p:bldP spid="2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2325de16-d635-4f7a-bb20-e952bc0b85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1145</Words>
  <Application>Microsoft Office PowerPoint</Application>
  <PresentationFormat>宽屏</PresentationFormat>
  <Paragraphs>223</Paragraphs>
  <Slides>17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Cambria Math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554</cp:revision>
  <dcterms:created xsi:type="dcterms:W3CDTF">2022-03-21T05:54:00Z</dcterms:created>
  <dcterms:modified xsi:type="dcterms:W3CDTF">2023-07-05T07:28:11Z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ECFB72507A644289A26B5E954D7CF999</vt:lpwstr>
  </property>
  <property fmtid="{D5CDD505-2E9C-101B-9397-08002B2CF9AE}" pid="3" name="KSOProductBuildVer">
    <vt:lpwstr>2052-11.1.0.11744</vt:lpwstr>
  </property>
</Properties>
</file>