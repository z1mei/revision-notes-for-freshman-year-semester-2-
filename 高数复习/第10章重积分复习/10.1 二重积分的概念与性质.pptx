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dp" ContentType="image/vnd.ms-photo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34"/>
  </p:handoutMasterIdLst>
  <p:sldIdLst>
    <p:sldId id="257" r:id="rId3"/>
    <p:sldId id="773" r:id="rId4"/>
    <p:sldId id="774" r:id="rId5"/>
    <p:sldId id="817" r:id="rId6"/>
    <p:sldId id="663" r:id="rId7"/>
    <p:sldId id="665" r:id="rId8"/>
    <p:sldId id="706" r:id="rId10"/>
    <p:sldId id="707" r:id="rId11"/>
    <p:sldId id="708" r:id="rId12"/>
    <p:sldId id="709" r:id="rId13"/>
    <p:sldId id="710" r:id="rId14"/>
    <p:sldId id="711" r:id="rId15"/>
    <p:sldId id="664" r:id="rId16"/>
    <p:sldId id="659" r:id="rId17"/>
    <p:sldId id="660" r:id="rId18"/>
    <p:sldId id="673" r:id="rId19"/>
    <p:sldId id="657" r:id="rId20"/>
    <p:sldId id="674" r:id="rId21"/>
    <p:sldId id="675" r:id="rId22"/>
    <p:sldId id="689" r:id="rId23"/>
    <p:sldId id="691" r:id="rId24"/>
    <p:sldId id="690" r:id="rId25"/>
    <p:sldId id="694" r:id="rId26"/>
    <p:sldId id="695" r:id="rId27"/>
    <p:sldId id="696" r:id="rId28"/>
    <p:sldId id="697" r:id="rId29"/>
    <p:sldId id="698" r:id="rId30"/>
    <p:sldId id="701" r:id="rId31"/>
    <p:sldId id="699" r:id="rId32"/>
    <p:sldId id="364" r:id="rId33"/>
  </p:sldIdLst>
  <p:sldSz cx="12192000" cy="6858000"/>
  <p:notesSz cx="9928225" cy="67976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4A7BA8"/>
    <a:srgbClr val="CC6600"/>
    <a:srgbClr val="66CCFF"/>
    <a:srgbClr val="BBBBBB"/>
    <a:srgbClr val="A9D18E"/>
    <a:srgbClr val="CDE9E1"/>
    <a:srgbClr val="0000FF"/>
    <a:srgbClr val="99FF99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474" autoAdjust="0"/>
  </p:normalViewPr>
  <p:slideViewPr>
    <p:cSldViewPr snapToGrid="0">
      <p:cViewPr varScale="1">
        <p:scale>
          <a:sx n="123" d="100"/>
          <a:sy n="123" d="100"/>
        </p:scale>
        <p:origin x="6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D3AAC4-AEC9-45B6-8129-7AC04A374C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B50E2-0B44-4175-B25E-BDF40D2119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E2628-425B-4711-85D1-DD3DDE2BDF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5AC77-7EE5-47C0-B214-037F908F1CB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15AC77-7EE5-47C0-B214-037F908F1C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523D05-538F-467B-BE20-BD6FCD31A6D7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2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697163" y="509588"/>
            <a:ext cx="4533900" cy="2549525"/>
          </a:xfrm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fontAlgn="auto">
              <a:lnSpc>
                <a:spcPct val="300000"/>
              </a:lnSpc>
              <a:defRPr sz="4400" b="1" baseline="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棱台 15"/>
          <p:cNvSpPr/>
          <p:nvPr userDrawn="1"/>
        </p:nvSpPr>
        <p:spPr>
          <a:xfrm>
            <a:off x="1" y="-27160"/>
            <a:ext cx="540000" cy="6885160"/>
          </a:xfrm>
          <a:prstGeom prst="bevel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dirty="0"/>
          </a:p>
          <a:p>
            <a:pPr algn="ctr"/>
            <a:endParaRPr lang="zh-CN" altLang="en-US" sz="2800" b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 b="0"/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 b="1"/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 userDrawn="1"/>
        </p:nvSpPr>
        <p:spPr>
          <a:xfrm>
            <a:off x="297498" y="6596180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/>
          <p:cNvSpPr/>
          <p:nvPr userDrawn="1"/>
        </p:nvSpPr>
        <p:spPr>
          <a:xfrm rot="2659048">
            <a:off x="10336888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476828" y="6483030"/>
            <a:ext cx="26244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  二重积分的概念与性质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592060" y="112357"/>
            <a:ext cx="13676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第十章  重积分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-1" y="248584"/>
            <a:ext cx="10152000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3162299" y="6636918"/>
            <a:ext cx="903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9.jpeg"/><Relationship Id="rId4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oleObject" Target="../embeddings/oleObject2.bin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oleObject" Target="../embeddings/oleObject3.bin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oleObject" Target="../embeddings/oleObject4.bin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jpe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6.jpe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6.jpe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8.jpe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tags" Target="../tags/tag1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9.png"/><Relationship Id="rId7" Type="http://schemas.openxmlformats.org/officeDocument/2006/relationships/image" Target="../media/image48.png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tags" Target="../tags/tag13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0.png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tags" Target="../tags/tag1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png"/><Relationship Id="rId8" Type="http://schemas.openxmlformats.org/officeDocument/2006/relationships/image" Target="../media/image68.png"/><Relationship Id="rId7" Type="http://schemas.openxmlformats.org/officeDocument/2006/relationships/image" Target="../media/image67.png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71.png"/><Relationship Id="rId10" Type="http://schemas.openxmlformats.org/officeDocument/2006/relationships/image" Target="../media/image70.png"/><Relationship Id="rId1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tags" Target="../tags/tag15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78.png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tags" Target="../tags/tag1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89.png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tags" Target="../tags/tag17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tags" Target="../tags/tag18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png"/><Relationship Id="rId8" Type="http://schemas.openxmlformats.org/officeDocument/2006/relationships/image" Target="../media/image101.png"/><Relationship Id="rId7" Type="http://schemas.openxmlformats.org/officeDocument/2006/relationships/image" Target="../media/image100.png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03.png"/><Relationship Id="rId1" Type="http://schemas.openxmlformats.org/officeDocument/2006/relationships/image" Target="../media/image94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1.png"/><Relationship Id="rId7" Type="http://schemas.openxmlformats.org/officeDocument/2006/relationships/image" Target="../media/image110.png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9.png"/><Relationship Id="rId8" Type="http://schemas.openxmlformats.org/officeDocument/2006/relationships/image" Target="../media/image118.png"/><Relationship Id="rId7" Type="http://schemas.openxmlformats.org/officeDocument/2006/relationships/image" Target="../media/image117.png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Relationship Id="rId3" Type="http://schemas.openxmlformats.org/officeDocument/2006/relationships/image" Target="../media/image113.png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130.png"/><Relationship Id="rId2" Type="http://schemas.openxmlformats.org/officeDocument/2006/relationships/image" Target="../media/image112.png"/><Relationship Id="rId19" Type="http://schemas.openxmlformats.org/officeDocument/2006/relationships/image" Target="../media/image129.png"/><Relationship Id="rId18" Type="http://schemas.openxmlformats.org/officeDocument/2006/relationships/image" Target="../media/image128.png"/><Relationship Id="rId17" Type="http://schemas.openxmlformats.org/officeDocument/2006/relationships/image" Target="../media/image127.png"/><Relationship Id="rId16" Type="http://schemas.openxmlformats.org/officeDocument/2006/relationships/image" Target="../media/image126.png"/><Relationship Id="rId15" Type="http://schemas.openxmlformats.org/officeDocument/2006/relationships/image" Target="../media/image125.png"/><Relationship Id="rId14" Type="http://schemas.openxmlformats.org/officeDocument/2006/relationships/image" Target="../media/image124.png"/><Relationship Id="rId13" Type="http://schemas.openxmlformats.org/officeDocument/2006/relationships/image" Target="../media/image123.png"/><Relationship Id="rId12" Type="http://schemas.openxmlformats.org/officeDocument/2006/relationships/image" Target="../media/image122.png"/><Relationship Id="rId11" Type="http://schemas.openxmlformats.org/officeDocument/2006/relationships/image" Target="../media/image121.png"/><Relationship Id="rId10" Type="http://schemas.openxmlformats.org/officeDocument/2006/relationships/image" Target="../media/image120.png"/><Relationship Id="rId1" Type="http://schemas.openxmlformats.org/officeDocument/2006/relationships/image" Target="../media/image10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  <a:endParaRPr lang="zh-CN" altLang="en-US" sz="2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1399663" y="4118384"/>
            <a:ext cx="2469515" cy="1557020"/>
            <a:chOff x="3032" y="6990"/>
            <a:chExt cx="3889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3965" y="6486"/>
              <a:ext cx="2023" cy="388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3338" y="6990"/>
              <a:ext cx="3276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一元函数</a:t>
              </a:r>
              <a:endPara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100" y="8196"/>
              <a:ext cx="3752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0" lvl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积分学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659331" y="4118384"/>
            <a:ext cx="2795905" cy="1561109"/>
            <a:chOff x="7155" y="6949"/>
            <a:chExt cx="4403" cy="2458"/>
          </a:xfrm>
        </p:grpSpPr>
        <p:sp>
          <p:nvSpPr>
            <p:cNvPr id="2" name="矩形: 圆角 40"/>
            <p:cNvSpPr/>
            <p:nvPr/>
          </p:nvSpPr>
          <p:spPr>
            <a:xfrm rot="16200000" flipV="1">
              <a:off x="8345" y="6193"/>
              <a:ext cx="2024" cy="440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7719" y="6949"/>
              <a:ext cx="3277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多元函数</a:t>
              </a:r>
              <a:endPara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8192" y="8109"/>
              <a:ext cx="2329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积分学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208065" y="4118384"/>
            <a:ext cx="2080895" cy="1559203"/>
            <a:chOff x="8027" y="6949"/>
            <a:chExt cx="3277" cy="2455"/>
          </a:xfrm>
        </p:grpSpPr>
        <p:sp>
          <p:nvSpPr>
            <p:cNvPr id="21" name="矩形: 圆角 40"/>
            <p:cNvSpPr/>
            <p:nvPr/>
          </p:nvSpPr>
          <p:spPr>
            <a:xfrm rot="16200000" flipV="1">
              <a:off x="8645" y="6745"/>
              <a:ext cx="2041" cy="3277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337" y="6949"/>
              <a:ext cx="2656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本章聚焦</a:t>
              </a:r>
              <a:endPara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8551" y="7873"/>
              <a:ext cx="2240" cy="13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二重积分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lvl="0"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三重积分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4020027" y="884555"/>
            <a:ext cx="415194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第十章   重积分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933317" y="4128544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7358085" y="4140609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图文框 19"/>
          <p:cNvSpPr/>
          <p:nvPr/>
        </p:nvSpPr>
        <p:spPr>
          <a:xfrm>
            <a:off x="0" y="0"/>
            <a:ext cx="12192001" cy="686915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-1" y="569167"/>
            <a:ext cx="6996701" cy="5718449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0" y="575945"/>
            <a:ext cx="7143115" cy="5731549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A-102232"/>
          <p:cNvSpPr/>
          <p:nvPr>
            <p:custDataLst>
              <p:tags r:id="rId2"/>
            </p:custDataLst>
          </p:nvPr>
        </p:nvSpPr>
        <p:spPr>
          <a:xfrm>
            <a:off x="3193962" y="985594"/>
            <a:ext cx="8667480" cy="48894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7" name="PA-文本框 8"/>
          <p:cNvSpPr txBox="1"/>
          <p:nvPr>
            <p:custDataLst>
              <p:tags r:id="rId3"/>
            </p:custDataLst>
          </p:nvPr>
        </p:nvSpPr>
        <p:spPr>
          <a:xfrm>
            <a:off x="763914" y="3419985"/>
            <a:ext cx="2430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CONTENTS</a:t>
            </a:r>
            <a:endParaRPr kumimoji="1" lang="en-GB" altLang="zh-CN" sz="32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9" name="PA-矩形 6"/>
          <p:cNvSpPr/>
          <p:nvPr>
            <p:custDataLst>
              <p:tags r:id="rId4"/>
            </p:custDataLst>
          </p:nvPr>
        </p:nvSpPr>
        <p:spPr>
          <a:xfrm>
            <a:off x="705880" y="4171950"/>
            <a:ext cx="2114550" cy="72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E79937"/>
              </a:solidFill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8250" y="2640333"/>
            <a:ext cx="164981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  录</a:t>
            </a:r>
            <a:endParaRPr kumimoji="1"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24436" y="1860681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第十章</a:t>
            </a:r>
            <a:endParaRPr kumimoji="1"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48849" y="1652691"/>
            <a:ext cx="45882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   二重积分的概念与性质</a:t>
            </a:r>
            <a:endParaRPr lang="zh-CN" altLang="en-US" sz="2400" b="1" dirty="0">
              <a:solidFill>
                <a:srgbClr val="0074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748849" y="2437275"/>
            <a:ext cx="38138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二重积分的计算法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748849" y="3221859"/>
            <a:ext cx="26132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三重积分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749162" y="4006443"/>
            <a:ext cx="34567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重积分的应用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749162" y="4791026"/>
            <a:ext cx="35365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第五节   含参变量的积分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5225323" y="1652691"/>
            <a:ext cx="26504" cy="360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/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/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/>
          <p:cNvSpPr/>
          <p:nvPr>
            <p:custDataLst>
              <p:tags r:id="rId2"/>
            </p:custDataLst>
          </p:nvPr>
        </p:nvSpPr>
        <p:spPr>
          <a:xfrm>
            <a:off x="369888" y="1731523"/>
            <a:ext cx="11536045" cy="42898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214442" y="686345"/>
            <a:ext cx="5763116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  二重积分的概念与性质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142362" y="2223699"/>
            <a:ext cx="3907275" cy="901065"/>
            <a:chOff x="3376753" y="2223699"/>
            <a:chExt cx="3907275" cy="901065"/>
          </a:xfrm>
        </p:grpSpPr>
        <p:sp>
          <p:nvSpPr>
            <p:cNvPr id="4" name="矩形: 圆角 40"/>
            <p:cNvSpPr/>
            <p:nvPr/>
          </p:nvSpPr>
          <p:spPr>
            <a:xfrm flipV="1">
              <a:off x="3376753" y="2223699"/>
              <a:ext cx="3907275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3616931" y="2412933"/>
              <a:ext cx="269817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lang="zh-CN" altLang="en-US" sz="2800" b="1" noProof="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问题的提出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142363" y="3448292"/>
            <a:ext cx="3907274" cy="901065"/>
            <a:chOff x="3376754" y="3448292"/>
            <a:chExt cx="3907274" cy="901065"/>
          </a:xfrm>
        </p:grpSpPr>
        <p:sp>
          <p:nvSpPr>
            <p:cNvPr id="22" name="矩形: 圆角 40"/>
            <p:cNvSpPr/>
            <p:nvPr/>
          </p:nvSpPr>
          <p:spPr>
            <a:xfrm flipV="1">
              <a:off x="3376754" y="3448292"/>
              <a:ext cx="3907274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3616931" y="3637526"/>
              <a:ext cx="341632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二重积分的概念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142363" y="4664248"/>
            <a:ext cx="3907274" cy="901065"/>
            <a:chOff x="3376754" y="4664248"/>
            <a:chExt cx="3907274" cy="901065"/>
          </a:xfrm>
        </p:grpSpPr>
        <p:sp>
          <p:nvSpPr>
            <p:cNvPr id="17" name="矩形: 圆角 40"/>
            <p:cNvSpPr/>
            <p:nvPr/>
          </p:nvSpPr>
          <p:spPr>
            <a:xfrm flipV="1">
              <a:off x="3376754" y="4664248"/>
              <a:ext cx="3907274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616931" y="4853484"/>
              <a:ext cx="341632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二重积分的性质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5" name="Rectangle 27"/>
          <p:cNvSpPr>
            <a:spLocks noGrp="1" noChangeArrowheads="1"/>
          </p:cNvSpPr>
          <p:nvPr>
            <p:ph type="title"/>
          </p:nvPr>
        </p:nvSpPr>
        <p:spPr>
          <a:xfrm>
            <a:off x="1082531" y="468786"/>
            <a:ext cx="3260869" cy="542402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一、问题的提出</a:t>
            </a:r>
            <a:endParaRPr lang="zh-CN" altLang="en-US" sz="32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AutoShape 3"/>
          <p:cNvSpPr>
            <a:spLocks noChangeArrowheads="1"/>
          </p:cNvSpPr>
          <p:nvPr/>
        </p:nvSpPr>
        <p:spPr bwMode="auto">
          <a:xfrm>
            <a:off x="2177217" y="2547568"/>
            <a:ext cx="1025525" cy="1219200"/>
          </a:xfrm>
          <a:prstGeom prst="can">
            <a:avLst>
              <a:gd name="adj" fmla="val 29721"/>
            </a:avLst>
          </a:prstGeom>
          <a:solidFill>
            <a:srgbClr val="04926A"/>
          </a:solidFill>
          <a:ln w="12700" cap="sq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46" name="AutoShape 4" descr="大网格"/>
          <p:cNvSpPr>
            <a:spLocks noChangeArrowheads="1"/>
          </p:cNvSpPr>
          <p:nvPr/>
        </p:nvSpPr>
        <p:spPr bwMode="auto">
          <a:xfrm>
            <a:off x="4242817" y="2562297"/>
            <a:ext cx="893763" cy="1219200"/>
          </a:xfrm>
          <a:prstGeom prst="cube">
            <a:avLst>
              <a:gd name="adj" fmla="val 25000"/>
            </a:avLst>
          </a:prstGeom>
          <a:pattFill prst="lgGrid">
            <a:fgClr>
              <a:schemeClr val="tx2"/>
            </a:fgClr>
            <a:bgClr>
              <a:srgbClr val="FFFFFF"/>
            </a:bgClr>
          </a:pattFill>
          <a:ln w="12700" cap="sq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对象 6"/>
              <p:cNvSpPr txBox="1"/>
              <p:nvPr/>
            </p:nvSpPr>
            <p:spPr>
              <a:xfrm>
                <a:off x="6105379" y="3179763"/>
                <a:ext cx="4135900" cy="60173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体积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底面积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高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379" y="3179763"/>
                <a:ext cx="4135900" cy="601734"/>
              </a:xfrm>
              <a:prstGeom prst="rect">
                <a:avLst/>
              </a:prstGeom>
              <a:blipFill rotWithShape="1">
                <a:blip r:embed="rId1"/>
                <a:stretch>
                  <a:fillRect l="-12" t="-53" r="15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 Box 28" descr="大网格"/>
          <p:cNvSpPr txBox="1">
            <a:spLocks noChangeArrowheads="1"/>
          </p:cNvSpPr>
          <p:nvPr/>
        </p:nvSpPr>
        <p:spPr bwMode="auto">
          <a:xfrm>
            <a:off x="6105379" y="2640118"/>
            <a:ext cx="29035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ea typeface="黑体" panose="02010609060101010101" pitchFamily="49" charset="-122"/>
              </a:rPr>
              <a:t>特点</a:t>
            </a:r>
            <a:r>
              <a:rPr lang="zh-CN" altLang="en-US" sz="2800" dirty="0">
                <a:solidFill>
                  <a:srgbClr val="04926A"/>
                </a:solidFill>
              </a:rPr>
              <a:t>：平顶柱体</a:t>
            </a:r>
            <a:r>
              <a:rPr lang="en-US" altLang="zh-CN" sz="2800" dirty="0">
                <a:solidFill>
                  <a:srgbClr val="04926A"/>
                </a:solidFill>
              </a:rPr>
              <a:t>.</a:t>
            </a:r>
            <a:endParaRPr lang="en-US" altLang="zh-CN" sz="2800" dirty="0">
              <a:solidFill>
                <a:srgbClr val="04926A"/>
              </a:solidFill>
            </a:endParaRPr>
          </a:p>
        </p:txBody>
      </p:sp>
      <p:sp>
        <p:nvSpPr>
          <p:cNvPr id="71" name="Rectangle 2"/>
          <p:cNvSpPr txBox="1">
            <a:spLocks noChangeArrowheads="1"/>
          </p:cNvSpPr>
          <p:nvPr/>
        </p:nvSpPr>
        <p:spPr>
          <a:xfrm>
            <a:off x="1446759" y="1038329"/>
            <a:ext cx="3260869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曲顶柱体的体积</a:t>
            </a:r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4" name="Text Box 28" descr="大网格"/>
          <p:cNvSpPr txBox="1">
            <a:spLocks noChangeArrowheads="1"/>
          </p:cNvSpPr>
          <p:nvPr/>
        </p:nvSpPr>
        <p:spPr bwMode="auto">
          <a:xfrm>
            <a:off x="6105379" y="4550479"/>
            <a:ext cx="29035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ea typeface="黑体" panose="02010609060101010101" pitchFamily="49" charset="-122"/>
              </a:rPr>
              <a:t>特点</a:t>
            </a:r>
            <a:r>
              <a:rPr lang="zh-CN" altLang="en-US" sz="2800" dirty="0">
                <a:solidFill>
                  <a:srgbClr val="04926A"/>
                </a:solidFill>
              </a:rPr>
              <a:t>：曲顶柱体</a:t>
            </a:r>
            <a:endParaRPr lang="en-US" altLang="zh-CN" sz="2800" dirty="0">
              <a:solidFill>
                <a:srgbClr val="04926A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对象 76"/>
              <p:cNvSpPr txBox="1"/>
              <p:nvPr/>
            </p:nvSpPr>
            <p:spPr>
              <a:xfrm>
                <a:off x="6105379" y="5095223"/>
                <a:ext cx="1971821" cy="57848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体积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？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77" name="对象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379" y="5095223"/>
                <a:ext cx="1971821" cy="578481"/>
              </a:xfrm>
              <a:prstGeom prst="rect">
                <a:avLst/>
              </a:prstGeom>
              <a:blipFill rotWithShape="1">
                <a:blip r:embed="rId2"/>
                <a:stretch>
                  <a:fillRect l="-25" t="-107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Object 13"/>
          <p:cNvGraphicFramePr>
            <a:graphicFrameLocks noChangeAspect="1"/>
          </p:cNvGraphicFramePr>
          <p:nvPr/>
        </p:nvGraphicFramePr>
        <p:xfrm>
          <a:off x="3837574" y="4300587"/>
          <a:ext cx="1820863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BMP 图像" r:id="rId3" imgW="3381375" imgH="2762250" progId="Paint.Picture">
                  <p:embed/>
                </p:oleObj>
              </mc:Choice>
              <mc:Fallback>
                <p:oleObj name="BMP 图像" r:id="rId3" imgW="3381375" imgH="2762250" progId="Paint.Picture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7574" y="4300587"/>
                        <a:ext cx="1820863" cy="1546225"/>
                      </a:xfrm>
                      <a:prstGeom prst="rect">
                        <a:avLst/>
                      </a:prstGeom>
                      <a:noFill/>
                      <a:ln w="317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 descr="图示, 示意图&#10;&#10;描述已自动生成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759" y="4064567"/>
            <a:ext cx="1398211" cy="1656576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95" grpId="0"/>
      <p:bldP spid="44" grpId="0" animBg="1"/>
      <p:bldP spid="46" grpId="0" animBg="1"/>
      <p:bldP spid="7" grpId="0"/>
      <p:bldP spid="51" grpId="0"/>
      <p:bldP spid="71" grpId="0" animBg="1"/>
      <p:bldP spid="74" grpId="0"/>
      <p:bldP spid="7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5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7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1759" name="Text Box 15" descr="大网格"/>
          <p:cNvSpPr txBox="1">
            <a:spLocks noChangeArrowheads="1"/>
          </p:cNvSpPr>
          <p:nvPr/>
        </p:nvSpPr>
        <p:spPr bwMode="auto">
          <a:xfrm>
            <a:off x="1786301" y="2158150"/>
            <a:ext cx="301717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200" dirty="0"/>
              <a:t>如下动画演示．</a:t>
            </a:r>
            <a:endParaRPr lang="zh-CN" altLang="en-US" sz="2200" dirty="0"/>
          </a:p>
        </p:txBody>
      </p:sp>
      <p:sp>
        <p:nvSpPr>
          <p:cNvPr id="13" name="Text Box 41"/>
          <p:cNvSpPr txBox="1">
            <a:spLocks noChangeArrowheads="1"/>
          </p:cNvSpPr>
          <p:nvPr/>
        </p:nvSpPr>
        <p:spPr bwMode="auto">
          <a:xfrm>
            <a:off x="1786301" y="735938"/>
            <a:ext cx="477642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9900">
                        <a:gamma/>
                        <a:shade val="46275"/>
                        <a:invGamma/>
                      </a:srgbClr>
                    </a:gs>
                    <a:gs pos="50000">
                      <a:srgbClr val="009900"/>
                    </a:gs>
                    <a:gs pos="100000">
                      <a:srgbClr val="009900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解法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类似定积分解决问题的思想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: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Text Box 73"/>
          <p:cNvSpPr txBox="1">
            <a:spLocks noChangeArrowheads="1"/>
          </p:cNvSpPr>
          <p:nvPr/>
        </p:nvSpPr>
        <p:spPr bwMode="auto">
          <a:xfrm>
            <a:off x="2908451" y="1319413"/>
            <a:ext cx="4980851" cy="430887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“大化小，常代变</a:t>
            </a: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近似和</a:t>
            </a: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求极限”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1" name="Group 14"/>
          <p:cNvGrpSpPr/>
          <p:nvPr/>
        </p:nvGrpSpPr>
        <p:grpSpPr bwMode="auto">
          <a:xfrm>
            <a:off x="3884309" y="2007927"/>
            <a:ext cx="4797425" cy="3644900"/>
            <a:chOff x="1405" y="1313"/>
            <a:chExt cx="3022" cy="2296"/>
          </a:xfrm>
        </p:grpSpPr>
        <p:sp>
          <p:nvSpPr>
            <p:cNvPr id="24" name="Rectangle 3"/>
            <p:cNvSpPr>
              <a:spLocks noChangeArrowheads="1"/>
            </p:cNvSpPr>
            <p:nvPr/>
          </p:nvSpPr>
          <p:spPr bwMode="auto">
            <a:xfrm>
              <a:off x="1405" y="1313"/>
              <a:ext cx="3022" cy="2296"/>
            </a:xfrm>
            <a:prstGeom prst="rect">
              <a:avLst/>
            </a:prstGeom>
            <a:solidFill>
              <a:srgbClr val="04926A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" name="Object 13"/>
            <p:cNvGraphicFramePr>
              <a:graphicFrameLocks noChangeAspect="1"/>
            </p:cNvGraphicFramePr>
            <p:nvPr/>
          </p:nvGraphicFramePr>
          <p:xfrm>
            <a:off x="1810" y="1577"/>
            <a:ext cx="2126" cy="18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" name="BMP 图象" r:id="rId2" imgW="3333750" imgH="2743200" progId="Paint.Picture">
                    <p:embed/>
                  </p:oleObj>
                </mc:Choice>
                <mc:Fallback>
                  <p:oleObj name="BMP 图象" r:id="rId2" imgW="3333750" imgH="2743200" progId="Paint.Picture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0" y="1577"/>
                          <a:ext cx="2126" cy="1818"/>
                        </a:xfrm>
                        <a:prstGeom prst="rect">
                          <a:avLst/>
                        </a:prstGeom>
                        <a:noFill/>
                        <a:ln w="12700">
                          <a:solidFill>
                            <a:srgbClr val="04926A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9" grpId="0"/>
      <p:bldP spid="13" grpId="0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3705039" y="1461992"/>
            <a:ext cx="4798503" cy="3645201"/>
            <a:chOff x="3753934" y="1564738"/>
            <a:chExt cx="4798503" cy="3645201"/>
          </a:xfrm>
        </p:grpSpPr>
        <p:sp>
          <p:nvSpPr>
            <p:cNvPr id="41987" name="Rectangle 3"/>
            <p:cNvSpPr>
              <a:spLocks noChangeArrowheads="1"/>
            </p:cNvSpPr>
            <p:nvPr/>
          </p:nvSpPr>
          <p:spPr bwMode="auto">
            <a:xfrm>
              <a:off x="3753934" y="1564738"/>
              <a:ext cx="4798503" cy="3645201"/>
            </a:xfrm>
            <a:prstGeom prst="rect">
              <a:avLst/>
            </a:prstGeom>
            <a:solidFill>
              <a:srgbClr val="04926A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1994" name="Object 10"/>
            <p:cNvGraphicFramePr>
              <a:graphicFrameLocks noChangeAspect="1"/>
            </p:cNvGraphicFramePr>
            <p:nvPr/>
          </p:nvGraphicFramePr>
          <p:xfrm>
            <a:off x="4397376" y="1982982"/>
            <a:ext cx="3375025" cy="2886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" name="BMP 图象" r:id="rId2" imgW="3333750" imgH="2743200" progId="Paint.Picture">
                    <p:embed/>
                  </p:oleObj>
                </mc:Choice>
                <mc:Fallback>
                  <p:oleObj name="BMP 图象" r:id="rId2" imgW="3333750" imgH="2743200" progId="Paint.Picture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7376" y="1982982"/>
                          <a:ext cx="3375025" cy="2886075"/>
                        </a:xfrm>
                        <a:prstGeom prst="rect">
                          <a:avLst/>
                        </a:prstGeom>
                        <a:noFill/>
                        <a:ln w="3175">
                          <a:solidFill>
                            <a:schemeClr val="accent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advTm="2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3705039" y="1461992"/>
            <a:ext cx="4798503" cy="3645201"/>
          </a:xfrm>
          <a:prstGeom prst="rect">
            <a:avLst/>
          </a:prstGeom>
          <a:solidFill>
            <a:srgbClr val="04926A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3018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662" y="1840547"/>
            <a:ext cx="3367087" cy="29210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advTm="2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3705039" y="1461993"/>
            <a:ext cx="4798503" cy="3645201"/>
            <a:chOff x="3753934" y="2085246"/>
            <a:chExt cx="4798503" cy="3645201"/>
          </a:xfrm>
        </p:grpSpPr>
        <p:sp>
          <p:nvSpPr>
            <p:cNvPr id="44035" name="Rectangle 3"/>
            <p:cNvSpPr>
              <a:spLocks noChangeArrowheads="1"/>
            </p:cNvSpPr>
            <p:nvPr/>
          </p:nvSpPr>
          <p:spPr bwMode="auto">
            <a:xfrm>
              <a:off x="3753934" y="2085246"/>
              <a:ext cx="4798503" cy="3645201"/>
            </a:xfrm>
            <a:prstGeom prst="rect">
              <a:avLst/>
            </a:prstGeom>
            <a:solidFill>
              <a:srgbClr val="04926A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44042" name="Picture 1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0075" y="2486026"/>
              <a:ext cx="3371850" cy="2924175"/>
            </a:xfrm>
            <a:prstGeom prst="rect">
              <a:avLst/>
            </a:prstGeom>
            <a:noFill/>
            <a:ln w="31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ransition advTm="2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3705039" y="1461993"/>
            <a:ext cx="4798503" cy="3645201"/>
            <a:chOff x="3753934" y="2085246"/>
            <a:chExt cx="4798503" cy="3645201"/>
          </a:xfrm>
        </p:grpSpPr>
        <p:sp>
          <p:nvSpPr>
            <p:cNvPr id="45059" name="Rectangle 3"/>
            <p:cNvSpPr>
              <a:spLocks noChangeArrowheads="1"/>
            </p:cNvSpPr>
            <p:nvPr/>
          </p:nvSpPr>
          <p:spPr bwMode="auto">
            <a:xfrm>
              <a:off x="3753934" y="2085246"/>
              <a:ext cx="4798503" cy="3645201"/>
            </a:xfrm>
            <a:prstGeom prst="rect">
              <a:avLst/>
            </a:prstGeom>
            <a:solidFill>
              <a:srgbClr val="04926A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45066" name="Picture 1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0075" y="2486026"/>
              <a:ext cx="3371850" cy="2924175"/>
            </a:xfrm>
            <a:prstGeom prst="rect">
              <a:avLst/>
            </a:prstGeom>
            <a:noFill/>
            <a:ln w="31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ransition advTm="2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3705039" y="1461993"/>
            <a:ext cx="4798503" cy="3645201"/>
            <a:chOff x="3753934" y="2085246"/>
            <a:chExt cx="4798503" cy="3645201"/>
          </a:xfrm>
        </p:grpSpPr>
        <p:sp>
          <p:nvSpPr>
            <p:cNvPr id="46083" name="Rectangle 3"/>
            <p:cNvSpPr>
              <a:spLocks noChangeArrowheads="1"/>
            </p:cNvSpPr>
            <p:nvPr/>
          </p:nvSpPr>
          <p:spPr bwMode="auto">
            <a:xfrm>
              <a:off x="3753934" y="2085246"/>
              <a:ext cx="4798503" cy="3645201"/>
            </a:xfrm>
            <a:prstGeom prst="rect">
              <a:avLst/>
            </a:prstGeom>
            <a:solidFill>
              <a:srgbClr val="04926A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46090" name="Picture 1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4839" y="2495550"/>
              <a:ext cx="3362325" cy="2914650"/>
            </a:xfrm>
            <a:prstGeom prst="rect">
              <a:avLst/>
            </a:prstGeom>
            <a:noFill/>
            <a:ln w="31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ransition advTm="2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3705038" y="1461992"/>
            <a:ext cx="4798502" cy="3645201"/>
          </a:xfrm>
          <a:prstGeom prst="rect">
            <a:avLst/>
          </a:prstGeom>
          <a:solidFill>
            <a:srgbClr val="04926A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114" name="Object 10"/>
          <p:cNvGraphicFramePr>
            <a:graphicFrameLocks noChangeAspect="1"/>
          </p:cNvGraphicFramePr>
          <p:nvPr/>
        </p:nvGraphicFramePr>
        <p:xfrm>
          <a:off x="4415949" y="1852454"/>
          <a:ext cx="3338512" cy="289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BMP 图象" r:id="rId2" imgW="3324225" imgH="2886075" progId="Paint.Picture">
                  <p:embed/>
                </p:oleObj>
              </mc:Choice>
              <mc:Fallback>
                <p:oleObj name="BMP 图象" r:id="rId2" imgW="3324225" imgH="2886075" progId="Paint.Picture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5949" y="1852454"/>
                        <a:ext cx="3338512" cy="2897187"/>
                      </a:xfrm>
                      <a:prstGeom prst="rect">
                        <a:avLst/>
                      </a:prstGeom>
                      <a:noFill/>
                      <a:ln w="31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Tm="2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1846971" y="697116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给定曲顶柱体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8" name="Object 6"/>
              <p:cNvSpPr txBox="1"/>
              <p:nvPr/>
            </p:nvSpPr>
            <p:spPr bwMode="auto">
              <a:xfrm>
                <a:off x="3841262" y="1942964"/>
                <a:ext cx="2607164" cy="6019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819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41262" y="1942964"/>
                <a:ext cx="2607164" cy="601936"/>
              </a:xfrm>
              <a:prstGeom prst="rect">
                <a:avLst/>
              </a:prstGeom>
              <a:blipFill rotWithShape="1">
                <a:blip r:embed="rId1"/>
                <a:stretch>
                  <a:fillRect l="-6" t="-83" b="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34" name="Text Box 42"/>
              <p:cNvSpPr txBox="1">
                <a:spLocks noChangeArrowheads="1"/>
              </p:cNvSpPr>
              <p:nvPr/>
            </p:nvSpPr>
            <p:spPr bwMode="auto">
              <a:xfrm>
                <a:off x="1846971" y="1381535"/>
                <a:ext cx="41910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底</a:t>
                </a:r>
                <a:r>
                  <a:rPr kumimoji="1" lang="en-US" altLang="zh-CN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: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𝑂𝑦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面上的闭区域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𝐷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,</a:t>
                </a:r>
                <a:endPara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234" name="Text 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6971" y="1381535"/>
                <a:ext cx="4191000" cy="519113"/>
              </a:xfrm>
              <a:prstGeom prst="rect">
                <a:avLst/>
              </a:prstGeom>
              <a:blipFill rotWithShape="1">
                <a:blip r:embed="rId2"/>
                <a:stretch>
                  <a:fillRect l="-9" t="-79" r="9" b="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35" name="Text Box 43"/>
          <p:cNvSpPr txBox="1">
            <a:spLocks noChangeArrowheads="1"/>
          </p:cNvSpPr>
          <p:nvPr/>
        </p:nvSpPr>
        <p:spPr bwMode="auto">
          <a:xfrm>
            <a:off x="1846971" y="1963218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顶</a:t>
            </a:r>
            <a:r>
              <a:rPr kumimoji="1" lang="en-US" altLang="zh-CN" sz="2800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连续曲面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36" name="Text Box 44"/>
              <p:cNvSpPr txBox="1">
                <a:spLocks noChangeArrowheads="1"/>
              </p:cNvSpPr>
              <p:nvPr/>
            </p:nvSpPr>
            <p:spPr bwMode="auto">
              <a:xfrm>
                <a:off x="1846972" y="2566850"/>
                <a:ext cx="806855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侧面</a:t>
                </a:r>
                <a:r>
                  <a:rPr kumimoji="1" lang="en-US" altLang="zh-CN" sz="2800" dirty="0">
                    <a:solidFill>
                      <a:srgbClr val="04926A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: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以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𝐷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的边界为准线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母线平行于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𝑧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轴的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柱面</a:t>
                </a:r>
                <a:r>
                  <a:rPr kumimoji="1" lang="en-US" altLang="zh-CN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.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8236" name="Text 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6972" y="2566850"/>
                <a:ext cx="8068554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5" t="-34" b="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1846971" y="3216794"/>
            <a:ext cx="189635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求其体积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" name="图片 2" descr="图示, 示意图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128" y="3389806"/>
            <a:ext cx="2141438" cy="25371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 autoUpdateAnimBg="0"/>
      <p:bldP spid="8198" grpId="0"/>
      <p:bldP spid="8234" grpId="0" autoUpdateAnimBg="0"/>
      <p:bldP spid="8235" grpId="0" autoUpdateAnimBg="0"/>
      <p:bldP spid="8236" grpId="0" autoUpdateAnimBg="0"/>
      <p:bldP spid="2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1069365" y="1246766"/>
            <a:ext cx="2788257" cy="523220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（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）“大化小”</a:t>
            </a:r>
            <a:endParaRPr kumimoji="1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604" name="Text Box 4"/>
              <p:cNvSpPr txBox="1">
                <a:spLocks noChangeArrowheads="1"/>
              </p:cNvSpPr>
              <p:nvPr/>
            </p:nvSpPr>
            <p:spPr bwMode="auto">
              <a:xfrm>
                <a:off x="999026" y="1948821"/>
                <a:ext cx="49530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用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任意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曲线网分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𝐷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为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1" lang="en-US" altLang="zh-CN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个区域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25604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026" y="1948821"/>
                <a:ext cx="4953000" cy="519112"/>
              </a:xfrm>
              <a:prstGeom prst="rect">
                <a:avLst/>
              </a:prstGeom>
              <a:blipFill rotWithShape="1">
                <a:blip r:embed="rId1"/>
                <a:stretch>
                  <a:fillRect l="-3" t="-1" r="3" b="6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605" name="Object 5"/>
              <p:cNvSpPr txBox="1"/>
              <p:nvPr/>
            </p:nvSpPr>
            <p:spPr bwMode="auto">
              <a:xfrm>
                <a:off x="1726850" y="2431633"/>
                <a:ext cx="2998347" cy="5869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, ⋯, 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560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6850" y="2431633"/>
                <a:ext cx="2998347" cy="586932"/>
              </a:xfrm>
              <a:prstGeom prst="rect">
                <a:avLst/>
              </a:prstGeom>
              <a:blipFill rotWithShape="1">
                <a:blip r:embed="rId2"/>
                <a:stretch>
                  <a:fillRect l="-10" t="-37" r="5" b="7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606" name="Text Box 6"/>
              <p:cNvSpPr txBox="1">
                <a:spLocks noChangeArrowheads="1"/>
              </p:cNvSpPr>
              <p:nvPr/>
            </p:nvSpPr>
            <p:spPr bwMode="auto">
              <a:xfrm>
                <a:off x="999026" y="3041036"/>
                <a:ext cx="509128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以它们为底把曲顶柱体分为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个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25606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026" y="3041036"/>
                <a:ext cx="5091280" cy="519113"/>
              </a:xfrm>
              <a:prstGeom prst="rect">
                <a:avLst/>
              </a:prstGeom>
              <a:blipFill rotWithShape="1">
                <a:blip r:embed="rId3"/>
                <a:stretch>
                  <a:fillRect l="-3" t="-4" b="6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1069365" y="4343148"/>
            <a:ext cx="2606845" cy="523220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）“常代变”</a:t>
            </a:r>
            <a:endParaRPr kumimoji="1" lang="zh-CN" altLang="en-US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999026" y="5048274"/>
            <a:ext cx="1264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在每个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610" name="Object 10"/>
              <p:cNvSpPr txBox="1"/>
              <p:nvPr/>
            </p:nvSpPr>
            <p:spPr bwMode="auto">
              <a:xfrm>
                <a:off x="2096686" y="5011935"/>
                <a:ext cx="723642" cy="5661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56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96686" y="5011935"/>
                <a:ext cx="723642" cy="566144"/>
              </a:xfrm>
              <a:prstGeom prst="rect">
                <a:avLst/>
              </a:prstGeom>
              <a:blipFill rotWithShape="1">
                <a:blip r:embed="rId4"/>
                <a:stretch>
                  <a:fillRect l="-76" t="-91" r="40" b="4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611" name="Object 11"/>
              <p:cNvSpPr txBox="1"/>
              <p:nvPr/>
            </p:nvSpPr>
            <p:spPr bwMode="auto">
              <a:xfrm>
                <a:off x="4463260" y="4996789"/>
                <a:ext cx="1405534" cy="5661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56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63260" y="4996789"/>
                <a:ext cx="1405534" cy="566143"/>
              </a:xfrm>
              <a:prstGeom prst="rect">
                <a:avLst/>
              </a:prstGeom>
              <a:blipFill rotWithShape="1">
                <a:blip r:embed="rId5"/>
                <a:stretch>
                  <a:fillRect l="-34" t="-108" r="9" b="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669" name="Object 69"/>
              <p:cNvSpPr txBox="1"/>
              <p:nvPr/>
            </p:nvSpPr>
            <p:spPr bwMode="auto">
              <a:xfrm>
                <a:off x="1726850" y="5535330"/>
                <a:ext cx="5724838" cy="6809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5669" name="Object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6850" y="5535330"/>
                <a:ext cx="5724838" cy="680934"/>
              </a:xfrm>
              <a:prstGeom prst="rect">
                <a:avLst/>
              </a:prstGeom>
              <a:blipFill rotWithShape="1">
                <a:blip r:embed="rId6"/>
                <a:stretch>
                  <a:fillRect l="-5" t="-5" r="10" b="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70" name="Text Box 70"/>
          <p:cNvSpPr txBox="1">
            <a:spLocks noChangeArrowheads="1"/>
          </p:cNvSpPr>
          <p:nvPr/>
        </p:nvSpPr>
        <p:spPr bwMode="auto">
          <a:xfrm>
            <a:off x="5714469" y="5039712"/>
            <a:ext cx="6045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5704" name="Text Box 104"/>
          <p:cNvSpPr txBox="1">
            <a:spLocks noChangeArrowheads="1"/>
          </p:cNvSpPr>
          <p:nvPr/>
        </p:nvSpPr>
        <p:spPr bwMode="auto">
          <a:xfrm>
            <a:off x="2640187" y="5021348"/>
            <a:ext cx="208501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中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任取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一点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5705" name="Text Box 105"/>
          <p:cNvSpPr txBox="1">
            <a:spLocks noChangeArrowheads="1"/>
          </p:cNvSpPr>
          <p:nvPr/>
        </p:nvSpPr>
        <p:spPr bwMode="auto">
          <a:xfrm>
            <a:off x="999026" y="359349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小曲顶柱体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999026" y="534369"/>
            <a:ext cx="194419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步骤如下：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 descr="图示&#10;&#10;描述已自动生成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322" y="1053481"/>
            <a:ext cx="3192175" cy="36587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5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nimBg="1"/>
      <p:bldP spid="25604" grpId="0" autoUpdateAnimBg="0"/>
      <p:bldP spid="25605" grpId="0"/>
      <p:bldP spid="25606" grpId="0" autoUpdateAnimBg="0"/>
      <p:bldP spid="25607" grpId="0" animBg="1" autoUpdateAnimBg="0"/>
      <p:bldP spid="25609" grpId="0" autoUpdateAnimBg="0"/>
      <p:bldP spid="25610" grpId="0"/>
      <p:bldP spid="25611" grpId="0"/>
      <p:bldP spid="25669" grpId="0"/>
      <p:bldP spid="25670" grpId="0" autoUpdateAnimBg="0"/>
      <p:bldP spid="25704" grpId="0" autoUpdateAnimBg="0"/>
      <p:bldP spid="25705" grpId="0" autoUpdateAnimBg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41" name="Text Box 13"/>
          <p:cNvSpPr txBox="1">
            <a:spLocks noChangeArrowheads="1"/>
          </p:cNvSpPr>
          <p:nvPr/>
        </p:nvSpPr>
        <p:spPr bwMode="auto">
          <a:xfrm>
            <a:off x="1506957" y="2425050"/>
            <a:ext cx="2743200" cy="523220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取极限”</a:t>
            </a:r>
            <a:endParaRPr kumimoji="1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144" name="Object 16"/>
              <p:cNvSpPr txBox="1"/>
              <p:nvPr/>
            </p:nvSpPr>
            <p:spPr bwMode="auto">
              <a:xfrm>
                <a:off x="1397714" y="3057464"/>
                <a:ext cx="3131676" cy="6133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定义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的直径为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48144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7714" y="3057464"/>
                <a:ext cx="3131676" cy="613398"/>
              </a:xfrm>
              <a:prstGeom prst="rect">
                <a:avLst/>
              </a:prstGeom>
              <a:blipFill rotWithShape="1">
                <a:blip r:embed="rId1"/>
                <a:stretch>
                  <a:fillRect l="-3" t="-94" r="18" b="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145" name="Object 17"/>
              <p:cNvSpPr txBox="1"/>
              <p:nvPr/>
            </p:nvSpPr>
            <p:spPr bwMode="auto">
              <a:xfrm>
                <a:off x="1397635" y="3635375"/>
                <a:ext cx="5925185" cy="6584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48145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7635" y="3635375"/>
                <a:ext cx="5925185" cy="65849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146" name="Text Box 18"/>
          <p:cNvSpPr txBox="1">
            <a:spLocks noChangeArrowheads="1"/>
          </p:cNvSpPr>
          <p:nvPr/>
        </p:nvSpPr>
        <p:spPr bwMode="auto">
          <a:xfrm>
            <a:off x="1397713" y="4266291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令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147" name="Object 19"/>
              <p:cNvSpPr txBox="1"/>
              <p:nvPr/>
            </p:nvSpPr>
            <p:spPr bwMode="auto">
              <a:xfrm>
                <a:off x="1827888" y="4277509"/>
                <a:ext cx="3093460" cy="7240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Low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"/>
                          <m:endChr m:val="}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48147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7888" y="4277509"/>
                <a:ext cx="3093460" cy="724056"/>
              </a:xfrm>
              <a:prstGeom prst="rect">
                <a:avLst/>
              </a:prstGeom>
              <a:blipFill rotWithShape="1">
                <a:blip r:embed="rId3"/>
                <a:stretch>
                  <a:fillRect l="-12" t="-21" r="3" b="4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148" name="Object 20"/>
              <p:cNvSpPr txBox="1"/>
              <p:nvPr/>
            </p:nvSpPr>
            <p:spPr bwMode="auto">
              <a:xfrm>
                <a:off x="1397714" y="5055288"/>
                <a:ext cx="4040438" cy="12800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48148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7714" y="5055288"/>
                <a:ext cx="4040438" cy="1280041"/>
              </a:xfrm>
              <a:prstGeom prst="rect">
                <a:avLst/>
              </a:prstGeom>
              <a:blipFill rotWithShape="1">
                <a:blip r:embed="rId4"/>
                <a:stretch>
                  <a:fillRect l="-2" t="-4" b="4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1506957" y="453034"/>
            <a:ext cx="2590800" cy="523220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近似和”</a:t>
            </a:r>
            <a:endParaRPr kumimoji="1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Object 13"/>
              <p:cNvSpPr txBox="1"/>
              <p:nvPr/>
            </p:nvSpPr>
            <p:spPr bwMode="auto">
              <a:xfrm>
                <a:off x="1604895" y="1031084"/>
                <a:ext cx="1983502" cy="13238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5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4895" y="1031084"/>
                <a:ext cx="1983502" cy="1323861"/>
              </a:xfrm>
              <a:prstGeom prst="rect">
                <a:avLst/>
              </a:prstGeom>
              <a:blipFill rotWithShape="1">
                <a:blip r:embed="rId5"/>
                <a:stretch>
                  <a:fillRect l="-13" t="-36" r="1" b="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Object 14"/>
              <p:cNvSpPr txBox="1"/>
              <p:nvPr/>
            </p:nvSpPr>
            <p:spPr bwMode="auto">
              <a:xfrm>
                <a:off x="3543733" y="1050798"/>
                <a:ext cx="2679700" cy="12844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6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3733" y="1050798"/>
                <a:ext cx="2679700" cy="1284433"/>
              </a:xfrm>
              <a:prstGeom prst="rect">
                <a:avLst/>
              </a:prstGeom>
              <a:blipFill rotWithShape="1">
                <a:blip r:embed="rId6"/>
                <a:stretch>
                  <a:fillRect l="-16" t="-40" r="-11761" b="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Box 70"/>
          <p:cNvSpPr txBox="1">
            <a:spLocks noChangeArrowheads="1"/>
          </p:cNvSpPr>
          <p:nvPr/>
        </p:nvSpPr>
        <p:spPr bwMode="auto">
          <a:xfrm>
            <a:off x="4834035" y="4287354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" name="图片 2" descr="图示&#10;&#10;描述已自动生成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390" y="1396534"/>
            <a:ext cx="3192175" cy="36587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8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41" grpId="0" animBg="1"/>
      <p:bldP spid="48144" grpId="0"/>
      <p:bldP spid="48145" grpId="0" bldLvl="0" animBg="1"/>
      <p:bldP spid="48146" grpId="0" autoUpdateAnimBg="0" build="p"/>
      <p:bldP spid="48147" grpId="0"/>
      <p:bldP spid="48148" grpId="0"/>
      <p:bldP spid="24" grpId="0" animBg="1" autoUpdateAnimBg="0"/>
      <p:bldP spid="25" grpId="0"/>
      <p:bldP spid="26" grpId="0"/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1172544" y="2171765"/>
            <a:ext cx="19298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解决步骤：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020139" y="2722130"/>
            <a:ext cx="25747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</a:rPr>
              <a:t>（</a:t>
            </a:r>
            <a:r>
              <a:rPr lang="en-US" altLang="zh-CN" sz="2800" dirty="0">
                <a:solidFill>
                  <a:srgbClr val="04926A"/>
                </a:solidFill>
              </a:rPr>
              <a:t>1</a:t>
            </a:r>
            <a:r>
              <a:rPr lang="zh-CN" altLang="en-US" sz="2800" dirty="0">
                <a:solidFill>
                  <a:srgbClr val="04926A"/>
                </a:solidFill>
              </a:rPr>
              <a:t>）大化小：</a:t>
            </a:r>
            <a:endParaRPr lang="zh-CN" altLang="en-US" sz="2800" dirty="0">
              <a:solidFill>
                <a:srgbClr val="04926A"/>
              </a:solidFill>
            </a:endParaRPr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1020139" y="4381888"/>
            <a:ext cx="22030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）近似</a:t>
            </a:r>
            <a:r>
              <a:rPr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和：</a:t>
            </a:r>
            <a:endParaRPr lang="zh-CN" altLang="en-US" sz="2800" dirty="0">
              <a:solidFill>
                <a:srgbClr val="0492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1020140" y="5615855"/>
            <a:ext cx="23633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）取极限：</a:t>
            </a:r>
            <a:endParaRPr lang="zh-CN" altLang="en-US" sz="2800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020139" y="3396718"/>
            <a:ext cx="22400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latin typeface="+mn-ea"/>
                <a:ea typeface="+mn-ea"/>
              </a:rPr>
              <a:t>（</a:t>
            </a:r>
            <a:r>
              <a:rPr lang="en-US" altLang="zh-CN" sz="2800" dirty="0">
                <a:solidFill>
                  <a:srgbClr val="04926A"/>
                </a:solidFill>
                <a:latin typeface="+mn-ea"/>
                <a:ea typeface="+mn-ea"/>
              </a:rPr>
              <a:t>2</a:t>
            </a:r>
            <a:r>
              <a:rPr lang="zh-CN" altLang="en-US" sz="2800" dirty="0">
                <a:solidFill>
                  <a:srgbClr val="04926A"/>
                </a:solidFill>
                <a:latin typeface="+mn-ea"/>
                <a:ea typeface="+mn-ea"/>
              </a:rPr>
              <a:t>）</a:t>
            </a:r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</a:rPr>
              <a:t>常代变：</a:t>
            </a:r>
            <a:endParaRPr lang="zh-CN" altLang="en-US" sz="2800" dirty="0">
              <a:solidFill>
                <a:srgbClr val="04926A"/>
              </a:solidFill>
              <a:latin typeface="黑体" panose="02010609060101010101" pitchFamily="49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74133" y="326298"/>
            <a:ext cx="3353652" cy="523220"/>
          </a:xfrm>
          <a:prstGeom prst="rect">
            <a:avLst/>
          </a:prstGeom>
          <a:ln w="28575">
            <a:noFill/>
            <a:prstDash val="dashDot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平面薄片的质量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对象 2"/>
              <p:cNvSpPr txBox="1"/>
              <p:nvPr/>
            </p:nvSpPr>
            <p:spPr>
              <a:xfrm>
                <a:off x="1172544" y="836685"/>
                <a:ext cx="9017645" cy="144146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设有一平面薄片占有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𝑥𝑂𝑦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面上的闭区域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它在点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处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的面密度为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假定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)&gt;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且在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上连续，平面薄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片的质量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为多少？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544" y="836685"/>
                <a:ext cx="9017645" cy="1441462"/>
              </a:xfrm>
              <a:prstGeom prst="rect">
                <a:avLst/>
              </a:prstGeom>
              <a:blipFill rotWithShape="1">
                <a:blip r:embed="rId1"/>
                <a:stretch>
                  <a:fillRect l="-4" t="-27" r="4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Object 34"/>
              <p:cNvSpPr txBox="1"/>
              <p:nvPr/>
            </p:nvSpPr>
            <p:spPr bwMode="auto">
              <a:xfrm>
                <a:off x="3193502" y="5246801"/>
                <a:ext cx="4079222" cy="14414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2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93502" y="5246801"/>
                <a:ext cx="4079222" cy="1441455"/>
              </a:xfrm>
              <a:prstGeom prst="rect">
                <a:avLst/>
              </a:prstGeom>
              <a:blipFill rotWithShape="1">
                <a:blip r:embed="rId2"/>
                <a:stretch>
                  <a:fillRect l="-2" t="-30" r="2" b="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Object 34"/>
              <p:cNvSpPr txBox="1"/>
              <p:nvPr/>
            </p:nvSpPr>
            <p:spPr bwMode="auto">
              <a:xfrm>
                <a:off x="3236874" y="3994481"/>
                <a:ext cx="3735416" cy="13096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3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6874" y="3994481"/>
                <a:ext cx="3735416" cy="1309678"/>
              </a:xfrm>
              <a:prstGeom prst="rect">
                <a:avLst/>
              </a:prstGeom>
              <a:blipFill rotWithShape="1">
                <a:blip r:embed="rId3"/>
                <a:stretch>
                  <a:fillRect l="-7" t="-25" r="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Object 34"/>
              <p:cNvSpPr txBox="1"/>
              <p:nvPr/>
            </p:nvSpPr>
            <p:spPr bwMode="auto">
              <a:xfrm>
                <a:off x="3304680" y="3426380"/>
                <a:ext cx="3651994" cy="4909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4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4680" y="3426380"/>
                <a:ext cx="3651994" cy="490940"/>
              </a:xfrm>
              <a:prstGeom prst="rect">
                <a:avLst/>
              </a:prstGeom>
              <a:blipFill rotWithShape="1">
                <a:blip r:embed="rId4"/>
                <a:stretch>
                  <a:fillRect l="-4" t="-113" r="7" b="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对象 1"/>
              <p:cNvSpPr txBox="1"/>
              <p:nvPr/>
            </p:nvSpPr>
            <p:spPr>
              <a:xfrm>
                <a:off x="3383496" y="2752088"/>
                <a:ext cx="3114465" cy="48199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​,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​, ⋯, 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496" y="2752088"/>
                <a:ext cx="3114465" cy="481996"/>
              </a:xfrm>
              <a:prstGeom prst="rect">
                <a:avLst/>
              </a:prstGeom>
              <a:blipFill rotWithShape="1">
                <a:blip r:embed="rId5"/>
                <a:stretch>
                  <a:fillRect l="-7" t="-131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卡通人物&#10;&#10;中度可信度描述已自动生成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724" y="2993905"/>
            <a:ext cx="3162323" cy="262195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 autoUpdateAnimBg="0"/>
      <p:bldP spid="6" grpId="0"/>
      <p:bldP spid="8" grpId="0" autoUpdateAnimBg="0"/>
      <p:bldP spid="10" grpId="0" autoUpdateAnimBg="0"/>
      <p:bldP spid="13" grpId="0" autoUpdateAnimBg="0"/>
      <p:bldP spid="20" grpId="0" animBg="1"/>
      <p:bldP spid="3" grpId="0"/>
      <p:bldP spid="32" grpId="0"/>
      <p:bldP spid="53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1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33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 bwMode="auto">
          <a:xfrm>
            <a:off x="1530886" y="4388252"/>
            <a:ext cx="30700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+mn-ea"/>
              </a:rPr>
              <a:t>不同点：背景不同</a:t>
            </a:r>
            <a:endParaRPr lang="zh-CN" altLang="en-US" sz="2800" dirty="0">
              <a:latin typeface="+mn-ea"/>
            </a:endParaRPr>
          </a:p>
        </p:txBody>
      </p:sp>
      <p:sp>
        <p:nvSpPr>
          <p:cNvPr id="19" name="文本框 18"/>
          <p:cNvSpPr txBox="1"/>
          <p:nvPr/>
        </p:nvSpPr>
        <p:spPr bwMode="auto">
          <a:xfrm>
            <a:off x="1530886" y="5000186"/>
            <a:ext cx="55948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+mn-ea"/>
              </a:rPr>
              <a:t>相同点：方法相同，数学形式相同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20" name="Group 55"/>
          <p:cNvGrpSpPr/>
          <p:nvPr/>
        </p:nvGrpSpPr>
        <p:grpSpPr bwMode="auto">
          <a:xfrm>
            <a:off x="1591807" y="1403129"/>
            <a:ext cx="4321175" cy="2698780"/>
            <a:chOff x="380" y="-369"/>
            <a:chExt cx="2358" cy="2585"/>
          </a:xfrm>
          <a:solidFill>
            <a:srgbClr val="A9D18E"/>
          </a:solidFill>
        </p:grpSpPr>
        <p:sp>
          <p:nvSpPr>
            <p:cNvPr id="21" name="Rectangle 56"/>
            <p:cNvSpPr>
              <a:spLocks noChangeArrowheads="1"/>
            </p:cNvSpPr>
            <p:nvPr/>
          </p:nvSpPr>
          <p:spPr bwMode="auto">
            <a:xfrm>
              <a:off x="380" y="-369"/>
              <a:ext cx="2358" cy="2585"/>
            </a:xfrm>
            <a:prstGeom prst="rect">
              <a:avLst/>
            </a:prstGeom>
            <a:solidFill>
              <a:srgbClr val="04926A">
                <a:alpha val="42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>
                <a:spcBef>
                  <a:spcPct val="0"/>
                </a:spcBef>
                <a:buFontTx/>
                <a:buNone/>
              </a:pPr>
              <a:endParaRPr lang="zh-CN" altLang="zh-CN" sz="2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Text Box 57"/>
            <p:cNvSpPr txBox="1">
              <a:spLocks noChangeArrowheads="1"/>
            </p:cNvSpPr>
            <p:nvPr/>
          </p:nvSpPr>
          <p:spPr bwMode="auto">
            <a:xfrm>
              <a:off x="955" y="1244"/>
              <a:ext cx="1255" cy="501"/>
            </a:xfrm>
            <a:prstGeom prst="rect">
              <a:avLst/>
            </a:prstGeom>
            <a:solidFill>
              <a:srgbClr val="04926A">
                <a:alpha val="42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buFontTx/>
                <a:buNone/>
              </a:pPr>
              <a:r>
                <a:rPr lang="zh-CN" altLang="en-US" sz="2800" dirty="0"/>
                <a:t>几 何 问 题</a:t>
              </a:r>
              <a:endParaRPr lang="zh-CN" altLang="en-US" sz="2800" dirty="0"/>
            </a:p>
          </p:txBody>
        </p:sp>
      </p:grpSp>
      <p:grpSp>
        <p:nvGrpSpPr>
          <p:cNvPr id="23" name="Group 58"/>
          <p:cNvGrpSpPr/>
          <p:nvPr/>
        </p:nvGrpSpPr>
        <p:grpSpPr bwMode="auto">
          <a:xfrm>
            <a:off x="6090316" y="1403130"/>
            <a:ext cx="4427537" cy="2698780"/>
            <a:chOff x="2835" y="754"/>
            <a:chExt cx="2721" cy="2631"/>
          </a:xfrm>
          <a:solidFill>
            <a:srgbClr val="BBBBBB"/>
          </a:solidFill>
        </p:grpSpPr>
        <p:sp>
          <p:nvSpPr>
            <p:cNvPr id="24" name="Rectangle 59"/>
            <p:cNvSpPr>
              <a:spLocks noChangeArrowheads="1"/>
            </p:cNvSpPr>
            <p:nvPr/>
          </p:nvSpPr>
          <p:spPr bwMode="auto">
            <a:xfrm>
              <a:off x="2835" y="754"/>
              <a:ext cx="2721" cy="2631"/>
            </a:xfrm>
            <a:prstGeom prst="rect">
              <a:avLst/>
            </a:prstGeom>
            <a:solidFill>
              <a:srgbClr val="4A7BA8">
                <a:alpha val="42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>
                <a:spcBef>
                  <a:spcPct val="0"/>
                </a:spcBef>
                <a:buFontTx/>
                <a:buNone/>
              </a:pPr>
              <a:endParaRPr lang="zh-CN" altLang="zh-CN" sz="2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Text Box 60"/>
            <p:cNvSpPr txBox="1">
              <a:spLocks noChangeArrowheads="1"/>
            </p:cNvSpPr>
            <p:nvPr/>
          </p:nvSpPr>
          <p:spPr bwMode="auto">
            <a:xfrm>
              <a:off x="3519" y="2392"/>
              <a:ext cx="1345" cy="510"/>
            </a:xfrm>
            <a:prstGeom prst="rect">
              <a:avLst/>
            </a:prstGeom>
            <a:solidFill>
              <a:srgbClr val="4A7BA8">
                <a:alpha val="42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buFontTx/>
                <a:buNone/>
              </a:pPr>
              <a:r>
                <a:rPr lang="zh-CN" altLang="en-US" sz="2800" dirty="0"/>
                <a:t>物 理 问 题</a:t>
              </a:r>
              <a:endParaRPr lang="zh-CN" altLang="en-US" sz="28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对象 5"/>
              <p:cNvSpPr txBox="1"/>
              <p:nvPr/>
            </p:nvSpPr>
            <p:spPr>
              <a:xfrm>
                <a:off x="6895993" y="4559726"/>
                <a:ext cx="3165284" cy="122422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993" y="4559726"/>
                <a:ext cx="3165284" cy="1224224"/>
              </a:xfrm>
              <a:prstGeom prst="rect">
                <a:avLst/>
              </a:prstGeom>
              <a:blipFill rotWithShape="1">
                <a:blip r:embed="rId2"/>
                <a:stretch>
                  <a:fillRect l="-17" t="-35" r="11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 bwMode="auto">
          <a:xfrm>
            <a:off x="2381253" y="820797"/>
            <a:ext cx="27422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+mn-ea"/>
              </a:rPr>
              <a:t>曲顶柱体的体积</a:t>
            </a:r>
            <a:endParaRPr lang="en-US" altLang="zh-CN" sz="2800" dirty="0"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 bwMode="auto">
          <a:xfrm>
            <a:off x="6872298" y="846248"/>
            <a:ext cx="28635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+mn-ea"/>
              </a:rPr>
              <a:t>平面薄片的质量</a:t>
            </a:r>
            <a:endParaRPr lang="en-US" altLang="zh-CN" sz="2800" dirty="0"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34"/>
              <p:cNvSpPr txBox="1"/>
              <p:nvPr/>
            </p:nvSpPr>
            <p:spPr bwMode="auto">
              <a:xfrm>
                <a:off x="2167314" y="1484662"/>
                <a:ext cx="3346059" cy="14786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lim>
                      </m:limLow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7314" y="1484662"/>
                <a:ext cx="3346059" cy="1478608"/>
              </a:xfrm>
              <a:prstGeom prst="rect">
                <a:avLst/>
              </a:prstGeom>
              <a:blipFill rotWithShape="1">
                <a:blip r:embed="rId3"/>
                <a:stretch>
                  <a:fillRect l="-2" t="-2" r="9" b="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4"/>
              <p:cNvSpPr txBox="1"/>
              <p:nvPr/>
            </p:nvSpPr>
            <p:spPr bwMode="auto">
              <a:xfrm>
                <a:off x="6546890" y="1477147"/>
                <a:ext cx="3514387" cy="13772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lim>
                      </m:limLow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zh-CN" sz="28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𝜇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46890" y="1477147"/>
                <a:ext cx="3514387" cy="1377273"/>
              </a:xfrm>
              <a:prstGeom prst="rect">
                <a:avLst/>
              </a:prstGeom>
              <a:blipFill rotWithShape="1">
                <a:blip r:embed="rId4"/>
                <a:stretch>
                  <a:fillRect l="-1" t="-10" r="10" b="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/>
      <p:bldP spid="6" grpId="0"/>
      <p:bldP spid="7" grpId="0"/>
      <p:bldP spid="9" grpId="0"/>
      <p:bldP spid="2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剪去单角的矩形 10"/>
          <p:cNvSpPr/>
          <p:nvPr/>
        </p:nvSpPr>
        <p:spPr>
          <a:xfrm>
            <a:off x="1443789" y="1852863"/>
            <a:ext cx="9706176" cy="4518471"/>
          </a:xfrm>
          <a:prstGeom prst="snip1Rect">
            <a:avLst>
              <a:gd name="adj" fmla="val 5435"/>
            </a:avLst>
          </a:prstGeom>
          <a:solidFill>
            <a:srgbClr val="04926A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58467" name="Rectangle 99"/>
          <p:cNvSpPr>
            <a:spLocks noChangeArrowheads="1"/>
          </p:cNvSpPr>
          <p:nvPr/>
        </p:nvSpPr>
        <p:spPr bwMode="auto">
          <a:xfrm>
            <a:off x="1073085" y="432918"/>
            <a:ext cx="40403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二、二重积分的概念</a:t>
            </a:r>
            <a:endParaRPr lang="zh-CN" altLang="en-US" sz="3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469" name="Text Box 101"/>
              <p:cNvSpPr txBox="1">
                <a:spLocks noChangeArrowheads="1"/>
              </p:cNvSpPr>
              <p:nvPr/>
            </p:nvSpPr>
            <p:spPr bwMode="auto">
              <a:xfrm>
                <a:off x="2036533" y="2115010"/>
                <a:ext cx="750451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设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en-US" altLang="zh-CN" sz="28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   </m:t>
                    </m:r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𝑦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是有界闭区域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上的有界函数，</a:t>
                </a:r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8469" name="Text 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6533" y="2115010"/>
                <a:ext cx="7504510" cy="523220"/>
              </a:xfrm>
              <a:prstGeom prst="rect">
                <a:avLst/>
              </a:prstGeom>
              <a:blipFill rotWithShape="1">
                <a:blip r:embed="rId1"/>
                <a:stretch>
                  <a:fillRect l="-1" t="-88" r="2" b="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470" name="Text Box 102"/>
              <p:cNvSpPr txBox="1">
                <a:spLocks noChangeArrowheads="1"/>
              </p:cNvSpPr>
              <p:nvPr/>
            </p:nvSpPr>
            <p:spPr bwMode="auto">
              <a:xfrm>
                <a:off x="2036533" y="2739493"/>
                <a:ext cx="569353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将闭区域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任意分成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个小闭区域</a:t>
                </a:r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8470" name="Text 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6533" y="2739493"/>
                <a:ext cx="5693537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2" t="-20" r="4" b="1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471" name="Object 103"/>
              <p:cNvSpPr txBox="1">
                <a:spLocks noGrp="1"/>
              </p:cNvSpPr>
              <p:nvPr>
                <p:ph idx="4294967295"/>
              </p:nvPr>
            </p:nvSpPr>
            <p:spPr bwMode="auto">
              <a:xfrm>
                <a:off x="7433063" y="2767413"/>
                <a:ext cx="290195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  <m:sub>
                          <m: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​,</m:t>
                      </m:r>
                      <m:r>
                        <m:rPr>
                          <m:sty m:val="p"/>
                        </m:rP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  <m:sub>
                          <m: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​,⋯, </m:t>
                      </m:r>
                      <m:r>
                        <m:rPr>
                          <m:sty m:val="p"/>
                        </m:rP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  <m:sub>
                          <m: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8471" name="Object 10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 bwMode="auto">
              <a:xfrm>
                <a:off x="7433063" y="2767413"/>
                <a:ext cx="2901950" cy="444500"/>
              </a:xfrm>
              <a:prstGeom prst="rect">
                <a:avLst/>
              </a:prstGeom>
              <a:blipFill rotWithShape="1">
                <a:blip r:embed="rId3"/>
                <a:stretch>
                  <a:fillRect l="-13" t="-19" r="13" b="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473" name="Text Box 105"/>
              <p:cNvSpPr txBox="1">
                <a:spLocks noChangeArrowheads="1"/>
              </p:cNvSpPr>
              <p:nvPr/>
            </p:nvSpPr>
            <p:spPr bwMode="auto">
              <a:xfrm>
                <a:off x="2036533" y="3305757"/>
                <a:ext cx="50927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zh-CN" alt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表示第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个小闭区域，</a:t>
                </a:r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8473" name="Text 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6533" y="3305757"/>
                <a:ext cx="5092700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2" t="-111" r="2" b="1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474" name="Text Box 106"/>
          <p:cNvSpPr txBox="1">
            <a:spLocks noChangeArrowheads="1"/>
          </p:cNvSpPr>
          <p:nvPr/>
        </p:nvSpPr>
        <p:spPr bwMode="auto">
          <a:xfrm>
            <a:off x="6868883" y="3305757"/>
            <a:ext cx="29019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也表示它的面积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475" name="Text Box 107"/>
          <p:cNvSpPr txBox="1">
            <a:spLocks noChangeArrowheads="1"/>
          </p:cNvSpPr>
          <p:nvPr/>
        </p:nvSpPr>
        <p:spPr bwMode="auto">
          <a:xfrm>
            <a:off x="9556026" y="3303531"/>
            <a:ext cx="1066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在每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476" name="Text Box 108"/>
              <p:cNvSpPr txBox="1">
                <a:spLocks noChangeArrowheads="1"/>
              </p:cNvSpPr>
              <p:nvPr/>
            </p:nvSpPr>
            <p:spPr bwMode="auto">
              <a:xfrm>
                <a:off x="2036533" y="3898740"/>
                <a:ext cx="456468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zh-CN" alt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上任意取一点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MS Mincho" panose="02020609040205080304" charset="-128"/>
                                <a:cs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</m:t>
                            </m:r>
                          </m:e>
                          <m:sub>
                            <m:r>
                              <a:rPr lang="zh-CN" altLang="en-US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zh-CN" altLang="en-US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8476" name="Text 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6533" y="3898740"/>
                <a:ext cx="4564680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2" t="-91" r="9" b="8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478" name="Text Box 110"/>
              <p:cNvSpPr txBox="1">
                <a:spLocks noChangeArrowheads="1"/>
              </p:cNvSpPr>
              <p:nvPr/>
            </p:nvSpPr>
            <p:spPr bwMode="auto">
              <a:xfrm>
                <a:off x="6341833" y="3914484"/>
                <a:ext cx="34290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作乘积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MS Mincho" panose="02020609040205080304" charset="-128"/>
                                <a:cs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</m:t>
                            </m:r>
                          </m:e>
                          <m:sub>
                            <m:r>
                              <a:rPr lang="zh-CN" altLang="en-US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zh-CN" altLang="en-US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zh-CN" alt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8478" name="Text 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41833" y="3914484"/>
                <a:ext cx="3429000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3" t="-66" r="3" b="6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479" name="Text Box 111"/>
          <p:cNvSpPr txBox="1">
            <a:spLocks noChangeArrowheads="1"/>
          </p:cNvSpPr>
          <p:nvPr/>
        </p:nvSpPr>
        <p:spPr bwMode="auto">
          <a:xfrm>
            <a:off x="9556026" y="3898740"/>
            <a:ext cx="1066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并作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480" name="Text Box 112"/>
          <p:cNvSpPr txBox="1">
            <a:spLocks noChangeArrowheads="1"/>
          </p:cNvSpPr>
          <p:nvPr/>
        </p:nvSpPr>
        <p:spPr bwMode="auto">
          <a:xfrm>
            <a:off x="2036533" y="4837294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485" name="Text Box 117"/>
          <p:cNvSpPr txBox="1">
            <a:spLocks noChangeArrowheads="1"/>
          </p:cNvSpPr>
          <p:nvPr/>
        </p:nvSpPr>
        <p:spPr bwMode="auto">
          <a:xfrm>
            <a:off x="4788572" y="4821420"/>
            <a:ext cx="5791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如果当各小闭区域的直径中的最大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486" name="Text Box 118"/>
              <p:cNvSpPr txBox="1">
                <a:spLocks noChangeArrowheads="1"/>
              </p:cNvSpPr>
              <p:nvPr/>
            </p:nvSpPr>
            <p:spPr bwMode="auto">
              <a:xfrm>
                <a:off x="2036533" y="5618880"/>
                <a:ext cx="2590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值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趋于零时，</a:t>
                </a:r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58486" name="Text 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6533" y="5618880"/>
                <a:ext cx="2590800" cy="523220"/>
              </a:xfrm>
              <a:prstGeom prst="rect">
                <a:avLst/>
              </a:prstGeom>
              <a:blipFill rotWithShape="1">
                <a:blip r:embed="rId7"/>
                <a:stretch>
                  <a:fillRect l="-3" t="-76" r="3" b="7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487" name="Text Box 119"/>
          <p:cNvSpPr txBox="1">
            <a:spLocks noChangeArrowheads="1"/>
          </p:cNvSpPr>
          <p:nvPr/>
        </p:nvSpPr>
        <p:spPr bwMode="auto">
          <a:xfrm>
            <a:off x="4328177" y="5596655"/>
            <a:ext cx="3886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这和式的极限总存在，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488" name="Text Box 120"/>
          <p:cNvSpPr txBox="1">
            <a:spLocks noChangeArrowheads="1"/>
          </p:cNvSpPr>
          <p:nvPr/>
        </p:nvSpPr>
        <p:spPr bwMode="auto">
          <a:xfrm>
            <a:off x="7909577" y="5596655"/>
            <a:ext cx="2667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且与闭区域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35696" y="1082129"/>
            <a:ext cx="1477610" cy="584775"/>
          </a:xfrm>
          <a:prstGeom prst="rect">
            <a:avLst/>
          </a:prstGeom>
          <a:ln w="28575">
            <a:noFill/>
            <a:prstDash val="dashDot"/>
          </a:ln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对象 2"/>
              <p:cNvSpPr txBox="1"/>
              <p:nvPr/>
            </p:nvSpPr>
            <p:spPr>
              <a:xfrm>
                <a:off x="2567799" y="4496614"/>
                <a:ext cx="2220773" cy="105783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lang="zh-CN" altLang="en-US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zh-CN" altLang="en-US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799" y="4496614"/>
                <a:ext cx="2220773" cy="1057830"/>
              </a:xfrm>
              <a:prstGeom prst="rect">
                <a:avLst/>
              </a:prstGeom>
              <a:blipFill rotWithShape="1">
                <a:blip r:embed="rId8"/>
                <a:stretch>
                  <a:fillRect l="-22" t="-3979" r="2" b="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8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8467" grpId="0"/>
      <p:bldP spid="58469" grpId="0"/>
      <p:bldP spid="58470" grpId="0"/>
      <p:bldP spid="58471" grpId="0" build="p"/>
      <p:bldP spid="58473" grpId="0"/>
      <p:bldP spid="58474" grpId="0"/>
      <p:bldP spid="58475" grpId="0"/>
      <p:bldP spid="58476" grpId="0"/>
      <p:bldP spid="58478" grpId="0"/>
      <p:bldP spid="58479" grpId="0"/>
      <p:bldP spid="58480" grpId="0"/>
      <p:bldP spid="58485" grpId="0"/>
      <p:bldP spid="58486" grpId="0"/>
      <p:bldP spid="58487" grpId="0"/>
      <p:bldP spid="58488" grpId="0"/>
      <p:bldP spid="19" grpId="0" animBg="1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437" name="Text Box 101"/>
              <p:cNvSpPr txBox="1">
                <a:spLocks noChangeArrowheads="1"/>
              </p:cNvSpPr>
              <p:nvPr/>
            </p:nvSpPr>
            <p:spPr bwMode="auto">
              <a:xfrm>
                <a:off x="1689100" y="1153921"/>
                <a:ext cx="66929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函数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𝑦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</a:rPr>
                  <a:t>)</a:t>
                </a:r>
                <a:r>
                  <a:rPr lang="zh-CN" altLang="en-US" sz="28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在闭区域 </a:t>
                </a:r>
                <a:r>
                  <a:rPr kumimoji="1" lang="en-US" altLang="zh-CN" sz="2800" i="1" dirty="0">
                    <a:effectLst/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D</a:t>
                </a:r>
                <a:r>
                  <a:rPr lang="en-US" altLang="zh-CN" sz="28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上的二重积分，</a:t>
                </a:r>
                <a:endParaRPr lang="zh-CN" altLang="en-US" sz="2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437" name="Text 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9100" y="1153921"/>
                <a:ext cx="6692900" cy="523220"/>
              </a:xfrm>
              <a:prstGeom prst="rect">
                <a:avLst/>
              </a:prstGeom>
              <a:blipFill rotWithShape="1">
                <a:blip r:embed="rId2"/>
                <a:stretch>
                  <a:fillRect t="-24" b="2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39" name="Text Box 103"/>
          <p:cNvSpPr txBox="1">
            <a:spLocks noChangeArrowheads="1"/>
          </p:cNvSpPr>
          <p:nvPr/>
        </p:nvSpPr>
        <p:spPr bwMode="auto">
          <a:xfrm>
            <a:off x="7920239" y="1183044"/>
            <a:ext cx="1066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记作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440" name="Object 104"/>
              <p:cNvSpPr txBox="1">
                <a:spLocks noGrp="1"/>
              </p:cNvSpPr>
              <p:nvPr>
                <p:ph idx="4294967295"/>
              </p:nvPr>
            </p:nvSpPr>
            <p:spPr bwMode="auto">
              <a:xfrm>
                <a:off x="4106602" y="1534513"/>
                <a:ext cx="2473624" cy="12396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>
                  <a:effectLst/>
                </a:endParaRPr>
              </a:p>
            </p:txBody>
          </p:sp>
        </mc:Choice>
        <mc:Fallback>
          <p:sp>
            <p:nvSpPr>
              <p:cNvPr id="14440" name="Object 10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 bwMode="auto">
              <a:xfrm>
                <a:off x="4106602" y="1534513"/>
                <a:ext cx="2473624" cy="1239659"/>
              </a:xfrm>
              <a:prstGeom prst="rect">
                <a:avLst/>
              </a:prstGeom>
              <a:blipFill rotWithShape="1">
                <a:blip r:embed="rId3"/>
                <a:stretch>
                  <a:fillRect l="-2" t="-28" r="14" b="4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42" name="Text Box 106"/>
          <p:cNvSpPr txBox="1">
            <a:spLocks noChangeArrowheads="1"/>
          </p:cNvSpPr>
          <p:nvPr/>
        </p:nvSpPr>
        <p:spPr bwMode="auto">
          <a:xfrm>
            <a:off x="1689100" y="2929674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Group 2"/>
          <p:cNvGrpSpPr/>
          <p:nvPr/>
        </p:nvGrpSpPr>
        <p:grpSpPr bwMode="auto">
          <a:xfrm>
            <a:off x="2610898" y="3540066"/>
            <a:ext cx="563562" cy="685800"/>
            <a:chOff x="0" y="1536"/>
            <a:chExt cx="480" cy="528"/>
          </a:xfrm>
          <a:solidFill>
            <a:srgbClr val="BBBBBB"/>
          </a:solidFill>
        </p:grpSpPr>
        <p:sp>
          <p:nvSpPr>
            <p:cNvPr id="41" name="Rectangle 3"/>
            <p:cNvSpPr>
              <a:spLocks noChangeArrowheads="1"/>
            </p:cNvSpPr>
            <p:nvPr/>
          </p:nvSpPr>
          <p:spPr bwMode="auto">
            <a:xfrm>
              <a:off x="0" y="1536"/>
              <a:ext cx="480" cy="240"/>
            </a:xfrm>
            <a:prstGeom prst="rect">
              <a:avLst/>
            </a:prstGeom>
            <a:solidFill>
              <a:srgbClr val="4A7BA8">
                <a:alpha val="42000"/>
              </a:srgbClr>
            </a:solidFill>
            <a:ln w="12700" cap="sq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AutoShape 4"/>
            <p:cNvSpPr>
              <a:spLocks noChangeArrowheads="1"/>
            </p:cNvSpPr>
            <p:nvPr/>
          </p:nvSpPr>
          <p:spPr bwMode="auto">
            <a:xfrm>
              <a:off x="144" y="1776"/>
              <a:ext cx="144" cy="28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4A7BA8">
                <a:alpha val="42000"/>
              </a:srgbClr>
            </a:solidFill>
            <a:ln w="12700" cap="sq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3" name="Text Box 5" descr="大网格"/>
          <p:cNvSpPr txBox="1">
            <a:spLocks noChangeArrowheads="1"/>
          </p:cNvSpPr>
          <p:nvPr/>
        </p:nvSpPr>
        <p:spPr bwMode="auto">
          <a:xfrm>
            <a:off x="2524994" y="4220516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7030A0"/>
                </a:solidFill>
              </a:rPr>
              <a:t>积分区域</a:t>
            </a:r>
            <a:endParaRPr lang="zh-CN" altLang="en-US" sz="4000" dirty="0">
              <a:solidFill>
                <a:srgbClr val="7030A0"/>
              </a:solidFill>
            </a:endParaRPr>
          </a:p>
        </p:txBody>
      </p:sp>
      <p:grpSp>
        <p:nvGrpSpPr>
          <p:cNvPr id="44" name="Group 7"/>
          <p:cNvGrpSpPr/>
          <p:nvPr/>
        </p:nvGrpSpPr>
        <p:grpSpPr bwMode="auto">
          <a:xfrm>
            <a:off x="5980015" y="2560952"/>
            <a:ext cx="2473624" cy="2147687"/>
            <a:chOff x="3353" y="883"/>
            <a:chExt cx="2664" cy="1517"/>
          </a:xfrm>
        </p:grpSpPr>
        <p:sp>
          <p:nvSpPr>
            <p:cNvPr id="45" name="Rectangle 8" descr="大网格"/>
            <p:cNvSpPr>
              <a:spLocks noChangeArrowheads="1"/>
            </p:cNvSpPr>
            <p:nvPr/>
          </p:nvSpPr>
          <p:spPr bwMode="auto">
            <a:xfrm>
              <a:off x="3353" y="883"/>
              <a:ext cx="2664" cy="845"/>
            </a:xfrm>
            <a:prstGeom prst="rect">
              <a:avLst/>
            </a:prstGeom>
            <a:noFill/>
            <a:ln w="38100" cap="sq">
              <a:solidFill>
                <a:srgbClr val="04926A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AutoShape 9"/>
            <p:cNvSpPr>
              <a:spLocks noChangeArrowheads="1"/>
            </p:cNvSpPr>
            <p:nvPr/>
          </p:nvSpPr>
          <p:spPr bwMode="auto">
            <a:xfrm>
              <a:off x="4416" y="1728"/>
              <a:ext cx="96" cy="672"/>
            </a:xfrm>
            <a:prstGeom prst="downArrow">
              <a:avLst>
                <a:gd name="adj1" fmla="val 50000"/>
                <a:gd name="adj2" fmla="val 175000"/>
              </a:avLst>
            </a:prstGeom>
            <a:solidFill>
              <a:srgbClr val="04926A"/>
            </a:solidFill>
            <a:ln w="12700" cap="sq">
              <a:solidFill>
                <a:srgbClr val="04926A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7" name="Text Box 10" descr="大网格"/>
          <p:cNvSpPr txBox="1">
            <a:spLocks noChangeArrowheads="1"/>
          </p:cNvSpPr>
          <p:nvPr/>
        </p:nvSpPr>
        <p:spPr bwMode="auto">
          <a:xfrm>
            <a:off x="6716330" y="4761562"/>
            <a:ext cx="615553" cy="140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</a:rPr>
              <a:t>积分和</a:t>
            </a:r>
            <a:endParaRPr lang="zh-CN" altLang="en-US" sz="4000" dirty="0">
              <a:solidFill>
                <a:srgbClr val="04926A"/>
              </a:solidFill>
            </a:endParaRPr>
          </a:p>
        </p:txBody>
      </p:sp>
      <p:grpSp>
        <p:nvGrpSpPr>
          <p:cNvPr id="48" name="Group 11"/>
          <p:cNvGrpSpPr/>
          <p:nvPr/>
        </p:nvGrpSpPr>
        <p:grpSpPr bwMode="auto">
          <a:xfrm>
            <a:off x="3189750" y="2898129"/>
            <a:ext cx="1082431" cy="1403350"/>
            <a:chOff x="416" y="1056"/>
            <a:chExt cx="1108" cy="1056"/>
          </a:xfrm>
        </p:grpSpPr>
        <p:sp>
          <p:nvSpPr>
            <p:cNvPr id="49" name="Rectangle 12" descr="大网格"/>
            <p:cNvSpPr>
              <a:spLocks noChangeArrowheads="1"/>
            </p:cNvSpPr>
            <p:nvPr/>
          </p:nvSpPr>
          <p:spPr bwMode="auto">
            <a:xfrm>
              <a:off x="416" y="1056"/>
              <a:ext cx="1108" cy="576"/>
            </a:xfrm>
            <a:prstGeom prst="rect">
              <a:avLst/>
            </a:prstGeom>
            <a:noFill/>
            <a:ln w="38100" cap="sq">
              <a:solidFill>
                <a:srgbClr val="A9D18E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AutoShape 13"/>
            <p:cNvSpPr>
              <a:spLocks noChangeArrowheads="1"/>
            </p:cNvSpPr>
            <p:nvPr/>
          </p:nvSpPr>
          <p:spPr bwMode="auto">
            <a:xfrm>
              <a:off x="960" y="1632"/>
              <a:ext cx="48" cy="480"/>
            </a:xfrm>
            <a:prstGeom prst="downArrow">
              <a:avLst>
                <a:gd name="adj1" fmla="val 50000"/>
                <a:gd name="adj2" fmla="val 250000"/>
              </a:avLst>
            </a:prstGeom>
            <a:solidFill>
              <a:srgbClr val="A9D18E"/>
            </a:solidFill>
            <a:ln w="12700" cap="sq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" name="Text Box 14" descr="大网格"/>
          <p:cNvSpPr txBox="1">
            <a:spLocks noChangeArrowheads="1"/>
          </p:cNvSpPr>
          <p:nvPr/>
        </p:nvSpPr>
        <p:spPr bwMode="auto">
          <a:xfrm>
            <a:off x="3240895" y="4296352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A9D18E"/>
                </a:solidFill>
              </a:rPr>
              <a:t>被积函数</a:t>
            </a:r>
            <a:endParaRPr lang="zh-CN" altLang="en-US" sz="1800" dirty="0">
              <a:solidFill>
                <a:srgbClr val="A9D18E"/>
              </a:solidFill>
            </a:endParaRPr>
          </a:p>
        </p:txBody>
      </p:sp>
      <p:grpSp>
        <p:nvGrpSpPr>
          <p:cNvPr id="52" name="Group 15"/>
          <p:cNvGrpSpPr/>
          <p:nvPr/>
        </p:nvGrpSpPr>
        <p:grpSpPr bwMode="auto">
          <a:xfrm>
            <a:off x="3555433" y="3026716"/>
            <a:ext cx="768795" cy="1217613"/>
            <a:chOff x="956" y="1248"/>
            <a:chExt cx="630" cy="969"/>
          </a:xfrm>
        </p:grpSpPr>
        <p:sp>
          <p:nvSpPr>
            <p:cNvPr id="53" name="Rectangle 16" descr="大网格"/>
            <p:cNvSpPr>
              <a:spLocks noChangeArrowheads="1"/>
            </p:cNvSpPr>
            <p:nvPr/>
          </p:nvSpPr>
          <p:spPr bwMode="auto">
            <a:xfrm>
              <a:off x="956" y="1248"/>
              <a:ext cx="484" cy="288"/>
            </a:xfrm>
            <a:prstGeom prst="rect">
              <a:avLst/>
            </a:prstGeom>
            <a:noFill/>
            <a:ln w="19050" cap="sq">
              <a:solidFill>
                <a:srgbClr val="00B0F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AutoShape 17"/>
            <p:cNvSpPr>
              <a:spLocks noChangeArrowheads="1"/>
            </p:cNvSpPr>
            <p:nvPr/>
          </p:nvSpPr>
          <p:spPr bwMode="auto">
            <a:xfrm rot="-1475677">
              <a:off x="1538" y="1497"/>
              <a:ext cx="48" cy="720"/>
            </a:xfrm>
            <a:prstGeom prst="downArrow">
              <a:avLst>
                <a:gd name="adj1" fmla="val 50000"/>
                <a:gd name="adj2" fmla="val 375000"/>
              </a:avLst>
            </a:prstGeom>
            <a:solidFill>
              <a:srgbClr val="00B0F0"/>
            </a:solidFill>
            <a:ln w="12700" cap="sq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5" name="Text Box 18" descr="大网格"/>
          <p:cNvSpPr txBox="1">
            <a:spLocks noChangeArrowheads="1"/>
          </p:cNvSpPr>
          <p:nvPr/>
        </p:nvSpPr>
        <p:spPr bwMode="auto">
          <a:xfrm>
            <a:off x="4202982" y="4220516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66CCFF"/>
                </a:solidFill>
              </a:rPr>
              <a:t>积分变量</a:t>
            </a:r>
            <a:endParaRPr lang="zh-CN" altLang="en-US" sz="4000" dirty="0">
              <a:solidFill>
                <a:srgbClr val="66CCFF"/>
              </a:solidFill>
            </a:endParaRPr>
          </a:p>
        </p:txBody>
      </p:sp>
      <p:sp>
        <p:nvSpPr>
          <p:cNvPr id="56" name="Text Box 19" descr="大网格"/>
          <p:cNvSpPr txBox="1">
            <a:spLocks noChangeArrowheads="1"/>
          </p:cNvSpPr>
          <p:nvPr/>
        </p:nvSpPr>
        <p:spPr bwMode="auto">
          <a:xfrm>
            <a:off x="5572994" y="4076054"/>
            <a:ext cx="615553" cy="1887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CC6600"/>
                </a:solidFill>
              </a:rPr>
              <a:t>被积表达式</a:t>
            </a:r>
            <a:endParaRPr lang="zh-CN" altLang="en-US" sz="4000" dirty="0">
              <a:solidFill>
                <a:srgbClr val="CC66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对象 1"/>
              <p:cNvSpPr txBox="1"/>
              <p:nvPr/>
            </p:nvSpPr>
            <p:spPr>
              <a:xfrm>
                <a:off x="2667000" y="2526400"/>
                <a:ext cx="6781129" cy="141783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nary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effectLst/>
                </a:endParaRPr>
              </a:p>
            </p:txBody>
          </p:sp>
        </mc:Choice>
        <mc:Fallback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2526400"/>
                <a:ext cx="6781129" cy="1417831"/>
              </a:xfrm>
              <a:prstGeom prst="rect">
                <a:avLst/>
              </a:prstGeom>
              <a:blipFill rotWithShape="1">
                <a:blip r:embed="rId4"/>
                <a:stretch>
                  <a:fillRect t="-26" r="9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oup 20"/>
          <p:cNvGrpSpPr/>
          <p:nvPr/>
        </p:nvGrpSpPr>
        <p:grpSpPr bwMode="auto">
          <a:xfrm>
            <a:off x="3126240" y="2785521"/>
            <a:ext cx="2755323" cy="1307994"/>
            <a:chOff x="900" y="1913"/>
            <a:chExt cx="1548" cy="727"/>
          </a:xfrm>
        </p:grpSpPr>
        <p:sp>
          <p:nvSpPr>
            <p:cNvPr id="58" name="Rectangle 21" descr="大网格"/>
            <p:cNvSpPr>
              <a:spLocks noChangeArrowheads="1"/>
            </p:cNvSpPr>
            <p:nvPr/>
          </p:nvSpPr>
          <p:spPr bwMode="auto">
            <a:xfrm>
              <a:off x="900" y="1913"/>
              <a:ext cx="888" cy="467"/>
            </a:xfrm>
            <a:prstGeom prst="rect">
              <a:avLst/>
            </a:prstGeom>
            <a:noFill/>
            <a:ln w="38100" cap="sq">
              <a:solidFill>
                <a:srgbClr val="CC66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22"/>
            <p:cNvSpPr>
              <a:spLocks noChangeShapeType="1"/>
            </p:cNvSpPr>
            <p:nvPr/>
          </p:nvSpPr>
          <p:spPr bwMode="auto">
            <a:xfrm>
              <a:off x="1797" y="2374"/>
              <a:ext cx="651" cy="266"/>
            </a:xfrm>
            <a:prstGeom prst="line">
              <a:avLst/>
            </a:prstGeom>
            <a:noFill/>
            <a:ln w="38100" cap="sq">
              <a:solidFill>
                <a:srgbClr val="CC66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0" name="Group 23"/>
          <p:cNvGrpSpPr/>
          <p:nvPr/>
        </p:nvGrpSpPr>
        <p:grpSpPr bwMode="auto">
          <a:xfrm>
            <a:off x="4256917" y="2912315"/>
            <a:ext cx="2115188" cy="863699"/>
            <a:chOff x="1679" y="1173"/>
            <a:chExt cx="1921" cy="696"/>
          </a:xfrm>
        </p:grpSpPr>
        <p:sp>
          <p:nvSpPr>
            <p:cNvPr id="61" name="Oval 24" descr="大网格"/>
            <p:cNvSpPr>
              <a:spLocks noChangeArrowheads="1"/>
            </p:cNvSpPr>
            <p:nvPr/>
          </p:nvSpPr>
          <p:spPr bwMode="auto">
            <a:xfrm>
              <a:off x="1679" y="1173"/>
              <a:ext cx="467" cy="423"/>
            </a:xfrm>
            <a:prstGeom prst="ellipse">
              <a:avLst/>
            </a:prstGeom>
            <a:noFill/>
            <a:ln w="28575" cap="sq">
              <a:solidFill>
                <a:srgbClr val="7030A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2" name="AutoShape 25"/>
            <p:cNvSpPr>
              <a:spLocks noChangeArrowheads="1"/>
            </p:cNvSpPr>
            <p:nvPr/>
          </p:nvSpPr>
          <p:spPr bwMode="auto">
            <a:xfrm rot="-3949303">
              <a:off x="2764" y="1034"/>
              <a:ext cx="93" cy="1578"/>
            </a:xfrm>
            <a:prstGeom prst="downArrow">
              <a:avLst>
                <a:gd name="adj1" fmla="val 50000"/>
                <a:gd name="adj2" fmla="val 424194"/>
              </a:avLst>
            </a:prstGeom>
            <a:solidFill>
              <a:srgbClr val="7030A0"/>
            </a:solidFill>
            <a:ln w="12700" cap="sq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3" name="Text Box 26" descr="大网格"/>
          <p:cNvSpPr txBox="1">
            <a:spLocks noChangeArrowheads="1"/>
          </p:cNvSpPr>
          <p:nvPr/>
        </p:nvSpPr>
        <p:spPr bwMode="auto">
          <a:xfrm>
            <a:off x="6227579" y="4076054"/>
            <a:ext cx="615553" cy="1818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7030A0"/>
                </a:solidFill>
              </a:rPr>
              <a:t>面积元素</a:t>
            </a:r>
            <a:endParaRPr lang="zh-CN" altLang="en-US" sz="40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 bwMode="auto">
              <a:xfrm>
                <a:off x="1718770" y="724596"/>
                <a:ext cx="891439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的分法及点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CN" sz="28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</m:t>
                            </m:r>
                          </m:e>
                          <m:sub>
                            <m:r>
                              <a:rPr lang="zh-CN" altLang="en-US" sz="28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zh-CN" altLang="en-US" sz="28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的取法无关，则称此极限为</a:t>
                </a:r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8770" y="724596"/>
                <a:ext cx="8914395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5" t="-12" r="1" b="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75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75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75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7" grpId="0"/>
      <p:bldP spid="14439" grpId="0"/>
      <p:bldP spid="14440" grpId="0" build="p"/>
      <p:bldP spid="14442" grpId="0"/>
      <p:bldP spid="43" grpId="0" autoUpdateAnimBg="0"/>
      <p:bldP spid="47" grpId="0" autoUpdateAnimBg="0"/>
      <p:bldP spid="51" grpId="0" autoUpdateAnimBg="0"/>
      <p:bldP spid="55" grpId="0" autoUpdateAnimBg="0"/>
      <p:bldP spid="56" grpId="0" autoUpdateAnimBg="0"/>
      <p:bldP spid="2" grpId="0"/>
      <p:bldP spid="63" grpId="0" autoUpdateAnimBg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1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对象 2"/>
              <p:cNvSpPr txBox="1"/>
              <p:nvPr/>
            </p:nvSpPr>
            <p:spPr>
              <a:xfrm>
                <a:off x="651152" y="1389151"/>
                <a:ext cx="5161157" cy="55566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二重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积分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仍然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是一个数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！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152" y="1389151"/>
                <a:ext cx="5161157" cy="555669"/>
              </a:xfrm>
              <a:prstGeom prst="rect">
                <a:avLst/>
              </a:prstGeom>
              <a:blipFill rotWithShape="1">
                <a:blip r:embed="rId2"/>
                <a:stretch>
                  <a:fillRect l="-5" t="-73" r="3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对象 11"/>
              <p:cNvSpPr txBox="1"/>
              <p:nvPr/>
            </p:nvSpPr>
            <p:spPr>
              <a:xfrm>
                <a:off x="633782" y="3948201"/>
                <a:ext cx="9732962" cy="128366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在有界闭区域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上连续，则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必存在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2" name="对象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82" y="3948201"/>
                <a:ext cx="9732962" cy="1283665"/>
              </a:xfrm>
              <a:prstGeom prst="rect">
                <a:avLst/>
              </a:prstGeom>
              <a:blipFill rotWithShape="1">
                <a:blip r:embed="rId3"/>
                <a:stretch>
                  <a:fillRect l="-1" t="-32" r="4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对象 12"/>
              <p:cNvSpPr txBox="1"/>
              <p:nvPr/>
            </p:nvSpPr>
            <p:spPr>
              <a:xfrm>
                <a:off x="1158797" y="5291579"/>
                <a:ext cx="9501650" cy="54453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后续讨论总假定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上连续，即有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上可积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3" name="对象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797" y="5291579"/>
                <a:ext cx="9501650" cy="544536"/>
              </a:xfrm>
              <a:prstGeom prst="rect">
                <a:avLst/>
              </a:prstGeom>
              <a:blipFill rotWithShape="1">
                <a:blip r:embed="rId4"/>
                <a:stretch>
                  <a:fillRect l="-6" t="-23" r="1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对象 2"/>
              <p:cNvSpPr txBox="1"/>
              <p:nvPr/>
            </p:nvSpPr>
            <p:spPr>
              <a:xfrm>
                <a:off x="633782" y="2773445"/>
                <a:ext cx="3040063" cy="55567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二重</m:t>
                    </m:r>
                    <m:r>
                      <m:rPr>
                        <m:nor/>
                      </m:rPr>
                      <a:rPr lang="zh-CN" altLang="en-US" sz="28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积分</m:t>
                    </m:r>
                  </m:oMath>
                </a14:m>
                <a:r>
                  <a:rPr lang="zh-CN" altLang="en-US" sz="2800" dirty="0"/>
                  <a:t>仅与</a:t>
                </a:r>
                <a:endParaRPr lang="zh-CN" altLang="en-US" sz="2800" dirty="0"/>
              </a:p>
            </p:txBody>
          </p:sp>
        </mc:Choice>
        <mc:Fallback>
          <p:sp>
            <p:nvSpPr>
              <p:cNvPr id="10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82" y="2773445"/>
                <a:ext cx="3040063" cy="555670"/>
              </a:xfrm>
              <a:prstGeom prst="rect">
                <a:avLst/>
              </a:prstGeom>
              <a:blipFill rotWithShape="1">
                <a:blip r:embed="rId5"/>
                <a:stretch>
                  <a:fillRect l="-2" t="-72" r="12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3375666" y="2567528"/>
                <a:ext cx="3040063" cy="961353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被积函数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zh-CN" altLang="en-US" sz="2800" b="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积分区域</m:t>
                              </m:r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          </m:t>
                              </m:r>
                            </m:e>
                          </m:eqArr>
                          <m:r>
                            <a:rPr lang="en-US" altLang="zh-CN" sz="2800" b="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666" y="2567528"/>
                <a:ext cx="3040063" cy="961353"/>
              </a:xfrm>
              <a:prstGeom prst="rect">
                <a:avLst/>
              </a:prstGeom>
              <a:blipFill rotWithShape="1">
                <a:blip r:embed="rId6"/>
                <a:stretch>
                  <a:fillRect t="-23" r="11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对象 2"/>
              <p:cNvSpPr txBox="1"/>
              <p:nvPr/>
            </p:nvSpPr>
            <p:spPr>
              <a:xfrm>
                <a:off x="6096000" y="2756703"/>
                <a:ext cx="1750073" cy="55567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有关</m:t>
                    </m:r>
                  </m:oMath>
                </a14:m>
                <a:r>
                  <a:rPr lang="zh-CN" altLang="en-US" sz="2800" dirty="0"/>
                  <a:t>，与</a:t>
                </a:r>
                <a:endParaRPr lang="zh-CN" altLang="en-US" sz="2800" dirty="0"/>
              </a:p>
            </p:txBody>
          </p:sp>
        </mc:Choice>
        <mc:Fallback>
          <p:sp>
            <p:nvSpPr>
              <p:cNvPr id="15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756703"/>
                <a:ext cx="1750073" cy="555670"/>
              </a:xfrm>
              <a:prstGeom prst="rect">
                <a:avLst/>
              </a:prstGeom>
              <a:blipFill rotWithShape="1">
                <a:blip r:embed="rId7"/>
                <a:stretch>
                  <a:fillRect t="-30" r="1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7589573" y="2278770"/>
                <a:ext cx="3797898" cy="146796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区域分法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                         </m:t>
                              </m:r>
                            </m:e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点</m:t>
                              </m:r>
                              <m:d>
                                <m:d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kumimoji="1" lang="en-US" altLang="zh-CN" sz="2800" i="1" dirty="0">
                                          <a:latin typeface="Cambria Math" panose="02040503050406030204" pitchFamily="18" charset="0"/>
                                          <a:ea typeface="MS Mincho" panose="02020609040205080304" charset="-128"/>
                                          <a:cs typeface="Cambria Math" panose="02040503050406030204" pitchFamily="18" charset="0"/>
                                          <a:sym typeface="Symbol" panose="05050102010706020507" pitchFamily="18" charset="2"/>
                                        </a:rPr>
                                        <m:t></m:t>
                                      </m:r>
                                    </m:e>
                                    <m:sub>
                                      <m:r>
                                        <a:rPr lang="zh-CN" altLang="en-US" sz="28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zh-CN" altLang="en-US" sz="28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的取法</m:t>
                              </m:r>
                              <m:r>
                                <a:rPr lang="zh-CN" altLang="en-US" sz="2800" b="1" i="1" smtClean="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无关</m:t>
                              </m:r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；</m:t>
                              </m:r>
                            </m:e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积分变量符号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                 </m:t>
                              </m:r>
                            </m:e>
                          </m:eqArr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zh-CN" altLang="en-US" sz="2800" b="1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9573" y="2278770"/>
                <a:ext cx="3797898" cy="1467966"/>
              </a:xfrm>
              <a:prstGeom prst="rect">
                <a:avLst/>
              </a:prstGeom>
              <a:blipFill rotWithShape="1">
                <a:blip r:embed="rId8"/>
                <a:stretch>
                  <a:fillRect l="-1" t="-27" r="-3862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/>
          <p:cNvGrpSpPr/>
          <p:nvPr/>
        </p:nvGrpSpPr>
        <p:grpSpPr>
          <a:xfrm>
            <a:off x="791420" y="656047"/>
            <a:ext cx="612775" cy="612775"/>
            <a:chOff x="1601" y="872"/>
            <a:chExt cx="965" cy="965"/>
          </a:xfrm>
        </p:grpSpPr>
        <p:sp>
          <p:nvSpPr>
            <p:cNvPr id="6" name="椭圆 5"/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7" name="文本框 6"/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注</a:t>
              </a:r>
              <a:endPara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3" grpId="0"/>
      <p:bldP spid="10" grpId="0"/>
      <p:bldP spid="14" grpId="0"/>
      <p:bldP spid="15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9434" name="Object 42"/>
              <p:cNvSpPr txBox="1"/>
              <p:nvPr/>
            </p:nvSpPr>
            <p:spPr bwMode="auto">
              <a:xfrm>
                <a:off x="2543712" y="3637496"/>
                <a:ext cx="2825730" cy="13202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9434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3712" y="3637496"/>
                <a:ext cx="2825730" cy="1320228"/>
              </a:xfrm>
              <a:prstGeom prst="rect">
                <a:avLst/>
              </a:prstGeom>
              <a:blipFill rotWithShape="1">
                <a:blip r:embed="rId1"/>
                <a:stretch>
                  <a:fillRect l="-19" t="-16" r="18" b="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435" name="Text Box 43"/>
          <p:cNvSpPr txBox="1">
            <a:spLocks noChangeArrowheads="1"/>
          </p:cNvSpPr>
          <p:nvPr/>
        </p:nvSpPr>
        <p:spPr bwMode="auto">
          <a:xfrm>
            <a:off x="1344275" y="3165437"/>
            <a:ext cx="3886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引例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中曲顶柱体体积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436" name="Object 44"/>
              <p:cNvSpPr txBox="1"/>
              <p:nvPr/>
            </p:nvSpPr>
            <p:spPr bwMode="auto">
              <a:xfrm>
                <a:off x="2543712" y="5253076"/>
                <a:ext cx="2946707" cy="12500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9436" name="Objec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3712" y="5253076"/>
                <a:ext cx="2946707" cy="1250062"/>
              </a:xfrm>
              <a:prstGeom prst="rect">
                <a:avLst/>
              </a:prstGeom>
              <a:blipFill rotWithShape="1">
                <a:blip r:embed="rId2"/>
                <a:stretch>
                  <a:fillRect l="-18" t="-28" r="7" b="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437" name="Text Box 45"/>
          <p:cNvSpPr txBox="1">
            <a:spLocks noChangeArrowheads="1"/>
          </p:cNvSpPr>
          <p:nvPr/>
        </p:nvSpPr>
        <p:spPr bwMode="auto">
          <a:xfrm>
            <a:off x="1344275" y="4866286"/>
            <a:ext cx="4038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引例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平面薄板的质量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457" name="Object 65"/>
              <p:cNvSpPr txBox="1"/>
              <p:nvPr/>
            </p:nvSpPr>
            <p:spPr bwMode="auto">
              <a:xfrm>
                <a:off x="5257554" y="3642856"/>
                <a:ext cx="2948488" cy="12837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9457" name="Object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7554" y="3642856"/>
                <a:ext cx="2948488" cy="1283732"/>
              </a:xfrm>
              <a:prstGeom prst="rect">
                <a:avLst/>
              </a:prstGeom>
              <a:blipFill rotWithShape="1">
                <a:blip r:embed="rId3"/>
                <a:stretch>
                  <a:fillRect l="-13" t="-39" r="19" b="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458" name="Object 66"/>
              <p:cNvSpPr txBox="1"/>
              <p:nvPr/>
            </p:nvSpPr>
            <p:spPr bwMode="auto">
              <a:xfrm>
                <a:off x="5275371" y="5266931"/>
                <a:ext cx="2948489" cy="12837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9458" name="Object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75371" y="5266931"/>
                <a:ext cx="2948489" cy="1283732"/>
              </a:xfrm>
              <a:prstGeom prst="rect">
                <a:avLst/>
              </a:prstGeom>
              <a:blipFill rotWithShape="1">
                <a:blip r:embed="rId4"/>
                <a:stretch>
                  <a:fillRect l="-14" t="-19" r="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reeform 11" descr="大网格"/>
          <p:cNvSpPr/>
          <p:nvPr/>
        </p:nvSpPr>
        <p:spPr bwMode="auto">
          <a:xfrm>
            <a:off x="8911121" y="2554562"/>
            <a:ext cx="1397000" cy="1400175"/>
          </a:xfrm>
          <a:custGeom>
            <a:avLst/>
            <a:gdLst>
              <a:gd name="T0" fmla="*/ 0 w 1309"/>
              <a:gd name="T1" fmla="*/ 546 h 1327"/>
              <a:gd name="T2" fmla="*/ 18 w 1309"/>
              <a:gd name="T3" fmla="*/ 891 h 1327"/>
              <a:gd name="T4" fmla="*/ 73 w 1309"/>
              <a:gd name="T5" fmla="*/ 1145 h 1327"/>
              <a:gd name="T6" fmla="*/ 146 w 1309"/>
              <a:gd name="T7" fmla="*/ 1218 h 1327"/>
              <a:gd name="T8" fmla="*/ 200 w 1309"/>
              <a:gd name="T9" fmla="*/ 1236 h 1327"/>
              <a:gd name="T10" fmla="*/ 346 w 1309"/>
              <a:gd name="T11" fmla="*/ 1273 h 1327"/>
              <a:gd name="T12" fmla="*/ 637 w 1309"/>
              <a:gd name="T13" fmla="*/ 1309 h 1327"/>
              <a:gd name="T14" fmla="*/ 946 w 1309"/>
              <a:gd name="T15" fmla="*/ 1327 h 1327"/>
              <a:gd name="T16" fmla="*/ 1182 w 1309"/>
              <a:gd name="T17" fmla="*/ 1218 h 1327"/>
              <a:gd name="T18" fmla="*/ 1255 w 1309"/>
              <a:gd name="T19" fmla="*/ 1109 h 1327"/>
              <a:gd name="T20" fmla="*/ 1309 w 1309"/>
              <a:gd name="T21" fmla="*/ 909 h 1327"/>
              <a:gd name="T22" fmla="*/ 1200 w 1309"/>
              <a:gd name="T23" fmla="*/ 364 h 1327"/>
              <a:gd name="T24" fmla="*/ 964 w 1309"/>
              <a:gd name="T25" fmla="*/ 55 h 1327"/>
              <a:gd name="T26" fmla="*/ 927 w 1309"/>
              <a:gd name="T27" fmla="*/ 18 h 1327"/>
              <a:gd name="T28" fmla="*/ 764 w 1309"/>
              <a:gd name="T29" fmla="*/ 0 h 1327"/>
              <a:gd name="T30" fmla="*/ 527 w 1309"/>
              <a:gd name="T31" fmla="*/ 37 h 1327"/>
              <a:gd name="T32" fmla="*/ 400 w 1309"/>
              <a:gd name="T33" fmla="*/ 200 h 1327"/>
              <a:gd name="T34" fmla="*/ 237 w 1309"/>
              <a:gd name="T35" fmla="*/ 346 h 1327"/>
              <a:gd name="T36" fmla="*/ 0 w 1309"/>
              <a:gd name="T37" fmla="*/ 546 h 1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309" h="1327">
                <a:moveTo>
                  <a:pt x="0" y="546"/>
                </a:moveTo>
                <a:cubicBezTo>
                  <a:pt x="6" y="661"/>
                  <a:pt x="9" y="776"/>
                  <a:pt x="18" y="891"/>
                </a:cubicBezTo>
                <a:cubicBezTo>
                  <a:pt x="20" y="920"/>
                  <a:pt x="39" y="1111"/>
                  <a:pt x="73" y="1145"/>
                </a:cubicBezTo>
                <a:cubicBezTo>
                  <a:pt x="97" y="1169"/>
                  <a:pt x="122" y="1194"/>
                  <a:pt x="146" y="1218"/>
                </a:cubicBezTo>
                <a:cubicBezTo>
                  <a:pt x="159" y="1231"/>
                  <a:pt x="182" y="1231"/>
                  <a:pt x="200" y="1236"/>
                </a:cubicBezTo>
                <a:cubicBezTo>
                  <a:pt x="248" y="1249"/>
                  <a:pt x="296" y="1265"/>
                  <a:pt x="346" y="1273"/>
                </a:cubicBezTo>
                <a:cubicBezTo>
                  <a:pt x="442" y="1289"/>
                  <a:pt x="540" y="1301"/>
                  <a:pt x="637" y="1309"/>
                </a:cubicBezTo>
                <a:cubicBezTo>
                  <a:pt x="740" y="1318"/>
                  <a:pt x="843" y="1321"/>
                  <a:pt x="946" y="1327"/>
                </a:cubicBezTo>
                <a:cubicBezTo>
                  <a:pt x="1086" y="1304"/>
                  <a:pt x="1082" y="1318"/>
                  <a:pt x="1182" y="1218"/>
                </a:cubicBezTo>
                <a:cubicBezTo>
                  <a:pt x="1213" y="1187"/>
                  <a:pt x="1255" y="1109"/>
                  <a:pt x="1255" y="1109"/>
                </a:cubicBezTo>
                <a:cubicBezTo>
                  <a:pt x="1296" y="945"/>
                  <a:pt x="1276" y="1011"/>
                  <a:pt x="1309" y="909"/>
                </a:cubicBezTo>
                <a:cubicBezTo>
                  <a:pt x="1297" y="722"/>
                  <a:pt x="1307" y="525"/>
                  <a:pt x="1200" y="364"/>
                </a:cubicBezTo>
                <a:cubicBezTo>
                  <a:pt x="1154" y="225"/>
                  <a:pt x="1075" y="144"/>
                  <a:pt x="964" y="55"/>
                </a:cubicBezTo>
                <a:cubicBezTo>
                  <a:pt x="950" y="44"/>
                  <a:pt x="944" y="23"/>
                  <a:pt x="927" y="18"/>
                </a:cubicBezTo>
                <a:cubicBezTo>
                  <a:pt x="874" y="4"/>
                  <a:pt x="818" y="6"/>
                  <a:pt x="764" y="0"/>
                </a:cubicBezTo>
                <a:cubicBezTo>
                  <a:pt x="764" y="0"/>
                  <a:pt x="576" y="4"/>
                  <a:pt x="527" y="37"/>
                </a:cubicBezTo>
                <a:cubicBezTo>
                  <a:pt x="451" y="88"/>
                  <a:pt x="471" y="129"/>
                  <a:pt x="400" y="200"/>
                </a:cubicBezTo>
                <a:cubicBezTo>
                  <a:pt x="353" y="247"/>
                  <a:pt x="292" y="309"/>
                  <a:pt x="237" y="346"/>
                </a:cubicBezTo>
                <a:cubicBezTo>
                  <a:pt x="146" y="407"/>
                  <a:pt x="52" y="439"/>
                  <a:pt x="0" y="546"/>
                </a:cubicBezTo>
                <a:close/>
              </a:path>
            </a:pathLst>
          </a:custGeom>
          <a:pattFill prst="lgGrid">
            <a:fgClr>
              <a:schemeClr val="tx1"/>
            </a:fgClr>
            <a:bgClr>
              <a:srgbClr val="FFFFFF"/>
            </a:bgClr>
          </a:pattFill>
          <a:ln w="28575" cap="sq" cmpd="sng">
            <a:solidFill>
              <a:schemeClr val="accent2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3" name="Group 18"/>
          <p:cNvGrpSpPr/>
          <p:nvPr/>
        </p:nvGrpSpPr>
        <p:grpSpPr bwMode="auto">
          <a:xfrm>
            <a:off x="8145948" y="2233887"/>
            <a:ext cx="2774951" cy="2395538"/>
            <a:chOff x="3406" y="758"/>
            <a:chExt cx="1748" cy="1509"/>
          </a:xfrm>
        </p:grpSpPr>
        <p:grpSp>
          <p:nvGrpSpPr>
            <p:cNvPr id="24" name="Group 5"/>
            <p:cNvGrpSpPr/>
            <p:nvPr/>
          </p:nvGrpSpPr>
          <p:grpSpPr bwMode="auto">
            <a:xfrm>
              <a:off x="3406" y="758"/>
              <a:ext cx="1748" cy="1509"/>
              <a:chOff x="380" y="3"/>
              <a:chExt cx="2600" cy="2270"/>
            </a:xfrm>
          </p:grpSpPr>
          <p:sp>
            <p:nvSpPr>
              <p:cNvPr id="27" name="Line 6"/>
              <p:cNvSpPr>
                <a:spLocks noChangeShapeType="1"/>
              </p:cNvSpPr>
              <p:nvPr/>
            </p:nvSpPr>
            <p:spPr bwMode="auto">
              <a:xfrm flipV="1">
                <a:off x="888" y="137"/>
                <a:ext cx="0" cy="1968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Line 7"/>
              <p:cNvSpPr>
                <a:spLocks noChangeShapeType="1"/>
              </p:cNvSpPr>
              <p:nvPr/>
            </p:nvSpPr>
            <p:spPr bwMode="auto">
              <a:xfrm>
                <a:off x="380" y="1850"/>
                <a:ext cx="254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" name="Object 8"/>
                  <p:cNvSpPr txBox="1"/>
                  <p:nvPr/>
                </p:nvSpPr>
                <p:spPr bwMode="auto">
                  <a:xfrm>
                    <a:off x="2589" y="1759"/>
                    <a:ext cx="391" cy="48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>
              <p:sp>
                <p:nvSpPr>
                  <p:cNvPr id="29" name="Object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589" y="1759"/>
                    <a:ext cx="391" cy="487"/>
                  </a:xfrm>
                  <a:prstGeom prst="rect">
                    <a:avLst/>
                  </a:prstGeom>
                  <a:blipFill rotWithShape="1">
                    <a:blip r:embed="rId5"/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" name="Object 9"/>
                  <p:cNvSpPr txBox="1"/>
                  <p:nvPr/>
                </p:nvSpPr>
                <p:spPr bwMode="auto">
                  <a:xfrm>
                    <a:off x="491" y="3"/>
                    <a:ext cx="507" cy="4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>
              <p:sp>
                <p:nvSpPr>
                  <p:cNvPr id="30" name="Object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91" y="3"/>
                    <a:ext cx="507" cy="492"/>
                  </a:xfrm>
                  <a:prstGeom prst="rect">
                    <a:avLst/>
                  </a:prstGeom>
                  <a:blipFill rotWithShape="1">
                    <a:blip r:embed="rId6"/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Object 10"/>
                  <p:cNvSpPr txBox="1"/>
                  <p:nvPr/>
                </p:nvSpPr>
                <p:spPr bwMode="auto">
                  <a:xfrm>
                    <a:off x="542" y="1786"/>
                    <a:ext cx="691" cy="48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zh-CN" altLang="en-US" sz="2800" i="1" dirty="0"/>
                  </a:p>
                </p:txBody>
              </p:sp>
            </mc:Choice>
            <mc:Fallback>
              <p:sp>
                <p:nvSpPr>
                  <p:cNvPr id="31" name="Object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42" y="1786"/>
                    <a:ext cx="691" cy="487"/>
                  </a:xfrm>
                  <a:prstGeom prst="rect">
                    <a:avLst/>
                  </a:prstGeom>
                  <a:blipFill rotWithShape="1">
                    <a:blip r:embed="rId7"/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 Box 12" descr="大网格"/>
                <p:cNvSpPr txBox="1">
                  <a:spLocks noChangeArrowheads="1"/>
                </p:cNvSpPr>
                <p:nvPr/>
              </p:nvSpPr>
              <p:spPr bwMode="auto">
                <a:xfrm>
                  <a:off x="4282" y="1337"/>
                  <a:ext cx="393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lgGrid">
                        <a:fgClr>
                          <a:schemeClr val="tx2"/>
                        </a:fgClr>
                        <a:bgClr>
                          <a:srgbClr val="FFFFFF"/>
                        </a:bgClr>
                      </a:patt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altLang="zh-CN" sz="1800" dirty="0"/>
                </a:p>
              </p:txBody>
            </p:sp>
          </mc:Choice>
          <mc:Fallback>
            <p:sp>
              <p:nvSpPr>
                <p:cNvPr id="25" name="Text Box 12" descr="大网格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82" y="1337"/>
                  <a:ext cx="393" cy="330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lgGrid">
                        <a:fgClr>
                          <a:schemeClr val="tx2"/>
                        </a:fgClr>
                        <a:bgClr>
                          <a:srgbClr val="FFFFFF"/>
                        </a:bgClr>
                      </a:patt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Freeform 17" descr="大网格"/>
            <p:cNvSpPr/>
            <p:nvPr/>
          </p:nvSpPr>
          <p:spPr bwMode="auto">
            <a:xfrm>
              <a:off x="3888" y="960"/>
              <a:ext cx="880" cy="882"/>
            </a:xfrm>
            <a:custGeom>
              <a:avLst/>
              <a:gdLst>
                <a:gd name="T0" fmla="*/ 0 w 1309"/>
                <a:gd name="T1" fmla="*/ 546 h 1327"/>
                <a:gd name="T2" fmla="*/ 18 w 1309"/>
                <a:gd name="T3" fmla="*/ 891 h 1327"/>
                <a:gd name="T4" fmla="*/ 73 w 1309"/>
                <a:gd name="T5" fmla="*/ 1145 h 1327"/>
                <a:gd name="T6" fmla="*/ 146 w 1309"/>
                <a:gd name="T7" fmla="*/ 1218 h 1327"/>
                <a:gd name="T8" fmla="*/ 200 w 1309"/>
                <a:gd name="T9" fmla="*/ 1236 h 1327"/>
                <a:gd name="T10" fmla="*/ 346 w 1309"/>
                <a:gd name="T11" fmla="*/ 1273 h 1327"/>
                <a:gd name="T12" fmla="*/ 637 w 1309"/>
                <a:gd name="T13" fmla="*/ 1309 h 1327"/>
                <a:gd name="T14" fmla="*/ 946 w 1309"/>
                <a:gd name="T15" fmla="*/ 1327 h 1327"/>
                <a:gd name="T16" fmla="*/ 1182 w 1309"/>
                <a:gd name="T17" fmla="*/ 1218 h 1327"/>
                <a:gd name="T18" fmla="*/ 1255 w 1309"/>
                <a:gd name="T19" fmla="*/ 1109 h 1327"/>
                <a:gd name="T20" fmla="*/ 1309 w 1309"/>
                <a:gd name="T21" fmla="*/ 909 h 1327"/>
                <a:gd name="T22" fmla="*/ 1200 w 1309"/>
                <a:gd name="T23" fmla="*/ 364 h 1327"/>
                <a:gd name="T24" fmla="*/ 964 w 1309"/>
                <a:gd name="T25" fmla="*/ 55 h 1327"/>
                <a:gd name="T26" fmla="*/ 927 w 1309"/>
                <a:gd name="T27" fmla="*/ 18 h 1327"/>
                <a:gd name="T28" fmla="*/ 764 w 1309"/>
                <a:gd name="T29" fmla="*/ 0 h 1327"/>
                <a:gd name="T30" fmla="*/ 527 w 1309"/>
                <a:gd name="T31" fmla="*/ 37 h 1327"/>
                <a:gd name="T32" fmla="*/ 400 w 1309"/>
                <a:gd name="T33" fmla="*/ 200 h 1327"/>
                <a:gd name="T34" fmla="*/ 237 w 1309"/>
                <a:gd name="T35" fmla="*/ 346 h 1327"/>
                <a:gd name="T36" fmla="*/ 0 w 1309"/>
                <a:gd name="T37" fmla="*/ 546 h 1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09" h="1327">
                  <a:moveTo>
                    <a:pt x="0" y="546"/>
                  </a:moveTo>
                  <a:cubicBezTo>
                    <a:pt x="6" y="661"/>
                    <a:pt x="9" y="776"/>
                    <a:pt x="18" y="891"/>
                  </a:cubicBezTo>
                  <a:cubicBezTo>
                    <a:pt x="20" y="920"/>
                    <a:pt x="39" y="1111"/>
                    <a:pt x="73" y="1145"/>
                  </a:cubicBezTo>
                  <a:cubicBezTo>
                    <a:pt x="97" y="1169"/>
                    <a:pt x="122" y="1194"/>
                    <a:pt x="146" y="1218"/>
                  </a:cubicBezTo>
                  <a:cubicBezTo>
                    <a:pt x="159" y="1231"/>
                    <a:pt x="182" y="1231"/>
                    <a:pt x="200" y="1236"/>
                  </a:cubicBezTo>
                  <a:cubicBezTo>
                    <a:pt x="248" y="1249"/>
                    <a:pt x="296" y="1265"/>
                    <a:pt x="346" y="1273"/>
                  </a:cubicBezTo>
                  <a:cubicBezTo>
                    <a:pt x="442" y="1289"/>
                    <a:pt x="540" y="1301"/>
                    <a:pt x="637" y="1309"/>
                  </a:cubicBezTo>
                  <a:cubicBezTo>
                    <a:pt x="740" y="1318"/>
                    <a:pt x="843" y="1321"/>
                    <a:pt x="946" y="1327"/>
                  </a:cubicBezTo>
                  <a:cubicBezTo>
                    <a:pt x="1086" y="1304"/>
                    <a:pt x="1082" y="1318"/>
                    <a:pt x="1182" y="1218"/>
                  </a:cubicBezTo>
                  <a:cubicBezTo>
                    <a:pt x="1213" y="1187"/>
                    <a:pt x="1255" y="1109"/>
                    <a:pt x="1255" y="1109"/>
                  </a:cubicBezTo>
                  <a:cubicBezTo>
                    <a:pt x="1296" y="945"/>
                    <a:pt x="1276" y="1011"/>
                    <a:pt x="1309" y="909"/>
                  </a:cubicBezTo>
                  <a:cubicBezTo>
                    <a:pt x="1297" y="722"/>
                    <a:pt x="1307" y="525"/>
                    <a:pt x="1200" y="364"/>
                  </a:cubicBezTo>
                  <a:cubicBezTo>
                    <a:pt x="1154" y="225"/>
                    <a:pt x="1075" y="144"/>
                    <a:pt x="964" y="55"/>
                  </a:cubicBezTo>
                  <a:cubicBezTo>
                    <a:pt x="950" y="44"/>
                    <a:pt x="944" y="23"/>
                    <a:pt x="927" y="18"/>
                  </a:cubicBezTo>
                  <a:cubicBezTo>
                    <a:pt x="874" y="4"/>
                    <a:pt x="818" y="6"/>
                    <a:pt x="764" y="0"/>
                  </a:cubicBezTo>
                  <a:cubicBezTo>
                    <a:pt x="764" y="0"/>
                    <a:pt x="576" y="4"/>
                    <a:pt x="527" y="37"/>
                  </a:cubicBezTo>
                  <a:cubicBezTo>
                    <a:pt x="451" y="88"/>
                    <a:pt x="471" y="129"/>
                    <a:pt x="400" y="200"/>
                  </a:cubicBezTo>
                  <a:cubicBezTo>
                    <a:pt x="353" y="247"/>
                    <a:pt x="292" y="309"/>
                    <a:pt x="237" y="346"/>
                  </a:cubicBezTo>
                  <a:cubicBezTo>
                    <a:pt x="146" y="407"/>
                    <a:pt x="52" y="439"/>
                    <a:pt x="0" y="546"/>
                  </a:cubicBezTo>
                  <a:close/>
                </a:path>
              </a:pathLst>
            </a:custGeom>
            <a:noFill/>
            <a:ln w="28575" cap="sq" cmpd="sng">
              <a:solidFill>
                <a:srgbClr val="04926A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1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763954" y="600507"/>
                <a:ext cx="994422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/>
                  <a:t>在直角坐标系下用平行于坐标轴的直线网来划分区域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𝐷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54" y="600507"/>
                <a:ext cx="9944224" cy="523220"/>
              </a:xfrm>
              <a:prstGeom prst="rect">
                <a:avLst/>
              </a:prstGeom>
              <a:blipFill rotWithShape="1">
                <a:blip r:embed="rId9"/>
                <a:stretch>
                  <a:fillRect t="-83" r="2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19"/>
          <p:cNvSpPr>
            <a:spLocks noChangeArrowheads="1"/>
          </p:cNvSpPr>
          <p:nvPr/>
        </p:nvSpPr>
        <p:spPr bwMode="auto">
          <a:xfrm>
            <a:off x="1344275" y="1083347"/>
            <a:ext cx="23643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dirty="0"/>
              <a:t>则面积元素为</a:t>
            </a:r>
            <a:endParaRPr lang="zh-CN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对象 2"/>
              <p:cNvSpPr txBox="1"/>
              <p:nvPr/>
            </p:nvSpPr>
            <p:spPr>
              <a:xfrm>
                <a:off x="3559816" y="1094573"/>
                <a:ext cx="1877438" cy="56119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816" y="1094573"/>
                <a:ext cx="1877438" cy="561190"/>
              </a:xfrm>
              <a:prstGeom prst="rect">
                <a:avLst/>
              </a:prstGeom>
              <a:blipFill rotWithShape="1">
                <a:blip r:embed="rId10"/>
                <a:stretch>
                  <a:fillRect t="-83" r="20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Object 3"/>
              <p:cNvSpPr txBox="1"/>
              <p:nvPr/>
            </p:nvSpPr>
            <p:spPr bwMode="auto">
              <a:xfrm>
                <a:off x="2543712" y="1977598"/>
                <a:ext cx="5247728" cy="11660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3712" y="1977598"/>
                <a:ext cx="5247728" cy="1166007"/>
              </a:xfrm>
              <a:prstGeom prst="rect">
                <a:avLst/>
              </a:prstGeom>
              <a:blipFill rotWithShape="1">
                <a:blip r:embed="rId11"/>
                <a:stretch>
                  <a:fillRect l="-10" t="-18" r="12" b="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Box 14" descr="大网格"/>
          <p:cNvSpPr txBox="1">
            <a:spLocks noChangeArrowheads="1"/>
          </p:cNvSpPr>
          <p:nvPr/>
        </p:nvSpPr>
        <p:spPr bwMode="auto">
          <a:xfrm>
            <a:off x="1344275" y="1573952"/>
            <a:ext cx="30335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dirty="0"/>
              <a:t>故二重积分可写为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9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9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9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34" grpId="0"/>
      <p:bldP spid="59435" grpId="0"/>
      <p:bldP spid="59436" grpId="0"/>
      <p:bldP spid="59437" grpId="0"/>
      <p:bldP spid="59457" grpId="0"/>
      <p:bldP spid="59458" grpId="0"/>
      <p:bldP spid="22" grpId="0" animBg="1"/>
      <p:bldP spid="2" grpId="0"/>
      <p:bldP spid="33" grpId="0"/>
      <p:bldP spid="3" grpId="0"/>
      <p:bldP spid="35" grpId="0"/>
      <p:bldP spid="3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6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9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02493" y="1142251"/>
            <a:ext cx="4363806" cy="609600"/>
          </a:xfrm>
          <a:ln w="28575">
            <a:noFill/>
            <a:prstDash val="dashDot"/>
          </a:ln>
        </p:spPr>
        <p:txBody>
          <a:bodyPr>
            <a:normAutofit/>
          </a:bodyPr>
          <a:lstStyle/>
          <a:p>
            <a:pPr algn="l"/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二重积分的几何意义</a:t>
            </a:r>
            <a:endParaRPr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6355511" y="2038126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曲顶柱体的体积；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3" name="Text Box 6"/>
          <p:cNvSpPr txBox="1">
            <a:spLocks noChangeArrowheads="1"/>
          </p:cNvSpPr>
          <p:nvPr/>
        </p:nvSpPr>
        <p:spPr bwMode="auto">
          <a:xfrm>
            <a:off x="6355511" y="2576938"/>
            <a:ext cx="37925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曲顶柱体的体积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的负值；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4" name="Text Box 29"/>
          <p:cNvSpPr txBox="1">
            <a:spLocks noChangeArrowheads="1"/>
          </p:cNvSpPr>
          <p:nvPr/>
        </p:nvSpPr>
        <p:spPr bwMode="auto">
          <a:xfrm>
            <a:off x="6341656" y="3119858"/>
            <a:ext cx="51142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各部分曲顶柱体体积的代数和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对象 44"/>
              <p:cNvSpPr txBox="1"/>
              <p:nvPr/>
            </p:nvSpPr>
            <p:spPr>
              <a:xfrm>
                <a:off x="3563067" y="2142053"/>
                <a:ext cx="2362515" cy="181824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)&gt;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)&lt;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一般情况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45" name="对象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067" y="2142053"/>
                <a:ext cx="2362515" cy="1818248"/>
              </a:xfrm>
              <a:prstGeom prst="rect">
                <a:avLst/>
              </a:prstGeom>
              <a:blipFill rotWithShape="1">
                <a:blip r:embed="rId2"/>
                <a:stretch>
                  <a:fillRect l="-3" t="-11" r="17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对象 45"/>
              <p:cNvSpPr txBox="1"/>
              <p:nvPr/>
            </p:nvSpPr>
            <p:spPr>
              <a:xfrm>
                <a:off x="1524370" y="2334546"/>
                <a:ext cx="2362515" cy="127613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46" name="对象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370" y="2334546"/>
                <a:ext cx="2362515" cy="1276130"/>
              </a:xfrm>
              <a:prstGeom prst="rect">
                <a:avLst/>
              </a:prstGeom>
              <a:blipFill rotWithShape="1">
                <a:blip r:embed="rId3"/>
                <a:stretch>
                  <a:fillRect l="-16" t="-22" r="2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/>
          <p:cNvCxnSpPr/>
          <p:nvPr/>
        </p:nvCxnSpPr>
        <p:spPr>
          <a:xfrm flipV="1">
            <a:off x="5711511" y="2327834"/>
            <a:ext cx="644000" cy="13424"/>
          </a:xfrm>
          <a:prstGeom prst="line">
            <a:avLst/>
          </a:prstGeom>
          <a:ln w="38100">
            <a:solidFill>
              <a:srgbClr val="04926A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V="1">
            <a:off x="5711511" y="2852987"/>
            <a:ext cx="644000" cy="13424"/>
          </a:xfrm>
          <a:prstGeom prst="line">
            <a:avLst/>
          </a:prstGeom>
          <a:ln w="38100">
            <a:solidFill>
              <a:srgbClr val="04926A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5697656" y="3393884"/>
            <a:ext cx="644000" cy="13424"/>
          </a:xfrm>
          <a:prstGeom prst="line">
            <a:avLst/>
          </a:prstGeom>
          <a:ln w="38100">
            <a:solidFill>
              <a:srgbClr val="04926A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对象 53"/>
              <p:cNvSpPr txBox="1"/>
              <p:nvPr/>
            </p:nvSpPr>
            <p:spPr>
              <a:xfrm>
                <a:off x="1483527" y="3856442"/>
                <a:ext cx="2348484" cy="127337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4" name="对象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527" y="3856442"/>
                <a:ext cx="2348484" cy="1273376"/>
              </a:xfrm>
              <a:prstGeom prst="rect">
                <a:avLst/>
              </a:prstGeom>
              <a:blipFill rotWithShape="1">
                <a:blip r:embed="rId4"/>
                <a:stretch>
                  <a:fillRect l="-7" t="-7" r="18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 Box 4"/>
          <p:cNvSpPr txBox="1">
            <a:spLocks noChangeArrowheads="1"/>
          </p:cNvSpPr>
          <p:nvPr/>
        </p:nvSpPr>
        <p:spPr bwMode="auto">
          <a:xfrm>
            <a:off x="4400136" y="4203641"/>
            <a:ext cx="4572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各部分曲顶柱体体积之和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56" name="直接连接符 55"/>
          <p:cNvCxnSpPr/>
          <p:nvPr/>
        </p:nvCxnSpPr>
        <p:spPr>
          <a:xfrm flipV="1">
            <a:off x="3756136" y="4470097"/>
            <a:ext cx="644000" cy="13424"/>
          </a:xfrm>
          <a:prstGeom prst="line">
            <a:avLst/>
          </a:prstGeom>
          <a:ln w="38100">
            <a:solidFill>
              <a:srgbClr val="04926A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42" grpId="0"/>
      <p:bldP spid="43" grpId="0"/>
      <p:bldP spid="44" grpId="0"/>
      <p:bldP spid="45" grpId="0"/>
      <p:bldP spid="46" grpId="0"/>
      <p:bldP spid="54" grpId="0"/>
      <p:bldP spid="5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5" name="Rectangle 27"/>
          <p:cNvSpPr>
            <a:spLocks noGrp="1" noChangeArrowheads="1"/>
          </p:cNvSpPr>
          <p:nvPr>
            <p:ph type="title"/>
          </p:nvPr>
        </p:nvSpPr>
        <p:spPr>
          <a:xfrm>
            <a:off x="614548" y="777136"/>
            <a:ext cx="4106309" cy="591930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三、二重积分的性质</a:t>
            </a:r>
            <a:endParaRPr lang="zh-CN" altLang="en-US" sz="32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Text Box 122"/>
          <p:cNvSpPr txBox="1">
            <a:spLocks noChangeArrowheads="1"/>
          </p:cNvSpPr>
          <p:nvPr/>
        </p:nvSpPr>
        <p:spPr bwMode="auto">
          <a:xfrm>
            <a:off x="581046" y="1477268"/>
            <a:ext cx="26618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</a:t>
            </a:r>
            <a:r>
              <a:rPr lang="en-US" altLang="zh-CN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</a:t>
            </a:r>
            <a:r>
              <a:rPr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（线性）</a:t>
            </a:r>
            <a:endParaRPr lang="zh-CN" altLang="en-US" sz="2800" dirty="0">
              <a:solidFill>
                <a:srgbClr val="04926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" name="Text Box 124"/>
          <p:cNvSpPr txBox="1">
            <a:spLocks noChangeArrowheads="1"/>
          </p:cNvSpPr>
          <p:nvPr/>
        </p:nvSpPr>
        <p:spPr bwMode="auto">
          <a:xfrm>
            <a:off x="581046" y="3351856"/>
            <a:ext cx="37775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</a:t>
            </a:r>
            <a:r>
              <a:rPr lang="en-US" altLang="zh-CN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（区域可加性）</a:t>
            </a:r>
            <a:endParaRPr lang="zh-CN" altLang="en-US" sz="2800" dirty="0">
              <a:solidFill>
                <a:srgbClr val="04926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对象 1"/>
              <p:cNvSpPr txBox="1"/>
              <p:nvPr/>
            </p:nvSpPr>
            <p:spPr>
              <a:xfrm>
                <a:off x="537433" y="2010412"/>
                <a:ext cx="11348685" cy="125563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m:rPr>
                              <m:nor/>
                            </m:rPr>
                            <a:rPr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)]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433" y="2010412"/>
                <a:ext cx="11348685" cy="1255639"/>
              </a:xfrm>
              <a:prstGeom prst="rect">
                <a:avLst/>
              </a:prstGeom>
              <a:blipFill rotWithShape="1">
                <a:blip r:embed="rId1"/>
                <a:stretch>
                  <a:fillRect l="-2" r="2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对象 2"/>
              <p:cNvSpPr txBox="1"/>
              <p:nvPr/>
            </p:nvSpPr>
            <p:spPr>
              <a:xfrm>
                <a:off x="537433" y="4017250"/>
                <a:ext cx="8477894" cy="138130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433" y="4017250"/>
                <a:ext cx="8477894" cy="1381302"/>
              </a:xfrm>
              <a:prstGeom prst="rect">
                <a:avLst/>
              </a:prstGeom>
              <a:blipFill rotWithShape="1">
                <a:blip r:embed="rId2"/>
                <a:stretch>
                  <a:fillRect l="-3" t="-17" r="3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对象 3"/>
              <p:cNvSpPr txBox="1"/>
              <p:nvPr/>
            </p:nvSpPr>
            <p:spPr>
              <a:xfrm>
                <a:off x="4177878" y="3351856"/>
                <a:ext cx="6159798" cy="57958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设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800" i="0" dirty="0">
                    <a:solidFill>
                      <a:srgbClr val="000000"/>
                    </a:solidFill>
                    <a:latin typeface="+mj-lt"/>
                  </a:rPr>
                  <a:t>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, 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无公共内点，则</m:t>
                    </m:r>
                  </m:oMath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7878" y="3351856"/>
                <a:ext cx="6159798" cy="579589"/>
              </a:xfrm>
              <a:prstGeom prst="rect">
                <a:avLst/>
              </a:prstGeom>
              <a:blipFill rotWithShape="1">
                <a:blip r:embed="rId3"/>
                <a:stretch>
                  <a:fillRect l="-3" t="-56" r="8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对象 4"/>
              <p:cNvSpPr txBox="1"/>
              <p:nvPr/>
            </p:nvSpPr>
            <p:spPr>
              <a:xfrm>
                <a:off x="3122491" y="1483519"/>
                <a:ext cx="3216560" cy="55972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为常数，则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491" y="1483519"/>
                <a:ext cx="3216560" cy="559726"/>
              </a:xfrm>
              <a:prstGeom prst="rect">
                <a:avLst/>
              </a:prstGeom>
              <a:blipFill rotWithShape="1">
                <a:blip r:embed="rId4"/>
                <a:stretch>
                  <a:fillRect l="-6" t="-28" r="15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124"/>
          <p:cNvSpPr txBox="1">
            <a:spLocks noChangeArrowheads="1"/>
          </p:cNvSpPr>
          <p:nvPr/>
        </p:nvSpPr>
        <p:spPr bwMode="auto">
          <a:xfrm>
            <a:off x="581046" y="5484357"/>
            <a:ext cx="55645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性质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均可推广到有限多情形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95" grpId="0"/>
      <p:bldP spid="12" grpId="0"/>
      <p:bldP spid="14" grpId="0"/>
      <p:bldP spid="2" grpId="0"/>
      <p:bldP spid="3" grpId="0"/>
      <p:bldP spid="4" grpId="0"/>
      <p:bldP spid="5" grpId="0"/>
      <p:bldP spid="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0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6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" name="Text Box 122"/>
          <p:cNvSpPr txBox="1">
            <a:spLocks noChangeArrowheads="1"/>
          </p:cNvSpPr>
          <p:nvPr/>
        </p:nvSpPr>
        <p:spPr bwMode="auto">
          <a:xfrm>
            <a:off x="2382219" y="596717"/>
            <a:ext cx="11477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</a:t>
            </a:r>
            <a:r>
              <a:rPr lang="en-US" altLang="zh-CN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 </a:t>
            </a:r>
            <a:endParaRPr lang="zh-CN" altLang="en-US" sz="2800" b="1" dirty="0">
              <a:solidFill>
                <a:srgbClr val="04926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" name="Text Box 124"/>
          <p:cNvSpPr txBox="1">
            <a:spLocks noChangeArrowheads="1"/>
          </p:cNvSpPr>
          <p:nvPr/>
        </p:nvSpPr>
        <p:spPr bwMode="auto">
          <a:xfrm>
            <a:off x="2382219" y="2526080"/>
            <a:ext cx="12434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</a:t>
            </a:r>
            <a:r>
              <a:rPr lang="en-US" altLang="zh-CN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04926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对象 1"/>
              <p:cNvSpPr txBox="1"/>
              <p:nvPr/>
            </p:nvSpPr>
            <p:spPr>
              <a:xfrm>
                <a:off x="3487892" y="1201391"/>
                <a:ext cx="4529057" cy="126491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892" y="1201391"/>
                <a:ext cx="4529057" cy="1264919"/>
              </a:xfrm>
              <a:prstGeom prst="rect">
                <a:avLst/>
              </a:prstGeom>
              <a:blipFill rotWithShape="1">
                <a:blip r:embed="rId2"/>
                <a:stretch>
                  <a:fillRect l="-10" t="-48" r="2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对象 2"/>
              <p:cNvSpPr txBox="1"/>
              <p:nvPr/>
            </p:nvSpPr>
            <p:spPr>
              <a:xfrm>
                <a:off x="3487893" y="3181228"/>
                <a:ext cx="5815596" cy="130715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893" y="3181228"/>
                <a:ext cx="5815596" cy="1307159"/>
              </a:xfrm>
              <a:prstGeom prst="rect">
                <a:avLst/>
              </a:prstGeom>
              <a:blipFill rotWithShape="1">
                <a:blip r:embed="rId3"/>
                <a:stretch>
                  <a:fillRect l="-8" t="-39" r="2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对象 3"/>
              <p:cNvSpPr txBox="1"/>
              <p:nvPr/>
            </p:nvSpPr>
            <p:spPr>
              <a:xfrm>
                <a:off x="3487892" y="2553680"/>
                <a:ext cx="6081410" cy="51443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如果在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上，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m:rPr>
                          <m:nor/>
                        </m:rPr>
                        <a:rPr lang="en-US" altLang="zh-CN" sz="2800" i="1" dirty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g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892" y="2553680"/>
                <a:ext cx="6081410" cy="514432"/>
              </a:xfrm>
              <a:prstGeom prst="rect">
                <a:avLst/>
              </a:prstGeom>
              <a:blipFill rotWithShape="1">
                <a:blip r:embed="rId4"/>
                <a:stretch>
                  <a:fillRect l="-8" t="-67" r="8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对象 4"/>
              <p:cNvSpPr txBox="1"/>
              <p:nvPr/>
            </p:nvSpPr>
            <p:spPr>
              <a:xfrm>
                <a:off x="3487892" y="617983"/>
                <a:ext cx="3923001" cy="49973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为区域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的面积，则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892" y="617983"/>
                <a:ext cx="3923001" cy="499734"/>
              </a:xfrm>
              <a:prstGeom prst="rect">
                <a:avLst/>
              </a:prstGeom>
              <a:blipFill rotWithShape="1">
                <a:blip r:embed="rId5"/>
                <a:stretch>
                  <a:fillRect l="-12" t="-26" r="11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2382219" y="5015041"/>
            <a:ext cx="13502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ea typeface="黑体" panose="02010609060101010101" pitchFamily="49" charset="-122"/>
              </a:rPr>
              <a:t>特殊地</a:t>
            </a:r>
            <a:endParaRPr lang="zh-CN" altLang="en-US" sz="2800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17"/>
              <p:cNvSpPr txBox="1"/>
              <p:nvPr/>
            </p:nvSpPr>
            <p:spPr bwMode="auto">
              <a:xfrm>
                <a:off x="3487892" y="4507771"/>
                <a:ext cx="5996350" cy="15377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∬"/>
                              <m:limLoc m:val="undOvr"/>
                              <m:sup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/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3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7892" y="4507771"/>
                <a:ext cx="5996350" cy="1537761"/>
              </a:xfrm>
              <a:prstGeom prst="rect">
                <a:avLst/>
              </a:prstGeom>
              <a:blipFill rotWithShape="1">
                <a:blip r:embed="rId6"/>
                <a:stretch>
                  <a:fillRect l="-8" t="-35" r="9" b="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2" grpId="0"/>
      <p:bldP spid="3" grpId="0"/>
      <p:bldP spid="4" grpId="0"/>
      <p:bldP spid="5" grpId="0"/>
      <p:bldP spid="11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3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8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" name="Text Box 122"/>
          <p:cNvSpPr txBox="1">
            <a:spLocks noChangeArrowheads="1"/>
          </p:cNvSpPr>
          <p:nvPr/>
        </p:nvSpPr>
        <p:spPr bwMode="auto">
          <a:xfrm>
            <a:off x="1458794" y="889047"/>
            <a:ext cx="11956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</a:t>
            </a:r>
            <a:r>
              <a:rPr lang="en-US" altLang="zh-CN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</a:t>
            </a:r>
            <a:endParaRPr lang="zh-CN" altLang="en-US" sz="2800" b="1" dirty="0">
              <a:solidFill>
                <a:srgbClr val="04926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" name="Text Box 124"/>
          <p:cNvSpPr txBox="1">
            <a:spLocks noChangeArrowheads="1"/>
          </p:cNvSpPr>
          <p:nvPr/>
        </p:nvSpPr>
        <p:spPr bwMode="auto">
          <a:xfrm>
            <a:off x="1458794" y="3296753"/>
            <a:ext cx="12864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</a:t>
            </a:r>
            <a:r>
              <a:rPr lang="en-US" altLang="zh-CN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2800" b="1" dirty="0">
              <a:solidFill>
                <a:srgbClr val="04926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对象 1"/>
              <p:cNvSpPr txBox="1"/>
              <p:nvPr/>
            </p:nvSpPr>
            <p:spPr>
              <a:xfrm>
                <a:off x="2745195" y="2000241"/>
                <a:ext cx="5008429" cy="122819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195" y="2000241"/>
                <a:ext cx="5008429" cy="1228193"/>
              </a:xfrm>
              <a:prstGeom prst="rect">
                <a:avLst/>
              </a:prstGeom>
              <a:blipFill rotWithShape="1">
                <a:blip r:embed="rId2"/>
                <a:stretch>
                  <a:fillRect l="-2" t="-51" r="5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对象 2"/>
              <p:cNvSpPr txBox="1"/>
              <p:nvPr/>
            </p:nvSpPr>
            <p:spPr>
              <a:xfrm>
                <a:off x="2745195" y="4568459"/>
                <a:ext cx="4288170" cy="131134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sz="28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  <a:sym typeface="Symbol" panose="05050102010706020507" pitchFamily="18" charset="2"/>
                        </a:rPr>
                        <m:t></m:t>
                      </m:r>
                      <m:r>
                        <m:rPr>
                          <m:nor/>
                        </m:rP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195" y="4568459"/>
                <a:ext cx="4288170" cy="1311346"/>
              </a:xfrm>
              <a:prstGeom prst="rect">
                <a:avLst/>
              </a:prstGeom>
              <a:blipFill rotWithShape="1">
                <a:blip r:embed="rId3"/>
                <a:stretch>
                  <a:fillRect l="-2" t="-21" r="2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对象 3"/>
              <p:cNvSpPr txBox="1"/>
              <p:nvPr/>
            </p:nvSpPr>
            <p:spPr>
              <a:xfrm>
                <a:off x="2654449" y="3296753"/>
                <a:ext cx="8056083" cy="61500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设函数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在闭区域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的面积，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449" y="3296753"/>
                <a:ext cx="8056083" cy="615006"/>
              </a:xfrm>
              <a:prstGeom prst="rect">
                <a:avLst/>
              </a:prstGeom>
              <a:blipFill rotWithShape="1">
                <a:blip r:embed="rId4"/>
                <a:stretch>
                  <a:fillRect l="-2" t="-76" r="8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对象 4"/>
              <p:cNvSpPr txBox="1"/>
              <p:nvPr/>
            </p:nvSpPr>
            <p:spPr>
              <a:xfrm>
                <a:off x="2654449" y="879664"/>
                <a:ext cx="9008802" cy="61500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分别是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在闭区域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上的最大值和最小值，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449" y="879664"/>
                <a:ext cx="9008802" cy="615006"/>
              </a:xfrm>
              <a:prstGeom prst="rect">
                <a:avLst/>
              </a:prstGeom>
              <a:blipFill rotWithShape="1">
                <a:blip r:embed="rId5"/>
                <a:stretch>
                  <a:fillRect l="-2" t="-31" r="2" b="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对象 5"/>
              <p:cNvSpPr txBox="1"/>
              <p:nvPr/>
            </p:nvSpPr>
            <p:spPr>
              <a:xfrm>
                <a:off x="2745195" y="1519867"/>
                <a:ext cx="3269619" cy="59743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的面积，则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195" y="1519867"/>
                <a:ext cx="3269619" cy="597434"/>
              </a:xfrm>
              <a:prstGeom prst="rect">
                <a:avLst/>
              </a:prstGeom>
              <a:blipFill rotWithShape="1">
                <a:blip r:embed="rId6"/>
                <a:stretch>
                  <a:fillRect l="-3" t="-52" r="3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对象 6"/>
              <p:cNvSpPr txBox="1"/>
              <p:nvPr/>
            </p:nvSpPr>
            <p:spPr>
              <a:xfrm>
                <a:off x="2745195" y="3980078"/>
                <a:ext cx="5359304" cy="57483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则在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上至少存在一点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  <a:sym typeface="Symbol" panose="05050102010706020507" pitchFamily="18" charset="2"/>
                            </a:rPr>
                            <m:t>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使得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195" y="3980078"/>
                <a:ext cx="5359304" cy="574833"/>
              </a:xfrm>
              <a:prstGeom prst="rect">
                <a:avLst/>
              </a:prstGeom>
              <a:blipFill rotWithShape="1">
                <a:blip r:embed="rId7"/>
                <a:stretch>
                  <a:fillRect l="-2" t="-93" r="12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7319619" y="2291392"/>
            <a:ext cx="40891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（二重积分估值不等式）</a:t>
            </a:r>
            <a:endParaRPr lang="zh-CN" altLang="en-US" sz="2800" dirty="0">
              <a:solidFill>
                <a:srgbClr val="0492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6830521" y="4898724"/>
            <a:ext cx="4419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（二重积分中值定理）</a:t>
            </a:r>
            <a:endParaRPr lang="zh-CN" altLang="en-US" sz="2800" dirty="0">
              <a:solidFill>
                <a:srgbClr val="0492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2" grpId="0"/>
      <p:bldP spid="3" grpId="0"/>
      <p:bldP spid="4" grpId="0"/>
      <p:bldP spid="5" grpId="0"/>
      <p:bldP spid="6" grpId="0"/>
      <p:bldP spid="7" grpId="0"/>
      <p:bldP spid="15" grpId="0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1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3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2273333" y="925452"/>
            <a:ext cx="26548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由性质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5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可知</a:t>
            </a: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2866537" y="2533074"/>
            <a:ext cx="5410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由连续函数介值定理</a:t>
            </a:r>
            <a:r>
              <a:rPr kumimoji="1" lang="zh-CN" altLang="en-US" sz="2200" noProof="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至少有一点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19"/>
              <p:cNvSpPr txBox="1"/>
              <p:nvPr/>
            </p:nvSpPr>
            <p:spPr bwMode="auto">
              <a:xfrm>
                <a:off x="7050882" y="2507719"/>
                <a:ext cx="1460471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sz="22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  <a:sym typeface="Symbol" panose="05050102010706020507" pitchFamily="18" charset="2"/>
                        </a:rPr>
                        <m:t>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5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50882" y="2507719"/>
                <a:ext cx="1460471" cy="519113"/>
              </a:xfrm>
              <a:prstGeom prst="rect">
                <a:avLst/>
              </a:prstGeom>
              <a:blipFill rotWithShape="1">
                <a:blip r:embed="rId2"/>
                <a:stretch>
                  <a:fillRect l="-33" t="-20" r="31" b="8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31"/>
          <p:cNvSpPr txBox="1">
            <a:spLocks noChangeArrowheads="1"/>
          </p:cNvSpPr>
          <p:nvPr/>
        </p:nvSpPr>
        <p:spPr bwMode="auto">
          <a:xfrm>
            <a:off x="8334375" y="2551831"/>
            <a:ext cx="533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使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Text Box 34"/>
          <p:cNvSpPr txBox="1">
            <a:spLocks noChangeArrowheads="1"/>
          </p:cNvSpPr>
          <p:nvPr/>
        </p:nvSpPr>
        <p:spPr bwMode="auto">
          <a:xfrm>
            <a:off x="2877170" y="4091935"/>
            <a:ext cx="74892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因此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对象 16"/>
              <p:cNvSpPr txBox="1"/>
              <p:nvPr/>
            </p:nvSpPr>
            <p:spPr>
              <a:xfrm>
                <a:off x="4013890" y="1445362"/>
                <a:ext cx="3561796" cy="106668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7" name="对象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890" y="1445362"/>
                <a:ext cx="3561796" cy="1066680"/>
              </a:xfrm>
              <a:prstGeom prst="rect">
                <a:avLst/>
              </a:prstGeom>
              <a:blipFill rotWithShape="1">
                <a:blip r:embed="rId3"/>
                <a:stretch>
                  <a:fillRect l="-2" t="-10" r="4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对象 17"/>
              <p:cNvSpPr txBox="1"/>
              <p:nvPr/>
            </p:nvSpPr>
            <p:spPr>
              <a:xfrm>
                <a:off x="4013890" y="3117296"/>
                <a:ext cx="3381043" cy="105020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  <a:sym typeface="Symbol" panose="05050102010706020507" pitchFamily="18" charset="2"/>
                        </a:rPr>
                        <m:t>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​)=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8" name="对象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890" y="3117296"/>
                <a:ext cx="3381043" cy="1050202"/>
              </a:xfrm>
              <a:prstGeom prst="rect">
                <a:avLst/>
              </a:prstGeom>
              <a:blipFill rotWithShape="1">
                <a:blip r:embed="rId4"/>
                <a:stretch>
                  <a:fillRect l="-2" t="-8" r="11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对象 18"/>
              <p:cNvSpPr txBox="1"/>
              <p:nvPr/>
            </p:nvSpPr>
            <p:spPr>
              <a:xfrm>
                <a:off x="4013891" y="4547066"/>
                <a:ext cx="3259002" cy="105020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  <a:sym typeface="Symbol" panose="05050102010706020507" pitchFamily="18" charset="2"/>
                        </a:rPr>
                        <m:t></m:t>
                      </m:r>
                      <m:r>
                        <m:rPr>
                          <m:nor/>
                        </m:rP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​)​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9" name="对象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891" y="4547066"/>
                <a:ext cx="3259002" cy="1050202"/>
              </a:xfrm>
              <a:prstGeom prst="rect">
                <a:avLst/>
              </a:prstGeom>
              <a:blipFill rotWithShape="1">
                <a:blip r:embed="rId5"/>
                <a:stretch>
                  <a:fillRect l="-2" t="-44" r="7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24"/>
          <p:cNvSpPr txBox="1">
            <a:spLocks noChangeArrowheads="1"/>
          </p:cNvSpPr>
          <p:nvPr/>
        </p:nvSpPr>
        <p:spPr bwMode="auto">
          <a:xfrm>
            <a:off x="7575686" y="4830483"/>
            <a:ext cx="846563" cy="430887"/>
          </a:xfrm>
          <a:prstGeom prst="rect">
            <a:avLst/>
          </a:prstGeom>
          <a:solidFill>
            <a:srgbClr val="04926A">
              <a:alpha val="42000"/>
            </a:srgbClr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证毕</a:t>
            </a:r>
            <a:endParaRPr kumimoji="1" lang="en-US" altLang="zh-CN" sz="2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8" grpId="0"/>
      <p:bldP spid="9" grpId="0"/>
      <p:bldP spid="17" grpId="0"/>
      <p:bldP spid="18" grpId="0"/>
      <p:bldP spid="19" grpId="0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1005700" y="722954"/>
            <a:ext cx="556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04926A"/>
                </a:solidFill>
                <a:ea typeface="黑体" panose="02010609060101010101" pitchFamily="49" charset="-122"/>
              </a:rPr>
              <a:t>二重积分中值公式的几何解释：</a:t>
            </a:r>
            <a:endParaRPr lang="zh-CN" altLang="en-US" sz="2800" dirty="0">
              <a:solidFill>
                <a:srgbClr val="04926A"/>
              </a:solidFill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对象 17"/>
              <p:cNvSpPr txBox="1"/>
              <p:nvPr/>
            </p:nvSpPr>
            <p:spPr>
              <a:xfrm>
                <a:off x="2602368" y="1746441"/>
                <a:ext cx="4256857" cy="45477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必可找到一个与它同底，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8" name="对象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2368" y="1746441"/>
                <a:ext cx="4256857" cy="454777"/>
              </a:xfrm>
              <a:prstGeom prst="rect">
                <a:avLst/>
              </a:prstGeom>
              <a:blipFill rotWithShape="1">
                <a:blip r:embed="rId1"/>
                <a:stretch>
                  <a:fillRect l="-3" t="-42" r="14" b="-71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对象 18"/>
              <p:cNvSpPr txBox="1"/>
              <p:nvPr/>
            </p:nvSpPr>
            <p:spPr>
              <a:xfrm>
                <a:off x="1005700" y="1310613"/>
                <a:ext cx="6233709" cy="106588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对于一个以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为底以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为顶的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曲顶柱体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9" name="对象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700" y="1310613"/>
                <a:ext cx="6233709" cy="1065883"/>
              </a:xfrm>
              <a:prstGeom prst="rect">
                <a:avLst/>
              </a:prstGeom>
              <a:blipFill rotWithShape="1">
                <a:blip r:embed="rId2"/>
                <a:stretch>
                  <a:fillRect l="-8" t="-57" r="7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58"/>
          <p:cNvGrpSpPr/>
          <p:nvPr/>
        </p:nvGrpSpPr>
        <p:grpSpPr bwMode="auto">
          <a:xfrm>
            <a:off x="7582132" y="1023429"/>
            <a:ext cx="2662561" cy="2215553"/>
            <a:chOff x="144" y="1656"/>
            <a:chExt cx="2592" cy="2409"/>
          </a:xfrm>
        </p:grpSpPr>
        <p:pic>
          <p:nvPicPr>
            <p:cNvPr id="26" name="Picture 48" descr="PicSSurface_3416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62" t="29857" r="12070" b="5396"/>
            <a:stretch>
              <a:fillRect/>
            </a:stretch>
          </p:blipFill>
          <p:spPr bwMode="auto">
            <a:xfrm>
              <a:off x="144" y="1728"/>
              <a:ext cx="2592" cy="2160"/>
            </a:xfrm>
            <a:prstGeom prst="rect">
              <a:avLst/>
            </a:prstGeom>
            <a:noFill/>
            <a:ln>
              <a:solidFill>
                <a:srgbClr val="04926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Rectangle 55"/>
                <p:cNvSpPr>
                  <a:spLocks noChangeArrowheads="1"/>
                </p:cNvSpPr>
                <p:nvPr/>
              </p:nvSpPr>
              <p:spPr bwMode="auto">
                <a:xfrm>
                  <a:off x="1754" y="3563"/>
                  <a:ext cx="629" cy="5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zh-CN" sz="2400" i="1" dirty="0"/>
                </a:p>
              </p:txBody>
            </p:sp>
          </mc:Choice>
          <mc:Fallback>
            <p:sp>
              <p:nvSpPr>
                <p:cNvPr id="27" name="Rectangle 5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54" y="3563"/>
                  <a:ext cx="629" cy="502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Rectangle 57"/>
                <p:cNvSpPr>
                  <a:spLocks noChangeArrowheads="1"/>
                </p:cNvSpPr>
                <p:nvPr/>
              </p:nvSpPr>
              <p:spPr bwMode="auto">
                <a:xfrm>
                  <a:off x="240" y="1656"/>
                  <a:ext cx="392" cy="5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altLang="zh-CN" sz="2400" i="1" dirty="0"/>
                </a:p>
              </p:txBody>
            </p:sp>
          </mc:Choice>
          <mc:Fallback>
            <p:sp>
              <p:nvSpPr>
                <p:cNvPr id="28" name="Rectangle 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0" y="1656"/>
                  <a:ext cx="392" cy="502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62"/>
          <p:cNvGrpSpPr/>
          <p:nvPr/>
        </p:nvGrpSpPr>
        <p:grpSpPr bwMode="auto">
          <a:xfrm>
            <a:off x="7534878" y="3142413"/>
            <a:ext cx="2709813" cy="2421421"/>
            <a:chOff x="5158" y="1821"/>
            <a:chExt cx="2638" cy="2515"/>
          </a:xfrm>
        </p:grpSpPr>
        <p:pic>
          <p:nvPicPr>
            <p:cNvPr id="30" name="Picture 49" descr="PicSSurface_3470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62" t="29857" r="12070" b="5396"/>
            <a:stretch>
              <a:fillRect/>
            </a:stretch>
          </p:blipFill>
          <p:spPr bwMode="auto">
            <a:xfrm>
              <a:off x="5204" y="1955"/>
              <a:ext cx="2592" cy="2160"/>
            </a:xfrm>
            <a:prstGeom prst="rect">
              <a:avLst/>
            </a:prstGeom>
            <a:noFill/>
            <a:ln>
              <a:solidFill>
                <a:srgbClr val="04926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Rectangle 59"/>
                <p:cNvSpPr>
                  <a:spLocks noChangeArrowheads="1"/>
                </p:cNvSpPr>
                <p:nvPr/>
              </p:nvSpPr>
              <p:spPr bwMode="auto">
                <a:xfrm>
                  <a:off x="6744" y="3856"/>
                  <a:ext cx="629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zh-CN" sz="2400" i="1" dirty="0"/>
                </a:p>
              </p:txBody>
            </p:sp>
          </mc:Choice>
          <mc:Fallback>
            <p:sp>
              <p:nvSpPr>
                <p:cNvPr id="31" name="Rectangle 5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44" y="3856"/>
                  <a:ext cx="629" cy="480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Rectangle 61"/>
                <p:cNvSpPr>
                  <a:spLocks noChangeArrowheads="1"/>
                </p:cNvSpPr>
                <p:nvPr/>
              </p:nvSpPr>
              <p:spPr bwMode="auto">
                <a:xfrm>
                  <a:off x="5158" y="1821"/>
                  <a:ext cx="629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altLang="zh-CN" sz="2400" i="1" dirty="0"/>
                </a:p>
              </p:txBody>
            </p:sp>
          </mc:Choice>
          <mc:Fallback>
            <p:sp>
              <p:nvSpPr>
                <p:cNvPr id="32" name="Rectangle 6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58" y="1821"/>
                  <a:ext cx="629" cy="480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对象 20"/>
              <p:cNvSpPr txBox="1"/>
              <p:nvPr/>
            </p:nvSpPr>
            <p:spPr>
              <a:xfrm>
                <a:off x="1005700" y="2272247"/>
                <a:ext cx="4695708" cy="483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以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sz="28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  <a:sym typeface="Symbol" panose="05050102010706020507" pitchFamily="18" charset="2"/>
                        </a:rPr>
                        <m:t>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顶的平顶柱体，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1" name="对象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700" y="2272247"/>
                <a:ext cx="4695708" cy="483200"/>
              </a:xfrm>
              <a:prstGeom prst="rect">
                <a:avLst/>
              </a:prstGeom>
              <a:blipFill rotWithShape="1">
                <a:blip r:embed="rId8"/>
                <a:stretch>
                  <a:fillRect l="-11" t="-45" r="8" b="-45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对象 32"/>
              <p:cNvSpPr txBox="1"/>
              <p:nvPr/>
            </p:nvSpPr>
            <p:spPr>
              <a:xfrm>
                <a:off x="1005700" y="2819287"/>
                <a:ext cx="3803377" cy="45477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使得两者的体积相等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3" name="对象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700" y="2819287"/>
                <a:ext cx="3803377" cy="454777"/>
              </a:xfrm>
              <a:prstGeom prst="rect">
                <a:avLst/>
              </a:prstGeom>
              <a:blipFill rotWithShape="1">
                <a:blip r:embed="rId9"/>
                <a:stretch>
                  <a:fillRect l="-13" t="-115" r="6" b="-7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对象 33"/>
              <p:cNvSpPr txBox="1"/>
              <p:nvPr/>
            </p:nvSpPr>
            <p:spPr>
              <a:xfrm>
                <a:off x="1111916" y="3337904"/>
                <a:ext cx="4172465" cy="123526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sz="28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  <a:sym typeface="Symbol" panose="05050102010706020507" pitchFamily="18" charset="2"/>
                        </a:rPr>
                        <m:t>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​)​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4" name="对象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916" y="3337904"/>
                <a:ext cx="4172465" cy="1235264"/>
              </a:xfrm>
              <a:prstGeom prst="rect">
                <a:avLst/>
              </a:prstGeom>
              <a:blipFill rotWithShape="1">
                <a:blip r:embed="rId10"/>
                <a:stretch>
                  <a:fillRect l="-1" t="-28" r="13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869263" y="5457382"/>
            <a:ext cx="2729181" cy="504000"/>
          </a:xfrm>
          <a:prstGeom prst="wedgeRectCallout">
            <a:avLst>
              <a:gd name="adj1" fmla="val -2940"/>
              <a:gd name="adj2" fmla="val -296622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/>
              <a:t>曲顶柱体的体积</a:t>
            </a:r>
            <a:endParaRPr lang="zh-CN" altLang="en-US" sz="2800" dirty="0"/>
          </a:p>
        </p:txBody>
      </p:sp>
      <p:sp>
        <p:nvSpPr>
          <p:cNvPr id="3" name="AutoShape 7"/>
          <p:cNvSpPr>
            <a:spLocks noChangeArrowheads="1"/>
          </p:cNvSpPr>
          <p:nvPr/>
        </p:nvSpPr>
        <p:spPr bwMode="auto">
          <a:xfrm>
            <a:off x="3781596" y="5457382"/>
            <a:ext cx="2715495" cy="504000"/>
          </a:xfrm>
          <a:prstGeom prst="wedgeRectCallout">
            <a:avLst>
              <a:gd name="adj1" fmla="val -33506"/>
              <a:gd name="adj2" fmla="val -308250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/>
              <a:t>平顶柱体的体积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1" grpId="0"/>
      <p:bldP spid="33" grpId="0"/>
      <p:bldP spid="34" grpId="0"/>
      <p:bldP spid="2" grpId="0" animBg="1"/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87006" y="53644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矩形 2"/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" name="矩形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/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/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/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/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533" name="Object 5"/>
              <p:cNvSpPr txBox="1"/>
              <p:nvPr/>
            </p:nvSpPr>
            <p:spPr bwMode="auto">
              <a:xfrm>
                <a:off x="3843223" y="3936527"/>
                <a:ext cx="3253240" cy="5546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253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43223" y="3936527"/>
                <a:ext cx="3253240" cy="554681"/>
              </a:xfrm>
              <a:prstGeom prst="rect">
                <a:avLst/>
              </a:prstGeom>
              <a:blipFill rotWithShape="1">
                <a:blip r:embed="rId2"/>
                <a:stretch>
                  <a:fillRect l="-6" t="-29" r="10" b="8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35" name="Object 7"/>
              <p:cNvSpPr txBox="1"/>
              <p:nvPr/>
            </p:nvSpPr>
            <p:spPr bwMode="auto">
              <a:xfrm>
                <a:off x="4119447" y="4433407"/>
                <a:ext cx="3777779" cy="887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253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9447" y="4433407"/>
                <a:ext cx="3777779" cy="887252"/>
              </a:xfrm>
              <a:prstGeom prst="rect">
                <a:avLst/>
              </a:prstGeom>
              <a:blipFill rotWithShape="1">
                <a:blip r:embed="rId3"/>
                <a:stretch>
                  <a:fillRect l="-5" t="-53" r="10" b="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1785510" y="2830212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538" name="Object 10"/>
              <p:cNvSpPr txBox="1"/>
              <p:nvPr/>
            </p:nvSpPr>
            <p:spPr bwMode="auto">
              <a:xfrm>
                <a:off x="2789121" y="5298110"/>
                <a:ext cx="4074974" cy="10284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253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9121" y="5298110"/>
                <a:ext cx="4074974" cy="1028498"/>
              </a:xfrm>
              <a:prstGeom prst="rect">
                <a:avLst/>
              </a:prstGeom>
              <a:blipFill rotWithShape="1">
                <a:blip r:embed="rId4"/>
                <a:stretch>
                  <a:fillRect l="-5" t="-30" r="9" b="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Box 9"/>
              <p:cNvSpPr txBox="1">
                <a:spLocks noChangeArrowheads="1"/>
              </p:cNvSpPr>
              <p:nvPr/>
            </p:nvSpPr>
            <p:spPr bwMode="auto">
              <a:xfrm>
                <a:off x="2789121" y="2891582"/>
                <a:ext cx="296151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ea typeface="黑体" panose="02010609060101010101" pitchFamily="49" charset="-122"/>
                  </a:rPr>
                  <a:t>区域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𝐷</m:t>
                    </m:r>
                  </m:oMath>
                </a14:m>
                <a:r>
                  <a:rPr lang="zh-CN" altLang="en-US" sz="2200" dirty="0">
                    <a:ea typeface="黑体" panose="02010609060101010101" pitchFamily="49" charset="-122"/>
                  </a:rPr>
                  <a:t>的面积</a:t>
                </a:r>
                <a14:m>
                  <m:oMath xmlns:m="http://schemas.openxmlformats.org/officeDocument/2006/math">
                    <m:r>
                      <a:rPr lang="zh-CN" alt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m:rPr>
                        <m:sty m:val="p"/>
                      </m:rPr>
                      <a:rPr lang="zh-CN" altLang="en-US" sz="2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sz="2200" dirty="0"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9121" y="2891582"/>
                <a:ext cx="2961518" cy="430887"/>
              </a:xfrm>
              <a:prstGeom prst="rect">
                <a:avLst/>
              </a:prstGeom>
              <a:blipFill rotWithShape="1">
                <a:blip r:embed="rId5"/>
                <a:stretch>
                  <a:fillRect l="-7" t="-99" r="3" b="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Box 9"/>
              <p:cNvSpPr txBox="1">
                <a:spLocks noChangeArrowheads="1"/>
              </p:cNvSpPr>
              <p:nvPr/>
            </p:nvSpPr>
            <p:spPr bwMode="auto">
              <a:xfrm>
                <a:off x="2789121" y="3437986"/>
                <a:ext cx="3627299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ea typeface="黑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𝐷</m:t>
                    </m:r>
                  </m:oMath>
                </a14:m>
                <a:r>
                  <a:rPr lang="zh-CN" altLang="en-US" sz="2200" dirty="0">
                    <a:ea typeface="黑体" panose="02010609060101010101" pitchFamily="49" charset="-122"/>
                  </a:rPr>
                  <a:t>上  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+mn-ea"/>
                      </a:rPr>
                      <m:t>∵</m:t>
                    </m:r>
                    <m:r>
                      <a:rPr lang="en-US" altLang="zh-C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altLang="zh-CN" sz="2200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m:t>≤</m:t>
                    </m:r>
                    <m:sSup>
                      <m:sSupPr>
                        <m:ctrlP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e>
                      <m: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sSup>
                      <m:sSupPr>
                        <m:ctrlP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</m:e>
                      <m: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200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m:t>≤</m:t>
                    </m:r>
                    <m:sSup>
                      <m:sSupPr>
                        <m:ctrlP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</m:e>
                      <m: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lang="en-US" altLang="zh-CN" sz="220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1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9121" y="3437986"/>
                <a:ext cx="3627299" cy="430887"/>
              </a:xfrm>
              <a:prstGeom prst="rect">
                <a:avLst/>
              </a:prstGeom>
              <a:blipFill rotWithShape="1">
                <a:blip r:embed="rId6"/>
                <a:stretch>
                  <a:fillRect l="-6" t="-22" r="10" b="10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2789121" y="4643211"/>
            <a:ext cx="16206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200" dirty="0">
                <a:ea typeface="黑体" panose="02010609060101010101" pitchFamily="49" charset="-122"/>
              </a:rPr>
              <a:t>由性质</a:t>
            </a:r>
            <a:r>
              <a:rPr lang="en-US" altLang="zh-CN" sz="2200" dirty="0">
                <a:ea typeface="黑体" panose="02010609060101010101" pitchFamily="49" charset="-122"/>
              </a:rPr>
              <a:t>6</a:t>
            </a:r>
            <a:r>
              <a:rPr lang="zh-CN" altLang="en-US" sz="2200" dirty="0">
                <a:ea typeface="黑体" panose="02010609060101010101" pitchFamily="49" charset="-122"/>
              </a:rPr>
              <a:t>知</a:t>
            </a:r>
            <a:endParaRPr lang="zh-CN" altLang="en-US" sz="2200" dirty="0">
              <a:ea typeface="黑体" panose="02010609060101010101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09821" y="498271"/>
            <a:ext cx="10013073" cy="2451542"/>
            <a:chOff x="581221" y="837833"/>
            <a:chExt cx="10013073" cy="245154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Object 42"/>
                <p:cNvSpPr txBox="1"/>
                <p:nvPr/>
              </p:nvSpPr>
              <p:spPr bwMode="auto">
                <a:xfrm>
                  <a:off x="4990328" y="837833"/>
                  <a:ext cx="3219569" cy="12577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∬"/>
                            <m:limLoc m:val="undOvr"/>
                            <m:supHide m:val="on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>
            <p:sp>
              <p:nvSpPr>
                <p:cNvPr id="8" name="Object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90328" y="837833"/>
                  <a:ext cx="3219569" cy="1257787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/>
                <p:cNvSpPr txBox="1"/>
                <p:nvPr/>
              </p:nvSpPr>
              <p:spPr>
                <a:xfrm>
                  <a:off x="581221" y="1101800"/>
                  <a:ext cx="10013073" cy="2187575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CN" sz="2800" b="1" i="0" dirty="0" smtClean="0">
                            <a:solidFill>
                              <a:srgbClr val="04926A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CN" altLang="en-US" sz="2800" b="1" dirty="0">
                            <a:solidFill>
                              <a:srgbClr val="04926A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例</m:t>
                        </m:r>
                        <m:r>
                          <m:rPr>
                            <m:nor/>
                          </m:rPr>
                          <a:rPr lang="en-US" altLang="zh-CN" sz="2800" b="1" i="0" dirty="0" smtClean="0">
                            <a:solidFill>
                              <a:srgbClr val="04926A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2800" b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28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CN" altLang="en-US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不作计算</m:t>
                        </m:r>
                        <m:r>
                          <a:rPr lang="zh-CN" altLang="en-US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，</m:t>
                        </m:r>
                        <m:r>
                          <m:rPr>
                            <m:nor/>
                          </m:rPr>
                          <a:rPr lang="zh-CN" altLang="en-US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估计</m:t>
                        </m:r>
                        <m:r>
                          <m:rPr>
                            <m:nor/>
                          </m:rPr>
                          <a:rPr lang="zh-CN" altLang="en-US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                </m:t>
                        </m:r>
                        <m:r>
                          <m:rPr>
                            <m:nor/>
                          </m:rPr>
                          <a:rPr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                               </m:t>
                        </m:r>
                        <m:r>
                          <m:rPr>
                            <m:nor/>
                          </m:rPr>
                          <a:rPr lang="zh-CN" altLang="en-US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的值，其中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  <a:sym typeface="+mn-ea"/>
                          </a:rPr>
                          <m:t>𝐷</m:t>
                        </m:r>
                        <m:r>
                          <m:rPr>
                            <m:nor/>
                          </m:rPr>
                          <a:rPr lang="zh-CN" altLang="en-US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是</m:t>
                        </m:r>
                      </m:oMath>
                    </m:oMathPara>
                  </a14:m>
                  <a:endParaRPr lang="en-US" altLang="zh-CN" sz="2800" dirty="0">
                    <a:ea typeface="黑体" panose="02010609060101010101" pitchFamily="49" charset="-122"/>
                  </a:endParaRPr>
                </a:p>
                <a:p>
                  <a:pPr>
                    <a:spcBef>
                      <a:spcPct val="50000"/>
                    </a:spcBef>
                  </a:pPr>
                  <a:endParaRPr lang="en-US" altLang="zh-CN" sz="2800" dirty="0">
                    <a:ea typeface="黑体" panose="02010609060101010101" pitchFamily="49" charset="-122"/>
                  </a:endParaRPr>
                </a:p>
                <a:p>
                  <a:pPr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椭圆闭区域</m:t>
                        </m:r>
                        <m:r>
                          <m:rPr>
                            <m:nor/>
                          </m:rPr>
                          <a:rPr kumimoji="1" lang="zh-CN" altLang="en-US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：</m:t>
                        </m:r>
                        <m:f>
                          <m:f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  <a:sym typeface="+mn-ea"/>
                          </a:rPr>
                          <m:t>+</m:t>
                        </m:r>
                        <m:f>
                          <m:f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1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（</m:t>
                        </m:r>
                        <m:r>
                          <m:rPr>
                            <m:nor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0</m:t>
                        </m:r>
                        <m:r>
                          <m:rPr>
                            <m:nor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&lt;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  <a:sym typeface="+mn-ea"/>
                          </a:rPr>
                          <m:t>𝑏</m:t>
                        </m:r>
                        <m:r>
                          <m:rPr>
                            <m:nor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&lt;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  <a:sym typeface="+mn-ea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kumimoji="1" lang="zh-CN" altLang="en-US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）</m:t>
                        </m:r>
                      </m:oMath>
                    </m:oMathPara>
                  </a14:m>
                  <a:endPara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endParaRPr>
                </a:p>
              </p:txBody>
            </p:sp>
          </mc:Choice>
          <mc:Fallback>
            <p:sp>
              <p:nvSpPr>
                <p:cNvPr id="9" name="文本框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221" y="1101800"/>
                  <a:ext cx="10013073" cy="2187575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/>
      <p:bldP spid="22535" grpId="0"/>
      <p:bldP spid="22537" grpId="0" autoUpdateAnimBg="0"/>
      <p:bldP spid="22538" grpId="0"/>
      <p:bldP spid="18" grpId="0" autoUpdateAnimBg="0"/>
      <p:bldP spid="21" grpId="0" autoUpdateAnimBg="0"/>
      <p:bldP spid="22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矩形 3"/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" name="矩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/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/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/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/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04761" y="768763"/>
            <a:ext cx="4648200" cy="609600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lang="en-US" altLang="zh-CN" sz="2800" dirty="0">
                <a:ea typeface="黑体" panose="02010609060101010101" pitchFamily="49" charset="-122"/>
              </a:rPr>
              <a:t>  </a:t>
            </a:r>
            <a:r>
              <a:rPr lang="zh-CN" altLang="en-US" sz="2800" b="0" dirty="0">
                <a:ea typeface="黑体" panose="02010609060101010101" pitchFamily="49" charset="-122"/>
              </a:rPr>
              <a:t>比较下列积分的大小</a:t>
            </a:r>
            <a:r>
              <a:rPr lang="en-US" altLang="zh-CN" sz="2800" b="0" dirty="0">
                <a:ea typeface="黑体" panose="02010609060101010101" pitchFamily="49" charset="-122"/>
              </a:rPr>
              <a:t>:</a:t>
            </a:r>
            <a:endParaRPr lang="en-US" altLang="zh-CN" sz="2800" b="0" dirty="0">
              <a:ea typeface="仿宋_GB2312" pitchFamily="49" charset="-122"/>
            </a:endParaRP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2021754" y="2411871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其中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438" name="Object 6"/>
              <p:cNvSpPr txBox="1"/>
              <p:nvPr/>
            </p:nvSpPr>
            <p:spPr bwMode="auto">
              <a:xfrm>
                <a:off x="2879005" y="2395765"/>
                <a:ext cx="4663900" cy="6363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843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9005" y="2395765"/>
                <a:ext cx="4663900" cy="636341"/>
              </a:xfrm>
              <a:prstGeom prst="rect">
                <a:avLst/>
              </a:prstGeom>
              <a:blipFill rotWithShape="1">
                <a:blip r:embed="rId2"/>
                <a:stretch>
                  <a:fillRect l="-12" t="-86" r="8" b="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439" name="Text Box 7"/>
              <p:cNvSpPr txBox="1">
                <a:spLocks noChangeArrowheads="1"/>
              </p:cNvSpPr>
              <p:nvPr/>
            </p:nvSpPr>
            <p:spPr bwMode="auto">
              <a:xfrm>
                <a:off x="1204761" y="2896464"/>
                <a:ext cx="40386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</a:t>
                </a:r>
                <a:r>
                  <a:rPr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 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积分域 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𝐷</m:t>
                    </m:r>
                  </m:oMath>
                </a14:m>
                <a:r>
                  <a:rPr kumimoji="1" lang="en-US" altLang="zh-CN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的边界为圆周</a:t>
                </a:r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18439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4761" y="2896464"/>
                <a:ext cx="4038600" cy="519113"/>
              </a:xfrm>
              <a:prstGeom prst="rect">
                <a:avLst/>
              </a:prstGeom>
              <a:blipFill rotWithShape="1">
                <a:blip r:embed="rId3"/>
                <a:stretch>
                  <a:fillRect l="-4" t="-44" r="4" b="10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466" name="Object 34"/>
              <p:cNvSpPr txBox="1"/>
              <p:nvPr/>
            </p:nvSpPr>
            <p:spPr bwMode="auto">
              <a:xfrm>
                <a:off x="7175910" y="4590940"/>
                <a:ext cx="27178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8466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75910" y="4590940"/>
                <a:ext cx="2717800" cy="520700"/>
              </a:xfrm>
              <a:prstGeom prst="rect">
                <a:avLst/>
              </a:prstGeom>
              <a:blipFill rotWithShape="1">
                <a:blip r:embed="rId4"/>
                <a:stretch>
                  <a:fillRect l="-15" t="-101" r="15" b="10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468" name="Object 36"/>
              <p:cNvSpPr txBox="1"/>
              <p:nvPr/>
            </p:nvSpPr>
            <p:spPr bwMode="auto">
              <a:xfrm>
                <a:off x="2603348" y="3416672"/>
                <a:ext cx="31877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8468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3348" y="3416672"/>
                <a:ext cx="3187700" cy="520700"/>
              </a:xfrm>
              <a:prstGeom prst="rect">
                <a:avLst/>
              </a:prstGeom>
              <a:blipFill rotWithShape="1">
                <a:blip r:embed="rId5"/>
                <a:stretch>
                  <a:fillRect l="-15" t="-71" r="15" b="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467" name="Text Box 35"/>
              <p:cNvSpPr txBox="1">
                <a:spLocks noChangeArrowheads="1"/>
              </p:cNvSpPr>
              <p:nvPr/>
            </p:nvSpPr>
            <p:spPr bwMode="auto">
              <a:xfrm>
                <a:off x="2008914" y="3893578"/>
                <a:ext cx="296649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它与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轴交于点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18467" name="Text 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8914" y="3893578"/>
                <a:ext cx="2966498" cy="430887"/>
              </a:xfrm>
              <a:prstGeom prst="rect">
                <a:avLst/>
              </a:prstGeom>
              <a:blipFill rotWithShape="1">
                <a:blip r:embed="rId6"/>
                <a:stretch>
                  <a:fillRect l="-14" t="-91" r="6" b="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470" name="Object 38"/>
              <p:cNvSpPr txBox="1"/>
              <p:nvPr/>
            </p:nvSpPr>
            <p:spPr bwMode="auto">
              <a:xfrm>
                <a:off x="4695328" y="3898342"/>
                <a:ext cx="3150077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与直线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相切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. 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8470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95328" y="3898342"/>
                <a:ext cx="3150077" cy="444500"/>
              </a:xfrm>
              <a:prstGeom prst="rect">
                <a:avLst/>
              </a:prstGeom>
              <a:blipFill rotWithShape="1">
                <a:blip r:embed="rId7"/>
                <a:stretch>
                  <a:fillRect l="-4" t="-17" r="20" b="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471" name="Text Box 39"/>
              <p:cNvSpPr txBox="1">
                <a:spLocks noChangeArrowheads="1"/>
              </p:cNvSpPr>
              <p:nvPr/>
            </p:nvSpPr>
            <p:spPr bwMode="auto">
              <a:xfrm>
                <a:off x="7558525" y="3878717"/>
                <a:ext cx="2038916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而区域 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𝐷</m:t>
                    </m:r>
                  </m:oMath>
                </a14:m>
                <a:r>
                  <a:rPr kumimoji="1" lang="en-US" altLang="zh-CN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位</a:t>
                </a:r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18471" name="Text 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8525" y="3878717"/>
                <a:ext cx="2038916" cy="430887"/>
              </a:xfrm>
              <a:prstGeom prst="rect">
                <a:avLst/>
              </a:prstGeom>
              <a:blipFill rotWithShape="1">
                <a:blip r:embed="rId8"/>
                <a:stretch>
                  <a:fillRect l="-6" t="-32" r="3" b="11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472" name="Object 40"/>
              <p:cNvSpPr txBox="1"/>
              <p:nvPr/>
            </p:nvSpPr>
            <p:spPr bwMode="auto">
              <a:xfrm>
                <a:off x="5208922" y="4367329"/>
                <a:ext cx="1358900" cy="4643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8472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8922" y="4367329"/>
                <a:ext cx="1358900" cy="464324"/>
              </a:xfrm>
              <a:prstGeom prst="rect">
                <a:avLst/>
              </a:prstGeom>
              <a:blipFill rotWithShape="1">
                <a:blip r:embed="rId9"/>
                <a:stretch>
                  <a:fillRect l="-1" t="-93" r="1" b="1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73" name="Text Box 41"/>
          <p:cNvSpPr txBox="1">
            <a:spLocks noChangeArrowheads="1"/>
          </p:cNvSpPr>
          <p:nvPr/>
        </p:nvSpPr>
        <p:spPr bwMode="auto">
          <a:xfrm>
            <a:off x="6437937" y="4393358"/>
            <a:ext cx="914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从而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474" name="Object 42"/>
              <p:cNvSpPr txBox="1"/>
              <p:nvPr/>
            </p:nvSpPr>
            <p:spPr bwMode="auto">
              <a:xfrm>
                <a:off x="1510149" y="5201804"/>
                <a:ext cx="5630880" cy="10084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∴ 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200" b="0" i="1" baseline="300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200" b="0" i="1" baseline="300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8474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10149" y="5201804"/>
                <a:ext cx="5630880" cy="1008495"/>
              </a:xfrm>
              <a:prstGeom prst="rect">
                <a:avLst/>
              </a:prstGeom>
              <a:blipFill rotWithShape="1">
                <a:blip r:embed="rId10"/>
                <a:stretch>
                  <a:fillRect l="-2" t="-2444" r="8" b="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478" name="Text Box 46"/>
              <p:cNvSpPr txBox="1">
                <a:spLocks noChangeArrowheads="1"/>
              </p:cNvSpPr>
              <p:nvPr/>
            </p:nvSpPr>
            <p:spPr bwMode="auto">
              <a:xfrm>
                <a:off x="2008915" y="4384976"/>
                <a:ext cx="337271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于直线的上方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故在 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𝐷</m:t>
                    </m:r>
                  </m:oMath>
                </a14:m>
                <a:r>
                  <a:rPr kumimoji="1" lang="en-US" altLang="zh-CN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上 </a:t>
                </a:r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18478" name="Text 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8915" y="4384976"/>
                <a:ext cx="3372710" cy="430887"/>
              </a:xfrm>
              <a:prstGeom prst="rect">
                <a:avLst/>
              </a:prstGeom>
              <a:blipFill rotWithShape="1">
                <a:blip r:embed="rId11"/>
                <a:stretch>
                  <a:fillRect l="-12" t="-70" b="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53" name="Line 21"/>
          <p:cNvSpPr>
            <a:spLocks noChangeShapeType="1"/>
          </p:cNvSpPr>
          <p:nvPr/>
        </p:nvSpPr>
        <p:spPr bwMode="auto">
          <a:xfrm>
            <a:off x="7728666" y="1793316"/>
            <a:ext cx="1600200" cy="1601787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458" name="Object 26"/>
              <p:cNvSpPr txBox="1"/>
              <p:nvPr/>
            </p:nvSpPr>
            <p:spPr bwMode="auto">
              <a:xfrm>
                <a:off x="9341566" y="3169678"/>
                <a:ext cx="1481964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18458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41566" y="3169678"/>
                <a:ext cx="1481964" cy="519112"/>
              </a:xfrm>
              <a:prstGeom prst="rect">
                <a:avLst/>
              </a:prstGeom>
              <a:blipFill rotWithShape="1">
                <a:blip r:embed="rId12"/>
                <a:stretch>
                  <a:fillRect l="-5" t="-76" r="40" b="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459" name="Object 27"/>
              <p:cNvSpPr txBox="1"/>
              <p:nvPr/>
            </p:nvSpPr>
            <p:spPr bwMode="auto">
              <a:xfrm>
                <a:off x="9593598" y="2648978"/>
                <a:ext cx="488950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8459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93598" y="2648978"/>
                <a:ext cx="488950" cy="519112"/>
              </a:xfrm>
              <a:prstGeom prst="rect">
                <a:avLst/>
              </a:prstGeom>
              <a:blipFill rotWithShape="1">
                <a:blip r:embed="rId13"/>
                <a:stretch>
                  <a:fillRect l="-4" t="-76" r="4" b="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479" name="Object 47"/>
              <p:cNvSpPr txBox="1"/>
              <p:nvPr/>
            </p:nvSpPr>
            <p:spPr bwMode="auto">
              <a:xfrm>
                <a:off x="8424854" y="2619190"/>
                <a:ext cx="304799" cy="5083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8479" name="Object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24854" y="2619190"/>
                <a:ext cx="304799" cy="508394"/>
              </a:xfrm>
              <a:prstGeom prst="rect">
                <a:avLst/>
              </a:prstGeom>
              <a:blipFill rotWithShape="1">
                <a:blip r:embed="rId14"/>
                <a:stretch>
                  <a:fillRect l="-101" t="-89" r="101" b="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487" name="Group 55"/>
          <p:cNvGrpSpPr/>
          <p:nvPr/>
        </p:nvGrpSpPr>
        <p:grpSpPr bwMode="auto">
          <a:xfrm>
            <a:off x="7914408" y="810652"/>
            <a:ext cx="2557464" cy="2400300"/>
            <a:chOff x="3909" y="388"/>
            <a:chExt cx="1611" cy="1512"/>
          </a:xfrm>
        </p:grpSpPr>
        <p:sp>
          <p:nvSpPr>
            <p:cNvPr id="18442" name="Oval 10"/>
            <p:cNvSpPr>
              <a:spLocks noChangeArrowheads="1"/>
            </p:cNvSpPr>
            <p:nvPr/>
          </p:nvSpPr>
          <p:spPr bwMode="auto">
            <a:xfrm>
              <a:off x="4272" y="838"/>
              <a:ext cx="884" cy="907"/>
            </a:xfrm>
            <a:prstGeom prst="ellipse">
              <a:avLst/>
            </a:prstGeom>
            <a:solidFill>
              <a:srgbClr val="A9D18E"/>
            </a:solidFill>
            <a:ln w="9525">
              <a:solidFill>
                <a:srgbClr val="04926A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8443" name="Line 11"/>
            <p:cNvSpPr>
              <a:spLocks noChangeShapeType="1"/>
            </p:cNvSpPr>
            <p:nvPr/>
          </p:nvSpPr>
          <p:spPr bwMode="auto">
            <a:xfrm>
              <a:off x="4080" y="1584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8449" name="Line 17"/>
            <p:cNvSpPr>
              <a:spLocks noChangeShapeType="1"/>
            </p:cNvSpPr>
            <p:nvPr/>
          </p:nvSpPr>
          <p:spPr bwMode="auto">
            <a:xfrm>
              <a:off x="4080" y="1296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8450" name="Line 18"/>
            <p:cNvSpPr>
              <a:spLocks noChangeShapeType="1"/>
            </p:cNvSpPr>
            <p:nvPr/>
          </p:nvSpPr>
          <p:spPr bwMode="auto">
            <a:xfrm flipV="1">
              <a:off x="4080" y="528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8454" name="Line 22"/>
            <p:cNvSpPr>
              <a:spLocks noChangeShapeType="1"/>
            </p:cNvSpPr>
            <p:nvPr/>
          </p:nvSpPr>
          <p:spPr bwMode="auto">
            <a:xfrm>
              <a:off x="4704" y="129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460" name="Object 28"/>
                <p:cNvSpPr txBox="1"/>
                <p:nvPr/>
              </p:nvSpPr>
              <p:spPr bwMode="auto">
                <a:xfrm>
                  <a:off x="4080" y="388"/>
                  <a:ext cx="236" cy="31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18460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80" y="388"/>
                  <a:ext cx="236" cy="314"/>
                </a:xfrm>
                <a:prstGeom prst="rect">
                  <a:avLst/>
                </a:prstGeom>
                <a:blipFill rotWithShape="1">
                  <a:blip r:embed="rId1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480" name="Object 48"/>
                <p:cNvSpPr txBox="1"/>
                <p:nvPr/>
              </p:nvSpPr>
              <p:spPr bwMode="auto">
                <a:xfrm>
                  <a:off x="4588" y="1568"/>
                  <a:ext cx="260" cy="3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>
            <p:sp>
              <p:nvSpPr>
                <p:cNvPr id="18480" name="Object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88" y="1568"/>
                  <a:ext cx="260" cy="304"/>
                </a:xfrm>
                <a:prstGeom prst="rect">
                  <a:avLst/>
                </a:prstGeom>
                <a:blipFill rotWithShape="1">
                  <a:blip r:embed="rId1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481" name="Object 49"/>
                <p:cNvSpPr txBox="1"/>
                <p:nvPr/>
              </p:nvSpPr>
              <p:spPr bwMode="auto">
                <a:xfrm>
                  <a:off x="5232" y="1568"/>
                  <a:ext cx="288" cy="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18481" name="Object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32" y="1568"/>
                  <a:ext cx="288" cy="332"/>
                </a:xfrm>
                <a:prstGeom prst="rect">
                  <a:avLst/>
                </a:prstGeom>
                <a:blipFill rotWithShape="1">
                  <a:blip r:embed="rId17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483" name="Object 51"/>
                <p:cNvSpPr txBox="1"/>
                <p:nvPr/>
              </p:nvSpPr>
              <p:spPr bwMode="auto">
                <a:xfrm>
                  <a:off x="3909" y="1523"/>
                  <a:ext cx="244" cy="3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18483" name="Object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09" y="1523"/>
                  <a:ext cx="244" cy="320"/>
                </a:xfrm>
                <a:prstGeom prst="rect">
                  <a:avLst/>
                </a:prstGeom>
                <a:blipFill rotWithShape="1">
                  <a:blip r:embed="rId18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482" name="Object 50"/>
                <p:cNvSpPr txBox="1"/>
                <p:nvPr/>
              </p:nvSpPr>
              <p:spPr bwMode="auto">
                <a:xfrm>
                  <a:off x="4600" y="989"/>
                  <a:ext cx="200" cy="1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18482" name="Object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0" y="989"/>
                  <a:ext cx="200" cy="184"/>
                </a:xfrm>
                <a:prstGeom prst="rect">
                  <a:avLst/>
                </a:prstGeom>
                <a:blipFill rotWithShape="1">
                  <a:blip r:embed="rId19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42"/>
              <p:cNvSpPr txBox="1"/>
              <p:nvPr/>
            </p:nvSpPr>
            <p:spPr bwMode="auto">
              <a:xfrm>
                <a:off x="2019446" y="1120137"/>
                <a:ext cx="5467918" cy="1117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800" b="0" i="1" baseline="300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800" b="0" i="1" baseline="300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3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9446" y="1120137"/>
                <a:ext cx="5467918" cy="1117113"/>
              </a:xfrm>
              <a:prstGeom prst="rect">
                <a:avLst/>
              </a:prstGeom>
              <a:blipFill rotWithShape="1">
                <a:blip r:embed="rId20"/>
                <a:stretch>
                  <a:fillRect l="-3" t="-3922" r="1" b="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18437" grpId="0"/>
      <p:bldP spid="18438" grpId="0"/>
      <p:bldP spid="18439" grpId="0" autoUpdateAnimBg="0"/>
      <p:bldP spid="18466" grpId="0" bldLvl="0" animBg="1"/>
      <p:bldP spid="18468" grpId="0"/>
      <p:bldP spid="18467" grpId="0" autoUpdateAnimBg="0"/>
      <p:bldP spid="18470" grpId="0"/>
      <p:bldP spid="18471" grpId="0" autoUpdateAnimBg="0"/>
      <p:bldP spid="18472" grpId="0"/>
      <p:bldP spid="18473" grpId="0" autoUpdateAnimBg="0"/>
      <p:bldP spid="18474" grpId="0"/>
      <p:bldP spid="18478" grpId="0" autoUpdateAnimBg="0"/>
      <p:bldP spid="18453" grpId="0" animBg="1"/>
      <p:bldP spid="18458" grpId="0"/>
      <p:bldP spid="18459" grpId="0"/>
      <p:bldP spid="18479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9"/>
</p:tagLst>
</file>

<file path=ppt/tags/tag2.xml><?xml version="1.0" encoding="utf-8"?>
<p:tagLst xmlns:p="http://schemas.openxmlformats.org/presentationml/2006/main">
  <p:tag name="PA" val="v5.2.9"/>
</p:tagLst>
</file>

<file path=ppt/tags/tag3.xml><?xml version="1.0" encoding="utf-8"?>
<p:tagLst xmlns:p="http://schemas.openxmlformats.org/presentationml/2006/main">
  <p:tag name="PA" val="v5.2.9"/>
</p:tagLst>
</file>

<file path=ppt/tags/tag4.xml><?xml version="1.0" encoding="utf-8"?>
<p:tagLst xmlns:p="http://schemas.openxmlformats.org/presentationml/2006/main">
  <p:tag name="PA" val="v5.2.9"/>
</p:tagLst>
</file>

<file path=ppt/tags/tag5.xml><?xml version="1.0" encoding="utf-8"?>
<p:tagLst xmlns:p="http://schemas.openxmlformats.org/presentationml/2006/main">
  <p:tag name="PA" val="v5.2.9"/>
</p:tagLst>
</file>

<file path=ppt/tags/tag6.xml><?xml version="1.0" encoding="utf-8"?>
<p:tagLst xmlns:p="http://schemas.openxmlformats.org/presentationml/2006/main">
  <p:tag name="PA" val="v5.2.9"/>
</p:tagLst>
</file>

<file path=ppt/tags/tag7.xml><?xml version="1.0" encoding="utf-8"?>
<p:tagLst xmlns:p="http://schemas.openxmlformats.org/presentationml/2006/main">
  <p:tag name="PA" val="v5.2.9"/>
</p:tagLst>
</file>

<file path=ppt/tags/tag8.xml><?xml version="1.0" encoding="utf-8"?>
<p:tagLst xmlns:p="http://schemas.openxmlformats.org/presentationml/2006/main">
  <p:tag name="PA" val="v5.2.9"/>
</p:tagLst>
</file>

<file path=ppt/tags/tag9.xml><?xml version="1.0" encoding="utf-8"?>
<p:tagLst xmlns:p="http://schemas.openxmlformats.org/presentationml/2006/main">
  <p:tag name="PA" val="v5.2.9"/>
</p:tagLst>
</file>

<file path=ppt/tags/tag10.xml><?xml version="1.0" encoding="utf-8"?>
<p:tagLst xmlns:p="http://schemas.openxmlformats.org/presentationml/2006/main">
  <p:tag name="PA" val="v5.2.9"/>
</p:tagLst>
</file>

<file path=ppt/tags/tag11.xml><?xml version="1.0" encoding="utf-8"?>
<p:tagLst xmlns:p="http://schemas.openxmlformats.org/presentationml/2006/main">
  <p:tag name="PA" val="v5.2.9"/>
</p:tagLst>
</file>

<file path=ppt/tags/tag12.xml><?xml version="1.0" encoding="utf-8"?>
<p:tagLst xmlns:p="http://schemas.openxmlformats.org/presentationml/2006/main">
  <p:tag name="PA" val="v5.2.9"/>
</p:tagLst>
</file>

<file path=ppt/tags/tag13.xml><?xml version="1.0" encoding="utf-8"?>
<p:tagLst xmlns:p="http://schemas.openxmlformats.org/presentationml/2006/main">
  <p:tag name="PA" val="v5.2.9"/>
</p:tagLst>
</file>

<file path=ppt/tags/tag14.xml><?xml version="1.0" encoding="utf-8"?>
<p:tagLst xmlns:p="http://schemas.openxmlformats.org/presentationml/2006/main">
  <p:tag name="PA" val="v5.2.9"/>
</p:tagLst>
</file>

<file path=ppt/tags/tag15.xml><?xml version="1.0" encoding="utf-8"?>
<p:tagLst xmlns:p="http://schemas.openxmlformats.org/presentationml/2006/main">
  <p:tag name="PA" val="v5.2.9"/>
</p:tagLst>
</file>

<file path=ppt/tags/tag16.xml><?xml version="1.0" encoding="utf-8"?>
<p:tagLst xmlns:p="http://schemas.openxmlformats.org/presentationml/2006/main">
  <p:tag name="PA" val="v5.2.9"/>
</p:tagLst>
</file>

<file path=ppt/tags/tag17.xml><?xml version="1.0" encoding="utf-8"?>
<p:tagLst xmlns:p="http://schemas.openxmlformats.org/presentationml/2006/main">
  <p:tag name="PA" val="v5.2.9"/>
</p:tagLst>
</file>

<file path=ppt/tags/tag18.xml><?xml version="1.0" encoding="utf-8"?>
<p:tagLst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3">
      <a:majorFont>
        <a:latin typeface="微软雅黑"/>
        <a:ea typeface="微软雅黑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</a:spPr>
      <a:bodyPr>
        <a:spAutoFit/>
      </a:bodyPr>
      <a:lstStyle>
        <a:defPPr eaLnBrk="1" hangingPunct="1">
          <a:spcBef>
            <a:spcPct val="50000"/>
          </a:spcBef>
          <a:defRPr sz="2800" b="1" dirty="0"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cuilh纯白模板 </Template>
  <TotalTime>0</TotalTime>
  <Words>3787</Words>
  <Application>WPS 演示</Application>
  <PresentationFormat>宽屏</PresentationFormat>
  <Paragraphs>443</Paragraphs>
  <Slides>30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30</vt:i4>
      </vt:variant>
    </vt:vector>
  </HeadingPairs>
  <TitlesOfParts>
    <vt:vector size="53" baseType="lpstr">
      <vt:lpstr>Arial</vt:lpstr>
      <vt:lpstr>宋体</vt:lpstr>
      <vt:lpstr>Wingdings</vt:lpstr>
      <vt:lpstr>Calibri</vt:lpstr>
      <vt:lpstr>微软雅黑</vt:lpstr>
      <vt:lpstr>字魂36号-正文宋楷</vt:lpstr>
      <vt:lpstr>华文中宋</vt:lpstr>
      <vt:lpstr>方正大标宋简体</vt:lpstr>
      <vt:lpstr>Arial Unicode MS</vt:lpstr>
      <vt:lpstr>微软雅黑 Light</vt:lpstr>
      <vt:lpstr>Cambria Math</vt:lpstr>
      <vt:lpstr>黑体</vt:lpstr>
      <vt:lpstr>Times New Roman</vt:lpstr>
      <vt:lpstr>等线</vt:lpstr>
      <vt:lpstr>MS Mincho</vt:lpstr>
      <vt:lpstr>Symbol</vt:lpstr>
      <vt:lpstr>仿宋_GB2312</vt:lpstr>
      <vt:lpstr>仿宋</vt:lpstr>
      <vt:lpstr>Office 主题​​</vt:lpstr>
      <vt:lpstr>Paint.Picture</vt:lpstr>
      <vt:lpstr>Paint.Picture</vt:lpstr>
      <vt:lpstr>Paint.Picture</vt:lpstr>
      <vt:lpstr>Paint.Picture</vt:lpstr>
      <vt:lpstr>PowerPoint 演示文稿</vt:lpstr>
      <vt:lpstr>PowerPoint 演示文稿</vt:lpstr>
      <vt:lpstr>PowerPoint 演示文稿</vt:lpstr>
      <vt:lpstr>PowerPoint 演示文稿</vt:lpstr>
      <vt:lpstr>一、问题的提出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二重积分的几何意义</vt:lpstr>
      <vt:lpstr>三、二重积分的性质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例2  比较下列积分的大小: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cui; 崔丽鸿</dc:creator>
  <cp:lastModifiedBy>wps</cp:lastModifiedBy>
  <cp:revision>1047</cp:revision>
  <cp:lastPrinted>2023-06-07T06:56:00Z</cp:lastPrinted>
  <dcterms:created xsi:type="dcterms:W3CDTF">2021-12-25T10:05:00Z</dcterms:created>
  <dcterms:modified xsi:type="dcterms:W3CDTF">2026-05-04T11:54:56Z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25190747612148B19FA1ECF37B85ADAA_12</vt:lpwstr>
  </property>
  <property fmtid="{D5CDD505-2E9C-101B-9397-08002B2CF9AE}" pid="3" name="KSOProductBuildVer">
    <vt:lpwstr>2052-12.1.0.23542</vt:lpwstr>
  </property>
</Properties>
</file>