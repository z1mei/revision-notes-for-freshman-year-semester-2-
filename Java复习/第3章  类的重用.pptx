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8.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9.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0.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3.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5.xml" ContentType="application/vnd.openxmlformats-officedocument.presentationml.notesSlide+xml"/>
  <Override PartName="/ppt/tags/tag36.xml" ContentType="application/vnd.openxmlformats-officedocument.presentationml.tags+xml"/>
  <Override PartName="/ppt/notesSlides/notesSlide16.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8.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9.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notesSlides/notesSlide20.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21.xml" ContentType="application/vnd.openxmlformats-officedocument.presentationml.notesSlide+xml"/>
  <Override PartName="/ppt/tags/tag47.xml" ContentType="application/vnd.openxmlformats-officedocument.presentationml.tags+xml"/>
  <Override PartName="/ppt/notesSlides/notesSlide2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23.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2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6.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27.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28.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29.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notesSlides/notesSlide30.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31.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notesSlides/notesSlide32.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3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34.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35.xml" ContentType="application/vnd.openxmlformats-officedocument.presentationml.notesSlide+xml"/>
  <Override PartName="/ppt/tags/tag74.xml" ContentType="application/vnd.openxmlformats-officedocument.presentationml.tags+xml"/>
  <Override PartName="/ppt/notesSlides/notesSlide36.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37.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38.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39.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40.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41.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42.xml" ContentType="application/vnd.openxmlformats-officedocument.presentationml.notesSlide+xml"/>
  <Override PartName="/ppt/tags/tag87.xml" ContentType="application/vnd.openxmlformats-officedocument.presentationml.tags+xml"/>
  <Override PartName="/ppt/notesSlides/notesSlide43.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44.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notesSlides/notesSlide45.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notesSlides/notesSlide46.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47.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48.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notesSlides/notesSlide49.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notesSlides/notesSlide50.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notesSlides/notesSlide51.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notesSlides/notesSlide52.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notesSlides/notesSlide53.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notesSlides/notesSlide54.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55.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notesSlides/notesSlide56.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notesSlides/notesSlide57.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notesSlides/notesSlide58.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notesSlides/notesSlide59.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notesSlides/notesSlide60.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notesSlides/notesSlide61.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notesSlides/notesSlide62.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notesSlides/notesSlide63.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notesSlides/notesSlide64.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notesSlides/notesSlide65.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notesSlides/notesSlide66.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notesSlides/notesSlide67.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notesSlides/notesSlide68.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notesSlides/notesSlide69.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03" r:id="rId1"/>
  </p:sldMasterIdLst>
  <p:notesMasterIdLst>
    <p:notesMasterId r:id="rId72"/>
  </p:notesMasterIdLst>
  <p:handoutMasterIdLst>
    <p:handoutMasterId r:id="rId73"/>
  </p:handoutMasterIdLst>
  <p:sldIdLst>
    <p:sldId id="257" r:id="rId2"/>
    <p:sldId id="458" r:id="rId3"/>
    <p:sldId id="298" r:id="rId4"/>
    <p:sldId id="317" r:id="rId5"/>
    <p:sldId id="461" r:id="rId6"/>
    <p:sldId id="373" r:id="rId7"/>
    <p:sldId id="374" r:id="rId8"/>
    <p:sldId id="375" r:id="rId9"/>
    <p:sldId id="377" r:id="rId10"/>
    <p:sldId id="379" r:id="rId11"/>
    <p:sldId id="354" r:id="rId12"/>
    <p:sldId id="488" r:id="rId13"/>
    <p:sldId id="380" r:id="rId14"/>
    <p:sldId id="437" r:id="rId15"/>
    <p:sldId id="462" r:id="rId16"/>
    <p:sldId id="355" r:id="rId17"/>
    <p:sldId id="384" r:id="rId18"/>
    <p:sldId id="323" r:id="rId19"/>
    <p:sldId id="356" r:id="rId20"/>
    <p:sldId id="357" r:id="rId21"/>
    <p:sldId id="385" r:id="rId22"/>
    <p:sldId id="279" r:id="rId23"/>
    <p:sldId id="466" r:id="rId24"/>
    <p:sldId id="389" r:id="rId25"/>
    <p:sldId id="391" r:id="rId26"/>
    <p:sldId id="390" r:id="rId27"/>
    <p:sldId id="394" r:id="rId28"/>
    <p:sldId id="392" r:id="rId29"/>
    <p:sldId id="359" r:id="rId30"/>
    <p:sldId id="393" r:id="rId31"/>
    <p:sldId id="395" r:id="rId32"/>
    <p:sldId id="493" r:id="rId33"/>
    <p:sldId id="397" r:id="rId34"/>
    <p:sldId id="490" r:id="rId35"/>
    <p:sldId id="310" r:id="rId36"/>
    <p:sldId id="292" r:id="rId37"/>
    <p:sldId id="473" r:id="rId38"/>
    <p:sldId id="398" r:id="rId39"/>
    <p:sldId id="305" r:id="rId40"/>
    <p:sldId id="474" r:id="rId41"/>
    <p:sldId id="401" r:id="rId42"/>
    <p:sldId id="402" r:id="rId43"/>
    <p:sldId id="438" r:id="rId44"/>
    <p:sldId id="444" r:id="rId45"/>
    <p:sldId id="445" r:id="rId46"/>
    <p:sldId id="491" r:id="rId47"/>
    <p:sldId id="492" r:id="rId48"/>
    <p:sldId id="446" r:id="rId49"/>
    <p:sldId id="447" r:id="rId50"/>
    <p:sldId id="449" r:id="rId51"/>
    <p:sldId id="450" r:id="rId52"/>
    <p:sldId id="452" r:id="rId53"/>
    <p:sldId id="476" r:id="rId54"/>
    <p:sldId id="451" r:id="rId55"/>
    <p:sldId id="319" r:id="rId56"/>
    <p:sldId id="320" r:id="rId57"/>
    <p:sldId id="321" r:id="rId58"/>
    <p:sldId id="404" r:id="rId59"/>
    <p:sldId id="366" r:id="rId60"/>
    <p:sldId id="271" r:id="rId61"/>
    <p:sldId id="408" r:id="rId62"/>
    <p:sldId id="409" r:id="rId63"/>
    <p:sldId id="410" r:id="rId64"/>
    <p:sldId id="454" r:id="rId65"/>
    <p:sldId id="412" r:id="rId66"/>
    <p:sldId id="411" r:id="rId67"/>
    <p:sldId id="494" r:id="rId68"/>
    <p:sldId id="495" r:id="rId69"/>
    <p:sldId id="496" r:id="rId70"/>
    <p:sldId id="497" r:id="rId71"/>
  </p:sldIdLst>
  <p:sldSz cx="12192000" cy="6858000"/>
  <p:notesSz cx="7099300" cy="10234613"/>
  <p:defaultTextStyle>
    <a:defPPr>
      <a:defRPr lang="en-GB"/>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2EC0"/>
    <a:srgbClr val="66FFFF"/>
    <a:srgbClr val="66FF33"/>
    <a:srgbClr val="0033CC"/>
    <a:srgbClr val="FFCC00"/>
    <a:srgbClr val="FF66FF"/>
    <a:srgbClr val="66CCFF"/>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661" autoAdjust="0"/>
    <p:restoredTop sz="88079" autoAdjust="0"/>
  </p:normalViewPr>
  <p:slideViewPr>
    <p:cSldViewPr>
      <p:cViewPr varScale="1">
        <p:scale>
          <a:sx n="75" d="100"/>
          <a:sy n="75" d="100"/>
        </p:scale>
        <p:origin x="51" y="399"/>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9038"/>
    </p:cViewPr>
  </p:sorterViewPr>
  <p:notesViewPr>
    <p:cSldViewPr>
      <p:cViewPr varScale="1">
        <p:scale>
          <a:sx n="57" d="100"/>
          <a:sy n="57" d="100"/>
        </p:scale>
        <p:origin x="-1978" y="-106"/>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defTabSz="947738" eaLnBrk="1" hangingPunct="1">
              <a:defRPr sz="1200"/>
            </a:lvl1pPr>
          </a:lstStyle>
          <a:p>
            <a:pPr>
              <a:defRPr/>
            </a:pPr>
            <a:endParaRPr lang="zh-CN" altLang="en-GB"/>
          </a:p>
        </p:txBody>
      </p:sp>
      <p:sp>
        <p:nvSpPr>
          <p:cNvPr id="46083" name="Rectangle 3"/>
          <p:cNvSpPr>
            <a:spLocks noGrp="1" noChangeArrowheads="1"/>
          </p:cNvSpPr>
          <p:nvPr>
            <p:ph type="dt" sz="quarter" idx="1"/>
          </p:nvPr>
        </p:nvSpPr>
        <p:spPr bwMode="auto">
          <a:xfrm>
            <a:off x="4022725" y="0"/>
            <a:ext cx="3076575" cy="512763"/>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algn="r" defTabSz="947738" eaLnBrk="1" hangingPunct="1">
              <a:defRPr sz="1200"/>
            </a:lvl1pPr>
          </a:lstStyle>
          <a:p>
            <a:pPr>
              <a:defRPr/>
            </a:pPr>
            <a:endParaRPr lang="en-GB" altLang="zh-CN"/>
          </a:p>
        </p:txBody>
      </p:sp>
      <p:sp>
        <p:nvSpPr>
          <p:cNvPr id="46084" name="Rectangle 4"/>
          <p:cNvSpPr>
            <a:spLocks noGrp="1" noChangeArrowheads="1"/>
          </p:cNvSpPr>
          <p:nvPr>
            <p:ph type="ftr" sz="quarter" idx="2"/>
          </p:nvPr>
        </p:nvSpPr>
        <p:spPr bwMode="auto">
          <a:xfrm>
            <a:off x="0" y="9721850"/>
            <a:ext cx="3076575" cy="512763"/>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defTabSz="947738" eaLnBrk="1" hangingPunct="1">
              <a:defRPr sz="1200"/>
            </a:lvl1pPr>
          </a:lstStyle>
          <a:p>
            <a:pPr>
              <a:defRPr/>
            </a:pPr>
            <a:endParaRPr lang="en-GB" altLang="zh-CN"/>
          </a:p>
        </p:txBody>
      </p:sp>
      <p:sp>
        <p:nvSpPr>
          <p:cNvPr id="46085" name="Rectangle 5"/>
          <p:cNvSpPr>
            <a:spLocks noGrp="1" noChangeArrowheads="1"/>
          </p:cNvSpPr>
          <p:nvPr>
            <p:ph type="sldNum" sz="quarter" idx="3"/>
          </p:nvPr>
        </p:nvSpPr>
        <p:spPr bwMode="auto">
          <a:xfrm>
            <a:off x="4022725" y="9721850"/>
            <a:ext cx="3076575" cy="512763"/>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algn="r" defTabSz="947738" eaLnBrk="1" hangingPunct="1">
              <a:defRPr sz="1200"/>
            </a:lvl1pPr>
          </a:lstStyle>
          <a:p>
            <a:pPr>
              <a:defRPr/>
            </a:pPr>
            <a:fld id="{1D35455E-5199-4D1D-8FD6-CD2B26A8A1B3}" type="slidenum">
              <a:rPr lang="zh-CN" altLang="en-GB"/>
              <a:pPr>
                <a:defRPr/>
              </a:pPr>
              <a:t>‹#›</a:t>
            </a:fld>
            <a:endParaRPr lang="en-GB" altLang="zh-CN"/>
          </a:p>
        </p:txBody>
      </p:sp>
    </p:spTree>
    <p:extLst>
      <p:ext uri="{BB962C8B-B14F-4D97-AF65-F5344CB8AC3E}">
        <p14:creationId xmlns:p14="http://schemas.microsoft.com/office/powerpoint/2010/main" val="3507790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1026"/>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defTabSz="947738" eaLnBrk="1" hangingPunct="1">
              <a:defRPr sz="1200"/>
            </a:lvl1pPr>
          </a:lstStyle>
          <a:p>
            <a:pPr>
              <a:defRPr/>
            </a:pPr>
            <a:endParaRPr lang="zh-CN" altLang="en-GB"/>
          </a:p>
        </p:txBody>
      </p:sp>
      <p:sp>
        <p:nvSpPr>
          <p:cNvPr id="7171" name="Rectangle 1027"/>
          <p:cNvSpPr>
            <a:spLocks noGrp="1" noChangeArrowheads="1"/>
          </p:cNvSpPr>
          <p:nvPr>
            <p:ph type="dt" idx="1"/>
          </p:nvPr>
        </p:nvSpPr>
        <p:spPr bwMode="auto">
          <a:xfrm>
            <a:off x="4022725" y="0"/>
            <a:ext cx="3076575" cy="512763"/>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algn="r" defTabSz="947738" eaLnBrk="1" hangingPunct="1">
              <a:defRPr sz="1200"/>
            </a:lvl1pPr>
          </a:lstStyle>
          <a:p>
            <a:pPr>
              <a:defRPr/>
            </a:pPr>
            <a:endParaRPr lang="en-GB" altLang="zh-CN"/>
          </a:p>
        </p:txBody>
      </p:sp>
      <p:sp>
        <p:nvSpPr>
          <p:cNvPr id="3076" name="Rectangle 1028"/>
          <p:cNvSpPr>
            <a:spLocks noGrp="1" noRot="1" noChangeAspect="1" noChangeArrowheads="1" noTextEdit="1"/>
          </p:cNvSpPr>
          <p:nvPr>
            <p:ph type="sldImg" idx="2"/>
          </p:nvPr>
        </p:nvSpPr>
        <p:spPr bwMode="auto">
          <a:xfrm>
            <a:off x="857250" y="6434138"/>
            <a:ext cx="5461000" cy="30718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1029"/>
          <p:cNvSpPr>
            <a:spLocks noGrp="1" noChangeArrowheads="1"/>
          </p:cNvSpPr>
          <p:nvPr>
            <p:ph type="body" sz="quarter" idx="3"/>
          </p:nvPr>
        </p:nvSpPr>
        <p:spPr bwMode="auto">
          <a:xfrm>
            <a:off x="477838" y="785813"/>
            <a:ext cx="6207125" cy="5341937"/>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p>
            <a:pPr lvl="0"/>
            <a:r>
              <a:rPr lang="en-GB" altLang="zh-CN" noProof="0"/>
              <a:t>Click to edit Master text styles</a:t>
            </a:r>
          </a:p>
          <a:p>
            <a:pPr lvl="1"/>
            <a:r>
              <a:rPr lang="en-GB" altLang="zh-CN" noProof="0"/>
              <a:t>Second level</a:t>
            </a:r>
          </a:p>
          <a:p>
            <a:pPr lvl="2"/>
            <a:r>
              <a:rPr lang="en-GB" altLang="zh-CN" noProof="0"/>
              <a:t>Third level</a:t>
            </a:r>
          </a:p>
          <a:p>
            <a:pPr lvl="3"/>
            <a:r>
              <a:rPr lang="en-GB" altLang="zh-CN" noProof="0"/>
              <a:t>Fourth level</a:t>
            </a:r>
          </a:p>
          <a:p>
            <a:pPr lvl="4"/>
            <a:r>
              <a:rPr lang="en-GB" altLang="zh-CN" noProof="0"/>
              <a:t>Fifth level</a:t>
            </a:r>
          </a:p>
        </p:txBody>
      </p:sp>
      <p:sp>
        <p:nvSpPr>
          <p:cNvPr id="7174" name="Rectangle 1030"/>
          <p:cNvSpPr>
            <a:spLocks noGrp="1" noChangeArrowheads="1"/>
          </p:cNvSpPr>
          <p:nvPr>
            <p:ph type="ftr" sz="quarter" idx="4"/>
          </p:nvPr>
        </p:nvSpPr>
        <p:spPr bwMode="auto">
          <a:xfrm>
            <a:off x="0" y="9721850"/>
            <a:ext cx="3076575" cy="512763"/>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defTabSz="947738" eaLnBrk="1" hangingPunct="1">
              <a:defRPr sz="1200"/>
            </a:lvl1pPr>
          </a:lstStyle>
          <a:p>
            <a:pPr>
              <a:defRPr/>
            </a:pPr>
            <a:endParaRPr lang="en-GB" altLang="zh-CN"/>
          </a:p>
        </p:txBody>
      </p:sp>
      <p:sp>
        <p:nvSpPr>
          <p:cNvPr id="7175" name="Rectangle 1031"/>
          <p:cNvSpPr>
            <a:spLocks noGrp="1" noChangeArrowheads="1"/>
          </p:cNvSpPr>
          <p:nvPr>
            <p:ph type="sldNum" sz="quarter" idx="5"/>
          </p:nvPr>
        </p:nvSpPr>
        <p:spPr bwMode="auto">
          <a:xfrm>
            <a:off x="4022725" y="9721850"/>
            <a:ext cx="3076575" cy="512763"/>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algn="r" defTabSz="947738" eaLnBrk="1" hangingPunct="1">
              <a:defRPr sz="1200"/>
            </a:lvl1pPr>
          </a:lstStyle>
          <a:p>
            <a:pPr>
              <a:defRPr/>
            </a:pPr>
            <a:fld id="{9DAFA06B-2868-422D-813E-A1196DA0C2E6}" type="slidenum">
              <a:rPr lang="zh-CN" altLang="en-GB"/>
              <a:pPr>
                <a:defRPr/>
              </a:pPr>
              <a:t>‹#›</a:t>
            </a:fld>
            <a:endParaRPr lang="en-GB" altLang="zh-CN"/>
          </a:p>
        </p:txBody>
      </p:sp>
    </p:spTree>
    <p:extLst>
      <p:ext uri="{BB962C8B-B14F-4D97-AF65-F5344CB8AC3E}">
        <p14:creationId xmlns:p14="http://schemas.microsoft.com/office/powerpoint/2010/main" val="23170588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A02D2B3-83C9-4C91-8EF5-85996354C604}" type="slidenum">
              <a:rPr lang="zh-CN" altLang="en-GB" sz="1200" smtClean="0"/>
              <a:pPr>
                <a:spcBef>
                  <a:spcPct val="0"/>
                </a:spcBef>
              </a:pPr>
              <a:t>1</a:t>
            </a:fld>
            <a:endParaRPr lang="en-GB" altLang="zh-CN" sz="1200"/>
          </a:p>
        </p:txBody>
      </p:sp>
      <p:sp>
        <p:nvSpPr>
          <p:cNvPr id="8195" name="Rectangle 2"/>
          <p:cNvSpPr>
            <a:spLocks noGrp="1" noRot="1" noChangeAspect="1" noChangeArrowheads="1" noTextEdit="1"/>
          </p:cNvSpPr>
          <p:nvPr>
            <p:ph type="sldImg"/>
          </p:nvPr>
        </p:nvSpPr>
        <p:spPr>
          <a:ln/>
        </p:spPr>
      </p:sp>
      <p:sp>
        <p:nvSpPr>
          <p:cNvPr id="819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第</a:t>
            </a:r>
            <a:r>
              <a:rPr lang="en-US" altLang="zh-CN" dirty="0"/>
              <a:t>7</a:t>
            </a:r>
            <a:r>
              <a:rPr lang="zh-CN" altLang="en-US" dirty="0"/>
              <a:t>小节  包的应用  不做要求，分</a:t>
            </a:r>
            <a:r>
              <a:rPr lang="en-US" altLang="zh-CN" dirty="0"/>
              <a:t>3</a:t>
            </a:r>
            <a:r>
              <a:rPr lang="zh-CN" altLang="en-US" dirty="0"/>
              <a:t>次课完成本章教学</a:t>
            </a:r>
          </a:p>
        </p:txBody>
      </p:sp>
    </p:spTree>
    <p:extLst>
      <p:ext uri="{BB962C8B-B14F-4D97-AF65-F5344CB8AC3E}">
        <p14:creationId xmlns:p14="http://schemas.microsoft.com/office/powerpoint/2010/main" val="2932163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062D8D-7BD4-4F15-942A-5333E5371CF3}" type="slidenum">
              <a:rPr lang="zh-CN" altLang="en-GB" sz="1200" smtClean="0"/>
              <a:pPr>
                <a:spcBef>
                  <a:spcPct val="0"/>
                </a:spcBef>
              </a:pPr>
              <a:t>2</a:t>
            </a:fld>
            <a:endParaRPr lang="en-GB" altLang="zh-CN" sz="1200"/>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40259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062BFDF-8C79-43BC-B55B-D254973B353E}" type="slidenum">
              <a:rPr lang="zh-CN" altLang="en-GB" sz="1200" smtClean="0"/>
              <a:pPr>
                <a:spcBef>
                  <a:spcPct val="0"/>
                </a:spcBef>
              </a:pPr>
              <a:t>3</a:t>
            </a:fld>
            <a:endParaRPr lang="en-GB" altLang="zh-CN" sz="1200"/>
          </a:p>
        </p:txBody>
      </p:sp>
      <p:sp>
        <p:nvSpPr>
          <p:cNvPr id="12291" name="Rectangle 2"/>
          <p:cNvSpPr>
            <a:spLocks noGrp="1" noRot="1" noChangeAspect="1" noChangeArrowheads="1" noTextEdit="1"/>
          </p:cNvSpPr>
          <p:nvPr>
            <p:ph type="sldImg"/>
          </p:nvPr>
        </p:nvSpPr>
        <p:spPr>
          <a:ln/>
        </p:spPr>
      </p:sp>
      <p:sp>
        <p:nvSpPr>
          <p:cNvPr id="1229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05063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B320471-EE74-49EE-9D32-380BEEAB51EE}" type="slidenum">
              <a:rPr lang="zh-CN" altLang="en-GB" sz="1200" smtClean="0"/>
              <a:pPr>
                <a:spcBef>
                  <a:spcPct val="0"/>
                </a:spcBef>
              </a:pPr>
              <a:t>4</a:t>
            </a:fld>
            <a:endParaRPr lang="en-GB" altLang="zh-CN" sz="1200"/>
          </a:p>
        </p:txBody>
      </p:sp>
      <p:sp>
        <p:nvSpPr>
          <p:cNvPr id="16387" name="Rectangle 2"/>
          <p:cNvSpPr>
            <a:spLocks noGrp="1" noRot="1" noChangeAspect="1" noChangeArrowheads="1" noTextEdit="1"/>
          </p:cNvSpPr>
          <p:nvPr>
            <p:ph type="sldImg"/>
          </p:nvPr>
        </p:nvSpPr>
        <p:spPr>
          <a:ln/>
        </p:spPr>
      </p:sp>
      <p:sp>
        <p:nvSpPr>
          <p:cNvPr id="1638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029619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9D304EE-A4CB-4C21-8B76-586DBA26AA20}" type="slidenum">
              <a:rPr lang="zh-CN" altLang="en-GB" sz="1200" smtClean="0"/>
              <a:pPr>
                <a:spcBef>
                  <a:spcPct val="0"/>
                </a:spcBef>
              </a:pPr>
              <a:t>5</a:t>
            </a:fld>
            <a:endParaRPr lang="en-GB" altLang="zh-CN" sz="1200"/>
          </a:p>
        </p:txBody>
      </p:sp>
      <p:sp>
        <p:nvSpPr>
          <p:cNvPr id="18435" name="Rectangle 2"/>
          <p:cNvSpPr>
            <a:spLocks noGrp="1" noRot="1" noChangeAspect="1" noChangeArrowheads="1" noTextEdit="1"/>
          </p:cNvSpPr>
          <p:nvPr>
            <p:ph type="sldImg"/>
          </p:nvPr>
        </p:nvSpPr>
        <p:spPr>
          <a:ln/>
        </p:spPr>
      </p:sp>
      <p:sp>
        <p:nvSpPr>
          <p:cNvPr id="1843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922173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BD20123-1E02-481B-9565-AB2F9E501E00}" type="slidenum">
              <a:rPr lang="zh-CN" altLang="en-GB" sz="1200" smtClean="0"/>
              <a:pPr>
                <a:spcBef>
                  <a:spcPct val="0"/>
                </a:spcBef>
              </a:pPr>
              <a:t>6</a:t>
            </a:fld>
            <a:endParaRPr lang="en-GB" altLang="zh-CN" sz="120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40052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015A8AA-C8B4-4AAB-BADE-6D39428D393A}" type="slidenum">
              <a:rPr lang="zh-CN" altLang="en-GB" sz="1200" smtClean="0"/>
              <a:pPr>
                <a:spcBef>
                  <a:spcPct val="0"/>
                </a:spcBef>
              </a:pPr>
              <a:t>7</a:t>
            </a:fld>
            <a:endParaRPr lang="en-GB" altLang="zh-CN" sz="120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926247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0908C0C-98F4-4B05-AEB3-E090485A940B}" type="slidenum">
              <a:rPr lang="zh-CN" altLang="en-GB" sz="1200" smtClean="0"/>
              <a:pPr>
                <a:spcBef>
                  <a:spcPct val="0"/>
                </a:spcBef>
              </a:pPr>
              <a:t>8</a:t>
            </a:fld>
            <a:endParaRPr lang="en-GB" altLang="zh-CN" sz="120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856970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C3B0C8F-E479-4AE3-88F0-A5004BFBA711}" type="slidenum">
              <a:rPr lang="zh-CN" altLang="en-GB" sz="1200" smtClean="0"/>
              <a:pPr>
                <a:spcBef>
                  <a:spcPct val="0"/>
                </a:spcBef>
              </a:pPr>
              <a:t>9</a:t>
            </a:fld>
            <a:endParaRPr lang="en-GB" altLang="zh-CN" sz="120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Trebuchet MS" panose="020B0603020202020204" pitchFamily="34" charset="0"/>
                <a:ea typeface="方正姚体" panose="02010601030101010101" pitchFamily="2" charset="-122"/>
              </a:rPr>
              <a:t>例例</a:t>
            </a:r>
            <a:r>
              <a:rPr lang="en-US" altLang="zh-CN" dirty="0">
                <a:latin typeface="Trebuchet MS" panose="020B0603020202020204" pitchFamily="34" charset="0"/>
                <a:ea typeface="方正姚体" panose="02010601030101010101" pitchFamily="2" charset="-122"/>
              </a:rPr>
              <a:t>3-3</a:t>
            </a:r>
            <a:r>
              <a:rPr lang="zh-CN" altLang="en-US" dirty="0">
                <a:latin typeface="Trebuchet MS" panose="020B0603020202020204" pitchFamily="34" charset="0"/>
                <a:ea typeface="方正姚体" panose="02010601030101010101" pitchFamily="2" charset="-122"/>
              </a:rPr>
              <a:t> 访问从超类继承的成员</a:t>
            </a:r>
            <a:r>
              <a:rPr lang="en-US" altLang="zh-CN" dirty="0">
                <a:latin typeface="Trebuchet MS" panose="020B0603020202020204" pitchFamily="34" charset="0"/>
                <a:ea typeface="方正姚体" panose="02010601030101010101" pitchFamily="2" charset="-122"/>
              </a:rPr>
              <a:t>3-3</a:t>
            </a:r>
            <a:r>
              <a:rPr lang="zh-CN" altLang="en-US" dirty="0">
                <a:latin typeface="Trebuchet MS" panose="020B0603020202020204" pitchFamily="34" charset="0"/>
                <a:ea typeface="方正姚体" panose="02010601030101010101" pitchFamily="2" charset="-122"/>
              </a:rPr>
              <a:t> 访问从超类继承的成员</a:t>
            </a:r>
            <a:endParaRPr lang="zh-CN" altLang="en-US" dirty="0"/>
          </a:p>
        </p:txBody>
      </p:sp>
    </p:spTree>
    <p:extLst>
      <p:ext uri="{BB962C8B-B14F-4D97-AF65-F5344CB8AC3E}">
        <p14:creationId xmlns:p14="http://schemas.microsoft.com/office/powerpoint/2010/main" val="549797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635B69-57AB-4E12-80AB-FC9D47033388}" type="slidenum">
              <a:rPr lang="zh-CN" altLang="en-GB" sz="1200" smtClean="0"/>
              <a:pPr>
                <a:spcBef>
                  <a:spcPct val="0"/>
                </a:spcBef>
              </a:pPr>
              <a:t>10</a:t>
            </a:fld>
            <a:endParaRPr lang="en-GB" altLang="zh-CN"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属性的隐藏</a:t>
            </a:r>
            <a:r>
              <a:rPr lang="zh-CN" altLang="en-US" sz="1600" dirty="0">
                <a:solidFill>
                  <a:schemeClr val="tx1"/>
                </a:solidFill>
                <a:latin typeface="Times New Roman" panose="02020603050405020304" pitchFamily="18" charset="0"/>
              </a:rPr>
              <a:t>子类对从超类继承来的属性变量及方法可以重新定义</a:t>
            </a:r>
            <a:endParaRPr lang="zh-CN" altLang="en-US" sz="1600" dirty="0">
              <a:solidFill>
                <a:schemeClr val="tx1"/>
              </a:solidFill>
            </a:endParaRPr>
          </a:p>
          <a:p>
            <a:pPr eaLnBrk="1" hangingPunct="1"/>
            <a:endParaRPr lang="zh-CN" altLang="en-US" dirty="0"/>
          </a:p>
        </p:txBody>
      </p:sp>
    </p:spTree>
    <p:extLst>
      <p:ext uri="{BB962C8B-B14F-4D97-AF65-F5344CB8AC3E}">
        <p14:creationId xmlns:p14="http://schemas.microsoft.com/office/powerpoint/2010/main" val="830950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89A30BF-DFC4-42F8-9B60-8F9B0D6CD1C0}" type="slidenum">
              <a:rPr lang="zh-CN" altLang="en-GB" sz="1200" smtClean="0"/>
              <a:pPr>
                <a:spcBef>
                  <a:spcPct val="0"/>
                </a:spcBef>
              </a:pPr>
              <a:t>11</a:t>
            </a:fld>
            <a:endParaRPr lang="en-GB" altLang="zh-CN" sz="120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Trebuchet MS" panose="020B0603020202020204" pitchFamily="34" charset="0"/>
                <a:ea typeface="方正姚体" panose="02010601030101010101" pitchFamily="2" charset="-122"/>
              </a:rPr>
              <a:t>访问被隐藏的超类属性</a:t>
            </a:r>
            <a:endParaRPr lang="zh-CN" altLang="en-US" dirty="0"/>
          </a:p>
        </p:txBody>
      </p:sp>
    </p:spTree>
    <p:extLst>
      <p:ext uri="{BB962C8B-B14F-4D97-AF65-F5344CB8AC3E}">
        <p14:creationId xmlns:p14="http://schemas.microsoft.com/office/powerpoint/2010/main" val="6780580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47738" rtl="0" eaLnBrk="1" fontAlgn="base" latinLnBrk="0" hangingPunct="1">
              <a:lnSpc>
                <a:spcPct val="100000"/>
              </a:lnSpc>
              <a:spcBef>
                <a:spcPct val="0"/>
              </a:spcBef>
              <a:spcAft>
                <a:spcPct val="0"/>
              </a:spcAft>
              <a:buClrTx/>
              <a:buSzTx/>
              <a:buFontTx/>
              <a:buNone/>
              <a:tabLst/>
              <a:defRPr/>
            </a:pPr>
            <a:fld id="{CB78AAC7-6327-468E-A9B1-C37BFA2C5462}" type="slidenum">
              <a:rPr kumimoji="1" lang="zh-CN" altLang="en-GB" sz="1200" b="0" i="0" u="none" strike="noStrike" kern="1200" cap="none" spc="0" normalizeH="0" baseline="0" noProof="0" smtClean="0">
                <a:ln>
                  <a:noFill/>
                </a:ln>
                <a:solidFill>
                  <a:srgbClr val="000000"/>
                </a:solidFill>
                <a:effectLst/>
                <a:uLnTx/>
                <a:uFillTx/>
                <a:latin typeface="Times New Roman" panose="02020603050405020304" pitchFamily="18" charset="0"/>
                <a:ea typeface="隶书" panose="02010509060101010101" pitchFamily="49" charset="-122"/>
                <a:cs typeface="+mn-cs"/>
              </a:rPr>
              <a:pPr marL="0" marR="0" lvl="0" indent="0" algn="r" defTabSz="947738" rtl="0" eaLnBrk="1" fontAlgn="base" latinLnBrk="0" hangingPunct="1">
                <a:lnSpc>
                  <a:spcPct val="100000"/>
                </a:lnSpc>
                <a:spcBef>
                  <a:spcPct val="0"/>
                </a:spcBef>
                <a:spcAft>
                  <a:spcPct val="0"/>
                </a:spcAft>
                <a:buClrTx/>
                <a:buSzTx/>
                <a:buFontTx/>
                <a:buNone/>
                <a:tabLst/>
                <a:defRPr/>
              </a:pPr>
              <a:t>12</a:t>
            </a:fld>
            <a:endParaRPr kumimoji="1" lang="en-GB" altLang="zh-CN" sz="12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3-4</a:t>
            </a:r>
            <a:r>
              <a:rPr lang="zh-CN" altLang="en-US" sz="1600" dirty="0"/>
              <a:t> 属性的隐藏</a:t>
            </a:r>
            <a:endParaRPr lang="zh-CN" altLang="en-US" dirty="0"/>
          </a:p>
        </p:txBody>
      </p:sp>
    </p:spTree>
    <p:extLst>
      <p:ext uri="{BB962C8B-B14F-4D97-AF65-F5344CB8AC3E}">
        <p14:creationId xmlns:p14="http://schemas.microsoft.com/office/powerpoint/2010/main" val="192633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B78AAC7-6327-468E-A9B1-C37BFA2C5462}" type="slidenum">
              <a:rPr lang="zh-CN" altLang="en-GB" sz="1200" smtClean="0"/>
              <a:pPr>
                <a:spcBef>
                  <a:spcPct val="0"/>
                </a:spcBef>
              </a:pPr>
              <a:t>13</a:t>
            </a:fld>
            <a:endParaRPr lang="en-GB" altLang="zh-CN" sz="120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3-5</a:t>
            </a:r>
            <a:r>
              <a:rPr lang="zh-CN" altLang="en-US" sz="1600" dirty="0"/>
              <a:t> 属性的隐藏例</a:t>
            </a:r>
            <a:r>
              <a:rPr lang="en-US" altLang="zh-CN" sz="1600" dirty="0"/>
              <a:t>2</a:t>
            </a:r>
            <a:endParaRPr lang="zh-CN" altLang="en-US" dirty="0"/>
          </a:p>
        </p:txBody>
      </p:sp>
    </p:spTree>
    <p:extLst>
      <p:ext uri="{BB962C8B-B14F-4D97-AF65-F5344CB8AC3E}">
        <p14:creationId xmlns:p14="http://schemas.microsoft.com/office/powerpoint/2010/main" val="3573825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AB1E060-E4C4-46CE-8112-ED4AF9376A37}" type="slidenum">
              <a:rPr lang="zh-CN" altLang="en-GB" sz="1200" smtClean="0"/>
              <a:pPr>
                <a:spcBef>
                  <a:spcPct val="0"/>
                </a:spcBef>
              </a:pPr>
              <a:t>14</a:t>
            </a:fld>
            <a:endParaRPr lang="en-GB" altLang="zh-CN" sz="12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3-5(</a:t>
            </a:r>
            <a:r>
              <a:rPr lang="zh-CN" altLang="en-US" sz="1600" dirty="0"/>
              <a:t>续</a:t>
            </a:r>
            <a:r>
              <a:rPr lang="en-US" altLang="zh-CN" sz="1600" dirty="0"/>
              <a:t>)</a:t>
            </a:r>
            <a:r>
              <a:rPr lang="zh-CN" altLang="en-US" sz="1600" dirty="0"/>
              <a:t>访问超类静态属性</a:t>
            </a:r>
            <a:endParaRPr lang="zh-CN" altLang="en-US" dirty="0"/>
          </a:p>
        </p:txBody>
      </p:sp>
    </p:spTree>
    <p:extLst>
      <p:ext uri="{BB962C8B-B14F-4D97-AF65-F5344CB8AC3E}">
        <p14:creationId xmlns:p14="http://schemas.microsoft.com/office/powerpoint/2010/main" val="718473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F049CB-5CCD-4128-ACE3-B7152665ACAE}" type="slidenum">
              <a:rPr lang="zh-CN" altLang="en-GB" sz="1200" smtClean="0"/>
              <a:pPr>
                <a:spcBef>
                  <a:spcPct val="0"/>
                </a:spcBef>
              </a:pPr>
              <a:t>15</a:t>
            </a:fld>
            <a:endParaRPr lang="en-GB" altLang="zh-CN" sz="1200"/>
          </a:p>
        </p:txBody>
      </p:sp>
      <p:sp>
        <p:nvSpPr>
          <p:cNvPr id="49155" name="Rectangle 2"/>
          <p:cNvSpPr>
            <a:spLocks noGrp="1" noRot="1" noChangeAspect="1" noChangeArrowheads="1" noTextEdit="1"/>
          </p:cNvSpPr>
          <p:nvPr>
            <p:ph type="sldImg"/>
          </p:nvPr>
        </p:nvSpPr>
        <p:spPr>
          <a:ln/>
        </p:spPr>
      </p:sp>
      <p:sp>
        <p:nvSpPr>
          <p:cNvPr id="4915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宋体" panose="02010600030101010101" pitchFamily="2" charset="-122"/>
              </a:rPr>
              <a:t>方法覆盖</a:t>
            </a:r>
            <a:endParaRPr lang="zh-CN" altLang="en-US" dirty="0"/>
          </a:p>
        </p:txBody>
      </p:sp>
    </p:spTree>
    <p:extLst>
      <p:ext uri="{BB962C8B-B14F-4D97-AF65-F5344CB8AC3E}">
        <p14:creationId xmlns:p14="http://schemas.microsoft.com/office/powerpoint/2010/main" val="7543608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5912AF8-D9C9-43A0-9EF4-7D7E5BB4CAD9}" type="slidenum">
              <a:rPr lang="zh-CN" altLang="en-GB" sz="1200" smtClean="0"/>
              <a:pPr>
                <a:spcBef>
                  <a:spcPct val="0"/>
                </a:spcBef>
              </a:pPr>
              <a:t>16</a:t>
            </a:fld>
            <a:endParaRPr lang="en-GB" altLang="zh-CN"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Trebuchet MS" panose="020B0603020202020204" pitchFamily="34" charset="0"/>
                <a:ea typeface="方正姚体" panose="02010601030101010101" pitchFamily="2" charset="-122"/>
              </a:rPr>
              <a:t>方法覆盖的应用场合</a:t>
            </a:r>
            <a:endParaRPr lang="zh-CN" altLang="en-US" dirty="0"/>
          </a:p>
        </p:txBody>
      </p:sp>
    </p:spTree>
    <p:extLst>
      <p:ext uri="{BB962C8B-B14F-4D97-AF65-F5344CB8AC3E}">
        <p14:creationId xmlns:p14="http://schemas.microsoft.com/office/powerpoint/2010/main" val="18766147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D8FAB04-E3FE-42C1-9E6C-732B7BFD620A}" type="slidenum">
              <a:rPr lang="zh-CN" altLang="en-GB" sz="1200" smtClean="0"/>
              <a:pPr>
                <a:spcBef>
                  <a:spcPct val="0"/>
                </a:spcBef>
              </a:pPr>
              <a:t>17</a:t>
            </a:fld>
            <a:endParaRPr lang="en-GB" altLang="zh-CN"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Trebuchet MS" panose="020B0603020202020204" pitchFamily="34" charset="0"/>
                <a:ea typeface="方正姚体" panose="02010601030101010101" pitchFamily="2" charset="-122"/>
              </a:rPr>
              <a:t>方法覆盖的注意事项</a:t>
            </a:r>
            <a:endParaRPr lang="en-US" altLang="zh-CN" dirty="0">
              <a:latin typeface="Trebuchet MS" panose="020B0603020202020204" pitchFamily="34" charset="0"/>
              <a:ea typeface="方正姚体" panose="02010601030101010101" pitchFamily="2" charset="-122"/>
            </a:endParaRPr>
          </a:p>
          <a:p>
            <a:pPr eaLnBrk="1" hangingPunct="1"/>
            <a:r>
              <a:rPr lang="en-US" altLang="zh-CN" dirty="0" err="1"/>
              <a:t>overriddenMethodName</a:t>
            </a:r>
            <a:r>
              <a:rPr lang="en-US" altLang="zh-CN" dirty="0"/>
              <a:t> </a:t>
            </a:r>
            <a:r>
              <a:rPr lang="zh-CN" altLang="en-US" dirty="0"/>
              <a:t>是超类中被覆盖的方法名称，如果该方法有参数，则也必须确保参数相匹配</a:t>
            </a:r>
          </a:p>
        </p:txBody>
      </p:sp>
    </p:spTree>
    <p:extLst>
      <p:ext uri="{BB962C8B-B14F-4D97-AF65-F5344CB8AC3E}">
        <p14:creationId xmlns:p14="http://schemas.microsoft.com/office/powerpoint/2010/main" val="799724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9447CED-9855-4B86-A7A7-99F6EBF89AC8}" type="slidenum">
              <a:rPr lang="zh-CN" altLang="en-GB" sz="1200" smtClean="0"/>
              <a:pPr>
                <a:spcBef>
                  <a:spcPct val="0"/>
                </a:spcBef>
              </a:pPr>
              <a:t>18</a:t>
            </a:fld>
            <a:endParaRPr lang="en-GB" altLang="zh-CN" sz="1200"/>
          </a:p>
        </p:txBody>
      </p:sp>
      <p:sp>
        <p:nvSpPr>
          <p:cNvPr id="55299" name="Rectangle 2"/>
          <p:cNvSpPr>
            <a:spLocks noGrp="1" noRot="1" noChangeAspect="1" noChangeArrowheads="1" noTextEdit="1"/>
          </p:cNvSpPr>
          <p:nvPr>
            <p:ph type="sldImg"/>
          </p:nvPr>
        </p:nvSpPr>
        <p:spPr>
          <a:ln/>
        </p:spPr>
      </p:sp>
      <p:sp>
        <p:nvSpPr>
          <p:cNvPr id="2" name="备注占位符 1">
            <a:extLst>
              <a:ext uri="{FF2B5EF4-FFF2-40B4-BE49-F238E27FC236}">
                <a16:creationId xmlns:a16="http://schemas.microsoft.com/office/drawing/2014/main" id="{62F196CA-E64A-65BD-2BFD-6A614E2C2448}"/>
              </a:ext>
            </a:extLst>
          </p:cNvPr>
          <p:cNvSpPr>
            <a:spLocks noGrp="1"/>
          </p:cNvSpPr>
          <p:nvPr>
            <p:ph type="body" idx="1"/>
          </p:nvPr>
        </p:nvSpPr>
        <p:spPr/>
        <p:txBody>
          <a:bodyPr/>
          <a:lstStyle/>
          <a:p>
            <a:r>
              <a:rPr lang="zh-CN" altLang="en-US" sz="1600" dirty="0"/>
              <a:t>有继承时子类的构造方法遵循以下的原则</a:t>
            </a:r>
            <a:endParaRPr lang="zh-CN" altLang="en-US" dirty="0"/>
          </a:p>
        </p:txBody>
      </p:sp>
    </p:spTree>
    <p:extLst>
      <p:ext uri="{BB962C8B-B14F-4D97-AF65-F5344CB8AC3E}">
        <p14:creationId xmlns:p14="http://schemas.microsoft.com/office/powerpoint/2010/main" val="2070885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9EC2362-1FD8-477A-9925-4122DE6B2595}" type="slidenum">
              <a:rPr lang="zh-CN" altLang="en-GB" sz="1200" smtClean="0"/>
              <a:pPr>
                <a:spcBef>
                  <a:spcPct val="0"/>
                </a:spcBef>
              </a:pPr>
              <a:t>19</a:t>
            </a:fld>
            <a:endParaRPr lang="en-GB" altLang="zh-CN"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3-6</a:t>
            </a:r>
            <a:r>
              <a:rPr lang="zh-CN" altLang="en-US" dirty="0"/>
              <a:t> 子类的构造方法</a:t>
            </a:r>
          </a:p>
        </p:txBody>
      </p:sp>
    </p:spTree>
    <p:extLst>
      <p:ext uri="{BB962C8B-B14F-4D97-AF65-F5344CB8AC3E}">
        <p14:creationId xmlns:p14="http://schemas.microsoft.com/office/powerpoint/2010/main" val="2994526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FB6C72-CBC5-48DB-907B-36954D094D3F}" type="slidenum">
              <a:rPr lang="zh-CN" altLang="en-GB" sz="1200" smtClean="0"/>
              <a:pPr>
                <a:spcBef>
                  <a:spcPct val="0"/>
                </a:spcBef>
              </a:pPr>
              <a:t>20</a:t>
            </a:fld>
            <a:endParaRPr lang="en-GB" altLang="zh-CN"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3-6</a:t>
            </a:r>
            <a:r>
              <a:rPr lang="zh-CN" altLang="en-US" dirty="0"/>
              <a:t> 子类的构造方法（续）</a:t>
            </a:r>
          </a:p>
        </p:txBody>
      </p:sp>
    </p:spTree>
    <p:extLst>
      <p:ext uri="{BB962C8B-B14F-4D97-AF65-F5344CB8AC3E}">
        <p14:creationId xmlns:p14="http://schemas.microsoft.com/office/powerpoint/2010/main" val="34141359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0E2CDE2-752D-45D7-9E75-E746F4031FAE}" type="slidenum">
              <a:rPr lang="zh-CN" altLang="en-GB" sz="1200" smtClean="0"/>
              <a:pPr>
                <a:spcBef>
                  <a:spcPct val="0"/>
                </a:spcBef>
              </a:pPr>
              <a:t>21</a:t>
            </a:fld>
            <a:endParaRPr lang="en-GB" altLang="zh-CN"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3-6</a:t>
            </a:r>
            <a:r>
              <a:rPr lang="zh-CN" altLang="en-US" dirty="0"/>
              <a:t> 子类的构造方法（续）</a:t>
            </a:r>
          </a:p>
        </p:txBody>
      </p:sp>
    </p:spTree>
    <p:extLst>
      <p:ext uri="{BB962C8B-B14F-4D97-AF65-F5344CB8AC3E}">
        <p14:creationId xmlns:p14="http://schemas.microsoft.com/office/powerpoint/2010/main" val="1928258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B5E244E-715E-4EC3-8D66-37B8C945E0EE}" type="slidenum">
              <a:rPr lang="zh-CN" altLang="en-GB" sz="1200" smtClean="0"/>
              <a:pPr>
                <a:spcBef>
                  <a:spcPct val="0"/>
                </a:spcBef>
              </a:pPr>
              <a:t>22</a:t>
            </a:fld>
            <a:endParaRPr lang="en-GB" altLang="zh-CN" sz="1200"/>
          </a:p>
        </p:txBody>
      </p:sp>
      <p:sp>
        <p:nvSpPr>
          <p:cNvPr id="67587" name="Rectangle 2"/>
          <p:cNvSpPr>
            <a:spLocks noGrp="1" noRot="1" noChangeAspect="1" noChangeArrowheads="1" noTextEdit="1"/>
          </p:cNvSpPr>
          <p:nvPr>
            <p:ph type="sldImg"/>
          </p:nvPr>
        </p:nvSpPr>
        <p:spPr>
          <a:ln/>
        </p:spPr>
      </p:sp>
      <p:sp>
        <p:nvSpPr>
          <p:cNvPr id="6758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572977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D1550B-F12E-4FD8-8569-0F41D435EC4C}" type="slidenum">
              <a:rPr lang="zh-CN" altLang="en-GB" sz="1200" smtClean="0"/>
              <a:pPr>
                <a:spcBef>
                  <a:spcPct val="0"/>
                </a:spcBef>
              </a:pPr>
              <a:t>23</a:t>
            </a:fld>
            <a:endParaRPr lang="en-GB" altLang="zh-CN" sz="1200"/>
          </a:p>
        </p:txBody>
      </p:sp>
      <p:sp>
        <p:nvSpPr>
          <p:cNvPr id="71683" name="Rectangle 2"/>
          <p:cNvSpPr>
            <a:spLocks noGrp="1" noRot="1" noChangeAspect="1" noChangeArrowheads="1" noTextEdit="1"/>
          </p:cNvSpPr>
          <p:nvPr>
            <p:ph type="sldImg"/>
          </p:nvPr>
        </p:nvSpPr>
        <p:spPr>
          <a:ln/>
        </p:spPr>
      </p:sp>
      <p:sp>
        <p:nvSpPr>
          <p:cNvPr id="7168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3787386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98B4AB3-B89B-4864-B1F6-039C99E8117A}" type="slidenum">
              <a:rPr lang="zh-CN" altLang="en-GB" sz="1200" smtClean="0"/>
              <a:pPr>
                <a:spcBef>
                  <a:spcPct val="0"/>
                </a:spcBef>
              </a:pPr>
              <a:t>24</a:t>
            </a:fld>
            <a:endParaRPr lang="en-GB" altLang="zh-CN" sz="120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3-8</a:t>
            </a:r>
            <a:r>
              <a:rPr lang="zh-CN" altLang="en-US" sz="1600" dirty="0"/>
              <a:t> “</a:t>
            </a:r>
            <a:r>
              <a:rPr lang="en-US" altLang="zh-CN" sz="1600" dirty="0"/>
              <a:t>==</a:t>
            </a:r>
            <a:r>
              <a:rPr lang="zh-CN" altLang="en-US" sz="1600" dirty="0"/>
              <a:t>”判断两个引用是否同一，也就是判断两个引用变量是不是指向同一个对象。</a:t>
            </a:r>
            <a:endParaRPr lang="zh-CN" altLang="en-US" dirty="0"/>
          </a:p>
        </p:txBody>
      </p:sp>
    </p:spTree>
    <p:extLst>
      <p:ext uri="{BB962C8B-B14F-4D97-AF65-F5344CB8AC3E}">
        <p14:creationId xmlns:p14="http://schemas.microsoft.com/office/powerpoint/2010/main" val="35559175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617A4E4-0FA0-4D95-975E-DDEA64826FA3}" type="slidenum">
              <a:rPr lang="zh-CN" altLang="en-GB" sz="1200" smtClean="0"/>
              <a:pPr>
                <a:spcBef>
                  <a:spcPct val="0"/>
                </a:spcBef>
              </a:pPr>
              <a:t>25</a:t>
            </a:fld>
            <a:endParaRPr lang="en-GB" altLang="zh-CN" sz="120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3-8</a:t>
            </a:r>
            <a:r>
              <a:rPr lang="zh-CN" altLang="en-US" sz="1600" dirty="0"/>
              <a:t> “</a:t>
            </a:r>
            <a:r>
              <a:rPr lang="en-US" altLang="zh-CN" sz="1600" dirty="0"/>
              <a:t>==</a:t>
            </a:r>
            <a:r>
              <a:rPr lang="zh-CN" altLang="en-US" sz="1600" dirty="0"/>
              <a:t>”判断两个引用是否同一（续）</a:t>
            </a:r>
            <a:endParaRPr lang="zh-CN" altLang="en-US" dirty="0"/>
          </a:p>
        </p:txBody>
      </p:sp>
    </p:spTree>
    <p:extLst>
      <p:ext uri="{BB962C8B-B14F-4D97-AF65-F5344CB8AC3E}">
        <p14:creationId xmlns:p14="http://schemas.microsoft.com/office/powerpoint/2010/main" val="3889019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5BBD9B-0E26-41F1-B9C9-3457DA1787CE}" type="slidenum">
              <a:rPr lang="zh-CN" altLang="en-GB" sz="1200" smtClean="0"/>
              <a:pPr>
                <a:spcBef>
                  <a:spcPct val="0"/>
                </a:spcBef>
              </a:pPr>
              <a:t>26</a:t>
            </a:fld>
            <a:endParaRPr lang="en-GB" altLang="zh-CN" sz="120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600" dirty="0"/>
              <a:t>也是判断两个对象引用是否同一</a:t>
            </a:r>
            <a:endParaRPr lang="en-US" altLang="zh-CN" dirty="0"/>
          </a:p>
          <a:p>
            <a:pPr eaLnBrk="1" hangingPunct="1"/>
            <a:endParaRPr lang="zh-CN" altLang="en-US" dirty="0"/>
          </a:p>
        </p:txBody>
      </p:sp>
    </p:spTree>
    <p:extLst>
      <p:ext uri="{BB962C8B-B14F-4D97-AF65-F5344CB8AC3E}">
        <p14:creationId xmlns:p14="http://schemas.microsoft.com/office/powerpoint/2010/main" val="38540440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A78F6B-166D-486F-9231-5F0100F63F7E}" type="slidenum">
              <a:rPr lang="zh-CN" altLang="en-GB" sz="1200" smtClean="0"/>
              <a:pPr>
                <a:spcBef>
                  <a:spcPct val="0"/>
                </a:spcBef>
              </a:pPr>
              <a:t>27</a:t>
            </a:fld>
            <a:endParaRPr lang="en-GB" altLang="zh-CN" sz="12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3-9</a:t>
            </a:r>
            <a:r>
              <a:rPr lang="zh-CN" altLang="en-US" dirty="0"/>
              <a:t> </a:t>
            </a:r>
            <a:r>
              <a:rPr lang="en-US" altLang="zh-CN" dirty="0"/>
              <a:t>equals</a:t>
            </a:r>
            <a:r>
              <a:rPr lang="zh-CN" altLang="en-US" dirty="0"/>
              <a:t>方法</a:t>
            </a:r>
          </a:p>
        </p:txBody>
      </p:sp>
    </p:spTree>
    <p:extLst>
      <p:ext uri="{BB962C8B-B14F-4D97-AF65-F5344CB8AC3E}">
        <p14:creationId xmlns:p14="http://schemas.microsoft.com/office/powerpoint/2010/main" val="16453979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7A58D19-70C9-4630-A8C8-83B45A5EFDD2}" type="slidenum">
              <a:rPr lang="zh-CN" altLang="en-GB" sz="1200" smtClean="0"/>
              <a:pPr>
                <a:spcBef>
                  <a:spcPct val="0"/>
                </a:spcBef>
              </a:pPr>
              <a:t>28</a:t>
            </a:fld>
            <a:endParaRPr lang="en-GB" altLang="zh-CN" sz="120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1708694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A98C43-9761-482B-9A3F-9294A2B38022}" type="slidenum">
              <a:rPr lang="zh-CN" altLang="en-GB" sz="1200" smtClean="0"/>
              <a:pPr>
                <a:spcBef>
                  <a:spcPct val="0"/>
                </a:spcBef>
              </a:pPr>
              <a:t>29</a:t>
            </a:fld>
            <a:endParaRPr lang="en-GB" altLang="zh-CN"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3-10</a:t>
            </a:r>
            <a:r>
              <a:rPr lang="zh-CN" altLang="en-US" dirty="0"/>
              <a:t> 覆盖</a:t>
            </a:r>
            <a:r>
              <a:rPr lang="en-US" altLang="zh-CN" dirty="0" err="1"/>
              <a:t>equlas</a:t>
            </a:r>
            <a:r>
              <a:rPr lang="zh-CN" altLang="en-US" dirty="0"/>
              <a:t>方法（</a:t>
            </a:r>
            <a:r>
              <a:rPr lang="en-US" altLang="zh-CN" dirty="0"/>
              <a:t>1</a:t>
            </a:r>
            <a:r>
              <a:rPr lang="zh-CN" altLang="en-US" dirty="0"/>
              <a:t>）。超类引用变量可以指向子类对象，所以形式参数 </a:t>
            </a:r>
            <a:r>
              <a:rPr lang="en-US" altLang="zh-CN" dirty="0"/>
              <a:t>Object x </a:t>
            </a:r>
            <a:r>
              <a:rPr lang="zh-CN" altLang="en-US" dirty="0"/>
              <a:t>可以接受任何类型的对象。</a:t>
            </a:r>
          </a:p>
        </p:txBody>
      </p:sp>
    </p:spTree>
    <p:extLst>
      <p:ext uri="{BB962C8B-B14F-4D97-AF65-F5344CB8AC3E}">
        <p14:creationId xmlns:p14="http://schemas.microsoft.com/office/powerpoint/2010/main" val="12196943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497792E-B3C4-41B5-A0E8-FFF56EBDF17E}" type="slidenum">
              <a:rPr lang="zh-CN" altLang="en-GB" sz="1200" smtClean="0"/>
              <a:pPr>
                <a:spcBef>
                  <a:spcPct val="0"/>
                </a:spcBef>
              </a:pPr>
              <a:t>30</a:t>
            </a:fld>
            <a:endParaRPr lang="en-GB" altLang="zh-CN" sz="12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3-10</a:t>
            </a:r>
            <a:r>
              <a:rPr lang="zh-CN" altLang="en-US" dirty="0"/>
              <a:t> 覆盖</a:t>
            </a:r>
            <a:r>
              <a:rPr lang="en-US" altLang="zh-CN" dirty="0" err="1"/>
              <a:t>equlas</a:t>
            </a:r>
            <a:r>
              <a:rPr lang="zh-CN" altLang="en-US" dirty="0"/>
              <a:t>方法（</a:t>
            </a:r>
            <a:r>
              <a:rPr lang="en-US" altLang="zh-CN" dirty="0"/>
              <a:t>2</a:t>
            </a:r>
            <a:r>
              <a:rPr lang="zh-CN" altLang="en-US" dirty="0"/>
              <a:t>）。在执行 </a:t>
            </a:r>
            <a:r>
              <a:rPr lang="en-US" altLang="zh-CN" dirty="0" err="1"/>
              <a:t>System.out.print</a:t>
            </a:r>
            <a:r>
              <a:rPr lang="en-US" altLang="zh-CN" dirty="0"/>
              <a:t>(</a:t>
            </a:r>
            <a:r>
              <a:rPr lang="en-US" altLang="zh-CN" dirty="0" err="1"/>
              <a:t>objectx</a:t>
            </a:r>
            <a:r>
              <a:rPr lang="en-US" altLang="zh-CN" dirty="0"/>
              <a:t>) </a:t>
            </a:r>
            <a:r>
              <a:rPr lang="zh-CN" altLang="en-US" dirty="0"/>
              <a:t>或 </a:t>
            </a:r>
            <a:r>
              <a:rPr lang="en-US" altLang="zh-CN" dirty="0" err="1"/>
              <a:t>System.out.println</a:t>
            </a:r>
            <a:r>
              <a:rPr lang="en-US" altLang="zh-CN" dirty="0"/>
              <a:t>(</a:t>
            </a:r>
            <a:r>
              <a:rPr lang="en-US" altLang="zh-CN" dirty="0" err="1"/>
              <a:t>objecty</a:t>
            </a:r>
            <a:r>
              <a:rPr lang="en-US" altLang="zh-CN" dirty="0"/>
              <a:t>)</a:t>
            </a:r>
            <a:r>
              <a:rPr lang="zh-CN" altLang="en-US" dirty="0"/>
              <a:t>等方法时会自动调用 </a:t>
            </a:r>
            <a:r>
              <a:rPr lang="en-US" altLang="zh-CN" dirty="0" err="1"/>
              <a:t>toString</a:t>
            </a:r>
            <a:r>
              <a:rPr lang="en-US" altLang="zh-CN" dirty="0"/>
              <a:t>()</a:t>
            </a:r>
            <a:r>
              <a:rPr lang="zh-CN" altLang="en-US" dirty="0"/>
              <a:t>方法。</a:t>
            </a:r>
          </a:p>
        </p:txBody>
      </p:sp>
    </p:spTree>
    <p:extLst>
      <p:ext uri="{BB962C8B-B14F-4D97-AF65-F5344CB8AC3E}">
        <p14:creationId xmlns:p14="http://schemas.microsoft.com/office/powerpoint/2010/main" val="7005156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A9C39E-ED30-41C5-8231-9E886082A4F8}" type="slidenum">
              <a:rPr lang="zh-CN" altLang="en-GB" sz="1200" smtClean="0"/>
              <a:pPr>
                <a:spcBef>
                  <a:spcPct val="0"/>
                </a:spcBef>
              </a:pPr>
              <a:t>31</a:t>
            </a:fld>
            <a:endParaRPr lang="en-GB" altLang="zh-CN" sz="12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3-10</a:t>
            </a:r>
            <a:r>
              <a:rPr lang="zh-CN" altLang="en-US" dirty="0"/>
              <a:t> 覆盖</a:t>
            </a:r>
            <a:r>
              <a:rPr lang="en-US" altLang="zh-CN" dirty="0" err="1"/>
              <a:t>equlas</a:t>
            </a:r>
            <a:r>
              <a:rPr lang="zh-CN" altLang="en-US" dirty="0"/>
              <a:t>方法（</a:t>
            </a:r>
            <a:r>
              <a:rPr lang="en-US" altLang="zh-CN" dirty="0"/>
              <a:t>2</a:t>
            </a:r>
            <a:r>
              <a:rPr lang="zh-CN" altLang="en-US" dirty="0"/>
              <a:t>）</a:t>
            </a:r>
          </a:p>
        </p:txBody>
      </p:sp>
    </p:spTree>
    <p:extLst>
      <p:ext uri="{BB962C8B-B14F-4D97-AF65-F5344CB8AC3E}">
        <p14:creationId xmlns:p14="http://schemas.microsoft.com/office/powerpoint/2010/main" val="4614331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A9C39E-ED30-41C5-8231-9E886082A4F8}" type="slidenum">
              <a:rPr lang="zh-CN" altLang="en-GB" sz="1200" smtClean="0"/>
              <a:pPr>
                <a:spcBef>
                  <a:spcPct val="0"/>
                </a:spcBef>
              </a:pPr>
              <a:t>32</a:t>
            </a:fld>
            <a:endParaRPr lang="en-GB" altLang="zh-CN" sz="1200"/>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3-10</a:t>
            </a:r>
            <a:r>
              <a:rPr lang="zh-CN" altLang="en-US" dirty="0"/>
              <a:t> 覆盖</a:t>
            </a:r>
            <a:r>
              <a:rPr lang="en-US" altLang="zh-CN" dirty="0" err="1"/>
              <a:t>equlas</a:t>
            </a:r>
            <a:r>
              <a:rPr lang="zh-CN" altLang="en-US" dirty="0"/>
              <a:t>方法（</a:t>
            </a:r>
            <a:r>
              <a:rPr lang="en-US" altLang="zh-CN" dirty="0"/>
              <a:t>2</a:t>
            </a:r>
            <a:r>
              <a:rPr lang="zh-CN" altLang="en-US" dirty="0"/>
              <a:t>）</a:t>
            </a:r>
          </a:p>
        </p:txBody>
      </p:sp>
    </p:spTree>
    <p:extLst>
      <p:ext uri="{BB962C8B-B14F-4D97-AF65-F5344CB8AC3E}">
        <p14:creationId xmlns:p14="http://schemas.microsoft.com/office/powerpoint/2010/main" val="9017135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C0135F-6CF0-481B-BA32-97F7788AA4EB}" type="slidenum">
              <a:rPr lang="zh-CN" altLang="en-GB" sz="1200" smtClean="0"/>
              <a:pPr>
                <a:spcBef>
                  <a:spcPct val="0"/>
                </a:spcBef>
              </a:pPr>
              <a:t>33</a:t>
            </a:fld>
            <a:endParaRPr lang="en-GB" altLang="zh-CN" sz="1200"/>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7340095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FFB390B-7F25-424B-8BCA-913BFC178D90}" type="slidenum">
              <a:rPr lang="zh-CN" altLang="en-GB" sz="1200" smtClean="0"/>
              <a:pPr>
                <a:spcBef>
                  <a:spcPct val="0"/>
                </a:spcBef>
              </a:pPr>
              <a:t>34</a:t>
            </a:fld>
            <a:endParaRPr lang="en-GB" altLang="zh-CN" sz="1200"/>
          </a:p>
        </p:txBody>
      </p:sp>
      <p:sp>
        <p:nvSpPr>
          <p:cNvPr id="105475" name="Rectangle 2"/>
          <p:cNvSpPr>
            <a:spLocks noGrp="1" noRot="1" noChangeAspect="1" noChangeArrowheads="1" noTextEdit="1"/>
          </p:cNvSpPr>
          <p:nvPr>
            <p:ph type="sldImg"/>
          </p:nvPr>
        </p:nvSpPr>
        <p:spPr>
          <a:ln/>
        </p:spPr>
      </p:sp>
      <p:sp>
        <p:nvSpPr>
          <p:cNvPr id="10547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终结类</a:t>
            </a:r>
          </a:p>
        </p:txBody>
      </p:sp>
    </p:spTree>
    <p:extLst>
      <p:ext uri="{BB962C8B-B14F-4D97-AF65-F5344CB8AC3E}">
        <p14:creationId xmlns:p14="http://schemas.microsoft.com/office/powerpoint/2010/main" val="506181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DA15F7C-2212-4B8B-8894-847D6B0A9FBB}" type="slidenum">
              <a:rPr lang="zh-CN" altLang="en-GB" sz="1200" smtClean="0"/>
              <a:pPr>
                <a:spcBef>
                  <a:spcPct val="0"/>
                </a:spcBef>
              </a:pPr>
              <a:t>35</a:t>
            </a:fld>
            <a:endParaRPr lang="en-GB" altLang="zh-CN" sz="1200"/>
          </a:p>
        </p:txBody>
      </p:sp>
      <p:sp>
        <p:nvSpPr>
          <p:cNvPr id="109571" name="Rectangle 2"/>
          <p:cNvSpPr>
            <a:spLocks noGrp="1" noRot="1" noChangeAspect="1" noChangeArrowheads="1" noTextEdit="1"/>
          </p:cNvSpPr>
          <p:nvPr>
            <p:ph type="sldImg"/>
          </p:nvPr>
        </p:nvSpPr>
        <p:spPr>
          <a:ln/>
        </p:spPr>
      </p:sp>
      <p:sp>
        <p:nvSpPr>
          <p:cNvPr id="10957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3-11</a:t>
            </a:r>
            <a:r>
              <a:rPr lang="zh-CN" altLang="en-US" dirty="0"/>
              <a:t> 终结方法 </a:t>
            </a:r>
            <a:endParaRPr lang="en-US" altLang="zh-CN" dirty="0"/>
          </a:p>
        </p:txBody>
      </p:sp>
    </p:spTree>
    <p:extLst>
      <p:ext uri="{BB962C8B-B14F-4D97-AF65-F5344CB8AC3E}">
        <p14:creationId xmlns:p14="http://schemas.microsoft.com/office/powerpoint/2010/main" val="25852591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A96BD7C-E363-4A75-8F93-95C2122448F7}" type="slidenum">
              <a:rPr lang="zh-CN" altLang="en-GB" sz="1200" smtClean="0"/>
              <a:pPr>
                <a:spcBef>
                  <a:spcPct val="0"/>
                </a:spcBef>
              </a:pPr>
              <a:t>36</a:t>
            </a:fld>
            <a:endParaRPr lang="en-GB" altLang="zh-CN" sz="1200"/>
          </a:p>
        </p:txBody>
      </p:sp>
      <p:sp>
        <p:nvSpPr>
          <p:cNvPr id="111619" name="Rectangle 2"/>
          <p:cNvSpPr>
            <a:spLocks noGrp="1" noRot="1" noChangeAspect="1" noChangeArrowheads="1" noTextEdit="1"/>
          </p:cNvSpPr>
          <p:nvPr>
            <p:ph type="sldImg"/>
          </p:nvPr>
        </p:nvSpPr>
        <p:spPr>
          <a:xfrm>
            <a:off x="1409700" y="7100888"/>
            <a:ext cx="4832350" cy="2719387"/>
          </a:xfrm>
          <a:ln/>
        </p:spPr>
      </p:sp>
      <p:sp>
        <p:nvSpPr>
          <p:cNvPr id="11162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8060081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A96BD7C-E363-4A75-8F93-95C2122448F7}" type="slidenum">
              <a:rPr lang="zh-CN" altLang="en-GB" sz="1200" smtClean="0"/>
              <a:pPr>
                <a:spcBef>
                  <a:spcPct val="0"/>
                </a:spcBef>
              </a:pPr>
              <a:t>37</a:t>
            </a:fld>
            <a:endParaRPr lang="en-GB" altLang="zh-CN" sz="1200"/>
          </a:p>
        </p:txBody>
      </p:sp>
      <p:sp>
        <p:nvSpPr>
          <p:cNvPr id="111619" name="Rectangle 2"/>
          <p:cNvSpPr>
            <a:spLocks noGrp="1" noRot="1" noChangeAspect="1" noChangeArrowheads="1" noTextEdit="1"/>
          </p:cNvSpPr>
          <p:nvPr>
            <p:ph type="sldImg"/>
          </p:nvPr>
        </p:nvSpPr>
        <p:spPr>
          <a:xfrm>
            <a:off x="1409700" y="7100888"/>
            <a:ext cx="4832350" cy="2719387"/>
          </a:xfrm>
          <a:ln/>
        </p:spPr>
      </p:sp>
      <p:sp>
        <p:nvSpPr>
          <p:cNvPr id="11162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4078897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867EA33-E92A-4642-9E1A-A4DC5D1E20A8}" type="slidenum">
              <a:rPr lang="zh-CN" altLang="en-GB" sz="1200" smtClean="0"/>
              <a:pPr>
                <a:spcBef>
                  <a:spcPct val="0"/>
                </a:spcBef>
              </a:pPr>
              <a:t>38</a:t>
            </a:fld>
            <a:endParaRPr lang="en-GB" altLang="zh-CN"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847771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0119498-2436-4850-8C4A-CF5CA2BF524B}" type="slidenum">
              <a:rPr lang="zh-CN" altLang="en-GB" sz="1200" smtClean="0"/>
              <a:pPr>
                <a:spcBef>
                  <a:spcPct val="0"/>
                </a:spcBef>
              </a:pPr>
              <a:t>39</a:t>
            </a:fld>
            <a:endParaRPr lang="en-GB" altLang="zh-CN" sz="1200"/>
          </a:p>
        </p:txBody>
      </p:sp>
      <p:sp>
        <p:nvSpPr>
          <p:cNvPr id="121859" name="Rectangle 2"/>
          <p:cNvSpPr>
            <a:spLocks noGrp="1" noRot="1" noChangeAspect="1" noChangeArrowheads="1" noTextEdit="1"/>
          </p:cNvSpPr>
          <p:nvPr>
            <p:ph type="sldImg"/>
          </p:nvPr>
        </p:nvSpPr>
        <p:spPr>
          <a:ln/>
        </p:spPr>
      </p:sp>
      <p:sp>
        <p:nvSpPr>
          <p:cNvPr id="12186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6577211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0119498-2436-4850-8C4A-CF5CA2BF524B}" type="slidenum">
              <a:rPr lang="zh-CN" altLang="en-GB" sz="1200" smtClean="0"/>
              <a:pPr>
                <a:spcBef>
                  <a:spcPct val="0"/>
                </a:spcBef>
              </a:pPr>
              <a:t>40</a:t>
            </a:fld>
            <a:endParaRPr lang="en-GB" altLang="zh-CN" sz="1200"/>
          </a:p>
        </p:txBody>
      </p:sp>
      <p:sp>
        <p:nvSpPr>
          <p:cNvPr id="121859" name="Rectangle 2"/>
          <p:cNvSpPr>
            <a:spLocks noGrp="1" noRot="1" noChangeAspect="1" noChangeArrowheads="1" noTextEdit="1"/>
          </p:cNvSpPr>
          <p:nvPr>
            <p:ph type="sldImg"/>
          </p:nvPr>
        </p:nvSpPr>
        <p:spPr>
          <a:ln/>
        </p:spPr>
      </p:sp>
      <p:sp>
        <p:nvSpPr>
          <p:cNvPr id="12186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309389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270AA75-1E7B-4E86-A7C7-7AA64B8B5885}" type="slidenum">
              <a:rPr lang="zh-CN" altLang="en-GB" sz="1200" smtClean="0"/>
              <a:pPr>
                <a:spcBef>
                  <a:spcPct val="0"/>
                </a:spcBef>
              </a:pPr>
              <a:t>41</a:t>
            </a:fld>
            <a:endParaRPr lang="en-GB" altLang="zh-CN"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规定所有子类的“标准”行为：函数名称、参数列表、返回类型</a:t>
            </a:r>
          </a:p>
        </p:txBody>
      </p:sp>
    </p:spTree>
    <p:extLst>
      <p:ext uri="{BB962C8B-B14F-4D97-AF65-F5344CB8AC3E}">
        <p14:creationId xmlns:p14="http://schemas.microsoft.com/office/powerpoint/2010/main" val="28500595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697FDF-0BC0-433B-920A-4178DAF52921}" type="slidenum">
              <a:rPr lang="zh-CN" altLang="en-GB" sz="1200" smtClean="0"/>
              <a:pPr>
                <a:spcBef>
                  <a:spcPct val="0"/>
                </a:spcBef>
              </a:pPr>
              <a:t>42</a:t>
            </a:fld>
            <a:endParaRPr lang="en-GB" altLang="zh-CN" sz="1200"/>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3-12</a:t>
            </a:r>
            <a:r>
              <a:rPr lang="zh-CN" altLang="en-US" dirty="0"/>
              <a:t> 抽象的贷款类和抽象方法</a:t>
            </a:r>
          </a:p>
        </p:txBody>
      </p:sp>
    </p:spTree>
    <p:extLst>
      <p:ext uri="{BB962C8B-B14F-4D97-AF65-F5344CB8AC3E}">
        <p14:creationId xmlns:p14="http://schemas.microsoft.com/office/powerpoint/2010/main" val="6494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297F6919-7388-4E8A-A2C0-265047009538}" type="slidenum">
              <a:rPr lang="zh-CN" altLang="en-GB" sz="1200"/>
              <a:pPr algn="r" eaLnBrk="1" hangingPunct="1">
                <a:spcBef>
                  <a:spcPct val="0"/>
                </a:spcBef>
              </a:pPr>
              <a:t>43</a:t>
            </a:fld>
            <a:endParaRPr lang="en-GB" altLang="zh-CN" sz="1200"/>
          </a:p>
        </p:txBody>
      </p:sp>
      <p:sp>
        <p:nvSpPr>
          <p:cNvPr id="134147" name="Rectangle 2"/>
          <p:cNvSpPr>
            <a:spLocks noGrp="1" noRot="1" noChangeAspect="1" noChangeArrowheads="1" noTextEdit="1"/>
          </p:cNvSpPr>
          <p:nvPr>
            <p:ph type="sldImg"/>
          </p:nvPr>
        </p:nvSpPr>
        <p:spPr>
          <a:ln/>
        </p:spPr>
      </p:sp>
      <p:sp>
        <p:nvSpPr>
          <p:cNvPr id="13414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下一章介绍接口</a:t>
            </a:r>
          </a:p>
        </p:txBody>
      </p:sp>
    </p:spTree>
    <p:extLst>
      <p:ext uri="{BB962C8B-B14F-4D97-AF65-F5344CB8AC3E}">
        <p14:creationId xmlns:p14="http://schemas.microsoft.com/office/powerpoint/2010/main" val="20041337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A4795F87-3412-4E8F-B63E-27E269BFE9E9}" type="slidenum">
              <a:rPr lang="zh-CN" altLang="en-GB" sz="1200"/>
              <a:pPr algn="r" eaLnBrk="1" hangingPunct="1">
                <a:spcBef>
                  <a:spcPct val="0"/>
                </a:spcBef>
              </a:pPr>
              <a:t>44</a:t>
            </a:fld>
            <a:endParaRPr lang="en-GB" altLang="zh-CN" sz="1200"/>
          </a:p>
        </p:txBody>
      </p:sp>
      <p:sp>
        <p:nvSpPr>
          <p:cNvPr id="146435" name="Rectangle 2"/>
          <p:cNvSpPr>
            <a:spLocks noGrp="1" noRot="1" noChangeAspect="1" noChangeArrowheads="1" noTextEdit="1"/>
          </p:cNvSpPr>
          <p:nvPr>
            <p:ph type="sldImg"/>
          </p:nvPr>
        </p:nvSpPr>
        <p:spPr>
          <a:ln/>
        </p:spPr>
      </p:sp>
      <p:sp>
        <p:nvSpPr>
          <p:cNvPr id="14643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3-13</a:t>
            </a:r>
            <a:r>
              <a:rPr lang="zh-CN" altLang="en-US" dirty="0"/>
              <a:t> 泛型类</a:t>
            </a:r>
          </a:p>
        </p:txBody>
      </p:sp>
    </p:spTree>
    <p:extLst>
      <p:ext uri="{BB962C8B-B14F-4D97-AF65-F5344CB8AC3E}">
        <p14:creationId xmlns:p14="http://schemas.microsoft.com/office/powerpoint/2010/main" val="6103698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518392B2-634F-4E0B-849F-169E7FD41D94}" type="slidenum">
              <a:rPr lang="zh-CN" altLang="en-GB" sz="1200"/>
              <a:pPr algn="r" eaLnBrk="1" hangingPunct="1">
                <a:spcBef>
                  <a:spcPct val="0"/>
                </a:spcBef>
              </a:pPr>
              <a:t>45</a:t>
            </a:fld>
            <a:endParaRPr lang="en-GB" altLang="zh-CN" sz="1200"/>
          </a:p>
        </p:txBody>
      </p:sp>
      <p:sp>
        <p:nvSpPr>
          <p:cNvPr id="148483" name="Rectangle 2"/>
          <p:cNvSpPr>
            <a:spLocks noGrp="1" noRot="1" noChangeAspect="1" noChangeArrowheads="1" noTextEdit="1"/>
          </p:cNvSpPr>
          <p:nvPr>
            <p:ph type="sldImg"/>
          </p:nvPr>
        </p:nvSpPr>
        <p:spPr>
          <a:ln/>
        </p:spPr>
      </p:sp>
      <p:sp>
        <p:nvSpPr>
          <p:cNvPr id="14848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200" dirty="0"/>
              <a:t>例</a:t>
            </a:r>
            <a:r>
              <a:rPr lang="en-US" altLang="zh-CN" dirty="0"/>
              <a:t>3-13</a:t>
            </a:r>
            <a:r>
              <a:rPr lang="zh-CN" altLang="en-US" dirty="0"/>
              <a:t> </a:t>
            </a:r>
            <a:r>
              <a:rPr lang="zh-CN" altLang="en-US" sz="1200" dirty="0"/>
              <a:t>泛型类</a:t>
            </a:r>
            <a:r>
              <a:rPr lang="zh-CN" altLang="en-US" dirty="0"/>
              <a:t>（续）</a:t>
            </a:r>
          </a:p>
        </p:txBody>
      </p:sp>
    </p:spTree>
    <p:extLst>
      <p:ext uri="{BB962C8B-B14F-4D97-AF65-F5344CB8AC3E}">
        <p14:creationId xmlns:p14="http://schemas.microsoft.com/office/powerpoint/2010/main" val="24579281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518392B2-634F-4E0B-849F-169E7FD41D94}" type="slidenum">
              <a:rPr lang="zh-CN" altLang="en-GB" sz="1200"/>
              <a:pPr algn="r" eaLnBrk="1" hangingPunct="1">
                <a:spcBef>
                  <a:spcPct val="0"/>
                </a:spcBef>
              </a:pPr>
              <a:t>46</a:t>
            </a:fld>
            <a:endParaRPr lang="en-GB" altLang="zh-CN" sz="1200"/>
          </a:p>
        </p:txBody>
      </p:sp>
      <p:sp>
        <p:nvSpPr>
          <p:cNvPr id="148483" name="Rectangle 2"/>
          <p:cNvSpPr>
            <a:spLocks noGrp="1" noRot="1" noChangeAspect="1" noChangeArrowheads="1" noTextEdit="1"/>
          </p:cNvSpPr>
          <p:nvPr>
            <p:ph type="sldImg"/>
          </p:nvPr>
        </p:nvSpPr>
        <p:spPr>
          <a:ln/>
        </p:spPr>
      </p:sp>
      <p:sp>
        <p:nvSpPr>
          <p:cNvPr id="14848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200" dirty="0"/>
              <a:t>例</a:t>
            </a:r>
            <a:r>
              <a:rPr lang="en-US" altLang="zh-CN" dirty="0"/>
              <a:t>3-14</a:t>
            </a:r>
            <a:r>
              <a:rPr lang="zh-CN" altLang="en-US" dirty="0"/>
              <a:t> </a:t>
            </a:r>
            <a:r>
              <a:rPr lang="zh-CN" altLang="en-US" sz="1200" dirty="0"/>
              <a:t>泛型类</a:t>
            </a:r>
            <a:endParaRPr lang="zh-CN" altLang="en-US" dirty="0"/>
          </a:p>
        </p:txBody>
      </p:sp>
    </p:spTree>
    <p:extLst>
      <p:ext uri="{BB962C8B-B14F-4D97-AF65-F5344CB8AC3E}">
        <p14:creationId xmlns:p14="http://schemas.microsoft.com/office/powerpoint/2010/main" val="26139999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518392B2-634F-4E0B-849F-169E7FD41D94}" type="slidenum">
              <a:rPr lang="zh-CN" altLang="en-GB" sz="1200"/>
              <a:pPr algn="r" eaLnBrk="1" hangingPunct="1">
                <a:spcBef>
                  <a:spcPct val="0"/>
                </a:spcBef>
              </a:pPr>
              <a:t>47</a:t>
            </a:fld>
            <a:endParaRPr lang="en-GB" altLang="zh-CN" sz="1200"/>
          </a:p>
        </p:txBody>
      </p:sp>
      <p:sp>
        <p:nvSpPr>
          <p:cNvPr id="148483" name="Rectangle 2"/>
          <p:cNvSpPr>
            <a:spLocks noGrp="1" noRot="1" noChangeAspect="1" noChangeArrowheads="1" noTextEdit="1"/>
          </p:cNvSpPr>
          <p:nvPr>
            <p:ph type="sldImg"/>
          </p:nvPr>
        </p:nvSpPr>
        <p:spPr>
          <a:ln/>
        </p:spPr>
      </p:sp>
      <p:sp>
        <p:nvSpPr>
          <p:cNvPr id="14848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200" dirty="0"/>
              <a:t>例</a:t>
            </a:r>
            <a:r>
              <a:rPr lang="en-US" altLang="zh-CN" dirty="0"/>
              <a:t>3-14</a:t>
            </a:r>
            <a:r>
              <a:rPr lang="zh-CN" altLang="en-US" dirty="0"/>
              <a:t> </a:t>
            </a:r>
            <a:r>
              <a:rPr lang="zh-CN" altLang="en-US" sz="1200" dirty="0"/>
              <a:t>泛型类</a:t>
            </a:r>
            <a:r>
              <a:rPr lang="zh-CN" altLang="en-US" dirty="0"/>
              <a:t>（续）</a:t>
            </a:r>
          </a:p>
        </p:txBody>
      </p:sp>
    </p:spTree>
    <p:extLst>
      <p:ext uri="{BB962C8B-B14F-4D97-AF65-F5344CB8AC3E}">
        <p14:creationId xmlns:p14="http://schemas.microsoft.com/office/powerpoint/2010/main" val="9235054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33F9352C-3B73-482B-9860-33A16F26CDB4}" type="slidenum">
              <a:rPr lang="zh-CN" altLang="en-GB" sz="1200"/>
              <a:pPr algn="r" eaLnBrk="1" hangingPunct="1">
                <a:spcBef>
                  <a:spcPct val="0"/>
                </a:spcBef>
              </a:pPr>
              <a:t>48</a:t>
            </a:fld>
            <a:endParaRPr lang="en-GB" altLang="zh-CN" sz="1200"/>
          </a:p>
        </p:txBody>
      </p:sp>
      <p:sp>
        <p:nvSpPr>
          <p:cNvPr id="150531" name="Rectangle 2"/>
          <p:cNvSpPr>
            <a:spLocks noGrp="1" noRot="1" noChangeAspect="1" noChangeArrowheads="1" noTextEdit="1"/>
          </p:cNvSpPr>
          <p:nvPr>
            <p:ph type="sldImg"/>
          </p:nvPr>
        </p:nvSpPr>
        <p:spPr>
          <a:ln/>
        </p:spPr>
      </p:sp>
      <p:sp>
        <p:nvSpPr>
          <p:cNvPr id="15053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3-15</a:t>
            </a:r>
            <a:r>
              <a:rPr lang="zh-CN" altLang="en-US" sz="1600" dirty="0"/>
              <a:t> 泛型方法</a:t>
            </a:r>
            <a:endParaRPr lang="zh-CN" altLang="en-US" dirty="0"/>
          </a:p>
        </p:txBody>
      </p:sp>
    </p:spTree>
    <p:extLst>
      <p:ext uri="{BB962C8B-B14F-4D97-AF65-F5344CB8AC3E}">
        <p14:creationId xmlns:p14="http://schemas.microsoft.com/office/powerpoint/2010/main" val="24131411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8A418EBD-19B9-47D1-96BE-155EB5E54BC5}" type="slidenum">
              <a:rPr lang="zh-CN" altLang="en-GB" sz="1200"/>
              <a:pPr algn="r" eaLnBrk="1" hangingPunct="1">
                <a:spcBef>
                  <a:spcPct val="0"/>
                </a:spcBef>
              </a:pPr>
              <a:t>49</a:t>
            </a:fld>
            <a:endParaRPr lang="en-GB" altLang="zh-CN" sz="1200"/>
          </a:p>
        </p:txBody>
      </p:sp>
      <p:sp>
        <p:nvSpPr>
          <p:cNvPr id="152579" name="Rectangle 2"/>
          <p:cNvSpPr>
            <a:spLocks noGrp="1" noRot="1" noChangeAspect="1" noChangeArrowheads="1" noTextEdit="1"/>
          </p:cNvSpPr>
          <p:nvPr>
            <p:ph type="sldImg"/>
          </p:nvPr>
        </p:nvSpPr>
        <p:spPr>
          <a:ln/>
        </p:spPr>
      </p:sp>
      <p:sp>
        <p:nvSpPr>
          <p:cNvPr id="15258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GB" dirty="0"/>
              <a:t>通配符泛型</a:t>
            </a:r>
            <a:endParaRPr lang="zh-CN" altLang="en-US" dirty="0"/>
          </a:p>
        </p:txBody>
      </p:sp>
    </p:spTree>
    <p:extLst>
      <p:ext uri="{BB962C8B-B14F-4D97-AF65-F5344CB8AC3E}">
        <p14:creationId xmlns:p14="http://schemas.microsoft.com/office/powerpoint/2010/main" val="35149495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1A0E4B21-4B2C-4B29-8501-DDC49BE40D7E}" type="slidenum">
              <a:rPr lang="zh-CN" altLang="en-GB" sz="1200"/>
              <a:pPr algn="r" eaLnBrk="1" hangingPunct="1">
                <a:spcBef>
                  <a:spcPct val="0"/>
                </a:spcBef>
              </a:pPr>
              <a:t>50</a:t>
            </a:fld>
            <a:endParaRPr lang="en-GB" altLang="zh-CN" sz="1200"/>
          </a:p>
        </p:txBody>
      </p:sp>
      <p:sp>
        <p:nvSpPr>
          <p:cNvPr id="156675" name="Rectangle 2"/>
          <p:cNvSpPr>
            <a:spLocks noGrp="1" noRot="1" noChangeAspect="1" noChangeArrowheads="1" noTextEdit="1"/>
          </p:cNvSpPr>
          <p:nvPr>
            <p:ph type="sldImg"/>
          </p:nvPr>
        </p:nvSpPr>
        <p:spPr>
          <a:ln/>
        </p:spPr>
      </p:sp>
      <p:sp>
        <p:nvSpPr>
          <p:cNvPr id="15667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3-16</a:t>
            </a:r>
            <a:r>
              <a:rPr lang="zh-CN" altLang="en-US" sz="1600" dirty="0"/>
              <a:t> 使用通配符</a:t>
            </a:r>
            <a:endParaRPr lang="zh-CN" altLang="en-US" dirty="0"/>
          </a:p>
        </p:txBody>
      </p:sp>
    </p:spTree>
    <p:extLst>
      <p:ext uri="{BB962C8B-B14F-4D97-AF65-F5344CB8AC3E}">
        <p14:creationId xmlns:p14="http://schemas.microsoft.com/office/powerpoint/2010/main" val="30205703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B5935301-3626-4126-A4E3-2704FB9F14E6}" type="slidenum">
              <a:rPr lang="zh-CN" altLang="en-GB" sz="1200"/>
              <a:pPr algn="r" eaLnBrk="1" hangingPunct="1">
                <a:spcBef>
                  <a:spcPct val="0"/>
                </a:spcBef>
              </a:pPr>
              <a:t>51</a:t>
            </a:fld>
            <a:endParaRPr lang="en-GB" altLang="zh-CN" sz="1200"/>
          </a:p>
        </p:txBody>
      </p:sp>
      <p:sp>
        <p:nvSpPr>
          <p:cNvPr id="158723" name="Rectangle 2"/>
          <p:cNvSpPr>
            <a:spLocks noGrp="1" noRot="1" noChangeAspect="1" noChangeArrowheads="1" noTextEdit="1"/>
          </p:cNvSpPr>
          <p:nvPr>
            <p:ph type="sldImg"/>
          </p:nvPr>
        </p:nvSpPr>
        <p:spPr>
          <a:ln/>
        </p:spPr>
      </p:sp>
      <p:sp>
        <p:nvSpPr>
          <p:cNvPr id="158724"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t>例</a:t>
            </a:r>
            <a:r>
              <a:rPr lang="en-US" altLang="zh-CN" sz="1600" dirty="0"/>
              <a:t>3-16</a:t>
            </a:r>
            <a:r>
              <a:rPr lang="zh-CN" altLang="en-US" sz="1600" dirty="0"/>
              <a:t> 使用通配符（续）</a:t>
            </a:r>
            <a:endParaRPr lang="zh-CN" altLang="en-US" dirty="0"/>
          </a:p>
        </p:txBody>
      </p:sp>
    </p:spTree>
    <p:extLst>
      <p:ext uri="{BB962C8B-B14F-4D97-AF65-F5344CB8AC3E}">
        <p14:creationId xmlns:p14="http://schemas.microsoft.com/office/powerpoint/2010/main" val="22490181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D676B433-2F76-417D-A7D9-9B464450EF9C}" type="slidenum">
              <a:rPr lang="zh-CN" altLang="en-GB" sz="1200"/>
              <a:pPr algn="r" eaLnBrk="1" hangingPunct="1">
                <a:spcBef>
                  <a:spcPct val="0"/>
                </a:spcBef>
              </a:pPr>
              <a:t>52</a:t>
            </a:fld>
            <a:endParaRPr lang="en-GB" altLang="zh-CN" sz="1200"/>
          </a:p>
        </p:txBody>
      </p:sp>
      <p:sp>
        <p:nvSpPr>
          <p:cNvPr id="160771" name="Rectangle 2"/>
          <p:cNvSpPr>
            <a:spLocks noGrp="1" noRot="1" noChangeAspect="1" noChangeArrowheads="1" noTextEdit="1"/>
          </p:cNvSpPr>
          <p:nvPr>
            <p:ph type="sldImg"/>
          </p:nvPr>
        </p:nvSpPr>
        <p:spPr>
          <a:ln/>
        </p:spPr>
      </p:sp>
      <p:sp>
        <p:nvSpPr>
          <p:cNvPr id="16077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GB" dirty="0"/>
              <a:t>有限制的泛型</a:t>
            </a:r>
            <a:endParaRPr lang="zh-CN" altLang="en-US" dirty="0"/>
          </a:p>
        </p:txBody>
      </p:sp>
    </p:spTree>
    <p:extLst>
      <p:ext uri="{BB962C8B-B14F-4D97-AF65-F5344CB8AC3E}">
        <p14:creationId xmlns:p14="http://schemas.microsoft.com/office/powerpoint/2010/main" val="21393446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D676B433-2F76-417D-A7D9-9B464450EF9C}" type="slidenum">
              <a:rPr lang="zh-CN" altLang="en-GB" sz="1200"/>
              <a:pPr algn="r" eaLnBrk="1" hangingPunct="1">
                <a:spcBef>
                  <a:spcPct val="0"/>
                </a:spcBef>
              </a:pPr>
              <a:t>53</a:t>
            </a:fld>
            <a:endParaRPr lang="en-GB" altLang="zh-CN" sz="1200"/>
          </a:p>
        </p:txBody>
      </p:sp>
      <p:sp>
        <p:nvSpPr>
          <p:cNvPr id="160771" name="Rectangle 2"/>
          <p:cNvSpPr>
            <a:spLocks noGrp="1" noRot="1" noChangeAspect="1" noChangeArrowheads="1" noTextEdit="1"/>
          </p:cNvSpPr>
          <p:nvPr>
            <p:ph type="sldImg"/>
          </p:nvPr>
        </p:nvSpPr>
        <p:spPr>
          <a:ln/>
        </p:spPr>
      </p:sp>
      <p:sp>
        <p:nvSpPr>
          <p:cNvPr id="16077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GB" dirty="0"/>
              <a:t>有限制的泛型</a:t>
            </a:r>
            <a:endParaRPr lang="zh-CN" altLang="en-US" dirty="0"/>
          </a:p>
        </p:txBody>
      </p:sp>
    </p:spTree>
    <p:extLst>
      <p:ext uri="{BB962C8B-B14F-4D97-AF65-F5344CB8AC3E}">
        <p14:creationId xmlns:p14="http://schemas.microsoft.com/office/powerpoint/2010/main" val="38497111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1031"/>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2D06AB00-96C6-49C6-83C8-E2B96E075503}" type="slidenum">
              <a:rPr lang="zh-CN" altLang="en-GB" sz="1200"/>
              <a:pPr algn="r" eaLnBrk="1" hangingPunct="1">
                <a:spcBef>
                  <a:spcPct val="0"/>
                </a:spcBef>
              </a:pPr>
              <a:t>54</a:t>
            </a:fld>
            <a:endParaRPr lang="en-GB" altLang="zh-CN" sz="1200"/>
          </a:p>
        </p:txBody>
      </p:sp>
      <p:sp>
        <p:nvSpPr>
          <p:cNvPr id="162819" name="Rectangle 2"/>
          <p:cNvSpPr>
            <a:spLocks noGrp="1" noRot="1" noChangeAspect="1" noChangeArrowheads="1" noTextEdit="1"/>
          </p:cNvSpPr>
          <p:nvPr>
            <p:ph type="sldImg"/>
          </p:nvPr>
        </p:nvSpPr>
        <p:spPr>
          <a:ln/>
        </p:spPr>
      </p:sp>
      <p:sp>
        <p:nvSpPr>
          <p:cNvPr id="162820"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GB" dirty="0"/>
              <a:t>例</a:t>
            </a:r>
            <a:r>
              <a:rPr lang="en-US" altLang="zh-CN" dirty="0"/>
              <a:t>3-17</a:t>
            </a:r>
            <a:r>
              <a:rPr lang="zh-CN" altLang="en-US" dirty="0"/>
              <a:t> 有限制的泛型</a:t>
            </a:r>
          </a:p>
        </p:txBody>
      </p:sp>
    </p:spTree>
    <p:extLst>
      <p:ext uri="{BB962C8B-B14F-4D97-AF65-F5344CB8AC3E}">
        <p14:creationId xmlns:p14="http://schemas.microsoft.com/office/powerpoint/2010/main" val="27007538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E572C04-77A4-4616-8004-0825DBFCACC5}" type="slidenum">
              <a:rPr lang="zh-CN" altLang="en-GB" sz="1200" smtClean="0"/>
              <a:pPr>
                <a:spcBef>
                  <a:spcPct val="0"/>
                </a:spcBef>
              </a:pPr>
              <a:t>55</a:t>
            </a:fld>
            <a:endParaRPr lang="en-GB" altLang="zh-CN" sz="1200"/>
          </a:p>
        </p:txBody>
      </p:sp>
      <p:sp>
        <p:nvSpPr>
          <p:cNvPr id="164867" name="Rectangle 2"/>
          <p:cNvSpPr>
            <a:spLocks noGrp="1" noRot="1" noChangeAspect="1" noChangeArrowheads="1" noTextEdit="1"/>
          </p:cNvSpPr>
          <p:nvPr>
            <p:ph type="sldImg"/>
          </p:nvPr>
        </p:nvSpPr>
        <p:spPr>
          <a:ln/>
        </p:spPr>
      </p:sp>
      <p:sp>
        <p:nvSpPr>
          <p:cNvPr id="164868"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2145388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C2AB4AF-330A-4EDE-A340-7A1B06128654}" type="slidenum">
              <a:rPr lang="zh-CN" altLang="en-GB" sz="1200" smtClean="0"/>
              <a:pPr>
                <a:spcBef>
                  <a:spcPct val="0"/>
                </a:spcBef>
              </a:pPr>
              <a:t>56</a:t>
            </a:fld>
            <a:endParaRPr lang="en-GB" altLang="zh-CN" sz="1200"/>
          </a:p>
        </p:txBody>
      </p:sp>
      <p:sp>
        <p:nvSpPr>
          <p:cNvPr id="166915" name="Rectangle 2"/>
          <p:cNvSpPr>
            <a:spLocks noGrp="1" noRot="1" noChangeAspect="1" noChangeArrowheads="1" noTextEdit="1"/>
          </p:cNvSpPr>
          <p:nvPr>
            <p:ph type="sldImg"/>
          </p:nvPr>
        </p:nvSpPr>
        <p:spPr>
          <a:ln/>
        </p:spPr>
      </p:sp>
      <p:sp>
        <p:nvSpPr>
          <p:cNvPr id="16691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571796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EF92423-083F-4C7E-9922-6107773F03E5}" type="slidenum">
              <a:rPr lang="zh-CN" altLang="en-GB" sz="1200" smtClean="0"/>
              <a:pPr>
                <a:spcBef>
                  <a:spcPct val="0"/>
                </a:spcBef>
              </a:pPr>
              <a:t>57</a:t>
            </a:fld>
            <a:endParaRPr lang="en-GB" altLang="zh-CN" sz="120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GB" dirty="0"/>
          </a:p>
          <a:p>
            <a:pPr eaLnBrk="1" hangingPunct="1"/>
            <a:r>
              <a:rPr lang="zh-CN" altLang="en-US" dirty="0"/>
              <a:t>例</a:t>
            </a:r>
            <a:r>
              <a:rPr lang="en-US" altLang="zh-CN" dirty="0"/>
              <a:t>3-18</a:t>
            </a:r>
            <a:r>
              <a:rPr lang="zh-CN" altLang="en-US" dirty="0"/>
              <a:t> 类组合举例</a:t>
            </a:r>
            <a:r>
              <a:rPr lang="en-US" altLang="zh-CN" dirty="0"/>
              <a:t>——</a:t>
            </a:r>
            <a:r>
              <a:rPr lang="zh-CN" altLang="en-US" dirty="0"/>
              <a:t>线段类</a:t>
            </a:r>
            <a:endParaRPr lang="zh-CN" altLang="en-GB" dirty="0"/>
          </a:p>
        </p:txBody>
      </p:sp>
    </p:spTree>
    <p:extLst>
      <p:ext uri="{BB962C8B-B14F-4D97-AF65-F5344CB8AC3E}">
        <p14:creationId xmlns:p14="http://schemas.microsoft.com/office/powerpoint/2010/main" val="1128726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86E4224-72E6-4251-9320-BC2E07B25477}" type="slidenum">
              <a:rPr lang="zh-CN" altLang="en-GB" sz="1200" smtClean="0"/>
              <a:pPr>
                <a:spcBef>
                  <a:spcPct val="0"/>
                </a:spcBef>
              </a:pPr>
              <a:t>58</a:t>
            </a:fld>
            <a:endParaRPr lang="en-GB" altLang="zh-CN" sz="120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3-18</a:t>
            </a:r>
            <a:r>
              <a:rPr lang="zh-CN" altLang="en-US" dirty="0"/>
              <a:t> 类组合举例</a:t>
            </a:r>
            <a:r>
              <a:rPr lang="en-US" altLang="zh-CN" dirty="0"/>
              <a:t>——</a:t>
            </a:r>
            <a:r>
              <a:rPr lang="zh-CN" altLang="en-US" dirty="0"/>
              <a:t>线段类（续）</a:t>
            </a:r>
          </a:p>
        </p:txBody>
      </p:sp>
    </p:spTree>
    <p:extLst>
      <p:ext uri="{BB962C8B-B14F-4D97-AF65-F5344CB8AC3E}">
        <p14:creationId xmlns:p14="http://schemas.microsoft.com/office/powerpoint/2010/main" val="31056579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8AC1AD4-FBC0-44B5-847F-DF81114C7059}" type="slidenum">
              <a:rPr lang="zh-CN" altLang="en-GB" sz="1200" smtClean="0"/>
              <a:pPr>
                <a:spcBef>
                  <a:spcPct val="0"/>
                </a:spcBef>
              </a:pPr>
              <a:t>59</a:t>
            </a:fld>
            <a:endParaRPr lang="en-GB" altLang="zh-CN" sz="1200"/>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1390212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689BCC6-C5FF-4383-AEF8-C79C7E037DB5}" type="slidenum">
              <a:rPr lang="zh-CN" altLang="en-GB" sz="1200" smtClean="0"/>
              <a:pPr>
                <a:spcBef>
                  <a:spcPct val="0"/>
                </a:spcBef>
              </a:pPr>
              <a:t>60</a:t>
            </a:fld>
            <a:endParaRPr lang="en-GB" altLang="zh-CN" sz="1200"/>
          </a:p>
        </p:txBody>
      </p:sp>
      <p:sp>
        <p:nvSpPr>
          <p:cNvPr id="181251" name="Rectangle 2"/>
          <p:cNvSpPr>
            <a:spLocks noGrp="1" noRot="1" noChangeAspect="1" noChangeArrowheads="1" noTextEdit="1"/>
          </p:cNvSpPr>
          <p:nvPr>
            <p:ph type="sldImg"/>
          </p:nvPr>
        </p:nvSpPr>
        <p:spPr>
          <a:ln/>
        </p:spPr>
      </p:sp>
      <p:sp>
        <p:nvSpPr>
          <p:cNvPr id="181252"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815553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5A0398E-BFBF-4073-92EB-DA232257F6AB}" type="slidenum">
              <a:rPr lang="zh-CN" altLang="en-GB" sz="1200" smtClean="0"/>
              <a:pPr>
                <a:spcBef>
                  <a:spcPct val="0"/>
                </a:spcBef>
              </a:pPr>
              <a:t>61</a:t>
            </a:fld>
            <a:endParaRPr lang="en-GB" altLang="zh-CN" sz="1200"/>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3678555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EA5E26A-9AB0-4904-9507-70C63AF695C1}" type="slidenum">
              <a:rPr lang="zh-CN" altLang="en-GB" sz="1200" smtClean="0"/>
              <a:pPr>
                <a:spcBef>
                  <a:spcPct val="0"/>
                </a:spcBef>
              </a:pPr>
              <a:t>62</a:t>
            </a:fld>
            <a:endParaRPr lang="en-GB" altLang="zh-CN" sz="1200"/>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2277921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7814CC1-1501-4F01-B536-A2CB7DE1CF40}" type="slidenum">
              <a:rPr lang="zh-CN" altLang="en-GB" sz="1200" smtClean="0"/>
              <a:pPr>
                <a:spcBef>
                  <a:spcPct val="0"/>
                </a:spcBef>
              </a:pPr>
              <a:t>63</a:t>
            </a:fld>
            <a:endParaRPr lang="en-GB" altLang="zh-CN" sz="1200"/>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2738757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DAFA06B-2868-422D-813E-A1196DA0C2E6}" type="slidenum">
              <a:rPr lang="zh-CN" altLang="en-GB" smtClean="0"/>
              <a:pPr>
                <a:defRPr/>
              </a:pPr>
              <a:t>64</a:t>
            </a:fld>
            <a:endParaRPr lang="en-GB" altLang="zh-CN"/>
          </a:p>
        </p:txBody>
      </p:sp>
    </p:spTree>
    <p:extLst>
      <p:ext uri="{BB962C8B-B14F-4D97-AF65-F5344CB8AC3E}">
        <p14:creationId xmlns:p14="http://schemas.microsoft.com/office/powerpoint/2010/main" val="42213359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77DA60-A993-42AD-B545-231E8283D582}" type="slidenum">
              <a:rPr lang="zh-CN" altLang="en-GB" sz="1200" smtClean="0"/>
              <a:pPr>
                <a:spcBef>
                  <a:spcPct val="0"/>
                </a:spcBef>
              </a:pPr>
              <a:t>65</a:t>
            </a:fld>
            <a:endParaRPr lang="en-GB" altLang="zh-CN" sz="1200"/>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0995727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950D47-412B-49C5-8765-CE135958B3BB}" type="slidenum">
              <a:rPr lang="zh-CN" altLang="en-GB" sz="1200" smtClean="0"/>
              <a:pPr>
                <a:spcBef>
                  <a:spcPct val="0"/>
                </a:spcBef>
              </a:pPr>
              <a:t>66</a:t>
            </a:fld>
            <a:endParaRPr lang="en-GB" altLang="zh-CN" sz="1200"/>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PlaceSetting.java</a:t>
            </a:r>
            <a:endParaRPr lang="zh-CN" altLang="en-US" dirty="0"/>
          </a:p>
        </p:txBody>
      </p:sp>
    </p:spTree>
    <p:extLst>
      <p:ext uri="{BB962C8B-B14F-4D97-AF65-F5344CB8AC3E}">
        <p14:creationId xmlns:p14="http://schemas.microsoft.com/office/powerpoint/2010/main" val="15907452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F2D46-5DD3-8A63-9DC1-63A2D31BE252}"/>
            </a:ext>
          </a:extLst>
        </p:cNvPr>
        <p:cNvGrpSpPr/>
        <p:nvPr/>
      </p:nvGrpSpPr>
      <p:grpSpPr>
        <a:xfrm>
          <a:off x="0" y="0"/>
          <a:ext cx="0" cy="0"/>
          <a:chOff x="0" y="0"/>
          <a:chExt cx="0" cy="0"/>
        </a:xfrm>
      </p:grpSpPr>
      <p:sp>
        <p:nvSpPr>
          <p:cNvPr id="192514" name="Rectangle 1031">
            <a:extLst>
              <a:ext uri="{FF2B5EF4-FFF2-40B4-BE49-F238E27FC236}">
                <a16:creationId xmlns:a16="http://schemas.microsoft.com/office/drawing/2014/main" id="{0E9A944E-FA0A-E739-C321-A520A68DA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950D47-412B-49C5-8765-CE135958B3BB}" type="slidenum">
              <a:rPr lang="zh-CN" altLang="en-GB" sz="1200" smtClean="0"/>
              <a:pPr>
                <a:spcBef>
                  <a:spcPct val="0"/>
                </a:spcBef>
              </a:pPr>
              <a:t>67</a:t>
            </a:fld>
            <a:endParaRPr lang="en-GB" altLang="zh-CN" sz="1200"/>
          </a:p>
        </p:txBody>
      </p:sp>
      <p:sp>
        <p:nvSpPr>
          <p:cNvPr id="192515" name="Rectangle 2">
            <a:extLst>
              <a:ext uri="{FF2B5EF4-FFF2-40B4-BE49-F238E27FC236}">
                <a16:creationId xmlns:a16="http://schemas.microsoft.com/office/drawing/2014/main" id="{2B51C103-200E-EBE8-8A4A-B2A6B0107956}"/>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AA20CD9D-F175-E25F-1E61-635C929E5A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PlaceSetting.java</a:t>
            </a:r>
            <a:endParaRPr lang="zh-CN" altLang="en-US" dirty="0"/>
          </a:p>
        </p:txBody>
      </p:sp>
    </p:spTree>
    <p:extLst>
      <p:ext uri="{BB962C8B-B14F-4D97-AF65-F5344CB8AC3E}">
        <p14:creationId xmlns:p14="http://schemas.microsoft.com/office/powerpoint/2010/main" val="5024001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08C7C-4EC7-CFAC-54F5-E1911BA78A6C}"/>
            </a:ext>
          </a:extLst>
        </p:cNvPr>
        <p:cNvGrpSpPr/>
        <p:nvPr/>
      </p:nvGrpSpPr>
      <p:grpSpPr>
        <a:xfrm>
          <a:off x="0" y="0"/>
          <a:ext cx="0" cy="0"/>
          <a:chOff x="0" y="0"/>
          <a:chExt cx="0" cy="0"/>
        </a:xfrm>
      </p:grpSpPr>
      <p:sp>
        <p:nvSpPr>
          <p:cNvPr id="192514" name="Rectangle 1031">
            <a:extLst>
              <a:ext uri="{FF2B5EF4-FFF2-40B4-BE49-F238E27FC236}">
                <a16:creationId xmlns:a16="http://schemas.microsoft.com/office/drawing/2014/main" id="{A1FEFB1B-8879-88E1-E1EA-79CC9B7A17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950D47-412B-49C5-8765-CE135958B3BB}" type="slidenum">
              <a:rPr lang="zh-CN" altLang="en-GB" sz="1200" smtClean="0"/>
              <a:pPr>
                <a:spcBef>
                  <a:spcPct val="0"/>
                </a:spcBef>
              </a:pPr>
              <a:t>68</a:t>
            </a:fld>
            <a:endParaRPr lang="en-GB" altLang="zh-CN" sz="1200"/>
          </a:p>
        </p:txBody>
      </p:sp>
      <p:sp>
        <p:nvSpPr>
          <p:cNvPr id="192515" name="Rectangle 2">
            <a:extLst>
              <a:ext uri="{FF2B5EF4-FFF2-40B4-BE49-F238E27FC236}">
                <a16:creationId xmlns:a16="http://schemas.microsoft.com/office/drawing/2014/main" id="{6DFA3D9C-92A6-DB76-94A7-921CB033F251}"/>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EABACA18-6BF4-BC02-CED6-72066AFD80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ShapeTester.java  PolyConstructors.java</a:t>
            </a:r>
            <a:r>
              <a:rPr lang="zh-CN" altLang="en-US" dirty="0"/>
              <a:t>（含抽象方法的使用）</a:t>
            </a:r>
            <a:r>
              <a:rPr lang="en-US" altLang="zh-CN" dirty="0"/>
              <a:t>   Sandwich.java</a:t>
            </a:r>
            <a:endParaRPr lang="zh-CN" altLang="en-US" dirty="0"/>
          </a:p>
        </p:txBody>
      </p:sp>
    </p:spTree>
    <p:extLst>
      <p:ext uri="{BB962C8B-B14F-4D97-AF65-F5344CB8AC3E}">
        <p14:creationId xmlns:p14="http://schemas.microsoft.com/office/powerpoint/2010/main" val="537429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B6C02-F5B8-4DAC-0D51-1B17F9C70E71}"/>
            </a:ext>
          </a:extLst>
        </p:cNvPr>
        <p:cNvGrpSpPr/>
        <p:nvPr/>
      </p:nvGrpSpPr>
      <p:grpSpPr>
        <a:xfrm>
          <a:off x="0" y="0"/>
          <a:ext cx="0" cy="0"/>
          <a:chOff x="0" y="0"/>
          <a:chExt cx="0" cy="0"/>
        </a:xfrm>
      </p:grpSpPr>
      <p:sp>
        <p:nvSpPr>
          <p:cNvPr id="192514" name="Rectangle 1031">
            <a:extLst>
              <a:ext uri="{FF2B5EF4-FFF2-40B4-BE49-F238E27FC236}">
                <a16:creationId xmlns:a16="http://schemas.microsoft.com/office/drawing/2014/main" id="{CF8A405A-CB9C-1004-20B5-343DD271C0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950D47-412B-49C5-8765-CE135958B3BB}" type="slidenum">
              <a:rPr lang="zh-CN" altLang="en-GB" sz="1200" smtClean="0"/>
              <a:pPr>
                <a:spcBef>
                  <a:spcPct val="0"/>
                </a:spcBef>
              </a:pPr>
              <a:t>69</a:t>
            </a:fld>
            <a:endParaRPr lang="en-GB" altLang="zh-CN" sz="1200"/>
          </a:p>
        </p:txBody>
      </p:sp>
      <p:sp>
        <p:nvSpPr>
          <p:cNvPr id="192515" name="Rectangle 2">
            <a:extLst>
              <a:ext uri="{FF2B5EF4-FFF2-40B4-BE49-F238E27FC236}">
                <a16:creationId xmlns:a16="http://schemas.microsoft.com/office/drawing/2014/main" id="{AEB3966E-70EF-D9EE-8192-8EEA16AF3246}"/>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F9528070-F38F-4750-BAFB-30536E6687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upTo.java   updownTo.java</a:t>
            </a:r>
            <a:endParaRPr lang="zh-CN" altLang="en-US" dirty="0"/>
          </a:p>
        </p:txBody>
      </p:sp>
    </p:spTree>
    <p:extLst>
      <p:ext uri="{BB962C8B-B14F-4D97-AF65-F5344CB8AC3E}">
        <p14:creationId xmlns:p14="http://schemas.microsoft.com/office/powerpoint/2010/main" val="4991006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18068-CC54-2462-C6B7-E4722799D2F6}"/>
            </a:ext>
          </a:extLst>
        </p:cNvPr>
        <p:cNvGrpSpPr/>
        <p:nvPr/>
      </p:nvGrpSpPr>
      <p:grpSpPr>
        <a:xfrm>
          <a:off x="0" y="0"/>
          <a:ext cx="0" cy="0"/>
          <a:chOff x="0" y="0"/>
          <a:chExt cx="0" cy="0"/>
        </a:xfrm>
      </p:grpSpPr>
      <p:sp>
        <p:nvSpPr>
          <p:cNvPr id="192514" name="Rectangle 1031">
            <a:extLst>
              <a:ext uri="{FF2B5EF4-FFF2-40B4-BE49-F238E27FC236}">
                <a16:creationId xmlns:a16="http://schemas.microsoft.com/office/drawing/2014/main" id="{2A9A9B76-0CE1-3422-BA8D-59435C54BB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6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950D47-412B-49C5-8765-CE135958B3BB}" type="slidenum">
              <a:rPr lang="zh-CN" altLang="en-GB" sz="1200" smtClean="0"/>
              <a:pPr>
                <a:spcBef>
                  <a:spcPct val="0"/>
                </a:spcBef>
              </a:pPr>
              <a:t>70</a:t>
            </a:fld>
            <a:endParaRPr lang="en-GB" altLang="zh-CN" sz="1200"/>
          </a:p>
        </p:txBody>
      </p:sp>
      <p:sp>
        <p:nvSpPr>
          <p:cNvPr id="192515" name="Rectangle 2">
            <a:extLst>
              <a:ext uri="{FF2B5EF4-FFF2-40B4-BE49-F238E27FC236}">
                <a16:creationId xmlns:a16="http://schemas.microsoft.com/office/drawing/2014/main" id="{CFD866C4-60B6-3638-727F-68CD40329240}"/>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916A235F-9AA0-EEA9-60CB-92FD6DEC8B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fanDemo.java     fanDemoN.java</a:t>
            </a:r>
            <a:endParaRPr lang="zh-CN" altLang="en-US" dirty="0"/>
          </a:p>
        </p:txBody>
      </p:sp>
    </p:spTree>
    <p:extLst>
      <p:ext uri="{BB962C8B-B14F-4D97-AF65-F5344CB8AC3E}">
        <p14:creationId xmlns:p14="http://schemas.microsoft.com/office/powerpoint/2010/main" val="23925055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cxnSp>
        <p:nvCxnSpPr>
          <p:cNvPr id="8" name="直接连接符 7"/>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6"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 descr="2"/>
          <p:cNvPicPr>
            <a:picLocks noChangeAspect="1" noChangeArrowheads="1"/>
          </p:cNvPicPr>
          <p:nvPr userDrawn="1">
            <p:custDataLst>
              <p:tags r:id="rId1"/>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extLst>
      <p:ext uri="{BB962C8B-B14F-4D97-AF65-F5344CB8AC3E}">
        <p14:creationId xmlns:p14="http://schemas.microsoft.com/office/powerpoint/2010/main" val="64632919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cxnSp>
        <p:nvCxnSpPr>
          <p:cNvPr id="8" name="直接连接符 7"/>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2"/>
          <p:cNvPicPr>
            <a:picLocks noChangeAspect="1" noChangeArrowheads="1"/>
          </p:cNvPicPr>
          <p:nvPr userDrawn="1">
            <p:custDataLst>
              <p:tags r:id="rId1"/>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extLst>
      <p:ext uri="{BB962C8B-B14F-4D97-AF65-F5344CB8AC3E}">
        <p14:creationId xmlns:p14="http://schemas.microsoft.com/office/powerpoint/2010/main" val="16422998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cxnSp>
        <p:nvCxnSpPr>
          <p:cNvPr id="8" name="直接连接符 7"/>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2"/>
          <p:cNvPicPr>
            <a:picLocks noChangeAspect="1" noChangeArrowheads="1"/>
          </p:cNvPicPr>
          <p:nvPr userDrawn="1">
            <p:custDataLst>
              <p:tags r:id="rId1"/>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extLst>
      <p:ext uri="{BB962C8B-B14F-4D97-AF65-F5344CB8AC3E}">
        <p14:creationId xmlns:p14="http://schemas.microsoft.com/office/powerpoint/2010/main" val="372110234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 name="日期占位符 27"/>
          <p:cNvSpPr>
            <a:spLocks noGrp="1"/>
          </p:cNvSpPr>
          <p:nvPr>
            <p:ph type="dt" sz="half" idx="10"/>
          </p:nvPr>
        </p:nvSpPr>
        <p:spPr/>
        <p:txBody>
          <a:bodyPr/>
          <a:lstStyle>
            <a:lvl1pPr>
              <a:defRPr/>
            </a:lvl1pPr>
          </a:lstStyle>
          <a:p>
            <a:pPr>
              <a:defRPr/>
            </a:pPr>
            <a:endParaRPr lang="en-US" altLang="zh-CN"/>
          </a:p>
        </p:txBody>
      </p:sp>
      <p:sp>
        <p:nvSpPr>
          <p:cNvPr id="5" name="页脚占位符 16"/>
          <p:cNvSpPr>
            <a:spLocks noGrp="1"/>
          </p:cNvSpPr>
          <p:nvPr>
            <p:ph type="ftr" sz="quarter" idx="11"/>
          </p:nvPr>
        </p:nvSpPr>
        <p:spPr/>
        <p:txBody>
          <a:bodyPr/>
          <a:lstStyle>
            <a:lvl1pPr>
              <a:defRPr/>
            </a:lvl1pPr>
          </a:lstStyle>
          <a:p>
            <a:pPr>
              <a:defRPr/>
            </a:pPr>
            <a:endParaRPr lang="en-US" altLang="zh-CN"/>
          </a:p>
        </p:txBody>
      </p:sp>
      <p:sp>
        <p:nvSpPr>
          <p:cNvPr id="6" name="灯片编号占位符 28"/>
          <p:cNvSpPr>
            <a:spLocks noGrp="1"/>
          </p:cNvSpPr>
          <p:nvPr>
            <p:ph type="sldNum" sz="quarter" idx="12"/>
          </p:nvPr>
        </p:nvSpPr>
        <p:spPr/>
        <p:txBody>
          <a:bodyPr/>
          <a:lstStyle>
            <a:lvl1pPr>
              <a:defRPr/>
            </a:lvl1pPr>
          </a:lstStyle>
          <a:p>
            <a:pPr>
              <a:defRPr/>
            </a:pPr>
            <a:fld id="{6FD65407-1EEB-46D9-A833-FD9CB25D8676}" type="slidenum">
              <a:rPr lang="en-US" altLang="zh-CN"/>
              <a:pPr>
                <a:defRPr/>
              </a:pPr>
              <a:t>‹#›</a:t>
            </a:fld>
            <a:endParaRPr lang="en-US" altLang="zh-CN"/>
          </a:p>
        </p:txBody>
      </p:sp>
      <p:cxnSp>
        <p:nvCxnSpPr>
          <p:cNvPr id="7" name="直接连接符 6">
            <a:extLst>
              <a:ext uri="{FF2B5EF4-FFF2-40B4-BE49-F238E27FC236}">
                <a16:creationId xmlns:a16="http://schemas.microsoft.com/office/drawing/2014/main" id="{7877721B-5E8A-F63F-7D7A-DE559B9D52E9}"/>
              </a:ext>
            </a:extLst>
          </p:cNvPr>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B86848F-DA02-E4C8-C528-04F3C1BAEBE9}"/>
              </a:ext>
            </a:extLst>
          </p:cNvPr>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a:extLst>
              <a:ext uri="{FF2B5EF4-FFF2-40B4-BE49-F238E27FC236}">
                <a16:creationId xmlns:a16="http://schemas.microsoft.com/office/drawing/2014/main" id="{A57B1D60-CC7F-0F6B-B332-5738A7A59F43}"/>
              </a:ext>
            </a:extLst>
          </p:cNvPr>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 descr="2">
            <a:extLst>
              <a:ext uri="{FF2B5EF4-FFF2-40B4-BE49-F238E27FC236}">
                <a16:creationId xmlns:a16="http://schemas.microsoft.com/office/drawing/2014/main" id="{4A261AAE-D4BA-E6CD-C999-68F4D9A9505A}"/>
              </a:ext>
            </a:extLst>
          </p:cNvPr>
          <p:cNvPicPr>
            <a:picLocks noChangeAspect="1" noChangeArrowheads="1"/>
          </p:cNvPicPr>
          <p:nvPr userDrawn="1">
            <p:custDataLst>
              <p:tags r:id="rId1"/>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extLst>
      <p:ext uri="{BB962C8B-B14F-4D97-AF65-F5344CB8AC3E}">
        <p14:creationId xmlns:p14="http://schemas.microsoft.com/office/powerpoint/2010/main" val="2299310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27"/>
          <p:cNvSpPr>
            <a:spLocks noGrp="1"/>
          </p:cNvSpPr>
          <p:nvPr>
            <p:ph type="dt" sz="half" idx="10"/>
          </p:nvPr>
        </p:nvSpPr>
        <p:spPr/>
        <p:txBody>
          <a:bodyPr/>
          <a:lstStyle>
            <a:lvl1pPr>
              <a:defRPr/>
            </a:lvl1pPr>
          </a:lstStyle>
          <a:p>
            <a:pPr>
              <a:defRPr/>
            </a:pPr>
            <a:endParaRPr lang="en-US" altLang="zh-CN"/>
          </a:p>
        </p:txBody>
      </p:sp>
      <p:sp>
        <p:nvSpPr>
          <p:cNvPr id="5" name="页脚占位符 16"/>
          <p:cNvSpPr>
            <a:spLocks noGrp="1"/>
          </p:cNvSpPr>
          <p:nvPr>
            <p:ph type="ftr" sz="quarter" idx="11"/>
          </p:nvPr>
        </p:nvSpPr>
        <p:spPr/>
        <p:txBody>
          <a:bodyPr/>
          <a:lstStyle>
            <a:lvl1pPr>
              <a:defRPr/>
            </a:lvl1pPr>
          </a:lstStyle>
          <a:p>
            <a:pPr>
              <a:defRPr/>
            </a:pPr>
            <a:endParaRPr lang="en-US" altLang="zh-CN"/>
          </a:p>
        </p:txBody>
      </p:sp>
      <p:sp>
        <p:nvSpPr>
          <p:cNvPr id="6" name="灯片编号占位符 28"/>
          <p:cNvSpPr>
            <a:spLocks noGrp="1"/>
          </p:cNvSpPr>
          <p:nvPr>
            <p:ph type="sldNum" sz="quarter" idx="12"/>
          </p:nvPr>
        </p:nvSpPr>
        <p:spPr/>
        <p:txBody>
          <a:bodyPr/>
          <a:lstStyle>
            <a:lvl1pPr>
              <a:defRPr/>
            </a:lvl1pPr>
          </a:lstStyle>
          <a:p>
            <a:pPr>
              <a:defRPr/>
            </a:pPr>
            <a:fld id="{940EDD02-3C95-4CC5-A1B5-39CD513731A5}" type="slidenum">
              <a:rPr lang="en-US" altLang="zh-CN"/>
              <a:pPr>
                <a:defRPr/>
              </a:pPr>
              <a:t>‹#›</a:t>
            </a:fld>
            <a:endParaRPr lang="en-US" altLang="zh-CN"/>
          </a:p>
        </p:txBody>
      </p:sp>
      <p:cxnSp>
        <p:nvCxnSpPr>
          <p:cNvPr id="7" name="直接连接符 6">
            <a:extLst>
              <a:ext uri="{FF2B5EF4-FFF2-40B4-BE49-F238E27FC236}">
                <a16:creationId xmlns:a16="http://schemas.microsoft.com/office/drawing/2014/main" id="{0DD068BF-1DF7-F9DF-750C-93AA2D92893F}"/>
              </a:ext>
            </a:extLst>
          </p:cNvPr>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6E001B7-BC51-4E9A-8059-EBFCA99F3EDC}"/>
              </a:ext>
            </a:extLst>
          </p:cNvPr>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a:extLst>
              <a:ext uri="{FF2B5EF4-FFF2-40B4-BE49-F238E27FC236}">
                <a16:creationId xmlns:a16="http://schemas.microsoft.com/office/drawing/2014/main" id="{49D74EA6-9F4F-4782-E51F-D067ACD3856B}"/>
              </a:ext>
            </a:extLst>
          </p:cNvPr>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 descr="2">
            <a:extLst>
              <a:ext uri="{FF2B5EF4-FFF2-40B4-BE49-F238E27FC236}">
                <a16:creationId xmlns:a16="http://schemas.microsoft.com/office/drawing/2014/main" id="{72E5BAFE-6434-D2BD-DE6A-4A8140EF7C77}"/>
              </a:ext>
            </a:extLst>
          </p:cNvPr>
          <p:cNvPicPr>
            <a:picLocks noChangeAspect="1" noChangeArrowheads="1"/>
          </p:cNvPicPr>
          <p:nvPr userDrawn="1">
            <p:custDataLst>
              <p:tags r:id="rId1"/>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extLst>
      <p:ext uri="{BB962C8B-B14F-4D97-AF65-F5344CB8AC3E}">
        <p14:creationId xmlns:p14="http://schemas.microsoft.com/office/powerpoint/2010/main" val="4102649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4" name="日期占位符 27"/>
          <p:cNvSpPr>
            <a:spLocks noGrp="1"/>
          </p:cNvSpPr>
          <p:nvPr>
            <p:ph type="dt" sz="half" idx="10"/>
          </p:nvPr>
        </p:nvSpPr>
        <p:spPr/>
        <p:txBody>
          <a:bodyPr/>
          <a:lstStyle>
            <a:lvl1pPr>
              <a:defRPr/>
            </a:lvl1pPr>
          </a:lstStyle>
          <a:p>
            <a:pPr>
              <a:defRPr/>
            </a:pPr>
            <a:endParaRPr lang="en-US" altLang="zh-CN"/>
          </a:p>
        </p:txBody>
      </p:sp>
      <p:sp>
        <p:nvSpPr>
          <p:cNvPr id="5" name="页脚占位符 16"/>
          <p:cNvSpPr>
            <a:spLocks noGrp="1"/>
          </p:cNvSpPr>
          <p:nvPr>
            <p:ph type="ftr" sz="quarter" idx="11"/>
          </p:nvPr>
        </p:nvSpPr>
        <p:spPr/>
        <p:txBody>
          <a:bodyPr/>
          <a:lstStyle>
            <a:lvl1pPr>
              <a:defRPr/>
            </a:lvl1pPr>
          </a:lstStyle>
          <a:p>
            <a:pPr>
              <a:defRPr/>
            </a:pPr>
            <a:endParaRPr lang="en-US" altLang="zh-CN"/>
          </a:p>
        </p:txBody>
      </p:sp>
      <p:sp>
        <p:nvSpPr>
          <p:cNvPr id="6" name="灯片编号占位符 28"/>
          <p:cNvSpPr>
            <a:spLocks noGrp="1"/>
          </p:cNvSpPr>
          <p:nvPr>
            <p:ph type="sldNum" sz="quarter" idx="12"/>
          </p:nvPr>
        </p:nvSpPr>
        <p:spPr/>
        <p:txBody>
          <a:bodyPr/>
          <a:lstStyle>
            <a:lvl1pPr>
              <a:defRPr/>
            </a:lvl1pPr>
          </a:lstStyle>
          <a:p>
            <a:pPr>
              <a:defRPr/>
            </a:pPr>
            <a:fld id="{D6A3B536-FBB4-4A5E-99B5-072B98607DCA}" type="slidenum">
              <a:rPr lang="en-US" altLang="zh-CN"/>
              <a:pPr>
                <a:defRPr/>
              </a:pPr>
              <a:t>‹#›</a:t>
            </a:fld>
            <a:endParaRPr lang="en-US" altLang="zh-CN"/>
          </a:p>
        </p:txBody>
      </p:sp>
    </p:spTree>
    <p:extLst>
      <p:ext uri="{BB962C8B-B14F-4D97-AF65-F5344CB8AC3E}">
        <p14:creationId xmlns:p14="http://schemas.microsoft.com/office/powerpoint/2010/main" val="2110087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latin typeface="楷体" panose="02010609060101010101" pitchFamily="49" charset="-122"/>
                <a:ea typeface="楷体" panose="02010609060101010101" pitchFamily="49" charset="-122"/>
              </a:defRPr>
            </a:lvl1pPr>
          </a:lstStyle>
          <a:p>
            <a:endParaRPr lang="en-US" altLang="zh-CN"/>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latin typeface="楷体" panose="02010609060101010101" pitchFamily="49" charset="-122"/>
                <a:ea typeface="楷体" panose="02010609060101010101" pitchFamily="49" charset="-122"/>
              </a:defRPr>
            </a:lvl1pPr>
          </a:lstStyle>
          <a:p>
            <a:endParaRPr lang="en-US" altLang="zh-CN"/>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latin typeface="楷体" panose="02010609060101010101" pitchFamily="49" charset="-122"/>
                <a:ea typeface="楷体" panose="02010609060101010101" pitchFamily="49" charset="-122"/>
              </a:defRPr>
            </a:lvl1pPr>
          </a:lstStyle>
          <a:p>
            <a:fld id="{09D3DD41-1E0E-46B0-ABE7-D5048A3DF737}" type="slidenum">
              <a:rPr lang="en-US" altLang="zh-CN" smtClean="0"/>
              <a:t>‹#›</a:t>
            </a:fld>
            <a:endParaRPr lang="en-US" altLang="zh-CN"/>
          </a:p>
        </p:txBody>
      </p:sp>
      <p:cxnSp>
        <p:nvCxnSpPr>
          <p:cNvPr id="7" name="直接连接符 6">
            <a:extLst>
              <a:ext uri="{FF2B5EF4-FFF2-40B4-BE49-F238E27FC236}">
                <a16:creationId xmlns:a16="http://schemas.microsoft.com/office/drawing/2014/main" id="{79D03E9E-2D21-A10C-1420-02E58A8FEA68}"/>
              </a:ext>
            </a:extLst>
          </p:cNvPr>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FA4A4B50-2314-296C-5C34-6038FE11C1C1}"/>
              </a:ext>
            </a:extLst>
          </p:cNvPr>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a:extLst>
              <a:ext uri="{FF2B5EF4-FFF2-40B4-BE49-F238E27FC236}">
                <a16:creationId xmlns:a16="http://schemas.microsoft.com/office/drawing/2014/main" id="{9DAFD57C-3E77-A7F2-87F9-992E1E3E6ADE}"/>
              </a:ext>
            </a:extLst>
          </p:cNvPr>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 descr="2">
            <a:extLst>
              <a:ext uri="{FF2B5EF4-FFF2-40B4-BE49-F238E27FC236}">
                <a16:creationId xmlns:a16="http://schemas.microsoft.com/office/drawing/2014/main" id="{A30FF6F3-B45A-65F9-6A10-3A290A3517EF}"/>
              </a:ext>
            </a:extLst>
          </p:cNvPr>
          <p:cNvPicPr>
            <a:picLocks noChangeAspect="1" noChangeArrowheads="1"/>
          </p:cNvPicPr>
          <p:nvPr userDrawn="1">
            <p:custDataLst>
              <p:tags r:id="rId8"/>
            </p:custDataLst>
          </p:nvPr>
        </p:nvPicPr>
        <p:blipFill>
          <a:blip r:embed="rId9" cstate="print"/>
          <a:srcRect/>
          <a:stretch>
            <a:fillRect/>
          </a:stretch>
        </p:blipFill>
        <p:spPr bwMode="auto">
          <a:xfrm>
            <a:off x="10200520" y="188538"/>
            <a:ext cx="1665962" cy="376825"/>
          </a:xfrm>
          <a:prstGeom prst="rect">
            <a:avLst/>
          </a:prstGeom>
          <a:noFill/>
          <a:ln w="9525">
            <a:noFill/>
            <a:miter lim="800000"/>
            <a:headEnd/>
            <a:tailEnd/>
          </a:ln>
        </p:spPr>
      </p:pic>
    </p:spTree>
    <p:extLst>
      <p:ext uri="{BB962C8B-B14F-4D97-AF65-F5344CB8AC3E}">
        <p14:creationId xmlns:p14="http://schemas.microsoft.com/office/powerpoint/2010/main" val="2899214169"/>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10" r:id="rId6"/>
  </p:sldLayoutIdLst>
  <p:hf sldNum="0" hdr="0" ftr="0" dt="0"/>
  <p:txStyles>
    <p:titleStyle>
      <a:lvl1pPr algn="ctr" defTabSz="914400" rtl="0" eaLnBrk="1" latinLnBrk="0" hangingPunct="1">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5.xml"/><Relationship Id="rId1" Type="http://schemas.openxmlformats.org/officeDocument/2006/relationships/tags" Target="../tags/tag6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9.xml"/><Relationship Id="rId1" Type="http://schemas.openxmlformats.org/officeDocument/2006/relationships/tags" Target="../tags/tag68.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tags" Target="../tags/tag7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4.xml"/><Relationship Id="rId1" Type="http://schemas.openxmlformats.org/officeDocument/2006/relationships/tags" Target="../tags/tag83.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tags" Target="../tags/tag8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3.xml"/><Relationship Id="rId1" Type="http://schemas.openxmlformats.org/officeDocument/2006/relationships/tags" Target="../tags/tag9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7.xml"/><Relationship Id="rId1" Type="http://schemas.openxmlformats.org/officeDocument/2006/relationships/tags" Target="../tags/tag96.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99.xml"/><Relationship Id="rId1" Type="http://schemas.openxmlformats.org/officeDocument/2006/relationships/tags" Target="../tags/tag98.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5.xml"/><Relationship Id="rId1" Type="http://schemas.openxmlformats.org/officeDocument/2006/relationships/tags" Target="../tags/tag10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7.xml"/><Relationship Id="rId1" Type="http://schemas.openxmlformats.org/officeDocument/2006/relationships/tags" Target="../tags/tag106.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9.xml"/><Relationship Id="rId1" Type="http://schemas.openxmlformats.org/officeDocument/2006/relationships/tags" Target="../tags/tag108.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5.xml"/><Relationship Id="rId1" Type="http://schemas.openxmlformats.org/officeDocument/2006/relationships/tags" Target="../tags/tag11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7.xml"/><Relationship Id="rId1" Type="http://schemas.openxmlformats.org/officeDocument/2006/relationships/tags" Target="../tags/tag116.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9.xml"/><Relationship Id="rId1" Type="http://schemas.openxmlformats.org/officeDocument/2006/relationships/tags" Target="../tags/tag118.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1.xml"/><Relationship Id="rId1" Type="http://schemas.openxmlformats.org/officeDocument/2006/relationships/tags" Target="../tags/tag120.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3.xml"/><Relationship Id="rId1" Type="http://schemas.openxmlformats.org/officeDocument/2006/relationships/tags" Target="../tags/tag122.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5.xml"/><Relationship Id="rId1" Type="http://schemas.openxmlformats.org/officeDocument/2006/relationships/tags" Target="../tags/tag12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7.xml"/><Relationship Id="rId1" Type="http://schemas.openxmlformats.org/officeDocument/2006/relationships/tags" Target="../tags/tag126.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9.xml"/><Relationship Id="rId1" Type="http://schemas.openxmlformats.org/officeDocument/2006/relationships/tags" Target="../tags/tag128.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3.xml"/><Relationship Id="rId1" Type="http://schemas.openxmlformats.org/officeDocument/2006/relationships/tags" Target="../tags/tag132.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5.xml"/><Relationship Id="rId1" Type="http://schemas.openxmlformats.org/officeDocument/2006/relationships/tags" Target="../tags/tag134.xml"/><Relationship Id="rId5" Type="http://schemas.openxmlformats.org/officeDocument/2006/relationships/image" Target="../media/image4.png"/><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7.xml"/><Relationship Id="rId1" Type="http://schemas.openxmlformats.org/officeDocument/2006/relationships/tags" Target="../tags/tag136.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39.xml"/><Relationship Id="rId1" Type="http://schemas.openxmlformats.org/officeDocument/2006/relationships/tags" Target="../tags/tag138.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41.xml"/><Relationship Id="rId1" Type="http://schemas.openxmlformats.org/officeDocument/2006/relationships/tags" Target="../tags/tag140.xml"/><Relationship Id="rId4"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idx="4294967295"/>
          </p:nvPr>
        </p:nvSpPr>
        <p:spPr>
          <a:xfrm>
            <a:off x="3968316" y="1340768"/>
            <a:ext cx="4359932" cy="3168352"/>
          </a:xfrm>
          <a:prstGeom prst="rect">
            <a:avLst/>
          </a:prstGeom>
        </p:spPr>
        <p:txBody>
          <a:bodyPr/>
          <a:lstStyle/>
          <a:p>
            <a:pPr marL="514350" indent="-514350">
              <a:buFont typeface="+mj-lt"/>
              <a:buAutoNum type="arabicPeriod"/>
            </a:pPr>
            <a:r>
              <a:rPr lang="zh-CN" altLang="en-GB" sz="2800" b="1" dirty="0"/>
              <a:t>类的继承</a:t>
            </a:r>
          </a:p>
          <a:p>
            <a:pPr marL="514350" indent="-514350">
              <a:buFont typeface="+mj-lt"/>
              <a:buAutoNum type="arabicPeriod"/>
            </a:pPr>
            <a:r>
              <a:rPr lang="en-US" altLang="zh-CN" sz="2800" b="1" dirty="0"/>
              <a:t>Object</a:t>
            </a:r>
            <a:r>
              <a:rPr lang="zh-CN" altLang="en-US" sz="2800" b="1" dirty="0"/>
              <a:t>类 </a:t>
            </a:r>
          </a:p>
          <a:p>
            <a:pPr marL="514350" indent="-514350">
              <a:buFont typeface="+mj-lt"/>
              <a:buAutoNum type="arabicPeriod"/>
            </a:pPr>
            <a:r>
              <a:rPr lang="en-US" altLang="zh-CN" sz="2800" b="1" dirty="0"/>
              <a:t>final</a:t>
            </a:r>
            <a:r>
              <a:rPr lang="zh-CN" altLang="en-GB" sz="2800" b="1" dirty="0"/>
              <a:t>类与</a:t>
            </a:r>
            <a:r>
              <a:rPr lang="en-US" altLang="zh-CN" sz="2800" b="1" dirty="0"/>
              <a:t>final</a:t>
            </a:r>
            <a:r>
              <a:rPr lang="zh-CN" altLang="en-GB" sz="2800" b="1" dirty="0"/>
              <a:t>方法</a:t>
            </a:r>
          </a:p>
          <a:p>
            <a:pPr marL="514350" indent="-514350">
              <a:buFont typeface="+mj-lt"/>
              <a:buAutoNum type="arabicPeriod"/>
            </a:pPr>
            <a:r>
              <a:rPr lang="zh-CN" altLang="en-GB" sz="2800" b="1" dirty="0"/>
              <a:t>抽象类</a:t>
            </a:r>
          </a:p>
          <a:p>
            <a:pPr marL="514350" indent="-514350">
              <a:buFont typeface="+mj-lt"/>
              <a:buAutoNum type="arabicPeriod"/>
            </a:pPr>
            <a:r>
              <a:rPr lang="zh-CN" altLang="en-GB" sz="2800" b="1" dirty="0"/>
              <a:t>泛型</a:t>
            </a:r>
          </a:p>
          <a:p>
            <a:pPr marL="514350" indent="-514350">
              <a:buFont typeface="+mj-lt"/>
              <a:buAutoNum type="arabicPeriod"/>
            </a:pPr>
            <a:r>
              <a:rPr lang="zh-CN" altLang="en-US" sz="2800" b="1" dirty="0"/>
              <a:t>类的组合 </a:t>
            </a:r>
          </a:p>
        </p:txBody>
      </p:sp>
      <p:sp>
        <p:nvSpPr>
          <p:cNvPr id="7170" name="灯片编号占位符 5"/>
          <p:cNvSpPr>
            <a:spLocks noGrp="1"/>
          </p:cNvSpPr>
          <p:nvPr>
            <p:ph type="sldNum" sz="quarter" idx="12"/>
          </p:nvPr>
        </p:nvSpPr>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buNone/>
            </a:pPr>
            <a:fld id="{16FBE1FF-5041-4321-9917-EE35C59B72E3}" type="slidenum">
              <a:rPr lang="en-US" altLang="zh-CN" sz="1800" smtClean="0">
                <a:solidFill>
                  <a:schemeClr val="bg1"/>
                </a:solidFill>
                <a:latin typeface="Times New Roman" panose="02020603050405020304" pitchFamily="18" charset="0"/>
                <a:cs typeface="Times New Roman" panose="02020603050405020304" pitchFamily="18" charset="0"/>
              </a:rPr>
              <a:pPr>
                <a:buNone/>
              </a:pPr>
              <a:t>1</a:t>
            </a:fld>
            <a:endParaRPr lang="en-US" altLang="zh-CN" sz="1800">
              <a:solidFill>
                <a:schemeClr val="bg1"/>
              </a:solidFill>
              <a:latin typeface="Times New Roman" panose="02020603050405020304" pitchFamily="18" charset="0"/>
              <a:cs typeface="Times New Roman" panose="02020603050405020304" pitchFamily="18" charset="0"/>
            </a:endParaRPr>
          </a:p>
        </p:txBody>
      </p:sp>
      <p:sp>
        <p:nvSpPr>
          <p:cNvPr id="2" name="TextBox 3">
            <a:extLst>
              <a:ext uri="{FF2B5EF4-FFF2-40B4-BE49-F238E27FC236}">
                <a16:creationId xmlns:a16="http://schemas.microsoft.com/office/drawing/2014/main" id="{A0317C76-EBF1-54FE-42EE-59397DF94892}"/>
              </a:ext>
            </a:extLst>
          </p:cNvPr>
          <p:cNvSpPr txBox="1"/>
          <p:nvPr>
            <p:custDataLst>
              <p:tags r:id="rId1"/>
            </p:custDataLst>
          </p:nvPr>
        </p:nvSpPr>
        <p:spPr>
          <a:xfrm>
            <a:off x="4079776" y="57004"/>
            <a:ext cx="352839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zh-CN" altLang="en-US" sz="3200" dirty="0">
                <a:ln w="11430">
                  <a:noFill/>
                </a:ln>
                <a:solidFill>
                  <a:srgbClr val="255EAB"/>
                </a:solidFill>
                <a:latin typeface="楷体" panose="02010609060101010101" pitchFamily="49" charset="-122"/>
                <a:ea typeface="楷体" panose="02010609060101010101" pitchFamily="49" charset="-122"/>
              </a:rPr>
              <a:t>第</a:t>
            </a:r>
            <a:r>
              <a:rPr lang="en-US" altLang="zh-CN" sz="3200" dirty="0">
                <a:ln w="11430">
                  <a:noFill/>
                </a:ln>
                <a:solidFill>
                  <a:srgbClr val="255EAB"/>
                </a:solidFill>
                <a:latin typeface="楷体" panose="02010609060101010101" pitchFamily="49" charset="-122"/>
                <a:ea typeface="楷体" panose="02010609060101010101" pitchFamily="49" charset="-122"/>
              </a:rPr>
              <a:t>3</a:t>
            </a:r>
            <a:r>
              <a:rPr lang="zh-CN" altLang="en-US" sz="3200" dirty="0">
                <a:ln w="11430">
                  <a:noFill/>
                </a:ln>
                <a:solidFill>
                  <a:srgbClr val="255EAB"/>
                </a:solidFill>
                <a:latin typeface="楷体" panose="02010609060101010101" pitchFamily="49" charset="-122"/>
                <a:ea typeface="楷体" panose="02010609060101010101" pitchFamily="49" charset="-122"/>
              </a:rPr>
              <a:t>章  类的重用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4294967295"/>
          </p:nvPr>
        </p:nvSpPr>
        <p:spPr>
          <a:xfrm>
            <a:off x="479376" y="1844824"/>
            <a:ext cx="11448970" cy="3744416"/>
          </a:xfrm>
          <a:prstGeom prst="rect">
            <a:avLst/>
          </a:prstGeom>
        </p:spPr>
        <p:txBody>
          <a:bodyPr lIns="92075" tIns="46038" rIns="92075" bIns="46038"/>
          <a:lstStyle/>
          <a:p>
            <a:pPr eaLnBrk="1" hangingPunct="1">
              <a:lnSpc>
                <a:spcPct val="150000"/>
              </a:lnSpc>
              <a:buFont typeface="Wingdings" panose="05000000000000000000" pitchFamily="2" charset="2"/>
              <a:buChar char="Ø"/>
            </a:pPr>
            <a:r>
              <a:rPr lang="zh-CN" altLang="en-US" sz="3000" dirty="0"/>
              <a:t>一种由已有类创建新类的机制，是面向对象程序设计的基石之一；</a:t>
            </a:r>
            <a:endParaRPr lang="en-US" altLang="zh-CN" sz="3000" dirty="0"/>
          </a:p>
          <a:p>
            <a:pPr eaLnBrk="1" hangingPunct="1">
              <a:lnSpc>
                <a:spcPct val="150000"/>
              </a:lnSpc>
              <a:buFont typeface="Wingdings" panose="05000000000000000000" pitchFamily="2" charset="2"/>
              <a:buChar char="Ø"/>
            </a:pPr>
            <a:r>
              <a:rPr lang="zh-CN" altLang="en-US" sz="3000" dirty="0"/>
              <a:t>根据已有类来定义新类，新类拥有已有类的所有功能；</a:t>
            </a:r>
          </a:p>
          <a:p>
            <a:pPr eaLnBrk="1" hangingPunct="1">
              <a:lnSpc>
                <a:spcPct val="150000"/>
              </a:lnSpc>
              <a:buFont typeface="Wingdings" panose="05000000000000000000" pitchFamily="2" charset="2"/>
              <a:buChar char="Ø"/>
            </a:pPr>
            <a:r>
              <a:rPr lang="en-US" altLang="zh-CN" sz="3000" dirty="0"/>
              <a:t>Java</a:t>
            </a:r>
            <a:r>
              <a:rPr lang="zh-CN" altLang="en-US" sz="3000" dirty="0">
                <a:solidFill>
                  <a:srgbClr val="FF0000"/>
                </a:solidFill>
              </a:rPr>
              <a:t>只支持类的单继承</a:t>
            </a:r>
            <a:r>
              <a:rPr lang="zh-CN" altLang="en-US" sz="3000" dirty="0"/>
              <a:t>，</a:t>
            </a:r>
            <a:r>
              <a:rPr lang="zh-CN" altLang="en-US" sz="3000" dirty="0">
                <a:solidFill>
                  <a:srgbClr val="FF0000"/>
                </a:solidFill>
                <a:highlight>
                  <a:srgbClr val="FFFF00"/>
                </a:highlight>
              </a:rPr>
              <a:t>每个子类只能有一个直接超类；</a:t>
            </a:r>
          </a:p>
          <a:p>
            <a:pPr eaLnBrk="1" hangingPunct="1">
              <a:lnSpc>
                <a:spcPct val="150000"/>
              </a:lnSpc>
              <a:buFont typeface="Wingdings" panose="05000000000000000000" pitchFamily="2" charset="2"/>
              <a:buChar char="Ø"/>
            </a:pPr>
            <a:r>
              <a:rPr lang="zh-CN" altLang="en-US" sz="3000" dirty="0"/>
              <a:t>超类是所有子类的公共属性及方法的集合，子类是超类的特殊化；</a:t>
            </a:r>
          </a:p>
          <a:p>
            <a:pPr eaLnBrk="1" hangingPunct="1">
              <a:lnSpc>
                <a:spcPct val="150000"/>
              </a:lnSpc>
              <a:buFont typeface="Wingdings" panose="05000000000000000000" pitchFamily="2" charset="2"/>
              <a:buChar char="Ø"/>
            </a:pPr>
            <a:r>
              <a:rPr lang="zh-CN" altLang="en-US" sz="3000" dirty="0"/>
              <a:t>继承机制可以提高程序的抽象程度，提高代码的可重用性。</a:t>
            </a:r>
          </a:p>
        </p:txBody>
      </p:sp>
      <p:sp>
        <p:nvSpPr>
          <p:cNvPr id="921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0C62C76-990A-4999-BA42-CAFEA29A3B1C}" type="slidenum">
              <a:rPr kumimoji="1" lang="en-US" altLang="zh-CN" sz="1800" smtClean="0">
                <a:solidFill>
                  <a:schemeClr val="bg1"/>
                </a:solidFill>
                <a:latin typeface="Times New Roman" panose="02020603050405020304" pitchFamily="18" charset="0"/>
              </a:rPr>
              <a:pPr>
                <a:spcBef>
                  <a:spcPct val="0"/>
                </a:spcBef>
                <a:buClrTx/>
                <a:buFontTx/>
                <a:buNone/>
              </a:pPr>
              <a:t>2</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FB82503E-0F02-8180-3D6E-BA26978142B9}"/>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继承的概念</a:t>
            </a:r>
          </a:p>
        </p:txBody>
      </p:sp>
      <p:sp>
        <p:nvSpPr>
          <p:cNvPr id="3" name="TextBox 3">
            <a:extLst>
              <a:ext uri="{FF2B5EF4-FFF2-40B4-BE49-F238E27FC236}">
                <a16:creationId xmlns:a16="http://schemas.microsoft.com/office/drawing/2014/main" id="{E6A1E6DE-5E96-1CC0-8371-50E443862C7C}"/>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extLst>
      <p:ext uri="{BB962C8B-B14F-4D97-AF65-F5344CB8AC3E}">
        <p14:creationId xmlns:p14="http://schemas.microsoft.com/office/powerpoint/2010/main" val="66066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4294967295"/>
          </p:nvPr>
        </p:nvSpPr>
        <p:spPr>
          <a:xfrm>
            <a:off x="695400" y="1801704"/>
            <a:ext cx="11233248" cy="4104456"/>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2800" dirty="0"/>
              <a:t>超类：也称</a:t>
            </a:r>
            <a:r>
              <a:rPr lang="zh-CN" altLang="en-US" sz="2800" dirty="0">
                <a:solidFill>
                  <a:srgbClr val="FF0000"/>
                </a:solidFill>
              </a:rPr>
              <a:t>基类</a:t>
            </a:r>
            <a:r>
              <a:rPr lang="zh-CN" altLang="en-US" sz="2800" dirty="0"/>
              <a:t>，是被直接或间接继承的类；</a:t>
            </a:r>
          </a:p>
          <a:p>
            <a:pPr>
              <a:lnSpc>
                <a:spcPct val="150000"/>
              </a:lnSpc>
              <a:spcBef>
                <a:spcPts val="0"/>
              </a:spcBef>
              <a:buFont typeface="Wingdings" panose="05000000000000000000" pitchFamily="2" charset="2"/>
              <a:buChar char="Ø"/>
            </a:pPr>
            <a:r>
              <a:rPr lang="zh-CN" altLang="en-US" sz="2800" dirty="0"/>
              <a:t>子类：也称</a:t>
            </a:r>
            <a:r>
              <a:rPr lang="zh-CN" altLang="en-US" sz="2800" dirty="0">
                <a:solidFill>
                  <a:srgbClr val="FF0000"/>
                </a:solidFill>
              </a:rPr>
              <a:t>派生类</a:t>
            </a:r>
            <a:r>
              <a:rPr lang="zh-CN" altLang="en-US" sz="2800" dirty="0"/>
              <a:t>，继承其他类而得到的类，</a:t>
            </a:r>
            <a:r>
              <a:rPr lang="zh-CN" altLang="en-US" sz="2800" dirty="0">
                <a:solidFill>
                  <a:srgbClr val="FF0000"/>
                </a:solidFill>
                <a:highlight>
                  <a:srgbClr val="FFFF00"/>
                </a:highlight>
              </a:rPr>
              <a:t>继承所有祖先的状态和行为</a:t>
            </a:r>
            <a:r>
              <a:rPr lang="zh-CN" altLang="en-US" sz="2800" dirty="0"/>
              <a:t>，派生类可以增加变量和方法，派生类也可以</a:t>
            </a:r>
            <a:r>
              <a:rPr lang="zh-CN" altLang="en-US" sz="2800" dirty="0">
                <a:solidFill>
                  <a:srgbClr val="FF00FF"/>
                </a:solidFill>
              </a:rPr>
              <a:t>覆盖(</a:t>
            </a:r>
            <a:r>
              <a:rPr lang="en-US" altLang="zh-CN" sz="2800" dirty="0">
                <a:solidFill>
                  <a:srgbClr val="FF00FF"/>
                </a:solidFill>
              </a:rPr>
              <a:t>override)</a:t>
            </a:r>
            <a:r>
              <a:rPr lang="zh-CN" altLang="en-US" sz="2800" dirty="0">
                <a:solidFill>
                  <a:srgbClr val="FF00FF"/>
                </a:solidFill>
              </a:rPr>
              <a:t>继承的方法；</a:t>
            </a:r>
            <a:endParaRPr lang="en-US" altLang="zh-CN" sz="2800" dirty="0">
              <a:solidFill>
                <a:srgbClr val="FF00FF"/>
              </a:solidFill>
            </a:endParaRPr>
          </a:p>
          <a:p>
            <a:pPr eaLnBrk="1" hangingPunct="1">
              <a:lnSpc>
                <a:spcPct val="150000"/>
              </a:lnSpc>
              <a:spcBef>
                <a:spcPts val="0"/>
              </a:spcBef>
              <a:buFont typeface="Wingdings" panose="05000000000000000000" pitchFamily="2" charset="2"/>
              <a:buChar char="Ø"/>
            </a:pPr>
            <a:r>
              <a:rPr lang="zh-CN" altLang="en-US" sz="2800" dirty="0"/>
              <a:t>子类对象与超类对象存在“</a:t>
            </a:r>
            <a:r>
              <a:rPr lang="zh-CN" altLang="en-US" sz="2800" dirty="0">
                <a:solidFill>
                  <a:srgbClr val="FF00FF"/>
                </a:solidFill>
              </a:rPr>
              <a:t>是一个</a:t>
            </a:r>
            <a:r>
              <a:rPr lang="en-US" altLang="zh-CN" sz="2800" dirty="0"/>
              <a:t>......”(</a:t>
            </a:r>
            <a:r>
              <a:rPr lang="zh-CN" altLang="en-US" sz="2800" dirty="0"/>
              <a:t>或“</a:t>
            </a:r>
            <a:r>
              <a:rPr lang="zh-CN" altLang="en-US" sz="2800" dirty="0">
                <a:solidFill>
                  <a:srgbClr val="FF00FF"/>
                </a:solidFill>
              </a:rPr>
              <a:t>是一种</a:t>
            </a:r>
            <a:r>
              <a:rPr lang="en-US" altLang="zh-CN" sz="2800" dirty="0"/>
              <a:t>......”)</a:t>
            </a:r>
            <a:r>
              <a:rPr lang="zh-CN" altLang="en-US" sz="2800" dirty="0"/>
              <a:t>的关系。</a:t>
            </a:r>
          </a:p>
        </p:txBody>
      </p:sp>
      <p:sp>
        <p:nvSpPr>
          <p:cNvPr id="1126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64E1DA4-4A96-437A-9B11-5DF153A51B65}" type="slidenum">
              <a:rPr kumimoji="1" lang="en-US" altLang="zh-CN" sz="1800" smtClean="0">
                <a:solidFill>
                  <a:schemeClr val="bg1"/>
                </a:solidFill>
                <a:latin typeface="Times New Roman" panose="02020603050405020304" pitchFamily="18" charset="0"/>
              </a:rPr>
              <a:pPr>
                <a:spcBef>
                  <a:spcPct val="0"/>
                </a:spcBef>
                <a:buClrTx/>
                <a:buFontTx/>
                <a:buNone/>
              </a:pPr>
              <a:t>3</a:t>
            </a:fld>
            <a:endParaRPr kumimoji="1" lang="en-US" altLang="zh-CN" sz="1800">
              <a:solidFill>
                <a:schemeClr val="bg1"/>
              </a:solidFill>
              <a:latin typeface="Times New Roman" panose="02020603050405020304" pitchFamily="18" charset="0"/>
            </a:endParaRPr>
          </a:p>
        </p:txBody>
      </p:sp>
      <p:sp>
        <p:nvSpPr>
          <p:cNvPr id="3" name="文本框 2">
            <a:extLst>
              <a:ext uri="{FF2B5EF4-FFF2-40B4-BE49-F238E27FC236}">
                <a16:creationId xmlns:a16="http://schemas.microsoft.com/office/drawing/2014/main" id="{E79BA7E8-CBE5-0A18-9F32-F34A840C4ACC}"/>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超类和子类</a:t>
            </a:r>
          </a:p>
        </p:txBody>
      </p:sp>
      <p:sp>
        <p:nvSpPr>
          <p:cNvPr id="4" name="TextBox 3">
            <a:extLst>
              <a:ext uri="{FF2B5EF4-FFF2-40B4-BE49-F238E27FC236}">
                <a16:creationId xmlns:a16="http://schemas.microsoft.com/office/drawing/2014/main" id="{25C637CB-0F19-F7AE-EE7D-D0760461B28D}"/>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4294967295"/>
          </p:nvPr>
        </p:nvSpPr>
        <p:spPr>
          <a:xfrm>
            <a:off x="839416" y="1772816"/>
            <a:ext cx="10972800" cy="1828799"/>
          </a:xfrm>
          <a:prstGeom prst="rect">
            <a:avLst/>
          </a:prstGeom>
        </p:spPr>
        <p:txBody>
          <a:bodyPr lIns="92075" tIns="46038" rIns="92075" bIns="46038"/>
          <a:lstStyle/>
          <a:p>
            <a:pPr eaLnBrk="1" hangingPunct="1">
              <a:lnSpc>
                <a:spcPct val="120000"/>
              </a:lnSpc>
              <a:buFont typeface="Wingdings" panose="05000000000000000000" pitchFamily="2" charset="2"/>
              <a:buChar char="Ø"/>
            </a:pPr>
            <a:r>
              <a:rPr lang="zh-CN" altLang="en-US" sz="2800" dirty="0"/>
              <a:t>从外部来看，它应该包括</a:t>
            </a:r>
            <a:r>
              <a:rPr lang="en-US" altLang="zh-CN" sz="2800" dirty="0"/>
              <a:t>:</a:t>
            </a:r>
            <a:r>
              <a:rPr lang="zh-CN" altLang="en-US" sz="2800" dirty="0"/>
              <a:t>与超类相同的接口、可以具有更多的方法和数据成员。</a:t>
            </a:r>
            <a:endParaRPr lang="en-US" altLang="zh-CN" sz="2800" dirty="0"/>
          </a:p>
          <a:p>
            <a:pPr eaLnBrk="1" hangingPunct="1">
              <a:lnSpc>
                <a:spcPct val="120000"/>
              </a:lnSpc>
              <a:buFont typeface="Wingdings" panose="05000000000000000000" pitchFamily="2" charset="2"/>
              <a:buChar char="Ø"/>
            </a:pPr>
            <a:r>
              <a:rPr lang="zh-CN" altLang="en-US" sz="2800" dirty="0"/>
              <a:t>其内包含着超类的所有变量和方法。</a:t>
            </a:r>
            <a:endParaRPr lang="en-US" altLang="zh-CN" sz="2800" dirty="0"/>
          </a:p>
        </p:txBody>
      </p:sp>
      <p:sp>
        <p:nvSpPr>
          <p:cNvPr id="1536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81B5481-F256-41C5-9794-2B6CCCA8381E}" type="slidenum">
              <a:rPr kumimoji="1" lang="en-US" altLang="zh-CN" sz="1800" smtClean="0">
                <a:solidFill>
                  <a:schemeClr val="bg1"/>
                </a:solidFill>
                <a:latin typeface="Times New Roman" panose="02020603050405020304" pitchFamily="18" charset="0"/>
              </a:rPr>
              <a:pPr>
                <a:spcBef>
                  <a:spcPct val="0"/>
                </a:spcBef>
                <a:buClrTx/>
                <a:buFontTx/>
                <a:buNone/>
              </a:pPr>
              <a:t>4</a:t>
            </a:fld>
            <a:endParaRPr kumimoji="1" lang="en-US" altLang="zh-CN" sz="1800">
              <a:solidFill>
                <a:schemeClr val="bg1"/>
              </a:solidFill>
              <a:latin typeface="Times New Roman" panose="02020603050405020304" pitchFamily="18" charset="0"/>
            </a:endParaRPr>
          </a:p>
        </p:txBody>
      </p:sp>
      <p:sp>
        <p:nvSpPr>
          <p:cNvPr id="15365" name="Rectangle 5"/>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kumimoji="0" lang="en-US" altLang="zh-CN">
              <a:latin typeface="Trebuchet MS" panose="020B0603020202020204" pitchFamily="34" charset="0"/>
              <a:ea typeface="方正姚体" panose="02010601030101010101" pitchFamily="2" charset="-122"/>
            </a:endParaRPr>
          </a:p>
        </p:txBody>
      </p:sp>
      <p:sp>
        <p:nvSpPr>
          <p:cNvPr id="3" name="文本框 2">
            <a:extLst>
              <a:ext uri="{FF2B5EF4-FFF2-40B4-BE49-F238E27FC236}">
                <a16:creationId xmlns:a16="http://schemas.microsoft.com/office/drawing/2014/main" id="{F36DCC99-60BD-066C-585A-1479E300A5B7}"/>
              </a:ext>
            </a:extLst>
          </p:cNvPr>
          <p:cNvSpPr txBox="1"/>
          <p:nvPr>
            <p:custDataLst>
              <p:tags r:id="rId1"/>
            </p:custDataLst>
          </p:nvPr>
        </p:nvSpPr>
        <p:spPr>
          <a:xfrm>
            <a:off x="407670" y="980440"/>
            <a:ext cx="1799898"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子类对象</a:t>
            </a:r>
          </a:p>
        </p:txBody>
      </p:sp>
      <p:sp>
        <p:nvSpPr>
          <p:cNvPr id="4" name="TextBox 3">
            <a:extLst>
              <a:ext uri="{FF2B5EF4-FFF2-40B4-BE49-F238E27FC236}">
                <a16:creationId xmlns:a16="http://schemas.microsoft.com/office/drawing/2014/main" id="{69B1E565-C14A-EADD-CB15-A429007FB562}"/>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idx="4294967295"/>
          </p:nvPr>
        </p:nvSpPr>
        <p:spPr>
          <a:xfrm>
            <a:off x="569144" y="1772816"/>
            <a:ext cx="10639424" cy="2232248"/>
          </a:xfrm>
          <a:prstGeom prst="rect">
            <a:avLst/>
          </a:prstGeom>
        </p:spPr>
        <p:txBody>
          <a:bodyPr lIns="92075" tIns="46038" rIns="92075" bIns="46038"/>
          <a:lstStyle/>
          <a:p>
            <a:pPr marL="107950" indent="0" eaLnBrk="1" hangingPunct="1">
              <a:buFont typeface="Georgia" panose="02040502050405020303" pitchFamily="18" charset="0"/>
              <a:buNone/>
            </a:pPr>
            <a:r>
              <a:rPr lang="en-US" altLang="zh-CN" sz="2800" dirty="0"/>
              <a:t>[</a:t>
            </a:r>
            <a:r>
              <a:rPr lang="en-US" altLang="zh-CN" sz="2800" dirty="0" err="1"/>
              <a:t>ClassModifier</a:t>
            </a:r>
            <a:r>
              <a:rPr lang="en-US" altLang="zh-CN" sz="2800" dirty="0"/>
              <a:t>] class </a:t>
            </a:r>
            <a:r>
              <a:rPr lang="en-US" altLang="zh-CN" sz="2800" dirty="0" err="1"/>
              <a:t>ClassName</a:t>
            </a:r>
            <a:r>
              <a:rPr lang="en-US" altLang="zh-CN" sz="2800" dirty="0"/>
              <a:t> </a:t>
            </a:r>
            <a:r>
              <a:rPr lang="en-US" altLang="zh-CN" sz="2800" dirty="0">
                <a:solidFill>
                  <a:srgbClr val="FF00FF"/>
                </a:solidFill>
              </a:rPr>
              <a:t>extends </a:t>
            </a:r>
            <a:r>
              <a:rPr lang="en-US" altLang="zh-CN" sz="2800" dirty="0" err="1"/>
              <a:t>SuperClassName</a:t>
            </a:r>
            <a:endParaRPr lang="en-US" altLang="zh-CN" sz="2800" dirty="0"/>
          </a:p>
          <a:p>
            <a:pPr marL="107950" indent="0" eaLnBrk="1" hangingPunct="1">
              <a:buFont typeface="Georgia" panose="02040502050405020303" pitchFamily="18" charset="0"/>
              <a:buNone/>
            </a:pPr>
            <a:r>
              <a:rPr lang="en-US" altLang="zh-CN" sz="2800" dirty="0"/>
              <a:t>{ </a:t>
            </a:r>
          </a:p>
          <a:p>
            <a:pPr marL="107950" indent="0" eaLnBrk="1" hangingPunct="1">
              <a:buFont typeface="Georgia" panose="02040502050405020303" pitchFamily="18" charset="0"/>
              <a:buNone/>
            </a:pPr>
            <a:r>
              <a:rPr lang="en-US" altLang="zh-CN" sz="2800" dirty="0"/>
              <a:t>   //</a:t>
            </a:r>
            <a:r>
              <a:rPr lang="zh-CN" altLang="en-US" sz="2800" dirty="0"/>
              <a:t>类体</a:t>
            </a:r>
          </a:p>
          <a:p>
            <a:pPr marL="107950" indent="0" eaLnBrk="1" hangingPunct="1">
              <a:buFont typeface="Georgia" panose="02040502050405020303" pitchFamily="18" charset="0"/>
              <a:buNone/>
            </a:pPr>
            <a:r>
              <a:rPr lang="en-US" altLang="zh-CN" sz="2800" dirty="0"/>
              <a:t>}</a:t>
            </a:r>
          </a:p>
        </p:txBody>
      </p:sp>
      <p:sp>
        <p:nvSpPr>
          <p:cNvPr id="1741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9F98FC0-26A4-4AFC-AEFB-A47EB4C37A96}" type="slidenum">
              <a:rPr kumimoji="1" lang="en-US" altLang="zh-CN" sz="1800" smtClean="0">
                <a:solidFill>
                  <a:schemeClr val="bg1"/>
                </a:solidFill>
                <a:latin typeface="Times New Roman" panose="02020603050405020304" pitchFamily="18" charset="0"/>
              </a:rPr>
              <a:pPr>
                <a:spcBef>
                  <a:spcPct val="0"/>
                </a:spcBef>
                <a:buClrTx/>
                <a:buFontTx/>
                <a:buNone/>
              </a:pPr>
              <a:t>5</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9B5EB777-FF55-CA52-F92C-F54E89B13D45}"/>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继承的语法</a:t>
            </a:r>
          </a:p>
        </p:txBody>
      </p:sp>
      <p:sp>
        <p:nvSpPr>
          <p:cNvPr id="3" name="TextBox 3">
            <a:extLst>
              <a:ext uri="{FF2B5EF4-FFF2-40B4-BE49-F238E27FC236}">
                <a16:creationId xmlns:a16="http://schemas.microsoft.com/office/drawing/2014/main" id="{0D31622A-D54E-3FCE-6E3D-0EEBE77D370F}"/>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extLst>
      <p:ext uri="{BB962C8B-B14F-4D97-AF65-F5344CB8AC3E}">
        <p14:creationId xmlns:p14="http://schemas.microsoft.com/office/powerpoint/2010/main" val="4155491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4294967295"/>
          </p:nvPr>
        </p:nvSpPr>
        <p:spPr>
          <a:xfrm>
            <a:off x="609600" y="1600201"/>
            <a:ext cx="10972800" cy="964704"/>
          </a:xfrm>
          <a:prstGeom prst="rect">
            <a:avLst/>
          </a:prstGeom>
        </p:spPr>
        <p:txBody>
          <a:bodyPr lIns="92075" tIns="46038" rIns="92075" bIns="46038"/>
          <a:lstStyle/>
          <a:p>
            <a:pPr marL="0" indent="0" eaLnBrk="1" hangingPunct="1">
              <a:buNone/>
            </a:pPr>
            <a:r>
              <a:rPr lang="zh-CN" altLang="en-US" dirty="0"/>
              <a:t>设有三个类：</a:t>
            </a:r>
            <a:r>
              <a:rPr lang="en-US" altLang="zh-CN" dirty="0"/>
              <a:t>Person</a:t>
            </a:r>
            <a:r>
              <a:rPr lang="zh-CN" altLang="en-US" dirty="0"/>
              <a:t>、</a:t>
            </a:r>
            <a:r>
              <a:rPr lang="en-US" altLang="zh-CN" dirty="0"/>
              <a:t>Employee</a:t>
            </a:r>
            <a:r>
              <a:rPr lang="zh-CN" altLang="en-US" dirty="0"/>
              <a:t>、</a:t>
            </a:r>
            <a:r>
              <a:rPr lang="en-US" altLang="zh-CN" dirty="0"/>
              <a:t>Manager</a:t>
            </a:r>
            <a:r>
              <a:rPr lang="zh-CN" altLang="en-US" dirty="0"/>
              <a:t>，其类层次如图：</a:t>
            </a:r>
          </a:p>
        </p:txBody>
      </p:sp>
      <p:sp>
        <p:nvSpPr>
          <p:cNvPr id="2560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B0D6C00-62B2-436D-A8A3-5504BCCBEB9E}" type="slidenum">
              <a:rPr kumimoji="1" lang="en-US" altLang="zh-CN" sz="1800" smtClean="0">
                <a:solidFill>
                  <a:schemeClr val="bg1"/>
                </a:solidFill>
                <a:latin typeface="Times New Roman" panose="02020603050405020304" pitchFamily="18" charset="0"/>
              </a:rPr>
              <a:pPr>
                <a:spcBef>
                  <a:spcPct val="0"/>
                </a:spcBef>
                <a:buClrTx/>
                <a:buFontTx/>
                <a:buNone/>
              </a:pPr>
              <a:t>6</a:t>
            </a:fld>
            <a:endParaRPr kumimoji="1" lang="en-US" altLang="zh-CN" sz="1800">
              <a:solidFill>
                <a:schemeClr val="bg1"/>
              </a:solidFill>
              <a:latin typeface="Times New Roman" panose="02020603050405020304" pitchFamily="18" charset="0"/>
            </a:endParaRPr>
          </a:p>
        </p:txBody>
      </p:sp>
      <p:grpSp>
        <p:nvGrpSpPr>
          <p:cNvPr id="25604" name="Group 5"/>
          <p:cNvGrpSpPr>
            <a:grpSpLocks/>
          </p:cNvGrpSpPr>
          <p:nvPr/>
        </p:nvGrpSpPr>
        <p:grpSpPr bwMode="auto">
          <a:xfrm>
            <a:off x="5015880" y="2789645"/>
            <a:ext cx="1692000" cy="3312000"/>
            <a:chOff x="5310" y="4372"/>
            <a:chExt cx="1260" cy="2745"/>
          </a:xfrm>
        </p:grpSpPr>
        <p:sp>
          <p:nvSpPr>
            <p:cNvPr id="25606" name="Text Box 6"/>
            <p:cNvSpPr txBox="1">
              <a:spLocks noChangeArrowheads="1"/>
            </p:cNvSpPr>
            <p:nvPr/>
          </p:nvSpPr>
          <p:spPr bwMode="auto">
            <a:xfrm>
              <a:off x="5310" y="4372"/>
              <a:ext cx="1215" cy="4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2000">
                  <a:solidFill>
                    <a:schemeClr val="accent1"/>
                  </a:solidFill>
                  <a:latin typeface="Times New Roman" panose="02020603050405020304" pitchFamily="18" charset="0"/>
                </a:rPr>
                <a:t>Person</a:t>
              </a:r>
            </a:p>
          </p:txBody>
        </p:sp>
        <p:sp>
          <p:nvSpPr>
            <p:cNvPr id="25607" name="Text Box 7"/>
            <p:cNvSpPr txBox="1">
              <a:spLocks noChangeArrowheads="1"/>
            </p:cNvSpPr>
            <p:nvPr/>
          </p:nvSpPr>
          <p:spPr bwMode="auto">
            <a:xfrm>
              <a:off x="5325" y="5527"/>
              <a:ext cx="1215" cy="4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2000">
                  <a:solidFill>
                    <a:schemeClr val="accent1"/>
                  </a:solidFill>
                  <a:latin typeface="Times New Roman" panose="02020603050405020304" pitchFamily="18" charset="0"/>
                </a:rPr>
                <a:t>Employee</a:t>
              </a:r>
            </a:p>
          </p:txBody>
        </p:sp>
        <p:sp>
          <p:nvSpPr>
            <p:cNvPr id="25608" name="Text Box 8"/>
            <p:cNvSpPr txBox="1">
              <a:spLocks noChangeArrowheads="1"/>
            </p:cNvSpPr>
            <p:nvPr/>
          </p:nvSpPr>
          <p:spPr bwMode="auto">
            <a:xfrm>
              <a:off x="5355" y="6652"/>
              <a:ext cx="1215" cy="4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ctr">
                <a:spcBef>
                  <a:spcPct val="0"/>
                </a:spcBef>
                <a:buClrTx/>
                <a:buFontTx/>
                <a:buNone/>
              </a:pPr>
              <a:r>
                <a:rPr kumimoji="0" lang="en-US" altLang="zh-CN" sz="2000">
                  <a:solidFill>
                    <a:schemeClr val="accent1"/>
                  </a:solidFill>
                  <a:latin typeface="Times New Roman" panose="02020603050405020304" pitchFamily="18" charset="0"/>
                </a:rPr>
                <a:t>Manager</a:t>
              </a:r>
            </a:p>
          </p:txBody>
        </p:sp>
        <p:sp>
          <p:nvSpPr>
            <p:cNvPr id="25609" name="AutoShape 9"/>
            <p:cNvSpPr>
              <a:spLocks noChangeArrowheads="1"/>
            </p:cNvSpPr>
            <p:nvPr/>
          </p:nvSpPr>
          <p:spPr bwMode="auto">
            <a:xfrm>
              <a:off x="5895" y="4852"/>
              <a:ext cx="143" cy="18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25610" name="AutoShape 10"/>
            <p:cNvSpPr>
              <a:spLocks noChangeArrowheads="1"/>
            </p:cNvSpPr>
            <p:nvPr/>
          </p:nvSpPr>
          <p:spPr bwMode="auto">
            <a:xfrm>
              <a:off x="5895" y="6007"/>
              <a:ext cx="143" cy="18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25611" name="Line 11"/>
            <p:cNvSpPr>
              <a:spLocks noChangeShapeType="1"/>
            </p:cNvSpPr>
            <p:nvPr/>
          </p:nvSpPr>
          <p:spPr bwMode="auto">
            <a:xfrm>
              <a:off x="5970" y="5032"/>
              <a:ext cx="0" cy="4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12" name="Line 12"/>
            <p:cNvSpPr>
              <a:spLocks noChangeShapeType="1"/>
            </p:cNvSpPr>
            <p:nvPr/>
          </p:nvSpPr>
          <p:spPr bwMode="auto">
            <a:xfrm>
              <a:off x="5970" y="6202"/>
              <a:ext cx="0" cy="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文本框 2">
            <a:extLst>
              <a:ext uri="{FF2B5EF4-FFF2-40B4-BE49-F238E27FC236}">
                <a16:creationId xmlns:a16="http://schemas.microsoft.com/office/drawing/2014/main" id="{81A2F0B8-E34C-1BB9-0861-39ACFE4AC8A0}"/>
              </a:ext>
            </a:extLst>
          </p:cNvPr>
          <p:cNvSpPr txBox="1"/>
          <p:nvPr>
            <p:custDataLst>
              <p:tags r:id="rId1"/>
            </p:custDataLst>
          </p:nvPr>
        </p:nvSpPr>
        <p:spPr>
          <a:xfrm>
            <a:off x="407670" y="980440"/>
            <a:ext cx="2159938"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继承的语法</a:t>
            </a:r>
          </a:p>
        </p:txBody>
      </p:sp>
      <p:sp>
        <p:nvSpPr>
          <p:cNvPr id="4" name="TextBox 3">
            <a:extLst>
              <a:ext uri="{FF2B5EF4-FFF2-40B4-BE49-F238E27FC236}">
                <a16:creationId xmlns:a16="http://schemas.microsoft.com/office/drawing/2014/main" id="{F7611831-5D02-DAF6-7A3D-417C5EEFD984}"/>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4294967295"/>
          </p:nvPr>
        </p:nvSpPr>
        <p:spPr>
          <a:xfrm>
            <a:off x="911424" y="1556792"/>
            <a:ext cx="11017224" cy="5116288"/>
          </a:xfrm>
          <a:prstGeom prst="rect">
            <a:avLst/>
          </a:prstGeom>
        </p:spPr>
        <p:txBody>
          <a:bodyPr lIns="92075" tIns="46038" rIns="92075" bIns="46038">
            <a:noAutofit/>
          </a:bodyPr>
          <a:lstStyle/>
          <a:p>
            <a:pPr eaLnBrk="1" hangingPunct="1">
              <a:lnSpc>
                <a:spcPct val="110000"/>
              </a:lnSpc>
              <a:spcBef>
                <a:spcPts val="0"/>
              </a:spcBef>
              <a:buFont typeface="Georgia" panose="02040502050405020303" pitchFamily="18" charset="0"/>
              <a:buNone/>
            </a:pPr>
            <a:r>
              <a:rPr lang="en-US" altLang="zh-CN" sz="2500" b="1" dirty="0"/>
              <a:t>public class Person {</a:t>
            </a:r>
          </a:p>
          <a:p>
            <a:pPr eaLnBrk="1" hangingPunct="1">
              <a:lnSpc>
                <a:spcPct val="110000"/>
              </a:lnSpc>
              <a:spcBef>
                <a:spcPts val="0"/>
              </a:spcBef>
              <a:buFont typeface="Georgia" panose="02040502050405020303" pitchFamily="18" charset="0"/>
              <a:buNone/>
            </a:pPr>
            <a:r>
              <a:rPr lang="en-US" altLang="zh-CN" sz="2500" b="1" dirty="0"/>
              <a:t>    public String name;</a:t>
            </a:r>
          </a:p>
          <a:p>
            <a:pPr eaLnBrk="1" hangingPunct="1">
              <a:lnSpc>
                <a:spcPct val="110000"/>
              </a:lnSpc>
              <a:spcBef>
                <a:spcPts val="0"/>
              </a:spcBef>
              <a:buFont typeface="Georgia" panose="02040502050405020303" pitchFamily="18" charset="0"/>
              <a:buNone/>
            </a:pPr>
            <a:r>
              <a:rPr lang="en-US" altLang="zh-CN" sz="2500" b="1" dirty="0"/>
              <a:t>    public String </a:t>
            </a:r>
            <a:r>
              <a:rPr lang="en-US" altLang="zh-CN" sz="2500" b="1" dirty="0" err="1"/>
              <a:t>getName</a:t>
            </a:r>
            <a:r>
              <a:rPr lang="en-US" altLang="zh-CN" sz="2500" b="1" dirty="0"/>
              <a:t>(){return name; }</a:t>
            </a:r>
          </a:p>
          <a:p>
            <a:pPr eaLnBrk="1" hangingPunct="1">
              <a:lnSpc>
                <a:spcPct val="110000"/>
              </a:lnSpc>
              <a:spcBef>
                <a:spcPts val="0"/>
              </a:spcBef>
              <a:buFont typeface="Georgia" panose="02040502050405020303" pitchFamily="18" charset="0"/>
              <a:buNone/>
            </a:pPr>
            <a:r>
              <a:rPr lang="en-US" altLang="zh-CN" sz="2500" b="1" dirty="0"/>
              <a:t>} </a:t>
            </a:r>
          </a:p>
          <a:p>
            <a:pPr eaLnBrk="1" hangingPunct="1">
              <a:lnSpc>
                <a:spcPct val="110000"/>
              </a:lnSpc>
              <a:spcBef>
                <a:spcPts val="0"/>
              </a:spcBef>
              <a:buFont typeface="Georgia" panose="02040502050405020303" pitchFamily="18" charset="0"/>
              <a:buNone/>
            </a:pPr>
            <a:r>
              <a:rPr lang="en-US" altLang="zh-CN" sz="2500" b="1" dirty="0"/>
              <a:t>public class Employee extends Person { </a:t>
            </a:r>
          </a:p>
          <a:p>
            <a:pPr eaLnBrk="1" hangingPunct="1">
              <a:lnSpc>
                <a:spcPct val="110000"/>
              </a:lnSpc>
              <a:spcBef>
                <a:spcPts val="0"/>
              </a:spcBef>
              <a:buFont typeface="Georgia" panose="02040502050405020303" pitchFamily="18" charset="0"/>
              <a:buNone/>
            </a:pPr>
            <a:r>
              <a:rPr lang="en-US" altLang="zh-CN" sz="2500" b="1" dirty="0"/>
              <a:t>    public int </a:t>
            </a:r>
            <a:r>
              <a:rPr lang="en-US" altLang="zh-CN" sz="2500" b="1" dirty="0" err="1"/>
              <a:t>employeeNumber</a:t>
            </a:r>
            <a:r>
              <a:rPr lang="en-US" altLang="zh-CN" sz="2500" b="1" dirty="0"/>
              <a:t>; </a:t>
            </a:r>
          </a:p>
          <a:p>
            <a:pPr eaLnBrk="1" hangingPunct="1">
              <a:lnSpc>
                <a:spcPct val="110000"/>
              </a:lnSpc>
              <a:spcBef>
                <a:spcPts val="0"/>
              </a:spcBef>
              <a:buFont typeface="Georgia" panose="02040502050405020303" pitchFamily="18" charset="0"/>
              <a:buNone/>
            </a:pPr>
            <a:r>
              <a:rPr lang="en-US" altLang="zh-CN" sz="2500" b="1" dirty="0"/>
              <a:t>    public int </a:t>
            </a:r>
            <a:r>
              <a:rPr lang="en-US" altLang="zh-CN" sz="2500" b="1" dirty="0" err="1"/>
              <a:t>getEmployeeNumber</a:t>
            </a:r>
            <a:r>
              <a:rPr lang="en-US" altLang="zh-CN" sz="2500" b="1" dirty="0"/>
              <a:t>() {  return </a:t>
            </a:r>
            <a:r>
              <a:rPr lang="en-US" altLang="zh-CN" sz="2500" b="1" dirty="0" err="1"/>
              <a:t>employeeNumber</a:t>
            </a:r>
            <a:r>
              <a:rPr lang="en-US" altLang="zh-CN" sz="2500" b="1" dirty="0"/>
              <a:t>; } </a:t>
            </a:r>
          </a:p>
          <a:p>
            <a:pPr eaLnBrk="1" hangingPunct="1">
              <a:lnSpc>
                <a:spcPct val="110000"/>
              </a:lnSpc>
              <a:spcBef>
                <a:spcPts val="0"/>
              </a:spcBef>
              <a:buFont typeface="Georgia" panose="02040502050405020303" pitchFamily="18" charset="0"/>
              <a:buNone/>
            </a:pPr>
            <a:r>
              <a:rPr lang="en-US" altLang="zh-CN" sz="2500" b="1" dirty="0"/>
              <a:t>} </a:t>
            </a:r>
          </a:p>
          <a:p>
            <a:pPr eaLnBrk="1" hangingPunct="1">
              <a:lnSpc>
                <a:spcPct val="110000"/>
              </a:lnSpc>
              <a:spcBef>
                <a:spcPts val="0"/>
              </a:spcBef>
              <a:buFont typeface="Georgia" panose="02040502050405020303" pitchFamily="18" charset="0"/>
              <a:buNone/>
            </a:pPr>
            <a:r>
              <a:rPr lang="en-US" altLang="zh-CN" sz="2500" b="1" dirty="0"/>
              <a:t>public class Manager extends Employee { </a:t>
            </a:r>
          </a:p>
          <a:p>
            <a:pPr eaLnBrk="1" hangingPunct="1">
              <a:lnSpc>
                <a:spcPct val="110000"/>
              </a:lnSpc>
              <a:spcBef>
                <a:spcPts val="0"/>
              </a:spcBef>
              <a:buFont typeface="Georgia" panose="02040502050405020303" pitchFamily="18" charset="0"/>
              <a:buNone/>
            </a:pPr>
            <a:r>
              <a:rPr lang="en-US" altLang="zh-CN" sz="2500" b="1" dirty="0"/>
              <a:t>    public String responsibilities; </a:t>
            </a:r>
          </a:p>
          <a:p>
            <a:pPr eaLnBrk="1" hangingPunct="1">
              <a:lnSpc>
                <a:spcPct val="110000"/>
              </a:lnSpc>
              <a:spcBef>
                <a:spcPts val="0"/>
              </a:spcBef>
              <a:buFont typeface="Georgia" panose="02040502050405020303" pitchFamily="18" charset="0"/>
              <a:buNone/>
            </a:pPr>
            <a:r>
              <a:rPr lang="en-US" altLang="zh-CN" sz="2500" b="1" dirty="0"/>
              <a:t>    public String </a:t>
            </a:r>
            <a:r>
              <a:rPr lang="en-US" altLang="zh-CN" sz="2500" b="1" dirty="0" err="1"/>
              <a:t>getResponsibilities</a:t>
            </a:r>
            <a:r>
              <a:rPr lang="en-US" altLang="zh-CN" sz="2500" b="1" dirty="0"/>
              <a:t>() { return responsibilities; } </a:t>
            </a:r>
          </a:p>
          <a:p>
            <a:pPr eaLnBrk="1" hangingPunct="1">
              <a:lnSpc>
                <a:spcPct val="110000"/>
              </a:lnSpc>
              <a:spcBef>
                <a:spcPts val="0"/>
              </a:spcBef>
              <a:buFont typeface="Georgia" panose="02040502050405020303" pitchFamily="18" charset="0"/>
              <a:buNone/>
            </a:pPr>
            <a:r>
              <a:rPr lang="en-US" altLang="zh-CN" sz="2500" b="1" dirty="0"/>
              <a:t>}</a:t>
            </a:r>
            <a:endParaRPr lang="zh-CN" altLang="en-US" sz="2500" b="1" dirty="0"/>
          </a:p>
        </p:txBody>
      </p:sp>
      <p:sp>
        <p:nvSpPr>
          <p:cNvPr id="3" name="文本框 2">
            <a:extLst>
              <a:ext uri="{FF2B5EF4-FFF2-40B4-BE49-F238E27FC236}">
                <a16:creationId xmlns:a16="http://schemas.microsoft.com/office/drawing/2014/main" id="{12E3A1D6-3F3C-99CC-BE7E-A73D4AB18088}"/>
              </a:ext>
            </a:extLst>
          </p:cNvPr>
          <p:cNvSpPr txBox="1"/>
          <p:nvPr>
            <p:custDataLst>
              <p:tags r:id="rId1"/>
            </p:custDataLst>
          </p:nvPr>
        </p:nvSpPr>
        <p:spPr>
          <a:xfrm>
            <a:off x="609600" y="932002"/>
            <a:ext cx="2030016"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继承的语法</a:t>
            </a:r>
          </a:p>
        </p:txBody>
      </p:sp>
      <p:sp>
        <p:nvSpPr>
          <p:cNvPr id="4" name="TextBox 3">
            <a:extLst>
              <a:ext uri="{FF2B5EF4-FFF2-40B4-BE49-F238E27FC236}">
                <a16:creationId xmlns:a16="http://schemas.microsoft.com/office/drawing/2014/main" id="{81BABFFD-7FE5-992F-FACF-1B9CB9572EE0}"/>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4294967295"/>
          </p:nvPr>
        </p:nvSpPr>
        <p:spPr>
          <a:xfrm>
            <a:off x="767408" y="1556792"/>
            <a:ext cx="8519516" cy="5244204"/>
          </a:xfrm>
          <a:prstGeom prst="rect">
            <a:avLst/>
          </a:prstGeom>
        </p:spPr>
        <p:txBody>
          <a:bodyPr lIns="92075" tIns="46038" rIns="92075" bIns="46038">
            <a:noAutofit/>
          </a:bodyPr>
          <a:lstStyle/>
          <a:p>
            <a:pPr eaLnBrk="1" hangingPunct="1">
              <a:lnSpc>
                <a:spcPct val="70000"/>
              </a:lnSpc>
              <a:buFont typeface="Georgia" panose="02040502050405020303" pitchFamily="18" charset="0"/>
              <a:buNone/>
            </a:pPr>
            <a:r>
              <a:rPr lang="en-US" altLang="zh-CN" sz="2400" dirty="0"/>
              <a:t>public class Exam3_2Test {</a:t>
            </a:r>
          </a:p>
          <a:p>
            <a:pPr eaLnBrk="1" hangingPunct="1">
              <a:lnSpc>
                <a:spcPct val="70000"/>
              </a:lnSpc>
              <a:buFont typeface="Georgia" panose="02040502050405020303" pitchFamily="18" charset="0"/>
              <a:buNone/>
            </a:pPr>
            <a:r>
              <a:rPr lang="en-US" altLang="zh-CN" sz="2400" dirty="0"/>
              <a:t>    public static void main(String </a:t>
            </a:r>
            <a:r>
              <a:rPr lang="en-US" altLang="zh-CN" sz="2400" dirty="0" err="1"/>
              <a:t>args</a:t>
            </a:r>
            <a:r>
              <a:rPr lang="en-US" altLang="zh-CN" sz="2400" dirty="0"/>
              <a:t>[]){</a:t>
            </a:r>
          </a:p>
          <a:p>
            <a:pPr eaLnBrk="1" hangingPunct="1">
              <a:lnSpc>
                <a:spcPct val="70000"/>
              </a:lnSpc>
              <a:buFont typeface="Georgia" panose="02040502050405020303" pitchFamily="18" charset="0"/>
              <a:buNone/>
            </a:pPr>
            <a:r>
              <a:rPr lang="en-US" altLang="zh-CN" sz="2400" dirty="0"/>
              <a:t>        </a:t>
            </a:r>
            <a:r>
              <a:rPr lang="en-US" altLang="zh-CN" sz="2400" dirty="0">
                <a:solidFill>
                  <a:srgbClr val="FF0000"/>
                </a:solidFill>
                <a:highlight>
                  <a:srgbClr val="FFFF00"/>
                </a:highlight>
              </a:rPr>
              <a:t>Employee</a:t>
            </a:r>
            <a:r>
              <a:rPr lang="en-US" altLang="zh-CN" sz="2400" dirty="0"/>
              <a:t> li = new Employee(); </a:t>
            </a:r>
          </a:p>
          <a:p>
            <a:pPr eaLnBrk="1" hangingPunct="1">
              <a:lnSpc>
                <a:spcPct val="70000"/>
              </a:lnSpc>
              <a:buFont typeface="Georgia" panose="02040502050405020303" pitchFamily="18" charset="0"/>
              <a:buNone/>
            </a:pPr>
            <a:r>
              <a:rPr lang="en-US" altLang="zh-CN" sz="2400" dirty="0"/>
              <a:t>        li</a:t>
            </a:r>
            <a:r>
              <a:rPr lang="en-US" altLang="zh-CN" sz="2400" dirty="0">
                <a:solidFill>
                  <a:srgbClr val="FF00FF"/>
                </a:solidFill>
              </a:rPr>
              <a:t>.name </a:t>
            </a:r>
            <a:r>
              <a:rPr lang="en-US" altLang="zh-CN" sz="2400" dirty="0"/>
              <a:t>= "Li Ming"; </a:t>
            </a:r>
          </a:p>
          <a:p>
            <a:pPr eaLnBrk="1" hangingPunct="1">
              <a:lnSpc>
                <a:spcPct val="70000"/>
              </a:lnSpc>
              <a:buFont typeface="Georgia" panose="02040502050405020303" pitchFamily="18" charset="0"/>
              <a:buNone/>
            </a:pPr>
            <a:r>
              <a:rPr lang="en-US" altLang="zh-CN" sz="2400" dirty="0"/>
              <a:t>        </a:t>
            </a:r>
            <a:r>
              <a:rPr lang="en-US" altLang="zh-CN" sz="2400" dirty="0" err="1"/>
              <a:t>li</a:t>
            </a:r>
            <a:r>
              <a:rPr lang="en-US" altLang="zh-CN" sz="2400" dirty="0" err="1">
                <a:solidFill>
                  <a:srgbClr val="FF00FF"/>
                </a:solidFill>
              </a:rPr>
              <a:t>.employeeNumber</a:t>
            </a:r>
            <a:r>
              <a:rPr lang="en-US" altLang="zh-CN" sz="2400" dirty="0">
                <a:solidFill>
                  <a:srgbClr val="FF00FF"/>
                </a:solidFill>
              </a:rPr>
              <a:t> </a:t>
            </a:r>
            <a:r>
              <a:rPr lang="en-US" altLang="zh-CN" sz="2400" dirty="0"/>
              <a:t>= 123456; </a:t>
            </a:r>
          </a:p>
          <a:p>
            <a:pPr eaLnBrk="1" hangingPunct="1">
              <a:lnSpc>
                <a:spcPct val="70000"/>
              </a:lnSpc>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li</a:t>
            </a:r>
            <a:r>
              <a:rPr lang="en-US" altLang="zh-CN" sz="2400" dirty="0" err="1">
                <a:solidFill>
                  <a:srgbClr val="FF00FF"/>
                </a:solidFill>
              </a:rPr>
              <a:t>.getName</a:t>
            </a:r>
            <a:r>
              <a:rPr lang="en-US" altLang="zh-CN" sz="2400" dirty="0">
                <a:solidFill>
                  <a:srgbClr val="FF00FF"/>
                </a:solidFill>
              </a:rPr>
              <a:t>()</a:t>
            </a:r>
            <a:r>
              <a:rPr lang="en-US" altLang="zh-CN" sz="2400" dirty="0"/>
              <a:t>);</a:t>
            </a:r>
          </a:p>
          <a:p>
            <a:pPr eaLnBrk="1" hangingPunct="1">
              <a:lnSpc>
                <a:spcPct val="70000"/>
              </a:lnSpc>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li</a:t>
            </a:r>
            <a:r>
              <a:rPr lang="en-US" altLang="zh-CN" sz="2400" dirty="0" err="1">
                <a:solidFill>
                  <a:srgbClr val="FF00FF"/>
                </a:solidFill>
              </a:rPr>
              <a:t>.getEmployeeNumber</a:t>
            </a:r>
            <a:r>
              <a:rPr lang="en-US" altLang="zh-CN" sz="2400" dirty="0">
                <a:solidFill>
                  <a:srgbClr val="FF00FF"/>
                </a:solidFill>
              </a:rPr>
              <a:t>()</a:t>
            </a:r>
            <a:r>
              <a:rPr lang="en-US" altLang="zh-CN" sz="2400" dirty="0"/>
              <a:t>); </a:t>
            </a:r>
            <a:endParaRPr lang="en-US" altLang="zh-CN" sz="2400" b="1" dirty="0"/>
          </a:p>
          <a:p>
            <a:pPr eaLnBrk="1" hangingPunct="1">
              <a:lnSpc>
                <a:spcPct val="70000"/>
              </a:lnSpc>
              <a:buFont typeface="Georgia" panose="02040502050405020303" pitchFamily="18" charset="0"/>
              <a:buNone/>
            </a:pPr>
            <a:r>
              <a:rPr lang="en-US" altLang="zh-CN" sz="2400" dirty="0"/>
              <a:t>        </a:t>
            </a:r>
            <a:r>
              <a:rPr lang="en-US" altLang="zh-CN" sz="2400" dirty="0">
                <a:solidFill>
                  <a:srgbClr val="FF0000"/>
                </a:solidFill>
                <a:highlight>
                  <a:srgbClr val="FFFF00"/>
                </a:highlight>
              </a:rPr>
              <a:t>Manager</a:t>
            </a:r>
            <a:r>
              <a:rPr lang="en-US" altLang="zh-CN" sz="2400" dirty="0"/>
              <a:t> he = new Manager(); </a:t>
            </a:r>
          </a:p>
          <a:p>
            <a:pPr eaLnBrk="1" hangingPunct="1">
              <a:lnSpc>
                <a:spcPct val="70000"/>
              </a:lnSpc>
              <a:buFont typeface="Georgia" panose="02040502050405020303" pitchFamily="18" charset="0"/>
              <a:buNone/>
            </a:pPr>
            <a:r>
              <a:rPr lang="en-US" altLang="zh-CN" sz="2400" dirty="0"/>
              <a:t>        he</a:t>
            </a:r>
            <a:r>
              <a:rPr lang="en-US" altLang="zh-CN" sz="2400" dirty="0">
                <a:solidFill>
                  <a:srgbClr val="FF00FF"/>
                </a:solidFill>
              </a:rPr>
              <a:t>.name </a:t>
            </a:r>
            <a:r>
              <a:rPr lang="en-US" altLang="zh-CN" sz="2400" dirty="0"/>
              <a:t>= "He Xia"; </a:t>
            </a:r>
          </a:p>
          <a:p>
            <a:pPr eaLnBrk="1" hangingPunct="1">
              <a:lnSpc>
                <a:spcPct val="70000"/>
              </a:lnSpc>
              <a:buFont typeface="Georgia" panose="02040502050405020303" pitchFamily="18" charset="0"/>
              <a:buNone/>
            </a:pPr>
            <a:r>
              <a:rPr lang="en-US" altLang="zh-CN" sz="2400" dirty="0"/>
              <a:t>        </a:t>
            </a:r>
            <a:r>
              <a:rPr lang="en-US" altLang="zh-CN" sz="2400" dirty="0" err="1"/>
              <a:t>he</a:t>
            </a:r>
            <a:r>
              <a:rPr lang="en-US" altLang="zh-CN" sz="2400" dirty="0" err="1">
                <a:solidFill>
                  <a:srgbClr val="FF00FF"/>
                </a:solidFill>
              </a:rPr>
              <a:t>.employeeNumber</a:t>
            </a:r>
            <a:r>
              <a:rPr lang="en-US" altLang="zh-CN" sz="2400" dirty="0">
                <a:solidFill>
                  <a:srgbClr val="FF00FF"/>
                </a:solidFill>
              </a:rPr>
              <a:t> </a:t>
            </a:r>
            <a:r>
              <a:rPr lang="en-US" altLang="zh-CN" sz="2400" dirty="0"/>
              <a:t>= 543469;           </a:t>
            </a:r>
          </a:p>
          <a:p>
            <a:pPr eaLnBrk="1" hangingPunct="1">
              <a:lnSpc>
                <a:spcPct val="70000"/>
              </a:lnSpc>
              <a:buFont typeface="Georgia" panose="02040502050405020303" pitchFamily="18" charset="0"/>
              <a:buNone/>
            </a:pPr>
            <a:r>
              <a:rPr lang="en-US" altLang="zh-CN" sz="2400" dirty="0"/>
              <a:t>        </a:t>
            </a:r>
            <a:r>
              <a:rPr lang="en-US" altLang="zh-CN" sz="2400" dirty="0" err="1"/>
              <a:t>he</a:t>
            </a:r>
            <a:r>
              <a:rPr lang="en-US" altLang="zh-CN" sz="2400" dirty="0" err="1">
                <a:solidFill>
                  <a:srgbClr val="FF00FF"/>
                </a:solidFill>
              </a:rPr>
              <a:t>.responsibilities</a:t>
            </a:r>
            <a:r>
              <a:rPr lang="en-US" altLang="zh-CN" sz="2400" dirty="0"/>
              <a:t> = "Internet project"; </a:t>
            </a:r>
          </a:p>
          <a:p>
            <a:pPr eaLnBrk="1" hangingPunct="1">
              <a:lnSpc>
                <a:spcPct val="70000"/>
              </a:lnSpc>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he</a:t>
            </a:r>
            <a:r>
              <a:rPr lang="en-US" altLang="zh-CN" sz="2400" dirty="0" err="1">
                <a:solidFill>
                  <a:srgbClr val="FF00FF"/>
                </a:solidFill>
              </a:rPr>
              <a:t>.getName</a:t>
            </a:r>
            <a:r>
              <a:rPr lang="en-US" altLang="zh-CN" sz="2400" dirty="0">
                <a:solidFill>
                  <a:srgbClr val="FF00FF"/>
                </a:solidFill>
              </a:rPr>
              <a:t>()</a:t>
            </a:r>
            <a:r>
              <a:rPr lang="en-US" altLang="zh-CN" sz="2400" dirty="0"/>
              <a:t>); </a:t>
            </a:r>
          </a:p>
          <a:p>
            <a:pPr eaLnBrk="1" hangingPunct="1">
              <a:lnSpc>
                <a:spcPct val="70000"/>
              </a:lnSpc>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he</a:t>
            </a:r>
            <a:r>
              <a:rPr lang="en-US" altLang="zh-CN" sz="2400" dirty="0" err="1">
                <a:solidFill>
                  <a:srgbClr val="FF00FF"/>
                </a:solidFill>
              </a:rPr>
              <a:t>.getEmployeeNumber</a:t>
            </a:r>
            <a:r>
              <a:rPr lang="en-US" altLang="zh-CN" sz="2400" dirty="0">
                <a:solidFill>
                  <a:srgbClr val="FF00FF"/>
                </a:solidFill>
              </a:rPr>
              <a:t>()</a:t>
            </a:r>
            <a:r>
              <a:rPr lang="en-US" altLang="zh-CN" sz="2400" dirty="0"/>
              <a:t>);</a:t>
            </a:r>
          </a:p>
          <a:p>
            <a:pPr eaLnBrk="1" hangingPunct="1">
              <a:lnSpc>
                <a:spcPct val="70000"/>
              </a:lnSpc>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he</a:t>
            </a:r>
            <a:r>
              <a:rPr lang="en-US" altLang="zh-CN" sz="2400" dirty="0" err="1">
                <a:solidFill>
                  <a:srgbClr val="FF00FF"/>
                </a:solidFill>
              </a:rPr>
              <a:t>.getResponsibilities</a:t>
            </a:r>
            <a:r>
              <a:rPr lang="en-US" altLang="zh-CN" sz="2400" dirty="0">
                <a:solidFill>
                  <a:srgbClr val="FF00FF"/>
                </a:solidFill>
              </a:rPr>
              <a:t>()</a:t>
            </a:r>
            <a:r>
              <a:rPr lang="en-US" altLang="zh-CN" sz="2400" dirty="0"/>
              <a:t>);</a:t>
            </a:r>
          </a:p>
          <a:p>
            <a:pPr eaLnBrk="1" hangingPunct="1">
              <a:lnSpc>
                <a:spcPct val="70000"/>
              </a:lnSpc>
              <a:buFont typeface="Georgia" panose="02040502050405020303" pitchFamily="18" charset="0"/>
              <a:buNone/>
            </a:pPr>
            <a:r>
              <a:rPr lang="en-US" altLang="zh-CN" sz="2400" dirty="0"/>
              <a:t>    }</a:t>
            </a:r>
          </a:p>
          <a:p>
            <a:pPr eaLnBrk="1" hangingPunct="1">
              <a:lnSpc>
                <a:spcPct val="70000"/>
              </a:lnSpc>
              <a:buFont typeface="Georgia" panose="02040502050405020303" pitchFamily="18" charset="0"/>
              <a:buNone/>
            </a:pPr>
            <a:r>
              <a:rPr lang="en-US" altLang="zh-CN" sz="2400" dirty="0"/>
              <a:t>}</a:t>
            </a:r>
          </a:p>
        </p:txBody>
      </p:sp>
      <p:sp>
        <p:nvSpPr>
          <p:cNvPr id="3" name="文本框 2"/>
          <p:cNvSpPr txBox="1"/>
          <p:nvPr/>
        </p:nvSpPr>
        <p:spPr>
          <a:xfrm>
            <a:off x="9120336" y="4509120"/>
            <a:ext cx="2894112" cy="2154436"/>
          </a:xfrm>
          <a:prstGeom prst="rect">
            <a:avLst/>
          </a:prstGeom>
          <a:noFill/>
          <a:ln>
            <a:solidFill>
              <a:srgbClr val="002060"/>
            </a:solidFill>
          </a:ln>
        </p:spPr>
        <p:txBody>
          <a:bodyPr wrap="square" rtlCol="0">
            <a:spAutoFit/>
          </a:bodyPr>
          <a:lstStyle/>
          <a:p>
            <a:pPr eaLnBrk="1" hangingPunct="1"/>
            <a:r>
              <a:rPr lang="zh-CN" altLang="en-US" dirty="0">
                <a:latin typeface="微软雅黑" panose="020B0503020204020204" pitchFamily="34" charset="-122"/>
                <a:ea typeface="微软雅黑" panose="020B0503020204020204" pitchFamily="34" charset="-122"/>
              </a:rPr>
              <a:t>运行结果</a:t>
            </a:r>
          </a:p>
          <a:p>
            <a:pPr lvl="1" eaLnBrk="1" hangingPunct="1">
              <a:buFont typeface="Georgia" panose="02040502050405020303" pitchFamily="18" charset="0"/>
              <a:buNone/>
            </a:pPr>
            <a:r>
              <a:rPr lang="en-US" altLang="zh-CN" sz="2200" dirty="0">
                <a:latin typeface="微软雅黑" panose="020B0503020204020204" pitchFamily="34" charset="-122"/>
                <a:ea typeface="微软雅黑" panose="020B0503020204020204" pitchFamily="34" charset="-122"/>
              </a:rPr>
              <a:t>Li Ming</a:t>
            </a:r>
          </a:p>
          <a:p>
            <a:pPr lvl="1" eaLnBrk="1" hangingPunct="1">
              <a:buFont typeface="Georgia" panose="02040502050405020303" pitchFamily="18" charset="0"/>
              <a:buNone/>
            </a:pPr>
            <a:r>
              <a:rPr lang="en-US" altLang="zh-CN" sz="2200" dirty="0">
                <a:latin typeface="微软雅黑" panose="020B0503020204020204" pitchFamily="34" charset="-122"/>
                <a:ea typeface="微软雅黑" panose="020B0503020204020204" pitchFamily="34" charset="-122"/>
              </a:rPr>
              <a:t>123456</a:t>
            </a:r>
          </a:p>
          <a:p>
            <a:pPr lvl="1" eaLnBrk="1" hangingPunct="1">
              <a:buFont typeface="Georgia" panose="02040502050405020303" pitchFamily="18" charset="0"/>
              <a:buNone/>
            </a:pPr>
            <a:r>
              <a:rPr lang="en-US" altLang="zh-CN" sz="2200" dirty="0">
                <a:latin typeface="微软雅黑" panose="020B0503020204020204" pitchFamily="34" charset="-122"/>
                <a:ea typeface="微软雅黑" panose="020B0503020204020204" pitchFamily="34" charset="-122"/>
              </a:rPr>
              <a:t>He Xia</a:t>
            </a:r>
          </a:p>
          <a:p>
            <a:pPr lvl="1" eaLnBrk="1" hangingPunct="1">
              <a:buFont typeface="Georgia" panose="02040502050405020303" pitchFamily="18" charset="0"/>
              <a:buNone/>
            </a:pPr>
            <a:r>
              <a:rPr lang="en-US" altLang="zh-CN" sz="2200" dirty="0">
                <a:latin typeface="微软雅黑" panose="020B0503020204020204" pitchFamily="34" charset="-122"/>
                <a:ea typeface="微软雅黑" panose="020B0503020204020204" pitchFamily="34" charset="-122"/>
              </a:rPr>
              <a:t>543469</a:t>
            </a:r>
          </a:p>
          <a:p>
            <a:pPr lvl="1" eaLnBrk="1" hangingPunct="1">
              <a:buFont typeface="Georgia" panose="02040502050405020303" pitchFamily="18" charset="0"/>
              <a:buNone/>
            </a:pPr>
            <a:r>
              <a:rPr lang="en-US" altLang="zh-CN" sz="2200" dirty="0">
                <a:latin typeface="微软雅黑" panose="020B0503020204020204" pitchFamily="34" charset="-122"/>
                <a:ea typeface="微软雅黑" panose="020B0503020204020204" pitchFamily="34" charset="-122"/>
              </a:rPr>
              <a:t>Internet project</a:t>
            </a: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0CF42FF1-3B4C-F2FF-8FBF-DF9655A8B913}"/>
              </a:ext>
            </a:extLst>
          </p:cNvPr>
          <p:cNvSpPr txBox="1"/>
          <p:nvPr>
            <p:custDataLst>
              <p:tags r:id="rId1"/>
            </p:custDataLst>
          </p:nvPr>
        </p:nvSpPr>
        <p:spPr>
          <a:xfrm>
            <a:off x="609600" y="932002"/>
            <a:ext cx="2030016"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继承的语法</a:t>
            </a:r>
          </a:p>
        </p:txBody>
      </p:sp>
      <p:sp>
        <p:nvSpPr>
          <p:cNvPr id="6" name="TextBox 3">
            <a:extLst>
              <a:ext uri="{FF2B5EF4-FFF2-40B4-BE49-F238E27FC236}">
                <a16:creationId xmlns:a16="http://schemas.microsoft.com/office/drawing/2014/main" id="{FF87F300-1536-316E-2F61-3860198B28D5}"/>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4294967295"/>
          </p:nvPr>
        </p:nvSpPr>
        <p:spPr>
          <a:xfrm>
            <a:off x="479376" y="1560612"/>
            <a:ext cx="11449272" cy="5040560"/>
          </a:xfrm>
          <a:prstGeom prst="rect">
            <a:avLst/>
          </a:prstGeom>
        </p:spPr>
        <p:txBody>
          <a:bodyPr lIns="92075" tIns="46038" rIns="92075" bIns="46038">
            <a:normAutofit fontScale="92500" lnSpcReduction="20000"/>
          </a:bodyPr>
          <a:lstStyle/>
          <a:p>
            <a:pPr marL="0" indent="0" eaLnBrk="1" hangingPunct="1">
              <a:buFont typeface="Georgia" panose="02040502050405020303" pitchFamily="18" charset="0"/>
              <a:buNone/>
            </a:pPr>
            <a:r>
              <a:rPr lang="en-US" altLang="zh-CN" sz="2200" dirty="0"/>
              <a:t>//</a:t>
            </a:r>
            <a:r>
              <a:rPr lang="zh-CN" altLang="en-US" sz="2500" dirty="0"/>
              <a:t>子类</a:t>
            </a:r>
            <a:r>
              <a:rPr lang="zh-CN" altLang="en-US" sz="2500" dirty="0">
                <a:solidFill>
                  <a:srgbClr val="FF0000"/>
                </a:solidFill>
                <a:highlight>
                  <a:srgbClr val="FFFF00"/>
                </a:highlight>
              </a:rPr>
              <a:t>不能</a:t>
            </a:r>
            <a:r>
              <a:rPr lang="zh-CN" altLang="en-US" sz="2500" dirty="0"/>
              <a:t>直接访问从超类中继承</a:t>
            </a:r>
            <a:r>
              <a:rPr lang="zh-CN" altLang="en-US" sz="2500" dirty="0">
                <a:solidFill>
                  <a:srgbClr val="FF0000"/>
                </a:solidFill>
                <a:highlight>
                  <a:srgbClr val="FFFF00"/>
                </a:highlight>
              </a:rPr>
              <a:t>的私有属性及方法</a:t>
            </a:r>
            <a:r>
              <a:rPr lang="zh-CN" altLang="en-US" sz="2500" dirty="0"/>
              <a:t>，但可使用</a:t>
            </a:r>
            <a:r>
              <a:rPr lang="zh-CN" altLang="en-US" sz="2500" dirty="0">
                <a:solidFill>
                  <a:srgbClr val="FF0000"/>
                </a:solidFill>
                <a:highlight>
                  <a:srgbClr val="FFFF00"/>
                </a:highlight>
              </a:rPr>
              <a:t>公有（及保护）</a:t>
            </a:r>
            <a:r>
              <a:rPr lang="zh-CN" altLang="en-US" sz="2500" dirty="0"/>
              <a:t>方法进行访问</a:t>
            </a:r>
          </a:p>
          <a:p>
            <a:pPr lvl="1" eaLnBrk="1" hangingPunct="1">
              <a:lnSpc>
                <a:spcPct val="80000"/>
              </a:lnSpc>
              <a:buFont typeface="Georgia" panose="02040502050405020303" pitchFamily="18" charset="0"/>
              <a:buNone/>
            </a:pPr>
            <a:r>
              <a:rPr lang="en-US" altLang="zh-CN" sz="2500" dirty="0">
                <a:solidFill>
                  <a:schemeClr val="tx1"/>
                </a:solidFill>
              </a:rPr>
              <a:t>public class B { </a:t>
            </a:r>
          </a:p>
          <a:p>
            <a:pPr lvl="1" eaLnBrk="1" hangingPunct="1">
              <a:lnSpc>
                <a:spcPct val="80000"/>
              </a:lnSpc>
              <a:buFont typeface="Georgia" panose="02040502050405020303" pitchFamily="18" charset="0"/>
              <a:buNone/>
            </a:pPr>
            <a:r>
              <a:rPr lang="en-US" altLang="zh-CN" sz="2500" dirty="0">
                <a:solidFill>
                  <a:schemeClr val="tx1"/>
                </a:solidFill>
              </a:rPr>
              <a:t>    public int a = 10; </a:t>
            </a:r>
          </a:p>
          <a:p>
            <a:pPr lvl="1" eaLnBrk="1" hangingPunct="1">
              <a:lnSpc>
                <a:spcPct val="80000"/>
              </a:lnSpc>
              <a:buFont typeface="Georgia" panose="02040502050405020303" pitchFamily="18" charset="0"/>
              <a:buNone/>
            </a:pPr>
            <a:r>
              <a:rPr lang="en-US" altLang="zh-CN" sz="2500" dirty="0">
                <a:solidFill>
                  <a:schemeClr val="tx1"/>
                </a:solidFill>
              </a:rPr>
              <a:t>    </a:t>
            </a:r>
            <a:r>
              <a:rPr lang="en-US" altLang="zh-CN" sz="2500" dirty="0"/>
              <a:t>private</a:t>
            </a:r>
            <a:r>
              <a:rPr lang="en-US" altLang="zh-CN" sz="2500" dirty="0">
                <a:solidFill>
                  <a:schemeClr val="tx1"/>
                </a:solidFill>
              </a:rPr>
              <a:t> int </a:t>
            </a:r>
            <a:r>
              <a:rPr lang="en-US" altLang="zh-CN" sz="2500" dirty="0">
                <a:solidFill>
                  <a:srgbClr val="FF0000"/>
                </a:solidFill>
              </a:rPr>
              <a:t>b</a:t>
            </a:r>
            <a:r>
              <a:rPr lang="en-US" altLang="zh-CN" sz="2500" dirty="0">
                <a:solidFill>
                  <a:schemeClr val="tx1"/>
                </a:solidFill>
              </a:rPr>
              <a:t> = 20; </a:t>
            </a:r>
          </a:p>
          <a:p>
            <a:pPr lvl="1" eaLnBrk="1" hangingPunct="1">
              <a:lnSpc>
                <a:spcPct val="80000"/>
              </a:lnSpc>
              <a:buFont typeface="Georgia" panose="02040502050405020303" pitchFamily="18" charset="0"/>
              <a:buNone/>
            </a:pPr>
            <a:r>
              <a:rPr lang="en-US" altLang="zh-CN" sz="2500" dirty="0">
                <a:solidFill>
                  <a:schemeClr val="tx1"/>
                </a:solidFill>
              </a:rPr>
              <a:t>    protected int c = 30; </a:t>
            </a:r>
          </a:p>
          <a:p>
            <a:pPr lvl="1" eaLnBrk="1" hangingPunct="1">
              <a:lnSpc>
                <a:spcPct val="80000"/>
              </a:lnSpc>
              <a:buFont typeface="Georgia" panose="02040502050405020303" pitchFamily="18" charset="0"/>
              <a:buNone/>
            </a:pPr>
            <a:r>
              <a:rPr lang="en-US" altLang="zh-CN" sz="2500" dirty="0">
                <a:solidFill>
                  <a:schemeClr val="tx1"/>
                </a:solidFill>
              </a:rPr>
              <a:t>    </a:t>
            </a:r>
            <a:r>
              <a:rPr lang="en-US" altLang="zh-CN" sz="2500" dirty="0">
                <a:solidFill>
                  <a:schemeClr val="hlink"/>
                </a:solidFill>
              </a:rPr>
              <a:t>public int </a:t>
            </a:r>
            <a:r>
              <a:rPr lang="en-US" altLang="zh-CN" sz="2500" dirty="0" err="1">
                <a:solidFill>
                  <a:schemeClr val="hlink"/>
                </a:solidFill>
              </a:rPr>
              <a:t>getB</a:t>
            </a:r>
            <a:r>
              <a:rPr lang="en-US" altLang="zh-CN" sz="2500" dirty="0">
                <a:solidFill>
                  <a:schemeClr val="hlink"/>
                </a:solidFill>
              </a:rPr>
              <a:t>()  { return b; } </a:t>
            </a:r>
          </a:p>
          <a:p>
            <a:pPr lvl="1" eaLnBrk="1" hangingPunct="1">
              <a:lnSpc>
                <a:spcPct val="80000"/>
              </a:lnSpc>
              <a:buFont typeface="Georgia" panose="02040502050405020303" pitchFamily="18" charset="0"/>
              <a:buNone/>
            </a:pPr>
            <a:r>
              <a:rPr lang="en-US" altLang="zh-CN" sz="2500" dirty="0">
                <a:solidFill>
                  <a:schemeClr val="tx1"/>
                </a:solidFill>
              </a:rPr>
              <a:t>} </a:t>
            </a:r>
          </a:p>
          <a:p>
            <a:pPr lvl="1" eaLnBrk="1" hangingPunct="1">
              <a:lnSpc>
                <a:spcPct val="80000"/>
              </a:lnSpc>
              <a:spcBef>
                <a:spcPct val="55000"/>
              </a:spcBef>
              <a:buFont typeface="Georgia" panose="02040502050405020303" pitchFamily="18" charset="0"/>
              <a:buNone/>
            </a:pPr>
            <a:r>
              <a:rPr lang="en-US" altLang="zh-CN" sz="2500" dirty="0">
                <a:solidFill>
                  <a:schemeClr val="tx1"/>
                </a:solidFill>
              </a:rPr>
              <a:t>public class A extends B { </a:t>
            </a:r>
          </a:p>
          <a:p>
            <a:pPr lvl="1" eaLnBrk="1" hangingPunct="1">
              <a:lnSpc>
                <a:spcPct val="80000"/>
              </a:lnSpc>
              <a:buFont typeface="Georgia" panose="02040502050405020303" pitchFamily="18" charset="0"/>
              <a:buNone/>
            </a:pPr>
            <a:r>
              <a:rPr lang="en-US" altLang="zh-CN" sz="2500" dirty="0">
                <a:solidFill>
                  <a:schemeClr val="tx1"/>
                </a:solidFill>
              </a:rPr>
              <a:t>    public int d; </a:t>
            </a:r>
          </a:p>
          <a:p>
            <a:pPr lvl="1" eaLnBrk="1" hangingPunct="1">
              <a:lnSpc>
                <a:spcPct val="80000"/>
              </a:lnSpc>
              <a:buFont typeface="Georgia" panose="02040502050405020303" pitchFamily="18" charset="0"/>
              <a:buNone/>
            </a:pPr>
            <a:r>
              <a:rPr lang="en-US" altLang="zh-CN" sz="2500" dirty="0">
                <a:solidFill>
                  <a:schemeClr val="tx1"/>
                </a:solidFill>
              </a:rPr>
              <a:t>    public void </a:t>
            </a:r>
            <a:r>
              <a:rPr lang="en-US" altLang="zh-CN" sz="2500" dirty="0" err="1">
                <a:solidFill>
                  <a:schemeClr val="tx1"/>
                </a:solidFill>
              </a:rPr>
              <a:t>tryVariables</a:t>
            </a:r>
            <a:r>
              <a:rPr lang="en-US" altLang="zh-CN" sz="2500" dirty="0">
                <a:solidFill>
                  <a:schemeClr val="tx1"/>
                </a:solidFill>
              </a:rPr>
              <a:t>() { </a:t>
            </a:r>
          </a:p>
          <a:p>
            <a:pPr lvl="1" eaLnBrk="1" hangingPunct="1">
              <a:lnSpc>
                <a:spcPct val="80000"/>
              </a:lnSpc>
              <a:buFont typeface="Georgia" panose="02040502050405020303" pitchFamily="18" charset="0"/>
              <a:buNone/>
            </a:pPr>
            <a:r>
              <a:rPr lang="en-US" altLang="zh-CN" sz="2500" dirty="0">
                <a:solidFill>
                  <a:schemeClr val="tx1"/>
                </a:solidFill>
              </a:rPr>
              <a:t>        </a:t>
            </a:r>
            <a:r>
              <a:rPr lang="en-US" altLang="zh-CN" sz="2500" dirty="0" err="1">
                <a:solidFill>
                  <a:schemeClr val="tx1"/>
                </a:solidFill>
              </a:rPr>
              <a:t>System.out.println</a:t>
            </a:r>
            <a:r>
              <a:rPr lang="en-US" altLang="zh-CN" sz="2500" dirty="0">
                <a:solidFill>
                  <a:schemeClr val="tx1"/>
                </a:solidFill>
              </a:rPr>
              <a:t>(a);             //</a:t>
            </a:r>
            <a:r>
              <a:rPr lang="zh-CN" altLang="en-US" sz="2500" dirty="0">
                <a:solidFill>
                  <a:schemeClr val="tx1"/>
                </a:solidFill>
              </a:rPr>
              <a:t>允许 </a:t>
            </a:r>
          </a:p>
          <a:p>
            <a:pPr lvl="1" eaLnBrk="1" hangingPunct="1">
              <a:lnSpc>
                <a:spcPct val="80000"/>
              </a:lnSpc>
              <a:buFont typeface="Georgia" panose="02040502050405020303" pitchFamily="18" charset="0"/>
              <a:buNone/>
            </a:pPr>
            <a:r>
              <a:rPr lang="zh-CN" altLang="en-US" sz="2500" dirty="0">
                <a:solidFill>
                  <a:schemeClr val="tx1"/>
                </a:solidFill>
              </a:rPr>
              <a:t>        </a:t>
            </a:r>
            <a:r>
              <a:rPr lang="en-US" altLang="zh-CN" sz="2500" dirty="0" err="1"/>
              <a:t>System.out.println</a:t>
            </a:r>
            <a:r>
              <a:rPr lang="en-US" altLang="zh-CN" sz="2500" dirty="0"/>
              <a:t>(</a:t>
            </a:r>
            <a:r>
              <a:rPr lang="en-US" altLang="zh-CN" sz="2500" dirty="0">
                <a:solidFill>
                  <a:srgbClr val="FF0000"/>
                </a:solidFill>
              </a:rPr>
              <a:t>b</a:t>
            </a:r>
            <a:r>
              <a:rPr lang="en-US" altLang="zh-CN" sz="2500" dirty="0"/>
              <a:t>);             </a:t>
            </a:r>
            <a:r>
              <a:rPr lang="en-US" altLang="zh-CN" sz="2500" dirty="0">
                <a:solidFill>
                  <a:srgbClr val="FF00FF"/>
                </a:solidFill>
                <a:highlight>
                  <a:srgbClr val="FFFF00"/>
                </a:highlight>
              </a:rPr>
              <a:t>//</a:t>
            </a:r>
            <a:r>
              <a:rPr lang="zh-CN" altLang="en-US" sz="2500" dirty="0">
                <a:solidFill>
                  <a:srgbClr val="FF00FF"/>
                </a:solidFill>
                <a:highlight>
                  <a:srgbClr val="FFFF00"/>
                </a:highlight>
              </a:rPr>
              <a:t>不允许</a:t>
            </a:r>
          </a:p>
          <a:p>
            <a:pPr lvl="1" eaLnBrk="1" hangingPunct="1">
              <a:lnSpc>
                <a:spcPct val="80000"/>
              </a:lnSpc>
              <a:buFont typeface="Georgia" panose="02040502050405020303" pitchFamily="18" charset="0"/>
              <a:buNone/>
            </a:pPr>
            <a:r>
              <a:rPr lang="zh-CN" altLang="en-US" sz="2500" dirty="0">
                <a:solidFill>
                  <a:schemeClr val="tx1"/>
                </a:solidFill>
              </a:rPr>
              <a:t>        </a:t>
            </a:r>
            <a:r>
              <a:rPr lang="en-US" altLang="zh-CN" sz="2500" dirty="0" err="1">
                <a:solidFill>
                  <a:schemeClr val="hlink"/>
                </a:solidFill>
              </a:rPr>
              <a:t>System.out.println</a:t>
            </a:r>
            <a:r>
              <a:rPr lang="en-US" altLang="zh-CN" sz="2500" dirty="0">
                <a:solidFill>
                  <a:schemeClr val="hlink"/>
                </a:solidFill>
              </a:rPr>
              <a:t>(</a:t>
            </a:r>
            <a:r>
              <a:rPr lang="en-US" altLang="zh-CN" sz="2500" dirty="0" err="1">
                <a:solidFill>
                  <a:schemeClr val="hlink"/>
                </a:solidFill>
              </a:rPr>
              <a:t>getB</a:t>
            </a:r>
            <a:r>
              <a:rPr lang="en-US" altLang="zh-CN" sz="2500" dirty="0">
                <a:solidFill>
                  <a:schemeClr val="hlink"/>
                </a:solidFill>
              </a:rPr>
              <a:t>());        </a:t>
            </a:r>
            <a:r>
              <a:rPr lang="en-US" altLang="zh-CN" sz="2500" dirty="0">
                <a:solidFill>
                  <a:schemeClr val="tx1"/>
                </a:solidFill>
              </a:rPr>
              <a:t>//</a:t>
            </a:r>
            <a:r>
              <a:rPr lang="zh-CN" altLang="en-US" sz="2500" dirty="0">
                <a:solidFill>
                  <a:schemeClr val="tx1"/>
                </a:solidFill>
              </a:rPr>
              <a:t>允许 </a:t>
            </a:r>
          </a:p>
          <a:p>
            <a:pPr lvl="1" eaLnBrk="1" hangingPunct="1">
              <a:lnSpc>
                <a:spcPct val="80000"/>
              </a:lnSpc>
              <a:buFont typeface="Georgia" panose="02040502050405020303" pitchFamily="18" charset="0"/>
              <a:buNone/>
            </a:pPr>
            <a:r>
              <a:rPr lang="zh-CN" altLang="en-US" sz="2500" dirty="0">
                <a:solidFill>
                  <a:schemeClr val="tx1"/>
                </a:solidFill>
              </a:rPr>
              <a:t>        </a:t>
            </a:r>
            <a:r>
              <a:rPr lang="en-US" altLang="zh-CN" sz="2500" dirty="0" err="1">
                <a:solidFill>
                  <a:schemeClr val="tx1"/>
                </a:solidFill>
              </a:rPr>
              <a:t>System.out.println</a:t>
            </a:r>
            <a:r>
              <a:rPr lang="en-US" altLang="zh-CN" sz="2500" dirty="0">
                <a:solidFill>
                  <a:schemeClr val="tx1"/>
                </a:solidFill>
              </a:rPr>
              <a:t>(c);             //</a:t>
            </a:r>
            <a:r>
              <a:rPr lang="zh-CN" altLang="en-US" sz="2500" dirty="0">
                <a:solidFill>
                  <a:schemeClr val="tx1"/>
                </a:solidFill>
              </a:rPr>
              <a:t>允许 </a:t>
            </a:r>
          </a:p>
          <a:p>
            <a:pPr lvl="1" eaLnBrk="1" hangingPunct="1">
              <a:lnSpc>
                <a:spcPct val="80000"/>
              </a:lnSpc>
              <a:buFont typeface="Georgia" panose="02040502050405020303" pitchFamily="18" charset="0"/>
              <a:buNone/>
            </a:pPr>
            <a:r>
              <a:rPr lang="zh-CN" altLang="en-US" sz="2500" dirty="0">
                <a:solidFill>
                  <a:schemeClr val="tx1"/>
                </a:solidFill>
              </a:rPr>
              <a:t>    } </a:t>
            </a:r>
          </a:p>
          <a:p>
            <a:pPr lvl="1" eaLnBrk="1" hangingPunct="1">
              <a:lnSpc>
                <a:spcPct val="80000"/>
              </a:lnSpc>
              <a:buFont typeface="Georgia" panose="02040502050405020303" pitchFamily="18" charset="0"/>
              <a:buNone/>
            </a:pPr>
            <a:r>
              <a:rPr lang="zh-CN" altLang="en-US" sz="2500" dirty="0"/>
              <a:t>}</a:t>
            </a:r>
          </a:p>
        </p:txBody>
      </p:sp>
      <p:sp>
        <p:nvSpPr>
          <p:cNvPr id="4" name="文本框 3">
            <a:extLst>
              <a:ext uri="{FF2B5EF4-FFF2-40B4-BE49-F238E27FC236}">
                <a16:creationId xmlns:a16="http://schemas.microsoft.com/office/drawing/2014/main" id="{AA8317AF-7BD4-8269-FC7F-AC8217CF1330}"/>
              </a:ext>
            </a:extLst>
          </p:cNvPr>
          <p:cNvSpPr txBox="1"/>
          <p:nvPr>
            <p:custDataLst>
              <p:tags r:id="rId1"/>
            </p:custDataLst>
          </p:nvPr>
        </p:nvSpPr>
        <p:spPr>
          <a:xfrm>
            <a:off x="609600" y="932002"/>
            <a:ext cx="2030016"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继承的语法</a:t>
            </a:r>
          </a:p>
        </p:txBody>
      </p:sp>
      <p:sp>
        <p:nvSpPr>
          <p:cNvPr id="5" name="TextBox 3">
            <a:extLst>
              <a:ext uri="{FF2B5EF4-FFF2-40B4-BE49-F238E27FC236}">
                <a16:creationId xmlns:a16="http://schemas.microsoft.com/office/drawing/2014/main" id="{7EE13636-77E5-B3FC-2470-480770AC329C}"/>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Grp="1" noChangeArrowheads="1"/>
          </p:cNvSpPr>
          <p:nvPr>
            <p:ph idx="4294967295"/>
          </p:nvPr>
        </p:nvSpPr>
        <p:spPr>
          <a:xfrm>
            <a:off x="609600" y="1586539"/>
            <a:ext cx="10972800" cy="3154341"/>
          </a:xfrm>
          <a:prstGeom prst="rect">
            <a:avLst/>
          </a:prstGeom>
        </p:spPr>
        <p:txBody>
          <a:bodyPr lIns="92075" tIns="46038" rIns="92075" bIns="46038"/>
          <a:lstStyle/>
          <a:p>
            <a:pPr marL="0" indent="0" eaLnBrk="1" hangingPunct="1">
              <a:lnSpc>
                <a:spcPct val="150000"/>
              </a:lnSpc>
              <a:spcBef>
                <a:spcPts val="0"/>
              </a:spcBef>
              <a:buNone/>
            </a:pPr>
            <a:r>
              <a:rPr lang="zh-CN" altLang="en-US" sz="2500" dirty="0"/>
              <a:t>子类中声明了与超类中相同的成员变量名</a:t>
            </a:r>
            <a:endParaRPr lang="en-US" altLang="zh-CN" sz="2500" dirty="0"/>
          </a:p>
          <a:p>
            <a:pPr lvl="1" eaLnBrk="1" hangingPunct="1">
              <a:lnSpc>
                <a:spcPct val="150000"/>
              </a:lnSpc>
              <a:spcBef>
                <a:spcPts val="0"/>
              </a:spcBef>
            </a:pPr>
            <a:r>
              <a:rPr lang="zh-CN" altLang="en-US" sz="2500" dirty="0"/>
              <a:t>从超类继承的变量将被隐藏；</a:t>
            </a:r>
          </a:p>
          <a:p>
            <a:pPr lvl="1" eaLnBrk="1" hangingPunct="1">
              <a:lnSpc>
                <a:spcPct val="150000"/>
              </a:lnSpc>
              <a:spcBef>
                <a:spcPts val="0"/>
              </a:spcBef>
            </a:pPr>
            <a:r>
              <a:rPr lang="zh-CN" altLang="en-US" sz="2500" dirty="0"/>
              <a:t>子类拥有</a:t>
            </a:r>
            <a:r>
              <a:rPr lang="zh-CN" altLang="en-US" sz="2500" dirty="0">
                <a:solidFill>
                  <a:srgbClr val="FF00FF"/>
                </a:solidFill>
              </a:rPr>
              <a:t>两个相同名字的变量</a:t>
            </a:r>
            <a:r>
              <a:rPr lang="zh-CN" altLang="en-US" sz="2500" dirty="0"/>
              <a:t>：一个继承自超类，另一个由自己声明；</a:t>
            </a:r>
          </a:p>
          <a:p>
            <a:pPr lvl="1" eaLnBrk="1" hangingPunct="1">
              <a:lnSpc>
                <a:spcPct val="150000"/>
              </a:lnSpc>
              <a:spcBef>
                <a:spcPts val="0"/>
              </a:spcBef>
            </a:pPr>
            <a:r>
              <a:rPr lang="zh-CN" altLang="en-US" sz="2500" dirty="0"/>
              <a:t>当子类执行继承自超类的操作时，处理的是继承自超类的变量，而当子类执行它自己声明的方法时，所操作的就是它自己声明的变量。</a:t>
            </a:r>
          </a:p>
        </p:txBody>
      </p:sp>
      <p:sp>
        <p:nvSpPr>
          <p:cNvPr id="3789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6010199-1292-425C-8AC6-4627BD07BA01}" type="slidenum">
              <a:rPr kumimoji="1" lang="en-US" altLang="zh-CN" sz="1800" smtClean="0">
                <a:solidFill>
                  <a:schemeClr val="bg1"/>
                </a:solidFill>
                <a:latin typeface="Times New Roman" panose="02020603050405020304" pitchFamily="18" charset="0"/>
              </a:rPr>
              <a:pPr>
                <a:spcBef>
                  <a:spcPct val="0"/>
                </a:spcBef>
                <a:buClrTx/>
                <a:buFontTx/>
                <a:buNone/>
              </a:pPr>
              <a:t>10</a:t>
            </a:fld>
            <a:endParaRPr kumimoji="1" lang="en-US" altLang="zh-CN" sz="1800">
              <a:solidFill>
                <a:schemeClr val="bg1"/>
              </a:solidFill>
              <a:latin typeface="Times New Roman" panose="02020603050405020304" pitchFamily="18" charset="0"/>
            </a:endParaRPr>
          </a:p>
        </p:txBody>
      </p:sp>
      <p:sp>
        <p:nvSpPr>
          <p:cNvPr id="37891" name="Rectangle 7"/>
          <p:cNvSpPr>
            <a:spLocks noChangeArrowheads="1"/>
          </p:cNvSpPr>
          <p:nvPr/>
        </p:nvSpPr>
        <p:spPr bwMode="auto">
          <a:xfrm>
            <a:off x="9067800" y="5105400"/>
            <a:ext cx="762000" cy="91440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37893" name="Text Box 5"/>
          <p:cNvSpPr txBox="1">
            <a:spLocks noChangeArrowheads="1"/>
          </p:cNvSpPr>
          <p:nvPr/>
        </p:nvSpPr>
        <p:spPr bwMode="auto">
          <a:xfrm>
            <a:off x="1438799" y="4862021"/>
            <a:ext cx="2679700" cy="1036638"/>
          </a:xfrm>
          <a:prstGeom prst="rect">
            <a:avLst/>
          </a:prstGeom>
          <a:solidFill>
            <a:schemeClr val="accent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20000"/>
              </a:spcBef>
              <a:buClr>
                <a:schemeClr val="accent2"/>
              </a:buClr>
              <a:buSzPct val="80000"/>
              <a:buFont typeface="Wingdings" panose="05000000000000000000" pitchFamily="2" charset="2"/>
              <a:buNone/>
            </a:pPr>
            <a:r>
              <a:rPr lang="en-US" altLang="zh-CN" sz="2000" b="1" dirty="0">
                <a:solidFill>
                  <a:srgbClr val="66FFFF"/>
                </a:solidFill>
                <a:latin typeface="Arial" panose="020B0604020202020204" pitchFamily="34" charset="0"/>
              </a:rPr>
              <a:t>class Parent</a:t>
            </a:r>
            <a:r>
              <a:rPr lang="zh-CN" altLang="en-US" sz="2000" b="1" dirty="0">
                <a:solidFill>
                  <a:srgbClr val="66FFFF"/>
                </a:solidFill>
                <a:latin typeface="Arial" panose="020B0604020202020204" pitchFamily="34" charset="0"/>
              </a:rPr>
              <a:t> {</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b="1" dirty="0">
                <a:solidFill>
                  <a:srgbClr val="66FFFF"/>
                </a:solidFill>
                <a:latin typeface="Arial" panose="020B0604020202020204" pitchFamily="34" charset="0"/>
              </a:rPr>
              <a:t>    Number </a:t>
            </a:r>
            <a:r>
              <a:rPr lang="en-US" altLang="zh-CN" sz="2000" b="1" dirty="0" err="1">
                <a:solidFill>
                  <a:srgbClr val="66FF33"/>
                </a:solidFill>
                <a:latin typeface="Arial" panose="020B0604020202020204" pitchFamily="34" charset="0"/>
              </a:rPr>
              <a:t>aNumber</a:t>
            </a:r>
            <a:r>
              <a:rPr lang="en-US" altLang="zh-CN" sz="2000" b="1" dirty="0">
                <a:solidFill>
                  <a:srgbClr val="66FFFF"/>
                </a:solidFill>
                <a:latin typeface="Arial" panose="020B0604020202020204" pitchFamily="34" charset="0"/>
              </a:rPr>
              <a:t>;</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b="1" dirty="0">
                <a:solidFill>
                  <a:srgbClr val="66FFFF"/>
                </a:solidFill>
                <a:latin typeface="Arial" panose="020B0604020202020204" pitchFamily="34" charset="0"/>
              </a:rPr>
              <a:t>}</a:t>
            </a:r>
          </a:p>
        </p:txBody>
      </p:sp>
      <p:sp>
        <p:nvSpPr>
          <p:cNvPr id="37894" name="Text Box 6"/>
          <p:cNvSpPr txBox="1">
            <a:spLocks noChangeArrowheads="1"/>
          </p:cNvSpPr>
          <p:nvPr/>
        </p:nvSpPr>
        <p:spPr bwMode="auto">
          <a:xfrm>
            <a:off x="5447928" y="4862021"/>
            <a:ext cx="3810000" cy="1036638"/>
          </a:xfrm>
          <a:prstGeom prst="rect">
            <a:avLst/>
          </a:prstGeom>
          <a:solidFill>
            <a:schemeClr val="accent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20000"/>
              </a:spcBef>
              <a:buClr>
                <a:schemeClr val="accent2"/>
              </a:buClr>
              <a:buSzPct val="80000"/>
              <a:buFont typeface="Wingdings" panose="05000000000000000000" pitchFamily="2" charset="2"/>
              <a:buNone/>
            </a:pPr>
            <a:r>
              <a:rPr lang="en-US" altLang="zh-CN" sz="2000" b="1" dirty="0">
                <a:solidFill>
                  <a:srgbClr val="66FFFF"/>
                </a:solidFill>
                <a:latin typeface="Arial" panose="020B0604020202020204" pitchFamily="34" charset="0"/>
              </a:rPr>
              <a:t>class Child extends Parent {</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b="1" dirty="0">
                <a:solidFill>
                  <a:srgbClr val="66FFFF"/>
                </a:solidFill>
                <a:latin typeface="Arial" panose="020B0604020202020204" pitchFamily="34" charset="0"/>
              </a:rPr>
              <a:t>    Float </a:t>
            </a:r>
            <a:r>
              <a:rPr lang="en-US" altLang="zh-CN" sz="2000" b="1" dirty="0" err="1">
                <a:solidFill>
                  <a:srgbClr val="66FF33"/>
                </a:solidFill>
                <a:latin typeface="Arial" panose="020B0604020202020204" pitchFamily="34" charset="0"/>
              </a:rPr>
              <a:t>aNumber</a:t>
            </a:r>
            <a:r>
              <a:rPr lang="en-US" altLang="zh-CN" sz="2000" b="1" dirty="0">
                <a:solidFill>
                  <a:srgbClr val="66FFFF"/>
                </a:solidFill>
                <a:latin typeface="Arial" panose="020B0604020202020204" pitchFamily="34" charset="0"/>
              </a:rPr>
              <a:t>;</a:t>
            </a:r>
          </a:p>
          <a:p>
            <a:pPr eaLnBrk="1" hangingPunct="1">
              <a:lnSpc>
                <a:spcPct val="90000"/>
              </a:lnSpc>
              <a:spcBef>
                <a:spcPct val="20000"/>
              </a:spcBef>
              <a:buClr>
                <a:schemeClr val="accent2"/>
              </a:buClr>
              <a:buSzPct val="80000"/>
              <a:buFont typeface="Wingdings" panose="05000000000000000000" pitchFamily="2" charset="2"/>
              <a:buNone/>
            </a:pPr>
            <a:r>
              <a:rPr lang="en-US" altLang="zh-CN" sz="2000" b="1" dirty="0">
                <a:solidFill>
                  <a:srgbClr val="66FFFF"/>
                </a:solidFill>
                <a:latin typeface="Arial" panose="020B0604020202020204" pitchFamily="34" charset="0"/>
              </a:rPr>
              <a:t>}</a:t>
            </a:r>
            <a:endParaRPr lang="zh-CN" altLang="en-US" sz="2000" dirty="0">
              <a:solidFill>
                <a:srgbClr val="66FFFF"/>
              </a:solidFill>
              <a:latin typeface="Times New Roman" panose="02020603050405020304" pitchFamily="18" charset="0"/>
              <a:ea typeface="隶书" panose="02010509060101010101" pitchFamily="49" charset="-122"/>
            </a:endParaRPr>
          </a:p>
        </p:txBody>
      </p:sp>
      <p:sp>
        <p:nvSpPr>
          <p:cNvPr id="3" name="文本框 2">
            <a:extLst>
              <a:ext uri="{FF2B5EF4-FFF2-40B4-BE49-F238E27FC236}">
                <a16:creationId xmlns:a16="http://schemas.microsoft.com/office/drawing/2014/main" id="{BCEC4D8B-C687-D32B-6E1C-294BC3ADD2E2}"/>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5" name="TextBox 3">
            <a:extLst>
              <a:ext uri="{FF2B5EF4-FFF2-40B4-BE49-F238E27FC236}">
                <a16:creationId xmlns:a16="http://schemas.microsoft.com/office/drawing/2014/main" id="{F5EA228F-1116-69B0-B0F1-F53E675246C4}"/>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4294967295"/>
          </p:nvPr>
        </p:nvSpPr>
        <p:spPr>
          <a:xfrm>
            <a:off x="767408" y="1772816"/>
            <a:ext cx="10814992" cy="1368152"/>
          </a:xfrm>
          <a:prstGeom prst="rect">
            <a:avLst/>
          </a:prstGeom>
        </p:spPr>
        <p:txBody>
          <a:bodyPr lIns="92075" tIns="46038" rIns="92075" bIns="46038"/>
          <a:lstStyle/>
          <a:p>
            <a:pPr algn="just" eaLnBrk="1" hangingPunct="1">
              <a:lnSpc>
                <a:spcPct val="150000"/>
              </a:lnSpc>
              <a:spcBef>
                <a:spcPts val="0"/>
              </a:spcBef>
              <a:buFont typeface="Wingdings" panose="05000000000000000000" pitchFamily="2" charset="2"/>
              <a:buChar char="Ø"/>
            </a:pPr>
            <a:r>
              <a:rPr lang="zh-CN" altLang="en-US" sz="3000" dirty="0">
                <a:latin typeface="宋体" panose="02010600030101010101" pitchFamily="2" charset="-122"/>
              </a:rPr>
              <a:t>调用从超类继承的方法，则操作的是从超类继承的属性</a:t>
            </a:r>
          </a:p>
          <a:p>
            <a:pPr algn="just" eaLnBrk="1" hangingPunct="1">
              <a:lnSpc>
                <a:spcPct val="150000"/>
              </a:lnSpc>
              <a:spcBef>
                <a:spcPts val="0"/>
              </a:spcBef>
              <a:buFont typeface="Wingdings" panose="05000000000000000000" pitchFamily="2" charset="2"/>
              <a:buChar char="Ø"/>
            </a:pPr>
            <a:r>
              <a:rPr lang="zh-CN" altLang="en-US" sz="3000" dirty="0">
                <a:latin typeface="宋体" panose="02010600030101010101" pitchFamily="2" charset="-122"/>
              </a:rPr>
              <a:t>本类中声明的方法使用“</a:t>
            </a:r>
            <a:r>
              <a:rPr lang="en-US" altLang="zh-CN" sz="3000" dirty="0"/>
              <a:t>super</a:t>
            </a:r>
            <a:r>
              <a:rPr lang="en-US" altLang="zh-CN" sz="3000" dirty="0">
                <a:latin typeface="Times New Roman" panose="02020603050405020304" pitchFamily="18" charset="0"/>
                <a:cs typeface="Times New Roman" panose="02020603050405020304" pitchFamily="18" charset="0"/>
              </a:rPr>
              <a:t>.</a:t>
            </a:r>
            <a:r>
              <a:rPr lang="zh-CN" altLang="en-US" sz="3000" dirty="0">
                <a:latin typeface="宋体" panose="02010600030101010101" pitchFamily="2" charset="-122"/>
              </a:rPr>
              <a:t>属性”访问从超类继承的属性</a:t>
            </a:r>
          </a:p>
        </p:txBody>
      </p:sp>
      <p:sp>
        <p:nvSpPr>
          <p:cNvPr id="3993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BA50C75-3E4C-4D5B-AA55-A6359DD76ECE}" type="slidenum">
              <a:rPr kumimoji="1" lang="en-US" altLang="zh-CN" sz="1800" smtClean="0">
                <a:solidFill>
                  <a:schemeClr val="bg1"/>
                </a:solidFill>
                <a:latin typeface="Times New Roman" panose="02020603050405020304" pitchFamily="18" charset="0"/>
              </a:rPr>
              <a:pPr>
                <a:spcBef>
                  <a:spcPct val="0"/>
                </a:spcBef>
                <a:buClrTx/>
                <a:buFontTx/>
                <a:buNone/>
              </a:pPr>
              <a:t>11</a:t>
            </a:fld>
            <a:endParaRPr kumimoji="1" lang="en-US" altLang="zh-CN" sz="1800">
              <a:solidFill>
                <a:schemeClr val="bg1"/>
              </a:solidFill>
              <a:latin typeface="Times New Roman" panose="02020603050405020304" pitchFamily="18" charset="0"/>
            </a:endParaRPr>
          </a:p>
        </p:txBody>
      </p:sp>
      <p:sp>
        <p:nvSpPr>
          <p:cNvPr id="4" name="文本框 3">
            <a:extLst>
              <a:ext uri="{FF2B5EF4-FFF2-40B4-BE49-F238E27FC236}">
                <a16:creationId xmlns:a16="http://schemas.microsoft.com/office/drawing/2014/main" id="{0CBA492E-9CA8-C327-D390-8D5C4BC04EFF}"/>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5" name="TextBox 3">
            <a:extLst>
              <a:ext uri="{FF2B5EF4-FFF2-40B4-BE49-F238E27FC236}">
                <a16:creationId xmlns:a16="http://schemas.microsoft.com/office/drawing/2014/main" id="{0DE3DD31-3170-9E85-6BC1-481A958182EC}"/>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4294967295"/>
          </p:nvPr>
        </p:nvSpPr>
        <p:spPr>
          <a:xfrm>
            <a:off x="623392" y="1556792"/>
            <a:ext cx="7560840" cy="4923834"/>
          </a:xfrm>
          <a:prstGeom prst="rect">
            <a:avLst/>
          </a:prstGeom>
        </p:spPr>
        <p:txBody>
          <a:bodyPr lIns="92075" tIns="46038" rIns="92075" bIns="46038">
            <a:noAutofit/>
          </a:bodyPr>
          <a:lstStyle/>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class D200_Card extends </a:t>
            </a:r>
            <a:r>
              <a:rPr lang="en-US" altLang="zh-CN" sz="2200" dirty="0" err="1">
                <a:cs typeface="Times New Roman" panose="02020603050405020304" pitchFamily="18" charset="0"/>
              </a:rPr>
              <a:t>Number_PhoneCard</a:t>
            </a:r>
            <a:r>
              <a:rPr lang="en-US" altLang="zh-CN" sz="22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final double </a:t>
            </a:r>
            <a:r>
              <a:rPr lang="en-US" altLang="zh-CN" sz="2200" dirty="0" err="1">
                <a:cs typeface="Times New Roman" panose="02020603050405020304" pitchFamily="18" charset="0"/>
              </a:rPr>
              <a:t>additoryFee</a:t>
            </a:r>
            <a:r>
              <a:rPr lang="en-US" altLang="zh-CN" sz="2200" dirty="0">
                <a:cs typeface="Times New Roman" panose="02020603050405020304" pitchFamily="18" charset="0"/>
              </a:rPr>
              <a:t> = 0.1;</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double balance;</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a:t>
            </a:r>
            <a:r>
              <a:rPr lang="en-US" altLang="zh-CN" sz="2200" dirty="0" err="1">
                <a:cs typeface="Times New Roman" panose="02020603050405020304" pitchFamily="18" charset="0"/>
              </a:rPr>
              <a:t>boolean</a:t>
            </a:r>
            <a:r>
              <a:rPr lang="en-US" altLang="zh-CN" sz="2200" dirty="0">
                <a:cs typeface="Times New Roman" panose="02020603050405020304" pitchFamily="18" charset="0"/>
              </a:rPr>
              <a:t> </a:t>
            </a:r>
            <a:r>
              <a:rPr lang="en-US" altLang="zh-CN" sz="2200" dirty="0" err="1">
                <a:cs typeface="Times New Roman" panose="02020603050405020304" pitchFamily="18" charset="0"/>
              </a:rPr>
              <a:t>performDial</a:t>
            </a:r>
            <a:r>
              <a:rPr lang="en-US" altLang="zh-CN" sz="22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if (balance &gt; (0.5 + </a:t>
            </a:r>
            <a:r>
              <a:rPr lang="en-US" altLang="zh-CN" sz="2200" dirty="0" err="1">
                <a:cs typeface="Times New Roman" panose="02020603050405020304" pitchFamily="18" charset="0"/>
              </a:rPr>
              <a:t>additoryFee</a:t>
            </a:r>
            <a:r>
              <a:rPr lang="en-US" altLang="zh-CN" sz="22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balance -= (0.5 + </a:t>
            </a:r>
            <a:r>
              <a:rPr lang="en-US" altLang="zh-CN" sz="2200" dirty="0" err="1">
                <a:cs typeface="Times New Roman" panose="02020603050405020304" pitchFamily="18" charset="0"/>
              </a:rPr>
              <a:t>additoryFee</a:t>
            </a:r>
            <a:r>
              <a:rPr lang="en-US" altLang="zh-CN" sz="2200" dirty="0">
                <a:cs typeface="Times New Roman" panose="02020603050405020304" pitchFamily="18" charset="0"/>
              </a:rPr>
              <a:t>);</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return true;</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 else {   return false;   }</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double </a:t>
            </a:r>
            <a:r>
              <a:rPr lang="en-US" altLang="zh-CN" sz="2200" dirty="0" err="1">
                <a:cs typeface="Times New Roman" panose="02020603050405020304" pitchFamily="18" charset="0"/>
              </a:rPr>
              <a:t>getBalance</a:t>
            </a:r>
            <a:r>
              <a:rPr lang="en-US" altLang="zh-CN" sz="2200" dirty="0">
                <a:cs typeface="Times New Roman" panose="02020603050405020304" pitchFamily="18" charset="0"/>
              </a:rPr>
              <a:t>() { return balance;}   //</a:t>
            </a:r>
            <a:r>
              <a:rPr lang="zh-CN" altLang="en-US" sz="2200" dirty="0">
                <a:cs typeface="Times New Roman" panose="02020603050405020304" pitchFamily="18" charset="0"/>
              </a:rPr>
              <a:t>覆盖</a:t>
            </a:r>
          </a:p>
          <a:p>
            <a:pPr marL="285750" lvl="1" indent="-285750" eaLnBrk="1" hangingPunct="1">
              <a:spcBef>
                <a:spcPct val="0"/>
              </a:spcBef>
              <a:buFont typeface="Georgia" panose="02040502050405020303" pitchFamily="18" charset="0"/>
              <a:buNone/>
            </a:pPr>
            <a:r>
              <a:rPr lang="zh-CN" altLang="en-US" sz="2200" dirty="0">
                <a:cs typeface="Times New Roman" panose="02020603050405020304" pitchFamily="18" charset="0"/>
              </a:rPr>
              <a:t>    </a:t>
            </a:r>
            <a:r>
              <a:rPr lang="en-US" altLang="zh-CN" sz="2200" dirty="0">
                <a:cs typeface="Times New Roman" panose="02020603050405020304" pitchFamily="18" charset="0"/>
              </a:rPr>
              <a:t>double </a:t>
            </a:r>
            <a:r>
              <a:rPr lang="en-US" altLang="zh-CN" sz="2200" dirty="0" err="1">
                <a:cs typeface="Times New Roman" panose="02020603050405020304" pitchFamily="18" charset="0"/>
              </a:rPr>
              <a:t>getSuperBalance</a:t>
            </a:r>
            <a:r>
              <a:rPr lang="en-US" altLang="zh-CN" sz="22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        return </a:t>
            </a:r>
            <a:r>
              <a:rPr lang="en-US" altLang="zh-CN" sz="2200" dirty="0" err="1">
                <a:cs typeface="Times New Roman" panose="02020603050405020304" pitchFamily="18" charset="0"/>
              </a:rPr>
              <a:t>super.balance</a:t>
            </a:r>
            <a:r>
              <a:rPr lang="en-US" altLang="zh-CN" sz="2200" dirty="0">
                <a:cs typeface="Times New Roman" panose="02020603050405020304" pitchFamily="18" charset="0"/>
              </a:rPr>
              <a:t>;        //</a:t>
            </a:r>
            <a:r>
              <a:rPr lang="zh-CN" altLang="en-US" sz="2200" dirty="0">
                <a:cs typeface="Times New Roman" panose="02020603050405020304" pitchFamily="18" charset="0"/>
              </a:rPr>
              <a:t>访问继承域</a:t>
            </a:r>
          </a:p>
          <a:p>
            <a:pPr marL="285750" lvl="1" indent="-285750" eaLnBrk="1" hangingPunct="1">
              <a:spcBef>
                <a:spcPct val="0"/>
              </a:spcBef>
              <a:buFont typeface="Georgia" panose="02040502050405020303" pitchFamily="18" charset="0"/>
              <a:buNone/>
            </a:pPr>
            <a:r>
              <a:rPr lang="zh-CN" altLang="en-US" sz="2200" dirty="0">
                <a:cs typeface="Times New Roman" panose="02020603050405020304" pitchFamily="18" charset="0"/>
              </a:rPr>
              <a:t>    </a:t>
            </a:r>
            <a:r>
              <a:rPr lang="en-US" altLang="zh-CN" sz="2200" dirty="0">
                <a:cs typeface="Times New Roman" panose="02020603050405020304" pitchFamily="18" charset="0"/>
              </a:rPr>
              <a:t>}</a:t>
            </a:r>
          </a:p>
          <a:p>
            <a:pPr marL="285750" lvl="1" indent="-285750" eaLnBrk="1" hangingPunct="1">
              <a:spcBef>
                <a:spcPct val="0"/>
              </a:spcBef>
              <a:buFont typeface="Georgia" panose="02040502050405020303" pitchFamily="18" charset="0"/>
              <a:buNone/>
            </a:pPr>
            <a:r>
              <a:rPr lang="en-US" altLang="zh-CN" sz="2200" dirty="0">
                <a:cs typeface="Times New Roman" panose="02020603050405020304" pitchFamily="18" charset="0"/>
              </a:rPr>
              <a:t>}</a:t>
            </a:r>
          </a:p>
        </p:txBody>
      </p:sp>
      <p:pic>
        <p:nvPicPr>
          <p:cNvPr id="6" name="图片 5">
            <a:extLst>
              <a:ext uri="{FF2B5EF4-FFF2-40B4-BE49-F238E27FC236}">
                <a16:creationId xmlns:a16="http://schemas.microsoft.com/office/drawing/2014/main" id="{1F5EC75D-A9D7-D746-AD05-DE01530F6A86}"/>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8688288" y="1235170"/>
            <a:ext cx="2700000" cy="5400000"/>
          </a:xfrm>
          <a:prstGeom prst="rect">
            <a:avLst/>
          </a:prstGeom>
          <a:noFill/>
          <a:ln>
            <a:noFill/>
          </a:ln>
        </p:spPr>
      </p:pic>
      <p:sp>
        <p:nvSpPr>
          <p:cNvPr id="4" name="文本框 3">
            <a:extLst>
              <a:ext uri="{FF2B5EF4-FFF2-40B4-BE49-F238E27FC236}">
                <a16:creationId xmlns:a16="http://schemas.microsoft.com/office/drawing/2014/main" id="{FD970DCC-7DF7-E655-5C9D-0554C9A7CBF2}"/>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5" name="TextBox 3">
            <a:extLst>
              <a:ext uri="{FF2B5EF4-FFF2-40B4-BE49-F238E27FC236}">
                <a16:creationId xmlns:a16="http://schemas.microsoft.com/office/drawing/2014/main" id="{31DA03DA-9F9A-96F9-2C5C-986F56744F7C}"/>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extLst>
      <p:ext uri="{BB962C8B-B14F-4D97-AF65-F5344CB8AC3E}">
        <p14:creationId xmlns:p14="http://schemas.microsoft.com/office/powerpoint/2010/main" val="677925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4294967295"/>
          </p:nvPr>
        </p:nvSpPr>
        <p:spPr>
          <a:xfrm>
            <a:off x="407670" y="1628800"/>
            <a:ext cx="5976362" cy="4520760"/>
          </a:xfrm>
          <a:prstGeom prst="rect">
            <a:avLst/>
          </a:prstGeom>
        </p:spPr>
        <p:txBody>
          <a:bodyPr lIns="92075" tIns="46038" rIns="92075" bIns="46038">
            <a:normAutofit fontScale="77500" lnSpcReduction="20000"/>
          </a:bodyPr>
          <a:lstStyle/>
          <a:p>
            <a:pPr marL="285750" lvl="1" indent="-285750" eaLnBrk="1" hangingPunct="1">
              <a:spcBef>
                <a:spcPct val="0"/>
              </a:spcBef>
              <a:buFont typeface="Georgia" panose="02040502050405020303" pitchFamily="18" charset="0"/>
              <a:buNone/>
            </a:pPr>
            <a:r>
              <a:rPr lang="en-US" altLang="zh-CN" sz="2700" dirty="0">
                <a:cs typeface="Times New Roman" panose="02020603050405020304" pitchFamily="18" charset="0"/>
              </a:rPr>
              <a:t>class A1</a:t>
            </a:r>
          </a:p>
          <a:p>
            <a:pPr marL="285750" lvl="1" indent="-285750" eaLnBrk="1" hangingPunct="1">
              <a:spcBef>
                <a:spcPct val="0"/>
              </a:spcBef>
              <a:buFont typeface="Georgia" panose="02040502050405020303" pitchFamily="18" charset="0"/>
              <a:buNone/>
            </a:pPr>
            <a:r>
              <a:rPr lang="en-US" altLang="zh-CN" sz="2700" dirty="0">
                <a:cs typeface="Times New Roman" panose="02020603050405020304" pitchFamily="18" charset="0"/>
              </a:rPr>
              <a:t>{   int</a:t>
            </a:r>
            <a:r>
              <a:rPr lang="zh-CN" altLang="en-US" sz="2700" dirty="0">
                <a:cs typeface="Times New Roman" panose="02020603050405020304" pitchFamily="18" charset="0"/>
              </a:rPr>
              <a:t> </a:t>
            </a:r>
            <a:r>
              <a:rPr lang="en-US" altLang="zh-CN" sz="2700" dirty="0">
                <a:solidFill>
                  <a:srgbClr val="FF0000"/>
                </a:solidFill>
                <a:cs typeface="Times New Roman" panose="02020603050405020304" pitchFamily="18" charset="0"/>
              </a:rPr>
              <a:t>x</a:t>
            </a:r>
            <a:r>
              <a:rPr lang="en-US" altLang="zh-CN" sz="2700" dirty="0">
                <a:cs typeface="Times New Roman" panose="02020603050405020304" pitchFamily="18" charset="0"/>
              </a:rPr>
              <a:t> = 2;    </a:t>
            </a:r>
          </a:p>
          <a:p>
            <a:pPr marL="285750" lvl="1" indent="-285750" eaLnBrk="1" hangingPunct="1">
              <a:spcBef>
                <a:spcPct val="0"/>
              </a:spcBef>
              <a:buFont typeface="Georgia" panose="02040502050405020303" pitchFamily="18" charset="0"/>
              <a:buNone/>
            </a:pPr>
            <a:r>
              <a:rPr lang="en-US" altLang="zh-CN" sz="2700" dirty="0">
                <a:cs typeface="Times New Roman" panose="02020603050405020304" pitchFamily="18" charset="0"/>
              </a:rPr>
              <a:t>    public void </a:t>
            </a:r>
            <a:r>
              <a:rPr lang="en-US" altLang="zh-CN" sz="2700" dirty="0" err="1">
                <a:cs typeface="Times New Roman" panose="02020603050405020304" pitchFamily="18" charset="0"/>
              </a:rPr>
              <a:t>setx</a:t>
            </a:r>
            <a:r>
              <a:rPr lang="en-US" altLang="zh-CN" sz="2700" dirty="0">
                <a:cs typeface="Times New Roman" panose="02020603050405020304" pitchFamily="18" charset="0"/>
              </a:rPr>
              <a:t>(int </a:t>
            </a:r>
            <a:r>
              <a:rPr lang="en-US" altLang="zh-CN" sz="2700" dirty="0" err="1">
                <a:cs typeface="Times New Roman" panose="02020603050405020304" pitchFamily="18" charset="0"/>
              </a:rPr>
              <a:t>i</a:t>
            </a:r>
            <a:r>
              <a:rPr lang="en-US" altLang="zh-CN" sz="27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700" dirty="0">
                <a:cs typeface="Times New Roman" panose="02020603050405020304" pitchFamily="18" charset="0"/>
              </a:rPr>
              <a:t>    {   </a:t>
            </a:r>
            <a:r>
              <a:rPr lang="en-US" altLang="zh-CN" sz="2700" dirty="0">
                <a:solidFill>
                  <a:srgbClr val="FF0000"/>
                </a:solidFill>
                <a:cs typeface="Times New Roman" panose="02020603050405020304" pitchFamily="18" charset="0"/>
              </a:rPr>
              <a:t>x</a:t>
            </a:r>
            <a:r>
              <a:rPr lang="en-US" altLang="zh-CN" sz="2700" dirty="0">
                <a:cs typeface="Times New Roman" panose="02020603050405020304" pitchFamily="18" charset="0"/>
              </a:rPr>
              <a:t> = </a:t>
            </a:r>
            <a:r>
              <a:rPr lang="en-US" altLang="zh-CN" sz="2700" dirty="0" err="1">
                <a:cs typeface="Times New Roman" panose="02020603050405020304" pitchFamily="18" charset="0"/>
              </a:rPr>
              <a:t>i</a:t>
            </a:r>
            <a:r>
              <a:rPr lang="en-US" altLang="zh-CN" sz="27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700" dirty="0">
                <a:cs typeface="Times New Roman" panose="02020603050405020304" pitchFamily="18" charset="0"/>
              </a:rPr>
              <a:t>    void </a:t>
            </a:r>
            <a:r>
              <a:rPr lang="en-US" altLang="zh-CN" sz="2700" dirty="0" err="1">
                <a:cs typeface="Times New Roman" panose="02020603050405020304" pitchFamily="18" charset="0"/>
              </a:rPr>
              <a:t>printa</a:t>
            </a:r>
            <a:r>
              <a:rPr lang="en-US" altLang="zh-CN" sz="2700" dirty="0">
                <a:cs typeface="Times New Roman" panose="02020603050405020304" pitchFamily="18" charset="0"/>
              </a:rPr>
              <a:t>()</a:t>
            </a:r>
          </a:p>
          <a:p>
            <a:pPr marL="285750" lvl="1" indent="-285750" eaLnBrk="1" hangingPunct="1">
              <a:spcBef>
                <a:spcPct val="0"/>
              </a:spcBef>
              <a:buFont typeface="Georgia" panose="02040502050405020303" pitchFamily="18" charset="0"/>
              <a:buNone/>
            </a:pPr>
            <a:r>
              <a:rPr lang="en-US" altLang="zh-CN" sz="2700" dirty="0">
                <a:cs typeface="Times New Roman" panose="02020603050405020304" pitchFamily="18" charset="0"/>
              </a:rPr>
              <a:t>    {</a:t>
            </a:r>
            <a:r>
              <a:rPr lang="en-US" altLang="zh-CN" sz="2700" dirty="0" err="1">
                <a:cs typeface="Times New Roman" panose="02020603050405020304" pitchFamily="18" charset="0"/>
              </a:rPr>
              <a:t>System.out.println</a:t>
            </a:r>
            <a:r>
              <a:rPr lang="en-US" altLang="zh-CN" sz="2700" dirty="0">
                <a:cs typeface="Times New Roman" panose="02020603050405020304" pitchFamily="18" charset="0"/>
              </a:rPr>
              <a:t>(</a:t>
            </a:r>
            <a:r>
              <a:rPr lang="en-US" altLang="zh-CN" sz="2700" dirty="0">
                <a:solidFill>
                  <a:srgbClr val="FF0000"/>
                </a:solidFill>
                <a:cs typeface="Times New Roman" panose="02020603050405020304" pitchFamily="18" charset="0"/>
              </a:rPr>
              <a:t>x</a:t>
            </a:r>
            <a:r>
              <a:rPr lang="en-US" altLang="zh-CN" sz="2700" dirty="0">
                <a:cs typeface="Times New Roman" panose="02020603050405020304" pitchFamily="18" charset="0"/>
              </a:rPr>
              <a:t>);}  </a:t>
            </a:r>
          </a:p>
          <a:p>
            <a:pPr marL="285750" lvl="1" indent="-285750" eaLnBrk="1" hangingPunct="1">
              <a:spcBef>
                <a:spcPct val="0"/>
              </a:spcBef>
              <a:buFont typeface="Georgia" panose="02040502050405020303" pitchFamily="18" charset="0"/>
              <a:buNone/>
            </a:pPr>
            <a:r>
              <a:rPr lang="en-US" altLang="zh-CN" sz="2700" dirty="0">
                <a:cs typeface="Times New Roman" panose="02020603050405020304" pitchFamily="18" charset="0"/>
              </a:rPr>
              <a:t>}</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class B1 extends A1</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   int x=100;</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    void </a:t>
            </a:r>
            <a:r>
              <a:rPr lang="en-US" altLang="zh-CN" sz="2700" dirty="0" err="1">
                <a:cs typeface="Times New Roman" panose="02020603050405020304" pitchFamily="18" charset="0"/>
              </a:rPr>
              <a:t>printb</a:t>
            </a:r>
            <a:r>
              <a:rPr lang="en-US" altLang="zh-CN" sz="2700" dirty="0">
                <a:cs typeface="Times New Roman" panose="02020603050405020304" pitchFamily="18" charset="0"/>
              </a:rPr>
              <a:t>() </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    {  </a:t>
            </a:r>
            <a:r>
              <a:rPr lang="en-US" altLang="zh-CN" sz="2700" dirty="0" err="1">
                <a:solidFill>
                  <a:srgbClr val="FF0000"/>
                </a:solidFill>
                <a:cs typeface="Times New Roman" panose="02020603050405020304" pitchFamily="18" charset="0"/>
              </a:rPr>
              <a:t>super.x</a:t>
            </a:r>
            <a:r>
              <a:rPr lang="en-US" altLang="zh-CN" sz="2700" dirty="0">
                <a:cs typeface="Times New Roman" panose="02020603050405020304" pitchFamily="18" charset="0"/>
              </a:rPr>
              <a:t> = </a:t>
            </a:r>
            <a:r>
              <a:rPr lang="en-US" altLang="zh-CN" sz="2700" dirty="0" err="1">
                <a:solidFill>
                  <a:srgbClr val="FF0000"/>
                </a:solidFill>
                <a:cs typeface="Times New Roman" panose="02020603050405020304" pitchFamily="18" charset="0"/>
              </a:rPr>
              <a:t>super.x</a:t>
            </a:r>
            <a:r>
              <a:rPr lang="en-US" altLang="zh-CN" sz="2700" dirty="0">
                <a:cs typeface="Times New Roman" panose="02020603050405020304" pitchFamily="18" charset="0"/>
              </a:rPr>
              <a:t> +10 ;</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       </a:t>
            </a:r>
            <a:r>
              <a:rPr lang="en-US" altLang="zh-CN" sz="2700" dirty="0" err="1">
                <a:cs typeface="Times New Roman" panose="02020603050405020304" pitchFamily="18" charset="0"/>
              </a:rPr>
              <a:t>System.out.println</a:t>
            </a:r>
            <a:r>
              <a:rPr lang="en-US" altLang="zh-CN" sz="2700" dirty="0">
                <a:cs typeface="Times New Roman" panose="02020603050405020304" pitchFamily="18" charset="0"/>
              </a:rPr>
              <a:t>("</a:t>
            </a:r>
            <a:r>
              <a:rPr lang="en-US" altLang="zh-CN" sz="2700" dirty="0" err="1">
                <a:cs typeface="Times New Roman" panose="02020603050405020304" pitchFamily="18" charset="0"/>
              </a:rPr>
              <a:t>super.x</a:t>
            </a:r>
            <a:r>
              <a:rPr lang="en-US" altLang="zh-CN" sz="2700" dirty="0">
                <a:cs typeface="Times New Roman" panose="02020603050405020304" pitchFamily="18" charset="0"/>
              </a:rPr>
              <a:t>=" +</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                    </a:t>
            </a:r>
            <a:r>
              <a:rPr lang="en-US" altLang="zh-CN" sz="2700" dirty="0" err="1">
                <a:solidFill>
                  <a:srgbClr val="FF0000"/>
                </a:solidFill>
                <a:cs typeface="Times New Roman" panose="02020603050405020304" pitchFamily="18" charset="0"/>
              </a:rPr>
              <a:t>super.x</a:t>
            </a:r>
            <a:r>
              <a:rPr lang="en-US" altLang="zh-CN" sz="2700" dirty="0">
                <a:cs typeface="Times New Roman" panose="02020603050405020304" pitchFamily="18" charset="0"/>
              </a:rPr>
              <a:t> + "  x= " + x);</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    }  </a:t>
            </a:r>
          </a:p>
          <a:p>
            <a:pPr marL="285750" lvl="1" indent="-285750">
              <a:lnSpc>
                <a:spcPct val="90000"/>
              </a:lnSpc>
              <a:buSzPct val="80000"/>
              <a:buFont typeface="Georgia" panose="02040502050405020303" pitchFamily="18" charset="0"/>
              <a:buNone/>
            </a:pPr>
            <a:r>
              <a:rPr lang="en-US" altLang="zh-CN" sz="2700" dirty="0">
                <a:cs typeface="Times New Roman" panose="02020603050405020304" pitchFamily="18" charset="0"/>
              </a:rPr>
              <a:t>}</a:t>
            </a:r>
          </a:p>
          <a:p>
            <a:pPr marL="285750" lvl="1" indent="-285750" eaLnBrk="1" hangingPunct="1">
              <a:spcBef>
                <a:spcPct val="0"/>
              </a:spcBef>
              <a:buFont typeface="Georgia" panose="02040502050405020303" pitchFamily="18" charset="0"/>
              <a:buNone/>
            </a:pPr>
            <a:endParaRPr lang="en-US" altLang="zh-CN" sz="2000" dirty="0">
              <a:cs typeface="Times New Roman" panose="02020603050405020304" pitchFamily="18" charset="0"/>
            </a:endParaRPr>
          </a:p>
        </p:txBody>
      </p:sp>
      <p:sp>
        <p:nvSpPr>
          <p:cNvPr id="3" name="内容占位符 2"/>
          <p:cNvSpPr>
            <a:spLocks noGrp="1"/>
          </p:cNvSpPr>
          <p:nvPr>
            <p:ph sz="half" idx="4294967295"/>
          </p:nvPr>
        </p:nvSpPr>
        <p:spPr>
          <a:xfrm>
            <a:off x="6456040" y="1412776"/>
            <a:ext cx="5384800" cy="4525963"/>
          </a:xfrm>
          <a:prstGeom prst="rect">
            <a:avLst/>
          </a:prstGeom>
        </p:spPr>
        <p:txBody>
          <a:bodyPr>
            <a:normAutofit fontScale="92500" lnSpcReduction="10000"/>
          </a:bodyPr>
          <a:lstStyle/>
          <a:p>
            <a:pPr eaLnBrk="1" hangingPunct="1">
              <a:spcBef>
                <a:spcPct val="0"/>
              </a:spcBef>
              <a:buClrTx/>
              <a:buFont typeface="Wingdings" panose="05000000000000000000" pitchFamily="2" charset="2"/>
              <a:buNone/>
            </a:pPr>
            <a:r>
              <a:rPr lang="en-US" altLang="zh-CN" sz="2000" dirty="0"/>
              <a:t>public class Exam3_5_1Tester </a:t>
            </a:r>
          </a:p>
          <a:p>
            <a:pPr eaLnBrk="1" hangingPunct="1">
              <a:spcBef>
                <a:spcPct val="0"/>
              </a:spcBef>
              <a:buClrTx/>
              <a:buFont typeface="Wingdings" panose="05000000000000000000" pitchFamily="2" charset="2"/>
              <a:buNone/>
            </a:pPr>
            <a:r>
              <a:rPr lang="en-US" altLang="zh-CN" sz="2000" dirty="0"/>
              <a:t>{  public static void main(String[] </a:t>
            </a:r>
            <a:r>
              <a:rPr lang="en-US" altLang="zh-CN" sz="2000" dirty="0" err="1"/>
              <a:t>args</a:t>
            </a:r>
            <a:r>
              <a:rPr lang="en-US" altLang="zh-CN" sz="2000" dirty="0"/>
              <a:t>)</a:t>
            </a:r>
          </a:p>
          <a:p>
            <a:pPr eaLnBrk="1" hangingPunct="1">
              <a:spcBef>
                <a:spcPct val="0"/>
              </a:spcBef>
              <a:buClrTx/>
              <a:buFont typeface="Wingdings" panose="05000000000000000000" pitchFamily="2" charset="2"/>
              <a:buNone/>
            </a:pPr>
            <a:r>
              <a:rPr lang="en-US" altLang="zh-CN" sz="2000" dirty="0"/>
              <a:t>    {   A1 </a:t>
            </a:r>
            <a:r>
              <a:rPr lang="en-US" altLang="zh-CN" sz="2000" dirty="0" err="1"/>
              <a:t>a1</a:t>
            </a:r>
            <a:r>
              <a:rPr lang="en-US" altLang="zh-CN" sz="2000" dirty="0"/>
              <a:t> = new A1();  </a:t>
            </a:r>
          </a:p>
          <a:p>
            <a:pPr eaLnBrk="1" hangingPunct="1">
              <a:spcBef>
                <a:spcPct val="0"/>
              </a:spcBef>
              <a:buClrTx/>
              <a:buFont typeface="Wingdings" panose="05000000000000000000" pitchFamily="2" charset="2"/>
              <a:buNone/>
            </a:pPr>
            <a:r>
              <a:rPr lang="en-US" altLang="zh-CN" sz="2000" dirty="0"/>
              <a:t>         a1.set</a:t>
            </a:r>
            <a:r>
              <a:rPr lang="en-US" altLang="zh-CN" sz="2000" dirty="0">
                <a:solidFill>
                  <a:srgbClr val="FF0000"/>
                </a:solidFill>
              </a:rPr>
              <a:t>x</a:t>
            </a:r>
            <a:r>
              <a:rPr lang="en-US" altLang="zh-CN" sz="2000" dirty="0"/>
              <a:t>(4);   </a:t>
            </a:r>
          </a:p>
          <a:p>
            <a:pPr eaLnBrk="1" hangingPunct="1">
              <a:spcBef>
                <a:spcPct val="0"/>
              </a:spcBef>
              <a:buClrTx/>
              <a:buFont typeface="Wingdings" panose="05000000000000000000" pitchFamily="2" charset="2"/>
              <a:buNone/>
            </a:pPr>
            <a:r>
              <a:rPr lang="en-US" altLang="zh-CN" sz="2000" dirty="0"/>
              <a:t>         a1.printa();</a:t>
            </a:r>
          </a:p>
          <a:p>
            <a:pPr eaLnBrk="1" hangingPunct="1">
              <a:spcBef>
                <a:spcPct val="0"/>
              </a:spcBef>
              <a:buClrTx/>
              <a:buFont typeface="Wingdings" panose="05000000000000000000" pitchFamily="2" charset="2"/>
              <a:buNone/>
            </a:pPr>
            <a:endParaRPr lang="en-US" altLang="zh-CN" sz="2000" dirty="0"/>
          </a:p>
          <a:p>
            <a:pPr eaLnBrk="1" hangingPunct="1">
              <a:spcBef>
                <a:spcPct val="0"/>
              </a:spcBef>
              <a:buClrTx/>
              <a:buFont typeface="Wingdings" panose="05000000000000000000" pitchFamily="2" charset="2"/>
              <a:buNone/>
            </a:pPr>
            <a:r>
              <a:rPr lang="en-US" altLang="zh-CN" sz="2000" dirty="0"/>
              <a:t>         B1 </a:t>
            </a:r>
            <a:r>
              <a:rPr lang="en-US" altLang="zh-CN" sz="2000" dirty="0" err="1"/>
              <a:t>b1</a:t>
            </a:r>
            <a:r>
              <a:rPr lang="en-US" altLang="zh-CN" sz="2000" dirty="0"/>
              <a:t> = new B1();     </a:t>
            </a:r>
          </a:p>
          <a:p>
            <a:pPr eaLnBrk="1" hangingPunct="1">
              <a:spcBef>
                <a:spcPct val="0"/>
              </a:spcBef>
              <a:buClrTx/>
              <a:buFont typeface="Wingdings" panose="05000000000000000000" pitchFamily="2" charset="2"/>
              <a:buNone/>
            </a:pPr>
            <a:r>
              <a:rPr lang="en-US" altLang="zh-CN" sz="2000" dirty="0"/>
              <a:t>         b1.printb();     </a:t>
            </a:r>
          </a:p>
          <a:p>
            <a:pPr eaLnBrk="1" hangingPunct="1">
              <a:spcBef>
                <a:spcPct val="0"/>
              </a:spcBef>
              <a:buClrTx/>
              <a:buFont typeface="Wingdings" panose="05000000000000000000" pitchFamily="2" charset="2"/>
              <a:buNone/>
            </a:pPr>
            <a:r>
              <a:rPr lang="en-US" altLang="zh-CN" sz="2000" dirty="0"/>
              <a:t>         b1.printa();  </a:t>
            </a:r>
          </a:p>
          <a:p>
            <a:pPr eaLnBrk="1" hangingPunct="1">
              <a:spcBef>
                <a:spcPct val="0"/>
              </a:spcBef>
              <a:buClrTx/>
              <a:buFont typeface="Wingdings" panose="05000000000000000000" pitchFamily="2" charset="2"/>
              <a:buNone/>
            </a:pPr>
            <a:r>
              <a:rPr lang="en-US" altLang="zh-CN" sz="2000" dirty="0"/>
              <a:t>  </a:t>
            </a:r>
          </a:p>
          <a:p>
            <a:pPr eaLnBrk="1" hangingPunct="1">
              <a:spcBef>
                <a:spcPct val="0"/>
              </a:spcBef>
              <a:buClrTx/>
              <a:buFont typeface="Wingdings" panose="05000000000000000000" pitchFamily="2" charset="2"/>
              <a:buNone/>
            </a:pPr>
            <a:r>
              <a:rPr lang="en-US" altLang="zh-CN" sz="2000" dirty="0"/>
              <a:t>         b1.setx(6);  // </a:t>
            </a:r>
            <a:r>
              <a:rPr lang="zh-CN" altLang="en-US" sz="2000" dirty="0"/>
              <a:t>将继承</a:t>
            </a:r>
            <a:r>
              <a:rPr lang="en-US" altLang="zh-CN" sz="2000" dirty="0"/>
              <a:t>x</a:t>
            </a:r>
            <a:r>
              <a:rPr lang="zh-CN" altLang="en-US" sz="2000" dirty="0"/>
              <a:t>值设置为6</a:t>
            </a:r>
          </a:p>
          <a:p>
            <a:pPr eaLnBrk="1" hangingPunct="1">
              <a:spcBef>
                <a:spcPct val="0"/>
              </a:spcBef>
              <a:buClrTx/>
              <a:buFont typeface="Wingdings" panose="05000000000000000000" pitchFamily="2" charset="2"/>
              <a:buNone/>
            </a:pPr>
            <a:r>
              <a:rPr lang="zh-CN" altLang="en-US" sz="2000" dirty="0"/>
              <a:t>         </a:t>
            </a:r>
            <a:r>
              <a:rPr lang="en-US" altLang="zh-CN" sz="2000" dirty="0"/>
              <a:t>b1.printb();     </a:t>
            </a:r>
          </a:p>
          <a:p>
            <a:pPr eaLnBrk="1" hangingPunct="1">
              <a:spcBef>
                <a:spcPct val="0"/>
              </a:spcBef>
              <a:buClrTx/>
              <a:buFont typeface="Wingdings" panose="05000000000000000000" pitchFamily="2" charset="2"/>
              <a:buNone/>
            </a:pPr>
            <a:r>
              <a:rPr lang="en-US" altLang="zh-CN" sz="2000" dirty="0"/>
              <a:t>         b1.printa();</a:t>
            </a:r>
          </a:p>
          <a:p>
            <a:pPr eaLnBrk="1" hangingPunct="1">
              <a:spcBef>
                <a:spcPct val="0"/>
              </a:spcBef>
              <a:buClrTx/>
              <a:buFont typeface="Wingdings" panose="05000000000000000000" pitchFamily="2" charset="2"/>
              <a:buNone/>
            </a:pPr>
            <a:r>
              <a:rPr lang="en-US" altLang="zh-CN" sz="2000" dirty="0"/>
              <a:t>         a1.printa();</a:t>
            </a:r>
          </a:p>
          <a:p>
            <a:pPr eaLnBrk="1" hangingPunct="1">
              <a:spcBef>
                <a:spcPct val="0"/>
              </a:spcBef>
              <a:buClrTx/>
              <a:buFont typeface="Wingdings" panose="05000000000000000000" pitchFamily="2" charset="2"/>
              <a:buNone/>
            </a:pPr>
            <a:r>
              <a:rPr lang="en-US" altLang="zh-CN" sz="2000" dirty="0"/>
              <a:t>    }  </a:t>
            </a:r>
          </a:p>
          <a:p>
            <a:pPr eaLnBrk="1" hangingPunct="1">
              <a:spcBef>
                <a:spcPct val="0"/>
              </a:spcBef>
              <a:buClrTx/>
              <a:buFont typeface="Wingdings" panose="05000000000000000000" pitchFamily="2" charset="2"/>
              <a:buNone/>
            </a:pPr>
            <a:r>
              <a:rPr lang="en-US" altLang="zh-CN" sz="2000" dirty="0"/>
              <a:t>}</a:t>
            </a:r>
          </a:p>
          <a:p>
            <a:endParaRPr lang="zh-CN" altLang="en-US" sz="2000" dirty="0"/>
          </a:p>
        </p:txBody>
      </p:sp>
      <p:sp>
        <p:nvSpPr>
          <p:cNvPr id="41991" name="TextBox 6"/>
          <p:cNvSpPr txBox="1">
            <a:spLocks noChangeArrowheads="1"/>
          </p:cNvSpPr>
          <p:nvPr/>
        </p:nvSpPr>
        <p:spPr bwMode="auto">
          <a:xfrm>
            <a:off x="9768408" y="5198449"/>
            <a:ext cx="2303462" cy="164352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63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0"/>
              </a:spcBef>
              <a:buClrTx/>
              <a:buFontTx/>
              <a:buNone/>
            </a:pPr>
            <a:r>
              <a:rPr lang="zh-CN" altLang="en-US" sz="1600">
                <a:solidFill>
                  <a:srgbClr val="FFFF00"/>
                </a:solidFill>
                <a:latin typeface="微软雅黑" panose="020B0503020204020204" pitchFamily="34" charset="-122"/>
                <a:ea typeface="微软雅黑" panose="020B0503020204020204" pitchFamily="34" charset="-122"/>
              </a:rPr>
              <a:t>运行结果：</a:t>
            </a:r>
          </a:p>
          <a:p>
            <a:pPr lvl="1" eaLnBrk="1" hangingPunct="1">
              <a:lnSpc>
                <a:spcPct val="90000"/>
              </a:lnSpc>
              <a:spcBef>
                <a:spcPct val="0"/>
              </a:spcBef>
              <a:buClrTx/>
              <a:buFontTx/>
              <a:buNone/>
            </a:pPr>
            <a:r>
              <a:rPr lang="zh-CN" altLang="en-US" sz="1600">
                <a:solidFill>
                  <a:schemeClr val="bg1"/>
                </a:solidFill>
                <a:latin typeface="微软雅黑" panose="020B0503020204020204" pitchFamily="34" charset="-122"/>
                <a:ea typeface="微软雅黑" panose="020B0503020204020204" pitchFamily="34" charset="-122"/>
              </a:rPr>
              <a:t>4</a:t>
            </a:r>
          </a:p>
          <a:p>
            <a:pPr lvl="1" eaLnBrk="1" hangingPunct="1">
              <a:lnSpc>
                <a:spcPct val="90000"/>
              </a:lnSpc>
              <a:spcBef>
                <a:spcPct val="0"/>
              </a:spcBef>
              <a:buClrTx/>
              <a:buFontTx/>
              <a:buNone/>
            </a:pPr>
            <a:r>
              <a:rPr lang="en-US" altLang="zh-CN" sz="1600">
                <a:solidFill>
                  <a:srgbClr val="FF0000"/>
                </a:solidFill>
                <a:latin typeface="微软雅黑" panose="020B0503020204020204" pitchFamily="34" charset="-122"/>
                <a:ea typeface="微软雅黑" panose="020B0503020204020204" pitchFamily="34" charset="-122"/>
              </a:rPr>
              <a:t>super.x</a:t>
            </a:r>
            <a:r>
              <a:rPr lang="en-US" altLang="zh-CN" sz="1600">
                <a:solidFill>
                  <a:srgbClr val="FFFF00"/>
                </a:solidFill>
                <a:latin typeface="微软雅黑" panose="020B0503020204020204" pitchFamily="34" charset="-122"/>
                <a:ea typeface="微软雅黑" panose="020B0503020204020204" pitchFamily="34" charset="-122"/>
              </a:rPr>
              <a:t>= 12  x= 100</a:t>
            </a:r>
          </a:p>
          <a:p>
            <a:pPr lvl="1" eaLnBrk="1" hangingPunct="1">
              <a:lnSpc>
                <a:spcPct val="90000"/>
              </a:lnSpc>
              <a:spcBef>
                <a:spcPct val="0"/>
              </a:spcBef>
              <a:buClrTx/>
              <a:buFontTx/>
              <a:buNone/>
            </a:pPr>
            <a:r>
              <a:rPr lang="en-US" altLang="zh-CN" sz="1600">
                <a:solidFill>
                  <a:srgbClr val="FF0000"/>
                </a:solidFill>
                <a:latin typeface="微软雅黑" panose="020B0503020204020204" pitchFamily="34" charset="-122"/>
                <a:ea typeface="微软雅黑" panose="020B0503020204020204" pitchFamily="34" charset="-122"/>
              </a:rPr>
              <a:t>12</a:t>
            </a:r>
          </a:p>
          <a:p>
            <a:pPr lvl="1" eaLnBrk="1" hangingPunct="1">
              <a:lnSpc>
                <a:spcPct val="90000"/>
              </a:lnSpc>
              <a:spcBef>
                <a:spcPct val="0"/>
              </a:spcBef>
              <a:buClrTx/>
              <a:buFontTx/>
              <a:buNone/>
            </a:pPr>
            <a:r>
              <a:rPr lang="en-US" altLang="zh-CN" sz="1600">
                <a:solidFill>
                  <a:srgbClr val="FF0000"/>
                </a:solidFill>
                <a:latin typeface="微软雅黑" panose="020B0503020204020204" pitchFamily="34" charset="-122"/>
                <a:ea typeface="微软雅黑" panose="020B0503020204020204" pitchFamily="34" charset="-122"/>
              </a:rPr>
              <a:t>super.x</a:t>
            </a:r>
            <a:r>
              <a:rPr lang="en-US" altLang="zh-CN" sz="1600">
                <a:solidFill>
                  <a:srgbClr val="FFFF00"/>
                </a:solidFill>
                <a:latin typeface="微软雅黑" panose="020B0503020204020204" pitchFamily="34" charset="-122"/>
                <a:ea typeface="微软雅黑" panose="020B0503020204020204" pitchFamily="34" charset="-122"/>
              </a:rPr>
              <a:t>= 16  x= 100</a:t>
            </a:r>
          </a:p>
          <a:p>
            <a:pPr lvl="1" eaLnBrk="1" hangingPunct="1">
              <a:lnSpc>
                <a:spcPct val="90000"/>
              </a:lnSpc>
              <a:spcBef>
                <a:spcPct val="0"/>
              </a:spcBef>
              <a:buClrTx/>
              <a:buFontTx/>
              <a:buNone/>
            </a:pPr>
            <a:r>
              <a:rPr lang="en-US" altLang="zh-CN" sz="1600">
                <a:solidFill>
                  <a:srgbClr val="FF0000"/>
                </a:solidFill>
                <a:latin typeface="微软雅黑" panose="020B0503020204020204" pitchFamily="34" charset="-122"/>
                <a:ea typeface="微软雅黑" panose="020B0503020204020204" pitchFamily="34" charset="-122"/>
              </a:rPr>
              <a:t>16</a:t>
            </a:r>
          </a:p>
          <a:p>
            <a:pPr lvl="1" eaLnBrk="1" hangingPunct="1">
              <a:lnSpc>
                <a:spcPct val="90000"/>
              </a:lnSpc>
              <a:spcBef>
                <a:spcPct val="0"/>
              </a:spcBef>
              <a:buClrTx/>
              <a:buFontTx/>
              <a:buNone/>
            </a:pPr>
            <a:r>
              <a:rPr lang="en-US" altLang="zh-CN" sz="1600">
                <a:solidFill>
                  <a:schemeClr val="bg1"/>
                </a:solidFill>
                <a:latin typeface="微软雅黑" panose="020B0503020204020204" pitchFamily="34" charset="-122"/>
                <a:ea typeface="微软雅黑" panose="020B0503020204020204" pitchFamily="34" charset="-122"/>
              </a:rPr>
              <a:t>4</a:t>
            </a:r>
            <a:endParaRPr lang="zh-CN" altLang="en-US" sz="1600">
              <a:solidFill>
                <a:schemeClr val="bg1"/>
              </a:solidFill>
              <a:latin typeface="微软雅黑" panose="020B0503020204020204" pitchFamily="34" charset="-122"/>
              <a:ea typeface="微软雅黑" panose="020B0503020204020204" pitchFamily="34" charset="-122"/>
            </a:endParaRPr>
          </a:p>
        </p:txBody>
      </p:sp>
      <p:cxnSp>
        <p:nvCxnSpPr>
          <p:cNvPr id="7" name="直接连接符 6">
            <a:extLst>
              <a:ext uri="{FF2B5EF4-FFF2-40B4-BE49-F238E27FC236}">
                <a16:creationId xmlns:a16="http://schemas.microsoft.com/office/drawing/2014/main" id="{1487EB4A-7457-887F-E153-CFD5F1C1D2BE}"/>
              </a:ext>
            </a:extLst>
          </p:cNvPr>
          <p:cNvCxnSpPr/>
          <p:nvPr/>
        </p:nvCxnSpPr>
        <p:spPr bwMode="auto">
          <a:xfrm>
            <a:off x="6369174" y="1196752"/>
            <a:ext cx="0" cy="5184576"/>
          </a:xfrm>
          <a:prstGeom prst="line">
            <a:avLst/>
          </a:prstGeom>
          <a:solidFill>
            <a:schemeClr val="accent1"/>
          </a:solidFill>
          <a:ln w="9525" cap="flat" cmpd="sng" algn="ctr">
            <a:solidFill>
              <a:schemeClr val="tx1"/>
            </a:solidFill>
            <a:prstDash val="lg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文本框 7">
            <a:extLst>
              <a:ext uri="{FF2B5EF4-FFF2-40B4-BE49-F238E27FC236}">
                <a16:creationId xmlns:a16="http://schemas.microsoft.com/office/drawing/2014/main" id="{226D9FDC-AFEF-763F-0336-59F6BFBEBBFA}"/>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9" name="TextBox 3">
            <a:extLst>
              <a:ext uri="{FF2B5EF4-FFF2-40B4-BE49-F238E27FC236}">
                <a16:creationId xmlns:a16="http://schemas.microsoft.com/office/drawing/2014/main" id="{53BD212D-B307-8D46-6117-CBF9AA6D81A8}"/>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4294967295"/>
          </p:nvPr>
        </p:nvSpPr>
        <p:spPr>
          <a:xfrm>
            <a:off x="321568" y="1621005"/>
            <a:ext cx="6278488" cy="4856873"/>
          </a:xfrm>
          <a:prstGeom prst="rect">
            <a:avLst/>
          </a:prstGeom>
        </p:spPr>
        <p:txBody>
          <a:bodyPr lIns="92075" tIns="46038" rIns="92075" bIns="46038">
            <a:normAutofit fontScale="92500" lnSpcReduction="10000"/>
          </a:bodyPr>
          <a:lstStyle/>
          <a:p>
            <a:pPr marL="285750" lvl="1" indent="-285750">
              <a:buFont typeface="Georgia" panose="02040502050405020303" pitchFamily="18" charset="0"/>
              <a:buNone/>
            </a:pPr>
            <a:r>
              <a:rPr kumimoji="1" lang="en-US" altLang="zh-CN" sz="2000" dirty="0">
                <a:solidFill>
                  <a:schemeClr val="tx1"/>
                </a:solidFill>
              </a:rPr>
              <a:t>class A2 {</a:t>
            </a:r>
          </a:p>
          <a:p>
            <a:pPr marL="285750" lvl="1" indent="-285750">
              <a:buFont typeface="Georgia" panose="02040502050405020303" pitchFamily="18" charset="0"/>
              <a:buNone/>
            </a:pPr>
            <a:r>
              <a:rPr kumimoji="1" lang="en-US" altLang="zh-CN" sz="2000" dirty="0">
                <a:solidFill>
                  <a:srgbClr val="FF0000"/>
                </a:solidFill>
              </a:rPr>
              <a:t>    static </a:t>
            </a:r>
            <a:r>
              <a:rPr kumimoji="1" lang="en-US" altLang="zh-CN" sz="2000" dirty="0">
                <a:solidFill>
                  <a:schemeClr val="tx1"/>
                </a:solidFill>
              </a:rPr>
              <a:t>int </a:t>
            </a:r>
            <a:r>
              <a:rPr kumimoji="1" lang="en-US" altLang="zh-CN" sz="2000" dirty="0">
                <a:solidFill>
                  <a:srgbClr val="FF0000"/>
                </a:solidFill>
              </a:rPr>
              <a:t>x</a:t>
            </a:r>
            <a:r>
              <a:rPr kumimoji="1" lang="en-US" altLang="zh-CN" sz="2000" dirty="0">
                <a:solidFill>
                  <a:schemeClr val="tx1"/>
                </a:solidFill>
              </a:rPr>
              <a:t> = 2;</a:t>
            </a:r>
          </a:p>
          <a:p>
            <a:pPr marL="285750" lvl="1" indent="-285750">
              <a:buFont typeface="Georgia" panose="02040502050405020303" pitchFamily="18" charset="0"/>
              <a:buNone/>
            </a:pPr>
            <a:r>
              <a:rPr kumimoji="1" lang="en-US" altLang="zh-CN" sz="2000" dirty="0">
                <a:solidFill>
                  <a:schemeClr val="tx1"/>
                </a:solidFill>
              </a:rPr>
              <a:t>    public void </a:t>
            </a:r>
            <a:r>
              <a:rPr kumimoji="1" lang="en-US" altLang="zh-CN" sz="2000" dirty="0" err="1">
                <a:solidFill>
                  <a:schemeClr val="tx1"/>
                </a:solidFill>
              </a:rPr>
              <a:t>setx</a:t>
            </a:r>
            <a:r>
              <a:rPr kumimoji="1" lang="en-US" altLang="zh-CN" sz="2000" dirty="0">
                <a:solidFill>
                  <a:schemeClr val="tx1"/>
                </a:solidFill>
              </a:rPr>
              <a:t>(int </a:t>
            </a:r>
            <a:r>
              <a:rPr kumimoji="1" lang="en-US" altLang="zh-CN" sz="2000" dirty="0" err="1">
                <a:solidFill>
                  <a:schemeClr val="tx1"/>
                </a:solidFill>
              </a:rPr>
              <a:t>i</a:t>
            </a:r>
            <a:r>
              <a:rPr kumimoji="1" lang="en-US" altLang="zh-CN" sz="2000" dirty="0">
                <a:solidFill>
                  <a:schemeClr val="tx1"/>
                </a:solidFill>
              </a:rPr>
              <a:t>) {x = </a:t>
            </a:r>
            <a:r>
              <a:rPr kumimoji="1" lang="en-US" altLang="zh-CN" sz="2000" dirty="0" err="1">
                <a:solidFill>
                  <a:schemeClr val="tx1"/>
                </a:solidFill>
              </a:rPr>
              <a:t>i</a:t>
            </a:r>
            <a:r>
              <a:rPr kumimoji="1" lang="en-US" altLang="zh-CN" sz="2000" dirty="0">
                <a:solidFill>
                  <a:schemeClr val="tx1"/>
                </a:solidFill>
              </a:rPr>
              <a:t>;}</a:t>
            </a:r>
          </a:p>
          <a:p>
            <a:pPr marL="285750" lvl="1" indent="-285750">
              <a:buFont typeface="Georgia" panose="02040502050405020303" pitchFamily="18" charset="0"/>
              <a:buNone/>
            </a:pPr>
            <a:r>
              <a:rPr kumimoji="1" lang="en-US" altLang="zh-CN" sz="2000" dirty="0">
                <a:solidFill>
                  <a:schemeClr val="tx1"/>
                </a:solidFill>
              </a:rPr>
              <a:t>    void </a:t>
            </a:r>
            <a:r>
              <a:rPr kumimoji="1" lang="en-US" altLang="zh-CN" sz="2000" dirty="0" err="1">
                <a:solidFill>
                  <a:schemeClr val="tx1"/>
                </a:solidFill>
              </a:rPr>
              <a:t>printa</a:t>
            </a:r>
            <a:r>
              <a:rPr kumimoji="1" lang="en-US" altLang="zh-CN" sz="2000" dirty="0">
                <a:solidFill>
                  <a:schemeClr val="tx1"/>
                </a:solidFill>
              </a:rPr>
              <a:t>() {</a:t>
            </a:r>
          </a:p>
          <a:p>
            <a:pPr marL="285750" lvl="1" indent="-285750">
              <a:buFont typeface="Georgia" panose="02040502050405020303" pitchFamily="18" charset="0"/>
              <a:buNone/>
            </a:pPr>
            <a:r>
              <a:rPr kumimoji="1" lang="en-US" altLang="zh-CN" sz="2000" dirty="0">
                <a:solidFill>
                  <a:schemeClr val="tx1"/>
                </a:solidFill>
              </a:rPr>
              <a:t>        </a:t>
            </a:r>
            <a:r>
              <a:rPr kumimoji="1" lang="en-US" altLang="zh-CN" sz="2000" dirty="0" err="1">
                <a:solidFill>
                  <a:schemeClr val="tx1"/>
                </a:solidFill>
              </a:rPr>
              <a:t>System.out.println</a:t>
            </a:r>
            <a:r>
              <a:rPr kumimoji="1" lang="en-US" altLang="zh-CN" sz="2000" dirty="0">
                <a:solidFill>
                  <a:schemeClr val="tx1"/>
                </a:solidFill>
              </a:rPr>
              <a:t>(</a:t>
            </a:r>
            <a:r>
              <a:rPr kumimoji="1" lang="en-US" altLang="zh-CN" sz="2000" dirty="0">
                <a:solidFill>
                  <a:srgbClr val="FF0000"/>
                </a:solidFill>
              </a:rPr>
              <a:t>x</a:t>
            </a:r>
            <a:r>
              <a:rPr kumimoji="1" lang="en-US" altLang="zh-CN" sz="2000" dirty="0">
                <a:solidFill>
                  <a:schemeClr val="tx1"/>
                </a:solidFill>
              </a:rPr>
              <a:t>);</a:t>
            </a:r>
          </a:p>
          <a:p>
            <a:pPr marL="285750" lvl="1" indent="-285750">
              <a:buFont typeface="Georgia" panose="02040502050405020303" pitchFamily="18" charset="0"/>
              <a:buNone/>
            </a:pPr>
            <a:r>
              <a:rPr kumimoji="1" lang="en-US" altLang="zh-CN" sz="2000" dirty="0">
                <a:solidFill>
                  <a:schemeClr val="tx1"/>
                </a:solidFill>
              </a:rPr>
              <a:t>    }</a:t>
            </a:r>
          </a:p>
          <a:p>
            <a:pPr marL="285750" lvl="1" indent="-285750">
              <a:buFont typeface="Georgia" panose="02040502050405020303" pitchFamily="18" charset="0"/>
              <a:buNone/>
            </a:pPr>
            <a:r>
              <a:rPr kumimoji="1" lang="en-US" altLang="zh-CN" sz="2000" dirty="0">
                <a:solidFill>
                  <a:schemeClr val="tx1"/>
                </a:solidFill>
              </a:rPr>
              <a:t>}</a:t>
            </a:r>
          </a:p>
          <a:p>
            <a:pPr marL="285750" lvl="1" indent="-285750">
              <a:buFont typeface="Georgia" panose="02040502050405020303" pitchFamily="18" charset="0"/>
              <a:buNone/>
            </a:pPr>
            <a:r>
              <a:rPr kumimoji="1" lang="en-US" altLang="zh-CN" sz="2000" dirty="0">
                <a:solidFill>
                  <a:schemeClr val="tx1"/>
                </a:solidFill>
              </a:rPr>
              <a:t>class B2 extends A2 {</a:t>
            </a:r>
          </a:p>
          <a:p>
            <a:pPr marL="285750" lvl="1" indent="-285750">
              <a:buFont typeface="Georgia" panose="02040502050405020303" pitchFamily="18" charset="0"/>
              <a:buNone/>
            </a:pPr>
            <a:r>
              <a:rPr kumimoji="1" lang="en-US" altLang="zh-CN" sz="2000" dirty="0">
                <a:solidFill>
                  <a:schemeClr val="tx1"/>
                </a:solidFill>
              </a:rPr>
              <a:t>    int x = 100;</a:t>
            </a:r>
          </a:p>
          <a:p>
            <a:pPr marL="285750" lvl="1" indent="-285750">
              <a:buFont typeface="Georgia" panose="02040502050405020303" pitchFamily="18" charset="0"/>
              <a:buNone/>
            </a:pPr>
            <a:r>
              <a:rPr kumimoji="1" lang="en-US" altLang="zh-CN" sz="2000" dirty="0">
                <a:solidFill>
                  <a:schemeClr val="tx1"/>
                </a:solidFill>
              </a:rPr>
              <a:t>    void </a:t>
            </a:r>
            <a:r>
              <a:rPr kumimoji="1" lang="en-US" altLang="zh-CN" sz="2000" dirty="0" err="1">
                <a:solidFill>
                  <a:schemeClr val="tx1"/>
                </a:solidFill>
              </a:rPr>
              <a:t>printb</a:t>
            </a:r>
            <a:r>
              <a:rPr kumimoji="1" lang="en-US" altLang="zh-CN" sz="2000" dirty="0">
                <a:solidFill>
                  <a:schemeClr val="tx1"/>
                </a:solidFill>
              </a:rPr>
              <a:t>() {</a:t>
            </a:r>
          </a:p>
          <a:p>
            <a:pPr marL="285750" lvl="1" indent="-285750">
              <a:buFont typeface="Georgia" panose="02040502050405020303" pitchFamily="18" charset="0"/>
              <a:buNone/>
            </a:pPr>
            <a:r>
              <a:rPr kumimoji="1" lang="en-US" altLang="zh-CN" sz="2000" dirty="0">
                <a:solidFill>
                  <a:schemeClr val="tx1"/>
                </a:solidFill>
              </a:rPr>
              <a:t>        </a:t>
            </a:r>
            <a:r>
              <a:rPr kumimoji="1" lang="en-US" altLang="zh-CN" sz="2000" dirty="0" err="1">
                <a:solidFill>
                  <a:srgbClr val="FF0000"/>
                </a:solidFill>
              </a:rPr>
              <a:t>super.x</a:t>
            </a:r>
            <a:r>
              <a:rPr kumimoji="1" lang="en-US" altLang="zh-CN" sz="2000" dirty="0">
                <a:solidFill>
                  <a:schemeClr val="tx1"/>
                </a:solidFill>
              </a:rPr>
              <a:t> = </a:t>
            </a:r>
            <a:r>
              <a:rPr kumimoji="1" lang="en-US" altLang="zh-CN" sz="2000" dirty="0" err="1">
                <a:solidFill>
                  <a:srgbClr val="FF0000"/>
                </a:solidFill>
              </a:rPr>
              <a:t>super.x</a:t>
            </a:r>
            <a:r>
              <a:rPr kumimoji="1" lang="en-US" altLang="zh-CN" sz="2000" dirty="0">
                <a:solidFill>
                  <a:schemeClr val="tx1"/>
                </a:solidFill>
              </a:rPr>
              <a:t> + 10;</a:t>
            </a:r>
          </a:p>
          <a:p>
            <a:pPr marL="285750" lvl="1" indent="-285750">
              <a:buFont typeface="Georgia" panose="02040502050405020303" pitchFamily="18" charset="0"/>
              <a:buNone/>
            </a:pPr>
            <a:r>
              <a:rPr kumimoji="1" lang="en-US" altLang="zh-CN" sz="2000" dirty="0">
                <a:solidFill>
                  <a:schemeClr val="tx1"/>
                </a:solidFill>
              </a:rPr>
              <a:t>        </a:t>
            </a:r>
            <a:r>
              <a:rPr kumimoji="1" lang="en-US" altLang="zh-CN" sz="2000" dirty="0" err="1">
                <a:solidFill>
                  <a:schemeClr val="tx1"/>
                </a:solidFill>
              </a:rPr>
              <a:t>System.out.println</a:t>
            </a:r>
            <a:r>
              <a:rPr kumimoji="1" lang="en-US" altLang="zh-CN" sz="2000" dirty="0">
                <a:solidFill>
                  <a:schemeClr val="tx1"/>
                </a:solidFill>
              </a:rPr>
              <a:t>("</a:t>
            </a:r>
            <a:r>
              <a:rPr kumimoji="1" lang="en-US" altLang="zh-CN" sz="2000" dirty="0" err="1">
                <a:solidFill>
                  <a:schemeClr val="tx1"/>
                </a:solidFill>
              </a:rPr>
              <a:t>super.x</a:t>
            </a:r>
            <a:r>
              <a:rPr kumimoji="1" lang="en-US" altLang="zh-CN" sz="2000" dirty="0">
                <a:solidFill>
                  <a:schemeClr val="tx1"/>
                </a:solidFill>
              </a:rPr>
              <a:t>= " + </a:t>
            </a:r>
            <a:r>
              <a:rPr kumimoji="1" lang="en-US" altLang="zh-CN" sz="2000" dirty="0" err="1">
                <a:solidFill>
                  <a:srgbClr val="FF0000"/>
                </a:solidFill>
              </a:rPr>
              <a:t>super.x</a:t>
            </a:r>
            <a:r>
              <a:rPr kumimoji="1" lang="en-US" altLang="zh-CN" sz="2000" dirty="0">
                <a:solidFill>
                  <a:schemeClr val="tx1"/>
                </a:solidFill>
              </a:rPr>
              <a:t> + "  x= " + x);</a:t>
            </a:r>
          </a:p>
          <a:p>
            <a:pPr marL="285750" lvl="1" indent="-285750">
              <a:buFont typeface="Georgia" panose="02040502050405020303" pitchFamily="18" charset="0"/>
              <a:buNone/>
            </a:pPr>
            <a:r>
              <a:rPr kumimoji="1" lang="en-US" altLang="zh-CN" sz="2000" dirty="0">
                <a:solidFill>
                  <a:schemeClr val="tx1"/>
                </a:solidFill>
              </a:rPr>
              <a:t>    }</a:t>
            </a:r>
          </a:p>
          <a:p>
            <a:pPr marL="285750" lvl="1" indent="-285750">
              <a:buFont typeface="Georgia" panose="02040502050405020303" pitchFamily="18" charset="0"/>
              <a:buNone/>
            </a:pPr>
            <a:r>
              <a:rPr kumimoji="1" lang="en-US" altLang="zh-CN" sz="2000" dirty="0">
                <a:solidFill>
                  <a:schemeClr val="tx1"/>
                </a:solidFill>
              </a:rPr>
              <a:t>}</a:t>
            </a:r>
          </a:p>
        </p:txBody>
      </p:sp>
      <p:sp>
        <p:nvSpPr>
          <p:cNvPr id="46084" name="Text Box 5"/>
          <p:cNvSpPr txBox="1">
            <a:spLocks noChangeArrowheads="1"/>
          </p:cNvSpPr>
          <p:nvPr/>
        </p:nvSpPr>
        <p:spPr bwMode="auto">
          <a:xfrm>
            <a:off x="6744072" y="1268760"/>
            <a:ext cx="4947984" cy="5209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buClrTx/>
              <a:buFontTx/>
              <a:buNone/>
            </a:pPr>
            <a:r>
              <a:rPr lang="en-US" altLang="zh-CN" sz="2000" dirty="0">
                <a:latin typeface="微软雅黑" panose="020B0503020204020204" pitchFamily="34" charset="-122"/>
                <a:ea typeface="微软雅黑" panose="020B0503020204020204" pitchFamily="34" charset="-122"/>
              </a:rPr>
              <a:t>public class Exam3_5_2Tester {</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public static void main(String[] </a:t>
            </a:r>
            <a:r>
              <a:rPr lang="en-US" altLang="zh-CN" sz="2000" dirty="0" err="1">
                <a:latin typeface="微软雅黑" panose="020B0503020204020204" pitchFamily="34" charset="-122"/>
                <a:ea typeface="微软雅黑" panose="020B0503020204020204" pitchFamily="34" charset="-122"/>
              </a:rPr>
              <a:t>args</a:t>
            </a:r>
            <a:r>
              <a:rPr lang="en-US" altLang="zh-CN" sz="2000" dirty="0">
                <a:latin typeface="微软雅黑" panose="020B0503020204020204" pitchFamily="34" charset="-122"/>
                <a:ea typeface="微软雅黑" panose="020B0503020204020204" pitchFamily="34" charset="-122"/>
              </a:rPr>
              <a:t>) {</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A2 </a:t>
            </a:r>
            <a:r>
              <a:rPr lang="en-US" altLang="zh-CN" sz="2000" dirty="0" err="1">
                <a:latin typeface="微软雅黑" panose="020B0503020204020204" pitchFamily="34" charset="-122"/>
                <a:ea typeface="微软雅黑" panose="020B0503020204020204" pitchFamily="34" charset="-122"/>
              </a:rPr>
              <a:t>a2</a:t>
            </a:r>
            <a:r>
              <a:rPr lang="en-US" altLang="zh-CN" sz="2000" dirty="0">
                <a:latin typeface="微软雅黑" panose="020B0503020204020204" pitchFamily="34" charset="-122"/>
                <a:ea typeface="微软雅黑" panose="020B0503020204020204" pitchFamily="34" charset="-122"/>
              </a:rPr>
              <a:t> = new A2();</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a2.set</a:t>
            </a:r>
            <a:r>
              <a:rPr lang="en-US" altLang="zh-CN" sz="2000" dirty="0">
                <a:solidFill>
                  <a:srgbClr val="FF0000"/>
                </a:solidFill>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(4);</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a2.printa();</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B2 </a:t>
            </a:r>
            <a:r>
              <a:rPr lang="en-US" altLang="zh-CN" sz="2000" dirty="0" err="1">
                <a:latin typeface="微软雅黑" panose="020B0503020204020204" pitchFamily="34" charset="-122"/>
                <a:ea typeface="微软雅黑" panose="020B0503020204020204" pitchFamily="34" charset="-122"/>
              </a:rPr>
              <a:t>b2</a:t>
            </a:r>
            <a:r>
              <a:rPr lang="en-US" altLang="zh-CN" sz="2000" dirty="0">
                <a:latin typeface="微软雅黑" panose="020B0503020204020204" pitchFamily="34" charset="-122"/>
                <a:ea typeface="微软雅黑" panose="020B0503020204020204" pitchFamily="34" charset="-122"/>
              </a:rPr>
              <a:t> = new B2();</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b2.printb();</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b2.printa();</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b2.set</a:t>
            </a:r>
            <a:r>
              <a:rPr lang="en-US" altLang="zh-CN" sz="2000" dirty="0">
                <a:solidFill>
                  <a:srgbClr val="FF0000"/>
                </a:solidFill>
                <a:latin typeface="微软雅黑" panose="020B0503020204020204" pitchFamily="34" charset="-122"/>
                <a:ea typeface="微软雅黑" panose="020B0503020204020204" pitchFamily="34" charset="-122"/>
              </a:rPr>
              <a:t>x</a:t>
            </a:r>
            <a:r>
              <a:rPr lang="en-US" altLang="zh-CN" sz="2000" dirty="0">
                <a:latin typeface="微软雅黑" panose="020B0503020204020204" pitchFamily="34" charset="-122"/>
                <a:ea typeface="微软雅黑" panose="020B0503020204020204" pitchFamily="34" charset="-122"/>
              </a:rPr>
              <a:t>(6);  </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b2.printb();</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b2.printa();</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a2.printa();</a:t>
            </a:r>
          </a:p>
          <a:p>
            <a:pPr eaLnBrk="1" hangingPunct="1">
              <a:buClrTx/>
              <a:buFontTx/>
              <a:buNone/>
            </a:pPr>
            <a:r>
              <a:rPr lang="en-US" altLang="zh-CN" sz="2000" dirty="0">
                <a:latin typeface="微软雅黑" panose="020B0503020204020204" pitchFamily="34" charset="-122"/>
                <a:ea typeface="微软雅黑" panose="020B0503020204020204" pitchFamily="34" charset="-122"/>
              </a:rPr>
              <a:t>    }</a:t>
            </a:r>
          </a:p>
          <a:p>
            <a:pPr eaLnBrk="1" hangingPunct="1">
              <a:buClrTx/>
              <a:buFontTx/>
              <a:buNone/>
            </a:pPr>
            <a:r>
              <a:rPr lang="en-US" altLang="zh-CN" sz="2000" dirty="0">
                <a:latin typeface="微软雅黑" panose="020B0503020204020204" pitchFamily="34" charset="-122"/>
                <a:ea typeface="微软雅黑" panose="020B0503020204020204" pitchFamily="34" charset="-122"/>
              </a:rPr>
              <a:t>}</a:t>
            </a:r>
          </a:p>
        </p:txBody>
      </p:sp>
      <p:sp>
        <p:nvSpPr>
          <p:cNvPr id="46087" name="TextBox 6"/>
          <p:cNvSpPr txBox="1">
            <a:spLocks noChangeArrowheads="1"/>
          </p:cNvSpPr>
          <p:nvPr/>
        </p:nvSpPr>
        <p:spPr bwMode="auto">
          <a:xfrm>
            <a:off x="9480376" y="4947368"/>
            <a:ext cx="2519486" cy="183742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spcBef>
                <a:spcPct val="0"/>
              </a:spcBef>
              <a:buClrTx/>
              <a:buFontTx/>
              <a:buNone/>
            </a:pPr>
            <a:r>
              <a:rPr lang="zh-CN" altLang="en-US" sz="1800">
                <a:solidFill>
                  <a:srgbClr val="FFFF00"/>
                </a:solidFill>
                <a:latin typeface="微软雅黑" panose="020B0503020204020204" pitchFamily="34" charset="-122"/>
                <a:ea typeface="微软雅黑" panose="020B0503020204020204" pitchFamily="34" charset="-122"/>
              </a:rPr>
              <a:t>运行结果：</a:t>
            </a:r>
          </a:p>
          <a:p>
            <a:pPr eaLnBrk="1" hangingPunct="1">
              <a:lnSpc>
                <a:spcPct val="90000"/>
              </a:lnSpc>
              <a:spcBef>
                <a:spcPct val="0"/>
              </a:spcBef>
              <a:buClrTx/>
              <a:buFontTx/>
              <a:buNone/>
            </a:pPr>
            <a:r>
              <a:rPr lang="en-US" altLang="zh-CN" sz="1800">
                <a:solidFill>
                  <a:srgbClr val="FF0000"/>
                </a:solidFill>
                <a:latin typeface="微软雅黑" panose="020B0503020204020204" pitchFamily="34" charset="-122"/>
                <a:ea typeface="微软雅黑" panose="020B0503020204020204" pitchFamily="34" charset="-122"/>
              </a:rPr>
              <a:t>4</a:t>
            </a:r>
          </a:p>
          <a:p>
            <a:pPr eaLnBrk="1" hangingPunct="1">
              <a:lnSpc>
                <a:spcPct val="90000"/>
              </a:lnSpc>
              <a:spcBef>
                <a:spcPct val="0"/>
              </a:spcBef>
              <a:buClrTx/>
              <a:buFontTx/>
              <a:buNone/>
            </a:pPr>
            <a:r>
              <a:rPr lang="en-US" altLang="zh-CN" sz="1800">
                <a:solidFill>
                  <a:srgbClr val="FF0000"/>
                </a:solidFill>
                <a:latin typeface="微软雅黑" panose="020B0503020204020204" pitchFamily="34" charset="-122"/>
                <a:ea typeface="微软雅黑" panose="020B0503020204020204" pitchFamily="34" charset="-122"/>
              </a:rPr>
              <a:t>super.x= 14  </a:t>
            </a:r>
            <a:r>
              <a:rPr lang="en-US" altLang="zh-CN" sz="1800">
                <a:solidFill>
                  <a:srgbClr val="FFFF00"/>
                </a:solidFill>
                <a:latin typeface="微软雅黑" panose="020B0503020204020204" pitchFamily="34" charset="-122"/>
                <a:ea typeface="微软雅黑" panose="020B0503020204020204" pitchFamily="34" charset="-122"/>
              </a:rPr>
              <a:t>x= 100</a:t>
            </a:r>
          </a:p>
          <a:p>
            <a:pPr eaLnBrk="1" hangingPunct="1">
              <a:lnSpc>
                <a:spcPct val="90000"/>
              </a:lnSpc>
              <a:spcBef>
                <a:spcPct val="0"/>
              </a:spcBef>
              <a:buClrTx/>
              <a:buFontTx/>
              <a:buNone/>
            </a:pPr>
            <a:r>
              <a:rPr lang="en-US" altLang="zh-CN" sz="1800">
                <a:solidFill>
                  <a:srgbClr val="FF0000"/>
                </a:solidFill>
                <a:latin typeface="微软雅黑" panose="020B0503020204020204" pitchFamily="34" charset="-122"/>
                <a:ea typeface="微软雅黑" panose="020B0503020204020204" pitchFamily="34" charset="-122"/>
              </a:rPr>
              <a:t>14</a:t>
            </a:r>
          </a:p>
          <a:p>
            <a:pPr eaLnBrk="1" hangingPunct="1">
              <a:lnSpc>
                <a:spcPct val="90000"/>
              </a:lnSpc>
              <a:spcBef>
                <a:spcPct val="0"/>
              </a:spcBef>
              <a:buClrTx/>
              <a:buFontTx/>
              <a:buNone/>
            </a:pPr>
            <a:r>
              <a:rPr lang="en-US" altLang="zh-CN" sz="1800">
                <a:solidFill>
                  <a:srgbClr val="FF0000"/>
                </a:solidFill>
                <a:latin typeface="微软雅黑" panose="020B0503020204020204" pitchFamily="34" charset="-122"/>
                <a:ea typeface="微软雅黑" panose="020B0503020204020204" pitchFamily="34" charset="-122"/>
              </a:rPr>
              <a:t>super.x= 16  </a:t>
            </a:r>
            <a:r>
              <a:rPr lang="en-US" altLang="zh-CN" sz="1800">
                <a:solidFill>
                  <a:srgbClr val="FFFF00"/>
                </a:solidFill>
                <a:latin typeface="微软雅黑" panose="020B0503020204020204" pitchFamily="34" charset="-122"/>
                <a:ea typeface="微软雅黑" panose="020B0503020204020204" pitchFamily="34" charset="-122"/>
              </a:rPr>
              <a:t>x= 100</a:t>
            </a:r>
          </a:p>
          <a:p>
            <a:pPr eaLnBrk="1" hangingPunct="1">
              <a:lnSpc>
                <a:spcPct val="90000"/>
              </a:lnSpc>
              <a:spcBef>
                <a:spcPct val="0"/>
              </a:spcBef>
              <a:buClrTx/>
              <a:buFontTx/>
              <a:buNone/>
            </a:pPr>
            <a:r>
              <a:rPr lang="en-US" altLang="zh-CN" sz="1800">
                <a:solidFill>
                  <a:srgbClr val="FF0000"/>
                </a:solidFill>
                <a:latin typeface="微软雅黑" panose="020B0503020204020204" pitchFamily="34" charset="-122"/>
                <a:ea typeface="微软雅黑" panose="020B0503020204020204" pitchFamily="34" charset="-122"/>
              </a:rPr>
              <a:t>16</a:t>
            </a:r>
          </a:p>
          <a:p>
            <a:pPr eaLnBrk="1" hangingPunct="1">
              <a:lnSpc>
                <a:spcPct val="90000"/>
              </a:lnSpc>
              <a:spcBef>
                <a:spcPct val="0"/>
              </a:spcBef>
              <a:buClrTx/>
              <a:buFontTx/>
              <a:buNone/>
            </a:pPr>
            <a:r>
              <a:rPr lang="en-US" altLang="zh-CN" sz="1800">
                <a:solidFill>
                  <a:srgbClr val="FF0000"/>
                </a:solidFill>
                <a:latin typeface="微软雅黑" panose="020B0503020204020204" pitchFamily="34" charset="-122"/>
                <a:ea typeface="微软雅黑" panose="020B0503020204020204" pitchFamily="34" charset="-122"/>
              </a:rPr>
              <a:t>16</a:t>
            </a:r>
          </a:p>
        </p:txBody>
      </p:sp>
      <p:cxnSp>
        <p:nvCxnSpPr>
          <p:cNvPr id="4" name="直接连接符 3"/>
          <p:cNvCxnSpPr/>
          <p:nvPr/>
        </p:nvCxnSpPr>
        <p:spPr bwMode="auto">
          <a:xfrm>
            <a:off x="6600056" y="1371278"/>
            <a:ext cx="0" cy="5184576"/>
          </a:xfrm>
          <a:prstGeom prst="line">
            <a:avLst/>
          </a:prstGeom>
          <a:solidFill>
            <a:schemeClr val="accent1"/>
          </a:solidFill>
          <a:ln w="9525" cap="flat" cmpd="sng" algn="ctr">
            <a:solidFill>
              <a:schemeClr val="tx1"/>
            </a:solidFill>
            <a:prstDash val="lg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框 5">
            <a:extLst>
              <a:ext uri="{FF2B5EF4-FFF2-40B4-BE49-F238E27FC236}">
                <a16:creationId xmlns:a16="http://schemas.microsoft.com/office/drawing/2014/main" id="{F85DF09C-FE37-F80C-8992-5539648F8369}"/>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7" name="TextBox 3">
            <a:extLst>
              <a:ext uri="{FF2B5EF4-FFF2-40B4-BE49-F238E27FC236}">
                <a16:creationId xmlns:a16="http://schemas.microsoft.com/office/drawing/2014/main" id="{DDF8BFBC-1F82-5268-FED3-A3B10B77D4B3}"/>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p:cNvSpPr>
            <a:spLocks noGrp="1" noChangeArrowheads="1"/>
          </p:cNvSpPr>
          <p:nvPr>
            <p:ph idx="4294967295"/>
          </p:nvPr>
        </p:nvSpPr>
        <p:spPr>
          <a:xfrm>
            <a:off x="609600" y="1600200"/>
            <a:ext cx="11319048" cy="4709120"/>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2800" dirty="0">
                <a:latin typeface="宋体" panose="02010600030101010101" pitchFamily="2" charset="-122"/>
              </a:rPr>
              <a:t>如果子类不需使用从超类继承来的方法的功能，则可声明自己的同名方法，称为方法</a:t>
            </a:r>
            <a:r>
              <a:rPr lang="zh-CN" altLang="en-US" sz="2800" dirty="0">
                <a:solidFill>
                  <a:srgbClr val="FF00FF"/>
                </a:solidFill>
                <a:highlight>
                  <a:srgbClr val="FFFF00"/>
                </a:highlight>
                <a:latin typeface="宋体" panose="02010600030101010101" pitchFamily="2" charset="-122"/>
              </a:rPr>
              <a:t>覆盖</a:t>
            </a:r>
            <a:r>
              <a:rPr lang="zh-CN" altLang="en-US" sz="2800" dirty="0">
                <a:latin typeface="宋体" panose="02010600030101010101" pitchFamily="2" charset="-122"/>
              </a:rPr>
              <a:t>；</a:t>
            </a:r>
            <a:endParaRPr lang="en-US" altLang="zh-CN" sz="2800" dirty="0"/>
          </a:p>
          <a:p>
            <a:pPr eaLnBrk="1" hangingPunct="1">
              <a:lnSpc>
                <a:spcPct val="150000"/>
              </a:lnSpc>
              <a:spcBef>
                <a:spcPts val="0"/>
              </a:spcBef>
              <a:buFont typeface="Wingdings" panose="05000000000000000000" pitchFamily="2" charset="2"/>
              <a:buChar char="Ø"/>
            </a:pPr>
            <a:r>
              <a:rPr lang="zh-CN" altLang="en-US" sz="2800" dirty="0"/>
              <a:t>覆盖方法的</a:t>
            </a:r>
            <a:r>
              <a:rPr lang="zh-CN" altLang="en-US" sz="2800" dirty="0">
                <a:solidFill>
                  <a:srgbClr val="FF00FF"/>
                </a:solidFill>
                <a:highlight>
                  <a:srgbClr val="FFFF00"/>
                </a:highlight>
              </a:rPr>
              <a:t>返回类型，方法名称，参数的个数及类型必须和被覆盖的方法一摸一样；</a:t>
            </a:r>
          </a:p>
          <a:p>
            <a:pPr eaLnBrk="1" hangingPunct="1">
              <a:lnSpc>
                <a:spcPct val="150000"/>
              </a:lnSpc>
              <a:spcBef>
                <a:spcPts val="0"/>
              </a:spcBef>
              <a:buFont typeface="Wingdings" panose="05000000000000000000" pitchFamily="2" charset="2"/>
              <a:buChar char="Ø"/>
            </a:pPr>
            <a:r>
              <a:rPr lang="zh-CN" altLang="en-US" sz="2800" dirty="0"/>
              <a:t>只需在方法名前面使用不同的类名或不同类的对象名即可区分覆盖方法和被覆盖方法；</a:t>
            </a:r>
            <a:endParaRPr lang="en-US" altLang="zh-CN" sz="2800" dirty="0"/>
          </a:p>
          <a:p>
            <a:pPr eaLnBrk="1" hangingPunct="1">
              <a:lnSpc>
                <a:spcPct val="150000"/>
              </a:lnSpc>
              <a:spcBef>
                <a:spcPts val="0"/>
              </a:spcBef>
              <a:buFont typeface="Wingdings" panose="05000000000000000000" pitchFamily="2" charset="2"/>
              <a:buChar char="Ø"/>
            </a:pPr>
            <a:r>
              <a:rPr lang="zh-CN" altLang="en-US" sz="2800" dirty="0"/>
              <a:t>覆盖方法的</a:t>
            </a:r>
            <a:r>
              <a:rPr lang="zh-CN" altLang="en-US" sz="2800" dirty="0">
                <a:solidFill>
                  <a:srgbClr val="FF00FF"/>
                </a:solidFill>
                <a:highlight>
                  <a:srgbClr val="FFFF00"/>
                </a:highlight>
              </a:rPr>
              <a:t>访问权限可以比被覆盖的宽松，但是不能更为严格</a:t>
            </a:r>
            <a:r>
              <a:rPr lang="zh-CN" altLang="en-US" sz="2800" dirty="0"/>
              <a:t>。</a:t>
            </a:r>
          </a:p>
        </p:txBody>
      </p:sp>
      <p:sp>
        <p:nvSpPr>
          <p:cNvPr id="4813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33C9FF7-DD79-4283-AA9B-F1283FB5B070}" type="slidenum">
              <a:rPr kumimoji="1" lang="en-US" altLang="zh-CN" sz="1800" smtClean="0">
                <a:solidFill>
                  <a:schemeClr val="bg1"/>
                </a:solidFill>
                <a:latin typeface="Times New Roman" panose="02020603050405020304" pitchFamily="18" charset="0"/>
              </a:rPr>
              <a:pPr>
                <a:spcBef>
                  <a:spcPct val="0"/>
                </a:spcBef>
                <a:buClrTx/>
                <a:buFontTx/>
                <a:buNone/>
              </a:pPr>
              <a:t>15</a:t>
            </a:fld>
            <a:endParaRPr kumimoji="1" lang="en-US" altLang="zh-CN" sz="1800">
              <a:solidFill>
                <a:schemeClr val="bg1"/>
              </a:solidFill>
              <a:latin typeface="Times New Roman" panose="02020603050405020304" pitchFamily="18" charset="0"/>
            </a:endParaRPr>
          </a:p>
        </p:txBody>
      </p:sp>
      <p:sp>
        <p:nvSpPr>
          <p:cNvPr id="6" name="文本框 5">
            <a:extLst>
              <a:ext uri="{FF2B5EF4-FFF2-40B4-BE49-F238E27FC236}">
                <a16:creationId xmlns:a16="http://schemas.microsoft.com/office/drawing/2014/main" id="{F062DBFD-2BCA-AA73-67B5-F1EE2213E795}"/>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7" name="TextBox 3">
            <a:extLst>
              <a:ext uri="{FF2B5EF4-FFF2-40B4-BE49-F238E27FC236}">
                <a16:creationId xmlns:a16="http://schemas.microsoft.com/office/drawing/2014/main" id="{314D6300-219C-2D49-C5BB-4F622D9EA7E4}"/>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extLst>
      <p:ext uri="{BB962C8B-B14F-4D97-AF65-F5344CB8AC3E}">
        <p14:creationId xmlns:p14="http://schemas.microsoft.com/office/powerpoint/2010/main" val="2950146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4294967295"/>
          </p:nvPr>
        </p:nvSpPr>
        <p:spPr>
          <a:xfrm>
            <a:off x="1415631" y="2636912"/>
            <a:ext cx="9721080" cy="2232248"/>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2800" b="1" dirty="0">
                <a:latin typeface="宋体" panose="02010600030101010101" pitchFamily="2" charset="-122"/>
              </a:rPr>
              <a:t>子类中实现与超类相同的功能，但采用不同的算法或公式</a:t>
            </a:r>
            <a:r>
              <a:rPr lang="zh-CN" altLang="en-US" sz="2800" b="1" dirty="0"/>
              <a:t>；</a:t>
            </a:r>
          </a:p>
          <a:p>
            <a:pPr eaLnBrk="1" hangingPunct="1">
              <a:lnSpc>
                <a:spcPct val="150000"/>
              </a:lnSpc>
              <a:spcBef>
                <a:spcPts val="0"/>
              </a:spcBef>
              <a:buFont typeface="Wingdings" panose="05000000000000000000" pitchFamily="2" charset="2"/>
              <a:buChar char="Ø"/>
            </a:pPr>
            <a:r>
              <a:rPr lang="zh-CN" altLang="en-US" sz="2800" b="1" dirty="0">
                <a:latin typeface="宋体" panose="02010600030101010101" pitchFamily="2" charset="-122"/>
              </a:rPr>
              <a:t>在名字相同的方法中，要做比超类更多的事情</a:t>
            </a:r>
            <a:r>
              <a:rPr lang="zh-CN" altLang="en-US" sz="2800" b="1" dirty="0"/>
              <a:t>；</a:t>
            </a:r>
          </a:p>
          <a:p>
            <a:pPr eaLnBrk="1" hangingPunct="1">
              <a:lnSpc>
                <a:spcPct val="150000"/>
              </a:lnSpc>
              <a:spcBef>
                <a:spcPts val="0"/>
              </a:spcBef>
              <a:buFont typeface="Wingdings" panose="05000000000000000000" pitchFamily="2" charset="2"/>
              <a:buChar char="Ø"/>
            </a:pPr>
            <a:r>
              <a:rPr lang="zh-CN" altLang="en-US" sz="2800" b="1" dirty="0">
                <a:latin typeface="宋体" panose="02010600030101010101" pitchFamily="2" charset="-122"/>
              </a:rPr>
              <a:t>在子类中需要取消从超类继承的方法。</a:t>
            </a:r>
          </a:p>
        </p:txBody>
      </p:sp>
      <p:sp>
        <p:nvSpPr>
          <p:cNvPr id="5017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6D1DB19-A3B7-4D62-87B3-F0A27EFF7EBC}" type="slidenum">
              <a:rPr kumimoji="1" lang="en-US" altLang="zh-CN" sz="1800" smtClean="0">
                <a:solidFill>
                  <a:schemeClr val="bg1"/>
                </a:solidFill>
                <a:latin typeface="Times New Roman" panose="02020603050405020304" pitchFamily="18" charset="0"/>
              </a:rPr>
              <a:pPr>
                <a:spcBef>
                  <a:spcPct val="0"/>
                </a:spcBef>
                <a:buClrTx/>
                <a:buFontTx/>
                <a:buNone/>
              </a:pPr>
              <a:t>16</a:t>
            </a:fld>
            <a:endParaRPr kumimoji="1" lang="en-US" altLang="zh-CN" sz="1800">
              <a:solidFill>
                <a:schemeClr val="bg1"/>
              </a:solidFill>
              <a:latin typeface="Times New Roman" panose="02020603050405020304" pitchFamily="18" charset="0"/>
            </a:endParaRPr>
          </a:p>
        </p:txBody>
      </p:sp>
      <p:sp>
        <p:nvSpPr>
          <p:cNvPr id="4" name="文本框 3">
            <a:extLst>
              <a:ext uri="{FF2B5EF4-FFF2-40B4-BE49-F238E27FC236}">
                <a16:creationId xmlns:a16="http://schemas.microsoft.com/office/drawing/2014/main" id="{58DE7D66-1B23-9671-A550-865803AD75D9}"/>
              </a:ext>
            </a:extLst>
          </p:cNvPr>
          <p:cNvSpPr txBox="1"/>
          <p:nvPr>
            <p:custDataLst>
              <p:tags r:id="rId1"/>
            </p:custDataLst>
          </p:nvPr>
        </p:nvSpPr>
        <p:spPr>
          <a:xfrm>
            <a:off x="407670" y="980440"/>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2" name="文本框 1">
            <a:extLst>
              <a:ext uri="{FF2B5EF4-FFF2-40B4-BE49-F238E27FC236}">
                <a16:creationId xmlns:a16="http://schemas.microsoft.com/office/drawing/2014/main" id="{9E300CFD-A5B8-EEB8-DDA2-2A1C7FD058AC}"/>
              </a:ext>
            </a:extLst>
          </p:cNvPr>
          <p:cNvSpPr txBox="1"/>
          <p:nvPr/>
        </p:nvSpPr>
        <p:spPr>
          <a:xfrm>
            <a:off x="1271464" y="1803492"/>
            <a:ext cx="3780420" cy="477054"/>
          </a:xfrm>
          <a:prstGeom prst="rect">
            <a:avLst/>
          </a:prstGeom>
          <a:noFill/>
        </p:spPr>
        <p:txBody>
          <a:bodyPr wrap="square" rtlCol="0">
            <a:spAutoFit/>
          </a:bodyPr>
          <a:lstStyle/>
          <a:p>
            <a:pPr>
              <a:lnSpc>
                <a:spcPts val="3000"/>
              </a:lnSpc>
              <a:spcBef>
                <a:spcPts val="0"/>
              </a:spcBef>
            </a:pPr>
            <a:r>
              <a:rPr lang="zh-CN" altLang="en-US" sz="2800" b="1" dirty="0">
                <a:latin typeface="楷体" panose="02010609060101010101" pitchFamily="49" charset="-122"/>
                <a:ea typeface="楷体" panose="02010609060101010101" pitchFamily="49" charset="-122"/>
              </a:rPr>
              <a:t>方法覆盖的应用场合：</a:t>
            </a:r>
            <a:endParaRPr lang="zh-CN" altLang="en-US" sz="2800" b="1" dirty="0">
              <a:solidFill>
                <a:srgbClr val="0000FF"/>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0179">
                                            <p:txEl>
                                              <p:pRg st="0" end="0"/>
                                            </p:txEl>
                                          </p:spTgt>
                                        </p:tgtEl>
                                        <p:attrNameLst>
                                          <p:attrName>style.visibility</p:attrName>
                                        </p:attrNameLst>
                                      </p:cBhvr>
                                      <p:to>
                                        <p:strVal val="visible"/>
                                      </p:to>
                                    </p:set>
                                    <p:animEffect transition="in" filter="wipe(down)">
                                      <p:cBhvr>
                                        <p:cTn id="12" dur="500"/>
                                        <p:tgtEl>
                                          <p:spTgt spid="501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0179">
                                            <p:txEl>
                                              <p:pRg st="1" end="1"/>
                                            </p:txEl>
                                          </p:spTgt>
                                        </p:tgtEl>
                                        <p:attrNameLst>
                                          <p:attrName>style.visibility</p:attrName>
                                        </p:attrNameLst>
                                      </p:cBhvr>
                                      <p:to>
                                        <p:strVal val="visible"/>
                                      </p:to>
                                    </p:set>
                                    <p:animEffect transition="in" filter="wipe(down)">
                                      <p:cBhvr>
                                        <p:cTn id="17" dur="500"/>
                                        <p:tgtEl>
                                          <p:spTgt spid="501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0179">
                                            <p:txEl>
                                              <p:pRg st="2" end="2"/>
                                            </p:txEl>
                                          </p:spTgt>
                                        </p:tgtEl>
                                        <p:attrNameLst>
                                          <p:attrName>style.visibility</p:attrName>
                                        </p:attrNameLst>
                                      </p:cBhvr>
                                      <p:to>
                                        <p:strVal val="visible"/>
                                      </p:to>
                                    </p:set>
                                    <p:animEffect transition="in" filter="wipe(down)">
                                      <p:cBhvr>
                                        <p:cTn id="22" dur="500"/>
                                        <p:tgtEl>
                                          <p:spTgt spid="501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4294967295"/>
          </p:nvPr>
        </p:nvSpPr>
        <p:spPr>
          <a:xfrm>
            <a:off x="695400" y="1700808"/>
            <a:ext cx="11319048" cy="4262909"/>
          </a:xfrm>
          <a:prstGeom prst="rect">
            <a:avLst/>
          </a:prstGeom>
        </p:spPr>
        <p:txBody>
          <a:bodyPr lIns="92075" tIns="46038" rIns="92075" bIns="46038"/>
          <a:lstStyle/>
          <a:p>
            <a:pPr eaLnBrk="1" hangingPunct="1">
              <a:lnSpc>
                <a:spcPct val="150000"/>
              </a:lnSpc>
              <a:spcBef>
                <a:spcPts val="0"/>
              </a:spcBef>
              <a:buClr>
                <a:schemeClr val="tx1"/>
              </a:buClr>
              <a:buFont typeface="Wingdings" panose="05000000000000000000" pitchFamily="2" charset="2"/>
              <a:buChar char="Ø"/>
            </a:pPr>
            <a:r>
              <a:rPr lang="zh-CN" altLang="en-US" sz="3000" dirty="0">
                <a:solidFill>
                  <a:srgbClr val="FF00FF"/>
                </a:solidFill>
              </a:rPr>
              <a:t>必须覆盖的方法：</a:t>
            </a:r>
            <a:r>
              <a:rPr lang="zh-CN" altLang="en-US" sz="3000" dirty="0"/>
              <a:t>派生类必须覆盖基类中的抽象方法，否则派生类自身也成为抽象类。</a:t>
            </a:r>
          </a:p>
          <a:p>
            <a:pPr eaLnBrk="1" hangingPunct="1">
              <a:lnSpc>
                <a:spcPct val="150000"/>
              </a:lnSpc>
              <a:spcBef>
                <a:spcPts val="0"/>
              </a:spcBef>
              <a:buClr>
                <a:schemeClr val="tx1"/>
              </a:buClr>
              <a:buFont typeface="Wingdings" panose="05000000000000000000" pitchFamily="2" charset="2"/>
              <a:buChar char="Ø"/>
            </a:pPr>
            <a:r>
              <a:rPr lang="zh-CN" altLang="en-US" sz="3000" dirty="0">
                <a:solidFill>
                  <a:srgbClr val="FF00FF"/>
                </a:solidFill>
              </a:rPr>
              <a:t>不能覆盖的方法：</a:t>
            </a:r>
          </a:p>
          <a:p>
            <a:pPr marL="971550" lvl="1" indent="-165100" eaLnBrk="1" hangingPunct="1">
              <a:lnSpc>
                <a:spcPct val="150000"/>
              </a:lnSpc>
              <a:spcBef>
                <a:spcPts val="0"/>
              </a:spcBef>
              <a:buFont typeface="+mj-ea"/>
              <a:buAutoNum type="circleNumDbPlain"/>
            </a:pPr>
            <a:r>
              <a:rPr lang="zh-CN" altLang="en-US" dirty="0"/>
              <a:t>基类中声明为</a:t>
            </a:r>
            <a:r>
              <a:rPr lang="en-US" altLang="zh-CN" dirty="0"/>
              <a:t>final</a:t>
            </a:r>
            <a:r>
              <a:rPr lang="zh-CN" altLang="en-US" dirty="0"/>
              <a:t>的终结方法；</a:t>
            </a:r>
          </a:p>
          <a:p>
            <a:pPr marL="971550" lvl="1" indent="-165100" eaLnBrk="1" hangingPunct="1">
              <a:lnSpc>
                <a:spcPct val="150000"/>
              </a:lnSpc>
              <a:spcBef>
                <a:spcPts val="0"/>
              </a:spcBef>
              <a:buFont typeface="+mj-ea"/>
              <a:buAutoNum type="circleNumDbPlain"/>
            </a:pPr>
            <a:r>
              <a:rPr lang="zh-CN" altLang="en-US" dirty="0"/>
              <a:t>基类中声明为</a:t>
            </a:r>
            <a:r>
              <a:rPr lang="en-US" altLang="zh-CN" dirty="0"/>
              <a:t>static </a:t>
            </a:r>
            <a:r>
              <a:rPr lang="zh-CN" altLang="en-US" dirty="0"/>
              <a:t>的静态方法。</a:t>
            </a:r>
          </a:p>
          <a:p>
            <a:pPr eaLnBrk="1" hangingPunct="1">
              <a:lnSpc>
                <a:spcPct val="150000"/>
              </a:lnSpc>
              <a:spcBef>
                <a:spcPts val="0"/>
              </a:spcBef>
              <a:buFont typeface="Wingdings" panose="05000000000000000000" pitchFamily="2" charset="2"/>
              <a:buChar char="Ø"/>
            </a:pPr>
            <a:r>
              <a:rPr lang="zh-CN" altLang="en-US" sz="3000" dirty="0"/>
              <a:t>调用被覆盖的方法：</a:t>
            </a:r>
            <a:r>
              <a:rPr lang="en-US" altLang="zh-CN" sz="3000" dirty="0" err="1"/>
              <a:t>super.</a:t>
            </a:r>
            <a:r>
              <a:rPr lang="en-US" altLang="zh-CN" sz="3000" dirty="0" err="1">
                <a:solidFill>
                  <a:srgbClr val="FF00FF"/>
                </a:solidFill>
              </a:rPr>
              <a:t>overriddenMethodName</a:t>
            </a:r>
            <a:r>
              <a:rPr lang="en-US" altLang="zh-CN" sz="3000" dirty="0"/>
              <a:t>();</a:t>
            </a:r>
            <a:endParaRPr lang="zh-CN" altLang="en-US" sz="3000" dirty="0"/>
          </a:p>
        </p:txBody>
      </p:sp>
      <p:sp>
        <p:nvSpPr>
          <p:cNvPr id="5222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B5EAE9E-5FD0-4BC8-BB5A-8B46786B5107}" type="slidenum">
              <a:rPr kumimoji="1" lang="en-US" altLang="zh-CN" sz="1800" smtClean="0">
                <a:solidFill>
                  <a:schemeClr val="bg1"/>
                </a:solidFill>
                <a:latin typeface="Times New Roman" panose="02020603050405020304" pitchFamily="18" charset="0"/>
              </a:rPr>
              <a:pPr>
                <a:spcBef>
                  <a:spcPct val="0"/>
                </a:spcBef>
                <a:buClrTx/>
                <a:buFontTx/>
                <a:buNone/>
              </a:pPr>
              <a:t>17</a:t>
            </a:fld>
            <a:endParaRPr kumimoji="1" lang="en-US" altLang="zh-CN" sz="1800">
              <a:solidFill>
                <a:schemeClr val="bg1"/>
              </a:solidFill>
              <a:latin typeface="Times New Roman" panose="02020603050405020304" pitchFamily="18" charset="0"/>
            </a:endParaRPr>
          </a:p>
        </p:txBody>
      </p:sp>
      <p:sp>
        <p:nvSpPr>
          <p:cNvPr id="4" name="文本框 3">
            <a:extLst>
              <a:ext uri="{FF2B5EF4-FFF2-40B4-BE49-F238E27FC236}">
                <a16:creationId xmlns:a16="http://schemas.microsoft.com/office/drawing/2014/main" id="{967662F4-D40F-0EF9-BB4B-F7460BE84C35}"/>
              </a:ext>
            </a:extLst>
          </p:cNvPr>
          <p:cNvSpPr txBox="1"/>
          <p:nvPr>
            <p:custDataLst>
              <p:tags r:id="rId1"/>
            </p:custDataLst>
          </p:nvPr>
        </p:nvSpPr>
        <p:spPr>
          <a:xfrm>
            <a:off x="407368" y="984827"/>
            <a:ext cx="201592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隐藏和覆盖</a:t>
            </a:r>
          </a:p>
        </p:txBody>
      </p:sp>
      <p:sp>
        <p:nvSpPr>
          <p:cNvPr id="5" name="TextBox 3">
            <a:extLst>
              <a:ext uri="{FF2B5EF4-FFF2-40B4-BE49-F238E27FC236}">
                <a16:creationId xmlns:a16="http://schemas.microsoft.com/office/drawing/2014/main" id="{5B4669A7-5E1D-8C46-627A-6B64B6D7772F}"/>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1028"/>
          <p:cNvSpPr>
            <a:spLocks noGrp="1" noChangeArrowheads="1"/>
          </p:cNvSpPr>
          <p:nvPr>
            <p:ph idx="4294967295"/>
          </p:nvPr>
        </p:nvSpPr>
        <p:spPr>
          <a:xfrm>
            <a:off x="623392" y="1700808"/>
            <a:ext cx="11161240" cy="4248472"/>
          </a:xfrm>
          <a:prstGeom prst="rect">
            <a:avLst/>
          </a:prstGeom>
        </p:spPr>
        <p:txBody>
          <a:bodyPr lIns="92075" tIns="46038" rIns="92075" bIns="46038"/>
          <a:lstStyle/>
          <a:p>
            <a:pPr algn="just" eaLnBrk="1" hangingPunct="1">
              <a:lnSpc>
                <a:spcPct val="150000"/>
              </a:lnSpc>
              <a:spcBef>
                <a:spcPts val="0"/>
              </a:spcBef>
              <a:buFont typeface="Wingdings" panose="05000000000000000000" pitchFamily="2" charset="2"/>
              <a:buChar char="Ø"/>
            </a:pPr>
            <a:r>
              <a:rPr lang="zh-CN" altLang="en-US" sz="3000" b="1" dirty="0"/>
              <a:t>子类</a:t>
            </a:r>
            <a:r>
              <a:rPr lang="zh-CN" altLang="en-US" sz="3000" b="1" dirty="0">
                <a:solidFill>
                  <a:srgbClr val="FF00FF"/>
                </a:solidFill>
              </a:rPr>
              <a:t>不能从超类继承构造方法；</a:t>
            </a:r>
          </a:p>
          <a:p>
            <a:pPr algn="just" eaLnBrk="1" hangingPunct="1">
              <a:lnSpc>
                <a:spcPct val="150000"/>
              </a:lnSpc>
              <a:spcBef>
                <a:spcPts val="0"/>
              </a:spcBef>
              <a:buFont typeface="Wingdings" panose="05000000000000000000" pitchFamily="2" charset="2"/>
              <a:buChar char="Ø"/>
            </a:pPr>
            <a:r>
              <a:rPr lang="zh-CN" altLang="en-US" sz="3000" b="1" dirty="0"/>
              <a:t>在子类的构造方法中使用</a:t>
            </a:r>
            <a:r>
              <a:rPr lang="en-US" altLang="zh-CN" sz="3000" b="1" dirty="0">
                <a:solidFill>
                  <a:schemeClr val="hlink"/>
                </a:solidFill>
              </a:rPr>
              <a:t>super</a:t>
            </a:r>
            <a:r>
              <a:rPr lang="zh-CN" altLang="en-US" sz="3000" b="1" dirty="0"/>
              <a:t>关键字显式调用超类的某个构造方法，调用语句</a:t>
            </a:r>
            <a:r>
              <a:rPr lang="zh-CN" altLang="en-US" sz="3000" b="1" dirty="0">
                <a:solidFill>
                  <a:srgbClr val="FF00FF"/>
                </a:solidFill>
                <a:highlight>
                  <a:srgbClr val="FFFF00"/>
                </a:highlight>
              </a:rPr>
              <a:t>必须出现在子类构造方法的第一行</a:t>
            </a:r>
            <a:r>
              <a:rPr lang="zh-CN" altLang="en-US" sz="3000" b="1" dirty="0">
                <a:solidFill>
                  <a:srgbClr val="FF00FF"/>
                </a:solidFill>
              </a:rPr>
              <a:t>；</a:t>
            </a:r>
            <a:endParaRPr lang="en-US" altLang="zh-CN" sz="3000" b="1" dirty="0"/>
          </a:p>
          <a:p>
            <a:pPr algn="just" eaLnBrk="1" hangingPunct="1">
              <a:lnSpc>
                <a:spcPct val="150000"/>
              </a:lnSpc>
              <a:spcBef>
                <a:spcPts val="0"/>
              </a:spcBef>
              <a:buFont typeface="Wingdings" panose="05000000000000000000" pitchFamily="2" charset="2"/>
              <a:buChar char="Ø"/>
            </a:pPr>
            <a:r>
              <a:rPr lang="zh-CN" altLang="en-US" sz="3000" b="1" dirty="0"/>
              <a:t>如子类构造方法体中</a:t>
            </a:r>
            <a:r>
              <a:rPr lang="zh-CN" altLang="en-US" sz="3000" b="1" dirty="0">
                <a:solidFill>
                  <a:srgbClr val="FF00FF"/>
                </a:solidFill>
              </a:rPr>
              <a:t>没有</a:t>
            </a:r>
            <a:r>
              <a:rPr lang="zh-CN" altLang="en-US" sz="3000" b="1" dirty="0"/>
              <a:t>显式调用超类构造方法，则系统在执行子类的构造方法时会自动调用超类的</a:t>
            </a:r>
            <a:r>
              <a:rPr lang="zh-CN" altLang="en-US" sz="3000" b="1" dirty="0">
                <a:solidFill>
                  <a:srgbClr val="FF00FF"/>
                </a:solidFill>
                <a:highlight>
                  <a:srgbClr val="FFFF00"/>
                </a:highlight>
              </a:rPr>
              <a:t>默认构造方法</a:t>
            </a:r>
            <a:r>
              <a:rPr lang="zh-CN" altLang="en-US" sz="3000" b="1" dirty="0">
                <a:solidFill>
                  <a:srgbClr val="FF00FF"/>
                </a:solidFill>
              </a:rPr>
              <a:t>（即无参的构造方法）。</a:t>
            </a:r>
          </a:p>
        </p:txBody>
      </p:sp>
      <p:sp>
        <p:nvSpPr>
          <p:cNvPr id="5427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3C034FA-A69C-4E87-8F39-1EE1CA5883B2}" type="slidenum">
              <a:rPr kumimoji="1" lang="en-US" altLang="zh-CN" sz="1800" smtClean="0">
                <a:solidFill>
                  <a:schemeClr val="bg1"/>
                </a:solidFill>
                <a:latin typeface="Times New Roman" panose="02020603050405020304" pitchFamily="18" charset="0"/>
              </a:rPr>
              <a:pPr>
                <a:spcBef>
                  <a:spcPct val="0"/>
                </a:spcBef>
                <a:buClrTx/>
                <a:buFontTx/>
                <a:buNone/>
              </a:pPr>
              <a:t>18</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D6A81650-F50D-B755-8E60-9B61959F9B4B}"/>
              </a:ext>
            </a:extLst>
          </p:cNvPr>
          <p:cNvSpPr txBox="1"/>
          <p:nvPr>
            <p:custDataLst>
              <p:tags r:id="rId1"/>
            </p:custDataLst>
          </p:nvPr>
        </p:nvSpPr>
        <p:spPr>
          <a:xfrm>
            <a:off x="407368" y="1015213"/>
            <a:ext cx="3384376"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有继承时的构造方法</a:t>
            </a:r>
          </a:p>
        </p:txBody>
      </p:sp>
      <p:sp>
        <p:nvSpPr>
          <p:cNvPr id="3" name="TextBox 3">
            <a:extLst>
              <a:ext uri="{FF2B5EF4-FFF2-40B4-BE49-F238E27FC236}">
                <a16:creationId xmlns:a16="http://schemas.microsoft.com/office/drawing/2014/main" id="{A0FF94D7-8904-3981-6E35-CD53A96365A8}"/>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4294967295"/>
          </p:nvPr>
        </p:nvSpPr>
        <p:spPr>
          <a:xfrm>
            <a:off x="551384" y="1628800"/>
            <a:ext cx="11305256" cy="4680520"/>
          </a:xfrm>
          <a:prstGeom prst="rect">
            <a:avLst/>
          </a:prstGeom>
        </p:spPr>
        <p:txBody>
          <a:bodyPr lIns="92075" tIns="46038" rIns="92075" bIns="46038">
            <a:noAutofit/>
          </a:bodyPr>
          <a:lstStyle/>
          <a:p>
            <a:pPr marL="0" algn="just" eaLnBrk="1" hangingPunct="1">
              <a:lnSpc>
                <a:spcPct val="150000"/>
              </a:lnSpc>
              <a:spcBef>
                <a:spcPts val="0"/>
              </a:spcBef>
              <a:buFont typeface="Georgia" panose="02040502050405020303" pitchFamily="18" charset="0"/>
              <a:buNone/>
            </a:pPr>
            <a:r>
              <a:rPr lang="en-US" altLang="zh-CN" sz="2400" b="1" dirty="0"/>
              <a:t>public class </a:t>
            </a:r>
            <a:r>
              <a:rPr lang="en-US" altLang="zh-CN" sz="2400" b="1" dirty="0">
                <a:solidFill>
                  <a:schemeClr val="tx1"/>
                </a:solidFill>
              </a:rPr>
              <a:t>Person2</a:t>
            </a:r>
            <a:r>
              <a:rPr lang="en-US" altLang="zh-CN" sz="2400" b="1" dirty="0"/>
              <a:t> {</a:t>
            </a:r>
          </a:p>
          <a:p>
            <a:pPr marL="0" algn="just" eaLnBrk="1" hangingPunct="1">
              <a:lnSpc>
                <a:spcPct val="150000"/>
              </a:lnSpc>
              <a:spcBef>
                <a:spcPts val="0"/>
              </a:spcBef>
              <a:buFont typeface="Georgia" panose="02040502050405020303" pitchFamily="18" charset="0"/>
              <a:buNone/>
            </a:pPr>
            <a:r>
              <a:rPr lang="en-US" altLang="zh-CN" sz="2400" b="1" dirty="0"/>
              <a:t>    protected String name, </a:t>
            </a:r>
            <a:r>
              <a:rPr lang="en-US" altLang="zh-CN" sz="2400" b="1" dirty="0" err="1"/>
              <a:t>phoneNumber</a:t>
            </a:r>
            <a:r>
              <a:rPr lang="en-US" altLang="zh-CN" sz="2400" b="1" dirty="0"/>
              <a:t>, address;</a:t>
            </a:r>
          </a:p>
          <a:p>
            <a:pPr marL="0" algn="just" eaLnBrk="1" hangingPunct="1">
              <a:lnSpc>
                <a:spcPct val="150000"/>
              </a:lnSpc>
              <a:spcBef>
                <a:spcPts val="0"/>
              </a:spcBef>
              <a:buFont typeface="Georgia" panose="02040502050405020303" pitchFamily="18" charset="0"/>
              <a:buNone/>
            </a:pPr>
            <a:r>
              <a:rPr lang="en-US" altLang="zh-CN" sz="2400" b="1" dirty="0"/>
              <a:t>    public Person2() {     this("", "", "");    }</a:t>
            </a:r>
          </a:p>
          <a:p>
            <a:pPr marL="0" algn="just" eaLnBrk="1" hangingPunct="1">
              <a:lnSpc>
                <a:spcPct val="150000"/>
              </a:lnSpc>
              <a:spcBef>
                <a:spcPts val="0"/>
              </a:spcBef>
              <a:buFont typeface="Georgia" panose="02040502050405020303" pitchFamily="18" charset="0"/>
              <a:buNone/>
            </a:pPr>
            <a:r>
              <a:rPr lang="en-US" altLang="zh-CN" sz="2400" b="1" dirty="0"/>
              <a:t>    public Person2(String </a:t>
            </a:r>
            <a:r>
              <a:rPr lang="en-US" altLang="zh-CN" sz="2400" b="1" dirty="0" err="1"/>
              <a:t>aName</a:t>
            </a:r>
            <a:r>
              <a:rPr lang="en-US" altLang="zh-CN" sz="2400" b="1" dirty="0"/>
              <a:t>, String </a:t>
            </a:r>
            <a:r>
              <a:rPr lang="en-US" altLang="zh-CN" sz="2400" b="1" dirty="0" err="1"/>
              <a:t>aPhoneNumber</a:t>
            </a:r>
            <a:r>
              <a:rPr lang="en-US" altLang="zh-CN" sz="2400" b="1" dirty="0"/>
              <a:t>, String </a:t>
            </a:r>
            <a:r>
              <a:rPr lang="en-US" altLang="zh-CN" sz="2400" b="1" dirty="0" err="1"/>
              <a:t>anAddress</a:t>
            </a:r>
            <a:r>
              <a:rPr lang="en-US" altLang="zh-CN" sz="2400" b="1" dirty="0"/>
              <a:t>){</a:t>
            </a:r>
          </a:p>
          <a:p>
            <a:pPr marL="0" algn="just" eaLnBrk="1" hangingPunct="1">
              <a:lnSpc>
                <a:spcPct val="150000"/>
              </a:lnSpc>
              <a:spcBef>
                <a:spcPts val="0"/>
              </a:spcBef>
              <a:buFont typeface="Georgia" panose="02040502050405020303" pitchFamily="18" charset="0"/>
              <a:buNone/>
            </a:pPr>
            <a:r>
              <a:rPr lang="en-US" altLang="zh-CN" sz="2400" b="1" dirty="0"/>
              <a:t>        name = </a:t>
            </a:r>
            <a:r>
              <a:rPr lang="en-US" altLang="zh-CN" sz="2400" b="1" dirty="0" err="1"/>
              <a:t>aName</a:t>
            </a:r>
            <a:r>
              <a:rPr lang="en-US" altLang="zh-CN" sz="2400" b="1" dirty="0"/>
              <a:t>;</a:t>
            </a:r>
          </a:p>
          <a:p>
            <a:pPr marL="0" algn="just" eaLnBrk="1" hangingPunct="1">
              <a:lnSpc>
                <a:spcPct val="150000"/>
              </a:lnSpc>
              <a:spcBef>
                <a:spcPts val="0"/>
              </a:spcBef>
              <a:buFont typeface="Georgia" panose="02040502050405020303" pitchFamily="18" charset="0"/>
              <a:buNone/>
            </a:pPr>
            <a:r>
              <a:rPr lang="en-US" altLang="zh-CN" sz="2400" b="1" dirty="0"/>
              <a:t>        </a:t>
            </a:r>
            <a:r>
              <a:rPr lang="en-US" altLang="zh-CN" sz="2400" b="1" dirty="0" err="1"/>
              <a:t>phoneNumber</a:t>
            </a:r>
            <a:r>
              <a:rPr lang="en-US" altLang="zh-CN" sz="2400" b="1" dirty="0"/>
              <a:t> = </a:t>
            </a:r>
            <a:r>
              <a:rPr lang="en-US" altLang="zh-CN" sz="2400" b="1" dirty="0" err="1"/>
              <a:t>aPhoneNumber</a:t>
            </a:r>
            <a:r>
              <a:rPr lang="en-US" altLang="zh-CN" sz="2400" b="1" dirty="0"/>
              <a:t>;</a:t>
            </a:r>
          </a:p>
          <a:p>
            <a:pPr marL="0" algn="just" eaLnBrk="1" hangingPunct="1">
              <a:lnSpc>
                <a:spcPct val="150000"/>
              </a:lnSpc>
              <a:spcBef>
                <a:spcPts val="0"/>
              </a:spcBef>
              <a:buFont typeface="Georgia" panose="02040502050405020303" pitchFamily="18" charset="0"/>
              <a:buNone/>
            </a:pPr>
            <a:r>
              <a:rPr lang="en-US" altLang="zh-CN" sz="2400" b="1" dirty="0"/>
              <a:t>        address = </a:t>
            </a:r>
            <a:r>
              <a:rPr lang="en-US" altLang="zh-CN" sz="2400" b="1" dirty="0" err="1"/>
              <a:t>anAddress</a:t>
            </a:r>
            <a:r>
              <a:rPr lang="en-US" altLang="zh-CN" sz="2400" b="1" dirty="0"/>
              <a:t>;</a:t>
            </a:r>
          </a:p>
          <a:p>
            <a:pPr marL="0" algn="just" eaLnBrk="1" hangingPunct="1">
              <a:spcBef>
                <a:spcPts val="0"/>
              </a:spcBef>
              <a:buFont typeface="Georgia" panose="02040502050405020303" pitchFamily="18" charset="0"/>
              <a:buNone/>
            </a:pPr>
            <a:r>
              <a:rPr lang="en-US" altLang="zh-CN" sz="2400" b="1" dirty="0"/>
              <a:t>    }</a:t>
            </a:r>
          </a:p>
          <a:p>
            <a:pPr marL="0" algn="just" eaLnBrk="1" hangingPunct="1">
              <a:spcBef>
                <a:spcPts val="0"/>
              </a:spcBef>
              <a:buFont typeface="Georgia" panose="02040502050405020303" pitchFamily="18" charset="0"/>
              <a:buNone/>
            </a:pPr>
            <a:r>
              <a:rPr lang="en-US" altLang="zh-CN" sz="2400" b="1" dirty="0"/>
              <a:t>}</a:t>
            </a:r>
          </a:p>
        </p:txBody>
      </p:sp>
      <p:sp>
        <p:nvSpPr>
          <p:cNvPr id="4" name="文本框 3">
            <a:extLst>
              <a:ext uri="{FF2B5EF4-FFF2-40B4-BE49-F238E27FC236}">
                <a16:creationId xmlns:a16="http://schemas.microsoft.com/office/drawing/2014/main" id="{CB0B5872-735D-5609-30FC-A23A3DCB3C7B}"/>
              </a:ext>
            </a:extLst>
          </p:cNvPr>
          <p:cNvSpPr txBox="1"/>
          <p:nvPr>
            <p:custDataLst>
              <p:tags r:id="rId1"/>
            </p:custDataLst>
          </p:nvPr>
        </p:nvSpPr>
        <p:spPr>
          <a:xfrm>
            <a:off x="407368" y="1015213"/>
            <a:ext cx="345638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有继承时的构造方法</a:t>
            </a:r>
          </a:p>
        </p:txBody>
      </p:sp>
      <p:sp>
        <p:nvSpPr>
          <p:cNvPr id="5" name="TextBox 3">
            <a:extLst>
              <a:ext uri="{FF2B5EF4-FFF2-40B4-BE49-F238E27FC236}">
                <a16:creationId xmlns:a16="http://schemas.microsoft.com/office/drawing/2014/main" id="{F6F76E14-5536-30B1-BF90-23E80AAEBE58}"/>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idx="4294967295"/>
          </p:nvPr>
        </p:nvSpPr>
        <p:spPr>
          <a:xfrm>
            <a:off x="1055440" y="1700808"/>
            <a:ext cx="9878888" cy="4835672"/>
          </a:xfrm>
          <a:prstGeom prst="rect">
            <a:avLst/>
          </a:prstGeom>
        </p:spPr>
        <p:txBody>
          <a:bodyPr lIns="92075" tIns="46038" rIns="92075" bIns="46038"/>
          <a:lstStyle/>
          <a:p>
            <a:pPr algn="just" eaLnBrk="1" hangingPunct="1">
              <a:buFont typeface="Georgia" panose="02040502050405020303" pitchFamily="18" charset="0"/>
              <a:buNone/>
            </a:pPr>
            <a:r>
              <a:rPr lang="en-US" altLang="zh-CN" sz="2200" b="1" dirty="0"/>
              <a:t>public class </a:t>
            </a:r>
            <a:r>
              <a:rPr lang="en-US" altLang="zh-CN" sz="2200" b="1" dirty="0">
                <a:solidFill>
                  <a:srgbClr val="FF0000"/>
                </a:solidFill>
              </a:rPr>
              <a:t>Employee2</a:t>
            </a:r>
            <a:r>
              <a:rPr lang="en-US" altLang="zh-CN" sz="2200" b="1" dirty="0"/>
              <a:t> extends Person2 {</a:t>
            </a:r>
          </a:p>
          <a:p>
            <a:pPr algn="just" eaLnBrk="1" hangingPunct="1">
              <a:buFont typeface="Georgia" panose="02040502050405020303" pitchFamily="18" charset="0"/>
              <a:buNone/>
            </a:pPr>
            <a:r>
              <a:rPr lang="en-US" altLang="zh-CN" sz="2200" b="1" dirty="0"/>
              <a:t>    protected int </a:t>
            </a:r>
            <a:r>
              <a:rPr lang="en-US" altLang="zh-CN" sz="2200" b="1" dirty="0" err="1"/>
              <a:t>employeeNumber</a:t>
            </a:r>
            <a:r>
              <a:rPr lang="en-US" altLang="zh-CN" sz="2200" b="1" dirty="0"/>
              <a:t>;</a:t>
            </a:r>
          </a:p>
          <a:p>
            <a:pPr algn="just" eaLnBrk="1" hangingPunct="1">
              <a:buFont typeface="Georgia" panose="02040502050405020303" pitchFamily="18" charset="0"/>
              <a:buNone/>
            </a:pPr>
            <a:r>
              <a:rPr lang="en-US" altLang="zh-CN" sz="2200" b="1" dirty="0"/>
              <a:t>    protected String </a:t>
            </a:r>
            <a:r>
              <a:rPr lang="en-US" altLang="zh-CN" sz="2200" b="1" dirty="0" err="1"/>
              <a:t>workPhoneNumber</a:t>
            </a:r>
            <a:r>
              <a:rPr lang="en-US" altLang="zh-CN" sz="2200" b="1" dirty="0"/>
              <a:t>;</a:t>
            </a:r>
          </a:p>
          <a:p>
            <a:pPr algn="just" eaLnBrk="1" hangingPunct="1">
              <a:buFont typeface="Georgia" panose="02040502050405020303" pitchFamily="18" charset="0"/>
              <a:buNone/>
            </a:pPr>
            <a:r>
              <a:rPr lang="en-US" altLang="zh-CN" sz="2200" b="1" dirty="0"/>
              <a:t>    public Employee2() {    //</a:t>
            </a:r>
            <a:r>
              <a:rPr lang="zh-CN" altLang="en-US" sz="2200" b="1" dirty="0"/>
              <a:t>此处隐含调用构造方法 </a:t>
            </a:r>
            <a:r>
              <a:rPr lang="en-US" altLang="zh-CN" sz="2200" b="1" dirty="0"/>
              <a:t>Person2()</a:t>
            </a:r>
          </a:p>
          <a:p>
            <a:pPr algn="just" eaLnBrk="1" hangingPunct="1">
              <a:buFont typeface="Georgia" panose="02040502050405020303" pitchFamily="18" charset="0"/>
              <a:buNone/>
            </a:pPr>
            <a:r>
              <a:rPr lang="en-US" altLang="zh-CN" sz="2200" b="1" dirty="0"/>
              <a:t>        this(0, "");</a:t>
            </a:r>
          </a:p>
          <a:p>
            <a:pPr algn="just" eaLnBrk="1" hangingPunct="1">
              <a:buFont typeface="Georgia" panose="02040502050405020303" pitchFamily="18" charset="0"/>
              <a:buNone/>
            </a:pPr>
            <a:r>
              <a:rPr lang="en-US" altLang="zh-CN" sz="2200" b="1" dirty="0"/>
              <a:t>    }</a:t>
            </a:r>
          </a:p>
          <a:p>
            <a:pPr algn="just" eaLnBrk="1" hangingPunct="1">
              <a:buFont typeface="Georgia" panose="02040502050405020303" pitchFamily="18" charset="0"/>
              <a:buNone/>
            </a:pPr>
            <a:r>
              <a:rPr lang="en-US" altLang="zh-CN" sz="2200" b="1" dirty="0"/>
              <a:t>    public Employee2(int </a:t>
            </a:r>
            <a:r>
              <a:rPr lang="en-US" altLang="zh-CN" sz="2200" b="1" dirty="0" err="1"/>
              <a:t>aNumber</a:t>
            </a:r>
            <a:r>
              <a:rPr lang="en-US" altLang="zh-CN" sz="2200" b="1" dirty="0"/>
              <a:t>, String </a:t>
            </a:r>
            <a:r>
              <a:rPr lang="en-US" altLang="zh-CN" sz="2200" b="1" dirty="0" err="1"/>
              <a:t>aPhoneNumber</a:t>
            </a:r>
            <a:r>
              <a:rPr lang="en-US" altLang="zh-CN" sz="2200" b="1" dirty="0"/>
              <a:t>) {</a:t>
            </a:r>
          </a:p>
          <a:p>
            <a:pPr algn="just" eaLnBrk="1" hangingPunct="1">
              <a:buFont typeface="Georgia" panose="02040502050405020303" pitchFamily="18" charset="0"/>
              <a:buNone/>
            </a:pPr>
            <a:r>
              <a:rPr lang="en-US" altLang="zh-CN" sz="2200" b="1" dirty="0"/>
              <a:t>        //</a:t>
            </a:r>
            <a:r>
              <a:rPr lang="zh-CN" altLang="en-US" sz="2200" b="1" dirty="0">
                <a:solidFill>
                  <a:srgbClr val="FF00FF"/>
                </a:solidFill>
              </a:rPr>
              <a:t>此处隐含调用构造方法 </a:t>
            </a:r>
            <a:r>
              <a:rPr lang="en-US" altLang="zh-CN" sz="2200" b="1" dirty="0">
                <a:solidFill>
                  <a:srgbClr val="FF00FF"/>
                </a:solidFill>
              </a:rPr>
              <a:t>Person2()</a:t>
            </a:r>
          </a:p>
          <a:p>
            <a:pPr algn="just" eaLnBrk="1" hangingPunct="1">
              <a:buFont typeface="Georgia" panose="02040502050405020303" pitchFamily="18" charset="0"/>
              <a:buNone/>
            </a:pPr>
            <a:r>
              <a:rPr lang="en-US" altLang="zh-CN" sz="2200" b="1" dirty="0"/>
              <a:t>        </a:t>
            </a:r>
            <a:r>
              <a:rPr lang="en-US" altLang="zh-CN" sz="2200" b="1" dirty="0" err="1"/>
              <a:t>employeeNumber</a:t>
            </a:r>
            <a:r>
              <a:rPr lang="en-US" altLang="zh-CN" sz="2200" b="1" dirty="0"/>
              <a:t> = </a:t>
            </a:r>
            <a:r>
              <a:rPr lang="en-US" altLang="zh-CN" sz="2200" b="1" dirty="0" err="1"/>
              <a:t>aNumber</a:t>
            </a:r>
            <a:r>
              <a:rPr lang="en-US" altLang="zh-CN" sz="2200" b="1" dirty="0"/>
              <a:t>;</a:t>
            </a:r>
          </a:p>
          <a:p>
            <a:pPr algn="just" eaLnBrk="1" hangingPunct="1">
              <a:buFont typeface="Georgia" panose="02040502050405020303" pitchFamily="18" charset="0"/>
              <a:buNone/>
            </a:pPr>
            <a:r>
              <a:rPr lang="en-US" altLang="zh-CN" sz="2200" b="1" dirty="0"/>
              <a:t>        </a:t>
            </a:r>
            <a:r>
              <a:rPr lang="en-US" altLang="zh-CN" sz="2200" b="1" dirty="0" err="1"/>
              <a:t>workPhoneNumber</a:t>
            </a:r>
            <a:r>
              <a:rPr lang="en-US" altLang="zh-CN" sz="2200" b="1" dirty="0"/>
              <a:t> = </a:t>
            </a:r>
            <a:r>
              <a:rPr lang="en-US" altLang="zh-CN" sz="2200" b="1" dirty="0" err="1"/>
              <a:t>aPhoneNumber</a:t>
            </a:r>
            <a:r>
              <a:rPr lang="en-US" altLang="zh-CN" sz="2200" b="1" dirty="0"/>
              <a:t>;</a:t>
            </a:r>
          </a:p>
          <a:p>
            <a:pPr algn="just" eaLnBrk="1" hangingPunct="1">
              <a:buFont typeface="Georgia" panose="02040502050405020303" pitchFamily="18" charset="0"/>
              <a:buNone/>
            </a:pPr>
            <a:r>
              <a:rPr lang="en-US" altLang="zh-CN" sz="2200" b="1" dirty="0"/>
              <a:t>    }</a:t>
            </a:r>
          </a:p>
          <a:p>
            <a:pPr algn="just" eaLnBrk="1" hangingPunct="1">
              <a:buFont typeface="Georgia" panose="02040502050405020303" pitchFamily="18" charset="0"/>
              <a:buNone/>
            </a:pPr>
            <a:r>
              <a:rPr lang="en-US" altLang="zh-CN" sz="2200" b="1" dirty="0"/>
              <a:t>}</a:t>
            </a:r>
          </a:p>
          <a:p>
            <a:pPr algn="just" eaLnBrk="1" hangingPunct="1">
              <a:buFont typeface="Georgia" panose="02040502050405020303" pitchFamily="18" charset="0"/>
              <a:buNone/>
            </a:pPr>
            <a:endParaRPr lang="zh-CN" altLang="en-US" sz="2200" dirty="0"/>
          </a:p>
        </p:txBody>
      </p:sp>
      <p:sp>
        <p:nvSpPr>
          <p:cNvPr id="4" name="文本框 3">
            <a:extLst>
              <a:ext uri="{FF2B5EF4-FFF2-40B4-BE49-F238E27FC236}">
                <a16:creationId xmlns:a16="http://schemas.microsoft.com/office/drawing/2014/main" id="{187EBB9E-E3BF-5E9D-B6A6-54224DCE6F58}"/>
              </a:ext>
            </a:extLst>
          </p:cNvPr>
          <p:cNvSpPr txBox="1"/>
          <p:nvPr>
            <p:custDataLst>
              <p:tags r:id="rId1"/>
            </p:custDataLst>
          </p:nvPr>
        </p:nvSpPr>
        <p:spPr>
          <a:xfrm>
            <a:off x="407368" y="1015213"/>
            <a:ext cx="2952328" cy="432811"/>
          </a:xfrm>
          <a:prstGeom prst="rect">
            <a:avLst/>
          </a:prstGeom>
          <a:solidFill>
            <a:srgbClr val="255EAB"/>
          </a:solidFill>
        </p:spPr>
        <p:txBody>
          <a:bodyPr wrap="square" rtlCol="0">
            <a:spAutoFit/>
          </a:bodyPr>
          <a:lstStyle/>
          <a:p>
            <a:pPr>
              <a:lnSpc>
                <a:spcPts val="3000"/>
              </a:lnSpc>
              <a:spcBef>
                <a:spcPts val="0"/>
              </a:spcBef>
            </a:pPr>
            <a:r>
              <a:rPr lang="zh-CN" altLang="en-US" dirty="0">
                <a:solidFill>
                  <a:schemeClr val="bg1"/>
                </a:solidFill>
                <a:latin typeface="楷体" panose="02010609060101010101" pitchFamily="49" charset="-122"/>
                <a:ea typeface="楷体" panose="02010609060101010101" pitchFamily="49" charset="-122"/>
                <a:cs typeface="思源黑体 CN Heavy" panose="020B0A00000000000000" charset="-122"/>
              </a:rPr>
              <a:t>有继承时的构造方法</a:t>
            </a:r>
          </a:p>
        </p:txBody>
      </p:sp>
      <p:sp>
        <p:nvSpPr>
          <p:cNvPr id="5" name="TextBox 3">
            <a:extLst>
              <a:ext uri="{FF2B5EF4-FFF2-40B4-BE49-F238E27FC236}">
                <a16:creationId xmlns:a16="http://schemas.microsoft.com/office/drawing/2014/main" id="{0F1FF890-23DF-CD31-5801-B2BB92E32463}"/>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4294967295"/>
          </p:nvPr>
        </p:nvSpPr>
        <p:spPr>
          <a:xfrm>
            <a:off x="479376" y="1556792"/>
            <a:ext cx="11449272" cy="5172196"/>
          </a:xfrm>
          <a:prstGeom prst="rect">
            <a:avLst/>
          </a:prstGeom>
        </p:spPr>
        <p:txBody>
          <a:bodyPr lIns="92075" tIns="46038" rIns="92075" bIns="46038">
            <a:noAutofit/>
          </a:bodyPr>
          <a:lstStyle/>
          <a:p>
            <a:pPr algn="just" eaLnBrk="1" hangingPunct="1">
              <a:buFont typeface="Georgia" panose="02040502050405020303" pitchFamily="18" charset="0"/>
              <a:buNone/>
            </a:pPr>
            <a:r>
              <a:rPr lang="en-US" altLang="zh-CN" sz="2400" dirty="0"/>
              <a:t>public class </a:t>
            </a:r>
            <a:r>
              <a:rPr lang="en-US" altLang="zh-CN" sz="2400" b="1" dirty="0">
                <a:solidFill>
                  <a:srgbClr val="FF0000"/>
                </a:solidFill>
              </a:rPr>
              <a:t>Professor</a:t>
            </a:r>
            <a:r>
              <a:rPr lang="en-US" altLang="zh-CN" sz="2400" dirty="0"/>
              <a:t> extends Employee2 {</a:t>
            </a:r>
          </a:p>
          <a:p>
            <a:pPr algn="just" eaLnBrk="1" hangingPunct="1">
              <a:buFont typeface="Georgia" panose="02040502050405020303" pitchFamily="18" charset="0"/>
              <a:buNone/>
            </a:pPr>
            <a:r>
              <a:rPr lang="en-US" altLang="zh-CN" sz="2400" dirty="0"/>
              <a:t>    protected String research;</a:t>
            </a:r>
          </a:p>
          <a:p>
            <a:pPr algn="just" eaLnBrk="1" hangingPunct="1">
              <a:buFont typeface="Georgia" panose="02040502050405020303" pitchFamily="18" charset="0"/>
              <a:buNone/>
            </a:pPr>
            <a:r>
              <a:rPr lang="en-US" altLang="zh-CN" sz="2400" dirty="0"/>
              <a:t>    public Professor() {</a:t>
            </a:r>
          </a:p>
          <a:p>
            <a:pPr algn="just" eaLnBrk="1" hangingPunct="1">
              <a:buFont typeface="Georgia" panose="02040502050405020303" pitchFamily="18" charset="0"/>
              <a:buNone/>
            </a:pPr>
            <a:r>
              <a:rPr lang="en-US" altLang="zh-CN" sz="2400" dirty="0"/>
              <a:t>        </a:t>
            </a:r>
            <a:r>
              <a:rPr lang="en-US" altLang="zh-CN" sz="2400" dirty="0">
                <a:solidFill>
                  <a:srgbClr val="FF00FF"/>
                </a:solidFill>
              </a:rPr>
              <a:t>super();</a:t>
            </a:r>
          </a:p>
          <a:p>
            <a:pPr algn="just" eaLnBrk="1" hangingPunct="1">
              <a:buFont typeface="Georgia" panose="02040502050405020303" pitchFamily="18" charset="0"/>
              <a:buNone/>
            </a:pPr>
            <a:r>
              <a:rPr lang="en-US" altLang="zh-CN" sz="2400" dirty="0"/>
              <a:t>        research = "";</a:t>
            </a:r>
          </a:p>
          <a:p>
            <a:pPr algn="just" eaLnBrk="1" hangingPunct="1">
              <a:buFont typeface="Georgia" panose="02040502050405020303" pitchFamily="18" charset="0"/>
              <a:buNone/>
            </a:pPr>
            <a:r>
              <a:rPr lang="en-US" altLang="zh-CN" sz="2400" dirty="0"/>
              <a:t>    }</a:t>
            </a:r>
          </a:p>
          <a:p>
            <a:pPr algn="just" eaLnBrk="1" hangingPunct="1">
              <a:buFont typeface="Georgia" panose="02040502050405020303" pitchFamily="18" charset="0"/>
              <a:buNone/>
            </a:pPr>
            <a:r>
              <a:rPr lang="en-US" altLang="zh-CN" sz="2400" dirty="0"/>
              <a:t>    public Professor(int </a:t>
            </a:r>
            <a:r>
              <a:rPr lang="en-US" altLang="zh-CN" sz="2400" dirty="0" err="1"/>
              <a:t>aNumber</a:t>
            </a:r>
            <a:r>
              <a:rPr lang="en-US" altLang="zh-CN" sz="2400" dirty="0"/>
              <a:t>, String </a:t>
            </a:r>
            <a:r>
              <a:rPr lang="en-US" altLang="zh-CN" sz="2400" dirty="0" err="1"/>
              <a:t>aPhoneNumber</a:t>
            </a:r>
            <a:r>
              <a:rPr lang="en-US" altLang="zh-CN" sz="2400" dirty="0"/>
              <a:t>, String </a:t>
            </a:r>
            <a:r>
              <a:rPr lang="en-US" altLang="zh-CN" sz="2400" dirty="0" err="1"/>
              <a:t>aResearch</a:t>
            </a:r>
            <a:r>
              <a:rPr lang="en-US" altLang="zh-CN" sz="2400" dirty="0"/>
              <a:t>) {</a:t>
            </a:r>
          </a:p>
          <a:p>
            <a:pPr algn="just" eaLnBrk="1" hangingPunct="1">
              <a:buFont typeface="Georgia" panose="02040502050405020303" pitchFamily="18" charset="0"/>
              <a:buNone/>
            </a:pPr>
            <a:r>
              <a:rPr lang="en-US" altLang="zh-CN" sz="2400" dirty="0"/>
              <a:t>        </a:t>
            </a:r>
            <a:r>
              <a:rPr lang="en-US" altLang="zh-CN" sz="2400" dirty="0">
                <a:solidFill>
                  <a:srgbClr val="FF00FF"/>
                </a:solidFill>
              </a:rPr>
              <a:t>super(</a:t>
            </a:r>
            <a:r>
              <a:rPr lang="en-US" altLang="zh-CN" sz="2400" dirty="0" err="1">
                <a:solidFill>
                  <a:srgbClr val="FF00FF"/>
                </a:solidFill>
              </a:rPr>
              <a:t>aNumber</a:t>
            </a:r>
            <a:r>
              <a:rPr lang="en-US" altLang="zh-CN" sz="2400" dirty="0">
                <a:solidFill>
                  <a:srgbClr val="FF00FF"/>
                </a:solidFill>
              </a:rPr>
              <a:t>, </a:t>
            </a:r>
            <a:r>
              <a:rPr lang="en-US" altLang="zh-CN" sz="2400" dirty="0" err="1">
                <a:solidFill>
                  <a:srgbClr val="FF00FF"/>
                </a:solidFill>
              </a:rPr>
              <a:t>aPhoneNumber</a:t>
            </a:r>
            <a:r>
              <a:rPr lang="en-US" altLang="zh-CN" sz="2400" dirty="0">
                <a:solidFill>
                  <a:srgbClr val="FF00FF"/>
                </a:solidFill>
              </a:rPr>
              <a:t>);</a:t>
            </a:r>
          </a:p>
          <a:p>
            <a:pPr algn="just" eaLnBrk="1" hangingPunct="1">
              <a:buFont typeface="Georgia" panose="02040502050405020303" pitchFamily="18" charset="0"/>
              <a:buNone/>
            </a:pPr>
            <a:r>
              <a:rPr lang="en-US" altLang="zh-CN" sz="2400" dirty="0"/>
              <a:t>        research = </a:t>
            </a:r>
            <a:r>
              <a:rPr lang="en-US" altLang="zh-CN" sz="2400" dirty="0" err="1"/>
              <a:t>aResearch</a:t>
            </a:r>
            <a:r>
              <a:rPr lang="en-US" altLang="zh-CN" sz="2400" dirty="0"/>
              <a:t>;</a:t>
            </a:r>
          </a:p>
          <a:p>
            <a:pPr algn="just" eaLnBrk="1" hangingPunct="1">
              <a:buFont typeface="Georgia" panose="02040502050405020303" pitchFamily="18" charset="0"/>
              <a:buNone/>
            </a:pPr>
            <a:r>
              <a:rPr lang="en-US" altLang="zh-CN" sz="2400" dirty="0"/>
              <a:t>    }</a:t>
            </a:r>
          </a:p>
          <a:p>
            <a:pPr algn="just" eaLnBrk="1" hangingPunct="1">
              <a:buFont typeface="Georgia" panose="02040502050405020303" pitchFamily="18" charset="0"/>
              <a:buNone/>
            </a:pPr>
            <a:r>
              <a:rPr lang="en-US" altLang="zh-CN" sz="2400" dirty="0"/>
              <a:t>}</a:t>
            </a:r>
          </a:p>
        </p:txBody>
      </p:sp>
      <p:sp>
        <p:nvSpPr>
          <p:cNvPr id="4" name="文本框 3">
            <a:extLst>
              <a:ext uri="{FF2B5EF4-FFF2-40B4-BE49-F238E27FC236}">
                <a16:creationId xmlns:a16="http://schemas.microsoft.com/office/drawing/2014/main" id="{1921462C-872B-D9AD-BE2B-6AE42C60EBD3}"/>
              </a:ext>
            </a:extLst>
          </p:cNvPr>
          <p:cNvSpPr txBox="1"/>
          <p:nvPr>
            <p:custDataLst>
              <p:tags r:id="rId1"/>
            </p:custDataLst>
          </p:nvPr>
        </p:nvSpPr>
        <p:spPr>
          <a:xfrm>
            <a:off x="407368" y="1015213"/>
            <a:ext cx="3384376"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有继承时的构造方法</a:t>
            </a:r>
          </a:p>
        </p:txBody>
      </p:sp>
      <p:sp>
        <p:nvSpPr>
          <p:cNvPr id="5" name="TextBox 3">
            <a:extLst>
              <a:ext uri="{FF2B5EF4-FFF2-40B4-BE49-F238E27FC236}">
                <a16:creationId xmlns:a16="http://schemas.microsoft.com/office/drawing/2014/main" id="{BC61210A-2CFA-4B5C-C05E-6B4EC8D47528}"/>
              </a:ext>
            </a:extLst>
          </p:cNvPr>
          <p:cNvSpPr txBox="1"/>
          <p:nvPr>
            <p:custDataLst>
              <p:tags r:id="rId2"/>
            </p:custDataLst>
          </p:nvPr>
        </p:nvSpPr>
        <p:spPr>
          <a:xfrm>
            <a:off x="4079776" y="57004"/>
            <a:ext cx="31683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3.1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类的继承</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idx="4294967295"/>
          </p:nvPr>
        </p:nvSpPr>
        <p:spPr>
          <a:xfrm>
            <a:off x="1127448" y="1628800"/>
            <a:ext cx="8856984" cy="2016224"/>
          </a:xfrm>
          <a:prstGeom prst="rect">
            <a:avLst/>
          </a:prstGeom>
        </p:spPr>
        <p:txBody>
          <a:bodyPr lIns="92075" tIns="46038" rIns="92075" bIns="46038"/>
          <a:lstStyle/>
          <a:p>
            <a:pPr eaLnBrk="1" hangingPunct="1">
              <a:lnSpc>
                <a:spcPct val="200000"/>
              </a:lnSpc>
              <a:spcBef>
                <a:spcPts val="0"/>
              </a:spcBef>
              <a:buFont typeface="Wingdings" panose="05000000000000000000" pitchFamily="2" charset="2"/>
              <a:buChar char="Ø"/>
            </a:pPr>
            <a:r>
              <a:rPr lang="zh-CN" altLang="en-US" sz="2800" b="1" dirty="0"/>
              <a:t>所有类的直接或间接超类，</a:t>
            </a:r>
            <a:r>
              <a:rPr lang="zh-CN" altLang="en-US" sz="2800" b="1" dirty="0">
                <a:solidFill>
                  <a:srgbClr val="FF00FF"/>
                </a:solidFill>
              </a:rPr>
              <a:t>处在类层次最高点</a:t>
            </a:r>
            <a:r>
              <a:rPr lang="zh-CN" altLang="en-US" sz="2800" b="1" dirty="0"/>
              <a:t>；</a:t>
            </a:r>
          </a:p>
          <a:p>
            <a:pPr eaLnBrk="1" hangingPunct="1">
              <a:lnSpc>
                <a:spcPct val="200000"/>
              </a:lnSpc>
              <a:spcBef>
                <a:spcPts val="0"/>
              </a:spcBef>
              <a:buFont typeface="Wingdings" panose="05000000000000000000" pitchFamily="2" charset="2"/>
              <a:buChar char="Ø"/>
            </a:pPr>
            <a:r>
              <a:rPr lang="zh-CN" altLang="en-US" sz="2800" b="1" dirty="0"/>
              <a:t>包含了</a:t>
            </a:r>
            <a:r>
              <a:rPr lang="zh-CN" altLang="en-US" sz="2800" b="1" dirty="0">
                <a:solidFill>
                  <a:srgbClr val="FF00FF"/>
                </a:solidFill>
              </a:rPr>
              <a:t>所有</a:t>
            </a:r>
            <a:r>
              <a:rPr lang="en-US" altLang="zh-CN" sz="2800" b="1" dirty="0">
                <a:solidFill>
                  <a:srgbClr val="FF00FF"/>
                </a:solidFill>
              </a:rPr>
              <a:t>Java</a:t>
            </a:r>
            <a:r>
              <a:rPr lang="zh-CN" altLang="en-US" sz="2800" b="1" dirty="0">
                <a:solidFill>
                  <a:srgbClr val="FF00FF"/>
                </a:solidFill>
              </a:rPr>
              <a:t>类的公共属性</a:t>
            </a:r>
            <a:r>
              <a:rPr lang="zh-CN" altLang="en-US" sz="2800" b="1" dirty="0"/>
              <a:t>。</a:t>
            </a:r>
          </a:p>
        </p:txBody>
      </p:sp>
      <p:sp>
        <p:nvSpPr>
          <p:cNvPr id="6656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68B340A-2252-4509-BB6F-F71439223CE4}" type="slidenum">
              <a:rPr kumimoji="1" lang="en-US" altLang="zh-CN" sz="1800" smtClean="0">
                <a:solidFill>
                  <a:schemeClr val="bg1"/>
                </a:solidFill>
                <a:latin typeface="Times New Roman" panose="02020603050405020304" pitchFamily="18" charset="0"/>
              </a:rPr>
              <a:pPr>
                <a:spcBef>
                  <a:spcPct val="0"/>
                </a:spcBef>
                <a:buClrTx/>
                <a:buFontTx/>
                <a:buNone/>
              </a:pPr>
              <a:t>22</a:t>
            </a:fld>
            <a:endParaRPr kumimoji="1" lang="en-US" altLang="zh-CN" sz="1800">
              <a:solidFill>
                <a:schemeClr val="bg1"/>
              </a:solidFill>
              <a:latin typeface="Times New Roman" panose="02020603050405020304" pitchFamily="18" charset="0"/>
            </a:endParaRPr>
          </a:p>
        </p:txBody>
      </p:sp>
      <p:sp>
        <p:nvSpPr>
          <p:cNvPr id="3" name="TextBox 3">
            <a:extLst>
              <a:ext uri="{FF2B5EF4-FFF2-40B4-BE49-F238E27FC236}">
                <a16:creationId xmlns:a16="http://schemas.microsoft.com/office/drawing/2014/main" id="{1BEF98EA-982F-A870-853A-53D1E9B7B880}"/>
              </a:ext>
            </a:extLst>
          </p:cNvPr>
          <p:cNvSpPr txBox="1"/>
          <p:nvPr>
            <p:custDataLst>
              <p:tags r:id="rId1"/>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p:cNvSpPr>
            <a:spLocks noGrp="1" noChangeArrowheads="1"/>
          </p:cNvSpPr>
          <p:nvPr>
            <p:ph idx="4294967295"/>
          </p:nvPr>
        </p:nvSpPr>
        <p:spPr>
          <a:xfrm>
            <a:off x="609600" y="1600200"/>
            <a:ext cx="11463064" cy="4924425"/>
          </a:xfrm>
          <a:prstGeom prst="rect">
            <a:avLst/>
          </a:prstGeom>
        </p:spPr>
        <p:txBody>
          <a:bodyPr lIns="92075" tIns="46038" rIns="92075" bIns="46038">
            <a:noAutofit/>
          </a:bodyPr>
          <a:lstStyle/>
          <a:p>
            <a:pPr eaLnBrk="1" hangingPunct="1">
              <a:lnSpc>
                <a:spcPct val="150000"/>
              </a:lnSpc>
              <a:spcBef>
                <a:spcPts val="0"/>
              </a:spcBef>
              <a:buFont typeface="Wingdings" panose="05000000000000000000" pitchFamily="2" charset="2"/>
              <a:buChar char="Ø"/>
            </a:pPr>
            <a:r>
              <a:rPr lang="zh-CN" altLang="en-US" sz="2600" b="1" dirty="0"/>
              <a:t>在</a:t>
            </a:r>
            <a:r>
              <a:rPr lang="en-US" altLang="zh-CN" sz="2600" b="1" dirty="0"/>
              <a:t>Object</a:t>
            </a:r>
            <a:r>
              <a:rPr lang="zh-CN" altLang="en-US" sz="2600" b="1" dirty="0"/>
              <a:t>类中声明的</a:t>
            </a:r>
            <a:r>
              <a:rPr lang="en-US" altLang="zh-CN" sz="2600" b="1" dirty="0">
                <a:solidFill>
                  <a:srgbClr val="FF00FF"/>
                </a:solidFill>
              </a:rPr>
              <a:t>equals()</a:t>
            </a:r>
            <a:r>
              <a:rPr lang="zh-CN" altLang="en-US" sz="2600" b="1" dirty="0"/>
              <a:t>方法功能是</a:t>
            </a:r>
            <a:r>
              <a:rPr lang="zh-CN" altLang="en-US" sz="2600" b="1" dirty="0">
                <a:solidFill>
                  <a:srgbClr val="FF00FF"/>
                </a:solidFill>
                <a:highlight>
                  <a:srgbClr val="FFFF00"/>
                </a:highlight>
              </a:rPr>
              <a:t>比较两个对象引用是否指向同一对象，而不是比较两个引用指向的对象是否相等</a:t>
            </a:r>
            <a:r>
              <a:rPr lang="zh-CN" altLang="en-US" sz="2600" b="1" dirty="0"/>
              <a:t>。</a:t>
            </a:r>
            <a:endParaRPr lang="en-US" altLang="zh-CN" sz="2600" b="1" dirty="0"/>
          </a:p>
          <a:p>
            <a:pPr eaLnBrk="1" hangingPunct="1">
              <a:lnSpc>
                <a:spcPct val="150000"/>
              </a:lnSpc>
              <a:spcBef>
                <a:spcPts val="0"/>
              </a:spcBef>
              <a:buFont typeface="Wingdings" panose="05000000000000000000" pitchFamily="2" charset="2"/>
              <a:buChar char="Ø"/>
            </a:pPr>
            <a:r>
              <a:rPr lang="zh-CN" altLang="en-US" sz="2600" b="1" dirty="0"/>
              <a:t>两个</a:t>
            </a:r>
            <a:r>
              <a:rPr lang="zh-CN" altLang="en-US" sz="2600" b="1" dirty="0">
                <a:solidFill>
                  <a:srgbClr val="FF00FF"/>
                </a:solidFill>
              </a:rPr>
              <a:t>对象具有相同的类型，及相同的属性值，则称二者相等(</a:t>
            </a:r>
            <a:r>
              <a:rPr lang="en-US" altLang="zh-CN" sz="2600" b="1" dirty="0">
                <a:solidFill>
                  <a:srgbClr val="FF00FF"/>
                </a:solidFill>
              </a:rPr>
              <a:t>equal)</a:t>
            </a:r>
            <a:r>
              <a:rPr lang="zh-CN" altLang="en-US" sz="2600" b="1" dirty="0">
                <a:solidFill>
                  <a:srgbClr val="FF00FF"/>
                </a:solidFill>
              </a:rPr>
              <a:t>。</a:t>
            </a:r>
            <a:endParaRPr lang="en-US" altLang="zh-CN" sz="2600" b="1" dirty="0">
              <a:solidFill>
                <a:srgbClr val="FF00FF"/>
              </a:solidFill>
            </a:endParaRPr>
          </a:p>
          <a:p>
            <a:pPr eaLnBrk="1" hangingPunct="1">
              <a:lnSpc>
                <a:spcPct val="150000"/>
              </a:lnSpc>
              <a:spcBef>
                <a:spcPts val="0"/>
              </a:spcBef>
              <a:buFont typeface="Wingdings" panose="05000000000000000000" pitchFamily="2" charset="2"/>
              <a:buChar char="Ø"/>
            </a:pPr>
            <a:r>
              <a:rPr lang="zh-CN" altLang="en-US" sz="2600" b="1" dirty="0"/>
              <a:t>如果</a:t>
            </a:r>
            <a:r>
              <a:rPr lang="zh-CN" altLang="en-US" sz="2600" b="1" dirty="0">
                <a:solidFill>
                  <a:srgbClr val="FF00FF"/>
                </a:solidFill>
              </a:rPr>
              <a:t>两个引用变量指向的是同一个对象，则称这两个引用变量同一(</a:t>
            </a:r>
            <a:r>
              <a:rPr lang="en-US" altLang="zh-CN" sz="2600" b="1" dirty="0">
                <a:solidFill>
                  <a:srgbClr val="FF00FF"/>
                </a:solidFill>
              </a:rPr>
              <a:t>identical)</a:t>
            </a:r>
            <a:r>
              <a:rPr lang="zh-CN" altLang="en-US" sz="2600" b="1" dirty="0"/>
              <a:t>。</a:t>
            </a:r>
            <a:endParaRPr lang="en-US" altLang="zh-CN" sz="2600" b="1" dirty="0"/>
          </a:p>
          <a:p>
            <a:pPr eaLnBrk="1" hangingPunct="1">
              <a:lnSpc>
                <a:spcPct val="150000"/>
              </a:lnSpc>
              <a:spcBef>
                <a:spcPts val="0"/>
              </a:spcBef>
              <a:buFont typeface="Wingdings" panose="05000000000000000000" pitchFamily="2" charset="2"/>
              <a:buChar char="Ø"/>
            </a:pPr>
            <a:r>
              <a:rPr lang="zh-CN" altLang="en-US" sz="2600" b="1" dirty="0"/>
              <a:t>两个对象同一，则肯定相等。</a:t>
            </a:r>
          </a:p>
          <a:p>
            <a:pPr eaLnBrk="1" hangingPunct="1">
              <a:lnSpc>
                <a:spcPct val="150000"/>
              </a:lnSpc>
              <a:spcBef>
                <a:spcPts val="0"/>
              </a:spcBef>
              <a:buFont typeface="Wingdings" panose="05000000000000000000" pitchFamily="2" charset="2"/>
              <a:buChar char="Ø"/>
            </a:pPr>
            <a:r>
              <a:rPr lang="zh-CN" altLang="en-US" sz="2600" b="1" dirty="0"/>
              <a:t>两个对象相等，不一定同一。</a:t>
            </a:r>
          </a:p>
          <a:p>
            <a:pPr eaLnBrk="1" hangingPunct="1">
              <a:lnSpc>
                <a:spcPct val="150000"/>
              </a:lnSpc>
              <a:spcBef>
                <a:spcPts val="0"/>
              </a:spcBef>
              <a:buClr>
                <a:schemeClr val="tx1"/>
              </a:buClr>
              <a:buFont typeface="Wingdings" panose="05000000000000000000" pitchFamily="2" charset="2"/>
              <a:buChar char="Ø"/>
            </a:pPr>
            <a:r>
              <a:rPr lang="zh-CN" altLang="en-US" sz="2600" b="1" dirty="0">
                <a:solidFill>
                  <a:srgbClr val="FF00FF"/>
                </a:solidFill>
                <a:highlight>
                  <a:srgbClr val="FFFF00"/>
                </a:highlight>
              </a:rPr>
              <a:t>比较运算符“==” 判断的是这两个对象是否同一</a:t>
            </a:r>
            <a:r>
              <a:rPr lang="zh-CN" altLang="en-US" sz="2600" b="1" dirty="0"/>
              <a:t>。</a:t>
            </a:r>
          </a:p>
        </p:txBody>
      </p:sp>
      <p:sp>
        <p:nvSpPr>
          <p:cNvPr id="3" name="文本框 2">
            <a:extLst>
              <a:ext uri="{FF2B5EF4-FFF2-40B4-BE49-F238E27FC236}">
                <a16:creationId xmlns:a16="http://schemas.microsoft.com/office/drawing/2014/main" id="{6634A416-3206-F924-1EE4-B2C2FC974ABB}"/>
              </a:ext>
            </a:extLst>
          </p:cNvPr>
          <p:cNvSpPr txBox="1"/>
          <p:nvPr>
            <p:custDataLst>
              <p:tags r:id="rId1"/>
            </p:custDataLst>
          </p:nvPr>
        </p:nvSpPr>
        <p:spPr>
          <a:xfrm>
            <a:off x="407368" y="1015213"/>
            <a:ext cx="208823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相等和同一</a:t>
            </a:r>
          </a:p>
        </p:txBody>
      </p:sp>
      <p:sp>
        <p:nvSpPr>
          <p:cNvPr id="4" name="TextBox 3">
            <a:extLst>
              <a:ext uri="{FF2B5EF4-FFF2-40B4-BE49-F238E27FC236}">
                <a16:creationId xmlns:a16="http://schemas.microsoft.com/office/drawing/2014/main" id="{A0E95F07-6FF9-4117-27AF-D2AD10C97DB7}"/>
              </a:ext>
            </a:extLst>
          </p:cNvPr>
          <p:cNvSpPr txBox="1"/>
          <p:nvPr>
            <p:custDataLst>
              <p:tags r:id="rId2"/>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Tree>
    <p:extLst>
      <p:ext uri="{BB962C8B-B14F-4D97-AF65-F5344CB8AC3E}">
        <p14:creationId xmlns:p14="http://schemas.microsoft.com/office/powerpoint/2010/main" val="2817463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a:spLocks noGrp="1" noChangeArrowheads="1"/>
          </p:cNvSpPr>
          <p:nvPr>
            <p:ph idx="4294967295"/>
          </p:nvPr>
        </p:nvSpPr>
        <p:spPr>
          <a:xfrm>
            <a:off x="591083" y="1628817"/>
            <a:ext cx="10972800" cy="4213987"/>
          </a:xfrm>
          <a:prstGeom prst="rect">
            <a:avLst/>
          </a:prstGeom>
        </p:spPr>
        <p:txBody>
          <a:bodyPr lIns="92075" tIns="46038" rIns="92075" bIns="46038">
            <a:normAutofit lnSpcReduction="10000"/>
          </a:bodyPr>
          <a:lstStyle/>
          <a:p>
            <a:pPr marL="109537" indent="0" eaLnBrk="1" hangingPunct="1">
              <a:lnSpc>
                <a:spcPct val="90000"/>
              </a:lnSpc>
              <a:buNone/>
            </a:pPr>
            <a:r>
              <a:rPr lang="en-US" altLang="zh-CN" sz="2500" dirty="0"/>
              <a:t>public class IdenticalTester1{</a:t>
            </a:r>
          </a:p>
          <a:p>
            <a:pPr marL="109537" indent="0" eaLnBrk="1" hangingPunct="1">
              <a:lnSpc>
                <a:spcPct val="90000"/>
              </a:lnSpc>
              <a:buNone/>
            </a:pPr>
            <a:r>
              <a:rPr lang="en-US" altLang="zh-CN" sz="2500" dirty="0"/>
              <a:t>    public static void main(String </a:t>
            </a:r>
            <a:r>
              <a:rPr lang="en-US" altLang="zh-CN" sz="2500" dirty="0" err="1"/>
              <a:t>args</a:t>
            </a:r>
            <a:r>
              <a:rPr lang="en-US" altLang="zh-CN" sz="2500" dirty="0"/>
              <a:t>[]) {</a:t>
            </a:r>
          </a:p>
          <a:p>
            <a:pPr marL="109537" indent="0" eaLnBrk="1" hangingPunct="1">
              <a:lnSpc>
                <a:spcPct val="90000"/>
              </a:lnSpc>
              <a:buNone/>
            </a:pPr>
            <a:r>
              <a:rPr lang="en-US" altLang="zh-CN" sz="2500" dirty="0"/>
              <a:t>        </a:t>
            </a:r>
            <a:r>
              <a:rPr lang="en-US" altLang="zh-CN" sz="2500" dirty="0" err="1"/>
              <a:t>BankAccount</a:t>
            </a:r>
            <a:r>
              <a:rPr lang="en-US" altLang="zh-CN" sz="2500" dirty="0"/>
              <a:t> a = new </a:t>
            </a:r>
            <a:r>
              <a:rPr lang="en-US" altLang="zh-CN" sz="2500" dirty="0" err="1"/>
              <a:t>BankAccount</a:t>
            </a:r>
            <a:r>
              <a:rPr lang="en-US" altLang="zh-CN" sz="2500" dirty="0"/>
              <a:t>("Bob", 123456, 100.00f);</a:t>
            </a:r>
          </a:p>
          <a:p>
            <a:pPr marL="109537" indent="0" eaLnBrk="1" hangingPunct="1">
              <a:lnSpc>
                <a:spcPct val="90000"/>
              </a:lnSpc>
              <a:buNone/>
            </a:pPr>
            <a:r>
              <a:rPr lang="en-US" altLang="zh-CN" sz="2500" dirty="0"/>
              <a:t>        </a:t>
            </a:r>
            <a:r>
              <a:rPr lang="en-US" altLang="zh-CN" sz="2500" dirty="0" err="1"/>
              <a:t>BankAccount</a:t>
            </a:r>
            <a:r>
              <a:rPr lang="en-US" altLang="zh-CN" sz="2500" dirty="0"/>
              <a:t> b = new </a:t>
            </a:r>
            <a:r>
              <a:rPr lang="en-US" altLang="zh-CN" sz="2500" dirty="0" err="1"/>
              <a:t>BankAccount</a:t>
            </a:r>
            <a:r>
              <a:rPr lang="en-US" altLang="zh-CN" sz="2500" dirty="0"/>
              <a:t>("Bob", 123456, 100.00f);</a:t>
            </a:r>
          </a:p>
          <a:p>
            <a:pPr marL="109537" indent="0" eaLnBrk="1" hangingPunct="1">
              <a:lnSpc>
                <a:spcPct val="90000"/>
              </a:lnSpc>
              <a:buNone/>
            </a:pPr>
            <a:r>
              <a:rPr lang="en-US" altLang="zh-CN" sz="2500" dirty="0"/>
              <a:t>        if (a == b) {</a:t>
            </a:r>
          </a:p>
          <a:p>
            <a:pPr marL="109537" indent="0" eaLnBrk="1" hangingPunct="1">
              <a:lnSpc>
                <a:spcPct val="90000"/>
              </a:lnSpc>
              <a:buNone/>
            </a:pPr>
            <a:r>
              <a:rPr lang="en-US" altLang="zh-CN" sz="2500" dirty="0"/>
              <a:t>            </a:t>
            </a:r>
            <a:r>
              <a:rPr lang="en-US" altLang="zh-CN" sz="2500" dirty="0" err="1"/>
              <a:t>System.out.println</a:t>
            </a:r>
            <a:r>
              <a:rPr lang="en-US" altLang="zh-CN" sz="2500" dirty="0"/>
              <a:t>("YES");</a:t>
            </a:r>
          </a:p>
          <a:p>
            <a:pPr marL="109537" indent="0" eaLnBrk="1" hangingPunct="1">
              <a:lnSpc>
                <a:spcPct val="90000"/>
              </a:lnSpc>
              <a:buNone/>
            </a:pPr>
            <a:r>
              <a:rPr lang="en-US" altLang="zh-CN" sz="2500" dirty="0"/>
              <a:t>        } else {</a:t>
            </a:r>
          </a:p>
          <a:p>
            <a:pPr marL="109537" indent="0" eaLnBrk="1" hangingPunct="1">
              <a:lnSpc>
                <a:spcPct val="90000"/>
              </a:lnSpc>
              <a:buNone/>
            </a:pPr>
            <a:r>
              <a:rPr lang="en-US" altLang="zh-CN" sz="2500" dirty="0"/>
              <a:t>            </a:t>
            </a:r>
            <a:r>
              <a:rPr lang="en-US" altLang="zh-CN" sz="2500" dirty="0" err="1"/>
              <a:t>System.out.println</a:t>
            </a:r>
            <a:r>
              <a:rPr lang="en-US" altLang="zh-CN" sz="2500" dirty="0"/>
              <a:t>("NO");</a:t>
            </a:r>
          </a:p>
          <a:p>
            <a:pPr marL="109537" indent="0" eaLnBrk="1" hangingPunct="1">
              <a:lnSpc>
                <a:spcPct val="90000"/>
              </a:lnSpc>
              <a:buNone/>
            </a:pPr>
            <a:r>
              <a:rPr lang="en-US" altLang="zh-CN" sz="2500" dirty="0"/>
              <a:t>        }</a:t>
            </a:r>
          </a:p>
          <a:p>
            <a:pPr marL="109537" indent="0" eaLnBrk="1" hangingPunct="1">
              <a:lnSpc>
                <a:spcPct val="90000"/>
              </a:lnSpc>
              <a:buNone/>
            </a:pPr>
            <a:r>
              <a:rPr lang="en-US" altLang="zh-CN" sz="2500" dirty="0"/>
              <a:t>    }</a:t>
            </a:r>
          </a:p>
          <a:p>
            <a:pPr marL="109537" indent="0" eaLnBrk="1" hangingPunct="1">
              <a:lnSpc>
                <a:spcPct val="90000"/>
              </a:lnSpc>
              <a:buNone/>
            </a:pPr>
            <a:r>
              <a:rPr lang="en-US" altLang="zh-CN" sz="2500" dirty="0"/>
              <a:t>}</a:t>
            </a:r>
            <a:endParaRPr lang="zh-CN" altLang="en-US" sz="2000" dirty="0"/>
          </a:p>
        </p:txBody>
      </p:sp>
      <p:sp>
        <p:nvSpPr>
          <p:cNvPr id="5" name="TextBox 3">
            <a:extLst>
              <a:ext uri="{FF2B5EF4-FFF2-40B4-BE49-F238E27FC236}">
                <a16:creationId xmlns:a16="http://schemas.microsoft.com/office/drawing/2014/main" id="{9583BD3F-2FDE-5A75-79CC-09DACDE22F4D}"/>
              </a:ext>
            </a:extLst>
          </p:cNvPr>
          <p:cNvSpPr txBox="1"/>
          <p:nvPr>
            <p:custDataLst>
              <p:tags r:id="rId1"/>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
        <p:nvSpPr>
          <p:cNvPr id="2" name="Rectangle 3">
            <a:extLst>
              <a:ext uri="{FF2B5EF4-FFF2-40B4-BE49-F238E27FC236}">
                <a16:creationId xmlns:a16="http://schemas.microsoft.com/office/drawing/2014/main" id="{05167C1B-C097-6F1E-913B-A4D70E3889C3}"/>
              </a:ext>
            </a:extLst>
          </p:cNvPr>
          <p:cNvSpPr txBox="1">
            <a:spLocks noChangeArrowheads="1"/>
          </p:cNvSpPr>
          <p:nvPr/>
        </p:nvSpPr>
        <p:spPr>
          <a:xfrm>
            <a:off x="407368" y="5979354"/>
            <a:ext cx="11340230" cy="792088"/>
          </a:xfrm>
          <a:prstGeom prst="rect">
            <a:avLst/>
          </a:prstGeom>
        </p:spPr>
        <p:txBody>
          <a:bodyPr lIns="92075" tIns="46038" rIns="92075" bIns="46038">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lnSpc>
                <a:spcPct val="150000"/>
              </a:lnSpc>
              <a:spcBef>
                <a:spcPts val="0"/>
              </a:spcBef>
              <a:spcAft>
                <a:spcPts val="0"/>
              </a:spcAft>
              <a:buNone/>
            </a:pPr>
            <a:r>
              <a:rPr kumimoji="0" lang="en-US" altLang="zh-CN" sz="2000" b="1" dirty="0"/>
              <a:t>    </a:t>
            </a:r>
            <a:r>
              <a:rPr kumimoji="0" lang="en-US" altLang="zh-CN" sz="2000" b="1" dirty="0" err="1">
                <a:solidFill>
                  <a:srgbClr val="FF00FF"/>
                </a:solidFill>
              </a:rPr>
              <a:t>BankAccount</a:t>
            </a:r>
            <a:r>
              <a:rPr kumimoji="0" lang="zh-CN" altLang="en-US" sz="2000" b="1" dirty="0">
                <a:solidFill>
                  <a:srgbClr val="FF00FF"/>
                </a:solidFill>
              </a:rPr>
              <a:t>类在2.5.1中声明，此程序运行的结果为“</a:t>
            </a:r>
            <a:r>
              <a:rPr kumimoji="0" lang="en-US" altLang="zh-CN" sz="2000" b="1" dirty="0">
                <a:solidFill>
                  <a:srgbClr val="FF00FF"/>
                </a:solidFill>
              </a:rPr>
              <a:t>NO”，</a:t>
            </a:r>
            <a:r>
              <a:rPr kumimoji="0" lang="zh-CN" altLang="en-US" sz="2000" b="1" dirty="0">
                <a:solidFill>
                  <a:srgbClr val="FF00FF"/>
                </a:solidFill>
              </a:rPr>
              <a:t>原因是使用“==”判断的是两个引用是否同一。</a:t>
            </a:r>
          </a:p>
        </p:txBody>
      </p:sp>
      <p:sp>
        <p:nvSpPr>
          <p:cNvPr id="3" name="文本框 2">
            <a:extLst>
              <a:ext uri="{FF2B5EF4-FFF2-40B4-BE49-F238E27FC236}">
                <a16:creationId xmlns:a16="http://schemas.microsoft.com/office/drawing/2014/main" id="{F261C00E-24C6-1A85-5FFA-B52986B18542}"/>
              </a:ext>
            </a:extLst>
          </p:cNvPr>
          <p:cNvSpPr txBox="1"/>
          <p:nvPr>
            <p:custDataLst>
              <p:tags r:id="rId2"/>
            </p:custDataLst>
          </p:nvPr>
        </p:nvSpPr>
        <p:spPr>
          <a:xfrm>
            <a:off x="407368" y="1015213"/>
            <a:ext cx="208823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相等和同一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p:cNvSpPr>
            <a:spLocks noGrp="1" noChangeArrowheads="1"/>
          </p:cNvSpPr>
          <p:nvPr>
            <p:ph idx="4294967295"/>
          </p:nvPr>
        </p:nvSpPr>
        <p:spPr>
          <a:xfrm>
            <a:off x="609600" y="1600200"/>
            <a:ext cx="11391056" cy="4997152"/>
          </a:xfrm>
          <a:prstGeom prst="rect">
            <a:avLst/>
          </a:prstGeom>
        </p:spPr>
        <p:txBody>
          <a:bodyPr lIns="92075" tIns="46038" rIns="92075" bIns="46038">
            <a:normAutofit lnSpcReduction="10000"/>
          </a:bodyPr>
          <a:lstStyle/>
          <a:p>
            <a:pPr marL="109537" indent="0" eaLnBrk="1" hangingPunct="1">
              <a:lnSpc>
                <a:spcPct val="90000"/>
              </a:lnSpc>
              <a:buNone/>
            </a:pPr>
            <a:r>
              <a:rPr lang="en-US" altLang="zh-CN" sz="2600" dirty="0"/>
              <a:t>public class IdenticalTester2 {</a:t>
            </a:r>
          </a:p>
          <a:p>
            <a:pPr marL="109537" indent="0" eaLnBrk="1" hangingPunct="1">
              <a:lnSpc>
                <a:spcPct val="90000"/>
              </a:lnSpc>
              <a:buNone/>
            </a:pPr>
            <a:r>
              <a:rPr lang="en-US" altLang="zh-CN" sz="2600" dirty="0"/>
              <a:t>    public static void main(String </a:t>
            </a:r>
            <a:r>
              <a:rPr lang="en-US" altLang="zh-CN" sz="2600" dirty="0" err="1"/>
              <a:t>args</a:t>
            </a:r>
            <a:r>
              <a:rPr lang="en-US" altLang="zh-CN" sz="2600" dirty="0"/>
              <a:t>[]) {</a:t>
            </a:r>
          </a:p>
          <a:p>
            <a:pPr marL="109537" indent="0" eaLnBrk="1" hangingPunct="1">
              <a:lnSpc>
                <a:spcPct val="90000"/>
              </a:lnSpc>
              <a:buNone/>
            </a:pPr>
            <a:r>
              <a:rPr lang="en-US" altLang="zh-CN" sz="2600" dirty="0"/>
              <a:t>        </a:t>
            </a:r>
            <a:r>
              <a:rPr lang="en-US" altLang="zh-CN" sz="2600" dirty="0" err="1"/>
              <a:t>BankAccount</a:t>
            </a:r>
            <a:r>
              <a:rPr lang="en-US" altLang="zh-CN" sz="2600" dirty="0"/>
              <a:t> a = new </a:t>
            </a:r>
            <a:r>
              <a:rPr lang="en-US" altLang="zh-CN" sz="2600" dirty="0" err="1"/>
              <a:t>BankAccount</a:t>
            </a:r>
            <a:r>
              <a:rPr lang="en-US" altLang="zh-CN" sz="2600" dirty="0"/>
              <a:t>("Bob", 123456, 100.00f, </a:t>
            </a:r>
            <a:r>
              <a:rPr lang="en-US" altLang="zh-CN" sz="2600" dirty="0" err="1"/>
              <a:t>Grade.General</a:t>
            </a:r>
            <a:r>
              <a:rPr lang="en-US" altLang="zh-CN" sz="2600" dirty="0"/>
              <a:t>);</a:t>
            </a:r>
          </a:p>
          <a:p>
            <a:pPr marL="109537" indent="0" eaLnBrk="1" hangingPunct="1">
              <a:lnSpc>
                <a:spcPct val="90000"/>
              </a:lnSpc>
              <a:buNone/>
            </a:pPr>
            <a:r>
              <a:rPr lang="en-US" altLang="zh-CN" sz="2600" dirty="0"/>
              <a:t>        </a:t>
            </a:r>
            <a:r>
              <a:rPr lang="en-US" altLang="zh-CN" sz="2600" dirty="0" err="1"/>
              <a:t>BankAccount</a:t>
            </a:r>
            <a:r>
              <a:rPr lang="en-US" altLang="zh-CN" sz="2600" dirty="0"/>
              <a:t> b = a;</a:t>
            </a:r>
          </a:p>
          <a:p>
            <a:pPr marL="109537" indent="0" eaLnBrk="1" hangingPunct="1">
              <a:lnSpc>
                <a:spcPct val="90000"/>
              </a:lnSpc>
              <a:buNone/>
            </a:pPr>
            <a:r>
              <a:rPr lang="en-US" altLang="zh-CN" sz="2600" dirty="0"/>
              <a:t>        if (a == b) {</a:t>
            </a:r>
          </a:p>
          <a:p>
            <a:pPr marL="109537" indent="0" eaLnBrk="1" hangingPunct="1">
              <a:lnSpc>
                <a:spcPct val="90000"/>
              </a:lnSpc>
              <a:buNone/>
            </a:pPr>
            <a:r>
              <a:rPr lang="en-US" altLang="zh-CN" sz="2600" dirty="0"/>
              <a:t>            </a:t>
            </a:r>
            <a:r>
              <a:rPr lang="en-US" altLang="zh-CN" sz="2600" dirty="0" err="1"/>
              <a:t>System.out.println</a:t>
            </a:r>
            <a:r>
              <a:rPr lang="en-US" altLang="zh-CN" sz="2600" dirty="0"/>
              <a:t>("YES");</a:t>
            </a:r>
          </a:p>
          <a:p>
            <a:pPr marL="109537" indent="0" eaLnBrk="1" hangingPunct="1">
              <a:lnSpc>
                <a:spcPct val="90000"/>
              </a:lnSpc>
              <a:buNone/>
            </a:pPr>
            <a:r>
              <a:rPr lang="en-US" altLang="zh-CN" sz="2600" dirty="0"/>
              <a:t>        } else {</a:t>
            </a:r>
          </a:p>
          <a:p>
            <a:pPr marL="109537" indent="0" eaLnBrk="1" hangingPunct="1">
              <a:lnSpc>
                <a:spcPct val="90000"/>
              </a:lnSpc>
              <a:buNone/>
            </a:pPr>
            <a:r>
              <a:rPr lang="en-US" altLang="zh-CN" sz="2600" dirty="0"/>
              <a:t>            </a:t>
            </a:r>
            <a:r>
              <a:rPr lang="en-US" altLang="zh-CN" sz="2600" dirty="0" err="1"/>
              <a:t>System.out.println</a:t>
            </a:r>
            <a:r>
              <a:rPr lang="en-US" altLang="zh-CN" sz="2600" dirty="0"/>
              <a:t>("NO");</a:t>
            </a:r>
          </a:p>
          <a:p>
            <a:pPr marL="109537" indent="0" eaLnBrk="1" hangingPunct="1">
              <a:lnSpc>
                <a:spcPct val="90000"/>
              </a:lnSpc>
              <a:buNone/>
            </a:pPr>
            <a:r>
              <a:rPr lang="en-US" altLang="zh-CN" sz="2600" dirty="0"/>
              <a:t>        }</a:t>
            </a:r>
          </a:p>
          <a:p>
            <a:pPr marL="109537" indent="0" eaLnBrk="1" hangingPunct="1">
              <a:lnSpc>
                <a:spcPct val="90000"/>
              </a:lnSpc>
              <a:buNone/>
            </a:pPr>
            <a:r>
              <a:rPr lang="en-US" altLang="zh-CN" sz="2600" dirty="0"/>
              <a:t>    }</a:t>
            </a:r>
          </a:p>
          <a:p>
            <a:pPr marL="109537" indent="0" eaLnBrk="1" hangingPunct="1">
              <a:lnSpc>
                <a:spcPct val="90000"/>
              </a:lnSpc>
              <a:buNone/>
            </a:pPr>
            <a:r>
              <a:rPr lang="en-US" altLang="zh-CN" sz="2600" dirty="0"/>
              <a:t>}   </a:t>
            </a:r>
            <a:r>
              <a:rPr lang="en-US" altLang="zh-CN" sz="2500" dirty="0"/>
              <a:t>//a</a:t>
            </a:r>
            <a:r>
              <a:rPr lang="zh-CN" altLang="en-US" sz="2500" dirty="0"/>
              <a:t>与</a:t>
            </a:r>
            <a:r>
              <a:rPr lang="en-US" altLang="zh-CN" sz="2500" dirty="0"/>
              <a:t>b</a:t>
            </a:r>
            <a:r>
              <a:rPr lang="zh-CN" altLang="en-US" sz="2500" dirty="0"/>
              <a:t>指向的是同一个对象，所以 </a:t>
            </a:r>
            <a:r>
              <a:rPr lang="en-US" altLang="zh-CN" sz="2500" dirty="0"/>
              <a:t>a</a:t>
            </a:r>
            <a:r>
              <a:rPr lang="zh-CN" altLang="en-US" sz="2500" dirty="0"/>
              <a:t>与</a:t>
            </a:r>
            <a:r>
              <a:rPr lang="en-US" altLang="zh-CN" sz="2500" dirty="0"/>
              <a:t>b</a:t>
            </a:r>
            <a:r>
              <a:rPr lang="zh-CN" altLang="en-US" sz="2500" dirty="0"/>
              <a:t>同一，输出结果为“</a:t>
            </a:r>
            <a:r>
              <a:rPr lang="en-US" altLang="zh-CN" sz="2500" dirty="0">
                <a:solidFill>
                  <a:schemeClr val="hlink"/>
                </a:solidFill>
              </a:rPr>
              <a:t>YES</a:t>
            </a:r>
            <a:r>
              <a:rPr lang="en-US" altLang="zh-CN" sz="2500" dirty="0"/>
              <a:t>”</a:t>
            </a:r>
            <a:r>
              <a:rPr lang="zh-CN" altLang="en-US" sz="2500" dirty="0"/>
              <a:t>。</a:t>
            </a:r>
          </a:p>
        </p:txBody>
      </p:sp>
      <p:sp>
        <p:nvSpPr>
          <p:cNvPr id="4" name="TextBox 3">
            <a:extLst>
              <a:ext uri="{FF2B5EF4-FFF2-40B4-BE49-F238E27FC236}">
                <a16:creationId xmlns:a16="http://schemas.microsoft.com/office/drawing/2014/main" id="{49D70B6A-A768-F155-C6EB-3AC74CC5B26E}"/>
              </a:ext>
            </a:extLst>
          </p:cNvPr>
          <p:cNvSpPr txBox="1"/>
          <p:nvPr>
            <p:custDataLst>
              <p:tags r:id="rId1"/>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
        <p:nvSpPr>
          <p:cNvPr id="5" name="文本框 4">
            <a:extLst>
              <a:ext uri="{FF2B5EF4-FFF2-40B4-BE49-F238E27FC236}">
                <a16:creationId xmlns:a16="http://schemas.microsoft.com/office/drawing/2014/main" id="{9A4D5A4F-29F3-1FFD-73A6-BE452048ABF4}"/>
              </a:ext>
            </a:extLst>
          </p:cNvPr>
          <p:cNvSpPr txBox="1"/>
          <p:nvPr>
            <p:custDataLst>
              <p:tags r:id="rId2"/>
            </p:custDataLst>
          </p:nvPr>
        </p:nvSpPr>
        <p:spPr>
          <a:xfrm>
            <a:off x="407368" y="1015213"/>
            <a:ext cx="208823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相等和同一</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4294967295"/>
          </p:nvPr>
        </p:nvSpPr>
        <p:spPr>
          <a:xfrm>
            <a:off x="1559496" y="1844824"/>
            <a:ext cx="8352928" cy="2692896"/>
          </a:xfrm>
          <a:prstGeom prst="rect">
            <a:avLst/>
          </a:prstGeom>
        </p:spPr>
        <p:txBody>
          <a:bodyPr lIns="92075" tIns="46038" rIns="92075" bIns="46038"/>
          <a:lstStyle/>
          <a:p>
            <a:pPr marL="0" indent="0" eaLnBrk="1" hangingPunct="1">
              <a:spcBef>
                <a:spcPct val="30000"/>
              </a:spcBef>
              <a:buNone/>
            </a:pPr>
            <a:r>
              <a:rPr lang="en-US" altLang="zh-CN" sz="2800" dirty="0"/>
              <a:t>Object</a:t>
            </a:r>
            <a:r>
              <a:rPr lang="zh-CN" altLang="en-US" sz="2800" dirty="0"/>
              <a:t>类中的 </a:t>
            </a:r>
            <a:r>
              <a:rPr lang="en-US" altLang="zh-CN" sz="2800" dirty="0"/>
              <a:t>equals() </a:t>
            </a:r>
            <a:r>
              <a:rPr lang="zh-CN" altLang="en-US" sz="2800" dirty="0"/>
              <a:t>方法的定义如下：</a:t>
            </a:r>
            <a:endParaRPr lang="en-US" altLang="zh-CN" sz="2800" dirty="0"/>
          </a:p>
          <a:p>
            <a:pPr marL="411162" lvl="1" indent="0" eaLnBrk="1" hangingPunct="1">
              <a:spcBef>
                <a:spcPct val="30000"/>
              </a:spcBef>
              <a:buNone/>
            </a:pPr>
            <a:r>
              <a:rPr lang="en-US" altLang="zh-CN" dirty="0"/>
              <a:t>public </a:t>
            </a:r>
            <a:r>
              <a:rPr lang="en-US" altLang="zh-CN" dirty="0" err="1"/>
              <a:t>boolean</a:t>
            </a:r>
            <a:r>
              <a:rPr lang="en-US" altLang="zh-CN" dirty="0"/>
              <a:t> equals(Object x) { </a:t>
            </a:r>
          </a:p>
          <a:p>
            <a:pPr lvl="1" eaLnBrk="1" hangingPunct="1">
              <a:spcBef>
                <a:spcPct val="30000"/>
              </a:spcBef>
              <a:buFont typeface="Wingdings 2" panose="05020102010507070707" pitchFamily="18" charset="2"/>
              <a:buNone/>
            </a:pPr>
            <a:r>
              <a:rPr lang="en-US" altLang="zh-CN" dirty="0"/>
              <a:t>    return </a:t>
            </a:r>
            <a:r>
              <a:rPr lang="en-US" altLang="zh-CN" dirty="0">
                <a:solidFill>
                  <a:srgbClr val="FF00FF"/>
                </a:solidFill>
              </a:rPr>
              <a:t>this == x</a:t>
            </a:r>
            <a:r>
              <a:rPr lang="en-US" altLang="zh-CN" dirty="0"/>
              <a:t>; </a:t>
            </a:r>
          </a:p>
          <a:p>
            <a:pPr lvl="1" eaLnBrk="1" hangingPunct="1">
              <a:spcBef>
                <a:spcPct val="30000"/>
              </a:spcBef>
              <a:buFont typeface="Wingdings 2" panose="05020102010507070707" pitchFamily="18" charset="2"/>
              <a:buNone/>
            </a:pPr>
            <a:r>
              <a:rPr lang="en-US" altLang="zh-CN" dirty="0"/>
              <a:t>}</a:t>
            </a:r>
          </a:p>
        </p:txBody>
      </p:sp>
      <p:sp>
        <p:nvSpPr>
          <p:cNvPr id="7680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C1E1D20-31A5-4254-BC90-2D82E073983C}" type="slidenum">
              <a:rPr kumimoji="1" lang="en-US" altLang="zh-CN" sz="1800" smtClean="0">
                <a:solidFill>
                  <a:schemeClr val="bg1"/>
                </a:solidFill>
                <a:latin typeface="Times New Roman" panose="02020603050405020304" pitchFamily="18" charset="0"/>
              </a:rPr>
              <a:pPr>
                <a:spcBef>
                  <a:spcPct val="0"/>
                </a:spcBef>
                <a:buClrTx/>
                <a:buFontTx/>
                <a:buNone/>
              </a:pPr>
              <a:t>26</a:t>
            </a:fld>
            <a:endParaRPr kumimoji="1" lang="en-US" altLang="zh-CN" sz="1800">
              <a:solidFill>
                <a:schemeClr val="bg1"/>
              </a:solidFill>
              <a:latin typeface="Times New Roman" panose="02020603050405020304" pitchFamily="18" charset="0"/>
            </a:endParaRPr>
          </a:p>
        </p:txBody>
      </p:sp>
      <p:sp>
        <p:nvSpPr>
          <p:cNvPr id="4" name="文本框 3">
            <a:extLst>
              <a:ext uri="{FF2B5EF4-FFF2-40B4-BE49-F238E27FC236}">
                <a16:creationId xmlns:a16="http://schemas.microsoft.com/office/drawing/2014/main" id="{0A466708-0FF4-CE0C-4D04-0BD5DA7674BD}"/>
              </a:ext>
            </a:extLst>
          </p:cNvPr>
          <p:cNvSpPr txBox="1"/>
          <p:nvPr>
            <p:custDataLst>
              <p:tags r:id="rId1"/>
            </p:custDataLst>
          </p:nvPr>
        </p:nvSpPr>
        <p:spPr>
          <a:xfrm>
            <a:off x="407368" y="1015213"/>
            <a:ext cx="2160240"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latin typeface="楷体" panose="02010609060101010101" pitchFamily="49" charset="-122"/>
                <a:ea typeface="楷体" panose="02010609060101010101" pitchFamily="49" charset="-122"/>
                <a:cs typeface="思源黑体 CN Heavy" panose="020B0A00000000000000" charset="-122"/>
              </a:rPr>
              <a:t>equals </a:t>
            </a: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方法</a:t>
            </a:r>
          </a:p>
        </p:txBody>
      </p:sp>
      <p:sp>
        <p:nvSpPr>
          <p:cNvPr id="5" name="TextBox 3">
            <a:extLst>
              <a:ext uri="{FF2B5EF4-FFF2-40B4-BE49-F238E27FC236}">
                <a16:creationId xmlns:a16="http://schemas.microsoft.com/office/drawing/2014/main" id="{BDE5B894-5B6C-6F6C-390C-AAB460D087B4}"/>
              </a:ext>
            </a:extLst>
          </p:cNvPr>
          <p:cNvSpPr txBox="1"/>
          <p:nvPr>
            <p:custDataLst>
              <p:tags r:id="rId2"/>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p:cNvSpPr>
            <a:spLocks noGrp="1" noChangeArrowheads="1"/>
          </p:cNvSpPr>
          <p:nvPr>
            <p:ph idx="4294967295"/>
          </p:nvPr>
        </p:nvSpPr>
        <p:spPr>
          <a:xfrm>
            <a:off x="839416" y="1809347"/>
            <a:ext cx="10736088" cy="4032448"/>
          </a:xfrm>
          <a:prstGeom prst="rect">
            <a:avLst/>
          </a:prstGeom>
        </p:spPr>
        <p:txBody>
          <a:bodyPr lIns="92075" tIns="46038" rIns="92075" bIns="46038"/>
          <a:lstStyle/>
          <a:p>
            <a:pPr marL="109537" indent="0" eaLnBrk="1" hangingPunct="1">
              <a:lnSpc>
                <a:spcPct val="80000"/>
              </a:lnSpc>
              <a:spcBef>
                <a:spcPct val="45000"/>
              </a:spcBef>
              <a:buNone/>
            </a:pPr>
            <a:r>
              <a:rPr lang="en-US" altLang="zh-CN" sz="2500" dirty="0"/>
              <a:t>public class EqualsTester1{</a:t>
            </a:r>
          </a:p>
          <a:p>
            <a:pPr marL="109537" indent="0" eaLnBrk="1" hangingPunct="1">
              <a:lnSpc>
                <a:spcPct val="80000"/>
              </a:lnSpc>
              <a:buNone/>
            </a:pPr>
            <a:r>
              <a:rPr lang="en-US" altLang="zh-CN" sz="2500" dirty="0"/>
              <a:t>    public static void main(String </a:t>
            </a:r>
            <a:r>
              <a:rPr lang="en-US" altLang="zh-CN" sz="2500" dirty="0" err="1"/>
              <a:t>args</a:t>
            </a:r>
            <a:r>
              <a:rPr lang="en-US" altLang="zh-CN" sz="2500" dirty="0"/>
              <a:t>[]){</a:t>
            </a:r>
          </a:p>
          <a:p>
            <a:pPr marL="109537" indent="0" eaLnBrk="1" hangingPunct="1">
              <a:lnSpc>
                <a:spcPct val="80000"/>
              </a:lnSpc>
              <a:buNone/>
            </a:pPr>
            <a:r>
              <a:rPr lang="en-US" altLang="zh-CN" sz="2500" dirty="0"/>
              <a:t>    </a:t>
            </a:r>
            <a:r>
              <a:rPr lang="en-US" altLang="zh-CN" sz="2500" dirty="0" err="1"/>
              <a:t>BankAccount</a:t>
            </a:r>
            <a:r>
              <a:rPr lang="en-US" altLang="zh-CN" sz="2500" dirty="0"/>
              <a:t> a = </a:t>
            </a:r>
            <a:r>
              <a:rPr lang="en-US" altLang="zh-CN" sz="2500" dirty="0">
                <a:solidFill>
                  <a:schemeClr val="hlink"/>
                </a:solidFill>
              </a:rPr>
              <a:t>new </a:t>
            </a:r>
            <a:r>
              <a:rPr lang="en-US" altLang="zh-CN" sz="2500" dirty="0" err="1">
                <a:solidFill>
                  <a:schemeClr val="hlink"/>
                </a:solidFill>
              </a:rPr>
              <a:t>BankAccount</a:t>
            </a:r>
            <a:r>
              <a:rPr lang="en-US" altLang="zh-CN" sz="2500" dirty="0"/>
              <a:t>("Bob", 123456, 100.00f); </a:t>
            </a:r>
          </a:p>
          <a:p>
            <a:pPr marL="109537" indent="0" eaLnBrk="1" hangingPunct="1">
              <a:lnSpc>
                <a:spcPct val="80000"/>
              </a:lnSpc>
              <a:buNone/>
            </a:pPr>
            <a:r>
              <a:rPr lang="en-US" altLang="zh-CN" sz="2500" dirty="0"/>
              <a:t>    </a:t>
            </a:r>
            <a:r>
              <a:rPr lang="en-US" altLang="zh-CN" sz="2500" dirty="0" err="1"/>
              <a:t>BankAccount</a:t>
            </a:r>
            <a:r>
              <a:rPr lang="en-US" altLang="zh-CN" sz="2500" dirty="0"/>
              <a:t> b = </a:t>
            </a:r>
            <a:r>
              <a:rPr lang="en-US" altLang="zh-CN" sz="2500" dirty="0">
                <a:solidFill>
                  <a:schemeClr val="hlink"/>
                </a:solidFill>
              </a:rPr>
              <a:t>new </a:t>
            </a:r>
            <a:r>
              <a:rPr lang="en-US" altLang="zh-CN" sz="2500" dirty="0" err="1">
                <a:solidFill>
                  <a:schemeClr val="hlink"/>
                </a:solidFill>
              </a:rPr>
              <a:t>BankAccount</a:t>
            </a:r>
            <a:r>
              <a:rPr lang="en-US" altLang="zh-CN" sz="2500" dirty="0"/>
              <a:t>("Bob", 123456, 100.00f); </a:t>
            </a:r>
          </a:p>
          <a:p>
            <a:pPr marL="109537" indent="0" eaLnBrk="1" hangingPunct="1">
              <a:lnSpc>
                <a:spcPct val="80000"/>
              </a:lnSpc>
              <a:buNone/>
            </a:pPr>
            <a:r>
              <a:rPr lang="en-US" altLang="zh-CN" sz="2500" dirty="0"/>
              <a:t>        if (</a:t>
            </a:r>
            <a:r>
              <a:rPr lang="en-US" altLang="zh-CN" sz="2500" dirty="0" err="1"/>
              <a:t>a.equals</a:t>
            </a:r>
            <a:r>
              <a:rPr lang="en-US" altLang="zh-CN" sz="2500" dirty="0"/>
              <a:t>(b))</a:t>
            </a:r>
          </a:p>
          <a:p>
            <a:pPr marL="109537" indent="0" eaLnBrk="1" hangingPunct="1">
              <a:lnSpc>
                <a:spcPct val="80000"/>
              </a:lnSpc>
              <a:buNone/>
            </a:pPr>
            <a:r>
              <a:rPr lang="en-US" altLang="zh-CN" sz="2500" dirty="0"/>
              <a:t>            </a:t>
            </a:r>
            <a:r>
              <a:rPr lang="en-US" altLang="zh-CN" sz="2500" dirty="0" err="1"/>
              <a:t>System.out.println</a:t>
            </a:r>
            <a:r>
              <a:rPr lang="en-US" altLang="zh-CN" sz="2500" dirty="0"/>
              <a:t>("YES"); </a:t>
            </a:r>
          </a:p>
          <a:p>
            <a:pPr marL="109537" indent="0" eaLnBrk="1" hangingPunct="1">
              <a:lnSpc>
                <a:spcPct val="80000"/>
              </a:lnSpc>
              <a:buNone/>
            </a:pPr>
            <a:r>
              <a:rPr lang="en-US" altLang="zh-CN" sz="2500" dirty="0"/>
              <a:t>        else </a:t>
            </a:r>
          </a:p>
          <a:p>
            <a:pPr marL="109537" indent="0" eaLnBrk="1" hangingPunct="1">
              <a:lnSpc>
                <a:spcPct val="80000"/>
              </a:lnSpc>
              <a:buNone/>
            </a:pPr>
            <a:r>
              <a:rPr lang="en-US" altLang="zh-CN" sz="2500" dirty="0"/>
              <a:t>            </a:t>
            </a:r>
            <a:r>
              <a:rPr lang="en-US" altLang="zh-CN" sz="2500" dirty="0" err="1"/>
              <a:t>System.out.println</a:t>
            </a:r>
            <a:r>
              <a:rPr lang="en-US" altLang="zh-CN" sz="2500" dirty="0"/>
              <a:t>("NO");</a:t>
            </a:r>
          </a:p>
          <a:p>
            <a:pPr marL="109537" indent="0" eaLnBrk="1" hangingPunct="1">
              <a:lnSpc>
                <a:spcPct val="80000"/>
              </a:lnSpc>
              <a:buNone/>
            </a:pPr>
            <a:r>
              <a:rPr lang="en-US" altLang="zh-CN" sz="2500" dirty="0"/>
              <a:t>    }</a:t>
            </a:r>
          </a:p>
          <a:p>
            <a:pPr marL="109537" indent="0" eaLnBrk="1" hangingPunct="1">
              <a:lnSpc>
                <a:spcPct val="80000"/>
              </a:lnSpc>
              <a:buNone/>
            </a:pPr>
            <a:r>
              <a:rPr lang="en-US" altLang="zh-CN" sz="2500" dirty="0"/>
              <a:t>}   //</a:t>
            </a:r>
            <a:r>
              <a:rPr lang="zh-CN" altLang="en-US" sz="2500" dirty="0"/>
              <a:t>由于两个引用不是指向同一对象，运行结果仍然是“</a:t>
            </a:r>
            <a:r>
              <a:rPr lang="en-US" altLang="zh-CN" sz="2500" dirty="0">
                <a:solidFill>
                  <a:schemeClr val="hlink"/>
                </a:solidFill>
              </a:rPr>
              <a:t>NO</a:t>
            </a:r>
            <a:r>
              <a:rPr lang="en-US" altLang="zh-CN" sz="2500" dirty="0"/>
              <a:t>”</a:t>
            </a:r>
            <a:endParaRPr lang="zh-CN" altLang="en-US" sz="2500" dirty="0"/>
          </a:p>
        </p:txBody>
      </p:sp>
      <p:sp>
        <p:nvSpPr>
          <p:cNvPr id="4" name="文本框 3">
            <a:extLst>
              <a:ext uri="{FF2B5EF4-FFF2-40B4-BE49-F238E27FC236}">
                <a16:creationId xmlns:a16="http://schemas.microsoft.com/office/drawing/2014/main" id="{A855B660-642E-B90D-005B-C66D6D179F3F}"/>
              </a:ext>
            </a:extLst>
          </p:cNvPr>
          <p:cNvSpPr txBox="1"/>
          <p:nvPr>
            <p:custDataLst>
              <p:tags r:id="rId1"/>
            </p:custDataLst>
          </p:nvPr>
        </p:nvSpPr>
        <p:spPr>
          <a:xfrm>
            <a:off x="407368" y="1015213"/>
            <a:ext cx="2304256"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latin typeface="楷体" panose="02010609060101010101" pitchFamily="49" charset="-122"/>
                <a:ea typeface="楷体" panose="02010609060101010101" pitchFamily="49" charset="-122"/>
                <a:cs typeface="思源黑体 CN Heavy" panose="020B0A00000000000000" charset="-122"/>
              </a:rPr>
              <a:t>equals </a:t>
            </a: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方法</a:t>
            </a:r>
          </a:p>
        </p:txBody>
      </p:sp>
      <p:sp>
        <p:nvSpPr>
          <p:cNvPr id="5" name="TextBox 3">
            <a:extLst>
              <a:ext uri="{FF2B5EF4-FFF2-40B4-BE49-F238E27FC236}">
                <a16:creationId xmlns:a16="http://schemas.microsoft.com/office/drawing/2014/main" id="{6B66BD27-57CD-9244-B659-08E339ECCB1D}"/>
              </a:ext>
            </a:extLst>
          </p:cNvPr>
          <p:cNvSpPr txBox="1"/>
          <p:nvPr>
            <p:custDataLst>
              <p:tags r:id="rId2"/>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idx="4294967295"/>
          </p:nvPr>
        </p:nvSpPr>
        <p:spPr>
          <a:xfrm>
            <a:off x="839416" y="1772816"/>
            <a:ext cx="10972800" cy="3268960"/>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2800" b="1" dirty="0"/>
              <a:t>要判断</a:t>
            </a:r>
            <a:r>
              <a:rPr lang="zh-CN" altLang="en-US" sz="2800" b="1" dirty="0">
                <a:solidFill>
                  <a:srgbClr val="FF00FF"/>
                </a:solidFill>
              </a:rPr>
              <a:t>两个对象各个属性域的值是否相同，则不能使用从</a:t>
            </a:r>
            <a:r>
              <a:rPr lang="en-US" altLang="zh-CN" sz="2800" b="1" dirty="0">
                <a:solidFill>
                  <a:srgbClr val="FF00FF"/>
                </a:solidFill>
              </a:rPr>
              <a:t>Object</a:t>
            </a:r>
            <a:r>
              <a:rPr lang="zh-CN" altLang="en-US" sz="2800" b="1" dirty="0">
                <a:solidFill>
                  <a:srgbClr val="FF00FF"/>
                </a:solidFill>
              </a:rPr>
              <a:t>类继承来的</a:t>
            </a:r>
            <a:r>
              <a:rPr lang="en-US" altLang="zh-CN" sz="2800" b="1" dirty="0">
                <a:solidFill>
                  <a:srgbClr val="FF00FF"/>
                </a:solidFill>
              </a:rPr>
              <a:t>equals</a:t>
            </a:r>
            <a:r>
              <a:rPr lang="zh-CN" altLang="en-US" sz="2800" b="1" dirty="0">
                <a:solidFill>
                  <a:srgbClr val="FF00FF"/>
                </a:solidFill>
              </a:rPr>
              <a:t>方法，而需要在类声明中对</a:t>
            </a:r>
            <a:r>
              <a:rPr lang="en-US" altLang="zh-CN" sz="2800" b="1" dirty="0">
                <a:solidFill>
                  <a:srgbClr val="FF00FF"/>
                </a:solidFill>
              </a:rPr>
              <a:t>equals</a:t>
            </a:r>
            <a:r>
              <a:rPr lang="zh-CN" altLang="en-US" sz="2800" b="1" dirty="0">
                <a:solidFill>
                  <a:srgbClr val="FF00FF"/>
                </a:solidFill>
              </a:rPr>
              <a:t>方法进行覆盖。</a:t>
            </a:r>
            <a:endParaRPr lang="en-US" altLang="zh-CN" sz="2800" b="1" dirty="0">
              <a:solidFill>
                <a:srgbClr val="FF00FF"/>
              </a:solidFill>
            </a:endParaRPr>
          </a:p>
          <a:p>
            <a:pPr marL="0" indent="0" eaLnBrk="1" hangingPunct="1">
              <a:lnSpc>
                <a:spcPct val="150000"/>
              </a:lnSpc>
              <a:spcBef>
                <a:spcPts val="0"/>
              </a:spcBef>
              <a:buNone/>
            </a:pPr>
            <a:r>
              <a:rPr lang="zh-CN" altLang="en-US" sz="2800" b="1" dirty="0"/>
              <a:t>  例如：</a:t>
            </a:r>
            <a:r>
              <a:rPr lang="en-US" altLang="zh-CN" sz="2800" b="1" dirty="0"/>
              <a:t>String</a:t>
            </a:r>
            <a:r>
              <a:rPr lang="zh-CN" altLang="en-US" sz="2800" b="1" dirty="0"/>
              <a:t>类中已经覆盖了</a:t>
            </a:r>
            <a:r>
              <a:rPr lang="en-US" altLang="zh-CN" sz="2800" b="1" dirty="0"/>
              <a:t>Object</a:t>
            </a:r>
            <a:r>
              <a:rPr lang="zh-CN" altLang="en-US" sz="2800" b="1" dirty="0"/>
              <a:t>类的</a:t>
            </a:r>
            <a:r>
              <a:rPr lang="en-US" altLang="zh-CN" sz="2800" b="1" dirty="0"/>
              <a:t>equals</a:t>
            </a:r>
            <a:r>
              <a:rPr lang="zh-CN" altLang="en-US" sz="2800" b="1" dirty="0"/>
              <a:t>方法，可以判别两个字符串是否内容相等。</a:t>
            </a:r>
            <a:endParaRPr lang="en-US" altLang="zh-CN" sz="2800" b="1" dirty="0"/>
          </a:p>
          <a:p>
            <a:pPr eaLnBrk="1" hangingPunct="1">
              <a:lnSpc>
                <a:spcPct val="150000"/>
              </a:lnSpc>
              <a:spcBef>
                <a:spcPts val="0"/>
              </a:spcBef>
              <a:buFont typeface="Wingdings" panose="05000000000000000000" pitchFamily="2" charset="2"/>
              <a:buChar char="Ø"/>
            </a:pPr>
            <a:r>
              <a:rPr lang="zh-CN" altLang="en-US" sz="2800" b="1" dirty="0"/>
              <a:t>方法原型必须与</a:t>
            </a:r>
            <a:r>
              <a:rPr lang="en-US" altLang="zh-CN" sz="2800" b="1" dirty="0"/>
              <a:t>Object</a:t>
            </a:r>
            <a:r>
              <a:rPr lang="zh-CN" altLang="en-US" sz="2800" b="1" dirty="0"/>
              <a:t>类中的</a:t>
            </a:r>
            <a:r>
              <a:rPr lang="en-US" altLang="zh-CN" sz="2800" b="1" dirty="0"/>
              <a:t>equals</a:t>
            </a:r>
            <a:r>
              <a:rPr lang="zh-CN" altLang="en-US" sz="2800" b="1" dirty="0"/>
              <a:t>方法完全相同。</a:t>
            </a:r>
          </a:p>
        </p:txBody>
      </p:sp>
      <p:sp>
        <p:nvSpPr>
          <p:cNvPr id="8089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CBFDEF0-B2A3-43A9-A07A-B6141AF4F981}" type="slidenum">
              <a:rPr kumimoji="1" lang="en-US" altLang="zh-CN" sz="1800" smtClean="0">
                <a:solidFill>
                  <a:schemeClr val="bg1"/>
                </a:solidFill>
                <a:latin typeface="Times New Roman" panose="02020603050405020304" pitchFamily="18" charset="0"/>
              </a:rPr>
              <a:pPr>
                <a:spcBef>
                  <a:spcPct val="0"/>
                </a:spcBef>
                <a:buClrTx/>
                <a:buFontTx/>
                <a:buNone/>
              </a:pPr>
              <a:t>28</a:t>
            </a:fld>
            <a:endParaRPr kumimoji="1" lang="en-US" altLang="zh-CN" sz="1800">
              <a:solidFill>
                <a:schemeClr val="bg1"/>
              </a:solidFill>
              <a:latin typeface="Times New Roman" panose="02020603050405020304" pitchFamily="18" charset="0"/>
            </a:endParaRPr>
          </a:p>
        </p:txBody>
      </p:sp>
      <p:sp>
        <p:nvSpPr>
          <p:cNvPr id="4" name="文本框 3">
            <a:extLst>
              <a:ext uri="{FF2B5EF4-FFF2-40B4-BE49-F238E27FC236}">
                <a16:creationId xmlns:a16="http://schemas.microsoft.com/office/drawing/2014/main" id="{532E2864-8058-F0A9-10F7-087D95A1EB80}"/>
              </a:ext>
            </a:extLst>
          </p:cNvPr>
          <p:cNvSpPr txBox="1"/>
          <p:nvPr>
            <p:custDataLst>
              <p:tags r:id="rId1"/>
            </p:custDataLst>
          </p:nvPr>
        </p:nvSpPr>
        <p:spPr>
          <a:xfrm>
            <a:off x="407368" y="1015213"/>
            <a:ext cx="3312368"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latin typeface="楷体" panose="02010609060101010101" pitchFamily="49" charset="-122"/>
                <a:ea typeface="楷体" panose="02010609060101010101" pitchFamily="49" charset="-122"/>
                <a:cs typeface="思源黑体 CN Heavy" panose="020B0A00000000000000" charset="-122"/>
              </a:rPr>
              <a:t>equals </a:t>
            </a: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方法的覆盖</a:t>
            </a:r>
          </a:p>
        </p:txBody>
      </p:sp>
      <p:sp>
        <p:nvSpPr>
          <p:cNvPr id="5" name="TextBox 3">
            <a:extLst>
              <a:ext uri="{FF2B5EF4-FFF2-40B4-BE49-F238E27FC236}">
                <a16:creationId xmlns:a16="http://schemas.microsoft.com/office/drawing/2014/main" id="{D8E0EB64-5A85-41F1-D676-ECCA5CAE8869}"/>
              </a:ext>
            </a:extLst>
          </p:cNvPr>
          <p:cNvSpPr txBox="1"/>
          <p:nvPr>
            <p:custDataLst>
              <p:tags r:id="rId2"/>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idx="4294967295"/>
          </p:nvPr>
        </p:nvSpPr>
        <p:spPr>
          <a:xfrm>
            <a:off x="695400" y="1772816"/>
            <a:ext cx="10945216" cy="4536504"/>
          </a:xfrm>
          <a:prstGeom prst="rect">
            <a:avLst/>
          </a:prstGeom>
        </p:spPr>
        <p:txBody>
          <a:bodyPr lIns="92075" tIns="46038" rIns="92075" bIns="46038"/>
          <a:lstStyle/>
          <a:p>
            <a:pPr marL="109537" indent="0">
              <a:buNone/>
            </a:pPr>
            <a:r>
              <a:rPr lang="en-US" altLang="zh-CN" sz="2600" dirty="0"/>
              <a:t>@Override    //</a:t>
            </a:r>
            <a:r>
              <a:rPr lang="zh-CN" altLang="en-US" sz="2600" dirty="0"/>
              <a:t>在</a:t>
            </a:r>
            <a:r>
              <a:rPr lang="en-US" altLang="zh-CN" sz="2600" dirty="0" err="1"/>
              <a:t>BankAccount</a:t>
            </a:r>
            <a:r>
              <a:rPr lang="zh-CN" altLang="en-US" sz="2600" dirty="0"/>
              <a:t>类中覆盖</a:t>
            </a:r>
            <a:r>
              <a:rPr lang="en-US" altLang="zh-CN" sz="2600" dirty="0"/>
              <a:t>equals</a:t>
            </a:r>
            <a:r>
              <a:rPr lang="zh-CN" altLang="en-US" sz="2600" dirty="0"/>
              <a:t>方法</a:t>
            </a:r>
            <a:endParaRPr lang="en-US" altLang="zh-CN" sz="2600" dirty="0"/>
          </a:p>
          <a:p>
            <a:pPr marL="109537" indent="0" eaLnBrk="1" hangingPunct="1">
              <a:buNone/>
            </a:pPr>
            <a:r>
              <a:rPr lang="en-US" altLang="zh-CN" sz="2600" dirty="0"/>
              <a:t>public </a:t>
            </a:r>
            <a:r>
              <a:rPr lang="en-US" altLang="zh-CN" sz="2600" dirty="0" err="1"/>
              <a:t>boolean</a:t>
            </a:r>
            <a:r>
              <a:rPr lang="en-US" altLang="zh-CN" sz="2600" dirty="0"/>
              <a:t> equals(Object x) { </a:t>
            </a:r>
          </a:p>
          <a:p>
            <a:pPr marL="109537" indent="0" eaLnBrk="1" hangingPunct="1">
              <a:buNone/>
            </a:pPr>
            <a:r>
              <a:rPr lang="en-US" altLang="zh-CN" sz="2600" dirty="0"/>
              <a:t>    if (</a:t>
            </a:r>
            <a:r>
              <a:rPr lang="en-US" altLang="zh-CN" sz="2600" dirty="0" err="1"/>
              <a:t>this.getClass</a:t>
            </a:r>
            <a:r>
              <a:rPr lang="en-US" altLang="zh-CN" sz="2600" dirty="0"/>
              <a:t>() != </a:t>
            </a:r>
            <a:r>
              <a:rPr lang="en-US" altLang="zh-CN" sz="2600" dirty="0" err="1"/>
              <a:t>x.getClass</a:t>
            </a:r>
            <a:r>
              <a:rPr lang="en-US" altLang="zh-CN" sz="2600" dirty="0"/>
              <a:t>()) </a:t>
            </a:r>
          </a:p>
          <a:p>
            <a:pPr marL="109537" indent="0" eaLnBrk="1" hangingPunct="1">
              <a:buNone/>
            </a:pPr>
            <a:r>
              <a:rPr lang="en-US" altLang="zh-CN" sz="2600" dirty="0"/>
              <a:t>	  return false;      </a:t>
            </a:r>
          </a:p>
          <a:p>
            <a:pPr marL="109537" indent="0" eaLnBrk="1" hangingPunct="1">
              <a:buNone/>
            </a:pPr>
            <a:r>
              <a:rPr lang="en-US" altLang="zh-CN" sz="2600" dirty="0"/>
              <a:t>    </a:t>
            </a:r>
            <a:r>
              <a:rPr lang="en-US" altLang="zh-CN" sz="2600" dirty="0" err="1"/>
              <a:t>BankAccount</a:t>
            </a:r>
            <a:r>
              <a:rPr lang="en-US" altLang="zh-CN" sz="2600" dirty="0"/>
              <a:t> b = (</a:t>
            </a:r>
            <a:r>
              <a:rPr lang="en-US" altLang="zh-CN" sz="2600" dirty="0" err="1"/>
              <a:t>BankAccount</a:t>
            </a:r>
            <a:r>
              <a:rPr lang="en-US" altLang="zh-CN" sz="2600" dirty="0"/>
              <a:t>) x;     </a:t>
            </a:r>
          </a:p>
          <a:p>
            <a:pPr marL="109537" indent="0" eaLnBrk="1" hangingPunct="1">
              <a:buNone/>
            </a:pPr>
            <a:r>
              <a:rPr lang="en-US" altLang="zh-CN" sz="2600" dirty="0"/>
              <a:t>    return ((</a:t>
            </a:r>
            <a:r>
              <a:rPr lang="en-US" altLang="zh-CN" sz="2600" dirty="0" err="1"/>
              <a:t>this.getOwnerName</a:t>
            </a:r>
            <a:r>
              <a:rPr lang="en-US" altLang="zh-CN" sz="2600" dirty="0"/>
              <a:t>().equals(</a:t>
            </a:r>
            <a:r>
              <a:rPr lang="en-US" altLang="zh-CN" sz="2600" dirty="0" err="1"/>
              <a:t>b.getOwnerName</a:t>
            </a:r>
            <a:r>
              <a:rPr lang="en-US" altLang="zh-CN" sz="2600" dirty="0"/>
              <a:t>())) </a:t>
            </a:r>
          </a:p>
          <a:p>
            <a:pPr marL="109537" indent="0" eaLnBrk="1" hangingPunct="1">
              <a:buNone/>
            </a:pPr>
            <a:r>
              <a:rPr lang="en-US" altLang="zh-CN" sz="2600" dirty="0"/>
              <a:t>       &amp;&amp;(</a:t>
            </a:r>
            <a:r>
              <a:rPr lang="en-US" altLang="zh-CN" sz="2600" dirty="0" err="1"/>
              <a:t>this.getAccountNumber</a:t>
            </a:r>
            <a:r>
              <a:rPr lang="en-US" altLang="zh-CN" sz="2600" dirty="0"/>
              <a:t>() == </a:t>
            </a:r>
            <a:r>
              <a:rPr lang="en-US" altLang="zh-CN" sz="2600" dirty="0" err="1"/>
              <a:t>b.getAccountNumber</a:t>
            </a:r>
            <a:r>
              <a:rPr lang="en-US" altLang="zh-CN" sz="2600" dirty="0"/>
              <a:t>())</a:t>
            </a:r>
          </a:p>
          <a:p>
            <a:pPr marL="109537" indent="0" eaLnBrk="1" hangingPunct="1">
              <a:buNone/>
            </a:pPr>
            <a:r>
              <a:rPr lang="en-US" altLang="zh-CN" sz="2600" dirty="0"/>
              <a:t>       &amp;&amp;(</a:t>
            </a:r>
            <a:r>
              <a:rPr lang="en-US" altLang="zh-CN" sz="2600" dirty="0" err="1"/>
              <a:t>this.getBalance</a:t>
            </a:r>
            <a:r>
              <a:rPr lang="en-US" altLang="zh-CN" sz="2600" dirty="0"/>
              <a:t>() == </a:t>
            </a:r>
            <a:r>
              <a:rPr lang="en-US" altLang="zh-CN" sz="2600" dirty="0" err="1"/>
              <a:t>b.getBalance</a:t>
            </a:r>
            <a:r>
              <a:rPr lang="en-US" altLang="zh-CN" sz="2600" dirty="0"/>
              <a:t>())); </a:t>
            </a:r>
          </a:p>
          <a:p>
            <a:pPr marL="109537" indent="0" eaLnBrk="1" hangingPunct="1">
              <a:buNone/>
            </a:pPr>
            <a:r>
              <a:rPr lang="en-US" altLang="zh-CN" sz="2600" dirty="0"/>
              <a:t>}  //</a:t>
            </a:r>
            <a:r>
              <a:rPr lang="zh-CN" altLang="en-US" sz="2600" dirty="0"/>
              <a:t>运行</a:t>
            </a:r>
            <a:r>
              <a:rPr lang="en-US" altLang="zh-CN" sz="2600" dirty="0"/>
              <a:t>EqualsTester1</a:t>
            </a:r>
            <a:r>
              <a:rPr lang="zh-CN" altLang="en-US" sz="2600" dirty="0"/>
              <a:t>结果是“</a:t>
            </a:r>
            <a:r>
              <a:rPr lang="en-US" altLang="zh-CN" sz="2600" dirty="0"/>
              <a:t>YES”</a:t>
            </a:r>
            <a:endParaRPr lang="zh-CN" altLang="en-US" sz="2600" dirty="0"/>
          </a:p>
        </p:txBody>
      </p:sp>
      <p:sp>
        <p:nvSpPr>
          <p:cNvPr id="4" name="文本框 3">
            <a:extLst>
              <a:ext uri="{FF2B5EF4-FFF2-40B4-BE49-F238E27FC236}">
                <a16:creationId xmlns:a16="http://schemas.microsoft.com/office/drawing/2014/main" id="{CC7BD416-AEBF-B63F-8391-CB90CA082486}"/>
              </a:ext>
            </a:extLst>
          </p:cNvPr>
          <p:cNvSpPr txBox="1"/>
          <p:nvPr>
            <p:custDataLst>
              <p:tags r:id="rId1"/>
            </p:custDataLst>
          </p:nvPr>
        </p:nvSpPr>
        <p:spPr>
          <a:xfrm>
            <a:off x="407368" y="1015213"/>
            <a:ext cx="3384376"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latin typeface="楷体" panose="02010609060101010101" pitchFamily="49" charset="-122"/>
                <a:ea typeface="楷体" panose="02010609060101010101" pitchFamily="49" charset="-122"/>
                <a:cs typeface="思源黑体 CN Heavy" panose="020B0A00000000000000" charset="-122"/>
              </a:rPr>
              <a:t>equals </a:t>
            </a: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方法的覆盖</a:t>
            </a:r>
          </a:p>
        </p:txBody>
      </p:sp>
      <p:sp>
        <p:nvSpPr>
          <p:cNvPr id="5" name="TextBox 3">
            <a:extLst>
              <a:ext uri="{FF2B5EF4-FFF2-40B4-BE49-F238E27FC236}">
                <a16:creationId xmlns:a16="http://schemas.microsoft.com/office/drawing/2014/main" id="{B949463A-6823-81AA-863C-81133AB5596B}"/>
              </a:ext>
            </a:extLst>
          </p:cNvPr>
          <p:cNvSpPr txBox="1"/>
          <p:nvPr>
            <p:custDataLst>
              <p:tags r:id="rId2"/>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4294967295"/>
          </p:nvPr>
        </p:nvSpPr>
        <p:spPr>
          <a:xfrm>
            <a:off x="427336" y="1628800"/>
            <a:ext cx="11521280" cy="4896544"/>
          </a:xfrm>
          <a:prstGeom prst="rect">
            <a:avLst/>
          </a:prstGeom>
        </p:spPr>
        <p:txBody>
          <a:bodyPr lIns="92075" tIns="46038" rIns="92075" bIns="46038"/>
          <a:lstStyle/>
          <a:p>
            <a:pPr marL="0" indent="0" eaLnBrk="1" hangingPunct="1">
              <a:spcBef>
                <a:spcPct val="50000"/>
              </a:spcBef>
              <a:buNone/>
            </a:pPr>
            <a:r>
              <a:rPr lang="en-US" altLang="zh-CN" sz="2200" b="1" dirty="0"/>
              <a:t>public class Apple { </a:t>
            </a:r>
          </a:p>
          <a:p>
            <a:pPr marL="0" indent="0" eaLnBrk="1" hangingPunct="1">
              <a:buNone/>
            </a:pPr>
            <a:r>
              <a:rPr lang="en-US" altLang="zh-CN" sz="2200" b="1" dirty="0"/>
              <a:t>    private String color;     private </a:t>
            </a:r>
            <a:r>
              <a:rPr lang="en-US" altLang="zh-CN" sz="2200" b="1" dirty="0" err="1"/>
              <a:t>boolean</a:t>
            </a:r>
            <a:r>
              <a:rPr lang="en-US" altLang="zh-CN" sz="2200" b="1" dirty="0"/>
              <a:t> ripe;  </a:t>
            </a:r>
          </a:p>
          <a:p>
            <a:pPr marL="0" indent="0" eaLnBrk="1" hangingPunct="1">
              <a:buNone/>
            </a:pPr>
            <a:r>
              <a:rPr lang="en-US" altLang="zh-CN" sz="2200" b="1" dirty="0"/>
              <a:t>    public </a:t>
            </a:r>
            <a:r>
              <a:rPr lang="en-US" altLang="zh-CN" sz="2200" b="1" dirty="0">
                <a:solidFill>
                  <a:schemeClr val="tx2"/>
                </a:solidFill>
              </a:rPr>
              <a:t>Apple(String </a:t>
            </a:r>
            <a:r>
              <a:rPr lang="en-US" altLang="zh-CN" sz="2200" b="1" dirty="0" err="1">
                <a:solidFill>
                  <a:schemeClr val="tx2"/>
                </a:solidFill>
              </a:rPr>
              <a:t>aColor</a:t>
            </a:r>
            <a:r>
              <a:rPr lang="en-US" altLang="zh-CN" sz="2200" b="1" dirty="0">
                <a:solidFill>
                  <a:schemeClr val="tx2"/>
                </a:solidFill>
              </a:rPr>
              <a:t>, </a:t>
            </a:r>
            <a:r>
              <a:rPr lang="en-US" altLang="zh-CN" sz="2200" b="1" dirty="0" err="1">
                <a:solidFill>
                  <a:schemeClr val="tx2"/>
                </a:solidFill>
              </a:rPr>
              <a:t>boolean</a:t>
            </a:r>
            <a:r>
              <a:rPr lang="en-US" altLang="zh-CN" sz="2200" b="1" dirty="0">
                <a:solidFill>
                  <a:schemeClr val="tx2"/>
                </a:solidFill>
              </a:rPr>
              <a:t> </a:t>
            </a:r>
            <a:r>
              <a:rPr lang="en-US" altLang="zh-CN" sz="2200" b="1" dirty="0" err="1">
                <a:solidFill>
                  <a:schemeClr val="tx2"/>
                </a:solidFill>
              </a:rPr>
              <a:t>isRipe</a:t>
            </a:r>
            <a:r>
              <a:rPr lang="en-US" altLang="zh-CN" sz="2200" b="1" dirty="0">
                <a:solidFill>
                  <a:schemeClr val="tx2"/>
                </a:solidFill>
              </a:rPr>
              <a:t>)</a:t>
            </a:r>
            <a:r>
              <a:rPr lang="en-US" altLang="zh-CN" sz="2200" b="1" dirty="0"/>
              <a:t> {color = </a:t>
            </a:r>
            <a:r>
              <a:rPr lang="en-US" altLang="zh-CN" sz="2200" b="1" dirty="0" err="1"/>
              <a:t>aColor</a:t>
            </a:r>
            <a:r>
              <a:rPr lang="en-US" altLang="zh-CN" sz="2200" b="1" dirty="0"/>
              <a:t>; ripe = </a:t>
            </a:r>
            <a:r>
              <a:rPr lang="en-US" altLang="zh-CN" sz="2200" b="1" dirty="0" err="1"/>
              <a:t>isRipe</a:t>
            </a:r>
            <a:r>
              <a:rPr lang="en-US" altLang="zh-CN" sz="2200" b="1" dirty="0"/>
              <a:t>;}      </a:t>
            </a:r>
          </a:p>
          <a:p>
            <a:pPr marL="0" indent="0" eaLnBrk="1" hangingPunct="1">
              <a:buNone/>
            </a:pPr>
            <a:r>
              <a:rPr lang="en-US" altLang="zh-CN" sz="2200" b="1" dirty="0"/>
              <a:t>    public void </a:t>
            </a:r>
            <a:r>
              <a:rPr lang="en-US" altLang="zh-CN" sz="2200" b="1" dirty="0" err="1">
                <a:solidFill>
                  <a:schemeClr val="hlink"/>
                </a:solidFill>
              </a:rPr>
              <a:t>setColor</a:t>
            </a:r>
            <a:r>
              <a:rPr lang="en-US" altLang="zh-CN" sz="2200" b="1" dirty="0">
                <a:solidFill>
                  <a:schemeClr val="hlink"/>
                </a:solidFill>
              </a:rPr>
              <a:t>(String </a:t>
            </a:r>
            <a:r>
              <a:rPr lang="en-US" altLang="zh-CN" sz="2200" b="1" dirty="0" err="1">
                <a:solidFill>
                  <a:schemeClr val="hlink"/>
                </a:solidFill>
              </a:rPr>
              <a:t>aColor</a:t>
            </a:r>
            <a:r>
              <a:rPr lang="en-US" altLang="zh-CN" sz="2200" b="1" dirty="0">
                <a:solidFill>
                  <a:schemeClr val="hlink"/>
                </a:solidFill>
              </a:rPr>
              <a:t>)</a:t>
            </a:r>
            <a:r>
              <a:rPr lang="en-US" altLang="zh-CN" sz="2200" b="1" dirty="0"/>
              <a:t> { color = </a:t>
            </a:r>
            <a:r>
              <a:rPr lang="en-US" altLang="zh-CN" sz="2200" b="1" dirty="0" err="1"/>
              <a:t>aColor</a:t>
            </a:r>
            <a:r>
              <a:rPr lang="en-US" altLang="zh-CN" sz="2200" b="1" dirty="0"/>
              <a:t>; }      </a:t>
            </a:r>
          </a:p>
          <a:p>
            <a:pPr marL="0" indent="0" eaLnBrk="1" hangingPunct="1">
              <a:buNone/>
            </a:pPr>
            <a:r>
              <a:rPr lang="en-US" altLang="zh-CN" sz="2200" b="1" dirty="0"/>
              <a:t>    public void </a:t>
            </a:r>
            <a:r>
              <a:rPr lang="en-US" altLang="zh-CN" sz="2200" b="1" dirty="0" err="1">
                <a:solidFill>
                  <a:schemeClr val="hlink"/>
                </a:solidFill>
              </a:rPr>
              <a:t>setRipe</a:t>
            </a:r>
            <a:r>
              <a:rPr lang="en-US" altLang="zh-CN" sz="2200" b="1" dirty="0">
                <a:solidFill>
                  <a:schemeClr val="hlink"/>
                </a:solidFill>
              </a:rPr>
              <a:t>(</a:t>
            </a:r>
            <a:r>
              <a:rPr lang="en-US" altLang="zh-CN" sz="2200" b="1" dirty="0" err="1">
                <a:solidFill>
                  <a:schemeClr val="hlink"/>
                </a:solidFill>
              </a:rPr>
              <a:t>boolean</a:t>
            </a:r>
            <a:r>
              <a:rPr lang="en-US" altLang="zh-CN" sz="2200" b="1" dirty="0">
                <a:solidFill>
                  <a:schemeClr val="hlink"/>
                </a:solidFill>
              </a:rPr>
              <a:t> </a:t>
            </a:r>
            <a:r>
              <a:rPr lang="en-US" altLang="zh-CN" sz="2200" b="1" dirty="0" err="1">
                <a:solidFill>
                  <a:schemeClr val="hlink"/>
                </a:solidFill>
              </a:rPr>
              <a:t>isRipe</a:t>
            </a:r>
            <a:r>
              <a:rPr lang="en-US" altLang="zh-CN" sz="2200" b="1" dirty="0">
                <a:solidFill>
                  <a:schemeClr val="hlink"/>
                </a:solidFill>
              </a:rPr>
              <a:t>)</a:t>
            </a:r>
            <a:r>
              <a:rPr lang="en-US" altLang="zh-CN" sz="2200" b="1" dirty="0"/>
              <a:t> { ripe = </a:t>
            </a:r>
            <a:r>
              <a:rPr lang="en-US" altLang="zh-CN" sz="2200" b="1" dirty="0" err="1"/>
              <a:t>isRipe</a:t>
            </a:r>
            <a:r>
              <a:rPr lang="en-US" altLang="zh-CN" sz="2200" b="1" dirty="0"/>
              <a:t>; }     </a:t>
            </a:r>
          </a:p>
          <a:p>
            <a:pPr marL="0" indent="0" eaLnBrk="1" hangingPunct="1">
              <a:buNone/>
            </a:pPr>
            <a:r>
              <a:rPr lang="en-US" altLang="zh-CN" sz="2200" b="1" dirty="0"/>
              <a:t>    public String </a:t>
            </a:r>
            <a:r>
              <a:rPr lang="en-US" altLang="zh-CN" sz="2200" b="1" dirty="0" err="1">
                <a:solidFill>
                  <a:schemeClr val="hlink"/>
                </a:solidFill>
              </a:rPr>
              <a:t>getColor</a:t>
            </a:r>
            <a:r>
              <a:rPr lang="en-US" altLang="zh-CN" sz="2200" b="1" dirty="0">
                <a:solidFill>
                  <a:schemeClr val="hlink"/>
                </a:solidFill>
              </a:rPr>
              <a:t>() </a:t>
            </a:r>
            <a:r>
              <a:rPr lang="en-US" altLang="zh-CN" sz="2200" b="1" dirty="0"/>
              <a:t>{ return color; }     </a:t>
            </a:r>
          </a:p>
          <a:p>
            <a:pPr marL="0" indent="0" eaLnBrk="1" hangingPunct="1">
              <a:buNone/>
            </a:pPr>
            <a:r>
              <a:rPr lang="en-US" altLang="zh-CN" sz="2200" b="1" dirty="0"/>
              <a:t>    public </a:t>
            </a:r>
            <a:r>
              <a:rPr lang="en-US" altLang="zh-CN" sz="2200" b="1" dirty="0" err="1"/>
              <a:t>boolean</a:t>
            </a:r>
            <a:r>
              <a:rPr lang="en-US" altLang="zh-CN" sz="2200" b="1" dirty="0"/>
              <a:t> </a:t>
            </a:r>
            <a:r>
              <a:rPr lang="en-US" altLang="zh-CN" sz="2200" b="1" dirty="0" err="1">
                <a:solidFill>
                  <a:schemeClr val="hlink"/>
                </a:solidFill>
              </a:rPr>
              <a:t>getRipe</a:t>
            </a:r>
            <a:r>
              <a:rPr lang="en-US" altLang="zh-CN" sz="2200" b="1" dirty="0">
                <a:solidFill>
                  <a:schemeClr val="hlink"/>
                </a:solidFill>
              </a:rPr>
              <a:t>()</a:t>
            </a:r>
            <a:r>
              <a:rPr lang="en-US" altLang="zh-CN" sz="2200" b="1" dirty="0"/>
              <a:t> { return ripe; }</a:t>
            </a:r>
          </a:p>
          <a:p>
            <a:pPr marL="0" indent="0" eaLnBrk="1" hangingPunct="1">
              <a:buNone/>
            </a:pPr>
            <a:r>
              <a:rPr lang="en-US" altLang="zh-CN" sz="2200" b="1" dirty="0"/>
              <a:t>      @Override</a:t>
            </a:r>
          </a:p>
          <a:p>
            <a:pPr marL="0" indent="0" eaLnBrk="1" hangingPunct="1">
              <a:buNone/>
            </a:pPr>
            <a:r>
              <a:rPr lang="en-US" altLang="zh-CN" sz="2200" b="1" dirty="0"/>
              <a:t>    public String </a:t>
            </a:r>
            <a:r>
              <a:rPr lang="en-US" altLang="zh-CN" sz="2200" b="1" dirty="0" err="1">
                <a:solidFill>
                  <a:schemeClr val="hlink"/>
                </a:solidFill>
              </a:rPr>
              <a:t>toString</a:t>
            </a:r>
            <a:r>
              <a:rPr lang="en-US" altLang="zh-CN" sz="2200" b="1" dirty="0">
                <a:solidFill>
                  <a:schemeClr val="hlink"/>
                </a:solidFill>
              </a:rPr>
              <a:t>()</a:t>
            </a:r>
            <a:r>
              <a:rPr lang="en-US" altLang="zh-CN" sz="2200" b="1" dirty="0"/>
              <a:t> { </a:t>
            </a:r>
          </a:p>
          <a:p>
            <a:pPr marL="0" indent="0" eaLnBrk="1" hangingPunct="1">
              <a:buNone/>
            </a:pPr>
            <a:r>
              <a:rPr lang="en-US" altLang="zh-CN" sz="2200" b="1" dirty="0"/>
              <a:t>       if (ripe)  return("A ripe " + color + " apple"); </a:t>
            </a:r>
          </a:p>
          <a:p>
            <a:pPr marL="0" indent="0" eaLnBrk="1" hangingPunct="1">
              <a:buNone/>
            </a:pPr>
            <a:r>
              <a:rPr lang="en-US" altLang="zh-CN" sz="2200" b="1" dirty="0"/>
              <a:t>       else  return("A not so ripe " + color + " apple"); </a:t>
            </a:r>
          </a:p>
          <a:p>
            <a:pPr marL="0" indent="0" eaLnBrk="1" hangingPunct="1">
              <a:buNone/>
            </a:pPr>
            <a:r>
              <a:rPr lang="en-US" altLang="zh-CN" sz="2200" b="1" dirty="0"/>
              <a:t>  } </a:t>
            </a:r>
            <a:endParaRPr lang="zh-CN" altLang="en-US" sz="2200" b="1" dirty="0"/>
          </a:p>
        </p:txBody>
      </p:sp>
      <p:sp>
        <p:nvSpPr>
          <p:cNvPr id="4" name="TextBox 3">
            <a:extLst>
              <a:ext uri="{FF2B5EF4-FFF2-40B4-BE49-F238E27FC236}">
                <a16:creationId xmlns:a16="http://schemas.microsoft.com/office/drawing/2014/main" id="{13639EB5-BAA2-2FE5-993A-7700E244298D}"/>
              </a:ext>
            </a:extLst>
          </p:cNvPr>
          <p:cNvSpPr txBox="1"/>
          <p:nvPr>
            <p:custDataLst>
              <p:tags r:id="rId1"/>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
        <p:nvSpPr>
          <p:cNvPr id="2" name="文本框 1">
            <a:extLst>
              <a:ext uri="{FF2B5EF4-FFF2-40B4-BE49-F238E27FC236}">
                <a16:creationId xmlns:a16="http://schemas.microsoft.com/office/drawing/2014/main" id="{E178D1D8-67A6-075F-6BB6-C0F015D0BD57}"/>
              </a:ext>
            </a:extLst>
          </p:cNvPr>
          <p:cNvSpPr txBox="1"/>
          <p:nvPr>
            <p:custDataLst>
              <p:tags r:id="rId2"/>
            </p:custDataLst>
          </p:nvPr>
        </p:nvSpPr>
        <p:spPr>
          <a:xfrm>
            <a:off x="407368" y="1015213"/>
            <a:ext cx="3384376"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latin typeface="楷体" panose="02010609060101010101" pitchFamily="49" charset="-122"/>
                <a:ea typeface="楷体" panose="02010609060101010101" pitchFamily="49" charset="-122"/>
                <a:cs typeface="思源黑体 CN Heavy" panose="020B0A00000000000000" charset="-122"/>
              </a:rPr>
              <a:t>equals </a:t>
            </a: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方法的覆盖</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4294967295"/>
          </p:nvPr>
        </p:nvSpPr>
        <p:spPr>
          <a:xfrm>
            <a:off x="551384" y="1844824"/>
            <a:ext cx="11521280" cy="3629000"/>
          </a:xfrm>
          <a:prstGeom prst="rect">
            <a:avLst/>
          </a:prstGeom>
        </p:spPr>
        <p:txBody>
          <a:bodyPr lIns="92075" tIns="46038" rIns="92075" bIns="46038"/>
          <a:lstStyle/>
          <a:p>
            <a:pPr marL="0" indent="0" eaLnBrk="1" hangingPunct="1">
              <a:spcBef>
                <a:spcPts val="0"/>
              </a:spcBef>
              <a:buNone/>
            </a:pPr>
            <a:r>
              <a:rPr lang="en-US" altLang="zh-CN" sz="2500" b="1" dirty="0">
                <a:solidFill>
                  <a:schemeClr val="tx2"/>
                </a:solidFill>
              </a:rPr>
              <a:t>  @Override</a:t>
            </a:r>
          </a:p>
          <a:p>
            <a:pPr marL="0" indent="0" eaLnBrk="1" hangingPunct="1">
              <a:spcBef>
                <a:spcPts val="0"/>
              </a:spcBef>
              <a:buNone/>
            </a:pPr>
            <a:r>
              <a:rPr lang="en-US" altLang="zh-CN" sz="2500" b="1" dirty="0">
                <a:solidFill>
                  <a:schemeClr val="tx2"/>
                </a:solidFill>
              </a:rPr>
              <a:t>  public </a:t>
            </a:r>
            <a:r>
              <a:rPr lang="en-US" altLang="zh-CN" sz="2500" b="1" dirty="0" err="1">
                <a:solidFill>
                  <a:schemeClr val="tx2"/>
                </a:solidFill>
              </a:rPr>
              <a:t>boolean</a:t>
            </a:r>
            <a:r>
              <a:rPr lang="en-US" altLang="zh-CN" sz="2500" b="1" dirty="0">
                <a:solidFill>
                  <a:schemeClr val="tx2"/>
                </a:solidFill>
              </a:rPr>
              <a:t> </a:t>
            </a:r>
            <a:r>
              <a:rPr lang="en-US" altLang="zh-CN" sz="2500" b="1" dirty="0">
                <a:solidFill>
                  <a:srgbClr val="FF00FF"/>
                </a:solidFill>
                <a:highlight>
                  <a:srgbClr val="FFFF00"/>
                </a:highlight>
              </a:rPr>
              <a:t>equals(Object obj) </a:t>
            </a:r>
            <a:r>
              <a:rPr lang="en-US" altLang="zh-CN" sz="2500" b="1" dirty="0">
                <a:solidFill>
                  <a:schemeClr val="tx2"/>
                </a:solidFill>
              </a:rPr>
              <a:t>{ </a:t>
            </a:r>
          </a:p>
          <a:p>
            <a:pPr marL="0" indent="0" eaLnBrk="1" hangingPunct="1">
              <a:spcBef>
                <a:spcPts val="0"/>
              </a:spcBef>
              <a:buNone/>
            </a:pPr>
            <a:r>
              <a:rPr lang="en-US" altLang="zh-CN" sz="2500" b="1" dirty="0">
                <a:solidFill>
                  <a:schemeClr val="tx2"/>
                </a:solidFill>
              </a:rPr>
              <a:t>      if (obj </a:t>
            </a:r>
            <a:r>
              <a:rPr lang="en-US" altLang="zh-CN" sz="2500" b="1" dirty="0" err="1">
                <a:solidFill>
                  <a:schemeClr val="tx2"/>
                </a:solidFill>
              </a:rPr>
              <a:t>instanceof</a:t>
            </a:r>
            <a:r>
              <a:rPr lang="en-US" altLang="zh-CN" sz="2500" b="1" dirty="0">
                <a:solidFill>
                  <a:schemeClr val="tx2"/>
                </a:solidFill>
              </a:rPr>
              <a:t> Apple) { </a:t>
            </a:r>
          </a:p>
          <a:p>
            <a:pPr marL="0" indent="0" eaLnBrk="1" hangingPunct="1">
              <a:spcBef>
                <a:spcPts val="0"/>
              </a:spcBef>
              <a:buNone/>
            </a:pPr>
            <a:r>
              <a:rPr lang="en-US" altLang="zh-CN" sz="2500" b="1" dirty="0">
                <a:solidFill>
                  <a:schemeClr val="tx2"/>
                </a:solidFill>
              </a:rPr>
              <a:t>          Apple a = (Apple) obj; </a:t>
            </a:r>
          </a:p>
          <a:p>
            <a:pPr marL="0" indent="0" eaLnBrk="1" hangingPunct="1">
              <a:spcBef>
                <a:spcPts val="0"/>
              </a:spcBef>
              <a:buNone/>
            </a:pPr>
            <a:r>
              <a:rPr lang="en-US" altLang="zh-CN" sz="2500" b="1" dirty="0">
                <a:solidFill>
                  <a:schemeClr val="tx2"/>
                </a:solidFill>
              </a:rPr>
              <a:t>          return (</a:t>
            </a:r>
            <a:r>
              <a:rPr lang="en-US" altLang="zh-CN" sz="2500" b="1" dirty="0" err="1">
                <a:solidFill>
                  <a:schemeClr val="tx2"/>
                </a:solidFill>
              </a:rPr>
              <a:t>color.equals</a:t>
            </a:r>
            <a:r>
              <a:rPr lang="en-US" altLang="zh-CN" sz="2500" b="1" dirty="0">
                <a:solidFill>
                  <a:schemeClr val="tx2"/>
                </a:solidFill>
              </a:rPr>
              <a:t>(</a:t>
            </a:r>
            <a:r>
              <a:rPr lang="en-US" altLang="zh-CN" sz="2500" b="1" dirty="0" err="1">
                <a:solidFill>
                  <a:schemeClr val="tx2"/>
                </a:solidFill>
              </a:rPr>
              <a:t>a.getColor</a:t>
            </a:r>
            <a:r>
              <a:rPr lang="en-US" altLang="zh-CN" sz="2500" b="1" dirty="0">
                <a:solidFill>
                  <a:schemeClr val="tx2"/>
                </a:solidFill>
              </a:rPr>
              <a:t>()) &amp;&amp; (ripe == </a:t>
            </a:r>
            <a:r>
              <a:rPr lang="en-US" altLang="zh-CN" sz="2500" b="1" dirty="0" err="1">
                <a:solidFill>
                  <a:schemeClr val="tx2"/>
                </a:solidFill>
              </a:rPr>
              <a:t>a.getRipe</a:t>
            </a:r>
            <a:r>
              <a:rPr lang="en-US" altLang="zh-CN" sz="2500" b="1" dirty="0">
                <a:solidFill>
                  <a:schemeClr val="tx2"/>
                </a:solidFill>
              </a:rPr>
              <a:t>())); </a:t>
            </a:r>
          </a:p>
          <a:p>
            <a:pPr marL="0" indent="0" eaLnBrk="1" hangingPunct="1">
              <a:spcBef>
                <a:spcPts val="0"/>
              </a:spcBef>
              <a:buNone/>
            </a:pPr>
            <a:r>
              <a:rPr lang="en-US" altLang="zh-CN" sz="2500" b="1" dirty="0">
                <a:solidFill>
                  <a:schemeClr val="tx2"/>
                </a:solidFill>
              </a:rPr>
              <a:t>      } </a:t>
            </a:r>
          </a:p>
          <a:p>
            <a:pPr marL="0" indent="0" eaLnBrk="1" hangingPunct="1">
              <a:spcBef>
                <a:spcPts val="0"/>
              </a:spcBef>
              <a:buNone/>
            </a:pPr>
            <a:r>
              <a:rPr lang="en-US" altLang="zh-CN" sz="2500" b="1" dirty="0">
                <a:solidFill>
                  <a:schemeClr val="tx2"/>
                </a:solidFill>
              </a:rPr>
              <a:t>      return false; </a:t>
            </a:r>
          </a:p>
          <a:p>
            <a:pPr marL="0" indent="0" eaLnBrk="1" hangingPunct="1">
              <a:spcBef>
                <a:spcPts val="0"/>
              </a:spcBef>
              <a:buNone/>
            </a:pPr>
            <a:r>
              <a:rPr lang="en-US" altLang="zh-CN" sz="2500" b="1" dirty="0">
                <a:solidFill>
                  <a:schemeClr val="tx2"/>
                </a:solidFill>
              </a:rPr>
              <a:t>  }</a:t>
            </a:r>
          </a:p>
          <a:p>
            <a:pPr marL="0" indent="0" eaLnBrk="1" hangingPunct="1">
              <a:spcBef>
                <a:spcPts val="0"/>
              </a:spcBef>
              <a:buNone/>
            </a:pPr>
            <a:r>
              <a:rPr lang="en-US" altLang="zh-CN" sz="2500" b="1" dirty="0">
                <a:solidFill>
                  <a:schemeClr val="tx2"/>
                </a:solidFill>
              </a:rPr>
              <a:t>}</a:t>
            </a:r>
          </a:p>
        </p:txBody>
      </p:sp>
      <p:sp>
        <p:nvSpPr>
          <p:cNvPr id="4" name="TextBox 3">
            <a:extLst>
              <a:ext uri="{FF2B5EF4-FFF2-40B4-BE49-F238E27FC236}">
                <a16:creationId xmlns:a16="http://schemas.microsoft.com/office/drawing/2014/main" id="{146027DC-B8F4-51C7-5DA0-304CB2079F43}"/>
              </a:ext>
            </a:extLst>
          </p:cNvPr>
          <p:cNvSpPr txBox="1"/>
          <p:nvPr>
            <p:custDataLst>
              <p:tags r:id="rId1"/>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
        <p:nvSpPr>
          <p:cNvPr id="2" name="文本框 1">
            <a:extLst>
              <a:ext uri="{FF2B5EF4-FFF2-40B4-BE49-F238E27FC236}">
                <a16:creationId xmlns:a16="http://schemas.microsoft.com/office/drawing/2014/main" id="{360F7681-E884-9869-CDEB-34EDFABF3072}"/>
              </a:ext>
            </a:extLst>
          </p:cNvPr>
          <p:cNvSpPr txBox="1"/>
          <p:nvPr>
            <p:custDataLst>
              <p:tags r:id="rId2"/>
            </p:custDataLst>
          </p:nvPr>
        </p:nvSpPr>
        <p:spPr>
          <a:xfrm>
            <a:off x="407368" y="1015213"/>
            <a:ext cx="3384376"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latin typeface="楷体" panose="02010609060101010101" pitchFamily="49" charset="-122"/>
                <a:ea typeface="楷体" panose="02010609060101010101" pitchFamily="49" charset="-122"/>
                <a:cs typeface="思源黑体 CN Heavy" panose="020B0A00000000000000" charset="-122"/>
              </a:rPr>
              <a:t>equals </a:t>
            </a: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方法的覆盖</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4294967295"/>
          </p:nvPr>
        </p:nvSpPr>
        <p:spPr>
          <a:xfrm>
            <a:off x="442900" y="1628800"/>
            <a:ext cx="11485748" cy="4176464"/>
          </a:xfrm>
          <a:prstGeom prst="rect">
            <a:avLst/>
          </a:prstGeom>
        </p:spPr>
        <p:txBody>
          <a:bodyPr lIns="92075" tIns="46038" rIns="92075" bIns="46038">
            <a:normAutofit/>
          </a:bodyPr>
          <a:lstStyle/>
          <a:p>
            <a:pPr marL="0" indent="0" eaLnBrk="1" hangingPunct="1">
              <a:spcBef>
                <a:spcPts val="0"/>
              </a:spcBef>
              <a:buNone/>
            </a:pPr>
            <a:r>
              <a:rPr lang="en-US" altLang="zh-CN" sz="2400" b="1" dirty="0"/>
              <a:t>public class EqualsTester2 {</a:t>
            </a:r>
          </a:p>
          <a:p>
            <a:pPr marL="0" indent="0" eaLnBrk="1" hangingPunct="1">
              <a:spcBef>
                <a:spcPts val="0"/>
              </a:spcBef>
              <a:buNone/>
            </a:pPr>
            <a:r>
              <a:rPr lang="en-US" altLang="zh-CN" sz="2400" b="1" dirty="0"/>
              <a:t>    public static void main(String[] </a:t>
            </a:r>
            <a:r>
              <a:rPr lang="en-US" altLang="zh-CN" sz="2400" b="1" dirty="0" err="1"/>
              <a:t>args</a:t>
            </a:r>
            <a:r>
              <a:rPr lang="en-US" altLang="zh-CN" sz="2400" b="1" dirty="0"/>
              <a:t>) {</a:t>
            </a:r>
          </a:p>
          <a:p>
            <a:pPr marL="0" indent="0" eaLnBrk="1" hangingPunct="1">
              <a:spcBef>
                <a:spcPts val="0"/>
              </a:spcBef>
              <a:buNone/>
            </a:pPr>
            <a:r>
              <a:rPr lang="en-US" altLang="zh-CN" sz="2400" b="1" dirty="0"/>
              <a:t>        Apple a = new Apple("red", true);</a:t>
            </a:r>
          </a:p>
          <a:p>
            <a:pPr marL="0" indent="0" eaLnBrk="1" hangingPunct="1">
              <a:spcBef>
                <a:spcPts val="0"/>
              </a:spcBef>
              <a:buNone/>
            </a:pPr>
            <a:r>
              <a:rPr lang="en-US" altLang="zh-CN" sz="2400" b="1" dirty="0"/>
              <a:t>        Apple b = new Apple("red", true);</a:t>
            </a:r>
          </a:p>
          <a:p>
            <a:pPr marL="0" indent="0" eaLnBrk="1" hangingPunct="1">
              <a:spcBef>
                <a:spcPts val="0"/>
              </a:spcBef>
              <a:buNone/>
            </a:pPr>
            <a:r>
              <a:rPr lang="en-US" altLang="zh-CN" sz="2400" b="1" dirty="0"/>
              <a:t>        </a:t>
            </a:r>
            <a:r>
              <a:rPr lang="en-US" altLang="zh-CN" sz="2400" b="1" dirty="0" err="1"/>
              <a:t>System.out.println</a:t>
            </a:r>
            <a:r>
              <a:rPr lang="en-US" altLang="zh-CN" sz="2400" b="1" dirty="0"/>
              <a:t>(a + " is equal to " + b + ": " + </a:t>
            </a:r>
            <a:r>
              <a:rPr lang="en-US" altLang="zh-CN" sz="2400" b="1" dirty="0" err="1">
                <a:solidFill>
                  <a:srgbClr val="FF0000"/>
                </a:solidFill>
              </a:rPr>
              <a:t>a.equals</a:t>
            </a:r>
            <a:r>
              <a:rPr lang="en-US" altLang="zh-CN" sz="2400" b="1" dirty="0">
                <a:solidFill>
                  <a:srgbClr val="FF0000"/>
                </a:solidFill>
              </a:rPr>
              <a:t>(b)</a:t>
            </a:r>
            <a:r>
              <a:rPr lang="en-US" altLang="zh-CN" sz="2400" b="1" dirty="0"/>
              <a:t>);</a:t>
            </a:r>
          </a:p>
          <a:p>
            <a:pPr marL="0" indent="0" eaLnBrk="1" hangingPunct="1">
              <a:spcBef>
                <a:spcPts val="0"/>
              </a:spcBef>
              <a:buNone/>
            </a:pPr>
            <a:r>
              <a:rPr lang="en-US" altLang="zh-CN" sz="2400" b="1" dirty="0"/>
              <a:t>        </a:t>
            </a:r>
            <a:r>
              <a:rPr lang="en-US" altLang="zh-CN" sz="2400" b="1" dirty="0" err="1"/>
              <a:t>System.out.println</a:t>
            </a:r>
            <a:r>
              <a:rPr lang="en-US" altLang="zh-CN" sz="2400" b="1" dirty="0"/>
              <a:t>("a is identical to b: " + (a == b));</a:t>
            </a:r>
          </a:p>
          <a:p>
            <a:pPr marL="0" indent="0" eaLnBrk="1" hangingPunct="1">
              <a:spcBef>
                <a:spcPts val="0"/>
              </a:spcBef>
              <a:buNone/>
            </a:pPr>
            <a:r>
              <a:rPr lang="en-US" altLang="zh-CN" sz="2400" b="1" dirty="0"/>
              <a:t>        Apple c = a;</a:t>
            </a:r>
          </a:p>
          <a:p>
            <a:pPr marL="0" indent="0" eaLnBrk="1" hangingPunct="1">
              <a:spcBef>
                <a:spcPts val="0"/>
              </a:spcBef>
              <a:buNone/>
            </a:pPr>
            <a:r>
              <a:rPr lang="en-US" altLang="zh-CN" sz="2400" b="1" dirty="0"/>
              <a:t>        </a:t>
            </a:r>
            <a:r>
              <a:rPr lang="en-US" altLang="zh-CN" sz="2400" b="1" dirty="0" err="1"/>
              <a:t>System.out.println</a:t>
            </a:r>
            <a:r>
              <a:rPr lang="en-US" altLang="zh-CN" sz="2400" b="1" dirty="0"/>
              <a:t>(a + " is equal to " + c + ": " + </a:t>
            </a:r>
            <a:r>
              <a:rPr lang="en-US" altLang="zh-CN" sz="2400" b="1" dirty="0" err="1">
                <a:solidFill>
                  <a:srgbClr val="FF0000"/>
                </a:solidFill>
              </a:rPr>
              <a:t>a.equals</a:t>
            </a:r>
            <a:r>
              <a:rPr lang="en-US" altLang="zh-CN" sz="2400" b="1" dirty="0">
                <a:solidFill>
                  <a:srgbClr val="FF0000"/>
                </a:solidFill>
              </a:rPr>
              <a:t>(c)</a:t>
            </a:r>
            <a:r>
              <a:rPr lang="en-US" altLang="zh-CN" sz="2400" b="1" dirty="0"/>
              <a:t>);</a:t>
            </a:r>
          </a:p>
          <a:p>
            <a:pPr marL="0" indent="0" eaLnBrk="1" hangingPunct="1">
              <a:spcBef>
                <a:spcPts val="0"/>
              </a:spcBef>
              <a:buNone/>
            </a:pPr>
            <a:r>
              <a:rPr lang="en-US" altLang="zh-CN" sz="2400" b="1" dirty="0"/>
              <a:t>        </a:t>
            </a:r>
            <a:r>
              <a:rPr lang="en-US" altLang="zh-CN" sz="2400" b="1" dirty="0" err="1"/>
              <a:t>System.out.println</a:t>
            </a:r>
            <a:r>
              <a:rPr lang="en-US" altLang="zh-CN" sz="2400" b="1" dirty="0"/>
              <a:t>("a is identical to c: " + (a == c));</a:t>
            </a:r>
          </a:p>
          <a:p>
            <a:pPr marL="0" indent="0" eaLnBrk="1" hangingPunct="1">
              <a:spcBef>
                <a:spcPts val="0"/>
              </a:spcBef>
              <a:buNone/>
            </a:pPr>
            <a:r>
              <a:rPr lang="en-US" altLang="zh-CN" sz="2400" b="1" dirty="0"/>
              <a:t>    }</a:t>
            </a:r>
          </a:p>
          <a:p>
            <a:pPr marL="0" indent="0" eaLnBrk="1" hangingPunct="1">
              <a:spcBef>
                <a:spcPts val="0"/>
              </a:spcBef>
              <a:buNone/>
            </a:pPr>
            <a:r>
              <a:rPr lang="en-US" altLang="zh-CN" sz="2400" b="1" dirty="0"/>
              <a:t>}</a:t>
            </a:r>
          </a:p>
        </p:txBody>
      </p:sp>
      <p:sp>
        <p:nvSpPr>
          <p:cNvPr id="3" name="文本框 2">
            <a:extLst>
              <a:ext uri="{FF2B5EF4-FFF2-40B4-BE49-F238E27FC236}">
                <a16:creationId xmlns:a16="http://schemas.microsoft.com/office/drawing/2014/main" id="{AF62B1E8-5762-4653-8A8E-F9D6212D3AF3}"/>
              </a:ext>
            </a:extLst>
          </p:cNvPr>
          <p:cNvSpPr txBox="1"/>
          <p:nvPr/>
        </p:nvSpPr>
        <p:spPr>
          <a:xfrm>
            <a:off x="5231904" y="5249242"/>
            <a:ext cx="6192688" cy="1477328"/>
          </a:xfrm>
          <a:prstGeom prst="rect">
            <a:avLst/>
          </a:prstGeom>
          <a:noFill/>
        </p:spPr>
        <p:txBody>
          <a:bodyPr wrap="square" rtlCol="0">
            <a:spAutoFit/>
          </a:bodyPr>
          <a:lstStyle/>
          <a:p>
            <a:r>
              <a:rPr lang="zh-CN" altLang="en-US" sz="1800" dirty="0">
                <a:latin typeface="微软雅黑" panose="020B0503020204020204" pitchFamily="34" charset="-122"/>
                <a:ea typeface="微软雅黑" panose="020B0503020204020204" pitchFamily="34" charset="-122"/>
              </a:rPr>
              <a:t>运行时输出：</a:t>
            </a:r>
            <a:endParaRPr lang="en-US" altLang="zh-CN" sz="1800" dirty="0">
              <a:latin typeface="微软雅黑" panose="020B0503020204020204" pitchFamily="34" charset="-122"/>
              <a:ea typeface="微软雅黑" panose="020B0503020204020204" pitchFamily="34" charset="-122"/>
            </a:endParaRPr>
          </a:p>
          <a:p>
            <a:r>
              <a:rPr lang="en-US" altLang="zh-CN" sz="1800" dirty="0">
                <a:latin typeface="微软雅黑" panose="020B0503020204020204" pitchFamily="34" charset="-122"/>
                <a:ea typeface="微软雅黑" panose="020B0503020204020204" pitchFamily="34" charset="-122"/>
              </a:rPr>
              <a:t>A ripe red apple is equal to A ripe red apple: true</a:t>
            </a:r>
          </a:p>
          <a:p>
            <a:r>
              <a:rPr lang="en-US" altLang="zh-CN" sz="1800" dirty="0">
                <a:latin typeface="微软雅黑" panose="020B0503020204020204" pitchFamily="34" charset="-122"/>
                <a:ea typeface="微软雅黑" panose="020B0503020204020204" pitchFamily="34" charset="-122"/>
              </a:rPr>
              <a:t>a is identical to b: false</a:t>
            </a:r>
          </a:p>
          <a:p>
            <a:r>
              <a:rPr lang="en-US" altLang="zh-CN" sz="1800" dirty="0">
                <a:latin typeface="微软雅黑" panose="020B0503020204020204" pitchFamily="34" charset="-122"/>
                <a:ea typeface="微软雅黑" panose="020B0503020204020204" pitchFamily="34" charset="-122"/>
              </a:rPr>
              <a:t>A ripe red apple is equal to A ripe red apple: true</a:t>
            </a:r>
          </a:p>
          <a:p>
            <a:r>
              <a:rPr lang="en-US" altLang="zh-CN" sz="1800" dirty="0">
                <a:latin typeface="微软雅黑" panose="020B0503020204020204" pitchFamily="34" charset="-122"/>
                <a:ea typeface="微软雅黑" panose="020B0503020204020204" pitchFamily="34" charset="-122"/>
              </a:rPr>
              <a:t>a is identical to c: true</a:t>
            </a:r>
            <a:endParaRPr lang="zh-CN" altLang="en-US" sz="1800" dirty="0">
              <a:latin typeface="微软雅黑" panose="020B0503020204020204" pitchFamily="34" charset="-122"/>
              <a:ea typeface="微软雅黑" panose="020B0503020204020204" pitchFamily="34" charset="-122"/>
            </a:endParaRPr>
          </a:p>
        </p:txBody>
      </p:sp>
      <p:sp>
        <p:nvSpPr>
          <p:cNvPr id="5" name="TextBox 3">
            <a:extLst>
              <a:ext uri="{FF2B5EF4-FFF2-40B4-BE49-F238E27FC236}">
                <a16:creationId xmlns:a16="http://schemas.microsoft.com/office/drawing/2014/main" id="{B930295C-90EF-ED5C-8B60-8E476CF59C78}"/>
              </a:ext>
            </a:extLst>
          </p:cNvPr>
          <p:cNvSpPr txBox="1"/>
          <p:nvPr>
            <p:custDataLst>
              <p:tags r:id="rId1"/>
            </p:custDataLst>
          </p:nvPr>
        </p:nvSpPr>
        <p:spPr>
          <a:xfrm>
            <a:off x="4079776" y="57004"/>
            <a:ext cx="331236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3.2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Object </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a:t>
            </a:r>
          </a:p>
        </p:txBody>
      </p:sp>
      <p:sp>
        <p:nvSpPr>
          <p:cNvPr id="2" name="文本框 1">
            <a:extLst>
              <a:ext uri="{FF2B5EF4-FFF2-40B4-BE49-F238E27FC236}">
                <a16:creationId xmlns:a16="http://schemas.microsoft.com/office/drawing/2014/main" id="{494D2042-A8DD-1860-EC5A-937FA5551A6B}"/>
              </a:ext>
            </a:extLst>
          </p:cNvPr>
          <p:cNvSpPr txBox="1"/>
          <p:nvPr>
            <p:custDataLst>
              <p:tags r:id="rId2"/>
            </p:custDataLst>
          </p:nvPr>
        </p:nvSpPr>
        <p:spPr>
          <a:xfrm>
            <a:off x="407368" y="1015213"/>
            <a:ext cx="3384376"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latin typeface="楷体" panose="02010609060101010101" pitchFamily="49" charset="-122"/>
                <a:ea typeface="楷体" panose="02010609060101010101" pitchFamily="49" charset="-122"/>
                <a:cs typeface="思源黑体 CN Heavy" panose="020B0A00000000000000" charset="-122"/>
              </a:rPr>
              <a:t>equals </a:t>
            </a: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方法的覆盖</a:t>
            </a:r>
          </a:p>
        </p:txBody>
      </p:sp>
    </p:spTree>
    <p:extLst>
      <p:ext uri="{BB962C8B-B14F-4D97-AF65-F5344CB8AC3E}">
        <p14:creationId xmlns:p14="http://schemas.microsoft.com/office/powerpoint/2010/main" val="151893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3"/>
          <p:cNvSpPr>
            <a:spLocks noGrp="1" noChangeArrowheads="1"/>
          </p:cNvSpPr>
          <p:nvPr>
            <p:ph idx="4294967295"/>
          </p:nvPr>
        </p:nvSpPr>
        <p:spPr>
          <a:xfrm>
            <a:off x="1775520" y="1916832"/>
            <a:ext cx="5832648" cy="1872208"/>
          </a:xfrm>
          <a:prstGeom prst="rect">
            <a:avLst/>
          </a:prstGeom>
        </p:spPr>
        <p:txBody>
          <a:bodyPr lIns="92075" tIns="46038" rIns="92075" bIns="46038"/>
          <a:lstStyle/>
          <a:p>
            <a:pPr eaLnBrk="1" hangingPunct="1">
              <a:lnSpc>
                <a:spcPct val="120000"/>
              </a:lnSpc>
              <a:buFont typeface="Wingdings" panose="05000000000000000000" pitchFamily="2" charset="2"/>
              <a:buChar char="Ø"/>
            </a:pPr>
            <a:r>
              <a:rPr lang="zh-CN" altLang="en-US" sz="3000" b="1" dirty="0"/>
              <a:t>用</a:t>
            </a:r>
            <a:r>
              <a:rPr lang="en-US" altLang="zh-CN" sz="3000" b="1" dirty="0">
                <a:solidFill>
                  <a:srgbClr val="FF00FF"/>
                </a:solidFill>
              </a:rPr>
              <a:t>final</a:t>
            </a:r>
            <a:r>
              <a:rPr lang="zh-CN" altLang="en-US" sz="3000" b="1" dirty="0">
                <a:solidFill>
                  <a:srgbClr val="FF00FF"/>
                </a:solidFill>
              </a:rPr>
              <a:t>修饰的类和方法</a:t>
            </a:r>
            <a:r>
              <a:rPr lang="zh-CN" altLang="en-US" sz="3000" b="1" dirty="0"/>
              <a:t>；</a:t>
            </a:r>
          </a:p>
          <a:p>
            <a:pPr eaLnBrk="1" hangingPunct="1">
              <a:lnSpc>
                <a:spcPct val="120000"/>
              </a:lnSpc>
              <a:buFont typeface="Wingdings" panose="05000000000000000000" pitchFamily="2" charset="2"/>
              <a:buChar char="Ø"/>
            </a:pPr>
            <a:r>
              <a:rPr lang="zh-CN" altLang="en-US" sz="3000" b="1" dirty="0"/>
              <a:t>终结类</a:t>
            </a:r>
            <a:r>
              <a:rPr lang="zh-CN" altLang="en-US" sz="3000" b="1" dirty="0">
                <a:solidFill>
                  <a:srgbClr val="FF00FF"/>
                </a:solidFill>
              </a:rPr>
              <a:t>不能被继承</a:t>
            </a:r>
            <a:r>
              <a:rPr lang="zh-CN" altLang="en-US" sz="3000" b="1" dirty="0"/>
              <a:t>；</a:t>
            </a:r>
          </a:p>
          <a:p>
            <a:pPr eaLnBrk="1" hangingPunct="1">
              <a:lnSpc>
                <a:spcPct val="120000"/>
              </a:lnSpc>
              <a:buFont typeface="Wingdings" panose="05000000000000000000" pitchFamily="2" charset="2"/>
              <a:buChar char="Ø"/>
            </a:pPr>
            <a:r>
              <a:rPr lang="zh-CN" altLang="en-US" sz="3000" b="1" dirty="0"/>
              <a:t>终结</a:t>
            </a:r>
            <a:r>
              <a:rPr lang="zh-CN" altLang="en-US" sz="3000" b="1" dirty="0">
                <a:solidFill>
                  <a:srgbClr val="FF00FF"/>
                </a:solidFill>
              </a:rPr>
              <a:t>方法不能被子类覆盖</a:t>
            </a:r>
            <a:r>
              <a:rPr lang="zh-CN" altLang="en-US" sz="3000" b="1" dirty="0"/>
              <a:t>。</a:t>
            </a:r>
          </a:p>
        </p:txBody>
      </p:sp>
      <p:sp>
        <p:nvSpPr>
          <p:cNvPr id="10035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2A68721-E951-4668-9E7C-51AC154AEDE6}" type="slidenum">
              <a:rPr kumimoji="1" lang="en-US" altLang="zh-CN" sz="1800" smtClean="0">
                <a:solidFill>
                  <a:schemeClr val="bg1"/>
                </a:solidFill>
                <a:latin typeface="Times New Roman" panose="02020603050405020304" pitchFamily="18" charset="0"/>
              </a:rPr>
              <a:pPr>
                <a:spcBef>
                  <a:spcPct val="0"/>
                </a:spcBef>
                <a:buClrTx/>
                <a:buFontTx/>
                <a:buNone/>
              </a:pPr>
              <a:t>33</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DC575C07-D199-5B60-5C0F-BEC36D74E1F8}"/>
              </a:ext>
            </a:extLst>
          </p:cNvPr>
          <p:cNvSpPr txBox="1"/>
          <p:nvPr>
            <p:custDataLst>
              <p:tags r:id="rId1"/>
            </p:custDataLst>
          </p:nvPr>
        </p:nvSpPr>
        <p:spPr>
          <a:xfrm>
            <a:off x="407368" y="1015213"/>
            <a:ext cx="30963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终结类与终结方法</a:t>
            </a:r>
          </a:p>
        </p:txBody>
      </p:sp>
      <p:sp>
        <p:nvSpPr>
          <p:cNvPr id="3" name="TextBox 3">
            <a:extLst>
              <a:ext uri="{FF2B5EF4-FFF2-40B4-BE49-F238E27FC236}">
                <a16:creationId xmlns:a16="http://schemas.microsoft.com/office/drawing/2014/main" id="{60DF0745-26CA-7B8E-7305-8F6D7C9A7C46}"/>
              </a:ext>
            </a:extLst>
          </p:cNvPr>
          <p:cNvSpPr txBox="1"/>
          <p:nvPr>
            <p:custDataLst>
              <p:tags r:id="rId2"/>
            </p:custDataLst>
          </p:nvPr>
        </p:nvSpPr>
        <p:spPr>
          <a:xfrm>
            <a:off x="3719736" y="57004"/>
            <a:ext cx="49685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3.3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final</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类和</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final</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方法</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idx="4294967295"/>
          </p:nvPr>
        </p:nvSpPr>
        <p:spPr>
          <a:xfrm>
            <a:off x="623392" y="1643804"/>
            <a:ext cx="11161240" cy="5157192"/>
          </a:xfrm>
          <a:prstGeom prst="rect">
            <a:avLst/>
          </a:prstGeom>
        </p:spPr>
        <p:txBody>
          <a:bodyPr lIns="92075" tIns="46038" rIns="92075" bIns="46038"/>
          <a:lstStyle/>
          <a:p>
            <a:pPr marL="0" indent="0" eaLnBrk="1" hangingPunct="1">
              <a:lnSpc>
                <a:spcPct val="90000"/>
              </a:lnSpc>
              <a:buNone/>
            </a:pPr>
            <a:r>
              <a:rPr lang="zh-CN" altLang="en-US" sz="2800" dirty="0"/>
              <a:t>声明</a:t>
            </a:r>
            <a:r>
              <a:rPr lang="en-US" altLang="zh-CN" sz="2800" dirty="0" err="1"/>
              <a:t>ChessAlgorithm</a:t>
            </a:r>
            <a:r>
              <a:rPr lang="en-US" altLang="zh-CN" sz="2800" dirty="0"/>
              <a:t> </a:t>
            </a:r>
            <a:r>
              <a:rPr lang="zh-CN" altLang="en-US" sz="2800" dirty="0"/>
              <a:t>类为</a:t>
            </a:r>
            <a:r>
              <a:rPr lang="en-US" altLang="zh-CN" sz="2800" dirty="0"/>
              <a:t>final </a:t>
            </a:r>
            <a:r>
              <a:rPr lang="zh-CN" altLang="en-US" sz="2800" dirty="0"/>
              <a:t>类</a:t>
            </a:r>
          </a:p>
          <a:p>
            <a:pPr lvl="1" eaLnBrk="1" hangingPunct="1">
              <a:lnSpc>
                <a:spcPct val="90000"/>
              </a:lnSpc>
              <a:spcBef>
                <a:spcPct val="50000"/>
              </a:spcBef>
              <a:buFont typeface="Georgia" panose="02040502050405020303" pitchFamily="18" charset="0"/>
              <a:buNone/>
            </a:pPr>
            <a:r>
              <a:rPr lang="en-US" altLang="zh-CN" dirty="0">
                <a:solidFill>
                  <a:srgbClr val="FF0000"/>
                </a:solidFill>
                <a:highlight>
                  <a:srgbClr val="FFFF00"/>
                </a:highlight>
              </a:rPr>
              <a:t>final</a:t>
            </a:r>
            <a:r>
              <a:rPr lang="en-US" altLang="zh-CN" dirty="0"/>
              <a:t> class </a:t>
            </a:r>
            <a:r>
              <a:rPr lang="en-US" altLang="zh-CN" dirty="0" err="1">
                <a:solidFill>
                  <a:srgbClr val="FF00FF"/>
                </a:solidFill>
              </a:rPr>
              <a:t>ChessAlgorithm</a:t>
            </a:r>
            <a:r>
              <a:rPr lang="en-US" altLang="zh-CN" dirty="0">
                <a:solidFill>
                  <a:srgbClr val="FF00FF"/>
                </a:solidFill>
              </a:rPr>
              <a:t> </a:t>
            </a:r>
            <a:r>
              <a:rPr lang="en-US" altLang="zh-CN" dirty="0"/>
              <a:t>{   . . .   }</a:t>
            </a:r>
          </a:p>
          <a:p>
            <a:pPr marL="0" indent="0" eaLnBrk="1" hangingPunct="1">
              <a:lnSpc>
                <a:spcPct val="90000"/>
              </a:lnSpc>
              <a:spcBef>
                <a:spcPct val="45000"/>
              </a:spcBef>
              <a:buNone/>
            </a:pPr>
            <a:r>
              <a:rPr lang="zh-CN" altLang="en-US" sz="2800" dirty="0"/>
              <a:t>如果写如下程序：</a:t>
            </a:r>
          </a:p>
          <a:p>
            <a:pPr lvl="1" eaLnBrk="1" hangingPunct="1">
              <a:lnSpc>
                <a:spcPct val="90000"/>
              </a:lnSpc>
              <a:spcBef>
                <a:spcPct val="50000"/>
              </a:spcBef>
              <a:buFont typeface="Georgia" panose="02040502050405020303" pitchFamily="18" charset="0"/>
              <a:buNone/>
            </a:pPr>
            <a:r>
              <a:rPr lang="en-US" altLang="zh-CN" dirty="0"/>
              <a:t>class </a:t>
            </a:r>
            <a:r>
              <a:rPr lang="en-US" altLang="zh-CN" dirty="0" err="1"/>
              <a:t>BetterChessAlgorithm</a:t>
            </a:r>
            <a:r>
              <a:rPr lang="en-US" altLang="zh-CN" dirty="0">
                <a:solidFill>
                  <a:schemeClr val="tx2"/>
                </a:solidFill>
              </a:rPr>
              <a:t> </a:t>
            </a:r>
            <a:r>
              <a:rPr lang="en-US" altLang="zh-CN" dirty="0">
                <a:solidFill>
                  <a:srgbClr val="FF00FF"/>
                </a:solidFill>
              </a:rPr>
              <a:t>extends</a:t>
            </a:r>
            <a:r>
              <a:rPr lang="en-US" altLang="zh-CN" dirty="0"/>
              <a:t> </a:t>
            </a:r>
            <a:r>
              <a:rPr lang="en-US" altLang="zh-CN" dirty="0" err="1">
                <a:solidFill>
                  <a:srgbClr val="FF00FF"/>
                </a:solidFill>
              </a:rPr>
              <a:t>ChessAlgorithm</a:t>
            </a:r>
            <a:r>
              <a:rPr lang="en-US" altLang="zh-CN" dirty="0">
                <a:solidFill>
                  <a:srgbClr val="66FF33"/>
                </a:solidFill>
              </a:rPr>
              <a:t> </a:t>
            </a:r>
            <a:r>
              <a:rPr lang="en-US" altLang="zh-CN" dirty="0"/>
              <a:t>{ … }</a:t>
            </a:r>
          </a:p>
          <a:p>
            <a:pPr lvl="1" indent="-742950" eaLnBrk="1" hangingPunct="1">
              <a:lnSpc>
                <a:spcPct val="90000"/>
              </a:lnSpc>
              <a:spcBef>
                <a:spcPct val="50000"/>
              </a:spcBef>
              <a:buFont typeface="Georgia" panose="02040502050405020303" pitchFamily="18" charset="0"/>
              <a:buNone/>
            </a:pPr>
            <a:r>
              <a:rPr lang="zh-CN" altLang="en-US" dirty="0"/>
              <a:t>编译器将显示一个错误</a:t>
            </a:r>
          </a:p>
          <a:p>
            <a:pPr lvl="2" eaLnBrk="1" hangingPunct="1">
              <a:lnSpc>
                <a:spcPct val="90000"/>
              </a:lnSpc>
              <a:buFont typeface="Wingdings 2" panose="05020102010507070707" pitchFamily="18" charset="2"/>
              <a:buNone/>
            </a:pPr>
            <a:r>
              <a:rPr lang="en-US" altLang="zh-CN" sz="2800" dirty="0"/>
              <a:t>Chess.java:6: Can't subclass final classes: class </a:t>
            </a:r>
            <a:r>
              <a:rPr lang="en-US" altLang="zh-CN" sz="2800" dirty="0" err="1"/>
              <a:t>ChessAlgorithm</a:t>
            </a:r>
            <a:endParaRPr lang="en-US" altLang="zh-CN" sz="2800" dirty="0"/>
          </a:p>
          <a:p>
            <a:pPr lvl="2" eaLnBrk="1" hangingPunct="1">
              <a:lnSpc>
                <a:spcPct val="90000"/>
              </a:lnSpc>
              <a:buFont typeface="Wingdings 2" panose="05020102010507070707" pitchFamily="18" charset="2"/>
              <a:buNone/>
            </a:pPr>
            <a:r>
              <a:rPr lang="en-US" altLang="zh-CN" sz="2800" dirty="0"/>
              <a:t>class </a:t>
            </a:r>
            <a:r>
              <a:rPr lang="en-US" altLang="zh-CN" sz="2800" dirty="0" err="1"/>
              <a:t>BetterChessAlgorithm</a:t>
            </a:r>
            <a:r>
              <a:rPr lang="en-US" altLang="zh-CN" sz="2800" dirty="0"/>
              <a:t> extends </a:t>
            </a:r>
            <a:r>
              <a:rPr lang="en-US" altLang="zh-CN" sz="2800" dirty="0" err="1"/>
              <a:t>ChessAlgorithm</a:t>
            </a:r>
            <a:r>
              <a:rPr lang="en-US" altLang="zh-CN" sz="2800" dirty="0"/>
              <a:t> {</a:t>
            </a:r>
          </a:p>
          <a:p>
            <a:pPr lvl="2" eaLnBrk="1" hangingPunct="1">
              <a:lnSpc>
                <a:spcPct val="90000"/>
              </a:lnSpc>
              <a:buFont typeface="Wingdings 2" panose="05020102010507070707" pitchFamily="18" charset="2"/>
              <a:buNone/>
            </a:pPr>
            <a:r>
              <a:rPr lang="en-US" altLang="zh-CN" sz="2800" dirty="0"/>
              <a:t>      ^</a:t>
            </a:r>
          </a:p>
          <a:p>
            <a:pPr lvl="2" eaLnBrk="1" hangingPunct="1">
              <a:lnSpc>
                <a:spcPct val="90000"/>
              </a:lnSpc>
              <a:buFont typeface="Wingdings 2" panose="05020102010507070707" pitchFamily="18" charset="2"/>
              <a:buNone/>
            </a:pPr>
            <a:r>
              <a:rPr lang="en-US" altLang="zh-CN" sz="2800" dirty="0"/>
              <a:t>1 error</a:t>
            </a:r>
          </a:p>
        </p:txBody>
      </p:sp>
      <p:sp>
        <p:nvSpPr>
          <p:cNvPr id="4" name="TextBox 3">
            <a:extLst>
              <a:ext uri="{FF2B5EF4-FFF2-40B4-BE49-F238E27FC236}">
                <a16:creationId xmlns:a16="http://schemas.microsoft.com/office/drawing/2014/main" id="{9DCEE68F-0F87-2C6E-8C33-C38AD8E32E4E}"/>
              </a:ext>
            </a:extLst>
          </p:cNvPr>
          <p:cNvSpPr txBox="1"/>
          <p:nvPr>
            <p:custDataLst>
              <p:tags r:id="rId1"/>
            </p:custDataLst>
          </p:nvPr>
        </p:nvSpPr>
        <p:spPr>
          <a:xfrm>
            <a:off x="3719736" y="57004"/>
            <a:ext cx="49685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3.3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final</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类和</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final</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方法</a:t>
            </a:r>
          </a:p>
        </p:txBody>
      </p:sp>
      <p:sp>
        <p:nvSpPr>
          <p:cNvPr id="5" name="文本框 4">
            <a:extLst>
              <a:ext uri="{FF2B5EF4-FFF2-40B4-BE49-F238E27FC236}">
                <a16:creationId xmlns:a16="http://schemas.microsoft.com/office/drawing/2014/main" id="{3F2331E7-7638-FE17-7991-0F9B340E112E}"/>
              </a:ext>
            </a:extLst>
          </p:cNvPr>
          <p:cNvSpPr txBox="1"/>
          <p:nvPr>
            <p:custDataLst>
              <p:tags r:id="rId2"/>
            </p:custDataLst>
          </p:nvPr>
        </p:nvSpPr>
        <p:spPr>
          <a:xfrm>
            <a:off x="407368" y="1015213"/>
            <a:ext cx="30963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终结类与终结方法</a:t>
            </a:r>
          </a:p>
        </p:txBody>
      </p:sp>
    </p:spTree>
    <p:extLst>
      <p:ext uri="{BB962C8B-B14F-4D97-AF65-F5344CB8AC3E}">
        <p14:creationId xmlns:p14="http://schemas.microsoft.com/office/powerpoint/2010/main" val="1959025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8" name="Rectangle 8"/>
          <p:cNvSpPr>
            <a:spLocks noGrp="1" noChangeArrowheads="1"/>
          </p:cNvSpPr>
          <p:nvPr>
            <p:ph idx="4294967295"/>
          </p:nvPr>
        </p:nvSpPr>
        <p:spPr>
          <a:xfrm>
            <a:off x="695400" y="1700808"/>
            <a:ext cx="11017224" cy="2664296"/>
          </a:xfrm>
          <a:prstGeom prst="rect">
            <a:avLst/>
          </a:prstGeom>
        </p:spPr>
        <p:txBody>
          <a:bodyPr lIns="92075" tIns="46038" rIns="92075" bIns="46038"/>
          <a:lstStyle/>
          <a:p>
            <a:pPr marL="0" indent="0">
              <a:spcBef>
                <a:spcPts val="0"/>
              </a:spcBef>
              <a:buNone/>
            </a:pPr>
            <a:r>
              <a:rPr lang="en-US" altLang="zh-CN" sz="2500" dirty="0"/>
              <a:t>//final </a:t>
            </a:r>
            <a:r>
              <a:rPr lang="zh-CN" altLang="en-US" sz="2500" dirty="0"/>
              <a:t>方法举例：</a:t>
            </a:r>
            <a:r>
              <a:rPr lang="en-US" altLang="zh-CN" sz="2800" dirty="0" err="1"/>
              <a:t>getPI</a:t>
            </a:r>
            <a:r>
              <a:rPr lang="en-US" altLang="zh-CN" sz="2800" dirty="0"/>
              <a:t>()</a:t>
            </a:r>
            <a:r>
              <a:rPr lang="zh-CN" altLang="en-US" sz="2800" dirty="0"/>
              <a:t>是用</a:t>
            </a:r>
            <a:r>
              <a:rPr lang="en-US" altLang="zh-CN" sz="2800" dirty="0"/>
              <a:t>final</a:t>
            </a:r>
            <a:r>
              <a:rPr lang="zh-CN" altLang="en-US" sz="2800" dirty="0"/>
              <a:t>修饰符声明的终结方法，不能在子类中对该方法进行覆盖</a:t>
            </a:r>
            <a:endParaRPr lang="zh-CN" altLang="en-US" sz="2500" dirty="0"/>
          </a:p>
          <a:p>
            <a:pPr lvl="1">
              <a:spcBef>
                <a:spcPts val="0"/>
              </a:spcBef>
              <a:buNone/>
            </a:pPr>
            <a:r>
              <a:rPr lang="en-US" altLang="zh-CN" sz="2500" dirty="0">
                <a:solidFill>
                  <a:srgbClr val="FF0000"/>
                </a:solidFill>
              </a:rPr>
              <a:t>class Parent{</a:t>
            </a:r>
          </a:p>
          <a:p>
            <a:pPr lvl="1" eaLnBrk="1" hangingPunct="1">
              <a:spcBef>
                <a:spcPts val="0"/>
              </a:spcBef>
              <a:buFont typeface="Georgia" panose="02040502050405020303" pitchFamily="18" charset="0"/>
              <a:buNone/>
            </a:pPr>
            <a:r>
              <a:rPr lang="en-US" altLang="zh-CN" sz="2500" dirty="0">
                <a:solidFill>
                  <a:srgbClr val="FF0000"/>
                </a:solidFill>
              </a:rPr>
              <a:t>   public Parent() {   } //</a:t>
            </a:r>
            <a:r>
              <a:rPr lang="zh-CN" altLang="en-US" sz="2500" dirty="0">
                <a:solidFill>
                  <a:srgbClr val="FF0000"/>
                </a:solidFill>
              </a:rPr>
              <a:t>构造方法</a:t>
            </a:r>
          </a:p>
          <a:p>
            <a:pPr lvl="1" eaLnBrk="1" hangingPunct="1">
              <a:spcBef>
                <a:spcPts val="0"/>
              </a:spcBef>
              <a:buFont typeface="Georgia" panose="02040502050405020303" pitchFamily="18" charset="0"/>
              <a:buNone/>
            </a:pPr>
            <a:r>
              <a:rPr lang="zh-CN" altLang="en-US" sz="2500" dirty="0">
                <a:solidFill>
                  <a:srgbClr val="FF0000"/>
                </a:solidFill>
              </a:rPr>
              <a:t>   </a:t>
            </a:r>
            <a:r>
              <a:rPr lang="en-US" altLang="zh-CN" sz="2500" dirty="0">
                <a:solidFill>
                  <a:srgbClr val="FF0000"/>
                </a:solidFill>
              </a:rPr>
              <a:t>final </a:t>
            </a:r>
            <a:r>
              <a:rPr lang="en-US" altLang="zh-CN" sz="2500" dirty="0" err="1">
                <a:solidFill>
                  <a:srgbClr val="FF0000"/>
                </a:solidFill>
              </a:rPr>
              <a:t>int</a:t>
            </a:r>
            <a:r>
              <a:rPr lang="en-US" altLang="zh-CN" sz="2500" dirty="0">
                <a:solidFill>
                  <a:srgbClr val="FF0000"/>
                </a:solidFill>
              </a:rPr>
              <a:t> </a:t>
            </a:r>
            <a:r>
              <a:rPr lang="en-US" altLang="zh-CN" sz="2500" dirty="0" err="1">
                <a:solidFill>
                  <a:srgbClr val="FF0000"/>
                </a:solidFill>
              </a:rPr>
              <a:t>getPI</a:t>
            </a:r>
            <a:r>
              <a:rPr lang="en-US" altLang="zh-CN" sz="2500" dirty="0">
                <a:solidFill>
                  <a:srgbClr val="FF0000"/>
                </a:solidFill>
              </a:rPr>
              <a:t>() { return </a:t>
            </a:r>
            <a:r>
              <a:rPr lang="en-US" altLang="zh-CN" sz="2500" dirty="0" err="1">
                <a:solidFill>
                  <a:srgbClr val="FF0000"/>
                </a:solidFill>
              </a:rPr>
              <a:t>Math.PI</a:t>
            </a:r>
            <a:r>
              <a:rPr lang="en-US" altLang="zh-CN" sz="2500" dirty="0">
                <a:solidFill>
                  <a:srgbClr val="FF0000"/>
                </a:solidFill>
              </a:rPr>
              <a:t>; } //</a:t>
            </a:r>
            <a:r>
              <a:rPr lang="zh-CN" altLang="en-US" sz="2500" dirty="0">
                <a:solidFill>
                  <a:srgbClr val="FF0000"/>
                </a:solidFill>
              </a:rPr>
              <a:t>终结方法</a:t>
            </a:r>
            <a:endParaRPr lang="en-US" altLang="zh-CN" sz="2500" dirty="0">
              <a:solidFill>
                <a:srgbClr val="FF0000"/>
              </a:solidFill>
            </a:endParaRPr>
          </a:p>
          <a:p>
            <a:pPr lvl="1" eaLnBrk="1" hangingPunct="1">
              <a:spcBef>
                <a:spcPts val="0"/>
              </a:spcBef>
              <a:buFont typeface="Georgia" panose="02040502050405020303" pitchFamily="18" charset="0"/>
              <a:buNone/>
            </a:pPr>
            <a:r>
              <a:rPr lang="en-US" altLang="zh-CN" sz="2500" dirty="0">
                <a:solidFill>
                  <a:srgbClr val="FF0000"/>
                </a:solidFill>
              </a:rPr>
              <a:t>}</a:t>
            </a:r>
          </a:p>
        </p:txBody>
      </p:sp>
      <p:sp>
        <p:nvSpPr>
          <p:cNvPr id="3" name="文本框 2">
            <a:extLst>
              <a:ext uri="{FF2B5EF4-FFF2-40B4-BE49-F238E27FC236}">
                <a16:creationId xmlns:a16="http://schemas.microsoft.com/office/drawing/2014/main" id="{17A9AB3A-8D55-C8DB-F45C-88C09BD6A445}"/>
              </a:ext>
            </a:extLst>
          </p:cNvPr>
          <p:cNvSpPr txBox="1"/>
          <p:nvPr>
            <p:custDataLst>
              <p:tags r:id="rId1"/>
            </p:custDataLst>
          </p:nvPr>
        </p:nvSpPr>
        <p:spPr>
          <a:xfrm>
            <a:off x="407368" y="1015213"/>
            <a:ext cx="30963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终结类与终结方法</a:t>
            </a:r>
          </a:p>
        </p:txBody>
      </p:sp>
      <p:sp>
        <p:nvSpPr>
          <p:cNvPr id="4" name="TextBox 3">
            <a:extLst>
              <a:ext uri="{FF2B5EF4-FFF2-40B4-BE49-F238E27FC236}">
                <a16:creationId xmlns:a16="http://schemas.microsoft.com/office/drawing/2014/main" id="{81B82583-28B2-A095-47BE-1BA158A826CF}"/>
              </a:ext>
            </a:extLst>
          </p:cNvPr>
          <p:cNvSpPr txBox="1"/>
          <p:nvPr>
            <p:custDataLst>
              <p:tags r:id="rId2"/>
            </p:custDataLst>
          </p:nvPr>
        </p:nvSpPr>
        <p:spPr>
          <a:xfrm>
            <a:off x="3719736" y="57004"/>
            <a:ext cx="496855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3.3  </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final</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类和</a:t>
            </a:r>
            <a:r>
              <a:rPr lang="en-US" altLang="zh-CN"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final</a:t>
            </a:r>
            <a:r>
              <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rPr>
              <a:t>方法</a:t>
            </a:r>
          </a:p>
        </p:txBody>
      </p:sp>
      <p:sp>
        <p:nvSpPr>
          <p:cNvPr id="2" name="Rectangle 8">
            <a:extLst>
              <a:ext uri="{FF2B5EF4-FFF2-40B4-BE49-F238E27FC236}">
                <a16:creationId xmlns:a16="http://schemas.microsoft.com/office/drawing/2014/main" id="{2E8E30A7-B0E7-64B8-EC35-9CED7F402DCC}"/>
              </a:ext>
            </a:extLst>
          </p:cNvPr>
          <p:cNvSpPr txBox="1">
            <a:spLocks noChangeArrowheads="1"/>
          </p:cNvSpPr>
          <p:nvPr/>
        </p:nvSpPr>
        <p:spPr>
          <a:xfrm>
            <a:off x="767408" y="4653136"/>
            <a:ext cx="11017224" cy="1728192"/>
          </a:xfrm>
          <a:prstGeom prst="rect">
            <a:avLst/>
          </a:prstGeom>
        </p:spPr>
        <p:txBody>
          <a:bodyPr lIns="92075" tIns="46038" rIns="92075" bIns="46038"/>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1" indent="0" fontAlgn="auto">
              <a:spcBef>
                <a:spcPts val="0"/>
              </a:spcBef>
              <a:spcAft>
                <a:spcPts val="0"/>
              </a:spcAft>
              <a:buFont typeface="Wingdings 2" panose="05020102010507070707" pitchFamily="18" charset="2"/>
              <a:buNone/>
            </a:pPr>
            <a:r>
              <a:rPr kumimoji="0" lang="en-US" altLang="zh-CN" sz="2500" dirty="0"/>
              <a:t>Class Child extends Parent{</a:t>
            </a:r>
            <a:endParaRPr kumimoji="0" lang="zh-CN" altLang="en-US" sz="2500" dirty="0"/>
          </a:p>
          <a:p>
            <a:pPr marL="0" lvl="1" indent="0" fontAlgn="auto">
              <a:spcBef>
                <a:spcPts val="0"/>
              </a:spcBef>
              <a:spcAft>
                <a:spcPts val="0"/>
              </a:spcAft>
              <a:buFont typeface="Wingdings 2" panose="05020102010507070707" pitchFamily="18" charset="2"/>
              <a:buNone/>
            </a:pPr>
            <a:r>
              <a:rPr kumimoji="0" lang="zh-CN" altLang="en-US" sz="2500" dirty="0"/>
              <a:t>   </a:t>
            </a:r>
            <a:r>
              <a:rPr kumimoji="0" lang="en-US" altLang="zh-CN" sz="2500" dirty="0"/>
              <a:t>public Child() {}</a:t>
            </a:r>
            <a:endParaRPr kumimoji="0" lang="zh-CN" altLang="en-US" sz="2500" dirty="0"/>
          </a:p>
          <a:p>
            <a:pPr marL="0" lvl="1" indent="0" fontAlgn="auto">
              <a:spcBef>
                <a:spcPts val="0"/>
              </a:spcBef>
              <a:spcAft>
                <a:spcPts val="0"/>
              </a:spcAft>
              <a:buFont typeface="Arial" panose="020B0604020202020204" pitchFamily="34" charset="0"/>
              <a:buNone/>
            </a:pPr>
            <a:r>
              <a:rPr kumimoji="0" lang="zh-CN" altLang="en-US" sz="2500" dirty="0">
                <a:solidFill>
                  <a:srgbClr val="FF0000"/>
                </a:solidFill>
              </a:rPr>
              <a:t>   </a:t>
            </a:r>
            <a:r>
              <a:rPr kumimoji="0" lang="en-US" altLang="zh-CN" sz="2500" dirty="0">
                <a:solidFill>
                  <a:srgbClr val="FF00FF"/>
                </a:solidFill>
              </a:rPr>
              <a:t>int </a:t>
            </a:r>
            <a:r>
              <a:rPr kumimoji="0" lang="en-US" altLang="zh-CN" sz="2500" dirty="0" err="1">
                <a:solidFill>
                  <a:srgbClr val="FF00FF"/>
                </a:solidFill>
              </a:rPr>
              <a:t>getPI</a:t>
            </a:r>
            <a:r>
              <a:rPr kumimoji="0" lang="en-US" altLang="zh-CN" sz="2500" dirty="0">
                <a:solidFill>
                  <a:srgbClr val="FF00FF"/>
                </a:solidFill>
              </a:rPr>
              <a:t>() { return 3.14; }  //</a:t>
            </a:r>
            <a:r>
              <a:rPr kumimoji="0" lang="zh-CN" altLang="en-US" sz="2500" dirty="0">
                <a:solidFill>
                  <a:srgbClr val="FF00FF"/>
                </a:solidFill>
              </a:rPr>
              <a:t>错！不允许覆盖超类中的终结方法</a:t>
            </a:r>
            <a:endParaRPr kumimoji="0" lang="en-US" altLang="zh-CN" sz="2500" dirty="0">
              <a:solidFill>
                <a:srgbClr val="FF00FF"/>
              </a:solidFill>
            </a:endParaRPr>
          </a:p>
          <a:p>
            <a:pPr marL="0" lvl="1" indent="0" fontAlgn="auto">
              <a:spcBef>
                <a:spcPts val="0"/>
              </a:spcBef>
              <a:spcAft>
                <a:spcPts val="0"/>
              </a:spcAft>
              <a:buFont typeface="Arial" panose="020B0604020202020204" pitchFamily="34" charset="0"/>
              <a:buNone/>
            </a:pPr>
            <a:r>
              <a:rPr kumimoji="0" lang="en-US" altLang="zh-CN" sz="2500" dirty="0"/>
              <a:t>}</a:t>
            </a:r>
            <a:endParaRPr kumimoji="0" lang="zh-CN" altLang="en-US" sz="2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Rectangle 3"/>
          <p:cNvSpPr>
            <a:spLocks noGrp="1" noChangeArrowheads="1"/>
          </p:cNvSpPr>
          <p:nvPr>
            <p:ph idx="4294967295"/>
          </p:nvPr>
        </p:nvSpPr>
        <p:spPr>
          <a:xfrm>
            <a:off x="1343472" y="1340768"/>
            <a:ext cx="7560840" cy="1272134"/>
          </a:xfrm>
          <a:prstGeom prst="rect">
            <a:avLst/>
          </a:prstGeom>
        </p:spPr>
        <p:txBody>
          <a:bodyPr lIns="92075" tIns="46038" rIns="92075" bIns="46038"/>
          <a:lstStyle/>
          <a:p>
            <a:pPr eaLnBrk="1" hangingPunct="1">
              <a:buFont typeface="Wingdings" panose="05000000000000000000" pitchFamily="2" charset="2"/>
              <a:buChar char="Ø"/>
            </a:pPr>
            <a:r>
              <a:rPr lang="zh-CN" altLang="en-US" sz="3000" dirty="0"/>
              <a:t>代表一个抽象概念的类；</a:t>
            </a:r>
          </a:p>
          <a:p>
            <a:pPr eaLnBrk="1" hangingPunct="1">
              <a:buFont typeface="Wingdings" panose="05000000000000000000" pitchFamily="2" charset="2"/>
              <a:buChar char="Ø"/>
            </a:pPr>
            <a:r>
              <a:rPr lang="zh-CN" altLang="en-US" sz="3000" dirty="0"/>
              <a:t>规定整个类家族都必须具备的属性和行为。</a:t>
            </a:r>
          </a:p>
        </p:txBody>
      </p:sp>
      <p:sp>
        <p:nvSpPr>
          <p:cNvPr id="11059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B31E533-5C90-4622-8EAB-63A2CED956A9}" type="slidenum">
              <a:rPr kumimoji="1" lang="en-US" altLang="zh-CN" sz="1800" smtClean="0">
                <a:solidFill>
                  <a:schemeClr val="bg1"/>
                </a:solidFill>
                <a:latin typeface="Times New Roman" panose="02020603050405020304" pitchFamily="18" charset="0"/>
              </a:rPr>
              <a:pPr>
                <a:spcBef>
                  <a:spcPct val="0"/>
                </a:spcBef>
                <a:buClrTx/>
                <a:buFontTx/>
                <a:buNone/>
              </a:pPr>
              <a:t>36</a:t>
            </a:fld>
            <a:endParaRPr kumimoji="1" lang="en-US" altLang="zh-CN" sz="1800">
              <a:solidFill>
                <a:schemeClr val="bg1"/>
              </a:solidFill>
              <a:latin typeface="Times New Roman" panose="02020603050405020304" pitchFamily="18" charset="0"/>
            </a:endParaRPr>
          </a:p>
        </p:txBody>
      </p:sp>
      <p:sp>
        <p:nvSpPr>
          <p:cNvPr id="3" name="TextBox 3">
            <a:extLst>
              <a:ext uri="{FF2B5EF4-FFF2-40B4-BE49-F238E27FC236}">
                <a16:creationId xmlns:a16="http://schemas.microsoft.com/office/drawing/2014/main" id="{693A05E5-D386-4DAA-E45F-CBC1D44E7368}"/>
              </a:ext>
            </a:extLst>
          </p:cNvPr>
          <p:cNvSpPr txBox="1"/>
          <p:nvPr>
            <p:custDataLst>
              <p:tags r:id="rId1"/>
            </p:custDataLst>
          </p:nvPr>
        </p:nvSpPr>
        <p:spPr>
          <a:xfrm>
            <a:off x="4367808" y="113689"/>
            <a:ext cx="26642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抽象类</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Rectangle 3"/>
          <p:cNvSpPr>
            <a:spLocks noGrp="1" noChangeArrowheads="1"/>
          </p:cNvSpPr>
          <p:nvPr>
            <p:ph idx="4294967295"/>
          </p:nvPr>
        </p:nvSpPr>
        <p:spPr>
          <a:xfrm>
            <a:off x="609600" y="1700808"/>
            <a:ext cx="11319048" cy="4464496"/>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2700" b="1" dirty="0"/>
              <a:t>类名前加修饰符 </a:t>
            </a:r>
            <a:r>
              <a:rPr lang="en-US" altLang="zh-CN" sz="2700" b="1" dirty="0">
                <a:solidFill>
                  <a:srgbClr val="FF00FF"/>
                </a:solidFill>
              </a:rPr>
              <a:t>abstract</a:t>
            </a:r>
            <a:r>
              <a:rPr lang="zh-CN" altLang="en-US" sz="2700" b="1" dirty="0"/>
              <a:t>；</a:t>
            </a:r>
            <a:endParaRPr lang="en-US" altLang="zh-CN" sz="2700" b="1" dirty="0"/>
          </a:p>
          <a:p>
            <a:pPr>
              <a:lnSpc>
                <a:spcPct val="150000"/>
              </a:lnSpc>
              <a:spcBef>
                <a:spcPts val="0"/>
              </a:spcBef>
              <a:buFont typeface="Wingdings" panose="05000000000000000000" pitchFamily="2" charset="2"/>
              <a:buChar char="Ø"/>
            </a:pPr>
            <a:r>
              <a:rPr lang="zh-CN" altLang="en-US" sz="2700" b="1" dirty="0"/>
              <a:t>可包含常规类能包含的任何成员，包括</a:t>
            </a:r>
            <a:r>
              <a:rPr lang="zh-CN" altLang="en-US" sz="2700" b="1" dirty="0">
                <a:solidFill>
                  <a:srgbClr val="FF00FF"/>
                </a:solidFill>
              </a:rPr>
              <a:t>非抽象方法、抽象方法</a:t>
            </a:r>
            <a:r>
              <a:rPr lang="zh-CN" altLang="en-US" sz="2700" b="1" dirty="0"/>
              <a:t>；</a:t>
            </a:r>
          </a:p>
          <a:p>
            <a:pPr eaLnBrk="1" hangingPunct="1">
              <a:lnSpc>
                <a:spcPct val="150000"/>
              </a:lnSpc>
              <a:spcBef>
                <a:spcPts val="0"/>
              </a:spcBef>
              <a:buClr>
                <a:schemeClr val="tx1"/>
              </a:buClr>
              <a:buFont typeface="Wingdings" panose="05000000000000000000" pitchFamily="2" charset="2"/>
              <a:buChar char="Ø"/>
            </a:pPr>
            <a:r>
              <a:rPr lang="zh-CN" altLang="en-US" sz="2700" b="1" dirty="0">
                <a:solidFill>
                  <a:srgbClr val="FF00FF"/>
                </a:solidFill>
                <a:highlight>
                  <a:srgbClr val="FFFF00"/>
                </a:highlight>
              </a:rPr>
              <a:t>抽象方法：用</a:t>
            </a:r>
            <a:r>
              <a:rPr lang="en-US" altLang="zh-CN" sz="2700" b="1" dirty="0">
                <a:solidFill>
                  <a:srgbClr val="FF00FF"/>
                </a:solidFill>
                <a:highlight>
                  <a:srgbClr val="FFFF00"/>
                </a:highlight>
              </a:rPr>
              <a:t>abstract</a:t>
            </a:r>
            <a:r>
              <a:rPr lang="zh-CN" altLang="en-US" sz="2700" b="1" dirty="0">
                <a:solidFill>
                  <a:srgbClr val="FF00FF"/>
                </a:solidFill>
                <a:highlight>
                  <a:srgbClr val="FFFF00"/>
                </a:highlight>
              </a:rPr>
              <a:t>修饰，只有方法原型，没有方法的实现</a:t>
            </a:r>
            <a:r>
              <a:rPr lang="zh-CN" altLang="en-US" sz="2700" b="1" dirty="0"/>
              <a:t>；</a:t>
            </a:r>
          </a:p>
          <a:p>
            <a:pPr eaLnBrk="1" hangingPunct="1">
              <a:lnSpc>
                <a:spcPct val="150000"/>
              </a:lnSpc>
              <a:spcBef>
                <a:spcPts val="0"/>
              </a:spcBef>
              <a:buFont typeface="Wingdings" panose="05000000000000000000" pitchFamily="2" charset="2"/>
              <a:buChar char="Ø"/>
            </a:pPr>
            <a:r>
              <a:rPr lang="zh-CN" altLang="en-US" sz="2700" b="1" dirty="0"/>
              <a:t>抽象类</a:t>
            </a:r>
            <a:r>
              <a:rPr lang="zh-CN" altLang="en-US" sz="2700" b="1" dirty="0">
                <a:solidFill>
                  <a:srgbClr val="FF00FF"/>
                </a:solidFill>
              </a:rPr>
              <a:t>不能使用</a:t>
            </a:r>
            <a:r>
              <a:rPr lang="en-US" altLang="zh-CN" sz="2700" b="1" dirty="0">
                <a:solidFill>
                  <a:srgbClr val="FF00FF"/>
                </a:solidFill>
              </a:rPr>
              <a:t>new</a:t>
            </a:r>
            <a:r>
              <a:rPr lang="zh-CN" altLang="en-US" sz="2700" b="1" dirty="0">
                <a:solidFill>
                  <a:srgbClr val="FF00FF"/>
                </a:solidFill>
              </a:rPr>
              <a:t>方法进行实例化</a:t>
            </a:r>
            <a:r>
              <a:rPr lang="zh-CN" altLang="en-US" sz="2700" b="1" dirty="0"/>
              <a:t>，只能用作超类；</a:t>
            </a:r>
            <a:endParaRPr lang="en-US" altLang="zh-CN" sz="2700" b="1" dirty="0"/>
          </a:p>
          <a:p>
            <a:pPr eaLnBrk="1" hangingPunct="1">
              <a:lnSpc>
                <a:spcPct val="150000"/>
              </a:lnSpc>
              <a:spcBef>
                <a:spcPts val="0"/>
              </a:spcBef>
              <a:buFont typeface="Wingdings" panose="05000000000000000000" pitchFamily="2" charset="2"/>
              <a:buChar char="Ø"/>
            </a:pPr>
            <a:r>
              <a:rPr lang="zh-CN" altLang="en-US" sz="2700" b="1" dirty="0"/>
              <a:t>只有当子类</a:t>
            </a:r>
            <a:r>
              <a:rPr lang="zh-CN" altLang="en-US" sz="2700" b="1" dirty="0">
                <a:solidFill>
                  <a:srgbClr val="FF00FF"/>
                </a:solidFill>
              </a:rPr>
              <a:t>实现了抽象超类中的所有抽象方法</a:t>
            </a:r>
            <a:r>
              <a:rPr lang="zh-CN" altLang="en-US" sz="2700" b="1" dirty="0"/>
              <a:t>才不是抽象类，才能产生实例；</a:t>
            </a:r>
            <a:endParaRPr lang="en-US" altLang="zh-CN" sz="2700" b="1" dirty="0"/>
          </a:p>
          <a:p>
            <a:pPr eaLnBrk="1" hangingPunct="1">
              <a:lnSpc>
                <a:spcPct val="150000"/>
              </a:lnSpc>
              <a:spcBef>
                <a:spcPts val="0"/>
              </a:spcBef>
              <a:buFont typeface="Wingdings" panose="05000000000000000000" pitchFamily="2" charset="2"/>
              <a:buChar char="Ø"/>
            </a:pPr>
            <a:r>
              <a:rPr lang="zh-CN" altLang="en-US" sz="2700" b="1" dirty="0"/>
              <a:t>如果子类中仍</a:t>
            </a:r>
            <a:r>
              <a:rPr lang="zh-CN" altLang="en-US" sz="2700" b="1" dirty="0">
                <a:solidFill>
                  <a:srgbClr val="FF00FF"/>
                </a:solidFill>
              </a:rPr>
              <a:t>有抽象方法未实现，则子类也只能是抽象类</a:t>
            </a:r>
            <a:r>
              <a:rPr lang="zh-CN" altLang="en-US" sz="2700" b="1" dirty="0"/>
              <a:t>。</a:t>
            </a:r>
          </a:p>
        </p:txBody>
      </p:sp>
      <p:sp>
        <p:nvSpPr>
          <p:cNvPr id="11059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B31E533-5C90-4622-8EAB-63A2CED956A9}" type="slidenum">
              <a:rPr kumimoji="1" lang="en-US" altLang="zh-CN" sz="1800" smtClean="0">
                <a:solidFill>
                  <a:schemeClr val="bg1"/>
                </a:solidFill>
                <a:latin typeface="Times New Roman" panose="02020603050405020304" pitchFamily="18" charset="0"/>
              </a:rPr>
              <a:pPr>
                <a:spcBef>
                  <a:spcPct val="0"/>
                </a:spcBef>
                <a:buClrTx/>
                <a:buFontTx/>
                <a:buNone/>
              </a:pPr>
              <a:t>37</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3FBE887C-F2D1-C245-A057-6AAD36F5CC2F}"/>
              </a:ext>
            </a:extLst>
          </p:cNvPr>
          <p:cNvSpPr txBox="1"/>
          <p:nvPr>
            <p:custDataLst>
              <p:tags r:id="rId1"/>
            </p:custDataLst>
          </p:nvPr>
        </p:nvSpPr>
        <p:spPr>
          <a:xfrm>
            <a:off x="407368" y="1015213"/>
            <a:ext cx="244827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抽象类的声明</a:t>
            </a:r>
          </a:p>
        </p:txBody>
      </p:sp>
      <p:sp>
        <p:nvSpPr>
          <p:cNvPr id="3" name="TextBox 3">
            <a:extLst>
              <a:ext uri="{FF2B5EF4-FFF2-40B4-BE49-F238E27FC236}">
                <a16:creationId xmlns:a16="http://schemas.microsoft.com/office/drawing/2014/main" id="{51CEC7BC-F347-3EAC-915A-8237F30E4419}"/>
              </a:ext>
            </a:extLst>
          </p:cNvPr>
          <p:cNvSpPr txBox="1"/>
          <p:nvPr>
            <p:custDataLst>
              <p:tags r:id="rId2"/>
            </p:custDataLst>
          </p:nvPr>
        </p:nvSpPr>
        <p:spPr>
          <a:xfrm>
            <a:off x="4367808" y="113689"/>
            <a:ext cx="26642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抽象类</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extLst>
      <p:ext uri="{BB962C8B-B14F-4D97-AF65-F5344CB8AC3E}">
        <p14:creationId xmlns:p14="http://schemas.microsoft.com/office/powerpoint/2010/main" val="4114931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Rectangle 3"/>
          <p:cNvSpPr>
            <a:spLocks noGrp="1" noChangeArrowheads="1"/>
          </p:cNvSpPr>
          <p:nvPr>
            <p:ph idx="4294967295"/>
          </p:nvPr>
        </p:nvSpPr>
        <p:spPr>
          <a:xfrm>
            <a:off x="1343472" y="1700808"/>
            <a:ext cx="7056784" cy="3672408"/>
          </a:xfrm>
          <a:prstGeom prst="rect">
            <a:avLst/>
          </a:prstGeom>
        </p:spPr>
        <p:txBody>
          <a:bodyPr lIns="92075" tIns="46038" rIns="92075" bIns="46038"/>
          <a:lstStyle/>
          <a:p>
            <a:pPr marL="109537" indent="0" eaLnBrk="1" hangingPunct="1">
              <a:lnSpc>
                <a:spcPct val="90000"/>
              </a:lnSpc>
              <a:buNone/>
            </a:pPr>
            <a:r>
              <a:rPr lang="en-US" altLang="zh-CN" sz="3000" dirty="0">
                <a:solidFill>
                  <a:srgbClr val="FF0000"/>
                </a:solidFill>
                <a:highlight>
                  <a:srgbClr val="FFFF00"/>
                </a:highlight>
              </a:rPr>
              <a:t>abstract </a:t>
            </a:r>
            <a:r>
              <a:rPr lang="en-US" altLang="zh-CN" sz="3000" dirty="0"/>
              <a:t>class Number {</a:t>
            </a:r>
          </a:p>
          <a:p>
            <a:pPr marL="109537" indent="0" eaLnBrk="1" hangingPunct="1">
              <a:lnSpc>
                <a:spcPct val="90000"/>
              </a:lnSpc>
              <a:buNone/>
            </a:pPr>
            <a:r>
              <a:rPr lang="en-US" altLang="zh-CN" sz="3000" dirty="0"/>
              <a:t>    …</a:t>
            </a:r>
          </a:p>
          <a:p>
            <a:pPr marL="109537" indent="0" eaLnBrk="1" hangingPunct="1">
              <a:lnSpc>
                <a:spcPct val="90000"/>
              </a:lnSpc>
              <a:buNone/>
            </a:pPr>
            <a:r>
              <a:rPr lang="en-US" altLang="zh-CN" sz="3000" dirty="0"/>
              <a:t>}</a:t>
            </a:r>
          </a:p>
          <a:p>
            <a:pPr marL="109537" indent="0" eaLnBrk="1" hangingPunct="1">
              <a:lnSpc>
                <a:spcPct val="90000"/>
              </a:lnSpc>
              <a:buNone/>
            </a:pPr>
            <a:endParaRPr lang="en-US" altLang="zh-CN" sz="3000" dirty="0"/>
          </a:p>
          <a:p>
            <a:pPr marL="109537" indent="0" eaLnBrk="1" hangingPunct="1">
              <a:lnSpc>
                <a:spcPct val="90000"/>
              </a:lnSpc>
              <a:buNone/>
            </a:pPr>
            <a:r>
              <a:rPr lang="zh-CN" altLang="en-US" sz="3000" dirty="0"/>
              <a:t>如果写： </a:t>
            </a:r>
          </a:p>
          <a:p>
            <a:pPr marL="109537" indent="0" eaLnBrk="1" hangingPunct="1">
              <a:lnSpc>
                <a:spcPct val="90000"/>
              </a:lnSpc>
              <a:buNone/>
            </a:pPr>
            <a:r>
              <a:rPr lang="en-US" altLang="zh-CN" sz="3000" dirty="0"/>
              <a:t>   new Number();</a:t>
            </a:r>
          </a:p>
          <a:p>
            <a:pPr marL="109537" indent="0" eaLnBrk="1" hangingPunct="1">
              <a:lnSpc>
                <a:spcPct val="90000"/>
              </a:lnSpc>
              <a:buNone/>
            </a:pPr>
            <a:r>
              <a:rPr lang="zh-CN" altLang="en-US" sz="3000" dirty="0"/>
              <a:t>编译器将显示错误</a:t>
            </a:r>
          </a:p>
        </p:txBody>
      </p:sp>
      <p:sp>
        <p:nvSpPr>
          <p:cNvPr id="11878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1D3825B-687E-429F-B7EB-132254222125}" type="slidenum">
              <a:rPr kumimoji="1" lang="en-US" altLang="zh-CN" sz="1800" smtClean="0">
                <a:solidFill>
                  <a:schemeClr val="bg1"/>
                </a:solidFill>
                <a:latin typeface="Times New Roman" panose="02020603050405020304" pitchFamily="18" charset="0"/>
              </a:rPr>
              <a:pPr>
                <a:spcBef>
                  <a:spcPct val="0"/>
                </a:spcBef>
                <a:buClrTx/>
                <a:buFontTx/>
                <a:buNone/>
              </a:pPr>
              <a:t>38</a:t>
            </a:fld>
            <a:endParaRPr kumimoji="1" lang="en-US" altLang="zh-CN" sz="1800">
              <a:solidFill>
                <a:schemeClr val="bg1"/>
              </a:solidFill>
              <a:latin typeface="Times New Roman" panose="02020603050405020304" pitchFamily="18" charset="0"/>
            </a:endParaRPr>
          </a:p>
        </p:txBody>
      </p:sp>
      <p:sp>
        <p:nvSpPr>
          <p:cNvPr id="3" name="TextBox 3">
            <a:extLst>
              <a:ext uri="{FF2B5EF4-FFF2-40B4-BE49-F238E27FC236}">
                <a16:creationId xmlns:a16="http://schemas.microsoft.com/office/drawing/2014/main" id="{E3EE4B71-72FD-CDAE-7071-DF1F5F9233E6}"/>
              </a:ext>
            </a:extLst>
          </p:cNvPr>
          <p:cNvSpPr txBox="1"/>
          <p:nvPr>
            <p:custDataLst>
              <p:tags r:id="rId1"/>
            </p:custDataLst>
          </p:nvPr>
        </p:nvSpPr>
        <p:spPr>
          <a:xfrm>
            <a:off x="4367808" y="113689"/>
            <a:ext cx="26642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抽象类</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A68A41D9-D72D-63FF-D14F-34A27EFB5B76}"/>
              </a:ext>
            </a:extLst>
          </p:cNvPr>
          <p:cNvSpPr txBox="1"/>
          <p:nvPr>
            <p:custDataLst>
              <p:tags r:id="rId2"/>
            </p:custDataLst>
          </p:nvPr>
        </p:nvSpPr>
        <p:spPr>
          <a:xfrm>
            <a:off x="407368" y="1015213"/>
            <a:ext cx="244827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抽象类的声明</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Rectangle 3"/>
          <p:cNvSpPr>
            <a:spLocks noGrp="1" noChangeArrowheads="1"/>
          </p:cNvSpPr>
          <p:nvPr>
            <p:ph idx="4294967295"/>
          </p:nvPr>
        </p:nvSpPr>
        <p:spPr>
          <a:xfrm>
            <a:off x="609600" y="1844824"/>
            <a:ext cx="10972800" cy="1252735"/>
          </a:xfrm>
          <a:prstGeom prst="rect">
            <a:avLst/>
          </a:prstGeom>
        </p:spPr>
        <p:txBody>
          <a:bodyPr lIns="92075" tIns="46038" rIns="92075" bIns="46038"/>
          <a:lstStyle/>
          <a:p>
            <a:pPr marL="0" indent="0" eaLnBrk="1" hangingPunct="1">
              <a:lnSpc>
                <a:spcPct val="110000"/>
              </a:lnSpc>
              <a:buNone/>
            </a:pPr>
            <a:r>
              <a:rPr lang="zh-CN" altLang="en-US" sz="2500" dirty="0"/>
              <a:t>    </a:t>
            </a:r>
            <a:r>
              <a:rPr lang="zh-CN" altLang="en-US" sz="3000" b="1" dirty="0"/>
              <a:t>规定子类应该具有的行为，但在抽象超类中尚不能实现的方法，可以声明为抽象方法。</a:t>
            </a:r>
            <a:endParaRPr lang="en-US" altLang="zh-CN" sz="3000" b="1" dirty="0"/>
          </a:p>
        </p:txBody>
      </p:sp>
      <p:sp>
        <p:nvSpPr>
          <p:cNvPr id="12083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B093CFB-8472-41FE-B0F5-11DBB5FC1797}" type="slidenum">
              <a:rPr kumimoji="1" lang="en-US" altLang="zh-CN" sz="1800" smtClean="0">
                <a:solidFill>
                  <a:schemeClr val="bg1"/>
                </a:solidFill>
                <a:latin typeface="Times New Roman" panose="02020603050405020304" pitchFamily="18" charset="0"/>
              </a:rPr>
              <a:pPr>
                <a:spcBef>
                  <a:spcPct val="0"/>
                </a:spcBef>
                <a:buClrTx/>
                <a:buFontTx/>
                <a:buNone/>
              </a:pPr>
              <a:t>39</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280C731E-7B09-9A0F-474A-0CCA5D4122E5}"/>
              </a:ext>
            </a:extLst>
          </p:cNvPr>
          <p:cNvSpPr txBox="1"/>
          <p:nvPr>
            <p:custDataLst>
              <p:tags r:id="rId1"/>
            </p:custDataLst>
          </p:nvPr>
        </p:nvSpPr>
        <p:spPr>
          <a:xfrm>
            <a:off x="407368" y="1015213"/>
            <a:ext cx="165618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抽象方法</a:t>
            </a:r>
          </a:p>
        </p:txBody>
      </p:sp>
      <p:sp>
        <p:nvSpPr>
          <p:cNvPr id="3" name="TextBox 3">
            <a:extLst>
              <a:ext uri="{FF2B5EF4-FFF2-40B4-BE49-F238E27FC236}">
                <a16:creationId xmlns:a16="http://schemas.microsoft.com/office/drawing/2014/main" id="{1D45A461-69D0-5146-CFA9-373CED5CB0AA}"/>
              </a:ext>
            </a:extLst>
          </p:cNvPr>
          <p:cNvSpPr txBox="1"/>
          <p:nvPr>
            <p:custDataLst>
              <p:tags r:id="rId2"/>
            </p:custDataLst>
          </p:nvPr>
        </p:nvSpPr>
        <p:spPr>
          <a:xfrm>
            <a:off x="4367808" y="113689"/>
            <a:ext cx="26642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抽象类</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Rectangle 3"/>
          <p:cNvSpPr>
            <a:spLocks noGrp="1" noChangeArrowheads="1"/>
          </p:cNvSpPr>
          <p:nvPr>
            <p:ph idx="4294967295"/>
          </p:nvPr>
        </p:nvSpPr>
        <p:spPr>
          <a:xfrm>
            <a:off x="911424" y="1700808"/>
            <a:ext cx="10670976" cy="3528392"/>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2800" b="1" dirty="0"/>
              <a:t>声明的语法形式为：</a:t>
            </a:r>
          </a:p>
          <a:p>
            <a:pPr marL="457200" lvl="1" indent="0" eaLnBrk="1" hangingPunct="1">
              <a:lnSpc>
                <a:spcPct val="150000"/>
              </a:lnSpc>
              <a:spcBef>
                <a:spcPts val="0"/>
              </a:spcBef>
              <a:buNone/>
            </a:pPr>
            <a:r>
              <a:rPr lang="en-US" altLang="zh-CN" b="1" dirty="0">
                <a:solidFill>
                  <a:srgbClr val="FF0000"/>
                </a:solidFill>
              </a:rPr>
              <a:t>   public abstract &lt;</a:t>
            </a:r>
            <a:r>
              <a:rPr lang="en-US" altLang="zh-CN" b="1" dirty="0" err="1">
                <a:solidFill>
                  <a:srgbClr val="FF0000"/>
                </a:solidFill>
              </a:rPr>
              <a:t>returnType</a:t>
            </a:r>
            <a:r>
              <a:rPr lang="en-US" altLang="zh-CN" b="1" dirty="0">
                <a:solidFill>
                  <a:srgbClr val="FF0000"/>
                </a:solidFill>
              </a:rPr>
              <a:t>&gt; &lt;</a:t>
            </a:r>
            <a:r>
              <a:rPr lang="en-US" altLang="zh-CN" b="1" dirty="0" err="1">
                <a:solidFill>
                  <a:srgbClr val="FF0000"/>
                </a:solidFill>
              </a:rPr>
              <a:t>methodName</a:t>
            </a:r>
            <a:r>
              <a:rPr lang="en-US" altLang="zh-CN" b="1" dirty="0">
                <a:solidFill>
                  <a:srgbClr val="FF0000"/>
                </a:solidFill>
              </a:rPr>
              <a:t>&gt;(…);</a:t>
            </a:r>
            <a:endParaRPr lang="zh-CN" altLang="en-US" b="1" dirty="0">
              <a:solidFill>
                <a:srgbClr val="FF0000"/>
              </a:solidFill>
            </a:endParaRPr>
          </a:p>
          <a:p>
            <a:pPr eaLnBrk="1" hangingPunct="1">
              <a:lnSpc>
                <a:spcPct val="150000"/>
              </a:lnSpc>
              <a:spcBef>
                <a:spcPts val="0"/>
              </a:spcBef>
              <a:buFont typeface="Wingdings" panose="05000000000000000000" pitchFamily="2" charset="2"/>
              <a:buChar char="Ø"/>
            </a:pPr>
            <a:r>
              <a:rPr lang="zh-CN" altLang="en-US" sz="2800" b="1" dirty="0"/>
              <a:t>仅有方法原型，而没有方法体；</a:t>
            </a:r>
            <a:endParaRPr lang="en-US" altLang="zh-CN" sz="2800" b="1" dirty="0"/>
          </a:p>
          <a:p>
            <a:pPr eaLnBrk="1" hangingPunct="1">
              <a:lnSpc>
                <a:spcPct val="150000"/>
              </a:lnSpc>
              <a:spcBef>
                <a:spcPts val="0"/>
              </a:spcBef>
              <a:buFont typeface="Wingdings" panose="05000000000000000000" pitchFamily="2" charset="2"/>
              <a:buChar char="Ø"/>
            </a:pPr>
            <a:r>
              <a:rPr lang="zh-CN" altLang="en-US" sz="2800" b="1" dirty="0">
                <a:latin typeface="宋体" panose="02010600030101010101" pitchFamily="2" charset="-122"/>
              </a:rPr>
              <a:t>抽象方法的具体实现由子类在它们各自的类声明中完成；</a:t>
            </a:r>
            <a:endParaRPr lang="zh-CN" altLang="en-US" sz="2800" b="1" dirty="0"/>
          </a:p>
          <a:p>
            <a:pPr eaLnBrk="1" hangingPunct="1">
              <a:lnSpc>
                <a:spcPct val="150000"/>
              </a:lnSpc>
              <a:spcBef>
                <a:spcPts val="0"/>
              </a:spcBef>
              <a:buFont typeface="Wingdings" panose="05000000000000000000" pitchFamily="2" charset="2"/>
              <a:buChar char="Ø"/>
            </a:pPr>
            <a:r>
              <a:rPr lang="zh-CN" altLang="en-US" sz="2800" b="1" dirty="0"/>
              <a:t>只有抽象类可以包含抽象方法。</a:t>
            </a:r>
            <a:endParaRPr lang="en-US" altLang="zh-CN" sz="2800" b="1" dirty="0"/>
          </a:p>
        </p:txBody>
      </p:sp>
      <p:sp>
        <p:nvSpPr>
          <p:cNvPr id="12083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B093CFB-8472-41FE-B0F5-11DBB5FC1797}" type="slidenum">
              <a:rPr kumimoji="1" lang="en-US" altLang="zh-CN" sz="1800" smtClean="0">
                <a:solidFill>
                  <a:schemeClr val="bg1"/>
                </a:solidFill>
                <a:latin typeface="Times New Roman" panose="02020603050405020304" pitchFamily="18" charset="0"/>
              </a:rPr>
              <a:pPr>
                <a:spcBef>
                  <a:spcPct val="0"/>
                </a:spcBef>
                <a:buClrTx/>
                <a:buFontTx/>
                <a:buNone/>
              </a:pPr>
              <a:t>40</a:t>
            </a:fld>
            <a:endParaRPr kumimoji="1" lang="en-US" altLang="zh-CN" sz="1800">
              <a:solidFill>
                <a:schemeClr val="bg1"/>
              </a:solidFill>
              <a:latin typeface="Times New Roman" panose="02020603050405020304" pitchFamily="18" charset="0"/>
            </a:endParaRPr>
          </a:p>
        </p:txBody>
      </p:sp>
      <p:sp>
        <p:nvSpPr>
          <p:cNvPr id="3" name="文本框 2">
            <a:extLst>
              <a:ext uri="{FF2B5EF4-FFF2-40B4-BE49-F238E27FC236}">
                <a16:creationId xmlns:a16="http://schemas.microsoft.com/office/drawing/2014/main" id="{9E452ADF-9EF4-E5BC-4F95-94F57F16F59A}"/>
              </a:ext>
            </a:extLst>
          </p:cNvPr>
          <p:cNvSpPr txBox="1"/>
          <p:nvPr>
            <p:custDataLst>
              <p:tags r:id="rId1"/>
            </p:custDataLst>
          </p:nvPr>
        </p:nvSpPr>
        <p:spPr>
          <a:xfrm>
            <a:off x="407368" y="1015213"/>
            <a:ext cx="165618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抽象方法</a:t>
            </a:r>
          </a:p>
        </p:txBody>
      </p:sp>
      <p:sp>
        <p:nvSpPr>
          <p:cNvPr id="4" name="TextBox 3">
            <a:extLst>
              <a:ext uri="{FF2B5EF4-FFF2-40B4-BE49-F238E27FC236}">
                <a16:creationId xmlns:a16="http://schemas.microsoft.com/office/drawing/2014/main" id="{35EF1003-36A5-6F0B-0D26-F2FB5E8F71FE}"/>
              </a:ext>
            </a:extLst>
          </p:cNvPr>
          <p:cNvSpPr txBox="1"/>
          <p:nvPr>
            <p:custDataLst>
              <p:tags r:id="rId2"/>
            </p:custDataLst>
          </p:nvPr>
        </p:nvSpPr>
        <p:spPr>
          <a:xfrm>
            <a:off x="4367808" y="113689"/>
            <a:ext cx="26642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抽象类</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extLst>
      <p:ext uri="{BB962C8B-B14F-4D97-AF65-F5344CB8AC3E}">
        <p14:creationId xmlns:p14="http://schemas.microsoft.com/office/powerpoint/2010/main" val="3827348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p:cNvSpPr>
            <a:spLocks noGrp="1" noChangeArrowheads="1"/>
          </p:cNvSpPr>
          <p:nvPr>
            <p:ph idx="4294967295"/>
          </p:nvPr>
        </p:nvSpPr>
        <p:spPr>
          <a:xfrm>
            <a:off x="638696" y="1700808"/>
            <a:ext cx="10972800" cy="2160240"/>
          </a:xfrm>
          <a:prstGeom prst="rect">
            <a:avLst/>
          </a:prstGeom>
        </p:spPr>
        <p:txBody>
          <a:bodyPr lIns="92075" tIns="46038" rIns="92075" bIns="46038"/>
          <a:lstStyle/>
          <a:p>
            <a:pPr eaLnBrk="1" hangingPunct="1">
              <a:lnSpc>
                <a:spcPct val="150000"/>
              </a:lnSpc>
              <a:spcBef>
                <a:spcPts val="0"/>
              </a:spcBef>
              <a:buClr>
                <a:schemeClr val="tx1"/>
              </a:buClr>
              <a:buFont typeface="Wingdings" panose="05000000000000000000" pitchFamily="2" charset="2"/>
              <a:buChar char="Ø"/>
            </a:pPr>
            <a:r>
              <a:rPr lang="zh-CN" altLang="en-US" sz="3000" b="1" dirty="0">
                <a:solidFill>
                  <a:srgbClr val="FF00FF"/>
                </a:solidFill>
              </a:rPr>
              <a:t>隐藏</a:t>
            </a:r>
            <a:r>
              <a:rPr lang="en-US" altLang="zh-CN" sz="3000" b="1" dirty="0"/>
              <a:t>(</a:t>
            </a:r>
            <a:r>
              <a:rPr lang="zh-CN" altLang="en-US" sz="3000" b="1" dirty="0">
                <a:solidFill>
                  <a:srgbClr val="FF00FF"/>
                </a:solidFill>
                <a:highlight>
                  <a:srgbClr val="FFFF00"/>
                </a:highlight>
              </a:rPr>
              <a:t>不定义</a:t>
            </a:r>
            <a:r>
              <a:rPr lang="en-US" altLang="zh-CN" sz="3000" b="1" dirty="0"/>
              <a:t>)</a:t>
            </a:r>
            <a:r>
              <a:rPr lang="zh-CN" altLang="en-US" sz="3000" b="1" dirty="0"/>
              <a:t>具体的细节信息，所有的子类使用的都是相同的</a:t>
            </a:r>
            <a:r>
              <a:rPr lang="zh-CN" altLang="en-US" sz="3000" b="1" dirty="0">
                <a:solidFill>
                  <a:srgbClr val="FF00FF"/>
                </a:solidFill>
              </a:rPr>
              <a:t>方法原型</a:t>
            </a:r>
            <a:r>
              <a:rPr lang="zh-CN" altLang="en-US" sz="3000" b="1" dirty="0"/>
              <a:t>，其中包含了</a:t>
            </a:r>
            <a:r>
              <a:rPr lang="zh-CN" altLang="en-US" sz="3000" b="1" dirty="0">
                <a:solidFill>
                  <a:srgbClr val="FF00FF"/>
                </a:solidFill>
                <a:highlight>
                  <a:srgbClr val="FFFF00"/>
                </a:highlight>
              </a:rPr>
              <a:t>调用该方法时需要了解的全部信息</a:t>
            </a:r>
            <a:r>
              <a:rPr lang="zh-CN" altLang="en-US" sz="3000" b="1" dirty="0"/>
              <a:t>；</a:t>
            </a:r>
          </a:p>
          <a:p>
            <a:pPr eaLnBrk="1" hangingPunct="1">
              <a:lnSpc>
                <a:spcPct val="150000"/>
              </a:lnSpc>
              <a:spcBef>
                <a:spcPts val="0"/>
              </a:spcBef>
              <a:buFont typeface="Wingdings" panose="05000000000000000000" pitchFamily="2" charset="2"/>
              <a:buChar char="Ø"/>
            </a:pPr>
            <a:r>
              <a:rPr lang="zh-CN" altLang="en-US" sz="3000" b="1" dirty="0"/>
              <a:t>强迫子类完成指定的行为，</a:t>
            </a:r>
            <a:r>
              <a:rPr lang="zh-CN" altLang="en-US" sz="3000" b="1" dirty="0">
                <a:solidFill>
                  <a:srgbClr val="FF00FF"/>
                </a:solidFill>
              </a:rPr>
              <a:t>规定所有子类的“标准”行为</a:t>
            </a:r>
            <a:r>
              <a:rPr lang="zh-CN" altLang="en-US" sz="3000" b="1" dirty="0"/>
              <a:t>。</a:t>
            </a:r>
          </a:p>
        </p:txBody>
      </p:sp>
      <p:sp>
        <p:nvSpPr>
          <p:cNvPr id="12493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33E17903-C747-4539-A672-5BB470970416}" type="slidenum">
              <a:rPr kumimoji="1" lang="en-US" altLang="zh-CN" sz="1800" smtClean="0">
                <a:solidFill>
                  <a:schemeClr val="bg1"/>
                </a:solidFill>
                <a:latin typeface="Times New Roman" panose="02020603050405020304" pitchFamily="18" charset="0"/>
              </a:rPr>
              <a:pPr>
                <a:spcBef>
                  <a:spcPct val="0"/>
                </a:spcBef>
                <a:buClrTx/>
                <a:buFontTx/>
                <a:buNone/>
              </a:pPr>
              <a:t>41</a:t>
            </a:fld>
            <a:endParaRPr kumimoji="1" lang="en-US" altLang="zh-CN" sz="1800">
              <a:solidFill>
                <a:schemeClr val="bg1"/>
              </a:solidFill>
              <a:latin typeface="Times New Roman" panose="02020603050405020304" pitchFamily="18" charset="0"/>
            </a:endParaRPr>
          </a:p>
        </p:txBody>
      </p:sp>
      <p:sp>
        <p:nvSpPr>
          <p:cNvPr id="4" name="文本框 3">
            <a:extLst>
              <a:ext uri="{FF2B5EF4-FFF2-40B4-BE49-F238E27FC236}">
                <a16:creationId xmlns:a16="http://schemas.microsoft.com/office/drawing/2014/main" id="{519C3512-F687-D3D3-9D03-72B3DD11CC6D}"/>
              </a:ext>
            </a:extLst>
          </p:cNvPr>
          <p:cNvSpPr txBox="1"/>
          <p:nvPr>
            <p:custDataLst>
              <p:tags r:id="rId1"/>
            </p:custDataLst>
          </p:nvPr>
        </p:nvSpPr>
        <p:spPr>
          <a:xfrm>
            <a:off x="407368" y="1015213"/>
            <a:ext cx="273630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抽象方法的优点</a:t>
            </a:r>
          </a:p>
        </p:txBody>
      </p:sp>
      <p:sp>
        <p:nvSpPr>
          <p:cNvPr id="5" name="TextBox 3">
            <a:extLst>
              <a:ext uri="{FF2B5EF4-FFF2-40B4-BE49-F238E27FC236}">
                <a16:creationId xmlns:a16="http://schemas.microsoft.com/office/drawing/2014/main" id="{2B25FD73-C323-43B5-8964-33811C7D476E}"/>
              </a:ext>
            </a:extLst>
          </p:cNvPr>
          <p:cNvSpPr txBox="1"/>
          <p:nvPr>
            <p:custDataLst>
              <p:tags r:id="rId2"/>
            </p:custDataLst>
          </p:nvPr>
        </p:nvSpPr>
        <p:spPr>
          <a:xfrm>
            <a:off x="4367808" y="113689"/>
            <a:ext cx="26642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抽象类</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idx="4294967295"/>
          </p:nvPr>
        </p:nvSpPr>
        <p:spPr>
          <a:xfrm>
            <a:off x="609600" y="1570551"/>
            <a:ext cx="10972800" cy="1324742"/>
          </a:xfrm>
          <a:prstGeom prst="rect">
            <a:avLst/>
          </a:prstGeom>
        </p:spPr>
        <p:txBody>
          <a:bodyPr lIns="92075" tIns="46038" rIns="92075" bIns="46038">
            <a:normAutofit/>
          </a:bodyPr>
          <a:lstStyle/>
          <a:p>
            <a:pPr marL="0" indent="0" eaLnBrk="1" hangingPunct="1">
              <a:lnSpc>
                <a:spcPct val="90000"/>
              </a:lnSpc>
              <a:buNone/>
            </a:pPr>
            <a:r>
              <a:rPr lang="zh-CN" altLang="en-US" sz="2400" dirty="0"/>
              <a:t>    贷款分为许多种类，如租借、抵押、房屋贷款、汽车贷款等，可以将</a:t>
            </a:r>
            <a:r>
              <a:rPr lang="en-US" altLang="zh-CN" sz="2400" dirty="0"/>
              <a:t>Loan</a:t>
            </a:r>
            <a:r>
              <a:rPr lang="zh-CN" altLang="en-US" sz="2400" dirty="0"/>
              <a:t>声明为抽象类，并指定所有的子类对象都应具有的行为，如计算月还款值，还款，取得客户信息。</a:t>
            </a:r>
            <a:endParaRPr lang="en-US" altLang="zh-CN" sz="2400" dirty="0"/>
          </a:p>
        </p:txBody>
      </p:sp>
      <p:sp>
        <p:nvSpPr>
          <p:cNvPr id="3" name="Rectangle 2">
            <a:extLst>
              <a:ext uri="{FF2B5EF4-FFF2-40B4-BE49-F238E27FC236}">
                <a16:creationId xmlns:a16="http://schemas.microsoft.com/office/drawing/2014/main" id="{B433D23A-896E-C447-AA76-CA21354B44BF}"/>
              </a:ext>
            </a:extLst>
          </p:cNvPr>
          <p:cNvSpPr>
            <a:spLocks noChangeArrowheads="1"/>
          </p:cNvSpPr>
          <p:nvPr/>
        </p:nvSpPr>
        <p:spPr bwMode="auto">
          <a:xfrm>
            <a:off x="6086128" y="500625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1659C569-1714-B246-940D-C21E3D77CC8E}"/>
              </a:ext>
            </a:extLst>
          </p:cNvPr>
          <p:cNvGraphicFramePr>
            <a:graphicFrameLocks noChangeAspect="1"/>
          </p:cNvGraphicFramePr>
          <p:nvPr>
            <p:extLst>
              <p:ext uri="{D42A27DB-BD31-4B8C-83A1-F6EECF244321}">
                <p14:modId xmlns:p14="http://schemas.microsoft.com/office/powerpoint/2010/main" val="3628034428"/>
              </p:ext>
            </p:extLst>
          </p:nvPr>
        </p:nvGraphicFramePr>
        <p:xfrm>
          <a:off x="5913820" y="4725144"/>
          <a:ext cx="5668580" cy="1764000"/>
        </p:xfrm>
        <a:graphic>
          <a:graphicData uri="http://schemas.openxmlformats.org/presentationml/2006/ole">
            <mc:AlternateContent xmlns:mc="http://schemas.openxmlformats.org/markup-compatibility/2006">
              <mc:Choice xmlns:v="urn:schemas-microsoft-com:vml" Requires="v">
                <p:oleObj r:id="rId5" imgW="3644900" imgH="1130300" progId="Visio.Drawing.11">
                  <p:embed/>
                </p:oleObj>
              </mc:Choice>
              <mc:Fallback>
                <p:oleObj r:id="rId5" imgW="3644900" imgH="1130300" progId="Visio.Drawing.11">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3820" y="4725144"/>
                        <a:ext cx="5668580" cy="1764000"/>
                      </a:xfrm>
                      <a:prstGeom prst="rect">
                        <a:avLst/>
                      </a:prstGeom>
                      <a:solidFill>
                        <a:schemeClr val="bg1"/>
                      </a:solidFill>
                    </p:spPr>
                  </p:pic>
                </p:oleObj>
              </mc:Fallback>
            </mc:AlternateContent>
          </a:graphicData>
        </a:graphic>
      </p:graphicFrame>
      <p:sp>
        <p:nvSpPr>
          <p:cNvPr id="6" name="TextBox 3">
            <a:extLst>
              <a:ext uri="{FF2B5EF4-FFF2-40B4-BE49-F238E27FC236}">
                <a16:creationId xmlns:a16="http://schemas.microsoft.com/office/drawing/2014/main" id="{FFD454DB-9A9E-F0E7-1003-8D02A9555E3E}"/>
              </a:ext>
            </a:extLst>
          </p:cNvPr>
          <p:cNvSpPr txBox="1"/>
          <p:nvPr>
            <p:custDataLst>
              <p:tags r:id="rId1"/>
            </p:custDataLst>
          </p:nvPr>
        </p:nvSpPr>
        <p:spPr>
          <a:xfrm>
            <a:off x="4367808" y="113689"/>
            <a:ext cx="26642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抽象类</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2" name="Rectangle 3">
            <a:extLst>
              <a:ext uri="{FF2B5EF4-FFF2-40B4-BE49-F238E27FC236}">
                <a16:creationId xmlns:a16="http://schemas.microsoft.com/office/drawing/2014/main" id="{72533A4F-4561-70CD-3D84-C54DA2A1FECF}"/>
              </a:ext>
            </a:extLst>
          </p:cNvPr>
          <p:cNvSpPr txBox="1">
            <a:spLocks noChangeArrowheads="1"/>
          </p:cNvSpPr>
          <p:nvPr/>
        </p:nvSpPr>
        <p:spPr>
          <a:xfrm>
            <a:off x="695400" y="2870655"/>
            <a:ext cx="8640960" cy="2160239"/>
          </a:xfrm>
          <a:prstGeom prst="rect">
            <a:avLst/>
          </a:prstGeom>
        </p:spPr>
        <p:txBody>
          <a:bodyPr lIns="92075" tIns="46038" rIns="92075" bIns="46038">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lnSpc>
                <a:spcPct val="90000"/>
              </a:lnSpc>
              <a:spcAft>
                <a:spcPts val="0"/>
              </a:spcAft>
              <a:buFont typeface="Arial" panose="020B0604020202020204" pitchFamily="34" charset="0"/>
              <a:buNone/>
            </a:pPr>
            <a:r>
              <a:rPr kumimoji="0" lang="en-US" altLang="zh-CN" sz="2400" dirty="0"/>
              <a:t>public abstract class Loan { </a:t>
            </a:r>
          </a:p>
          <a:p>
            <a:pPr marL="0" indent="0" fontAlgn="auto">
              <a:lnSpc>
                <a:spcPct val="90000"/>
              </a:lnSpc>
              <a:spcAft>
                <a:spcPts val="0"/>
              </a:spcAft>
              <a:buFont typeface="Arial" panose="020B0604020202020204" pitchFamily="34" charset="0"/>
              <a:buNone/>
            </a:pPr>
            <a:r>
              <a:rPr kumimoji="0" lang="zh-CN" altLang="en-US" sz="2400" dirty="0"/>
              <a:t>    </a:t>
            </a:r>
            <a:r>
              <a:rPr kumimoji="0" lang="en-US" altLang="zh-CN" sz="2400" dirty="0"/>
              <a:t>public abstract float </a:t>
            </a:r>
            <a:r>
              <a:rPr kumimoji="0" lang="en-US" altLang="zh-CN" sz="2400" dirty="0" err="1"/>
              <a:t>calculateMonthlyPayment</a:t>
            </a:r>
            <a:r>
              <a:rPr kumimoji="0" lang="en-US" altLang="zh-CN" sz="2400" dirty="0"/>
              <a:t>(); </a:t>
            </a:r>
          </a:p>
          <a:p>
            <a:pPr marL="0" indent="0" fontAlgn="auto">
              <a:lnSpc>
                <a:spcPct val="90000"/>
              </a:lnSpc>
              <a:spcAft>
                <a:spcPts val="0"/>
              </a:spcAft>
              <a:buFont typeface="Arial" panose="020B0604020202020204" pitchFamily="34" charset="0"/>
              <a:buNone/>
            </a:pPr>
            <a:r>
              <a:rPr kumimoji="0" lang="en-US" altLang="zh-CN" sz="2400" dirty="0"/>
              <a:t>    public abstract void </a:t>
            </a:r>
            <a:r>
              <a:rPr kumimoji="0" lang="en-US" altLang="zh-CN" sz="2400" dirty="0" err="1"/>
              <a:t>makePayment</a:t>
            </a:r>
            <a:r>
              <a:rPr kumimoji="0" lang="en-US" altLang="zh-CN" sz="2400" dirty="0"/>
              <a:t>(float amount); </a:t>
            </a:r>
          </a:p>
          <a:p>
            <a:pPr marL="0" indent="0" fontAlgn="auto">
              <a:lnSpc>
                <a:spcPct val="90000"/>
              </a:lnSpc>
              <a:spcAft>
                <a:spcPts val="0"/>
              </a:spcAft>
              <a:buFont typeface="Arial" panose="020B0604020202020204" pitchFamily="34" charset="0"/>
              <a:buNone/>
            </a:pPr>
            <a:r>
              <a:rPr kumimoji="0" lang="en-US" altLang="zh-CN" sz="2400" dirty="0"/>
              <a:t>    public Client </a:t>
            </a:r>
            <a:r>
              <a:rPr kumimoji="0" lang="en-US" altLang="zh-CN" sz="2400" dirty="0" err="1"/>
              <a:t>getClientInfo</a:t>
            </a:r>
            <a:r>
              <a:rPr kumimoji="0" lang="en-US" altLang="zh-CN" sz="2400" dirty="0"/>
              <a:t>() {    } </a:t>
            </a:r>
          </a:p>
          <a:p>
            <a:pPr marL="0" indent="0" fontAlgn="auto">
              <a:lnSpc>
                <a:spcPct val="90000"/>
              </a:lnSpc>
              <a:spcAft>
                <a:spcPts val="0"/>
              </a:spcAft>
              <a:buFont typeface="Arial" panose="020B0604020202020204" pitchFamily="34" charset="0"/>
              <a:buNone/>
            </a:pPr>
            <a:r>
              <a:rPr kumimoji="0" lang="en-US" altLang="zh-CN" sz="2400" dirty="0"/>
              <a:t>}</a:t>
            </a:r>
          </a:p>
        </p:txBody>
      </p:sp>
      <p:sp>
        <p:nvSpPr>
          <p:cNvPr id="7" name="文本框 6">
            <a:extLst>
              <a:ext uri="{FF2B5EF4-FFF2-40B4-BE49-F238E27FC236}">
                <a16:creationId xmlns:a16="http://schemas.microsoft.com/office/drawing/2014/main" id="{DD0C8CD4-A2F7-D71C-FE7E-35B770494CE1}"/>
              </a:ext>
            </a:extLst>
          </p:cNvPr>
          <p:cNvSpPr txBox="1"/>
          <p:nvPr>
            <p:custDataLst>
              <p:tags r:id="rId2"/>
            </p:custDataLst>
          </p:nvPr>
        </p:nvSpPr>
        <p:spPr>
          <a:xfrm>
            <a:off x="407368" y="1015213"/>
            <a:ext cx="201622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抽象类举例</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3"/>
          <p:cNvSpPr>
            <a:spLocks noGrp="1" noChangeArrowheads="1"/>
          </p:cNvSpPr>
          <p:nvPr>
            <p:ph idx="4294967295"/>
          </p:nvPr>
        </p:nvSpPr>
        <p:spPr>
          <a:xfrm>
            <a:off x="1127448" y="1412776"/>
            <a:ext cx="10297144" cy="1756791"/>
          </a:xfrm>
          <a:prstGeom prst="rect">
            <a:avLst/>
          </a:prstGeom>
        </p:spPr>
        <p:txBody>
          <a:bodyPr/>
          <a:lstStyle/>
          <a:p>
            <a:pPr>
              <a:buFont typeface="Wingdings" panose="05000000000000000000" pitchFamily="2" charset="2"/>
              <a:buChar char="Ø"/>
            </a:pPr>
            <a:r>
              <a:rPr lang="zh-CN" altLang="en-US" sz="3000" b="1" dirty="0"/>
              <a:t>泛型的本质是参数化类型，即所操作的数据类型被指定为一个参数；</a:t>
            </a:r>
            <a:endParaRPr lang="en-US" altLang="zh-CN" sz="3000" b="1" dirty="0"/>
          </a:p>
          <a:p>
            <a:pPr>
              <a:buFont typeface="Wingdings" panose="05000000000000000000" pitchFamily="2" charset="2"/>
              <a:buChar char="Ø"/>
            </a:pPr>
            <a:r>
              <a:rPr lang="zh-CN" altLang="en-US" sz="3000" b="1" dirty="0"/>
              <a:t>可以声明</a:t>
            </a:r>
            <a:r>
              <a:rPr lang="zh-CN" altLang="en-US" sz="3000" b="1" dirty="0">
                <a:solidFill>
                  <a:srgbClr val="FF00FF"/>
                </a:solidFill>
              </a:rPr>
              <a:t>泛型类、泛型方法和泛型接口</a:t>
            </a:r>
            <a:r>
              <a:rPr lang="zh-CN" altLang="en-US" sz="3000" b="1" dirty="0"/>
              <a:t>。</a:t>
            </a:r>
            <a:endParaRPr lang="en-US" altLang="zh-CN" sz="3000" b="1" dirty="0"/>
          </a:p>
        </p:txBody>
      </p:sp>
      <p:sp>
        <p:nvSpPr>
          <p:cNvPr id="8" name="灯片编号占位符 7"/>
          <p:cNvSpPr>
            <a:spLocks noGrp="1"/>
          </p:cNvSpPr>
          <p:nvPr>
            <p:ph type="sldNum" sz="quarter" idx="12"/>
          </p:nvPr>
        </p:nvSpPr>
        <p:spPr/>
        <p:txBody>
          <a:bodyPr/>
          <a:lstStyle/>
          <a:p>
            <a:pPr>
              <a:defRPr/>
            </a:pPr>
            <a:fld id="{D6A3B536-FBB4-4A5E-99B5-072B98607DCA}" type="slidenum">
              <a:rPr lang="en-US" altLang="zh-CN" smtClean="0"/>
              <a:pPr>
                <a:defRPr/>
              </a:pPr>
              <a:t>43</a:t>
            </a:fld>
            <a:endParaRPr lang="en-US" altLang="zh-CN"/>
          </a:p>
        </p:txBody>
      </p:sp>
      <p:sp>
        <p:nvSpPr>
          <p:cNvPr id="3" name="TextBox 3">
            <a:extLst>
              <a:ext uri="{FF2B5EF4-FFF2-40B4-BE49-F238E27FC236}">
                <a16:creationId xmlns:a16="http://schemas.microsoft.com/office/drawing/2014/main" id="{9A69B0CF-2EA0-5D3A-5D2D-07131738F6F5}"/>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2" name="Rectangle 3"/>
          <p:cNvSpPr>
            <a:spLocks noGrp="1" noChangeArrowheads="1"/>
          </p:cNvSpPr>
          <p:nvPr>
            <p:ph idx="4294967295"/>
          </p:nvPr>
        </p:nvSpPr>
        <p:spPr>
          <a:xfrm>
            <a:off x="1055440" y="1700808"/>
            <a:ext cx="7790656" cy="4061048"/>
          </a:xfrm>
          <a:prstGeom prst="rect">
            <a:avLst/>
          </a:prstGeom>
        </p:spPr>
        <p:txBody>
          <a:bodyPr lIns="92075" tIns="46038" rIns="92075" bIns="46038"/>
          <a:lstStyle/>
          <a:p>
            <a:pPr>
              <a:buFont typeface="Georgia" panose="02040502050405020303" pitchFamily="18" charset="0"/>
              <a:buNone/>
            </a:pPr>
            <a:r>
              <a:rPr lang="en-US" altLang="zh-CN" sz="2500" dirty="0"/>
              <a:t>class GeneralType1 {</a:t>
            </a:r>
          </a:p>
          <a:p>
            <a:pPr>
              <a:buFont typeface="Georgia" panose="02040502050405020303" pitchFamily="18" charset="0"/>
              <a:buNone/>
            </a:pPr>
            <a:r>
              <a:rPr lang="en-US" altLang="zh-CN" sz="2500" dirty="0"/>
              <a:t>    Object object;</a:t>
            </a:r>
          </a:p>
          <a:p>
            <a:pPr>
              <a:buFont typeface="Georgia" panose="02040502050405020303" pitchFamily="18" charset="0"/>
              <a:buNone/>
            </a:pPr>
            <a:r>
              <a:rPr lang="en-US" altLang="zh-CN" sz="2500" dirty="0"/>
              <a:t>    public GeneralType1(Object object) {</a:t>
            </a:r>
          </a:p>
          <a:p>
            <a:pPr>
              <a:buFont typeface="Georgia" panose="02040502050405020303" pitchFamily="18" charset="0"/>
              <a:buNone/>
            </a:pPr>
            <a:r>
              <a:rPr lang="en-US" altLang="zh-CN" sz="2500" dirty="0"/>
              <a:t>        </a:t>
            </a:r>
            <a:r>
              <a:rPr lang="en-US" altLang="zh-CN" sz="2500" dirty="0" err="1"/>
              <a:t>this.object</a:t>
            </a:r>
            <a:r>
              <a:rPr lang="en-US" altLang="zh-CN" sz="2500" dirty="0"/>
              <a:t> = object;</a:t>
            </a:r>
          </a:p>
          <a:p>
            <a:pPr>
              <a:buFont typeface="Georgia" panose="02040502050405020303" pitchFamily="18" charset="0"/>
              <a:buNone/>
            </a:pPr>
            <a:r>
              <a:rPr lang="en-US" altLang="zh-CN" sz="2500" dirty="0"/>
              <a:t>    }</a:t>
            </a:r>
          </a:p>
          <a:p>
            <a:pPr>
              <a:buFont typeface="Georgia" panose="02040502050405020303" pitchFamily="18" charset="0"/>
              <a:buNone/>
            </a:pPr>
            <a:r>
              <a:rPr lang="en-US" altLang="zh-CN" sz="2500" dirty="0"/>
              <a:t>    public </a:t>
            </a:r>
            <a:r>
              <a:rPr lang="en-US" altLang="zh-CN" sz="2500" b="1" dirty="0"/>
              <a:t>Object</a:t>
            </a:r>
            <a:r>
              <a:rPr lang="en-US" altLang="zh-CN" sz="2500" dirty="0"/>
              <a:t> </a:t>
            </a:r>
            <a:r>
              <a:rPr lang="en-US" altLang="zh-CN" sz="2500" dirty="0" err="1"/>
              <a:t>getObj</a:t>
            </a:r>
            <a:r>
              <a:rPr lang="en-US" altLang="zh-CN" sz="2500" dirty="0"/>
              <a:t>() {</a:t>
            </a:r>
          </a:p>
          <a:p>
            <a:pPr>
              <a:buFont typeface="Georgia" panose="02040502050405020303" pitchFamily="18" charset="0"/>
              <a:buNone/>
            </a:pPr>
            <a:r>
              <a:rPr lang="en-US" altLang="zh-CN" sz="2500" dirty="0"/>
              <a:t>        return object;</a:t>
            </a:r>
          </a:p>
          <a:p>
            <a:pPr>
              <a:buFont typeface="Georgia" panose="02040502050405020303" pitchFamily="18" charset="0"/>
              <a:buNone/>
            </a:pPr>
            <a:r>
              <a:rPr lang="en-US" altLang="zh-CN" sz="2500" dirty="0"/>
              <a:t>    }</a:t>
            </a:r>
          </a:p>
          <a:p>
            <a:pPr>
              <a:buFont typeface="Georgia" panose="02040502050405020303" pitchFamily="18" charset="0"/>
              <a:buNone/>
            </a:pPr>
            <a:r>
              <a:rPr lang="en-US" altLang="zh-CN" sz="2500" dirty="0"/>
              <a:t>}</a:t>
            </a:r>
          </a:p>
        </p:txBody>
      </p:sp>
      <p:sp>
        <p:nvSpPr>
          <p:cNvPr id="4" name="TextBox 3">
            <a:extLst>
              <a:ext uri="{FF2B5EF4-FFF2-40B4-BE49-F238E27FC236}">
                <a16:creationId xmlns:a16="http://schemas.microsoft.com/office/drawing/2014/main" id="{12795BA3-54C9-413B-0EFF-4EC70EF309AF}"/>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3E471984-83A2-6CC2-C545-A4B5E83F9A0F}"/>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3"/>
          <p:cNvSpPr>
            <a:spLocks noGrp="1" noChangeArrowheads="1"/>
          </p:cNvSpPr>
          <p:nvPr>
            <p:ph idx="4294967295"/>
          </p:nvPr>
        </p:nvSpPr>
        <p:spPr>
          <a:xfrm>
            <a:off x="609600" y="1772816"/>
            <a:ext cx="10972800" cy="4525963"/>
          </a:xfrm>
          <a:prstGeom prst="rect">
            <a:avLst/>
          </a:prstGeom>
        </p:spPr>
        <p:txBody>
          <a:bodyPr lIns="92075" tIns="46038" rIns="92075" bIns="46038">
            <a:normAutofit lnSpcReduction="10000"/>
          </a:bodyPr>
          <a:lstStyle/>
          <a:p>
            <a:pPr>
              <a:buFont typeface="Georgia" panose="02040502050405020303" pitchFamily="18" charset="0"/>
              <a:buNone/>
            </a:pPr>
            <a:r>
              <a:rPr lang="en-US" altLang="zh-CN" sz="2400" dirty="0"/>
              <a:t>public class GenericsTester1 {</a:t>
            </a:r>
          </a:p>
          <a:p>
            <a:pPr>
              <a:buFont typeface="Georgia" panose="02040502050405020303" pitchFamily="18" charset="0"/>
              <a:buNone/>
            </a:pPr>
            <a:r>
              <a:rPr lang="en-US" altLang="zh-CN" sz="2400" dirty="0"/>
              <a:t>    public static void main(String[] </a:t>
            </a:r>
            <a:r>
              <a:rPr lang="en-US" altLang="zh-CN" sz="2400" dirty="0" err="1"/>
              <a:t>args</a:t>
            </a:r>
            <a:r>
              <a:rPr lang="en-US" altLang="zh-CN" sz="2400" dirty="0"/>
              <a:t>) {</a:t>
            </a:r>
          </a:p>
          <a:p>
            <a:pPr>
              <a:buFont typeface="Georgia" panose="02040502050405020303" pitchFamily="18" charset="0"/>
              <a:buNone/>
            </a:pPr>
            <a:r>
              <a:rPr lang="en-US" altLang="zh-CN" sz="2400" dirty="0"/>
              <a:t>           // </a:t>
            </a:r>
            <a:r>
              <a:rPr lang="zh-CN" altLang="en-US" sz="2400" dirty="0"/>
              <a:t>传递参数为</a:t>
            </a:r>
            <a:r>
              <a:rPr lang="en-US" altLang="zh-CN" sz="2400" dirty="0"/>
              <a:t>int</a:t>
            </a:r>
            <a:r>
              <a:rPr lang="zh-CN" altLang="en-US" sz="2400" dirty="0"/>
              <a:t>类型的</a:t>
            </a:r>
            <a:r>
              <a:rPr lang="en-US" altLang="zh-CN" sz="2400" dirty="0"/>
              <a:t>2</a:t>
            </a:r>
            <a:r>
              <a:rPr lang="zh-CN" altLang="en-US" sz="2400" dirty="0"/>
              <a:t>，会自动封箱为</a:t>
            </a:r>
            <a:r>
              <a:rPr lang="en-US" altLang="zh-CN" sz="2400" dirty="0"/>
              <a:t>Integer</a:t>
            </a:r>
            <a:r>
              <a:rPr lang="zh-CN" altLang="en-US" sz="2400" dirty="0"/>
              <a:t>类型的对象。</a:t>
            </a:r>
          </a:p>
          <a:p>
            <a:pPr>
              <a:buFont typeface="Georgia" panose="02040502050405020303" pitchFamily="18" charset="0"/>
              <a:buNone/>
            </a:pPr>
            <a:r>
              <a:rPr lang="zh-CN" altLang="en-US" sz="2400" dirty="0"/>
              <a:t>        </a:t>
            </a:r>
            <a:r>
              <a:rPr lang="en-US" altLang="zh-CN" sz="2400" dirty="0"/>
              <a:t>GeneralType1 </a:t>
            </a:r>
            <a:r>
              <a:rPr lang="en-US" altLang="zh-CN" sz="2400" dirty="0" err="1"/>
              <a:t>i</a:t>
            </a:r>
            <a:r>
              <a:rPr lang="en-US" altLang="zh-CN" sz="2400" dirty="0"/>
              <a:t> = new GeneralType1(2);</a:t>
            </a:r>
          </a:p>
          <a:p>
            <a:pPr>
              <a:buFont typeface="Georgia" panose="02040502050405020303" pitchFamily="18" charset="0"/>
              <a:buNone/>
            </a:pPr>
            <a:r>
              <a:rPr lang="en-US" altLang="zh-CN" sz="2400" dirty="0"/>
              <a:t>           // </a:t>
            </a:r>
            <a:r>
              <a:rPr lang="zh-CN" altLang="en-US" sz="2400" dirty="0"/>
              <a:t>传递参数为</a:t>
            </a:r>
            <a:r>
              <a:rPr lang="en-US" altLang="zh-CN" sz="2400" dirty="0"/>
              <a:t>double</a:t>
            </a:r>
            <a:r>
              <a:rPr lang="zh-CN" altLang="en-US" sz="2400" dirty="0"/>
              <a:t>类型的</a:t>
            </a:r>
            <a:r>
              <a:rPr lang="en-US" altLang="zh-CN" sz="2400" dirty="0"/>
              <a:t>0.33</a:t>
            </a:r>
            <a:r>
              <a:rPr lang="zh-CN" altLang="en-US" sz="2400" dirty="0"/>
              <a:t>，会自动封箱为</a:t>
            </a:r>
            <a:r>
              <a:rPr lang="en-US" altLang="zh-CN" sz="2400" dirty="0"/>
              <a:t>Double</a:t>
            </a:r>
            <a:r>
              <a:rPr lang="zh-CN" altLang="en-US" sz="2400" dirty="0"/>
              <a:t>类型的对象。</a:t>
            </a:r>
          </a:p>
          <a:p>
            <a:pPr>
              <a:buFont typeface="Georgia" panose="02040502050405020303" pitchFamily="18" charset="0"/>
              <a:buNone/>
            </a:pPr>
            <a:r>
              <a:rPr lang="zh-CN" altLang="en-US" sz="2400" dirty="0"/>
              <a:t>        </a:t>
            </a:r>
            <a:r>
              <a:rPr lang="en-US" altLang="zh-CN" sz="2400" dirty="0"/>
              <a:t>GeneralType1 d = new GeneralType1(0.33);</a:t>
            </a:r>
          </a:p>
          <a:p>
            <a:pPr>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i.object</a:t>
            </a:r>
            <a:r>
              <a:rPr lang="en-US" altLang="zh-CN" sz="2400" dirty="0"/>
              <a:t>=" + (Integer) </a:t>
            </a:r>
            <a:r>
              <a:rPr lang="en-US" altLang="zh-CN" sz="2400" dirty="0" err="1"/>
              <a:t>i.getObj</a:t>
            </a:r>
            <a:r>
              <a:rPr lang="en-US" altLang="zh-CN" sz="2400" dirty="0"/>
              <a:t>());</a:t>
            </a:r>
          </a:p>
          <a:p>
            <a:pPr>
              <a:buFont typeface="Georgia" panose="02040502050405020303" pitchFamily="18" charset="0"/>
              <a:buNone/>
            </a:pPr>
            <a:r>
              <a:rPr lang="en-US" altLang="zh-CN" sz="2400" dirty="0"/>
              <a:t>           // </a:t>
            </a:r>
            <a:r>
              <a:rPr lang="zh-CN" altLang="en-US" sz="2400" dirty="0"/>
              <a:t>可以通过编译，但运行时异常</a:t>
            </a:r>
          </a:p>
          <a:p>
            <a:pPr>
              <a:buFont typeface="Georgia" panose="02040502050405020303" pitchFamily="18" charset="0"/>
              <a:buNone/>
            </a:pPr>
            <a:r>
              <a:rPr lang="zh-CN" altLang="en-US" sz="2400" dirty="0"/>
              <a:t>        </a:t>
            </a:r>
            <a:r>
              <a:rPr lang="en-US" altLang="zh-CN" sz="2400" dirty="0" err="1"/>
              <a:t>System.out.println</a:t>
            </a:r>
            <a:r>
              <a:rPr lang="en-US" altLang="zh-CN" sz="2400" dirty="0"/>
              <a:t>("</a:t>
            </a:r>
            <a:r>
              <a:rPr lang="en-US" altLang="zh-CN" sz="2400" dirty="0" err="1"/>
              <a:t>i.object</a:t>
            </a:r>
            <a:r>
              <a:rPr lang="en-US" altLang="zh-CN" sz="2400" dirty="0"/>
              <a:t>=" + (Integer) </a:t>
            </a:r>
            <a:r>
              <a:rPr lang="en-US" altLang="zh-CN" sz="2400" dirty="0" err="1"/>
              <a:t>d.getObj</a:t>
            </a:r>
            <a:r>
              <a:rPr lang="en-US" altLang="zh-CN" sz="2400" dirty="0"/>
              <a:t>());</a:t>
            </a:r>
          </a:p>
          <a:p>
            <a:pPr>
              <a:buFont typeface="Georgia" panose="02040502050405020303" pitchFamily="18" charset="0"/>
              <a:buNone/>
            </a:pPr>
            <a:r>
              <a:rPr lang="en-US" altLang="zh-CN" sz="2400" dirty="0"/>
              <a:t>    }</a:t>
            </a:r>
          </a:p>
          <a:p>
            <a:pPr>
              <a:buFont typeface="Georgia" panose="02040502050405020303" pitchFamily="18" charset="0"/>
              <a:buNone/>
            </a:pPr>
            <a:r>
              <a:rPr lang="en-US" altLang="zh-CN" sz="2400" dirty="0"/>
              <a:t>}</a:t>
            </a:r>
          </a:p>
        </p:txBody>
      </p:sp>
      <p:sp>
        <p:nvSpPr>
          <p:cNvPr id="3" name="TextBox 3">
            <a:extLst>
              <a:ext uri="{FF2B5EF4-FFF2-40B4-BE49-F238E27FC236}">
                <a16:creationId xmlns:a16="http://schemas.microsoft.com/office/drawing/2014/main" id="{7FE23A06-D469-32A2-759B-8A71F4F625A7}"/>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7DAEA7AE-574B-21CD-DDB1-CC0C464170BE}"/>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3"/>
          <p:cNvSpPr>
            <a:spLocks noGrp="1" noChangeArrowheads="1"/>
          </p:cNvSpPr>
          <p:nvPr>
            <p:ph idx="4294967295"/>
          </p:nvPr>
        </p:nvSpPr>
        <p:spPr>
          <a:xfrm>
            <a:off x="1127448" y="1792331"/>
            <a:ext cx="7430616" cy="4032448"/>
          </a:xfrm>
          <a:prstGeom prst="rect">
            <a:avLst/>
          </a:prstGeom>
        </p:spPr>
        <p:txBody>
          <a:bodyPr lIns="92075" tIns="46038" rIns="92075" bIns="46038">
            <a:normAutofit/>
          </a:bodyPr>
          <a:lstStyle/>
          <a:p>
            <a:pPr>
              <a:buFont typeface="Georgia" panose="02040502050405020303" pitchFamily="18" charset="0"/>
              <a:buNone/>
            </a:pPr>
            <a:r>
              <a:rPr lang="en-US" altLang="zh-CN" sz="2400" dirty="0"/>
              <a:t>class GeneralType2&lt;Type2&gt; {</a:t>
            </a:r>
          </a:p>
          <a:p>
            <a:pPr>
              <a:buFont typeface="Georgia" panose="02040502050405020303" pitchFamily="18" charset="0"/>
              <a:buNone/>
            </a:pPr>
            <a:r>
              <a:rPr lang="en-US" altLang="zh-CN" sz="2400" dirty="0"/>
              <a:t>    Type2 object;</a:t>
            </a:r>
          </a:p>
          <a:p>
            <a:pPr>
              <a:buFont typeface="Georgia" panose="02040502050405020303" pitchFamily="18" charset="0"/>
              <a:buNone/>
            </a:pPr>
            <a:r>
              <a:rPr lang="en-US" altLang="zh-CN" sz="2400" dirty="0"/>
              <a:t>    public GeneralType2(Type2 object) {</a:t>
            </a:r>
          </a:p>
          <a:p>
            <a:pPr>
              <a:buFont typeface="Georgia" panose="02040502050405020303" pitchFamily="18" charset="0"/>
              <a:buNone/>
            </a:pPr>
            <a:r>
              <a:rPr lang="en-US" altLang="zh-CN" sz="2400" dirty="0"/>
              <a:t>        </a:t>
            </a:r>
            <a:r>
              <a:rPr lang="en-US" altLang="zh-CN" sz="2400" dirty="0" err="1"/>
              <a:t>this.object</a:t>
            </a:r>
            <a:r>
              <a:rPr lang="en-US" altLang="zh-CN" sz="2400" dirty="0"/>
              <a:t> = object;</a:t>
            </a:r>
          </a:p>
          <a:p>
            <a:pPr>
              <a:buFont typeface="Georgia" panose="02040502050405020303" pitchFamily="18" charset="0"/>
              <a:buNone/>
            </a:pPr>
            <a:r>
              <a:rPr lang="en-US" altLang="zh-CN" sz="2400" dirty="0"/>
              <a:t>    }</a:t>
            </a:r>
          </a:p>
          <a:p>
            <a:pPr>
              <a:buFont typeface="Georgia" panose="02040502050405020303" pitchFamily="18" charset="0"/>
              <a:buNone/>
            </a:pPr>
            <a:r>
              <a:rPr lang="en-US" altLang="zh-CN" sz="2400" dirty="0"/>
              <a:t>    public </a:t>
            </a:r>
            <a:r>
              <a:rPr lang="en-US" altLang="zh-CN" sz="2400" b="1" dirty="0"/>
              <a:t>Type2</a:t>
            </a:r>
            <a:r>
              <a:rPr lang="en-US" altLang="zh-CN" sz="2400" dirty="0"/>
              <a:t> </a:t>
            </a:r>
            <a:r>
              <a:rPr lang="en-US" altLang="zh-CN" sz="2400" dirty="0" err="1"/>
              <a:t>getObj</a:t>
            </a:r>
            <a:r>
              <a:rPr lang="en-US" altLang="zh-CN" sz="2400" dirty="0"/>
              <a:t>() {</a:t>
            </a:r>
          </a:p>
          <a:p>
            <a:pPr>
              <a:buFont typeface="Georgia" panose="02040502050405020303" pitchFamily="18" charset="0"/>
              <a:buNone/>
            </a:pPr>
            <a:r>
              <a:rPr lang="en-US" altLang="zh-CN" sz="2400" dirty="0"/>
              <a:t>        return object;</a:t>
            </a:r>
          </a:p>
          <a:p>
            <a:pPr>
              <a:buFont typeface="Georgia" panose="02040502050405020303" pitchFamily="18" charset="0"/>
              <a:buNone/>
            </a:pPr>
            <a:r>
              <a:rPr lang="en-US" altLang="zh-CN" sz="2400" dirty="0"/>
              <a:t>    }</a:t>
            </a:r>
          </a:p>
          <a:p>
            <a:pPr>
              <a:buFont typeface="Georgia" panose="02040502050405020303" pitchFamily="18" charset="0"/>
              <a:buNone/>
            </a:pPr>
            <a:r>
              <a:rPr lang="en-US" altLang="zh-CN" sz="2400" dirty="0"/>
              <a:t>}</a:t>
            </a:r>
          </a:p>
        </p:txBody>
      </p:sp>
      <p:sp>
        <p:nvSpPr>
          <p:cNvPr id="3" name="TextBox 3">
            <a:extLst>
              <a:ext uri="{FF2B5EF4-FFF2-40B4-BE49-F238E27FC236}">
                <a16:creationId xmlns:a16="http://schemas.microsoft.com/office/drawing/2014/main" id="{162AF17F-1ACC-F3C1-D47F-E590C536AF7A}"/>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40280187-345D-1CBF-B079-73A0CA933E91}"/>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Tree>
    <p:extLst>
      <p:ext uri="{BB962C8B-B14F-4D97-AF65-F5344CB8AC3E}">
        <p14:creationId xmlns:p14="http://schemas.microsoft.com/office/powerpoint/2010/main" val="3904726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3"/>
          <p:cNvSpPr>
            <a:spLocks noGrp="1" noChangeArrowheads="1"/>
          </p:cNvSpPr>
          <p:nvPr>
            <p:ph idx="4294967295"/>
          </p:nvPr>
        </p:nvSpPr>
        <p:spPr>
          <a:xfrm>
            <a:off x="479376" y="1700808"/>
            <a:ext cx="11449272" cy="4141979"/>
          </a:xfrm>
          <a:prstGeom prst="rect">
            <a:avLst/>
          </a:prstGeom>
        </p:spPr>
        <p:txBody>
          <a:bodyPr lIns="92075" tIns="46038" rIns="92075" bIns="46038"/>
          <a:lstStyle/>
          <a:p>
            <a:pPr>
              <a:buFont typeface="Georgia" panose="02040502050405020303" pitchFamily="18" charset="0"/>
              <a:buNone/>
            </a:pPr>
            <a:r>
              <a:rPr lang="en-US" altLang="zh-CN" sz="2400" dirty="0"/>
              <a:t>public class GenericsTester2 {</a:t>
            </a:r>
          </a:p>
          <a:p>
            <a:pPr>
              <a:buFont typeface="Georgia" panose="02040502050405020303" pitchFamily="18" charset="0"/>
              <a:buNone/>
            </a:pPr>
            <a:r>
              <a:rPr lang="en-US" altLang="zh-CN" sz="2400" dirty="0"/>
              <a:t>    public static void main(String[] </a:t>
            </a:r>
            <a:r>
              <a:rPr lang="en-US" altLang="zh-CN" sz="2400" dirty="0" err="1"/>
              <a:t>args</a:t>
            </a:r>
            <a:r>
              <a:rPr lang="en-US" altLang="zh-CN" sz="2400" dirty="0"/>
              <a:t>) {</a:t>
            </a:r>
          </a:p>
          <a:p>
            <a:pPr>
              <a:buFont typeface="Georgia" panose="02040502050405020303" pitchFamily="18" charset="0"/>
              <a:buNone/>
            </a:pPr>
            <a:r>
              <a:rPr lang="en-US" altLang="zh-CN" sz="2400" dirty="0"/>
              <a:t>        GeneralType2&lt;Integer&gt; </a:t>
            </a:r>
            <a:r>
              <a:rPr lang="en-US" altLang="zh-CN" sz="2400" dirty="0" err="1"/>
              <a:t>i</a:t>
            </a:r>
            <a:r>
              <a:rPr lang="en-US" altLang="zh-CN" sz="2400" dirty="0"/>
              <a:t> = new GeneralType2&lt;&gt;(2);</a:t>
            </a:r>
          </a:p>
          <a:p>
            <a:pPr>
              <a:buFont typeface="Georgia" panose="02040502050405020303" pitchFamily="18" charset="0"/>
              <a:buNone/>
            </a:pPr>
            <a:r>
              <a:rPr lang="en-US" altLang="zh-CN" sz="2400" dirty="0"/>
              <a:t>        GeneralType2&lt;Double&gt; d = new GeneralType2&lt;&gt;(0.33);</a:t>
            </a:r>
          </a:p>
          <a:p>
            <a:pPr>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i.object</a:t>
            </a:r>
            <a:r>
              <a:rPr lang="en-US" altLang="zh-CN" sz="2400" dirty="0"/>
              <a:t>=" + (Integer) </a:t>
            </a:r>
            <a:r>
              <a:rPr lang="en-US" altLang="zh-CN" sz="2400" dirty="0" err="1"/>
              <a:t>i.getObj</a:t>
            </a:r>
            <a:r>
              <a:rPr lang="en-US" altLang="zh-CN" sz="2400" dirty="0"/>
              <a:t>());</a:t>
            </a:r>
          </a:p>
          <a:p>
            <a:pPr>
              <a:buFont typeface="Georgia" panose="02040502050405020303" pitchFamily="18" charset="0"/>
              <a:buNone/>
            </a:pPr>
            <a:r>
              <a:rPr lang="en-US" altLang="zh-CN" sz="2400" dirty="0"/>
              <a:t>  //    </a:t>
            </a:r>
            <a:r>
              <a:rPr lang="en-US" altLang="zh-CN" sz="2400" dirty="0" err="1"/>
              <a:t>System.out.println</a:t>
            </a:r>
            <a:r>
              <a:rPr lang="en-US" altLang="zh-CN" sz="2400" dirty="0"/>
              <a:t>("</a:t>
            </a:r>
            <a:r>
              <a:rPr lang="en-US" altLang="zh-CN" sz="2400" dirty="0" err="1"/>
              <a:t>i.object</a:t>
            </a:r>
            <a:r>
              <a:rPr lang="en-US" altLang="zh-CN" sz="2400" dirty="0"/>
              <a:t>=" + (Integer)</a:t>
            </a:r>
            <a:r>
              <a:rPr lang="en-US" altLang="zh-CN" sz="2400" dirty="0" err="1"/>
              <a:t>d.getObj</a:t>
            </a:r>
            <a:r>
              <a:rPr lang="en-US" altLang="zh-CN" sz="2400" dirty="0"/>
              <a:t>()); // </a:t>
            </a:r>
            <a:r>
              <a:rPr lang="zh-CN" altLang="en-US" sz="2400" dirty="0"/>
              <a:t>不能通过编译</a:t>
            </a:r>
          </a:p>
          <a:p>
            <a:pPr>
              <a:buFont typeface="Georgia" panose="02040502050405020303" pitchFamily="18" charset="0"/>
              <a:buNone/>
            </a:pPr>
            <a:r>
              <a:rPr lang="zh-CN" altLang="en-US" sz="2400" dirty="0"/>
              <a:t>    </a:t>
            </a:r>
            <a:r>
              <a:rPr lang="en-US" altLang="zh-CN" sz="2400" dirty="0"/>
              <a:t>}</a:t>
            </a:r>
          </a:p>
          <a:p>
            <a:pPr>
              <a:buFont typeface="Georgia" panose="02040502050405020303" pitchFamily="18" charset="0"/>
              <a:buNone/>
            </a:pPr>
            <a:r>
              <a:rPr lang="en-US" altLang="zh-CN" sz="2400" dirty="0"/>
              <a:t>}</a:t>
            </a:r>
          </a:p>
        </p:txBody>
      </p:sp>
      <p:sp>
        <p:nvSpPr>
          <p:cNvPr id="3" name="TextBox 3">
            <a:extLst>
              <a:ext uri="{FF2B5EF4-FFF2-40B4-BE49-F238E27FC236}">
                <a16:creationId xmlns:a16="http://schemas.microsoft.com/office/drawing/2014/main" id="{348AF679-4F15-D44F-13DE-78B65033B1BD}"/>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DA0D502C-9DF8-B826-817C-169131DFC477}"/>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Tree>
    <p:extLst>
      <p:ext uri="{BB962C8B-B14F-4D97-AF65-F5344CB8AC3E}">
        <p14:creationId xmlns:p14="http://schemas.microsoft.com/office/powerpoint/2010/main" val="118000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3"/>
          <p:cNvSpPr>
            <a:spLocks noGrp="1" noChangeArrowheads="1"/>
          </p:cNvSpPr>
          <p:nvPr>
            <p:ph idx="4294967295"/>
          </p:nvPr>
        </p:nvSpPr>
        <p:spPr>
          <a:xfrm>
            <a:off x="609600" y="1628800"/>
            <a:ext cx="10972800" cy="4784865"/>
          </a:xfrm>
          <a:prstGeom prst="rect">
            <a:avLst/>
          </a:prstGeom>
        </p:spPr>
        <p:txBody>
          <a:bodyPr lIns="92075" tIns="46038" rIns="92075" bIns="46038">
            <a:normAutofit fontScale="92500" lnSpcReduction="10000"/>
          </a:bodyPr>
          <a:lstStyle/>
          <a:p>
            <a:pPr>
              <a:lnSpc>
                <a:spcPct val="85000"/>
              </a:lnSpc>
              <a:buFont typeface="Georgia" panose="02040502050405020303" pitchFamily="18" charset="0"/>
              <a:buNone/>
            </a:pPr>
            <a:r>
              <a:rPr lang="en-US" altLang="zh-CN" sz="2400" dirty="0"/>
              <a:t>class </a:t>
            </a:r>
            <a:r>
              <a:rPr lang="en-US" altLang="zh-CN" sz="2400" dirty="0" err="1"/>
              <a:t>GeneralMethod</a:t>
            </a:r>
            <a:r>
              <a:rPr lang="en-US" altLang="zh-CN" sz="2400" dirty="0"/>
              <a:t> {</a:t>
            </a:r>
          </a:p>
          <a:p>
            <a:pPr>
              <a:lnSpc>
                <a:spcPct val="85000"/>
              </a:lnSpc>
              <a:buFont typeface="Georgia" panose="02040502050405020303" pitchFamily="18" charset="0"/>
              <a:buNone/>
            </a:pPr>
            <a:r>
              <a:rPr lang="en-US" altLang="zh-CN" sz="2400" dirty="0"/>
              <a:t>    &lt;Type3&gt; void </a:t>
            </a:r>
            <a:r>
              <a:rPr lang="en-US" altLang="zh-CN" sz="2400" dirty="0" err="1"/>
              <a:t>printClassName</a:t>
            </a:r>
            <a:r>
              <a:rPr lang="en-US" altLang="zh-CN" sz="2400" dirty="0"/>
              <a:t>(Type3 object) {</a:t>
            </a:r>
          </a:p>
          <a:p>
            <a:pPr>
              <a:lnSpc>
                <a:spcPct val="85000"/>
              </a:lnSpc>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object.getClass</a:t>
            </a:r>
            <a:r>
              <a:rPr lang="en-US" altLang="zh-CN" sz="2400" dirty="0"/>
              <a:t>().</a:t>
            </a:r>
            <a:r>
              <a:rPr lang="en-US" altLang="zh-CN" sz="2400" dirty="0" err="1"/>
              <a:t>getName</a:t>
            </a:r>
            <a:r>
              <a:rPr lang="en-US" altLang="zh-CN" sz="2400" dirty="0"/>
              <a:t>());</a:t>
            </a:r>
          </a:p>
          <a:p>
            <a:pPr>
              <a:lnSpc>
                <a:spcPct val="85000"/>
              </a:lnSpc>
              <a:buFont typeface="Georgia" panose="02040502050405020303" pitchFamily="18" charset="0"/>
              <a:buNone/>
            </a:pPr>
            <a:r>
              <a:rPr lang="en-US" altLang="zh-CN" sz="2400" dirty="0"/>
              <a:t>    }</a:t>
            </a:r>
          </a:p>
          <a:p>
            <a:pPr>
              <a:lnSpc>
                <a:spcPct val="85000"/>
              </a:lnSpc>
              <a:buFont typeface="Georgia" panose="02040502050405020303" pitchFamily="18" charset="0"/>
              <a:buNone/>
            </a:pPr>
            <a:r>
              <a:rPr lang="en-US" altLang="zh-CN" sz="2400" dirty="0"/>
              <a:t>}</a:t>
            </a:r>
          </a:p>
          <a:p>
            <a:pPr>
              <a:lnSpc>
                <a:spcPct val="85000"/>
              </a:lnSpc>
              <a:buFont typeface="Georgia" panose="02040502050405020303" pitchFamily="18" charset="0"/>
              <a:buNone/>
            </a:pPr>
            <a:r>
              <a:rPr lang="en-US" altLang="zh-CN" sz="2400" dirty="0"/>
              <a:t>public class GenericsTester3 {</a:t>
            </a:r>
          </a:p>
          <a:p>
            <a:pPr>
              <a:lnSpc>
                <a:spcPct val="85000"/>
              </a:lnSpc>
              <a:buFont typeface="Georgia" panose="02040502050405020303" pitchFamily="18" charset="0"/>
              <a:buNone/>
            </a:pPr>
            <a:r>
              <a:rPr lang="en-US" altLang="zh-CN" sz="2400" dirty="0"/>
              <a:t>    public static void main(String[] </a:t>
            </a:r>
            <a:r>
              <a:rPr lang="en-US" altLang="zh-CN" sz="2400" dirty="0" err="1"/>
              <a:t>args</a:t>
            </a:r>
            <a:r>
              <a:rPr lang="en-US" altLang="zh-CN" sz="2400" dirty="0"/>
              <a:t>) {</a:t>
            </a:r>
          </a:p>
          <a:p>
            <a:pPr>
              <a:lnSpc>
                <a:spcPct val="85000"/>
              </a:lnSpc>
              <a:buFont typeface="Georgia" panose="02040502050405020303" pitchFamily="18" charset="0"/>
              <a:buNone/>
            </a:pPr>
            <a:r>
              <a:rPr lang="en-US" altLang="zh-CN" sz="2400" dirty="0"/>
              <a:t>        </a:t>
            </a:r>
            <a:r>
              <a:rPr lang="en-US" altLang="zh-CN" sz="2400" dirty="0" err="1"/>
              <a:t>GeneralMethod</a:t>
            </a:r>
            <a:r>
              <a:rPr lang="en-US" altLang="zh-CN" sz="2400" dirty="0"/>
              <a:t> gm = new </a:t>
            </a:r>
            <a:r>
              <a:rPr lang="en-US" altLang="zh-CN" sz="2400" dirty="0" err="1"/>
              <a:t>GeneralMethod</a:t>
            </a:r>
            <a:r>
              <a:rPr lang="en-US" altLang="zh-CN" sz="2400" dirty="0"/>
              <a:t>();</a:t>
            </a:r>
          </a:p>
          <a:p>
            <a:pPr>
              <a:lnSpc>
                <a:spcPct val="85000"/>
              </a:lnSpc>
              <a:buFont typeface="Georgia" panose="02040502050405020303" pitchFamily="18" charset="0"/>
              <a:buNone/>
            </a:pPr>
            <a:r>
              <a:rPr lang="en-US" altLang="zh-CN" sz="2400" dirty="0"/>
              <a:t>        </a:t>
            </a:r>
            <a:r>
              <a:rPr lang="en-US" altLang="zh-CN" sz="2400" dirty="0" err="1"/>
              <a:t>gm.printClassName</a:t>
            </a:r>
            <a:r>
              <a:rPr lang="en-US" altLang="zh-CN" sz="2400" dirty="0"/>
              <a:t>("hello");</a:t>
            </a:r>
          </a:p>
          <a:p>
            <a:pPr>
              <a:lnSpc>
                <a:spcPct val="85000"/>
              </a:lnSpc>
              <a:buFont typeface="Georgia" panose="02040502050405020303" pitchFamily="18" charset="0"/>
              <a:buNone/>
            </a:pPr>
            <a:r>
              <a:rPr lang="en-US" altLang="zh-CN" sz="2400" dirty="0"/>
              <a:t>        </a:t>
            </a:r>
            <a:r>
              <a:rPr lang="en-US" altLang="zh-CN" sz="2400" dirty="0" err="1"/>
              <a:t>gm.printClassName</a:t>
            </a:r>
            <a:r>
              <a:rPr lang="en-US" altLang="zh-CN" sz="2400" dirty="0"/>
              <a:t>(3);</a:t>
            </a:r>
          </a:p>
          <a:p>
            <a:pPr>
              <a:lnSpc>
                <a:spcPct val="85000"/>
              </a:lnSpc>
              <a:buFont typeface="Georgia" panose="02040502050405020303" pitchFamily="18" charset="0"/>
              <a:buNone/>
            </a:pPr>
            <a:r>
              <a:rPr lang="en-US" altLang="zh-CN" sz="2400" dirty="0"/>
              <a:t>        </a:t>
            </a:r>
            <a:r>
              <a:rPr lang="en-US" altLang="zh-CN" sz="2400" dirty="0" err="1"/>
              <a:t>gm.printClassName</a:t>
            </a:r>
            <a:r>
              <a:rPr lang="en-US" altLang="zh-CN" sz="2400" dirty="0"/>
              <a:t>(3.0f);</a:t>
            </a:r>
          </a:p>
          <a:p>
            <a:pPr>
              <a:lnSpc>
                <a:spcPct val="85000"/>
              </a:lnSpc>
              <a:buFont typeface="Georgia" panose="02040502050405020303" pitchFamily="18" charset="0"/>
              <a:buNone/>
            </a:pPr>
            <a:r>
              <a:rPr lang="en-US" altLang="zh-CN" sz="2400" dirty="0"/>
              <a:t>        </a:t>
            </a:r>
            <a:r>
              <a:rPr lang="en-US" altLang="zh-CN" sz="2400" dirty="0" err="1"/>
              <a:t>gm.printClassName</a:t>
            </a:r>
            <a:r>
              <a:rPr lang="en-US" altLang="zh-CN" sz="2400" dirty="0"/>
              <a:t>(3.0);</a:t>
            </a:r>
          </a:p>
          <a:p>
            <a:pPr>
              <a:lnSpc>
                <a:spcPct val="85000"/>
              </a:lnSpc>
              <a:buFont typeface="Georgia" panose="02040502050405020303" pitchFamily="18" charset="0"/>
              <a:buNone/>
            </a:pPr>
            <a:r>
              <a:rPr lang="en-US" altLang="zh-CN" sz="2400" dirty="0"/>
              <a:t>    }</a:t>
            </a:r>
          </a:p>
          <a:p>
            <a:pPr>
              <a:lnSpc>
                <a:spcPct val="85000"/>
              </a:lnSpc>
              <a:buFont typeface="Georgia" panose="02040502050405020303" pitchFamily="18" charset="0"/>
              <a:buNone/>
            </a:pPr>
            <a:r>
              <a:rPr lang="en-US" altLang="zh-CN" sz="2400" dirty="0"/>
              <a:t>}</a:t>
            </a:r>
          </a:p>
        </p:txBody>
      </p:sp>
      <p:sp>
        <p:nvSpPr>
          <p:cNvPr id="2" name="文本框 1">
            <a:extLst>
              <a:ext uri="{FF2B5EF4-FFF2-40B4-BE49-F238E27FC236}">
                <a16:creationId xmlns:a16="http://schemas.microsoft.com/office/drawing/2014/main" id="{03E5F423-B8D6-664A-90C7-6659EFFBA439}"/>
              </a:ext>
            </a:extLst>
          </p:cNvPr>
          <p:cNvSpPr txBox="1"/>
          <p:nvPr/>
        </p:nvSpPr>
        <p:spPr>
          <a:xfrm>
            <a:off x="9120336" y="4394546"/>
            <a:ext cx="2284600" cy="1938992"/>
          </a:xfrm>
          <a:prstGeom prst="rect">
            <a:avLst/>
          </a:prstGeom>
          <a:noFill/>
        </p:spPr>
        <p:txBody>
          <a:bodyPr wrap="none" rtlCol="0">
            <a:spAutoFit/>
          </a:bodyPr>
          <a:lstStyle/>
          <a:p>
            <a:r>
              <a:rPr kumimoji="1" lang="zh-CN" altLang="en-US" dirty="0"/>
              <a:t>运行结果：</a:t>
            </a:r>
            <a:endParaRPr kumimoji="1" lang="en-US" altLang="zh-CN" dirty="0"/>
          </a:p>
          <a:p>
            <a:r>
              <a:rPr lang="en-US" altLang="zh-CN" dirty="0" err="1"/>
              <a:t>java.lang.String</a:t>
            </a:r>
            <a:endParaRPr lang="zh-CN" altLang="zh-CN" dirty="0"/>
          </a:p>
          <a:p>
            <a:r>
              <a:rPr lang="en-US" altLang="zh-CN" dirty="0" err="1"/>
              <a:t>java.lang.Integer</a:t>
            </a:r>
            <a:endParaRPr lang="zh-CN" altLang="zh-CN" dirty="0"/>
          </a:p>
          <a:p>
            <a:r>
              <a:rPr lang="en-US" altLang="zh-CN" dirty="0" err="1"/>
              <a:t>java.lang.Float</a:t>
            </a:r>
            <a:endParaRPr lang="zh-CN" altLang="zh-CN" dirty="0"/>
          </a:p>
          <a:p>
            <a:r>
              <a:rPr lang="en-US" altLang="zh-CN" dirty="0" err="1"/>
              <a:t>java.lang.Double</a:t>
            </a:r>
            <a:endParaRPr lang="zh-CN" altLang="zh-CN" dirty="0"/>
          </a:p>
        </p:txBody>
      </p:sp>
      <p:sp>
        <p:nvSpPr>
          <p:cNvPr id="4" name="TextBox 3">
            <a:extLst>
              <a:ext uri="{FF2B5EF4-FFF2-40B4-BE49-F238E27FC236}">
                <a16:creationId xmlns:a16="http://schemas.microsoft.com/office/drawing/2014/main" id="{FE8425F8-9071-F08B-1524-867996E39A6C}"/>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147B8EA8-84AA-33D2-6819-4BB7F86E7CF3}"/>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Rectangle 3"/>
          <p:cNvSpPr>
            <a:spLocks noGrp="1" noChangeArrowheads="1"/>
          </p:cNvSpPr>
          <p:nvPr>
            <p:ph idx="4294967295"/>
          </p:nvPr>
        </p:nvSpPr>
        <p:spPr>
          <a:xfrm>
            <a:off x="1415480" y="1988840"/>
            <a:ext cx="6422504" cy="748680"/>
          </a:xfrm>
          <a:prstGeom prst="rect">
            <a:avLst/>
          </a:prstGeom>
        </p:spPr>
        <p:txBody>
          <a:bodyPr lIns="92075" tIns="46038" rIns="92075" bIns="46038"/>
          <a:lstStyle/>
          <a:p>
            <a:pPr marL="119062" indent="0">
              <a:lnSpc>
                <a:spcPct val="80000"/>
              </a:lnSpc>
              <a:buNone/>
            </a:pPr>
            <a:r>
              <a:rPr lang="zh-CN" altLang="en-US" sz="3200" dirty="0"/>
              <a:t>使用通配符可以使程序更为通用</a:t>
            </a:r>
          </a:p>
        </p:txBody>
      </p:sp>
      <p:sp>
        <p:nvSpPr>
          <p:cNvPr id="2" name="灯片编号占位符 1"/>
          <p:cNvSpPr>
            <a:spLocks noGrp="1"/>
          </p:cNvSpPr>
          <p:nvPr>
            <p:ph type="sldNum" sz="quarter" idx="12"/>
          </p:nvPr>
        </p:nvSpPr>
        <p:spPr/>
        <p:txBody>
          <a:bodyPr/>
          <a:lstStyle/>
          <a:p>
            <a:pPr>
              <a:defRPr/>
            </a:pPr>
            <a:fld id="{727AE804-9EF7-4CC1-80A4-17F1A4601B4C}" type="slidenum">
              <a:rPr lang="en-US" altLang="zh-CN" smtClean="0"/>
              <a:pPr>
                <a:defRPr/>
              </a:pPr>
              <a:t>49</a:t>
            </a:fld>
            <a:endParaRPr lang="en-US" altLang="zh-CN"/>
          </a:p>
        </p:txBody>
      </p:sp>
      <p:sp>
        <p:nvSpPr>
          <p:cNvPr id="4" name="TextBox 3">
            <a:extLst>
              <a:ext uri="{FF2B5EF4-FFF2-40B4-BE49-F238E27FC236}">
                <a16:creationId xmlns:a16="http://schemas.microsoft.com/office/drawing/2014/main" id="{62710FE8-68E7-FA14-7A5C-2AF73A50B878}"/>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F9F43235-2FF9-20C2-0083-A1A4E4B93A23}"/>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2" name="Rectangle 3"/>
          <p:cNvSpPr>
            <a:spLocks noGrp="1" noChangeArrowheads="1"/>
          </p:cNvSpPr>
          <p:nvPr>
            <p:ph idx="4294967295"/>
          </p:nvPr>
        </p:nvSpPr>
        <p:spPr>
          <a:xfrm>
            <a:off x="609600" y="1772816"/>
            <a:ext cx="10972800" cy="4712857"/>
          </a:xfrm>
          <a:prstGeom prst="rect">
            <a:avLst/>
          </a:prstGeom>
        </p:spPr>
        <p:txBody>
          <a:bodyPr lIns="92075" tIns="46038" rIns="92075" bIns="46038">
            <a:normAutofit lnSpcReduction="10000"/>
          </a:bodyPr>
          <a:lstStyle/>
          <a:p>
            <a:pPr>
              <a:lnSpc>
                <a:spcPct val="80000"/>
              </a:lnSpc>
              <a:buFont typeface="Georgia" panose="02040502050405020303" pitchFamily="18" charset="0"/>
              <a:buNone/>
            </a:pPr>
            <a:r>
              <a:rPr lang="en-US" altLang="zh-CN" sz="2400" dirty="0"/>
              <a:t>class GeneralType4 &lt;</a:t>
            </a:r>
            <a:r>
              <a:rPr lang="en-US" altLang="zh-CN" sz="2400" dirty="0">
                <a:solidFill>
                  <a:srgbClr val="FF00FF"/>
                </a:solidFill>
              </a:rPr>
              <a:t>Type4</a:t>
            </a:r>
            <a:r>
              <a:rPr lang="en-US" altLang="zh-CN" sz="2400" dirty="0"/>
              <a:t>&gt; {</a:t>
            </a:r>
          </a:p>
          <a:p>
            <a:pPr>
              <a:lnSpc>
                <a:spcPct val="80000"/>
              </a:lnSpc>
              <a:buFont typeface="Georgia" panose="02040502050405020303" pitchFamily="18" charset="0"/>
              <a:buNone/>
            </a:pPr>
            <a:r>
              <a:rPr lang="en-US" altLang="zh-CN" sz="2400" dirty="0"/>
              <a:t>    Type4 object;</a:t>
            </a:r>
          </a:p>
          <a:p>
            <a:pPr>
              <a:lnSpc>
                <a:spcPct val="80000"/>
              </a:lnSpc>
              <a:buFont typeface="Georgia" panose="02040502050405020303" pitchFamily="18" charset="0"/>
              <a:buNone/>
            </a:pPr>
            <a:r>
              <a:rPr lang="en-US" altLang="zh-CN" sz="2400" dirty="0"/>
              <a:t>    public GeneralType4(</a:t>
            </a:r>
            <a:r>
              <a:rPr lang="en-US" altLang="zh-CN" sz="2400" dirty="0">
                <a:solidFill>
                  <a:srgbClr val="FF00FF"/>
                </a:solidFill>
              </a:rPr>
              <a:t>Type4</a:t>
            </a:r>
            <a:r>
              <a:rPr lang="en-US" altLang="zh-CN" sz="2400" dirty="0"/>
              <a:t> object) {</a:t>
            </a:r>
          </a:p>
          <a:p>
            <a:pPr>
              <a:lnSpc>
                <a:spcPct val="80000"/>
              </a:lnSpc>
              <a:buFont typeface="Georgia" panose="02040502050405020303" pitchFamily="18" charset="0"/>
              <a:buNone/>
            </a:pPr>
            <a:r>
              <a:rPr lang="en-US" altLang="zh-CN" sz="2400" dirty="0"/>
              <a:t>        </a:t>
            </a:r>
            <a:r>
              <a:rPr lang="en-US" altLang="zh-CN" sz="2400" dirty="0" err="1"/>
              <a:t>this.object</a:t>
            </a:r>
            <a:r>
              <a:rPr lang="en-US" altLang="zh-CN" sz="2400" dirty="0"/>
              <a:t> = object;</a:t>
            </a:r>
          </a:p>
          <a:p>
            <a:pPr>
              <a:lnSpc>
                <a:spcPct val="80000"/>
              </a:lnSpc>
              <a:buFont typeface="Georgia" panose="02040502050405020303" pitchFamily="18" charset="0"/>
              <a:buNone/>
            </a:pPr>
            <a:r>
              <a:rPr lang="en-US" altLang="zh-CN" sz="2400" dirty="0"/>
              <a:t>    }</a:t>
            </a:r>
          </a:p>
          <a:p>
            <a:pPr>
              <a:lnSpc>
                <a:spcPct val="80000"/>
              </a:lnSpc>
              <a:buFont typeface="Georgia" panose="02040502050405020303" pitchFamily="18" charset="0"/>
              <a:buNone/>
            </a:pPr>
            <a:r>
              <a:rPr lang="en-US" altLang="zh-CN" sz="2400" dirty="0"/>
              <a:t>    public </a:t>
            </a:r>
            <a:r>
              <a:rPr lang="en-US" altLang="zh-CN" sz="2400" dirty="0">
                <a:solidFill>
                  <a:srgbClr val="FF00FF"/>
                </a:solidFill>
              </a:rPr>
              <a:t>Type4</a:t>
            </a:r>
            <a:r>
              <a:rPr lang="en-US" altLang="zh-CN" sz="2400" dirty="0"/>
              <a:t> </a:t>
            </a:r>
            <a:r>
              <a:rPr lang="en-US" altLang="zh-CN" sz="2400" dirty="0" err="1"/>
              <a:t>getObj</a:t>
            </a:r>
            <a:r>
              <a:rPr lang="en-US" altLang="zh-CN" sz="2400" dirty="0"/>
              <a:t>() {</a:t>
            </a:r>
          </a:p>
          <a:p>
            <a:pPr>
              <a:lnSpc>
                <a:spcPct val="80000"/>
              </a:lnSpc>
              <a:buFont typeface="Georgia" panose="02040502050405020303" pitchFamily="18" charset="0"/>
              <a:buNone/>
            </a:pPr>
            <a:r>
              <a:rPr lang="en-US" altLang="zh-CN" sz="2400" dirty="0"/>
              <a:t>        return object;</a:t>
            </a:r>
          </a:p>
          <a:p>
            <a:pPr>
              <a:lnSpc>
                <a:spcPct val="80000"/>
              </a:lnSpc>
              <a:buFont typeface="Georgia" panose="02040502050405020303" pitchFamily="18" charset="0"/>
              <a:buNone/>
            </a:pPr>
            <a:r>
              <a:rPr lang="en-US" altLang="zh-CN" sz="2400" dirty="0"/>
              <a:t>    }</a:t>
            </a:r>
          </a:p>
          <a:p>
            <a:pPr>
              <a:lnSpc>
                <a:spcPct val="80000"/>
              </a:lnSpc>
              <a:buFont typeface="Georgia" panose="02040502050405020303" pitchFamily="18" charset="0"/>
              <a:buNone/>
            </a:pPr>
            <a:r>
              <a:rPr lang="en-US" altLang="zh-CN" sz="2400" dirty="0"/>
              <a:t>}</a:t>
            </a:r>
          </a:p>
          <a:p>
            <a:pPr>
              <a:lnSpc>
                <a:spcPct val="80000"/>
              </a:lnSpc>
              <a:buFont typeface="Georgia" panose="02040502050405020303" pitchFamily="18" charset="0"/>
              <a:buNone/>
            </a:pPr>
            <a:r>
              <a:rPr lang="en-US" altLang="zh-CN" sz="2400" dirty="0"/>
              <a:t>class </a:t>
            </a:r>
            <a:r>
              <a:rPr lang="en-US" altLang="zh-CN" sz="2400" dirty="0" err="1"/>
              <a:t>ShowType</a:t>
            </a:r>
            <a:r>
              <a:rPr lang="en-US" altLang="zh-CN" sz="2400" dirty="0"/>
              <a:t> {</a:t>
            </a:r>
          </a:p>
          <a:p>
            <a:pPr>
              <a:lnSpc>
                <a:spcPct val="80000"/>
              </a:lnSpc>
              <a:buFont typeface="Georgia" panose="02040502050405020303" pitchFamily="18" charset="0"/>
              <a:buNone/>
            </a:pPr>
            <a:r>
              <a:rPr lang="en-US" altLang="zh-CN" sz="2400" dirty="0"/>
              <a:t>    public static void </a:t>
            </a:r>
            <a:r>
              <a:rPr lang="en-US" altLang="zh-CN" sz="2400" dirty="0" err="1"/>
              <a:t>showType</a:t>
            </a:r>
            <a:r>
              <a:rPr lang="en-US" altLang="zh-CN" sz="2400" dirty="0"/>
              <a:t>(GeneralType4&lt;</a:t>
            </a:r>
            <a:r>
              <a:rPr lang="en-US" altLang="zh-CN" sz="2400" dirty="0">
                <a:solidFill>
                  <a:srgbClr val="FF00FF"/>
                </a:solidFill>
              </a:rPr>
              <a:t>?</a:t>
            </a:r>
            <a:r>
              <a:rPr lang="en-US" altLang="zh-CN" sz="2400" dirty="0"/>
              <a:t>&gt; o) {</a:t>
            </a:r>
          </a:p>
          <a:p>
            <a:pPr>
              <a:lnSpc>
                <a:spcPct val="80000"/>
              </a:lnSpc>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o.getObj</a:t>
            </a:r>
            <a:r>
              <a:rPr lang="en-US" altLang="zh-CN" sz="2400" dirty="0"/>
              <a:t>().</a:t>
            </a:r>
            <a:r>
              <a:rPr lang="en-US" altLang="zh-CN" sz="2400" dirty="0" err="1"/>
              <a:t>getClass</a:t>
            </a:r>
            <a:r>
              <a:rPr lang="en-US" altLang="zh-CN" sz="2400" dirty="0"/>
              <a:t>().</a:t>
            </a:r>
            <a:r>
              <a:rPr lang="en-US" altLang="zh-CN" sz="2400" dirty="0" err="1"/>
              <a:t>getName</a:t>
            </a:r>
            <a:r>
              <a:rPr lang="en-US" altLang="zh-CN" sz="2400" dirty="0"/>
              <a:t>());</a:t>
            </a:r>
          </a:p>
          <a:p>
            <a:pPr>
              <a:lnSpc>
                <a:spcPct val="80000"/>
              </a:lnSpc>
              <a:buFont typeface="Georgia" panose="02040502050405020303" pitchFamily="18" charset="0"/>
              <a:buNone/>
            </a:pPr>
            <a:r>
              <a:rPr lang="en-US" altLang="zh-CN" sz="2400" dirty="0"/>
              <a:t>    }</a:t>
            </a:r>
          </a:p>
          <a:p>
            <a:pPr>
              <a:lnSpc>
                <a:spcPct val="80000"/>
              </a:lnSpc>
              <a:buFont typeface="Georgia" panose="02040502050405020303" pitchFamily="18" charset="0"/>
              <a:buNone/>
            </a:pPr>
            <a:r>
              <a:rPr lang="en-US" altLang="zh-CN" sz="2400" dirty="0"/>
              <a:t>}</a:t>
            </a:r>
          </a:p>
        </p:txBody>
      </p:sp>
      <p:sp>
        <p:nvSpPr>
          <p:cNvPr id="3" name="TextBox 3">
            <a:extLst>
              <a:ext uri="{FF2B5EF4-FFF2-40B4-BE49-F238E27FC236}">
                <a16:creationId xmlns:a16="http://schemas.microsoft.com/office/drawing/2014/main" id="{78AB60D5-72F6-F750-D17E-5A52D8C01CA2}"/>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3513E5AA-9BB5-C383-C229-BC1F1119A23F}"/>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Rectangle 3"/>
          <p:cNvSpPr>
            <a:spLocks noGrp="1" noChangeArrowheads="1"/>
          </p:cNvSpPr>
          <p:nvPr>
            <p:ph idx="4294967295"/>
          </p:nvPr>
        </p:nvSpPr>
        <p:spPr>
          <a:xfrm>
            <a:off x="875420" y="1628800"/>
            <a:ext cx="10441160" cy="3816424"/>
          </a:xfrm>
          <a:prstGeom prst="rect">
            <a:avLst/>
          </a:prstGeom>
        </p:spPr>
        <p:txBody>
          <a:bodyPr lIns="92075" tIns="46038" rIns="92075" bIns="46038">
            <a:noAutofit/>
          </a:bodyPr>
          <a:lstStyle/>
          <a:p>
            <a:pPr eaLnBrk="1" hangingPunct="1">
              <a:buFont typeface="Georgia" panose="02040502050405020303" pitchFamily="18" charset="0"/>
              <a:buNone/>
            </a:pPr>
            <a:r>
              <a:rPr lang="en-US" altLang="zh-CN" sz="2600" dirty="0"/>
              <a:t>public class GenericsTester4 {</a:t>
            </a:r>
          </a:p>
          <a:p>
            <a:pPr eaLnBrk="1" hangingPunct="1">
              <a:buFont typeface="Georgia" panose="02040502050405020303" pitchFamily="18" charset="0"/>
              <a:buNone/>
            </a:pPr>
            <a:r>
              <a:rPr lang="en-US" altLang="zh-CN" sz="2600" dirty="0"/>
              <a:t>    public static void main(String[] </a:t>
            </a:r>
            <a:r>
              <a:rPr lang="en-US" altLang="zh-CN" sz="2600" dirty="0" err="1"/>
              <a:t>args</a:t>
            </a:r>
            <a:r>
              <a:rPr lang="en-US" altLang="zh-CN" sz="2600" dirty="0"/>
              <a:t>){</a:t>
            </a:r>
          </a:p>
          <a:p>
            <a:pPr eaLnBrk="1" hangingPunct="1">
              <a:buFont typeface="Georgia" panose="02040502050405020303" pitchFamily="18" charset="0"/>
              <a:buNone/>
            </a:pPr>
            <a:r>
              <a:rPr lang="en-US" altLang="zh-CN" sz="2600" dirty="0"/>
              <a:t>        GeneralType4&lt;Integer&gt; </a:t>
            </a:r>
            <a:r>
              <a:rPr lang="en-US" altLang="zh-CN" sz="2600" dirty="0" err="1"/>
              <a:t>i</a:t>
            </a:r>
            <a:r>
              <a:rPr lang="en-US" altLang="zh-CN" sz="2600" dirty="0"/>
              <a:t> = new GeneralType4&lt;&gt;(2);</a:t>
            </a:r>
          </a:p>
          <a:p>
            <a:pPr eaLnBrk="1" hangingPunct="1">
              <a:buFont typeface="Georgia" panose="02040502050405020303" pitchFamily="18" charset="0"/>
              <a:buNone/>
            </a:pPr>
            <a:r>
              <a:rPr lang="en-US" altLang="zh-CN" sz="2600" dirty="0"/>
              <a:t>        GeneralType4&lt;String&gt; s = new GeneralType4&lt;&gt;("hello");</a:t>
            </a:r>
          </a:p>
          <a:p>
            <a:pPr eaLnBrk="1" hangingPunct="1">
              <a:buFont typeface="Georgia" panose="02040502050405020303" pitchFamily="18" charset="0"/>
              <a:buNone/>
            </a:pPr>
            <a:r>
              <a:rPr lang="en-US" altLang="zh-CN" sz="2600" dirty="0"/>
              <a:t>        </a:t>
            </a:r>
            <a:r>
              <a:rPr lang="en-US" altLang="zh-CN" sz="2600" dirty="0" err="1"/>
              <a:t>ShowType.showType</a:t>
            </a:r>
            <a:r>
              <a:rPr lang="en-US" altLang="zh-CN" sz="2600" dirty="0"/>
              <a:t>(</a:t>
            </a:r>
            <a:r>
              <a:rPr lang="en-US" altLang="zh-CN" sz="2600" dirty="0" err="1"/>
              <a:t>i</a:t>
            </a:r>
            <a:r>
              <a:rPr lang="en-US" altLang="zh-CN" sz="2600" dirty="0"/>
              <a:t>);</a:t>
            </a:r>
          </a:p>
          <a:p>
            <a:pPr eaLnBrk="1" hangingPunct="1">
              <a:buFont typeface="Georgia" panose="02040502050405020303" pitchFamily="18" charset="0"/>
              <a:buNone/>
            </a:pPr>
            <a:r>
              <a:rPr lang="en-US" altLang="zh-CN" sz="2600" dirty="0"/>
              <a:t>        </a:t>
            </a:r>
            <a:r>
              <a:rPr lang="en-US" altLang="zh-CN" sz="2600" dirty="0" err="1"/>
              <a:t>ShowType.showType</a:t>
            </a:r>
            <a:r>
              <a:rPr lang="en-US" altLang="zh-CN" sz="2600" dirty="0"/>
              <a:t>(s);</a:t>
            </a:r>
          </a:p>
          <a:p>
            <a:pPr eaLnBrk="1" hangingPunct="1">
              <a:buFont typeface="Georgia" panose="02040502050405020303" pitchFamily="18" charset="0"/>
              <a:buNone/>
            </a:pPr>
            <a:r>
              <a:rPr lang="en-US" altLang="zh-CN" sz="2600" dirty="0"/>
              <a:t>    }</a:t>
            </a:r>
          </a:p>
          <a:p>
            <a:pPr eaLnBrk="1" hangingPunct="1">
              <a:buFont typeface="Georgia" panose="02040502050405020303" pitchFamily="18" charset="0"/>
              <a:buNone/>
            </a:pPr>
            <a:r>
              <a:rPr lang="en-US" altLang="zh-CN" sz="2600" dirty="0"/>
              <a:t>}</a:t>
            </a:r>
            <a:endParaRPr lang="zh-CN" altLang="en-US" sz="2600" dirty="0"/>
          </a:p>
        </p:txBody>
      </p:sp>
      <p:sp>
        <p:nvSpPr>
          <p:cNvPr id="3" name="TextBox 3">
            <a:extLst>
              <a:ext uri="{FF2B5EF4-FFF2-40B4-BE49-F238E27FC236}">
                <a16:creationId xmlns:a16="http://schemas.microsoft.com/office/drawing/2014/main" id="{190818B3-1EC3-E49B-D75F-83A0C5963270}"/>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0FCFAC4C-9519-6BBE-4314-FF4F8F30EE8F}"/>
              </a:ext>
            </a:extLst>
          </p:cNvPr>
          <p:cNvSpPr txBox="1"/>
          <p:nvPr>
            <p:custDataLst>
              <p:tags r:id="rId2"/>
            </p:custDataLst>
          </p:nvPr>
        </p:nvSpPr>
        <p:spPr>
          <a:xfrm>
            <a:off x="407368" y="1015213"/>
            <a:ext cx="129614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a:t>
            </a:r>
          </a:p>
        </p:txBody>
      </p:sp>
      <p:sp>
        <p:nvSpPr>
          <p:cNvPr id="2" name="Rectangle 3">
            <a:extLst>
              <a:ext uri="{FF2B5EF4-FFF2-40B4-BE49-F238E27FC236}">
                <a16:creationId xmlns:a16="http://schemas.microsoft.com/office/drawing/2014/main" id="{55636E03-117E-B019-883B-75AE3A16551F}"/>
              </a:ext>
            </a:extLst>
          </p:cNvPr>
          <p:cNvSpPr txBox="1">
            <a:spLocks noChangeArrowheads="1"/>
          </p:cNvSpPr>
          <p:nvPr/>
        </p:nvSpPr>
        <p:spPr>
          <a:xfrm>
            <a:off x="6888088" y="5229200"/>
            <a:ext cx="3888432" cy="1368152"/>
          </a:xfrm>
          <a:prstGeom prst="rect">
            <a:avLst/>
          </a:prstGeom>
        </p:spPr>
        <p:txBody>
          <a:bodyPr lIns="92075" tIns="46038" rIns="92075" bIns="46038">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buFont typeface="Georgia" panose="02040502050405020303" pitchFamily="18" charset="0"/>
              <a:buNone/>
            </a:pPr>
            <a:r>
              <a:rPr kumimoji="0" lang="zh-CN" altLang="en-US" sz="2400" dirty="0"/>
              <a:t>程序的运行结果如下：</a:t>
            </a:r>
          </a:p>
          <a:p>
            <a:pPr fontAlgn="auto">
              <a:lnSpc>
                <a:spcPct val="80000"/>
              </a:lnSpc>
              <a:spcAft>
                <a:spcPts val="0"/>
              </a:spcAft>
              <a:buFont typeface="Georgia" panose="02040502050405020303" pitchFamily="18" charset="0"/>
              <a:buNone/>
            </a:pPr>
            <a:r>
              <a:rPr kumimoji="0" lang="en-US" altLang="zh-CN" sz="2400" dirty="0" err="1"/>
              <a:t>java.lang.Integer</a:t>
            </a:r>
            <a:endParaRPr kumimoji="0" lang="en-US" altLang="zh-CN" sz="2400" dirty="0"/>
          </a:p>
          <a:p>
            <a:pPr fontAlgn="auto">
              <a:lnSpc>
                <a:spcPct val="80000"/>
              </a:lnSpc>
              <a:spcAft>
                <a:spcPts val="0"/>
              </a:spcAft>
              <a:buFont typeface="Georgia" panose="02040502050405020303" pitchFamily="18" charset="0"/>
              <a:buNone/>
            </a:pPr>
            <a:r>
              <a:rPr kumimoji="0" lang="en-US" altLang="zh-CN" sz="2400" dirty="0" err="1"/>
              <a:t>java.lang.String</a:t>
            </a:r>
            <a:endParaRPr kumimoji="0"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8" name="Rectangle 3"/>
          <p:cNvSpPr>
            <a:spLocks noGrp="1" noChangeArrowheads="1"/>
          </p:cNvSpPr>
          <p:nvPr>
            <p:ph idx="4294967295"/>
          </p:nvPr>
        </p:nvSpPr>
        <p:spPr>
          <a:xfrm>
            <a:off x="609600" y="1844824"/>
            <a:ext cx="11031016" cy="2880320"/>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3000" b="1" dirty="0"/>
              <a:t>虽然可以使用泛型使程序能够处理多种不同类型对象，并不是所有对象都能进行某些操作；</a:t>
            </a:r>
            <a:endParaRPr lang="en-US" altLang="zh-CN" sz="3000" b="1" dirty="0"/>
          </a:p>
          <a:p>
            <a:pPr eaLnBrk="1" hangingPunct="1">
              <a:lnSpc>
                <a:spcPct val="150000"/>
              </a:lnSpc>
              <a:spcBef>
                <a:spcPts val="0"/>
              </a:spcBef>
              <a:buFont typeface="Wingdings" panose="05000000000000000000" pitchFamily="2" charset="2"/>
              <a:buChar char="Ø"/>
            </a:pPr>
            <a:r>
              <a:rPr lang="zh-CN" altLang="en-US" sz="3000" b="1" dirty="0"/>
              <a:t>有时候需要将泛型中参数代表的类型做限制，此时就可以使用有限制的泛型</a:t>
            </a:r>
            <a:r>
              <a:rPr lang="zh-CN" altLang="en-US" sz="2500" dirty="0"/>
              <a:t>。</a:t>
            </a:r>
          </a:p>
        </p:txBody>
      </p:sp>
      <p:sp>
        <p:nvSpPr>
          <p:cNvPr id="2" name="灯片编号占位符 1"/>
          <p:cNvSpPr>
            <a:spLocks noGrp="1"/>
          </p:cNvSpPr>
          <p:nvPr>
            <p:ph type="sldNum" sz="quarter" idx="12"/>
          </p:nvPr>
        </p:nvSpPr>
        <p:spPr/>
        <p:txBody>
          <a:bodyPr/>
          <a:lstStyle/>
          <a:p>
            <a:pPr>
              <a:defRPr/>
            </a:pPr>
            <a:fld id="{727AE804-9EF7-4CC1-80A4-17F1A4601B4C}" type="slidenum">
              <a:rPr lang="en-US" altLang="zh-CN" smtClean="0"/>
              <a:pPr>
                <a:defRPr/>
              </a:pPr>
              <a:t>52</a:t>
            </a:fld>
            <a:endParaRPr lang="en-US" altLang="zh-CN"/>
          </a:p>
        </p:txBody>
      </p:sp>
      <p:sp>
        <p:nvSpPr>
          <p:cNvPr id="3" name="文本框 2">
            <a:extLst>
              <a:ext uri="{FF2B5EF4-FFF2-40B4-BE49-F238E27FC236}">
                <a16:creationId xmlns:a16="http://schemas.microsoft.com/office/drawing/2014/main" id="{FCC685A3-FC58-FE60-C752-30E92DCC4BA0}"/>
              </a:ext>
            </a:extLst>
          </p:cNvPr>
          <p:cNvSpPr txBox="1"/>
          <p:nvPr>
            <p:custDataLst>
              <p:tags r:id="rId1"/>
            </p:custDataLst>
          </p:nvPr>
        </p:nvSpPr>
        <p:spPr>
          <a:xfrm>
            <a:off x="407368" y="1015213"/>
            <a:ext cx="237626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有限制的泛型</a:t>
            </a:r>
          </a:p>
        </p:txBody>
      </p:sp>
      <p:sp>
        <p:nvSpPr>
          <p:cNvPr id="4" name="TextBox 3">
            <a:extLst>
              <a:ext uri="{FF2B5EF4-FFF2-40B4-BE49-F238E27FC236}">
                <a16:creationId xmlns:a16="http://schemas.microsoft.com/office/drawing/2014/main" id="{C6D13D1B-CB78-680E-3D19-8A2557904D3D}"/>
              </a:ext>
            </a:extLst>
          </p:cNvPr>
          <p:cNvSpPr txBox="1"/>
          <p:nvPr>
            <p:custDataLst>
              <p:tags r:id="rId2"/>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8" name="Rectangle 3"/>
          <p:cNvSpPr>
            <a:spLocks noGrp="1" noChangeArrowheads="1"/>
          </p:cNvSpPr>
          <p:nvPr>
            <p:ph idx="4294967295"/>
          </p:nvPr>
        </p:nvSpPr>
        <p:spPr>
          <a:xfrm>
            <a:off x="263352" y="1600200"/>
            <a:ext cx="11665296" cy="2836911"/>
          </a:xfrm>
          <a:prstGeom prst="rect">
            <a:avLst/>
          </a:prstGeom>
        </p:spPr>
        <p:txBody>
          <a:bodyPr lIns="92075" tIns="46038" rIns="92075" bIns="46038"/>
          <a:lstStyle/>
          <a:p>
            <a:pPr marL="0" indent="0" eaLnBrk="1" hangingPunct="1">
              <a:lnSpc>
                <a:spcPct val="150000"/>
              </a:lnSpc>
              <a:spcBef>
                <a:spcPts val="0"/>
              </a:spcBef>
              <a:buNone/>
            </a:pPr>
            <a:r>
              <a:rPr lang="zh-CN" altLang="en-US" sz="3000" dirty="0"/>
              <a:t>    在参数“</a:t>
            </a:r>
            <a:r>
              <a:rPr lang="en-US" altLang="zh-CN" sz="3000" dirty="0"/>
              <a:t>Type”</a:t>
            </a:r>
            <a:r>
              <a:rPr lang="zh-CN" altLang="en-US" sz="3000" dirty="0"/>
              <a:t>后面使用“</a:t>
            </a:r>
            <a:r>
              <a:rPr lang="en-US" altLang="zh-CN" sz="3000" dirty="0"/>
              <a:t>extends”</a:t>
            </a:r>
            <a:r>
              <a:rPr lang="zh-CN" altLang="en-US" sz="3000" dirty="0"/>
              <a:t>关键字并加上类名或接口名，表明参数所代表的类型必须是该类的子类或者实现了该接口</a:t>
            </a:r>
          </a:p>
          <a:p>
            <a:pPr marL="457200" lvl="1" indent="0" eaLnBrk="1" hangingPunct="1">
              <a:lnSpc>
                <a:spcPct val="150000"/>
              </a:lnSpc>
              <a:spcBef>
                <a:spcPts val="0"/>
              </a:spcBef>
              <a:buNone/>
            </a:pPr>
            <a:r>
              <a:rPr lang="zh-CN" altLang="en-US" sz="3000" dirty="0"/>
              <a:t>注意，对于实现了某接口的有限制泛型，也是使用</a:t>
            </a:r>
            <a:r>
              <a:rPr lang="en-US" altLang="zh-CN" sz="3000" dirty="0"/>
              <a:t>extends</a:t>
            </a:r>
            <a:r>
              <a:rPr lang="zh-CN" altLang="en-US" sz="3000" dirty="0"/>
              <a:t>关键字，而不是</a:t>
            </a:r>
            <a:r>
              <a:rPr lang="en-US" altLang="zh-CN" sz="3000" dirty="0"/>
              <a:t>implements</a:t>
            </a:r>
            <a:r>
              <a:rPr lang="zh-CN" altLang="en-US" sz="3000" dirty="0"/>
              <a:t>关键字</a:t>
            </a:r>
          </a:p>
        </p:txBody>
      </p:sp>
      <p:sp>
        <p:nvSpPr>
          <p:cNvPr id="2" name="灯片编号占位符 1"/>
          <p:cNvSpPr>
            <a:spLocks noGrp="1"/>
          </p:cNvSpPr>
          <p:nvPr>
            <p:ph type="sldNum" sz="quarter" idx="12"/>
          </p:nvPr>
        </p:nvSpPr>
        <p:spPr/>
        <p:txBody>
          <a:bodyPr/>
          <a:lstStyle/>
          <a:p>
            <a:pPr>
              <a:defRPr/>
            </a:pPr>
            <a:fld id="{727AE804-9EF7-4CC1-80A4-17F1A4601B4C}" type="slidenum">
              <a:rPr lang="en-US" altLang="zh-CN" smtClean="0"/>
              <a:pPr>
                <a:defRPr/>
              </a:pPr>
              <a:t>53</a:t>
            </a:fld>
            <a:endParaRPr lang="en-US" altLang="zh-CN"/>
          </a:p>
        </p:txBody>
      </p:sp>
      <p:sp>
        <p:nvSpPr>
          <p:cNvPr id="4" name="TextBox 3">
            <a:extLst>
              <a:ext uri="{FF2B5EF4-FFF2-40B4-BE49-F238E27FC236}">
                <a16:creationId xmlns:a16="http://schemas.microsoft.com/office/drawing/2014/main" id="{04B66024-8974-EEBF-A029-0A91996C1E53}"/>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E94D01CA-E686-646C-DA6C-C4ED4D7502F0}"/>
              </a:ext>
            </a:extLst>
          </p:cNvPr>
          <p:cNvSpPr txBox="1"/>
          <p:nvPr>
            <p:custDataLst>
              <p:tags r:id="rId2"/>
            </p:custDataLst>
          </p:nvPr>
        </p:nvSpPr>
        <p:spPr>
          <a:xfrm>
            <a:off x="407368" y="1015213"/>
            <a:ext cx="237626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有限制的泛型</a:t>
            </a:r>
          </a:p>
        </p:txBody>
      </p:sp>
    </p:spTree>
    <p:extLst>
      <p:ext uri="{BB962C8B-B14F-4D97-AF65-F5344CB8AC3E}">
        <p14:creationId xmlns:p14="http://schemas.microsoft.com/office/powerpoint/2010/main" val="3373455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Rectangle 3"/>
          <p:cNvSpPr>
            <a:spLocks noGrp="1" noChangeArrowheads="1"/>
          </p:cNvSpPr>
          <p:nvPr>
            <p:ph idx="4294967295"/>
          </p:nvPr>
        </p:nvSpPr>
        <p:spPr>
          <a:xfrm>
            <a:off x="623392" y="1628800"/>
            <a:ext cx="11247040" cy="5043502"/>
          </a:xfrm>
          <a:prstGeom prst="rect">
            <a:avLst/>
          </a:prstGeom>
        </p:spPr>
        <p:txBody>
          <a:bodyPr lIns="92075" tIns="46038" rIns="92075" bIns="46038">
            <a:noAutofit/>
          </a:bodyPr>
          <a:lstStyle/>
          <a:p>
            <a:pPr>
              <a:lnSpc>
                <a:spcPct val="80000"/>
              </a:lnSpc>
              <a:buFont typeface="Georgia" panose="02040502050405020303" pitchFamily="18" charset="0"/>
              <a:buNone/>
            </a:pPr>
            <a:r>
              <a:rPr lang="en-US" altLang="zh-CN" sz="2400" dirty="0"/>
              <a:t>class GeneralType5 &lt;Type5 extends Number&gt; {</a:t>
            </a:r>
          </a:p>
          <a:p>
            <a:pPr>
              <a:lnSpc>
                <a:spcPct val="80000"/>
              </a:lnSpc>
              <a:buFont typeface="Georgia" panose="02040502050405020303" pitchFamily="18" charset="0"/>
              <a:buNone/>
            </a:pPr>
            <a:r>
              <a:rPr lang="en-US" altLang="zh-CN" sz="2400" dirty="0"/>
              <a:t>    Type5 object;</a:t>
            </a:r>
          </a:p>
          <a:p>
            <a:pPr>
              <a:lnSpc>
                <a:spcPct val="80000"/>
              </a:lnSpc>
              <a:buFont typeface="Georgia" panose="02040502050405020303" pitchFamily="18" charset="0"/>
              <a:buNone/>
            </a:pPr>
            <a:r>
              <a:rPr lang="en-US" altLang="zh-CN" sz="2400" dirty="0"/>
              <a:t>    public GeneralType5(Type5 object) {</a:t>
            </a:r>
          </a:p>
          <a:p>
            <a:pPr>
              <a:lnSpc>
                <a:spcPct val="80000"/>
              </a:lnSpc>
              <a:buFont typeface="Georgia" panose="02040502050405020303" pitchFamily="18" charset="0"/>
              <a:buNone/>
            </a:pPr>
            <a:r>
              <a:rPr lang="en-US" altLang="zh-CN" sz="2400" dirty="0"/>
              <a:t>        </a:t>
            </a:r>
            <a:r>
              <a:rPr lang="en-US" altLang="zh-CN" sz="2400" dirty="0" err="1"/>
              <a:t>this.object</a:t>
            </a:r>
            <a:r>
              <a:rPr lang="en-US" altLang="zh-CN" sz="2400" dirty="0"/>
              <a:t> = object;</a:t>
            </a:r>
          </a:p>
          <a:p>
            <a:pPr>
              <a:lnSpc>
                <a:spcPct val="80000"/>
              </a:lnSpc>
              <a:buFont typeface="Georgia" panose="02040502050405020303" pitchFamily="18" charset="0"/>
              <a:buNone/>
            </a:pPr>
            <a:r>
              <a:rPr lang="en-US" altLang="zh-CN" sz="2400" dirty="0"/>
              <a:t>    }</a:t>
            </a:r>
          </a:p>
          <a:p>
            <a:pPr>
              <a:lnSpc>
                <a:spcPct val="80000"/>
              </a:lnSpc>
              <a:buFont typeface="Georgia" panose="02040502050405020303" pitchFamily="18" charset="0"/>
              <a:buNone/>
            </a:pPr>
            <a:r>
              <a:rPr lang="en-US" altLang="zh-CN" sz="2400" dirty="0"/>
              <a:t>    public Type5 </a:t>
            </a:r>
            <a:r>
              <a:rPr lang="en-US" altLang="zh-CN" sz="2400" dirty="0" err="1"/>
              <a:t>getObj</a:t>
            </a:r>
            <a:r>
              <a:rPr lang="en-US" altLang="zh-CN" sz="2400" dirty="0"/>
              <a:t>() {     return object;    }</a:t>
            </a:r>
          </a:p>
          <a:p>
            <a:pPr>
              <a:lnSpc>
                <a:spcPct val="80000"/>
              </a:lnSpc>
              <a:buFont typeface="Georgia" panose="02040502050405020303" pitchFamily="18" charset="0"/>
              <a:buNone/>
            </a:pPr>
            <a:r>
              <a:rPr lang="en-US" altLang="zh-CN" sz="2400" dirty="0"/>
              <a:t>}</a:t>
            </a:r>
          </a:p>
          <a:p>
            <a:pPr>
              <a:lnSpc>
                <a:spcPct val="80000"/>
              </a:lnSpc>
              <a:buFont typeface="Georgia" panose="02040502050405020303" pitchFamily="18" charset="0"/>
              <a:buNone/>
            </a:pPr>
            <a:r>
              <a:rPr lang="en-US" altLang="zh-CN" sz="2400" dirty="0"/>
              <a:t>public class GenericsTester5 {</a:t>
            </a:r>
          </a:p>
          <a:p>
            <a:pPr>
              <a:lnSpc>
                <a:spcPct val="80000"/>
              </a:lnSpc>
              <a:buFont typeface="Georgia" panose="02040502050405020303" pitchFamily="18" charset="0"/>
              <a:buNone/>
            </a:pPr>
            <a:r>
              <a:rPr lang="en-US" altLang="zh-CN" sz="2400" dirty="0"/>
              <a:t>    public static void main(String[] </a:t>
            </a:r>
            <a:r>
              <a:rPr lang="en-US" altLang="zh-CN" sz="2400" dirty="0" err="1"/>
              <a:t>args</a:t>
            </a:r>
            <a:r>
              <a:rPr lang="en-US" altLang="zh-CN" sz="2400" dirty="0"/>
              <a:t>){</a:t>
            </a:r>
          </a:p>
          <a:p>
            <a:pPr>
              <a:lnSpc>
                <a:spcPct val="80000"/>
              </a:lnSpc>
              <a:buFont typeface="Georgia" panose="02040502050405020303" pitchFamily="18" charset="0"/>
              <a:buNone/>
            </a:pPr>
            <a:r>
              <a:rPr lang="en-US" altLang="zh-CN" sz="2400" dirty="0"/>
              <a:t>        GeneralType5&lt;Integer&gt; </a:t>
            </a:r>
            <a:r>
              <a:rPr lang="en-US" altLang="zh-CN" sz="2400" dirty="0" err="1"/>
              <a:t>i</a:t>
            </a:r>
            <a:r>
              <a:rPr lang="en-US" altLang="zh-CN" sz="2400" dirty="0"/>
              <a:t> = new GeneralType5&lt;&gt;(2);</a:t>
            </a:r>
          </a:p>
          <a:p>
            <a:pPr>
              <a:lnSpc>
                <a:spcPct val="80000"/>
              </a:lnSpc>
              <a:buFont typeface="Georgia" panose="02040502050405020303" pitchFamily="18" charset="0"/>
              <a:buNone/>
            </a:pPr>
            <a:r>
              <a:rPr lang="en-US" altLang="zh-CN" sz="2400" dirty="0"/>
              <a:t>        // GeneralType5&lt;String&gt; s = new GeneralType5&lt;&gt;("hello"); // </a:t>
            </a:r>
            <a:r>
              <a:rPr lang="zh-CN" altLang="en-US" sz="2400" dirty="0"/>
              <a:t>非法，</a:t>
            </a:r>
            <a:r>
              <a:rPr lang="en-US" altLang="zh-CN" sz="2400" dirty="0"/>
              <a:t>Type</a:t>
            </a:r>
            <a:r>
              <a:rPr lang="zh-CN" altLang="en-US" sz="2400" dirty="0"/>
              <a:t>只能是</a:t>
            </a:r>
            <a:r>
              <a:rPr lang="en-US" altLang="zh-CN" sz="2400" dirty="0"/>
              <a:t>Number</a:t>
            </a:r>
            <a:r>
              <a:rPr lang="zh-CN" altLang="en-US" sz="2400" dirty="0"/>
              <a:t>或</a:t>
            </a:r>
            <a:r>
              <a:rPr lang="en-US" altLang="zh-CN" sz="2400" dirty="0"/>
              <a:t>Number</a:t>
            </a:r>
            <a:r>
              <a:rPr lang="zh-CN" altLang="en-US" sz="2400" dirty="0"/>
              <a:t>的子类</a:t>
            </a:r>
          </a:p>
          <a:p>
            <a:pPr>
              <a:lnSpc>
                <a:spcPct val="80000"/>
              </a:lnSpc>
              <a:buFont typeface="Georgia" panose="02040502050405020303" pitchFamily="18" charset="0"/>
              <a:buNone/>
            </a:pPr>
            <a:r>
              <a:rPr lang="zh-CN" altLang="en-US" sz="2400" dirty="0"/>
              <a:t>    </a:t>
            </a:r>
            <a:r>
              <a:rPr lang="en-US" altLang="zh-CN" sz="2400" dirty="0"/>
              <a:t>}</a:t>
            </a:r>
          </a:p>
          <a:p>
            <a:pPr>
              <a:lnSpc>
                <a:spcPct val="80000"/>
              </a:lnSpc>
              <a:buFont typeface="Georgia" panose="02040502050405020303" pitchFamily="18" charset="0"/>
              <a:buNone/>
            </a:pPr>
            <a:r>
              <a:rPr lang="en-US" altLang="zh-CN" sz="2400" dirty="0"/>
              <a:t>}</a:t>
            </a:r>
          </a:p>
        </p:txBody>
      </p:sp>
      <p:sp>
        <p:nvSpPr>
          <p:cNvPr id="3" name="TextBox 3">
            <a:extLst>
              <a:ext uri="{FF2B5EF4-FFF2-40B4-BE49-F238E27FC236}">
                <a16:creationId xmlns:a16="http://schemas.microsoft.com/office/drawing/2014/main" id="{EA413EA9-98D8-AB04-4886-F30A338A1BEF}"/>
              </a:ext>
            </a:extLst>
          </p:cNvPr>
          <p:cNvSpPr txBox="1"/>
          <p:nvPr>
            <p:custDataLst>
              <p:tags r:id="rId1"/>
            </p:custDataLst>
          </p:nvPr>
        </p:nvSpPr>
        <p:spPr>
          <a:xfrm>
            <a:off x="4367808" y="113689"/>
            <a:ext cx="230425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3.4  </a:t>
            </a:r>
            <a:r>
              <a:rPr lang="zh-CN" altLang="en-US" sz="3200" dirty="0">
                <a:ln w="11430">
                  <a:noFill/>
                </a:ln>
                <a:solidFill>
                  <a:srgbClr val="255EAB"/>
                </a:solidFill>
                <a:latin typeface="楷体" panose="02010609060101010101" pitchFamily="49" charset="-122"/>
                <a:ea typeface="楷体" panose="02010609060101010101" pitchFamily="49" charset="-122"/>
              </a:rPr>
              <a:t>泛型</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3157C67F-47EA-748D-E8A0-3C8B8FDEE9DC}"/>
              </a:ext>
            </a:extLst>
          </p:cNvPr>
          <p:cNvSpPr txBox="1"/>
          <p:nvPr>
            <p:custDataLst>
              <p:tags r:id="rId2"/>
            </p:custDataLst>
          </p:nvPr>
        </p:nvSpPr>
        <p:spPr>
          <a:xfrm>
            <a:off x="407368" y="1015213"/>
            <a:ext cx="237626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有限制的泛型</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4" name="Rectangle 3"/>
          <p:cNvSpPr>
            <a:spLocks noGrp="1" noChangeArrowheads="1"/>
          </p:cNvSpPr>
          <p:nvPr>
            <p:ph idx="4294967295"/>
          </p:nvPr>
        </p:nvSpPr>
        <p:spPr>
          <a:xfrm>
            <a:off x="623392" y="1700808"/>
            <a:ext cx="11089232" cy="4392488"/>
          </a:xfrm>
          <a:prstGeom prst="rect">
            <a:avLst/>
          </a:prstGeom>
        </p:spPr>
        <p:txBody>
          <a:bodyPr lIns="92075" tIns="46038" rIns="92075" bIns="46038"/>
          <a:lstStyle/>
          <a:p>
            <a:pPr eaLnBrk="1" hangingPunct="1">
              <a:lnSpc>
                <a:spcPct val="150000"/>
              </a:lnSpc>
              <a:spcBef>
                <a:spcPts val="0"/>
              </a:spcBef>
              <a:buFont typeface="Wingdings" panose="05000000000000000000" pitchFamily="2" charset="2"/>
              <a:buChar char="Ø"/>
            </a:pPr>
            <a:r>
              <a:rPr lang="zh-CN" altLang="en-US" sz="3000" dirty="0"/>
              <a:t>面向对象的程序用软件对象来模仿现实世界的对象：</a:t>
            </a:r>
          </a:p>
          <a:p>
            <a:pPr lvl="1" eaLnBrk="1" hangingPunct="1">
              <a:lnSpc>
                <a:spcPct val="150000"/>
              </a:lnSpc>
              <a:spcBef>
                <a:spcPts val="0"/>
              </a:spcBef>
            </a:pPr>
            <a:r>
              <a:rPr lang="zh-CN" altLang="en-US" sz="3000" dirty="0"/>
              <a:t>现实世界中，大多数对象由更小的对象组成；</a:t>
            </a:r>
          </a:p>
          <a:p>
            <a:pPr lvl="1" eaLnBrk="1" hangingPunct="1">
              <a:lnSpc>
                <a:spcPct val="150000"/>
              </a:lnSpc>
              <a:spcBef>
                <a:spcPts val="0"/>
              </a:spcBef>
            </a:pPr>
            <a:r>
              <a:rPr lang="zh-CN" altLang="en-US" sz="3000" dirty="0"/>
              <a:t>与现实世界的对象一样，软件中的对象也常常是由更小的对象组成。</a:t>
            </a:r>
          </a:p>
          <a:p>
            <a:pPr eaLnBrk="1" hangingPunct="1">
              <a:lnSpc>
                <a:spcPct val="150000"/>
              </a:lnSpc>
              <a:spcBef>
                <a:spcPts val="0"/>
              </a:spcBef>
              <a:buFont typeface="Wingdings" panose="05000000000000000000" pitchFamily="2" charset="2"/>
              <a:buChar char="Ø"/>
            </a:pPr>
            <a:r>
              <a:rPr lang="en-US" altLang="zh-CN" sz="3000" dirty="0"/>
              <a:t>Java</a:t>
            </a:r>
            <a:r>
              <a:rPr lang="zh-CN" altLang="en-US" sz="3000" dirty="0"/>
              <a:t>的类中可以有其他类的对象作为成员，这便是类的组合。</a:t>
            </a:r>
            <a:endParaRPr lang="en-US" altLang="zh-CN" sz="3000" dirty="0"/>
          </a:p>
          <a:p>
            <a:pPr eaLnBrk="1" hangingPunct="1">
              <a:lnSpc>
                <a:spcPct val="150000"/>
              </a:lnSpc>
              <a:spcBef>
                <a:spcPts val="0"/>
              </a:spcBef>
              <a:buFont typeface="Wingdings" panose="05000000000000000000" pitchFamily="2" charset="2"/>
              <a:buChar char="Ø"/>
            </a:pPr>
            <a:r>
              <a:rPr lang="zh-CN" altLang="en-US" sz="3000" dirty="0"/>
              <a:t>组合也是一种重用机制，可以使用“有一个</a:t>
            </a:r>
            <a:r>
              <a:rPr lang="en-US" altLang="zh-CN" sz="3000" dirty="0"/>
              <a:t>”</a:t>
            </a:r>
            <a:r>
              <a:rPr lang="zh-CN" altLang="en-US" sz="3000" dirty="0"/>
              <a:t> 来描述这种关系。</a:t>
            </a:r>
          </a:p>
          <a:p>
            <a:pPr eaLnBrk="1" hangingPunct="1"/>
            <a:endParaRPr lang="zh-CN" altLang="en-US" dirty="0"/>
          </a:p>
        </p:txBody>
      </p:sp>
      <p:sp>
        <p:nvSpPr>
          <p:cNvPr id="16384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9634FC1-F0F5-49A4-B262-023B39DD6011}" type="slidenum">
              <a:rPr kumimoji="1" lang="en-US" altLang="zh-CN" sz="1800" smtClean="0">
                <a:solidFill>
                  <a:schemeClr val="bg1"/>
                </a:solidFill>
                <a:latin typeface="Times New Roman" panose="02020603050405020304" pitchFamily="18" charset="0"/>
              </a:rPr>
              <a:pPr>
                <a:spcBef>
                  <a:spcPct val="0"/>
                </a:spcBef>
                <a:buClrTx/>
                <a:buFontTx/>
                <a:buNone/>
              </a:pPr>
              <a:t>55</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4B45E248-430D-A9BC-0DF8-7930C4DCE54A}"/>
              </a:ext>
            </a:extLst>
          </p:cNvPr>
          <p:cNvSpPr txBox="1"/>
          <p:nvPr>
            <p:custDataLst>
              <p:tags r:id="rId1"/>
            </p:custDataLst>
          </p:nvPr>
        </p:nvSpPr>
        <p:spPr>
          <a:xfrm>
            <a:off x="407368" y="1015213"/>
            <a:ext cx="201622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组合的意义</a:t>
            </a:r>
          </a:p>
        </p:txBody>
      </p:sp>
      <p:sp>
        <p:nvSpPr>
          <p:cNvPr id="3" name="TextBox 3">
            <a:extLst>
              <a:ext uri="{FF2B5EF4-FFF2-40B4-BE49-F238E27FC236}">
                <a16:creationId xmlns:a16="http://schemas.microsoft.com/office/drawing/2014/main" id="{078F5E9F-A10E-AD51-6DFB-CBE9767D7618}"/>
              </a:ext>
            </a:extLst>
          </p:cNvPr>
          <p:cNvSpPr txBox="1"/>
          <p:nvPr>
            <p:custDataLst>
              <p:tags r:id="rId2"/>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2" name="Rectangle 1030"/>
          <p:cNvSpPr>
            <a:spLocks noGrp="1" noChangeArrowheads="1"/>
          </p:cNvSpPr>
          <p:nvPr>
            <p:ph idx="4294967295"/>
          </p:nvPr>
        </p:nvSpPr>
        <p:spPr>
          <a:xfrm>
            <a:off x="609600" y="1709731"/>
            <a:ext cx="11031016" cy="4133056"/>
          </a:xfrm>
          <a:prstGeom prst="rect">
            <a:avLst/>
          </a:prstGeom>
        </p:spPr>
        <p:txBody>
          <a:bodyPr lIns="92075" tIns="46038" rIns="92075" bIns="46038"/>
          <a:lstStyle/>
          <a:p>
            <a:pPr marL="0" indent="0" eaLnBrk="1" hangingPunct="1">
              <a:lnSpc>
                <a:spcPct val="90000"/>
              </a:lnSpc>
              <a:buNone/>
            </a:pPr>
            <a:r>
              <a:rPr lang="zh-CN" altLang="en-US" sz="2400" dirty="0"/>
              <a:t>将已存在类的对象放到新类中即可</a:t>
            </a:r>
          </a:p>
          <a:p>
            <a:pPr marL="0" indent="0" eaLnBrk="1" hangingPunct="1">
              <a:lnSpc>
                <a:spcPct val="90000"/>
              </a:lnSpc>
              <a:buNone/>
            </a:pPr>
            <a:r>
              <a:rPr lang="zh-CN" altLang="en-US" sz="2400" dirty="0"/>
              <a:t>例如，可以说“厨房（</a:t>
            </a:r>
            <a:r>
              <a:rPr lang="en-US" altLang="zh-CN" sz="2400" dirty="0"/>
              <a:t> kitchen</a:t>
            </a:r>
            <a:r>
              <a:rPr lang="zh-CN" altLang="en-US" sz="2400" dirty="0"/>
              <a:t>）里有一个炉子（</a:t>
            </a:r>
            <a:r>
              <a:rPr lang="en-US" altLang="zh-CN" sz="2400" dirty="0"/>
              <a:t>cooker</a:t>
            </a:r>
            <a:r>
              <a:rPr lang="zh-CN" altLang="en-US" sz="2400" dirty="0"/>
              <a:t>）和一个冰箱（</a:t>
            </a:r>
            <a:r>
              <a:rPr lang="en-US" altLang="zh-CN" sz="2400" dirty="0"/>
              <a:t>refrigerator</a:t>
            </a:r>
            <a:r>
              <a:rPr lang="zh-CN" altLang="en-US" sz="2400" dirty="0"/>
              <a:t>）</a:t>
            </a:r>
            <a:r>
              <a:rPr lang="en-US" altLang="zh-CN" sz="2400" dirty="0"/>
              <a:t>”。</a:t>
            </a:r>
            <a:r>
              <a:rPr lang="zh-CN" altLang="en-US" sz="2400" dirty="0"/>
              <a:t>所以，可简单的把对象</a:t>
            </a:r>
            <a:r>
              <a:rPr lang="en-US" altLang="zh-CN" sz="2400" dirty="0" err="1"/>
              <a:t>myCooker</a:t>
            </a:r>
            <a:r>
              <a:rPr lang="zh-CN" altLang="en-US" sz="2400" dirty="0"/>
              <a:t>和</a:t>
            </a:r>
            <a:r>
              <a:rPr lang="en-US" altLang="zh-CN" sz="2400" dirty="0" err="1"/>
              <a:t>myRefrigerator</a:t>
            </a:r>
            <a:r>
              <a:rPr lang="zh-CN" altLang="en-US" sz="2400" dirty="0"/>
              <a:t>放在类</a:t>
            </a:r>
            <a:r>
              <a:rPr lang="en-US" altLang="zh-CN" sz="2400" dirty="0"/>
              <a:t>Kitchen</a:t>
            </a:r>
            <a:r>
              <a:rPr lang="zh-CN" altLang="en-US" sz="2400" dirty="0"/>
              <a:t>中：</a:t>
            </a:r>
          </a:p>
          <a:p>
            <a:pPr marL="457200" lvl="1" indent="0" eaLnBrk="1" hangingPunct="1">
              <a:lnSpc>
                <a:spcPct val="90000"/>
              </a:lnSpc>
              <a:spcBef>
                <a:spcPct val="45000"/>
              </a:spcBef>
              <a:buNone/>
            </a:pPr>
            <a:r>
              <a:rPr lang="en-US" altLang="zh-CN" sz="2400" dirty="0"/>
              <a:t>class Cooker{   // </a:t>
            </a:r>
            <a:r>
              <a:rPr lang="zh-CN" altLang="en-US" sz="2400" dirty="0"/>
              <a:t>类的语句  }</a:t>
            </a:r>
          </a:p>
          <a:p>
            <a:pPr marL="457200" lvl="1" indent="0" eaLnBrk="1" hangingPunct="1">
              <a:lnSpc>
                <a:spcPct val="90000"/>
              </a:lnSpc>
              <a:buNone/>
            </a:pPr>
            <a:r>
              <a:rPr lang="en-US" altLang="zh-CN" sz="2400" dirty="0"/>
              <a:t>class Refrigerator{   // </a:t>
            </a:r>
            <a:r>
              <a:rPr lang="zh-CN" altLang="en-US" sz="2400" dirty="0"/>
              <a:t>类的语句}</a:t>
            </a:r>
          </a:p>
          <a:p>
            <a:pPr marL="457200" lvl="1" indent="0" eaLnBrk="1" hangingPunct="1">
              <a:lnSpc>
                <a:spcPct val="90000"/>
              </a:lnSpc>
              <a:buNone/>
            </a:pPr>
            <a:r>
              <a:rPr lang="en-US" altLang="zh-CN" sz="2400" dirty="0"/>
              <a:t>class Kitchen{   </a:t>
            </a:r>
          </a:p>
          <a:p>
            <a:pPr marL="457200" lvl="1" indent="0" eaLnBrk="1" hangingPunct="1">
              <a:lnSpc>
                <a:spcPct val="90000"/>
              </a:lnSpc>
              <a:buNone/>
            </a:pPr>
            <a:r>
              <a:rPr lang="en-US" altLang="zh-CN" sz="2400" dirty="0"/>
              <a:t>	Cooker </a:t>
            </a:r>
            <a:r>
              <a:rPr lang="en-US" altLang="zh-CN" sz="2400" b="1" dirty="0" err="1">
                <a:solidFill>
                  <a:srgbClr val="002EC0"/>
                </a:solidFill>
              </a:rPr>
              <a:t>myCooker</a:t>
            </a:r>
            <a:r>
              <a:rPr lang="en-US" altLang="zh-CN" sz="2400" dirty="0"/>
              <a:t>;</a:t>
            </a:r>
          </a:p>
          <a:p>
            <a:pPr marL="457200" lvl="1" indent="0" eaLnBrk="1" hangingPunct="1">
              <a:lnSpc>
                <a:spcPct val="90000"/>
              </a:lnSpc>
              <a:buNone/>
            </a:pPr>
            <a:r>
              <a:rPr lang="en-US" altLang="zh-CN" sz="2400" dirty="0"/>
              <a:t>    Refrigerator </a:t>
            </a:r>
            <a:r>
              <a:rPr lang="en-US" altLang="zh-CN" sz="2400" b="1" dirty="0" err="1">
                <a:solidFill>
                  <a:srgbClr val="002EC0"/>
                </a:solidFill>
              </a:rPr>
              <a:t>myRefrigerator</a:t>
            </a:r>
            <a:r>
              <a:rPr lang="en-US" altLang="zh-CN" sz="2400" dirty="0"/>
              <a:t>;</a:t>
            </a:r>
          </a:p>
          <a:p>
            <a:pPr lvl="1" eaLnBrk="1" hangingPunct="1">
              <a:lnSpc>
                <a:spcPct val="90000"/>
              </a:lnSpc>
              <a:buFont typeface="Georgia" panose="02040502050405020303" pitchFamily="18" charset="0"/>
              <a:buNone/>
            </a:pPr>
            <a:r>
              <a:rPr lang="zh-CN" altLang="en-US" sz="2400" dirty="0"/>
              <a:t>}</a:t>
            </a:r>
          </a:p>
        </p:txBody>
      </p:sp>
      <p:sp>
        <p:nvSpPr>
          <p:cNvPr id="16589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7989C5D-8525-4B82-A52E-0E6A382E1075}" type="slidenum">
              <a:rPr kumimoji="1" lang="en-US" altLang="zh-CN" sz="1800" smtClean="0">
                <a:solidFill>
                  <a:schemeClr val="bg1"/>
                </a:solidFill>
                <a:latin typeface="Times New Roman" panose="02020603050405020304" pitchFamily="18" charset="0"/>
              </a:rPr>
              <a:pPr>
                <a:spcBef>
                  <a:spcPct val="0"/>
                </a:spcBef>
                <a:buClrTx/>
                <a:buFontTx/>
                <a:buNone/>
              </a:pPr>
              <a:t>56</a:t>
            </a:fld>
            <a:endParaRPr kumimoji="1" lang="en-US" altLang="zh-CN" sz="1800">
              <a:solidFill>
                <a:schemeClr val="bg1"/>
              </a:solidFill>
              <a:latin typeface="Times New Roman" panose="02020603050405020304" pitchFamily="18" charset="0"/>
            </a:endParaRPr>
          </a:p>
        </p:txBody>
      </p:sp>
      <p:sp>
        <p:nvSpPr>
          <p:cNvPr id="2" name="文本框 1">
            <a:extLst>
              <a:ext uri="{FF2B5EF4-FFF2-40B4-BE49-F238E27FC236}">
                <a16:creationId xmlns:a16="http://schemas.microsoft.com/office/drawing/2014/main" id="{82F8C846-6380-9A07-8E4F-76E599ED800B}"/>
              </a:ext>
            </a:extLst>
          </p:cNvPr>
          <p:cNvSpPr txBox="1"/>
          <p:nvPr>
            <p:custDataLst>
              <p:tags r:id="rId1"/>
            </p:custDataLst>
          </p:nvPr>
        </p:nvSpPr>
        <p:spPr>
          <a:xfrm>
            <a:off x="407368" y="1015213"/>
            <a:ext cx="208823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组合的语法</a:t>
            </a:r>
          </a:p>
        </p:txBody>
      </p:sp>
      <p:sp>
        <p:nvSpPr>
          <p:cNvPr id="3" name="TextBox 3">
            <a:extLst>
              <a:ext uri="{FF2B5EF4-FFF2-40B4-BE49-F238E27FC236}">
                <a16:creationId xmlns:a16="http://schemas.microsoft.com/office/drawing/2014/main" id="{625DBD4A-E785-38F3-6863-A0EC95E90B9B}"/>
              </a:ext>
            </a:extLst>
          </p:cNvPr>
          <p:cNvSpPr txBox="1"/>
          <p:nvPr>
            <p:custDataLst>
              <p:tags r:id="rId2"/>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1030"/>
          <p:cNvSpPr>
            <a:spLocks noGrp="1" noChangeArrowheads="1"/>
          </p:cNvSpPr>
          <p:nvPr>
            <p:ph idx="4294967295"/>
          </p:nvPr>
        </p:nvSpPr>
        <p:spPr>
          <a:xfrm>
            <a:off x="609600" y="1600201"/>
            <a:ext cx="10972800" cy="3989040"/>
          </a:xfrm>
          <a:prstGeom prst="rect">
            <a:avLst/>
          </a:prstGeom>
        </p:spPr>
        <p:txBody>
          <a:bodyPr lIns="92075" tIns="46038" rIns="92075" bIns="46038"/>
          <a:lstStyle/>
          <a:p>
            <a:pPr marL="0" indent="0" eaLnBrk="1" hangingPunct="1">
              <a:buNone/>
            </a:pPr>
            <a:r>
              <a:rPr lang="zh-CN" altLang="en-US" sz="2500" dirty="0"/>
              <a:t>一条线段包含两个端点</a:t>
            </a:r>
          </a:p>
          <a:p>
            <a:pPr lvl="1" eaLnBrk="1" hangingPunct="1">
              <a:spcBef>
                <a:spcPct val="50000"/>
              </a:spcBef>
              <a:buFont typeface="Georgia" panose="02040502050405020303" pitchFamily="18" charset="0"/>
              <a:buNone/>
            </a:pPr>
            <a:r>
              <a:rPr lang="en-US" altLang="zh-CN" sz="2400" dirty="0"/>
              <a:t>public class Point   //</a:t>
            </a:r>
            <a:r>
              <a:rPr lang="zh-CN" altLang="en-US" sz="2400" dirty="0"/>
              <a:t>点类 </a:t>
            </a:r>
          </a:p>
          <a:p>
            <a:pPr lvl="1" eaLnBrk="1" hangingPunct="1">
              <a:buFont typeface="Georgia" panose="02040502050405020303" pitchFamily="18" charset="0"/>
              <a:buNone/>
            </a:pPr>
            <a:r>
              <a:rPr lang="en-US" altLang="zh-CN" sz="2400" dirty="0"/>
              <a:t>{</a:t>
            </a:r>
          </a:p>
          <a:p>
            <a:pPr lvl="1" eaLnBrk="1" hangingPunct="1">
              <a:buFont typeface="Georgia" panose="02040502050405020303" pitchFamily="18" charset="0"/>
              <a:buNone/>
            </a:pPr>
            <a:r>
              <a:rPr lang="en-US" altLang="zh-CN" sz="2400" dirty="0"/>
              <a:t>   private int x, y;  //coordinate</a:t>
            </a:r>
          </a:p>
          <a:p>
            <a:pPr lvl="1" eaLnBrk="1" hangingPunct="1">
              <a:buFont typeface="Georgia" panose="02040502050405020303" pitchFamily="18" charset="0"/>
              <a:buNone/>
            </a:pPr>
            <a:r>
              <a:rPr lang="en-US" altLang="zh-CN" sz="2400" dirty="0"/>
              <a:t>   public </a:t>
            </a:r>
            <a:r>
              <a:rPr lang="en-US" altLang="zh-CN" sz="2400" dirty="0">
                <a:solidFill>
                  <a:schemeClr val="tx2"/>
                </a:solidFill>
              </a:rPr>
              <a:t>Point(int x, int y)</a:t>
            </a:r>
            <a:r>
              <a:rPr lang="en-US" altLang="zh-CN" sz="2400" dirty="0"/>
              <a:t> { </a:t>
            </a:r>
            <a:r>
              <a:rPr lang="en-US" altLang="zh-CN" sz="2400" dirty="0" err="1"/>
              <a:t>this.x</a:t>
            </a:r>
            <a:r>
              <a:rPr lang="en-US" altLang="zh-CN" sz="2400" dirty="0"/>
              <a:t> = x; </a:t>
            </a:r>
            <a:r>
              <a:rPr lang="en-US" altLang="zh-CN" sz="2400" dirty="0" err="1"/>
              <a:t>this.y</a:t>
            </a:r>
            <a:r>
              <a:rPr lang="en-US" altLang="zh-CN" sz="2400" dirty="0"/>
              <a:t> = y;}</a:t>
            </a:r>
          </a:p>
          <a:p>
            <a:pPr lvl="1" eaLnBrk="1" hangingPunct="1">
              <a:buFont typeface="Georgia" panose="02040502050405020303" pitchFamily="18" charset="0"/>
              <a:buNone/>
            </a:pPr>
            <a:r>
              <a:rPr lang="en-US" altLang="zh-CN" sz="2400" dirty="0"/>
              <a:t>   public int </a:t>
            </a:r>
            <a:r>
              <a:rPr lang="en-US" altLang="zh-CN" sz="2400" dirty="0" err="1">
                <a:solidFill>
                  <a:schemeClr val="tx2"/>
                </a:solidFill>
              </a:rPr>
              <a:t>GetX</a:t>
            </a:r>
            <a:r>
              <a:rPr lang="en-US" altLang="zh-CN" sz="2400" dirty="0">
                <a:solidFill>
                  <a:schemeClr val="tx2"/>
                </a:solidFill>
              </a:rPr>
              <a:t>()</a:t>
            </a:r>
            <a:r>
              <a:rPr lang="en-US" altLang="zh-CN" sz="2400" dirty="0"/>
              <a:t>  {  return x; }</a:t>
            </a:r>
          </a:p>
          <a:p>
            <a:pPr lvl="1" eaLnBrk="1" hangingPunct="1">
              <a:buFont typeface="Georgia" panose="02040502050405020303" pitchFamily="18" charset="0"/>
              <a:buNone/>
            </a:pPr>
            <a:r>
              <a:rPr lang="en-US" altLang="zh-CN" sz="2400" dirty="0"/>
              <a:t>   public int </a:t>
            </a:r>
            <a:r>
              <a:rPr lang="en-US" altLang="zh-CN" sz="2400" dirty="0" err="1">
                <a:solidFill>
                  <a:schemeClr val="tx2"/>
                </a:solidFill>
              </a:rPr>
              <a:t>GetY</a:t>
            </a:r>
            <a:r>
              <a:rPr lang="en-US" altLang="zh-CN" sz="2400" dirty="0">
                <a:solidFill>
                  <a:schemeClr val="tx2"/>
                </a:solidFill>
              </a:rPr>
              <a:t>()</a:t>
            </a:r>
            <a:r>
              <a:rPr lang="en-US" altLang="zh-CN" sz="2400" dirty="0"/>
              <a:t>  {  return y; }</a:t>
            </a:r>
          </a:p>
          <a:p>
            <a:pPr lvl="1" eaLnBrk="1" hangingPunct="1">
              <a:buFont typeface="Georgia" panose="02040502050405020303" pitchFamily="18" charset="0"/>
              <a:buNone/>
            </a:pPr>
            <a:r>
              <a:rPr lang="en-US" altLang="zh-CN" sz="2400" dirty="0"/>
              <a:t>}</a:t>
            </a:r>
            <a:endParaRPr lang="zh-CN" altLang="en-US" dirty="0"/>
          </a:p>
        </p:txBody>
      </p:sp>
      <p:sp>
        <p:nvSpPr>
          <p:cNvPr id="4" name="TextBox 3">
            <a:extLst>
              <a:ext uri="{FF2B5EF4-FFF2-40B4-BE49-F238E27FC236}">
                <a16:creationId xmlns:a16="http://schemas.microsoft.com/office/drawing/2014/main" id="{F02FB0C7-F0F6-21EE-7156-369252B9ED87}"/>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98ED466E-586E-5581-63ED-9351F68378C6}"/>
              </a:ext>
            </a:extLst>
          </p:cNvPr>
          <p:cNvSpPr txBox="1"/>
          <p:nvPr>
            <p:custDataLst>
              <p:tags r:id="rId2"/>
            </p:custDataLst>
          </p:nvPr>
        </p:nvSpPr>
        <p:spPr>
          <a:xfrm>
            <a:off x="407368" y="1015213"/>
            <a:ext cx="208823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组合的语法</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8" name="Rectangle 3"/>
          <p:cNvSpPr>
            <a:spLocks noGrp="1" noChangeArrowheads="1"/>
          </p:cNvSpPr>
          <p:nvPr>
            <p:ph idx="4294967295"/>
          </p:nvPr>
        </p:nvSpPr>
        <p:spPr>
          <a:xfrm>
            <a:off x="609600" y="1600200"/>
            <a:ext cx="10972800" cy="4525963"/>
          </a:xfrm>
          <a:prstGeom prst="rect">
            <a:avLst/>
          </a:prstGeom>
        </p:spPr>
        <p:txBody>
          <a:bodyPr lIns="92075" tIns="46038" rIns="92075" bIns="46038">
            <a:normAutofit lnSpcReduction="10000"/>
          </a:bodyPr>
          <a:lstStyle/>
          <a:p>
            <a:pPr eaLnBrk="1" hangingPunct="1">
              <a:lnSpc>
                <a:spcPct val="90000"/>
              </a:lnSpc>
              <a:buFont typeface="Georgia" panose="02040502050405020303" pitchFamily="18" charset="0"/>
              <a:buNone/>
            </a:pPr>
            <a:r>
              <a:rPr lang="en-US" altLang="zh-CN" sz="2400" dirty="0"/>
              <a:t>class Line   //</a:t>
            </a:r>
            <a:r>
              <a:rPr lang="zh-CN" altLang="en-US" sz="2400" dirty="0"/>
              <a:t>线段类</a:t>
            </a:r>
          </a:p>
          <a:p>
            <a:pPr eaLnBrk="1" hangingPunct="1">
              <a:lnSpc>
                <a:spcPct val="90000"/>
              </a:lnSpc>
              <a:buFont typeface="Georgia" panose="02040502050405020303" pitchFamily="18" charset="0"/>
              <a:buNone/>
            </a:pPr>
            <a:r>
              <a:rPr lang="en-US" altLang="zh-CN" sz="2400" dirty="0"/>
              <a:t>{</a:t>
            </a:r>
          </a:p>
          <a:p>
            <a:pPr eaLnBrk="1" hangingPunct="1">
              <a:lnSpc>
                <a:spcPct val="90000"/>
              </a:lnSpc>
              <a:buFont typeface="Georgia" panose="02040502050405020303" pitchFamily="18" charset="0"/>
              <a:buNone/>
            </a:pPr>
            <a:r>
              <a:rPr lang="en-US" altLang="zh-CN" sz="2400" dirty="0"/>
              <a:t>   </a:t>
            </a:r>
            <a:r>
              <a:rPr lang="en-US" altLang="zh-CN" sz="2400" dirty="0">
                <a:solidFill>
                  <a:srgbClr val="002EC0"/>
                </a:solidFill>
              </a:rPr>
              <a:t>private Point  p1,p2;     </a:t>
            </a:r>
            <a:r>
              <a:rPr lang="en-US" altLang="zh-CN" sz="2400" dirty="0"/>
              <a:t>// </a:t>
            </a:r>
            <a:r>
              <a:rPr lang="zh-CN" altLang="en-US" sz="2400" dirty="0"/>
              <a:t>两端点</a:t>
            </a:r>
          </a:p>
          <a:p>
            <a:pPr eaLnBrk="1" hangingPunct="1">
              <a:lnSpc>
                <a:spcPct val="90000"/>
              </a:lnSpc>
              <a:buFont typeface="Georgia" panose="02040502050405020303" pitchFamily="18" charset="0"/>
              <a:buNone/>
            </a:pPr>
            <a:r>
              <a:rPr lang="en-US" altLang="zh-CN" sz="2400" dirty="0"/>
              <a:t>   </a:t>
            </a:r>
            <a:r>
              <a:rPr lang="en-US" altLang="zh-CN" sz="2400" dirty="0">
                <a:solidFill>
                  <a:schemeClr val="tx2"/>
                </a:solidFill>
              </a:rPr>
              <a:t>Line(Point a, Point b)</a:t>
            </a:r>
            <a:r>
              <a:rPr lang="en-US" altLang="zh-CN" sz="2400" dirty="0"/>
              <a:t> {  </a:t>
            </a:r>
          </a:p>
          <a:p>
            <a:pPr eaLnBrk="1" hangingPunct="1">
              <a:lnSpc>
                <a:spcPct val="90000"/>
              </a:lnSpc>
              <a:buFont typeface="Georgia" panose="02040502050405020303" pitchFamily="18" charset="0"/>
              <a:buNone/>
            </a:pPr>
            <a:r>
              <a:rPr lang="en-US" altLang="zh-CN" sz="2400" dirty="0"/>
              <a:t>      p1 = new Point(</a:t>
            </a:r>
            <a:r>
              <a:rPr lang="en-US" altLang="zh-CN" sz="2400" dirty="0" err="1"/>
              <a:t>a.GetX</a:t>
            </a:r>
            <a:r>
              <a:rPr lang="en-US" altLang="zh-CN" sz="2400" dirty="0"/>
              <a:t>(),</a:t>
            </a:r>
            <a:r>
              <a:rPr lang="en-US" altLang="zh-CN" sz="2400" dirty="0" err="1"/>
              <a:t>a.GetY</a:t>
            </a:r>
            <a:r>
              <a:rPr lang="en-US" altLang="zh-CN" sz="2400" dirty="0"/>
              <a:t>());</a:t>
            </a:r>
          </a:p>
          <a:p>
            <a:pPr eaLnBrk="1" hangingPunct="1">
              <a:lnSpc>
                <a:spcPct val="90000"/>
              </a:lnSpc>
              <a:buFont typeface="Georgia" panose="02040502050405020303" pitchFamily="18" charset="0"/>
              <a:buNone/>
            </a:pPr>
            <a:r>
              <a:rPr lang="en-US" altLang="zh-CN" sz="2400" dirty="0"/>
              <a:t>      p2 = new Point(</a:t>
            </a:r>
            <a:r>
              <a:rPr lang="en-US" altLang="zh-CN" sz="2400" dirty="0" err="1"/>
              <a:t>b.GetX</a:t>
            </a:r>
            <a:r>
              <a:rPr lang="en-US" altLang="zh-CN" sz="2400" dirty="0"/>
              <a:t>(),</a:t>
            </a:r>
            <a:r>
              <a:rPr lang="en-US" altLang="zh-CN" sz="2400" dirty="0" err="1"/>
              <a:t>b.GetY</a:t>
            </a:r>
            <a:r>
              <a:rPr lang="en-US" altLang="zh-CN" sz="2400" dirty="0"/>
              <a:t>());</a:t>
            </a:r>
          </a:p>
          <a:p>
            <a:pPr eaLnBrk="1" hangingPunct="1">
              <a:lnSpc>
                <a:spcPct val="90000"/>
              </a:lnSpc>
              <a:buFont typeface="Georgia" panose="02040502050405020303" pitchFamily="18" charset="0"/>
              <a:buNone/>
            </a:pPr>
            <a:r>
              <a:rPr lang="en-US" altLang="zh-CN" sz="2400" dirty="0"/>
              <a:t>   }</a:t>
            </a:r>
          </a:p>
          <a:p>
            <a:pPr eaLnBrk="1" hangingPunct="1">
              <a:lnSpc>
                <a:spcPct val="90000"/>
              </a:lnSpc>
              <a:buFont typeface="Georgia" panose="02040502050405020303" pitchFamily="18" charset="0"/>
              <a:buNone/>
            </a:pPr>
            <a:r>
              <a:rPr lang="en-US" altLang="zh-CN" sz="2400" dirty="0"/>
              <a:t>    public double </a:t>
            </a:r>
            <a:r>
              <a:rPr lang="en-US" altLang="zh-CN" sz="2400" dirty="0">
                <a:solidFill>
                  <a:schemeClr val="tx2"/>
                </a:solidFill>
              </a:rPr>
              <a:t>Length()</a:t>
            </a:r>
            <a:r>
              <a:rPr lang="en-US" altLang="zh-CN" sz="2400" dirty="0"/>
              <a:t> {  </a:t>
            </a:r>
          </a:p>
          <a:p>
            <a:pPr eaLnBrk="1" hangingPunct="1">
              <a:lnSpc>
                <a:spcPct val="90000"/>
              </a:lnSpc>
              <a:buFont typeface="Georgia" panose="02040502050405020303" pitchFamily="18" charset="0"/>
              <a:buNone/>
            </a:pPr>
            <a:r>
              <a:rPr lang="en-US" altLang="zh-CN" sz="2400" dirty="0"/>
              <a:t>      return </a:t>
            </a:r>
            <a:r>
              <a:rPr lang="en-US" altLang="zh-CN" sz="2400" dirty="0" err="1"/>
              <a:t>Math.sqrt</a:t>
            </a:r>
            <a:r>
              <a:rPr lang="en-US" altLang="zh-CN" sz="2400" dirty="0"/>
              <a:t>(</a:t>
            </a:r>
            <a:r>
              <a:rPr lang="en-US" altLang="zh-CN" sz="2000" dirty="0" err="1">
                <a:solidFill>
                  <a:srgbClr val="002EC0"/>
                </a:solidFill>
              </a:rPr>
              <a:t>Math.pow</a:t>
            </a:r>
            <a:r>
              <a:rPr lang="en-US" altLang="zh-CN" sz="2000" dirty="0">
                <a:solidFill>
                  <a:srgbClr val="002EC0"/>
                </a:solidFill>
              </a:rPr>
              <a:t>(</a:t>
            </a:r>
            <a:r>
              <a:rPr lang="en-US" altLang="zh-CN" sz="2000" dirty="0"/>
              <a:t>p2.GetX()-p1.GetX(),2</a:t>
            </a:r>
            <a:r>
              <a:rPr lang="en-US" altLang="zh-CN" sz="2400" dirty="0">
                <a:solidFill>
                  <a:srgbClr val="002EC0"/>
                </a:solidFill>
              </a:rPr>
              <a:t>) </a:t>
            </a:r>
          </a:p>
          <a:p>
            <a:pPr eaLnBrk="1" hangingPunct="1">
              <a:lnSpc>
                <a:spcPct val="90000"/>
              </a:lnSpc>
              <a:buFont typeface="Georgia" panose="02040502050405020303" pitchFamily="18" charset="0"/>
              <a:buNone/>
            </a:pPr>
            <a:r>
              <a:rPr lang="en-US" altLang="zh-CN" sz="2400" dirty="0"/>
              <a:t>                    + </a:t>
            </a:r>
            <a:r>
              <a:rPr lang="en-US" altLang="zh-CN" sz="2000" dirty="0" err="1">
                <a:solidFill>
                  <a:srgbClr val="002EC0"/>
                </a:solidFill>
              </a:rPr>
              <a:t>Math.pow</a:t>
            </a:r>
            <a:r>
              <a:rPr lang="en-US" altLang="zh-CN" sz="2000" dirty="0">
                <a:solidFill>
                  <a:srgbClr val="002EC0"/>
                </a:solidFill>
              </a:rPr>
              <a:t>(</a:t>
            </a:r>
            <a:r>
              <a:rPr lang="en-US" altLang="zh-CN" sz="2000" dirty="0"/>
              <a:t>p2.GetY()-p1.GetY(),2</a:t>
            </a:r>
            <a:r>
              <a:rPr lang="en-US" altLang="zh-CN" sz="2000" dirty="0">
                <a:solidFill>
                  <a:srgbClr val="002EC0"/>
                </a:solidFill>
              </a:rPr>
              <a:t>)</a:t>
            </a:r>
            <a:r>
              <a:rPr lang="en-US" altLang="zh-CN" sz="2400" dirty="0"/>
              <a:t>);</a:t>
            </a:r>
          </a:p>
          <a:p>
            <a:pPr eaLnBrk="1" hangingPunct="1">
              <a:lnSpc>
                <a:spcPct val="90000"/>
              </a:lnSpc>
              <a:buFont typeface="Georgia" panose="02040502050405020303" pitchFamily="18" charset="0"/>
              <a:buNone/>
            </a:pPr>
            <a:r>
              <a:rPr lang="en-US" altLang="zh-CN" sz="2400" dirty="0"/>
              <a:t>    }</a:t>
            </a:r>
          </a:p>
          <a:p>
            <a:pPr eaLnBrk="1" hangingPunct="1">
              <a:lnSpc>
                <a:spcPct val="90000"/>
              </a:lnSpc>
              <a:buFont typeface="Georgia" panose="02040502050405020303" pitchFamily="18" charset="0"/>
              <a:buNone/>
            </a:pPr>
            <a:r>
              <a:rPr lang="en-US" altLang="zh-CN" sz="2400" dirty="0"/>
              <a:t>}</a:t>
            </a:r>
            <a:endParaRPr lang="zh-CN" altLang="en-US" sz="2400" dirty="0"/>
          </a:p>
        </p:txBody>
      </p:sp>
      <p:sp>
        <p:nvSpPr>
          <p:cNvPr id="3" name="文本框 2">
            <a:extLst>
              <a:ext uri="{FF2B5EF4-FFF2-40B4-BE49-F238E27FC236}">
                <a16:creationId xmlns:a16="http://schemas.microsoft.com/office/drawing/2014/main" id="{955B6CF9-4F9D-84A2-FD83-EA224C2F8A13}"/>
              </a:ext>
            </a:extLst>
          </p:cNvPr>
          <p:cNvSpPr txBox="1"/>
          <p:nvPr>
            <p:custDataLst>
              <p:tags r:id="rId1"/>
            </p:custDataLst>
          </p:nvPr>
        </p:nvSpPr>
        <p:spPr>
          <a:xfrm>
            <a:off x="407368" y="1015213"/>
            <a:ext cx="2736002" cy="432811"/>
          </a:xfrm>
          <a:prstGeom prst="rect">
            <a:avLst/>
          </a:prstGeom>
          <a:solidFill>
            <a:srgbClr val="255EAB"/>
          </a:solidFill>
        </p:spPr>
        <p:txBody>
          <a:bodyPr wrap="square" rtlCol="0">
            <a:spAutoFit/>
          </a:bodyPr>
          <a:lstStyle/>
          <a:p>
            <a:pPr>
              <a:lnSpc>
                <a:spcPts val="3000"/>
              </a:lnSpc>
              <a:spcBef>
                <a:spcPts val="0"/>
              </a:spcBef>
            </a:pPr>
            <a:r>
              <a:rPr lang="zh-CN" altLang="en-US" dirty="0">
                <a:solidFill>
                  <a:schemeClr val="bg1"/>
                </a:solidFill>
                <a:latin typeface="楷体" panose="02010609060101010101" pitchFamily="49" charset="-122"/>
                <a:ea typeface="楷体" panose="02010609060101010101" pitchFamily="49" charset="-122"/>
                <a:cs typeface="思源黑体 CN Heavy" panose="020B0A00000000000000" charset="-122"/>
              </a:rPr>
              <a:t>终结类与终结方法</a:t>
            </a:r>
          </a:p>
        </p:txBody>
      </p:sp>
      <p:sp>
        <p:nvSpPr>
          <p:cNvPr id="4" name="TextBox 3">
            <a:extLst>
              <a:ext uri="{FF2B5EF4-FFF2-40B4-BE49-F238E27FC236}">
                <a16:creationId xmlns:a16="http://schemas.microsoft.com/office/drawing/2014/main" id="{C0D2FA3F-725F-D95B-CB2E-F763A7FB5680}"/>
              </a:ext>
            </a:extLst>
          </p:cNvPr>
          <p:cNvSpPr txBox="1"/>
          <p:nvPr>
            <p:custDataLst>
              <p:tags r:id="rId2"/>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7" name="Rectangle 3"/>
          <p:cNvSpPr>
            <a:spLocks noGrp="1" noChangeArrowheads="1"/>
          </p:cNvSpPr>
          <p:nvPr>
            <p:ph idx="4294967295"/>
          </p:nvPr>
        </p:nvSpPr>
        <p:spPr>
          <a:xfrm>
            <a:off x="1271464" y="1700808"/>
            <a:ext cx="5558408" cy="1252735"/>
          </a:xfrm>
          <a:prstGeom prst="rect">
            <a:avLst/>
          </a:prstGeom>
        </p:spPr>
        <p:txBody>
          <a:bodyPr lIns="92075" tIns="46038" rIns="92075" bIns="46038"/>
          <a:lstStyle/>
          <a:p>
            <a:pPr eaLnBrk="1" hangingPunct="1">
              <a:buFont typeface="Wingdings" panose="05000000000000000000" pitchFamily="2" charset="2"/>
              <a:buChar char="Ø"/>
            </a:pPr>
            <a:r>
              <a:rPr lang="zh-CN" altLang="en-US" sz="3000" dirty="0">
                <a:latin typeface="Times New Roman" panose="02020603050405020304" pitchFamily="18" charset="0"/>
              </a:rPr>
              <a:t>“</a:t>
            </a:r>
            <a:r>
              <a:rPr lang="zh-CN" altLang="en-US" sz="3000" dirty="0">
                <a:latin typeface="宋体" panose="02010600030101010101" pitchFamily="2" charset="-122"/>
              </a:rPr>
              <a:t>包含</a:t>
            </a:r>
            <a:r>
              <a:rPr lang="zh-CN" altLang="en-US" sz="3000" dirty="0">
                <a:latin typeface="Times New Roman" panose="02020603050405020304" pitchFamily="18" charset="0"/>
              </a:rPr>
              <a:t>”</a:t>
            </a:r>
            <a:r>
              <a:rPr lang="zh-CN" altLang="en-US" sz="3000" dirty="0">
                <a:latin typeface="宋体" panose="02010600030101010101" pitchFamily="2" charset="-122"/>
              </a:rPr>
              <a:t>关系用组合来表达</a:t>
            </a:r>
          </a:p>
          <a:p>
            <a:pPr eaLnBrk="1" hangingPunct="1">
              <a:buFont typeface="Wingdings" panose="05000000000000000000" pitchFamily="2" charset="2"/>
              <a:buChar char="Ø"/>
            </a:pPr>
            <a:r>
              <a:rPr lang="zh-CN" altLang="en-US" sz="3000" dirty="0">
                <a:latin typeface="Times New Roman" panose="02020603050405020304" pitchFamily="18" charset="0"/>
              </a:rPr>
              <a:t>“</a:t>
            </a:r>
            <a:r>
              <a:rPr lang="zh-CN" altLang="en-US" sz="3000" dirty="0">
                <a:latin typeface="宋体" panose="02010600030101010101" pitchFamily="2" charset="-122"/>
              </a:rPr>
              <a:t>属于</a:t>
            </a:r>
            <a:r>
              <a:rPr lang="zh-CN" altLang="en-US" sz="3000" dirty="0">
                <a:latin typeface="Times New Roman" panose="02020603050405020304" pitchFamily="18" charset="0"/>
              </a:rPr>
              <a:t>”</a:t>
            </a:r>
            <a:r>
              <a:rPr lang="zh-CN" altLang="en-US" sz="3000" dirty="0">
                <a:latin typeface="宋体" panose="02010600030101010101" pitchFamily="2" charset="-122"/>
              </a:rPr>
              <a:t>关系用继承来表达</a:t>
            </a:r>
          </a:p>
        </p:txBody>
      </p:sp>
      <p:sp>
        <p:nvSpPr>
          <p:cNvPr id="17203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6C0E1BC-1270-4FC4-BABC-F2754552F2DE}" type="slidenum">
              <a:rPr kumimoji="1" lang="en-US" altLang="zh-CN" sz="1800" smtClean="0">
                <a:solidFill>
                  <a:schemeClr val="bg1"/>
                </a:solidFill>
                <a:latin typeface="Times New Roman" panose="02020603050405020304" pitchFamily="18" charset="0"/>
              </a:rPr>
              <a:pPr>
                <a:spcBef>
                  <a:spcPct val="0"/>
                </a:spcBef>
                <a:buClrTx/>
                <a:buFontTx/>
                <a:buNone/>
              </a:pPr>
              <a:t>59</a:t>
            </a:fld>
            <a:endParaRPr kumimoji="1" lang="en-US" altLang="zh-CN" sz="1800">
              <a:solidFill>
                <a:schemeClr val="bg1"/>
              </a:solidFill>
              <a:latin typeface="Times New Roman" panose="02020603050405020304" pitchFamily="18" charset="0"/>
            </a:endParaRPr>
          </a:p>
        </p:txBody>
      </p:sp>
      <p:sp>
        <p:nvSpPr>
          <p:cNvPr id="172035" name="Rectangle 4"/>
          <p:cNvSpPr>
            <a:spLocks noChangeArrowheads="1"/>
          </p:cNvSpPr>
          <p:nvPr/>
        </p:nvSpPr>
        <p:spPr bwMode="auto">
          <a:xfrm>
            <a:off x="9144000" y="5029200"/>
            <a:ext cx="685800" cy="99060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3" name="TextBox 3">
            <a:extLst>
              <a:ext uri="{FF2B5EF4-FFF2-40B4-BE49-F238E27FC236}">
                <a16:creationId xmlns:a16="http://schemas.microsoft.com/office/drawing/2014/main" id="{FDC2F9EF-B3FF-E12D-4451-6E5F68EB475B}"/>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0BFEB360-E06F-F557-0DF9-8E3F5081DE8A}"/>
              </a:ext>
            </a:extLst>
          </p:cNvPr>
          <p:cNvSpPr txBox="1"/>
          <p:nvPr>
            <p:custDataLst>
              <p:tags r:id="rId2"/>
            </p:custDataLst>
          </p:nvPr>
        </p:nvSpPr>
        <p:spPr>
          <a:xfrm>
            <a:off x="407368" y="1015213"/>
            <a:ext cx="208823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组合的语法</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4"/>
          <p:cNvSpPr>
            <a:spLocks noGrp="1" noChangeArrowheads="1"/>
          </p:cNvSpPr>
          <p:nvPr>
            <p:ph idx="4294967295"/>
          </p:nvPr>
        </p:nvSpPr>
        <p:spPr>
          <a:xfrm>
            <a:off x="479376" y="1844824"/>
            <a:ext cx="11319048" cy="1584176"/>
          </a:xfrm>
          <a:prstGeom prst="rect">
            <a:avLst/>
          </a:prstGeom>
        </p:spPr>
        <p:txBody>
          <a:bodyPr lIns="92075" tIns="46038" rIns="92075" bIns="46038"/>
          <a:lstStyle/>
          <a:p>
            <a:pPr marL="0" indent="0" eaLnBrk="1" hangingPunct="1">
              <a:lnSpc>
                <a:spcPct val="150000"/>
              </a:lnSpc>
              <a:spcBef>
                <a:spcPts val="0"/>
              </a:spcBef>
              <a:buNone/>
            </a:pPr>
            <a:r>
              <a:rPr lang="zh-CN" altLang="en-US" sz="3000" dirty="0"/>
              <a:t>    许多时候都要求将组合与继承两种技术结合起来使用，创建一个更复杂的类</a:t>
            </a:r>
          </a:p>
        </p:txBody>
      </p:sp>
      <p:sp>
        <p:nvSpPr>
          <p:cNvPr id="18022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DDB01D4-BF5F-4840-A091-7A1FD2F09144}" type="slidenum">
              <a:rPr kumimoji="1" lang="en-US" altLang="zh-CN" sz="1800" smtClean="0">
                <a:solidFill>
                  <a:schemeClr val="bg1"/>
                </a:solidFill>
                <a:latin typeface="Times New Roman" panose="02020603050405020304" pitchFamily="18" charset="0"/>
              </a:rPr>
              <a:pPr>
                <a:spcBef>
                  <a:spcPct val="0"/>
                </a:spcBef>
                <a:buClrTx/>
                <a:buFontTx/>
                <a:buNone/>
              </a:pPr>
              <a:t>60</a:t>
            </a:fld>
            <a:endParaRPr kumimoji="1" lang="en-US" altLang="zh-CN" sz="1800">
              <a:solidFill>
                <a:schemeClr val="bg1"/>
              </a:solidFill>
              <a:latin typeface="Times New Roman" panose="02020603050405020304" pitchFamily="18" charset="0"/>
            </a:endParaRPr>
          </a:p>
        </p:txBody>
      </p:sp>
      <p:sp>
        <p:nvSpPr>
          <p:cNvPr id="3" name="文本框 2">
            <a:extLst>
              <a:ext uri="{FF2B5EF4-FFF2-40B4-BE49-F238E27FC236}">
                <a16:creationId xmlns:a16="http://schemas.microsoft.com/office/drawing/2014/main" id="{0621CE2B-70E5-931E-83D6-FCF161B60A67}"/>
              </a:ext>
            </a:extLst>
          </p:cNvPr>
          <p:cNvSpPr txBox="1"/>
          <p:nvPr>
            <p:custDataLst>
              <p:tags r:id="rId1"/>
            </p:custDataLst>
          </p:nvPr>
        </p:nvSpPr>
        <p:spPr>
          <a:xfrm>
            <a:off x="407368" y="1015213"/>
            <a:ext cx="324036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组合与继承的结合</a:t>
            </a:r>
          </a:p>
        </p:txBody>
      </p:sp>
      <p:sp>
        <p:nvSpPr>
          <p:cNvPr id="4" name="TextBox 3">
            <a:extLst>
              <a:ext uri="{FF2B5EF4-FFF2-40B4-BE49-F238E27FC236}">
                <a16:creationId xmlns:a16="http://schemas.microsoft.com/office/drawing/2014/main" id="{63D74DA2-7E07-FFE2-0F84-959D93215A65}"/>
              </a:ext>
            </a:extLst>
          </p:cNvPr>
          <p:cNvSpPr txBox="1"/>
          <p:nvPr>
            <p:custDataLst>
              <p:tags r:id="rId2"/>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p:cNvSpPr>
            <a:spLocks noGrp="1" noChangeArrowheads="1"/>
          </p:cNvSpPr>
          <p:nvPr>
            <p:ph idx="4294967295"/>
          </p:nvPr>
        </p:nvSpPr>
        <p:spPr>
          <a:xfrm>
            <a:off x="1156556" y="1700809"/>
            <a:ext cx="9518848" cy="4248472"/>
          </a:xfrm>
          <a:prstGeom prst="rect">
            <a:avLst/>
          </a:prstGeom>
        </p:spPr>
        <p:txBody>
          <a:bodyPr lIns="92075" tIns="46038" rIns="92075" bIns="46038">
            <a:normAutofit fontScale="92500" lnSpcReduction="10000"/>
          </a:bodyPr>
          <a:lstStyle/>
          <a:p>
            <a:pPr eaLnBrk="1" hangingPunct="1">
              <a:buFont typeface="Georgia" panose="02040502050405020303" pitchFamily="18" charset="0"/>
              <a:buNone/>
            </a:pPr>
            <a:r>
              <a:rPr lang="en-US" altLang="zh-CN" sz="2400" dirty="0"/>
              <a:t>class </a:t>
            </a:r>
            <a:r>
              <a:rPr lang="en-US" altLang="zh-CN" sz="2400" dirty="0">
                <a:solidFill>
                  <a:schemeClr val="tx2"/>
                </a:solidFill>
              </a:rPr>
              <a:t>Plate </a:t>
            </a:r>
            <a:r>
              <a:rPr lang="en-US" altLang="zh-CN" sz="2400" dirty="0"/>
              <a:t>{  </a:t>
            </a:r>
            <a:r>
              <a:rPr lang="zh-CN" altLang="en-US" sz="2400" dirty="0"/>
              <a:t>//声明盘子</a:t>
            </a:r>
            <a:endParaRPr lang="en-US" altLang="zh-CN" sz="2400" dirty="0"/>
          </a:p>
          <a:p>
            <a:pPr lvl="1" eaLnBrk="1" hangingPunct="1">
              <a:buFont typeface="Georgia" panose="02040502050405020303" pitchFamily="18" charset="0"/>
              <a:buNone/>
            </a:pPr>
            <a:r>
              <a:rPr lang="en-US" altLang="zh-CN" sz="2400" dirty="0"/>
              <a:t>public Plate(int </a:t>
            </a:r>
            <a:r>
              <a:rPr lang="en-US" altLang="zh-CN" sz="2400" dirty="0" err="1"/>
              <a:t>i</a:t>
            </a:r>
            <a:r>
              <a:rPr lang="en-US" altLang="zh-CN" sz="2400" dirty="0"/>
              <a:t>) {</a:t>
            </a:r>
          </a:p>
          <a:p>
            <a:pPr lvl="1" eaLnBrk="1" hangingPunct="1">
              <a:buFont typeface="Georgia" panose="02040502050405020303" pitchFamily="18" charset="0"/>
              <a:buNone/>
            </a:pPr>
            <a:r>
              <a:rPr lang="en-US" altLang="zh-CN" sz="2400" dirty="0"/>
              <a:t>		 </a:t>
            </a:r>
            <a:r>
              <a:rPr lang="en-US" altLang="zh-CN" sz="2400" dirty="0" err="1"/>
              <a:t>System.out.println</a:t>
            </a:r>
            <a:r>
              <a:rPr lang="en-US" altLang="zh-CN" sz="2400" dirty="0"/>
              <a:t>("Plate constructor");</a:t>
            </a:r>
          </a:p>
          <a:p>
            <a:pPr lvl="1" eaLnBrk="1" hangingPunct="1">
              <a:buFont typeface="Georgia" panose="02040502050405020303" pitchFamily="18" charset="0"/>
              <a:buNone/>
            </a:pPr>
            <a:r>
              <a:rPr lang="en-US" altLang="zh-CN" sz="2400" dirty="0"/>
              <a:t>}</a:t>
            </a:r>
          </a:p>
          <a:p>
            <a:pPr lvl="1" indent="-742950" eaLnBrk="1" hangingPunct="1">
              <a:buFont typeface="Georgia" panose="02040502050405020303" pitchFamily="18" charset="0"/>
              <a:buNone/>
            </a:pPr>
            <a:r>
              <a:rPr lang="en-US" altLang="zh-CN" sz="2400" dirty="0"/>
              <a:t>}</a:t>
            </a:r>
          </a:p>
          <a:p>
            <a:pPr lvl="1" indent="-742950" eaLnBrk="1" hangingPunct="1">
              <a:spcBef>
                <a:spcPct val="50000"/>
              </a:spcBef>
              <a:buFont typeface="Georgia" panose="02040502050405020303" pitchFamily="18" charset="0"/>
              <a:buNone/>
            </a:pPr>
            <a:r>
              <a:rPr lang="en-US" altLang="zh-CN" sz="2400" dirty="0"/>
              <a:t>class </a:t>
            </a:r>
            <a:r>
              <a:rPr lang="en-US" altLang="zh-CN" sz="2400" dirty="0" err="1">
                <a:solidFill>
                  <a:schemeClr val="tx2"/>
                </a:solidFill>
              </a:rPr>
              <a:t>DinnerPlate</a:t>
            </a:r>
            <a:r>
              <a:rPr lang="en-US" altLang="zh-CN" sz="2400" dirty="0"/>
              <a:t> extends </a:t>
            </a:r>
            <a:r>
              <a:rPr lang="en-US" altLang="zh-CN" sz="2400" dirty="0">
                <a:solidFill>
                  <a:schemeClr val="tx2"/>
                </a:solidFill>
              </a:rPr>
              <a:t>Plate</a:t>
            </a:r>
            <a:r>
              <a:rPr lang="en-US" altLang="zh-CN" sz="2400" dirty="0"/>
              <a:t> { 	//</a:t>
            </a:r>
            <a:r>
              <a:rPr lang="zh-CN" altLang="en-US" sz="2400" dirty="0"/>
              <a:t>声明餐盘为盘子的子类</a:t>
            </a:r>
            <a:endParaRPr lang="en-US" altLang="zh-CN" sz="2400" dirty="0"/>
          </a:p>
          <a:p>
            <a:pPr lvl="1" eaLnBrk="1" hangingPunct="1">
              <a:buFont typeface="Georgia" panose="02040502050405020303" pitchFamily="18" charset="0"/>
              <a:buNone/>
            </a:pPr>
            <a:r>
              <a:rPr lang="en-US" altLang="zh-CN" sz="2400" dirty="0"/>
              <a:t>public </a:t>
            </a:r>
            <a:r>
              <a:rPr lang="en-US" altLang="zh-CN" sz="2400" dirty="0" err="1"/>
              <a:t>DinnerPlate</a:t>
            </a:r>
            <a:r>
              <a:rPr lang="en-US" altLang="zh-CN" sz="2400" dirty="0"/>
              <a:t>(int </a:t>
            </a:r>
            <a:r>
              <a:rPr lang="en-US" altLang="zh-CN" sz="2400" dirty="0" err="1"/>
              <a:t>i</a:t>
            </a:r>
            <a:r>
              <a:rPr lang="en-US" altLang="zh-CN" sz="2400" dirty="0"/>
              <a:t>) {</a:t>
            </a:r>
          </a:p>
          <a:p>
            <a:pPr lvl="1" eaLnBrk="1" hangingPunct="1">
              <a:buFont typeface="Georgia" panose="02040502050405020303" pitchFamily="18" charset="0"/>
              <a:buNone/>
            </a:pPr>
            <a:r>
              <a:rPr lang="en-US" altLang="zh-CN" sz="2400" dirty="0"/>
              <a:t>		 super(</a:t>
            </a:r>
            <a:r>
              <a:rPr lang="en-US" altLang="zh-CN" sz="2400" dirty="0" err="1"/>
              <a:t>i</a:t>
            </a:r>
            <a:r>
              <a:rPr lang="en-US" altLang="zh-CN" sz="2400" dirty="0"/>
              <a:t>);</a:t>
            </a:r>
          </a:p>
          <a:p>
            <a:pPr lvl="1" eaLnBrk="1" hangingPunct="1">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DinnerPlate</a:t>
            </a:r>
            <a:r>
              <a:rPr lang="en-US" altLang="zh-CN" sz="2400" dirty="0"/>
              <a:t> constructor");</a:t>
            </a:r>
          </a:p>
          <a:p>
            <a:pPr lvl="1" indent="-742950" eaLnBrk="1" hangingPunct="1">
              <a:buFont typeface="Georgia" panose="02040502050405020303" pitchFamily="18" charset="0"/>
              <a:buNone/>
            </a:pPr>
            <a:r>
              <a:rPr lang="en-US" altLang="zh-CN" sz="2400" dirty="0"/>
              <a:t>   }</a:t>
            </a:r>
          </a:p>
          <a:p>
            <a:pPr lvl="1" indent="-742950" eaLnBrk="1" hangingPunct="1">
              <a:buFont typeface="Georgia" panose="02040502050405020303" pitchFamily="18" charset="0"/>
              <a:buNone/>
            </a:pPr>
            <a:r>
              <a:rPr lang="en-US" altLang="zh-CN" sz="2400" dirty="0"/>
              <a:t>}</a:t>
            </a:r>
          </a:p>
        </p:txBody>
      </p:sp>
      <p:sp>
        <p:nvSpPr>
          <p:cNvPr id="4" name="TextBox 3">
            <a:extLst>
              <a:ext uri="{FF2B5EF4-FFF2-40B4-BE49-F238E27FC236}">
                <a16:creationId xmlns:a16="http://schemas.microsoft.com/office/drawing/2014/main" id="{2E2AE64F-F86F-C324-A00B-24DB79FA9333}"/>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4C347278-556E-28A6-4FF0-1EDA8ABEC754}"/>
              </a:ext>
            </a:extLst>
          </p:cNvPr>
          <p:cNvSpPr txBox="1"/>
          <p:nvPr>
            <p:custDataLst>
              <p:tags r:id="rId2"/>
            </p:custDataLst>
          </p:nvPr>
        </p:nvSpPr>
        <p:spPr>
          <a:xfrm>
            <a:off x="407368" y="1015213"/>
            <a:ext cx="324036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组合与继承的结合</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Rectangle 3"/>
          <p:cNvSpPr>
            <a:spLocks noGrp="1" noChangeArrowheads="1"/>
          </p:cNvSpPr>
          <p:nvPr>
            <p:ph idx="4294967295"/>
          </p:nvPr>
        </p:nvSpPr>
        <p:spPr>
          <a:xfrm>
            <a:off x="1127448" y="1700808"/>
            <a:ext cx="8582744" cy="4784865"/>
          </a:xfrm>
          <a:prstGeom prst="rect">
            <a:avLst/>
          </a:prstGeom>
        </p:spPr>
        <p:txBody>
          <a:bodyPr lIns="92075" tIns="46038" rIns="92075" bIns="46038">
            <a:normAutofit fontScale="92500" lnSpcReduction="10000"/>
          </a:bodyPr>
          <a:lstStyle/>
          <a:p>
            <a:pPr marL="0" lvl="1" indent="0" eaLnBrk="1" hangingPunct="1">
              <a:lnSpc>
                <a:spcPct val="110000"/>
              </a:lnSpc>
              <a:buFont typeface="Georgia" panose="02040502050405020303" pitchFamily="18" charset="0"/>
              <a:buNone/>
            </a:pPr>
            <a:r>
              <a:rPr lang="en-US" altLang="zh-CN" sz="2400" dirty="0"/>
              <a:t>class </a:t>
            </a:r>
            <a:r>
              <a:rPr lang="en-US" altLang="zh-CN" sz="2400" dirty="0">
                <a:solidFill>
                  <a:schemeClr val="tx2"/>
                </a:solidFill>
              </a:rPr>
              <a:t>Utensil </a:t>
            </a:r>
            <a:r>
              <a:rPr lang="en-US" altLang="zh-CN" sz="2400" dirty="0"/>
              <a:t>{ //</a:t>
            </a:r>
            <a:r>
              <a:rPr lang="zh-CN" altLang="en-US" sz="2400" dirty="0"/>
              <a:t>声明器具</a:t>
            </a:r>
            <a:endParaRPr lang="en-US" altLang="zh-CN" sz="2400" dirty="0"/>
          </a:p>
          <a:p>
            <a:pPr marL="0" lvl="1" indent="0" eaLnBrk="1" hangingPunct="1">
              <a:lnSpc>
                <a:spcPct val="110000"/>
              </a:lnSpc>
              <a:buFont typeface="Georgia" panose="02040502050405020303" pitchFamily="18" charset="0"/>
              <a:buNone/>
            </a:pPr>
            <a:r>
              <a:rPr lang="en-US" altLang="zh-CN" sz="2400" dirty="0"/>
              <a:t>    Utensil(int </a:t>
            </a:r>
            <a:r>
              <a:rPr lang="en-US" altLang="zh-CN" sz="2400" dirty="0" err="1"/>
              <a:t>i</a:t>
            </a:r>
            <a:r>
              <a:rPr lang="en-US" altLang="zh-CN" sz="2400" dirty="0"/>
              <a:t>) {</a:t>
            </a:r>
          </a:p>
          <a:p>
            <a:pPr marL="0" lvl="1" indent="0" eaLnBrk="1" hangingPunct="1">
              <a:lnSpc>
                <a:spcPct val="110000"/>
              </a:lnSpc>
              <a:buFont typeface="Georgia" panose="02040502050405020303" pitchFamily="18" charset="0"/>
              <a:buNone/>
            </a:pPr>
            <a:r>
              <a:rPr lang="en-US" altLang="zh-CN" sz="2400" dirty="0"/>
              <a:t>	 </a:t>
            </a:r>
            <a:r>
              <a:rPr lang="en-US" altLang="zh-CN" sz="2400" dirty="0" err="1"/>
              <a:t>System.out.println</a:t>
            </a:r>
            <a:r>
              <a:rPr lang="en-US" altLang="zh-CN" sz="2400" dirty="0"/>
              <a:t>("Utensil constructor");</a:t>
            </a:r>
          </a:p>
          <a:p>
            <a:pPr marL="0" lvl="1" indent="0" eaLnBrk="1" hangingPunct="1">
              <a:lnSpc>
                <a:spcPct val="110000"/>
              </a:lnSpc>
              <a:buFont typeface="Georgia" panose="02040502050405020303" pitchFamily="18" charset="0"/>
              <a:buNone/>
            </a:pPr>
            <a:r>
              <a:rPr lang="en-US" altLang="zh-CN" sz="2400" dirty="0"/>
              <a:t>    }</a:t>
            </a:r>
          </a:p>
          <a:p>
            <a:pPr marL="0" lvl="1" indent="0" eaLnBrk="1" hangingPunct="1">
              <a:lnSpc>
                <a:spcPct val="110000"/>
              </a:lnSpc>
              <a:buFont typeface="Georgia" panose="02040502050405020303" pitchFamily="18" charset="0"/>
              <a:buNone/>
            </a:pPr>
            <a:r>
              <a:rPr lang="en-US" altLang="zh-CN" sz="2400" dirty="0"/>
              <a:t>}</a:t>
            </a:r>
            <a:endParaRPr lang="zh-CN" altLang="en-US" sz="2400" dirty="0"/>
          </a:p>
          <a:p>
            <a:pPr marL="0" lvl="1" indent="0" eaLnBrk="1" hangingPunct="1">
              <a:lnSpc>
                <a:spcPct val="110000"/>
              </a:lnSpc>
              <a:spcBef>
                <a:spcPct val="50000"/>
              </a:spcBef>
              <a:buFont typeface="Georgia" panose="02040502050405020303" pitchFamily="18" charset="0"/>
              <a:buNone/>
            </a:pPr>
            <a:r>
              <a:rPr lang="en-US" altLang="zh-CN" sz="2400" dirty="0"/>
              <a:t>class </a:t>
            </a:r>
            <a:r>
              <a:rPr lang="en-US" altLang="zh-CN" sz="2400" dirty="0">
                <a:solidFill>
                  <a:schemeClr val="tx2"/>
                </a:solidFill>
              </a:rPr>
              <a:t>Spoon </a:t>
            </a:r>
            <a:r>
              <a:rPr lang="en-US" altLang="zh-CN" sz="2400" dirty="0"/>
              <a:t>extends</a:t>
            </a:r>
            <a:r>
              <a:rPr lang="en-US" altLang="zh-CN" sz="2400" dirty="0">
                <a:solidFill>
                  <a:schemeClr val="tx2"/>
                </a:solidFill>
              </a:rPr>
              <a:t> Utensil</a:t>
            </a:r>
            <a:r>
              <a:rPr lang="en-US" altLang="zh-CN" sz="2400" dirty="0"/>
              <a:t> { 	//</a:t>
            </a:r>
            <a:r>
              <a:rPr lang="zh-CN" altLang="en-US" sz="2400" dirty="0"/>
              <a:t>声明勺子为器具的子类</a:t>
            </a:r>
            <a:endParaRPr lang="en-US" altLang="zh-CN" sz="2400" dirty="0"/>
          </a:p>
          <a:p>
            <a:pPr marL="0" lvl="1" indent="0" eaLnBrk="1" hangingPunct="1">
              <a:lnSpc>
                <a:spcPct val="110000"/>
              </a:lnSpc>
              <a:buFont typeface="Georgia" panose="02040502050405020303" pitchFamily="18" charset="0"/>
              <a:buNone/>
            </a:pPr>
            <a:r>
              <a:rPr lang="en-US" altLang="zh-CN" sz="2400" dirty="0"/>
              <a:t>    public Spoon(int </a:t>
            </a:r>
            <a:r>
              <a:rPr lang="en-US" altLang="zh-CN" sz="2400" dirty="0" err="1"/>
              <a:t>i</a:t>
            </a:r>
            <a:r>
              <a:rPr lang="en-US" altLang="zh-CN" sz="2400" dirty="0"/>
              <a:t>) {</a:t>
            </a:r>
          </a:p>
          <a:p>
            <a:pPr marL="0" lvl="1" indent="0" eaLnBrk="1" hangingPunct="1">
              <a:lnSpc>
                <a:spcPct val="110000"/>
              </a:lnSpc>
              <a:buFont typeface="Georgia" panose="02040502050405020303" pitchFamily="18" charset="0"/>
              <a:buNone/>
            </a:pPr>
            <a:r>
              <a:rPr lang="en-US" altLang="zh-CN" sz="2400" dirty="0"/>
              <a:t>	 super(</a:t>
            </a:r>
            <a:r>
              <a:rPr lang="en-US" altLang="zh-CN" sz="2400" dirty="0" err="1"/>
              <a:t>i</a:t>
            </a:r>
            <a:r>
              <a:rPr lang="en-US" altLang="zh-CN" sz="2400" dirty="0"/>
              <a:t>);</a:t>
            </a:r>
          </a:p>
          <a:p>
            <a:pPr marL="0" lvl="1" indent="0" eaLnBrk="1" hangingPunct="1">
              <a:lnSpc>
                <a:spcPct val="110000"/>
              </a:lnSpc>
              <a:buFont typeface="Georgia" panose="02040502050405020303" pitchFamily="18" charset="0"/>
              <a:buNone/>
            </a:pPr>
            <a:r>
              <a:rPr lang="en-US" altLang="zh-CN" sz="2400" dirty="0"/>
              <a:t>	 </a:t>
            </a:r>
            <a:r>
              <a:rPr lang="en-US" altLang="zh-CN" sz="2400" dirty="0" err="1"/>
              <a:t>System.out.println</a:t>
            </a:r>
            <a:r>
              <a:rPr lang="en-US" altLang="zh-CN" sz="2400" dirty="0"/>
              <a:t>("Spoon constructor");</a:t>
            </a:r>
          </a:p>
          <a:p>
            <a:pPr marL="0" lvl="1" indent="0" eaLnBrk="1" hangingPunct="1">
              <a:lnSpc>
                <a:spcPct val="110000"/>
              </a:lnSpc>
              <a:buFont typeface="Georgia" panose="02040502050405020303" pitchFamily="18" charset="0"/>
              <a:buNone/>
            </a:pPr>
            <a:r>
              <a:rPr lang="en-US" altLang="zh-CN" sz="2400" dirty="0"/>
              <a:t>    }</a:t>
            </a:r>
          </a:p>
          <a:p>
            <a:pPr marL="0" lvl="1" indent="0" eaLnBrk="1" hangingPunct="1">
              <a:lnSpc>
                <a:spcPct val="110000"/>
              </a:lnSpc>
              <a:buFont typeface="Georgia" panose="02040502050405020303" pitchFamily="18" charset="0"/>
              <a:buNone/>
            </a:pPr>
            <a:r>
              <a:rPr lang="en-US" altLang="zh-CN" sz="2400" dirty="0"/>
              <a:t>}</a:t>
            </a:r>
          </a:p>
        </p:txBody>
      </p:sp>
      <p:sp>
        <p:nvSpPr>
          <p:cNvPr id="4" name="TextBox 3">
            <a:extLst>
              <a:ext uri="{FF2B5EF4-FFF2-40B4-BE49-F238E27FC236}">
                <a16:creationId xmlns:a16="http://schemas.microsoft.com/office/drawing/2014/main" id="{7DD59E74-284A-24AC-45A2-F6EB49AC3BE9}"/>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22064423-E9C1-EB44-FDCE-05DC62852B37}"/>
              </a:ext>
            </a:extLst>
          </p:cNvPr>
          <p:cNvSpPr txBox="1"/>
          <p:nvPr>
            <p:custDataLst>
              <p:tags r:id="rId2"/>
            </p:custDataLst>
          </p:nvPr>
        </p:nvSpPr>
        <p:spPr>
          <a:xfrm>
            <a:off x="407368" y="1015213"/>
            <a:ext cx="324036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组合与继承的结合</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a:spLocks noGrp="1" noChangeArrowheads="1"/>
          </p:cNvSpPr>
          <p:nvPr>
            <p:ph idx="4294967295"/>
          </p:nvPr>
        </p:nvSpPr>
        <p:spPr>
          <a:xfrm>
            <a:off x="1084548" y="1772816"/>
            <a:ext cx="9662864" cy="4525963"/>
          </a:xfrm>
          <a:prstGeom prst="rect">
            <a:avLst/>
          </a:prstGeom>
        </p:spPr>
        <p:txBody>
          <a:bodyPr lIns="92075" tIns="46038" rIns="92075" bIns="46038">
            <a:normAutofit lnSpcReduction="10000"/>
          </a:bodyPr>
          <a:lstStyle/>
          <a:p>
            <a:pPr marL="0" lvl="1" indent="0" eaLnBrk="1" hangingPunct="1">
              <a:lnSpc>
                <a:spcPct val="90000"/>
              </a:lnSpc>
              <a:buFont typeface="Georgia" panose="02040502050405020303" pitchFamily="18" charset="0"/>
              <a:buNone/>
            </a:pPr>
            <a:r>
              <a:rPr lang="en-US" altLang="zh-CN" sz="2400" dirty="0"/>
              <a:t>class </a:t>
            </a:r>
            <a:r>
              <a:rPr lang="en-US" altLang="zh-CN" sz="2400" dirty="0">
                <a:solidFill>
                  <a:schemeClr val="tx2"/>
                </a:solidFill>
              </a:rPr>
              <a:t>Fork</a:t>
            </a:r>
            <a:r>
              <a:rPr lang="en-US" altLang="zh-CN" sz="2400" dirty="0"/>
              <a:t> extends </a:t>
            </a:r>
            <a:r>
              <a:rPr lang="en-US" altLang="zh-CN" sz="2400" dirty="0">
                <a:solidFill>
                  <a:schemeClr val="tx2"/>
                </a:solidFill>
              </a:rPr>
              <a:t>Utensil</a:t>
            </a:r>
            <a:r>
              <a:rPr lang="en-US" altLang="zh-CN" sz="2400" dirty="0"/>
              <a:t> { //</a:t>
            </a:r>
            <a:r>
              <a:rPr lang="zh-CN" altLang="en-US" sz="2400" dirty="0"/>
              <a:t>声明餐叉为器具的子类</a:t>
            </a:r>
            <a:endParaRPr lang="en-US" altLang="zh-CN" sz="2400" dirty="0"/>
          </a:p>
          <a:p>
            <a:pPr marL="0" lvl="1" indent="0" eaLnBrk="1" hangingPunct="1">
              <a:lnSpc>
                <a:spcPct val="90000"/>
              </a:lnSpc>
              <a:buFont typeface="Georgia" panose="02040502050405020303" pitchFamily="18" charset="0"/>
              <a:buNone/>
            </a:pPr>
            <a:r>
              <a:rPr lang="en-US" altLang="zh-CN" sz="2400" dirty="0"/>
              <a:t>    public Fork(int </a:t>
            </a:r>
            <a:r>
              <a:rPr lang="en-US" altLang="zh-CN" sz="2400" dirty="0" err="1"/>
              <a:t>i</a:t>
            </a:r>
            <a:r>
              <a:rPr lang="en-US" altLang="zh-CN" sz="2400" dirty="0"/>
              <a:t>) {</a:t>
            </a:r>
          </a:p>
          <a:p>
            <a:pPr marL="0" lvl="1" indent="0" eaLnBrk="1" hangingPunct="1">
              <a:lnSpc>
                <a:spcPct val="90000"/>
              </a:lnSpc>
              <a:buFont typeface="Georgia" panose="02040502050405020303" pitchFamily="18" charset="0"/>
              <a:buNone/>
            </a:pPr>
            <a:r>
              <a:rPr lang="en-US" altLang="zh-CN" sz="2400" dirty="0"/>
              <a:t>	  super(</a:t>
            </a:r>
            <a:r>
              <a:rPr lang="en-US" altLang="zh-CN" sz="2400" dirty="0" err="1"/>
              <a:t>i</a:t>
            </a:r>
            <a:r>
              <a:rPr lang="en-US" altLang="zh-CN" sz="2400" dirty="0"/>
              <a:t>);</a:t>
            </a:r>
          </a:p>
          <a:p>
            <a:pPr marL="0" lvl="1" indent="0" eaLnBrk="1" hangingPunct="1">
              <a:lnSpc>
                <a:spcPct val="90000"/>
              </a:lnSpc>
              <a:buFont typeface="Georgia" panose="02040502050405020303" pitchFamily="18" charset="0"/>
              <a:buNone/>
            </a:pPr>
            <a:r>
              <a:rPr lang="en-US" altLang="zh-CN" sz="2400" dirty="0"/>
              <a:t>	  </a:t>
            </a:r>
            <a:r>
              <a:rPr lang="en-US" altLang="zh-CN" sz="2400" dirty="0" err="1"/>
              <a:t>System.out.println</a:t>
            </a:r>
            <a:r>
              <a:rPr lang="en-US" altLang="zh-CN" sz="2400" dirty="0"/>
              <a:t>("Fork constructor");</a:t>
            </a:r>
          </a:p>
          <a:p>
            <a:pPr marL="0" lvl="1" indent="0" eaLnBrk="1" hangingPunct="1">
              <a:lnSpc>
                <a:spcPct val="90000"/>
              </a:lnSpc>
              <a:buFont typeface="Georgia" panose="02040502050405020303" pitchFamily="18" charset="0"/>
              <a:buNone/>
            </a:pPr>
            <a:r>
              <a:rPr lang="en-US" altLang="zh-CN" sz="2400" dirty="0"/>
              <a:t>    }</a:t>
            </a:r>
          </a:p>
          <a:p>
            <a:pPr marL="0" lvl="1" indent="0" eaLnBrk="1" hangingPunct="1">
              <a:lnSpc>
                <a:spcPct val="90000"/>
              </a:lnSpc>
              <a:buFont typeface="Georgia" panose="02040502050405020303" pitchFamily="18" charset="0"/>
              <a:buNone/>
            </a:pPr>
            <a:r>
              <a:rPr lang="en-US" altLang="zh-CN" sz="2400" dirty="0"/>
              <a:t>}</a:t>
            </a:r>
          </a:p>
          <a:p>
            <a:pPr marL="0" lvl="1" indent="0" eaLnBrk="1" hangingPunct="1">
              <a:lnSpc>
                <a:spcPct val="90000"/>
              </a:lnSpc>
              <a:spcBef>
                <a:spcPct val="50000"/>
              </a:spcBef>
              <a:buFont typeface="Georgia" panose="02040502050405020303" pitchFamily="18" charset="0"/>
              <a:buNone/>
            </a:pPr>
            <a:r>
              <a:rPr lang="en-US" altLang="zh-CN" sz="2400" dirty="0"/>
              <a:t>class </a:t>
            </a:r>
            <a:r>
              <a:rPr lang="en-US" altLang="zh-CN" sz="2400" dirty="0">
                <a:solidFill>
                  <a:schemeClr val="tx2"/>
                </a:solidFill>
              </a:rPr>
              <a:t>Knife </a:t>
            </a:r>
            <a:r>
              <a:rPr lang="en-US" altLang="zh-CN" sz="2400" dirty="0"/>
              <a:t>extends</a:t>
            </a:r>
            <a:r>
              <a:rPr lang="en-US" altLang="zh-CN" sz="2400" dirty="0">
                <a:solidFill>
                  <a:schemeClr val="tx2"/>
                </a:solidFill>
              </a:rPr>
              <a:t> Utensil</a:t>
            </a:r>
            <a:r>
              <a:rPr lang="en-US" altLang="zh-CN" sz="2400" dirty="0"/>
              <a:t> { //</a:t>
            </a:r>
            <a:r>
              <a:rPr lang="zh-CN" altLang="en-US" sz="2400" dirty="0"/>
              <a:t>声明餐刀为器具的子类</a:t>
            </a:r>
            <a:endParaRPr lang="en-US" altLang="zh-CN" sz="2400" dirty="0"/>
          </a:p>
          <a:p>
            <a:pPr marL="0" lvl="1" indent="0" eaLnBrk="1" hangingPunct="1">
              <a:lnSpc>
                <a:spcPct val="90000"/>
              </a:lnSpc>
              <a:buFont typeface="Georgia" panose="02040502050405020303" pitchFamily="18" charset="0"/>
              <a:buNone/>
            </a:pPr>
            <a:r>
              <a:rPr lang="en-US" altLang="zh-CN" sz="2400" dirty="0"/>
              <a:t>    public Knife(int </a:t>
            </a:r>
            <a:r>
              <a:rPr lang="en-US" altLang="zh-CN" sz="2400" dirty="0" err="1"/>
              <a:t>i</a:t>
            </a:r>
            <a:r>
              <a:rPr lang="en-US" altLang="zh-CN" sz="2400" dirty="0"/>
              <a:t>) {</a:t>
            </a:r>
          </a:p>
          <a:p>
            <a:pPr marL="0" lvl="1" indent="0" eaLnBrk="1" hangingPunct="1">
              <a:lnSpc>
                <a:spcPct val="90000"/>
              </a:lnSpc>
              <a:buFont typeface="Georgia" panose="02040502050405020303" pitchFamily="18" charset="0"/>
              <a:buNone/>
            </a:pPr>
            <a:r>
              <a:rPr lang="en-US" altLang="zh-CN" sz="2400" dirty="0"/>
              <a:t>	  super(</a:t>
            </a:r>
            <a:r>
              <a:rPr lang="en-US" altLang="zh-CN" sz="2400" dirty="0" err="1"/>
              <a:t>i</a:t>
            </a:r>
            <a:r>
              <a:rPr lang="en-US" altLang="zh-CN" sz="2400" dirty="0"/>
              <a:t>);</a:t>
            </a:r>
          </a:p>
          <a:p>
            <a:pPr marL="0" lvl="1" indent="0" eaLnBrk="1" hangingPunct="1">
              <a:lnSpc>
                <a:spcPct val="90000"/>
              </a:lnSpc>
              <a:buFont typeface="Georgia" panose="02040502050405020303" pitchFamily="18" charset="0"/>
              <a:buNone/>
            </a:pPr>
            <a:r>
              <a:rPr lang="en-US" altLang="zh-CN" sz="2400" dirty="0"/>
              <a:t>        </a:t>
            </a:r>
            <a:r>
              <a:rPr lang="en-US" altLang="zh-CN" sz="2400" dirty="0" err="1"/>
              <a:t>System.out.println</a:t>
            </a:r>
            <a:r>
              <a:rPr lang="en-US" altLang="zh-CN" sz="2400" dirty="0"/>
              <a:t>("Knife constructor");</a:t>
            </a:r>
          </a:p>
          <a:p>
            <a:pPr marL="0" lvl="1" indent="0" eaLnBrk="1" hangingPunct="1">
              <a:lnSpc>
                <a:spcPct val="90000"/>
              </a:lnSpc>
              <a:buFont typeface="Georgia" panose="02040502050405020303" pitchFamily="18" charset="0"/>
              <a:buNone/>
            </a:pPr>
            <a:r>
              <a:rPr lang="en-US" altLang="zh-CN" sz="2400" dirty="0"/>
              <a:t>    }</a:t>
            </a:r>
          </a:p>
          <a:p>
            <a:pPr marL="0" lvl="1" indent="0" eaLnBrk="1" hangingPunct="1">
              <a:lnSpc>
                <a:spcPct val="90000"/>
              </a:lnSpc>
              <a:buFont typeface="Georgia" panose="02040502050405020303" pitchFamily="18" charset="0"/>
              <a:buNone/>
            </a:pPr>
            <a:r>
              <a:rPr lang="en-US" altLang="zh-CN" sz="2400" dirty="0"/>
              <a:t>}</a:t>
            </a:r>
          </a:p>
          <a:p>
            <a:pPr eaLnBrk="1" hangingPunct="1">
              <a:lnSpc>
                <a:spcPct val="90000"/>
              </a:lnSpc>
            </a:pPr>
            <a:endParaRPr lang="zh-CN" altLang="en-US" b="1" dirty="0"/>
          </a:p>
        </p:txBody>
      </p:sp>
      <p:sp>
        <p:nvSpPr>
          <p:cNvPr id="4" name="TextBox 3">
            <a:extLst>
              <a:ext uri="{FF2B5EF4-FFF2-40B4-BE49-F238E27FC236}">
                <a16:creationId xmlns:a16="http://schemas.microsoft.com/office/drawing/2014/main" id="{5029FAD7-9B58-6594-71FF-3DA6D5CF243C}"/>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7149C52B-00C9-CBD9-3796-35DD2A12446A}"/>
              </a:ext>
            </a:extLst>
          </p:cNvPr>
          <p:cNvSpPr txBox="1"/>
          <p:nvPr>
            <p:custDataLst>
              <p:tags r:id="rId2"/>
            </p:custDataLst>
          </p:nvPr>
        </p:nvSpPr>
        <p:spPr>
          <a:xfrm>
            <a:off x="407368" y="1015213"/>
            <a:ext cx="324036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组合与继承的结合</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内容占位符 5"/>
          <p:cNvSpPr>
            <a:spLocks noGrp="1"/>
          </p:cNvSpPr>
          <p:nvPr>
            <p:ph idx="4294967295"/>
          </p:nvPr>
        </p:nvSpPr>
        <p:spPr>
          <a:xfrm>
            <a:off x="1127448" y="1844824"/>
            <a:ext cx="9446840" cy="2836912"/>
          </a:xfrm>
          <a:prstGeom prst="rect">
            <a:avLst/>
          </a:prstGeom>
        </p:spPr>
        <p:txBody>
          <a:bodyPr/>
          <a:lstStyle/>
          <a:p>
            <a:pPr marL="0" indent="0" eaLnBrk="1" hangingPunct="1">
              <a:lnSpc>
                <a:spcPct val="90000"/>
              </a:lnSpc>
              <a:buNone/>
            </a:pPr>
            <a:r>
              <a:rPr lang="en-US" altLang="zh-CN" sz="2500" dirty="0"/>
              <a:t>class Custom { // </a:t>
            </a:r>
            <a:r>
              <a:rPr lang="zh-CN" altLang="en-US" sz="2500" dirty="0"/>
              <a:t>声明做某事的习惯</a:t>
            </a:r>
            <a:endParaRPr lang="en-US" altLang="zh-CN" sz="2500" dirty="0"/>
          </a:p>
          <a:p>
            <a:pPr marL="0" indent="0" eaLnBrk="1" hangingPunct="1">
              <a:lnSpc>
                <a:spcPct val="90000"/>
              </a:lnSpc>
              <a:buNone/>
            </a:pPr>
            <a:r>
              <a:rPr lang="en-US" altLang="zh-CN" sz="2500" dirty="0"/>
              <a:t>    public Custom(int </a:t>
            </a:r>
            <a:r>
              <a:rPr lang="en-US" altLang="zh-CN" sz="2500" dirty="0" err="1"/>
              <a:t>i</a:t>
            </a:r>
            <a:r>
              <a:rPr lang="en-US" altLang="zh-CN" sz="2500" dirty="0"/>
              <a:t>) { </a:t>
            </a:r>
          </a:p>
          <a:p>
            <a:pPr marL="0" indent="0" eaLnBrk="1" hangingPunct="1">
              <a:lnSpc>
                <a:spcPct val="90000"/>
              </a:lnSpc>
              <a:buNone/>
            </a:pPr>
            <a:r>
              <a:rPr lang="en-US" altLang="zh-CN" sz="2500" dirty="0"/>
              <a:t>        </a:t>
            </a:r>
            <a:r>
              <a:rPr lang="en-US" altLang="zh-CN" sz="2500" dirty="0" err="1"/>
              <a:t>System.out.println</a:t>
            </a:r>
            <a:r>
              <a:rPr lang="en-US" altLang="zh-CN" sz="2500" dirty="0"/>
              <a:t>("Custom constructor");</a:t>
            </a:r>
          </a:p>
          <a:p>
            <a:pPr marL="0" indent="0" eaLnBrk="1" hangingPunct="1">
              <a:lnSpc>
                <a:spcPct val="90000"/>
              </a:lnSpc>
              <a:buNone/>
            </a:pPr>
            <a:r>
              <a:rPr lang="en-US" altLang="zh-CN" sz="2500" dirty="0"/>
              <a:t>    }</a:t>
            </a:r>
          </a:p>
          <a:p>
            <a:pPr marL="0" indent="0" eaLnBrk="1" hangingPunct="1">
              <a:lnSpc>
                <a:spcPct val="90000"/>
              </a:lnSpc>
              <a:buNone/>
            </a:pPr>
            <a:r>
              <a:rPr lang="en-US" altLang="zh-CN" sz="2500" dirty="0"/>
              <a:t>}</a:t>
            </a:r>
          </a:p>
        </p:txBody>
      </p:sp>
      <p:sp>
        <p:nvSpPr>
          <p:cNvPr id="3" name="TextBox 3">
            <a:extLst>
              <a:ext uri="{FF2B5EF4-FFF2-40B4-BE49-F238E27FC236}">
                <a16:creationId xmlns:a16="http://schemas.microsoft.com/office/drawing/2014/main" id="{0E8EDEAC-D477-8A6F-DAD4-BCDBE0588DBC}"/>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4" name="文本框 3">
            <a:extLst>
              <a:ext uri="{FF2B5EF4-FFF2-40B4-BE49-F238E27FC236}">
                <a16:creationId xmlns:a16="http://schemas.microsoft.com/office/drawing/2014/main" id="{D334749A-F25B-BAEE-427D-1C9184CC4986}"/>
              </a:ext>
            </a:extLst>
          </p:cNvPr>
          <p:cNvSpPr txBox="1"/>
          <p:nvPr>
            <p:custDataLst>
              <p:tags r:id="rId2"/>
            </p:custDataLst>
          </p:nvPr>
        </p:nvSpPr>
        <p:spPr>
          <a:xfrm>
            <a:off x="407368" y="1015213"/>
            <a:ext cx="324036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组合与继承的结合</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3" name="Rectangle 3"/>
          <p:cNvSpPr>
            <a:spLocks noGrp="1" noChangeArrowheads="1"/>
          </p:cNvSpPr>
          <p:nvPr>
            <p:ph idx="4294967295"/>
          </p:nvPr>
        </p:nvSpPr>
        <p:spPr>
          <a:xfrm>
            <a:off x="983432" y="1628800"/>
            <a:ext cx="9014792" cy="4712857"/>
          </a:xfrm>
          <a:prstGeom prst="rect">
            <a:avLst/>
          </a:prstGeom>
        </p:spPr>
        <p:txBody>
          <a:bodyPr lIns="92075" tIns="46038" rIns="92075" bIns="46038">
            <a:normAutofit fontScale="92500" lnSpcReduction="10000"/>
          </a:bodyPr>
          <a:lstStyle/>
          <a:p>
            <a:pPr eaLnBrk="1" hangingPunct="1">
              <a:spcBef>
                <a:spcPct val="0"/>
              </a:spcBef>
              <a:buFont typeface="Georgia" panose="02040502050405020303" pitchFamily="18" charset="0"/>
              <a:buNone/>
            </a:pPr>
            <a:r>
              <a:rPr lang="en-US" altLang="zh-CN" sz="2400" dirty="0"/>
              <a:t>public class</a:t>
            </a:r>
            <a:r>
              <a:rPr lang="en-US" altLang="zh-CN" sz="2400" dirty="0">
                <a:solidFill>
                  <a:schemeClr val="tx2"/>
                </a:solidFill>
              </a:rPr>
              <a:t> </a:t>
            </a:r>
            <a:r>
              <a:rPr lang="en-US" altLang="zh-CN" sz="2400" dirty="0" err="1">
                <a:solidFill>
                  <a:schemeClr val="tx2"/>
                </a:solidFill>
              </a:rPr>
              <a:t>PlaceSetting</a:t>
            </a:r>
            <a:r>
              <a:rPr lang="en-US" altLang="zh-CN" sz="2400" dirty="0"/>
              <a:t> extends</a:t>
            </a:r>
            <a:r>
              <a:rPr lang="en-US" altLang="zh-CN" sz="2400" dirty="0">
                <a:solidFill>
                  <a:schemeClr val="tx2"/>
                </a:solidFill>
              </a:rPr>
              <a:t> Custom </a:t>
            </a:r>
            <a:r>
              <a:rPr lang="en-US" altLang="zh-CN" sz="2400" dirty="0"/>
              <a:t>{//</a:t>
            </a:r>
            <a:r>
              <a:rPr lang="zh-CN" altLang="en-US" sz="2400" dirty="0"/>
              <a:t>餐桌的布置 </a:t>
            </a:r>
            <a:endParaRPr lang="en-US" altLang="zh-CN" sz="2400" dirty="0"/>
          </a:p>
          <a:p>
            <a:pPr eaLnBrk="1" hangingPunct="1">
              <a:spcBef>
                <a:spcPct val="0"/>
              </a:spcBef>
              <a:buFont typeface="Georgia" panose="02040502050405020303" pitchFamily="18" charset="0"/>
              <a:buNone/>
            </a:pPr>
            <a:r>
              <a:rPr lang="en-US" altLang="zh-CN" sz="2400" dirty="0"/>
              <a:t>	  </a:t>
            </a:r>
            <a:r>
              <a:rPr lang="en-US" altLang="zh-CN" sz="2400" dirty="0">
                <a:solidFill>
                  <a:schemeClr val="hlink"/>
                </a:solidFill>
              </a:rPr>
              <a:t>Spoon</a:t>
            </a:r>
            <a:r>
              <a:rPr lang="en-US" altLang="zh-CN" sz="2400" dirty="0"/>
              <a:t> </a:t>
            </a:r>
            <a:r>
              <a:rPr lang="en-US" altLang="zh-CN" sz="2400" dirty="0" err="1"/>
              <a:t>sp</a:t>
            </a:r>
            <a:r>
              <a:rPr lang="en-US" altLang="zh-CN" sz="2400" dirty="0"/>
              <a:t>; </a:t>
            </a:r>
            <a:r>
              <a:rPr lang="en-US" altLang="zh-CN" sz="2400" dirty="0">
                <a:solidFill>
                  <a:schemeClr val="hlink"/>
                </a:solidFill>
              </a:rPr>
              <a:t>Fork</a:t>
            </a:r>
            <a:r>
              <a:rPr lang="en-US" altLang="zh-CN" sz="2400" dirty="0"/>
              <a:t> </a:t>
            </a:r>
            <a:r>
              <a:rPr lang="en-US" altLang="zh-CN" sz="2400" dirty="0" err="1"/>
              <a:t>frk</a:t>
            </a:r>
            <a:r>
              <a:rPr lang="en-US" altLang="zh-CN" sz="2400" dirty="0"/>
              <a:t>; </a:t>
            </a:r>
            <a:r>
              <a:rPr lang="en-US" altLang="zh-CN" sz="2400" dirty="0">
                <a:solidFill>
                  <a:schemeClr val="hlink"/>
                </a:solidFill>
              </a:rPr>
              <a:t>Knife</a:t>
            </a:r>
            <a:r>
              <a:rPr lang="en-US" altLang="zh-CN" sz="2400" dirty="0"/>
              <a:t> </a:t>
            </a:r>
            <a:r>
              <a:rPr lang="en-US" altLang="zh-CN" sz="2400" dirty="0" err="1"/>
              <a:t>kn</a:t>
            </a:r>
            <a:r>
              <a:rPr lang="en-US" altLang="zh-CN" sz="2400" dirty="0"/>
              <a:t>; </a:t>
            </a:r>
          </a:p>
          <a:p>
            <a:pPr eaLnBrk="1" hangingPunct="1">
              <a:spcBef>
                <a:spcPct val="0"/>
              </a:spcBef>
              <a:buFont typeface="Georgia" panose="02040502050405020303" pitchFamily="18" charset="0"/>
              <a:buNone/>
            </a:pPr>
            <a:r>
              <a:rPr lang="en-US" altLang="zh-CN" sz="2400" dirty="0"/>
              <a:t>	  </a:t>
            </a:r>
            <a:r>
              <a:rPr lang="en-US" altLang="zh-CN" sz="2400" dirty="0" err="1">
                <a:solidFill>
                  <a:schemeClr val="hlink"/>
                </a:solidFill>
              </a:rPr>
              <a:t>DinnerPlate</a:t>
            </a:r>
            <a:r>
              <a:rPr lang="en-US" altLang="zh-CN" sz="2400" dirty="0"/>
              <a:t> pl;</a:t>
            </a:r>
          </a:p>
          <a:p>
            <a:pPr eaLnBrk="1" hangingPunct="1">
              <a:spcBef>
                <a:spcPct val="0"/>
              </a:spcBef>
              <a:buFont typeface="Georgia" panose="02040502050405020303" pitchFamily="18" charset="0"/>
              <a:buNone/>
            </a:pPr>
            <a:r>
              <a:rPr lang="en-US" altLang="zh-CN" sz="2400" dirty="0"/>
              <a:t>	  public </a:t>
            </a:r>
            <a:r>
              <a:rPr lang="en-US" altLang="zh-CN" sz="2400" dirty="0" err="1"/>
              <a:t>PlaceSetting</a:t>
            </a:r>
            <a:r>
              <a:rPr lang="en-US" altLang="zh-CN" sz="2400" dirty="0"/>
              <a:t>(int </a:t>
            </a:r>
            <a:r>
              <a:rPr lang="en-US" altLang="zh-CN" sz="2400" dirty="0" err="1"/>
              <a:t>i</a:t>
            </a:r>
            <a:r>
              <a:rPr lang="en-US" altLang="zh-CN" sz="2400" dirty="0"/>
              <a:t>) {</a:t>
            </a:r>
          </a:p>
          <a:p>
            <a:pPr eaLnBrk="1" hangingPunct="1">
              <a:spcBef>
                <a:spcPct val="0"/>
              </a:spcBef>
              <a:buFont typeface="Georgia" panose="02040502050405020303" pitchFamily="18" charset="0"/>
              <a:buNone/>
            </a:pPr>
            <a:r>
              <a:rPr lang="en-US" altLang="zh-CN" sz="2400" dirty="0"/>
              <a:t>		  super(</a:t>
            </a:r>
            <a:r>
              <a:rPr lang="en-US" altLang="zh-CN" sz="2400" dirty="0" err="1"/>
              <a:t>i</a:t>
            </a:r>
            <a:r>
              <a:rPr lang="en-US" altLang="zh-CN" sz="2400" dirty="0"/>
              <a:t> + 1);</a:t>
            </a:r>
          </a:p>
          <a:p>
            <a:pPr eaLnBrk="1" hangingPunct="1">
              <a:spcBef>
                <a:spcPct val="0"/>
              </a:spcBef>
              <a:buFont typeface="Georgia" panose="02040502050405020303" pitchFamily="18" charset="0"/>
              <a:buNone/>
            </a:pPr>
            <a:r>
              <a:rPr lang="en-US" altLang="zh-CN" sz="2400" dirty="0"/>
              <a:t>		  </a:t>
            </a:r>
            <a:r>
              <a:rPr lang="en-US" altLang="zh-CN" sz="2400" dirty="0" err="1"/>
              <a:t>sp</a:t>
            </a:r>
            <a:r>
              <a:rPr lang="en-US" altLang="zh-CN" sz="2400" dirty="0"/>
              <a:t> = new Spoon(</a:t>
            </a:r>
            <a:r>
              <a:rPr lang="en-US" altLang="zh-CN" sz="2400" dirty="0" err="1"/>
              <a:t>i</a:t>
            </a:r>
            <a:r>
              <a:rPr lang="en-US" altLang="zh-CN" sz="2400" dirty="0"/>
              <a:t> + 2);</a:t>
            </a:r>
          </a:p>
          <a:p>
            <a:pPr eaLnBrk="1" hangingPunct="1">
              <a:spcBef>
                <a:spcPct val="0"/>
              </a:spcBef>
              <a:buFont typeface="Georgia" panose="02040502050405020303" pitchFamily="18" charset="0"/>
              <a:buNone/>
            </a:pPr>
            <a:r>
              <a:rPr lang="en-US" altLang="zh-CN" sz="2400" dirty="0"/>
              <a:t>		  </a:t>
            </a:r>
            <a:r>
              <a:rPr lang="en-US" altLang="zh-CN" sz="2400" dirty="0" err="1"/>
              <a:t>frk</a:t>
            </a:r>
            <a:r>
              <a:rPr lang="en-US" altLang="zh-CN" sz="2400" dirty="0"/>
              <a:t> = new Fork(</a:t>
            </a:r>
            <a:r>
              <a:rPr lang="en-US" altLang="zh-CN" sz="2400" dirty="0" err="1"/>
              <a:t>i</a:t>
            </a:r>
            <a:r>
              <a:rPr lang="en-US" altLang="zh-CN" sz="2400" dirty="0"/>
              <a:t> + 3);</a:t>
            </a:r>
          </a:p>
          <a:p>
            <a:pPr eaLnBrk="1" hangingPunct="1">
              <a:spcBef>
                <a:spcPct val="0"/>
              </a:spcBef>
              <a:buFont typeface="Georgia" panose="02040502050405020303" pitchFamily="18" charset="0"/>
              <a:buNone/>
            </a:pPr>
            <a:r>
              <a:rPr lang="en-US" altLang="zh-CN" sz="2400" dirty="0"/>
              <a:t>		  </a:t>
            </a:r>
            <a:r>
              <a:rPr lang="en-US" altLang="zh-CN" sz="2400" dirty="0" err="1"/>
              <a:t>kn</a:t>
            </a:r>
            <a:r>
              <a:rPr lang="en-US" altLang="zh-CN" sz="2400" dirty="0"/>
              <a:t> = new Knife(</a:t>
            </a:r>
            <a:r>
              <a:rPr lang="en-US" altLang="zh-CN" sz="2400" dirty="0" err="1"/>
              <a:t>i</a:t>
            </a:r>
            <a:r>
              <a:rPr lang="en-US" altLang="zh-CN" sz="2400" dirty="0"/>
              <a:t> + 4);</a:t>
            </a:r>
          </a:p>
          <a:p>
            <a:pPr eaLnBrk="1" hangingPunct="1">
              <a:spcBef>
                <a:spcPct val="0"/>
              </a:spcBef>
              <a:buFont typeface="Georgia" panose="02040502050405020303" pitchFamily="18" charset="0"/>
              <a:buNone/>
            </a:pPr>
            <a:r>
              <a:rPr lang="en-US" altLang="zh-CN" sz="2400" dirty="0"/>
              <a:t>		  pl = new </a:t>
            </a:r>
            <a:r>
              <a:rPr lang="en-US" altLang="zh-CN" sz="2400" dirty="0" err="1"/>
              <a:t>DinnerPlate</a:t>
            </a:r>
            <a:r>
              <a:rPr lang="en-US" altLang="zh-CN" sz="2400" dirty="0"/>
              <a:t>(</a:t>
            </a:r>
            <a:r>
              <a:rPr lang="en-US" altLang="zh-CN" sz="2400" dirty="0" err="1"/>
              <a:t>i</a:t>
            </a:r>
            <a:r>
              <a:rPr lang="en-US" altLang="zh-CN" sz="2400" dirty="0"/>
              <a:t> + 5);</a:t>
            </a:r>
          </a:p>
          <a:p>
            <a:pPr eaLnBrk="1" hangingPunct="1">
              <a:spcBef>
                <a:spcPct val="0"/>
              </a:spcBef>
              <a:buFont typeface="Georgia" panose="02040502050405020303" pitchFamily="18" charset="0"/>
              <a:buNone/>
            </a:pPr>
            <a:r>
              <a:rPr lang="en-US" altLang="zh-CN" sz="2400" dirty="0"/>
              <a:t>		  </a:t>
            </a:r>
            <a:r>
              <a:rPr lang="en-US" altLang="zh-CN" sz="2400" dirty="0" err="1"/>
              <a:t>System.out.println</a:t>
            </a:r>
            <a:r>
              <a:rPr lang="en-US" altLang="zh-CN" sz="2400" dirty="0"/>
              <a:t>("</a:t>
            </a:r>
            <a:r>
              <a:rPr lang="en-US" altLang="zh-CN" sz="2400" dirty="0" err="1"/>
              <a:t>PlaceSetting</a:t>
            </a:r>
            <a:r>
              <a:rPr lang="en-US" altLang="zh-CN" sz="2400" dirty="0"/>
              <a:t> constructor");</a:t>
            </a:r>
          </a:p>
          <a:p>
            <a:pPr eaLnBrk="1" hangingPunct="1">
              <a:spcBef>
                <a:spcPct val="0"/>
              </a:spcBef>
              <a:buFont typeface="Georgia" panose="02040502050405020303" pitchFamily="18" charset="0"/>
              <a:buNone/>
            </a:pPr>
            <a:r>
              <a:rPr lang="en-US" altLang="zh-CN" sz="2400" dirty="0"/>
              <a:t>	  }</a:t>
            </a:r>
          </a:p>
          <a:p>
            <a:pPr eaLnBrk="1" hangingPunct="1">
              <a:spcBef>
                <a:spcPct val="0"/>
              </a:spcBef>
              <a:buFont typeface="Georgia" panose="02040502050405020303" pitchFamily="18" charset="0"/>
              <a:buNone/>
            </a:pPr>
            <a:r>
              <a:rPr lang="en-US" altLang="zh-CN" sz="2400" dirty="0"/>
              <a:t>	  public static void main(String[] </a:t>
            </a:r>
            <a:r>
              <a:rPr lang="en-US" altLang="zh-CN" sz="2400" dirty="0" err="1"/>
              <a:t>args</a:t>
            </a:r>
            <a:r>
              <a:rPr lang="en-US" altLang="zh-CN" sz="2400" dirty="0"/>
              <a:t>) {</a:t>
            </a:r>
          </a:p>
          <a:p>
            <a:pPr eaLnBrk="1" hangingPunct="1">
              <a:spcBef>
                <a:spcPct val="0"/>
              </a:spcBef>
              <a:buFont typeface="Georgia" panose="02040502050405020303" pitchFamily="18" charset="0"/>
              <a:buNone/>
            </a:pPr>
            <a:r>
              <a:rPr lang="en-US" altLang="zh-CN" sz="2400" dirty="0"/>
              <a:t>		  </a:t>
            </a:r>
            <a:r>
              <a:rPr lang="en-US" altLang="zh-CN" sz="2400" dirty="0" err="1"/>
              <a:t>PlaceSetting</a:t>
            </a:r>
            <a:r>
              <a:rPr lang="en-US" altLang="zh-CN" sz="2400" dirty="0"/>
              <a:t> x = new </a:t>
            </a:r>
            <a:r>
              <a:rPr lang="en-US" altLang="zh-CN" sz="2400" dirty="0" err="1"/>
              <a:t>PlaceSetting</a:t>
            </a:r>
            <a:r>
              <a:rPr lang="en-US" altLang="zh-CN" sz="2400" dirty="0"/>
              <a:t>(9);	</a:t>
            </a:r>
          </a:p>
          <a:p>
            <a:pPr eaLnBrk="1" hangingPunct="1">
              <a:spcBef>
                <a:spcPct val="0"/>
              </a:spcBef>
              <a:buFont typeface="Georgia" panose="02040502050405020303" pitchFamily="18" charset="0"/>
              <a:buNone/>
            </a:pPr>
            <a:r>
              <a:rPr lang="en-US" altLang="zh-CN" sz="2400" dirty="0"/>
              <a:t>    }</a:t>
            </a:r>
          </a:p>
          <a:p>
            <a:pPr eaLnBrk="1" hangingPunct="1">
              <a:spcBef>
                <a:spcPct val="0"/>
              </a:spcBef>
              <a:buFont typeface="Georgia" panose="02040502050405020303" pitchFamily="18" charset="0"/>
              <a:buNone/>
            </a:pPr>
            <a:r>
              <a:rPr lang="en-US" altLang="zh-CN" sz="2400" dirty="0"/>
              <a:t>} </a:t>
            </a:r>
            <a:endParaRPr lang="zh-CN" altLang="en-US" sz="2400" dirty="0"/>
          </a:p>
        </p:txBody>
      </p:sp>
      <p:sp>
        <p:nvSpPr>
          <p:cNvPr id="4" name="TextBox 3">
            <a:extLst>
              <a:ext uri="{FF2B5EF4-FFF2-40B4-BE49-F238E27FC236}">
                <a16:creationId xmlns:a16="http://schemas.microsoft.com/office/drawing/2014/main" id="{F1BC01C6-19A1-FC8E-B1E4-219669C3B098}"/>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CF48EF3E-48D7-4EFB-3E1F-6FAA44E89C37}"/>
              </a:ext>
            </a:extLst>
          </p:cNvPr>
          <p:cNvSpPr txBox="1"/>
          <p:nvPr>
            <p:custDataLst>
              <p:tags r:id="rId2"/>
            </p:custDataLst>
          </p:nvPr>
        </p:nvSpPr>
        <p:spPr>
          <a:xfrm>
            <a:off x="407368" y="1015213"/>
            <a:ext cx="324036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组合与继承的结合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1" name="Rectangle 3"/>
          <p:cNvSpPr>
            <a:spLocks noGrp="1" noChangeArrowheads="1"/>
          </p:cNvSpPr>
          <p:nvPr>
            <p:ph idx="4294967295"/>
          </p:nvPr>
        </p:nvSpPr>
        <p:spPr>
          <a:xfrm>
            <a:off x="3503712" y="1772816"/>
            <a:ext cx="6206480" cy="4525963"/>
          </a:xfrm>
          <a:prstGeom prst="rect">
            <a:avLst/>
          </a:prstGeom>
        </p:spPr>
        <p:txBody>
          <a:bodyPr lIns="92075" tIns="46038" rIns="92075" bIns="46038">
            <a:normAutofit lnSpcReduction="10000"/>
          </a:bodyPr>
          <a:lstStyle/>
          <a:p>
            <a:pPr marL="0" indent="0" eaLnBrk="1" hangingPunct="1">
              <a:lnSpc>
                <a:spcPct val="90000"/>
              </a:lnSpc>
              <a:buNone/>
            </a:pPr>
            <a:r>
              <a:rPr lang="zh-CN" altLang="en-US" dirty="0"/>
              <a:t>运行结果</a:t>
            </a:r>
          </a:p>
          <a:p>
            <a:pPr lvl="1" eaLnBrk="1" hangingPunct="1">
              <a:lnSpc>
                <a:spcPct val="90000"/>
              </a:lnSpc>
              <a:buFont typeface="Georgia" panose="02040502050405020303" pitchFamily="18" charset="0"/>
              <a:buNone/>
            </a:pPr>
            <a:r>
              <a:rPr lang="en-US" altLang="zh-CN" sz="2400" dirty="0"/>
              <a:t>Custom constructor</a:t>
            </a:r>
          </a:p>
          <a:p>
            <a:pPr lvl="1" eaLnBrk="1" hangingPunct="1">
              <a:lnSpc>
                <a:spcPct val="90000"/>
              </a:lnSpc>
              <a:buFont typeface="Georgia" panose="02040502050405020303" pitchFamily="18" charset="0"/>
              <a:buNone/>
            </a:pPr>
            <a:r>
              <a:rPr lang="en-US" altLang="zh-CN" sz="2400" dirty="0"/>
              <a:t>Utensil constructor</a:t>
            </a:r>
          </a:p>
          <a:p>
            <a:pPr lvl="1" eaLnBrk="1" hangingPunct="1">
              <a:lnSpc>
                <a:spcPct val="90000"/>
              </a:lnSpc>
              <a:buFont typeface="Georgia" panose="02040502050405020303" pitchFamily="18" charset="0"/>
              <a:buNone/>
            </a:pPr>
            <a:r>
              <a:rPr lang="en-US" altLang="zh-CN" sz="2400" dirty="0"/>
              <a:t>Spoon constructor</a:t>
            </a:r>
          </a:p>
          <a:p>
            <a:pPr lvl="1" eaLnBrk="1" hangingPunct="1">
              <a:lnSpc>
                <a:spcPct val="90000"/>
              </a:lnSpc>
              <a:buFont typeface="Georgia" panose="02040502050405020303" pitchFamily="18" charset="0"/>
              <a:buNone/>
            </a:pPr>
            <a:r>
              <a:rPr lang="en-US" altLang="zh-CN" sz="2400" dirty="0"/>
              <a:t>Utensil constructor</a:t>
            </a:r>
          </a:p>
          <a:p>
            <a:pPr lvl="1" eaLnBrk="1" hangingPunct="1">
              <a:lnSpc>
                <a:spcPct val="90000"/>
              </a:lnSpc>
              <a:buFont typeface="Georgia" panose="02040502050405020303" pitchFamily="18" charset="0"/>
              <a:buNone/>
            </a:pPr>
            <a:r>
              <a:rPr lang="en-US" altLang="zh-CN" sz="2400" dirty="0"/>
              <a:t>Fork constructor</a:t>
            </a:r>
          </a:p>
          <a:p>
            <a:pPr lvl="1" eaLnBrk="1" hangingPunct="1">
              <a:lnSpc>
                <a:spcPct val="90000"/>
              </a:lnSpc>
              <a:buFont typeface="Georgia" panose="02040502050405020303" pitchFamily="18" charset="0"/>
              <a:buNone/>
            </a:pPr>
            <a:r>
              <a:rPr lang="en-US" altLang="zh-CN" sz="2400" dirty="0"/>
              <a:t>Utensil constructor</a:t>
            </a:r>
          </a:p>
          <a:p>
            <a:pPr lvl="1" eaLnBrk="1" hangingPunct="1">
              <a:lnSpc>
                <a:spcPct val="90000"/>
              </a:lnSpc>
              <a:buFont typeface="Georgia" panose="02040502050405020303" pitchFamily="18" charset="0"/>
              <a:buNone/>
            </a:pPr>
            <a:r>
              <a:rPr lang="en-US" altLang="zh-CN" sz="2400" dirty="0"/>
              <a:t>Knife constructor</a:t>
            </a:r>
          </a:p>
          <a:p>
            <a:pPr lvl="1" eaLnBrk="1" hangingPunct="1">
              <a:lnSpc>
                <a:spcPct val="90000"/>
              </a:lnSpc>
              <a:buFont typeface="Georgia" panose="02040502050405020303" pitchFamily="18" charset="0"/>
              <a:buNone/>
            </a:pPr>
            <a:r>
              <a:rPr lang="en-US" altLang="zh-CN" sz="2400" dirty="0"/>
              <a:t>Plate constructor</a:t>
            </a:r>
          </a:p>
          <a:p>
            <a:pPr lvl="1" eaLnBrk="1" hangingPunct="1">
              <a:lnSpc>
                <a:spcPct val="90000"/>
              </a:lnSpc>
              <a:buFont typeface="Georgia" panose="02040502050405020303" pitchFamily="18" charset="0"/>
              <a:buNone/>
            </a:pPr>
            <a:r>
              <a:rPr lang="en-US" altLang="zh-CN" sz="2400" dirty="0" err="1"/>
              <a:t>DinnerPlate</a:t>
            </a:r>
            <a:r>
              <a:rPr lang="en-US" altLang="zh-CN" sz="2400" dirty="0"/>
              <a:t> constructor</a:t>
            </a:r>
          </a:p>
          <a:p>
            <a:pPr lvl="1" eaLnBrk="1" hangingPunct="1">
              <a:lnSpc>
                <a:spcPct val="90000"/>
              </a:lnSpc>
              <a:buFont typeface="Georgia" panose="02040502050405020303" pitchFamily="18" charset="0"/>
              <a:buNone/>
            </a:pPr>
            <a:r>
              <a:rPr lang="en-US" altLang="zh-CN" sz="2400" dirty="0" err="1"/>
              <a:t>PlaceSetting</a:t>
            </a:r>
            <a:r>
              <a:rPr lang="en-US" altLang="zh-CN" sz="2400" dirty="0"/>
              <a:t> constructor</a:t>
            </a:r>
          </a:p>
          <a:p>
            <a:pPr eaLnBrk="1" hangingPunct="1">
              <a:lnSpc>
                <a:spcPct val="90000"/>
              </a:lnSpc>
            </a:pPr>
            <a:endParaRPr lang="zh-CN" altLang="en-US" dirty="0"/>
          </a:p>
        </p:txBody>
      </p:sp>
      <p:sp>
        <p:nvSpPr>
          <p:cNvPr id="4" name="TextBox 3">
            <a:extLst>
              <a:ext uri="{FF2B5EF4-FFF2-40B4-BE49-F238E27FC236}">
                <a16:creationId xmlns:a16="http://schemas.microsoft.com/office/drawing/2014/main" id="{D16A28B5-D49F-447D-6FE8-5B9CC824FA26}"/>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en-US" altLang="zh-CN" sz="3200" dirty="0">
                <a:ln w="11430">
                  <a:noFill/>
                </a:ln>
                <a:solidFill>
                  <a:srgbClr val="255EAB"/>
                </a:solidFill>
                <a:latin typeface="楷体" panose="02010609060101010101" pitchFamily="49" charset="-122"/>
                <a:ea typeface="楷体" panose="02010609060101010101" pitchFamily="49" charset="-122"/>
              </a:rPr>
              <a:t>3.5 </a:t>
            </a:r>
            <a:r>
              <a:rPr lang="zh-CN" altLang="en-US" sz="3200" dirty="0">
                <a:ln w="11430">
                  <a:noFill/>
                </a:ln>
                <a:solidFill>
                  <a:srgbClr val="255EAB"/>
                </a:solidFill>
                <a:latin typeface="楷体" panose="02010609060101010101" pitchFamily="49" charset="-122"/>
                <a:ea typeface="楷体" panose="02010609060101010101" pitchFamily="49" charset="-122"/>
              </a:rPr>
              <a:t>类的组合</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BE0DBFD4-CBD4-0407-8D6C-8336CF30325F}"/>
              </a:ext>
            </a:extLst>
          </p:cNvPr>
          <p:cNvSpPr txBox="1"/>
          <p:nvPr>
            <p:custDataLst>
              <p:tags r:id="rId2"/>
            </p:custDataLst>
          </p:nvPr>
        </p:nvSpPr>
        <p:spPr>
          <a:xfrm>
            <a:off x="407368" y="1015213"/>
            <a:ext cx="324036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组合与继承的结合</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A266B-B7EE-5591-B318-FB484AD1878F}"/>
            </a:ext>
          </a:extLst>
        </p:cNvPr>
        <p:cNvGrpSpPr/>
        <p:nvPr/>
      </p:nvGrpSpPr>
      <p:grpSpPr>
        <a:xfrm>
          <a:off x="0" y="0"/>
          <a:ext cx="0" cy="0"/>
          <a:chOff x="0" y="0"/>
          <a:chExt cx="0" cy="0"/>
        </a:xfrm>
      </p:grpSpPr>
      <p:sp>
        <p:nvSpPr>
          <p:cNvPr id="191491" name="Rectangle 3">
            <a:extLst>
              <a:ext uri="{FF2B5EF4-FFF2-40B4-BE49-F238E27FC236}">
                <a16:creationId xmlns:a16="http://schemas.microsoft.com/office/drawing/2014/main" id="{85D4D8E7-340E-D0F5-546C-2E342B7ED66A}"/>
              </a:ext>
            </a:extLst>
          </p:cNvPr>
          <p:cNvSpPr>
            <a:spLocks noGrp="1" noChangeArrowheads="1"/>
          </p:cNvSpPr>
          <p:nvPr>
            <p:ph idx="4294967295"/>
          </p:nvPr>
        </p:nvSpPr>
        <p:spPr>
          <a:xfrm>
            <a:off x="5591944" y="1253739"/>
            <a:ext cx="6480720" cy="5490571"/>
          </a:xfrm>
          <a:prstGeom prst="rect">
            <a:avLst/>
          </a:prstGeom>
        </p:spPr>
        <p:txBody>
          <a:bodyPr lIns="92075" tIns="46038" rIns="92075" bIns="46038">
            <a:normAutofit fontScale="92500" lnSpcReduction="20000"/>
          </a:bodyPr>
          <a:lstStyle/>
          <a:p>
            <a:pPr marL="0" indent="0" eaLnBrk="1" hangingPunct="1">
              <a:lnSpc>
                <a:spcPct val="90000"/>
              </a:lnSpc>
              <a:buNone/>
            </a:pPr>
            <a:r>
              <a:rPr lang="en-US" altLang="zh-CN" dirty="0"/>
              <a:t>public </a:t>
            </a:r>
            <a:r>
              <a:rPr lang="en-US" altLang="zh-CN" dirty="0" err="1"/>
              <a:t>PlaceSetting</a:t>
            </a:r>
            <a:r>
              <a:rPr lang="en-US" altLang="zh-CN" dirty="0"/>
              <a:t>(int </a:t>
            </a:r>
            <a:r>
              <a:rPr lang="en-US" altLang="zh-CN" dirty="0" err="1"/>
              <a:t>i</a:t>
            </a:r>
            <a:r>
              <a:rPr lang="en-US" altLang="zh-CN" dirty="0"/>
              <a:t>) {</a:t>
            </a:r>
          </a:p>
          <a:p>
            <a:pPr marL="0" indent="0" eaLnBrk="1" hangingPunct="1">
              <a:lnSpc>
                <a:spcPct val="160000"/>
              </a:lnSpc>
              <a:spcBef>
                <a:spcPts val="0"/>
              </a:spcBef>
              <a:buNone/>
            </a:pPr>
            <a:r>
              <a:rPr lang="en-US" altLang="zh-CN" dirty="0"/>
              <a:t>    super(</a:t>
            </a:r>
            <a:r>
              <a:rPr lang="en-US" altLang="zh-CN" dirty="0" err="1"/>
              <a:t>i</a:t>
            </a:r>
            <a:r>
              <a:rPr lang="en-US" altLang="zh-CN" dirty="0"/>
              <a:t> + 1);</a:t>
            </a:r>
          </a:p>
          <a:p>
            <a:pPr marL="0" indent="0" eaLnBrk="1" hangingPunct="1">
              <a:lnSpc>
                <a:spcPct val="160000"/>
              </a:lnSpc>
              <a:spcBef>
                <a:spcPts val="0"/>
              </a:spcBef>
              <a:buNone/>
            </a:pPr>
            <a:r>
              <a:rPr lang="en-US" altLang="zh-CN" dirty="0"/>
              <a:t>    </a:t>
            </a:r>
            <a:r>
              <a:rPr lang="en-US" altLang="zh-CN" dirty="0" err="1"/>
              <a:t>sp</a:t>
            </a:r>
            <a:r>
              <a:rPr lang="en-US" altLang="zh-CN" dirty="0"/>
              <a:t> = new Spoon(</a:t>
            </a:r>
            <a:r>
              <a:rPr lang="en-US" altLang="zh-CN" dirty="0" err="1"/>
              <a:t>i</a:t>
            </a:r>
            <a:r>
              <a:rPr lang="en-US" altLang="zh-CN" dirty="0"/>
              <a:t> + 2);</a:t>
            </a:r>
          </a:p>
          <a:p>
            <a:pPr marL="0" indent="0" eaLnBrk="1" hangingPunct="1">
              <a:lnSpc>
                <a:spcPct val="160000"/>
              </a:lnSpc>
              <a:spcBef>
                <a:spcPts val="0"/>
              </a:spcBef>
              <a:buNone/>
            </a:pPr>
            <a:r>
              <a:rPr lang="en-US" altLang="zh-CN" dirty="0"/>
              <a:t>    </a:t>
            </a:r>
            <a:r>
              <a:rPr lang="en-US" altLang="zh-CN" dirty="0" err="1"/>
              <a:t>frk</a:t>
            </a:r>
            <a:r>
              <a:rPr lang="en-US" altLang="zh-CN" dirty="0"/>
              <a:t> = new Fork(</a:t>
            </a:r>
            <a:r>
              <a:rPr lang="en-US" altLang="zh-CN" dirty="0" err="1"/>
              <a:t>i</a:t>
            </a:r>
            <a:r>
              <a:rPr lang="en-US" altLang="zh-CN" dirty="0"/>
              <a:t> + 3);</a:t>
            </a:r>
          </a:p>
          <a:p>
            <a:pPr marL="0" indent="0" eaLnBrk="1" hangingPunct="1">
              <a:lnSpc>
                <a:spcPct val="160000"/>
              </a:lnSpc>
              <a:spcBef>
                <a:spcPts val="0"/>
              </a:spcBef>
              <a:buNone/>
            </a:pPr>
            <a:r>
              <a:rPr lang="en-US" altLang="zh-CN" dirty="0"/>
              <a:t>    </a:t>
            </a:r>
            <a:r>
              <a:rPr lang="en-US" altLang="zh-CN" dirty="0" err="1"/>
              <a:t>kn</a:t>
            </a:r>
            <a:r>
              <a:rPr lang="en-US" altLang="zh-CN" dirty="0"/>
              <a:t> = new Knife(</a:t>
            </a:r>
            <a:r>
              <a:rPr lang="en-US" altLang="zh-CN" dirty="0" err="1"/>
              <a:t>i</a:t>
            </a:r>
            <a:r>
              <a:rPr lang="en-US" altLang="zh-CN" dirty="0"/>
              <a:t> + 4);</a:t>
            </a:r>
          </a:p>
          <a:p>
            <a:pPr marL="0" indent="0" eaLnBrk="1" hangingPunct="1">
              <a:lnSpc>
                <a:spcPct val="160000"/>
              </a:lnSpc>
              <a:spcBef>
                <a:spcPts val="0"/>
              </a:spcBef>
              <a:buNone/>
            </a:pPr>
            <a:r>
              <a:rPr lang="en-US" altLang="zh-CN" dirty="0"/>
              <a:t>    pl = new </a:t>
            </a:r>
            <a:r>
              <a:rPr lang="en-US" altLang="zh-CN" dirty="0" err="1"/>
              <a:t>DinnerPlate</a:t>
            </a:r>
            <a:r>
              <a:rPr lang="en-US" altLang="zh-CN" dirty="0"/>
              <a:t>(</a:t>
            </a:r>
            <a:r>
              <a:rPr lang="en-US" altLang="zh-CN" dirty="0" err="1"/>
              <a:t>i</a:t>
            </a:r>
            <a:r>
              <a:rPr lang="en-US" altLang="zh-CN" dirty="0"/>
              <a:t> + 5)  </a:t>
            </a:r>
            <a:r>
              <a:rPr lang="en-US" altLang="zh-CN" dirty="0" err="1"/>
              <a:t>System.out.println</a:t>
            </a:r>
            <a:r>
              <a:rPr lang="en-US" altLang="zh-CN" dirty="0"/>
              <a:t>("</a:t>
            </a:r>
            <a:r>
              <a:rPr lang="en-US" altLang="zh-CN" dirty="0" err="1"/>
              <a:t>PlaceSetting</a:t>
            </a:r>
            <a:r>
              <a:rPr lang="en-US" altLang="zh-CN" dirty="0"/>
              <a:t> constructor");</a:t>
            </a:r>
          </a:p>
          <a:p>
            <a:pPr marL="0" indent="0" eaLnBrk="1" hangingPunct="1">
              <a:lnSpc>
                <a:spcPct val="160000"/>
              </a:lnSpc>
              <a:spcBef>
                <a:spcPts val="0"/>
              </a:spcBef>
              <a:buNone/>
            </a:pPr>
            <a:r>
              <a:rPr lang="en-US" altLang="zh-CN" dirty="0"/>
              <a:t>}</a:t>
            </a:r>
            <a:endParaRPr lang="zh-CN" altLang="en-US" dirty="0"/>
          </a:p>
        </p:txBody>
      </p:sp>
      <p:sp>
        <p:nvSpPr>
          <p:cNvPr id="4" name="TextBox 3">
            <a:extLst>
              <a:ext uri="{FF2B5EF4-FFF2-40B4-BE49-F238E27FC236}">
                <a16:creationId xmlns:a16="http://schemas.microsoft.com/office/drawing/2014/main" id="{47A1180E-8EE1-BE7B-FC95-9A05FD69135C}"/>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zh-CN" altLang="en-US" sz="3200" dirty="0">
                <a:ln w="11430">
                  <a:noFill/>
                </a:ln>
                <a:solidFill>
                  <a:srgbClr val="255EAB"/>
                </a:solidFill>
                <a:latin typeface="楷体" panose="02010609060101010101" pitchFamily="49" charset="-122"/>
                <a:ea typeface="楷体" panose="02010609060101010101" pitchFamily="49" charset="-122"/>
              </a:rPr>
              <a:t>难点总结</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1D2F66A9-B7A9-ADAE-71FB-6F41F2960003}"/>
              </a:ext>
            </a:extLst>
          </p:cNvPr>
          <p:cNvSpPr txBox="1"/>
          <p:nvPr>
            <p:custDataLst>
              <p:tags r:id="rId2"/>
            </p:custDataLst>
          </p:nvPr>
        </p:nvSpPr>
        <p:spPr>
          <a:xfrm>
            <a:off x="407368" y="1015213"/>
            <a:ext cx="453650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有继承的构造函数执行顺序</a:t>
            </a:r>
          </a:p>
        </p:txBody>
      </p:sp>
      <p:pic>
        <p:nvPicPr>
          <p:cNvPr id="21" name="图片 20">
            <a:extLst>
              <a:ext uri="{FF2B5EF4-FFF2-40B4-BE49-F238E27FC236}">
                <a16:creationId xmlns:a16="http://schemas.microsoft.com/office/drawing/2014/main" id="{58DBF6C8-6315-BC41-333F-60872F7C18E9}"/>
              </a:ext>
            </a:extLst>
          </p:cNvPr>
          <p:cNvPicPr>
            <a:picLocks noChangeAspect="1"/>
          </p:cNvPicPr>
          <p:nvPr/>
        </p:nvPicPr>
        <p:blipFill>
          <a:blip r:embed="rId5"/>
          <a:stretch>
            <a:fillRect/>
          </a:stretch>
        </p:blipFill>
        <p:spPr>
          <a:xfrm>
            <a:off x="119336" y="1700808"/>
            <a:ext cx="5831926" cy="4815153"/>
          </a:xfrm>
          <a:prstGeom prst="rect">
            <a:avLst/>
          </a:prstGeom>
        </p:spPr>
      </p:pic>
    </p:spTree>
    <p:extLst>
      <p:ext uri="{BB962C8B-B14F-4D97-AF65-F5344CB8AC3E}">
        <p14:creationId xmlns:p14="http://schemas.microsoft.com/office/powerpoint/2010/main" val="239490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animEffect transition="in" filter="wipe(down)">
                                      <p:cBhvr>
                                        <p:cTn id="7" dur="500"/>
                                        <p:tgtEl>
                                          <p:spTgt spid="191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91491">
                                            <p:txEl>
                                              <p:pRg st="1" end="1"/>
                                            </p:txEl>
                                          </p:spTgt>
                                        </p:tgtEl>
                                        <p:attrNameLst>
                                          <p:attrName>style.visibility</p:attrName>
                                        </p:attrNameLst>
                                      </p:cBhvr>
                                      <p:to>
                                        <p:strVal val="visible"/>
                                      </p:to>
                                    </p:set>
                                    <p:animEffect transition="in" filter="wipe(down)">
                                      <p:cBhvr>
                                        <p:cTn id="12" dur="500"/>
                                        <p:tgtEl>
                                          <p:spTgt spid="191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1491">
                                            <p:txEl>
                                              <p:pRg st="2" end="2"/>
                                            </p:txEl>
                                          </p:spTgt>
                                        </p:tgtEl>
                                        <p:attrNameLst>
                                          <p:attrName>style.visibility</p:attrName>
                                        </p:attrNameLst>
                                      </p:cBhvr>
                                      <p:to>
                                        <p:strVal val="visible"/>
                                      </p:to>
                                    </p:set>
                                    <p:animEffect transition="in" filter="wipe(down)">
                                      <p:cBhvr>
                                        <p:cTn id="17" dur="500"/>
                                        <p:tgtEl>
                                          <p:spTgt spid="191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91491">
                                            <p:txEl>
                                              <p:pRg st="3" end="3"/>
                                            </p:txEl>
                                          </p:spTgt>
                                        </p:tgtEl>
                                        <p:attrNameLst>
                                          <p:attrName>style.visibility</p:attrName>
                                        </p:attrNameLst>
                                      </p:cBhvr>
                                      <p:to>
                                        <p:strVal val="visible"/>
                                      </p:to>
                                    </p:set>
                                    <p:animEffect transition="in" filter="wipe(down)">
                                      <p:cBhvr>
                                        <p:cTn id="22" dur="500"/>
                                        <p:tgtEl>
                                          <p:spTgt spid="1914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91491">
                                            <p:txEl>
                                              <p:pRg st="4" end="4"/>
                                            </p:txEl>
                                          </p:spTgt>
                                        </p:tgtEl>
                                        <p:attrNameLst>
                                          <p:attrName>style.visibility</p:attrName>
                                        </p:attrNameLst>
                                      </p:cBhvr>
                                      <p:to>
                                        <p:strVal val="visible"/>
                                      </p:to>
                                    </p:set>
                                    <p:animEffect transition="in" filter="wipe(down)">
                                      <p:cBhvr>
                                        <p:cTn id="27" dur="500"/>
                                        <p:tgtEl>
                                          <p:spTgt spid="1914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91491">
                                            <p:txEl>
                                              <p:pRg st="5" end="5"/>
                                            </p:txEl>
                                          </p:spTgt>
                                        </p:tgtEl>
                                        <p:attrNameLst>
                                          <p:attrName>style.visibility</p:attrName>
                                        </p:attrNameLst>
                                      </p:cBhvr>
                                      <p:to>
                                        <p:strVal val="visible"/>
                                      </p:to>
                                    </p:set>
                                    <p:animEffect transition="in" filter="wipe(down)">
                                      <p:cBhvr>
                                        <p:cTn id="32" dur="500"/>
                                        <p:tgtEl>
                                          <p:spTgt spid="1914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1491">
                                            <p:txEl>
                                              <p:pRg st="6" end="6"/>
                                            </p:txEl>
                                          </p:spTgt>
                                        </p:tgtEl>
                                        <p:attrNameLst>
                                          <p:attrName>style.visibility</p:attrName>
                                        </p:attrNameLst>
                                      </p:cBhvr>
                                      <p:to>
                                        <p:strVal val="visible"/>
                                      </p:to>
                                    </p:set>
                                    <p:animEffect transition="in" filter="wipe(down)">
                                      <p:cBhvr>
                                        <p:cTn id="37" dur="500"/>
                                        <p:tgtEl>
                                          <p:spTgt spid="1914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E8A26-FA06-13A2-E3F9-69D30C1EF1C6}"/>
            </a:ext>
          </a:extLst>
        </p:cNvPr>
        <p:cNvGrpSpPr/>
        <p:nvPr/>
      </p:nvGrpSpPr>
      <p:grpSpPr>
        <a:xfrm>
          <a:off x="0" y="0"/>
          <a:ext cx="0" cy="0"/>
          <a:chOff x="0" y="0"/>
          <a:chExt cx="0" cy="0"/>
        </a:xfrm>
      </p:grpSpPr>
      <p:sp>
        <p:nvSpPr>
          <p:cNvPr id="191491" name="Rectangle 3">
            <a:extLst>
              <a:ext uri="{FF2B5EF4-FFF2-40B4-BE49-F238E27FC236}">
                <a16:creationId xmlns:a16="http://schemas.microsoft.com/office/drawing/2014/main" id="{3346386D-7D9F-9BC2-71CE-1FEC5218078A}"/>
              </a:ext>
            </a:extLst>
          </p:cNvPr>
          <p:cNvSpPr>
            <a:spLocks noGrp="1" noChangeArrowheads="1"/>
          </p:cNvSpPr>
          <p:nvPr>
            <p:ph idx="4294967295"/>
          </p:nvPr>
        </p:nvSpPr>
        <p:spPr>
          <a:xfrm>
            <a:off x="839416" y="2208621"/>
            <a:ext cx="10801200" cy="2876563"/>
          </a:xfrm>
          <a:prstGeom prst="rect">
            <a:avLst/>
          </a:prstGeom>
        </p:spPr>
        <p:txBody>
          <a:bodyPr lIns="92075" tIns="46038" rIns="92075" bIns="46038">
            <a:normAutofit/>
          </a:bodyPr>
          <a:lstStyle/>
          <a:p>
            <a:pPr marL="514350" indent="-514350" eaLnBrk="1" hangingPunct="1">
              <a:lnSpc>
                <a:spcPct val="90000"/>
              </a:lnSpc>
              <a:buFont typeface="+mj-lt"/>
              <a:buAutoNum type="arabicPeriod"/>
            </a:pPr>
            <a:r>
              <a:rPr lang="zh-CN" altLang="en-US" dirty="0"/>
              <a:t>静态成员变量：类第一次加载 → 执行（仅 </a:t>
            </a:r>
            <a:r>
              <a:rPr lang="en-US" altLang="zh-CN" dirty="0"/>
              <a:t>1 </a:t>
            </a:r>
            <a:r>
              <a:rPr lang="zh-CN" altLang="en-US" dirty="0"/>
              <a:t>次）</a:t>
            </a:r>
            <a:endParaRPr lang="en-US" altLang="zh-CN" dirty="0"/>
          </a:p>
          <a:p>
            <a:pPr marL="514350" indent="-514350" eaLnBrk="1" hangingPunct="1">
              <a:lnSpc>
                <a:spcPct val="90000"/>
              </a:lnSpc>
              <a:buFont typeface="+mj-lt"/>
              <a:buAutoNum type="arabicPeriod"/>
            </a:pPr>
            <a:endParaRPr lang="en-US" altLang="zh-CN" dirty="0"/>
          </a:p>
          <a:p>
            <a:pPr marL="514350" indent="-514350" eaLnBrk="1" hangingPunct="1">
              <a:lnSpc>
                <a:spcPct val="90000"/>
              </a:lnSpc>
              <a:buFont typeface="+mj-lt"/>
              <a:buAutoNum type="arabicPeriod"/>
            </a:pPr>
            <a:r>
              <a:rPr lang="zh-CN" altLang="en-US" dirty="0"/>
              <a:t>实例成员变量：</a:t>
            </a:r>
            <a:r>
              <a:rPr lang="en-US" altLang="zh-CN" dirty="0"/>
              <a:t>new </a:t>
            </a:r>
            <a:r>
              <a:rPr lang="zh-CN" altLang="en-US" dirty="0"/>
              <a:t>创建对象 → 执行（每个对象 </a:t>
            </a:r>
            <a:r>
              <a:rPr lang="en-US" altLang="zh-CN" dirty="0"/>
              <a:t>1 </a:t>
            </a:r>
            <a:r>
              <a:rPr lang="zh-CN" altLang="en-US" dirty="0"/>
              <a:t>次）</a:t>
            </a:r>
            <a:endParaRPr lang="en-US" altLang="zh-CN" dirty="0"/>
          </a:p>
          <a:p>
            <a:pPr marL="514350" indent="-514350" eaLnBrk="1" hangingPunct="1">
              <a:lnSpc>
                <a:spcPct val="90000"/>
              </a:lnSpc>
              <a:buFont typeface="+mj-lt"/>
              <a:buAutoNum type="arabicPeriod"/>
            </a:pPr>
            <a:endParaRPr lang="en-US" altLang="zh-CN" dirty="0"/>
          </a:p>
          <a:p>
            <a:pPr marL="514350" indent="-514350" eaLnBrk="1" hangingPunct="1">
              <a:lnSpc>
                <a:spcPct val="90000"/>
              </a:lnSpc>
              <a:buFont typeface="+mj-lt"/>
              <a:buAutoNum type="arabicPeriod"/>
            </a:pPr>
            <a:r>
              <a:rPr lang="zh-CN" altLang="en-US" dirty="0"/>
              <a:t>执行顺序：静态变量 → 实例变量 → 构造方法</a:t>
            </a:r>
          </a:p>
        </p:txBody>
      </p:sp>
      <p:sp>
        <p:nvSpPr>
          <p:cNvPr id="4" name="TextBox 3">
            <a:extLst>
              <a:ext uri="{FF2B5EF4-FFF2-40B4-BE49-F238E27FC236}">
                <a16:creationId xmlns:a16="http://schemas.microsoft.com/office/drawing/2014/main" id="{1519CB8D-92D4-1409-0152-32E94618A9E3}"/>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zh-CN" altLang="en-US" sz="3200" dirty="0">
                <a:ln w="11430">
                  <a:noFill/>
                </a:ln>
                <a:solidFill>
                  <a:srgbClr val="255EAB"/>
                </a:solidFill>
                <a:latin typeface="楷体" panose="02010609060101010101" pitchFamily="49" charset="-122"/>
                <a:ea typeface="楷体" panose="02010609060101010101" pitchFamily="49" charset="-122"/>
              </a:rPr>
              <a:t>难点总结</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9573EED0-FD0B-906C-392A-7098DBBF1C1B}"/>
              </a:ext>
            </a:extLst>
          </p:cNvPr>
          <p:cNvSpPr txBox="1"/>
          <p:nvPr>
            <p:custDataLst>
              <p:tags r:id="rId2"/>
            </p:custDataLst>
          </p:nvPr>
        </p:nvSpPr>
        <p:spPr>
          <a:xfrm>
            <a:off x="407368" y="1015213"/>
            <a:ext cx="453650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有继承的成员变量执行时机</a:t>
            </a:r>
          </a:p>
        </p:txBody>
      </p:sp>
    </p:spTree>
    <p:extLst>
      <p:ext uri="{BB962C8B-B14F-4D97-AF65-F5344CB8AC3E}">
        <p14:creationId xmlns:p14="http://schemas.microsoft.com/office/powerpoint/2010/main" val="25410081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C6641-5760-26C3-10DC-4EAA950832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C38501-5B62-5BB9-82EC-B7295709CAB1}"/>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zh-CN" altLang="en-US" sz="3200" dirty="0">
                <a:ln w="11430">
                  <a:noFill/>
                </a:ln>
                <a:solidFill>
                  <a:srgbClr val="255EAB"/>
                </a:solidFill>
                <a:latin typeface="楷体" panose="02010609060101010101" pitchFamily="49" charset="-122"/>
                <a:ea typeface="楷体" panose="02010609060101010101" pitchFamily="49" charset="-122"/>
              </a:rPr>
              <a:t>难点总结</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EE5C6AD4-D92B-91C0-EA13-655063921243}"/>
              </a:ext>
            </a:extLst>
          </p:cNvPr>
          <p:cNvSpPr txBox="1"/>
          <p:nvPr>
            <p:custDataLst>
              <p:tags r:id="rId2"/>
            </p:custDataLst>
          </p:nvPr>
        </p:nvSpPr>
        <p:spPr>
          <a:xfrm>
            <a:off x="407368" y="1015213"/>
            <a:ext cx="396044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有继承的动态方法调度</a:t>
            </a:r>
          </a:p>
        </p:txBody>
      </p:sp>
      <p:sp>
        <p:nvSpPr>
          <p:cNvPr id="2" name="Rectangle 3">
            <a:extLst>
              <a:ext uri="{FF2B5EF4-FFF2-40B4-BE49-F238E27FC236}">
                <a16:creationId xmlns:a16="http://schemas.microsoft.com/office/drawing/2014/main" id="{546D4C8C-AADF-668D-B109-51D0DCB908B4}"/>
              </a:ext>
            </a:extLst>
          </p:cNvPr>
          <p:cNvSpPr txBox="1">
            <a:spLocks noChangeArrowheads="1"/>
          </p:cNvSpPr>
          <p:nvPr/>
        </p:nvSpPr>
        <p:spPr>
          <a:xfrm>
            <a:off x="767408" y="1700808"/>
            <a:ext cx="10801200" cy="4608511"/>
          </a:xfrm>
          <a:prstGeom prst="rect">
            <a:avLst/>
          </a:prstGeom>
        </p:spPr>
        <p:txBody>
          <a:bodyPr lIns="92075" tIns="46038" rIns="92075" bIns="46038">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lnSpc>
                <a:spcPct val="150000"/>
              </a:lnSpc>
              <a:spcBef>
                <a:spcPts val="0"/>
              </a:spcBef>
              <a:spcAft>
                <a:spcPts val="0"/>
              </a:spcAft>
              <a:buFont typeface="Wingdings" panose="05000000000000000000" pitchFamily="2" charset="2"/>
              <a:buChar char="Ø"/>
            </a:pPr>
            <a:r>
              <a:rPr kumimoji="0" lang="zh-CN" altLang="en-US" b="1" dirty="0"/>
              <a:t>超类引用变量可以指向子类对象；</a:t>
            </a:r>
            <a:endParaRPr kumimoji="0" lang="en-US" altLang="zh-CN" b="1" dirty="0"/>
          </a:p>
          <a:p>
            <a:pPr fontAlgn="auto">
              <a:lnSpc>
                <a:spcPct val="150000"/>
              </a:lnSpc>
              <a:spcBef>
                <a:spcPts val="0"/>
              </a:spcBef>
              <a:spcAft>
                <a:spcPts val="0"/>
              </a:spcAft>
              <a:buFont typeface="Wingdings" panose="05000000000000000000" pitchFamily="2" charset="2"/>
              <a:buChar char="Ø"/>
            </a:pPr>
            <a:r>
              <a:rPr kumimoji="0" lang="zh-CN" altLang="en-US" b="1" dirty="0"/>
              <a:t>若一个类是多个子类的超类，则超类引用变量可以指向任一子类的对象；</a:t>
            </a:r>
            <a:endParaRPr kumimoji="0" lang="en-US" altLang="zh-CN" b="1" dirty="0"/>
          </a:p>
          <a:p>
            <a:pPr fontAlgn="auto">
              <a:lnSpc>
                <a:spcPct val="150000"/>
              </a:lnSpc>
              <a:spcBef>
                <a:spcPts val="0"/>
              </a:spcBef>
              <a:spcAft>
                <a:spcPts val="0"/>
              </a:spcAft>
              <a:buFont typeface="Wingdings" panose="05000000000000000000" pitchFamily="2" charset="2"/>
              <a:buChar char="Ø"/>
            </a:pPr>
            <a:r>
              <a:rPr kumimoji="0" lang="zh-CN" altLang="en-US" b="1" dirty="0"/>
              <a:t>只有在执行的时候才能确定是执行哪个子类的对象。</a:t>
            </a:r>
            <a:endParaRPr kumimoji="0" lang="en-US" altLang="zh-CN" b="1" dirty="0"/>
          </a:p>
          <a:p>
            <a:pPr fontAlgn="auto">
              <a:lnSpc>
                <a:spcPct val="150000"/>
              </a:lnSpc>
              <a:spcBef>
                <a:spcPts val="0"/>
              </a:spcBef>
              <a:spcAft>
                <a:spcPts val="0"/>
              </a:spcAft>
              <a:buFont typeface="Wingdings" panose="05000000000000000000" pitchFamily="2" charset="2"/>
              <a:buChar char="Ø"/>
            </a:pPr>
            <a:r>
              <a:rPr kumimoji="0" lang="zh-CN" altLang="en-US" b="1" dirty="0"/>
              <a:t>注意：超类引用变量只能访问超类中定义的方法，不能访问子类自己定义的方法。</a:t>
            </a:r>
          </a:p>
        </p:txBody>
      </p:sp>
    </p:spTree>
    <p:extLst>
      <p:ext uri="{BB962C8B-B14F-4D97-AF65-F5344CB8AC3E}">
        <p14:creationId xmlns:p14="http://schemas.microsoft.com/office/powerpoint/2010/main" val="420421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74103-05F0-C6FB-3A6C-F3A770EB5D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E5AFFE-6107-8252-A907-2035BFBFE06F}"/>
              </a:ext>
            </a:extLst>
          </p:cNvPr>
          <p:cNvSpPr txBox="1"/>
          <p:nvPr>
            <p:custDataLst>
              <p:tags r:id="rId1"/>
            </p:custDataLst>
          </p:nvPr>
        </p:nvSpPr>
        <p:spPr>
          <a:xfrm>
            <a:off x="4367808" y="113689"/>
            <a:ext cx="309634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r>
              <a:rPr lang="zh-CN" altLang="en-US" sz="3200" dirty="0">
                <a:ln w="11430">
                  <a:noFill/>
                </a:ln>
                <a:solidFill>
                  <a:srgbClr val="255EAB"/>
                </a:solidFill>
                <a:latin typeface="楷体" panose="02010609060101010101" pitchFamily="49" charset="-122"/>
                <a:ea typeface="楷体" panose="02010609060101010101" pitchFamily="49" charset="-122"/>
              </a:rPr>
              <a:t>难点总结</a:t>
            </a:r>
            <a:endParaRPr lang="zh-CN" altLang="en-US" sz="3200" dirty="0">
              <a:solidFill>
                <a:schemeClr val="accent1">
                  <a:lumMod val="75000"/>
                </a:schemeClr>
              </a:solidFill>
              <a:latin typeface="楷体" panose="02010609060101010101" pitchFamily="49" charset="-122"/>
              <a:ea typeface="楷体" panose="02010609060101010101" pitchFamily="49" charset="-122"/>
              <a:cs typeface="思源黑体 CN Heavy" panose="020B0A00000000000000" charset="-122"/>
            </a:endParaRPr>
          </a:p>
        </p:txBody>
      </p:sp>
      <p:sp>
        <p:nvSpPr>
          <p:cNvPr id="5" name="文本框 4">
            <a:extLst>
              <a:ext uri="{FF2B5EF4-FFF2-40B4-BE49-F238E27FC236}">
                <a16:creationId xmlns:a16="http://schemas.microsoft.com/office/drawing/2014/main" id="{28D53ED6-0083-1D4F-31B3-6574EB0546EA}"/>
              </a:ext>
            </a:extLst>
          </p:cNvPr>
          <p:cNvSpPr txBox="1"/>
          <p:nvPr>
            <p:custDataLst>
              <p:tags r:id="rId2"/>
            </p:custDataLst>
          </p:nvPr>
        </p:nvSpPr>
        <p:spPr>
          <a:xfrm>
            <a:off x="407368" y="1015213"/>
            <a:ext cx="525658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latin typeface="楷体" panose="02010609060101010101" pitchFamily="49" charset="-122"/>
                <a:ea typeface="楷体" panose="02010609060101010101" pitchFamily="49" charset="-122"/>
                <a:cs typeface="思源黑体 CN Heavy" panose="020B0A00000000000000" charset="-122"/>
              </a:rPr>
              <a:t>泛型类、泛型方法的声明与使用</a:t>
            </a:r>
          </a:p>
        </p:txBody>
      </p:sp>
      <p:sp>
        <p:nvSpPr>
          <p:cNvPr id="2" name="文本框 1">
            <a:extLst>
              <a:ext uri="{FF2B5EF4-FFF2-40B4-BE49-F238E27FC236}">
                <a16:creationId xmlns:a16="http://schemas.microsoft.com/office/drawing/2014/main" id="{EEFBC59F-5AFA-51D4-4786-A3084A0A786B}"/>
              </a:ext>
            </a:extLst>
          </p:cNvPr>
          <p:cNvSpPr txBox="1"/>
          <p:nvPr/>
        </p:nvSpPr>
        <p:spPr>
          <a:xfrm>
            <a:off x="658380" y="1994876"/>
            <a:ext cx="5256584" cy="477054"/>
          </a:xfrm>
          <a:prstGeom prst="rect">
            <a:avLst/>
          </a:prstGeom>
          <a:noFill/>
        </p:spPr>
        <p:txBody>
          <a:bodyPr wrap="square" rtlCol="0">
            <a:spAutoFit/>
          </a:bodyPr>
          <a:lstStyle/>
          <a:p>
            <a:pPr>
              <a:lnSpc>
                <a:spcPts val="3000"/>
              </a:lnSpc>
              <a:spcBef>
                <a:spcPts val="0"/>
              </a:spcBef>
            </a:pPr>
            <a:r>
              <a:rPr lang="en-US" altLang="zh-CN" sz="2800" b="1" dirty="0">
                <a:solidFill>
                  <a:srgbClr val="0000FF"/>
                </a:solidFill>
                <a:latin typeface="仿宋" panose="02010609060101010101" pitchFamily="49" charset="-122"/>
                <a:ea typeface="仿宋" panose="02010609060101010101" pitchFamily="49" charset="-122"/>
              </a:rPr>
              <a:t>class </a:t>
            </a:r>
            <a:r>
              <a:rPr lang="en-US" altLang="zh-CN" sz="2800" b="1" dirty="0" err="1">
                <a:solidFill>
                  <a:srgbClr val="0000FF"/>
                </a:solidFill>
                <a:latin typeface="仿宋" panose="02010609060101010101" pitchFamily="49" charset="-122"/>
                <a:ea typeface="仿宋" panose="02010609060101010101" pitchFamily="49" charset="-122"/>
              </a:rPr>
              <a:t>fanClass</a:t>
            </a:r>
            <a:r>
              <a:rPr lang="en-US" altLang="zh-CN" sz="2800" b="1" dirty="0">
                <a:solidFill>
                  <a:srgbClr val="0000FF"/>
                </a:solidFill>
                <a:latin typeface="仿宋" panose="02010609060101010101" pitchFamily="49" charset="-122"/>
                <a:ea typeface="仿宋" panose="02010609060101010101" pitchFamily="49" charset="-122"/>
              </a:rPr>
              <a:t>  &lt;T&gt; { …… }</a:t>
            </a:r>
            <a:endParaRPr lang="zh-CN" altLang="en-US" sz="2800" b="1" dirty="0">
              <a:solidFill>
                <a:srgbClr val="0000FF"/>
              </a:solidFill>
              <a:latin typeface="仿宋" panose="02010609060101010101" pitchFamily="49" charset="-122"/>
              <a:ea typeface="仿宋" panose="02010609060101010101" pitchFamily="49" charset="-122"/>
            </a:endParaRPr>
          </a:p>
        </p:txBody>
      </p:sp>
      <p:sp>
        <p:nvSpPr>
          <p:cNvPr id="3" name="文本框 2">
            <a:extLst>
              <a:ext uri="{FF2B5EF4-FFF2-40B4-BE49-F238E27FC236}">
                <a16:creationId xmlns:a16="http://schemas.microsoft.com/office/drawing/2014/main" id="{A8A36358-19C0-992E-FED0-27E3DB0A5F33}"/>
              </a:ext>
            </a:extLst>
          </p:cNvPr>
          <p:cNvSpPr txBox="1"/>
          <p:nvPr/>
        </p:nvSpPr>
        <p:spPr>
          <a:xfrm>
            <a:off x="679290" y="4986533"/>
            <a:ext cx="11161240" cy="1246495"/>
          </a:xfrm>
          <a:prstGeom prst="rect">
            <a:avLst/>
          </a:prstGeom>
          <a:noFill/>
        </p:spPr>
        <p:txBody>
          <a:bodyPr wrap="square" rtlCol="0">
            <a:spAutoFit/>
          </a:bodyPr>
          <a:lstStyle/>
          <a:p>
            <a:pPr>
              <a:lnSpc>
                <a:spcPts val="3000"/>
              </a:lnSpc>
              <a:spcBef>
                <a:spcPts val="0"/>
              </a:spcBef>
            </a:pPr>
            <a:r>
              <a:rPr lang="en-US" altLang="zh-CN" sz="2800" b="1" dirty="0">
                <a:solidFill>
                  <a:srgbClr val="0000FF"/>
                </a:solidFill>
                <a:latin typeface="仿宋" panose="02010609060101010101" pitchFamily="49" charset="-122"/>
                <a:ea typeface="仿宋" panose="02010609060101010101" pitchFamily="49" charset="-122"/>
              </a:rPr>
              <a:t>public &lt;E extends Comparable&lt;E&gt;,V&gt; E </a:t>
            </a:r>
            <a:r>
              <a:rPr lang="en-US" altLang="zh-CN" sz="2800" b="1" dirty="0" err="1">
                <a:solidFill>
                  <a:srgbClr val="0000FF"/>
                </a:solidFill>
                <a:latin typeface="仿宋" panose="02010609060101010101" pitchFamily="49" charset="-122"/>
                <a:ea typeface="仿宋" panose="02010609060101010101" pitchFamily="49" charset="-122"/>
              </a:rPr>
              <a:t>fanMethod</a:t>
            </a:r>
            <a:r>
              <a:rPr lang="en-US" altLang="zh-CN" sz="2800" b="1" dirty="0">
                <a:solidFill>
                  <a:srgbClr val="0000FF"/>
                </a:solidFill>
                <a:latin typeface="仿宋" panose="02010609060101010101" pitchFamily="49" charset="-122"/>
                <a:ea typeface="仿宋" panose="02010609060101010101" pitchFamily="49" charset="-122"/>
              </a:rPr>
              <a:t>(E </a:t>
            </a:r>
            <a:r>
              <a:rPr lang="en-US" altLang="zh-CN" sz="2800" b="1" dirty="0" err="1">
                <a:solidFill>
                  <a:srgbClr val="0000FF"/>
                </a:solidFill>
                <a:latin typeface="仿宋" panose="02010609060101010101" pitchFamily="49" charset="-122"/>
                <a:ea typeface="仿宋" panose="02010609060101010101" pitchFamily="49" charset="-122"/>
              </a:rPr>
              <a:t>abc</a:t>
            </a:r>
            <a:r>
              <a:rPr lang="en-US" altLang="zh-CN" sz="2800" b="1" dirty="0">
                <a:solidFill>
                  <a:srgbClr val="0000FF"/>
                </a:solidFill>
                <a:latin typeface="仿宋" panose="02010609060101010101" pitchFamily="49" charset="-122"/>
                <a:ea typeface="仿宋" panose="02010609060101010101" pitchFamily="49" charset="-122"/>
              </a:rPr>
              <a:t>, V </a:t>
            </a:r>
            <a:r>
              <a:rPr lang="en-US" altLang="zh-CN" sz="2800" b="1" dirty="0" err="1">
                <a:solidFill>
                  <a:srgbClr val="0000FF"/>
                </a:solidFill>
                <a:latin typeface="仿宋" panose="02010609060101010101" pitchFamily="49" charset="-122"/>
                <a:ea typeface="仿宋" panose="02010609060101010101" pitchFamily="49" charset="-122"/>
              </a:rPr>
              <a:t>bba</a:t>
            </a:r>
            <a:r>
              <a:rPr lang="en-US" altLang="zh-CN" sz="2800" b="1" dirty="0">
                <a:solidFill>
                  <a:srgbClr val="0000FF"/>
                </a:solidFill>
                <a:latin typeface="仿宋" panose="02010609060101010101" pitchFamily="49" charset="-122"/>
                <a:ea typeface="仿宋" panose="02010609060101010101" pitchFamily="49" charset="-122"/>
              </a:rPr>
              <a:t>){</a:t>
            </a:r>
          </a:p>
          <a:p>
            <a:pPr>
              <a:lnSpc>
                <a:spcPts val="3000"/>
              </a:lnSpc>
              <a:spcBef>
                <a:spcPts val="0"/>
              </a:spcBef>
            </a:pPr>
            <a:r>
              <a:rPr lang="en-US" altLang="zh-CN" sz="2800" b="1" dirty="0">
                <a:solidFill>
                  <a:srgbClr val="0000FF"/>
                </a:solidFill>
                <a:latin typeface="仿宋" panose="02010609060101010101" pitchFamily="49" charset="-122"/>
                <a:ea typeface="仿宋" panose="02010609060101010101" pitchFamily="49" charset="-122"/>
              </a:rPr>
              <a:t>     // </a:t>
            </a:r>
            <a:r>
              <a:rPr lang="zh-CN" altLang="en-US" sz="2800" b="1" dirty="0">
                <a:solidFill>
                  <a:srgbClr val="0000FF"/>
                </a:solidFill>
                <a:latin typeface="仿宋" panose="02010609060101010101" pitchFamily="49" charset="-122"/>
                <a:ea typeface="仿宋" panose="02010609060101010101" pitchFamily="49" charset="-122"/>
              </a:rPr>
              <a:t>方法体语句</a:t>
            </a:r>
            <a:endParaRPr lang="en-US" altLang="zh-CN" sz="2800" b="1" dirty="0">
              <a:solidFill>
                <a:srgbClr val="0000FF"/>
              </a:solidFill>
              <a:latin typeface="仿宋" panose="02010609060101010101" pitchFamily="49" charset="-122"/>
              <a:ea typeface="仿宋" panose="02010609060101010101" pitchFamily="49" charset="-122"/>
            </a:endParaRPr>
          </a:p>
          <a:p>
            <a:pPr>
              <a:lnSpc>
                <a:spcPts val="3000"/>
              </a:lnSpc>
              <a:spcBef>
                <a:spcPts val="0"/>
              </a:spcBef>
            </a:pPr>
            <a:r>
              <a:rPr lang="en-US" altLang="zh-CN" sz="2800" b="1" dirty="0">
                <a:solidFill>
                  <a:srgbClr val="0000FF"/>
                </a:solidFill>
                <a:latin typeface="仿宋" panose="02010609060101010101" pitchFamily="49" charset="-122"/>
                <a:ea typeface="仿宋" panose="02010609060101010101" pitchFamily="49" charset="-122"/>
              </a:rPr>
              <a:t>}</a:t>
            </a:r>
            <a:endParaRPr lang="zh-CN" altLang="en-US" sz="2800" b="1" dirty="0">
              <a:solidFill>
                <a:srgbClr val="0000FF"/>
              </a:solidFill>
              <a:latin typeface="仿宋" panose="02010609060101010101" pitchFamily="49" charset="-122"/>
              <a:ea typeface="仿宋" panose="02010609060101010101" pitchFamily="49" charset="-122"/>
            </a:endParaRPr>
          </a:p>
        </p:txBody>
      </p:sp>
      <p:sp>
        <p:nvSpPr>
          <p:cNvPr id="6" name="文本框 5">
            <a:extLst>
              <a:ext uri="{FF2B5EF4-FFF2-40B4-BE49-F238E27FC236}">
                <a16:creationId xmlns:a16="http://schemas.microsoft.com/office/drawing/2014/main" id="{9A7E978F-4EC8-BB50-202F-5FDD7B199F9D}"/>
              </a:ext>
            </a:extLst>
          </p:cNvPr>
          <p:cNvSpPr txBox="1"/>
          <p:nvPr/>
        </p:nvSpPr>
        <p:spPr>
          <a:xfrm>
            <a:off x="679290" y="3451594"/>
            <a:ext cx="10313254" cy="477054"/>
          </a:xfrm>
          <a:prstGeom prst="rect">
            <a:avLst/>
          </a:prstGeom>
          <a:noFill/>
        </p:spPr>
        <p:txBody>
          <a:bodyPr wrap="square" rtlCol="0">
            <a:spAutoFit/>
          </a:bodyPr>
          <a:lstStyle/>
          <a:p>
            <a:pPr>
              <a:lnSpc>
                <a:spcPts val="3000"/>
              </a:lnSpc>
              <a:spcBef>
                <a:spcPts val="0"/>
              </a:spcBef>
            </a:pPr>
            <a:r>
              <a:rPr lang="en-US" altLang="zh-CN" sz="2800" b="1" dirty="0">
                <a:solidFill>
                  <a:srgbClr val="0000FF"/>
                </a:solidFill>
                <a:latin typeface="仿宋" panose="02010609060101010101" pitchFamily="49" charset="-122"/>
                <a:ea typeface="仿宋" panose="02010609060101010101" pitchFamily="49" charset="-122"/>
              </a:rPr>
              <a:t>public &lt;S,V&gt; </a:t>
            </a:r>
            <a:r>
              <a:rPr lang="en-US" altLang="zh-CN" sz="2800" b="1" dirty="0" err="1">
                <a:solidFill>
                  <a:srgbClr val="0000FF"/>
                </a:solidFill>
                <a:latin typeface="仿宋" panose="02010609060101010101" pitchFamily="49" charset="-122"/>
                <a:ea typeface="仿宋" panose="02010609060101010101" pitchFamily="49" charset="-122"/>
              </a:rPr>
              <a:t>boolean</a:t>
            </a:r>
            <a:r>
              <a:rPr lang="en-US" altLang="zh-CN" sz="2800" b="1" dirty="0">
                <a:solidFill>
                  <a:srgbClr val="0000FF"/>
                </a:solidFill>
                <a:latin typeface="仿宋" panose="02010609060101010101" pitchFamily="49" charset="-122"/>
                <a:ea typeface="仿宋" panose="02010609060101010101" pitchFamily="49" charset="-122"/>
              </a:rPr>
              <a:t>  </a:t>
            </a:r>
            <a:r>
              <a:rPr lang="en-US" altLang="zh-CN" sz="2800" b="1" dirty="0" err="1">
                <a:solidFill>
                  <a:srgbClr val="0000FF"/>
                </a:solidFill>
                <a:latin typeface="仿宋" panose="02010609060101010101" pitchFamily="49" charset="-122"/>
                <a:ea typeface="仿宋" panose="02010609060101010101" pitchFamily="49" charset="-122"/>
              </a:rPr>
              <a:t>fanMethod</a:t>
            </a:r>
            <a:r>
              <a:rPr lang="en-US" altLang="zh-CN" sz="2800" b="1" dirty="0">
                <a:solidFill>
                  <a:srgbClr val="0000FF"/>
                </a:solidFill>
                <a:latin typeface="仿宋" panose="02010609060101010101" pitchFamily="49" charset="-122"/>
                <a:ea typeface="仿宋" panose="02010609060101010101" pitchFamily="49" charset="-122"/>
              </a:rPr>
              <a:t>(S </a:t>
            </a:r>
            <a:r>
              <a:rPr lang="en-US" altLang="zh-CN" sz="2800" b="1" dirty="0" err="1">
                <a:solidFill>
                  <a:srgbClr val="0000FF"/>
                </a:solidFill>
                <a:latin typeface="仿宋" panose="02010609060101010101" pitchFamily="49" charset="-122"/>
                <a:ea typeface="仿宋" panose="02010609060101010101" pitchFamily="49" charset="-122"/>
              </a:rPr>
              <a:t>abc</a:t>
            </a:r>
            <a:r>
              <a:rPr lang="en-US" altLang="zh-CN" sz="2800" b="1" dirty="0">
                <a:solidFill>
                  <a:srgbClr val="0000FF"/>
                </a:solidFill>
                <a:latin typeface="仿宋" panose="02010609060101010101" pitchFamily="49" charset="-122"/>
                <a:ea typeface="仿宋" panose="02010609060101010101" pitchFamily="49" charset="-122"/>
              </a:rPr>
              <a:t>, V [] </a:t>
            </a:r>
            <a:r>
              <a:rPr lang="en-US" altLang="zh-CN" sz="2800" b="1" dirty="0" err="1">
                <a:solidFill>
                  <a:srgbClr val="0000FF"/>
                </a:solidFill>
                <a:latin typeface="仿宋" panose="02010609060101010101" pitchFamily="49" charset="-122"/>
                <a:ea typeface="仿宋" panose="02010609060101010101" pitchFamily="49" charset="-122"/>
              </a:rPr>
              <a:t>bba</a:t>
            </a:r>
            <a:r>
              <a:rPr lang="en-US" altLang="zh-CN" sz="2800" b="1" dirty="0">
                <a:solidFill>
                  <a:srgbClr val="0000FF"/>
                </a:solidFill>
                <a:latin typeface="仿宋" panose="02010609060101010101" pitchFamily="49" charset="-122"/>
                <a:ea typeface="仿宋" panose="02010609060101010101" pitchFamily="49" charset="-122"/>
              </a:rPr>
              <a:t>){ …… }</a:t>
            </a:r>
            <a:endParaRPr lang="zh-CN" altLang="en-US" sz="2800" b="1" dirty="0">
              <a:solidFill>
                <a:srgbClr val="0000FF"/>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53873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majorFont>
      <a:minorFont>
        <a:latin typeface="楷体"/>
        <a:ea typeface=""/>
        <a:cs typeface=""/>
        <a:font script="Jpan" typeface="ＭＳ Ｐゴシック"/>
        <a:font script="Hang" typeface="맑은 고딕"/>
        <a:font script="Hans" typeface="楷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ts val="3000"/>
          </a:lnSpc>
          <a:spcBef>
            <a:spcPts val="0"/>
          </a:spcBef>
          <a:defRPr sz="2000" smtClean="0">
            <a:solidFill>
              <a:srgbClr val="0000FF"/>
            </a:solidFill>
            <a:latin typeface="仿宋" panose="02010609060101010101" pitchFamily="49" charset="-122"/>
            <a:ea typeface="仿宋" panose="02010609060101010101" pitchFamily="49"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Settings\zheng\My Documents\MyCourse\java1.ppt</Template>
  <TotalTime>18512</TotalTime>
  <Words>5985</Words>
  <Application>Microsoft Office PowerPoint</Application>
  <PresentationFormat>宽屏</PresentationFormat>
  <Paragraphs>870</Paragraphs>
  <Slides>70</Slides>
  <Notes>70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70</vt:i4>
      </vt:variant>
    </vt:vector>
  </HeadingPairs>
  <TitlesOfParts>
    <vt:vector size="82" baseType="lpstr">
      <vt:lpstr>仿宋</vt:lpstr>
      <vt:lpstr>楷体</vt:lpstr>
      <vt:lpstr>宋体</vt:lpstr>
      <vt:lpstr>微软雅黑</vt:lpstr>
      <vt:lpstr>Arial</vt:lpstr>
      <vt:lpstr>Georgia</vt:lpstr>
      <vt:lpstr>Times New Roman</vt:lpstr>
      <vt:lpstr>Trebuchet MS</vt:lpstr>
      <vt:lpstr>Wingdings</vt:lpstr>
      <vt:lpstr>Wingdings 2</vt:lpstr>
      <vt:lpstr>1_Office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CARET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 Reusing Classes</dc:title>
  <dc:creator>Zheng Li</dc:creator>
  <cp:lastModifiedBy>pan gao</cp:lastModifiedBy>
  <cp:revision>814</cp:revision>
  <dcterms:created xsi:type="dcterms:W3CDTF">2001-10-18T17:33:15Z</dcterms:created>
  <dcterms:modified xsi:type="dcterms:W3CDTF">2026-04-28T22:33:30Z</dcterms:modified>
</cp:coreProperties>
</file>