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3"/>
    <p:sldId id="261" r:id="rId4"/>
    <p:sldId id="257" r:id="rId5"/>
    <p:sldId id="262" r:id="rId6"/>
    <p:sldId id="263" r:id="rId8"/>
    <p:sldId id="259" r:id="rId9"/>
    <p:sldId id="268" r:id="rId10"/>
    <p:sldId id="269" r:id="rId11"/>
    <p:sldId id="270" r:id="rId12"/>
    <p:sldId id="276" r:id="rId13"/>
    <p:sldId id="277" r:id="rId14"/>
    <p:sldId id="266" r:id="rId15"/>
    <p:sldId id="273" r:id="rId16"/>
    <p:sldId id="278" r:id="rId17"/>
    <p:sldId id="279" r:id="rId18"/>
    <p:sldId id="280" r:id="rId19"/>
    <p:sldId id="267" r:id="rId20"/>
    <p:sldId id="281" r:id="rId21"/>
    <p:sldId id="285" r:id="rId22"/>
    <p:sldId id="286" r:id="rId23"/>
    <p:sldId id="287" r:id="rId24"/>
    <p:sldId id="284" r:id="rId25"/>
    <p:sldId id="283" r:id="rId26"/>
    <p:sldId id="291" r:id="rId27"/>
    <p:sldId id="290" r:id="rId28"/>
    <p:sldId id="292" r:id="rId29"/>
    <p:sldId id="293" r:id="rId30"/>
    <p:sldId id="294" r:id="rId31"/>
    <p:sldId id="298" r:id="rId32"/>
    <p:sldId id="297" r:id="rId33"/>
    <p:sldId id="299" r:id="rId34"/>
    <p:sldId id="303" r:id="rId35"/>
    <p:sldId id="304" r:id="rId36"/>
    <p:sldId id="301" r:id="rId37"/>
    <p:sldId id="309" r:id="rId38"/>
    <p:sldId id="310" r:id="rId39"/>
    <p:sldId id="311" r:id="rId40"/>
    <p:sldId id="312" r:id="rId41"/>
    <p:sldId id="313" r:id="rId42"/>
    <p:sldId id="305" r:id="rId43"/>
    <p:sldId id="314" r:id="rId44"/>
    <p:sldId id="315" r:id="rId45"/>
    <p:sldId id="307" r:id="rId46"/>
    <p:sldId id="316" r:id="rId47"/>
    <p:sldId id="319" r:id="rId48"/>
    <p:sldId id="320" r:id="rId49"/>
    <p:sldId id="321" r:id="rId50"/>
    <p:sldId id="322" r:id="rId51"/>
    <p:sldId id="318" r:id="rId52"/>
    <p:sldId id="330" r:id="rId53"/>
    <p:sldId id="331" r:id="rId54"/>
    <p:sldId id="332" r:id="rId55"/>
    <p:sldId id="333" r:id="rId56"/>
    <p:sldId id="334" r:id="rId57"/>
    <p:sldId id="335" r:id="rId58"/>
    <p:sldId id="336" r:id="rId59"/>
    <p:sldId id="337" r:id="rId60"/>
    <p:sldId id="338" r:id="rId61"/>
    <p:sldId id="339" r:id="rId62"/>
    <p:sldId id="340" r:id="rId63"/>
    <p:sldId id="328" r:id="rId64"/>
    <p:sldId id="329" r:id="rId65"/>
    <p:sldId id="325" r:id="rId66"/>
    <p:sldId id="326" r:id="rId67"/>
    <p:sldId id="323" r:id="rId68"/>
    <p:sldId id="342" r:id="rId69"/>
    <p:sldId id="343" r:id="rId70"/>
    <p:sldId id="349" r:id="rId71"/>
    <p:sldId id="350" r:id="rId72"/>
    <p:sldId id="346" r:id="rId73"/>
    <p:sldId id="351" r:id="rId74"/>
    <p:sldId id="352" r:id="rId75"/>
    <p:sldId id="353" r:id="rId76"/>
    <p:sldId id="354" r:id="rId77"/>
    <p:sldId id="355" r:id="rId78"/>
    <p:sldId id="356" r:id="rId79"/>
    <p:sldId id="357" r:id="rId80"/>
    <p:sldId id="358" r:id="rId81"/>
    <p:sldId id="359" r:id="rId82"/>
    <p:sldId id="360" r:id="rId83"/>
    <p:sldId id="361" r:id="rId84"/>
    <p:sldId id="362" r:id="rId85"/>
    <p:sldId id="308" r:id="rId86"/>
    <p:sldId id="365" r:id="rId87"/>
    <p:sldId id="364" r:id="rId88"/>
    <p:sldId id="363" r:id="rId8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2"/>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2" Type="http://schemas.openxmlformats.org/officeDocument/2006/relationships/tableStyles" Target="tableStyles.xml"/><Relationship Id="rId91" Type="http://schemas.openxmlformats.org/officeDocument/2006/relationships/viewProps" Target="viewProps.xml"/><Relationship Id="rId90" Type="http://schemas.openxmlformats.org/officeDocument/2006/relationships/presProps" Target="presProps.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notesMaster" Target="notesMasters/notesMaster1.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image" Target="../media/image4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6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3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30E1EEC-9DDE-4988-BB62-683E77F0E97F}"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98465ED-FED4-4674-A2E9-69B850FDFA18}"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B6E2093-304E-41AE-8FAB-4CFF5DD7C64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614217-9D07-4855-A0EF-42A96C44A0AE}"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hasCustomPrompt="1"/>
          </p:nvPr>
        </p:nvSpPr>
        <p:spPr>
          <a:xfrm>
            <a:off x="838200" y="365128"/>
            <a:ext cx="10515600" cy="5811839"/>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20" name="Rectangle 1"/>
          <p:cNvSpPr/>
          <p:nvPr userDrawn="1"/>
        </p:nvSpPr>
        <p:spPr>
          <a:xfrm>
            <a:off x="297498" y="6546328"/>
            <a:ext cx="82948" cy="81477"/>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5" name="Rectangle 1"/>
          <p:cNvSpPr/>
          <p:nvPr userDrawn="1"/>
        </p:nvSpPr>
        <p:spPr>
          <a:xfrm rot="2659048">
            <a:off x="8965288" y="200713"/>
            <a:ext cx="147664" cy="140036"/>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9" name="矩形 8"/>
          <p:cNvSpPr/>
          <p:nvPr/>
        </p:nvSpPr>
        <p:spPr>
          <a:xfrm>
            <a:off x="476828" y="6435405"/>
            <a:ext cx="2444900"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charset="-122"/>
                <a:ea typeface="微软雅黑" panose="020B0503020204020204" charset="-122"/>
              </a:rPr>
              <a:t>第一节  </a:t>
            </a:r>
            <a:r>
              <a:rPr lang="zh-CN" altLang="en-US" sz="1400" kern="1200" dirty="0">
                <a:solidFill>
                  <a:schemeClr val="bg1">
                    <a:lumMod val="50000"/>
                  </a:schemeClr>
                </a:solidFill>
                <a:latin typeface="微软雅黑" panose="020B0503020204020204" charset="-122"/>
                <a:ea typeface="微软雅黑" panose="020B0503020204020204" charset="-122"/>
                <a:cs typeface="+mn-cs"/>
              </a:rPr>
              <a:t>多元函数的基本概念</a:t>
            </a:r>
            <a:endParaRPr lang="zh-CN" altLang="en-US" sz="1400" kern="1200" dirty="0">
              <a:solidFill>
                <a:schemeClr val="bg1">
                  <a:lumMod val="50000"/>
                </a:schemeClr>
              </a:solidFill>
              <a:latin typeface="微软雅黑" panose="020B0503020204020204" charset="-122"/>
              <a:ea typeface="微软雅黑" panose="020B0503020204020204" charset="-122"/>
              <a:cs typeface="+mn-cs"/>
            </a:endParaRPr>
          </a:p>
        </p:txBody>
      </p:sp>
      <p:sp>
        <p:nvSpPr>
          <p:cNvPr id="14" name="矩形 13"/>
          <p:cNvSpPr/>
          <p:nvPr/>
        </p:nvSpPr>
        <p:spPr>
          <a:xfrm>
            <a:off x="9191625" y="112357"/>
            <a:ext cx="2803973"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charset="-122"/>
                <a:ea typeface="微软雅黑" panose="020B0503020204020204" charset="-122"/>
              </a:rPr>
              <a:t>第九章  </a:t>
            </a:r>
            <a:r>
              <a:rPr lang="zh-CN" altLang="en-US" sz="1400" kern="1200" dirty="0">
                <a:solidFill>
                  <a:schemeClr val="bg1">
                    <a:lumMod val="50000"/>
                  </a:schemeClr>
                </a:solidFill>
                <a:latin typeface="微软雅黑" panose="020B0503020204020204" charset="-122"/>
                <a:ea typeface="微软雅黑" panose="020B0503020204020204" charset="-122"/>
                <a:cs typeface="+mn-cs"/>
              </a:rPr>
              <a:t>多元函数微分法及其应用</a:t>
            </a:r>
            <a:endParaRPr lang="zh-CN" altLang="en-US" sz="1400" kern="1200" dirty="0">
              <a:solidFill>
                <a:schemeClr val="bg1">
                  <a:lumMod val="50000"/>
                </a:schemeClr>
              </a:solidFill>
              <a:latin typeface="微软雅黑" panose="020B0503020204020204" charset="-122"/>
              <a:ea typeface="微软雅黑" panose="020B0503020204020204" charset="-122"/>
              <a:cs typeface="+mn-cs"/>
            </a:endParaRPr>
          </a:p>
        </p:txBody>
      </p:sp>
      <p:cxnSp>
        <p:nvCxnSpPr>
          <p:cNvPr id="3" name="直接连接符 2"/>
          <p:cNvCxnSpPr/>
          <p:nvPr userDrawn="1"/>
        </p:nvCxnSpPr>
        <p:spPr>
          <a:xfrm>
            <a:off x="3000375" y="6587066"/>
            <a:ext cx="9191625"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userDrawn="1"/>
        </p:nvCxnSpPr>
        <p:spPr>
          <a:xfrm>
            <a:off x="0" y="266245"/>
            <a:ext cx="8784000" cy="0"/>
          </a:xfrm>
          <a:prstGeom prst="line">
            <a:avLst/>
          </a:prstGeom>
          <a:ln>
            <a:solidFill>
              <a:srgbClr val="04926A"/>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4" Type="http://schemas.openxmlformats.org/officeDocument/2006/relationships/notesSlide" Target="../notesSlides/notesSlide1.xml"/><Relationship Id="rId13" Type="http://schemas.openxmlformats.org/officeDocument/2006/relationships/slideLayout" Target="../slideLayouts/slideLayout1.xml"/><Relationship Id="rId12" Type="http://schemas.openxmlformats.org/officeDocument/2006/relationships/image" Target="../media/image12.jpeg"/><Relationship Id="rId11" Type="http://schemas.openxmlformats.org/officeDocument/2006/relationships/image" Target="../media/image11.png"/><Relationship Id="rId10" Type="http://schemas.openxmlformats.org/officeDocument/2006/relationships/image" Target="../media/image10.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image" Target="../media/image20.png"/><Relationship Id="rId7" Type="http://schemas.openxmlformats.org/officeDocument/2006/relationships/image" Target="../media/image19.png"/><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2" Type="http://schemas.openxmlformats.org/officeDocument/2006/relationships/notesSlide" Target="../notesSlides/notesSlide2.xml"/><Relationship Id="rId11" Type="http://schemas.openxmlformats.org/officeDocument/2006/relationships/slideLayout" Target="../slideLayouts/slideLayout1.xml"/><Relationship Id="rId10" Type="http://schemas.openxmlformats.org/officeDocument/2006/relationships/image" Target="../media/image22.jpeg"/><Relationship Id="rId1"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1.xml"/><Relationship Id="rId6" Type="http://schemas.openxmlformats.org/officeDocument/2006/relationships/image" Target="../media/image25.wmf"/><Relationship Id="rId5" Type="http://schemas.openxmlformats.org/officeDocument/2006/relationships/oleObject" Target="../embeddings/oleObject3.bin"/><Relationship Id="rId4" Type="http://schemas.openxmlformats.org/officeDocument/2006/relationships/image" Target="../media/image24.wmf"/><Relationship Id="rId3" Type="http://schemas.openxmlformats.org/officeDocument/2006/relationships/oleObject" Target="../embeddings/oleObject2.bin"/><Relationship Id="rId2" Type="http://schemas.openxmlformats.org/officeDocument/2006/relationships/image" Target="../media/image23.w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9" Type="http://schemas.openxmlformats.org/officeDocument/2006/relationships/image" Target="../media/image34.png"/><Relationship Id="rId8" Type="http://schemas.openxmlformats.org/officeDocument/2006/relationships/image" Target="../media/image33.png"/><Relationship Id="rId7" Type="http://schemas.openxmlformats.org/officeDocument/2006/relationships/image" Target="../media/image32.png"/><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wmf"/><Relationship Id="rId3" Type="http://schemas.openxmlformats.org/officeDocument/2006/relationships/image" Target="../media/image28.png"/><Relationship Id="rId20" Type="http://schemas.openxmlformats.org/officeDocument/2006/relationships/notesSlide" Target="../notesSlides/notesSlide3.xml"/><Relationship Id="rId2" Type="http://schemas.openxmlformats.org/officeDocument/2006/relationships/image" Target="../media/image27.png"/><Relationship Id="rId19" Type="http://schemas.openxmlformats.org/officeDocument/2006/relationships/slideLayout" Target="../slideLayouts/slideLayout1.xml"/><Relationship Id="rId18" Type="http://schemas.openxmlformats.org/officeDocument/2006/relationships/image" Target="../media/image43.png"/><Relationship Id="rId17" Type="http://schemas.openxmlformats.org/officeDocument/2006/relationships/image" Target="../media/image42.png"/><Relationship Id="rId16" Type="http://schemas.openxmlformats.org/officeDocument/2006/relationships/image" Target="../media/image41.png"/><Relationship Id="rId15" Type="http://schemas.openxmlformats.org/officeDocument/2006/relationships/image" Target="../media/image40.png"/><Relationship Id="rId14" Type="http://schemas.openxmlformats.org/officeDocument/2006/relationships/image" Target="../media/image39.png"/><Relationship Id="rId13" Type="http://schemas.openxmlformats.org/officeDocument/2006/relationships/image" Target="../media/image38.png"/><Relationship Id="rId12" Type="http://schemas.openxmlformats.org/officeDocument/2006/relationships/image" Target="../media/image37.png"/><Relationship Id="rId11" Type="http://schemas.openxmlformats.org/officeDocument/2006/relationships/image" Target="../media/image36.png"/><Relationship Id="rId10" Type="http://schemas.openxmlformats.org/officeDocument/2006/relationships/image" Target="../media/image35.png"/><Relationship Id="rId1" Type="http://schemas.openxmlformats.org/officeDocument/2006/relationships/image" Target="../media/image26.png"/></Relationships>
</file>

<file path=ppt/slides/_rels/slide9.xml.rels><?xml version="1.0" encoding="UTF-8" standalone="yes"?>
<Relationships xmlns="http://schemas.openxmlformats.org/package/2006/relationships"><Relationship Id="rId9" Type="http://schemas.openxmlformats.org/officeDocument/2006/relationships/image" Target="../media/image50.png"/><Relationship Id="rId8" Type="http://schemas.openxmlformats.org/officeDocument/2006/relationships/image" Target="../media/image49.wmf"/><Relationship Id="rId7" Type="http://schemas.openxmlformats.org/officeDocument/2006/relationships/oleObject" Target="../embeddings/oleObject5.bin"/><Relationship Id="rId6" Type="http://schemas.openxmlformats.org/officeDocument/2006/relationships/image" Target="../media/image48.wmf"/><Relationship Id="rId5" Type="http://schemas.openxmlformats.org/officeDocument/2006/relationships/oleObject" Target="../embeddings/oleObject4.bin"/><Relationship Id="rId4" Type="http://schemas.openxmlformats.org/officeDocument/2006/relationships/image" Target="../media/image47.png"/><Relationship Id="rId3" Type="http://schemas.openxmlformats.org/officeDocument/2006/relationships/image" Target="../media/image46.png"/><Relationship Id="rId26" Type="http://schemas.openxmlformats.org/officeDocument/2006/relationships/notesSlide" Target="../notesSlides/notesSlide4.xml"/><Relationship Id="rId25" Type="http://schemas.openxmlformats.org/officeDocument/2006/relationships/vmlDrawing" Target="../drawings/vmlDrawing2.vml"/><Relationship Id="rId24" Type="http://schemas.openxmlformats.org/officeDocument/2006/relationships/slideLayout" Target="../slideLayouts/slideLayout1.xml"/><Relationship Id="rId23" Type="http://schemas.openxmlformats.org/officeDocument/2006/relationships/image" Target="../media/image64.png"/><Relationship Id="rId22" Type="http://schemas.openxmlformats.org/officeDocument/2006/relationships/image" Target="../media/image63.png"/><Relationship Id="rId21" Type="http://schemas.openxmlformats.org/officeDocument/2006/relationships/image" Target="../media/image62.png"/><Relationship Id="rId20" Type="http://schemas.openxmlformats.org/officeDocument/2006/relationships/image" Target="../media/image61.png"/><Relationship Id="rId2" Type="http://schemas.openxmlformats.org/officeDocument/2006/relationships/image" Target="../media/image45.png"/><Relationship Id="rId19" Type="http://schemas.openxmlformats.org/officeDocument/2006/relationships/image" Target="../media/image60.png"/><Relationship Id="rId18" Type="http://schemas.openxmlformats.org/officeDocument/2006/relationships/image" Target="../media/image59.png"/><Relationship Id="rId17" Type="http://schemas.openxmlformats.org/officeDocument/2006/relationships/image" Target="../media/image58.png"/><Relationship Id="rId16" Type="http://schemas.openxmlformats.org/officeDocument/2006/relationships/image" Target="../media/image57.png"/><Relationship Id="rId15" Type="http://schemas.openxmlformats.org/officeDocument/2006/relationships/image" Target="../media/image56.png"/><Relationship Id="rId14" Type="http://schemas.openxmlformats.org/officeDocument/2006/relationships/image" Target="../media/image55.png"/><Relationship Id="rId13" Type="http://schemas.openxmlformats.org/officeDocument/2006/relationships/image" Target="../media/image54.png"/><Relationship Id="rId12" Type="http://schemas.openxmlformats.org/officeDocument/2006/relationships/image" Target="../media/image53.png"/><Relationship Id="rId11" Type="http://schemas.openxmlformats.org/officeDocument/2006/relationships/image" Target="../media/image52.png"/><Relationship Id="rId10" Type="http://schemas.openxmlformats.org/officeDocument/2006/relationships/image" Target="../media/image51.png"/><Relationship Id="rId1" Type="http://schemas.openxmlformats.org/officeDocument/2006/relationships/image" Target="../media/image44.png"/></Relationships>
</file>

<file path=ppt/slides/_rels/slide10.xml.rels><?xml version="1.0" encoding="UTF-8" standalone="yes"?>
<Relationships xmlns="http://schemas.openxmlformats.org/package/2006/relationships"><Relationship Id="rId9" Type="http://schemas.openxmlformats.org/officeDocument/2006/relationships/image" Target="../media/image72.png"/><Relationship Id="rId8" Type="http://schemas.openxmlformats.org/officeDocument/2006/relationships/image" Target="../media/image71.png"/><Relationship Id="rId7" Type="http://schemas.openxmlformats.org/officeDocument/2006/relationships/image" Target="../media/image70.png"/><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 Id="rId3" Type="http://schemas.openxmlformats.org/officeDocument/2006/relationships/image" Target="../media/image66.png"/><Relationship Id="rId21" Type="http://schemas.openxmlformats.org/officeDocument/2006/relationships/notesSlide" Target="../notesSlides/notesSlide5.xml"/><Relationship Id="rId20" Type="http://schemas.openxmlformats.org/officeDocument/2006/relationships/vmlDrawing" Target="../drawings/vmlDrawing3.vml"/><Relationship Id="rId2" Type="http://schemas.openxmlformats.org/officeDocument/2006/relationships/oleObject" Target="../embeddings/oleObject6.bin"/><Relationship Id="rId19" Type="http://schemas.openxmlformats.org/officeDocument/2006/relationships/slideLayout" Target="../slideLayouts/slideLayout1.xml"/><Relationship Id="rId18" Type="http://schemas.openxmlformats.org/officeDocument/2006/relationships/image" Target="../media/image81.png"/><Relationship Id="rId17" Type="http://schemas.openxmlformats.org/officeDocument/2006/relationships/image" Target="../media/image80.png"/><Relationship Id="rId16" Type="http://schemas.openxmlformats.org/officeDocument/2006/relationships/image" Target="../media/image79.png"/><Relationship Id="rId15" Type="http://schemas.openxmlformats.org/officeDocument/2006/relationships/image" Target="../media/image78.png"/><Relationship Id="rId14" Type="http://schemas.openxmlformats.org/officeDocument/2006/relationships/image" Target="../media/image77.png"/><Relationship Id="rId13" Type="http://schemas.openxmlformats.org/officeDocument/2006/relationships/image" Target="../media/image76.png"/><Relationship Id="rId12" Type="http://schemas.openxmlformats.org/officeDocument/2006/relationships/image" Target="../media/image75.png"/><Relationship Id="rId11" Type="http://schemas.openxmlformats.org/officeDocument/2006/relationships/image" Target="../media/image74.png"/><Relationship Id="rId10" Type="http://schemas.openxmlformats.org/officeDocument/2006/relationships/image" Target="../media/image73.png"/><Relationship Id="rId1" Type="http://schemas.openxmlformats.org/officeDocument/2006/relationships/image" Target="../media/image65.wmf"/></Relationships>
</file>

<file path=ppt/slides/_rels/slide11.xml.rels><?xml version="1.0" encoding="UTF-8" standalone="yes"?>
<Relationships xmlns="http://schemas.openxmlformats.org/package/2006/relationships"><Relationship Id="rId9" Type="http://schemas.openxmlformats.org/officeDocument/2006/relationships/image" Target="../media/image90.png"/><Relationship Id="rId8" Type="http://schemas.openxmlformats.org/officeDocument/2006/relationships/image" Target="../media/image89.png"/><Relationship Id="rId7" Type="http://schemas.openxmlformats.org/officeDocument/2006/relationships/image" Target="../media/image88.png"/><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 Id="rId3" Type="http://schemas.openxmlformats.org/officeDocument/2006/relationships/image" Target="../media/image84.png"/><Relationship Id="rId2" Type="http://schemas.openxmlformats.org/officeDocument/2006/relationships/image" Target="../media/image83.png"/><Relationship Id="rId13" Type="http://schemas.openxmlformats.org/officeDocument/2006/relationships/notesSlide" Target="../notesSlides/notesSlide6.xml"/><Relationship Id="rId12" Type="http://schemas.openxmlformats.org/officeDocument/2006/relationships/slideLayout" Target="../slideLayouts/slideLayout1.xml"/><Relationship Id="rId11" Type="http://schemas.openxmlformats.org/officeDocument/2006/relationships/image" Target="../media/image92.jpeg"/><Relationship Id="rId10" Type="http://schemas.openxmlformats.org/officeDocument/2006/relationships/image" Target="../media/image91.png"/><Relationship Id="rId1" Type="http://schemas.openxmlformats.org/officeDocument/2006/relationships/image" Target="../media/image82.png"/></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93.wmf"/><Relationship Id="rId1" Type="http://schemas.openxmlformats.org/officeDocument/2006/relationships/oleObject" Target="../embeddings/oleObject7.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9" Type="http://schemas.openxmlformats.org/officeDocument/2006/relationships/image" Target="../media/image101.png"/><Relationship Id="rId8" Type="http://schemas.openxmlformats.org/officeDocument/2006/relationships/image" Target="../media/image100.png"/><Relationship Id="rId7" Type="http://schemas.openxmlformats.org/officeDocument/2006/relationships/image" Target="../media/image99.png"/><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96.png"/><Relationship Id="rId3" Type="http://schemas.openxmlformats.org/officeDocument/2006/relationships/image" Target="../media/image95.png"/><Relationship Id="rId2" Type="http://schemas.openxmlformats.org/officeDocument/2006/relationships/image" Target="../media/image94.png"/><Relationship Id="rId10" Type="http://schemas.openxmlformats.org/officeDocument/2006/relationships/slideLayout" Target="../slideLayouts/slideLayout1.xml"/><Relationship Id="rId1" Type="http://schemas.openxmlformats.org/officeDocument/2006/relationships/tags" Target="../tags/tag1.xml"/></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image" Target="../media/image102.png"/></Relationships>
</file>

<file path=ppt/slides/_rels/slide16.xml.rels><?xml version="1.0" encoding="UTF-8" standalone="yes"?>
<Relationships xmlns="http://schemas.openxmlformats.org/package/2006/relationships"><Relationship Id="rId9" Type="http://schemas.openxmlformats.org/officeDocument/2006/relationships/image" Target="../media/image116.png"/><Relationship Id="rId8" Type="http://schemas.openxmlformats.org/officeDocument/2006/relationships/image" Target="../media/image115.png"/><Relationship Id="rId7" Type="http://schemas.openxmlformats.org/officeDocument/2006/relationships/image" Target="../media/image114.png"/><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111.png"/><Relationship Id="rId3" Type="http://schemas.openxmlformats.org/officeDocument/2006/relationships/image" Target="../media/image110.png"/><Relationship Id="rId2" Type="http://schemas.openxmlformats.org/officeDocument/2006/relationships/image" Target="../media/image109.png"/><Relationship Id="rId14" Type="http://schemas.openxmlformats.org/officeDocument/2006/relationships/notesSlide" Target="../notesSlides/notesSlide7.xml"/><Relationship Id="rId13" Type="http://schemas.openxmlformats.org/officeDocument/2006/relationships/slideLayout" Target="../slideLayouts/slideLayout1.xml"/><Relationship Id="rId12" Type="http://schemas.openxmlformats.org/officeDocument/2006/relationships/image" Target="../media/image119.png"/><Relationship Id="rId11" Type="http://schemas.openxmlformats.org/officeDocument/2006/relationships/image" Target="../media/image118.png"/><Relationship Id="rId10" Type="http://schemas.openxmlformats.org/officeDocument/2006/relationships/image" Target="../media/image117.png"/><Relationship Id="rId1" Type="http://schemas.openxmlformats.org/officeDocument/2006/relationships/image" Target="../media/image10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26.png"/><Relationship Id="rId7" Type="http://schemas.openxmlformats.org/officeDocument/2006/relationships/image" Target="../media/image125.png"/><Relationship Id="rId6" Type="http://schemas.openxmlformats.org/officeDocument/2006/relationships/image" Target="../media/image124.png"/><Relationship Id="rId5" Type="http://schemas.openxmlformats.org/officeDocument/2006/relationships/image" Target="../media/image123.png"/><Relationship Id="rId4" Type="http://schemas.openxmlformats.org/officeDocument/2006/relationships/image" Target="../media/image122.png"/><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tags" Target="../tags/tag2.xml"/></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34.png"/><Relationship Id="rId7" Type="http://schemas.openxmlformats.org/officeDocument/2006/relationships/image" Target="../media/image133.png"/><Relationship Id="rId6" Type="http://schemas.openxmlformats.org/officeDocument/2006/relationships/image" Target="../media/image132.png"/><Relationship Id="rId5" Type="http://schemas.openxmlformats.org/officeDocument/2006/relationships/image" Target="../media/image131.png"/><Relationship Id="rId4" Type="http://schemas.openxmlformats.org/officeDocument/2006/relationships/image" Target="../media/image130.png"/><Relationship Id="rId3" Type="http://schemas.openxmlformats.org/officeDocument/2006/relationships/image" Target="../media/image129.png"/><Relationship Id="rId2" Type="http://schemas.openxmlformats.org/officeDocument/2006/relationships/image" Target="../media/image128.png"/><Relationship Id="rId1" Type="http://schemas.openxmlformats.org/officeDocument/2006/relationships/image" Target="../media/image127.png"/></Relationships>
</file>

<file path=ppt/slides/_rels/slide20.xml.rels><?xml version="1.0" encoding="UTF-8" standalone="yes"?>
<Relationships xmlns="http://schemas.openxmlformats.org/package/2006/relationships"><Relationship Id="rId9" Type="http://schemas.openxmlformats.org/officeDocument/2006/relationships/image" Target="../media/image143.png"/><Relationship Id="rId8" Type="http://schemas.openxmlformats.org/officeDocument/2006/relationships/image" Target="../media/image142.png"/><Relationship Id="rId7" Type="http://schemas.openxmlformats.org/officeDocument/2006/relationships/image" Target="../media/image141.png"/><Relationship Id="rId6" Type="http://schemas.openxmlformats.org/officeDocument/2006/relationships/image" Target="../media/image140.png"/><Relationship Id="rId5" Type="http://schemas.openxmlformats.org/officeDocument/2006/relationships/image" Target="../media/image139.png"/><Relationship Id="rId4" Type="http://schemas.openxmlformats.org/officeDocument/2006/relationships/image" Target="../media/image138.png"/><Relationship Id="rId3" Type="http://schemas.openxmlformats.org/officeDocument/2006/relationships/image" Target="../media/image137.png"/><Relationship Id="rId2" Type="http://schemas.openxmlformats.org/officeDocument/2006/relationships/image" Target="../media/image136.png"/><Relationship Id="rId11" Type="http://schemas.openxmlformats.org/officeDocument/2006/relationships/notesSlide" Target="../notesSlides/notesSlide8.xml"/><Relationship Id="rId10" Type="http://schemas.openxmlformats.org/officeDocument/2006/relationships/slideLayout" Target="../slideLayouts/slideLayout1.xml"/><Relationship Id="rId1" Type="http://schemas.openxmlformats.org/officeDocument/2006/relationships/image" Target="../media/image135.png"/></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 Id="rId3" Type="http://schemas.openxmlformats.org/officeDocument/2006/relationships/image" Target="../media/image146.png"/><Relationship Id="rId2" Type="http://schemas.openxmlformats.org/officeDocument/2006/relationships/image" Target="../media/image145.png"/><Relationship Id="rId1" Type="http://schemas.openxmlformats.org/officeDocument/2006/relationships/image" Target="../media/image144.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56.jpeg"/><Relationship Id="rId5" Type="http://schemas.openxmlformats.org/officeDocument/2006/relationships/image" Target="../media/image155.png"/><Relationship Id="rId4" Type="http://schemas.openxmlformats.org/officeDocument/2006/relationships/image" Target="../media/image154.png"/><Relationship Id="rId3" Type="http://schemas.openxmlformats.org/officeDocument/2006/relationships/image" Target="../media/image153.png"/><Relationship Id="rId2" Type="http://schemas.openxmlformats.org/officeDocument/2006/relationships/image" Target="../media/image152.png"/><Relationship Id="rId1" Type="http://schemas.openxmlformats.org/officeDocument/2006/relationships/image" Target="../media/image151.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7.png"/></Relationships>
</file>

<file path=ppt/slides/_rels/slide26.xml.rels><?xml version="1.0" encoding="UTF-8" standalone="yes"?>
<Relationships xmlns="http://schemas.openxmlformats.org/package/2006/relationships"><Relationship Id="rId9" Type="http://schemas.openxmlformats.org/officeDocument/2006/relationships/image" Target="../media/image165.png"/><Relationship Id="rId8" Type="http://schemas.openxmlformats.org/officeDocument/2006/relationships/image" Target="../media/image164.png"/><Relationship Id="rId7" Type="http://schemas.openxmlformats.org/officeDocument/2006/relationships/image" Target="../media/image163.png"/><Relationship Id="rId6" Type="http://schemas.openxmlformats.org/officeDocument/2006/relationships/image" Target="../media/image162.png"/><Relationship Id="rId5" Type="http://schemas.openxmlformats.org/officeDocument/2006/relationships/image" Target="../media/image161.png"/><Relationship Id="rId4" Type="http://schemas.openxmlformats.org/officeDocument/2006/relationships/image" Target="../media/image160.png"/><Relationship Id="rId3" Type="http://schemas.openxmlformats.org/officeDocument/2006/relationships/image" Target="../media/image159.png"/><Relationship Id="rId2" Type="http://schemas.openxmlformats.org/officeDocument/2006/relationships/image" Target="../media/image158.png"/><Relationship Id="rId10" Type="http://schemas.openxmlformats.org/officeDocument/2006/relationships/slideLayout" Target="../slideLayouts/slideLayout4.xml"/><Relationship Id="rId1" Type="http://schemas.openxmlformats.org/officeDocument/2006/relationships/tags" Target="../tags/tag3.xml"/></Relationships>
</file>

<file path=ppt/slides/_rels/slide27.xml.rels><?xml version="1.0" encoding="UTF-8" standalone="yes"?>
<Relationships xmlns="http://schemas.openxmlformats.org/package/2006/relationships"><Relationship Id="rId8" Type="http://schemas.openxmlformats.org/officeDocument/2006/relationships/slideLayout" Target="../slideLayouts/slideLayout12.xml"/><Relationship Id="rId7" Type="http://schemas.openxmlformats.org/officeDocument/2006/relationships/image" Target="../media/image171.jpeg"/><Relationship Id="rId6" Type="http://schemas.openxmlformats.org/officeDocument/2006/relationships/image" Target="../media/image170.png"/><Relationship Id="rId5" Type="http://schemas.openxmlformats.org/officeDocument/2006/relationships/image" Target="../media/image169.png"/><Relationship Id="rId4" Type="http://schemas.openxmlformats.org/officeDocument/2006/relationships/image" Target="../media/image168.png"/><Relationship Id="rId3" Type="http://schemas.openxmlformats.org/officeDocument/2006/relationships/image" Target="../media/image167.png"/><Relationship Id="rId2" Type="http://schemas.openxmlformats.org/officeDocument/2006/relationships/image" Target="../media/image166.png"/><Relationship Id="rId1" Type="http://schemas.openxmlformats.org/officeDocument/2006/relationships/tags" Target="../tags/tag4.xml"/></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75.png"/><Relationship Id="rId3" Type="http://schemas.openxmlformats.org/officeDocument/2006/relationships/image" Target="../media/image174.png"/><Relationship Id="rId2" Type="http://schemas.openxmlformats.org/officeDocument/2006/relationships/image" Target="../media/image173.png"/><Relationship Id="rId1" Type="http://schemas.openxmlformats.org/officeDocument/2006/relationships/image" Target="../media/image172.png"/></Relationships>
</file>

<file path=ppt/slides/_rels/slide29.xml.rels><?xml version="1.0" encoding="UTF-8" standalone="yes"?>
<Relationships xmlns="http://schemas.openxmlformats.org/package/2006/relationships"><Relationship Id="rId9" Type="http://schemas.openxmlformats.org/officeDocument/2006/relationships/image" Target="../media/image184.png"/><Relationship Id="rId8" Type="http://schemas.openxmlformats.org/officeDocument/2006/relationships/image" Target="../media/image183.png"/><Relationship Id="rId7" Type="http://schemas.openxmlformats.org/officeDocument/2006/relationships/image" Target="../media/image182.png"/><Relationship Id="rId6" Type="http://schemas.openxmlformats.org/officeDocument/2006/relationships/image" Target="../media/image181.png"/><Relationship Id="rId5" Type="http://schemas.openxmlformats.org/officeDocument/2006/relationships/image" Target="../media/image180.png"/><Relationship Id="rId4" Type="http://schemas.openxmlformats.org/officeDocument/2006/relationships/image" Target="../media/image179.png"/><Relationship Id="rId3" Type="http://schemas.openxmlformats.org/officeDocument/2006/relationships/image" Target="../media/image178.png"/><Relationship Id="rId23" Type="http://schemas.openxmlformats.org/officeDocument/2006/relationships/notesSlide" Target="../notesSlides/notesSlide10.xml"/><Relationship Id="rId22" Type="http://schemas.openxmlformats.org/officeDocument/2006/relationships/slideLayout" Target="../slideLayouts/slideLayout6.xml"/><Relationship Id="rId21" Type="http://schemas.openxmlformats.org/officeDocument/2006/relationships/image" Target="../media/image196.png"/><Relationship Id="rId20" Type="http://schemas.openxmlformats.org/officeDocument/2006/relationships/image" Target="../media/image195.png"/><Relationship Id="rId2" Type="http://schemas.openxmlformats.org/officeDocument/2006/relationships/image" Target="../media/image177.png"/><Relationship Id="rId19" Type="http://schemas.openxmlformats.org/officeDocument/2006/relationships/image" Target="../media/image194.png"/><Relationship Id="rId18" Type="http://schemas.openxmlformats.org/officeDocument/2006/relationships/image" Target="../media/image193.png"/><Relationship Id="rId17" Type="http://schemas.openxmlformats.org/officeDocument/2006/relationships/image" Target="../media/image192.png"/><Relationship Id="rId16" Type="http://schemas.openxmlformats.org/officeDocument/2006/relationships/image" Target="../media/image191.png"/><Relationship Id="rId15" Type="http://schemas.openxmlformats.org/officeDocument/2006/relationships/image" Target="../media/image190.png"/><Relationship Id="rId14" Type="http://schemas.openxmlformats.org/officeDocument/2006/relationships/image" Target="../media/image189.png"/><Relationship Id="rId13" Type="http://schemas.openxmlformats.org/officeDocument/2006/relationships/image" Target="../media/image188.png"/><Relationship Id="rId12" Type="http://schemas.openxmlformats.org/officeDocument/2006/relationships/image" Target="../media/image187.png"/><Relationship Id="rId11" Type="http://schemas.openxmlformats.org/officeDocument/2006/relationships/image" Target="../media/image186.png"/><Relationship Id="rId10" Type="http://schemas.openxmlformats.org/officeDocument/2006/relationships/image" Target="../media/image185.png"/><Relationship Id="rId1" Type="http://schemas.openxmlformats.org/officeDocument/2006/relationships/image" Target="../media/image17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9" Type="http://schemas.openxmlformats.org/officeDocument/2006/relationships/image" Target="../media/image204.jpeg"/><Relationship Id="rId8" Type="http://schemas.openxmlformats.org/officeDocument/2006/relationships/image" Target="../media/image203.png"/><Relationship Id="rId7" Type="http://schemas.openxmlformats.org/officeDocument/2006/relationships/image" Target="../media/image202.png"/><Relationship Id="rId6" Type="http://schemas.openxmlformats.org/officeDocument/2006/relationships/image" Target="../media/image201.png"/><Relationship Id="rId5" Type="http://schemas.openxmlformats.org/officeDocument/2006/relationships/image" Target="../media/image200.png"/><Relationship Id="rId4" Type="http://schemas.openxmlformats.org/officeDocument/2006/relationships/image" Target="../media/image199.png"/><Relationship Id="rId3" Type="http://schemas.openxmlformats.org/officeDocument/2006/relationships/image" Target="../media/image198.png"/><Relationship Id="rId2" Type="http://schemas.openxmlformats.org/officeDocument/2006/relationships/image" Target="../media/image197.png"/><Relationship Id="rId11" Type="http://schemas.openxmlformats.org/officeDocument/2006/relationships/notesSlide" Target="../notesSlides/notesSlide11.xml"/><Relationship Id="rId10" Type="http://schemas.openxmlformats.org/officeDocument/2006/relationships/slideLayout" Target="../slideLayouts/slideLayout7.xml"/><Relationship Id="rId1" Type="http://schemas.openxmlformats.org/officeDocument/2006/relationships/tags" Target="../tags/tag5.xml"/></Relationships>
</file>

<file path=ppt/slides/_rels/slide32.xml.rels><?xml version="1.0" encoding="UTF-8" standalone="yes"?>
<Relationships xmlns="http://schemas.openxmlformats.org/package/2006/relationships"><Relationship Id="rId9" Type="http://schemas.openxmlformats.org/officeDocument/2006/relationships/image" Target="../media/image212.png"/><Relationship Id="rId8" Type="http://schemas.openxmlformats.org/officeDocument/2006/relationships/image" Target="../media/image211.png"/><Relationship Id="rId7" Type="http://schemas.openxmlformats.org/officeDocument/2006/relationships/image" Target="../media/image210.png"/><Relationship Id="rId6" Type="http://schemas.openxmlformats.org/officeDocument/2006/relationships/image" Target="../media/image209.png"/><Relationship Id="rId5" Type="http://schemas.openxmlformats.org/officeDocument/2006/relationships/image" Target="../media/image208.png"/><Relationship Id="rId4" Type="http://schemas.openxmlformats.org/officeDocument/2006/relationships/image" Target="../media/image207.png"/><Relationship Id="rId3" Type="http://schemas.openxmlformats.org/officeDocument/2006/relationships/image" Target="../media/image206.png"/><Relationship Id="rId22" Type="http://schemas.openxmlformats.org/officeDocument/2006/relationships/slideLayout" Target="../slideLayouts/slideLayout7.xml"/><Relationship Id="rId21" Type="http://schemas.openxmlformats.org/officeDocument/2006/relationships/image" Target="../media/image224.png"/><Relationship Id="rId20" Type="http://schemas.openxmlformats.org/officeDocument/2006/relationships/image" Target="../media/image223.png"/><Relationship Id="rId2" Type="http://schemas.openxmlformats.org/officeDocument/2006/relationships/image" Target="../media/image205.png"/><Relationship Id="rId19" Type="http://schemas.openxmlformats.org/officeDocument/2006/relationships/image" Target="../media/image222.png"/><Relationship Id="rId18" Type="http://schemas.openxmlformats.org/officeDocument/2006/relationships/image" Target="../media/image221.png"/><Relationship Id="rId17" Type="http://schemas.openxmlformats.org/officeDocument/2006/relationships/image" Target="../media/image220.png"/><Relationship Id="rId16" Type="http://schemas.openxmlformats.org/officeDocument/2006/relationships/image" Target="../media/image219.png"/><Relationship Id="rId15" Type="http://schemas.openxmlformats.org/officeDocument/2006/relationships/image" Target="../media/image218.png"/><Relationship Id="rId14" Type="http://schemas.openxmlformats.org/officeDocument/2006/relationships/image" Target="../media/image217.png"/><Relationship Id="rId13" Type="http://schemas.openxmlformats.org/officeDocument/2006/relationships/image" Target="../media/image216.png"/><Relationship Id="rId12" Type="http://schemas.openxmlformats.org/officeDocument/2006/relationships/image" Target="../media/image215.png"/><Relationship Id="rId11" Type="http://schemas.openxmlformats.org/officeDocument/2006/relationships/image" Target="../media/image214.png"/><Relationship Id="rId10" Type="http://schemas.openxmlformats.org/officeDocument/2006/relationships/image" Target="../media/image213.png"/><Relationship Id="rId1" Type="http://schemas.openxmlformats.org/officeDocument/2006/relationships/image" Target="../media/image176.png"/></Relationships>
</file>

<file path=ppt/slides/_rels/slide3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28.png"/><Relationship Id="rId4" Type="http://schemas.openxmlformats.org/officeDocument/2006/relationships/image" Target="../media/image227.png"/><Relationship Id="rId3" Type="http://schemas.openxmlformats.org/officeDocument/2006/relationships/image" Target="../media/image226.png"/><Relationship Id="rId2" Type="http://schemas.openxmlformats.org/officeDocument/2006/relationships/image" Target="../media/image225.png"/><Relationship Id="rId1" Type="http://schemas.openxmlformats.org/officeDocument/2006/relationships/tags" Target="../tags/tag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slideLayout" Target="../slideLayouts/slideLayout12.xml"/><Relationship Id="rId7" Type="http://schemas.openxmlformats.org/officeDocument/2006/relationships/image" Target="../media/image235.jpeg"/><Relationship Id="rId6" Type="http://schemas.openxmlformats.org/officeDocument/2006/relationships/image" Target="../media/image234.png"/><Relationship Id="rId5" Type="http://schemas.openxmlformats.org/officeDocument/2006/relationships/image" Target="../media/image233.png"/><Relationship Id="rId4" Type="http://schemas.openxmlformats.org/officeDocument/2006/relationships/image" Target="../media/image232.png"/><Relationship Id="rId3" Type="http://schemas.openxmlformats.org/officeDocument/2006/relationships/image" Target="../media/image231.png"/><Relationship Id="rId2" Type="http://schemas.openxmlformats.org/officeDocument/2006/relationships/image" Target="../media/image230.png"/><Relationship Id="rId1" Type="http://schemas.openxmlformats.org/officeDocument/2006/relationships/image" Target="../media/image229.png"/></Relationships>
</file>

<file path=ppt/slides/_rels/slide3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40.png"/><Relationship Id="rId4" Type="http://schemas.openxmlformats.org/officeDocument/2006/relationships/image" Target="../media/image239.png"/><Relationship Id="rId3" Type="http://schemas.openxmlformats.org/officeDocument/2006/relationships/image" Target="../media/image238.png"/><Relationship Id="rId2" Type="http://schemas.openxmlformats.org/officeDocument/2006/relationships/image" Target="../media/image237.png"/><Relationship Id="rId1" Type="http://schemas.openxmlformats.org/officeDocument/2006/relationships/image" Target="../media/image236.png"/></Relationships>
</file>

<file path=ppt/slides/_rels/slide37.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image" Target="../media/image246.png"/><Relationship Id="rId5" Type="http://schemas.openxmlformats.org/officeDocument/2006/relationships/image" Target="../media/image245.png"/><Relationship Id="rId4" Type="http://schemas.openxmlformats.org/officeDocument/2006/relationships/image" Target="../media/image244.png"/><Relationship Id="rId3" Type="http://schemas.openxmlformats.org/officeDocument/2006/relationships/image" Target="../media/image243.png"/><Relationship Id="rId2" Type="http://schemas.openxmlformats.org/officeDocument/2006/relationships/image" Target="../media/image242.png"/><Relationship Id="rId1" Type="http://schemas.openxmlformats.org/officeDocument/2006/relationships/image" Target="../media/image241.png"/></Relationships>
</file>

<file path=ppt/slides/_rels/slide3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51.png"/><Relationship Id="rId5" Type="http://schemas.openxmlformats.org/officeDocument/2006/relationships/image" Target="../media/image250.png"/><Relationship Id="rId4" Type="http://schemas.openxmlformats.org/officeDocument/2006/relationships/image" Target="../media/image249.png"/><Relationship Id="rId3" Type="http://schemas.openxmlformats.org/officeDocument/2006/relationships/image" Target="../media/image248.png"/><Relationship Id="rId2" Type="http://schemas.openxmlformats.org/officeDocument/2006/relationships/image" Target="../media/image247.png"/><Relationship Id="rId1" Type="http://schemas.openxmlformats.org/officeDocument/2006/relationships/tags" Target="../tags/tag7.xml"/></Relationships>
</file>

<file path=ppt/slides/_rels/slide39.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257.png"/><Relationship Id="rId6" Type="http://schemas.openxmlformats.org/officeDocument/2006/relationships/image" Target="../media/image256.png"/><Relationship Id="rId5" Type="http://schemas.openxmlformats.org/officeDocument/2006/relationships/image" Target="../media/image255.png"/><Relationship Id="rId4" Type="http://schemas.openxmlformats.org/officeDocument/2006/relationships/image" Target="../media/image254.png"/><Relationship Id="rId3" Type="http://schemas.openxmlformats.org/officeDocument/2006/relationships/image" Target="../media/image253.png"/><Relationship Id="rId2" Type="http://schemas.openxmlformats.org/officeDocument/2006/relationships/image" Target="../media/image252.png"/><Relationship Id="rId1" Type="http://schemas.openxmlformats.org/officeDocument/2006/relationships/image" Target="../media/image17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7" Type="http://schemas.openxmlformats.org/officeDocument/2006/relationships/slideLayout" Target="../slideLayouts/slideLayout6.xml"/><Relationship Id="rId6" Type="http://schemas.openxmlformats.org/officeDocument/2006/relationships/image" Target="../media/image263.jpeg"/><Relationship Id="rId5" Type="http://schemas.openxmlformats.org/officeDocument/2006/relationships/image" Target="../media/image262.png"/><Relationship Id="rId4" Type="http://schemas.openxmlformats.org/officeDocument/2006/relationships/image" Target="../media/image261.png"/><Relationship Id="rId3" Type="http://schemas.openxmlformats.org/officeDocument/2006/relationships/image" Target="../media/image260.png"/><Relationship Id="rId2" Type="http://schemas.openxmlformats.org/officeDocument/2006/relationships/image" Target="../media/image259.png"/><Relationship Id="rId1" Type="http://schemas.openxmlformats.org/officeDocument/2006/relationships/image" Target="../media/image258.png"/></Relationships>
</file>

<file path=ppt/slides/_rels/slide42.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67.png"/><Relationship Id="rId4" Type="http://schemas.openxmlformats.org/officeDocument/2006/relationships/image" Target="../media/image266.png"/><Relationship Id="rId3" Type="http://schemas.openxmlformats.org/officeDocument/2006/relationships/image" Target="../media/image265.png"/><Relationship Id="rId2" Type="http://schemas.openxmlformats.org/officeDocument/2006/relationships/image" Target="../media/image264.png"/><Relationship Id="rId1" Type="http://schemas.openxmlformats.org/officeDocument/2006/relationships/tags" Target="../tags/tag8.xml"/></Relationships>
</file>

<file path=ppt/slides/_rels/slide43.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268.wmf"/><Relationship Id="rId1" Type="http://schemas.openxmlformats.org/officeDocument/2006/relationships/oleObject" Target="../embeddings/oleObject8.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slideLayout" Target="../slideLayouts/slideLayout6.xml"/><Relationship Id="rId7" Type="http://schemas.openxmlformats.org/officeDocument/2006/relationships/image" Target="../media/image275.jpeg"/><Relationship Id="rId6" Type="http://schemas.openxmlformats.org/officeDocument/2006/relationships/image" Target="../media/image274.png"/><Relationship Id="rId5" Type="http://schemas.openxmlformats.org/officeDocument/2006/relationships/image" Target="../media/image273.png"/><Relationship Id="rId4" Type="http://schemas.openxmlformats.org/officeDocument/2006/relationships/image" Target="../media/image272.png"/><Relationship Id="rId3" Type="http://schemas.openxmlformats.org/officeDocument/2006/relationships/image" Target="../media/image271.png"/><Relationship Id="rId2" Type="http://schemas.openxmlformats.org/officeDocument/2006/relationships/image" Target="../media/image270.png"/><Relationship Id="rId1" Type="http://schemas.openxmlformats.org/officeDocument/2006/relationships/image" Target="../media/image269.png"/></Relationships>
</file>

<file path=ppt/slides/_rels/slide4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79.png"/><Relationship Id="rId4" Type="http://schemas.openxmlformats.org/officeDocument/2006/relationships/image" Target="../media/image278.png"/><Relationship Id="rId3" Type="http://schemas.openxmlformats.org/officeDocument/2006/relationships/image" Target="../media/image277.png"/><Relationship Id="rId2" Type="http://schemas.openxmlformats.org/officeDocument/2006/relationships/image" Target="../media/image276.png"/><Relationship Id="rId1" Type="http://schemas.openxmlformats.org/officeDocument/2006/relationships/tags" Target="../tags/tag9.xml"/></Relationships>
</file>

<file path=ppt/slides/_rels/slide47.xml.rels><?xml version="1.0" encoding="UTF-8" standalone="yes"?>
<Relationships xmlns="http://schemas.openxmlformats.org/package/2006/relationships"><Relationship Id="rId9" Type="http://schemas.openxmlformats.org/officeDocument/2006/relationships/image" Target="../media/image287.png"/><Relationship Id="rId8" Type="http://schemas.openxmlformats.org/officeDocument/2006/relationships/image" Target="../media/image286.png"/><Relationship Id="rId7" Type="http://schemas.openxmlformats.org/officeDocument/2006/relationships/image" Target="../media/image285.png"/><Relationship Id="rId6" Type="http://schemas.openxmlformats.org/officeDocument/2006/relationships/image" Target="../media/image284.png"/><Relationship Id="rId5" Type="http://schemas.openxmlformats.org/officeDocument/2006/relationships/image" Target="../media/image283.png"/><Relationship Id="rId4" Type="http://schemas.openxmlformats.org/officeDocument/2006/relationships/image" Target="../media/image282.png"/><Relationship Id="rId3" Type="http://schemas.openxmlformats.org/officeDocument/2006/relationships/image" Target="../media/image281.png"/><Relationship Id="rId2" Type="http://schemas.openxmlformats.org/officeDocument/2006/relationships/image" Target="../media/image280.png"/><Relationship Id="rId10" Type="http://schemas.openxmlformats.org/officeDocument/2006/relationships/slideLayout" Target="../slideLayouts/slideLayout2.xml"/><Relationship Id="rId1" Type="http://schemas.openxmlformats.org/officeDocument/2006/relationships/tags" Target="../tags/tag10.xml"/></Relationships>
</file>

<file path=ppt/slides/_rels/slide48.xml.rels><?xml version="1.0" encoding="UTF-8" standalone="yes"?>
<Relationships xmlns="http://schemas.openxmlformats.org/package/2006/relationships"><Relationship Id="rId9" Type="http://schemas.openxmlformats.org/officeDocument/2006/relationships/image" Target="../media/image295.png"/><Relationship Id="rId8" Type="http://schemas.openxmlformats.org/officeDocument/2006/relationships/image" Target="../media/image294.png"/><Relationship Id="rId7" Type="http://schemas.openxmlformats.org/officeDocument/2006/relationships/image" Target="../media/image293.png"/><Relationship Id="rId6" Type="http://schemas.openxmlformats.org/officeDocument/2006/relationships/image" Target="../media/image292.png"/><Relationship Id="rId5" Type="http://schemas.openxmlformats.org/officeDocument/2006/relationships/image" Target="../media/image291.png"/><Relationship Id="rId4" Type="http://schemas.openxmlformats.org/officeDocument/2006/relationships/image" Target="../media/image290.png"/><Relationship Id="rId3" Type="http://schemas.openxmlformats.org/officeDocument/2006/relationships/image" Target="../media/image289.png"/><Relationship Id="rId2" Type="http://schemas.openxmlformats.org/officeDocument/2006/relationships/image" Target="../media/image288.png"/><Relationship Id="rId14" Type="http://schemas.openxmlformats.org/officeDocument/2006/relationships/notesSlide" Target="../notesSlides/notesSlide12.xml"/><Relationship Id="rId13" Type="http://schemas.openxmlformats.org/officeDocument/2006/relationships/slideLayout" Target="../slideLayouts/slideLayout7.xml"/><Relationship Id="rId12" Type="http://schemas.openxmlformats.org/officeDocument/2006/relationships/image" Target="../media/image298.png"/><Relationship Id="rId11" Type="http://schemas.openxmlformats.org/officeDocument/2006/relationships/image" Target="../media/image297.png"/><Relationship Id="rId10" Type="http://schemas.openxmlformats.org/officeDocument/2006/relationships/image" Target="../media/image296.png"/><Relationship Id="rId1" Type="http://schemas.openxmlformats.org/officeDocument/2006/relationships/tags" Target="../tags/tag1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xml"/><Relationship Id="rId1" Type="http://schemas.openxmlformats.org/officeDocument/2006/relationships/image" Target="../media/image299.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3.xml"/><Relationship Id="rId1" Type="http://schemas.openxmlformats.org/officeDocument/2006/relationships/image" Target="../media/image300.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4.xml"/><Relationship Id="rId1" Type="http://schemas.openxmlformats.org/officeDocument/2006/relationships/image" Target="../media/image301.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5.xml"/><Relationship Id="rId1" Type="http://schemas.openxmlformats.org/officeDocument/2006/relationships/image" Target="../media/image302.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6.xml"/><Relationship Id="rId1" Type="http://schemas.openxmlformats.org/officeDocument/2006/relationships/image" Target="../media/image303.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7.xml"/><Relationship Id="rId1" Type="http://schemas.openxmlformats.org/officeDocument/2006/relationships/image" Target="../media/image304.pn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8.xml"/><Relationship Id="rId1" Type="http://schemas.openxmlformats.org/officeDocument/2006/relationships/image" Target="../media/image305.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9.xml"/><Relationship Id="rId1" Type="http://schemas.openxmlformats.org/officeDocument/2006/relationships/image" Target="../media/image306.pn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0.xml"/><Relationship Id="rId1" Type="http://schemas.openxmlformats.org/officeDocument/2006/relationships/image" Target="../media/image307.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1.xml"/><Relationship Id="rId1" Type="http://schemas.openxmlformats.org/officeDocument/2006/relationships/image" Target="../media/image308.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2.xml"/><Relationship Id="rId1" Type="http://schemas.openxmlformats.org/officeDocument/2006/relationships/image" Target="../media/image309.png"/></Relationships>
</file>

<file path=ppt/slides/_rels/slide61.xml.rels><?xml version="1.0" encoding="UTF-8" standalone="yes"?>
<Relationships xmlns="http://schemas.openxmlformats.org/package/2006/relationships"><Relationship Id="rId9" Type="http://schemas.openxmlformats.org/officeDocument/2006/relationships/image" Target="../media/image317.png"/><Relationship Id="rId8" Type="http://schemas.openxmlformats.org/officeDocument/2006/relationships/image" Target="../media/image316.png"/><Relationship Id="rId7" Type="http://schemas.openxmlformats.org/officeDocument/2006/relationships/image" Target="../media/image315.png"/><Relationship Id="rId6" Type="http://schemas.openxmlformats.org/officeDocument/2006/relationships/image" Target="../media/image314.png"/><Relationship Id="rId5" Type="http://schemas.openxmlformats.org/officeDocument/2006/relationships/image" Target="../media/image313.png"/><Relationship Id="rId4" Type="http://schemas.openxmlformats.org/officeDocument/2006/relationships/image" Target="../media/image312.png"/><Relationship Id="rId3" Type="http://schemas.openxmlformats.org/officeDocument/2006/relationships/image" Target="../media/image311.png"/><Relationship Id="rId2" Type="http://schemas.openxmlformats.org/officeDocument/2006/relationships/image" Target="../media/image310.png"/><Relationship Id="rId12" Type="http://schemas.openxmlformats.org/officeDocument/2006/relationships/notesSlide" Target="../notesSlides/notesSlide13.xml"/><Relationship Id="rId11" Type="http://schemas.openxmlformats.org/officeDocument/2006/relationships/slideLayout" Target="../slideLayouts/slideLayout12.xml"/><Relationship Id="rId10" Type="http://schemas.openxmlformats.org/officeDocument/2006/relationships/image" Target="../media/image318.jpeg"/><Relationship Id="rId1" Type="http://schemas.openxmlformats.org/officeDocument/2006/relationships/tags" Target="../tags/tag23.xml"/></Relationships>
</file>

<file path=ppt/slides/_rels/slide62.xml.rels><?xml version="1.0" encoding="UTF-8" standalone="yes"?>
<Relationships xmlns="http://schemas.openxmlformats.org/package/2006/relationships"><Relationship Id="rId9" Type="http://schemas.openxmlformats.org/officeDocument/2006/relationships/image" Target="../media/image326.png"/><Relationship Id="rId8" Type="http://schemas.openxmlformats.org/officeDocument/2006/relationships/image" Target="../media/image325.png"/><Relationship Id="rId7" Type="http://schemas.openxmlformats.org/officeDocument/2006/relationships/image" Target="../media/image324.png"/><Relationship Id="rId6" Type="http://schemas.openxmlformats.org/officeDocument/2006/relationships/image" Target="../media/image323.png"/><Relationship Id="rId5" Type="http://schemas.openxmlformats.org/officeDocument/2006/relationships/image" Target="../media/image322.png"/><Relationship Id="rId4" Type="http://schemas.openxmlformats.org/officeDocument/2006/relationships/image" Target="../media/image321.png"/><Relationship Id="rId3" Type="http://schemas.openxmlformats.org/officeDocument/2006/relationships/image" Target="../media/image320.png"/><Relationship Id="rId2" Type="http://schemas.openxmlformats.org/officeDocument/2006/relationships/image" Target="../media/image319.png"/><Relationship Id="rId15" Type="http://schemas.openxmlformats.org/officeDocument/2006/relationships/slideLayout" Target="../slideLayouts/slideLayout12.xml"/><Relationship Id="rId14" Type="http://schemas.openxmlformats.org/officeDocument/2006/relationships/image" Target="../media/image331.png"/><Relationship Id="rId13" Type="http://schemas.openxmlformats.org/officeDocument/2006/relationships/image" Target="../media/image330.png"/><Relationship Id="rId12" Type="http://schemas.openxmlformats.org/officeDocument/2006/relationships/image" Target="../media/image329.png"/><Relationship Id="rId11" Type="http://schemas.openxmlformats.org/officeDocument/2006/relationships/image" Target="../media/image328.png"/><Relationship Id="rId10" Type="http://schemas.openxmlformats.org/officeDocument/2006/relationships/image" Target="../media/image327.png"/><Relationship Id="rId1" Type="http://schemas.openxmlformats.org/officeDocument/2006/relationships/tags" Target="../tags/tag24.xml"/></Relationships>
</file>

<file path=ppt/slides/_rels/slide63.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332.wmf"/><Relationship Id="rId1" Type="http://schemas.openxmlformats.org/officeDocument/2006/relationships/oleObject" Target="../embeddings/oleObject9.bin"/></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3.png"/></Relationships>
</file>

<file path=ppt/slides/_rels/slide66.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13.xml"/><Relationship Id="rId6" Type="http://schemas.openxmlformats.org/officeDocument/2006/relationships/image" Target="../media/image338.png"/><Relationship Id="rId5" Type="http://schemas.openxmlformats.org/officeDocument/2006/relationships/image" Target="../media/image337.png"/><Relationship Id="rId4" Type="http://schemas.openxmlformats.org/officeDocument/2006/relationships/image" Target="../media/image336.png"/><Relationship Id="rId3" Type="http://schemas.openxmlformats.org/officeDocument/2006/relationships/image" Target="../media/image335.png"/><Relationship Id="rId2" Type="http://schemas.openxmlformats.org/officeDocument/2006/relationships/image" Target="../media/image334.png"/><Relationship Id="rId1" Type="http://schemas.openxmlformats.org/officeDocument/2006/relationships/image" Target="../media/image176.png"/></Relationships>
</file>

<file path=ppt/slides/_rels/slide67.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image" Target="../media/image345.png"/><Relationship Id="rId7" Type="http://schemas.openxmlformats.org/officeDocument/2006/relationships/image" Target="../media/image344.png"/><Relationship Id="rId6" Type="http://schemas.openxmlformats.org/officeDocument/2006/relationships/image" Target="../media/image343.png"/><Relationship Id="rId5" Type="http://schemas.openxmlformats.org/officeDocument/2006/relationships/image" Target="../media/image342.png"/><Relationship Id="rId4" Type="http://schemas.openxmlformats.org/officeDocument/2006/relationships/image" Target="../media/image341.png"/><Relationship Id="rId3" Type="http://schemas.openxmlformats.org/officeDocument/2006/relationships/image" Target="../media/image340.png"/><Relationship Id="rId2" Type="http://schemas.openxmlformats.org/officeDocument/2006/relationships/image" Target="../media/image339.png"/><Relationship Id="rId10" Type="http://schemas.openxmlformats.org/officeDocument/2006/relationships/notesSlide" Target="../notesSlides/notesSlide15.xml"/><Relationship Id="rId1" Type="http://schemas.openxmlformats.org/officeDocument/2006/relationships/image" Target="../media/image176.png"/></Relationships>
</file>

<file path=ppt/slides/_rels/slide68.xml.rels><?xml version="1.0" encoding="UTF-8" standalone="yes"?>
<Relationships xmlns="http://schemas.openxmlformats.org/package/2006/relationships"><Relationship Id="rId9" Type="http://schemas.openxmlformats.org/officeDocument/2006/relationships/image" Target="../media/image353.png"/><Relationship Id="rId8" Type="http://schemas.openxmlformats.org/officeDocument/2006/relationships/image" Target="../media/image352.png"/><Relationship Id="rId7" Type="http://schemas.openxmlformats.org/officeDocument/2006/relationships/image" Target="../media/image351.png"/><Relationship Id="rId6" Type="http://schemas.openxmlformats.org/officeDocument/2006/relationships/image" Target="../media/image350.png"/><Relationship Id="rId5" Type="http://schemas.openxmlformats.org/officeDocument/2006/relationships/image" Target="../media/image349.png"/><Relationship Id="rId4" Type="http://schemas.openxmlformats.org/officeDocument/2006/relationships/image" Target="../media/image348.png"/><Relationship Id="rId3" Type="http://schemas.openxmlformats.org/officeDocument/2006/relationships/image" Target="../media/image347.png"/><Relationship Id="rId2" Type="http://schemas.openxmlformats.org/officeDocument/2006/relationships/image" Target="../media/image346.png"/><Relationship Id="rId11" Type="http://schemas.openxmlformats.org/officeDocument/2006/relationships/notesSlide" Target="../notesSlides/notesSlide16.xml"/><Relationship Id="rId10" Type="http://schemas.openxmlformats.org/officeDocument/2006/relationships/slideLayout" Target="../slideLayouts/slideLayout13.xml"/><Relationship Id="rId1" Type="http://schemas.openxmlformats.org/officeDocument/2006/relationships/image" Target="../media/image176.png"/></Relationships>
</file>

<file path=ppt/slides/_rels/slide69.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13.xml"/><Relationship Id="rId6" Type="http://schemas.openxmlformats.org/officeDocument/2006/relationships/image" Target="../media/image358.png"/><Relationship Id="rId5" Type="http://schemas.openxmlformats.org/officeDocument/2006/relationships/image" Target="../media/image357.png"/><Relationship Id="rId4" Type="http://schemas.openxmlformats.org/officeDocument/2006/relationships/image" Target="../media/image356.png"/><Relationship Id="rId3" Type="http://schemas.openxmlformats.org/officeDocument/2006/relationships/image" Target="../media/image355.png"/><Relationship Id="rId2" Type="http://schemas.openxmlformats.org/officeDocument/2006/relationships/image" Target="../media/image354.png"/><Relationship Id="rId1" Type="http://schemas.openxmlformats.org/officeDocument/2006/relationships/image" Target="../media/image176.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59.png"/></Relationships>
</file>

<file path=ppt/slides/_rels/slide71.xml.rels><?xml version="1.0" encoding="UTF-8" standalone="yes"?>
<Relationships xmlns="http://schemas.openxmlformats.org/package/2006/relationships"><Relationship Id="rId7" Type="http://schemas.openxmlformats.org/officeDocument/2006/relationships/notesSlide" Target="../notesSlides/notesSlide18.xml"/><Relationship Id="rId6" Type="http://schemas.openxmlformats.org/officeDocument/2006/relationships/slideLayout" Target="../slideLayouts/slideLayout13.xml"/><Relationship Id="rId5" Type="http://schemas.openxmlformats.org/officeDocument/2006/relationships/image" Target="../media/image363.png"/><Relationship Id="rId4" Type="http://schemas.openxmlformats.org/officeDocument/2006/relationships/image" Target="../media/image362.png"/><Relationship Id="rId3" Type="http://schemas.openxmlformats.org/officeDocument/2006/relationships/image" Target="../media/image361.png"/><Relationship Id="rId2" Type="http://schemas.openxmlformats.org/officeDocument/2006/relationships/image" Target="../media/image360.png"/><Relationship Id="rId1" Type="http://schemas.openxmlformats.org/officeDocument/2006/relationships/tags" Target="../tags/tag25.xml"/></Relationships>
</file>

<file path=ppt/slides/_rels/slide72.xml.rels><?xml version="1.0" encoding="UTF-8" standalone="yes"?>
<Relationships xmlns="http://schemas.openxmlformats.org/package/2006/relationships"><Relationship Id="rId9" Type="http://schemas.openxmlformats.org/officeDocument/2006/relationships/notesSlide" Target="../notesSlides/notesSlide19.xml"/><Relationship Id="rId8" Type="http://schemas.openxmlformats.org/officeDocument/2006/relationships/slideLayout" Target="../slideLayouts/slideLayout13.xml"/><Relationship Id="rId7" Type="http://schemas.openxmlformats.org/officeDocument/2006/relationships/image" Target="../media/image369.png"/><Relationship Id="rId6" Type="http://schemas.openxmlformats.org/officeDocument/2006/relationships/image" Target="../media/image368.png"/><Relationship Id="rId5" Type="http://schemas.openxmlformats.org/officeDocument/2006/relationships/image" Target="../media/image367.png"/><Relationship Id="rId4" Type="http://schemas.openxmlformats.org/officeDocument/2006/relationships/image" Target="../media/image366.png"/><Relationship Id="rId3" Type="http://schemas.openxmlformats.org/officeDocument/2006/relationships/image" Target="../media/image365.png"/><Relationship Id="rId2" Type="http://schemas.openxmlformats.org/officeDocument/2006/relationships/image" Target="../media/image364.png"/><Relationship Id="rId1" Type="http://schemas.openxmlformats.org/officeDocument/2006/relationships/tags" Target="../tags/tag26.xml"/></Relationships>
</file>

<file path=ppt/slides/_rels/slide73.xml.rels><?xml version="1.0" encoding="UTF-8" standalone="yes"?>
<Relationships xmlns="http://schemas.openxmlformats.org/package/2006/relationships"><Relationship Id="rId9" Type="http://schemas.openxmlformats.org/officeDocument/2006/relationships/image" Target="../media/image377.png"/><Relationship Id="rId8" Type="http://schemas.openxmlformats.org/officeDocument/2006/relationships/image" Target="../media/image376.png"/><Relationship Id="rId7" Type="http://schemas.openxmlformats.org/officeDocument/2006/relationships/image" Target="../media/image375.png"/><Relationship Id="rId6" Type="http://schemas.openxmlformats.org/officeDocument/2006/relationships/image" Target="../media/image374.png"/><Relationship Id="rId5" Type="http://schemas.openxmlformats.org/officeDocument/2006/relationships/image" Target="../media/image373.png"/><Relationship Id="rId4" Type="http://schemas.openxmlformats.org/officeDocument/2006/relationships/image" Target="../media/image372.png"/><Relationship Id="rId3" Type="http://schemas.openxmlformats.org/officeDocument/2006/relationships/image" Target="../media/image371.png"/><Relationship Id="rId22" Type="http://schemas.openxmlformats.org/officeDocument/2006/relationships/notesSlide" Target="../notesSlides/notesSlide20.xml"/><Relationship Id="rId21" Type="http://schemas.openxmlformats.org/officeDocument/2006/relationships/slideLayout" Target="../slideLayouts/slideLayout13.xml"/><Relationship Id="rId20" Type="http://schemas.openxmlformats.org/officeDocument/2006/relationships/image" Target="../media/image388.png"/><Relationship Id="rId2" Type="http://schemas.openxmlformats.org/officeDocument/2006/relationships/image" Target="../media/image370.png"/><Relationship Id="rId19" Type="http://schemas.openxmlformats.org/officeDocument/2006/relationships/image" Target="../media/image387.png"/><Relationship Id="rId18" Type="http://schemas.openxmlformats.org/officeDocument/2006/relationships/image" Target="../media/image386.png"/><Relationship Id="rId17" Type="http://schemas.openxmlformats.org/officeDocument/2006/relationships/image" Target="../media/image385.png"/><Relationship Id="rId16" Type="http://schemas.openxmlformats.org/officeDocument/2006/relationships/image" Target="../media/image384.png"/><Relationship Id="rId15" Type="http://schemas.openxmlformats.org/officeDocument/2006/relationships/image" Target="../media/image383.png"/><Relationship Id="rId14" Type="http://schemas.openxmlformats.org/officeDocument/2006/relationships/image" Target="../media/image382.png"/><Relationship Id="rId13" Type="http://schemas.openxmlformats.org/officeDocument/2006/relationships/image" Target="../media/image381.png"/><Relationship Id="rId12" Type="http://schemas.openxmlformats.org/officeDocument/2006/relationships/image" Target="../media/image380.png"/><Relationship Id="rId11" Type="http://schemas.openxmlformats.org/officeDocument/2006/relationships/image" Target="../media/image379.png"/><Relationship Id="rId10" Type="http://schemas.openxmlformats.org/officeDocument/2006/relationships/image" Target="../media/image378.png"/><Relationship Id="rId1" Type="http://schemas.openxmlformats.org/officeDocument/2006/relationships/image" Target="../media/image176.png"/></Relationships>
</file>

<file path=ppt/slides/_rels/slide74.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391.png"/><Relationship Id="rId3" Type="http://schemas.openxmlformats.org/officeDocument/2006/relationships/image" Target="../media/image390.png"/><Relationship Id="rId2" Type="http://schemas.openxmlformats.org/officeDocument/2006/relationships/image" Target="../media/image389.png"/><Relationship Id="rId1" Type="http://schemas.openxmlformats.org/officeDocument/2006/relationships/tags" Target="../tags/tag27.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8.xml"/></Relationships>
</file>

<file path=ppt/slides/_rels/slide76.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394.png"/><Relationship Id="rId3" Type="http://schemas.openxmlformats.org/officeDocument/2006/relationships/image" Target="../media/image393.png"/><Relationship Id="rId2" Type="http://schemas.openxmlformats.org/officeDocument/2006/relationships/image" Target="../media/image392.png"/><Relationship Id="rId1" Type="http://schemas.openxmlformats.org/officeDocument/2006/relationships/image" Target="../media/image176.png"/></Relationships>
</file>

<file path=ppt/slides/_rels/slide77.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image" Target="../media/image400.png"/><Relationship Id="rId6" Type="http://schemas.openxmlformats.org/officeDocument/2006/relationships/image" Target="../media/image399.png"/><Relationship Id="rId5" Type="http://schemas.openxmlformats.org/officeDocument/2006/relationships/image" Target="../media/image398.png"/><Relationship Id="rId4" Type="http://schemas.openxmlformats.org/officeDocument/2006/relationships/image" Target="../media/image397.png"/><Relationship Id="rId3" Type="http://schemas.openxmlformats.org/officeDocument/2006/relationships/image" Target="../media/image396.png"/><Relationship Id="rId2" Type="http://schemas.openxmlformats.org/officeDocument/2006/relationships/image" Target="../media/image395.png"/><Relationship Id="rId1" Type="http://schemas.openxmlformats.org/officeDocument/2006/relationships/image" Target="../media/image176.png"/></Relationships>
</file>

<file path=ppt/slides/_rels/slide78.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403.png"/><Relationship Id="rId3" Type="http://schemas.openxmlformats.org/officeDocument/2006/relationships/image" Target="../media/image402.png"/><Relationship Id="rId2" Type="http://schemas.openxmlformats.org/officeDocument/2006/relationships/image" Target="../media/image401.png"/><Relationship Id="rId1" Type="http://schemas.openxmlformats.org/officeDocument/2006/relationships/image" Target="../media/image176.png"/></Relationships>
</file>

<file path=ppt/slides/_rels/slide79.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image" Target="../media/image407.png"/><Relationship Id="rId4" Type="http://schemas.openxmlformats.org/officeDocument/2006/relationships/image" Target="../media/image406.png"/><Relationship Id="rId3" Type="http://schemas.openxmlformats.org/officeDocument/2006/relationships/image" Target="../media/image405.png"/><Relationship Id="rId2" Type="http://schemas.openxmlformats.org/officeDocument/2006/relationships/image" Target="../media/image404.png"/><Relationship Id="rId1" Type="http://schemas.openxmlformats.org/officeDocument/2006/relationships/image" Target="../media/image176.png"/></Relationships>
</file>

<file path=ppt/slides/_rels/slide80.xml.rels><?xml version="1.0" encoding="UTF-8" standalone="yes"?>
<Relationships xmlns="http://schemas.openxmlformats.org/package/2006/relationships"><Relationship Id="rId9" Type="http://schemas.openxmlformats.org/officeDocument/2006/relationships/image" Target="../media/image415.png"/><Relationship Id="rId8" Type="http://schemas.openxmlformats.org/officeDocument/2006/relationships/image" Target="../media/image414.png"/><Relationship Id="rId7" Type="http://schemas.openxmlformats.org/officeDocument/2006/relationships/image" Target="../media/image413.png"/><Relationship Id="rId6" Type="http://schemas.openxmlformats.org/officeDocument/2006/relationships/image" Target="../media/image412.png"/><Relationship Id="rId5" Type="http://schemas.openxmlformats.org/officeDocument/2006/relationships/image" Target="../media/image411.png"/><Relationship Id="rId4" Type="http://schemas.openxmlformats.org/officeDocument/2006/relationships/image" Target="../media/image410.png"/><Relationship Id="rId3" Type="http://schemas.openxmlformats.org/officeDocument/2006/relationships/image" Target="../media/image409.png"/><Relationship Id="rId2" Type="http://schemas.openxmlformats.org/officeDocument/2006/relationships/image" Target="../media/image408.png"/><Relationship Id="rId11" Type="http://schemas.openxmlformats.org/officeDocument/2006/relationships/slideLayout" Target="../slideLayouts/slideLayout13.xml"/><Relationship Id="rId10" Type="http://schemas.openxmlformats.org/officeDocument/2006/relationships/image" Target="../media/image416.png"/><Relationship Id="rId1" Type="http://schemas.openxmlformats.org/officeDocument/2006/relationships/image" Target="../media/image176.png"/></Relationships>
</file>

<file path=ppt/slides/_rels/slide81.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419.png"/><Relationship Id="rId3" Type="http://schemas.openxmlformats.org/officeDocument/2006/relationships/image" Target="../media/image418.png"/><Relationship Id="rId2" Type="http://schemas.openxmlformats.org/officeDocument/2006/relationships/image" Target="../media/image417.png"/><Relationship Id="rId1" Type="http://schemas.openxmlformats.org/officeDocument/2006/relationships/image" Target="../media/image176.png"/></Relationships>
</file>

<file path=ppt/slides/_rels/slide82.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image" Target="../media/image426.png"/><Relationship Id="rId7" Type="http://schemas.openxmlformats.org/officeDocument/2006/relationships/image" Target="../media/image425.png"/><Relationship Id="rId6" Type="http://schemas.openxmlformats.org/officeDocument/2006/relationships/image" Target="../media/image424.png"/><Relationship Id="rId5" Type="http://schemas.openxmlformats.org/officeDocument/2006/relationships/image" Target="../media/image423.png"/><Relationship Id="rId4" Type="http://schemas.openxmlformats.org/officeDocument/2006/relationships/image" Target="../media/image422.png"/><Relationship Id="rId3" Type="http://schemas.openxmlformats.org/officeDocument/2006/relationships/image" Target="../media/image421.png"/><Relationship Id="rId2" Type="http://schemas.openxmlformats.org/officeDocument/2006/relationships/image" Target="../media/image420.png"/><Relationship Id="rId1" Type="http://schemas.openxmlformats.org/officeDocument/2006/relationships/image" Target="../media/image176.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7.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8.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9.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p>
            <a:r>
              <a:rPr lang="zh-CN" altLang="en-US"/>
              <a:t>高数</a:t>
            </a:r>
            <a:r>
              <a:rPr lang="en-US" altLang="zh-CN"/>
              <a:t>2</a:t>
            </a:r>
            <a:r>
              <a:rPr lang="zh-CN" altLang="en-US"/>
              <a:t>期中复习</a:t>
            </a:r>
            <a:endParaRPr lang="zh-CN" altLang="en-US"/>
          </a:p>
        </p:txBody>
      </p:sp>
      <p:sp>
        <p:nvSpPr>
          <p:cNvPr id="3" name="副标题 2"/>
          <p:cNvSpPr>
            <a:spLocks noGrp="1"/>
          </p:cNvSpPr>
          <p:nvPr>
            <p:ph type="subTitle" idx="1"/>
          </p:nvPr>
        </p:nvSpPr>
        <p:spPr/>
        <p:txBody>
          <a:bodyPr/>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flipH="1">
            <a:off x="0" y="0"/>
            <a:ext cx="12192000" cy="6872990"/>
          </a:xfrm>
          <a:prstGeom prst="rect">
            <a:avLst/>
          </a:prstGeom>
          <a:gradFill flip="none" rotWithShape="1">
            <a:gsLst>
              <a:gs pos="0">
                <a:srgbClr val="009E47">
                  <a:alpha val="88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4" name="矩形 13"/>
          <p:cNvSpPr/>
          <p:nvPr/>
        </p:nvSpPr>
        <p:spPr>
          <a:xfrm>
            <a:off x="789305" y="2015490"/>
            <a:ext cx="11150600" cy="4857750"/>
          </a:xfrm>
          <a:prstGeom prst="rect">
            <a:avLst/>
          </a:prstGeom>
          <a:solidFill>
            <a:schemeClr val="bg1"/>
          </a:solidFill>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629285" y="2156460"/>
            <a:ext cx="10989310" cy="4716780"/>
          </a:xfrm>
          <a:prstGeom prst="rect">
            <a:avLst/>
          </a:prstGeom>
          <a:solidFill>
            <a:schemeClr val="bg1"/>
          </a:solidFill>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487045" y="2307590"/>
            <a:ext cx="10810875" cy="4565650"/>
          </a:xfrm>
          <a:prstGeom prst="rect">
            <a:avLst/>
          </a:prstGeom>
          <a:solidFill>
            <a:schemeClr val="bg1"/>
          </a:solidFill>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任意多边形 41"/>
          <p:cNvSpPr/>
          <p:nvPr/>
        </p:nvSpPr>
        <p:spPr>
          <a:xfrm flipH="1">
            <a:off x="5062827" y="2787052"/>
            <a:ext cx="1784904" cy="429397"/>
          </a:xfrm>
          <a:custGeom>
            <a:avLst/>
            <a:gdLst/>
            <a:ahLst/>
            <a:cxnLst/>
            <a:rect l="l" t="t" r="r" b="b"/>
            <a:pathLst>
              <a:path w="1784904" h="429397">
                <a:moveTo>
                  <a:pt x="326672" y="316347"/>
                </a:moveTo>
                <a:cubicBezTo>
                  <a:pt x="322782" y="316737"/>
                  <a:pt x="318710" y="321188"/>
                  <a:pt x="314454" y="329699"/>
                </a:cubicBezTo>
                <a:cubicBezTo>
                  <a:pt x="309673" y="355056"/>
                  <a:pt x="310417" y="375966"/>
                  <a:pt x="316687" y="392430"/>
                </a:cubicBezTo>
                <a:cubicBezTo>
                  <a:pt x="326956" y="411666"/>
                  <a:pt x="343187" y="421926"/>
                  <a:pt x="365381" y="423210"/>
                </a:cubicBezTo>
                <a:cubicBezTo>
                  <a:pt x="383985" y="421777"/>
                  <a:pt x="393287" y="411824"/>
                  <a:pt x="393287" y="393351"/>
                </a:cubicBezTo>
                <a:cubicBezTo>
                  <a:pt x="393287" y="384012"/>
                  <a:pt x="384450" y="374934"/>
                  <a:pt x="366777" y="366116"/>
                </a:cubicBezTo>
                <a:cubicBezTo>
                  <a:pt x="348062" y="355102"/>
                  <a:pt x="337634" y="344787"/>
                  <a:pt x="335495" y="335169"/>
                </a:cubicBezTo>
                <a:cubicBezTo>
                  <a:pt x="334286" y="325439"/>
                  <a:pt x="332621" y="319486"/>
                  <a:pt x="330500" y="317309"/>
                </a:cubicBezTo>
                <a:cubicBezTo>
                  <a:pt x="329244" y="316537"/>
                  <a:pt x="327968" y="316216"/>
                  <a:pt x="326672" y="316347"/>
                </a:cubicBezTo>
                <a:close/>
                <a:moveTo>
                  <a:pt x="90072" y="314517"/>
                </a:moveTo>
                <a:cubicBezTo>
                  <a:pt x="88181" y="314481"/>
                  <a:pt x="85529" y="315049"/>
                  <a:pt x="82115" y="316221"/>
                </a:cubicBezTo>
                <a:cubicBezTo>
                  <a:pt x="78822" y="316221"/>
                  <a:pt x="74432" y="316919"/>
                  <a:pt x="68944" y="318314"/>
                </a:cubicBezTo>
                <a:cubicBezTo>
                  <a:pt x="41001" y="328025"/>
                  <a:pt x="20240" y="340294"/>
                  <a:pt x="6659" y="355121"/>
                </a:cubicBezTo>
                <a:cubicBezTo>
                  <a:pt x="-7721" y="387658"/>
                  <a:pt x="1190" y="408606"/>
                  <a:pt x="33393" y="417964"/>
                </a:cubicBezTo>
                <a:cubicBezTo>
                  <a:pt x="52480" y="417964"/>
                  <a:pt x="62712" y="406969"/>
                  <a:pt x="64088" y="384980"/>
                </a:cubicBezTo>
                <a:cubicBezTo>
                  <a:pt x="65205" y="364051"/>
                  <a:pt x="72683" y="346107"/>
                  <a:pt x="86524" y="331150"/>
                </a:cubicBezTo>
                <a:cubicBezTo>
                  <a:pt x="94561" y="320170"/>
                  <a:pt x="95743" y="314625"/>
                  <a:pt x="90072" y="314517"/>
                </a:cubicBezTo>
                <a:close/>
                <a:moveTo>
                  <a:pt x="187597" y="314463"/>
                </a:moveTo>
                <a:cubicBezTo>
                  <a:pt x="184025" y="314463"/>
                  <a:pt x="177449" y="315663"/>
                  <a:pt x="167868" y="318063"/>
                </a:cubicBezTo>
                <a:cubicBezTo>
                  <a:pt x="140149" y="326881"/>
                  <a:pt x="121899" y="339420"/>
                  <a:pt x="113118" y="355679"/>
                </a:cubicBezTo>
                <a:cubicBezTo>
                  <a:pt x="103630" y="385742"/>
                  <a:pt x="112662" y="404169"/>
                  <a:pt x="140214" y="410959"/>
                </a:cubicBezTo>
                <a:cubicBezTo>
                  <a:pt x="159506" y="410959"/>
                  <a:pt x="169152" y="398086"/>
                  <a:pt x="169152" y="372338"/>
                </a:cubicBezTo>
                <a:cubicBezTo>
                  <a:pt x="169152" y="352712"/>
                  <a:pt x="173217" y="338322"/>
                  <a:pt x="181346" y="329169"/>
                </a:cubicBezTo>
                <a:cubicBezTo>
                  <a:pt x="188397" y="323941"/>
                  <a:pt x="190481" y="319039"/>
                  <a:pt x="187597" y="314463"/>
                </a:cubicBezTo>
                <a:close/>
                <a:moveTo>
                  <a:pt x="277968" y="311505"/>
                </a:moveTo>
                <a:cubicBezTo>
                  <a:pt x="274629" y="311868"/>
                  <a:pt x="269620" y="313003"/>
                  <a:pt x="262941" y="314909"/>
                </a:cubicBezTo>
                <a:cubicBezTo>
                  <a:pt x="234701" y="328434"/>
                  <a:pt x="216898" y="342564"/>
                  <a:pt x="209531" y="357298"/>
                </a:cubicBezTo>
                <a:cubicBezTo>
                  <a:pt x="198815" y="387528"/>
                  <a:pt x="209121" y="406002"/>
                  <a:pt x="240450" y="412717"/>
                </a:cubicBezTo>
                <a:cubicBezTo>
                  <a:pt x="260616" y="411285"/>
                  <a:pt x="269536" y="397118"/>
                  <a:pt x="267211" y="370218"/>
                </a:cubicBezTo>
                <a:cubicBezTo>
                  <a:pt x="264867" y="350610"/>
                  <a:pt x="266634" y="337485"/>
                  <a:pt x="272513" y="330843"/>
                </a:cubicBezTo>
                <a:cubicBezTo>
                  <a:pt x="280643" y="318770"/>
                  <a:pt x="284131" y="312733"/>
                  <a:pt x="282977" y="312733"/>
                </a:cubicBezTo>
                <a:cubicBezTo>
                  <a:pt x="282977" y="311551"/>
                  <a:pt x="281308" y="311142"/>
                  <a:pt x="277968" y="311505"/>
                </a:cubicBezTo>
                <a:close/>
                <a:moveTo>
                  <a:pt x="637411" y="288371"/>
                </a:moveTo>
                <a:lnTo>
                  <a:pt x="637411" y="330229"/>
                </a:lnTo>
                <a:lnTo>
                  <a:pt x="576578" y="330229"/>
                </a:lnTo>
                <a:lnTo>
                  <a:pt x="560588" y="304138"/>
                </a:lnTo>
                <a:cubicBezTo>
                  <a:pt x="576922" y="307635"/>
                  <a:pt x="584503" y="302380"/>
                  <a:pt x="583331" y="288371"/>
                </a:cubicBezTo>
                <a:close/>
                <a:moveTo>
                  <a:pt x="1182178" y="241100"/>
                </a:moveTo>
                <a:lnTo>
                  <a:pt x="1182178" y="272438"/>
                </a:lnTo>
                <a:lnTo>
                  <a:pt x="1049293" y="272438"/>
                </a:lnTo>
                <a:lnTo>
                  <a:pt x="1049293" y="241100"/>
                </a:lnTo>
                <a:close/>
                <a:moveTo>
                  <a:pt x="637411" y="225333"/>
                </a:moveTo>
                <a:lnTo>
                  <a:pt x="637411" y="270707"/>
                </a:lnTo>
                <a:lnTo>
                  <a:pt x="583331" y="270707"/>
                </a:lnTo>
                <a:lnTo>
                  <a:pt x="583331" y="225333"/>
                </a:lnTo>
                <a:close/>
                <a:moveTo>
                  <a:pt x="752995" y="225333"/>
                </a:moveTo>
                <a:lnTo>
                  <a:pt x="752995" y="268949"/>
                </a:lnTo>
                <a:lnTo>
                  <a:pt x="697157" y="268949"/>
                </a:lnTo>
                <a:lnTo>
                  <a:pt x="697157" y="225333"/>
                </a:lnTo>
                <a:close/>
                <a:moveTo>
                  <a:pt x="1170514" y="197317"/>
                </a:moveTo>
                <a:cubicBezTo>
                  <a:pt x="1180616" y="196163"/>
                  <a:pt x="1184504" y="199679"/>
                  <a:pt x="1182178" y="207865"/>
                </a:cubicBezTo>
                <a:lnTo>
                  <a:pt x="1182178" y="225166"/>
                </a:lnTo>
                <a:lnTo>
                  <a:pt x="1049293" y="225166"/>
                </a:lnTo>
                <a:lnTo>
                  <a:pt x="1049293" y="197317"/>
                </a:lnTo>
                <a:close/>
                <a:moveTo>
                  <a:pt x="1604553" y="188582"/>
                </a:moveTo>
                <a:cubicBezTo>
                  <a:pt x="1622710" y="230459"/>
                  <a:pt x="1648327" y="264252"/>
                  <a:pt x="1681404" y="289962"/>
                </a:cubicBezTo>
                <a:lnTo>
                  <a:pt x="1604553" y="289962"/>
                </a:lnTo>
                <a:close/>
                <a:moveTo>
                  <a:pt x="250830" y="181578"/>
                </a:moveTo>
                <a:cubicBezTo>
                  <a:pt x="259276" y="182415"/>
                  <a:pt x="263499" y="185299"/>
                  <a:pt x="263499" y="190229"/>
                </a:cubicBezTo>
                <a:lnTo>
                  <a:pt x="263499" y="261945"/>
                </a:lnTo>
                <a:lnTo>
                  <a:pt x="132373" y="261945"/>
                </a:lnTo>
                <a:lnTo>
                  <a:pt x="132373" y="181578"/>
                </a:lnTo>
                <a:close/>
                <a:moveTo>
                  <a:pt x="737759" y="165812"/>
                </a:moveTo>
                <a:cubicBezTo>
                  <a:pt x="750242" y="164639"/>
                  <a:pt x="755321" y="168156"/>
                  <a:pt x="752995" y="176360"/>
                </a:cubicBezTo>
                <a:lnTo>
                  <a:pt x="752995" y="209400"/>
                </a:lnTo>
                <a:lnTo>
                  <a:pt x="697157" y="209400"/>
                </a:lnTo>
                <a:lnTo>
                  <a:pt x="697157" y="165812"/>
                </a:lnTo>
                <a:close/>
                <a:moveTo>
                  <a:pt x="1229548" y="165184"/>
                </a:moveTo>
                <a:cubicBezTo>
                  <a:pt x="1224915" y="165677"/>
                  <a:pt x="1219311" y="167783"/>
                  <a:pt x="1212735" y="171504"/>
                </a:cubicBezTo>
                <a:cubicBezTo>
                  <a:pt x="1199340" y="177085"/>
                  <a:pt x="1189118" y="180378"/>
                  <a:pt x="1182067" y="181383"/>
                </a:cubicBezTo>
                <a:lnTo>
                  <a:pt x="1049991" y="181383"/>
                </a:lnTo>
                <a:cubicBezTo>
                  <a:pt x="1052707" y="181364"/>
                  <a:pt x="1054214" y="180611"/>
                  <a:pt x="1054512" y="179122"/>
                </a:cubicBezTo>
                <a:cubicBezTo>
                  <a:pt x="1050121" y="171793"/>
                  <a:pt x="1044559" y="167300"/>
                  <a:pt x="1037824" y="165644"/>
                </a:cubicBezTo>
                <a:cubicBezTo>
                  <a:pt x="1010607" y="166909"/>
                  <a:pt x="988683" y="177913"/>
                  <a:pt x="972052" y="198656"/>
                </a:cubicBezTo>
                <a:cubicBezTo>
                  <a:pt x="973745" y="204423"/>
                  <a:pt x="977075" y="209790"/>
                  <a:pt x="982042" y="214757"/>
                </a:cubicBezTo>
                <a:cubicBezTo>
                  <a:pt x="983549" y="217008"/>
                  <a:pt x="984302" y="218171"/>
                  <a:pt x="984302" y="218246"/>
                </a:cubicBezTo>
                <a:lnTo>
                  <a:pt x="984302" y="283962"/>
                </a:lnTo>
                <a:cubicBezTo>
                  <a:pt x="983130" y="303068"/>
                  <a:pt x="995790" y="313300"/>
                  <a:pt x="1022281" y="314658"/>
                </a:cubicBezTo>
                <a:cubicBezTo>
                  <a:pt x="1043787" y="318156"/>
                  <a:pt x="1052791" y="312119"/>
                  <a:pt x="1049293" y="296548"/>
                </a:cubicBezTo>
                <a:lnTo>
                  <a:pt x="1049293" y="290130"/>
                </a:lnTo>
                <a:lnTo>
                  <a:pt x="1080715" y="290130"/>
                </a:lnTo>
                <a:cubicBezTo>
                  <a:pt x="1086482" y="290130"/>
                  <a:pt x="1088193" y="293599"/>
                  <a:pt x="1085849" y="300538"/>
                </a:cubicBezTo>
                <a:lnTo>
                  <a:pt x="1085849" y="326741"/>
                </a:lnTo>
                <a:lnTo>
                  <a:pt x="998422" y="326741"/>
                </a:lnTo>
                <a:cubicBezTo>
                  <a:pt x="999538" y="326741"/>
                  <a:pt x="998320" y="324072"/>
                  <a:pt x="994766" y="318732"/>
                </a:cubicBezTo>
                <a:cubicBezTo>
                  <a:pt x="986916" y="303050"/>
                  <a:pt x="979102" y="295208"/>
                  <a:pt x="971326" y="295208"/>
                </a:cubicBezTo>
                <a:cubicBezTo>
                  <a:pt x="960517" y="297924"/>
                  <a:pt x="945263" y="307282"/>
                  <a:pt x="925561" y="323281"/>
                </a:cubicBezTo>
                <a:cubicBezTo>
                  <a:pt x="921524" y="329197"/>
                  <a:pt x="920092" y="333699"/>
                  <a:pt x="921264" y="336787"/>
                </a:cubicBezTo>
                <a:cubicBezTo>
                  <a:pt x="921264" y="343038"/>
                  <a:pt x="925719" y="345577"/>
                  <a:pt x="934631" y="344405"/>
                </a:cubicBezTo>
                <a:lnTo>
                  <a:pt x="1085849" y="344405"/>
                </a:lnTo>
                <a:lnTo>
                  <a:pt x="1085849" y="407192"/>
                </a:lnTo>
                <a:cubicBezTo>
                  <a:pt x="1083524" y="420029"/>
                  <a:pt x="1096639" y="427098"/>
                  <a:pt x="1125196" y="428400"/>
                </a:cubicBezTo>
                <a:cubicBezTo>
                  <a:pt x="1144636" y="431953"/>
                  <a:pt x="1153194" y="426010"/>
                  <a:pt x="1150869" y="410569"/>
                </a:cubicBezTo>
                <a:lnTo>
                  <a:pt x="1150869" y="344405"/>
                </a:lnTo>
                <a:lnTo>
                  <a:pt x="1299604" y="344405"/>
                </a:lnTo>
                <a:cubicBezTo>
                  <a:pt x="1307678" y="344405"/>
                  <a:pt x="1312794" y="342266"/>
                  <a:pt x="1314952" y="337987"/>
                </a:cubicBezTo>
                <a:cubicBezTo>
                  <a:pt x="1316459" y="332518"/>
                  <a:pt x="1312691" y="328769"/>
                  <a:pt x="1303650" y="326741"/>
                </a:cubicBezTo>
                <a:lnTo>
                  <a:pt x="1150869" y="326741"/>
                </a:lnTo>
                <a:lnTo>
                  <a:pt x="1150869" y="290130"/>
                </a:lnTo>
                <a:lnTo>
                  <a:pt x="1182178" y="290130"/>
                </a:lnTo>
                <a:lnTo>
                  <a:pt x="1182178" y="293785"/>
                </a:lnTo>
                <a:cubicBezTo>
                  <a:pt x="1183927" y="302622"/>
                  <a:pt x="1196559" y="308993"/>
                  <a:pt x="1220074" y="312900"/>
                </a:cubicBezTo>
                <a:cubicBezTo>
                  <a:pt x="1239310" y="316398"/>
                  <a:pt x="1248342" y="310435"/>
                  <a:pt x="1247170" y="295013"/>
                </a:cubicBezTo>
                <a:lnTo>
                  <a:pt x="1247170" y="194219"/>
                </a:lnTo>
                <a:cubicBezTo>
                  <a:pt x="1248342" y="179969"/>
                  <a:pt x="1246128" y="171411"/>
                  <a:pt x="1240528" y="168546"/>
                </a:cubicBezTo>
                <a:cubicBezTo>
                  <a:pt x="1237840" y="165812"/>
                  <a:pt x="1234180" y="164691"/>
                  <a:pt x="1229548" y="165184"/>
                </a:cubicBezTo>
                <a:close/>
                <a:moveTo>
                  <a:pt x="637411" y="164053"/>
                </a:moveTo>
                <a:lnTo>
                  <a:pt x="637411" y="209400"/>
                </a:lnTo>
                <a:lnTo>
                  <a:pt x="583331" y="209400"/>
                </a:lnTo>
                <a:lnTo>
                  <a:pt x="583331" y="164053"/>
                </a:lnTo>
                <a:close/>
                <a:moveTo>
                  <a:pt x="1539561" y="122028"/>
                </a:moveTo>
                <a:lnTo>
                  <a:pt x="1539561" y="289962"/>
                </a:lnTo>
                <a:lnTo>
                  <a:pt x="1537915" y="289962"/>
                </a:lnTo>
                <a:cubicBezTo>
                  <a:pt x="1537747" y="289962"/>
                  <a:pt x="1534696" y="286009"/>
                  <a:pt x="1528762" y="278102"/>
                </a:cubicBezTo>
                <a:cubicBezTo>
                  <a:pt x="1523795" y="269433"/>
                  <a:pt x="1519228" y="264047"/>
                  <a:pt x="1515060" y="261945"/>
                </a:cubicBezTo>
                <a:cubicBezTo>
                  <a:pt x="1508140" y="261945"/>
                  <a:pt x="1500615" y="264847"/>
                  <a:pt x="1492485" y="270652"/>
                </a:cubicBezTo>
                <a:cubicBezTo>
                  <a:pt x="1518102" y="240514"/>
                  <a:pt x="1533729" y="190973"/>
                  <a:pt x="1539366" y="122028"/>
                </a:cubicBezTo>
                <a:close/>
                <a:moveTo>
                  <a:pt x="1178662" y="78245"/>
                </a:moveTo>
                <a:cubicBezTo>
                  <a:pt x="1159798" y="81184"/>
                  <a:pt x="1145306" y="88970"/>
                  <a:pt x="1135186" y="101601"/>
                </a:cubicBezTo>
                <a:cubicBezTo>
                  <a:pt x="1129158" y="116019"/>
                  <a:pt x="1132563" y="128605"/>
                  <a:pt x="1145399" y="139357"/>
                </a:cubicBezTo>
                <a:lnTo>
                  <a:pt x="1103737" y="139357"/>
                </a:lnTo>
                <a:cubicBezTo>
                  <a:pt x="1089617" y="112252"/>
                  <a:pt x="1082556" y="91881"/>
                  <a:pt x="1082556" y="78245"/>
                </a:cubicBezTo>
                <a:close/>
                <a:moveTo>
                  <a:pt x="215553" y="11133"/>
                </a:moveTo>
                <a:cubicBezTo>
                  <a:pt x="212440" y="10891"/>
                  <a:pt x="208712" y="11077"/>
                  <a:pt x="204368" y="11691"/>
                </a:cubicBezTo>
                <a:cubicBezTo>
                  <a:pt x="201168" y="12751"/>
                  <a:pt x="199085" y="13281"/>
                  <a:pt x="198117" y="13281"/>
                </a:cubicBezTo>
                <a:cubicBezTo>
                  <a:pt x="168166" y="14714"/>
                  <a:pt x="154520" y="20155"/>
                  <a:pt x="157180" y="29606"/>
                </a:cubicBezTo>
                <a:cubicBezTo>
                  <a:pt x="158706" y="32620"/>
                  <a:pt x="160817" y="35494"/>
                  <a:pt x="163515" y="38229"/>
                </a:cubicBezTo>
                <a:cubicBezTo>
                  <a:pt x="167124" y="41838"/>
                  <a:pt x="168928" y="45224"/>
                  <a:pt x="168928" y="48386"/>
                </a:cubicBezTo>
                <a:lnTo>
                  <a:pt x="168928" y="81593"/>
                </a:lnTo>
                <a:lnTo>
                  <a:pt x="93752" y="81593"/>
                </a:lnTo>
                <a:cubicBezTo>
                  <a:pt x="93752" y="81593"/>
                  <a:pt x="91454" y="77984"/>
                  <a:pt x="86859" y="70766"/>
                </a:cubicBezTo>
                <a:cubicBezTo>
                  <a:pt x="77167" y="53446"/>
                  <a:pt x="67967" y="46135"/>
                  <a:pt x="59261" y="48833"/>
                </a:cubicBezTo>
                <a:cubicBezTo>
                  <a:pt x="48508" y="57223"/>
                  <a:pt x="35765" y="67548"/>
                  <a:pt x="21031" y="79807"/>
                </a:cubicBezTo>
                <a:cubicBezTo>
                  <a:pt x="16901" y="83919"/>
                  <a:pt x="14835" y="86868"/>
                  <a:pt x="14835" y="88653"/>
                </a:cubicBezTo>
                <a:cubicBezTo>
                  <a:pt x="14835" y="94569"/>
                  <a:pt x="17793" y="97527"/>
                  <a:pt x="23709" y="97527"/>
                </a:cubicBezTo>
                <a:lnTo>
                  <a:pt x="168928" y="97527"/>
                </a:lnTo>
                <a:lnTo>
                  <a:pt x="168928" y="163886"/>
                </a:lnTo>
                <a:lnTo>
                  <a:pt x="131312" y="163886"/>
                </a:lnTo>
                <a:cubicBezTo>
                  <a:pt x="133061" y="163867"/>
                  <a:pt x="133414" y="161942"/>
                  <a:pt x="132373" y="158110"/>
                </a:cubicBezTo>
                <a:cubicBezTo>
                  <a:pt x="126866" y="148492"/>
                  <a:pt x="120345" y="142232"/>
                  <a:pt x="112811" y="139329"/>
                </a:cubicBezTo>
                <a:cubicBezTo>
                  <a:pt x="89296" y="148185"/>
                  <a:pt x="70646" y="162770"/>
                  <a:pt x="56861" y="183085"/>
                </a:cubicBezTo>
                <a:cubicBezTo>
                  <a:pt x="58572" y="188778"/>
                  <a:pt x="63028" y="194507"/>
                  <a:pt x="70227" y="200275"/>
                </a:cubicBezTo>
                <a:cubicBezTo>
                  <a:pt x="71827" y="201335"/>
                  <a:pt x="72627" y="201484"/>
                  <a:pt x="72627" y="200721"/>
                </a:cubicBezTo>
                <a:lnTo>
                  <a:pt x="72627" y="282037"/>
                </a:lnTo>
                <a:cubicBezTo>
                  <a:pt x="76981" y="296604"/>
                  <a:pt x="88915" y="304538"/>
                  <a:pt x="108430" y="305840"/>
                </a:cubicBezTo>
                <a:cubicBezTo>
                  <a:pt x="127889" y="308203"/>
                  <a:pt x="135870" y="303385"/>
                  <a:pt x="132373" y="291385"/>
                </a:cubicBezTo>
                <a:lnTo>
                  <a:pt x="132373" y="277879"/>
                </a:lnTo>
                <a:lnTo>
                  <a:pt x="137535" y="277879"/>
                </a:lnTo>
                <a:lnTo>
                  <a:pt x="263499" y="277879"/>
                </a:lnTo>
                <a:lnTo>
                  <a:pt x="263499" y="291274"/>
                </a:lnTo>
                <a:cubicBezTo>
                  <a:pt x="269545" y="303347"/>
                  <a:pt x="282224" y="309384"/>
                  <a:pt x="301534" y="309384"/>
                </a:cubicBezTo>
                <a:cubicBezTo>
                  <a:pt x="314836" y="310556"/>
                  <a:pt x="320901" y="305077"/>
                  <a:pt x="319729" y="292948"/>
                </a:cubicBezTo>
                <a:lnTo>
                  <a:pt x="319729" y="153449"/>
                </a:lnTo>
                <a:cubicBezTo>
                  <a:pt x="319729" y="144036"/>
                  <a:pt x="307162" y="145357"/>
                  <a:pt x="282029" y="157412"/>
                </a:cubicBezTo>
                <a:cubicBezTo>
                  <a:pt x="270141" y="161728"/>
                  <a:pt x="262830" y="163886"/>
                  <a:pt x="260095" y="163886"/>
                </a:cubicBezTo>
                <a:lnTo>
                  <a:pt x="226943" y="163886"/>
                </a:lnTo>
                <a:lnTo>
                  <a:pt x="226943" y="148203"/>
                </a:lnTo>
                <a:lnTo>
                  <a:pt x="226943" y="24862"/>
                </a:lnTo>
                <a:cubicBezTo>
                  <a:pt x="228688" y="16435"/>
                  <a:pt x="224891" y="11858"/>
                  <a:pt x="215553" y="11133"/>
                </a:cubicBezTo>
                <a:close/>
                <a:moveTo>
                  <a:pt x="1149983" y="6033"/>
                </a:moveTo>
                <a:cubicBezTo>
                  <a:pt x="1146011" y="5638"/>
                  <a:pt x="1140930" y="5738"/>
                  <a:pt x="1134739" y="6333"/>
                </a:cubicBezTo>
                <a:cubicBezTo>
                  <a:pt x="1109643" y="7579"/>
                  <a:pt x="1093002" y="12305"/>
                  <a:pt x="1084817" y="20509"/>
                </a:cubicBezTo>
                <a:cubicBezTo>
                  <a:pt x="1072669" y="40061"/>
                  <a:pt x="1073013" y="53418"/>
                  <a:pt x="1085849" y="60581"/>
                </a:cubicBezTo>
                <a:lnTo>
                  <a:pt x="1022923" y="60581"/>
                </a:lnTo>
                <a:cubicBezTo>
                  <a:pt x="1024169" y="60581"/>
                  <a:pt x="1023035" y="57706"/>
                  <a:pt x="1019518" y="51958"/>
                </a:cubicBezTo>
                <a:cubicBezTo>
                  <a:pt x="1010589" y="34917"/>
                  <a:pt x="1002682" y="25532"/>
                  <a:pt x="995799" y="23802"/>
                </a:cubicBezTo>
                <a:cubicBezTo>
                  <a:pt x="985400" y="23802"/>
                  <a:pt x="968433" y="34340"/>
                  <a:pt x="944900" y="55418"/>
                </a:cubicBezTo>
                <a:cubicBezTo>
                  <a:pt x="939654" y="63027"/>
                  <a:pt x="938723" y="68971"/>
                  <a:pt x="942109" y="73250"/>
                </a:cubicBezTo>
                <a:cubicBezTo>
                  <a:pt x="945681" y="76580"/>
                  <a:pt x="953002" y="77668"/>
                  <a:pt x="964071" y="76515"/>
                </a:cubicBezTo>
                <a:lnTo>
                  <a:pt x="1035089" y="76515"/>
                </a:lnTo>
                <a:cubicBezTo>
                  <a:pt x="1002403" y="89295"/>
                  <a:pt x="997111" y="99695"/>
                  <a:pt x="1019211" y="107713"/>
                </a:cubicBezTo>
                <a:cubicBezTo>
                  <a:pt x="1024309" y="110261"/>
                  <a:pt x="1027406" y="111536"/>
                  <a:pt x="1028504" y="111536"/>
                </a:cubicBezTo>
                <a:cubicBezTo>
                  <a:pt x="1044466" y="121098"/>
                  <a:pt x="1057163" y="130372"/>
                  <a:pt x="1066595" y="139357"/>
                </a:cubicBezTo>
                <a:lnTo>
                  <a:pt x="991557" y="139357"/>
                </a:lnTo>
                <a:cubicBezTo>
                  <a:pt x="979074" y="117796"/>
                  <a:pt x="967652" y="105545"/>
                  <a:pt x="957290" y="102606"/>
                </a:cubicBezTo>
                <a:cubicBezTo>
                  <a:pt x="950369" y="102606"/>
                  <a:pt x="937189" y="111099"/>
                  <a:pt x="917748" y="128084"/>
                </a:cubicBezTo>
                <a:cubicBezTo>
                  <a:pt x="915255" y="130539"/>
                  <a:pt x="912716" y="132409"/>
                  <a:pt x="910130" y="133693"/>
                </a:cubicBezTo>
                <a:cubicBezTo>
                  <a:pt x="904716" y="142901"/>
                  <a:pt x="902586" y="148454"/>
                  <a:pt x="903739" y="150352"/>
                </a:cubicBezTo>
                <a:cubicBezTo>
                  <a:pt x="903739" y="154817"/>
                  <a:pt x="909879" y="156463"/>
                  <a:pt x="922157" y="155291"/>
                </a:cubicBezTo>
                <a:lnTo>
                  <a:pt x="1313612" y="155291"/>
                </a:lnTo>
                <a:cubicBezTo>
                  <a:pt x="1321686" y="155291"/>
                  <a:pt x="1326532" y="153691"/>
                  <a:pt x="1328151" y="150492"/>
                </a:cubicBezTo>
                <a:cubicBezTo>
                  <a:pt x="1331369" y="146027"/>
                  <a:pt x="1328458" y="142315"/>
                  <a:pt x="1319417" y="139357"/>
                </a:cubicBezTo>
                <a:lnTo>
                  <a:pt x="1191136" y="139357"/>
                </a:lnTo>
                <a:cubicBezTo>
                  <a:pt x="1198131" y="137367"/>
                  <a:pt x="1200466" y="129795"/>
                  <a:pt x="1198140" y="116642"/>
                </a:cubicBezTo>
                <a:cubicBezTo>
                  <a:pt x="1195796" y="100197"/>
                  <a:pt x="1198364" y="87398"/>
                  <a:pt x="1205842" y="78245"/>
                </a:cubicBezTo>
                <a:lnTo>
                  <a:pt x="1278591" y="78245"/>
                </a:lnTo>
                <a:cubicBezTo>
                  <a:pt x="1285977" y="78245"/>
                  <a:pt x="1291344" y="76580"/>
                  <a:pt x="1294693" y="73250"/>
                </a:cubicBezTo>
                <a:cubicBezTo>
                  <a:pt x="1298023" y="67129"/>
                  <a:pt x="1295176" y="62906"/>
                  <a:pt x="1286153" y="60581"/>
                </a:cubicBezTo>
                <a:lnTo>
                  <a:pt x="1136042" y="60581"/>
                </a:lnTo>
                <a:lnTo>
                  <a:pt x="1137551" y="59046"/>
                </a:lnTo>
                <a:cubicBezTo>
                  <a:pt x="1138718" y="56944"/>
                  <a:pt x="1139651" y="53251"/>
                  <a:pt x="1140348" y="47968"/>
                </a:cubicBezTo>
                <a:cubicBezTo>
                  <a:pt x="1142376" y="37494"/>
                  <a:pt x="1147520" y="29159"/>
                  <a:pt x="1155780" y="22964"/>
                </a:cubicBezTo>
                <a:cubicBezTo>
                  <a:pt x="1163831" y="12863"/>
                  <a:pt x="1161898" y="7219"/>
                  <a:pt x="1149983" y="6033"/>
                </a:cubicBezTo>
                <a:close/>
                <a:moveTo>
                  <a:pt x="582640" y="3654"/>
                </a:moveTo>
                <a:cubicBezTo>
                  <a:pt x="574534" y="4640"/>
                  <a:pt x="566448" y="8258"/>
                  <a:pt x="558384" y="14509"/>
                </a:cubicBezTo>
                <a:cubicBezTo>
                  <a:pt x="513010" y="48833"/>
                  <a:pt x="509922" y="64822"/>
                  <a:pt x="549119" y="62478"/>
                </a:cubicBezTo>
                <a:cubicBezTo>
                  <a:pt x="554719" y="61306"/>
                  <a:pt x="557686" y="60730"/>
                  <a:pt x="558021" y="60748"/>
                </a:cubicBezTo>
                <a:cubicBezTo>
                  <a:pt x="568420" y="63055"/>
                  <a:pt x="582550" y="64804"/>
                  <a:pt x="600409" y="65994"/>
                </a:cubicBezTo>
                <a:cubicBezTo>
                  <a:pt x="619013" y="67166"/>
                  <a:pt x="631347" y="67752"/>
                  <a:pt x="637411" y="67752"/>
                </a:cubicBezTo>
                <a:lnTo>
                  <a:pt x="637411" y="99090"/>
                </a:lnTo>
                <a:lnTo>
                  <a:pt x="530702" y="99090"/>
                </a:lnTo>
                <a:cubicBezTo>
                  <a:pt x="530683" y="99090"/>
                  <a:pt x="526907" y="93193"/>
                  <a:pt x="519372" y="81398"/>
                </a:cubicBezTo>
                <a:cubicBezTo>
                  <a:pt x="511094" y="69548"/>
                  <a:pt x="504917" y="62609"/>
                  <a:pt x="500843" y="60581"/>
                </a:cubicBezTo>
                <a:cubicBezTo>
                  <a:pt x="493439" y="60581"/>
                  <a:pt x="477942" y="71110"/>
                  <a:pt x="454353" y="92170"/>
                </a:cubicBezTo>
                <a:cubicBezTo>
                  <a:pt x="445646" y="107406"/>
                  <a:pt x="446586" y="115024"/>
                  <a:pt x="457171" y="115024"/>
                </a:cubicBezTo>
                <a:lnTo>
                  <a:pt x="637411" y="115024"/>
                </a:lnTo>
                <a:lnTo>
                  <a:pt x="637411" y="148120"/>
                </a:lnTo>
                <a:lnTo>
                  <a:pt x="588493" y="148120"/>
                </a:lnTo>
                <a:cubicBezTo>
                  <a:pt x="589182" y="148120"/>
                  <a:pt x="586661" y="145255"/>
                  <a:pt x="580931" y="139525"/>
                </a:cubicBezTo>
                <a:cubicBezTo>
                  <a:pt x="572969" y="128921"/>
                  <a:pt x="565667" y="123619"/>
                  <a:pt x="559025" y="123619"/>
                </a:cubicBezTo>
                <a:cubicBezTo>
                  <a:pt x="531232" y="136232"/>
                  <a:pt x="513587" y="152203"/>
                  <a:pt x="506089" y="171532"/>
                </a:cubicBezTo>
                <a:cubicBezTo>
                  <a:pt x="508303" y="176425"/>
                  <a:pt x="511615" y="179606"/>
                  <a:pt x="516023" y="181076"/>
                </a:cubicBezTo>
                <a:cubicBezTo>
                  <a:pt x="517568" y="182099"/>
                  <a:pt x="518340" y="182229"/>
                  <a:pt x="518340" y="181466"/>
                </a:cubicBezTo>
                <a:lnTo>
                  <a:pt x="518340" y="279526"/>
                </a:lnTo>
                <a:cubicBezTo>
                  <a:pt x="518340" y="290427"/>
                  <a:pt x="524758" y="297050"/>
                  <a:pt x="537594" y="299394"/>
                </a:cubicBezTo>
                <a:cubicBezTo>
                  <a:pt x="520925" y="306891"/>
                  <a:pt x="507140" y="316695"/>
                  <a:pt x="496239" y="328806"/>
                </a:cubicBezTo>
                <a:cubicBezTo>
                  <a:pt x="492295" y="338052"/>
                  <a:pt x="494146" y="343838"/>
                  <a:pt x="501792" y="346163"/>
                </a:cubicBezTo>
                <a:lnTo>
                  <a:pt x="637411" y="346163"/>
                </a:lnTo>
                <a:lnTo>
                  <a:pt x="637411" y="389779"/>
                </a:lnTo>
                <a:lnTo>
                  <a:pt x="547501" y="389779"/>
                </a:lnTo>
                <a:cubicBezTo>
                  <a:pt x="546589" y="388849"/>
                  <a:pt x="543929" y="383975"/>
                  <a:pt x="539520" y="375157"/>
                </a:cubicBezTo>
                <a:cubicBezTo>
                  <a:pt x="530106" y="360386"/>
                  <a:pt x="522497" y="353000"/>
                  <a:pt x="516693" y="353000"/>
                </a:cubicBezTo>
                <a:cubicBezTo>
                  <a:pt x="510554" y="353000"/>
                  <a:pt x="497727" y="360302"/>
                  <a:pt x="478212" y="374906"/>
                </a:cubicBezTo>
                <a:cubicBezTo>
                  <a:pt x="476835" y="376189"/>
                  <a:pt x="475459" y="377520"/>
                  <a:pt x="474082" y="378896"/>
                </a:cubicBezTo>
                <a:cubicBezTo>
                  <a:pt x="466585" y="383882"/>
                  <a:pt x="462073" y="388672"/>
                  <a:pt x="460548" y="393267"/>
                </a:cubicBezTo>
                <a:cubicBezTo>
                  <a:pt x="460548" y="399648"/>
                  <a:pt x="464371" y="403797"/>
                  <a:pt x="472017" y="405713"/>
                </a:cubicBezTo>
                <a:lnTo>
                  <a:pt x="845138" y="405713"/>
                </a:lnTo>
                <a:cubicBezTo>
                  <a:pt x="850999" y="404243"/>
                  <a:pt x="855956" y="401481"/>
                  <a:pt x="860012" y="397425"/>
                </a:cubicBezTo>
                <a:cubicBezTo>
                  <a:pt x="860012" y="392328"/>
                  <a:pt x="855891" y="389779"/>
                  <a:pt x="847650" y="389779"/>
                </a:cubicBezTo>
                <a:lnTo>
                  <a:pt x="697157" y="389779"/>
                </a:lnTo>
                <a:lnTo>
                  <a:pt x="697157" y="347921"/>
                </a:lnTo>
                <a:lnTo>
                  <a:pt x="819633" y="347921"/>
                </a:lnTo>
                <a:cubicBezTo>
                  <a:pt x="825865" y="347921"/>
                  <a:pt x="830842" y="346061"/>
                  <a:pt x="834562" y="342340"/>
                </a:cubicBezTo>
                <a:cubicBezTo>
                  <a:pt x="836348" y="336480"/>
                  <a:pt x="833418" y="332443"/>
                  <a:pt x="825772" y="330229"/>
                </a:cubicBezTo>
                <a:lnTo>
                  <a:pt x="697157" y="330229"/>
                </a:lnTo>
                <a:lnTo>
                  <a:pt x="697157" y="284883"/>
                </a:lnTo>
                <a:lnTo>
                  <a:pt x="751237" y="284883"/>
                </a:lnTo>
                <a:cubicBezTo>
                  <a:pt x="751237" y="299748"/>
                  <a:pt x="758409" y="307887"/>
                  <a:pt x="772752" y="309300"/>
                </a:cubicBezTo>
                <a:cubicBezTo>
                  <a:pt x="799411" y="316370"/>
                  <a:pt x="811568" y="310947"/>
                  <a:pt x="809224" y="293032"/>
                </a:cubicBezTo>
                <a:lnTo>
                  <a:pt x="809224" y="147115"/>
                </a:lnTo>
                <a:cubicBezTo>
                  <a:pt x="810396" y="139525"/>
                  <a:pt x="808024" y="134679"/>
                  <a:pt x="802109" y="132576"/>
                </a:cubicBezTo>
                <a:cubicBezTo>
                  <a:pt x="797067" y="130083"/>
                  <a:pt x="789942" y="131572"/>
                  <a:pt x="780733" y="137041"/>
                </a:cubicBezTo>
                <a:cubicBezTo>
                  <a:pt x="779580" y="138195"/>
                  <a:pt x="778231" y="139153"/>
                  <a:pt x="776687" y="139915"/>
                </a:cubicBezTo>
                <a:cubicBezTo>
                  <a:pt x="766008" y="145366"/>
                  <a:pt x="758325" y="148101"/>
                  <a:pt x="753637" y="148120"/>
                </a:cubicBezTo>
                <a:lnTo>
                  <a:pt x="697157" y="148120"/>
                </a:lnTo>
                <a:lnTo>
                  <a:pt x="697157" y="115024"/>
                </a:lnTo>
                <a:lnTo>
                  <a:pt x="863416" y="115024"/>
                </a:lnTo>
                <a:cubicBezTo>
                  <a:pt x="871490" y="115024"/>
                  <a:pt x="876337" y="113424"/>
                  <a:pt x="877955" y="110224"/>
                </a:cubicBezTo>
                <a:cubicBezTo>
                  <a:pt x="881173" y="105759"/>
                  <a:pt x="878262" y="102048"/>
                  <a:pt x="869221" y="99090"/>
                </a:cubicBezTo>
                <a:lnTo>
                  <a:pt x="697157" y="99090"/>
                </a:lnTo>
                <a:lnTo>
                  <a:pt x="697157" y="71241"/>
                </a:lnTo>
                <a:cubicBezTo>
                  <a:pt x="729490" y="73585"/>
                  <a:pt x="760976" y="74757"/>
                  <a:pt x="791616" y="74757"/>
                </a:cubicBezTo>
                <a:cubicBezTo>
                  <a:pt x="817363" y="74757"/>
                  <a:pt x="823595" y="70766"/>
                  <a:pt x="810313" y="62785"/>
                </a:cubicBezTo>
                <a:cubicBezTo>
                  <a:pt x="740921" y="49856"/>
                  <a:pt x="676339" y="32852"/>
                  <a:pt x="616566" y="11774"/>
                </a:cubicBezTo>
                <a:cubicBezTo>
                  <a:pt x="613031" y="10602"/>
                  <a:pt x="609850" y="9542"/>
                  <a:pt x="607023" y="8593"/>
                </a:cubicBezTo>
                <a:cubicBezTo>
                  <a:pt x="598874" y="4314"/>
                  <a:pt x="590747" y="2668"/>
                  <a:pt x="582640" y="3654"/>
                </a:cubicBezTo>
                <a:close/>
                <a:moveTo>
                  <a:pt x="1593345" y="363"/>
                </a:moveTo>
                <a:cubicBezTo>
                  <a:pt x="1590269" y="-308"/>
                  <a:pt x="1586582" y="-48"/>
                  <a:pt x="1582284" y="1143"/>
                </a:cubicBezTo>
                <a:cubicBezTo>
                  <a:pt x="1543291" y="5124"/>
                  <a:pt x="1525544" y="10974"/>
                  <a:pt x="1529041" y="18695"/>
                </a:cubicBezTo>
                <a:cubicBezTo>
                  <a:pt x="1529041" y="21318"/>
                  <a:pt x="1530846" y="24425"/>
                  <a:pt x="1534455" y="28015"/>
                </a:cubicBezTo>
                <a:cubicBezTo>
                  <a:pt x="1537859" y="32276"/>
                  <a:pt x="1539561" y="36145"/>
                  <a:pt x="1539561" y="39624"/>
                </a:cubicBezTo>
                <a:lnTo>
                  <a:pt x="1539561" y="106094"/>
                </a:lnTo>
                <a:lnTo>
                  <a:pt x="1462627" y="106094"/>
                </a:lnTo>
                <a:cubicBezTo>
                  <a:pt x="1463761" y="106094"/>
                  <a:pt x="1460627" y="100271"/>
                  <a:pt x="1453222" y="88626"/>
                </a:cubicBezTo>
                <a:cubicBezTo>
                  <a:pt x="1446023" y="76645"/>
                  <a:pt x="1440674" y="69789"/>
                  <a:pt x="1437177" y="68059"/>
                </a:cubicBezTo>
                <a:cubicBezTo>
                  <a:pt x="1426071" y="64208"/>
                  <a:pt x="1406918" y="75603"/>
                  <a:pt x="1379720" y="102243"/>
                </a:cubicBezTo>
                <a:cubicBezTo>
                  <a:pt x="1374213" y="109145"/>
                  <a:pt x="1371460" y="113368"/>
                  <a:pt x="1371460" y="114912"/>
                </a:cubicBezTo>
                <a:cubicBezTo>
                  <a:pt x="1371460" y="120828"/>
                  <a:pt x="1376399" y="123200"/>
                  <a:pt x="1386278" y="122028"/>
                </a:cubicBezTo>
                <a:lnTo>
                  <a:pt x="1520307" y="122028"/>
                </a:lnTo>
                <a:cubicBezTo>
                  <a:pt x="1506540" y="196386"/>
                  <a:pt x="1458134" y="248913"/>
                  <a:pt x="1375088" y="279609"/>
                </a:cubicBezTo>
                <a:cubicBezTo>
                  <a:pt x="1362158" y="287255"/>
                  <a:pt x="1362540" y="294678"/>
                  <a:pt x="1376232" y="301878"/>
                </a:cubicBezTo>
                <a:cubicBezTo>
                  <a:pt x="1380418" y="303980"/>
                  <a:pt x="1383050" y="305570"/>
                  <a:pt x="1384129" y="306649"/>
                </a:cubicBezTo>
                <a:cubicBezTo>
                  <a:pt x="1390733" y="311040"/>
                  <a:pt x="1397905" y="319337"/>
                  <a:pt x="1405644" y="331541"/>
                </a:cubicBezTo>
                <a:cubicBezTo>
                  <a:pt x="1411355" y="340117"/>
                  <a:pt x="1415253" y="344405"/>
                  <a:pt x="1417336" y="344405"/>
                </a:cubicBezTo>
                <a:cubicBezTo>
                  <a:pt x="1424833" y="347921"/>
                  <a:pt x="1442479" y="335671"/>
                  <a:pt x="1470273" y="307654"/>
                </a:cubicBezTo>
                <a:lnTo>
                  <a:pt x="1539561" y="307654"/>
                </a:lnTo>
                <a:lnTo>
                  <a:pt x="1539561" y="398430"/>
                </a:lnTo>
                <a:cubicBezTo>
                  <a:pt x="1536064" y="413443"/>
                  <a:pt x="1550798" y="422261"/>
                  <a:pt x="1583763" y="424884"/>
                </a:cubicBezTo>
                <a:cubicBezTo>
                  <a:pt x="1598795" y="426112"/>
                  <a:pt x="1605725" y="418410"/>
                  <a:pt x="1604553" y="401779"/>
                </a:cubicBezTo>
                <a:lnTo>
                  <a:pt x="1604553" y="307654"/>
                </a:lnTo>
                <a:lnTo>
                  <a:pt x="1693487" y="307654"/>
                </a:lnTo>
                <a:cubicBezTo>
                  <a:pt x="1703309" y="316398"/>
                  <a:pt x="1723885" y="328881"/>
                  <a:pt x="1755213" y="345103"/>
                </a:cubicBezTo>
                <a:cubicBezTo>
                  <a:pt x="1770803" y="353977"/>
                  <a:pt x="1780700" y="356832"/>
                  <a:pt x="1784904" y="353670"/>
                </a:cubicBezTo>
                <a:cubicBezTo>
                  <a:pt x="1784904" y="349019"/>
                  <a:pt x="1777147" y="340610"/>
                  <a:pt x="1761631" y="328443"/>
                </a:cubicBezTo>
                <a:cubicBezTo>
                  <a:pt x="1699961" y="279721"/>
                  <a:pt x="1659275" y="210916"/>
                  <a:pt x="1639574" y="122028"/>
                </a:cubicBezTo>
                <a:lnTo>
                  <a:pt x="1744526" y="122028"/>
                </a:lnTo>
                <a:cubicBezTo>
                  <a:pt x="1753381" y="122028"/>
                  <a:pt x="1760059" y="121275"/>
                  <a:pt x="1764562" y="119768"/>
                </a:cubicBezTo>
                <a:cubicBezTo>
                  <a:pt x="1769957" y="113126"/>
                  <a:pt x="1767594" y="108569"/>
                  <a:pt x="1757474" y="106094"/>
                </a:cubicBezTo>
                <a:lnTo>
                  <a:pt x="1604553" y="106094"/>
                </a:lnTo>
                <a:lnTo>
                  <a:pt x="1604553" y="31531"/>
                </a:lnTo>
                <a:cubicBezTo>
                  <a:pt x="1606311" y="12765"/>
                  <a:pt x="1602575" y="2376"/>
                  <a:pt x="1593345" y="363"/>
                </a:cubicBezTo>
                <a:close/>
              </a:path>
            </a:pathLst>
          </a:custGeom>
          <a:gradFill flip="none" rotWithShape="1">
            <a:gsLst>
              <a:gs pos="0">
                <a:srgbClr val="009E47">
                  <a:alpha val="88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cxnSp>
        <p:nvCxnSpPr>
          <p:cNvPr id="47" name="直接连接符 46"/>
          <p:cNvCxnSpPr/>
          <p:nvPr/>
        </p:nvCxnSpPr>
        <p:spPr>
          <a:xfrm>
            <a:off x="1884573" y="3690235"/>
            <a:ext cx="8179865" cy="0"/>
          </a:xfrm>
          <a:prstGeom prst="line">
            <a:avLst/>
          </a:prstGeom>
          <a:ln w="12700">
            <a:solidFill>
              <a:srgbClr val="04926A"/>
            </a:solidFill>
            <a:prstDash val="dash"/>
            <a:headEnd type="oval"/>
            <a:tailEnd type="ova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2926715" y="4335145"/>
            <a:ext cx="2205355" cy="1557020"/>
            <a:chOff x="4791" y="6990"/>
            <a:chExt cx="3473" cy="2452"/>
          </a:xfrm>
        </p:grpSpPr>
        <p:sp>
          <p:nvSpPr>
            <p:cNvPr id="51" name="矩形: 圆角 40"/>
            <p:cNvSpPr/>
            <p:nvPr/>
          </p:nvSpPr>
          <p:spPr>
            <a:xfrm rot="16200000" flipV="1">
              <a:off x="5516" y="6694"/>
              <a:ext cx="2023" cy="3473"/>
            </a:xfrm>
            <a:prstGeom prst="roundRect">
              <a:avLst>
                <a:gd name="adj" fmla="val 6487"/>
              </a:avLst>
            </a:prstGeom>
            <a:solidFill>
              <a:srgbClr val="FFFFFF"/>
            </a:solidFill>
            <a:ln w="6350" cap="flat" cmpd="sng" algn="ctr">
              <a:gradFill flip="none" rotWithShape="1">
                <a:gsLst>
                  <a:gs pos="0">
                    <a:srgbClr val="058C79"/>
                  </a:gs>
                  <a:gs pos="100000">
                    <a:schemeClr val="bg1"/>
                  </a:gs>
                </a:gsLst>
                <a:lin ang="0" scaled="1"/>
                <a:tileRect/>
              </a:gradFill>
              <a:prstDash val="solid"/>
              <a:miter lim="800000"/>
            </a:ln>
            <a:effectLst>
              <a:outerShdw blurRad="50800" dist="38100" dir="2700000" algn="tl" rotWithShape="0">
                <a:prstClr val="black">
                  <a:alpha val="40000"/>
                </a:prstClr>
              </a:outerShdw>
            </a:effectLst>
          </p:spPr>
          <p:txBody>
            <a:bodyPr lIns="68580" tIns="34290" rIns="68580" bIns="34290" rtlCol="0" anchor="ctr"/>
            <a:lstStyle/>
            <a:p>
              <a:pPr algn="ctr" defTabSz="342900">
                <a:defRPr/>
              </a:pPr>
              <a:endParaRPr lang="zh-CN" altLang="en-US" kern="0" dirty="0">
                <a:solidFill>
                  <a:srgbClr val="FFFFFF"/>
                </a:solidFill>
                <a:latin typeface="Calibri" panose="020F0502020204030204"/>
                <a:ea typeface="微软雅黑 Light" panose="020B0502040204020203" charset="-122"/>
              </a:endParaRPr>
            </a:p>
          </p:txBody>
        </p:sp>
        <p:sp>
          <p:nvSpPr>
            <p:cNvPr id="50" name="矩形 49"/>
            <p:cNvSpPr/>
            <p:nvPr/>
          </p:nvSpPr>
          <p:spPr>
            <a:xfrm>
              <a:off x="5307" y="6990"/>
              <a:ext cx="2441" cy="725"/>
            </a:xfrm>
            <a:prstGeom prst="rect">
              <a:avLst/>
            </a:prstGeom>
            <a:gradFill>
              <a:gsLst>
                <a:gs pos="0">
                  <a:srgbClr val="009E47">
                    <a:alpha val="88000"/>
                  </a:srgbClr>
                </a:gs>
                <a:gs pos="55000">
                  <a:srgbClr val="039463"/>
                </a:gs>
                <a:gs pos="100000">
                  <a:srgbClr val="068885"/>
                </a:gs>
              </a:gsLst>
              <a:path path="circle">
                <a:fillToRect t="100000" r="100000"/>
              </a:path>
              <a:tileRect l="-100000" b="-100000"/>
            </a:gradFill>
            <a:effectLst>
              <a:outerShdw blurRad="50800" dist="38100" algn="l" rotWithShape="0">
                <a:prstClr val="black">
                  <a:alpha val="40000"/>
                </a:prstClr>
              </a:outerShdw>
            </a:effectLst>
          </p:spPr>
          <p:txBody>
            <a:bodyPr wrap="square">
              <a:spAutoFit/>
            </a:bodyPr>
            <a:lstStyle/>
            <a:p>
              <a:pPr lvl="0" algn="ctr"/>
              <a:r>
                <a:rPr lang="zh-CN" altLang="en-US" sz="2400" b="1" dirty="0">
                  <a:solidFill>
                    <a:schemeClr val="bg1"/>
                  </a:solidFill>
                  <a:sym typeface="+mn-ea"/>
                </a:rPr>
                <a:t>核心思想</a:t>
              </a:r>
              <a:endParaRPr lang="zh-CN" altLang="en-US" sz="2400" b="1" dirty="0">
                <a:solidFill>
                  <a:schemeClr val="bg1"/>
                </a:solidFill>
                <a:sym typeface="+mn-ea"/>
              </a:endParaRPr>
            </a:p>
          </p:txBody>
        </p:sp>
        <p:sp>
          <p:nvSpPr>
            <p:cNvPr id="52" name="矩形 51"/>
            <p:cNvSpPr/>
            <p:nvPr/>
          </p:nvSpPr>
          <p:spPr>
            <a:xfrm>
              <a:off x="4794" y="8159"/>
              <a:ext cx="3467" cy="725"/>
            </a:xfrm>
            <a:prstGeom prst="rect">
              <a:avLst/>
            </a:prstGeom>
          </p:spPr>
          <p:txBody>
            <a:bodyPr wrap="square">
              <a:spAutoFit/>
            </a:bodyPr>
            <a:lstStyle/>
            <a:p>
              <a:pPr lvl="0" algn="ctr"/>
              <a:r>
                <a:rPr lang="zh-CN" altLang="en-US" sz="2400" b="1" dirty="0">
                  <a:solidFill>
                    <a:schemeClr val="dk1"/>
                  </a:solidFill>
                  <a:sym typeface="+mn-ea"/>
                </a:rPr>
                <a:t>微元法</a:t>
              </a:r>
              <a:endParaRPr lang="zh-CN" altLang="en-US" sz="2400" b="1" dirty="0"/>
            </a:p>
          </p:txBody>
        </p:sp>
      </p:grpSp>
      <p:sp>
        <p:nvSpPr>
          <p:cNvPr id="26" name="矩形 25"/>
          <p:cNvSpPr/>
          <p:nvPr/>
        </p:nvSpPr>
        <p:spPr>
          <a:xfrm>
            <a:off x="3234690" y="884555"/>
            <a:ext cx="6565900" cy="768350"/>
          </a:xfrm>
          <a:prstGeom prst="rect">
            <a:avLst/>
          </a:prstGeom>
        </p:spPr>
        <p:txBody>
          <a:bodyPr wrap="square">
            <a:spAutoFit/>
          </a:bodyPr>
          <a:lstStyle/>
          <a:p>
            <a:pPr algn="l"/>
            <a:r>
              <a:rPr lang="zh-CN" altLang="en-US" sz="4400" b="1" dirty="0">
                <a:solidFill>
                  <a:schemeClr val="bg1"/>
                </a:solidFill>
                <a:latin typeface="微软雅黑" panose="020B0503020204020204" charset="-122"/>
                <a:ea typeface="微软雅黑" panose="020B0503020204020204" charset="-122"/>
                <a:sym typeface="+mn-lt"/>
              </a:rPr>
              <a:t>第六章</a:t>
            </a:r>
            <a:r>
              <a:rPr lang="en-US" altLang="zh-CN" sz="4400" b="1" dirty="0">
                <a:solidFill>
                  <a:schemeClr val="bg1"/>
                </a:solidFill>
                <a:latin typeface="微软雅黑" panose="020B0503020204020204" charset="-122"/>
                <a:ea typeface="微软雅黑" panose="020B0503020204020204" charset="-122"/>
                <a:sym typeface="+mn-lt"/>
              </a:rPr>
              <a:t>   </a:t>
            </a:r>
            <a:r>
              <a:rPr lang="zh-CN" altLang="en-US" sz="4400" b="1" dirty="0">
                <a:solidFill>
                  <a:schemeClr val="bg1"/>
                </a:solidFill>
                <a:latin typeface="微软雅黑" panose="020B0503020204020204" charset="-122"/>
                <a:ea typeface="微软雅黑" panose="020B0503020204020204" charset="-122"/>
                <a:sym typeface="+mn-ea"/>
              </a:rPr>
              <a:t>定积分的应用</a:t>
            </a:r>
            <a:endParaRPr kumimoji="1" lang="en-US" altLang="zh-CN" sz="4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ea"/>
            </a:endParaRPr>
          </a:p>
        </p:txBody>
      </p:sp>
      <p:grpSp>
        <p:nvGrpSpPr>
          <p:cNvPr id="5" name="组合 4"/>
          <p:cNvGrpSpPr/>
          <p:nvPr/>
        </p:nvGrpSpPr>
        <p:grpSpPr>
          <a:xfrm>
            <a:off x="6586220" y="4335145"/>
            <a:ext cx="2415540" cy="1557655"/>
            <a:chOff x="4779" y="6990"/>
            <a:chExt cx="3804" cy="2453"/>
          </a:xfrm>
        </p:grpSpPr>
        <p:sp>
          <p:nvSpPr>
            <p:cNvPr id="6" name="矩形: 圆角 40"/>
            <p:cNvSpPr/>
            <p:nvPr/>
          </p:nvSpPr>
          <p:spPr>
            <a:xfrm rot="16200000" flipV="1">
              <a:off x="5669" y="6529"/>
              <a:ext cx="2023" cy="3804"/>
            </a:xfrm>
            <a:prstGeom prst="roundRect">
              <a:avLst>
                <a:gd name="adj" fmla="val 6487"/>
              </a:avLst>
            </a:prstGeom>
            <a:solidFill>
              <a:srgbClr val="FFFFFF"/>
            </a:solidFill>
            <a:ln w="6350" cap="flat" cmpd="sng" algn="ctr">
              <a:gradFill flip="none" rotWithShape="1">
                <a:gsLst>
                  <a:gs pos="0">
                    <a:srgbClr val="058C79"/>
                  </a:gs>
                  <a:gs pos="100000">
                    <a:schemeClr val="bg1"/>
                  </a:gs>
                </a:gsLst>
                <a:lin ang="0" scaled="1"/>
                <a:tileRect/>
              </a:gradFill>
              <a:prstDash val="solid"/>
              <a:miter lim="800000"/>
            </a:ln>
            <a:effectLst>
              <a:outerShdw blurRad="50800" dist="38100" dir="2700000" algn="tl" rotWithShape="0">
                <a:prstClr val="black">
                  <a:alpha val="40000"/>
                </a:prstClr>
              </a:outerShdw>
            </a:effectLst>
          </p:spPr>
          <p:txBody>
            <a:bodyPr lIns="68580" tIns="34290" rIns="68580" bIns="34290" rtlCol="0" anchor="ctr"/>
            <a:lstStyle/>
            <a:p>
              <a:pPr algn="ctr" defTabSz="342900">
                <a:defRPr/>
              </a:pPr>
              <a:endParaRPr lang="zh-CN" altLang="en-US" kern="0" dirty="0">
                <a:solidFill>
                  <a:srgbClr val="FFFFFF"/>
                </a:solidFill>
                <a:latin typeface="Calibri" panose="020F0502020204030204"/>
                <a:ea typeface="微软雅黑 Light" panose="020B0502040204020203" charset="-122"/>
              </a:endParaRPr>
            </a:p>
          </p:txBody>
        </p:sp>
        <p:sp>
          <p:nvSpPr>
            <p:cNvPr id="7" name="矩形 6"/>
            <p:cNvSpPr/>
            <p:nvPr/>
          </p:nvSpPr>
          <p:spPr>
            <a:xfrm>
              <a:off x="5505" y="6990"/>
              <a:ext cx="2441" cy="725"/>
            </a:xfrm>
            <a:prstGeom prst="rect">
              <a:avLst/>
            </a:prstGeom>
            <a:gradFill>
              <a:gsLst>
                <a:gs pos="0">
                  <a:srgbClr val="009E47">
                    <a:alpha val="88000"/>
                  </a:srgbClr>
                </a:gs>
                <a:gs pos="55000">
                  <a:srgbClr val="039463"/>
                </a:gs>
                <a:gs pos="100000">
                  <a:srgbClr val="068885"/>
                </a:gs>
              </a:gsLst>
              <a:path path="circle">
                <a:fillToRect t="100000" r="100000"/>
              </a:path>
              <a:tileRect l="-100000" b="-100000"/>
            </a:gradFill>
            <a:effectLst>
              <a:outerShdw blurRad="50800" dist="38100" algn="l" rotWithShape="0">
                <a:prstClr val="black">
                  <a:alpha val="40000"/>
                </a:prstClr>
              </a:outerShdw>
            </a:effectLst>
          </p:spPr>
          <p:txBody>
            <a:bodyPr wrap="square">
              <a:spAutoFit/>
            </a:bodyPr>
            <a:lstStyle/>
            <a:p>
              <a:pPr lvl="0" algn="ctr"/>
              <a:r>
                <a:rPr lang="zh-CN" altLang="en-US" sz="2400" b="1" dirty="0">
                  <a:solidFill>
                    <a:schemeClr val="bg1"/>
                  </a:solidFill>
                  <a:sym typeface="+mn-ea"/>
                </a:rPr>
                <a:t>典型应用</a:t>
              </a:r>
              <a:endParaRPr lang="zh-CN" altLang="en-US" sz="2400" b="1" dirty="0">
                <a:solidFill>
                  <a:schemeClr val="bg1"/>
                </a:solidFill>
                <a:sym typeface="+mn-ea"/>
              </a:endParaRPr>
            </a:p>
          </p:txBody>
        </p:sp>
      </p:grpSp>
      <p:sp>
        <p:nvSpPr>
          <p:cNvPr id="2" name="矩形 1"/>
          <p:cNvSpPr/>
          <p:nvPr/>
        </p:nvSpPr>
        <p:spPr>
          <a:xfrm>
            <a:off x="6803072" y="5080000"/>
            <a:ext cx="2038350" cy="460375"/>
          </a:xfrm>
          <a:prstGeom prst="rect">
            <a:avLst/>
          </a:prstGeom>
        </p:spPr>
        <p:txBody>
          <a:bodyPr wrap="square">
            <a:spAutoFit/>
          </a:bodyPr>
          <a:lstStyle/>
          <a:p>
            <a:pPr lvl="0" algn="ctr"/>
            <a:r>
              <a:rPr lang="zh-CN" altLang="en-US" sz="2400" b="1" dirty="0">
                <a:solidFill>
                  <a:schemeClr val="dk1"/>
                </a:solidFill>
                <a:sym typeface="+mn-ea"/>
              </a:rPr>
              <a:t>几何与物理</a:t>
            </a:r>
            <a:endParaRPr lang="zh-CN" altLang="en-US" sz="24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一、平面图形求面积</a:t>
            </a:r>
            <a:endParaRPr lang="zh-CN" altLang="en-US"/>
          </a:p>
        </p:txBody>
      </p:sp>
      <p:sp>
        <p:nvSpPr>
          <p:cNvPr id="3" name="内容占位符 2"/>
          <p:cNvSpPr>
            <a:spLocks noGrp="1"/>
          </p:cNvSpPr>
          <p:nvPr>
            <p:ph idx="1"/>
          </p:nvPr>
        </p:nvSpPr>
        <p:spPr/>
        <p:txBody>
          <a:bodyPr/>
          <a:p>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p:nvPr/>
        </p:nvSpPr>
        <p:spPr>
          <a:xfrm>
            <a:off x="687324" y="536895"/>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半闭框 47"/>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9" name="半闭框 48"/>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0" name="半闭框 39"/>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1" name="半闭框 40"/>
          <p:cNvSpPr/>
          <p:nvPr/>
        </p:nvSpPr>
        <p:spPr>
          <a:xfrm flipH="1" flipV="1">
            <a:off x="10823530" y="5645528"/>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9" name="组合 8"/>
          <p:cNvGrpSpPr/>
          <p:nvPr/>
        </p:nvGrpSpPr>
        <p:grpSpPr>
          <a:xfrm>
            <a:off x="2416175" y="5215890"/>
            <a:ext cx="906780" cy="838200"/>
            <a:chOff x="3765" y="8174"/>
            <a:chExt cx="1428" cy="1320"/>
          </a:xfrm>
        </p:grpSpPr>
        <mc:AlternateContent xmlns:mc="http://schemas.openxmlformats.org/markup-compatibility/2006">
          <mc:Choice xmlns:a14="http://schemas.microsoft.com/office/drawing/2010/main" Requires="a14">
            <p:sp>
              <p:nvSpPr>
                <p:cNvPr id="38" name="Object 24"/>
                <p:cNvSpPr txBox="1"/>
                <p:nvPr/>
              </p:nvSpPr>
              <p:spPr bwMode="auto">
                <a:xfrm>
                  <a:off x="3765" y="8174"/>
                  <a:ext cx="1135" cy="1320"/>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m:t>
                        </m:r>
                        <m:f>
                          <m:fPr>
                            <m:ctrlPr>
                              <a:rPr kumimoji="1" lang="en-US" altLang="zh-CN" sz="2200" i="1" dirty="0">
                                <a:latin typeface="Cambria Math" panose="02040503050406030204" charset="0"/>
                                <a:ea typeface="黑体" panose="02010609060101010101" pitchFamily="49" charset="-122"/>
                              </a:rPr>
                            </m:ctrlPr>
                          </m:fPr>
                          <m:num>
                            <m:r>
                              <a:rPr kumimoji="1" lang="en-US" altLang="zh-CN" sz="2200" dirty="0">
                                <a:latin typeface="Cambria Math" panose="02040503050406030204" charset="0"/>
                                <a:ea typeface="黑体" panose="02010609060101010101" pitchFamily="49" charset="-122"/>
                              </a:rPr>
                              <m:t>1</m:t>
                            </m:r>
                          </m:num>
                          <m:den>
                            <m:r>
                              <a:rPr kumimoji="1" lang="en-US" altLang="zh-CN" sz="2200" dirty="0">
                                <a:latin typeface="Cambria Math" panose="02040503050406030204" charset="0"/>
                                <a:ea typeface="黑体" panose="02010609060101010101" pitchFamily="49" charset="-122"/>
                              </a:rPr>
                              <m:t>3</m:t>
                            </m:r>
                          </m:den>
                        </m:f>
                        <m:r>
                          <a:rPr kumimoji="1" lang="en-US" altLang="zh-CN" sz="2200" dirty="0">
                            <a:latin typeface="Cambria Math" panose="02040503050406030204" charset="0"/>
                            <a:ea typeface="黑体" panose="02010609060101010101" pitchFamily="49" charset="-122"/>
                          </a:rPr>
                          <m:t>.</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38" name="Object 24"/>
                <p:cNvSpPr txBox="1">
                  <a:spLocks noRot="1" noChangeAspect="1" noMove="1" noResize="1" noEditPoints="1" noAdjustHandles="1" noChangeArrowheads="1" noChangeShapeType="1" noTextEdit="1"/>
                </p:cNvSpPr>
                <p:nvPr/>
              </p:nvSpPr>
              <p:spPr bwMode="auto">
                <a:xfrm>
                  <a:off x="3765" y="8174"/>
                  <a:ext cx="1135" cy="1320"/>
                </a:xfrm>
                <a:prstGeom prst="rect">
                  <a:avLst/>
                </a:prstGeom>
                <a:blipFill rotWithShape="1">
                  <a:blip r:embed="rId1"/>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Object 24"/>
                <p:cNvSpPr txBox="1"/>
                <p:nvPr/>
              </p:nvSpPr>
              <p:spPr bwMode="auto">
                <a:xfrm>
                  <a:off x="4523" y="8437"/>
                  <a:ext cx="670" cy="795"/>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 </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8" name="Object 24"/>
                <p:cNvSpPr txBox="1">
                  <a:spLocks noRot="1" noChangeAspect="1" noMove="1" noResize="1" noEditPoints="1" noAdjustHandles="1" noChangeArrowheads="1" noChangeShapeType="1" noTextEdit="1"/>
                </p:cNvSpPr>
                <p:nvPr/>
              </p:nvSpPr>
              <p:spPr bwMode="auto">
                <a:xfrm>
                  <a:off x="4523" y="8437"/>
                  <a:ext cx="670" cy="795"/>
                </a:xfrm>
                <a:prstGeom prst="rect">
                  <a:avLst/>
                </a:prstGeom>
                <a:blipFill rotWithShape="1">
                  <a:blip r:embed="rId2"/>
                </a:blipFill>
                <a:ln>
                  <a:noFill/>
                </a:ln>
                <a:effectLst/>
              </p:spPr>
              <p:txBody>
                <a:bodyPr/>
                <a:lstStyle/>
                <a:p>
                  <a:r>
                    <a:rPr lang="zh-CN" altLang="en-US">
                      <a:noFill/>
                    </a:rPr>
                    <a:t> </a:t>
                  </a:r>
                </a:p>
              </p:txBody>
            </p:sp>
          </mc:Fallback>
        </mc:AlternateContent>
      </p:grpSp>
      <p:grpSp>
        <p:nvGrpSpPr>
          <p:cNvPr id="12" name="组合 11"/>
          <p:cNvGrpSpPr/>
          <p:nvPr/>
        </p:nvGrpSpPr>
        <p:grpSpPr>
          <a:xfrm>
            <a:off x="4653280" y="4142105"/>
            <a:ext cx="2569845" cy="1169035"/>
            <a:chOff x="7288" y="6483"/>
            <a:chExt cx="4047" cy="1841"/>
          </a:xfrm>
        </p:grpSpPr>
        <mc:AlternateContent xmlns:mc="http://schemas.openxmlformats.org/markup-compatibility/2006">
          <mc:Choice xmlns:a14="http://schemas.microsoft.com/office/drawing/2010/main" Requires="a14">
            <p:sp>
              <p:nvSpPr>
                <p:cNvPr id="37" name="Object 23"/>
                <p:cNvSpPr txBox="1"/>
                <p:nvPr/>
              </p:nvSpPr>
              <p:spPr bwMode="auto">
                <a:xfrm>
                  <a:off x="7288" y="6504"/>
                  <a:ext cx="4047" cy="1820"/>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m:t>
                        </m:r>
                        <m:sSubSup>
                          <m:sSubSupPr>
                            <m:ctrlPr>
                              <a:rPr kumimoji="1" lang="en-US" altLang="zh-CN" sz="2200" i="1" dirty="0">
                                <a:latin typeface="Cambria Math" panose="02040503050406030204" charset="0"/>
                                <a:ea typeface="黑体" panose="02010609060101010101" pitchFamily="49" charset="-122"/>
                              </a:rPr>
                            </m:ctrlPr>
                          </m:sSubSupPr>
                          <m:e>
                            <m:d>
                              <m:dPr>
                                <m:begChr m:val="["/>
                                <m:endChr m:val="]"/>
                                <m:ctrlPr>
                                  <a:rPr kumimoji="1" lang="en-US" altLang="zh-CN" sz="2200" i="1" dirty="0">
                                    <a:latin typeface="Cambria Math" panose="02040503050406030204" charset="0"/>
                                    <a:ea typeface="黑体" panose="02010609060101010101" pitchFamily="49" charset="-122"/>
                                  </a:rPr>
                                </m:ctrlPr>
                              </m:dPr>
                              <m:e>
                                <m:f>
                                  <m:fPr>
                                    <m:ctrlPr>
                                      <a:rPr kumimoji="1" lang="en-US" altLang="zh-CN" sz="2200" i="1" dirty="0">
                                        <a:latin typeface="Cambria Math" panose="02040503050406030204" charset="0"/>
                                        <a:ea typeface="黑体" panose="02010609060101010101" pitchFamily="49" charset="-122"/>
                                      </a:rPr>
                                    </m:ctrlPr>
                                  </m:fPr>
                                  <m:num>
                                    <m:r>
                                      <a:rPr kumimoji="1" lang="en-US" altLang="zh-CN" sz="2200" dirty="0">
                                        <a:latin typeface="Cambria Math" panose="02040503050406030204" charset="0"/>
                                        <a:ea typeface="黑体" panose="02010609060101010101" pitchFamily="49" charset="-122"/>
                                      </a:rPr>
                                      <m:t>2</m:t>
                                    </m:r>
                                  </m:num>
                                  <m:den>
                                    <m:r>
                                      <a:rPr kumimoji="1" lang="en-US" altLang="zh-CN" sz="2200" dirty="0">
                                        <a:latin typeface="Cambria Math" panose="02040503050406030204" charset="0"/>
                                        <a:ea typeface="黑体" panose="02010609060101010101" pitchFamily="49" charset="-122"/>
                                      </a:rPr>
                                      <m:t>3</m:t>
                                    </m:r>
                                  </m:den>
                                </m:f>
                                <m:sSup>
                                  <m:sSupPr>
                                    <m:ctrlPr>
                                      <a:rPr kumimoji="1" lang="en-US" altLang="zh-CN" sz="2200" i="1" dirty="0">
                                        <a:latin typeface="Cambria Math" panose="02040503050406030204" charset="0"/>
                                        <a:ea typeface="黑体" panose="02010609060101010101" pitchFamily="49" charset="-122"/>
                                      </a:rPr>
                                    </m:ctrlPr>
                                  </m:sSupPr>
                                  <m:e>
                                    <m:r>
                                      <a:rPr kumimoji="1" lang="en-US" altLang="zh-CN" sz="2200" dirty="0">
                                        <a:latin typeface="Cambria Math" panose="02040503050406030204" charset="0"/>
                                        <a:ea typeface="黑体" panose="02010609060101010101" pitchFamily="49" charset="-122"/>
                                      </a:rPr>
                                      <m:t>𝑥</m:t>
                                    </m:r>
                                  </m:e>
                                  <m:sup>
                                    <m:f>
                                      <m:fPr>
                                        <m:ctrlPr>
                                          <a:rPr kumimoji="1" lang="en-US" altLang="zh-CN" sz="2200" i="1" dirty="0">
                                            <a:latin typeface="Cambria Math" panose="02040503050406030204" charset="0"/>
                                            <a:ea typeface="黑体" panose="02010609060101010101" pitchFamily="49" charset="-122"/>
                                          </a:rPr>
                                        </m:ctrlPr>
                                      </m:fPr>
                                      <m:num>
                                        <m:r>
                                          <a:rPr kumimoji="1" lang="en-US" altLang="zh-CN" sz="2200" dirty="0">
                                            <a:latin typeface="Cambria Math" panose="02040503050406030204" charset="0"/>
                                            <a:ea typeface="黑体" panose="02010609060101010101" pitchFamily="49" charset="-122"/>
                                          </a:rPr>
                                          <m:t>3</m:t>
                                        </m:r>
                                      </m:num>
                                      <m:den>
                                        <m:r>
                                          <a:rPr kumimoji="1" lang="en-US" altLang="zh-CN" sz="2200" dirty="0">
                                            <a:latin typeface="Cambria Math" panose="02040503050406030204" charset="0"/>
                                            <a:ea typeface="黑体" panose="02010609060101010101" pitchFamily="49" charset="-122"/>
                                          </a:rPr>
                                          <m:t>2</m:t>
                                        </m:r>
                                      </m:den>
                                    </m:f>
                                  </m:sup>
                                </m:sSup>
                                <m:r>
                                  <a:rPr kumimoji="1" lang="en-US" altLang="zh-CN" sz="2200" dirty="0">
                                    <a:latin typeface="Cambria Math" panose="02040503050406030204" charset="0"/>
                                    <a:ea typeface="黑体" panose="02010609060101010101" pitchFamily="49" charset="-122"/>
                                  </a:rPr>
                                  <m:t>−</m:t>
                                </m:r>
                                <m:f>
                                  <m:fPr>
                                    <m:ctrlPr>
                                      <a:rPr kumimoji="1" lang="en-US" altLang="zh-CN" sz="2200" i="1" dirty="0">
                                        <a:latin typeface="Cambria Math" panose="02040503050406030204" charset="0"/>
                                        <a:ea typeface="黑体" panose="02010609060101010101" pitchFamily="49" charset="-122"/>
                                      </a:rPr>
                                    </m:ctrlPr>
                                  </m:fPr>
                                  <m:num>
                                    <m:sSup>
                                      <m:sSupPr>
                                        <m:ctrlPr>
                                          <a:rPr kumimoji="1" lang="en-US" altLang="zh-CN" sz="2200" i="1" dirty="0">
                                            <a:latin typeface="Cambria Math" panose="02040503050406030204" charset="0"/>
                                            <a:ea typeface="黑体" panose="02010609060101010101" pitchFamily="49" charset="-122"/>
                                          </a:rPr>
                                        </m:ctrlPr>
                                      </m:sSupPr>
                                      <m:e>
                                        <m:r>
                                          <a:rPr kumimoji="1" lang="en-US" altLang="zh-CN" sz="2200" dirty="0">
                                            <a:latin typeface="Cambria Math" panose="02040503050406030204" charset="0"/>
                                            <a:ea typeface="黑体" panose="02010609060101010101" pitchFamily="49" charset="-122"/>
                                          </a:rPr>
                                          <m:t>𝑥</m:t>
                                        </m:r>
                                      </m:e>
                                      <m:sup>
                                        <m:r>
                                          <a:rPr kumimoji="1" lang="en-US" altLang="zh-CN" sz="2200" dirty="0">
                                            <a:latin typeface="Cambria Math" panose="02040503050406030204" charset="0"/>
                                            <a:ea typeface="黑体" panose="02010609060101010101" pitchFamily="49" charset="-122"/>
                                          </a:rPr>
                                          <m:t>3</m:t>
                                        </m:r>
                                      </m:sup>
                                    </m:sSup>
                                  </m:num>
                                  <m:den>
                                    <m:r>
                                      <a:rPr kumimoji="1" lang="en-US" altLang="zh-CN" sz="2200" dirty="0">
                                        <a:latin typeface="Cambria Math" panose="02040503050406030204" charset="0"/>
                                        <a:ea typeface="黑体" panose="02010609060101010101" pitchFamily="49" charset="-122"/>
                                      </a:rPr>
                                      <m:t>3</m:t>
                                    </m:r>
                                  </m:den>
                                </m:f>
                              </m:e>
                            </m:d>
                          </m:e>
                          <m:sub>
                            <m:r>
                              <a:rPr kumimoji="1" lang="en-US" altLang="zh-CN" sz="2200" dirty="0">
                                <a:latin typeface="Cambria Math" panose="02040503050406030204" charset="0"/>
                                <a:ea typeface="黑体" panose="02010609060101010101" pitchFamily="49" charset="-122"/>
                              </a:rPr>
                              <m:t>0</m:t>
                            </m:r>
                          </m:sub>
                          <m:sup>
                            <m:r>
                              <a:rPr kumimoji="1" lang="en-US" altLang="zh-CN" sz="2200" dirty="0">
                                <a:latin typeface="Cambria Math" panose="02040503050406030204" charset="0"/>
                                <a:ea typeface="黑体" panose="02010609060101010101" pitchFamily="49" charset="-122"/>
                              </a:rPr>
                              <m:t>1</m:t>
                            </m:r>
                          </m:sup>
                        </m:sSubSup>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37" name="Object 23"/>
                <p:cNvSpPr txBox="1">
                  <a:spLocks noRot="1" noChangeAspect="1" noMove="1" noResize="1" noEditPoints="1" noAdjustHandles="1" noChangeArrowheads="1" noChangeShapeType="1" noTextEdit="1"/>
                </p:cNvSpPr>
                <p:nvPr/>
              </p:nvSpPr>
              <p:spPr bwMode="auto">
                <a:xfrm>
                  <a:off x="7288" y="6504"/>
                  <a:ext cx="4047" cy="1820"/>
                </a:xfrm>
                <a:prstGeom prst="rect">
                  <a:avLst/>
                </a:prstGeom>
                <a:blipFill rotWithShape="1">
                  <a:blip r:embed="rId3"/>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Object 24"/>
                <p:cNvSpPr txBox="1"/>
                <p:nvPr/>
              </p:nvSpPr>
              <p:spPr bwMode="auto">
                <a:xfrm>
                  <a:off x="9480" y="6483"/>
                  <a:ext cx="670" cy="795"/>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 </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11" name="Object 24"/>
                <p:cNvSpPr txBox="1">
                  <a:spLocks noRot="1" noChangeAspect="1" noMove="1" noResize="1" noEditPoints="1" noAdjustHandles="1" noChangeArrowheads="1" noChangeShapeType="1" noTextEdit="1"/>
                </p:cNvSpPr>
                <p:nvPr/>
              </p:nvSpPr>
              <p:spPr bwMode="auto">
                <a:xfrm>
                  <a:off x="9480" y="6483"/>
                  <a:ext cx="670" cy="795"/>
                </a:xfrm>
                <a:prstGeom prst="rect">
                  <a:avLst/>
                </a:prstGeom>
                <a:blipFill rotWithShape="1">
                  <a:blip r:embed="rId2"/>
                </a:blipFill>
                <a:ln>
                  <a:noFill/>
                </a:ln>
                <a:effectLst/>
              </p:spPr>
              <p:txBody>
                <a:bodyPr/>
                <a:lstStyle/>
                <a:p>
                  <a:r>
                    <a:rPr lang="zh-CN" altLang="en-US">
                      <a:noFill/>
                    </a:rPr>
                    <a:t> </a:t>
                  </a:r>
                </a:p>
              </p:txBody>
            </p:sp>
          </mc:Fallback>
        </mc:AlternateContent>
      </p:grpSp>
      <p:grpSp>
        <p:nvGrpSpPr>
          <p:cNvPr id="14" name="组合 13"/>
          <p:cNvGrpSpPr/>
          <p:nvPr/>
        </p:nvGrpSpPr>
        <p:grpSpPr>
          <a:xfrm>
            <a:off x="1943100" y="4218305"/>
            <a:ext cx="3257550" cy="829945"/>
            <a:chOff x="3020" y="6603"/>
            <a:chExt cx="5130" cy="1307"/>
          </a:xfrm>
        </p:grpSpPr>
        <mc:AlternateContent xmlns:mc="http://schemas.openxmlformats.org/markup-compatibility/2006">
          <mc:Choice xmlns:a14="http://schemas.microsoft.com/office/drawing/2010/main" Requires="a14">
            <p:sp>
              <p:nvSpPr>
                <p:cNvPr id="36" name="Object 22"/>
                <p:cNvSpPr txBox="1"/>
                <p:nvPr/>
              </p:nvSpPr>
              <p:spPr bwMode="auto">
                <a:xfrm>
                  <a:off x="3020" y="6603"/>
                  <a:ext cx="5130" cy="1307"/>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m:t>
                        </m:r>
                        <m:r>
                          <a:rPr kumimoji="1" lang="en-US" altLang="zh-CN" sz="2200" dirty="0">
                            <a:latin typeface="Cambria Math" panose="02040503050406030204" charset="0"/>
                            <a:ea typeface="黑体" panose="02010609060101010101" pitchFamily="49" charset="-122"/>
                          </a:rPr>
                          <m:t>𝐴</m:t>
                        </m:r>
                        <m:r>
                          <a:rPr kumimoji="1" lang="en-US" altLang="zh-CN" sz="2200" dirty="0">
                            <a:latin typeface="Cambria Math" panose="02040503050406030204" charset="0"/>
                            <a:ea typeface="黑体" panose="02010609060101010101" pitchFamily="49" charset="-122"/>
                          </a:rPr>
                          <m:t>=</m:t>
                        </m:r>
                        <m:nary>
                          <m:naryPr>
                            <m:ctrlPr>
                              <a:rPr kumimoji="1" lang="en-US" altLang="zh-CN" sz="2200" i="1" dirty="0">
                                <a:latin typeface="Cambria Math" panose="02040503050406030204" charset="0"/>
                                <a:ea typeface="黑体" panose="02010609060101010101" pitchFamily="49" charset="-122"/>
                              </a:rPr>
                            </m:ctrlPr>
                          </m:naryPr>
                          <m:sub>
                            <m:r>
                              <a:rPr kumimoji="1" lang="en-US" altLang="zh-CN" sz="2200" dirty="0">
                                <a:latin typeface="Cambria Math" panose="02040503050406030204" charset="0"/>
                                <a:ea typeface="黑体" panose="02010609060101010101" pitchFamily="49" charset="-122"/>
                              </a:rPr>
                              <m:t>0</m:t>
                            </m:r>
                          </m:sub>
                          <m:sup>
                            <m:r>
                              <a:rPr kumimoji="1" lang="en-US" altLang="zh-CN" sz="2200" dirty="0">
                                <a:latin typeface="Cambria Math" panose="02040503050406030204" charset="0"/>
                                <a:ea typeface="黑体" panose="02010609060101010101" pitchFamily="49" charset="-122"/>
                              </a:rPr>
                              <m:t>1</m:t>
                            </m:r>
                          </m:sup>
                          <m:e>
                            <m:r>
                              <a:rPr kumimoji="1" lang="en-US" altLang="zh-CN" sz="2200" dirty="0">
                                <a:latin typeface="Cambria Math" panose="02040503050406030204" charset="0"/>
                                <a:ea typeface="黑体" panose="02010609060101010101" pitchFamily="49" charset="-122"/>
                              </a:rPr>
                              <m:t>(</m:t>
                            </m:r>
                            <m:rad>
                              <m:radPr>
                                <m:degHide m:val="on"/>
                                <m:ctrlPr>
                                  <a:rPr kumimoji="1" lang="en-US" altLang="zh-CN" sz="2200" i="1" dirty="0">
                                    <a:latin typeface="Cambria Math" panose="02040503050406030204" charset="0"/>
                                    <a:ea typeface="黑体" panose="02010609060101010101" pitchFamily="49" charset="-122"/>
                                  </a:rPr>
                                </m:ctrlPr>
                              </m:radPr>
                              <m:deg/>
                              <m:e>
                                <m:r>
                                  <a:rPr kumimoji="1" lang="en-US" altLang="zh-CN" sz="2200" dirty="0">
                                    <a:latin typeface="Cambria Math" panose="02040503050406030204" charset="0"/>
                                    <a:ea typeface="黑体" panose="02010609060101010101" pitchFamily="49" charset="-122"/>
                                  </a:rPr>
                                  <m:t>𝑥</m:t>
                                </m:r>
                              </m:e>
                            </m:rad>
                          </m:e>
                        </m:nary>
                        <m:r>
                          <a:rPr kumimoji="1" lang="en-US" altLang="zh-CN" sz="2200" dirty="0">
                            <a:latin typeface="Cambria Math" panose="02040503050406030204" charset="0"/>
                            <a:ea typeface="黑体" panose="02010609060101010101" pitchFamily="49" charset="-122"/>
                          </a:rPr>
                          <m:t>−</m:t>
                        </m:r>
                        <m:sSup>
                          <m:sSupPr>
                            <m:ctrlPr>
                              <a:rPr kumimoji="1" lang="en-US" altLang="zh-CN" sz="2200" i="1" dirty="0">
                                <a:latin typeface="Cambria Math" panose="02040503050406030204" charset="0"/>
                                <a:ea typeface="黑体" panose="02010609060101010101" pitchFamily="49" charset="-122"/>
                              </a:rPr>
                            </m:ctrlPr>
                          </m:sSupPr>
                          <m:e>
                            <m:r>
                              <a:rPr kumimoji="1" lang="en-US" altLang="zh-CN" sz="2200" dirty="0">
                                <a:latin typeface="Cambria Math" panose="02040503050406030204" charset="0"/>
                                <a:ea typeface="黑体" panose="02010609060101010101" pitchFamily="49" charset="-122"/>
                              </a:rPr>
                              <m:t>𝑥</m:t>
                            </m:r>
                          </m:e>
                          <m:sup>
                            <m:r>
                              <a:rPr kumimoji="1" lang="en-US" altLang="zh-CN" sz="2200" dirty="0">
                                <a:latin typeface="Cambria Math" panose="02040503050406030204" charset="0"/>
                                <a:ea typeface="黑体" panose="02010609060101010101" pitchFamily="49" charset="-122"/>
                              </a:rPr>
                              <m:t>2</m:t>
                            </m:r>
                          </m:sup>
                        </m:sSup>
                        <m:r>
                          <a:rPr kumimoji="1" lang="en-US" altLang="zh-CN" sz="2200" dirty="0">
                            <a:latin typeface="Cambria Math" panose="02040503050406030204" charset="0"/>
                            <a:ea typeface="黑体" panose="02010609060101010101" pitchFamily="49" charset="-122"/>
                          </a:rPr>
                          <m:t>)</m:t>
                        </m:r>
                        <m:r>
                          <m:rPr>
                            <m:sty m:val="p"/>
                          </m:rPr>
                          <a:rPr kumimoji="1" lang="en-US" altLang="zh-CN" sz="2200" dirty="0">
                            <a:latin typeface="Cambria Math" panose="02040503050406030204" charset="0"/>
                            <a:ea typeface="黑体" panose="02010609060101010101" pitchFamily="49" charset="-122"/>
                          </a:rPr>
                          <m:t>d</m:t>
                        </m:r>
                        <m:r>
                          <a:rPr kumimoji="1" lang="en-US" altLang="zh-CN" sz="2200" dirty="0">
                            <a:latin typeface="Cambria Math" panose="02040503050406030204" charset="0"/>
                            <a:ea typeface="黑体" panose="02010609060101010101" pitchFamily="49" charset="-122"/>
                          </a:rPr>
                          <m:t>𝑥</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36" name="Object 22"/>
                <p:cNvSpPr txBox="1">
                  <a:spLocks noRot="1" noChangeAspect="1" noMove="1" noResize="1" noEditPoints="1" noAdjustHandles="1" noChangeArrowheads="1" noChangeShapeType="1" noTextEdit="1"/>
                </p:cNvSpPr>
                <p:nvPr/>
              </p:nvSpPr>
              <p:spPr bwMode="auto">
                <a:xfrm>
                  <a:off x="3020" y="6603"/>
                  <a:ext cx="5130" cy="1307"/>
                </a:xfrm>
                <a:prstGeom prst="rect">
                  <a:avLst/>
                </a:prstGeom>
                <a:blipFill rotWithShape="1">
                  <a:blip r:embed="rId4"/>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Object 24"/>
                <p:cNvSpPr txBox="1"/>
                <p:nvPr/>
              </p:nvSpPr>
              <p:spPr bwMode="auto">
                <a:xfrm>
                  <a:off x="4836" y="6859"/>
                  <a:ext cx="670" cy="795"/>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 </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13" name="Object 24"/>
                <p:cNvSpPr txBox="1">
                  <a:spLocks noRot="1" noChangeAspect="1" noMove="1" noResize="1" noEditPoints="1" noAdjustHandles="1" noChangeArrowheads="1" noChangeShapeType="1" noTextEdit="1"/>
                </p:cNvSpPr>
                <p:nvPr/>
              </p:nvSpPr>
              <p:spPr bwMode="auto">
                <a:xfrm>
                  <a:off x="4836" y="6859"/>
                  <a:ext cx="670" cy="795"/>
                </a:xfrm>
                <a:prstGeom prst="rect">
                  <a:avLst/>
                </a:prstGeom>
                <a:blipFill rotWithShape="1">
                  <a:blip r:embed="rId2"/>
                </a:blipFill>
                <a:ln>
                  <a:noFill/>
                </a:ln>
                <a:effectLst/>
              </p:spPr>
              <p:txBody>
                <a:bodyPr/>
                <a:lstStyle/>
                <a:p>
                  <a:r>
                    <a:rPr lang="zh-CN" altLang="en-US">
                      <a:noFill/>
                    </a:rPr>
                    <a:t> </a:t>
                  </a:r>
                </a:p>
              </p:txBody>
            </p:sp>
          </mc:Fallback>
        </mc:AlternateContent>
      </p:grpSp>
      <p:grpSp>
        <p:nvGrpSpPr>
          <p:cNvPr id="16" name="组合 15"/>
          <p:cNvGrpSpPr/>
          <p:nvPr/>
        </p:nvGrpSpPr>
        <p:grpSpPr>
          <a:xfrm>
            <a:off x="3163570" y="3522980"/>
            <a:ext cx="3307080" cy="504190"/>
            <a:chOff x="4942" y="5508"/>
            <a:chExt cx="5208" cy="794"/>
          </a:xfrm>
        </p:grpSpPr>
        <mc:AlternateContent xmlns:mc="http://schemas.openxmlformats.org/markup-compatibility/2006">
          <mc:Choice xmlns:a14="http://schemas.microsoft.com/office/drawing/2010/main" Requires="a14">
            <p:sp>
              <p:nvSpPr>
                <p:cNvPr id="5" name="对象 4"/>
                <p:cNvSpPr txBox="1"/>
                <p:nvPr/>
              </p:nvSpPr>
              <p:spPr>
                <a:xfrm>
                  <a:off x="4942" y="5508"/>
                  <a:ext cx="4632" cy="780"/>
                </a:xfrm>
                <a:prstGeom prst="rect">
                  <a:avLst/>
                </a:prstGeom>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m:rPr>
                            <m:sty m:val="p"/>
                          </m:rPr>
                          <a:rPr kumimoji="1" lang="en-US" altLang="zh-CN" sz="2200" dirty="0">
                            <a:latin typeface="Cambria Math" panose="02040503050406030204" charset="0"/>
                            <a:ea typeface="黑体" panose="02010609060101010101" pitchFamily="49" charset="-122"/>
                          </a:rPr>
                          <m:t>d</m:t>
                        </m:r>
                        <m:r>
                          <a:rPr kumimoji="1" lang="en-US" altLang="zh-CN" sz="2200" dirty="0">
                            <a:latin typeface="Cambria Math" panose="02040503050406030204" charset="0"/>
                            <a:ea typeface="黑体" panose="02010609060101010101" pitchFamily="49" charset="-122"/>
                          </a:rPr>
                          <m:t>𝐴</m:t>
                        </m:r>
                        <m:r>
                          <a:rPr kumimoji="1" lang="en-US" altLang="zh-CN" sz="2200" dirty="0">
                            <a:latin typeface="Cambria Math" panose="02040503050406030204" charset="0"/>
                            <a:ea typeface="黑体" panose="02010609060101010101" pitchFamily="49" charset="-122"/>
                          </a:rPr>
                          <m:t>=(</m:t>
                        </m:r>
                        <m:rad>
                          <m:radPr>
                            <m:degHide m:val="on"/>
                            <m:ctrlPr>
                              <a:rPr kumimoji="1" lang="en-US" altLang="zh-CN" sz="2200" i="1" dirty="0">
                                <a:latin typeface="Cambria Math" panose="02040503050406030204" charset="0"/>
                                <a:ea typeface="黑体" panose="02010609060101010101" pitchFamily="49" charset="-122"/>
                              </a:rPr>
                            </m:ctrlPr>
                          </m:radPr>
                          <m:deg/>
                          <m:e>
                            <m:r>
                              <a:rPr kumimoji="1" lang="en-US" altLang="zh-CN" sz="2200" dirty="0">
                                <a:latin typeface="Cambria Math" panose="02040503050406030204" charset="0"/>
                                <a:ea typeface="黑体" panose="02010609060101010101" pitchFamily="49" charset="-122"/>
                              </a:rPr>
                              <m:t>𝑥</m:t>
                            </m:r>
                          </m:e>
                        </m:rad>
                        <m:r>
                          <a:rPr kumimoji="1" lang="en-US" altLang="zh-CN" sz="2200" dirty="0">
                            <a:latin typeface="Cambria Math" panose="02040503050406030204" charset="0"/>
                            <a:ea typeface="黑体" panose="02010609060101010101" pitchFamily="49" charset="-122"/>
                          </a:rPr>
                          <m:t>−</m:t>
                        </m:r>
                        <m:sSup>
                          <m:sSupPr>
                            <m:ctrlPr>
                              <a:rPr kumimoji="1" lang="en-US" altLang="zh-CN" sz="2200" i="1" dirty="0">
                                <a:latin typeface="Cambria Math" panose="02040503050406030204" charset="0"/>
                                <a:ea typeface="黑体" panose="02010609060101010101" pitchFamily="49" charset="-122"/>
                              </a:rPr>
                            </m:ctrlPr>
                          </m:sSupPr>
                          <m:e>
                            <m:r>
                              <a:rPr kumimoji="1" lang="en-US" altLang="zh-CN" sz="2200" dirty="0">
                                <a:latin typeface="Cambria Math" panose="02040503050406030204" charset="0"/>
                                <a:ea typeface="黑体" panose="02010609060101010101" pitchFamily="49" charset="-122"/>
                              </a:rPr>
                              <m:t>𝑥</m:t>
                            </m:r>
                          </m:e>
                          <m:sup>
                            <m:r>
                              <a:rPr kumimoji="1" lang="en-US" altLang="zh-CN" sz="2200" dirty="0">
                                <a:latin typeface="Cambria Math" panose="02040503050406030204" charset="0"/>
                                <a:ea typeface="黑体" panose="02010609060101010101" pitchFamily="49" charset="-122"/>
                              </a:rPr>
                              <m:t>2</m:t>
                            </m:r>
                          </m:sup>
                        </m:sSup>
                        <m:r>
                          <a:rPr kumimoji="1" lang="en-US" altLang="zh-CN" sz="2200" dirty="0">
                            <a:latin typeface="Cambria Math" panose="02040503050406030204" charset="0"/>
                            <a:ea typeface="黑体" panose="02010609060101010101" pitchFamily="49" charset="-122"/>
                          </a:rPr>
                          <m:t>)</m:t>
                        </m:r>
                        <m:r>
                          <m:rPr>
                            <m:sty m:val="p"/>
                          </m:rPr>
                          <a:rPr kumimoji="1" lang="en-US" altLang="zh-CN" sz="2200" dirty="0">
                            <a:latin typeface="Cambria Math" panose="02040503050406030204" charset="0"/>
                            <a:ea typeface="黑体" panose="02010609060101010101" pitchFamily="49" charset="-122"/>
                          </a:rPr>
                          <m:t>d</m:t>
                        </m:r>
                        <m:r>
                          <a:rPr kumimoji="1" lang="en-US" altLang="zh-CN" sz="2200" dirty="0">
                            <a:latin typeface="Cambria Math" panose="02040503050406030204" charset="0"/>
                            <a:ea typeface="黑体" panose="02010609060101010101" pitchFamily="49" charset="-122"/>
                          </a:rPr>
                          <m:t>𝑥</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5" name="对象 4"/>
                <p:cNvSpPr txBox="1">
                  <a:spLocks noRot="1" noChangeAspect="1" noMove="1" noResize="1" noEditPoints="1" noAdjustHandles="1" noChangeArrowheads="1" noChangeShapeType="1" noTextEdit="1"/>
                </p:cNvSpPr>
                <p:nvPr/>
              </p:nvSpPr>
              <p:spPr>
                <a:xfrm>
                  <a:off x="4942" y="5508"/>
                  <a:ext cx="4632" cy="780"/>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Object 24"/>
                <p:cNvSpPr txBox="1"/>
                <p:nvPr/>
              </p:nvSpPr>
              <p:spPr bwMode="auto">
                <a:xfrm>
                  <a:off x="9480" y="5508"/>
                  <a:ext cx="670" cy="795"/>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 </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15" name="Object 24"/>
                <p:cNvSpPr txBox="1">
                  <a:spLocks noRot="1" noChangeAspect="1" noMove="1" noResize="1" noEditPoints="1" noAdjustHandles="1" noChangeArrowheads="1" noChangeShapeType="1" noTextEdit="1"/>
                </p:cNvSpPr>
                <p:nvPr/>
              </p:nvSpPr>
              <p:spPr bwMode="auto">
                <a:xfrm>
                  <a:off x="9480" y="5508"/>
                  <a:ext cx="670" cy="795"/>
                </a:xfrm>
                <a:prstGeom prst="rect">
                  <a:avLst/>
                </a:prstGeom>
                <a:blipFill rotWithShape="1">
                  <a:blip r:embed="rId2"/>
                </a:blipFill>
                <a:ln>
                  <a:noFill/>
                </a:ln>
                <a:effectLst/>
              </p:spPr>
              <p:txBody>
                <a:bodyPr/>
                <a:lstStyle/>
                <a:p>
                  <a:r>
                    <a:rPr lang="zh-CN" altLang="en-US">
                      <a:noFill/>
                    </a:rPr>
                    <a:t> </a:t>
                  </a:r>
                </a:p>
              </p:txBody>
            </p:sp>
          </mc:Fallback>
        </mc:AlternateContent>
      </p:grpSp>
      <p:grpSp>
        <p:nvGrpSpPr>
          <p:cNvPr id="18" name="组合 17"/>
          <p:cNvGrpSpPr/>
          <p:nvPr/>
        </p:nvGrpSpPr>
        <p:grpSpPr>
          <a:xfrm>
            <a:off x="1943100" y="3474085"/>
            <a:ext cx="1597660" cy="504190"/>
            <a:chOff x="3020" y="5431"/>
            <a:chExt cx="2516" cy="794"/>
          </a:xfrm>
        </p:grpSpPr>
        <mc:AlternateContent xmlns:mc="http://schemas.openxmlformats.org/markup-compatibility/2006">
          <mc:Choice xmlns:a14="http://schemas.microsoft.com/office/drawing/2010/main" Requires="a14">
            <p:sp>
              <p:nvSpPr>
                <p:cNvPr id="4" name="对象 3"/>
                <p:cNvSpPr txBox="1"/>
                <p:nvPr/>
              </p:nvSpPr>
              <p:spPr>
                <a:xfrm>
                  <a:off x="3020" y="5518"/>
                  <a:ext cx="2516" cy="62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m:rPr>
                            <m:nor/>
                          </m:rPr>
                          <a:rPr kumimoji="1" lang="zh-CN" altLang="en-US" sz="22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面积元素</m:t>
                        </m:r>
                      </m:oMath>
                    </m:oMathPara>
                  </a14:m>
                  <a:endParaRPr kumimoji="1" lang="zh-CN" altLang="en-US" sz="22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4" name="对象 3"/>
                <p:cNvSpPr txBox="1">
                  <a:spLocks noRot="1" noChangeAspect="1" noMove="1" noResize="1" noEditPoints="1" noAdjustHandles="1" noChangeArrowheads="1" noChangeShapeType="1" noTextEdit="1"/>
                </p:cNvSpPr>
                <p:nvPr/>
              </p:nvSpPr>
              <p:spPr>
                <a:xfrm>
                  <a:off x="3020" y="5518"/>
                  <a:ext cx="2516" cy="620"/>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Object 24"/>
                <p:cNvSpPr txBox="1"/>
                <p:nvPr/>
              </p:nvSpPr>
              <p:spPr bwMode="auto">
                <a:xfrm>
                  <a:off x="3943" y="5431"/>
                  <a:ext cx="670" cy="795"/>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 </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17" name="Object 24"/>
                <p:cNvSpPr txBox="1">
                  <a:spLocks noRot="1" noChangeAspect="1" noMove="1" noResize="1" noEditPoints="1" noAdjustHandles="1" noChangeArrowheads="1" noChangeShapeType="1" noTextEdit="1"/>
                </p:cNvSpPr>
                <p:nvPr/>
              </p:nvSpPr>
              <p:spPr bwMode="auto">
                <a:xfrm>
                  <a:off x="3943" y="5431"/>
                  <a:ext cx="670" cy="795"/>
                </a:xfrm>
                <a:prstGeom prst="rect">
                  <a:avLst/>
                </a:prstGeom>
                <a:blipFill rotWithShape="1">
                  <a:blip r:embed="rId2"/>
                </a:blipFill>
                <a:ln>
                  <a:noFill/>
                </a:ln>
                <a:effectLst/>
              </p:spPr>
              <p:txBody>
                <a:bodyPr/>
                <a:lstStyle/>
                <a:p>
                  <a:r>
                    <a:rPr lang="zh-CN" altLang="en-US">
                      <a:noFill/>
                    </a:rPr>
                    <a:t> </a:t>
                  </a:r>
                </a:p>
              </p:txBody>
            </p:sp>
          </mc:Fallback>
        </mc:AlternateContent>
      </p:grpSp>
      <p:grpSp>
        <p:nvGrpSpPr>
          <p:cNvPr id="20" name="组合 19"/>
          <p:cNvGrpSpPr/>
          <p:nvPr/>
        </p:nvGrpSpPr>
        <p:grpSpPr>
          <a:xfrm>
            <a:off x="1943100" y="2709545"/>
            <a:ext cx="4709160" cy="504190"/>
            <a:chOff x="3020" y="4227"/>
            <a:chExt cx="7416" cy="794"/>
          </a:xfrm>
        </p:grpSpPr>
        <mc:AlternateContent xmlns:mc="http://schemas.openxmlformats.org/markup-compatibility/2006">
          <mc:Choice xmlns:a14="http://schemas.microsoft.com/office/drawing/2010/main" Requires="a14">
            <p:sp>
              <p:nvSpPr>
                <p:cNvPr id="3" name="对象 2"/>
                <p:cNvSpPr txBox="1"/>
                <p:nvPr/>
              </p:nvSpPr>
              <p:spPr>
                <a:xfrm>
                  <a:off x="3020" y="4227"/>
                  <a:ext cx="7416" cy="680"/>
                </a:xfrm>
                <a:prstGeom prst="rect">
                  <a:avLst/>
                </a:prstGeom>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zh-CN" altLang="en-US" sz="22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选</m:t>
                        </m:r>
                        <m:r>
                          <a:rPr kumimoji="1" lang="zh-CN" altLang="en-US"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 </m:t>
                        </m:r>
                        <m:r>
                          <a:rPr kumimoji="1" lang="en-US" altLang="zh-CN" sz="2200" dirty="0">
                            <a:latin typeface="Cambria Math" panose="02040503050406030204" charset="0"/>
                            <a:ea typeface="黑体" panose="02010609060101010101" pitchFamily="49" charset="-122"/>
                          </a:rPr>
                          <m:t>𝑥</m:t>
                        </m:r>
                        <m:r>
                          <a:rPr kumimoji="1" lang="zh-CN" altLang="en-US"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 </m:t>
                        </m:r>
                        <m:r>
                          <m:rPr>
                            <m:nor/>
                          </m:rPr>
                          <a:rPr kumimoji="1" lang="zh-CN" altLang="en-US" sz="22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为积分变量</m:t>
                        </m:r>
                        <m:r>
                          <a:rPr kumimoji="1" lang="zh-CN" altLang="en-US"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r>
                          <a:rPr kumimoji="1" lang="zh-CN" altLang="en-US"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则</m:t>
                        </m:r>
                        <m:r>
                          <a:rPr kumimoji="1" lang="en-US" altLang="zh-CN" sz="2200" dirty="0">
                            <a:latin typeface="Cambria Math" panose="02040503050406030204" charset="0"/>
                            <a:ea typeface="黑体" panose="02010609060101010101" pitchFamily="49" charset="-122"/>
                          </a:rPr>
                          <m:t>𝑥</m:t>
                        </m:r>
                        <m:r>
                          <a:rPr kumimoji="1" lang="en-US" altLang="zh-CN" sz="2200" dirty="0">
                            <a:latin typeface="Cambria Math" panose="02040503050406030204" charset="0"/>
                            <a:ea typeface="黑体" panose="02010609060101010101" pitchFamily="49" charset="-122"/>
                          </a:rPr>
                          <m:t>∈[</m:t>
                        </m:r>
                        <m:r>
                          <a:rPr kumimoji="1" lang="en-US" altLang="zh-CN" sz="2200" dirty="0">
                            <a:latin typeface="Cambria Math" panose="02040503050406030204" charset="0"/>
                            <a:ea typeface="黑体" panose="02010609060101010101" pitchFamily="49" charset="-122"/>
                          </a:rPr>
                          <m:t>0</m:t>
                        </m:r>
                        <m:r>
                          <a:rPr kumimoji="1" lang="en-US" altLang="zh-CN" sz="2200" dirty="0">
                            <a:latin typeface="Cambria Math" panose="02040503050406030204" charset="0"/>
                            <a:ea typeface="黑体" panose="02010609060101010101" pitchFamily="49" charset="-122"/>
                          </a:rPr>
                          <m:t>,</m:t>
                        </m:r>
                        <m:r>
                          <a:rPr kumimoji="1" lang="en-US" altLang="zh-CN" sz="2200" dirty="0">
                            <a:latin typeface="Cambria Math" panose="02040503050406030204" charset="0"/>
                            <a:ea typeface="黑体" panose="02010609060101010101" pitchFamily="49" charset="-122"/>
                          </a:rPr>
                          <m:t>1</m:t>
                        </m:r>
                        <m:r>
                          <a:rPr kumimoji="1" lang="en-US" altLang="zh-CN" sz="2200" dirty="0">
                            <a:latin typeface="Cambria Math" panose="02040503050406030204" charset="0"/>
                            <a:ea typeface="黑体" panose="02010609060101010101" pitchFamily="49" charset="-122"/>
                          </a:rPr>
                          <m:t>].</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3" name="对象 2"/>
                <p:cNvSpPr txBox="1">
                  <a:spLocks noRot="1" noChangeAspect="1" noMove="1" noResize="1" noEditPoints="1" noAdjustHandles="1" noChangeArrowheads="1" noChangeShapeType="1" noTextEdit="1"/>
                </p:cNvSpPr>
                <p:nvPr/>
              </p:nvSpPr>
              <p:spPr>
                <a:xfrm>
                  <a:off x="3020" y="4227"/>
                  <a:ext cx="7416" cy="680"/>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Object 24"/>
                <p:cNvSpPr txBox="1"/>
                <p:nvPr/>
              </p:nvSpPr>
              <p:spPr bwMode="auto">
                <a:xfrm>
                  <a:off x="9480" y="4227"/>
                  <a:ext cx="670" cy="795"/>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 </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19" name="Object 24"/>
                <p:cNvSpPr txBox="1">
                  <a:spLocks noRot="1" noChangeAspect="1" noMove="1" noResize="1" noEditPoints="1" noAdjustHandles="1" noChangeArrowheads="1" noChangeShapeType="1" noTextEdit="1"/>
                </p:cNvSpPr>
                <p:nvPr/>
              </p:nvSpPr>
              <p:spPr bwMode="auto">
                <a:xfrm>
                  <a:off x="9480" y="4227"/>
                  <a:ext cx="670" cy="795"/>
                </a:xfrm>
                <a:prstGeom prst="rect">
                  <a:avLst/>
                </a:prstGeom>
                <a:blipFill rotWithShape="1">
                  <a:blip r:embed="rId2"/>
                </a:blipFill>
                <a:ln>
                  <a:noFill/>
                </a:ln>
                <a:effectLst/>
              </p:spPr>
              <p:txBody>
                <a:bodyPr/>
                <a:lstStyle/>
                <a:p>
                  <a:r>
                    <a:rPr lang="zh-CN" altLang="en-US">
                      <a:noFill/>
                    </a:rPr>
                    <a:t> </a:t>
                  </a:r>
                </a:p>
              </p:txBody>
            </p:sp>
          </mc:Fallback>
        </mc:AlternateContent>
      </p:grpSp>
      <p:grpSp>
        <p:nvGrpSpPr>
          <p:cNvPr id="22" name="组合 21"/>
          <p:cNvGrpSpPr/>
          <p:nvPr/>
        </p:nvGrpSpPr>
        <p:grpSpPr>
          <a:xfrm>
            <a:off x="3630930" y="1842135"/>
            <a:ext cx="2839720" cy="504825"/>
            <a:chOff x="5678" y="2861"/>
            <a:chExt cx="4472" cy="795"/>
          </a:xfrm>
        </p:grpSpPr>
        <mc:AlternateContent xmlns:mc="http://schemas.openxmlformats.org/markup-compatibility/2006">
          <mc:Choice xmlns:a14="http://schemas.microsoft.com/office/drawing/2010/main" Requires="a14">
            <p:sp>
              <p:nvSpPr>
                <p:cNvPr id="63512" name="Object 24"/>
                <p:cNvSpPr txBox="1"/>
                <p:nvPr/>
              </p:nvSpPr>
              <p:spPr bwMode="auto">
                <a:xfrm>
                  <a:off x="5678" y="2906"/>
                  <a:ext cx="3145" cy="617"/>
                </a:xfrm>
                <a:prstGeom prst="rect">
                  <a:avLst/>
                </a:prstGeom>
                <a:noFill/>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m:t>
                        </m:r>
                        <m:r>
                          <a:rPr kumimoji="1" lang="en-US" altLang="zh-CN" sz="2200" dirty="0">
                            <a:latin typeface="Cambria Math" panose="02040503050406030204" charset="0"/>
                            <a:ea typeface="黑体" panose="02010609060101010101" pitchFamily="49" charset="-122"/>
                          </a:rPr>
                          <m:t>0</m:t>
                        </m:r>
                        <m:r>
                          <a:rPr kumimoji="1" lang="en-US" altLang="zh-CN" sz="2200" dirty="0">
                            <a:latin typeface="Cambria Math" panose="02040503050406030204" charset="0"/>
                            <a:ea typeface="黑体" panose="02010609060101010101" pitchFamily="49" charset="-122"/>
                          </a:rPr>
                          <m:t>,</m:t>
                        </m:r>
                        <m:r>
                          <a:rPr kumimoji="1" lang="en-US" altLang="zh-CN" sz="2200" dirty="0">
                            <a:latin typeface="Cambria Math" panose="02040503050406030204" charset="0"/>
                            <a:ea typeface="黑体" panose="02010609060101010101" pitchFamily="49" charset="-122"/>
                          </a:rPr>
                          <m:t>0</m:t>
                        </m:r>
                        <m:r>
                          <a:rPr kumimoji="1" lang="en-US" altLang="zh-CN" sz="2200" dirty="0">
                            <a:latin typeface="Cambria Math" panose="02040503050406030204" charset="0"/>
                            <a:ea typeface="黑体" panose="02010609060101010101" pitchFamily="49" charset="-122"/>
                          </a:rPr>
                          <m:t>) , (</m:t>
                        </m:r>
                        <m:r>
                          <a:rPr kumimoji="1" lang="en-US" altLang="zh-CN" sz="2200" dirty="0">
                            <a:latin typeface="Cambria Math" panose="02040503050406030204" charset="0"/>
                            <a:ea typeface="黑体" panose="02010609060101010101" pitchFamily="49" charset="-122"/>
                          </a:rPr>
                          <m:t>1</m:t>
                        </m:r>
                        <m:r>
                          <a:rPr kumimoji="1" lang="en-US" altLang="zh-CN" sz="2200" dirty="0">
                            <a:latin typeface="Cambria Math" panose="02040503050406030204" charset="0"/>
                            <a:ea typeface="黑体" panose="02010609060101010101" pitchFamily="49" charset="-122"/>
                          </a:rPr>
                          <m:t>,</m:t>
                        </m:r>
                        <m:r>
                          <a:rPr kumimoji="1" lang="en-US" altLang="zh-CN" sz="2200" dirty="0">
                            <a:latin typeface="Cambria Math" panose="02040503050406030204" charset="0"/>
                            <a:ea typeface="黑体" panose="02010609060101010101" pitchFamily="49" charset="-122"/>
                          </a:rPr>
                          <m:t>1</m:t>
                        </m:r>
                        <m:r>
                          <a:rPr kumimoji="1" lang="en-US" altLang="zh-CN" sz="2200" dirty="0">
                            <a:latin typeface="Cambria Math" panose="02040503050406030204" charset="0"/>
                            <a:ea typeface="黑体" panose="02010609060101010101" pitchFamily="49" charset="-122"/>
                          </a:rPr>
                          <m:t>)</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63512" name="Object 24"/>
                <p:cNvSpPr txBox="1">
                  <a:spLocks noRot="1" noChangeAspect="1" noMove="1" noResize="1" noEditPoints="1" noAdjustHandles="1" noChangeArrowheads="1" noChangeShapeType="1" noTextEdit="1"/>
                </p:cNvSpPr>
                <p:nvPr/>
              </p:nvSpPr>
              <p:spPr bwMode="auto">
                <a:xfrm>
                  <a:off x="5678" y="2906"/>
                  <a:ext cx="3145" cy="617"/>
                </a:xfrm>
                <a:prstGeom prst="rect">
                  <a:avLst/>
                </a:prstGeom>
                <a:blipFill rotWithShape="1">
                  <a:blip r:embed="rId8"/>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Object 24"/>
                <p:cNvSpPr txBox="1"/>
                <p:nvPr/>
              </p:nvSpPr>
              <p:spPr bwMode="auto">
                <a:xfrm>
                  <a:off x="9480" y="2861"/>
                  <a:ext cx="670" cy="795"/>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 </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21" name="Object 24"/>
                <p:cNvSpPr txBox="1">
                  <a:spLocks noRot="1" noChangeAspect="1" noMove="1" noResize="1" noEditPoints="1" noAdjustHandles="1" noChangeArrowheads="1" noChangeShapeType="1" noTextEdit="1"/>
                </p:cNvSpPr>
                <p:nvPr/>
              </p:nvSpPr>
              <p:spPr bwMode="auto">
                <a:xfrm>
                  <a:off x="9480" y="2861"/>
                  <a:ext cx="670" cy="795"/>
                </a:xfrm>
                <a:prstGeom prst="rect">
                  <a:avLst/>
                </a:prstGeom>
                <a:blipFill rotWithShape="1">
                  <a:blip r:embed="rId2"/>
                </a:blipFill>
                <a:ln>
                  <a:noFill/>
                </a:ln>
                <a:effectLst/>
              </p:spPr>
              <p:txBody>
                <a:bodyPr/>
                <a:lstStyle/>
                <a:p>
                  <a:r>
                    <a:rPr lang="zh-CN" altLang="en-US">
                      <a:noFill/>
                    </a:rPr>
                    <a:t> </a:t>
                  </a:r>
                </a:p>
              </p:txBody>
            </p:sp>
          </mc:Fallback>
        </mc:AlternateContent>
      </p:grpSp>
      <p:grpSp>
        <p:nvGrpSpPr>
          <p:cNvPr id="24" name="组合 23"/>
          <p:cNvGrpSpPr/>
          <p:nvPr/>
        </p:nvGrpSpPr>
        <p:grpSpPr>
          <a:xfrm>
            <a:off x="1677219" y="1832610"/>
            <a:ext cx="2170989" cy="504825"/>
            <a:chOff x="2542" y="2846"/>
            <a:chExt cx="3903" cy="795"/>
          </a:xfrm>
        </p:grpSpPr>
        <p:sp>
          <p:nvSpPr>
            <p:cNvPr id="63511" name="Text Box 23"/>
            <p:cNvSpPr txBox="1">
              <a:spLocks noChangeArrowheads="1"/>
            </p:cNvSpPr>
            <p:nvPr/>
          </p:nvSpPr>
          <p:spPr bwMode="auto">
            <a:xfrm>
              <a:off x="3020" y="2939"/>
              <a:ext cx="3425" cy="6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50000"/>
                </a:spcBef>
              </a:pPr>
              <a:r>
                <a:rPr kumimoji="1" lang="zh-CN" altLang="en-US"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a:t>两曲线的交点</a:t>
              </a:r>
              <a:endParaRPr kumimoji="1" lang="zh-CN" altLang="en-US"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AlternateContent xmlns:mc="http://schemas.openxmlformats.org/markup-compatibility/2006">
          <mc:Choice xmlns:a14="http://schemas.microsoft.com/office/drawing/2010/main" Requires="a14">
            <p:sp>
              <p:nvSpPr>
                <p:cNvPr id="23" name="Object 24"/>
                <p:cNvSpPr txBox="1"/>
                <p:nvPr/>
              </p:nvSpPr>
              <p:spPr bwMode="auto">
                <a:xfrm>
                  <a:off x="2542" y="2846"/>
                  <a:ext cx="670" cy="795"/>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 </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23" name="Object 24"/>
                <p:cNvSpPr txBox="1">
                  <a:spLocks noRot="1" noChangeAspect="1" noMove="1" noResize="1" noEditPoints="1" noAdjustHandles="1" noChangeArrowheads="1" noChangeShapeType="1" noTextEdit="1"/>
                </p:cNvSpPr>
                <p:nvPr/>
              </p:nvSpPr>
              <p:spPr bwMode="auto">
                <a:xfrm>
                  <a:off x="2542" y="2846"/>
                  <a:ext cx="670" cy="795"/>
                </a:xfrm>
                <a:prstGeom prst="rect">
                  <a:avLst/>
                </a:prstGeom>
                <a:blipFill rotWithShape="1">
                  <a:blip r:embed="rId9"/>
                </a:blipFill>
                <a:ln>
                  <a:noFill/>
                </a:ln>
                <a:effectLst/>
              </p:spPr>
              <p:txBody>
                <a:bodyPr/>
                <a:lstStyle/>
                <a:p>
                  <a:r>
                    <a:rPr lang="zh-CN" altLang="en-US">
                      <a:noFill/>
                    </a:rPr>
                    <a:t> </a:t>
                  </a:r>
                </a:p>
              </p:txBody>
            </p:sp>
          </mc:Fallback>
        </mc:AlternateContent>
      </p:grpSp>
      <p:grpSp>
        <p:nvGrpSpPr>
          <p:cNvPr id="26" name="组合 25"/>
          <p:cNvGrpSpPr/>
          <p:nvPr/>
        </p:nvGrpSpPr>
        <p:grpSpPr>
          <a:xfrm>
            <a:off x="1943100" y="1052830"/>
            <a:ext cx="5778500" cy="504825"/>
            <a:chOff x="3020" y="1618"/>
            <a:chExt cx="9100" cy="795"/>
          </a:xfrm>
        </p:grpSpPr>
        <mc:AlternateContent xmlns:mc="http://schemas.openxmlformats.org/markup-compatibility/2006">
          <mc:Choice xmlns:a14="http://schemas.microsoft.com/office/drawing/2010/main" Requires="a14">
            <p:sp>
              <p:nvSpPr>
                <p:cNvPr id="63492" name="Object 4"/>
                <p:cNvSpPr txBox="1"/>
                <p:nvPr/>
              </p:nvSpPr>
              <p:spPr bwMode="auto">
                <a:xfrm>
                  <a:off x="3020" y="1618"/>
                  <a:ext cx="9100" cy="740"/>
                </a:xfrm>
                <a:prstGeom prst="rect">
                  <a:avLst/>
                </a:prstGeom>
                <a:noFill/>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m:rPr>
                            <m:nor/>
                          </m:rP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计算两条抛物线</m:t>
                        </m:r>
                        <m:sSup>
                          <m:sSupPr>
                            <m:ctrlPr>
                              <a:rPr kumimoji="1" lang="en-US" altLang="zh-CN" sz="2800" i="1" dirty="0">
                                <a:latin typeface="Cambria Math" panose="02040503050406030204" charset="0"/>
                                <a:ea typeface="黑体" panose="02010609060101010101" pitchFamily="49" charset="-122"/>
                              </a:rPr>
                            </m:ctrlPr>
                          </m:sSupPr>
                          <m:e>
                            <m:r>
                              <a:rPr kumimoji="1" lang="en-US" altLang="zh-CN" sz="2800" dirty="0">
                                <a:latin typeface="Cambria Math" panose="02040503050406030204" charset="0"/>
                                <a:ea typeface="黑体" panose="02010609060101010101" pitchFamily="49" charset="-122"/>
                              </a:rPr>
                              <m:t>𝑦</m:t>
                            </m:r>
                          </m:e>
                          <m:sup>
                            <m:r>
                              <a:rPr kumimoji="1" lang="en-US" altLang="zh-CN" sz="2800" dirty="0">
                                <a:latin typeface="Cambria Math" panose="02040503050406030204" charset="0"/>
                                <a:ea typeface="黑体" panose="02010609060101010101" pitchFamily="49" charset="-122"/>
                              </a:rPr>
                              <m:t>2</m:t>
                            </m:r>
                          </m:sup>
                        </m:sSup>
                        <m:r>
                          <a:rPr kumimoji="1" lang="en-US" altLang="zh-CN" sz="2800" dirty="0">
                            <a:latin typeface="Cambria Math" panose="02040503050406030204" charset="0"/>
                            <a:ea typeface="黑体" panose="02010609060101010101" pitchFamily="49" charset="-122"/>
                          </a:rPr>
                          <m:t>=</m:t>
                        </m:r>
                        <m:r>
                          <a:rPr kumimoji="1" lang="en-US" altLang="zh-CN" sz="2800" dirty="0">
                            <a:latin typeface="Cambria Math" panose="02040503050406030204" charset="0"/>
                            <a:ea typeface="黑体" panose="02010609060101010101" pitchFamily="49" charset="-122"/>
                          </a:rPr>
                          <m:t>𝑥</m:t>
                        </m:r>
                        <m:r>
                          <a:rPr kumimoji="1" lang="en-US" altLang="zh-CN" sz="2800" dirty="0">
                            <a:latin typeface="Cambria Math" panose="02040503050406030204" charset="0"/>
                            <a:ea typeface="黑体" panose="02010609060101010101" pitchFamily="49" charset="-122"/>
                          </a:rPr>
                          <m:t>,</m:t>
                        </m:r>
                        <m:r>
                          <a:rPr kumimoji="1" lang="en-US" altLang="zh-CN" sz="2800" dirty="0">
                            <a:latin typeface="Cambria Math" panose="02040503050406030204" charset="0"/>
                            <a:ea typeface="黑体" panose="02010609060101010101" pitchFamily="49" charset="-122"/>
                          </a:rPr>
                          <m:t>𝑦</m:t>
                        </m:r>
                        <m:r>
                          <a:rPr kumimoji="1" lang="en-US" altLang="zh-CN" sz="2800" dirty="0">
                            <a:latin typeface="Cambria Math" panose="02040503050406030204" charset="0"/>
                            <a:ea typeface="黑体" panose="02010609060101010101" pitchFamily="49" charset="-122"/>
                          </a:rPr>
                          <m:t>=</m:t>
                        </m:r>
                        <m:sSup>
                          <m:sSupPr>
                            <m:ctrlPr>
                              <a:rPr kumimoji="1" lang="en-US" altLang="zh-CN" sz="2800" i="1" dirty="0">
                                <a:latin typeface="Cambria Math" panose="02040503050406030204" charset="0"/>
                                <a:ea typeface="黑体" panose="02010609060101010101" pitchFamily="49" charset="-122"/>
                              </a:rPr>
                            </m:ctrlPr>
                          </m:sSupPr>
                          <m:e>
                            <m:r>
                              <a:rPr kumimoji="1" lang="en-US" altLang="zh-CN" sz="2800" dirty="0">
                                <a:latin typeface="Cambria Math" panose="02040503050406030204" charset="0"/>
                                <a:ea typeface="黑体" panose="02010609060101010101" pitchFamily="49" charset="-122"/>
                              </a:rPr>
                              <m:t>𝑥</m:t>
                            </m:r>
                          </m:e>
                          <m:sup>
                            <m:r>
                              <a:rPr kumimoji="1" lang="en-US" altLang="zh-CN" sz="2800" dirty="0">
                                <a:latin typeface="Cambria Math" panose="02040503050406030204" charset="0"/>
                                <a:ea typeface="黑体" panose="02010609060101010101" pitchFamily="49" charset="-122"/>
                              </a:rPr>
                              <m:t>2</m:t>
                            </m:r>
                          </m:sup>
                        </m:sSup>
                      </m:oMath>
                    </m:oMathPara>
                  </a14:m>
                  <a:endPar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63492" name="Object 4"/>
                <p:cNvSpPr txBox="1">
                  <a:spLocks noRot="1" noChangeAspect="1" noMove="1" noResize="1" noEditPoints="1" noAdjustHandles="1" noChangeArrowheads="1" noChangeShapeType="1" noTextEdit="1"/>
                </p:cNvSpPr>
                <p:nvPr/>
              </p:nvSpPr>
              <p:spPr bwMode="auto">
                <a:xfrm>
                  <a:off x="3020" y="1618"/>
                  <a:ext cx="9100" cy="740"/>
                </a:xfrm>
                <a:prstGeom prst="rect">
                  <a:avLst/>
                </a:prstGeom>
                <a:blipFill rotWithShape="1">
                  <a:blip r:embed="rId10"/>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 name="Object 24"/>
                <p:cNvSpPr txBox="1"/>
                <p:nvPr/>
              </p:nvSpPr>
              <p:spPr bwMode="auto">
                <a:xfrm>
                  <a:off x="9480" y="1618"/>
                  <a:ext cx="670" cy="795"/>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 </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25" name="Object 24"/>
                <p:cNvSpPr txBox="1">
                  <a:spLocks noRot="1" noChangeAspect="1" noMove="1" noResize="1" noEditPoints="1" noAdjustHandles="1" noChangeArrowheads="1" noChangeShapeType="1" noTextEdit="1"/>
                </p:cNvSpPr>
                <p:nvPr/>
              </p:nvSpPr>
              <p:spPr bwMode="auto">
                <a:xfrm>
                  <a:off x="9480" y="1618"/>
                  <a:ext cx="670" cy="795"/>
                </a:xfrm>
                <a:prstGeom prst="rect">
                  <a:avLst/>
                </a:prstGeom>
                <a:blipFill rotWithShape="1">
                  <a:blip r:embed="rId2"/>
                </a:blipFill>
                <a:ln>
                  <a:noFill/>
                </a:ln>
                <a:effectLst/>
              </p:spPr>
              <p:txBody>
                <a:bodyPr/>
                <a:lstStyle/>
                <a:p>
                  <a:r>
                    <a:rPr lang="zh-CN" altLang="en-US">
                      <a:noFill/>
                    </a:rPr>
                    <a:t> </a:t>
                  </a:r>
                </a:p>
              </p:txBody>
            </p:sp>
          </mc:Fallback>
        </mc:AlternateContent>
      </p:grpSp>
      <p:grpSp>
        <p:nvGrpSpPr>
          <p:cNvPr id="28" name="组合 27"/>
          <p:cNvGrpSpPr/>
          <p:nvPr/>
        </p:nvGrpSpPr>
        <p:grpSpPr>
          <a:xfrm>
            <a:off x="6045200" y="1059180"/>
            <a:ext cx="5353050" cy="504825"/>
            <a:chOff x="9480" y="1628"/>
            <a:chExt cx="8430" cy="795"/>
          </a:xfrm>
        </p:grpSpPr>
        <mc:AlternateContent xmlns:mc="http://schemas.openxmlformats.org/markup-compatibility/2006">
          <mc:Choice xmlns:a14="http://schemas.microsoft.com/office/drawing/2010/main" Requires="a14">
            <p:sp>
              <p:nvSpPr>
                <p:cNvPr id="6" name="对象 5"/>
                <p:cNvSpPr txBox="1"/>
                <p:nvPr/>
              </p:nvSpPr>
              <p:spPr>
                <a:xfrm>
                  <a:off x="10450" y="1628"/>
                  <a:ext cx="7460" cy="73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m:rPr>
                            <m:nor/>
                          </m:rP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在第一象限所围图形的面积</m:t>
                        </m:r>
                        <m: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oMath>
                    </m:oMathPara>
                  </a14:m>
                  <a:endPar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6" name="对象 5"/>
                <p:cNvSpPr txBox="1">
                  <a:spLocks noRot="1" noChangeAspect="1" noMove="1" noResize="1" noEditPoints="1" noAdjustHandles="1" noChangeArrowheads="1" noChangeShapeType="1" noTextEdit="1"/>
                </p:cNvSpPr>
                <p:nvPr/>
              </p:nvSpPr>
              <p:spPr>
                <a:xfrm>
                  <a:off x="10450" y="1628"/>
                  <a:ext cx="7460" cy="730"/>
                </a:xfrm>
                <a:prstGeom prst="rect">
                  <a:avLst/>
                </a:prstGeom>
                <a:blipFill rotWithShape="1">
                  <a:blip r:embed="rId11"/>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 name="Object 24"/>
                <p:cNvSpPr txBox="1"/>
                <p:nvPr/>
              </p:nvSpPr>
              <p:spPr bwMode="auto">
                <a:xfrm>
                  <a:off x="9480" y="1628"/>
                  <a:ext cx="670" cy="795"/>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 </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27" name="Object 24"/>
                <p:cNvSpPr txBox="1">
                  <a:spLocks noRot="1" noChangeAspect="1" noMove="1" noResize="1" noEditPoints="1" noAdjustHandles="1" noChangeArrowheads="1" noChangeShapeType="1" noTextEdit="1"/>
                </p:cNvSpPr>
                <p:nvPr/>
              </p:nvSpPr>
              <p:spPr bwMode="auto">
                <a:xfrm>
                  <a:off x="9480" y="1628"/>
                  <a:ext cx="670" cy="795"/>
                </a:xfrm>
                <a:prstGeom prst="rect">
                  <a:avLst/>
                </a:prstGeom>
                <a:blipFill rotWithShape="1">
                  <a:blip r:embed="rId2"/>
                </a:blipFill>
                <a:ln>
                  <a:noFill/>
                </a:ln>
                <a:effectLst/>
              </p:spPr>
              <p:txBody>
                <a:bodyPr/>
                <a:lstStyle/>
                <a:p>
                  <a:r>
                    <a:rPr lang="zh-CN" altLang="en-US">
                      <a:noFill/>
                    </a:rPr>
                    <a:t> </a:t>
                  </a:r>
                </a:p>
              </p:txBody>
            </p:sp>
          </mc:Fallback>
        </mc:AlternateContent>
      </p:grpSp>
      <p:grpSp>
        <p:nvGrpSpPr>
          <p:cNvPr id="30" name="组合 29"/>
          <p:cNvGrpSpPr/>
          <p:nvPr/>
        </p:nvGrpSpPr>
        <p:grpSpPr>
          <a:xfrm>
            <a:off x="1036955" y="1819275"/>
            <a:ext cx="1600200" cy="521970"/>
            <a:chOff x="1593" y="2825"/>
            <a:chExt cx="2520" cy="822"/>
          </a:xfrm>
        </p:grpSpPr>
        <p:sp>
          <p:nvSpPr>
            <p:cNvPr id="63507" name="Text Box 19"/>
            <p:cNvSpPr txBox="1">
              <a:spLocks noChangeArrowheads="1"/>
            </p:cNvSpPr>
            <p:nvPr/>
          </p:nvSpPr>
          <p:spPr bwMode="auto">
            <a:xfrm>
              <a:off x="1593" y="2825"/>
              <a:ext cx="2520" cy="8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b="1" i="0" u="none" strike="noStrike" kern="1200" cap="none" spc="0" normalizeH="0" baseline="0" dirty="0">
                  <a:solidFill>
                    <a:srgbClr val="04926A"/>
                  </a:solidFill>
                  <a:latin typeface="微软雅黑" panose="020B0503020204020204" charset="-122"/>
                  <a:ea typeface="微软雅黑" panose="020B0503020204020204" charset="-122"/>
                  <a:cs typeface="+mn-cs"/>
                </a:rPr>
                <a:t>解</a:t>
              </a:r>
              <a:endParaRPr kumimoji="1" lang="zh-CN" altLang="en-US" sz="2800" b="1" i="0" u="none" strike="noStrike" kern="1200" cap="none" spc="0" normalizeH="0" baseline="0" dirty="0">
                <a:solidFill>
                  <a:srgbClr val="04926A"/>
                </a:solidFill>
                <a:latin typeface="微软雅黑" panose="020B0503020204020204" charset="-122"/>
                <a:ea typeface="微软雅黑" panose="020B0503020204020204" charset="-122"/>
                <a:cs typeface="+mn-cs"/>
              </a:endParaRPr>
            </a:p>
          </p:txBody>
        </p:sp>
        <mc:AlternateContent xmlns:mc="http://schemas.openxmlformats.org/markup-compatibility/2006">
          <mc:Choice xmlns:a14="http://schemas.microsoft.com/office/drawing/2010/main" Requires="a14">
            <p:sp>
              <p:nvSpPr>
                <p:cNvPr id="29" name="Object 24"/>
                <p:cNvSpPr txBox="1"/>
                <p:nvPr/>
              </p:nvSpPr>
              <p:spPr bwMode="auto">
                <a:xfrm>
                  <a:off x="2518" y="2839"/>
                  <a:ext cx="670" cy="795"/>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 </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29" name="Object 24"/>
                <p:cNvSpPr txBox="1">
                  <a:spLocks noRot="1" noChangeAspect="1" noMove="1" noResize="1" noEditPoints="1" noAdjustHandles="1" noChangeArrowheads="1" noChangeShapeType="1" noTextEdit="1"/>
                </p:cNvSpPr>
                <p:nvPr/>
              </p:nvSpPr>
              <p:spPr bwMode="auto">
                <a:xfrm>
                  <a:off x="2518" y="2839"/>
                  <a:ext cx="670" cy="795"/>
                </a:xfrm>
                <a:prstGeom prst="rect">
                  <a:avLst/>
                </a:prstGeom>
                <a:blipFill rotWithShape="1">
                  <a:blip r:embed="rId2"/>
                </a:blipFill>
                <a:ln>
                  <a:noFill/>
                </a:ln>
                <a:effectLst/>
              </p:spPr>
              <p:txBody>
                <a:bodyPr/>
                <a:lstStyle/>
                <a:p>
                  <a:r>
                    <a:rPr lang="zh-CN" altLang="en-US">
                      <a:noFill/>
                    </a:rPr>
                    <a:t> </a:t>
                  </a:r>
                </a:p>
              </p:txBody>
            </p:sp>
          </mc:Fallback>
        </mc:AlternateContent>
      </p:grpSp>
      <p:grpSp>
        <p:nvGrpSpPr>
          <p:cNvPr id="32" name="组合 31"/>
          <p:cNvGrpSpPr/>
          <p:nvPr/>
        </p:nvGrpSpPr>
        <p:grpSpPr>
          <a:xfrm>
            <a:off x="1036955" y="1007110"/>
            <a:ext cx="1062990" cy="685800"/>
            <a:chOff x="1593" y="1546"/>
            <a:chExt cx="1674" cy="1080"/>
          </a:xfrm>
        </p:grpSpPr>
        <p:sp>
          <p:nvSpPr>
            <p:cNvPr id="63491" name="Rectangle 3"/>
            <p:cNvSpPr>
              <a:spLocks noGrp="1" noChangeArrowheads="1"/>
            </p:cNvSpPr>
            <p:nvPr/>
          </p:nvSpPr>
          <p:spPr>
            <a:xfrm>
              <a:off x="1593" y="1546"/>
              <a:ext cx="1675" cy="10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gn="l"/>
              <a:r>
                <a:rPr kumimoji="1" lang="zh-CN" altLang="en-US" b="1" dirty="0">
                  <a:solidFill>
                    <a:srgbClr val="04926A"/>
                  </a:solidFill>
                  <a:latin typeface="微软雅黑" panose="020B0503020204020204" charset="-122"/>
                  <a:ea typeface="微软雅黑" panose="020B0503020204020204" charset="-122"/>
                  <a:cs typeface="+mn-cs"/>
                </a:rPr>
                <a:t>例1</a:t>
              </a:r>
              <a:endParaRPr kumimoji="1" lang="zh-CN" altLang="en-US" dirty="0">
                <a:solidFill>
                  <a:srgbClr val="04926A"/>
                </a:solidFill>
                <a:latin typeface="微软雅黑" panose="020B0503020204020204" charset="-122"/>
                <a:ea typeface="微软雅黑" panose="020B0503020204020204" charset="-122"/>
                <a:cs typeface="+mn-cs"/>
              </a:endParaRPr>
            </a:p>
          </p:txBody>
        </p:sp>
        <mc:AlternateContent xmlns:mc="http://schemas.openxmlformats.org/markup-compatibility/2006">
          <mc:Choice xmlns:a14="http://schemas.microsoft.com/office/drawing/2010/main" Requires="a14">
            <p:sp>
              <p:nvSpPr>
                <p:cNvPr id="31" name="Object 24"/>
                <p:cNvSpPr txBox="1"/>
                <p:nvPr/>
              </p:nvSpPr>
              <p:spPr bwMode="auto">
                <a:xfrm>
                  <a:off x="2096" y="1689"/>
                  <a:ext cx="670" cy="795"/>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 </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31" name="Object 24"/>
                <p:cNvSpPr txBox="1">
                  <a:spLocks noRot="1" noChangeAspect="1" noMove="1" noResize="1" noEditPoints="1" noAdjustHandles="1" noChangeArrowheads="1" noChangeShapeType="1" noTextEdit="1"/>
                </p:cNvSpPr>
                <p:nvPr/>
              </p:nvSpPr>
              <p:spPr bwMode="auto">
                <a:xfrm>
                  <a:off x="2096" y="1689"/>
                  <a:ext cx="670" cy="795"/>
                </a:xfrm>
                <a:prstGeom prst="rect">
                  <a:avLst/>
                </a:prstGeom>
                <a:blipFill rotWithShape="1">
                  <a:blip r:embed="rId2"/>
                </a:blipFill>
                <a:ln>
                  <a:noFill/>
                </a:ln>
                <a:effectLst/>
              </p:spPr>
              <p:txBody>
                <a:bodyPr/>
                <a:lstStyle/>
                <a:p>
                  <a:r>
                    <a:rPr lang="zh-CN" altLang="en-US">
                      <a:noFill/>
                    </a:rPr>
                    <a:t> </a:t>
                  </a:r>
                </a:p>
              </p:txBody>
            </p:sp>
          </mc:Fallback>
        </mc:AlternateContent>
      </p:grpSp>
      <p:pic>
        <p:nvPicPr>
          <p:cNvPr id="10" name="图片 9" descr="图示&#10;&#10;描述已自动生成"/>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091970" y="2532264"/>
            <a:ext cx="2975429" cy="26274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left)">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left)">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wipe(left)">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wipe(left)">
                                      <p:cBhvr>
                                        <p:cTn id="32" dur="5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ipe(left)">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left)">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left)">
                                      <p:cBhvr>
                                        <p:cTn id="47" dur="5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wipe(left)">
                                      <p:cBhvr>
                                        <p:cTn id="52" dur="500"/>
                                        <p:tgtEl>
                                          <p:spTgt spid="1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left)">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wipe(left)">
                                      <p:cBhvr>
                                        <p:cTn id="62" dur="500"/>
                                        <p:tgtEl>
                                          <p:spTgt spid="1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9"/>
                                        </p:tgtEl>
                                        <p:attrNameLst>
                                          <p:attrName>style.visibility</p:attrName>
                                        </p:attrNameLst>
                                      </p:cBhvr>
                                      <p:to>
                                        <p:strVal val="visible"/>
                                      </p:to>
                                    </p:set>
                                    <p:animEffect transition="in" filter="wipe(left)">
                                      <p:cBhvr>
                                        <p:cTn id="6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半闭框 47"/>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9" name="半闭框 48"/>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0" name="半闭框 39"/>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1" name="半闭框 40"/>
          <p:cNvSpPr/>
          <p:nvPr/>
        </p:nvSpPr>
        <p:spPr>
          <a:xfrm flipH="1" flipV="1">
            <a:off x="10823530" y="5645528"/>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28" name="组合 27"/>
          <p:cNvGrpSpPr/>
          <p:nvPr/>
        </p:nvGrpSpPr>
        <p:grpSpPr>
          <a:xfrm>
            <a:off x="2278380" y="3514090"/>
            <a:ext cx="1752600" cy="1003300"/>
            <a:chOff x="3528" y="4664"/>
            <a:chExt cx="2760" cy="1580"/>
          </a:xfrm>
        </p:grpSpPr>
        <mc:AlternateContent xmlns:mc="http://schemas.openxmlformats.org/markup-compatibility/2006">
          <mc:Choice xmlns:a14="http://schemas.microsoft.com/office/drawing/2010/main" Requires="a14">
            <p:sp>
              <p:nvSpPr>
                <p:cNvPr id="13336" name="Object 24"/>
                <p:cNvSpPr txBox="1"/>
                <p:nvPr/>
              </p:nvSpPr>
              <p:spPr bwMode="auto">
                <a:xfrm>
                  <a:off x="3528" y="4664"/>
                  <a:ext cx="1120" cy="1400"/>
                </a:xfrm>
                <a:prstGeom prst="rect">
                  <a:avLst/>
                </a:prstGeom>
                <a:noFill/>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m:t>
                        </m:r>
                        <m:f>
                          <m:fPr>
                            <m:ctrlPr>
                              <a:rPr kumimoji="1" lang="en-US" altLang="zh-CN" sz="2200" i="1" dirty="0">
                                <a:latin typeface="Cambria Math" panose="02040503050406030204" charset="0"/>
                                <a:ea typeface="黑体" panose="02010609060101010101" pitchFamily="49" charset="-122"/>
                              </a:rPr>
                            </m:ctrlPr>
                          </m:fPr>
                          <m:num>
                            <m:sSup>
                              <m:sSupPr>
                                <m:ctrlPr>
                                  <a:rPr kumimoji="1" lang="en-US" altLang="zh-CN" sz="2200" i="1" dirty="0">
                                    <a:latin typeface="Cambria Math" panose="02040503050406030204" charset="0"/>
                                    <a:ea typeface="黑体" panose="02010609060101010101" pitchFamily="49" charset="-122"/>
                                  </a:rPr>
                                </m:ctrlPr>
                              </m:sSupPr>
                              <m:e>
                                <m:r>
                                  <a:rPr kumimoji="1" lang="en-US" altLang="zh-CN" sz="2200" dirty="0">
                                    <a:latin typeface="Cambria Math" panose="02040503050406030204" charset="0"/>
                                    <a:ea typeface="黑体" panose="02010609060101010101" pitchFamily="49" charset="-122"/>
                                  </a:rPr>
                                  <m:t>𝑎</m:t>
                                </m:r>
                              </m:e>
                              <m:sup>
                                <m:r>
                                  <a:rPr kumimoji="1" lang="en-US" altLang="zh-CN" sz="2200" dirty="0">
                                    <a:latin typeface="Cambria Math" panose="02040503050406030204" charset="0"/>
                                    <a:ea typeface="黑体" panose="02010609060101010101" pitchFamily="49" charset="-122"/>
                                  </a:rPr>
                                  <m:t>2</m:t>
                                </m:r>
                              </m:sup>
                            </m:sSup>
                          </m:num>
                          <m:den>
                            <m:r>
                              <a:rPr kumimoji="1" lang="en-US" altLang="zh-CN" sz="2200" dirty="0">
                                <a:latin typeface="Cambria Math" panose="02040503050406030204" charset="0"/>
                                <a:ea typeface="黑体" panose="02010609060101010101" pitchFamily="49" charset="-122"/>
                              </a:rPr>
                              <m:t>2</m:t>
                            </m:r>
                          </m:den>
                        </m:f>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13336" name="Object 24"/>
                <p:cNvSpPr txBox="1">
                  <a:spLocks noRot="1" noChangeAspect="1" noMove="1" noResize="1" noEditPoints="1" noAdjustHandles="1" noChangeArrowheads="1" noChangeShapeType="1" noTextEdit="1"/>
                </p:cNvSpPr>
                <p:nvPr/>
              </p:nvSpPr>
              <p:spPr bwMode="auto">
                <a:xfrm>
                  <a:off x="3528" y="4664"/>
                  <a:ext cx="1120" cy="1400"/>
                </a:xfrm>
                <a:prstGeom prst="rect">
                  <a:avLst/>
                </a:prstGeom>
                <a:blipFill rotWithShape="1">
                  <a:blip r:embed="rId1"/>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337" name="Object 25"/>
                <p:cNvSpPr txBox="1"/>
                <p:nvPr/>
              </p:nvSpPr>
              <p:spPr bwMode="auto">
                <a:xfrm>
                  <a:off x="4728" y="4744"/>
                  <a:ext cx="1560" cy="1500"/>
                </a:xfrm>
                <a:prstGeom prst="rect">
                  <a:avLst/>
                </a:prstGeom>
                <a:noFill/>
              </p:spPr>
              <p:txBody>
                <a:bodyPr>
                  <a:normAutofit fontScale="925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sSubSup>
                          <m:sSubSupPr>
                            <m:ctrlPr>
                              <a:rPr kumimoji="1" lang="en-US" altLang="zh-CN" sz="2200" i="1" dirty="0" smtClean="0">
                                <a:latin typeface="Cambria Math" panose="02040503050406030204" charset="0"/>
                                <a:ea typeface="黑体" panose="02010609060101010101" pitchFamily="49" charset="-122"/>
                              </a:rPr>
                            </m:ctrlPr>
                          </m:sSubSupPr>
                          <m:e>
                            <m:d>
                              <m:dPr>
                                <m:begChr m:val="["/>
                                <m:endChr m:val="]"/>
                                <m:ctrlPr>
                                  <a:rPr kumimoji="1" lang="en-US" altLang="zh-CN" sz="2200" i="1" dirty="0" smtClean="0">
                                    <a:latin typeface="Cambria Math" panose="02040503050406030204" charset="0"/>
                                    <a:ea typeface="黑体" panose="02010609060101010101" pitchFamily="49" charset="-122"/>
                                  </a:rPr>
                                </m:ctrlPr>
                              </m:dPr>
                              <m:e>
                                <m:f>
                                  <m:fPr>
                                    <m:ctrlPr>
                                      <a:rPr kumimoji="1" lang="en-US" altLang="zh-CN" sz="2200" i="1" dirty="0">
                                        <a:latin typeface="Cambria Math" panose="02040503050406030204" charset="0"/>
                                        <a:ea typeface="黑体" panose="02010609060101010101" pitchFamily="49" charset="-122"/>
                                      </a:rPr>
                                    </m:ctrlPr>
                                  </m:fPr>
                                  <m:num>
                                    <m:r>
                                      <a:rPr kumimoji="1" lang="en-US" altLang="zh-CN" sz="2200" dirty="0">
                                        <a:latin typeface="Cambria Math" panose="02040503050406030204" charset="0"/>
                                        <a:ea typeface="黑体" panose="02010609060101010101" pitchFamily="49" charset="-122"/>
                                      </a:rPr>
                                      <m:t>1</m:t>
                                    </m:r>
                                  </m:num>
                                  <m:den>
                                    <m:r>
                                      <a:rPr kumimoji="1" lang="en-US" altLang="zh-CN" sz="2200" dirty="0">
                                        <a:latin typeface="Cambria Math" panose="02040503050406030204" charset="0"/>
                                        <a:ea typeface="黑体" panose="02010609060101010101" pitchFamily="49" charset="-122"/>
                                      </a:rPr>
                                      <m:t>3</m:t>
                                    </m:r>
                                  </m:den>
                                </m:f>
                                <m:sSup>
                                  <m:sSupPr>
                                    <m:ctrlPr>
                                      <a:rPr kumimoji="1" lang="en-US" altLang="zh-CN" sz="2200" i="1" dirty="0">
                                        <a:latin typeface="Cambria Math" panose="02040503050406030204" charset="0"/>
                                        <a:ea typeface="黑体" panose="02010609060101010101" pitchFamily="49" charset="-122"/>
                                      </a:rPr>
                                    </m:ctrlPr>
                                  </m:sSupPr>
                                  <m:e>
                                    <m:r>
                                      <a:rPr kumimoji="1" lang="en-US" altLang="zh-CN" sz="2200" dirty="0">
                                        <a:latin typeface="Cambria Math" panose="02040503050406030204" charset="0"/>
                                        <a:ea typeface="黑体" panose="02010609060101010101" pitchFamily="49" charset="-122"/>
                                      </a:rPr>
                                      <m:t>𝜃</m:t>
                                    </m:r>
                                  </m:e>
                                  <m:sup>
                                    <m:r>
                                      <a:rPr kumimoji="1" lang="en-US" altLang="zh-CN" sz="2200" dirty="0">
                                        <a:latin typeface="Cambria Math" panose="02040503050406030204" charset="0"/>
                                        <a:ea typeface="黑体" panose="02010609060101010101" pitchFamily="49" charset="-122"/>
                                      </a:rPr>
                                      <m:t>3</m:t>
                                    </m:r>
                                  </m:sup>
                                </m:sSup>
                              </m:e>
                            </m:d>
                          </m:e>
                          <m:sub>
                            <m:r>
                              <a:rPr kumimoji="1" lang="en-US" altLang="zh-CN" sz="2200" b="0" i="1" dirty="0" smtClean="0">
                                <a:latin typeface="Cambria Math" panose="02040503050406030204" charset="0"/>
                                <a:ea typeface="黑体" panose="02010609060101010101" pitchFamily="49" charset="-122"/>
                              </a:rPr>
                              <m:t>0</m:t>
                            </m:r>
                          </m:sub>
                          <m:sup>
                            <m:r>
                              <a:rPr kumimoji="1" lang="en-US" altLang="zh-CN" sz="2200" dirty="0">
                                <a:latin typeface="Cambria Math" panose="02040503050406030204" charset="0"/>
                                <a:ea typeface="黑体" panose="02010609060101010101" pitchFamily="49" charset="-122"/>
                              </a:rPr>
                              <m:t>2</m:t>
                            </m:r>
                            <m:r>
                              <m:rPr>
                                <m:sty m:val="p"/>
                              </m:rPr>
                              <a:rPr kumimoji="1" lang="en-US" altLang="zh-CN" sz="2200" dirty="0">
                                <a:latin typeface="Cambria Math" panose="02040503050406030204" charset="0"/>
                                <a:ea typeface="黑体" panose="02010609060101010101" pitchFamily="49" charset="-122"/>
                              </a:rPr>
                              <m:t>π</m:t>
                            </m:r>
                          </m:sup>
                        </m:sSubSup>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13337" name="Object 25"/>
                <p:cNvSpPr txBox="1">
                  <a:spLocks noRot="1" noChangeAspect="1" noMove="1" noResize="1" noEditPoints="1" noAdjustHandles="1" noChangeArrowheads="1" noChangeShapeType="1" noTextEdit="1"/>
                </p:cNvSpPr>
                <p:nvPr/>
              </p:nvSpPr>
              <p:spPr bwMode="auto">
                <a:xfrm>
                  <a:off x="4728" y="4744"/>
                  <a:ext cx="1560" cy="1500"/>
                </a:xfrm>
                <a:prstGeom prst="rect">
                  <a:avLst/>
                </a:prstGeom>
                <a:blipFill rotWithShape="1">
                  <a:blip r:embed="rId2"/>
                </a:blipFill>
              </p:spPr>
              <p:txBody>
                <a:bodyPr/>
                <a:lstStyle/>
                <a:p>
                  <a:r>
                    <a:rPr lang="zh-CN" altLang="en-US">
                      <a:noFill/>
                    </a:rPr>
                    <a:t> </a:t>
                  </a:r>
                </a:p>
              </p:txBody>
            </p:sp>
          </mc:Fallback>
        </mc:AlternateContent>
      </p:grpSp>
      <p:grpSp>
        <p:nvGrpSpPr>
          <p:cNvPr id="8" name="组合 7"/>
          <p:cNvGrpSpPr/>
          <p:nvPr/>
        </p:nvGrpSpPr>
        <p:grpSpPr>
          <a:xfrm>
            <a:off x="1898650" y="834390"/>
            <a:ext cx="5619750" cy="444500"/>
            <a:chOff x="2930" y="924"/>
            <a:chExt cx="8850" cy="700"/>
          </a:xfrm>
        </p:grpSpPr>
        <mc:AlternateContent xmlns:mc="http://schemas.openxmlformats.org/markup-compatibility/2006">
          <mc:Choice xmlns:a14="http://schemas.microsoft.com/office/drawing/2010/main" Requires="a14">
            <p:sp>
              <p:nvSpPr>
                <p:cNvPr id="13321" name="Object 9"/>
                <p:cNvSpPr txBox="1"/>
                <p:nvPr/>
              </p:nvSpPr>
              <p:spPr bwMode="auto">
                <a:xfrm>
                  <a:off x="2930" y="924"/>
                  <a:ext cx="8851" cy="700"/>
                </a:xfrm>
                <a:prstGeom prst="rect">
                  <a:avLst/>
                </a:prstGeom>
                <a:noFill/>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m:rPr>
                            <m:nor/>
                          </m:rP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计算阿基米德螺线</m:t>
                        </m:r>
                        <m:r>
                          <a:rPr kumimoji="1" lang="en-US" altLang="zh-CN" sz="2800" dirty="0">
                            <a:latin typeface="Cambria Math" panose="02040503050406030204" charset="0"/>
                            <a:ea typeface="黑体" panose="02010609060101010101" pitchFamily="49" charset="-122"/>
                          </a:rPr>
                          <m:t>𝜌</m:t>
                        </m:r>
                        <m:r>
                          <a:rPr kumimoji="1" lang="en-US" altLang="zh-CN" sz="2800" dirty="0">
                            <a:latin typeface="Cambria Math" panose="02040503050406030204" charset="0"/>
                            <a:ea typeface="黑体" panose="02010609060101010101" pitchFamily="49" charset="-122"/>
                          </a:rPr>
                          <m:t>=</m:t>
                        </m:r>
                        <m:r>
                          <a:rPr kumimoji="1" lang="en-US" altLang="zh-CN" sz="2800" dirty="0">
                            <a:latin typeface="Cambria Math" panose="02040503050406030204" charset="0"/>
                            <a:ea typeface="黑体" panose="02010609060101010101" pitchFamily="49" charset="-122"/>
                          </a:rPr>
                          <m:t>𝑎</m:t>
                        </m:r>
                        <m:r>
                          <a:rPr kumimoji="1" lang="en-US" altLang="zh-CN" sz="2800" dirty="0">
                            <a:latin typeface="Cambria Math" panose="02040503050406030204" charset="0"/>
                            <a:ea typeface="黑体" panose="02010609060101010101" pitchFamily="49" charset="-122"/>
                          </a:rPr>
                          <m:t>​</m:t>
                        </m:r>
                        <m:r>
                          <a:rPr kumimoji="1" lang="en-US" altLang="zh-CN" sz="2800" dirty="0">
                            <a:latin typeface="Cambria Math" panose="02040503050406030204" charset="0"/>
                            <a:ea typeface="黑体" panose="02010609060101010101" pitchFamily="49" charset="-122"/>
                          </a:rPr>
                          <m:t>𝜃</m:t>
                        </m:r>
                        <m:r>
                          <a:rPr kumimoji="1" lang="en-US" altLang="zh-CN" sz="2800" dirty="0">
                            <a:latin typeface="Cambria Math" panose="02040503050406030204" charset="0"/>
                            <a:ea typeface="黑体" panose="02010609060101010101" pitchFamily="49" charset="-122"/>
                          </a:rPr>
                          <m:t> (</m:t>
                        </m:r>
                        <m:r>
                          <a:rPr kumimoji="1" lang="en-US" altLang="zh-CN" sz="2800" dirty="0">
                            <a:latin typeface="Cambria Math" panose="02040503050406030204" charset="0"/>
                            <a:ea typeface="黑体" panose="02010609060101010101" pitchFamily="49" charset="-122"/>
                          </a:rPr>
                          <m:t>𝑎</m:t>
                        </m:r>
                        <m:r>
                          <a:rPr kumimoji="1" lang="en-US" altLang="zh-CN" sz="2800" dirty="0">
                            <a:latin typeface="Cambria Math" panose="02040503050406030204" charset="0"/>
                            <a:ea typeface="黑体" panose="02010609060101010101" pitchFamily="49" charset="-122"/>
                          </a:rPr>
                          <m:t>&gt;</m:t>
                        </m:r>
                        <m:r>
                          <a:rPr kumimoji="1" lang="en-US" altLang="zh-CN" sz="2800" dirty="0">
                            <a:latin typeface="Cambria Math" panose="02040503050406030204" charset="0"/>
                            <a:ea typeface="黑体" panose="02010609060101010101" pitchFamily="49" charset="-122"/>
                          </a:rPr>
                          <m:t>0</m:t>
                        </m:r>
                        <m:r>
                          <a:rPr kumimoji="1" lang="en-US" altLang="zh-CN" sz="2800" dirty="0">
                            <a:latin typeface="Cambria Math" panose="02040503050406030204" charset="0"/>
                            <a:ea typeface="黑体" panose="02010609060101010101" pitchFamily="49" charset="-122"/>
                          </a:rPr>
                          <m:t>)</m:t>
                        </m:r>
                      </m:oMath>
                    </m:oMathPara>
                  </a14:m>
                  <a:endParaRPr kumimoji="1" lang="en-US" altLang="zh-CN" sz="2800" dirty="0">
                    <a:latin typeface="Cambria Math" panose="02040503050406030204" charset="0"/>
                    <a:ea typeface="黑体" panose="02010609060101010101" pitchFamily="49" charset="-122"/>
                  </a:endParaRPr>
                </a:p>
              </p:txBody>
            </p:sp>
          </mc:Choice>
          <mc:Fallback>
            <p:sp>
              <p:nvSpPr>
                <p:cNvPr id="13321" name="Object 9"/>
                <p:cNvSpPr txBox="1">
                  <a:spLocks noRot="1" noChangeAspect="1" noMove="1" noResize="1" noEditPoints="1" noAdjustHandles="1" noChangeArrowheads="1" noChangeShapeType="1" noTextEdit="1"/>
                </p:cNvSpPr>
                <p:nvPr/>
              </p:nvSpPr>
              <p:spPr bwMode="auto">
                <a:xfrm>
                  <a:off x="2930" y="924"/>
                  <a:ext cx="8851" cy="700"/>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对象 1"/>
                <p:cNvSpPr txBox="1"/>
                <p:nvPr/>
              </p:nvSpPr>
              <p:spPr>
                <a:xfrm>
                  <a:off x="7277" y="934"/>
                  <a:ext cx="157" cy="68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 </m:t>
                        </m:r>
                      </m:oMath>
                    </m:oMathPara>
                  </a14:m>
                  <a:endPar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7" name="对象 1"/>
                <p:cNvSpPr txBox="1">
                  <a:spLocks noRot="1" noChangeAspect="1" noMove="1" noResize="1" noEditPoints="1" noAdjustHandles="1" noChangeArrowheads="1" noChangeShapeType="1" noTextEdit="1"/>
                </p:cNvSpPr>
                <p:nvPr/>
              </p:nvSpPr>
              <p:spPr>
                <a:xfrm>
                  <a:off x="7277" y="934"/>
                  <a:ext cx="157" cy="680"/>
                </a:xfrm>
                <a:prstGeom prst="rect">
                  <a:avLst/>
                </a:prstGeom>
                <a:blipFill rotWithShape="1">
                  <a:blip r:embed="rId4"/>
                </a:blipFill>
              </p:spPr>
              <p:txBody>
                <a:bodyPr/>
                <a:lstStyle/>
                <a:p>
                  <a:r>
                    <a:rPr lang="zh-CN" altLang="en-US">
                      <a:noFill/>
                    </a:rPr>
                    <a:t> </a:t>
                  </a:r>
                </a:p>
              </p:txBody>
            </p:sp>
          </mc:Fallback>
        </mc:AlternateContent>
      </p:grpSp>
      <p:grpSp>
        <p:nvGrpSpPr>
          <p:cNvPr id="10" name="组合 9"/>
          <p:cNvGrpSpPr/>
          <p:nvPr/>
        </p:nvGrpSpPr>
        <p:grpSpPr>
          <a:xfrm>
            <a:off x="7137400" y="828040"/>
            <a:ext cx="3797300" cy="431800"/>
            <a:chOff x="11180" y="899"/>
            <a:chExt cx="5980" cy="680"/>
          </a:xfrm>
        </p:grpSpPr>
        <mc:AlternateContent xmlns:mc="http://schemas.openxmlformats.org/markup-compatibility/2006">
          <mc:Choice xmlns:a14="http://schemas.microsoft.com/office/drawing/2010/main" Requires="a14">
            <p:sp>
              <p:nvSpPr>
                <p:cNvPr id="4" name="对象 1"/>
                <p:cNvSpPr txBox="1"/>
                <p:nvPr/>
              </p:nvSpPr>
              <p:spPr>
                <a:xfrm>
                  <a:off x="11180" y="899"/>
                  <a:ext cx="5980" cy="68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上相应于</m:t>
                        </m:r>
                        <m:r>
                          <a:rPr kumimoji="1" lang="en-US" altLang="zh-CN" sz="2800" dirty="0">
                            <a:latin typeface="Cambria Math" panose="02040503050406030204" charset="0"/>
                            <a:ea typeface="黑体" panose="02010609060101010101" pitchFamily="49" charset="-122"/>
                          </a:rPr>
                          <m:t>𝜃</m:t>
                        </m:r>
                        <m: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从</m:t>
                        </m:r>
                        <m:r>
                          <a:rPr kumimoji="1" lang="en-US" altLang="zh-CN" sz="2800" dirty="0">
                            <a:latin typeface="Cambria Math" panose="02040503050406030204" charset="0"/>
                            <a:ea typeface="黑体" panose="02010609060101010101" pitchFamily="49" charset="-122"/>
                          </a:rPr>
                          <m:t>0</m:t>
                        </m:r>
                        <m:r>
                          <m:rPr>
                            <m:nor/>
                          </m:rP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变到</m:t>
                        </m:r>
                        <m:r>
                          <a:rPr kumimoji="1" lang="en-US" altLang="zh-CN" sz="2800" dirty="0">
                            <a:latin typeface="Cambria Math" panose="02040503050406030204" charset="0"/>
                            <a:ea typeface="黑体" panose="02010609060101010101" pitchFamily="49" charset="-122"/>
                          </a:rPr>
                          <m:t>2</m:t>
                        </m:r>
                        <m:r>
                          <m:rPr>
                            <m:sty m:val="p"/>
                          </m:rPr>
                          <a:rPr kumimoji="1" lang="en-US" altLang="zh-CN" sz="2800" i="0" dirty="0">
                            <a:latin typeface="Cambria Math" panose="02040503050406030204" charset="0"/>
                            <a:ea typeface="黑体" panose="02010609060101010101" pitchFamily="49" charset="-122"/>
                          </a:rPr>
                          <m:t>π</m:t>
                        </m:r>
                        <m: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的</m:t>
                        </m:r>
                      </m:oMath>
                    </m:oMathPara>
                  </a14:m>
                  <a:endPar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4" name="对象 1"/>
                <p:cNvSpPr txBox="1">
                  <a:spLocks noRot="1" noChangeAspect="1" noMove="1" noResize="1" noEditPoints="1" noAdjustHandles="1" noChangeArrowheads="1" noChangeShapeType="1" noTextEdit="1"/>
                </p:cNvSpPr>
                <p:nvPr/>
              </p:nvSpPr>
              <p:spPr>
                <a:xfrm>
                  <a:off x="11180" y="899"/>
                  <a:ext cx="5980" cy="680"/>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对象 1"/>
                <p:cNvSpPr txBox="1"/>
                <p:nvPr/>
              </p:nvSpPr>
              <p:spPr>
                <a:xfrm>
                  <a:off x="14092" y="899"/>
                  <a:ext cx="157" cy="68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 </m:t>
                        </m:r>
                      </m:oMath>
                    </m:oMathPara>
                  </a14:m>
                  <a:endPar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9" name="对象 1"/>
                <p:cNvSpPr txBox="1">
                  <a:spLocks noRot="1" noChangeAspect="1" noMove="1" noResize="1" noEditPoints="1" noAdjustHandles="1" noChangeArrowheads="1" noChangeShapeType="1" noTextEdit="1"/>
                </p:cNvSpPr>
                <p:nvPr/>
              </p:nvSpPr>
              <p:spPr>
                <a:xfrm>
                  <a:off x="14092" y="899"/>
                  <a:ext cx="157" cy="680"/>
                </a:xfrm>
                <a:prstGeom prst="rect">
                  <a:avLst/>
                </a:prstGeom>
                <a:blipFill rotWithShape="1">
                  <a:blip r:embed="rId4"/>
                </a:blipFill>
              </p:spPr>
              <p:txBody>
                <a:bodyPr/>
                <a:lstStyle/>
                <a:p>
                  <a:r>
                    <a:rPr lang="zh-CN" altLang="en-US">
                      <a:noFill/>
                    </a:rPr>
                    <a:t> </a:t>
                  </a:r>
                </a:p>
              </p:txBody>
            </p:sp>
          </mc:Fallback>
        </mc:AlternateContent>
      </p:grpSp>
      <p:grpSp>
        <p:nvGrpSpPr>
          <p:cNvPr id="16" name="组合 15"/>
          <p:cNvGrpSpPr/>
          <p:nvPr/>
        </p:nvGrpSpPr>
        <p:grpSpPr>
          <a:xfrm>
            <a:off x="1899920" y="1451610"/>
            <a:ext cx="5897880" cy="486410"/>
            <a:chOff x="2932" y="1896"/>
            <a:chExt cx="9288" cy="766"/>
          </a:xfrm>
        </p:grpSpPr>
        <mc:AlternateContent xmlns:mc="http://schemas.openxmlformats.org/markup-compatibility/2006">
          <mc:Choice xmlns:a14="http://schemas.microsoft.com/office/drawing/2010/main" Requires="a14">
            <p:sp>
              <p:nvSpPr>
                <p:cNvPr id="5" name="对象 2"/>
                <p:cNvSpPr txBox="1"/>
                <p:nvPr/>
              </p:nvSpPr>
              <p:spPr>
                <a:xfrm>
                  <a:off x="2932" y="1896"/>
                  <a:ext cx="9289" cy="766"/>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一段弧与极轴所围成的图形的面积</m:t>
                        </m:r>
                        <m: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oMath>
                    </m:oMathPara>
                  </a14:m>
                  <a:endPar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5" name="对象 2"/>
                <p:cNvSpPr txBox="1">
                  <a:spLocks noRot="1" noChangeAspect="1" noMove="1" noResize="1" noEditPoints="1" noAdjustHandles="1" noChangeArrowheads="1" noChangeShapeType="1" noTextEdit="1"/>
                </p:cNvSpPr>
                <p:nvPr/>
              </p:nvSpPr>
              <p:spPr>
                <a:xfrm>
                  <a:off x="2932" y="1896"/>
                  <a:ext cx="9289" cy="766"/>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对象 1"/>
                <p:cNvSpPr txBox="1"/>
                <p:nvPr/>
              </p:nvSpPr>
              <p:spPr>
                <a:xfrm>
                  <a:off x="7498" y="1939"/>
                  <a:ext cx="157" cy="68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 </m:t>
                        </m:r>
                      </m:oMath>
                    </m:oMathPara>
                  </a14:m>
                  <a:endPar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11" name="对象 1"/>
                <p:cNvSpPr txBox="1">
                  <a:spLocks noRot="1" noChangeAspect="1" noMove="1" noResize="1" noEditPoints="1" noAdjustHandles="1" noChangeArrowheads="1" noChangeShapeType="1" noTextEdit="1"/>
                </p:cNvSpPr>
                <p:nvPr/>
              </p:nvSpPr>
              <p:spPr>
                <a:xfrm>
                  <a:off x="7498" y="1939"/>
                  <a:ext cx="157" cy="680"/>
                </a:xfrm>
                <a:prstGeom prst="rect">
                  <a:avLst/>
                </a:prstGeom>
                <a:blipFill rotWithShape="1">
                  <a:blip r:embed="rId4"/>
                </a:blipFill>
              </p:spPr>
              <p:txBody>
                <a:bodyPr/>
                <a:lstStyle/>
                <a:p>
                  <a:r>
                    <a:rPr lang="zh-CN" altLang="en-US">
                      <a:noFill/>
                    </a:rPr>
                    <a:t> </a:t>
                  </a:r>
                </a:p>
              </p:txBody>
            </p:sp>
          </mc:Fallback>
        </mc:AlternateContent>
      </p:grpSp>
      <p:grpSp>
        <p:nvGrpSpPr>
          <p:cNvPr id="18" name="组合 17"/>
          <p:cNvGrpSpPr/>
          <p:nvPr/>
        </p:nvGrpSpPr>
        <p:grpSpPr>
          <a:xfrm>
            <a:off x="1168400" y="846455"/>
            <a:ext cx="1003300" cy="533400"/>
            <a:chOff x="1780" y="1021"/>
            <a:chExt cx="1580" cy="840"/>
          </a:xfrm>
        </p:grpSpPr>
        <p:sp>
          <p:nvSpPr>
            <p:cNvPr id="13314" name="Rectangle 2"/>
            <p:cNvSpPr>
              <a:spLocks noGrp="1" noChangeArrowheads="1"/>
            </p:cNvSpPr>
            <p:nvPr/>
          </p:nvSpPr>
          <p:spPr>
            <a:xfrm>
              <a:off x="1780" y="1021"/>
              <a:ext cx="1580" cy="84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gn="l">
                <a:buClrTx/>
                <a:buSzTx/>
                <a:buFontTx/>
              </a:pPr>
              <a:r>
                <a:rPr kumimoji="1" lang="zh-CN" altLang="en-US" b="1" dirty="0">
                  <a:solidFill>
                    <a:srgbClr val="04926A"/>
                  </a:solidFill>
                  <a:latin typeface="微软雅黑" panose="020B0503020204020204" charset="-122"/>
                  <a:ea typeface="微软雅黑" panose="020B0503020204020204" charset="-122"/>
                  <a:cs typeface="+mn-cs"/>
                </a:rPr>
                <a:t>例5</a:t>
              </a:r>
              <a:endParaRPr kumimoji="1" lang="zh-CN" altLang="en-US" dirty="0">
                <a:solidFill>
                  <a:srgbClr val="04926A"/>
                </a:solidFill>
                <a:latin typeface="微软雅黑" panose="020B0503020204020204" charset="-122"/>
                <a:ea typeface="微软雅黑" panose="020B0503020204020204" charset="-122"/>
                <a:cs typeface="+mn-cs"/>
              </a:endParaRPr>
            </a:p>
          </p:txBody>
        </p:sp>
        <mc:AlternateContent xmlns:mc="http://schemas.openxmlformats.org/markup-compatibility/2006">
          <mc:Choice xmlns:a14="http://schemas.microsoft.com/office/drawing/2010/main" Requires="a14">
            <p:sp>
              <p:nvSpPr>
                <p:cNvPr id="17" name="对象 1"/>
                <p:cNvSpPr txBox="1"/>
                <p:nvPr/>
              </p:nvSpPr>
              <p:spPr>
                <a:xfrm>
                  <a:off x="2491" y="1101"/>
                  <a:ext cx="157" cy="68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 </m:t>
                        </m:r>
                      </m:oMath>
                    </m:oMathPara>
                  </a14:m>
                  <a:endPar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17" name="对象 1"/>
                <p:cNvSpPr txBox="1">
                  <a:spLocks noRot="1" noChangeAspect="1" noMove="1" noResize="1" noEditPoints="1" noAdjustHandles="1" noChangeArrowheads="1" noChangeShapeType="1" noTextEdit="1"/>
                </p:cNvSpPr>
                <p:nvPr/>
              </p:nvSpPr>
              <p:spPr>
                <a:xfrm>
                  <a:off x="2491" y="1101"/>
                  <a:ext cx="157" cy="680"/>
                </a:xfrm>
                <a:prstGeom prst="rect">
                  <a:avLst/>
                </a:prstGeom>
                <a:blipFill rotWithShape="1">
                  <a:blip r:embed="rId4"/>
                </a:blipFill>
              </p:spPr>
              <p:txBody>
                <a:bodyPr/>
                <a:lstStyle/>
                <a:p>
                  <a:r>
                    <a:rPr lang="zh-CN" altLang="en-US">
                      <a:noFill/>
                    </a:rPr>
                    <a:t> </a:t>
                  </a:r>
                </a:p>
              </p:txBody>
            </p:sp>
          </mc:Fallback>
        </mc:AlternateContent>
      </p:grpSp>
      <p:grpSp>
        <p:nvGrpSpPr>
          <p:cNvPr id="20" name="组合 19"/>
          <p:cNvGrpSpPr/>
          <p:nvPr/>
        </p:nvGrpSpPr>
        <p:grpSpPr>
          <a:xfrm>
            <a:off x="1193800" y="2562860"/>
            <a:ext cx="914400" cy="477520"/>
            <a:chOff x="1780" y="3301"/>
            <a:chExt cx="1440" cy="752"/>
          </a:xfrm>
        </p:grpSpPr>
        <p:sp>
          <p:nvSpPr>
            <p:cNvPr id="13320" name="Text Box 8"/>
            <p:cNvSpPr txBox="1">
              <a:spLocks noChangeArrowheads="1"/>
            </p:cNvSpPr>
            <p:nvPr/>
          </p:nvSpPr>
          <p:spPr bwMode="auto">
            <a:xfrm>
              <a:off x="1780" y="3301"/>
              <a:ext cx="1440" cy="7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algn="l" defTabSz="914400" rtl="0" eaLnBrk="1" latinLnBrk="0" hangingPunct="1">
                <a:lnSpc>
                  <a:spcPct val="90000"/>
                </a:lnSpc>
                <a:spcBef>
                  <a:spcPct val="50000"/>
                </a:spcBef>
                <a:buClrTx/>
                <a:buSzTx/>
                <a:buFontTx/>
                <a:buNone/>
              </a:pPr>
              <a:r>
                <a:rPr kumimoji="1" lang="zh-CN" altLang="en-US" sz="2800" b="1" i="0" u="none" strike="noStrike" kern="1200" cap="none" spc="0" normalizeH="0" baseline="0" dirty="0">
                  <a:solidFill>
                    <a:srgbClr val="04926A"/>
                  </a:solidFill>
                  <a:latin typeface="微软雅黑" panose="020B0503020204020204" charset="-122"/>
                  <a:ea typeface="微软雅黑" panose="020B0503020204020204" charset="-122"/>
                  <a:cs typeface="+mn-cs"/>
                </a:rPr>
                <a:t>解</a:t>
              </a:r>
              <a:endParaRPr kumimoji="1" lang="zh-CN" altLang="en-US" sz="2800" b="1" i="0" u="none" strike="noStrike" kern="1200" cap="none" spc="0" normalizeH="0" baseline="0" dirty="0">
                <a:solidFill>
                  <a:srgbClr val="04926A"/>
                </a:solidFill>
                <a:latin typeface="微软雅黑" panose="020B0503020204020204" charset="-122"/>
                <a:ea typeface="微软雅黑" panose="020B0503020204020204" charset="-122"/>
                <a:cs typeface="+mn-cs"/>
              </a:endParaRPr>
            </a:p>
          </p:txBody>
        </p:sp>
        <mc:AlternateContent xmlns:mc="http://schemas.openxmlformats.org/markup-compatibility/2006">
          <mc:Choice xmlns:a14="http://schemas.microsoft.com/office/drawing/2010/main" Requires="a14">
            <p:sp>
              <p:nvSpPr>
                <p:cNvPr id="19" name="对象 1"/>
                <p:cNvSpPr txBox="1"/>
                <p:nvPr/>
              </p:nvSpPr>
              <p:spPr>
                <a:xfrm>
                  <a:off x="3063" y="3338"/>
                  <a:ext cx="157" cy="68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 </m:t>
                        </m:r>
                      </m:oMath>
                    </m:oMathPara>
                  </a14:m>
                  <a:endPar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19" name="对象 1"/>
                <p:cNvSpPr txBox="1">
                  <a:spLocks noRot="1" noChangeAspect="1" noMove="1" noResize="1" noEditPoints="1" noAdjustHandles="1" noChangeArrowheads="1" noChangeShapeType="1" noTextEdit="1"/>
                </p:cNvSpPr>
                <p:nvPr/>
              </p:nvSpPr>
              <p:spPr>
                <a:xfrm>
                  <a:off x="3063" y="3338"/>
                  <a:ext cx="157" cy="680"/>
                </a:xfrm>
                <a:prstGeom prst="rect">
                  <a:avLst/>
                </a:prstGeom>
                <a:blipFill rotWithShape="1">
                  <a:blip r:embed="rId4"/>
                </a:blipFill>
              </p:spPr>
              <p:txBody>
                <a:bodyPr/>
                <a:lstStyle/>
                <a:p>
                  <a:r>
                    <a:rPr lang="zh-CN" altLang="en-US">
                      <a:noFill/>
                    </a:rPr>
                    <a:t> </a:t>
                  </a:r>
                </a:p>
              </p:txBody>
            </p:sp>
          </mc:Fallback>
        </mc:AlternateContent>
      </p:grpSp>
      <p:grpSp>
        <p:nvGrpSpPr>
          <p:cNvPr id="22" name="组合 21"/>
          <p:cNvGrpSpPr/>
          <p:nvPr/>
        </p:nvGrpSpPr>
        <p:grpSpPr>
          <a:xfrm>
            <a:off x="3127375" y="2405380"/>
            <a:ext cx="1574800" cy="838200"/>
            <a:chOff x="4905" y="2948"/>
            <a:chExt cx="2480" cy="1320"/>
          </a:xfrm>
        </p:grpSpPr>
        <mc:AlternateContent xmlns:mc="http://schemas.openxmlformats.org/markup-compatibility/2006">
          <mc:Choice xmlns:a14="http://schemas.microsoft.com/office/drawing/2010/main" Requires="a14">
            <p:sp>
              <p:nvSpPr>
                <p:cNvPr id="13334" name="Object 22"/>
                <p:cNvSpPr txBox="1"/>
                <p:nvPr/>
              </p:nvSpPr>
              <p:spPr bwMode="auto">
                <a:xfrm>
                  <a:off x="4905" y="2948"/>
                  <a:ext cx="2480" cy="1320"/>
                </a:xfrm>
                <a:prstGeom prst="rect">
                  <a:avLst/>
                </a:prstGeom>
                <a:noFill/>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f>
                          <m:fPr>
                            <m:ctrlPr>
                              <a:rPr kumimoji="1" lang="en-US" altLang="zh-CN" sz="2200" i="1" dirty="0">
                                <a:latin typeface="Cambria Math" panose="02040503050406030204" charset="0"/>
                                <a:ea typeface="黑体" panose="02010609060101010101" pitchFamily="49" charset="-122"/>
                              </a:rPr>
                            </m:ctrlPr>
                          </m:fPr>
                          <m:num>
                            <m:r>
                              <a:rPr kumimoji="1" lang="en-US" altLang="zh-CN" sz="2200" dirty="0">
                                <a:latin typeface="Cambria Math" panose="02040503050406030204" charset="0"/>
                                <a:ea typeface="黑体" panose="02010609060101010101" pitchFamily="49" charset="-122"/>
                              </a:rPr>
                              <m:t>1</m:t>
                            </m:r>
                          </m:num>
                          <m:den>
                            <m:r>
                              <a:rPr kumimoji="1" lang="en-US" altLang="zh-CN" sz="2200" dirty="0">
                                <a:latin typeface="Cambria Math" panose="02040503050406030204" charset="0"/>
                                <a:ea typeface="黑体" panose="02010609060101010101" pitchFamily="49" charset="-122"/>
                              </a:rPr>
                              <m:t>2</m:t>
                            </m:r>
                          </m:den>
                        </m:f>
                        <m:r>
                          <a:rPr kumimoji="1" lang="en-US" altLang="zh-CN" sz="2200" dirty="0">
                            <a:latin typeface="Cambria Math" panose="02040503050406030204" charset="0"/>
                            <a:ea typeface="黑体" panose="02010609060101010101" pitchFamily="49" charset="-122"/>
                          </a:rPr>
                          <m:t>(</m:t>
                        </m:r>
                        <m:r>
                          <a:rPr kumimoji="1" lang="en-US" altLang="zh-CN" sz="2200" dirty="0">
                            <a:latin typeface="Cambria Math" panose="02040503050406030204" charset="0"/>
                            <a:ea typeface="黑体" panose="02010609060101010101" pitchFamily="49" charset="-122"/>
                          </a:rPr>
                          <m:t>𝑎</m:t>
                        </m:r>
                        <m:r>
                          <a:rPr kumimoji="1" lang="en-US" altLang="zh-CN" sz="2200" dirty="0">
                            <a:latin typeface="Cambria Math" panose="02040503050406030204" charset="0"/>
                            <a:ea typeface="黑体" panose="02010609060101010101" pitchFamily="49" charset="-122"/>
                          </a:rPr>
                          <m:t>​</m:t>
                        </m:r>
                        <m:r>
                          <a:rPr kumimoji="1" lang="en-US" altLang="zh-CN" sz="2200" dirty="0">
                            <a:latin typeface="Cambria Math" panose="02040503050406030204" charset="0"/>
                            <a:ea typeface="黑体" panose="02010609060101010101" pitchFamily="49" charset="-122"/>
                          </a:rPr>
                          <m:t>𝜃</m:t>
                        </m:r>
                        <m:r>
                          <a:rPr kumimoji="1" lang="en-US" altLang="zh-CN" sz="2200" dirty="0">
                            <a:latin typeface="Cambria Math" panose="02040503050406030204" charset="0"/>
                            <a:ea typeface="黑体" panose="02010609060101010101" pitchFamily="49" charset="-122"/>
                          </a:rPr>
                          <m:t> </m:t>
                        </m:r>
                        <m:sSup>
                          <m:sSupPr>
                            <m:ctrlPr>
                              <a:rPr kumimoji="1" lang="en-US" altLang="zh-CN" sz="2200" i="1" dirty="0">
                                <a:latin typeface="Cambria Math" panose="02040503050406030204" charset="0"/>
                                <a:ea typeface="黑体" panose="02010609060101010101" pitchFamily="49" charset="-122"/>
                              </a:rPr>
                            </m:ctrlPr>
                          </m:sSupPr>
                          <m:e>
                            <m:r>
                              <a:rPr kumimoji="1" lang="en-US" altLang="zh-CN" sz="2200" dirty="0">
                                <a:latin typeface="Cambria Math" panose="02040503050406030204" charset="0"/>
                                <a:ea typeface="黑体" panose="02010609060101010101" pitchFamily="49" charset="-122"/>
                              </a:rPr>
                              <m:t>)</m:t>
                            </m:r>
                          </m:e>
                          <m:sup>
                            <m:r>
                              <a:rPr kumimoji="1" lang="en-US" altLang="zh-CN" sz="2200" dirty="0">
                                <a:latin typeface="Cambria Math" panose="02040503050406030204" charset="0"/>
                                <a:ea typeface="黑体" panose="02010609060101010101" pitchFamily="49" charset="-122"/>
                              </a:rPr>
                              <m:t>2</m:t>
                            </m:r>
                          </m:sup>
                        </m:sSup>
                        <m:func>
                          <m:funcPr>
                            <m:ctrlPr>
                              <a:rPr kumimoji="1" lang="en-US" altLang="zh-CN" sz="2200" i="1" dirty="0">
                                <a:latin typeface="Cambria Math" panose="02040503050406030204" charset="0"/>
                                <a:ea typeface="黑体" panose="02010609060101010101" pitchFamily="49" charset="-122"/>
                              </a:rPr>
                            </m:ctrlPr>
                          </m:funcPr>
                          <m:fName>
                            <m:r>
                              <m:rPr>
                                <m:sty m:val="p"/>
                              </m:rPr>
                              <a:rPr kumimoji="1" lang="en-US" altLang="zh-CN" sz="2200" i="0" dirty="0">
                                <a:latin typeface="Cambria Math" panose="02040503050406030204" charset="0"/>
                                <a:ea typeface="黑体" panose="02010609060101010101" pitchFamily="49" charset="-122"/>
                              </a:rPr>
                              <m:t>d</m:t>
                            </m:r>
                            <m:r>
                              <a:rPr kumimoji="1" lang="en-US" altLang="zh-CN" sz="2200" dirty="0">
                                <a:latin typeface="Cambria Math" panose="02040503050406030204" charset="0"/>
                                <a:ea typeface="黑体" panose="02010609060101010101" pitchFamily="49" charset="-122"/>
                              </a:rPr>
                              <m:t>𝜃</m:t>
                            </m:r>
                          </m:fName>
                          <m:e>
                            <m:r>
                              <a:rPr kumimoji="1" lang="en-US" altLang="zh-CN" sz="2200" dirty="0">
                                <a:latin typeface="Cambria Math" panose="02040503050406030204" charset="0"/>
                                <a:ea typeface="黑体" panose="02010609060101010101" pitchFamily="49" charset="-122"/>
                              </a:rPr>
                              <m:t>​</m:t>
                            </m:r>
                          </m:e>
                        </m:func>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13334" name="Object 22"/>
                <p:cNvSpPr txBox="1">
                  <a:spLocks noRot="1" noChangeAspect="1" noMove="1" noResize="1" noEditPoints="1" noAdjustHandles="1" noChangeArrowheads="1" noChangeShapeType="1" noTextEdit="1"/>
                </p:cNvSpPr>
                <p:nvPr/>
              </p:nvSpPr>
              <p:spPr bwMode="auto">
                <a:xfrm>
                  <a:off x="4905" y="2948"/>
                  <a:ext cx="2480" cy="1320"/>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对象 1"/>
                <p:cNvSpPr txBox="1"/>
                <p:nvPr/>
              </p:nvSpPr>
              <p:spPr>
                <a:xfrm>
                  <a:off x="6067" y="3268"/>
                  <a:ext cx="157" cy="68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 </m:t>
                        </m:r>
                      </m:oMath>
                    </m:oMathPara>
                  </a14:m>
                  <a:endPar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21" name="对象 1"/>
                <p:cNvSpPr txBox="1">
                  <a:spLocks noRot="1" noChangeAspect="1" noMove="1" noResize="1" noEditPoints="1" noAdjustHandles="1" noChangeArrowheads="1" noChangeShapeType="1" noTextEdit="1"/>
                </p:cNvSpPr>
                <p:nvPr/>
              </p:nvSpPr>
              <p:spPr>
                <a:xfrm>
                  <a:off x="6067" y="3268"/>
                  <a:ext cx="157" cy="680"/>
                </a:xfrm>
                <a:prstGeom prst="rect">
                  <a:avLst/>
                </a:prstGeom>
                <a:blipFill rotWithShape="1">
                  <a:blip r:embed="rId4"/>
                </a:blipFill>
              </p:spPr>
              <p:txBody>
                <a:bodyPr/>
                <a:lstStyle/>
                <a:p>
                  <a:r>
                    <a:rPr lang="zh-CN" altLang="en-US">
                      <a:noFill/>
                    </a:rPr>
                    <a:t> </a:t>
                  </a:r>
                </a:p>
              </p:txBody>
            </p:sp>
          </mc:Fallback>
        </mc:AlternateContent>
      </p:grpSp>
      <p:grpSp>
        <p:nvGrpSpPr>
          <p:cNvPr id="24" name="组合 23"/>
          <p:cNvGrpSpPr/>
          <p:nvPr/>
        </p:nvGrpSpPr>
        <p:grpSpPr>
          <a:xfrm>
            <a:off x="2019789" y="2354580"/>
            <a:ext cx="1582420" cy="1137920"/>
            <a:chOff x="3146" y="2896"/>
            <a:chExt cx="2492" cy="1792"/>
          </a:xfrm>
        </p:grpSpPr>
        <mc:AlternateContent xmlns:mc="http://schemas.openxmlformats.org/markup-compatibility/2006">
          <mc:Choice xmlns:a14="http://schemas.microsoft.com/office/drawing/2010/main" Requires="a14">
            <p:sp>
              <p:nvSpPr>
                <p:cNvPr id="13335" name="Object 23"/>
                <p:cNvSpPr txBox="1"/>
                <p:nvPr/>
              </p:nvSpPr>
              <p:spPr bwMode="auto">
                <a:xfrm>
                  <a:off x="3146" y="2896"/>
                  <a:ext cx="2492" cy="1792"/>
                </a:xfrm>
                <a:prstGeom prst="rect">
                  <a:avLst/>
                </a:prstGeom>
                <a:noFill/>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𝐴</m:t>
                        </m:r>
                        <m:r>
                          <a:rPr kumimoji="1" lang="en-US" altLang="zh-CN" sz="2200" dirty="0">
                            <a:latin typeface="Cambria Math" panose="02040503050406030204" charset="0"/>
                            <a:ea typeface="黑体" panose="02010609060101010101" pitchFamily="49" charset="-122"/>
                          </a:rPr>
                          <m:t>=</m:t>
                        </m:r>
                        <m:nary>
                          <m:naryPr>
                            <m:ctrlPr>
                              <a:rPr kumimoji="1" lang="en-US" altLang="zh-CN" sz="2200" i="1" dirty="0">
                                <a:latin typeface="Cambria Math" panose="02040503050406030204" charset="0"/>
                                <a:ea typeface="黑体" panose="02010609060101010101" pitchFamily="49" charset="-122"/>
                              </a:rPr>
                            </m:ctrlPr>
                          </m:naryPr>
                          <m:sub>
                            <m:r>
                              <a:rPr kumimoji="1" lang="en-US" altLang="zh-CN" sz="2200" dirty="0">
                                <a:latin typeface="Cambria Math" panose="02040503050406030204" charset="0"/>
                                <a:ea typeface="黑体" panose="02010609060101010101" pitchFamily="49" charset="-122"/>
                              </a:rPr>
                              <m:t>​</m:t>
                            </m:r>
                            <m:r>
                              <a:rPr kumimoji="1" lang="en-US" altLang="zh-CN" sz="2200" dirty="0">
                                <a:latin typeface="Cambria Math" panose="02040503050406030204" charset="0"/>
                                <a:ea typeface="黑体" panose="02010609060101010101" pitchFamily="49" charset="-122"/>
                              </a:rPr>
                              <m:t>0</m:t>
                            </m:r>
                          </m:sub>
                          <m:sup>
                            <m:r>
                              <a:rPr kumimoji="1" lang="en-US" altLang="zh-CN" sz="2200" dirty="0">
                                <a:latin typeface="Cambria Math" panose="02040503050406030204" charset="0"/>
                                <a:ea typeface="黑体" panose="02010609060101010101" pitchFamily="49" charset="-122"/>
                              </a:rPr>
                              <m:t>​</m:t>
                            </m:r>
                            <m:r>
                              <a:rPr kumimoji="1" lang="en-US" altLang="zh-CN" sz="2200" dirty="0">
                                <a:latin typeface="Cambria Math" panose="02040503050406030204" charset="0"/>
                                <a:ea typeface="黑体" panose="02010609060101010101" pitchFamily="49" charset="-122"/>
                              </a:rPr>
                              <m:t>2</m:t>
                            </m:r>
                            <m:r>
                              <a:rPr kumimoji="1" lang="en-US" altLang="zh-CN" sz="2200" dirty="0">
                                <a:latin typeface="Cambria Math" panose="02040503050406030204" charset="0"/>
                                <a:ea typeface="黑体" panose="02010609060101010101" pitchFamily="49" charset="-122"/>
                              </a:rPr>
                              <m:t>​</m:t>
                            </m:r>
                            <m:r>
                              <m:rPr>
                                <m:sty m:val="p"/>
                              </m:rPr>
                              <a:rPr kumimoji="1" lang="en-US" altLang="zh-CN" sz="2200" i="0" dirty="0">
                                <a:latin typeface="Cambria Math" panose="02040503050406030204" charset="0"/>
                                <a:ea typeface="黑体" panose="02010609060101010101" pitchFamily="49" charset="-122"/>
                              </a:rPr>
                              <m:t>π</m:t>
                            </m:r>
                          </m:sup>
                          <m:e>
                            <m:r>
                              <a:rPr kumimoji="1" lang="en-US" altLang="zh-CN" sz="2200" dirty="0">
                                <a:latin typeface="Cambria Math" panose="02040503050406030204" charset="0"/>
                                <a:ea typeface="黑体" panose="02010609060101010101" pitchFamily="49" charset="-122"/>
                              </a:rPr>
                              <m:t> </m:t>
                            </m:r>
                          </m:e>
                        </m:nary>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13335" name="Object 23"/>
                <p:cNvSpPr txBox="1">
                  <a:spLocks noRot="1" noChangeAspect="1" noMove="1" noResize="1" noEditPoints="1" noAdjustHandles="1" noChangeArrowheads="1" noChangeShapeType="1" noTextEdit="1"/>
                </p:cNvSpPr>
                <p:nvPr/>
              </p:nvSpPr>
              <p:spPr bwMode="auto">
                <a:xfrm>
                  <a:off x="3146" y="2896"/>
                  <a:ext cx="2492" cy="1792"/>
                </a:xfrm>
                <a:prstGeom prst="rect">
                  <a:avLst/>
                </a:prstGeom>
                <a:blipFill rotWithShape="1">
                  <a:blip r:embed="rId8"/>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对象 1"/>
                <p:cNvSpPr txBox="1"/>
                <p:nvPr/>
              </p:nvSpPr>
              <p:spPr>
                <a:xfrm>
                  <a:off x="4314" y="3452"/>
                  <a:ext cx="157" cy="68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 </m:t>
                        </m:r>
                      </m:oMath>
                    </m:oMathPara>
                  </a14:m>
                  <a:endPar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23" name="对象 1"/>
                <p:cNvSpPr txBox="1">
                  <a:spLocks noRot="1" noChangeAspect="1" noMove="1" noResize="1" noEditPoints="1" noAdjustHandles="1" noChangeArrowheads="1" noChangeShapeType="1" noTextEdit="1"/>
                </p:cNvSpPr>
                <p:nvPr/>
              </p:nvSpPr>
              <p:spPr>
                <a:xfrm>
                  <a:off x="4314" y="3452"/>
                  <a:ext cx="157" cy="680"/>
                </a:xfrm>
                <a:prstGeom prst="rect">
                  <a:avLst/>
                </a:prstGeom>
                <a:blipFill rotWithShape="1">
                  <a:blip r:embed="rId4"/>
                </a:blipFill>
              </p:spPr>
              <p:txBody>
                <a:bodyPr/>
                <a:lstStyle/>
                <a:p>
                  <a:r>
                    <a:rPr lang="zh-CN" altLang="en-US">
                      <a:noFill/>
                    </a:rPr>
                    <a:t> </a:t>
                  </a:r>
                </a:p>
              </p:txBody>
            </p:sp>
          </mc:Fallback>
        </mc:AlternateContent>
      </p:grpSp>
      <p:grpSp>
        <p:nvGrpSpPr>
          <p:cNvPr id="27" name="组合 26"/>
          <p:cNvGrpSpPr/>
          <p:nvPr/>
        </p:nvGrpSpPr>
        <p:grpSpPr>
          <a:xfrm>
            <a:off x="2282825" y="4540885"/>
            <a:ext cx="1320800" cy="838200"/>
            <a:chOff x="3535" y="6281"/>
            <a:chExt cx="2080" cy="1320"/>
          </a:xfrm>
        </p:grpSpPr>
        <mc:AlternateContent xmlns:mc="http://schemas.openxmlformats.org/markup-compatibility/2006">
          <mc:Choice xmlns:a14="http://schemas.microsoft.com/office/drawing/2010/main" Requires="a14">
            <p:sp>
              <p:nvSpPr>
                <p:cNvPr id="13339" name="Object 27"/>
                <p:cNvSpPr txBox="1"/>
                <p:nvPr/>
              </p:nvSpPr>
              <p:spPr bwMode="auto">
                <a:xfrm>
                  <a:off x="3535" y="6281"/>
                  <a:ext cx="2080" cy="1320"/>
                </a:xfrm>
                <a:prstGeom prst="rect">
                  <a:avLst/>
                </a:prstGeom>
                <a:noFill/>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m:t>
                        </m:r>
                        <m:f>
                          <m:fPr>
                            <m:ctrlPr>
                              <a:rPr kumimoji="1" lang="en-US" altLang="zh-CN" sz="2200" i="1" dirty="0">
                                <a:latin typeface="Cambria Math" panose="02040503050406030204" charset="0"/>
                                <a:ea typeface="黑体" panose="02010609060101010101" pitchFamily="49" charset="-122"/>
                              </a:rPr>
                            </m:ctrlPr>
                          </m:fPr>
                          <m:num>
                            <m:r>
                              <a:rPr kumimoji="1" lang="en-US" altLang="zh-CN" sz="2200" dirty="0">
                                <a:latin typeface="Cambria Math" panose="02040503050406030204" charset="0"/>
                                <a:ea typeface="黑体" panose="02010609060101010101" pitchFamily="49" charset="-122"/>
                              </a:rPr>
                              <m:t>4</m:t>
                            </m:r>
                          </m:num>
                          <m:den>
                            <m:r>
                              <a:rPr kumimoji="1" lang="en-US" altLang="zh-CN" sz="2200" dirty="0">
                                <a:latin typeface="Cambria Math" panose="02040503050406030204" charset="0"/>
                                <a:ea typeface="黑体" panose="02010609060101010101" pitchFamily="49" charset="-122"/>
                              </a:rPr>
                              <m:t>3</m:t>
                            </m:r>
                          </m:den>
                        </m:f>
                        <m:sSup>
                          <m:sSupPr>
                            <m:ctrlPr>
                              <a:rPr kumimoji="1" lang="en-US" altLang="zh-CN" sz="2200" i="1" dirty="0">
                                <a:latin typeface="Cambria Math" panose="02040503050406030204" charset="0"/>
                                <a:ea typeface="黑体" panose="02010609060101010101" pitchFamily="49" charset="-122"/>
                              </a:rPr>
                            </m:ctrlPr>
                          </m:sSupPr>
                          <m:e>
                            <m:r>
                              <m:rPr>
                                <m:sty m:val="p"/>
                              </m:rPr>
                              <a:rPr kumimoji="1" lang="en-US" altLang="zh-CN" sz="2200" i="0" dirty="0">
                                <a:latin typeface="Cambria Math" panose="02040503050406030204" charset="0"/>
                                <a:ea typeface="黑体" panose="02010609060101010101" pitchFamily="49" charset="-122"/>
                              </a:rPr>
                              <m:t>π</m:t>
                            </m:r>
                          </m:e>
                          <m:sup>
                            <m:r>
                              <a:rPr kumimoji="1" lang="en-US" altLang="zh-CN" sz="2200" dirty="0">
                                <a:latin typeface="Cambria Math" panose="02040503050406030204" charset="0"/>
                                <a:ea typeface="黑体" panose="02010609060101010101" pitchFamily="49" charset="-122"/>
                              </a:rPr>
                              <m:t>3</m:t>
                            </m:r>
                          </m:sup>
                        </m:sSup>
                        <m:sSup>
                          <m:sSupPr>
                            <m:ctrlPr>
                              <a:rPr kumimoji="1" lang="en-US" altLang="zh-CN" sz="2200" i="1" dirty="0">
                                <a:latin typeface="Cambria Math" panose="02040503050406030204" charset="0"/>
                                <a:ea typeface="黑体" panose="02010609060101010101" pitchFamily="49" charset="-122"/>
                              </a:rPr>
                            </m:ctrlPr>
                          </m:sSupPr>
                          <m:e>
                            <m:r>
                              <a:rPr kumimoji="1" lang="en-US" altLang="zh-CN" sz="2200" dirty="0">
                                <a:latin typeface="Cambria Math" panose="02040503050406030204" charset="0"/>
                                <a:ea typeface="黑体" panose="02010609060101010101" pitchFamily="49" charset="-122"/>
                              </a:rPr>
                              <m:t>𝑎</m:t>
                            </m:r>
                          </m:e>
                          <m:sup>
                            <m:r>
                              <a:rPr kumimoji="1" lang="en-US" altLang="zh-CN" sz="2200" dirty="0">
                                <a:latin typeface="Cambria Math" panose="02040503050406030204" charset="0"/>
                                <a:ea typeface="黑体" panose="02010609060101010101" pitchFamily="49" charset="-122"/>
                              </a:rPr>
                              <m:t>2</m:t>
                            </m:r>
                          </m:sup>
                        </m:sSup>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13339" name="Object 27"/>
                <p:cNvSpPr txBox="1">
                  <a:spLocks noRot="1" noChangeAspect="1" noMove="1" noResize="1" noEditPoints="1" noAdjustHandles="1" noChangeArrowheads="1" noChangeShapeType="1" noTextEdit="1"/>
                </p:cNvSpPr>
                <p:nvPr/>
              </p:nvSpPr>
              <p:spPr bwMode="auto">
                <a:xfrm>
                  <a:off x="3535" y="6281"/>
                  <a:ext cx="2080" cy="1320"/>
                </a:xfrm>
                <a:prstGeom prst="rect">
                  <a:avLst/>
                </a:prstGeom>
                <a:blipFill rotWithShape="1">
                  <a:blip r:embed="rId9"/>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 name="对象 1"/>
                <p:cNvSpPr txBox="1"/>
                <p:nvPr/>
              </p:nvSpPr>
              <p:spPr>
                <a:xfrm>
                  <a:off x="5028" y="6601"/>
                  <a:ext cx="157" cy="68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 </m:t>
                        </m:r>
                      </m:oMath>
                    </m:oMathPara>
                  </a14:m>
                  <a:endPar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26" name="对象 1"/>
                <p:cNvSpPr txBox="1">
                  <a:spLocks noRot="1" noChangeAspect="1" noMove="1" noResize="1" noEditPoints="1" noAdjustHandles="1" noChangeArrowheads="1" noChangeShapeType="1" noTextEdit="1"/>
                </p:cNvSpPr>
                <p:nvPr/>
              </p:nvSpPr>
              <p:spPr>
                <a:xfrm>
                  <a:off x="5028" y="6601"/>
                  <a:ext cx="157" cy="680"/>
                </a:xfrm>
                <a:prstGeom prst="rect">
                  <a:avLst/>
                </a:prstGeom>
                <a:blipFill rotWithShape="1">
                  <a:blip r:embed="rId4"/>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29" name="对象 1"/>
              <p:cNvSpPr txBox="1"/>
              <p:nvPr/>
            </p:nvSpPr>
            <p:spPr>
              <a:xfrm>
                <a:off x="5897880" y="5481955"/>
                <a:ext cx="99695" cy="43180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 </m:t>
                      </m:r>
                    </m:oMath>
                  </m:oMathPara>
                </a14:m>
                <a:endPar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29" name="对象 1"/>
              <p:cNvSpPr txBox="1">
                <a:spLocks noRot="1" noChangeAspect="1" noMove="1" noResize="1" noEditPoints="1" noAdjustHandles="1" noChangeArrowheads="1" noChangeShapeType="1" noTextEdit="1"/>
              </p:cNvSpPr>
              <p:nvPr/>
            </p:nvSpPr>
            <p:spPr>
              <a:xfrm>
                <a:off x="5897880" y="5481955"/>
                <a:ext cx="99695" cy="431800"/>
              </a:xfrm>
              <a:prstGeom prst="rect">
                <a:avLst/>
              </a:prstGeom>
              <a:blipFill rotWithShape="1">
                <a:blip r:embed="rId4"/>
                <a:stretch>
                  <a:fillRect r="-28025" b="-9412"/>
                </a:stretch>
              </a:blipFill>
            </p:spPr>
            <p:txBody>
              <a:bodyPr/>
              <a:lstStyle/>
              <a:p>
                <a:r>
                  <a:rPr lang="zh-CN" altLang="en-US">
                    <a:noFill/>
                  </a:rPr>
                  <a:t> </a:t>
                </a:r>
              </a:p>
            </p:txBody>
          </p:sp>
        </mc:Fallback>
      </mc:AlternateContent>
      <p:pic>
        <p:nvPicPr>
          <p:cNvPr id="13" name="图片 12" descr="图示, 维恩图&#10;&#10;描述已自动生成"/>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289040" y="2440686"/>
            <a:ext cx="4067292" cy="197662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ipe(left)">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wipe(left)">
                                      <p:cBhvr>
                                        <p:cTn id="42" dur="500"/>
                                        <p:tgtEl>
                                          <p:spTgt spid="2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wipe(left)">
                                      <p:cBhvr>
                                        <p:cTn id="47" dur="500"/>
                                        <p:tgtEl>
                                          <p:spTgt spid="2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wipe(left)">
                                      <p:cBhvr>
                                        <p:cTn id="5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二、旋转体求体积</a:t>
            </a:r>
            <a:endParaRPr lang="zh-CN" altLang="en-US"/>
          </a:p>
        </p:txBody>
      </p:sp>
      <p:sp>
        <p:nvSpPr>
          <p:cNvPr id="3" name="内容占位符 2"/>
          <p:cNvSpPr>
            <a:spLocks noGrp="1"/>
          </p:cNvSpPr>
          <p:nvPr>
            <p:ph idx="1"/>
          </p:nvPr>
        </p:nvSpPr>
        <p:spPr/>
        <p:txBody>
          <a:bodyPr/>
          <a:p>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0" y="0"/>
            <a:ext cx="12192000" cy="6858000"/>
            <a:chOff x="0" y="0"/>
            <a:chExt cx="19200" cy="10800"/>
          </a:xfrm>
        </p:grpSpPr>
        <p:sp>
          <p:nvSpPr>
            <p:cNvPr id="27" name="Rectangle 1"/>
            <p:cNvSpPr/>
            <p:nvPr/>
          </p:nvSpPr>
          <p:spPr>
            <a:xfrm>
              <a:off x="0" y="0"/>
              <a:ext cx="19200" cy="10800"/>
            </a:xfrm>
            <a:prstGeom prst="rect">
              <a:avLst/>
            </a:prstGeom>
            <a:gradFill flip="none" rotWithShape="1">
              <a:gsLst>
                <a:gs pos="0">
                  <a:srgbClr val="009E47">
                    <a:alpha val="88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8" name="圆角矩形 27"/>
            <p:cNvSpPr/>
            <p:nvPr/>
          </p:nvSpPr>
          <p:spPr>
            <a:xfrm>
              <a:off x="354" y="310"/>
              <a:ext cx="18493" cy="10167"/>
            </a:xfrm>
            <a:prstGeom prst="roundRect">
              <a:avLst>
                <a:gd name="adj" fmla="val 3499"/>
              </a:avLst>
            </a:prstGeom>
            <a:solidFill>
              <a:schemeClr val="bg1"/>
            </a:solidFill>
            <a:ln>
              <a:solidFill>
                <a:srgbClr val="17908C"/>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aphicFrame>
        <p:nvGraphicFramePr>
          <p:cNvPr id="17" name="Object 4"/>
          <p:cNvGraphicFramePr>
            <a:graphicFrameLocks noChangeAspect="1"/>
          </p:cNvGraphicFramePr>
          <p:nvPr/>
        </p:nvGraphicFramePr>
        <p:xfrm>
          <a:off x="5029201" y="3698133"/>
          <a:ext cx="1762125" cy="1724025"/>
        </p:xfrm>
        <a:graphic>
          <a:graphicData uri="http://schemas.openxmlformats.org/presentationml/2006/ole">
            <mc:AlternateContent xmlns:mc="http://schemas.openxmlformats.org/markup-compatibility/2006">
              <mc:Choice xmlns:v="urn:schemas-microsoft-com:vml" Requires="v">
                <p:oleObj spid="_x0000_s2" name="BMP 图像" r:id="rId1" imgW="1762125" imgH="1724025" progId="Paint.Picture">
                  <p:embed/>
                </p:oleObj>
              </mc:Choice>
              <mc:Fallback>
                <p:oleObj name="BMP 图像" r:id="rId1" imgW="1762125" imgH="1724025" progId="Paint.Picture">
                  <p:embed/>
                  <p:pic>
                    <p:nvPicPr>
                      <p:cNvPr id="0" name="Object 4"/>
                      <p:cNvPicPr>
                        <a:picLocks noChangeAspect="1" noChangeArrowheads="1"/>
                      </p:cNvPicPr>
                      <p:nvPr/>
                    </p:nvPicPr>
                    <p:blipFill>
                      <a:blip r:embed="rId2"/>
                      <a:srcRect/>
                      <a:stretch>
                        <a:fillRect/>
                      </a:stretch>
                    </p:blipFill>
                    <p:spPr bwMode="auto">
                      <a:xfrm>
                        <a:off x="5029201" y="3698133"/>
                        <a:ext cx="1762125" cy="172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03" name="Rectangle 15"/>
          <p:cNvSpPr>
            <a:spLocks noGrp="1" noChangeArrowheads="1"/>
          </p:cNvSpPr>
          <p:nvPr/>
        </p:nvSpPr>
        <p:spPr>
          <a:xfrm>
            <a:off x="1208472" y="602615"/>
            <a:ext cx="2628900" cy="99631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gn="l"/>
            <a:r>
              <a:rPr lang="zh-CN" altLang="en-US" sz="3200" dirty="0">
                <a:solidFill>
                  <a:srgbClr val="04926A"/>
                </a:solidFill>
                <a:latin typeface="微软雅黑" panose="020B0503020204020204" charset="-122"/>
                <a:ea typeface="微软雅黑" panose="020B0503020204020204" charset="-122"/>
                <a:cs typeface="+mn-cs"/>
              </a:rPr>
              <a:t>二、体积</a:t>
            </a:r>
            <a:endParaRPr lang="zh-CN" altLang="en-US" sz="3200" dirty="0">
              <a:solidFill>
                <a:srgbClr val="04926A"/>
              </a:solidFill>
              <a:latin typeface="微软雅黑" panose="020B0503020204020204" charset="-122"/>
              <a:ea typeface="微软雅黑" panose="020B0503020204020204" charset="-122"/>
              <a:cs typeface="+mn-cs"/>
            </a:endParaRPr>
          </a:p>
        </p:txBody>
      </p:sp>
      <p:sp>
        <p:nvSpPr>
          <p:cNvPr id="4" name="矩形 3"/>
          <p:cNvSpPr/>
          <p:nvPr/>
        </p:nvSpPr>
        <p:spPr>
          <a:xfrm>
            <a:off x="1208472" y="1470350"/>
            <a:ext cx="2770310" cy="523220"/>
          </a:xfrm>
          <a:prstGeom prst="rect">
            <a:avLst/>
          </a:prstGeom>
          <a:ln w="28575">
            <a:noFill/>
            <a:prstDash val="dashDot"/>
          </a:ln>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sz="2800" b="1" dirty="0">
                <a:solidFill>
                  <a:srgbClr val="04926A"/>
                </a:solidFill>
                <a:latin typeface="微软雅黑" panose="020B0503020204020204" charset="-122"/>
                <a:ea typeface="微软雅黑" panose="020B0503020204020204" charset="-122"/>
              </a:rPr>
              <a:t>1. 旋转体的体积</a:t>
            </a:r>
            <a:endParaRPr kumimoji="1" lang="zh-CN" altLang="en-US" sz="2800" b="1" dirty="0">
              <a:solidFill>
                <a:srgbClr val="04926A"/>
              </a:solidFill>
              <a:latin typeface="微软雅黑" panose="020B0503020204020204" charset="-122"/>
              <a:ea typeface="微软雅黑" panose="020B0503020204020204" charset="-122"/>
            </a:endParaRPr>
          </a:p>
        </p:txBody>
      </p:sp>
      <p:graphicFrame>
        <p:nvGraphicFramePr>
          <p:cNvPr id="37890" name="Object 2"/>
          <p:cNvGraphicFramePr>
            <a:graphicFrameLocks noChangeAspect="1"/>
          </p:cNvGraphicFramePr>
          <p:nvPr/>
        </p:nvGraphicFramePr>
        <p:xfrm>
          <a:off x="8610601" y="4050558"/>
          <a:ext cx="828675" cy="1057275"/>
        </p:xfrm>
        <a:graphic>
          <a:graphicData uri="http://schemas.openxmlformats.org/presentationml/2006/ole">
            <mc:AlternateContent xmlns:mc="http://schemas.openxmlformats.org/markup-compatibility/2006">
              <mc:Choice xmlns:v="urn:schemas-microsoft-com:vml" Requires="v">
                <p:oleObj spid="_x0000_s3" name="BMP 图象" r:id="rId3" imgW="828675" imgH="1057275" progId="Paint.Picture">
                  <p:embed/>
                </p:oleObj>
              </mc:Choice>
              <mc:Fallback>
                <p:oleObj name="BMP 图象" r:id="rId3" imgW="828675" imgH="1057275" progId="Paint.Picture">
                  <p:embed/>
                  <p:pic>
                    <p:nvPicPr>
                      <p:cNvPr id="0" name="Object 2"/>
                      <p:cNvPicPr>
                        <a:picLocks noChangeAspect="1" noChangeArrowheads="1"/>
                      </p:cNvPicPr>
                      <p:nvPr/>
                    </p:nvPicPr>
                    <p:blipFill>
                      <a:blip r:embed="rId4"/>
                      <a:srcRect/>
                      <a:stretch>
                        <a:fillRect/>
                      </a:stretch>
                    </p:blipFill>
                    <p:spPr bwMode="auto">
                      <a:xfrm>
                        <a:off x="8610601" y="4050558"/>
                        <a:ext cx="828675" cy="105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Line 5"/>
          <p:cNvSpPr>
            <a:spLocks noChangeShapeType="1"/>
          </p:cNvSpPr>
          <p:nvPr/>
        </p:nvSpPr>
        <p:spPr bwMode="auto">
          <a:xfrm flipH="1">
            <a:off x="8592843" y="3664381"/>
            <a:ext cx="1" cy="1752600"/>
          </a:xfrm>
          <a:prstGeom prst="line">
            <a:avLst/>
          </a:prstGeom>
          <a:noFill/>
          <a:ln w="28575">
            <a:solidFill>
              <a:srgbClr val="335AE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 name="Rectangle 6"/>
          <p:cNvSpPr>
            <a:spLocks noChangeArrowheads="1"/>
          </p:cNvSpPr>
          <p:nvPr/>
        </p:nvSpPr>
        <p:spPr bwMode="auto">
          <a:xfrm>
            <a:off x="3581400" y="3955307"/>
            <a:ext cx="533400" cy="1066800"/>
          </a:xfrm>
          <a:prstGeom prst="rect">
            <a:avLst/>
          </a:prstGeom>
          <a:solidFill>
            <a:srgbClr val="04926A"/>
          </a:solidFill>
          <a:ln w="9525">
            <a:solidFill>
              <a:schemeClr val="tx1"/>
            </a:solidFill>
            <a:miter lim="800000"/>
          </a:ln>
        </p:spPr>
        <p:txBody>
          <a:bodyPr wrap="none" anchor="ctr"/>
          <a:lstStyle/>
          <a:p>
            <a:endParaRPr lang="zh-CN" altLang="en-US"/>
          </a:p>
        </p:txBody>
      </p:sp>
      <p:sp>
        <p:nvSpPr>
          <p:cNvPr id="9" name="Line 9"/>
          <p:cNvSpPr>
            <a:spLocks noChangeShapeType="1"/>
          </p:cNvSpPr>
          <p:nvPr/>
        </p:nvSpPr>
        <p:spPr bwMode="auto">
          <a:xfrm>
            <a:off x="3581400" y="3593357"/>
            <a:ext cx="0" cy="1752600"/>
          </a:xfrm>
          <a:prstGeom prst="line">
            <a:avLst/>
          </a:prstGeom>
          <a:noFill/>
          <a:ln w="28575">
            <a:solidFill>
              <a:srgbClr val="335AE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AutoShape 10"/>
          <p:cNvSpPr>
            <a:spLocks noChangeArrowheads="1"/>
          </p:cNvSpPr>
          <p:nvPr/>
        </p:nvSpPr>
        <p:spPr bwMode="auto">
          <a:xfrm>
            <a:off x="5943600" y="3745757"/>
            <a:ext cx="762000" cy="1371600"/>
          </a:xfrm>
          <a:prstGeom prst="rtTriangle">
            <a:avLst/>
          </a:prstGeom>
          <a:solidFill>
            <a:srgbClr val="00B0F0">
              <a:alpha val="50000"/>
            </a:srgbClr>
          </a:solidFill>
          <a:ln w="9525">
            <a:solidFill>
              <a:schemeClr val="tx1"/>
            </a:solidFill>
            <a:miter lim="800000"/>
          </a:ln>
        </p:spPr>
        <p:txBody>
          <a:bodyPr wrap="none" anchor="ctr"/>
          <a:lstStyle/>
          <a:p>
            <a:endParaRPr lang="zh-CN" altLang="en-US"/>
          </a:p>
        </p:txBody>
      </p:sp>
      <p:sp>
        <p:nvSpPr>
          <p:cNvPr id="11" name="Line 11"/>
          <p:cNvSpPr>
            <a:spLocks noChangeShapeType="1"/>
          </p:cNvSpPr>
          <p:nvPr/>
        </p:nvSpPr>
        <p:spPr bwMode="auto">
          <a:xfrm>
            <a:off x="5934722" y="3511981"/>
            <a:ext cx="0" cy="1905000"/>
          </a:xfrm>
          <a:prstGeom prst="line">
            <a:avLst/>
          </a:prstGeom>
          <a:noFill/>
          <a:ln w="28575">
            <a:solidFill>
              <a:srgbClr val="335AE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Text Box 12"/>
          <p:cNvSpPr txBox="1">
            <a:spLocks noChangeArrowheads="1"/>
          </p:cNvSpPr>
          <p:nvPr/>
        </p:nvSpPr>
        <p:spPr bwMode="auto">
          <a:xfrm>
            <a:off x="3200400" y="5574558"/>
            <a:ext cx="14478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a:t>圆柱</a:t>
            </a:r>
            <a:endPar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p:sp>
        <p:nvSpPr>
          <p:cNvPr id="13" name="Text Box 13"/>
          <p:cNvSpPr txBox="1">
            <a:spLocks noChangeArrowheads="1"/>
          </p:cNvSpPr>
          <p:nvPr/>
        </p:nvSpPr>
        <p:spPr bwMode="auto">
          <a:xfrm>
            <a:off x="5486400" y="5574558"/>
            <a:ext cx="14478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a:t>圆锥</a:t>
            </a:r>
            <a:endPar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p:sp>
        <p:nvSpPr>
          <p:cNvPr id="14" name="Text Box 14"/>
          <p:cNvSpPr txBox="1">
            <a:spLocks noChangeArrowheads="1"/>
          </p:cNvSpPr>
          <p:nvPr/>
        </p:nvSpPr>
        <p:spPr bwMode="auto">
          <a:xfrm>
            <a:off x="8153400" y="5574558"/>
            <a:ext cx="14478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a:t>圆台</a:t>
            </a:r>
            <a:endPar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p:graphicFrame>
        <p:nvGraphicFramePr>
          <p:cNvPr id="15" name="Object 3"/>
          <p:cNvGraphicFramePr>
            <a:graphicFrameLocks noChangeAspect="1"/>
          </p:cNvGraphicFramePr>
          <p:nvPr/>
        </p:nvGraphicFramePr>
        <p:xfrm>
          <a:off x="7664451" y="3637808"/>
          <a:ext cx="1914525" cy="1857375"/>
        </p:xfrm>
        <a:graphic>
          <a:graphicData uri="http://schemas.openxmlformats.org/presentationml/2006/ole">
            <mc:AlternateContent xmlns:mc="http://schemas.openxmlformats.org/markup-compatibility/2006">
              <mc:Choice xmlns:v="urn:schemas-microsoft-com:vml" Requires="v">
                <p:oleObj spid="_x0000_s5" name="BMP 图像" r:id="rId5" imgW="1914525" imgH="1857375" progId="Paint.Picture">
                  <p:embed/>
                </p:oleObj>
              </mc:Choice>
              <mc:Fallback>
                <p:oleObj name="BMP 图像" r:id="rId5" imgW="1914525" imgH="1857375" progId="Paint.Picture">
                  <p:embed/>
                  <p:pic>
                    <p:nvPicPr>
                      <p:cNvPr id="0" name="Object 3"/>
                      <p:cNvPicPr>
                        <a:picLocks noChangeAspect="1" noChangeArrowheads="1"/>
                      </p:cNvPicPr>
                      <p:nvPr/>
                    </p:nvPicPr>
                    <p:blipFill>
                      <a:blip r:embed="rId6"/>
                      <a:srcRect/>
                      <a:stretch>
                        <a:fillRect/>
                      </a:stretch>
                    </p:blipFill>
                    <p:spPr bwMode="auto">
                      <a:xfrm>
                        <a:off x="7664451" y="3637808"/>
                        <a:ext cx="1914525" cy="185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 name="AutoShape 7"/>
          <p:cNvSpPr>
            <a:spLocks noChangeArrowheads="1"/>
          </p:cNvSpPr>
          <p:nvPr/>
        </p:nvSpPr>
        <p:spPr bwMode="auto">
          <a:xfrm>
            <a:off x="3048000" y="3669557"/>
            <a:ext cx="1066800" cy="1600200"/>
          </a:xfrm>
          <a:prstGeom prst="can">
            <a:avLst>
              <a:gd name="adj" fmla="val 52382"/>
            </a:avLst>
          </a:prstGeom>
          <a:solidFill>
            <a:schemeClr val="accent1">
              <a:alpha val="50000"/>
            </a:schemeClr>
          </a:solidFill>
          <a:ln w="9525">
            <a:solidFill>
              <a:schemeClr val="tx1"/>
            </a:solidFill>
            <a:round/>
          </a:ln>
        </p:spPr>
        <p:txBody>
          <a:bodyPr wrap="none" anchor="ctr"/>
          <a:lstStyle/>
          <a:p>
            <a:endParaRPr lang="zh-CN" altLang="en-US"/>
          </a:p>
        </p:txBody>
      </p:sp>
      <p:sp>
        <p:nvSpPr>
          <p:cNvPr id="37896" name="Text Box 8"/>
          <p:cNvSpPr txBox="1">
            <a:spLocks noChangeArrowheads="1"/>
          </p:cNvSpPr>
          <p:nvPr/>
        </p:nvSpPr>
        <p:spPr bwMode="auto">
          <a:xfrm>
            <a:off x="1208405" y="2009668"/>
            <a:ext cx="10059670" cy="13011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lnSpc>
                <a:spcPct val="150000"/>
              </a:lnSpc>
              <a:spcBef>
                <a:spcPct val="50000"/>
              </a:spcBef>
            </a:pPr>
            <a:r>
              <a:rPr kumimoji="1" lang="zh-CN" altLang="en-US" sz="2800" noProof="0" dirty="0">
                <a:ln>
                  <a:noFill/>
                </a:ln>
                <a:solidFill>
                  <a:srgbClr val="04926A"/>
                </a:solidFill>
                <a:effectLst/>
                <a:uLnTx/>
                <a:uFillTx/>
                <a:latin typeface="Cambria Math" panose="02040503050406030204" charset="0"/>
                <a:ea typeface="黑体" panose="02010609060101010101" pitchFamily="49" charset="-122"/>
              </a:rPr>
              <a:t>旋转体</a:t>
            </a:r>
            <a: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a:t>就是由一个平面图形绕这平面内一条直线旋转一周而成的立体</a:t>
            </a:r>
            <a: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a:t>.</a:t>
            </a:r>
            <a: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a:t>这直线叫做</a:t>
            </a:r>
            <a:r>
              <a:rPr kumimoji="1" lang="zh-CN" altLang="en-US" sz="2800" noProof="0" dirty="0">
                <a:ln>
                  <a:noFill/>
                </a:ln>
                <a:solidFill>
                  <a:srgbClr val="04926A"/>
                </a:solidFill>
                <a:effectLst/>
                <a:uLnTx/>
                <a:uFillTx/>
                <a:latin typeface="Cambria Math" panose="02040503050406030204" charset="0"/>
                <a:ea typeface="黑体" panose="02010609060101010101" pitchFamily="49" charset="-122"/>
              </a:rPr>
              <a:t>旋转轴</a:t>
            </a:r>
            <a:r>
              <a:rPr kumimoji="1" lang="en-US" altLang="zh-CN" sz="2800" noProof="0" dirty="0">
                <a:ln>
                  <a:noFill/>
                </a:ln>
                <a:solidFill>
                  <a:srgbClr val="04926A"/>
                </a:solidFill>
                <a:effectLst/>
                <a:uLnTx/>
                <a:uFillTx/>
                <a:latin typeface="Cambria Math" panose="02040503050406030204" charset="0"/>
                <a:ea typeface="黑体" panose="02010609060101010101" pitchFamily="49" charset="-122"/>
              </a:rPr>
              <a:t>.</a:t>
            </a:r>
            <a:endParaRPr kumimoji="1" lang="en-US" altLang="zh-CN" sz="2800" noProof="0" dirty="0">
              <a:ln>
                <a:noFill/>
              </a:ln>
              <a:solidFill>
                <a:srgbClr val="04926A"/>
              </a:solidFill>
              <a:effectLst/>
              <a:uLnTx/>
              <a:uFillTx/>
              <a:latin typeface="Cambria Math" panose="02040503050406030204" charset="0"/>
              <a:ea typeface="黑体" panose="02010609060101010101" pitchFamily="49" charset="-122"/>
            </a:endParaRPr>
          </a:p>
        </p:txBody>
      </p:sp>
      <p:grpSp>
        <p:nvGrpSpPr>
          <p:cNvPr id="23" name="组合 22"/>
          <p:cNvGrpSpPr/>
          <p:nvPr/>
        </p:nvGrpSpPr>
        <p:grpSpPr>
          <a:xfrm>
            <a:off x="233922" y="195130"/>
            <a:ext cx="11710797" cy="6451285"/>
            <a:chOff x="233922" y="195130"/>
            <a:chExt cx="11710797" cy="6451285"/>
          </a:xfrm>
        </p:grpSpPr>
        <p:sp>
          <p:nvSpPr>
            <p:cNvPr id="24" name="Rectangle 1"/>
            <p:cNvSpPr/>
            <p:nvPr/>
          </p:nvSpPr>
          <p:spPr>
            <a:xfrm>
              <a:off x="297498" y="6450633"/>
              <a:ext cx="82948" cy="81477"/>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5" name="Rectangle 1"/>
            <p:cNvSpPr/>
            <p:nvPr/>
          </p:nvSpPr>
          <p:spPr>
            <a:xfrm rot="2659048">
              <a:off x="9614893" y="278464"/>
              <a:ext cx="147664" cy="140036"/>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6" name="矩形 25"/>
            <p:cNvSpPr/>
            <p:nvPr/>
          </p:nvSpPr>
          <p:spPr>
            <a:xfrm>
              <a:off x="476828" y="6339710"/>
              <a:ext cx="2599690" cy="306705"/>
            </a:xfrm>
            <a:prstGeom prst="rect">
              <a:avLst/>
            </a:prstGeom>
          </p:spPr>
          <p:txBody>
            <a:bodyPr wrap="none">
              <a:spAutoFit/>
            </a:bodyPr>
            <a:lstStyle/>
            <a:p>
              <a:pPr algn="l"/>
              <a:r>
                <a:rPr lang="zh-CN" altLang="en-US" sz="1400" dirty="0">
                  <a:solidFill>
                    <a:schemeClr val="bg1">
                      <a:lumMod val="50000"/>
                    </a:schemeClr>
                  </a:solidFill>
                  <a:latin typeface="微软雅黑" panose="020B0503020204020204" charset="-122"/>
                  <a:ea typeface="微软雅黑" panose="020B0503020204020204" charset="-122"/>
                </a:rPr>
                <a:t>第二节</a:t>
              </a:r>
              <a:r>
                <a:rPr lang="en-US" altLang="zh-CN" sz="1400" dirty="0">
                  <a:solidFill>
                    <a:schemeClr val="bg1">
                      <a:lumMod val="50000"/>
                    </a:schemeClr>
                  </a:solidFill>
                  <a:latin typeface="微软雅黑" panose="020B0503020204020204" charset="-122"/>
                  <a:ea typeface="微软雅黑" panose="020B0503020204020204" charset="-122"/>
                </a:rPr>
                <a:t>  </a:t>
              </a:r>
              <a:r>
                <a:rPr lang="zh-CN" altLang="en-US" sz="1400" dirty="0">
                  <a:solidFill>
                    <a:schemeClr val="bg1">
                      <a:lumMod val="50000"/>
                    </a:schemeClr>
                  </a:solidFill>
                  <a:latin typeface="微软雅黑" panose="020B0503020204020204" charset="-122"/>
                  <a:ea typeface="微软雅黑" panose="020B0503020204020204" charset="-122"/>
                  <a:sym typeface="+mn-ea"/>
                </a:rPr>
                <a:t>定积分在几何上的应用</a:t>
              </a:r>
              <a:endParaRPr lang="zh-CN" altLang="en-US" sz="1400" dirty="0">
                <a:solidFill>
                  <a:schemeClr val="bg1">
                    <a:lumMod val="50000"/>
                  </a:schemeClr>
                </a:solidFill>
                <a:latin typeface="微软雅黑" panose="020B0503020204020204" charset="-122"/>
                <a:ea typeface="微软雅黑" panose="020B0503020204020204" charset="-122"/>
              </a:endParaRPr>
            </a:p>
          </p:txBody>
        </p:sp>
        <p:sp>
          <p:nvSpPr>
            <p:cNvPr id="29" name="矩形 28"/>
            <p:cNvSpPr/>
            <p:nvPr/>
          </p:nvSpPr>
          <p:spPr>
            <a:xfrm>
              <a:off x="9870065" y="195130"/>
              <a:ext cx="1941195" cy="306705"/>
            </a:xfrm>
            <a:prstGeom prst="rect">
              <a:avLst/>
            </a:prstGeom>
          </p:spPr>
          <p:txBody>
            <a:bodyPr wrap="none">
              <a:spAutoFit/>
            </a:bodyPr>
            <a:lstStyle/>
            <a:p>
              <a:pPr algn="l"/>
              <a:r>
                <a:rPr lang="zh-CN" altLang="en-US" sz="1400" dirty="0">
                  <a:solidFill>
                    <a:schemeClr val="bg1">
                      <a:lumMod val="50000"/>
                    </a:schemeClr>
                  </a:solidFill>
                  <a:latin typeface="微软雅黑" panose="020B0503020204020204" charset="-122"/>
                  <a:ea typeface="微软雅黑" panose="020B0503020204020204" charset="-122"/>
                </a:rPr>
                <a:t>第六章   </a:t>
              </a:r>
              <a:r>
                <a:rPr lang="zh-CN" altLang="en-US" sz="1400" dirty="0">
                  <a:solidFill>
                    <a:schemeClr val="bg1">
                      <a:lumMod val="50000"/>
                    </a:schemeClr>
                  </a:solidFill>
                  <a:latin typeface="微软雅黑" panose="020B0503020204020204" charset="-122"/>
                  <a:ea typeface="微软雅黑" panose="020B0503020204020204" charset="-122"/>
                  <a:sym typeface="+mn-ea"/>
                </a:rPr>
                <a:t>定积分的应用</a:t>
              </a:r>
              <a:endParaRPr lang="zh-CN" altLang="en-US" sz="1400" dirty="0">
                <a:solidFill>
                  <a:schemeClr val="bg1">
                    <a:lumMod val="50000"/>
                  </a:schemeClr>
                </a:solidFill>
                <a:latin typeface="微软雅黑" panose="020B0503020204020204" charset="-122"/>
                <a:ea typeface="微软雅黑" panose="020B0503020204020204" charset="-122"/>
              </a:endParaRPr>
            </a:p>
          </p:txBody>
        </p:sp>
        <p:cxnSp>
          <p:nvCxnSpPr>
            <p:cNvPr id="30" name="直接连接符 29"/>
            <p:cNvCxnSpPr/>
            <p:nvPr/>
          </p:nvCxnSpPr>
          <p:spPr>
            <a:xfrm>
              <a:off x="233922" y="350878"/>
              <a:ext cx="9072000" cy="0"/>
            </a:xfrm>
            <a:prstGeom prst="line">
              <a:avLst/>
            </a:prstGeom>
            <a:ln>
              <a:solidFill>
                <a:srgbClr val="04926A"/>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3232719" y="6502750"/>
              <a:ext cx="8712000" cy="0"/>
            </a:xfrm>
            <a:prstGeom prst="line">
              <a:avLst/>
            </a:prstGeom>
            <a:ln>
              <a:solidFill>
                <a:srgbClr val="BBBBBB"/>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903"/>
                                        </p:tgtEl>
                                        <p:attrNameLst>
                                          <p:attrName>style.visibility</p:attrName>
                                        </p:attrNameLst>
                                      </p:cBhvr>
                                      <p:to>
                                        <p:strVal val="visible"/>
                                      </p:to>
                                    </p:set>
                                    <p:animEffect transition="in" filter="wipe(left)">
                                      <p:cBhvr>
                                        <p:cTn id="7" dur="500"/>
                                        <p:tgtEl>
                                          <p:spTgt spid="3790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7896"/>
                                        </p:tgtEl>
                                        <p:attrNameLst>
                                          <p:attrName>style.visibility</p:attrName>
                                        </p:attrNameLst>
                                      </p:cBhvr>
                                      <p:to>
                                        <p:strVal val="visible"/>
                                      </p:to>
                                    </p:set>
                                    <p:animEffect transition="in" filter="wipe(left)">
                                      <p:cBhvr>
                                        <p:cTn id="17" dur="500"/>
                                        <p:tgtEl>
                                          <p:spTgt spid="3789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6" dur="500"/>
                                        <p:tgtEl>
                                          <p:spTgt spid="9"/>
                                        </p:tgtEl>
                                      </p:cBhvr>
                                    </p:animEffect>
                                  </p:childTnLst>
                                </p:cTn>
                              </p:par>
                            </p:childTnLst>
                          </p:cTn>
                        </p:par>
                        <p:par>
                          <p:cTn id="27" fill="hold">
                            <p:stCondLst>
                              <p:cond delay="1000"/>
                            </p:stCondLst>
                            <p:childTnLst>
                              <p:par>
                                <p:cTn id="28" presetID="9" presetClass="entr" presetSubtype="0" fill="hold" grpId="0"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dissolve">
                                      <p:cBhvr>
                                        <p:cTn id="30" dur="500"/>
                                        <p:tgtEl>
                                          <p:spTgt spid="12"/>
                                        </p:tgtEl>
                                      </p:cBhvr>
                                    </p:animEffect>
                                  </p:childTnLst>
                                </p:cTn>
                              </p:par>
                            </p:childTnLst>
                          </p:cTn>
                        </p:par>
                        <p:par>
                          <p:cTn id="31" fill="hold">
                            <p:stCondLst>
                              <p:cond delay="1500"/>
                            </p:stCondLst>
                            <p:childTnLst>
                              <p:par>
                                <p:cTn id="32" presetID="19" presetClass="entr" presetSubtype="10" fill="hold" nodeType="afterEffect">
                                  <p:stCondLst>
                                    <p:cond delay="0"/>
                                  </p:stCondLst>
                                  <p:childTnLst>
                                    <p:set>
                                      <p:cBhvr>
                                        <p:cTn id="33" dur="1" fill="hold">
                                          <p:stCondLst>
                                            <p:cond delay="0"/>
                                          </p:stCondLst>
                                        </p:cTn>
                                        <p:tgtEl>
                                          <p:spTgt spid="19"/>
                                        </p:tgtEl>
                                        <p:attrNameLst>
                                          <p:attrName>style.visibility</p:attrName>
                                        </p:attrNameLst>
                                      </p:cBhvr>
                                      <p:to>
                                        <p:strVal val="visible"/>
                                      </p:to>
                                    </p:set>
                                    <p:anim calcmode="lin" valueType="num">
                                      <p:cBhvr>
                                        <p:cTn id="34" dur="5000" fill="hold"/>
                                        <p:tgtEl>
                                          <p:spTgt spid="19"/>
                                        </p:tgtEl>
                                        <p:attrNameLst>
                                          <p:attrName>ppt_w</p:attrName>
                                        </p:attrNameLst>
                                      </p:cBhvr>
                                      <p:tavLst>
                                        <p:tav tm="0" fmla="#ppt_w*sin(2.5*pi*$)">
                                          <p:val>
                                            <p:fltVal val="0"/>
                                          </p:val>
                                        </p:tav>
                                        <p:tav tm="100000">
                                          <p:val>
                                            <p:fltVal val="1"/>
                                          </p:val>
                                        </p:tav>
                                      </p:tavLst>
                                    </p:anim>
                                    <p:anim calcmode="lin" valueType="num">
                                      <p:cBhvr>
                                        <p:cTn id="35" dur="5000" fill="hold"/>
                                        <p:tgtEl>
                                          <p:spTgt spid="19"/>
                                        </p:tgtEl>
                                        <p:attrNameLst>
                                          <p:attrName>ppt_h</p:attrName>
                                        </p:attrNameLst>
                                      </p:cBhvr>
                                      <p:tavLst>
                                        <p:tav tm="0">
                                          <p:val>
                                            <p:strVal val="#ppt_h"/>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barn(inVertical)">
                                      <p:cBhvr>
                                        <p:cTn id="40" dur="500"/>
                                        <p:tgtEl>
                                          <p:spTgt spid="10"/>
                                        </p:tgtEl>
                                      </p:cBhvr>
                                    </p:animEffect>
                                  </p:childTnLst>
                                </p:cTn>
                              </p:par>
                            </p:childTnLst>
                          </p:cTn>
                        </p:par>
                        <p:par>
                          <p:cTn id="41" fill="hold">
                            <p:stCondLst>
                              <p:cond delay="500"/>
                            </p:stCondLst>
                            <p:childTnLst>
                              <p:par>
                                <p:cTn id="42" presetID="16" presetClass="entr" presetSubtype="21" fill="hold" nodeType="after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barn(inVertical)">
                                      <p:cBhvr>
                                        <p:cTn id="44" dur="500"/>
                                        <p:tgtEl>
                                          <p:spTgt spid="11"/>
                                        </p:tgtEl>
                                      </p:cBhvr>
                                    </p:animEffect>
                                  </p:childTnLst>
                                </p:cTn>
                              </p:par>
                            </p:childTnLst>
                          </p:cTn>
                        </p:par>
                        <p:par>
                          <p:cTn id="45" fill="hold">
                            <p:stCondLst>
                              <p:cond delay="1000"/>
                            </p:stCondLst>
                            <p:childTnLst>
                              <p:par>
                                <p:cTn id="46" presetID="9" presetClass="entr" presetSubtype="0" fill="hold" grpId="0" nodeType="after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dissolve">
                                      <p:cBhvr>
                                        <p:cTn id="48" dur="500"/>
                                        <p:tgtEl>
                                          <p:spTgt spid="13"/>
                                        </p:tgtEl>
                                      </p:cBhvr>
                                    </p:animEffect>
                                  </p:childTnLst>
                                </p:cTn>
                              </p:par>
                            </p:childTnLst>
                          </p:cTn>
                        </p:par>
                        <p:par>
                          <p:cTn id="49" fill="hold">
                            <p:stCondLst>
                              <p:cond delay="1500"/>
                            </p:stCondLst>
                            <p:childTnLst>
                              <p:par>
                                <p:cTn id="50" presetID="19" presetClass="entr" presetSubtype="10" fill="hold" nodeType="afterEffect">
                                  <p:stCondLst>
                                    <p:cond delay="0"/>
                                  </p:stCondLst>
                                  <p:childTnLst>
                                    <p:set>
                                      <p:cBhvr>
                                        <p:cTn id="51" dur="1" fill="hold">
                                          <p:stCondLst>
                                            <p:cond delay="0"/>
                                          </p:stCondLst>
                                        </p:cTn>
                                        <p:tgtEl>
                                          <p:spTgt spid="17"/>
                                        </p:tgtEl>
                                        <p:attrNameLst>
                                          <p:attrName>style.visibility</p:attrName>
                                        </p:attrNameLst>
                                      </p:cBhvr>
                                      <p:to>
                                        <p:strVal val="visible"/>
                                      </p:to>
                                    </p:set>
                                    <p:anim calcmode="lin" valueType="num">
                                      <p:cBhvr>
                                        <p:cTn id="52" dur="5000" fill="hold"/>
                                        <p:tgtEl>
                                          <p:spTgt spid="17"/>
                                        </p:tgtEl>
                                        <p:attrNameLst>
                                          <p:attrName>ppt_w</p:attrName>
                                        </p:attrNameLst>
                                      </p:cBhvr>
                                      <p:tavLst>
                                        <p:tav tm="0" fmla="#ppt_w*sin(2.5*pi*$)">
                                          <p:val>
                                            <p:fltVal val="0"/>
                                          </p:val>
                                        </p:tav>
                                        <p:tav tm="100000">
                                          <p:val>
                                            <p:fltVal val="1"/>
                                          </p:val>
                                        </p:tav>
                                      </p:tavLst>
                                    </p:anim>
                                    <p:anim calcmode="lin" valueType="num">
                                      <p:cBhvr>
                                        <p:cTn id="53" dur="5000" fill="hold"/>
                                        <p:tgtEl>
                                          <p:spTgt spid="17"/>
                                        </p:tgtEl>
                                        <p:attrNameLst>
                                          <p:attrName>ppt_h</p:attrName>
                                        </p:attrNameLst>
                                      </p:cBhvr>
                                      <p:tavLst>
                                        <p:tav tm="0">
                                          <p:val>
                                            <p:strVal val="#ppt_h"/>
                                          </p:val>
                                        </p:tav>
                                        <p:tav tm="100000">
                                          <p:val>
                                            <p:strVal val="#ppt_h"/>
                                          </p:val>
                                        </p:tav>
                                      </p:tavLst>
                                    </p:anim>
                                  </p:childTnLst>
                                </p:cTn>
                              </p:par>
                            </p:childTnLst>
                          </p:cTn>
                        </p:par>
                      </p:childTnLst>
                    </p:cTn>
                  </p:par>
                  <p:par>
                    <p:cTn id="54" fill="hold">
                      <p:stCondLst>
                        <p:cond delay="indefinite"/>
                      </p:stCondLst>
                      <p:childTnLst>
                        <p:par>
                          <p:cTn id="55" fill="hold">
                            <p:stCondLst>
                              <p:cond delay="0"/>
                            </p:stCondLst>
                            <p:childTnLst>
                              <p:par>
                                <p:cTn id="56" presetID="16" presetClass="entr" presetSubtype="21" fill="hold" nodeType="clickEffect">
                                  <p:stCondLst>
                                    <p:cond delay="0"/>
                                  </p:stCondLst>
                                  <p:childTnLst>
                                    <p:set>
                                      <p:cBhvr>
                                        <p:cTn id="57" dur="1" fill="hold">
                                          <p:stCondLst>
                                            <p:cond delay="0"/>
                                          </p:stCondLst>
                                        </p:cTn>
                                        <p:tgtEl>
                                          <p:spTgt spid="37890"/>
                                        </p:tgtEl>
                                        <p:attrNameLst>
                                          <p:attrName>style.visibility</p:attrName>
                                        </p:attrNameLst>
                                      </p:cBhvr>
                                      <p:to>
                                        <p:strVal val="visible"/>
                                      </p:to>
                                    </p:set>
                                    <p:animEffect transition="in" filter="barn(inVertical)">
                                      <p:cBhvr>
                                        <p:cTn id="58" dur="500"/>
                                        <p:tgtEl>
                                          <p:spTgt spid="37890"/>
                                        </p:tgtEl>
                                      </p:cBhvr>
                                    </p:animEffect>
                                  </p:childTnLst>
                                </p:cTn>
                              </p:par>
                            </p:childTnLst>
                          </p:cTn>
                        </p:par>
                        <p:par>
                          <p:cTn id="59" fill="hold">
                            <p:stCondLst>
                              <p:cond delay="500"/>
                            </p:stCondLst>
                            <p:childTnLst>
                              <p:par>
                                <p:cTn id="60" presetID="22" presetClass="entr" presetSubtype="8" fill="hold" nodeType="afterEffect">
                                  <p:stCondLst>
                                    <p:cond delay="0"/>
                                  </p:stCondLst>
                                  <p:childTnLst>
                                    <p:set>
                                      <p:cBhvr>
                                        <p:cTn id="61" dur="1" fill="hold">
                                          <p:stCondLst>
                                            <p:cond delay="0"/>
                                          </p:stCondLst>
                                        </p:cTn>
                                        <p:tgtEl>
                                          <p:spTgt spid="6"/>
                                        </p:tgtEl>
                                        <p:attrNameLst>
                                          <p:attrName>style.visibility</p:attrName>
                                        </p:attrNameLst>
                                      </p:cBhvr>
                                      <p:to>
                                        <p:strVal val="visible"/>
                                      </p:to>
                                    </p:set>
                                    <p:animEffect transition="in" filter="wipe(left)">
                                      <p:cBhvr>
                                        <p:cTn id="62" dur="500"/>
                                        <p:tgtEl>
                                          <p:spTgt spid="6"/>
                                        </p:tgtEl>
                                      </p:cBhvr>
                                    </p:animEffect>
                                  </p:childTnLst>
                                </p:cTn>
                              </p:par>
                            </p:childTnLst>
                          </p:cTn>
                        </p:par>
                        <p:par>
                          <p:cTn id="63" fill="hold">
                            <p:stCondLst>
                              <p:cond delay="1000"/>
                            </p:stCondLst>
                            <p:childTnLst>
                              <p:par>
                                <p:cTn id="64" presetID="9" presetClass="entr" presetSubtype="0" fill="hold" grpId="0" nodeType="after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dissolve">
                                      <p:cBhvr>
                                        <p:cTn id="66" dur="500"/>
                                        <p:tgtEl>
                                          <p:spTgt spid="14"/>
                                        </p:tgtEl>
                                      </p:cBhvr>
                                    </p:animEffect>
                                  </p:childTnLst>
                                </p:cTn>
                              </p:par>
                            </p:childTnLst>
                          </p:cTn>
                        </p:par>
                        <p:par>
                          <p:cTn id="67" fill="hold">
                            <p:stCondLst>
                              <p:cond delay="1500"/>
                            </p:stCondLst>
                            <p:childTnLst>
                              <p:par>
                                <p:cTn id="68" presetID="19" presetClass="entr" presetSubtype="10" fill="hold" nodeType="afterEffect">
                                  <p:stCondLst>
                                    <p:cond delay="0"/>
                                  </p:stCondLst>
                                  <p:childTnLst>
                                    <p:set>
                                      <p:cBhvr>
                                        <p:cTn id="69" dur="1" fill="hold">
                                          <p:stCondLst>
                                            <p:cond delay="0"/>
                                          </p:stCondLst>
                                        </p:cTn>
                                        <p:tgtEl>
                                          <p:spTgt spid="15"/>
                                        </p:tgtEl>
                                        <p:attrNameLst>
                                          <p:attrName>style.visibility</p:attrName>
                                        </p:attrNameLst>
                                      </p:cBhvr>
                                      <p:to>
                                        <p:strVal val="visible"/>
                                      </p:to>
                                    </p:set>
                                    <p:anim calcmode="lin" valueType="num">
                                      <p:cBhvr>
                                        <p:cTn id="70" dur="5000" fill="hold"/>
                                        <p:tgtEl>
                                          <p:spTgt spid="15"/>
                                        </p:tgtEl>
                                        <p:attrNameLst>
                                          <p:attrName>ppt_w</p:attrName>
                                        </p:attrNameLst>
                                      </p:cBhvr>
                                      <p:tavLst>
                                        <p:tav tm="0" fmla="#ppt_w*sin(2.5*pi*$)">
                                          <p:val>
                                            <p:fltVal val="0"/>
                                          </p:val>
                                        </p:tav>
                                        <p:tav tm="100000">
                                          <p:val>
                                            <p:fltVal val="1"/>
                                          </p:val>
                                        </p:tav>
                                      </p:tavLst>
                                    </p:anim>
                                    <p:anim calcmode="lin" valueType="num">
                                      <p:cBhvr>
                                        <p:cTn id="71" dur="5000" fill="hold"/>
                                        <p:tgtEl>
                                          <p:spTgt spid="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03" grpId="0"/>
      <p:bldP spid="4" grpId="0"/>
      <p:bldP spid="12" grpId="0" autoUpdateAnimBg="0"/>
      <p:bldP spid="13" grpId="0" autoUpdateAnimBg="0"/>
      <p:bldP spid="14" grpId="0" autoUpdateAnimBg="0"/>
      <p:bldP spid="3789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0" y="4445"/>
            <a:ext cx="12192000" cy="6858000"/>
            <a:chOff x="0" y="0"/>
            <a:chExt cx="19200" cy="10800"/>
          </a:xfrm>
        </p:grpSpPr>
        <p:sp>
          <p:nvSpPr>
            <p:cNvPr id="27" name="Rectangle 1"/>
            <p:cNvSpPr/>
            <p:nvPr/>
          </p:nvSpPr>
          <p:spPr>
            <a:xfrm>
              <a:off x="0" y="0"/>
              <a:ext cx="19200" cy="10800"/>
            </a:xfrm>
            <a:prstGeom prst="rect">
              <a:avLst/>
            </a:prstGeom>
            <a:gradFill flip="none" rotWithShape="1">
              <a:gsLst>
                <a:gs pos="0">
                  <a:srgbClr val="009E47">
                    <a:alpha val="88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1"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8" name="圆角矩形 27"/>
            <p:cNvSpPr/>
            <p:nvPr/>
          </p:nvSpPr>
          <p:spPr>
            <a:xfrm>
              <a:off x="354" y="310"/>
              <a:ext cx="18493" cy="10167"/>
            </a:xfrm>
            <a:prstGeom prst="roundRect">
              <a:avLst>
                <a:gd name="adj" fmla="val 3499"/>
              </a:avLst>
            </a:prstGeom>
            <a:solidFill>
              <a:schemeClr val="bg1"/>
            </a:solidFill>
            <a:ln>
              <a:solidFill>
                <a:srgbClr val="17908C"/>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cs typeface="+mn-ea"/>
                <a:sym typeface="+mn-lt"/>
              </a:endParaRPr>
            </a:p>
          </p:txBody>
        </p:sp>
      </p:grpSp>
      <p:grpSp>
        <p:nvGrpSpPr>
          <p:cNvPr id="17" name="组合 16"/>
          <p:cNvGrpSpPr/>
          <p:nvPr/>
        </p:nvGrpSpPr>
        <p:grpSpPr>
          <a:xfrm>
            <a:off x="7344410" y="2505075"/>
            <a:ext cx="3822700" cy="2261235"/>
            <a:chOff x="11873" y="3940"/>
            <a:chExt cx="6020" cy="3561"/>
          </a:xfrm>
        </p:grpSpPr>
        <p:grpSp>
          <p:nvGrpSpPr>
            <p:cNvPr id="37" name="组合 36"/>
            <p:cNvGrpSpPr/>
            <p:nvPr/>
          </p:nvGrpSpPr>
          <p:grpSpPr>
            <a:xfrm>
              <a:off x="11873" y="3940"/>
              <a:ext cx="6020" cy="3561"/>
              <a:chOff x="5984817" y="3136160"/>
              <a:chExt cx="3822668" cy="2261513"/>
            </a:xfrm>
          </p:grpSpPr>
          <mc:AlternateContent xmlns:mc="http://schemas.openxmlformats.org/markup-compatibility/2006">
            <mc:Choice xmlns:a14="http://schemas.microsoft.com/office/drawing/2010/main" Requires="a14">
              <p:sp>
                <p:nvSpPr>
                  <p:cNvPr id="39" name="对象 38"/>
                  <p:cNvSpPr txBox="1"/>
                  <p:nvPr/>
                </p:nvSpPr>
                <p:spPr>
                  <a:xfrm>
                    <a:off x="9394104" y="4687021"/>
                    <a:ext cx="413381" cy="345482"/>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14:m>
                      <m:oMathPara xmlns:m="http://schemas.openxmlformats.org/officeDocument/2006/math">
                        <m:oMathParaPr>
                          <m:jc m:val="left"/>
                        </m:oMathParaPr>
                        <m:oMath xmlns:m="http://schemas.openxmlformats.org/officeDocument/2006/math">
                          <m:r>
                            <a:rPr kumimoji="1" lang="en-US" altLang="zh-CN" i="1" dirty="0">
                              <a:latin typeface="Cambria Math" panose="02040503050406030204" charset="0"/>
                              <a:ea typeface="黑体" panose="02010609060101010101" pitchFamily="49" charset="-122"/>
                            </a:rPr>
                            <m:t>𝑥</m:t>
                          </m:r>
                        </m:oMath>
                      </m:oMathPara>
                    </a14:m>
                    <a:endParaRPr kumimoji="1" lang="en-US" altLang="zh-CN" i="1" dirty="0">
                      <a:latin typeface="Cambria Math" panose="02040503050406030204" charset="0"/>
                      <a:ea typeface="黑体" panose="02010609060101010101" pitchFamily="49" charset="-122"/>
                    </a:endParaRPr>
                  </a:p>
                </p:txBody>
              </p:sp>
            </mc:Choice>
            <mc:Fallback>
              <p:sp>
                <p:nvSpPr>
                  <p:cNvPr id="39" name="对象 38"/>
                  <p:cNvSpPr txBox="1">
                    <a:spLocks noRot="1" noChangeAspect="1" noMove="1" noResize="1" noEditPoints="1" noAdjustHandles="1" noChangeArrowheads="1" noChangeShapeType="1" noTextEdit="1"/>
                  </p:cNvSpPr>
                  <p:nvPr/>
                </p:nvSpPr>
                <p:spPr>
                  <a:xfrm>
                    <a:off x="9394104" y="4687021"/>
                    <a:ext cx="413381" cy="345482"/>
                  </a:xfrm>
                  <a:prstGeom prst="rect">
                    <a:avLst/>
                  </a:prstGeom>
                  <a:blipFill rotWithShape="1">
                    <a:blip r:embed="rId1"/>
                  </a:blipFill>
                </p:spPr>
                <p:txBody>
                  <a:bodyPr/>
                  <a:lstStyle/>
                  <a:p>
                    <a:r>
                      <a:rPr lang="zh-CN" altLang="en-US">
                        <a:noFill/>
                      </a:rPr>
                      <a:t> </a:t>
                    </a:r>
                  </a:p>
                </p:txBody>
              </p:sp>
            </mc:Fallback>
          </mc:AlternateContent>
          <p:sp>
            <p:nvSpPr>
              <p:cNvPr id="38" name="Line 38"/>
              <p:cNvSpPr>
                <a:spLocks noChangeShapeType="1"/>
              </p:cNvSpPr>
              <p:nvPr/>
            </p:nvSpPr>
            <p:spPr bwMode="auto">
              <a:xfrm flipV="1">
                <a:off x="5984817" y="4761071"/>
                <a:ext cx="3715988" cy="11723"/>
              </a:xfrm>
              <a:prstGeom prst="line">
                <a:avLst/>
              </a:prstGeom>
              <a:noFill/>
              <a:ln w="0">
                <a:solidFill>
                  <a:schemeClr val="tx1"/>
                </a:solidFill>
                <a:round/>
                <a:tailEnd type="triangle" w="med" len="med"/>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1" i="0" u="none" strike="noStrike" kern="1200" cap="none" spc="0" normalizeH="0" baseline="0" noProof="0" dirty="0">
                  <a:ln>
                    <a:noFill/>
                  </a:ln>
                  <a:solidFill>
                    <a:prstClr val="black"/>
                  </a:solidFill>
                  <a:effectLst/>
                  <a:uLnTx/>
                  <a:uFillTx/>
                  <a:latin typeface="Cambria Math" panose="02040503050406030204" charset="0"/>
                  <a:ea typeface="楷体_GB2312" pitchFamily="49" charset="-122"/>
                  <a:cs typeface="+mn-cs"/>
                </a:endParaRPr>
              </a:p>
            </p:txBody>
          </p:sp>
          <p:sp>
            <p:nvSpPr>
              <p:cNvPr id="41" name="Line 39"/>
              <p:cNvSpPr>
                <a:spLocks noChangeShapeType="1"/>
              </p:cNvSpPr>
              <p:nvPr/>
            </p:nvSpPr>
            <p:spPr bwMode="auto">
              <a:xfrm>
                <a:off x="6607088" y="3374937"/>
                <a:ext cx="14762" cy="2022736"/>
              </a:xfrm>
              <a:prstGeom prst="line">
                <a:avLst/>
              </a:prstGeom>
              <a:noFill/>
              <a:ln w="0">
                <a:solidFill>
                  <a:schemeClr val="tx1"/>
                </a:solidFill>
                <a:round/>
                <a:headEnd type="triangle" w="med" len="med"/>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1" i="0" u="none" strike="noStrike" kern="1200" cap="none" spc="0" normalizeH="0" baseline="0" noProof="0" dirty="0">
                  <a:ln>
                    <a:noFill/>
                  </a:ln>
                  <a:solidFill>
                    <a:prstClr val="black"/>
                  </a:solidFill>
                  <a:effectLst/>
                  <a:uLnTx/>
                  <a:uFillTx/>
                  <a:latin typeface="Cambria Math" panose="02040503050406030204" charset="0"/>
                  <a:ea typeface="楷体_GB2312" pitchFamily="49" charset="-122"/>
                  <a:cs typeface="+mn-cs"/>
                </a:endParaRPr>
              </a:p>
            </p:txBody>
          </p:sp>
          <mc:AlternateContent xmlns:mc="http://schemas.openxmlformats.org/markup-compatibility/2006">
            <mc:Choice xmlns:a14="http://schemas.microsoft.com/office/drawing/2010/main" Requires="a14">
              <p:sp>
                <p:nvSpPr>
                  <p:cNvPr id="42" name="对象 41"/>
                  <p:cNvSpPr txBox="1"/>
                  <p:nvPr/>
                </p:nvSpPr>
                <p:spPr>
                  <a:xfrm>
                    <a:off x="6243896" y="3136160"/>
                    <a:ext cx="413381" cy="454716"/>
                  </a:xfrm>
                  <a:prstGeom prst="rect">
                    <a:avLst/>
                  </a:prstGeom>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14:m>
                      <m:oMathPara xmlns:m="http://schemas.openxmlformats.org/officeDocument/2006/math">
                        <m:oMathParaPr>
                          <m:jc m:val="left"/>
                        </m:oMathParaPr>
                        <m:oMath xmlns:m="http://schemas.openxmlformats.org/officeDocument/2006/math">
                          <m:r>
                            <a:rPr kumimoji="1" lang="en-US" altLang="zh-CN" i="1" dirty="0">
                              <a:latin typeface="Cambria Math" panose="02040503050406030204" charset="0"/>
                              <a:ea typeface="黑体" panose="02010609060101010101" pitchFamily="49" charset="-122"/>
                            </a:rPr>
                            <m:t>𝑦</m:t>
                          </m:r>
                        </m:oMath>
                      </m:oMathPara>
                    </a14:m>
                    <a:endParaRPr kumimoji="1" lang="en-US" altLang="zh-CN" i="1" dirty="0">
                      <a:latin typeface="Cambria Math" panose="02040503050406030204" charset="0"/>
                      <a:ea typeface="黑体" panose="02010609060101010101" pitchFamily="49" charset="-122"/>
                    </a:endParaRPr>
                  </a:p>
                </p:txBody>
              </p:sp>
            </mc:Choice>
            <mc:Fallback>
              <p:sp>
                <p:nvSpPr>
                  <p:cNvPr id="42" name="对象 41"/>
                  <p:cNvSpPr txBox="1">
                    <a:spLocks noRot="1" noChangeAspect="1" noMove="1" noResize="1" noEditPoints="1" noAdjustHandles="1" noChangeArrowheads="1" noChangeShapeType="1" noTextEdit="1"/>
                  </p:cNvSpPr>
                  <p:nvPr/>
                </p:nvSpPr>
                <p:spPr>
                  <a:xfrm>
                    <a:off x="6243896" y="3136160"/>
                    <a:ext cx="413381" cy="454716"/>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3" name="对象 42"/>
                  <p:cNvSpPr txBox="1"/>
                  <p:nvPr/>
                </p:nvSpPr>
                <p:spPr>
                  <a:xfrm>
                    <a:off x="6336605" y="4739732"/>
                    <a:ext cx="377187" cy="360724"/>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14:m>
                      <m:oMathPara xmlns:m="http://schemas.openxmlformats.org/officeDocument/2006/math">
                        <m:oMathParaPr>
                          <m:jc m:val="left"/>
                        </m:oMathParaPr>
                        <m:oMath xmlns:m="http://schemas.openxmlformats.org/officeDocument/2006/math">
                          <m:r>
                            <a:rPr kumimoji="1" lang="en-US" altLang="zh-CN" i="1" dirty="0">
                              <a:latin typeface="Cambria Math" panose="02040503050406030204" charset="0"/>
                              <a:ea typeface="黑体" panose="02010609060101010101" pitchFamily="49" charset="-122"/>
                            </a:rPr>
                            <m:t>𝑂</m:t>
                          </m:r>
                        </m:oMath>
                      </m:oMathPara>
                    </a14:m>
                    <a:endParaRPr kumimoji="1" lang="en-US" altLang="zh-CN" i="1" dirty="0">
                      <a:latin typeface="Cambria Math" panose="02040503050406030204" charset="0"/>
                      <a:ea typeface="黑体" panose="02010609060101010101" pitchFamily="49" charset="-122"/>
                    </a:endParaRPr>
                  </a:p>
                </p:txBody>
              </p:sp>
            </mc:Choice>
            <mc:Fallback>
              <p:sp>
                <p:nvSpPr>
                  <p:cNvPr id="43" name="对象 42"/>
                  <p:cNvSpPr txBox="1">
                    <a:spLocks noRot="1" noChangeAspect="1" noMove="1" noResize="1" noEditPoints="1" noAdjustHandles="1" noChangeArrowheads="1" noChangeShapeType="1" noTextEdit="1"/>
                  </p:cNvSpPr>
                  <p:nvPr/>
                </p:nvSpPr>
                <p:spPr>
                  <a:xfrm>
                    <a:off x="6336605" y="4739732"/>
                    <a:ext cx="377187" cy="360724"/>
                  </a:xfrm>
                  <a:prstGeom prst="rect">
                    <a:avLst/>
                  </a:prstGeom>
                  <a:blipFill rotWithShape="1">
                    <a:blip r:embed="rId3"/>
                  </a:blipFill>
                </p:spPr>
                <p:txBody>
                  <a:bodyPr/>
                  <a:lstStyle/>
                  <a:p>
                    <a:r>
                      <a:rPr lang="zh-CN" altLang="en-US">
                        <a:noFill/>
                      </a:rPr>
                      <a:t> </a:t>
                    </a:r>
                  </a:p>
                </p:txBody>
              </p:sp>
            </mc:Fallback>
          </mc:AlternateContent>
        </p:grpSp>
        <p:pic>
          <p:nvPicPr>
            <p:cNvPr id="44" name="图片 43"/>
            <p:cNvPicPr>
              <a:picLocks noChangeAspect="1" noChangeArrowheads="1"/>
            </p:cNvPicPr>
            <p:nvPr/>
          </p:nvPicPr>
          <p:blipFill>
            <a:blip r:embed="rId4"/>
            <a:srcRect/>
            <a:stretch>
              <a:fillRect/>
            </a:stretch>
          </p:blipFill>
          <p:spPr bwMode="auto">
            <a:xfrm>
              <a:off x="13360" y="4579"/>
              <a:ext cx="3540" cy="1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mc:AlternateContent xmlns:mc="http://schemas.openxmlformats.org/markup-compatibility/2006">
          <mc:Choice xmlns:a14="http://schemas.microsoft.com/office/drawing/2010/main" Requires="a14">
            <p:sp>
              <p:nvSpPr>
                <p:cNvPr id="45" name="对象 35"/>
                <p:cNvSpPr txBox="1"/>
                <p:nvPr/>
              </p:nvSpPr>
              <p:spPr>
                <a:xfrm>
                  <a:off x="13650" y="4534"/>
                  <a:ext cx="1932" cy="660"/>
                </a:xfrm>
                <a:prstGeom prst="rect">
                  <a:avLst/>
                </a:prstGeom>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14:m>
                    <m:oMathPara xmlns:m="http://schemas.openxmlformats.org/officeDocument/2006/math">
                      <m:oMathParaPr>
                        <m:jc m:val="left"/>
                      </m:oMathParaPr>
                      <m:oMath xmlns:m="http://schemas.openxmlformats.org/officeDocument/2006/math">
                        <m:r>
                          <a:rPr kumimoji="1" lang="en-US" altLang="zh-CN" dirty="0">
                            <a:latin typeface="Cambria Math" panose="02040503050406030204" charset="0"/>
                            <a:ea typeface="黑体" panose="02010609060101010101" pitchFamily="49" charset="-122"/>
                          </a:rPr>
                          <m:t>𝑦</m:t>
                        </m:r>
                        <m:r>
                          <a:rPr kumimoji="1" lang="en-US" altLang="zh-CN" dirty="0">
                            <a:latin typeface="Cambria Math" panose="02040503050406030204" charset="0"/>
                            <a:ea typeface="黑体" panose="02010609060101010101" pitchFamily="49" charset="-122"/>
                          </a:rPr>
                          <m:t>=</m:t>
                        </m:r>
                        <m:r>
                          <a:rPr kumimoji="1" lang="en-US" altLang="zh-CN" dirty="0">
                            <a:latin typeface="Cambria Math" panose="02040503050406030204" charset="0"/>
                            <a:ea typeface="黑体" panose="02010609060101010101" pitchFamily="49" charset="-122"/>
                          </a:rPr>
                          <m:t>𝑓</m:t>
                        </m:r>
                        <m:r>
                          <a:rPr kumimoji="1" lang="en-US" altLang="zh-CN" dirty="0">
                            <a:latin typeface="Cambria Math" panose="02040503050406030204" charset="0"/>
                            <a:ea typeface="黑体" panose="02010609060101010101" pitchFamily="49" charset="-122"/>
                          </a:rPr>
                          <m:t>(</m:t>
                        </m:r>
                        <m:r>
                          <a:rPr kumimoji="1" lang="en-US" altLang="zh-CN" dirty="0">
                            <a:latin typeface="Cambria Math" panose="02040503050406030204" charset="0"/>
                            <a:ea typeface="黑体" panose="02010609060101010101" pitchFamily="49" charset="-122"/>
                          </a:rPr>
                          <m:t>𝑥</m:t>
                        </m:r>
                        <m:r>
                          <a:rPr kumimoji="1" lang="en-US" altLang="zh-CN" dirty="0">
                            <a:latin typeface="Cambria Math" panose="02040503050406030204" charset="0"/>
                            <a:ea typeface="黑体" panose="02010609060101010101" pitchFamily="49" charset="-122"/>
                          </a:rPr>
                          <m:t>)</m:t>
                        </m:r>
                      </m:oMath>
                    </m:oMathPara>
                  </a14:m>
                  <a:endParaRPr kumimoji="1" lang="en-US" altLang="zh-CN" dirty="0">
                    <a:latin typeface="Cambria Math" panose="02040503050406030204" charset="0"/>
                    <a:ea typeface="黑体" panose="02010609060101010101" pitchFamily="49" charset="-122"/>
                  </a:endParaRPr>
                </a:p>
              </p:txBody>
            </p:sp>
          </mc:Choice>
          <mc:Fallback>
            <p:sp>
              <p:nvSpPr>
                <p:cNvPr id="45" name="对象 35"/>
                <p:cNvSpPr txBox="1">
                  <a:spLocks noRot="1" noChangeAspect="1" noMove="1" noResize="1" noEditPoints="1" noAdjustHandles="1" noChangeArrowheads="1" noChangeShapeType="1" noTextEdit="1"/>
                </p:cNvSpPr>
                <p:nvPr/>
              </p:nvSpPr>
              <p:spPr>
                <a:xfrm>
                  <a:off x="13650" y="4534"/>
                  <a:ext cx="1932" cy="660"/>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6" name="对象 36"/>
                <p:cNvSpPr txBox="1"/>
                <p:nvPr/>
              </p:nvSpPr>
              <p:spPr>
                <a:xfrm>
                  <a:off x="13512" y="6538"/>
                  <a:ext cx="614" cy="508"/>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14:m>
                    <m:oMathPara xmlns:m="http://schemas.openxmlformats.org/officeDocument/2006/math">
                      <m:oMathParaPr>
                        <m:jc m:val="left"/>
                      </m:oMathParaPr>
                      <m:oMath xmlns:m="http://schemas.openxmlformats.org/officeDocument/2006/math">
                        <m:r>
                          <a:rPr kumimoji="1" lang="en-US" altLang="zh-CN" dirty="0">
                            <a:latin typeface="Cambria Math" panose="02040503050406030204" charset="0"/>
                            <a:ea typeface="黑体" panose="02010609060101010101" pitchFamily="49" charset="-122"/>
                          </a:rPr>
                          <m:t>𝑎</m:t>
                        </m:r>
                      </m:oMath>
                    </m:oMathPara>
                  </a14:m>
                  <a:endParaRPr kumimoji="1" lang="en-US" altLang="zh-CN" dirty="0">
                    <a:latin typeface="Cambria Math" panose="02040503050406030204" charset="0"/>
                    <a:ea typeface="黑体" panose="02010609060101010101" pitchFamily="49" charset="-122"/>
                  </a:endParaRPr>
                </a:p>
              </p:txBody>
            </p:sp>
          </mc:Choice>
          <mc:Fallback>
            <p:sp>
              <p:nvSpPr>
                <p:cNvPr id="46" name="对象 36"/>
                <p:cNvSpPr txBox="1">
                  <a:spLocks noRot="1" noChangeAspect="1" noMove="1" noResize="1" noEditPoints="1" noAdjustHandles="1" noChangeArrowheads="1" noChangeShapeType="1" noTextEdit="1"/>
                </p:cNvSpPr>
                <p:nvPr/>
              </p:nvSpPr>
              <p:spPr>
                <a:xfrm>
                  <a:off x="13512" y="6538"/>
                  <a:ext cx="614" cy="508"/>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7" name="对象 37"/>
                <p:cNvSpPr txBox="1"/>
                <p:nvPr/>
              </p:nvSpPr>
              <p:spPr>
                <a:xfrm>
                  <a:off x="16604" y="6569"/>
                  <a:ext cx="576" cy="488"/>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dirty="0">
                            <a:latin typeface="Cambria Math" panose="02040503050406030204" charset="0"/>
                            <a:ea typeface="黑体" panose="02010609060101010101" pitchFamily="49" charset="-122"/>
                          </a:rPr>
                          <m:t>𝑏</m:t>
                        </m:r>
                      </m:oMath>
                    </m:oMathPara>
                  </a14:m>
                  <a:endParaRPr lang="zh-CN" altLang="en-US" i="1">
                    <a:solidFill>
                      <a:srgbClr val="000000"/>
                    </a:solidFill>
                    <a:latin typeface="Cambria Math" panose="02040503050406030204" charset="0"/>
                    <a:cs typeface="Cambria Math" panose="02040503050406030204" charset="0"/>
                  </a:endParaRPr>
                </a:p>
              </p:txBody>
            </p:sp>
          </mc:Choice>
          <mc:Fallback>
            <p:sp>
              <p:nvSpPr>
                <p:cNvPr id="47" name="对象 37"/>
                <p:cNvSpPr txBox="1">
                  <a:spLocks noRot="1" noChangeAspect="1" noMove="1" noResize="1" noEditPoints="1" noAdjustHandles="1" noChangeArrowheads="1" noChangeShapeType="1" noTextEdit="1"/>
                </p:cNvSpPr>
                <p:nvPr/>
              </p:nvSpPr>
              <p:spPr>
                <a:xfrm>
                  <a:off x="16604" y="6569"/>
                  <a:ext cx="576" cy="488"/>
                </a:xfrm>
                <a:prstGeom prst="rect">
                  <a:avLst/>
                </a:prstGeom>
                <a:blipFill rotWithShape="1">
                  <a:blip r:embed="rId7"/>
                </a:blipFill>
              </p:spPr>
              <p:txBody>
                <a:bodyPr/>
                <a:lstStyle/>
                <a:p>
                  <a:r>
                    <a:rPr lang="zh-CN" altLang="en-US">
                      <a:noFill/>
                    </a:rPr>
                    <a:t> </a:t>
                  </a:r>
                </a:p>
              </p:txBody>
            </p:sp>
          </mc:Fallback>
        </mc:AlternateContent>
      </p:grpSp>
      <p:sp>
        <p:nvSpPr>
          <p:cNvPr id="48" name="Line 12"/>
          <p:cNvSpPr>
            <a:spLocks noChangeShapeType="1"/>
          </p:cNvSpPr>
          <p:nvPr/>
        </p:nvSpPr>
        <p:spPr bwMode="auto">
          <a:xfrm>
            <a:off x="9170670" y="3561080"/>
            <a:ext cx="6350" cy="572770"/>
          </a:xfrm>
          <a:prstGeom prst="line">
            <a:avLst/>
          </a:prstGeom>
          <a:noFill/>
          <a:ln w="19050">
            <a:solidFill>
              <a:schemeClr val="tx1"/>
            </a:solidFill>
            <a:prstDash val="sysDot"/>
            <a:round/>
          </a:ln>
          <a:extLst>
            <a:ext uri="{909E8E84-426E-40DD-AFC4-6F175D3DCCD1}">
              <a14:hiddenFill xmlns:a14="http://schemas.microsoft.com/office/drawing/2010/main">
                <a:noFill/>
              </a14:hiddenFill>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latin typeface="Cambria Math" panose="02040503050406030204" charset="0"/>
              <a:cs typeface="Times New Roman" panose="02020603050405020304" pitchFamily="18" charset="0"/>
            </a:endParaRPr>
          </a:p>
        </p:txBody>
      </p:sp>
      <p:grpSp>
        <p:nvGrpSpPr>
          <p:cNvPr id="20" name="组合 19"/>
          <p:cNvGrpSpPr/>
          <p:nvPr/>
        </p:nvGrpSpPr>
        <p:grpSpPr>
          <a:xfrm>
            <a:off x="836930" y="434975"/>
            <a:ext cx="11454765" cy="1330960"/>
            <a:chOff x="808" y="730"/>
            <a:chExt cx="18039" cy="2096"/>
          </a:xfrm>
        </p:grpSpPr>
        <mc:AlternateContent xmlns:mc="http://schemas.openxmlformats.org/markup-compatibility/2006">
          <mc:Choice xmlns:a14="http://schemas.microsoft.com/office/drawing/2010/main" Requires="a14">
            <p:sp>
              <p:nvSpPr>
                <p:cNvPr id="108570" name="Object 26"/>
                <p:cNvSpPr txBox="1"/>
                <p:nvPr/>
              </p:nvSpPr>
              <p:spPr bwMode="auto">
                <a:xfrm>
                  <a:off x="808" y="730"/>
                  <a:ext cx="18039" cy="2096"/>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spcBef>
                      <a:spcPts val="0"/>
                    </a:spcBef>
                    <a:spcAft>
                      <a:spcPts val="0"/>
                    </a:spcAft>
                  </a:pPr>
                  <a14:m>
                    <m:oMathPara xmlns:m="http://schemas.openxmlformats.org/officeDocument/2006/math">
                      <m:oMathParaPr>
                        <m:jc m:val="left"/>
                      </m:oMathParaPr>
                      <m:oMath xmlns:m="http://schemas.openxmlformats.org/officeDocument/2006/math">
                        <m:r>
                          <m:rPr>
                            <m:nor/>
                          </m:rP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一般地</m:t>
                        </m:r>
                        <m:r>
                          <a:rPr kumimoji="1" lang="en-US" altLang="zh-CN" sz="2800" dirty="0">
                            <a:latin typeface="Cambria Math" panose="02040503050406030204" charset="0"/>
                            <a:ea typeface="黑体" panose="02010609060101010101" pitchFamily="49" charset="-122"/>
                          </a:rPr>
                          <m:t>,</m:t>
                        </m:r>
                        <m:r>
                          <m:rPr>
                            <m:nor/>
                          </m:rP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如果旋转体是由连续曲线</m:t>
                        </m:r>
                        <m:r>
                          <a:rPr kumimoji="1" lang="en-US" altLang="zh-CN" sz="2800" dirty="0">
                            <a:latin typeface="Cambria Math" panose="02040503050406030204" charset="0"/>
                            <a:ea typeface="黑体" panose="02010609060101010101" pitchFamily="49" charset="-122"/>
                          </a:rPr>
                          <m:t>𝑦</m:t>
                        </m:r>
                        <m:r>
                          <a:rPr kumimoji="1" lang="en-US" altLang="zh-CN" sz="2800" dirty="0">
                            <a:latin typeface="Cambria Math" panose="02040503050406030204" charset="0"/>
                            <a:ea typeface="黑体" panose="02010609060101010101" pitchFamily="49" charset="-122"/>
                          </a:rPr>
                          <m:t>=</m:t>
                        </m:r>
                        <m:r>
                          <a:rPr kumimoji="1" lang="en-US" altLang="zh-CN" sz="2800" dirty="0">
                            <a:latin typeface="Cambria Math" panose="02040503050406030204" charset="0"/>
                            <a:ea typeface="黑体" panose="02010609060101010101" pitchFamily="49" charset="-122"/>
                          </a:rPr>
                          <m:t>𝑓</m:t>
                        </m:r>
                        <m:r>
                          <a:rPr kumimoji="1" lang="en-US" altLang="zh-CN" sz="2800" dirty="0">
                            <a:latin typeface="Cambria Math" panose="02040503050406030204" charset="0"/>
                            <a:ea typeface="黑体" panose="02010609060101010101" pitchFamily="49" charset="-122"/>
                          </a:rPr>
                          <m:t>(</m:t>
                        </m:r>
                        <m:r>
                          <a:rPr kumimoji="1" lang="en-US" altLang="zh-CN" sz="2800" dirty="0">
                            <a:latin typeface="Cambria Math" panose="02040503050406030204" charset="0"/>
                            <a:ea typeface="黑体" panose="02010609060101010101" pitchFamily="49" charset="-122"/>
                          </a:rPr>
                          <m:t>𝑥</m:t>
                        </m:r>
                        <m:r>
                          <a:rPr kumimoji="1" lang="en-US" altLang="zh-CN" sz="2800" dirty="0">
                            <a:latin typeface="Cambria Math" panose="02040503050406030204" charset="0"/>
                            <a:ea typeface="黑体" panose="02010609060101010101" pitchFamily="49" charset="-122"/>
                          </a:rPr>
                          <m:t>),</m:t>
                        </m:r>
                        <m:r>
                          <m:rPr>
                            <m:nor/>
                          </m:rP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直线</m:t>
                        </m:r>
                        <m:r>
                          <a:rPr kumimoji="1" lang="en-US" altLang="zh-CN" sz="2800" dirty="0">
                            <a:latin typeface="Cambria Math" panose="02040503050406030204" charset="0"/>
                            <a:ea typeface="黑体" panose="02010609060101010101" pitchFamily="49" charset="-122"/>
                          </a:rPr>
                          <m:t>𝑥</m:t>
                        </m:r>
                        <m:r>
                          <a:rPr kumimoji="1" lang="en-US" altLang="zh-CN" sz="2800" dirty="0">
                            <a:latin typeface="Cambria Math" panose="02040503050406030204" charset="0"/>
                            <a:ea typeface="黑体" panose="02010609060101010101" pitchFamily="49" charset="-122"/>
                          </a:rPr>
                          <m:t>=</m:t>
                        </m:r>
                        <m:r>
                          <a:rPr kumimoji="1" lang="en-US" altLang="zh-CN" sz="2800" dirty="0">
                            <a:latin typeface="Cambria Math" panose="02040503050406030204" charset="0"/>
                            <a:ea typeface="黑体" panose="02010609060101010101" pitchFamily="49" charset="-122"/>
                          </a:rPr>
                          <m:t>𝑎</m:t>
                        </m:r>
                        <m:r>
                          <a:rPr kumimoji="1" lang="en-US" altLang="zh-CN" sz="2800" dirty="0">
                            <a:latin typeface="Cambria Math" panose="02040503050406030204" charset="0"/>
                            <a:ea typeface="黑体" panose="02010609060101010101" pitchFamily="49" charset="-122"/>
                          </a:rPr>
                          <m:t>,</m:t>
                        </m:r>
                        <m:r>
                          <a:rPr kumimoji="1" lang="en-US" altLang="zh-CN" sz="2800" dirty="0">
                            <a:latin typeface="Cambria Math" panose="02040503050406030204" charset="0"/>
                            <a:ea typeface="黑体" panose="02010609060101010101" pitchFamily="49" charset="-122"/>
                          </a:rPr>
                          <m:t>𝑥</m:t>
                        </m:r>
                        <m:r>
                          <a:rPr kumimoji="1" lang="en-US" altLang="zh-CN" sz="2800" dirty="0">
                            <a:latin typeface="Cambria Math" panose="02040503050406030204" charset="0"/>
                            <a:ea typeface="黑体" panose="02010609060101010101" pitchFamily="49" charset="-122"/>
                          </a:rPr>
                          <m:t>=</m:t>
                        </m:r>
                        <m:r>
                          <a:rPr kumimoji="1" lang="en-US" altLang="zh-CN" sz="2800" dirty="0">
                            <a:latin typeface="Cambria Math" panose="02040503050406030204" charset="0"/>
                            <a:ea typeface="黑体" panose="02010609060101010101" pitchFamily="49" charset="-122"/>
                          </a:rPr>
                          <m:t>𝑏</m:t>
                        </m:r>
                        <m: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及</m:t>
                        </m:r>
                        <m:r>
                          <a:rPr kumimoji="1" lang="en-US" altLang="zh-CN" sz="2800" dirty="0">
                            <a:latin typeface="Cambria Math" panose="02040503050406030204" charset="0"/>
                            <a:ea typeface="黑体" panose="02010609060101010101" pitchFamily="49" charset="-122"/>
                          </a:rPr>
                          <m:t>𝑥</m:t>
                        </m:r>
                        <m:r>
                          <m:rPr>
                            <m:nor/>
                          </m:rP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轴所</m:t>
                        </m:r>
                      </m:oMath>
                    </m:oMathPara>
                  </a14:m>
                  <a:endPar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a:p>
                  <a:pPr>
                    <a:lnSpc>
                      <a:spcPct val="150000"/>
                    </a:lnSpc>
                    <a:spcBef>
                      <a:spcPts val="0"/>
                    </a:spcBef>
                    <a:spcAft>
                      <a:spcPts val="0"/>
                    </a:spcAft>
                  </a:pPr>
                  <a14:m>
                    <m:oMathPara xmlns:m="http://schemas.openxmlformats.org/officeDocument/2006/math">
                      <m:oMathParaPr>
                        <m:jc m:val="left"/>
                      </m:oMathParaPr>
                      <m:oMath xmlns:m="http://schemas.openxmlformats.org/officeDocument/2006/math">
                        <m:r>
                          <m:rPr>
                            <m:nor/>
                          </m:rP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围成的曲边梯形绕</m:t>
                        </m:r>
                        <m: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𝑥</m:t>
                        </m:r>
                        <m:r>
                          <m:rPr>
                            <m:nor/>
                          </m:rP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轴旋转一周而成的立体</m:t>
                        </m:r>
                        <m:r>
                          <a:rPr kumimoji="1" lang="en-US" altLang="zh-CN" sz="2800" dirty="0">
                            <a:latin typeface="Cambria Math" panose="02040503050406030204" charset="0"/>
                            <a:ea typeface="黑体" panose="02010609060101010101" pitchFamily="49" charset="-122"/>
                          </a:rPr>
                          <m:t>,</m:t>
                        </m:r>
                        <m:r>
                          <m:rPr>
                            <m:nor/>
                          </m:rPr>
                          <a:rPr kumimoji="1" lang="en-US" altLang="zh-CN"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那么它的</m:t>
                        </m:r>
                        <m:r>
                          <m:rPr>
                            <m:nor/>
                          </m:rP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体积为多少？</m:t>
                        </m:r>
                        <m: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 </m:t>
                        </m:r>
                      </m:oMath>
                    </m:oMathPara>
                  </a14:m>
                  <a:endPar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108570" name="Object 26"/>
                <p:cNvSpPr txBox="1">
                  <a:spLocks noRot="1" noChangeAspect="1" noMove="1" noResize="1" noEditPoints="1" noAdjustHandles="1" noChangeArrowheads="1" noChangeShapeType="1" noTextEdit="1"/>
                </p:cNvSpPr>
                <p:nvPr/>
              </p:nvSpPr>
              <p:spPr bwMode="auto">
                <a:xfrm>
                  <a:off x="808" y="730"/>
                  <a:ext cx="18039" cy="2096"/>
                </a:xfrm>
                <a:prstGeom prst="rect">
                  <a:avLst/>
                </a:prstGeom>
                <a:blipFill rotWithShape="1">
                  <a:blip r:embed="rId8"/>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对象 3"/>
                <p:cNvSpPr txBox="1"/>
                <p:nvPr/>
              </p:nvSpPr>
              <p:spPr>
                <a:xfrm>
                  <a:off x="18727" y="1356"/>
                  <a:ext cx="120" cy="68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 </m:t>
                        </m:r>
                      </m:oMath>
                    </m:oMathPara>
                  </a14:m>
                  <a:endParaRPr kumimoji="1" lang="en-US" altLang="zh-CN" sz="2800" dirty="0">
                    <a:latin typeface="Cambria Math" panose="02040503050406030204" charset="0"/>
                    <a:ea typeface="黑体" panose="02010609060101010101" pitchFamily="49" charset="-122"/>
                  </a:endParaRPr>
                </a:p>
              </p:txBody>
            </p:sp>
          </mc:Choice>
          <mc:Fallback>
            <p:sp>
              <p:nvSpPr>
                <p:cNvPr id="18" name="对象 3"/>
                <p:cNvSpPr txBox="1">
                  <a:spLocks noRot="1" noChangeAspect="1" noMove="1" noResize="1" noEditPoints="1" noAdjustHandles="1" noChangeArrowheads="1" noChangeShapeType="1" noTextEdit="1"/>
                </p:cNvSpPr>
                <p:nvPr/>
              </p:nvSpPr>
              <p:spPr>
                <a:xfrm>
                  <a:off x="18727" y="1356"/>
                  <a:ext cx="120" cy="680"/>
                </a:xfrm>
                <a:prstGeom prst="rect">
                  <a:avLst/>
                </a:prstGeom>
                <a:blipFill rotWithShape="1">
                  <a:blip r:embed="rId9"/>
                </a:blipFill>
              </p:spPr>
              <p:txBody>
                <a:bodyPr/>
                <a:lstStyle/>
                <a:p>
                  <a:r>
                    <a:rPr lang="zh-CN" altLang="en-US">
                      <a:noFill/>
                    </a:rPr>
                    <a:t> </a:t>
                  </a:r>
                </a:p>
              </p:txBody>
            </p:sp>
          </mc:Fallback>
        </mc:AlternateContent>
      </p:grpSp>
      <p:grpSp>
        <p:nvGrpSpPr>
          <p:cNvPr id="22" name="组合 21"/>
          <p:cNvGrpSpPr/>
          <p:nvPr/>
        </p:nvGrpSpPr>
        <p:grpSpPr>
          <a:xfrm>
            <a:off x="3746500" y="1910715"/>
            <a:ext cx="2110740" cy="431800"/>
            <a:chOff x="6801" y="3590"/>
            <a:chExt cx="3324" cy="680"/>
          </a:xfrm>
        </p:grpSpPr>
        <mc:AlternateContent xmlns:mc="http://schemas.openxmlformats.org/markup-compatibility/2006">
          <mc:Choice xmlns:a14="http://schemas.microsoft.com/office/drawing/2010/main" Requires="a14">
            <p:sp>
              <p:nvSpPr>
                <p:cNvPr id="12" name="对象 3"/>
                <p:cNvSpPr txBox="1"/>
                <p:nvPr/>
              </p:nvSpPr>
              <p:spPr>
                <a:xfrm>
                  <a:off x="6801" y="3590"/>
                  <a:ext cx="3325" cy="68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则</m:t>
                        </m:r>
                        <m:r>
                          <a:rPr kumimoji="1" lang="en-US" altLang="zh-CN" sz="2800" dirty="0">
                            <a:latin typeface="Cambria Math" panose="02040503050406030204" charset="0"/>
                            <a:ea typeface="黑体" panose="02010609060101010101" pitchFamily="49" charset="-122"/>
                          </a:rPr>
                          <m:t>𝑥</m:t>
                        </m:r>
                        <m:r>
                          <a:rPr kumimoji="1" lang="en-US" altLang="zh-CN" sz="2800" dirty="0">
                            <a:latin typeface="Cambria Math" panose="02040503050406030204" charset="0"/>
                            <a:ea typeface="黑体" panose="02010609060101010101" pitchFamily="49" charset="-122"/>
                          </a:rPr>
                          <m:t>∈[</m:t>
                        </m:r>
                        <m:r>
                          <a:rPr kumimoji="1" lang="en-US" altLang="zh-CN" sz="2800" dirty="0">
                            <a:latin typeface="Cambria Math" panose="02040503050406030204" charset="0"/>
                            <a:ea typeface="黑体" panose="02010609060101010101" pitchFamily="49" charset="-122"/>
                          </a:rPr>
                          <m:t>𝑎</m:t>
                        </m:r>
                        <m:r>
                          <a:rPr kumimoji="1" lang="en-US" altLang="zh-CN" sz="2800" dirty="0">
                            <a:latin typeface="Cambria Math" panose="02040503050406030204" charset="0"/>
                            <a:ea typeface="黑体" panose="02010609060101010101" pitchFamily="49" charset="-122"/>
                          </a:rPr>
                          <m:t>,</m:t>
                        </m:r>
                        <m:r>
                          <a:rPr kumimoji="1" lang="en-US" altLang="zh-CN" sz="2800" dirty="0">
                            <a:latin typeface="Cambria Math" panose="02040503050406030204" charset="0"/>
                            <a:ea typeface="黑体" panose="02010609060101010101" pitchFamily="49" charset="-122"/>
                          </a:rPr>
                          <m:t>𝑏</m:t>
                        </m:r>
                        <m:r>
                          <a:rPr kumimoji="1" lang="en-US" altLang="zh-CN" sz="2800" dirty="0">
                            <a:latin typeface="Cambria Math" panose="02040503050406030204" charset="0"/>
                            <a:ea typeface="黑体" panose="02010609060101010101" pitchFamily="49" charset="-122"/>
                          </a:rPr>
                          <m:t>].</m:t>
                        </m:r>
                      </m:oMath>
                    </m:oMathPara>
                  </a14:m>
                  <a:endParaRPr kumimoji="1" lang="en-US" altLang="zh-CN" sz="2800" dirty="0">
                    <a:latin typeface="Cambria Math" panose="02040503050406030204" charset="0"/>
                    <a:ea typeface="黑体" panose="02010609060101010101" pitchFamily="49" charset="-122"/>
                  </a:endParaRPr>
                </a:p>
              </p:txBody>
            </p:sp>
          </mc:Choice>
          <mc:Fallback>
            <p:sp>
              <p:nvSpPr>
                <p:cNvPr id="12" name="对象 3"/>
                <p:cNvSpPr txBox="1">
                  <a:spLocks noRot="1" noChangeAspect="1" noMove="1" noResize="1" noEditPoints="1" noAdjustHandles="1" noChangeArrowheads="1" noChangeShapeType="1" noTextEdit="1"/>
                </p:cNvSpPr>
                <p:nvPr/>
              </p:nvSpPr>
              <p:spPr>
                <a:xfrm>
                  <a:off x="6801" y="3590"/>
                  <a:ext cx="3325" cy="680"/>
                </a:xfrm>
                <a:prstGeom prst="rect">
                  <a:avLst/>
                </a:prstGeom>
                <a:blipFill rotWithShape="1">
                  <a:blip r:embed="rId10"/>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对象 3"/>
                <p:cNvSpPr txBox="1"/>
                <p:nvPr/>
              </p:nvSpPr>
              <p:spPr>
                <a:xfrm>
                  <a:off x="8404" y="3590"/>
                  <a:ext cx="120" cy="68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 </m:t>
                        </m:r>
                      </m:oMath>
                    </m:oMathPara>
                  </a14:m>
                  <a:endParaRPr kumimoji="1" lang="en-US" altLang="zh-CN" sz="2800" dirty="0">
                    <a:latin typeface="Cambria Math" panose="02040503050406030204" charset="0"/>
                    <a:ea typeface="黑体" panose="02010609060101010101" pitchFamily="49" charset="-122"/>
                  </a:endParaRPr>
                </a:p>
              </p:txBody>
            </p:sp>
          </mc:Choice>
          <mc:Fallback>
            <p:sp>
              <p:nvSpPr>
                <p:cNvPr id="21" name="对象 3"/>
                <p:cNvSpPr txBox="1">
                  <a:spLocks noRot="1" noChangeAspect="1" noMove="1" noResize="1" noEditPoints="1" noAdjustHandles="1" noChangeArrowheads="1" noChangeShapeType="1" noTextEdit="1"/>
                </p:cNvSpPr>
                <p:nvPr/>
              </p:nvSpPr>
              <p:spPr>
                <a:xfrm>
                  <a:off x="8404" y="3590"/>
                  <a:ext cx="120" cy="680"/>
                </a:xfrm>
                <a:prstGeom prst="rect">
                  <a:avLst/>
                </a:prstGeom>
                <a:blipFill rotWithShape="1">
                  <a:blip r:embed="rId9"/>
                </a:blipFill>
              </p:spPr>
              <p:txBody>
                <a:bodyPr/>
                <a:lstStyle/>
                <a:p>
                  <a:r>
                    <a:rPr lang="zh-CN" altLang="en-US">
                      <a:noFill/>
                    </a:rPr>
                    <a:t> </a:t>
                  </a:r>
                </a:p>
              </p:txBody>
            </p:sp>
          </mc:Fallback>
        </mc:AlternateContent>
      </p:grpSp>
      <p:grpSp>
        <p:nvGrpSpPr>
          <p:cNvPr id="26" name="组合 25"/>
          <p:cNvGrpSpPr/>
          <p:nvPr/>
        </p:nvGrpSpPr>
        <p:grpSpPr>
          <a:xfrm>
            <a:off x="836930" y="1889760"/>
            <a:ext cx="3169920" cy="431800"/>
            <a:chOff x="1873" y="3536"/>
            <a:chExt cx="4992" cy="680"/>
          </a:xfrm>
        </p:grpSpPr>
        <mc:AlternateContent xmlns:mc="http://schemas.openxmlformats.org/markup-compatibility/2006">
          <mc:Choice xmlns:a14="http://schemas.microsoft.com/office/drawing/2010/main" Requires="a14">
            <p:sp>
              <p:nvSpPr>
                <p:cNvPr id="6" name="对象 2"/>
                <p:cNvSpPr txBox="1"/>
                <p:nvPr/>
              </p:nvSpPr>
              <p:spPr>
                <a:xfrm>
                  <a:off x="1873" y="3536"/>
                  <a:ext cx="4992" cy="68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1</m:t>
                        </m:r>
                        <m: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r>
                          <m:rPr>
                            <m:nor/>
                          </m:rP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取积分变量为</m:t>
                        </m:r>
                        <m:r>
                          <a:rPr kumimoji="1" lang="en-US" altLang="zh-CN" sz="2800" dirty="0">
                            <a:latin typeface="Cambria Math" panose="02040503050406030204" charset="0"/>
                            <a:ea typeface="黑体" panose="02010609060101010101" pitchFamily="49" charset="-122"/>
                          </a:rPr>
                          <m:t>𝑥</m:t>
                        </m:r>
                        <m:r>
                          <a:rPr kumimoji="1" lang="en-US" altLang="zh-CN" sz="2800" dirty="0">
                            <a:latin typeface="Cambria Math" panose="02040503050406030204" charset="0"/>
                            <a:ea typeface="黑体" panose="02010609060101010101" pitchFamily="49" charset="-122"/>
                          </a:rPr>
                          <m:t>,</m:t>
                        </m:r>
                      </m:oMath>
                    </m:oMathPara>
                  </a14:m>
                  <a:endParaRPr kumimoji="1" lang="en-US" altLang="zh-CN" sz="2800" dirty="0">
                    <a:latin typeface="Cambria Math" panose="02040503050406030204" charset="0"/>
                    <a:ea typeface="黑体" panose="02010609060101010101" pitchFamily="49" charset="-122"/>
                  </a:endParaRPr>
                </a:p>
              </p:txBody>
            </p:sp>
          </mc:Choice>
          <mc:Fallback>
            <p:sp>
              <p:nvSpPr>
                <p:cNvPr id="6" name="对象 2"/>
                <p:cNvSpPr txBox="1">
                  <a:spLocks noRot="1" noChangeAspect="1" noMove="1" noResize="1" noEditPoints="1" noAdjustHandles="1" noChangeArrowheads="1" noChangeShapeType="1" noTextEdit="1"/>
                </p:cNvSpPr>
                <p:nvPr/>
              </p:nvSpPr>
              <p:spPr>
                <a:xfrm>
                  <a:off x="1873" y="3536"/>
                  <a:ext cx="4992" cy="680"/>
                </a:xfrm>
                <a:prstGeom prst="rect">
                  <a:avLst/>
                </a:prstGeom>
                <a:blipFill rotWithShape="1">
                  <a:blip r:embed="rId11"/>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 name="对象 3"/>
                <p:cNvSpPr txBox="1"/>
                <p:nvPr/>
              </p:nvSpPr>
              <p:spPr>
                <a:xfrm>
                  <a:off x="4309" y="3536"/>
                  <a:ext cx="120" cy="68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 </m:t>
                        </m:r>
                      </m:oMath>
                    </m:oMathPara>
                  </a14:m>
                  <a:endParaRPr kumimoji="1" lang="en-US" altLang="zh-CN" sz="2800" dirty="0">
                    <a:latin typeface="Cambria Math" panose="02040503050406030204" charset="0"/>
                    <a:ea typeface="黑体" panose="02010609060101010101" pitchFamily="49" charset="-122"/>
                  </a:endParaRPr>
                </a:p>
              </p:txBody>
            </p:sp>
          </mc:Choice>
          <mc:Fallback>
            <p:sp>
              <p:nvSpPr>
                <p:cNvPr id="24" name="对象 3"/>
                <p:cNvSpPr txBox="1">
                  <a:spLocks noRot="1" noChangeAspect="1" noMove="1" noResize="1" noEditPoints="1" noAdjustHandles="1" noChangeArrowheads="1" noChangeShapeType="1" noTextEdit="1"/>
                </p:cNvSpPr>
                <p:nvPr/>
              </p:nvSpPr>
              <p:spPr>
                <a:xfrm>
                  <a:off x="4309" y="3536"/>
                  <a:ext cx="120" cy="680"/>
                </a:xfrm>
                <a:prstGeom prst="rect">
                  <a:avLst/>
                </a:prstGeom>
                <a:blipFill rotWithShape="1">
                  <a:blip r:embed="rId9"/>
                </a:blipFill>
              </p:spPr>
              <p:txBody>
                <a:bodyPr/>
                <a:lstStyle/>
                <a:p>
                  <a:r>
                    <a:rPr lang="zh-CN" altLang="en-US">
                      <a:noFill/>
                    </a:rPr>
                    <a:t> </a:t>
                  </a:r>
                </a:p>
              </p:txBody>
            </p:sp>
          </mc:Fallback>
        </mc:AlternateContent>
      </p:grpSp>
      <p:grpSp>
        <p:nvGrpSpPr>
          <p:cNvPr id="30" name="组合 29"/>
          <p:cNvGrpSpPr/>
          <p:nvPr/>
        </p:nvGrpSpPr>
        <p:grpSpPr>
          <a:xfrm>
            <a:off x="836930" y="2511425"/>
            <a:ext cx="5711825" cy="513080"/>
            <a:chOff x="3522" y="1578"/>
            <a:chExt cx="8995" cy="808"/>
          </a:xfrm>
        </p:grpSpPr>
        <mc:AlternateContent xmlns:mc="http://schemas.openxmlformats.org/markup-compatibility/2006">
          <mc:Choice xmlns:a14="http://schemas.microsoft.com/office/drawing/2010/main" Requires="a14">
            <p:sp>
              <p:nvSpPr>
                <p:cNvPr id="23" name="对象 4"/>
                <p:cNvSpPr txBox="1"/>
                <p:nvPr/>
              </p:nvSpPr>
              <p:spPr>
                <a:xfrm>
                  <a:off x="3522" y="1578"/>
                  <a:ext cx="8995" cy="70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2</m:t>
                        </m:r>
                        <m: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在</m:t>
                        </m:r>
                        <m:r>
                          <a:rPr kumimoji="1" lang="en-US" altLang="zh-CN" sz="2800" dirty="0">
                            <a:latin typeface="Cambria Math" panose="02040503050406030204" charset="0"/>
                            <a:ea typeface="黑体" panose="02010609060101010101" pitchFamily="49" charset="-122"/>
                          </a:rPr>
                          <m:t>[</m:t>
                        </m:r>
                        <m:r>
                          <a:rPr kumimoji="1" lang="en-US" altLang="zh-CN" sz="2800" dirty="0">
                            <a:latin typeface="Cambria Math" panose="02040503050406030204" charset="0"/>
                            <a:ea typeface="黑体" panose="02010609060101010101" pitchFamily="49" charset="-122"/>
                          </a:rPr>
                          <m:t>𝑎</m:t>
                        </m:r>
                        <m:r>
                          <a:rPr kumimoji="1" lang="en-US" altLang="zh-CN" sz="2800" dirty="0">
                            <a:latin typeface="Cambria Math" panose="02040503050406030204" charset="0"/>
                            <a:ea typeface="黑体" panose="02010609060101010101" pitchFamily="49" charset="-122"/>
                          </a:rPr>
                          <m:t>,</m:t>
                        </m:r>
                        <m:r>
                          <a:rPr kumimoji="1" lang="en-US" altLang="zh-CN" sz="2800" dirty="0">
                            <a:latin typeface="Cambria Math" panose="02040503050406030204" charset="0"/>
                            <a:ea typeface="黑体" panose="02010609060101010101" pitchFamily="49" charset="-122"/>
                          </a:rPr>
                          <m:t>𝑏</m:t>
                        </m:r>
                        <m:r>
                          <a:rPr kumimoji="1" lang="en-US" altLang="zh-CN" sz="2800" dirty="0">
                            <a:latin typeface="Cambria Math" panose="02040503050406030204" charset="0"/>
                            <a:ea typeface="黑体" panose="02010609060101010101" pitchFamily="49" charset="-122"/>
                          </a:rPr>
                          <m:t>]</m:t>
                        </m:r>
                        <m:r>
                          <m:rPr>
                            <m:nor/>
                          </m:rP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上任取小区间</m:t>
                        </m:r>
                        <m:r>
                          <a:rPr kumimoji="1" lang="en-US" altLang="zh-CN" sz="2800" dirty="0">
                            <a:latin typeface="Cambria Math" panose="02040503050406030204" charset="0"/>
                            <a:ea typeface="黑体" panose="02010609060101010101" pitchFamily="49" charset="-122"/>
                          </a:rPr>
                          <m:t>[</m:t>
                        </m:r>
                        <m:r>
                          <a:rPr kumimoji="1" lang="en-US" altLang="zh-CN" sz="2800" dirty="0">
                            <a:latin typeface="Cambria Math" panose="02040503050406030204" charset="0"/>
                            <a:ea typeface="黑体" panose="02010609060101010101" pitchFamily="49" charset="-122"/>
                          </a:rPr>
                          <m:t>𝑥</m:t>
                        </m:r>
                        <m:r>
                          <a:rPr kumimoji="1" lang="en-US" altLang="zh-CN" sz="2800" dirty="0">
                            <a:latin typeface="Cambria Math" panose="02040503050406030204" charset="0"/>
                            <a:ea typeface="黑体" panose="02010609060101010101" pitchFamily="49" charset="-122"/>
                          </a:rPr>
                          <m:t>,</m:t>
                        </m:r>
                        <m:r>
                          <a:rPr kumimoji="1" lang="en-US" altLang="zh-CN" sz="2800" dirty="0">
                            <a:latin typeface="Cambria Math" panose="02040503050406030204" charset="0"/>
                            <a:ea typeface="黑体" panose="02010609060101010101" pitchFamily="49" charset="-122"/>
                          </a:rPr>
                          <m:t>𝑥</m:t>
                        </m:r>
                        <m:r>
                          <a:rPr kumimoji="1" lang="en-US" altLang="zh-CN" sz="2800" dirty="0">
                            <a:latin typeface="Cambria Math" panose="02040503050406030204" charset="0"/>
                            <a:ea typeface="黑体" panose="02010609060101010101" pitchFamily="49" charset="-122"/>
                          </a:rPr>
                          <m:t>+</m:t>
                        </m:r>
                        <m:r>
                          <m:rPr>
                            <m:sty m:val="p"/>
                          </m:rPr>
                          <a:rPr kumimoji="1" lang="en-US" altLang="zh-CN" sz="2800" dirty="0">
                            <a:latin typeface="Cambria Math" panose="02040503050406030204" charset="0"/>
                            <a:ea typeface="黑体" panose="02010609060101010101" pitchFamily="49" charset="-122"/>
                          </a:rPr>
                          <m:t>d</m:t>
                        </m:r>
                        <m:r>
                          <a:rPr kumimoji="1" lang="en-US" altLang="zh-CN" sz="2800" dirty="0">
                            <a:latin typeface="Cambria Math" panose="02040503050406030204" charset="0"/>
                            <a:ea typeface="黑体" panose="02010609060101010101" pitchFamily="49" charset="-122"/>
                          </a:rPr>
                          <m:t>𝑥</m:t>
                        </m:r>
                        <m:r>
                          <a:rPr kumimoji="1" lang="en-US" altLang="zh-CN" sz="2800" dirty="0">
                            <a:latin typeface="Cambria Math" panose="02040503050406030204" charset="0"/>
                            <a:ea typeface="黑体" panose="02010609060101010101" pitchFamily="49" charset="-122"/>
                          </a:rPr>
                          <m:t>],</m:t>
                        </m:r>
                      </m:oMath>
                    </m:oMathPara>
                  </a14:m>
                  <a:endParaRPr kumimoji="1" lang="en-US" altLang="zh-CN" sz="2800" dirty="0">
                    <a:latin typeface="Cambria Math" panose="02040503050406030204" charset="0"/>
                    <a:ea typeface="黑体" panose="02010609060101010101" pitchFamily="49" charset="-122"/>
                  </a:endParaRPr>
                </a:p>
              </p:txBody>
            </p:sp>
          </mc:Choice>
          <mc:Fallback>
            <p:sp>
              <p:nvSpPr>
                <p:cNvPr id="23" name="对象 4"/>
                <p:cNvSpPr txBox="1">
                  <a:spLocks noRot="1" noChangeAspect="1" noMove="1" noResize="1" noEditPoints="1" noAdjustHandles="1" noChangeArrowheads="1" noChangeShapeType="1" noTextEdit="1"/>
                </p:cNvSpPr>
                <p:nvPr/>
              </p:nvSpPr>
              <p:spPr>
                <a:xfrm>
                  <a:off x="3522" y="1578"/>
                  <a:ext cx="8995" cy="700"/>
                </a:xfrm>
                <a:prstGeom prst="rect">
                  <a:avLst/>
                </a:prstGeom>
                <a:blipFill rotWithShape="1">
                  <a:blip r:embed="rId1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对象 3"/>
                <p:cNvSpPr txBox="1"/>
                <p:nvPr/>
              </p:nvSpPr>
              <p:spPr>
                <a:xfrm>
                  <a:off x="6311" y="1706"/>
                  <a:ext cx="120" cy="68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 </m:t>
                        </m:r>
                      </m:oMath>
                    </m:oMathPara>
                  </a14:m>
                  <a:endParaRPr kumimoji="1" lang="en-US" altLang="zh-CN" sz="2800" dirty="0">
                    <a:latin typeface="Cambria Math" panose="02040503050406030204" charset="0"/>
                    <a:ea typeface="黑体" panose="02010609060101010101" pitchFamily="49" charset="-122"/>
                  </a:endParaRPr>
                </a:p>
              </p:txBody>
            </p:sp>
          </mc:Choice>
          <mc:Fallback>
            <p:sp>
              <p:nvSpPr>
                <p:cNvPr id="29" name="对象 3"/>
                <p:cNvSpPr txBox="1">
                  <a:spLocks noRot="1" noChangeAspect="1" noMove="1" noResize="1" noEditPoints="1" noAdjustHandles="1" noChangeArrowheads="1" noChangeShapeType="1" noTextEdit="1"/>
                </p:cNvSpPr>
                <p:nvPr/>
              </p:nvSpPr>
              <p:spPr>
                <a:xfrm>
                  <a:off x="6311" y="1706"/>
                  <a:ext cx="120" cy="680"/>
                </a:xfrm>
                <a:prstGeom prst="rect">
                  <a:avLst/>
                </a:prstGeom>
                <a:blipFill rotWithShape="1">
                  <a:blip r:embed="rId9"/>
                </a:blipFill>
              </p:spPr>
              <p:txBody>
                <a:bodyPr/>
                <a:lstStyle/>
                <a:p>
                  <a:r>
                    <a:rPr lang="zh-CN" altLang="en-US">
                      <a:noFill/>
                    </a:rPr>
                    <a:t> </a:t>
                  </a:r>
                </a:p>
              </p:txBody>
            </p:sp>
          </mc:Fallback>
        </mc:AlternateContent>
      </p:grpSp>
      <p:grpSp>
        <p:nvGrpSpPr>
          <p:cNvPr id="32" name="组合 31"/>
          <p:cNvGrpSpPr/>
          <p:nvPr/>
        </p:nvGrpSpPr>
        <p:grpSpPr>
          <a:xfrm>
            <a:off x="836930" y="2886075"/>
            <a:ext cx="5480685" cy="1414145"/>
            <a:chOff x="2402" y="7225"/>
            <a:chExt cx="8631" cy="2227"/>
          </a:xfrm>
        </p:grpSpPr>
        <mc:AlternateContent xmlns:mc="http://schemas.openxmlformats.org/markup-compatibility/2006">
          <mc:Choice xmlns:a14="http://schemas.microsoft.com/office/drawing/2010/main" Requires="a14">
            <p:sp>
              <p:nvSpPr>
                <p:cNvPr id="2" name="Object 26"/>
                <p:cNvSpPr txBox="1"/>
                <p:nvPr/>
              </p:nvSpPr>
              <p:spPr bwMode="auto">
                <a:xfrm>
                  <a:off x="2402" y="7469"/>
                  <a:ext cx="8631" cy="1983"/>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spcBef>
                      <a:spcPts val="0"/>
                    </a:spcBef>
                    <a:spcAft>
                      <a:spcPts val="0"/>
                    </a:spcAft>
                  </a:pPr>
                  <a: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a:t>取</a:t>
                  </a:r>
                  <a:r>
                    <a:rPr kumimoji="1" lang="zh-CN" altLang="en-US" sz="2800" noProof="0" dirty="0">
                      <a:ln w="22225">
                        <a:solidFill>
                          <a:schemeClr val="accent2"/>
                        </a:solidFill>
                        <a:prstDash val="solid"/>
                      </a:ln>
                      <a:solidFill>
                        <a:schemeClr val="accent2">
                          <a:lumMod val="40000"/>
                          <a:lumOff val="60000"/>
                        </a:schemeClr>
                      </a:solidFill>
                      <a:effectLst/>
                      <a:uLnTx/>
                      <a:uFillTx/>
                      <a:latin typeface="Cambria Math" panose="02040503050406030204" charset="0"/>
                      <a:ea typeface="黑体" panose="02010609060101010101" pitchFamily="49" charset="-122"/>
                    </a:rPr>
                    <a:t>以d𝑥为底的窄边梯形绕𝑥轴旋转</a:t>
                  </a:r>
                  <a:endPar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a:p>
                  <a:pPr>
                    <a:lnSpc>
                      <a:spcPct val="150000"/>
                    </a:lnSpc>
                    <a:spcBef>
                      <a:spcPts val="0"/>
                    </a:spcBef>
                    <a:spcAft>
                      <a:spcPts val="0"/>
                    </a:spcAft>
                  </a:pPr>
                  <a: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a:t>而</a:t>
                  </a:r>
                  <a:r>
                    <a:rPr kumimoji="1" lang="zh-CN" altLang="en-US" sz="2800" noProof="0" dirty="0">
                      <a:ln w="22225">
                        <a:solidFill>
                          <a:schemeClr val="accent2"/>
                        </a:solidFill>
                        <a:prstDash val="solid"/>
                      </a:ln>
                      <a:solidFill>
                        <a:schemeClr val="accent2">
                          <a:lumMod val="40000"/>
                          <a:lumOff val="60000"/>
                        </a:schemeClr>
                      </a:solidFill>
                      <a:effectLst/>
                      <a:uLnTx/>
                      <a:uFillTx/>
                      <a:latin typeface="Cambria Math" panose="02040503050406030204" charset="0"/>
                      <a:ea typeface="黑体" panose="02010609060101010101" pitchFamily="49" charset="-122"/>
                    </a:rPr>
                    <a:t>成的薄片的体积</a:t>
                  </a:r>
                  <a: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a:t>为</a:t>
                  </a:r>
                  <a:r>
                    <a:rPr kumimoji="1" lang="zh-CN" altLang="en-US" sz="2800" noProof="0" dirty="0">
                      <a:ln>
                        <a:noFill/>
                      </a:ln>
                      <a:solidFill>
                        <a:srgbClr val="04926A"/>
                      </a:solidFill>
                      <a:effectLst/>
                      <a:uLnTx/>
                      <a:uFillTx/>
                      <a:latin typeface="Cambria Math" panose="02040503050406030204" charset="0"/>
                      <a:ea typeface="黑体" panose="02010609060101010101" pitchFamily="49" charset="-122"/>
                    </a:rPr>
                    <a:t>体积元素</a:t>
                  </a:r>
                  <a14:m>
                    <m:oMath xmlns:m="http://schemas.openxmlformats.org/officeDocument/2006/math">
                      <m:r>
                        <a:rPr kumimoji="1" lang="en-US" altLang="zh-CN" sz="2800" dirty="0">
                          <a:latin typeface="Cambria Math" panose="02040503050406030204" charset="0"/>
                          <a:ea typeface="黑体" panose="02010609060101010101" pitchFamily="49" charset="-122"/>
                        </a:rPr>
                        <m:t>,</m:t>
                      </m:r>
                    </m:oMath>
                  </a14:m>
                  <a:endPar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2" name="Object 26"/>
                <p:cNvSpPr txBox="1">
                  <a:spLocks noRot="1" noChangeAspect="1" noMove="1" noResize="1" noEditPoints="1" noAdjustHandles="1" noChangeArrowheads="1" noChangeShapeType="1" noTextEdit="1"/>
                </p:cNvSpPr>
                <p:nvPr/>
              </p:nvSpPr>
              <p:spPr bwMode="auto">
                <a:xfrm>
                  <a:off x="2402" y="7469"/>
                  <a:ext cx="8631" cy="1983"/>
                </a:xfrm>
                <a:prstGeom prst="rect">
                  <a:avLst/>
                </a:prstGeom>
                <a:blipFill rotWithShape="1">
                  <a:blip r:embed="rId13"/>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 name="对象 3"/>
                <p:cNvSpPr txBox="1"/>
                <p:nvPr/>
              </p:nvSpPr>
              <p:spPr>
                <a:xfrm>
                  <a:off x="6658" y="7225"/>
                  <a:ext cx="120" cy="68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 </m:t>
                        </m:r>
                      </m:oMath>
                    </m:oMathPara>
                  </a14:m>
                  <a:endParaRPr kumimoji="1" lang="en-US" altLang="zh-CN" sz="2800" dirty="0">
                    <a:latin typeface="Cambria Math" panose="02040503050406030204" charset="0"/>
                    <a:ea typeface="黑体" panose="02010609060101010101" pitchFamily="49" charset="-122"/>
                  </a:endParaRPr>
                </a:p>
              </p:txBody>
            </p:sp>
          </mc:Choice>
          <mc:Fallback>
            <p:sp>
              <p:nvSpPr>
                <p:cNvPr id="31" name="对象 3"/>
                <p:cNvSpPr txBox="1">
                  <a:spLocks noRot="1" noChangeAspect="1" noMove="1" noResize="1" noEditPoints="1" noAdjustHandles="1" noChangeArrowheads="1" noChangeShapeType="1" noTextEdit="1"/>
                </p:cNvSpPr>
                <p:nvPr/>
              </p:nvSpPr>
              <p:spPr>
                <a:xfrm>
                  <a:off x="6658" y="7225"/>
                  <a:ext cx="120" cy="680"/>
                </a:xfrm>
                <a:prstGeom prst="rect">
                  <a:avLst/>
                </a:prstGeom>
                <a:blipFill rotWithShape="1">
                  <a:blip r:embed="rId9"/>
                </a:blipFill>
              </p:spPr>
              <p:txBody>
                <a:bodyPr/>
                <a:lstStyle/>
                <a:p>
                  <a:r>
                    <a:rPr lang="zh-CN" altLang="en-US">
                      <a:noFill/>
                    </a:rPr>
                    <a:t> </a:t>
                  </a:r>
                </a:p>
              </p:txBody>
            </p:sp>
          </mc:Fallback>
        </mc:AlternateContent>
      </p:grpSp>
      <p:grpSp>
        <p:nvGrpSpPr>
          <p:cNvPr id="40" name="组合 39"/>
          <p:cNvGrpSpPr/>
          <p:nvPr/>
        </p:nvGrpSpPr>
        <p:grpSpPr>
          <a:xfrm>
            <a:off x="1251585" y="4508500"/>
            <a:ext cx="3285490" cy="689610"/>
            <a:chOff x="2436" y="6958"/>
            <a:chExt cx="5174" cy="1086"/>
          </a:xfrm>
        </p:grpSpPr>
        <mc:AlternateContent xmlns:mc="http://schemas.openxmlformats.org/markup-compatibility/2006">
          <mc:Choice xmlns:a14="http://schemas.microsoft.com/office/drawing/2010/main" Requires="a14">
            <p:sp>
              <p:nvSpPr>
                <p:cNvPr id="25" name="对象 5"/>
                <p:cNvSpPr txBox="1"/>
                <p:nvPr/>
              </p:nvSpPr>
              <p:spPr>
                <a:xfrm>
                  <a:off x="2436" y="6958"/>
                  <a:ext cx="5174" cy="74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m:rPr>
                            <m:sty m:val="p"/>
                          </m:rPr>
                          <a:rPr kumimoji="1" lang="en-US" altLang="zh-CN" sz="2800" dirty="0">
                            <a:latin typeface="Cambria Math" panose="02040503050406030204" charset="0"/>
                            <a:ea typeface="黑体" panose="02010609060101010101" pitchFamily="49" charset="-122"/>
                          </a:rPr>
                          <m:t>d</m:t>
                        </m:r>
                        <m:r>
                          <a:rPr kumimoji="1" lang="en-US" altLang="zh-CN" sz="2800" dirty="0">
                            <a:latin typeface="Cambria Math" panose="02040503050406030204" charset="0"/>
                            <a:ea typeface="黑体" panose="02010609060101010101" pitchFamily="49" charset="-122"/>
                          </a:rPr>
                          <m:t>𝑉</m:t>
                        </m:r>
                        <m:r>
                          <a:rPr kumimoji="1" lang="en-US" altLang="zh-CN" sz="2800" dirty="0">
                            <a:latin typeface="Cambria Math" panose="02040503050406030204" charset="0"/>
                            <a:ea typeface="黑体" panose="02010609060101010101" pitchFamily="49" charset="-122"/>
                          </a:rPr>
                          <m:t>=</m:t>
                        </m:r>
                        <m:r>
                          <m:rPr>
                            <m:sty m:val="p"/>
                          </m:rPr>
                          <a:rPr kumimoji="1" lang="en-US" altLang="zh-CN" sz="2800" i="0" dirty="0">
                            <a:latin typeface="Cambria Math" panose="02040503050406030204" charset="0"/>
                            <a:ea typeface="黑体" panose="02010609060101010101" pitchFamily="49" charset="-122"/>
                          </a:rPr>
                          <m:t>π</m:t>
                        </m:r>
                        <m:r>
                          <a:rPr kumimoji="1" lang="en-US" altLang="zh-CN" sz="2800" dirty="0">
                            <a:latin typeface="Cambria Math" panose="02040503050406030204" charset="0"/>
                            <a:ea typeface="黑体" panose="02010609060101010101" pitchFamily="49" charset="-122"/>
                          </a:rPr>
                          <m:t>[</m:t>
                        </m:r>
                        <m:r>
                          <a:rPr kumimoji="1" lang="en-US" altLang="zh-CN" sz="2800" dirty="0">
                            <a:highlight>
                              <a:srgbClr val="FFFF00"/>
                            </a:highlight>
                            <a:latin typeface="Cambria Math" panose="02040503050406030204" charset="0"/>
                            <a:ea typeface="黑体" panose="02010609060101010101" pitchFamily="49" charset="-122"/>
                          </a:rPr>
                          <m:t>𝑓</m:t>
                        </m:r>
                        <m:r>
                          <a:rPr kumimoji="1" lang="en-US" altLang="zh-CN" sz="2800" dirty="0">
                            <a:highlight>
                              <a:srgbClr val="FFFF00"/>
                            </a:highlight>
                            <a:latin typeface="Cambria Math" panose="02040503050406030204" charset="0"/>
                            <a:ea typeface="黑体" panose="02010609060101010101" pitchFamily="49" charset="-122"/>
                          </a:rPr>
                          <m:t>(</m:t>
                        </m:r>
                        <m:r>
                          <a:rPr kumimoji="1" lang="en-US" altLang="zh-CN" sz="2800" dirty="0">
                            <a:highlight>
                              <a:srgbClr val="FFFF00"/>
                            </a:highlight>
                            <a:latin typeface="Cambria Math" panose="02040503050406030204" charset="0"/>
                            <a:ea typeface="黑体" panose="02010609060101010101" pitchFamily="49" charset="-122"/>
                          </a:rPr>
                          <m:t>𝑥</m:t>
                        </m:r>
                        <m:r>
                          <a:rPr kumimoji="1" lang="en-US" altLang="zh-CN" sz="2800" dirty="0">
                            <a:highlight>
                              <a:srgbClr val="FFFF00"/>
                            </a:highlight>
                            <a:latin typeface="Cambria Math" panose="02040503050406030204" charset="0"/>
                            <a:ea typeface="黑体" panose="02010609060101010101" pitchFamily="49" charset="-122"/>
                          </a:rPr>
                          <m:t>)</m:t>
                        </m:r>
                        <m:sSup>
                          <m:sSupPr>
                            <m:ctrlPr>
                              <a:rPr kumimoji="1" lang="en-US" altLang="zh-CN" sz="2800" i="1" dirty="0">
                                <a:latin typeface="Cambria Math" panose="02040503050406030204" charset="0"/>
                                <a:ea typeface="黑体" panose="02010609060101010101" pitchFamily="49" charset="-122"/>
                              </a:rPr>
                            </m:ctrlPr>
                          </m:sSupPr>
                          <m:e>
                            <m:r>
                              <a:rPr kumimoji="1" lang="en-US" altLang="zh-CN" sz="2800" dirty="0">
                                <a:latin typeface="Cambria Math" panose="02040503050406030204" charset="0"/>
                                <a:ea typeface="黑体" panose="02010609060101010101" pitchFamily="49" charset="-122"/>
                              </a:rPr>
                              <m:t>]</m:t>
                            </m:r>
                          </m:e>
                          <m:sup>
                            <m:r>
                              <a:rPr kumimoji="1" lang="en-US" altLang="zh-CN" sz="2800" dirty="0">
                                <a:latin typeface="Cambria Math" panose="02040503050406030204" charset="0"/>
                                <a:ea typeface="黑体" panose="02010609060101010101" pitchFamily="49" charset="-122"/>
                              </a:rPr>
                              <m:t>2</m:t>
                            </m:r>
                          </m:sup>
                        </m:sSup>
                        <m:r>
                          <m:rPr>
                            <m:sty m:val="p"/>
                          </m:rPr>
                          <a:rPr kumimoji="1" lang="en-US" altLang="zh-CN" sz="2800" dirty="0">
                            <a:latin typeface="Cambria Math" panose="02040503050406030204" charset="0"/>
                            <a:ea typeface="黑体" panose="02010609060101010101" pitchFamily="49" charset="-122"/>
                          </a:rPr>
                          <m:t>d</m:t>
                        </m:r>
                        <m:r>
                          <a:rPr kumimoji="1" lang="en-US" altLang="zh-CN" sz="2800" dirty="0">
                            <a:latin typeface="Cambria Math" panose="02040503050406030204" charset="0"/>
                            <a:ea typeface="黑体" panose="02010609060101010101" pitchFamily="49" charset="-122"/>
                          </a:rPr>
                          <m:t>𝑥</m:t>
                        </m:r>
                      </m:oMath>
                    </m:oMathPara>
                  </a14:m>
                  <a:endParaRPr kumimoji="1" lang="en-US" altLang="zh-CN" sz="2800" dirty="0">
                    <a:latin typeface="Cambria Math" panose="02040503050406030204" charset="0"/>
                    <a:ea typeface="黑体" panose="02010609060101010101" pitchFamily="49" charset="-122"/>
                  </a:endParaRPr>
                </a:p>
              </p:txBody>
            </p:sp>
          </mc:Choice>
          <mc:Fallback>
            <p:sp>
              <p:nvSpPr>
                <p:cNvPr id="25" name="对象 5"/>
                <p:cNvSpPr txBox="1">
                  <a:spLocks noRot="1" noChangeAspect="1" noMove="1" noResize="1" noEditPoints="1" noAdjustHandles="1" noChangeArrowheads="1" noChangeShapeType="1" noTextEdit="1"/>
                </p:cNvSpPr>
                <p:nvPr/>
              </p:nvSpPr>
              <p:spPr>
                <a:xfrm>
                  <a:off x="2436" y="6958"/>
                  <a:ext cx="5174" cy="740"/>
                </a:xfrm>
                <a:prstGeom prst="rect">
                  <a:avLst/>
                </a:prstGeom>
                <a:blipFill rotWithShape="1">
                  <a:blip r:embed="rId1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 name="对象 3"/>
                <p:cNvSpPr txBox="1"/>
                <p:nvPr/>
              </p:nvSpPr>
              <p:spPr>
                <a:xfrm>
                  <a:off x="6041" y="7364"/>
                  <a:ext cx="120" cy="68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 </m:t>
                        </m:r>
                      </m:oMath>
                    </m:oMathPara>
                  </a14:m>
                  <a:endParaRPr kumimoji="1" lang="en-US" altLang="zh-CN" sz="2800" dirty="0">
                    <a:latin typeface="Cambria Math" panose="02040503050406030204" charset="0"/>
                    <a:ea typeface="黑体" panose="02010609060101010101" pitchFamily="49" charset="-122"/>
                  </a:endParaRPr>
                </a:p>
              </p:txBody>
            </p:sp>
          </mc:Choice>
          <mc:Fallback>
            <p:sp>
              <p:nvSpPr>
                <p:cNvPr id="33" name="对象 3"/>
                <p:cNvSpPr txBox="1">
                  <a:spLocks noRot="1" noChangeAspect="1" noMove="1" noResize="1" noEditPoints="1" noAdjustHandles="1" noChangeArrowheads="1" noChangeShapeType="1" noTextEdit="1"/>
                </p:cNvSpPr>
                <p:nvPr/>
              </p:nvSpPr>
              <p:spPr>
                <a:xfrm>
                  <a:off x="6041" y="7364"/>
                  <a:ext cx="120" cy="680"/>
                </a:xfrm>
                <a:prstGeom prst="rect">
                  <a:avLst/>
                </a:prstGeom>
                <a:blipFill rotWithShape="1">
                  <a:blip r:embed="rId9"/>
                </a:blipFill>
              </p:spPr>
              <p:txBody>
                <a:bodyPr/>
                <a:lstStyle/>
                <a:p>
                  <a:r>
                    <a:rPr lang="zh-CN" altLang="en-US">
                      <a:noFill/>
                    </a:rPr>
                    <a:t> </a:t>
                  </a:r>
                </a:p>
              </p:txBody>
            </p:sp>
          </mc:Fallback>
        </mc:AlternateContent>
      </p:grpSp>
      <p:grpSp>
        <p:nvGrpSpPr>
          <p:cNvPr id="56" name="组合 55"/>
          <p:cNvGrpSpPr/>
          <p:nvPr/>
        </p:nvGrpSpPr>
        <p:grpSpPr>
          <a:xfrm>
            <a:off x="855980" y="5242560"/>
            <a:ext cx="3750310" cy="431800"/>
            <a:chOff x="1853" y="8516"/>
            <a:chExt cx="5906" cy="680"/>
          </a:xfrm>
        </p:grpSpPr>
        <mc:AlternateContent xmlns:mc="http://schemas.openxmlformats.org/markup-compatibility/2006">
          <mc:Choice xmlns:a14="http://schemas.microsoft.com/office/drawing/2010/main" Requires="a14">
            <p:sp>
              <p:nvSpPr>
                <p:cNvPr id="35" name="对象 8"/>
                <p:cNvSpPr txBox="1"/>
                <p:nvPr/>
              </p:nvSpPr>
              <p:spPr>
                <a:xfrm>
                  <a:off x="1853" y="8536"/>
                  <a:ext cx="5906" cy="64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3</m:t>
                        </m:r>
                        <m: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r>
                          <m:rPr>
                            <m:nor/>
                          </m:rP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旋转体的体积为</m:t>
                        </m:r>
                      </m:oMath>
                    </m:oMathPara>
                  </a14:m>
                  <a:endPar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35" name="对象 8"/>
                <p:cNvSpPr txBox="1">
                  <a:spLocks noRot="1" noChangeAspect="1" noMove="1" noResize="1" noEditPoints="1" noAdjustHandles="1" noChangeArrowheads="1" noChangeShapeType="1" noTextEdit="1"/>
                </p:cNvSpPr>
                <p:nvPr/>
              </p:nvSpPr>
              <p:spPr>
                <a:xfrm>
                  <a:off x="1853" y="8536"/>
                  <a:ext cx="5906" cy="640"/>
                </a:xfrm>
                <a:prstGeom prst="rect">
                  <a:avLst/>
                </a:prstGeom>
                <a:blipFill rotWithShape="1">
                  <a:blip r:embed="rId1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5" name="对象 3"/>
                <p:cNvSpPr txBox="1"/>
                <p:nvPr/>
              </p:nvSpPr>
              <p:spPr>
                <a:xfrm>
                  <a:off x="4746" y="8516"/>
                  <a:ext cx="120" cy="68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 </m:t>
                        </m:r>
                      </m:oMath>
                    </m:oMathPara>
                  </a14:m>
                  <a:endParaRPr kumimoji="1" lang="en-US" altLang="zh-CN" sz="2800" dirty="0">
                    <a:latin typeface="Cambria Math" panose="02040503050406030204" charset="0"/>
                    <a:ea typeface="黑体" panose="02010609060101010101" pitchFamily="49" charset="-122"/>
                  </a:endParaRPr>
                </a:p>
              </p:txBody>
            </p:sp>
          </mc:Choice>
          <mc:Fallback>
            <p:sp>
              <p:nvSpPr>
                <p:cNvPr id="55" name="对象 3"/>
                <p:cNvSpPr txBox="1">
                  <a:spLocks noRot="1" noChangeAspect="1" noMove="1" noResize="1" noEditPoints="1" noAdjustHandles="1" noChangeArrowheads="1" noChangeShapeType="1" noTextEdit="1"/>
                </p:cNvSpPr>
                <p:nvPr/>
              </p:nvSpPr>
              <p:spPr>
                <a:xfrm>
                  <a:off x="4746" y="8516"/>
                  <a:ext cx="120" cy="680"/>
                </a:xfrm>
                <a:prstGeom prst="rect">
                  <a:avLst/>
                </a:prstGeom>
                <a:blipFill rotWithShape="1">
                  <a:blip r:embed="rId9"/>
                </a:blipFill>
              </p:spPr>
              <p:txBody>
                <a:bodyPr/>
                <a:lstStyle/>
                <a:p>
                  <a:r>
                    <a:rPr lang="zh-CN" altLang="en-US">
                      <a:noFill/>
                    </a:rPr>
                    <a:t> </a:t>
                  </a:r>
                </a:p>
              </p:txBody>
            </p:sp>
          </mc:Fallback>
        </mc:AlternateContent>
      </p:grpSp>
      <p:grpSp>
        <p:nvGrpSpPr>
          <p:cNvPr id="58" name="组合 57"/>
          <p:cNvGrpSpPr/>
          <p:nvPr/>
        </p:nvGrpSpPr>
        <p:grpSpPr>
          <a:xfrm>
            <a:off x="3997325" y="5008880"/>
            <a:ext cx="3115310" cy="1091565"/>
            <a:chOff x="7777" y="8759"/>
            <a:chExt cx="4906" cy="1719"/>
          </a:xfrm>
        </p:grpSpPr>
        <mc:AlternateContent xmlns:mc="http://schemas.openxmlformats.org/markup-compatibility/2006">
          <mc:Choice xmlns:a14="http://schemas.microsoft.com/office/drawing/2010/main" Requires="a14">
            <p:sp>
              <p:nvSpPr>
                <p:cNvPr id="129" name="Object 25"/>
                <p:cNvSpPr txBox="1"/>
                <p:nvPr/>
              </p:nvSpPr>
              <p:spPr bwMode="auto">
                <a:xfrm>
                  <a:off x="7777" y="8759"/>
                  <a:ext cx="4906" cy="1719"/>
                </a:xfrm>
                <a:prstGeom prst="rect">
                  <a:avLst/>
                </a:prstGeom>
                <a:noFill/>
                <a:ln w="28575">
                  <a:solidFill>
                    <a:srgbClr val="04926A"/>
                  </a:solidFill>
                  <a:miter lim="800000"/>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800" dirty="0">
                            <a:latin typeface="Cambria Math" panose="02040503050406030204" charset="0"/>
                            <a:ea typeface="黑体" panose="02010609060101010101" pitchFamily="49" charset="-122"/>
                          </a:rPr>
                          <m:t>𝑉</m:t>
                        </m:r>
                        <m:r>
                          <a:rPr kumimoji="1" lang="en-US" altLang="zh-CN" sz="2800" dirty="0">
                            <a:latin typeface="Cambria Math" panose="02040503050406030204" charset="0"/>
                            <a:ea typeface="黑体" panose="02010609060101010101" pitchFamily="49" charset="-122"/>
                          </a:rPr>
                          <m:t>=</m:t>
                        </m:r>
                        <m:nary>
                          <m:naryPr>
                            <m:ctrlPr>
                              <a:rPr kumimoji="1" lang="en-US" altLang="zh-CN" sz="2800" i="1" dirty="0">
                                <a:latin typeface="Cambria Math" panose="02040503050406030204" charset="0"/>
                                <a:ea typeface="黑体" panose="02010609060101010101" pitchFamily="49" charset="-122"/>
                              </a:rPr>
                            </m:ctrlPr>
                          </m:naryPr>
                          <m:sub>
                            <m:r>
                              <a:rPr kumimoji="1" lang="en-US" altLang="zh-CN" sz="2800" i="1" dirty="0">
                                <a:latin typeface="Cambria Math" panose="02040503050406030204" charset="0"/>
                                <a:ea typeface="黑体" panose="02010609060101010101" pitchFamily="49" charset="-122"/>
                              </a:rPr>
                              <m:t>𝑎</m:t>
                            </m:r>
                          </m:sub>
                          <m:sup>
                            <m:r>
                              <a:rPr kumimoji="1" lang="en-US" altLang="zh-CN" sz="2800" i="1" dirty="0">
                                <a:latin typeface="Cambria Math" panose="02040503050406030204" charset="0"/>
                                <a:ea typeface="黑体" panose="02010609060101010101" pitchFamily="49" charset="-122"/>
                              </a:rPr>
                              <m:t>𝑏</m:t>
                            </m:r>
                          </m:sup>
                          <m:e>
                            <m:r>
                              <m:rPr>
                                <m:sty m:val="p"/>
                              </m:rPr>
                              <a:rPr kumimoji="1" lang="en-US" altLang="zh-CN" sz="2800" i="0" dirty="0">
                                <a:latin typeface="Cambria Math" panose="02040503050406030204" charset="0"/>
                                <a:ea typeface="黑体" panose="02010609060101010101" pitchFamily="49" charset="-122"/>
                              </a:rPr>
                              <m:t>π</m:t>
                            </m:r>
                          </m:e>
                        </m:nary>
                        <m:r>
                          <a:rPr kumimoji="1" lang="en-US" altLang="zh-CN" sz="2800" dirty="0">
                            <a:latin typeface="Cambria Math" panose="02040503050406030204" charset="0"/>
                            <a:ea typeface="黑体" panose="02010609060101010101" pitchFamily="49" charset="-122"/>
                          </a:rPr>
                          <m:t>[</m:t>
                        </m:r>
                        <m:r>
                          <a:rPr kumimoji="1" lang="en-US" altLang="zh-CN" sz="2800" dirty="0">
                            <a:latin typeface="Cambria Math" panose="02040503050406030204" charset="0"/>
                            <a:ea typeface="黑体" panose="02010609060101010101" pitchFamily="49" charset="-122"/>
                          </a:rPr>
                          <m:t>𝑓</m:t>
                        </m:r>
                        <m:r>
                          <a:rPr kumimoji="1" lang="en-US" altLang="zh-CN" sz="2800" dirty="0">
                            <a:latin typeface="Cambria Math" panose="02040503050406030204" charset="0"/>
                            <a:ea typeface="黑体" panose="02010609060101010101" pitchFamily="49" charset="-122"/>
                          </a:rPr>
                          <m:t>(</m:t>
                        </m:r>
                        <m:r>
                          <a:rPr kumimoji="1" lang="en-US" altLang="zh-CN" sz="2800" dirty="0">
                            <a:latin typeface="Cambria Math" panose="02040503050406030204" charset="0"/>
                            <a:ea typeface="黑体" panose="02010609060101010101" pitchFamily="49" charset="-122"/>
                          </a:rPr>
                          <m:t>𝑥</m:t>
                        </m:r>
                        <m:r>
                          <a:rPr kumimoji="1" lang="en-US" altLang="zh-CN" sz="2800" dirty="0">
                            <a:latin typeface="Cambria Math" panose="02040503050406030204" charset="0"/>
                            <a:ea typeface="黑体" panose="02010609060101010101" pitchFamily="49" charset="-122"/>
                          </a:rPr>
                          <m:t>)</m:t>
                        </m:r>
                        <m:sSup>
                          <m:sSupPr>
                            <m:ctrlPr>
                              <a:rPr kumimoji="1" lang="en-US" altLang="zh-CN" sz="2800" i="1" dirty="0">
                                <a:latin typeface="Cambria Math" panose="02040503050406030204" charset="0"/>
                                <a:ea typeface="黑体" panose="02010609060101010101" pitchFamily="49" charset="-122"/>
                              </a:rPr>
                            </m:ctrlPr>
                          </m:sSupPr>
                          <m:e>
                            <m:r>
                              <a:rPr kumimoji="1" lang="en-US" altLang="zh-CN" sz="2800" dirty="0">
                                <a:latin typeface="Cambria Math" panose="02040503050406030204" charset="0"/>
                                <a:ea typeface="黑体" panose="02010609060101010101" pitchFamily="49" charset="-122"/>
                              </a:rPr>
                              <m:t>]</m:t>
                            </m:r>
                          </m:e>
                          <m:sup>
                            <m:r>
                              <a:rPr kumimoji="1" lang="en-US" altLang="zh-CN" sz="2800" dirty="0">
                                <a:latin typeface="Cambria Math" panose="02040503050406030204" charset="0"/>
                                <a:ea typeface="黑体" panose="02010609060101010101" pitchFamily="49" charset="-122"/>
                              </a:rPr>
                              <m:t>2</m:t>
                            </m:r>
                          </m:sup>
                        </m:sSup>
                        <m:r>
                          <m:rPr>
                            <m:sty m:val="p"/>
                          </m:rPr>
                          <a:rPr kumimoji="1" lang="en-US" altLang="zh-CN" sz="2800" dirty="0">
                            <a:latin typeface="Cambria Math" panose="02040503050406030204" charset="0"/>
                            <a:ea typeface="黑体" panose="02010609060101010101" pitchFamily="49" charset="-122"/>
                          </a:rPr>
                          <m:t>d</m:t>
                        </m:r>
                        <m:r>
                          <a:rPr kumimoji="1" lang="en-US" altLang="zh-CN" sz="2800" dirty="0">
                            <a:latin typeface="Cambria Math" panose="02040503050406030204" charset="0"/>
                            <a:ea typeface="黑体" panose="02010609060101010101" pitchFamily="49" charset="-122"/>
                          </a:rPr>
                          <m:t>𝑥</m:t>
                        </m:r>
                      </m:oMath>
                    </m:oMathPara>
                  </a14:m>
                  <a:endParaRPr kumimoji="1" lang="en-US" altLang="zh-CN" sz="2800" dirty="0">
                    <a:latin typeface="Cambria Math" panose="02040503050406030204" charset="0"/>
                    <a:ea typeface="黑体" panose="02010609060101010101" pitchFamily="49" charset="-122"/>
                  </a:endParaRPr>
                </a:p>
              </p:txBody>
            </p:sp>
          </mc:Choice>
          <mc:Fallback>
            <p:sp>
              <p:nvSpPr>
                <p:cNvPr id="129" name="Object 25"/>
                <p:cNvSpPr txBox="1">
                  <a:spLocks noRot="1" noChangeAspect="1" noMove="1" noResize="1" noEditPoints="1" noAdjustHandles="1" noChangeArrowheads="1" noChangeShapeType="1" noTextEdit="1"/>
                </p:cNvSpPr>
                <p:nvPr/>
              </p:nvSpPr>
              <p:spPr bwMode="auto">
                <a:xfrm>
                  <a:off x="7777" y="8759"/>
                  <a:ext cx="4906" cy="1719"/>
                </a:xfrm>
                <a:prstGeom prst="rect">
                  <a:avLst/>
                </a:prstGeom>
                <a:blipFill rotWithShape="1">
                  <a:blip r:embed="rId16"/>
                </a:blipFill>
                <a:ln w="28575">
                  <a:solidFill>
                    <a:srgbClr val="04926A"/>
                  </a:solidFill>
                  <a:miter lim="800000"/>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7" name="对象 3"/>
                <p:cNvSpPr txBox="1"/>
                <p:nvPr/>
              </p:nvSpPr>
              <p:spPr>
                <a:xfrm>
                  <a:off x="10081" y="8919"/>
                  <a:ext cx="120" cy="68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 </m:t>
                        </m:r>
                      </m:oMath>
                    </m:oMathPara>
                  </a14:m>
                  <a:endParaRPr kumimoji="1" lang="en-US" altLang="zh-CN" sz="2800" dirty="0">
                    <a:latin typeface="Cambria Math" panose="02040503050406030204" charset="0"/>
                    <a:ea typeface="黑体" panose="02010609060101010101" pitchFamily="49" charset="-122"/>
                  </a:endParaRPr>
                </a:p>
              </p:txBody>
            </p:sp>
          </mc:Choice>
          <mc:Fallback>
            <p:sp>
              <p:nvSpPr>
                <p:cNvPr id="57" name="对象 3"/>
                <p:cNvSpPr txBox="1">
                  <a:spLocks noRot="1" noChangeAspect="1" noMove="1" noResize="1" noEditPoints="1" noAdjustHandles="1" noChangeArrowheads="1" noChangeShapeType="1" noTextEdit="1"/>
                </p:cNvSpPr>
                <p:nvPr/>
              </p:nvSpPr>
              <p:spPr>
                <a:xfrm>
                  <a:off x="10081" y="8919"/>
                  <a:ext cx="120" cy="680"/>
                </a:xfrm>
                <a:prstGeom prst="rect">
                  <a:avLst/>
                </a:prstGeom>
                <a:blipFill rotWithShape="1">
                  <a:blip r:embed="rId9"/>
                </a:blipFill>
              </p:spPr>
              <p:txBody>
                <a:bodyPr/>
                <a:lstStyle/>
                <a:p>
                  <a:r>
                    <a:rPr lang="zh-CN" altLang="en-US">
                      <a:noFill/>
                    </a:rPr>
                    <a:t> </a:t>
                  </a:r>
                </a:p>
              </p:txBody>
            </p:sp>
          </mc:Fallback>
        </mc:AlternateContent>
      </p:grpSp>
      <p:grpSp>
        <p:nvGrpSpPr>
          <p:cNvPr id="60" name="组合 59"/>
          <p:cNvGrpSpPr/>
          <p:nvPr/>
        </p:nvGrpSpPr>
        <p:grpSpPr>
          <a:xfrm>
            <a:off x="9008745" y="4098290"/>
            <a:ext cx="412750" cy="431800"/>
            <a:chOff x="14307" y="6499"/>
            <a:chExt cx="650" cy="680"/>
          </a:xfrm>
        </p:grpSpPr>
        <mc:AlternateContent xmlns:mc="http://schemas.openxmlformats.org/markup-compatibility/2006">
          <mc:Choice xmlns:a14="http://schemas.microsoft.com/office/drawing/2010/main" Requires="a14">
            <p:sp>
              <p:nvSpPr>
                <p:cNvPr id="10" name="对象 38"/>
                <p:cNvSpPr txBox="1"/>
                <p:nvPr/>
              </p:nvSpPr>
              <p:spPr>
                <a:xfrm>
                  <a:off x="14307" y="6567"/>
                  <a:ext cx="651" cy="544"/>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14:m>
                    <m:oMathPara xmlns:m="http://schemas.openxmlformats.org/officeDocument/2006/math">
                      <m:oMathParaPr>
                        <m:jc m:val="left"/>
                      </m:oMathParaPr>
                      <m:oMath xmlns:m="http://schemas.openxmlformats.org/officeDocument/2006/math">
                        <m:r>
                          <a:rPr kumimoji="1" lang="en-US" altLang="zh-CN" i="1" dirty="0">
                            <a:solidFill>
                              <a:srgbClr val="04926A"/>
                            </a:solidFill>
                            <a:latin typeface="Cambria Math" panose="02040503050406030204" charset="0"/>
                            <a:ea typeface="黑体" panose="02010609060101010101" pitchFamily="49" charset="-122"/>
                          </a:rPr>
                          <m:t>𝑥</m:t>
                        </m:r>
                      </m:oMath>
                    </m:oMathPara>
                  </a14:m>
                  <a:endParaRPr kumimoji="1" lang="en-US" altLang="zh-CN" i="1" dirty="0">
                    <a:solidFill>
                      <a:srgbClr val="04926A"/>
                    </a:solidFill>
                    <a:latin typeface="Cambria Math" panose="02040503050406030204" charset="0"/>
                    <a:ea typeface="黑体" panose="02010609060101010101" pitchFamily="49" charset="-122"/>
                  </a:endParaRPr>
                </a:p>
              </p:txBody>
            </p:sp>
          </mc:Choice>
          <mc:Fallback>
            <p:sp>
              <p:nvSpPr>
                <p:cNvPr id="10" name="对象 38"/>
                <p:cNvSpPr txBox="1">
                  <a:spLocks noRot="1" noChangeAspect="1" noMove="1" noResize="1" noEditPoints="1" noAdjustHandles="1" noChangeArrowheads="1" noChangeShapeType="1" noTextEdit="1"/>
                </p:cNvSpPr>
                <p:nvPr/>
              </p:nvSpPr>
              <p:spPr>
                <a:xfrm>
                  <a:off x="14307" y="6567"/>
                  <a:ext cx="651" cy="544"/>
                </a:xfrm>
                <a:prstGeom prst="rect">
                  <a:avLst/>
                </a:prstGeom>
                <a:blipFill rotWithShape="1">
                  <a:blip r:embed="rId1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9" name="对象 3"/>
                <p:cNvSpPr txBox="1"/>
                <p:nvPr/>
              </p:nvSpPr>
              <p:spPr>
                <a:xfrm>
                  <a:off x="14573" y="6499"/>
                  <a:ext cx="120" cy="68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 </m:t>
                        </m:r>
                      </m:oMath>
                    </m:oMathPara>
                  </a14:m>
                  <a:endParaRPr kumimoji="1" lang="en-US" altLang="zh-CN" sz="2800" dirty="0">
                    <a:latin typeface="Cambria Math" panose="02040503050406030204" charset="0"/>
                    <a:ea typeface="黑体" panose="02010609060101010101" pitchFamily="49" charset="-122"/>
                  </a:endParaRPr>
                </a:p>
              </p:txBody>
            </p:sp>
          </mc:Choice>
          <mc:Fallback>
            <p:sp>
              <p:nvSpPr>
                <p:cNvPr id="59" name="对象 3"/>
                <p:cNvSpPr txBox="1">
                  <a:spLocks noRot="1" noChangeAspect="1" noMove="1" noResize="1" noEditPoints="1" noAdjustHandles="1" noChangeArrowheads="1" noChangeShapeType="1" noTextEdit="1"/>
                </p:cNvSpPr>
                <p:nvPr/>
              </p:nvSpPr>
              <p:spPr>
                <a:xfrm>
                  <a:off x="14573" y="6499"/>
                  <a:ext cx="120" cy="680"/>
                </a:xfrm>
                <a:prstGeom prst="rect">
                  <a:avLst/>
                </a:prstGeom>
                <a:blipFill rotWithShape="1">
                  <a:blip r:embed="rId9"/>
                </a:blipFill>
              </p:spPr>
              <p:txBody>
                <a:bodyPr/>
                <a:lstStyle/>
                <a:p>
                  <a:r>
                    <a:rPr lang="zh-CN" altLang="en-US">
                      <a:noFill/>
                    </a:rPr>
                    <a:t> </a:t>
                  </a:r>
                </a:p>
              </p:txBody>
            </p:sp>
          </mc:Fallback>
        </mc:AlternateContent>
      </p:grpSp>
      <p:grpSp>
        <p:nvGrpSpPr>
          <p:cNvPr id="64" name="组合 63"/>
          <p:cNvGrpSpPr/>
          <p:nvPr/>
        </p:nvGrpSpPr>
        <p:grpSpPr>
          <a:xfrm>
            <a:off x="9232900" y="3371850"/>
            <a:ext cx="843280" cy="1136650"/>
            <a:chOff x="14660" y="5355"/>
            <a:chExt cx="1328" cy="1790"/>
          </a:xfrm>
        </p:grpSpPr>
        <p:sp>
          <p:nvSpPr>
            <p:cNvPr id="50" name="Line 14"/>
            <p:cNvSpPr>
              <a:spLocks noChangeShapeType="1"/>
            </p:cNvSpPr>
            <p:nvPr/>
          </p:nvSpPr>
          <p:spPr bwMode="auto">
            <a:xfrm>
              <a:off x="15152" y="5355"/>
              <a:ext cx="13" cy="1200"/>
            </a:xfrm>
            <a:prstGeom prst="line">
              <a:avLst/>
            </a:prstGeom>
            <a:noFill/>
            <a:ln w="19050">
              <a:solidFill>
                <a:schemeClr val="tx1"/>
              </a:solidFill>
              <a:prstDash val="sysDot"/>
              <a:round/>
            </a:ln>
            <a:extLst>
              <a:ext uri="{909E8E84-426E-40DD-AFC4-6F175D3DCCD1}">
                <a14:hiddenFill xmlns:a14="http://schemas.microsoft.com/office/drawing/2010/main">
                  <a:noFill/>
                </a14:hiddenFill>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latin typeface="Cambria Math" panose="02040503050406030204" charset="0"/>
                <a:cs typeface="Times New Roman" panose="02020603050405020304" pitchFamily="18" charset="0"/>
              </a:endParaRPr>
            </a:p>
          </p:txBody>
        </p:sp>
        <p:grpSp>
          <p:nvGrpSpPr>
            <p:cNvPr id="62" name="组合 61"/>
            <p:cNvGrpSpPr/>
            <p:nvPr/>
          </p:nvGrpSpPr>
          <p:grpSpPr>
            <a:xfrm>
              <a:off x="14660" y="6465"/>
              <a:ext cx="1328" cy="680"/>
              <a:chOff x="14660" y="6465"/>
              <a:chExt cx="1328" cy="680"/>
            </a:xfrm>
          </p:grpSpPr>
          <mc:AlternateContent xmlns:mc="http://schemas.openxmlformats.org/markup-compatibility/2006">
            <mc:Choice xmlns:a14="http://schemas.microsoft.com/office/drawing/2010/main" Requires="a14">
              <p:sp>
                <p:nvSpPr>
                  <p:cNvPr id="51" name="Object 15"/>
                  <p:cNvSpPr txBox="1"/>
                  <p:nvPr/>
                </p:nvSpPr>
                <p:spPr bwMode="auto">
                  <a:xfrm>
                    <a:off x="14660" y="6567"/>
                    <a:ext cx="1328" cy="476"/>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14:m>
                      <m:oMathPara xmlns:m="http://schemas.openxmlformats.org/officeDocument/2006/math">
                        <m:oMathParaPr>
                          <m:jc m:val="left"/>
                        </m:oMathParaPr>
                        <m:oMath xmlns:m="http://schemas.openxmlformats.org/officeDocument/2006/math">
                          <m:r>
                            <a:rPr kumimoji="1" lang="en-US" altLang="zh-CN" dirty="0">
                              <a:solidFill>
                                <a:srgbClr val="04926A"/>
                              </a:solidFill>
                              <a:latin typeface="Cambria Math" panose="02040503050406030204" charset="0"/>
                              <a:ea typeface="黑体" panose="02010609060101010101" pitchFamily="49" charset="-122"/>
                            </a:rPr>
                            <m:t>𝑥</m:t>
                          </m:r>
                          <m:r>
                            <a:rPr kumimoji="1" lang="en-US" altLang="zh-CN" dirty="0">
                              <a:solidFill>
                                <a:srgbClr val="04926A"/>
                              </a:solidFill>
                              <a:latin typeface="Cambria Math" panose="02040503050406030204" charset="0"/>
                              <a:ea typeface="黑体" panose="02010609060101010101" pitchFamily="49" charset="-122"/>
                            </a:rPr>
                            <m:t>+</m:t>
                          </m:r>
                          <m:r>
                            <m:rPr>
                              <m:sty m:val="p"/>
                            </m:rPr>
                            <a:rPr kumimoji="1" lang="en-US" altLang="zh-CN" i="1" dirty="0" smtClean="0">
                              <a:solidFill>
                                <a:srgbClr val="04926A"/>
                              </a:solidFill>
                              <a:latin typeface="Cambria Math" panose="02040503050406030204" charset="0"/>
                              <a:ea typeface="黑体" panose="02010609060101010101" pitchFamily="49" charset="-122"/>
                            </a:rPr>
                            <m:t>d</m:t>
                          </m:r>
                          <m:r>
                            <a:rPr kumimoji="1" lang="en-US" altLang="zh-CN" dirty="0">
                              <a:solidFill>
                                <a:srgbClr val="04926A"/>
                              </a:solidFill>
                              <a:latin typeface="Cambria Math" panose="02040503050406030204" charset="0"/>
                              <a:ea typeface="黑体" panose="02010609060101010101" pitchFamily="49" charset="-122"/>
                            </a:rPr>
                            <m:t>𝑥</m:t>
                          </m:r>
                        </m:oMath>
                      </m:oMathPara>
                    </a14:m>
                    <a:endParaRPr kumimoji="1" lang="en-US" altLang="zh-CN" dirty="0">
                      <a:solidFill>
                        <a:srgbClr val="04926A"/>
                      </a:solidFill>
                      <a:latin typeface="Cambria Math" panose="02040503050406030204" charset="0"/>
                      <a:ea typeface="黑体" panose="02010609060101010101" pitchFamily="49" charset="-122"/>
                    </a:endParaRPr>
                  </a:p>
                </p:txBody>
              </p:sp>
            </mc:Choice>
            <mc:Fallback>
              <p:sp>
                <p:nvSpPr>
                  <p:cNvPr id="51" name="Object 15"/>
                  <p:cNvSpPr txBox="1">
                    <a:spLocks noRot="1" noChangeAspect="1" noMove="1" noResize="1" noEditPoints="1" noAdjustHandles="1" noChangeArrowheads="1" noChangeShapeType="1" noTextEdit="1"/>
                  </p:cNvSpPr>
                  <p:nvPr/>
                </p:nvSpPr>
                <p:spPr bwMode="auto">
                  <a:xfrm>
                    <a:off x="14660" y="6567"/>
                    <a:ext cx="1328" cy="476"/>
                  </a:xfrm>
                  <a:prstGeom prst="rect">
                    <a:avLst/>
                  </a:prstGeom>
                  <a:blipFill rotWithShape="1">
                    <a:blip r:embed="rId18"/>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1" name="对象 3"/>
                  <p:cNvSpPr txBox="1"/>
                  <p:nvPr/>
                </p:nvSpPr>
                <p:spPr>
                  <a:xfrm>
                    <a:off x="15264" y="6465"/>
                    <a:ext cx="120" cy="68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 </m:t>
                          </m:r>
                        </m:oMath>
                      </m:oMathPara>
                    </a14:m>
                    <a:endParaRPr kumimoji="1" lang="en-US" altLang="zh-CN" sz="2800" dirty="0">
                      <a:latin typeface="Cambria Math" panose="02040503050406030204" charset="0"/>
                      <a:ea typeface="黑体" panose="02010609060101010101" pitchFamily="49" charset="-122"/>
                    </a:endParaRPr>
                  </a:p>
                </p:txBody>
              </p:sp>
            </mc:Choice>
            <mc:Fallback>
              <p:sp>
                <p:nvSpPr>
                  <p:cNvPr id="61" name="对象 3"/>
                  <p:cNvSpPr txBox="1">
                    <a:spLocks noRot="1" noChangeAspect="1" noMove="1" noResize="1" noEditPoints="1" noAdjustHandles="1" noChangeArrowheads="1" noChangeShapeType="1" noTextEdit="1"/>
                  </p:cNvSpPr>
                  <p:nvPr/>
                </p:nvSpPr>
                <p:spPr>
                  <a:xfrm>
                    <a:off x="15264" y="6465"/>
                    <a:ext cx="120" cy="680"/>
                  </a:xfrm>
                  <a:prstGeom prst="rect">
                    <a:avLst/>
                  </a:prstGeom>
                  <a:blipFill rotWithShape="1">
                    <a:blip r:embed="rId9"/>
                  </a:blipFill>
                </p:spPr>
                <p:txBody>
                  <a:bodyPr/>
                  <a:lstStyle/>
                  <a:p>
                    <a:r>
                      <a:rPr lang="zh-CN" altLang="en-US">
                        <a:noFill/>
                      </a:rPr>
                      <a:t> </a:t>
                    </a:r>
                  </a:p>
                </p:txBody>
              </p:sp>
            </mc:Fallback>
          </mc:AlternateContent>
        </p:grpSp>
      </p:grpSp>
      <p:grpSp>
        <p:nvGrpSpPr>
          <p:cNvPr id="65" name="组合 64"/>
          <p:cNvGrpSpPr/>
          <p:nvPr/>
        </p:nvGrpSpPr>
        <p:grpSpPr>
          <a:xfrm>
            <a:off x="9008110" y="3522980"/>
            <a:ext cx="698500" cy="1267460"/>
            <a:chOff x="16979" y="7112"/>
            <a:chExt cx="1100" cy="1996"/>
          </a:xfrm>
        </p:grpSpPr>
        <p:grpSp>
          <p:nvGrpSpPr>
            <p:cNvPr id="66" name="组合 65"/>
            <p:cNvGrpSpPr/>
            <p:nvPr/>
          </p:nvGrpSpPr>
          <p:grpSpPr>
            <a:xfrm>
              <a:off x="16979" y="7112"/>
              <a:ext cx="1100" cy="1996"/>
              <a:chOff x="9173033" y="4427641"/>
              <a:chExt cx="698771" cy="1267519"/>
            </a:xfrm>
          </p:grpSpPr>
          <p:sp>
            <p:nvSpPr>
              <p:cNvPr id="67" name="圆柱形 66"/>
              <p:cNvSpPr/>
              <p:nvPr/>
            </p:nvSpPr>
            <p:spPr>
              <a:xfrm rot="5400000" flipV="1">
                <a:off x="8888659" y="4712015"/>
                <a:ext cx="1267519" cy="698771"/>
              </a:xfrm>
              <a:prstGeom prst="can">
                <a:avLst>
                  <a:gd name="adj" fmla="val 50000"/>
                </a:avLst>
              </a:prstGeom>
              <a:solidFill>
                <a:srgbClr val="4A7BA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8" name="直接连接符 67"/>
              <p:cNvCxnSpPr/>
              <p:nvPr/>
            </p:nvCxnSpPr>
            <p:spPr>
              <a:xfrm>
                <a:off x="9337703" y="4445397"/>
                <a:ext cx="0" cy="616003"/>
              </a:xfrm>
              <a:prstGeom prst="line">
                <a:avLst/>
              </a:prstGeom>
              <a:ln>
                <a:solidFill>
                  <a:srgbClr val="04926A"/>
                </a:solidFill>
              </a:ln>
            </p:spPr>
            <p:style>
              <a:lnRef idx="3">
                <a:schemeClr val="accent3"/>
              </a:lnRef>
              <a:fillRef idx="0">
                <a:schemeClr val="accent3"/>
              </a:fillRef>
              <a:effectRef idx="2">
                <a:schemeClr val="accent3"/>
              </a:effectRef>
              <a:fontRef idx="minor">
                <a:schemeClr val="tx1"/>
              </a:fontRef>
            </p:style>
          </p:cxnSp>
        </p:grpSp>
        <mc:AlternateContent xmlns:mc="http://schemas.openxmlformats.org/markup-compatibility/2006">
          <mc:Choice xmlns:a14="http://schemas.microsoft.com/office/drawing/2010/main" Requires="a14">
            <p:sp>
              <p:nvSpPr>
                <p:cNvPr id="69" name="对象 38"/>
                <p:cNvSpPr txBox="1"/>
                <p:nvPr/>
              </p:nvSpPr>
              <p:spPr>
                <a:xfrm>
                  <a:off x="16991" y="7980"/>
                  <a:ext cx="651" cy="544"/>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14:m>
                    <m:oMathPara xmlns:m="http://schemas.openxmlformats.org/officeDocument/2006/math">
                      <m:oMathParaPr>
                        <m:jc m:val="left"/>
                      </m:oMathParaPr>
                      <m:oMath xmlns:m="http://schemas.openxmlformats.org/officeDocument/2006/math">
                        <m:r>
                          <a:rPr kumimoji="1" lang="en-US" altLang="zh-CN" i="1" dirty="0">
                            <a:solidFill>
                              <a:srgbClr val="04926A"/>
                            </a:solidFill>
                            <a:latin typeface="Cambria Math" panose="02040503050406030204" charset="0"/>
                            <a:ea typeface="黑体" panose="02010609060101010101" pitchFamily="49" charset="-122"/>
                          </a:rPr>
                          <m:t>𝑥</m:t>
                        </m:r>
                      </m:oMath>
                    </m:oMathPara>
                  </a14:m>
                  <a:endParaRPr kumimoji="1" lang="en-US" altLang="zh-CN" i="1" dirty="0">
                    <a:solidFill>
                      <a:srgbClr val="04926A"/>
                    </a:solidFill>
                    <a:latin typeface="Cambria Math" panose="02040503050406030204" charset="0"/>
                    <a:ea typeface="黑体" panose="02010609060101010101" pitchFamily="49" charset="-122"/>
                  </a:endParaRPr>
                </a:p>
              </p:txBody>
            </p:sp>
          </mc:Choice>
          <mc:Fallback>
            <p:sp>
              <p:nvSpPr>
                <p:cNvPr id="69" name="对象 38"/>
                <p:cNvSpPr txBox="1">
                  <a:spLocks noRot="1" noChangeAspect="1" noMove="1" noResize="1" noEditPoints="1" noAdjustHandles="1" noChangeArrowheads="1" noChangeShapeType="1" noTextEdit="1"/>
                </p:cNvSpPr>
                <p:nvPr/>
              </p:nvSpPr>
              <p:spPr>
                <a:xfrm>
                  <a:off x="16991" y="7980"/>
                  <a:ext cx="651" cy="544"/>
                </a:xfrm>
                <a:prstGeom prst="rect">
                  <a:avLst/>
                </a:prstGeom>
                <a:blipFill rotWithShape="1">
                  <a:blip r:embed="rId17"/>
                </a:blipFill>
              </p:spPr>
              <p:txBody>
                <a:bodyPr/>
                <a:lstStyle/>
                <a:p>
                  <a:r>
                    <a:rPr lang="zh-CN" altLang="en-US">
                      <a:noFill/>
                    </a:rPr>
                    <a:t> </a:t>
                  </a:r>
                </a:p>
              </p:txBody>
            </p:sp>
          </mc:Fallback>
        </mc:AlternateContent>
      </p:grpSp>
      <p:grpSp>
        <p:nvGrpSpPr>
          <p:cNvPr id="54" name="组合 53"/>
          <p:cNvGrpSpPr/>
          <p:nvPr/>
        </p:nvGrpSpPr>
        <p:grpSpPr>
          <a:xfrm>
            <a:off x="233922" y="195130"/>
            <a:ext cx="11710797" cy="6451285"/>
            <a:chOff x="233922" y="195130"/>
            <a:chExt cx="11710797" cy="6451285"/>
          </a:xfrm>
        </p:grpSpPr>
        <p:sp>
          <p:nvSpPr>
            <p:cNvPr id="63" name="Rectangle 1"/>
            <p:cNvSpPr/>
            <p:nvPr/>
          </p:nvSpPr>
          <p:spPr>
            <a:xfrm>
              <a:off x="297498" y="6450633"/>
              <a:ext cx="82948" cy="81477"/>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70" name="Rectangle 1"/>
            <p:cNvSpPr/>
            <p:nvPr/>
          </p:nvSpPr>
          <p:spPr>
            <a:xfrm rot="2659048">
              <a:off x="9614893" y="278464"/>
              <a:ext cx="147664" cy="140036"/>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71" name="矩形 70"/>
            <p:cNvSpPr/>
            <p:nvPr/>
          </p:nvSpPr>
          <p:spPr>
            <a:xfrm>
              <a:off x="476828" y="6339710"/>
              <a:ext cx="2599690" cy="306705"/>
            </a:xfrm>
            <a:prstGeom prst="rect">
              <a:avLst/>
            </a:prstGeom>
          </p:spPr>
          <p:txBody>
            <a:bodyPr wrap="none">
              <a:spAutoFit/>
            </a:bodyPr>
            <a:lstStyle/>
            <a:p>
              <a:pPr algn="l"/>
              <a:r>
                <a:rPr lang="zh-CN" altLang="en-US" sz="1400" dirty="0">
                  <a:solidFill>
                    <a:schemeClr val="bg1">
                      <a:lumMod val="50000"/>
                    </a:schemeClr>
                  </a:solidFill>
                  <a:latin typeface="微软雅黑" panose="020B0503020204020204" charset="-122"/>
                  <a:ea typeface="微软雅黑" panose="020B0503020204020204" charset="-122"/>
                </a:rPr>
                <a:t>第二节</a:t>
              </a:r>
              <a:r>
                <a:rPr lang="en-US" altLang="zh-CN" sz="1400" dirty="0">
                  <a:solidFill>
                    <a:schemeClr val="bg1">
                      <a:lumMod val="50000"/>
                    </a:schemeClr>
                  </a:solidFill>
                  <a:latin typeface="微软雅黑" panose="020B0503020204020204" charset="-122"/>
                  <a:ea typeface="微软雅黑" panose="020B0503020204020204" charset="-122"/>
                </a:rPr>
                <a:t>  </a:t>
              </a:r>
              <a:r>
                <a:rPr lang="zh-CN" altLang="en-US" sz="1400" dirty="0">
                  <a:solidFill>
                    <a:schemeClr val="bg1">
                      <a:lumMod val="50000"/>
                    </a:schemeClr>
                  </a:solidFill>
                  <a:latin typeface="微软雅黑" panose="020B0503020204020204" charset="-122"/>
                  <a:ea typeface="微软雅黑" panose="020B0503020204020204" charset="-122"/>
                  <a:sym typeface="+mn-ea"/>
                </a:rPr>
                <a:t>定积分在几何上的应用</a:t>
              </a:r>
              <a:endParaRPr lang="zh-CN" altLang="en-US" sz="1400" dirty="0">
                <a:solidFill>
                  <a:schemeClr val="bg1">
                    <a:lumMod val="50000"/>
                  </a:schemeClr>
                </a:solidFill>
                <a:latin typeface="微软雅黑" panose="020B0503020204020204" charset="-122"/>
                <a:ea typeface="微软雅黑" panose="020B0503020204020204" charset="-122"/>
              </a:endParaRPr>
            </a:p>
          </p:txBody>
        </p:sp>
        <p:sp>
          <p:nvSpPr>
            <p:cNvPr id="72" name="矩形 71"/>
            <p:cNvSpPr/>
            <p:nvPr/>
          </p:nvSpPr>
          <p:spPr>
            <a:xfrm>
              <a:off x="9870065" y="195130"/>
              <a:ext cx="1941195" cy="306705"/>
            </a:xfrm>
            <a:prstGeom prst="rect">
              <a:avLst/>
            </a:prstGeom>
          </p:spPr>
          <p:txBody>
            <a:bodyPr wrap="none">
              <a:spAutoFit/>
            </a:bodyPr>
            <a:lstStyle/>
            <a:p>
              <a:pPr algn="l"/>
              <a:r>
                <a:rPr lang="zh-CN" altLang="en-US" sz="1400" dirty="0">
                  <a:solidFill>
                    <a:schemeClr val="bg1">
                      <a:lumMod val="50000"/>
                    </a:schemeClr>
                  </a:solidFill>
                  <a:latin typeface="微软雅黑" panose="020B0503020204020204" charset="-122"/>
                  <a:ea typeface="微软雅黑" panose="020B0503020204020204" charset="-122"/>
                </a:rPr>
                <a:t>第六章   </a:t>
              </a:r>
              <a:r>
                <a:rPr lang="zh-CN" altLang="en-US" sz="1400" dirty="0">
                  <a:solidFill>
                    <a:schemeClr val="bg1">
                      <a:lumMod val="50000"/>
                    </a:schemeClr>
                  </a:solidFill>
                  <a:latin typeface="微软雅黑" panose="020B0503020204020204" charset="-122"/>
                  <a:ea typeface="微软雅黑" panose="020B0503020204020204" charset="-122"/>
                  <a:sym typeface="+mn-ea"/>
                </a:rPr>
                <a:t>定积分的应用</a:t>
              </a:r>
              <a:endParaRPr lang="zh-CN" altLang="en-US" sz="1400" dirty="0">
                <a:solidFill>
                  <a:schemeClr val="bg1">
                    <a:lumMod val="50000"/>
                  </a:schemeClr>
                </a:solidFill>
                <a:latin typeface="微软雅黑" panose="020B0503020204020204" charset="-122"/>
                <a:ea typeface="微软雅黑" panose="020B0503020204020204" charset="-122"/>
              </a:endParaRPr>
            </a:p>
          </p:txBody>
        </p:sp>
        <p:cxnSp>
          <p:nvCxnSpPr>
            <p:cNvPr id="73" name="直接连接符 72"/>
            <p:cNvCxnSpPr/>
            <p:nvPr/>
          </p:nvCxnSpPr>
          <p:spPr>
            <a:xfrm>
              <a:off x="233922" y="350878"/>
              <a:ext cx="9072000" cy="0"/>
            </a:xfrm>
            <a:prstGeom prst="line">
              <a:avLst/>
            </a:prstGeom>
            <a:ln>
              <a:solidFill>
                <a:srgbClr val="04926A"/>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3232719" y="6502750"/>
              <a:ext cx="8712000" cy="0"/>
            </a:xfrm>
            <a:prstGeom prst="line">
              <a:avLst/>
            </a:prstGeom>
            <a:ln>
              <a:solidFill>
                <a:srgbClr val="BBBBBB"/>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left)">
                                      <p:cBhvr>
                                        <p:cTn id="17" dur="500"/>
                                        <p:tgtEl>
                                          <p:spTgt spid="26"/>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60"/>
                                        </p:tgtEl>
                                        <p:attrNameLst>
                                          <p:attrName>style.visibility</p:attrName>
                                        </p:attrNameLst>
                                      </p:cBhvr>
                                      <p:to>
                                        <p:strVal val="visible"/>
                                      </p:to>
                                    </p:set>
                                    <p:animEffect transition="in" filter="wipe(left)">
                                      <p:cBhvr>
                                        <p:cTn id="21" dur="500"/>
                                        <p:tgtEl>
                                          <p:spTgt spid="6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wipe(left)">
                                      <p:cBhvr>
                                        <p:cTn id="26" dur="5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wipe(left)">
                                      <p:cBhvr>
                                        <p:cTn id="31" dur="500"/>
                                        <p:tgtEl>
                                          <p:spTgt spid="30"/>
                                        </p:tgtEl>
                                      </p:cBhvr>
                                    </p:animEffect>
                                  </p:childTnLst>
                                </p:cTn>
                              </p:par>
                            </p:childTnLst>
                          </p:cTn>
                        </p:par>
                        <p:par>
                          <p:cTn id="32" fill="hold">
                            <p:stCondLst>
                              <p:cond delay="500"/>
                            </p:stCondLst>
                            <p:childTnLst>
                              <p:par>
                                <p:cTn id="33" presetID="22" presetClass="entr" presetSubtype="1" fill="hold" nodeType="afterEffect">
                                  <p:stCondLst>
                                    <p:cond delay="0"/>
                                  </p:stCondLst>
                                  <p:childTnLst>
                                    <p:set>
                                      <p:cBhvr>
                                        <p:cTn id="34" dur="1" fill="hold">
                                          <p:stCondLst>
                                            <p:cond delay="0"/>
                                          </p:stCondLst>
                                        </p:cTn>
                                        <p:tgtEl>
                                          <p:spTgt spid="48"/>
                                        </p:tgtEl>
                                        <p:attrNameLst>
                                          <p:attrName>style.visibility</p:attrName>
                                        </p:attrNameLst>
                                      </p:cBhvr>
                                      <p:to>
                                        <p:strVal val="visible"/>
                                      </p:to>
                                    </p:set>
                                    <p:animEffect transition="in" filter="wipe(up)">
                                      <p:cBhvr>
                                        <p:cTn id="35" dur="500"/>
                                        <p:tgtEl>
                                          <p:spTgt spid="4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64"/>
                                        </p:tgtEl>
                                        <p:attrNameLst>
                                          <p:attrName>style.visibility</p:attrName>
                                        </p:attrNameLst>
                                      </p:cBhvr>
                                      <p:to>
                                        <p:strVal val="visible"/>
                                      </p:to>
                                    </p:set>
                                    <p:animEffect transition="in" filter="wipe(up)">
                                      <p:cBhvr>
                                        <p:cTn id="40" dur="500"/>
                                        <p:tgtEl>
                                          <p:spTgt spid="6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wipe(left)">
                                      <p:cBhvr>
                                        <p:cTn id="45" dur="500"/>
                                        <p:tgtEl>
                                          <p:spTgt spid="3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wipe(left)">
                                      <p:cBhvr>
                                        <p:cTn id="50" dur="500"/>
                                        <p:tgtEl>
                                          <p:spTgt spid="40"/>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56"/>
                                        </p:tgtEl>
                                        <p:attrNameLst>
                                          <p:attrName>style.visibility</p:attrName>
                                        </p:attrNameLst>
                                      </p:cBhvr>
                                      <p:to>
                                        <p:strVal val="visible"/>
                                      </p:to>
                                    </p:set>
                                    <p:animEffect transition="in" filter="wipe(left)">
                                      <p:cBhvr>
                                        <p:cTn id="55" dur="500"/>
                                        <p:tgtEl>
                                          <p:spTgt spid="56"/>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58"/>
                                        </p:tgtEl>
                                        <p:attrNameLst>
                                          <p:attrName>style.visibility</p:attrName>
                                        </p:attrNameLst>
                                      </p:cBhvr>
                                      <p:to>
                                        <p:strVal val="visible"/>
                                      </p:to>
                                    </p:set>
                                    <p:animEffect transition="in" filter="wipe(left)">
                                      <p:cBhvr>
                                        <p:cTn id="60" dur="500"/>
                                        <p:tgtEl>
                                          <p:spTgt spid="58"/>
                                        </p:tgtEl>
                                      </p:cBhvr>
                                    </p:animEffect>
                                  </p:childTnLst>
                                </p:cTn>
                              </p:par>
                            </p:childTnLst>
                          </p:cTn>
                        </p:par>
                        <p:par>
                          <p:cTn id="61" fill="hold">
                            <p:stCondLst>
                              <p:cond delay="500"/>
                            </p:stCondLst>
                            <p:childTnLst>
                              <p:par>
                                <p:cTn id="62" presetID="21" presetClass="entr" presetSubtype="1" fill="hold" nodeType="afterEffect">
                                  <p:stCondLst>
                                    <p:cond delay="0"/>
                                  </p:stCondLst>
                                  <p:childTnLst>
                                    <p:set>
                                      <p:cBhvr>
                                        <p:cTn id="63" dur="1" fill="hold">
                                          <p:stCondLst>
                                            <p:cond delay="0"/>
                                          </p:stCondLst>
                                        </p:cTn>
                                        <p:tgtEl>
                                          <p:spTgt spid="65"/>
                                        </p:tgtEl>
                                        <p:attrNameLst>
                                          <p:attrName>style.visibility</p:attrName>
                                        </p:attrNameLst>
                                      </p:cBhvr>
                                      <p:to>
                                        <p:strVal val="visible"/>
                                      </p:to>
                                    </p:set>
                                    <p:animEffect transition="in" filter="wheel(1)">
                                      <p:cBhvr>
                                        <p:cTn id="64" dur="20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矩形 85"/>
          <p:cNvSpPr/>
          <p:nvPr/>
        </p:nvSpPr>
        <p:spPr>
          <a:xfrm>
            <a:off x="697484"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8" name="组合 87"/>
          <p:cNvGrpSpPr/>
          <p:nvPr/>
        </p:nvGrpSpPr>
        <p:grpSpPr>
          <a:xfrm>
            <a:off x="2016125" y="873125"/>
            <a:ext cx="9053830" cy="1370330"/>
            <a:chOff x="3155" y="620"/>
            <a:chExt cx="14258" cy="2158"/>
          </a:xfrm>
        </p:grpSpPr>
        <mc:AlternateContent xmlns:mc="http://schemas.openxmlformats.org/markup-compatibility/2006">
          <mc:Choice xmlns:a14="http://schemas.microsoft.com/office/drawing/2010/main" Requires="a14">
            <p:sp>
              <p:nvSpPr>
                <p:cNvPr id="2" name="对象 1"/>
                <p:cNvSpPr txBox="1"/>
                <p:nvPr/>
              </p:nvSpPr>
              <p:spPr>
                <a:xfrm>
                  <a:off x="3155" y="620"/>
                  <a:ext cx="14259" cy="2158"/>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ts val="0"/>
                    </a:spcBef>
                    <a:spcAft>
                      <a:spcPts val="0"/>
                    </a:spcAft>
                  </a:pPr>
                  <a14:m>
                    <m:oMathPara xmlns:m="http://schemas.openxmlformats.org/officeDocument/2006/math">
                      <m:oMathParaPr>
                        <m:jc m:val="left"/>
                      </m:oMathParaPr>
                      <m:oMath xmlns:m="http://schemas.openxmlformats.org/officeDocument/2006/math">
                        <m: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 </m:t>
                        </m:r>
                        <m:r>
                          <m:rPr>
                            <m:nor/>
                          </m:rP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连接坐标原点</m:t>
                        </m:r>
                        <m:r>
                          <a:rPr kumimoji="1" lang="en-US" altLang="zh-CN" sz="2800" dirty="0">
                            <a:latin typeface="Cambria Math" panose="02040503050406030204" charset="0"/>
                            <a:ea typeface="黑体" panose="02010609060101010101" pitchFamily="49" charset="-122"/>
                          </a:rPr>
                          <m:t>𝑂</m:t>
                        </m:r>
                        <m:r>
                          <m:rPr>
                            <m:nor/>
                          </m:rP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及点</m:t>
                        </m:r>
                        <m:r>
                          <a:rPr kumimoji="1" lang="en-US" altLang="zh-CN" sz="2800" dirty="0">
                            <a:latin typeface="Cambria Math" panose="02040503050406030204" charset="0"/>
                            <a:ea typeface="黑体" panose="02010609060101010101" pitchFamily="49" charset="-122"/>
                          </a:rPr>
                          <m:t>𝑃</m:t>
                        </m:r>
                        <m:r>
                          <a:rPr kumimoji="1" lang="en-US" altLang="zh-CN" sz="2800" dirty="0">
                            <a:latin typeface="Cambria Math" panose="02040503050406030204" charset="0"/>
                            <a:ea typeface="黑体" panose="02010609060101010101" pitchFamily="49" charset="-122"/>
                          </a:rPr>
                          <m:t>(</m:t>
                        </m:r>
                        <m:r>
                          <a:rPr kumimoji="1" lang="en-US" altLang="zh-CN" sz="2800" dirty="0">
                            <a:latin typeface="Cambria Math" panose="02040503050406030204" charset="0"/>
                            <a:ea typeface="黑体" panose="02010609060101010101" pitchFamily="49" charset="-122"/>
                          </a:rPr>
                          <m:t>ℎ</m:t>
                        </m:r>
                        <m:r>
                          <a:rPr kumimoji="1" lang="en-US" altLang="zh-CN" sz="2800" dirty="0">
                            <a:latin typeface="Cambria Math" panose="02040503050406030204" charset="0"/>
                            <a:ea typeface="黑体" panose="02010609060101010101" pitchFamily="49" charset="-122"/>
                          </a:rPr>
                          <m:t>,</m:t>
                        </m:r>
                        <m:r>
                          <a:rPr kumimoji="1" lang="en-US" altLang="zh-CN" sz="2800" dirty="0">
                            <a:latin typeface="Cambria Math" panose="02040503050406030204" charset="0"/>
                            <a:ea typeface="黑体" panose="02010609060101010101" pitchFamily="49" charset="-122"/>
                          </a:rPr>
                          <m:t>𝑟</m:t>
                        </m:r>
                        <m:r>
                          <a:rPr kumimoji="1" lang="en-US" altLang="zh-CN" sz="2800" dirty="0">
                            <a:latin typeface="Cambria Math" panose="02040503050406030204" charset="0"/>
                            <a:ea typeface="黑体" panose="02010609060101010101" pitchFamily="49" charset="-122"/>
                          </a:rPr>
                          <m:t>)</m:t>
                        </m:r>
                        <m:r>
                          <m:rPr>
                            <m:nor/>
                          </m:rP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的直线</m:t>
                        </m:r>
                        <m:r>
                          <a:rPr kumimoji="1" lang="zh-CN" altLang="en-US" sz="2800" i="1" dirty="0">
                            <a:solidFill>
                              <a:schemeClr val="tx1">
                                <a:lumMod val="95000"/>
                                <a:lumOff val="5000"/>
                              </a:schemeClr>
                            </a:solidFill>
                            <a:latin typeface="Cambria Math" panose="02040503050406030204" charset="0"/>
                            <a:ea typeface="黑体" panose="02010609060101010101" pitchFamily="49" charset="-122"/>
                          </a:rPr>
                          <m:t>、</m:t>
                        </m:r>
                        <m:r>
                          <m:rPr>
                            <m:nor/>
                          </m:rP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直线</m:t>
                        </m:r>
                        <m:r>
                          <a:rPr kumimoji="1" lang="en-US" altLang="zh-CN" sz="2800" dirty="0">
                            <a:latin typeface="Cambria Math" panose="02040503050406030204" charset="0"/>
                            <a:ea typeface="黑体" panose="02010609060101010101" pitchFamily="49" charset="-122"/>
                          </a:rPr>
                          <m:t>𝑥</m:t>
                        </m:r>
                        <m:r>
                          <a:rPr kumimoji="1" lang="en-US" altLang="zh-CN" sz="2800" dirty="0">
                            <a:latin typeface="Cambria Math" panose="02040503050406030204" charset="0"/>
                            <a:ea typeface="黑体" panose="02010609060101010101" pitchFamily="49" charset="-122"/>
                          </a:rPr>
                          <m:t>=</m:t>
                        </m:r>
                        <m:r>
                          <a:rPr kumimoji="1" lang="en-US" altLang="zh-CN" sz="2800" dirty="0">
                            <a:latin typeface="Cambria Math" panose="02040503050406030204" charset="0"/>
                            <a:ea typeface="黑体" panose="02010609060101010101" pitchFamily="49" charset="-122"/>
                          </a:rPr>
                          <m:t>ℎ</m:t>
                        </m:r>
                        <m: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及</m:t>
                        </m:r>
                        <m:r>
                          <a:rPr kumimoji="1" lang="en-US" altLang="zh-CN" sz="2800" dirty="0">
                            <a:latin typeface="Cambria Math" panose="02040503050406030204" charset="0"/>
                            <a:ea typeface="黑体" panose="02010609060101010101" pitchFamily="49" charset="-122"/>
                          </a:rPr>
                          <m:t>𝑥</m:t>
                        </m:r>
                        <m:r>
                          <m:rPr>
                            <m:nor/>
                          </m:rP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轴围成</m:t>
                        </m:r>
                      </m:oMath>
                    </m:oMathPara>
                  </a14:m>
                  <a:endPar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a:p>
                  <a:pPr>
                    <a:lnSpc>
                      <a:spcPct val="120000"/>
                    </a:lnSpc>
                    <a:spcBef>
                      <a:spcPts val="0"/>
                    </a:spcBef>
                    <a:spcAft>
                      <a:spcPts val="0"/>
                    </a:spcAft>
                  </a:pPr>
                  <a14:m>
                    <m:oMathPara xmlns:m="http://schemas.openxmlformats.org/officeDocument/2006/math">
                      <m:oMathParaPr>
                        <m:jc m:val="left"/>
                      </m:oMathParaPr>
                      <m:oMath xmlns:m="http://schemas.openxmlformats.org/officeDocument/2006/math">
                        <m:r>
                          <m:rPr>
                            <m:nor/>
                          </m:rPr>
                          <a:rPr kumimoji="1" lang="en-US" altLang="zh-CN"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 </m:t>
                        </m:r>
                        <m:r>
                          <m:rPr>
                            <m:nor/>
                          </m:rP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一个直角三角形</m:t>
                        </m:r>
                        <m:r>
                          <m:rPr>
                            <m:nor/>
                          </m:rPr>
                          <a:rPr kumimoji="1" lang="en-US" altLang="zh-CN"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oMath>
                    </m:oMathPara>
                  </a14:m>
                  <a:endPar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2" name="对象 1"/>
                <p:cNvSpPr txBox="1">
                  <a:spLocks noRot="1" noChangeAspect="1" noMove="1" noResize="1" noEditPoints="1" noAdjustHandles="1" noChangeArrowheads="1" noChangeShapeType="1" noTextEdit="1"/>
                </p:cNvSpPr>
                <p:nvPr/>
              </p:nvSpPr>
              <p:spPr>
                <a:xfrm>
                  <a:off x="3155" y="620"/>
                  <a:ext cx="14259" cy="2158"/>
                </a:xfrm>
                <a:prstGeom prst="rect">
                  <a:avLst/>
                </a:prstGeom>
                <a:blipFill rotWithShape="1">
                  <a:blip r:embed="rId1"/>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7" name="对象 31"/>
                <p:cNvSpPr txBox="1"/>
                <p:nvPr/>
              </p:nvSpPr>
              <p:spPr>
                <a:xfrm flipH="1">
                  <a:off x="10225" y="1411"/>
                  <a:ext cx="120" cy="577"/>
                </a:xfrm>
                <a:prstGeom prst="rect">
                  <a:avLst/>
                </a:prstGeom>
              </p:spPr>
              <p:txBody>
                <a:bodyPr>
                  <a:normAutofit fontScale="5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 </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87" name="对象 31"/>
                <p:cNvSpPr txBox="1">
                  <a:spLocks noRot="1" noChangeAspect="1" noMove="1" noResize="1" noEditPoints="1" noAdjustHandles="1" noChangeArrowheads="1" noChangeShapeType="1" noTextEdit="1"/>
                </p:cNvSpPr>
                <p:nvPr/>
              </p:nvSpPr>
              <p:spPr>
                <a:xfrm flipH="1">
                  <a:off x="10225" y="1411"/>
                  <a:ext cx="120" cy="577"/>
                </a:xfrm>
                <a:prstGeom prst="rect">
                  <a:avLst/>
                </a:prstGeom>
                <a:blipFill rotWithShape="1">
                  <a:blip r:embed="rId2"/>
                </a:blipFill>
              </p:spPr>
              <p:txBody>
                <a:bodyPr/>
                <a:lstStyle/>
                <a:p>
                  <a:r>
                    <a:rPr lang="zh-CN" altLang="en-US">
                      <a:noFill/>
                    </a:rPr>
                    <a:t> </a:t>
                  </a:r>
                </a:p>
              </p:txBody>
            </p:sp>
          </mc:Fallback>
        </mc:AlternateContent>
      </p:grpSp>
      <p:grpSp>
        <p:nvGrpSpPr>
          <p:cNvPr id="103" name="组合 102"/>
          <p:cNvGrpSpPr/>
          <p:nvPr/>
        </p:nvGrpSpPr>
        <p:grpSpPr>
          <a:xfrm>
            <a:off x="1980565" y="4202851"/>
            <a:ext cx="1558290" cy="825500"/>
            <a:chOff x="3099" y="6108"/>
            <a:chExt cx="2454" cy="1300"/>
          </a:xfrm>
        </p:grpSpPr>
        <mc:AlternateContent xmlns:mc="http://schemas.openxmlformats.org/markup-compatibility/2006">
          <mc:Choice xmlns:a14="http://schemas.microsoft.com/office/drawing/2010/main" Requires="a14">
            <p:sp>
              <p:nvSpPr>
                <p:cNvPr id="30" name="对象 26"/>
                <p:cNvSpPr txBox="1"/>
                <p:nvPr/>
              </p:nvSpPr>
              <p:spPr>
                <a:xfrm>
                  <a:off x="3099" y="6108"/>
                  <a:ext cx="2454" cy="1301"/>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𝑉</m:t>
                        </m:r>
                        <m:r>
                          <a:rPr kumimoji="1" lang="en-US" altLang="zh-CN" sz="2200" dirty="0">
                            <a:latin typeface="Cambria Math" panose="02040503050406030204" charset="0"/>
                            <a:ea typeface="黑体" panose="02010609060101010101" pitchFamily="49" charset="-122"/>
                          </a:rPr>
                          <m:t>=</m:t>
                        </m:r>
                        <m:nary>
                          <m:naryPr>
                            <m:ctrlPr>
                              <a:rPr kumimoji="1" lang="en-US" altLang="zh-CN" sz="2200" i="1" dirty="0">
                                <a:latin typeface="Cambria Math" panose="02040503050406030204" charset="0"/>
                                <a:ea typeface="黑体" panose="02010609060101010101" pitchFamily="49" charset="-122"/>
                              </a:rPr>
                            </m:ctrlPr>
                          </m:naryPr>
                          <m:sub>
                            <m:r>
                              <a:rPr kumimoji="1" lang="en-US" altLang="zh-CN" sz="2200" dirty="0">
                                <a:latin typeface="Cambria Math" panose="02040503050406030204" charset="0"/>
                                <a:ea typeface="黑体" panose="02010609060101010101" pitchFamily="49" charset="-122"/>
                              </a:rPr>
                              <m:t> </m:t>
                            </m:r>
                          </m:sub>
                          <m:sup>
                            <m:r>
                              <a:rPr kumimoji="1" lang="en-US" altLang="zh-CN" sz="2200" dirty="0">
                                <a:latin typeface="Cambria Math" panose="02040503050406030204" charset="0"/>
                                <a:ea typeface="黑体" panose="02010609060101010101" pitchFamily="49" charset="-122"/>
                              </a:rPr>
                              <m:t> </m:t>
                            </m:r>
                          </m:sup>
                          <m:e>
                            <m:r>
                              <a:rPr kumimoji="1" lang="en-US" altLang="zh-CN" sz="2200" dirty="0">
                                <a:latin typeface="Cambria Math" panose="02040503050406030204" charset="0"/>
                                <a:ea typeface="黑体" panose="02010609060101010101" pitchFamily="49" charset="-122"/>
                              </a:rPr>
                              <m:t> </m:t>
                            </m:r>
                          </m:e>
                        </m:nary>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30" name="对象 26"/>
                <p:cNvSpPr txBox="1">
                  <a:spLocks noRot="1" noChangeAspect="1" noMove="1" noResize="1" noEditPoints="1" noAdjustHandles="1" noChangeArrowheads="1" noChangeShapeType="1" noTextEdit="1"/>
                </p:cNvSpPr>
                <p:nvPr/>
              </p:nvSpPr>
              <p:spPr>
                <a:xfrm>
                  <a:off x="3099" y="6108"/>
                  <a:ext cx="2454" cy="1301"/>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2" name="对象 31"/>
                <p:cNvSpPr txBox="1"/>
                <p:nvPr/>
              </p:nvSpPr>
              <p:spPr>
                <a:xfrm flipH="1">
                  <a:off x="4266" y="6470"/>
                  <a:ext cx="120" cy="577"/>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 </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102" name="对象 31"/>
                <p:cNvSpPr txBox="1">
                  <a:spLocks noRot="1" noChangeAspect="1" noMove="1" noResize="1" noEditPoints="1" noAdjustHandles="1" noChangeArrowheads="1" noChangeShapeType="1" noTextEdit="1"/>
                </p:cNvSpPr>
                <p:nvPr/>
              </p:nvSpPr>
              <p:spPr>
                <a:xfrm flipH="1">
                  <a:off x="4266" y="6470"/>
                  <a:ext cx="120" cy="577"/>
                </a:xfrm>
                <a:prstGeom prst="rect">
                  <a:avLst/>
                </a:prstGeom>
                <a:blipFill rotWithShape="1">
                  <a:blip r:embed="rId4"/>
                </a:blipFill>
              </p:spPr>
              <p:txBody>
                <a:bodyPr/>
                <a:lstStyle/>
                <a:p>
                  <a:r>
                    <a:rPr lang="zh-CN" altLang="en-US">
                      <a:noFill/>
                    </a:rPr>
                    <a:t> </a:t>
                  </a:r>
                </a:p>
              </p:txBody>
            </p:sp>
          </mc:Fallback>
        </mc:AlternateContent>
      </p:grpSp>
      <p:sp>
        <p:nvSpPr>
          <p:cNvPr id="48" name="半闭框 47"/>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9" name="半闭框 48"/>
          <p:cNvSpPr/>
          <p:nvPr/>
        </p:nvSpPr>
        <p:spPr>
          <a:xfrm flipH="1">
            <a:off x="10833055"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0" name="半闭框 39"/>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1" name="半闭框 40"/>
          <p:cNvSpPr/>
          <p:nvPr/>
        </p:nvSpPr>
        <p:spPr>
          <a:xfrm flipH="1" flipV="1">
            <a:off x="10833055" y="5645528"/>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59" name="Group 3"/>
          <p:cNvGrpSpPr/>
          <p:nvPr/>
        </p:nvGrpSpPr>
        <p:grpSpPr bwMode="auto">
          <a:xfrm>
            <a:off x="7407313" y="3492260"/>
            <a:ext cx="2825750" cy="1662112"/>
            <a:chOff x="3168" y="3288"/>
            <a:chExt cx="1740" cy="1032"/>
          </a:xfrm>
        </p:grpSpPr>
        <p:graphicFrame>
          <p:nvGraphicFramePr>
            <p:cNvPr id="60" name="Object 4"/>
            <p:cNvGraphicFramePr>
              <a:graphicFrameLocks noChangeAspect="1"/>
            </p:cNvGraphicFramePr>
            <p:nvPr/>
          </p:nvGraphicFramePr>
          <p:xfrm>
            <a:off x="3168" y="3288"/>
            <a:ext cx="1740" cy="1032"/>
          </p:xfrm>
          <a:graphic>
            <a:graphicData uri="http://schemas.openxmlformats.org/presentationml/2006/ole">
              <mc:AlternateContent xmlns:mc="http://schemas.openxmlformats.org/markup-compatibility/2006">
                <mc:Choice xmlns:v="urn:schemas-microsoft-com:vml" Requires="v">
                  <p:oleObj spid="_x0000_s3" name="BMP 图像" r:id="rId5" imgW="2762250" imgH="1638300" progId="Paint.Picture">
                    <p:embed/>
                  </p:oleObj>
                </mc:Choice>
                <mc:Fallback>
                  <p:oleObj name="BMP 图像" r:id="rId5" imgW="2762250" imgH="1638300" progId="Paint.Picture">
                    <p:embed/>
                    <p:pic>
                      <p:nvPicPr>
                        <p:cNvPr id="0" name="Object 4"/>
                        <p:cNvPicPr>
                          <a:picLocks noChangeAspect="1" noChangeArrowheads="1"/>
                        </p:cNvPicPr>
                        <p:nvPr/>
                      </p:nvPicPr>
                      <p:blipFill>
                        <a:blip r:embed="rId6"/>
                        <a:srcRect/>
                        <a:stretch>
                          <a:fillRect/>
                        </a:stretch>
                      </p:blipFill>
                      <p:spPr bwMode="auto">
                        <a:xfrm>
                          <a:off x="3168" y="3288"/>
                          <a:ext cx="1740" cy="1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 name="Line 5"/>
            <p:cNvSpPr>
              <a:spLocks noChangeShapeType="1"/>
            </p:cNvSpPr>
            <p:nvPr/>
          </p:nvSpPr>
          <p:spPr bwMode="auto">
            <a:xfrm>
              <a:off x="3732" y="3796"/>
              <a:ext cx="144" cy="0"/>
            </a:xfrm>
            <a:prstGeom prst="line">
              <a:avLst/>
            </a:prstGeom>
            <a:noFill/>
            <a:ln w="28575">
              <a:solidFill>
                <a:schemeClr val="tx1"/>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63" name="Object 6"/>
          <p:cNvGraphicFramePr>
            <a:graphicFrameLocks noChangeAspect="1"/>
          </p:cNvGraphicFramePr>
          <p:nvPr/>
        </p:nvGraphicFramePr>
        <p:xfrm>
          <a:off x="7331114" y="3316693"/>
          <a:ext cx="2860675" cy="1987550"/>
        </p:xfrm>
        <a:graphic>
          <a:graphicData uri="http://schemas.openxmlformats.org/presentationml/2006/ole">
            <mc:AlternateContent xmlns:mc="http://schemas.openxmlformats.org/markup-compatibility/2006">
              <mc:Choice xmlns:v="urn:schemas-microsoft-com:vml" Requires="v">
                <p:oleObj spid="_x0000_s4" name="BMP 图像" r:id="rId7" imgW="3343275" imgH="2324100" progId="Paint.Picture">
                  <p:embed/>
                </p:oleObj>
              </mc:Choice>
              <mc:Fallback>
                <p:oleObj name="BMP 图像" r:id="rId7" imgW="3343275" imgH="2324100" progId="Paint.Picture">
                  <p:embed/>
                  <p:pic>
                    <p:nvPicPr>
                      <p:cNvPr id="0" name="Object 6"/>
                      <p:cNvPicPr>
                        <a:picLocks noChangeAspect="1" noChangeArrowheads="1"/>
                      </p:cNvPicPr>
                      <p:nvPr/>
                    </p:nvPicPr>
                    <p:blipFill>
                      <a:blip r:embed="rId8"/>
                      <a:srcRect/>
                      <a:stretch>
                        <a:fillRect/>
                      </a:stretch>
                    </p:blipFill>
                    <p:spPr bwMode="auto">
                      <a:xfrm>
                        <a:off x="7331114" y="3316693"/>
                        <a:ext cx="2860675" cy="198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5" name="组合 84"/>
          <p:cNvGrpSpPr/>
          <p:nvPr/>
        </p:nvGrpSpPr>
        <p:grpSpPr>
          <a:xfrm>
            <a:off x="7105650" y="3153410"/>
            <a:ext cx="3818255" cy="2142490"/>
            <a:chOff x="8257" y="8194"/>
            <a:chExt cx="6013" cy="3374"/>
          </a:xfrm>
        </p:grpSpPr>
        <mc:AlternateContent xmlns:mc="http://schemas.openxmlformats.org/markup-compatibility/2006">
          <mc:Choice xmlns:a14="http://schemas.microsoft.com/office/drawing/2010/main" Requires="a14">
            <p:sp>
              <p:nvSpPr>
                <p:cNvPr id="14" name="Object 7"/>
                <p:cNvSpPr txBox="1"/>
                <p:nvPr/>
              </p:nvSpPr>
              <p:spPr bwMode="auto">
                <a:xfrm>
                  <a:off x="8257" y="8194"/>
                  <a:ext cx="634" cy="707"/>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dirty="0">
                            <a:latin typeface="Cambria Math" panose="02040503050406030204" charset="0"/>
                            <a:ea typeface="黑体" panose="02010609060101010101" pitchFamily="49" charset="-122"/>
                          </a:rPr>
                          <m:t>𝑦</m:t>
                        </m:r>
                      </m:oMath>
                    </m:oMathPara>
                  </a14:m>
                  <a:endParaRPr lang="zh-CN" altLang="en-US" i="1">
                    <a:solidFill>
                      <a:srgbClr val="000000"/>
                    </a:solidFill>
                    <a:latin typeface="Cambria Math" panose="02040503050406030204" charset="0"/>
                    <a:cs typeface="Cambria Math" panose="02040503050406030204" charset="0"/>
                  </a:endParaRPr>
                </a:p>
              </p:txBody>
            </p:sp>
          </mc:Choice>
          <mc:Fallback>
            <p:sp>
              <p:nvSpPr>
                <p:cNvPr id="14" name="Object 7"/>
                <p:cNvSpPr txBox="1">
                  <a:spLocks noRot="1" noChangeAspect="1" noMove="1" noResize="1" noEditPoints="1" noAdjustHandles="1" noChangeArrowheads="1" noChangeShapeType="1" noTextEdit="1"/>
                </p:cNvSpPr>
                <p:nvPr/>
              </p:nvSpPr>
              <p:spPr bwMode="auto">
                <a:xfrm>
                  <a:off x="8257" y="8194"/>
                  <a:ext cx="634" cy="707"/>
                </a:xfrm>
                <a:prstGeom prst="rect">
                  <a:avLst/>
                </a:prstGeom>
                <a:blipFill rotWithShape="1">
                  <a:blip r:embed="rId9"/>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Object 9"/>
                <p:cNvSpPr txBox="1"/>
                <p:nvPr/>
              </p:nvSpPr>
              <p:spPr bwMode="auto">
                <a:xfrm>
                  <a:off x="12549" y="9378"/>
                  <a:ext cx="427" cy="427"/>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14:m>
                    <m:oMathPara xmlns:m="http://schemas.openxmlformats.org/officeDocument/2006/math">
                      <m:oMathParaPr>
                        <m:jc m:val="left"/>
                      </m:oMathParaPr>
                      <m:oMath xmlns:m="http://schemas.openxmlformats.org/officeDocument/2006/math">
                        <m:r>
                          <a:rPr kumimoji="1" lang="en-US" altLang="zh-CN" dirty="0">
                            <a:latin typeface="Cambria Math" panose="02040503050406030204" charset="0"/>
                            <a:ea typeface="黑体" panose="02010609060101010101" pitchFamily="49" charset="-122"/>
                          </a:rPr>
                          <m:t>𝑟</m:t>
                        </m:r>
                      </m:oMath>
                    </m:oMathPara>
                  </a14:m>
                  <a:endParaRPr kumimoji="1" lang="en-US" altLang="zh-CN" dirty="0">
                    <a:latin typeface="Cambria Math" panose="02040503050406030204" charset="0"/>
                    <a:ea typeface="黑体" panose="02010609060101010101" pitchFamily="49" charset="-122"/>
                  </a:endParaRPr>
                </a:p>
              </p:txBody>
            </p:sp>
          </mc:Choice>
          <mc:Fallback>
            <p:sp>
              <p:nvSpPr>
                <p:cNvPr id="16" name="Object 9"/>
                <p:cNvSpPr txBox="1">
                  <a:spLocks noRot="1" noChangeAspect="1" noMove="1" noResize="1" noEditPoints="1" noAdjustHandles="1" noChangeArrowheads="1" noChangeShapeType="1" noTextEdit="1"/>
                </p:cNvSpPr>
                <p:nvPr/>
              </p:nvSpPr>
              <p:spPr bwMode="auto">
                <a:xfrm>
                  <a:off x="12549" y="9378"/>
                  <a:ext cx="427" cy="427"/>
                </a:xfrm>
                <a:prstGeom prst="rect">
                  <a:avLst/>
                </a:prstGeom>
                <a:blipFill rotWithShape="1">
                  <a:blip r:embed="rId10"/>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Object 13"/>
                <p:cNvSpPr txBox="1"/>
                <p:nvPr/>
              </p:nvSpPr>
              <p:spPr bwMode="auto">
                <a:xfrm>
                  <a:off x="12394" y="10098"/>
                  <a:ext cx="427" cy="527"/>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14:m>
                    <m:oMathPara xmlns:m="http://schemas.openxmlformats.org/officeDocument/2006/math">
                      <m:oMathParaPr>
                        <m:jc m:val="left"/>
                      </m:oMathParaPr>
                      <m:oMath xmlns:m="http://schemas.openxmlformats.org/officeDocument/2006/math">
                        <m:r>
                          <a:rPr kumimoji="1" lang="en-US" altLang="zh-CN" dirty="0">
                            <a:latin typeface="Cambria Math" panose="02040503050406030204" charset="0"/>
                            <a:ea typeface="黑体" panose="02010609060101010101" pitchFamily="49" charset="-122"/>
                          </a:rPr>
                          <m:t>ℎ</m:t>
                        </m:r>
                      </m:oMath>
                    </m:oMathPara>
                  </a14:m>
                  <a:endParaRPr kumimoji="1" lang="en-US" altLang="zh-CN" dirty="0">
                    <a:latin typeface="Cambria Math" panose="02040503050406030204" charset="0"/>
                    <a:ea typeface="黑体" panose="02010609060101010101" pitchFamily="49" charset="-122"/>
                  </a:endParaRPr>
                </a:p>
              </p:txBody>
            </p:sp>
          </mc:Choice>
          <mc:Fallback>
            <p:sp>
              <p:nvSpPr>
                <p:cNvPr id="19" name="Object 13"/>
                <p:cNvSpPr txBox="1">
                  <a:spLocks noRot="1" noChangeAspect="1" noMove="1" noResize="1" noEditPoints="1" noAdjustHandles="1" noChangeArrowheads="1" noChangeShapeType="1" noTextEdit="1"/>
                </p:cNvSpPr>
                <p:nvPr/>
              </p:nvSpPr>
              <p:spPr bwMode="auto">
                <a:xfrm>
                  <a:off x="12394" y="10098"/>
                  <a:ext cx="427" cy="527"/>
                </a:xfrm>
                <a:prstGeom prst="rect">
                  <a:avLst/>
                </a:prstGeom>
                <a:blipFill rotWithShape="1">
                  <a:blip r:embed="rId11"/>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Object 14"/>
                <p:cNvSpPr txBox="1"/>
                <p:nvPr/>
              </p:nvSpPr>
              <p:spPr bwMode="auto">
                <a:xfrm>
                  <a:off x="12366" y="8238"/>
                  <a:ext cx="560" cy="499"/>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14:m>
                    <m:oMathPara xmlns:m="http://schemas.openxmlformats.org/officeDocument/2006/math">
                      <m:oMathParaPr>
                        <m:jc m:val="left"/>
                      </m:oMathParaPr>
                      <m:oMath xmlns:m="http://schemas.openxmlformats.org/officeDocument/2006/math">
                        <m:r>
                          <a:rPr kumimoji="1" lang="en-US" altLang="zh-CN" dirty="0">
                            <a:latin typeface="Cambria Math" panose="02040503050406030204" charset="0"/>
                            <a:ea typeface="黑体" panose="02010609060101010101" pitchFamily="49" charset="-122"/>
                          </a:rPr>
                          <m:t>𝑃</m:t>
                        </m:r>
                      </m:oMath>
                    </m:oMathPara>
                  </a14:m>
                  <a:endParaRPr kumimoji="1" lang="en-US" altLang="zh-CN" dirty="0">
                    <a:latin typeface="Cambria Math" panose="02040503050406030204" charset="0"/>
                    <a:ea typeface="黑体" panose="02010609060101010101" pitchFamily="49" charset="-122"/>
                  </a:endParaRPr>
                </a:p>
              </p:txBody>
            </p:sp>
          </mc:Choice>
          <mc:Fallback>
            <p:sp>
              <p:nvSpPr>
                <p:cNvPr id="20" name="Object 14"/>
                <p:cNvSpPr txBox="1">
                  <a:spLocks noRot="1" noChangeAspect="1" noMove="1" noResize="1" noEditPoints="1" noAdjustHandles="1" noChangeArrowheads="1" noChangeShapeType="1" noTextEdit="1"/>
                </p:cNvSpPr>
                <p:nvPr/>
              </p:nvSpPr>
              <p:spPr bwMode="auto">
                <a:xfrm>
                  <a:off x="12366" y="8238"/>
                  <a:ext cx="560" cy="499"/>
                </a:xfrm>
                <a:prstGeom prst="rect">
                  <a:avLst/>
                </a:prstGeom>
                <a:blipFill rotWithShape="1">
                  <a:blip r:embed="rId12"/>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Object 21"/>
                <p:cNvSpPr txBox="1"/>
                <p:nvPr/>
              </p:nvSpPr>
              <p:spPr bwMode="auto">
                <a:xfrm>
                  <a:off x="13528" y="9998"/>
                  <a:ext cx="742" cy="630"/>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14:m>
                    <m:oMathPara xmlns:m="http://schemas.openxmlformats.org/officeDocument/2006/math">
                      <m:oMathParaPr>
                        <m:jc m:val="left"/>
                      </m:oMathParaPr>
                      <m:oMath xmlns:m="http://schemas.openxmlformats.org/officeDocument/2006/math">
                        <m:r>
                          <a:rPr kumimoji="1" lang="en-US" altLang="zh-CN" dirty="0">
                            <a:latin typeface="Cambria Math" panose="02040503050406030204" charset="0"/>
                            <a:ea typeface="黑体" panose="02010609060101010101" pitchFamily="49" charset="-122"/>
                          </a:rPr>
                          <m:t>𝑥</m:t>
                        </m:r>
                      </m:oMath>
                    </m:oMathPara>
                  </a14:m>
                  <a:endParaRPr kumimoji="1" lang="en-US" altLang="zh-CN" dirty="0">
                    <a:latin typeface="Cambria Math" panose="02040503050406030204" charset="0"/>
                    <a:ea typeface="黑体" panose="02010609060101010101" pitchFamily="49" charset="-122"/>
                  </a:endParaRPr>
                </a:p>
              </p:txBody>
            </p:sp>
          </mc:Choice>
          <mc:Fallback>
            <p:sp>
              <p:nvSpPr>
                <p:cNvPr id="23" name="Object 21"/>
                <p:cNvSpPr txBox="1">
                  <a:spLocks noRot="1" noChangeAspect="1" noMove="1" noResize="1" noEditPoints="1" noAdjustHandles="1" noChangeArrowheads="1" noChangeShapeType="1" noTextEdit="1"/>
                </p:cNvSpPr>
                <p:nvPr/>
              </p:nvSpPr>
              <p:spPr bwMode="auto">
                <a:xfrm>
                  <a:off x="13528" y="9998"/>
                  <a:ext cx="742" cy="630"/>
                </a:xfrm>
                <a:prstGeom prst="rect">
                  <a:avLst/>
                </a:prstGeom>
                <a:blipFill rotWithShape="1">
                  <a:blip r:embed="rId13"/>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 name="Object 22"/>
                <p:cNvSpPr txBox="1"/>
                <p:nvPr/>
              </p:nvSpPr>
              <p:spPr bwMode="auto">
                <a:xfrm>
                  <a:off x="8284" y="9912"/>
                  <a:ext cx="560" cy="551"/>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14:m>
                    <m:oMathPara xmlns:m="http://schemas.openxmlformats.org/officeDocument/2006/math">
                      <m:oMathParaPr>
                        <m:jc m:val="left"/>
                      </m:oMathParaPr>
                      <m:oMath xmlns:m="http://schemas.openxmlformats.org/officeDocument/2006/math">
                        <m:r>
                          <a:rPr kumimoji="1" lang="en-US" altLang="zh-CN" b="0" i="1" dirty="0" smtClean="0">
                            <a:latin typeface="Cambria Math" panose="02040503050406030204" charset="0"/>
                            <a:ea typeface="黑体" panose="02010609060101010101" pitchFamily="49" charset="-122"/>
                          </a:rPr>
                          <m:t>𝑂</m:t>
                        </m:r>
                      </m:oMath>
                    </m:oMathPara>
                  </a14:m>
                  <a:endParaRPr kumimoji="1" lang="en-US" altLang="zh-CN" i="1" dirty="0">
                    <a:latin typeface="Cambria Math" panose="02040503050406030204" charset="0"/>
                    <a:ea typeface="黑体" panose="02010609060101010101" pitchFamily="49" charset="-122"/>
                  </a:endParaRPr>
                </a:p>
              </p:txBody>
            </p:sp>
          </mc:Choice>
          <mc:Fallback>
            <p:sp>
              <p:nvSpPr>
                <p:cNvPr id="24" name="Object 22"/>
                <p:cNvSpPr txBox="1">
                  <a:spLocks noRot="1" noChangeAspect="1" noMove="1" noResize="1" noEditPoints="1" noAdjustHandles="1" noChangeArrowheads="1" noChangeShapeType="1" noTextEdit="1"/>
                </p:cNvSpPr>
                <p:nvPr/>
              </p:nvSpPr>
              <p:spPr bwMode="auto">
                <a:xfrm>
                  <a:off x="8284" y="9912"/>
                  <a:ext cx="560" cy="551"/>
                </a:xfrm>
                <a:prstGeom prst="rect">
                  <a:avLst/>
                </a:prstGeom>
                <a:blipFill rotWithShape="1">
                  <a:blip r:embed="rId14"/>
                </a:blipFill>
                <a:ln>
                  <a:noFill/>
                </a:ln>
                <a:effectLst/>
              </p:spPr>
              <p:txBody>
                <a:bodyPr/>
                <a:lstStyle/>
                <a:p>
                  <a:r>
                    <a:rPr lang="zh-CN" altLang="en-US">
                      <a:noFill/>
                    </a:rPr>
                    <a:t> </a:t>
                  </a:r>
                </a:p>
              </p:txBody>
            </p:sp>
          </mc:Fallback>
        </mc:AlternateContent>
        <p:grpSp>
          <p:nvGrpSpPr>
            <p:cNvPr id="65" name="组合 64"/>
            <p:cNvGrpSpPr/>
            <p:nvPr/>
          </p:nvGrpSpPr>
          <p:grpSpPr>
            <a:xfrm>
              <a:off x="8732" y="8255"/>
              <a:ext cx="5170" cy="3313"/>
              <a:chOff x="7191451" y="3092245"/>
              <a:chExt cx="3282912" cy="2103438"/>
            </a:xfrm>
          </p:grpSpPr>
          <p:sp>
            <p:nvSpPr>
              <p:cNvPr id="66" name="AutoShape 2"/>
              <p:cNvSpPr>
                <a:spLocks noChangeArrowheads="1"/>
              </p:cNvSpPr>
              <p:nvPr/>
            </p:nvSpPr>
            <p:spPr bwMode="auto">
              <a:xfrm rot="16200000">
                <a:off x="8020883" y="2588215"/>
                <a:ext cx="815975" cy="2386013"/>
              </a:xfrm>
              <a:prstGeom prst="rtTriangle">
                <a:avLst/>
              </a:prstGeom>
              <a:solidFill>
                <a:srgbClr val="FF99FF">
                  <a:alpha val="50000"/>
                </a:srgbClr>
              </a:solidFill>
              <a:ln w="28575">
                <a:solidFill>
                  <a:schemeClr val="tx1"/>
                </a:solidFill>
                <a:miter lim="800000"/>
              </a:ln>
            </p:spPr>
            <p:txBody>
              <a:bodyPr wrap="none" anchor="ctr"/>
              <a:lstStyle/>
              <a:p>
                <a:endParaRPr lang="zh-CN" altLang="en-US"/>
              </a:p>
            </p:txBody>
          </p:sp>
          <p:sp>
            <p:nvSpPr>
              <p:cNvPr id="72" name="Line 12"/>
              <p:cNvSpPr>
                <a:spLocks noChangeShapeType="1"/>
              </p:cNvSpPr>
              <p:nvPr/>
            </p:nvSpPr>
            <p:spPr bwMode="auto">
              <a:xfrm>
                <a:off x="9636163" y="3362121"/>
                <a:ext cx="0" cy="8382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 name="Line 19"/>
              <p:cNvSpPr>
                <a:spLocks noChangeShapeType="1"/>
              </p:cNvSpPr>
              <p:nvPr/>
            </p:nvSpPr>
            <p:spPr bwMode="auto">
              <a:xfrm>
                <a:off x="7197764" y="4189208"/>
                <a:ext cx="955675" cy="0"/>
              </a:xfrm>
              <a:prstGeom prst="line">
                <a:avLst/>
              </a:prstGeom>
              <a:noFill/>
              <a:ln w="28575">
                <a:solidFill>
                  <a:schemeClr val="tx1"/>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 name="Line 20"/>
              <p:cNvSpPr>
                <a:spLocks noChangeShapeType="1"/>
              </p:cNvSpPr>
              <p:nvPr/>
            </p:nvSpPr>
            <p:spPr bwMode="auto">
              <a:xfrm>
                <a:off x="7191451" y="3092245"/>
                <a:ext cx="0" cy="2103438"/>
              </a:xfrm>
              <a:prstGeom prst="line">
                <a:avLst/>
              </a:prstGeom>
              <a:noFill/>
              <a:ln w="28575">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 name="Line 23"/>
              <p:cNvSpPr>
                <a:spLocks noChangeShapeType="1"/>
              </p:cNvSpPr>
              <p:nvPr/>
            </p:nvSpPr>
            <p:spPr bwMode="auto">
              <a:xfrm>
                <a:off x="8416963" y="4189208"/>
                <a:ext cx="1219200" cy="0"/>
              </a:xfrm>
              <a:prstGeom prst="line">
                <a:avLst/>
              </a:prstGeom>
              <a:noFill/>
              <a:ln w="28575">
                <a:solidFill>
                  <a:schemeClr val="tx1"/>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 name="Line 24"/>
              <p:cNvSpPr>
                <a:spLocks noChangeShapeType="1"/>
              </p:cNvSpPr>
              <p:nvPr/>
            </p:nvSpPr>
            <p:spPr bwMode="auto">
              <a:xfrm>
                <a:off x="9636163" y="4189208"/>
                <a:ext cx="838200"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91" name="组合 90"/>
          <p:cNvGrpSpPr/>
          <p:nvPr/>
        </p:nvGrpSpPr>
        <p:grpSpPr>
          <a:xfrm>
            <a:off x="2076450" y="1978616"/>
            <a:ext cx="5562600" cy="444500"/>
            <a:chOff x="3250" y="2569"/>
            <a:chExt cx="8760" cy="700"/>
          </a:xfrm>
        </p:grpSpPr>
        <mc:AlternateContent xmlns:mc="http://schemas.openxmlformats.org/markup-compatibility/2006">
          <mc:Choice xmlns:a14="http://schemas.microsoft.com/office/drawing/2010/main" Requires="a14">
            <p:sp>
              <p:nvSpPr>
                <p:cNvPr id="36" name="对象 24"/>
                <p:cNvSpPr txBox="1"/>
                <p:nvPr/>
              </p:nvSpPr>
              <p:spPr>
                <a:xfrm>
                  <a:off x="3250" y="2569"/>
                  <a:ext cx="8760" cy="70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为</m:t>
                        </m:r>
                        <m: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ℎ</m:t>
                        </m:r>
                        <m:r>
                          <m:rPr>
                            <m:nor/>
                          </m:rP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的圆锥体</m:t>
                        </m:r>
                        <m:r>
                          <m:rPr>
                            <m:nor/>
                          </m:rPr>
                          <a:rPr kumimoji="1" lang="en-US" altLang="zh-CN"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r>
                          <m:rPr>
                            <m:nor/>
                          </m:rP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计算圆锥体的体积</m:t>
                        </m:r>
                        <m:r>
                          <m:rPr>
                            <m:nor/>
                          </m:rPr>
                          <a:rPr kumimoji="1" lang="en-US" altLang="zh-CN"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oMath>
                    </m:oMathPara>
                  </a14:m>
                  <a:endPar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36" name="对象 24"/>
                <p:cNvSpPr txBox="1">
                  <a:spLocks noRot="1" noChangeAspect="1" noMove="1" noResize="1" noEditPoints="1" noAdjustHandles="1" noChangeArrowheads="1" noChangeShapeType="1" noTextEdit="1"/>
                </p:cNvSpPr>
                <p:nvPr/>
              </p:nvSpPr>
              <p:spPr>
                <a:xfrm>
                  <a:off x="3250" y="2569"/>
                  <a:ext cx="8760" cy="700"/>
                </a:xfrm>
                <a:prstGeom prst="rect">
                  <a:avLst/>
                </a:prstGeom>
                <a:blipFill rotWithShape="1">
                  <a:blip r:embed="rId1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0" name="对象 31"/>
                <p:cNvSpPr txBox="1"/>
                <p:nvPr/>
              </p:nvSpPr>
              <p:spPr>
                <a:xfrm flipH="1">
                  <a:off x="7570" y="2631"/>
                  <a:ext cx="120" cy="577"/>
                </a:xfrm>
                <a:prstGeom prst="rect">
                  <a:avLst/>
                </a:prstGeom>
              </p:spPr>
              <p:txBody>
                <a:bodyPr>
                  <a:normAutofit fontScale="5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 </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90" name="对象 31"/>
                <p:cNvSpPr txBox="1">
                  <a:spLocks noRot="1" noChangeAspect="1" noMove="1" noResize="1" noEditPoints="1" noAdjustHandles="1" noChangeArrowheads="1" noChangeShapeType="1" noTextEdit="1"/>
                </p:cNvSpPr>
                <p:nvPr/>
              </p:nvSpPr>
              <p:spPr>
                <a:xfrm flipH="1">
                  <a:off x="7570" y="2631"/>
                  <a:ext cx="120" cy="577"/>
                </a:xfrm>
                <a:prstGeom prst="rect">
                  <a:avLst/>
                </a:prstGeom>
                <a:blipFill rotWithShape="1">
                  <a:blip r:embed="rId2"/>
                </a:blipFill>
              </p:spPr>
              <p:txBody>
                <a:bodyPr/>
                <a:lstStyle/>
                <a:p>
                  <a:r>
                    <a:rPr lang="zh-CN" altLang="en-US">
                      <a:noFill/>
                    </a:rPr>
                    <a:t> </a:t>
                  </a:r>
                </a:p>
              </p:txBody>
            </p:sp>
          </mc:Fallback>
        </mc:AlternateContent>
      </p:grpSp>
      <p:grpSp>
        <p:nvGrpSpPr>
          <p:cNvPr id="93" name="组合 92"/>
          <p:cNvGrpSpPr/>
          <p:nvPr/>
        </p:nvGrpSpPr>
        <p:grpSpPr>
          <a:xfrm>
            <a:off x="1207135" y="906145"/>
            <a:ext cx="765175" cy="523240"/>
            <a:chOff x="1881" y="762"/>
            <a:chExt cx="1205" cy="824"/>
          </a:xfrm>
        </p:grpSpPr>
        <p:sp>
          <p:nvSpPr>
            <p:cNvPr id="5" name="文本框 4"/>
            <p:cNvSpPr txBox="1"/>
            <p:nvPr/>
          </p:nvSpPr>
          <p:spPr bwMode="auto">
            <a:xfrm>
              <a:off x="1881" y="762"/>
              <a:ext cx="1205" cy="8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spcBef>
                  <a:spcPct val="50000"/>
                </a:spcBef>
              </a:pPr>
              <a:r>
                <a:rPr kumimoji="1" lang="zh-CN" altLang="en-US" sz="2800" b="1" dirty="0">
                  <a:solidFill>
                    <a:srgbClr val="04926A"/>
                  </a:solidFill>
                  <a:latin typeface="微软雅黑" panose="020B0503020204020204" charset="-122"/>
                  <a:ea typeface="微软雅黑" panose="020B0503020204020204" charset="-122"/>
                </a:rPr>
                <a:t>例</a:t>
              </a:r>
              <a:r>
                <a:rPr kumimoji="1" lang="en-US" altLang="zh-CN" sz="2800" b="1" dirty="0">
                  <a:solidFill>
                    <a:srgbClr val="04926A"/>
                  </a:solidFill>
                  <a:latin typeface="微软雅黑" panose="020B0503020204020204" charset="-122"/>
                  <a:ea typeface="微软雅黑" panose="020B0503020204020204" charset="-122"/>
                </a:rPr>
                <a:t>7</a:t>
              </a:r>
              <a:endParaRPr kumimoji="1" lang="zh-CN" altLang="en-US" sz="2800" b="1" dirty="0">
                <a:solidFill>
                  <a:srgbClr val="04926A"/>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92" name="对象 31"/>
                <p:cNvSpPr txBox="1"/>
                <p:nvPr/>
              </p:nvSpPr>
              <p:spPr>
                <a:xfrm flipH="1">
                  <a:off x="2581" y="884"/>
                  <a:ext cx="120" cy="577"/>
                </a:xfrm>
                <a:prstGeom prst="rect">
                  <a:avLst/>
                </a:prstGeom>
              </p:spPr>
              <p:txBody>
                <a:bodyPr>
                  <a:normAutofit fontScale="5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 </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92" name="对象 31"/>
                <p:cNvSpPr txBox="1">
                  <a:spLocks noRot="1" noChangeAspect="1" noMove="1" noResize="1" noEditPoints="1" noAdjustHandles="1" noChangeArrowheads="1" noChangeShapeType="1" noTextEdit="1"/>
                </p:cNvSpPr>
                <p:nvPr/>
              </p:nvSpPr>
              <p:spPr>
                <a:xfrm flipH="1">
                  <a:off x="2581" y="884"/>
                  <a:ext cx="120" cy="577"/>
                </a:xfrm>
                <a:prstGeom prst="rect">
                  <a:avLst/>
                </a:prstGeom>
                <a:blipFill rotWithShape="1">
                  <a:blip r:embed="rId2"/>
                </a:blipFill>
              </p:spPr>
              <p:txBody>
                <a:bodyPr/>
                <a:lstStyle/>
                <a:p>
                  <a:r>
                    <a:rPr lang="zh-CN" altLang="en-US">
                      <a:noFill/>
                    </a:rPr>
                    <a:t> </a:t>
                  </a:r>
                </a:p>
              </p:txBody>
            </p:sp>
          </mc:Fallback>
        </mc:AlternateContent>
      </p:grpSp>
      <p:grpSp>
        <p:nvGrpSpPr>
          <p:cNvPr id="95" name="组合 94"/>
          <p:cNvGrpSpPr/>
          <p:nvPr/>
        </p:nvGrpSpPr>
        <p:grpSpPr>
          <a:xfrm>
            <a:off x="1207135" y="2847761"/>
            <a:ext cx="914400" cy="521970"/>
            <a:chOff x="1881" y="3974"/>
            <a:chExt cx="1440" cy="822"/>
          </a:xfrm>
        </p:grpSpPr>
        <p:sp>
          <p:nvSpPr>
            <p:cNvPr id="27" name="Text Box 10"/>
            <p:cNvSpPr txBox="1">
              <a:spLocks noChangeArrowheads="1"/>
            </p:cNvSpPr>
            <p:nvPr/>
          </p:nvSpPr>
          <p:spPr bwMode="auto">
            <a:xfrm>
              <a:off x="1881" y="3974"/>
              <a:ext cx="1440" cy="8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spcBef>
                  <a:spcPct val="50000"/>
                </a:spcBef>
              </a:pPr>
              <a:r>
                <a:rPr kumimoji="1" lang="zh-CN" altLang="en-US" sz="2800" b="1" dirty="0">
                  <a:solidFill>
                    <a:srgbClr val="04926A"/>
                  </a:solidFill>
                  <a:latin typeface="微软雅黑" panose="020B0503020204020204" charset="-122"/>
                  <a:ea typeface="微软雅黑" panose="020B0503020204020204" charset="-122"/>
                </a:rPr>
                <a:t>解</a:t>
              </a:r>
              <a:endParaRPr kumimoji="1" lang="zh-CN" altLang="en-US" sz="2800" b="1" dirty="0">
                <a:solidFill>
                  <a:srgbClr val="04926A"/>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94" name="对象 31"/>
                <p:cNvSpPr txBox="1"/>
                <p:nvPr/>
              </p:nvSpPr>
              <p:spPr>
                <a:xfrm flipH="1">
                  <a:off x="2541" y="4096"/>
                  <a:ext cx="120" cy="577"/>
                </a:xfrm>
                <a:prstGeom prst="rect">
                  <a:avLst/>
                </a:prstGeom>
              </p:spPr>
              <p:txBody>
                <a:bodyPr>
                  <a:normAutofit fontScale="5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 </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94" name="对象 31"/>
                <p:cNvSpPr txBox="1">
                  <a:spLocks noRot="1" noChangeAspect="1" noMove="1" noResize="1" noEditPoints="1" noAdjustHandles="1" noChangeArrowheads="1" noChangeShapeType="1" noTextEdit="1"/>
                </p:cNvSpPr>
                <p:nvPr/>
              </p:nvSpPr>
              <p:spPr>
                <a:xfrm flipH="1">
                  <a:off x="2541" y="4096"/>
                  <a:ext cx="120" cy="577"/>
                </a:xfrm>
                <a:prstGeom prst="rect">
                  <a:avLst/>
                </a:prstGeom>
                <a:blipFill rotWithShape="1">
                  <a:blip r:embed="rId2"/>
                </a:blipFill>
              </p:spPr>
              <p:txBody>
                <a:bodyPr/>
                <a:lstStyle/>
                <a:p>
                  <a:r>
                    <a:rPr lang="zh-CN" altLang="en-US">
                      <a:noFill/>
                    </a:rPr>
                    <a:t> </a:t>
                  </a:r>
                </a:p>
              </p:txBody>
            </p:sp>
          </mc:Fallback>
        </mc:AlternateContent>
      </p:grpSp>
      <p:grpSp>
        <p:nvGrpSpPr>
          <p:cNvPr id="97" name="组合 96"/>
          <p:cNvGrpSpPr/>
          <p:nvPr/>
        </p:nvGrpSpPr>
        <p:grpSpPr>
          <a:xfrm>
            <a:off x="1980565" y="2791246"/>
            <a:ext cx="3911600" cy="838200"/>
            <a:chOff x="3099" y="3885"/>
            <a:chExt cx="6160" cy="1320"/>
          </a:xfrm>
        </p:grpSpPr>
        <mc:AlternateContent xmlns:mc="http://schemas.openxmlformats.org/markup-compatibility/2006">
          <mc:Choice xmlns:a14="http://schemas.microsoft.com/office/drawing/2010/main" Requires="a14">
            <p:sp>
              <p:nvSpPr>
                <p:cNvPr id="28" name="对象 22"/>
                <p:cNvSpPr txBox="1"/>
                <p:nvPr/>
              </p:nvSpPr>
              <p:spPr>
                <a:xfrm>
                  <a:off x="3099" y="3885"/>
                  <a:ext cx="6160" cy="1320"/>
                </a:xfrm>
                <a:prstGeom prst="rect">
                  <a:avLst/>
                </a:prstGeom>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m:rPr>
                            <m:nor/>
                          </m:rPr>
                          <a:rPr kumimoji="1" lang="zh-CN" altLang="en-US" sz="2200" i="0" noProof="0" dirty="0">
                            <a:ln>
                              <a:noFill/>
                            </a:ln>
                            <a:effectLst/>
                            <a:uLnTx/>
                            <a:uFillTx/>
                            <a:latin typeface="Cambria Math" panose="02040503050406030204" charset="0"/>
                            <a:ea typeface="黑体" panose="02010609060101010101" pitchFamily="49" charset="-122"/>
                          </a:rPr>
                          <m:t>直线</m:t>
                        </m:r>
                        <m:r>
                          <a:rPr kumimoji="1" lang="en-US" altLang="zh-CN" sz="2200" dirty="0">
                            <a:latin typeface="Cambria Math" panose="02040503050406030204" charset="0"/>
                            <a:ea typeface="黑体" panose="02010609060101010101" pitchFamily="49" charset="-122"/>
                          </a:rPr>
                          <m:t> </m:t>
                        </m:r>
                        <m:r>
                          <a:rPr kumimoji="1" lang="en-US" altLang="zh-CN" sz="2200" dirty="0">
                            <a:latin typeface="Cambria Math" panose="02040503050406030204" charset="0"/>
                            <a:ea typeface="黑体" panose="02010609060101010101" pitchFamily="49" charset="-122"/>
                          </a:rPr>
                          <m:t>𝑂𝑃</m:t>
                        </m:r>
                        <m:r>
                          <a:rPr kumimoji="1" lang="en-US" altLang="zh-CN" sz="2200" dirty="0">
                            <a:latin typeface="Cambria Math" panose="02040503050406030204" charset="0"/>
                            <a:ea typeface="黑体" panose="02010609060101010101" pitchFamily="49" charset="-122"/>
                          </a:rPr>
                          <m:t> </m:t>
                        </m:r>
                        <m:r>
                          <a:rPr kumimoji="1" lang="zh-CN" altLang="en-US" sz="2200" noProof="0" dirty="0">
                            <a:ln>
                              <a:noFill/>
                            </a:ln>
                            <a:effectLst/>
                            <a:uLnTx/>
                            <a:uFillTx/>
                            <a:latin typeface="Cambria Math" panose="02040503050406030204" charset="0"/>
                            <a:ea typeface="黑体" panose="02010609060101010101" pitchFamily="49" charset="-122"/>
                          </a:rPr>
                          <m:t>的</m:t>
                        </m:r>
                        <m:r>
                          <m:rPr>
                            <m:nor/>
                          </m:rPr>
                          <a:rPr kumimoji="1" lang="zh-CN" altLang="en-US" sz="2200" i="0" noProof="0" dirty="0">
                            <a:ln>
                              <a:noFill/>
                            </a:ln>
                            <a:effectLst/>
                            <a:uLnTx/>
                            <a:uFillTx/>
                            <a:latin typeface="Cambria Math" panose="02040503050406030204" charset="0"/>
                            <a:ea typeface="黑体" panose="02010609060101010101" pitchFamily="49" charset="-122"/>
                          </a:rPr>
                          <m:t>方程为</m:t>
                        </m:r>
                        <m:r>
                          <a:rPr kumimoji="1" lang="en-US" altLang="zh-CN" sz="2200" dirty="0">
                            <a:latin typeface="Cambria Math" panose="02040503050406030204" charset="0"/>
                            <a:ea typeface="黑体" panose="02010609060101010101" pitchFamily="49" charset="-122"/>
                          </a:rPr>
                          <m:t>𝑦</m:t>
                        </m:r>
                        <m:r>
                          <a:rPr kumimoji="1" lang="en-US" altLang="zh-CN" sz="2200" dirty="0">
                            <a:latin typeface="Cambria Math" panose="02040503050406030204" charset="0"/>
                            <a:ea typeface="黑体" panose="02010609060101010101" pitchFamily="49" charset="-122"/>
                          </a:rPr>
                          <m:t>=</m:t>
                        </m:r>
                        <m:f>
                          <m:fPr>
                            <m:ctrlPr>
                              <a:rPr kumimoji="1" lang="en-US" altLang="zh-CN" sz="2200" i="1" dirty="0">
                                <a:latin typeface="Cambria Math" panose="02040503050406030204" charset="0"/>
                                <a:ea typeface="黑体" panose="02010609060101010101" pitchFamily="49" charset="-122"/>
                              </a:rPr>
                            </m:ctrlPr>
                          </m:fPr>
                          <m:num>
                            <m:r>
                              <a:rPr kumimoji="1" lang="en-US" altLang="zh-CN" sz="2200" dirty="0">
                                <a:latin typeface="Cambria Math" panose="02040503050406030204" charset="0"/>
                                <a:ea typeface="黑体" panose="02010609060101010101" pitchFamily="49" charset="-122"/>
                              </a:rPr>
                              <m:t>𝑟</m:t>
                            </m:r>
                          </m:num>
                          <m:den>
                            <m:r>
                              <a:rPr kumimoji="1" lang="en-US" altLang="zh-CN" sz="2200" dirty="0">
                                <a:latin typeface="Cambria Math" panose="02040503050406030204" charset="0"/>
                                <a:ea typeface="黑体" panose="02010609060101010101" pitchFamily="49" charset="-122"/>
                              </a:rPr>
                              <m:t>ℎ</m:t>
                            </m:r>
                          </m:den>
                        </m:f>
                        <m:r>
                          <a:rPr kumimoji="1" lang="en-US" altLang="zh-CN" sz="2200" dirty="0">
                            <a:latin typeface="Cambria Math" panose="02040503050406030204" charset="0"/>
                            <a:ea typeface="黑体" panose="02010609060101010101" pitchFamily="49" charset="-122"/>
                          </a:rPr>
                          <m:t>𝑥</m:t>
                        </m:r>
                        <m:r>
                          <a:rPr kumimoji="1" lang="en-US" altLang="zh-CN" sz="2200" dirty="0">
                            <a:latin typeface="Cambria Math" panose="02040503050406030204" charset="0"/>
                            <a:ea typeface="黑体" panose="02010609060101010101" pitchFamily="49" charset="-122"/>
                          </a:rPr>
                          <m:t>,</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28" name="对象 22"/>
                <p:cNvSpPr txBox="1">
                  <a:spLocks noRot="1" noChangeAspect="1" noMove="1" noResize="1" noEditPoints="1" noAdjustHandles="1" noChangeArrowheads="1" noChangeShapeType="1" noTextEdit="1"/>
                </p:cNvSpPr>
                <p:nvPr/>
              </p:nvSpPr>
              <p:spPr>
                <a:xfrm>
                  <a:off x="3099" y="3885"/>
                  <a:ext cx="6160" cy="1320"/>
                </a:xfrm>
                <a:prstGeom prst="rect">
                  <a:avLst/>
                </a:prstGeom>
                <a:blipFill rotWithShape="1">
                  <a:blip r:embed="rId1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6" name="对象 31"/>
                <p:cNvSpPr txBox="1"/>
                <p:nvPr/>
              </p:nvSpPr>
              <p:spPr>
                <a:xfrm flipH="1">
                  <a:off x="6119" y="4256"/>
                  <a:ext cx="120" cy="577"/>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 </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96" name="对象 31"/>
                <p:cNvSpPr txBox="1">
                  <a:spLocks noRot="1" noChangeAspect="1" noMove="1" noResize="1" noEditPoints="1" noAdjustHandles="1" noChangeArrowheads="1" noChangeShapeType="1" noTextEdit="1"/>
                </p:cNvSpPr>
                <p:nvPr/>
              </p:nvSpPr>
              <p:spPr>
                <a:xfrm flipH="1">
                  <a:off x="6119" y="4256"/>
                  <a:ext cx="120" cy="577"/>
                </a:xfrm>
                <a:prstGeom prst="rect">
                  <a:avLst/>
                </a:prstGeom>
                <a:blipFill rotWithShape="1">
                  <a:blip r:embed="rId4"/>
                </a:blipFill>
              </p:spPr>
              <p:txBody>
                <a:bodyPr/>
                <a:lstStyle/>
                <a:p>
                  <a:r>
                    <a:rPr lang="zh-CN" altLang="en-US">
                      <a:noFill/>
                    </a:rPr>
                    <a:t> </a:t>
                  </a:r>
                </a:p>
              </p:txBody>
            </p:sp>
          </mc:Fallback>
        </mc:AlternateContent>
      </p:grpSp>
      <p:grpSp>
        <p:nvGrpSpPr>
          <p:cNvPr id="99" name="组合 98"/>
          <p:cNvGrpSpPr/>
          <p:nvPr/>
        </p:nvGrpSpPr>
        <p:grpSpPr>
          <a:xfrm>
            <a:off x="1980565" y="3557771"/>
            <a:ext cx="3187700" cy="429260"/>
            <a:chOff x="3099" y="5213"/>
            <a:chExt cx="5020" cy="676"/>
          </a:xfrm>
        </p:grpSpPr>
        <mc:AlternateContent xmlns:mc="http://schemas.openxmlformats.org/markup-compatibility/2006">
          <mc:Choice xmlns:a14="http://schemas.microsoft.com/office/drawing/2010/main" Requires="a14">
            <p:sp>
              <p:nvSpPr>
                <p:cNvPr id="29" name="Object 17"/>
                <p:cNvSpPr txBox="1"/>
                <p:nvPr/>
              </p:nvSpPr>
              <p:spPr bwMode="auto">
                <a:xfrm>
                  <a:off x="3099" y="5213"/>
                  <a:ext cx="5020" cy="677"/>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zh-CN" altLang="en-US" sz="2200" i="0" noProof="0" dirty="0">
                            <a:ln>
                              <a:noFill/>
                            </a:ln>
                            <a:effectLst/>
                            <a:uLnTx/>
                            <a:uFillTx/>
                            <a:latin typeface="Cambria Math" panose="02040503050406030204" charset="0"/>
                            <a:ea typeface="黑体" panose="02010609060101010101" pitchFamily="49" charset="-122"/>
                          </a:rPr>
                          <m:t>取</m:t>
                        </m:r>
                        <m:r>
                          <a:rPr kumimoji="1" lang="en-US" altLang="zh-CN" sz="2200" dirty="0">
                            <a:latin typeface="Cambria Math" panose="02040503050406030204" charset="0"/>
                            <a:ea typeface="黑体" panose="02010609060101010101" pitchFamily="49" charset="-122"/>
                          </a:rPr>
                          <m:t>𝑥</m:t>
                        </m:r>
                        <m:r>
                          <m:rPr>
                            <m:nor/>
                          </m:rPr>
                          <a:rPr kumimoji="1" lang="zh-CN" altLang="en-US" sz="2200" i="0" noProof="0" dirty="0">
                            <a:ln>
                              <a:noFill/>
                            </a:ln>
                            <a:effectLst/>
                            <a:uLnTx/>
                            <a:uFillTx/>
                            <a:latin typeface="Cambria Math" panose="02040503050406030204" charset="0"/>
                            <a:ea typeface="黑体" panose="02010609060101010101" pitchFamily="49" charset="-122"/>
                          </a:rPr>
                          <m:t>为积分变量</m:t>
                        </m:r>
                        <m:r>
                          <a:rPr kumimoji="1" lang="en-US" altLang="zh-CN" sz="2200" dirty="0">
                            <a:latin typeface="Cambria Math" panose="02040503050406030204" charset="0"/>
                            <a:ea typeface="黑体" panose="02010609060101010101" pitchFamily="49" charset="-122"/>
                          </a:rPr>
                          <m:t>,</m:t>
                        </m:r>
                        <m:r>
                          <a:rPr kumimoji="1" lang="zh-CN" altLang="en-US" sz="2200" noProof="0" dirty="0">
                            <a:ln>
                              <a:noFill/>
                            </a:ln>
                            <a:effectLst/>
                            <a:uLnTx/>
                            <a:uFillTx/>
                            <a:latin typeface="Cambria Math" panose="02040503050406030204" charset="0"/>
                            <a:ea typeface="黑体" panose="02010609060101010101" pitchFamily="49" charset="-122"/>
                          </a:rPr>
                          <m:t>则</m:t>
                        </m:r>
                      </m:oMath>
                    </m:oMathPara>
                  </a14:m>
                  <a:endParaRPr kumimoji="1" lang="zh-CN" altLang="en-US" sz="2200" noProof="0" dirty="0">
                    <a:ln>
                      <a:noFill/>
                    </a:ln>
                    <a:effectLst/>
                    <a:uLnTx/>
                    <a:uFillTx/>
                    <a:latin typeface="Cambria Math" panose="02040503050406030204" charset="0"/>
                    <a:ea typeface="黑体" panose="02010609060101010101" pitchFamily="49" charset="-122"/>
                  </a:endParaRPr>
                </a:p>
              </p:txBody>
            </p:sp>
          </mc:Choice>
          <mc:Fallback>
            <p:sp>
              <p:nvSpPr>
                <p:cNvPr id="29" name="Object 17"/>
                <p:cNvSpPr txBox="1">
                  <a:spLocks noRot="1" noChangeAspect="1" noMove="1" noResize="1" noEditPoints="1" noAdjustHandles="1" noChangeArrowheads="1" noChangeShapeType="1" noTextEdit="1"/>
                </p:cNvSpPr>
                <p:nvPr/>
              </p:nvSpPr>
              <p:spPr bwMode="auto">
                <a:xfrm>
                  <a:off x="3099" y="5213"/>
                  <a:ext cx="5020" cy="677"/>
                </a:xfrm>
                <a:prstGeom prst="rect">
                  <a:avLst/>
                </a:prstGeom>
                <a:blipFill rotWithShape="1">
                  <a:blip r:embed="rId17"/>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8" name="对象 31"/>
                <p:cNvSpPr txBox="1"/>
                <p:nvPr/>
              </p:nvSpPr>
              <p:spPr>
                <a:xfrm flipH="1">
                  <a:off x="5549" y="5263"/>
                  <a:ext cx="120" cy="577"/>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 </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98" name="对象 31"/>
                <p:cNvSpPr txBox="1">
                  <a:spLocks noRot="1" noChangeAspect="1" noMove="1" noResize="1" noEditPoints="1" noAdjustHandles="1" noChangeArrowheads="1" noChangeShapeType="1" noTextEdit="1"/>
                </p:cNvSpPr>
                <p:nvPr/>
              </p:nvSpPr>
              <p:spPr>
                <a:xfrm flipH="1">
                  <a:off x="5549" y="5263"/>
                  <a:ext cx="120" cy="577"/>
                </a:xfrm>
                <a:prstGeom prst="rect">
                  <a:avLst/>
                </a:prstGeom>
                <a:blipFill rotWithShape="1">
                  <a:blip r:embed="rId4"/>
                </a:blipFill>
              </p:spPr>
              <p:txBody>
                <a:bodyPr/>
                <a:lstStyle/>
                <a:p>
                  <a:r>
                    <a:rPr lang="zh-CN" altLang="en-US">
                      <a:noFill/>
                    </a:rPr>
                    <a:t> </a:t>
                  </a:r>
                </a:p>
              </p:txBody>
            </p:sp>
          </mc:Fallback>
        </mc:AlternateContent>
      </p:grpSp>
      <p:grpSp>
        <p:nvGrpSpPr>
          <p:cNvPr id="101" name="组合 100"/>
          <p:cNvGrpSpPr/>
          <p:nvPr/>
        </p:nvGrpSpPr>
        <p:grpSpPr>
          <a:xfrm>
            <a:off x="3049270" y="4226981"/>
            <a:ext cx="1369060" cy="854710"/>
            <a:chOff x="4782" y="6146"/>
            <a:chExt cx="2156" cy="1346"/>
          </a:xfrm>
        </p:grpSpPr>
        <mc:AlternateContent xmlns:mc="http://schemas.openxmlformats.org/markup-compatibility/2006">
          <mc:Choice xmlns:a14="http://schemas.microsoft.com/office/drawing/2010/main" Requires="a14">
            <p:sp>
              <p:nvSpPr>
                <p:cNvPr id="32" name="对象 28"/>
                <p:cNvSpPr txBox="1"/>
                <p:nvPr/>
              </p:nvSpPr>
              <p:spPr>
                <a:xfrm>
                  <a:off x="4782" y="6146"/>
                  <a:ext cx="2156" cy="1346"/>
                </a:xfrm>
                <a:prstGeom prst="rect">
                  <a:avLst/>
                </a:prstGeom>
              </p:spPr>
              <p:txBody>
                <a:bodyPr>
                  <a:normAutofit fontScale="925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m:rPr>
                            <m:sty m:val="p"/>
                          </m:rPr>
                          <a:rPr kumimoji="1" lang="en-US" altLang="zh-CN" sz="2200" i="0" dirty="0">
                            <a:latin typeface="Cambria Math" panose="02040503050406030204" charset="0"/>
                            <a:ea typeface="黑体" panose="02010609060101010101" pitchFamily="49" charset="-122"/>
                          </a:rPr>
                          <m:t>π</m:t>
                        </m:r>
                        <m:sSup>
                          <m:sSupPr>
                            <m:ctrlPr>
                              <a:rPr kumimoji="1" lang="en-US" altLang="zh-CN" sz="2200" i="1" dirty="0">
                                <a:latin typeface="Cambria Math" panose="02040503050406030204" charset="0"/>
                                <a:ea typeface="黑体" panose="02010609060101010101" pitchFamily="49" charset="-122"/>
                              </a:rPr>
                            </m:ctrlPr>
                          </m:sSupPr>
                          <m:e>
                            <m:d>
                              <m:dPr>
                                <m:ctrlPr>
                                  <a:rPr kumimoji="1" lang="en-US" altLang="zh-CN" sz="2200" i="1" dirty="0">
                                    <a:latin typeface="Cambria Math" panose="02040503050406030204" charset="0"/>
                                    <a:ea typeface="黑体" panose="02010609060101010101" pitchFamily="49" charset="-122"/>
                                  </a:rPr>
                                </m:ctrlPr>
                              </m:dPr>
                              <m:e>
                                <m:f>
                                  <m:fPr>
                                    <m:ctrlPr>
                                      <a:rPr kumimoji="1" lang="en-US" altLang="zh-CN" sz="2200" i="1" dirty="0">
                                        <a:latin typeface="Cambria Math" panose="02040503050406030204" charset="0"/>
                                        <a:ea typeface="黑体" panose="02010609060101010101" pitchFamily="49" charset="-122"/>
                                      </a:rPr>
                                    </m:ctrlPr>
                                  </m:fPr>
                                  <m:num>
                                    <m:r>
                                      <a:rPr kumimoji="1" lang="en-US" altLang="zh-CN" sz="2200" dirty="0">
                                        <a:latin typeface="Cambria Math" panose="02040503050406030204" charset="0"/>
                                        <a:ea typeface="黑体" panose="02010609060101010101" pitchFamily="49" charset="-122"/>
                                      </a:rPr>
                                      <m:t>𝑟</m:t>
                                    </m:r>
                                  </m:num>
                                  <m:den>
                                    <m:r>
                                      <a:rPr kumimoji="1" lang="en-US" altLang="zh-CN" sz="2200" dirty="0">
                                        <a:latin typeface="Cambria Math" panose="02040503050406030204" charset="0"/>
                                        <a:ea typeface="黑体" panose="02010609060101010101" pitchFamily="49" charset="-122"/>
                                      </a:rPr>
                                      <m:t>ℎ</m:t>
                                    </m:r>
                                  </m:den>
                                </m:f>
                                <m:r>
                                  <a:rPr kumimoji="1" lang="en-US" altLang="zh-CN" sz="2200" dirty="0">
                                    <a:latin typeface="Cambria Math" panose="02040503050406030204" charset="0"/>
                                    <a:ea typeface="黑体" panose="02010609060101010101" pitchFamily="49" charset="-122"/>
                                  </a:rPr>
                                  <m:t>𝑥</m:t>
                                </m:r>
                              </m:e>
                            </m:d>
                          </m:e>
                          <m:sup>
                            <m:r>
                              <a:rPr kumimoji="1" lang="en-US" altLang="zh-CN" sz="2200" dirty="0">
                                <a:latin typeface="Cambria Math" panose="02040503050406030204" charset="0"/>
                                <a:ea typeface="黑体" panose="02010609060101010101" pitchFamily="49" charset="-122"/>
                              </a:rPr>
                              <m:t>2</m:t>
                            </m:r>
                          </m:sup>
                        </m:sSup>
                        <m:r>
                          <m:rPr>
                            <m:sty m:val="p"/>
                          </m:rPr>
                          <a:rPr kumimoji="1" lang="en-US" altLang="zh-CN" sz="2200" dirty="0">
                            <a:latin typeface="Cambria Math" panose="02040503050406030204" charset="0"/>
                            <a:ea typeface="黑体" panose="02010609060101010101" pitchFamily="49" charset="-122"/>
                          </a:rPr>
                          <m:t>d</m:t>
                        </m:r>
                        <m:r>
                          <a:rPr kumimoji="1" lang="en-US" altLang="zh-CN" sz="2200" dirty="0">
                            <a:latin typeface="Cambria Math" panose="02040503050406030204" charset="0"/>
                            <a:ea typeface="黑体" panose="02010609060101010101" pitchFamily="49" charset="-122"/>
                          </a:rPr>
                          <m:t>𝑥</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32" name="对象 28"/>
                <p:cNvSpPr txBox="1">
                  <a:spLocks noRot="1" noChangeAspect="1" noMove="1" noResize="1" noEditPoints="1" noAdjustHandles="1" noChangeArrowheads="1" noChangeShapeType="1" noTextEdit="1"/>
                </p:cNvSpPr>
                <p:nvPr/>
              </p:nvSpPr>
              <p:spPr>
                <a:xfrm>
                  <a:off x="4782" y="6146"/>
                  <a:ext cx="2156" cy="1346"/>
                </a:xfrm>
                <a:prstGeom prst="rect">
                  <a:avLst/>
                </a:prstGeom>
                <a:blipFill rotWithShape="1">
                  <a:blip r:embed="rId18"/>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0" name="对象 31"/>
                <p:cNvSpPr txBox="1"/>
                <p:nvPr/>
              </p:nvSpPr>
              <p:spPr>
                <a:xfrm flipH="1">
                  <a:off x="5800" y="6531"/>
                  <a:ext cx="120" cy="577"/>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 </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100" name="对象 31"/>
                <p:cNvSpPr txBox="1">
                  <a:spLocks noRot="1" noChangeAspect="1" noMove="1" noResize="1" noEditPoints="1" noAdjustHandles="1" noChangeArrowheads="1" noChangeShapeType="1" noTextEdit="1"/>
                </p:cNvSpPr>
                <p:nvPr/>
              </p:nvSpPr>
              <p:spPr>
                <a:xfrm flipH="1">
                  <a:off x="5800" y="6531"/>
                  <a:ext cx="120" cy="577"/>
                </a:xfrm>
                <a:prstGeom prst="rect">
                  <a:avLst/>
                </a:prstGeom>
                <a:blipFill rotWithShape="1">
                  <a:blip r:embed="rId4"/>
                </a:blipFill>
              </p:spPr>
              <p:txBody>
                <a:bodyPr/>
                <a:lstStyle/>
                <a:p>
                  <a:r>
                    <a:rPr lang="zh-CN" altLang="en-US">
                      <a:noFill/>
                    </a:rPr>
                    <a:t> </a:t>
                  </a:r>
                </a:p>
              </p:txBody>
            </p:sp>
          </mc:Fallback>
        </mc:AlternateContent>
      </p:grpSp>
      <p:grpSp>
        <p:nvGrpSpPr>
          <p:cNvPr id="106" name="组合 105"/>
          <p:cNvGrpSpPr/>
          <p:nvPr/>
        </p:nvGrpSpPr>
        <p:grpSpPr>
          <a:xfrm>
            <a:off x="2237740" y="5131221"/>
            <a:ext cx="1841500" cy="1130300"/>
            <a:chOff x="3504" y="7570"/>
            <a:chExt cx="2900" cy="1780"/>
          </a:xfrm>
        </p:grpSpPr>
        <mc:AlternateContent xmlns:mc="http://schemas.openxmlformats.org/markup-compatibility/2006">
          <mc:Choice xmlns:a14="http://schemas.microsoft.com/office/drawing/2010/main" Requires="a14">
            <p:sp>
              <p:nvSpPr>
                <p:cNvPr id="35" name="对象 31"/>
                <p:cNvSpPr txBox="1"/>
                <p:nvPr/>
              </p:nvSpPr>
              <p:spPr>
                <a:xfrm>
                  <a:off x="3504" y="7570"/>
                  <a:ext cx="2900" cy="1780"/>
                </a:xfrm>
                <a:prstGeom prst="rect">
                  <a:avLst/>
                </a:prstGeom>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m:t>
                        </m:r>
                        <m:f>
                          <m:fPr>
                            <m:ctrlPr>
                              <a:rPr kumimoji="1" lang="en-US" altLang="zh-CN" sz="2200" i="1" dirty="0">
                                <a:latin typeface="Cambria Math" panose="02040503050406030204" charset="0"/>
                                <a:ea typeface="黑体" panose="02010609060101010101" pitchFamily="49" charset="-122"/>
                              </a:rPr>
                            </m:ctrlPr>
                          </m:fPr>
                          <m:num>
                            <m:r>
                              <m:rPr>
                                <m:sty m:val="p"/>
                              </m:rPr>
                              <a:rPr kumimoji="1" lang="en-US" altLang="zh-CN" sz="2200" i="0" dirty="0">
                                <a:latin typeface="Cambria Math" panose="02040503050406030204" charset="0"/>
                                <a:ea typeface="黑体" panose="02010609060101010101" pitchFamily="49" charset="-122"/>
                              </a:rPr>
                              <m:t>π</m:t>
                            </m:r>
                            <m:sSup>
                              <m:sSupPr>
                                <m:ctrlPr>
                                  <a:rPr kumimoji="1" lang="en-US" altLang="zh-CN" sz="2200" i="1" dirty="0">
                                    <a:latin typeface="Cambria Math" panose="02040503050406030204" charset="0"/>
                                    <a:ea typeface="黑体" panose="02010609060101010101" pitchFamily="49" charset="-122"/>
                                  </a:rPr>
                                </m:ctrlPr>
                              </m:sSupPr>
                              <m:e>
                                <m:r>
                                  <a:rPr kumimoji="1" lang="en-US" altLang="zh-CN" sz="2200" dirty="0">
                                    <a:latin typeface="Cambria Math" panose="02040503050406030204" charset="0"/>
                                    <a:ea typeface="黑体" panose="02010609060101010101" pitchFamily="49" charset="-122"/>
                                  </a:rPr>
                                  <m:t>𝑟</m:t>
                                </m:r>
                              </m:e>
                              <m:sup>
                                <m:r>
                                  <a:rPr kumimoji="1" lang="en-US" altLang="zh-CN" sz="2200" dirty="0">
                                    <a:latin typeface="Cambria Math" panose="02040503050406030204" charset="0"/>
                                    <a:ea typeface="黑体" panose="02010609060101010101" pitchFamily="49" charset="-122"/>
                                  </a:rPr>
                                  <m:t>2</m:t>
                                </m:r>
                              </m:sup>
                            </m:sSup>
                          </m:num>
                          <m:den>
                            <m:sSup>
                              <m:sSupPr>
                                <m:ctrlPr>
                                  <a:rPr kumimoji="1" lang="en-US" altLang="zh-CN" sz="2200" i="1" dirty="0">
                                    <a:latin typeface="Cambria Math" panose="02040503050406030204" charset="0"/>
                                    <a:ea typeface="黑体" panose="02010609060101010101" pitchFamily="49" charset="-122"/>
                                  </a:rPr>
                                </m:ctrlPr>
                              </m:sSupPr>
                              <m:e>
                                <m:r>
                                  <a:rPr kumimoji="1" lang="en-US" altLang="zh-CN" sz="2200" dirty="0">
                                    <a:latin typeface="Cambria Math" panose="02040503050406030204" charset="0"/>
                                    <a:ea typeface="黑体" panose="02010609060101010101" pitchFamily="49" charset="-122"/>
                                  </a:rPr>
                                  <m:t>ℎ</m:t>
                                </m:r>
                              </m:e>
                              <m:sup>
                                <m:r>
                                  <a:rPr kumimoji="1" lang="en-US" altLang="zh-CN" sz="2200" dirty="0">
                                    <a:latin typeface="Cambria Math" panose="02040503050406030204" charset="0"/>
                                    <a:ea typeface="黑体" panose="02010609060101010101" pitchFamily="49" charset="-122"/>
                                  </a:rPr>
                                  <m:t>2</m:t>
                                </m:r>
                              </m:sup>
                            </m:sSup>
                          </m:den>
                        </m:f>
                        <m:sSubSup>
                          <m:sSubSupPr>
                            <m:ctrlPr>
                              <a:rPr kumimoji="1" lang="en-US" altLang="zh-CN" sz="2200" i="1" dirty="0">
                                <a:latin typeface="Cambria Math" panose="02040503050406030204" charset="0"/>
                                <a:ea typeface="黑体" panose="02010609060101010101" pitchFamily="49" charset="-122"/>
                              </a:rPr>
                            </m:ctrlPr>
                          </m:sSubSupPr>
                          <m:e>
                            <m:d>
                              <m:dPr>
                                <m:begChr m:val="["/>
                                <m:endChr m:val="]"/>
                                <m:ctrlPr>
                                  <a:rPr kumimoji="1" lang="en-US" altLang="zh-CN" sz="2200" i="1" dirty="0">
                                    <a:latin typeface="Cambria Math" panose="02040503050406030204" charset="0"/>
                                    <a:ea typeface="黑体" panose="02010609060101010101" pitchFamily="49" charset="-122"/>
                                  </a:rPr>
                                </m:ctrlPr>
                              </m:dPr>
                              <m:e>
                                <m:f>
                                  <m:fPr>
                                    <m:ctrlPr>
                                      <a:rPr kumimoji="1" lang="en-US" altLang="zh-CN" sz="2200" i="1" dirty="0">
                                        <a:latin typeface="Cambria Math" panose="02040503050406030204" charset="0"/>
                                        <a:ea typeface="黑体" panose="02010609060101010101" pitchFamily="49" charset="-122"/>
                                      </a:rPr>
                                    </m:ctrlPr>
                                  </m:fPr>
                                  <m:num>
                                    <m:sSup>
                                      <m:sSupPr>
                                        <m:ctrlPr>
                                          <a:rPr kumimoji="1" lang="en-US" altLang="zh-CN" sz="2200" i="1" dirty="0">
                                            <a:latin typeface="Cambria Math" panose="02040503050406030204" charset="0"/>
                                            <a:ea typeface="黑体" panose="02010609060101010101" pitchFamily="49" charset="-122"/>
                                          </a:rPr>
                                        </m:ctrlPr>
                                      </m:sSupPr>
                                      <m:e>
                                        <m:r>
                                          <a:rPr kumimoji="1" lang="en-US" altLang="zh-CN" sz="2200" dirty="0">
                                            <a:latin typeface="Cambria Math" panose="02040503050406030204" charset="0"/>
                                            <a:ea typeface="黑体" panose="02010609060101010101" pitchFamily="49" charset="-122"/>
                                          </a:rPr>
                                          <m:t>𝑥</m:t>
                                        </m:r>
                                      </m:e>
                                      <m:sup>
                                        <m:r>
                                          <a:rPr kumimoji="1" lang="en-US" altLang="zh-CN" sz="2200" dirty="0">
                                            <a:latin typeface="Cambria Math" panose="02040503050406030204" charset="0"/>
                                            <a:ea typeface="黑体" panose="02010609060101010101" pitchFamily="49" charset="-122"/>
                                          </a:rPr>
                                          <m:t>3</m:t>
                                        </m:r>
                                      </m:sup>
                                    </m:sSup>
                                  </m:num>
                                  <m:den>
                                    <m:r>
                                      <a:rPr kumimoji="1" lang="en-US" altLang="zh-CN" sz="2200" dirty="0">
                                        <a:latin typeface="Cambria Math" panose="02040503050406030204" charset="0"/>
                                        <a:ea typeface="黑体" panose="02010609060101010101" pitchFamily="49" charset="-122"/>
                                      </a:rPr>
                                      <m:t>3</m:t>
                                    </m:r>
                                  </m:den>
                                </m:f>
                              </m:e>
                            </m:d>
                          </m:e>
                          <m:sub>
                            <m:r>
                              <a:rPr kumimoji="1" lang="en-US" altLang="zh-CN" sz="2200" dirty="0">
                                <a:latin typeface="Cambria Math" panose="02040503050406030204" charset="0"/>
                                <a:ea typeface="黑体" panose="02010609060101010101" pitchFamily="49" charset="-122"/>
                              </a:rPr>
                              <m:t>0</m:t>
                            </m:r>
                          </m:sub>
                          <m:sup>
                            <m:r>
                              <a:rPr kumimoji="1" lang="en-US" altLang="zh-CN" sz="2200" dirty="0">
                                <a:latin typeface="Cambria Math" panose="02040503050406030204" charset="0"/>
                                <a:ea typeface="黑体" panose="02010609060101010101" pitchFamily="49" charset="-122"/>
                              </a:rPr>
                              <m:t>ℎ</m:t>
                            </m:r>
                          </m:sup>
                        </m:sSubSup>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35" name="对象 31"/>
                <p:cNvSpPr txBox="1">
                  <a:spLocks noRot="1" noChangeAspect="1" noMove="1" noResize="1" noEditPoints="1" noAdjustHandles="1" noChangeArrowheads="1" noChangeShapeType="1" noTextEdit="1"/>
                </p:cNvSpPr>
                <p:nvPr/>
              </p:nvSpPr>
              <p:spPr>
                <a:xfrm>
                  <a:off x="3504" y="7570"/>
                  <a:ext cx="2900" cy="1780"/>
                </a:xfrm>
                <a:prstGeom prst="rect">
                  <a:avLst/>
                </a:prstGeom>
                <a:blipFill rotWithShape="1">
                  <a:blip r:embed="rId19"/>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5" name="对象 31"/>
                <p:cNvSpPr txBox="1"/>
                <p:nvPr/>
              </p:nvSpPr>
              <p:spPr>
                <a:xfrm flipH="1">
                  <a:off x="4894" y="8172"/>
                  <a:ext cx="120" cy="577"/>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 </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105" name="对象 31"/>
                <p:cNvSpPr txBox="1">
                  <a:spLocks noRot="1" noChangeAspect="1" noMove="1" noResize="1" noEditPoints="1" noAdjustHandles="1" noChangeArrowheads="1" noChangeShapeType="1" noTextEdit="1"/>
                </p:cNvSpPr>
                <p:nvPr/>
              </p:nvSpPr>
              <p:spPr>
                <a:xfrm flipH="1">
                  <a:off x="4894" y="8172"/>
                  <a:ext cx="120" cy="577"/>
                </a:xfrm>
                <a:prstGeom prst="rect">
                  <a:avLst/>
                </a:prstGeom>
                <a:blipFill rotWithShape="1">
                  <a:blip r:embed="rId4"/>
                </a:blipFill>
              </p:spPr>
              <p:txBody>
                <a:bodyPr/>
                <a:lstStyle/>
                <a:p>
                  <a:r>
                    <a:rPr lang="zh-CN" altLang="en-US">
                      <a:noFill/>
                    </a:rPr>
                    <a:t> </a:t>
                  </a:r>
                </a:p>
              </p:txBody>
            </p:sp>
          </mc:Fallback>
        </mc:AlternateContent>
      </p:grpSp>
      <p:grpSp>
        <p:nvGrpSpPr>
          <p:cNvPr id="108" name="组合 107"/>
          <p:cNvGrpSpPr/>
          <p:nvPr/>
        </p:nvGrpSpPr>
        <p:grpSpPr>
          <a:xfrm>
            <a:off x="3621405" y="5210596"/>
            <a:ext cx="1231900" cy="889000"/>
            <a:chOff x="5683" y="7695"/>
            <a:chExt cx="1940" cy="1400"/>
          </a:xfrm>
        </p:grpSpPr>
        <mc:AlternateContent xmlns:mc="http://schemas.openxmlformats.org/markup-compatibility/2006">
          <mc:Choice xmlns:a14="http://schemas.microsoft.com/office/drawing/2010/main" Requires="a14">
            <p:sp>
              <p:nvSpPr>
                <p:cNvPr id="31" name="对象 27"/>
                <p:cNvSpPr txBox="1"/>
                <p:nvPr/>
              </p:nvSpPr>
              <p:spPr>
                <a:xfrm>
                  <a:off x="5683" y="7695"/>
                  <a:ext cx="1940" cy="1400"/>
                </a:xfrm>
                <a:prstGeom prst="rect">
                  <a:avLst/>
                </a:prstGeom>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m:t>
                        </m:r>
                        <m:f>
                          <m:fPr>
                            <m:ctrlPr>
                              <a:rPr kumimoji="1" lang="en-US" altLang="zh-CN" sz="2200" i="1" dirty="0">
                                <a:latin typeface="Cambria Math" panose="02040503050406030204" charset="0"/>
                                <a:ea typeface="黑体" panose="02010609060101010101" pitchFamily="49" charset="-122"/>
                              </a:rPr>
                            </m:ctrlPr>
                          </m:fPr>
                          <m:num>
                            <m:r>
                              <m:rPr>
                                <m:sty m:val="p"/>
                              </m:rPr>
                              <a:rPr kumimoji="1" lang="en-US" altLang="zh-CN" sz="2200" i="0" dirty="0">
                                <a:latin typeface="Cambria Math" panose="02040503050406030204" charset="0"/>
                                <a:ea typeface="黑体" panose="02010609060101010101" pitchFamily="49" charset="-122"/>
                              </a:rPr>
                              <m:t>π</m:t>
                            </m:r>
                            <m:r>
                              <a:rPr kumimoji="1" lang="en-US" altLang="zh-CN" sz="2200" dirty="0">
                                <a:latin typeface="Cambria Math" panose="02040503050406030204" charset="0"/>
                                <a:ea typeface="黑体" panose="02010609060101010101" pitchFamily="49" charset="-122"/>
                              </a:rPr>
                              <m:t>ℎ</m:t>
                            </m:r>
                            <m:sSup>
                              <m:sSupPr>
                                <m:ctrlPr>
                                  <a:rPr kumimoji="1" lang="en-US" altLang="zh-CN" sz="2200" i="1" dirty="0">
                                    <a:latin typeface="Cambria Math" panose="02040503050406030204" charset="0"/>
                                    <a:ea typeface="黑体" panose="02010609060101010101" pitchFamily="49" charset="-122"/>
                                  </a:rPr>
                                </m:ctrlPr>
                              </m:sSupPr>
                              <m:e>
                                <m:r>
                                  <a:rPr kumimoji="1" lang="en-US" altLang="zh-CN" sz="2200" dirty="0">
                                    <a:latin typeface="Cambria Math" panose="02040503050406030204" charset="0"/>
                                    <a:ea typeface="黑体" panose="02010609060101010101" pitchFamily="49" charset="-122"/>
                                  </a:rPr>
                                  <m:t>𝑟</m:t>
                                </m:r>
                              </m:e>
                              <m:sup>
                                <m:r>
                                  <a:rPr kumimoji="1" lang="en-US" altLang="zh-CN" sz="2200" dirty="0">
                                    <a:latin typeface="Cambria Math" panose="02040503050406030204" charset="0"/>
                                    <a:ea typeface="黑体" panose="02010609060101010101" pitchFamily="49" charset="-122"/>
                                  </a:rPr>
                                  <m:t>2</m:t>
                                </m:r>
                              </m:sup>
                            </m:sSup>
                          </m:num>
                          <m:den>
                            <m:r>
                              <a:rPr kumimoji="1" lang="en-US" altLang="zh-CN" sz="2200" dirty="0">
                                <a:latin typeface="Cambria Math" panose="02040503050406030204" charset="0"/>
                                <a:ea typeface="黑体" panose="02010609060101010101" pitchFamily="49" charset="-122"/>
                              </a:rPr>
                              <m:t>3</m:t>
                            </m:r>
                          </m:den>
                        </m:f>
                        <m:r>
                          <a:rPr kumimoji="1" lang="en-US" altLang="zh-CN" sz="2200" dirty="0">
                            <a:latin typeface="Cambria Math" panose="02040503050406030204" charset="0"/>
                            <a:ea typeface="黑体" panose="02010609060101010101" pitchFamily="49" charset="-122"/>
                          </a:rPr>
                          <m:t>.</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31" name="对象 27"/>
                <p:cNvSpPr txBox="1">
                  <a:spLocks noRot="1" noChangeAspect="1" noMove="1" noResize="1" noEditPoints="1" noAdjustHandles="1" noChangeArrowheads="1" noChangeShapeType="1" noTextEdit="1"/>
                </p:cNvSpPr>
                <p:nvPr/>
              </p:nvSpPr>
              <p:spPr>
                <a:xfrm>
                  <a:off x="5683" y="7695"/>
                  <a:ext cx="1940" cy="1400"/>
                </a:xfrm>
                <a:prstGeom prst="rect">
                  <a:avLst/>
                </a:prstGeom>
                <a:blipFill rotWithShape="1">
                  <a:blip r:embed="rId20"/>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7" name="对象 31"/>
                <p:cNvSpPr txBox="1"/>
                <p:nvPr/>
              </p:nvSpPr>
              <p:spPr>
                <a:xfrm flipH="1">
                  <a:off x="6593" y="8107"/>
                  <a:ext cx="120" cy="577"/>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 </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107" name="对象 31"/>
                <p:cNvSpPr txBox="1">
                  <a:spLocks noRot="1" noChangeAspect="1" noMove="1" noResize="1" noEditPoints="1" noAdjustHandles="1" noChangeArrowheads="1" noChangeShapeType="1" noTextEdit="1"/>
                </p:cNvSpPr>
                <p:nvPr/>
              </p:nvSpPr>
              <p:spPr>
                <a:xfrm flipH="1">
                  <a:off x="6593" y="8107"/>
                  <a:ext cx="120" cy="577"/>
                </a:xfrm>
                <a:prstGeom prst="rect">
                  <a:avLst/>
                </a:prstGeom>
                <a:blipFill rotWithShape="1">
                  <a:blip r:embed="rId4"/>
                </a:blipFill>
              </p:spPr>
              <p:txBody>
                <a:bodyPr/>
                <a:lstStyle/>
                <a:p>
                  <a:r>
                    <a:rPr lang="zh-CN" altLang="en-US">
                      <a:noFill/>
                    </a:rPr>
                    <a:t> </a:t>
                  </a:r>
                </a:p>
              </p:txBody>
            </p:sp>
          </mc:Fallback>
        </mc:AlternateContent>
      </p:grpSp>
      <p:grpSp>
        <p:nvGrpSpPr>
          <p:cNvPr id="110" name="组合 109"/>
          <p:cNvGrpSpPr/>
          <p:nvPr/>
        </p:nvGrpSpPr>
        <p:grpSpPr>
          <a:xfrm>
            <a:off x="2745105" y="4689261"/>
            <a:ext cx="318770" cy="387350"/>
            <a:chOff x="4303" y="6874"/>
            <a:chExt cx="502" cy="610"/>
          </a:xfrm>
        </p:grpSpPr>
        <mc:AlternateContent xmlns:mc="http://schemas.openxmlformats.org/markup-compatibility/2006">
          <mc:Choice xmlns:a14="http://schemas.microsoft.com/office/drawing/2010/main" Requires="a14">
            <p:sp>
              <p:nvSpPr>
                <p:cNvPr id="33" name="对象 29"/>
                <p:cNvSpPr txBox="1"/>
                <p:nvPr/>
              </p:nvSpPr>
              <p:spPr>
                <a:xfrm>
                  <a:off x="4303" y="6874"/>
                  <a:ext cx="503" cy="611"/>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0</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33" name="对象 29"/>
                <p:cNvSpPr txBox="1">
                  <a:spLocks noRot="1" noChangeAspect="1" noMove="1" noResize="1" noEditPoints="1" noAdjustHandles="1" noChangeArrowheads="1" noChangeShapeType="1" noTextEdit="1"/>
                </p:cNvSpPr>
                <p:nvPr/>
              </p:nvSpPr>
              <p:spPr>
                <a:xfrm>
                  <a:off x="4303" y="6874"/>
                  <a:ext cx="503" cy="611"/>
                </a:xfrm>
                <a:prstGeom prst="rect">
                  <a:avLst/>
                </a:prstGeom>
                <a:blipFill rotWithShape="1">
                  <a:blip r:embed="rId21"/>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9" name="对象 31"/>
                <p:cNvSpPr txBox="1"/>
                <p:nvPr/>
              </p:nvSpPr>
              <p:spPr>
                <a:xfrm flipH="1">
                  <a:off x="4495" y="6891"/>
                  <a:ext cx="120" cy="577"/>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 </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109" name="对象 31"/>
                <p:cNvSpPr txBox="1">
                  <a:spLocks noRot="1" noChangeAspect="1" noMove="1" noResize="1" noEditPoints="1" noAdjustHandles="1" noChangeArrowheads="1" noChangeShapeType="1" noTextEdit="1"/>
                </p:cNvSpPr>
                <p:nvPr/>
              </p:nvSpPr>
              <p:spPr>
                <a:xfrm flipH="1">
                  <a:off x="4495" y="6891"/>
                  <a:ext cx="120" cy="577"/>
                </a:xfrm>
                <a:prstGeom prst="rect">
                  <a:avLst/>
                </a:prstGeom>
                <a:blipFill rotWithShape="1">
                  <a:blip r:embed="rId4"/>
                </a:blipFill>
              </p:spPr>
              <p:txBody>
                <a:bodyPr/>
                <a:lstStyle/>
                <a:p>
                  <a:r>
                    <a:rPr lang="zh-CN" altLang="en-US">
                      <a:noFill/>
                    </a:rPr>
                    <a:t> </a:t>
                  </a:r>
                </a:p>
              </p:txBody>
            </p:sp>
          </mc:Fallback>
        </mc:AlternateContent>
      </p:grpSp>
      <p:grpSp>
        <p:nvGrpSpPr>
          <p:cNvPr id="112" name="组合 111"/>
          <p:cNvGrpSpPr/>
          <p:nvPr/>
        </p:nvGrpSpPr>
        <p:grpSpPr>
          <a:xfrm>
            <a:off x="2778760" y="4133636"/>
            <a:ext cx="345440" cy="365760"/>
            <a:chOff x="4356" y="5999"/>
            <a:chExt cx="544" cy="576"/>
          </a:xfrm>
        </p:grpSpPr>
        <mc:AlternateContent xmlns:mc="http://schemas.openxmlformats.org/markup-compatibility/2006">
          <mc:Choice xmlns:a14="http://schemas.microsoft.com/office/drawing/2010/main" Requires="a14">
            <p:sp>
              <p:nvSpPr>
                <p:cNvPr id="34" name="对象 30"/>
                <p:cNvSpPr txBox="1"/>
                <p:nvPr/>
              </p:nvSpPr>
              <p:spPr>
                <a:xfrm>
                  <a:off x="4356" y="6000"/>
                  <a:ext cx="544" cy="575"/>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ℎ</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34" name="对象 30"/>
                <p:cNvSpPr txBox="1">
                  <a:spLocks noRot="1" noChangeAspect="1" noMove="1" noResize="1" noEditPoints="1" noAdjustHandles="1" noChangeArrowheads="1" noChangeShapeType="1" noTextEdit="1"/>
                </p:cNvSpPr>
                <p:nvPr/>
              </p:nvSpPr>
              <p:spPr>
                <a:xfrm>
                  <a:off x="4356" y="6000"/>
                  <a:ext cx="544" cy="575"/>
                </a:xfrm>
                <a:prstGeom prst="rect">
                  <a:avLst/>
                </a:prstGeom>
                <a:blipFill rotWithShape="1">
                  <a:blip r:embed="rId2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1" name="对象 31"/>
                <p:cNvSpPr txBox="1"/>
                <p:nvPr/>
              </p:nvSpPr>
              <p:spPr>
                <a:xfrm flipH="1">
                  <a:off x="4568" y="5999"/>
                  <a:ext cx="120" cy="577"/>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 </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111" name="对象 31"/>
                <p:cNvSpPr txBox="1">
                  <a:spLocks noRot="1" noChangeAspect="1" noMove="1" noResize="1" noEditPoints="1" noAdjustHandles="1" noChangeArrowheads="1" noChangeShapeType="1" noTextEdit="1"/>
                </p:cNvSpPr>
                <p:nvPr/>
              </p:nvSpPr>
              <p:spPr>
                <a:xfrm flipH="1">
                  <a:off x="4568" y="5999"/>
                  <a:ext cx="120" cy="577"/>
                </a:xfrm>
                <a:prstGeom prst="rect">
                  <a:avLst/>
                </a:prstGeom>
                <a:blipFill rotWithShape="1">
                  <a:blip r:embed="rId4"/>
                </a:blipFill>
              </p:spPr>
              <p:txBody>
                <a:bodyPr/>
                <a:lstStyle/>
                <a:p>
                  <a:r>
                    <a:rPr lang="zh-CN" altLang="en-US">
                      <a:noFill/>
                    </a:rPr>
                    <a:t> </a:t>
                  </a:r>
                </a:p>
              </p:txBody>
            </p:sp>
          </mc:Fallback>
        </mc:AlternateContent>
      </p:grpSp>
      <p:grpSp>
        <p:nvGrpSpPr>
          <p:cNvPr id="114" name="组合 113"/>
          <p:cNvGrpSpPr/>
          <p:nvPr/>
        </p:nvGrpSpPr>
        <p:grpSpPr>
          <a:xfrm>
            <a:off x="4803140" y="1420916"/>
            <a:ext cx="6186805" cy="444500"/>
            <a:chOff x="7339" y="1629"/>
            <a:chExt cx="9743" cy="700"/>
          </a:xfrm>
        </p:grpSpPr>
        <mc:AlternateContent xmlns:mc="http://schemas.openxmlformats.org/markup-compatibility/2006">
          <mc:Choice xmlns:a14="http://schemas.microsoft.com/office/drawing/2010/main" Requires="a14">
            <p:sp>
              <p:nvSpPr>
                <p:cNvPr id="37" name="对象 25"/>
                <p:cNvSpPr txBox="1"/>
                <p:nvPr/>
              </p:nvSpPr>
              <p:spPr>
                <a:xfrm>
                  <a:off x="7339" y="1629"/>
                  <a:ext cx="9743" cy="70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m:rPr>
                            <m:nor/>
                          </m:rPr>
                          <a:rPr kumimoji="1" lang="zh-CN" altLang="en-US" sz="2800" i="0" noProof="0" dirty="0" smtClean="0">
                            <a:ln>
                              <a:noFill/>
                            </a:ln>
                            <a:solidFill>
                              <a:schemeClr val="tx1">
                                <a:lumMod val="95000"/>
                                <a:lumOff val="5000"/>
                              </a:schemeClr>
                            </a:solidFill>
                            <a:effectLst/>
                            <a:uLnTx/>
                            <a:uFillTx/>
                            <a:latin typeface="Cambria Math" panose="02040503050406030204" charset="0"/>
                            <a:ea typeface="黑体" panose="02010609060101010101" pitchFamily="49" charset="-122"/>
                          </a:rPr>
                          <m:t>将它绕</m:t>
                        </m:r>
                        <m:r>
                          <a:rPr kumimoji="1" lang="en-US" altLang="zh-CN" sz="2800" b="0" i="0" noProof="0" dirty="0" smtClean="0">
                            <a:ln>
                              <a:noFill/>
                            </a:ln>
                            <a:solidFill>
                              <a:schemeClr val="tx1">
                                <a:lumMod val="95000"/>
                                <a:lumOff val="5000"/>
                              </a:schemeClr>
                            </a:solidFill>
                            <a:effectLst/>
                            <a:uLnTx/>
                            <a:uFillTx/>
                            <a:latin typeface="Cambria Math" panose="02040503050406030204" charset="0"/>
                            <a:ea typeface="黑体" panose="02010609060101010101" pitchFamily="49" charset="-122"/>
                          </a:rPr>
                          <m:t> </m:t>
                        </m:r>
                        <m:r>
                          <a:rPr kumimoji="1" lang="en-US" altLang="zh-CN" sz="2800" dirty="0">
                            <a:latin typeface="Cambria Math" panose="02040503050406030204" charset="0"/>
                            <a:ea typeface="黑体" panose="02010609060101010101" pitchFamily="49" charset="-122"/>
                          </a:rPr>
                          <m:t>𝑥</m:t>
                        </m:r>
                        <m:r>
                          <a:rPr kumimoji="1" lang="en-US" altLang="zh-CN" sz="2800" b="0" i="0" dirty="0" smtClean="0">
                            <a:latin typeface="Cambria Math" panose="02040503050406030204" charset="0"/>
                            <a:ea typeface="黑体" panose="02010609060101010101" pitchFamily="49" charset="-122"/>
                          </a:rPr>
                          <m:t> </m:t>
                        </m:r>
                        <m:r>
                          <m:rPr>
                            <m:nor/>
                          </m:rP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轴旋转构成一个底半径为</m:t>
                        </m:r>
                        <m:r>
                          <a:rPr kumimoji="1" lang="en-US" altLang="zh-CN" sz="2800" dirty="0">
                            <a:latin typeface="Cambria Math" panose="02040503050406030204" charset="0"/>
                            <a:ea typeface="黑体" panose="02010609060101010101" pitchFamily="49" charset="-122"/>
                          </a:rPr>
                          <m:t>𝑟</m:t>
                        </m:r>
                        <m: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高</m:t>
                        </m:r>
                      </m:oMath>
                    </m:oMathPara>
                  </a14:m>
                  <a:endPar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37" name="对象 25"/>
                <p:cNvSpPr txBox="1">
                  <a:spLocks noRot="1" noChangeAspect="1" noMove="1" noResize="1" noEditPoints="1" noAdjustHandles="1" noChangeArrowheads="1" noChangeShapeType="1" noTextEdit="1"/>
                </p:cNvSpPr>
                <p:nvPr/>
              </p:nvSpPr>
              <p:spPr>
                <a:xfrm>
                  <a:off x="7339" y="1629"/>
                  <a:ext cx="9743" cy="700"/>
                </a:xfrm>
                <a:prstGeom prst="rect">
                  <a:avLst/>
                </a:prstGeom>
                <a:blipFill rotWithShape="1">
                  <a:blip r:embed="rId2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3" name="对象 31"/>
                <p:cNvSpPr txBox="1"/>
                <p:nvPr/>
              </p:nvSpPr>
              <p:spPr>
                <a:xfrm flipH="1">
                  <a:off x="12262" y="1691"/>
                  <a:ext cx="120" cy="577"/>
                </a:xfrm>
                <a:prstGeom prst="rect">
                  <a:avLst/>
                </a:prstGeom>
              </p:spPr>
              <p:txBody>
                <a:bodyPr>
                  <a:normAutofit fontScale="5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 </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113" name="对象 31"/>
                <p:cNvSpPr txBox="1">
                  <a:spLocks noRot="1" noChangeAspect="1" noMove="1" noResize="1" noEditPoints="1" noAdjustHandles="1" noChangeArrowheads="1" noChangeShapeType="1" noTextEdit="1"/>
                </p:cNvSpPr>
                <p:nvPr/>
              </p:nvSpPr>
              <p:spPr>
                <a:xfrm flipH="1">
                  <a:off x="12262" y="1691"/>
                  <a:ext cx="120" cy="577"/>
                </a:xfrm>
                <a:prstGeom prst="rect">
                  <a:avLst/>
                </a:prstGeom>
                <a:blipFill rotWithShape="1">
                  <a:blip r:embed="rId2"/>
                </a:blipFill>
              </p:spPr>
              <p:txBody>
                <a:bodyPr/>
                <a:lstStyle/>
                <a:p>
                  <a:r>
                    <a:rPr lang="zh-CN" alt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3"/>
                                        </p:tgtEl>
                                        <p:attrNameLst>
                                          <p:attrName>style.visibility</p:attrName>
                                        </p:attrNameLst>
                                      </p:cBhvr>
                                      <p:to>
                                        <p:strVal val="visible"/>
                                      </p:to>
                                    </p:set>
                                    <p:animEffect transition="in" filter="wipe(left)">
                                      <p:cBhvr>
                                        <p:cTn id="7" dur="500"/>
                                        <p:tgtEl>
                                          <p:spTgt spid="9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8"/>
                                        </p:tgtEl>
                                        <p:attrNameLst>
                                          <p:attrName>style.visibility</p:attrName>
                                        </p:attrNameLst>
                                      </p:cBhvr>
                                      <p:to>
                                        <p:strVal val="visible"/>
                                      </p:to>
                                    </p:set>
                                    <p:animEffect transition="in" filter="wipe(left)">
                                      <p:cBhvr>
                                        <p:cTn id="12" dur="500"/>
                                        <p:tgtEl>
                                          <p:spTgt spid="88"/>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85"/>
                                        </p:tgtEl>
                                        <p:attrNameLst>
                                          <p:attrName>style.visibility</p:attrName>
                                        </p:attrNameLst>
                                      </p:cBhvr>
                                      <p:to>
                                        <p:strVal val="visible"/>
                                      </p:to>
                                    </p:set>
                                    <p:animEffect transition="in" filter="wipe(left)">
                                      <p:cBhvr>
                                        <p:cTn id="16" dur="500"/>
                                        <p:tgtEl>
                                          <p:spTgt spid="8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14"/>
                                        </p:tgtEl>
                                        <p:attrNameLst>
                                          <p:attrName>style.visibility</p:attrName>
                                        </p:attrNameLst>
                                      </p:cBhvr>
                                      <p:to>
                                        <p:strVal val="visible"/>
                                      </p:to>
                                    </p:set>
                                    <p:animEffect transition="in" filter="wipe(left)">
                                      <p:cBhvr>
                                        <p:cTn id="21" dur="500"/>
                                        <p:tgtEl>
                                          <p:spTgt spid="11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59"/>
                                        </p:tgtEl>
                                        <p:attrNameLst>
                                          <p:attrName>style.visibility</p:attrName>
                                        </p:attrNameLst>
                                      </p:cBhvr>
                                      <p:to>
                                        <p:strVal val="visible"/>
                                      </p:to>
                                    </p:set>
                                    <p:animEffect transition="in" filter="wipe(down)">
                                      <p:cBhvr>
                                        <p:cTn id="26" dur="500"/>
                                        <p:tgtEl>
                                          <p:spTgt spid="59"/>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91"/>
                                        </p:tgtEl>
                                        <p:attrNameLst>
                                          <p:attrName>style.visibility</p:attrName>
                                        </p:attrNameLst>
                                      </p:cBhvr>
                                      <p:to>
                                        <p:strVal val="visible"/>
                                      </p:to>
                                    </p:set>
                                    <p:animEffect transition="in" filter="wipe(left)">
                                      <p:cBhvr>
                                        <p:cTn id="30" dur="500"/>
                                        <p:tgtEl>
                                          <p:spTgt spid="9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95"/>
                                        </p:tgtEl>
                                        <p:attrNameLst>
                                          <p:attrName>style.visibility</p:attrName>
                                        </p:attrNameLst>
                                      </p:cBhvr>
                                      <p:to>
                                        <p:strVal val="visible"/>
                                      </p:to>
                                    </p:set>
                                    <p:animEffect transition="in" filter="wipe(left)">
                                      <p:cBhvr>
                                        <p:cTn id="35" dur="500"/>
                                        <p:tgtEl>
                                          <p:spTgt spid="9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97"/>
                                        </p:tgtEl>
                                        <p:attrNameLst>
                                          <p:attrName>style.visibility</p:attrName>
                                        </p:attrNameLst>
                                      </p:cBhvr>
                                      <p:to>
                                        <p:strVal val="visible"/>
                                      </p:to>
                                    </p:set>
                                    <p:animEffect transition="in" filter="wipe(left)">
                                      <p:cBhvr>
                                        <p:cTn id="40" dur="500"/>
                                        <p:tgtEl>
                                          <p:spTgt spid="97"/>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99"/>
                                        </p:tgtEl>
                                        <p:attrNameLst>
                                          <p:attrName>style.visibility</p:attrName>
                                        </p:attrNameLst>
                                      </p:cBhvr>
                                      <p:to>
                                        <p:strVal val="visible"/>
                                      </p:to>
                                    </p:set>
                                    <p:animEffect transition="in" filter="wipe(left)">
                                      <p:cBhvr>
                                        <p:cTn id="45" dur="500"/>
                                        <p:tgtEl>
                                          <p:spTgt spid="99"/>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03"/>
                                        </p:tgtEl>
                                        <p:attrNameLst>
                                          <p:attrName>style.visibility</p:attrName>
                                        </p:attrNameLst>
                                      </p:cBhvr>
                                      <p:to>
                                        <p:strVal val="visible"/>
                                      </p:to>
                                    </p:set>
                                    <p:animEffect transition="in" filter="wipe(left)">
                                      <p:cBhvr>
                                        <p:cTn id="50" dur="500"/>
                                        <p:tgtEl>
                                          <p:spTgt spid="103"/>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110"/>
                                        </p:tgtEl>
                                        <p:attrNameLst>
                                          <p:attrName>style.visibility</p:attrName>
                                        </p:attrNameLst>
                                      </p:cBhvr>
                                      <p:to>
                                        <p:strVal val="visible"/>
                                      </p:to>
                                    </p:set>
                                    <p:animEffect transition="in" filter="wipe(left)">
                                      <p:cBhvr>
                                        <p:cTn id="55" dur="500"/>
                                        <p:tgtEl>
                                          <p:spTgt spid="110"/>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112"/>
                                        </p:tgtEl>
                                        <p:attrNameLst>
                                          <p:attrName>style.visibility</p:attrName>
                                        </p:attrNameLst>
                                      </p:cBhvr>
                                      <p:to>
                                        <p:strVal val="visible"/>
                                      </p:to>
                                    </p:set>
                                    <p:animEffect transition="in" filter="wipe(left)">
                                      <p:cBhvr>
                                        <p:cTn id="60" dur="500"/>
                                        <p:tgtEl>
                                          <p:spTgt spid="112"/>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101"/>
                                        </p:tgtEl>
                                        <p:attrNameLst>
                                          <p:attrName>style.visibility</p:attrName>
                                        </p:attrNameLst>
                                      </p:cBhvr>
                                      <p:to>
                                        <p:strVal val="visible"/>
                                      </p:to>
                                    </p:set>
                                    <p:animEffect transition="in" filter="wipe(left)">
                                      <p:cBhvr>
                                        <p:cTn id="65" dur="500"/>
                                        <p:tgtEl>
                                          <p:spTgt spid="101"/>
                                        </p:tgtEl>
                                      </p:cBhvr>
                                    </p:animEffect>
                                  </p:childTnLst>
                                </p:cTn>
                              </p:par>
                            </p:childTnLst>
                          </p:cTn>
                        </p:par>
                        <p:par>
                          <p:cTn id="66" fill="hold">
                            <p:stCondLst>
                              <p:cond delay="500"/>
                            </p:stCondLst>
                            <p:childTnLst>
                              <p:par>
                                <p:cTn id="67" presetID="22" presetClass="entr" presetSubtype="1" fill="hold" nodeType="afterEffect">
                                  <p:stCondLst>
                                    <p:cond delay="0"/>
                                  </p:stCondLst>
                                  <p:childTnLst>
                                    <p:set>
                                      <p:cBhvr>
                                        <p:cTn id="68" dur="1" fill="hold">
                                          <p:stCondLst>
                                            <p:cond delay="0"/>
                                          </p:stCondLst>
                                        </p:cTn>
                                        <p:tgtEl>
                                          <p:spTgt spid="63"/>
                                        </p:tgtEl>
                                        <p:attrNameLst>
                                          <p:attrName>style.visibility</p:attrName>
                                        </p:attrNameLst>
                                      </p:cBhvr>
                                      <p:to>
                                        <p:strVal val="visible"/>
                                      </p:to>
                                    </p:set>
                                    <p:animEffect transition="in" filter="wipe(up)">
                                      <p:cBhvr>
                                        <p:cTn id="69" dur="500"/>
                                        <p:tgtEl>
                                          <p:spTgt spid="63"/>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106"/>
                                        </p:tgtEl>
                                        <p:attrNameLst>
                                          <p:attrName>style.visibility</p:attrName>
                                        </p:attrNameLst>
                                      </p:cBhvr>
                                      <p:to>
                                        <p:strVal val="visible"/>
                                      </p:to>
                                    </p:set>
                                    <p:animEffect transition="in" filter="wipe(left)">
                                      <p:cBhvr>
                                        <p:cTn id="74" dur="500"/>
                                        <p:tgtEl>
                                          <p:spTgt spid="106"/>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108"/>
                                        </p:tgtEl>
                                        <p:attrNameLst>
                                          <p:attrName>style.visibility</p:attrName>
                                        </p:attrNameLst>
                                      </p:cBhvr>
                                      <p:to>
                                        <p:strVal val="visible"/>
                                      </p:to>
                                    </p:set>
                                    <p:animEffect transition="in" filter="wipe(left)">
                                      <p:cBhvr>
                                        <p:cTn id="79"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noChangeArrowheads="1"/>
          </p:cNvPicPr>
          <p:nvPr/>
        </p:nvPicPr>
        <p:blipFill>
          <a:blip r:embed="rId1"/>
          <a:srcRect/>
          <a:stretch>
            <a:fillRect/>
          </a:stretch>
        </p:blipFill>
        <p:spPr bwMode="auto">
          <a:xfrm>
            <a:off x="2147483647" y="2147483647"/>
            <a:ext cx="2147011200" cy="2147011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3" name="组合 62"/>
          <p:cNvGrpSpPr/>
          <p:nvPr/>
        </p:nvGrpSpPr>
        <p:grpSpPr>
          <a:xfrm>
            <a:off x="6823075" y="3815080"/>
            <a:ext cx="4079875" cy="2610485"/>
            <a:chOff x="9785" y="6288"/>
            <a:chExt cx="6425" cy="4111"/>
          </a:xfrm>
        </p:grpSpPr>
        <p:graphicFrame>
          <p:nvGraphicFramePr>
            <p:cNvPr id="35" name="Object 44"/>
            <p:cNvGraphicFramePr>
              <a:graphicFrameLocks noChangeAspect="1"/>
            </p:cNvGraphicFramePr>
            <p:nvPr/>
          </p:nvGraphicFramePr>
          <p:xfrm>
            <a:off x="10439" y="6288"/>
            <a:ext cx="5040" cy="2910"/>
          </p:xfrm>
          <a:graphic>
            <a:graphicData uri="http://schemas.openxmlformats.org/presentationml/2006/ole">
              <mc:AlternateContent xmlns:mc="http://schemas.openxmlformats.org/markup-compatibility/2006">
                <mc:Choice xmlns:v="urn:schemas-microsoft-com:vml" Requires="v">
                  <p:oleObj spid="_x0000_s3" name="BMP 图像" r:id="rId2" imgW="3200400" imgH="1847850" progId="Paint.Picture">
                    <p:embed/>
                  </p:oleObj>
                </mc:Choice>
                <mc:Fallback>
                  <p:oleObj name="BMP 图像" r:id="rId2" imgW="3200400" imgH="1847850" progId="Paint.Picture">
                    <p:embed/>
                    <p:pic>
                      <p:nvPicPr>
                        <p:cNvPr id="0" name="Object 44"/>
                        <p:cNvPicPr>
                          <a:picLocks noChangeAspect="1" noChangeArrowheads="1"/>
                        </p:cNvPicPr>
                        <p:nvPr/>
                      </p:nvPicPr>
                      <p:blipFill>
                        <a:blip r:embed="rId1"/>
                        <a:srcRect/>
                        <a:stretch>
                          <a:fillRect/>
                        </a:stretch>
                      </p:blipFill>
                      <p:spPr bwMode="auto">
                        <a:xfrm>
                          <a:off x="10439" y="6288"/>
                          <a:ext cx="5040" cy="29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2" name="Line 4"/>
            <p:cNvSpPr>
              <a:spLocks noChangeShapeType="1"/>
            </p:cNvSpPr>
            <p:nvPr/>
          </p:nvSpPr>
          <p:spPr bwMode="auto">
            <a:xfrm>
              <a:off x="9785" y="9706"/>
              <a:ext cx="623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dirty="0">
                <a:ln>
                  <a:noFill/>
                </a:ln>
                <a:solidFill>
                  <a:prstClr val="black"/>
                </a:solidFill>
                <a:effectLst/>
                <a:uLnTx/>
                <a:uFillTx/>
                <a:latin typeface="Cambria Math" panose="02040503050406030204" charset="0"/>
                <a:ea typeface="黑体" panose="02010609060101010101" pitchFamily="49" charset="-122"/>
                <a:cs typeface="+mn-cs"/>
              </a:endParaRPr>
            </a:p>
          </p:txBody>
        </p:sp>
        <mc:AlternateContent xmlns:mc="http://schemas.openxmlformats.org/markup-compatibility/2006">
          <mc:Choice xmlns:a14="http://schemas.microsoft.com/office/drawing/2010/main" Requires="a14">
            <p:sp>
              <p:nvSpPr>
                <p:cNvPr id="43" name="Object 6"/>
                <p:cNvSpPr txBox="1"/>
                <p:nvPr/>
              </p:nvSpPr>
              <p:spPr bwMode="auto">
                <a:xfrm>
                  <a:off x="15647" y="9723"/>
                  <a:ext cx="563" cy="484"/>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1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𝑥</m:t>
                        </m:r>
                      </m:oMath>
                    </m:oMathPara>
                  </a14:m>
                  <a:endParaRPr kumimoji="1" lang="en-US" altLang="zh-CN" sz="1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43" name="Object 6"/>
                <p:cNvSpPr txBox="1">
                  <a:spLocks noRot="1" noChangeAspect="1" noMove="1" noResize="1" noEditPoints="1" noAdjustHandles="1" noChangeArrowheads="1" noChangeShapeType="1" noTextEdit="1"/>
                </p:cNvSpPr>
                <p:nvPr/>
              </p:nvSpPr>
              <p:spPr bwMode="auto">
                <a:xfrm>
                  <a:off x="15647" y="9723"/>
                  <a:ext cx="563" cy="484"/>
                </a:xfrm>
                <a:prstGeom prst="rect">
                  <a:avLst/>
                </a:prstGeom>
                <a:blipFill rotWithShape="1">
                  <a:blip r:embed="rId3"/>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 name="Object 7"/>
                <p:cNvSpPr txBox="1"/>
                <p:nvPr/>
              </p:nvSpPr>
              <p:spPr bwMode="auto">
                <a:xfrm>
                  <a:off x="10832" y="9694"/>
                  <a:ext cx="509" cy="484"/>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1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𝑎</m:t>
                        </m:r>
                      </m:oMath>
                    </m:oMathPara>
                  </a14:m>
                  <a:endParaRPr kumimoji="1" lang="en-US" altLang="zh-CN" sz="1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38" name="Object 7"/>
                <p:cNvSpPr txBox="1">
                  <a:spLocks noRot="1" noChangeAspect="1" noMove="1" noResize="1" noEditPoints="1" noAdjustHandles="1" noChangeArrowheads="1" noChangeShapeType="1" noTextEdit="1"/>
                </p:cNvSpPr>
                <p:nvPr/>
              </p:nvSpPr>
              <p:spPr bwMode="auto">
                <a:xfrm>
                  <a:off x="10832" y="9694"/>
                  <a:ext cx="509" cy="484"/>
                </a:xfrm>
                <a:prstGeom prst="rect">
                  <a:avLst/>
                </a:prstGeom>
                <a:blipFill rotWithShape="1">
                  <a:blip r:embed="rId4"/>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9" name="Object 8"/>
                <p:cNvSpPr txBox="1"/>
                <p:nvPr/>
              </p:nvSpPr>
              <p:spPr bwMode="auto">
                <a:xfrm>
                  <a:off x="14710" y="9761"/>
                  <a:ext cx="481" cy="638"/>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1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𝑏</m:t>
                        </m:r>
                      </m:oMath>
                    </m:oMathPara>
                  </a14:m>
                  <a:endParaRPr kumimoji="1" lang="en-US" altLang="zh-CN" sz="1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39" name="Object 8"/>
                <p:cNvSpPr txBox="1">
                  <a:spLocks noRot="1" noChangeAspect="1" noMove="1" noResize="1" noEditPoints="1" noAdjustHandles="1" noChangeArrowheads="1" noChangeShapeType="1" noTextEdit="1"/>
                </p:cNvSpPr>
                <p:nvPr/>
              </p:nvSpPr>
              <p:spPr bwMode="auto">
                <a:xfrm>
                  <a:off x="14710" y="9761"/>
                  <a:ext cx="481" cy="638"/>
                </a:xfrm>
                <a:prstGeom prst="rect">
                  <a:avLst/>
                </a:prstGeom>
                <a:blipFill rotWithShape="1">
                  <a:blip r:embed="rId5"/>
                </a:blipFill>
                <a:ln>
                  <a:noFill/>
                </a:ln>
                <a:effectLst/>
              </p:spPr>
              <p:txBody>
                <a:bodyPr/>
                <a:lstStyle/>
                <a:p>
                  <a:r>
                    <a:rPr lang="zh-CN" altLang="en-US">
                      <a:noFill/>
                    </a:rPr>
                    <a:t> </a:t>
                  </a:r>
                </a:p>
              </p:txBody>
            </p:sp>
          </mc:Fallback>
        </mc:AlternateContent>
        <p:sp>
          <p:nvSpPr>
            <p:cNvPr id="40" name="Line 45"/>
            <p:cNvSpPr>
              <a:spLocks noChangeShapeType="1"/>
            </p:cNvSpPr>
            <p:nvPr/>
          </p:nvSpPr>
          <p:spPr bwMode="auto">
            <a:xfrm>
              <a:off x="11055" y="8860"/>
              <a:ext cx="0" cy="840"/>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dirty="0">
                <a:ln>
                  <a:noFill/>
                </a:ln>
                <a:solidFill>
                  <a:prstClr val="black"/>
                </a:solidFill>
                <a:effectLst/>
                <a:uLnTx/>
                <a:uFillTx/>
                <a:latin typeface="Cambria Math" panose="02040503050406030204" charset="0"/>
                <a:ea typeface="黑体" panose="02010609060101010101" pitchFamily="49" charset="-122"/>
                <a:cs typeface="+mn-cs"/>
              </a:endParaRPr>
            </a:p>
          </p:txBody>
        </p:sp>
        <p:sp>
          <p:nvSpPr>
            <p:cNvPr id="41" name="Line 47"/>
            <p:cNvSpPr>
              <a:spLocks noChangeShapeType="1"/>
            </p:cNvSpPr>
            <p:nvPr/>
          </p:nvSpPr>
          <p:spPr bwMode="auto">
            <a:xfrm>
              <a:off x="14883" y="8798"/>
              <a:ext cx="0" cy="908"/>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dirty="0">
                <a:ln>
                  <a:noFill/>
                </a:ln>
                <a:solidFill>
                  <a:prstClr val="black"/>
                </a:solidFill>
                <a:effectLst/>
                <a:uLnTx/>
                <a:uFillTx/>
                <a:latin typeface="Cambria Math" panose="02040503050406030204" charset="0"/>
                <a:ea typeface="黑体" panose="02010609060101010101" pitchFamily="49" charset="-122"/>
                <a:cs typeface="+mn-cs"/>
              </a:endParaRPr>
            </a:p>
          </p:txBody>
        </p:sp>
      </p:grpSp>
      <p:grpSp>
        <p:nvGrpSpPr>
          <p:cNvPr id="62" name="组合 61"/>
          <p:cNvGrpSpPr/>
          <p:nvPr/>
        </p:nvGrpSpPr>
        <p:grpSpPr>
          <a:xfrm>
            <a:off x="8189017" y="3910013"/>
            <a:ext cx="604837" cy="2429827"/>
            <a:chOff x="11936" y="6438"/>
            <a:chExt cx="952" cy="3826"/>
          </a:xfrm>
        </p:grpSpPr>
        <mc:AlternateContent xmlns:mc="http://schemas.openxmlformats.org/markup-compatibility/2006">
          <mc:Choice xmlns:a14="http://schemas.microsoft.com/office/drawing/2010/main" Requires="a14">
            <p:sp>
              <p:nvSpPr>
                <p:cNvPr id="46" name="Object 36"/>
                <p:cNvSpPr txBox="1"/>
                <p:nvPr/>
              </p:nvSpPr>
              <p:spPr bwMode="auto">
                <a:xfrm>
                  <a:off x="12132" y="9675"/>
                  <a:ext cx="517" cy="589"/>
                </a:xfrm>
                <a:prstGeom prst="rect">
                  <a:avLst/>
                </a:prstGeom>
                <a:noFill/>
                <a:ln>
                  <a:noFill/>
                </a:ln>
                <a:effectLst/>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𝑥</m:t>
                        </m:r>
                      </m:oMath>
                    </m:oMathPara>
                  </a14:m>
                  <a:endParaRPr kumimoji="1" lang="en-US" altLang="zh-CN"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46" name="Object 36"/>
                <p:cNvSpPr txBox="1">
                  <a:spLocks noRot="1" noChangeAspect="1" noMove="1" noResize="1" noEditPoints="1" noAdjustHandles="1" noChangeArrowheads="1" noChangeShapeType="1" noTextEdit="1"/>
                </p:cNvSpPr>
                <p:nvPr/>
              </p:nvSpPr>
              <p:spPr bwMode="auto">
                <a:xfrm>
                  <a:off x="12132" y="9675"/>
                  <a:ext cx="517" cy="589"/>
                </a:xfrm>
                <a:prstGeom prst="rect">
                  <a:avLst/>
                </a:prstGeom>
                <a:blipFill rotWithShape="1">
                  <a:blip r:embed="rId6"/>
                </a:blipFill>
                <a:ln>
                  <a:noFill/>
                </a:ln>
                <a:effectLst/>
              </p:spPr>
              <p:txBody>
                <a:bodyPr/>
                <a:lstStyle/>
                <a:p>
                  <a:r>
                    <a:rPr lang="zh-CN" altLang="en-US">
                      <a:noFill/>
                    </a:rPr>
                    <a:t> </a:t>
                  </a:r>
                </a:p>
              </p:txBody>
            </p:sp>
          </mc:Fallback>
        </mc:AlternateContent>
        <p:grpSp>
          <p:nvGrpSpPr>
            <p:cNvPr id="16" name="Group 59"/>
            <p:cNvGrpSpPr/>
            <p:nvPr/>
          </p:nvGrpSpPr>
          <p:grpSpPr bwMode="auto">
            <a:xfrm>
              <a:off x="11936" y="6438"/>
              <a:ext cx="952" cy="3538"/>
              <a:chOff x="3767" y="1920"/>
              <a:chExt cx="381" cy="1415"/>
            </a:xfrm>
          </p:grpSpPr>
          <p:sp>
            <p:nvSpPr>
              <p:cNvPr id="17" name="Oval 14"/>
              <p:cNvSpPr>
                <a:spLocks noChangeArrowheads="1"/>
              </p:cNvSpPr>
              <p:nvPr/>
            </p:nvSpPr>
            <p:spPr bwMode="auto">
              <a:xfrm>
                <a:off x="3767" y="1920"/>
                <a:ext cx="381" cy="1018"/>
              </a:xfrm>
              <a:prstGeom prst="ellipse">
                <a:avLst/>
              </a:prstGeom>
              <a:gradFill rotWithShape="0">
                <a:gsLst>
                  <a:gs pos="0">
                    <a:schemeClr val="folHlink">
                      <a:gamma/>
                      <a:shade val="33333"/>
                      <a:invGamma/>
                    </a:schemeClr>
                  </a:gs>
                  <a:gs pos="100000">
                    <a:srgbClr val="04926A"/>
                  </a:gs>
                </a:gsLst>
                <a:lin ang="0" scaled="1"/>
              </a:gradFill>
              <a:ln w="9525">
                <a:solidFill>
                  <a:srgbClr val="00FFFF"/>
                </a:solidFill>
                <a:rou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dirty="0">
                  <a:ln>
                    <a:noFill/>
                  </a:ln>
                  <a:solidFill>
                    <a:prstClr val="black"/>
                  </a:solidFill>
                  <a:effectLst/>
                  <a:uLnTx/>
                  <a:uFillTx/>
                  <a:latin typeface="Cambria Math" panose="02040503050406030204" charset="0"/>
                  <a:ea typeface="黑体" panose="02010609060101010101" pitchFamily="49" charset="-122"/>
                  <a:cs typeface="+mn-cs"/>
                </a:endParaRPr>
              </a:p>
            </p:txBody>
          </p:sp>
          <mc:AlternateContent xmlns:mc="http://schemas.openxmlformats.org/markup-compatibility/2006">
            <mc:Choice xmlns:a14="http://schemas.microsoft.com/office/drawing/2010/main" Requires="a14">
              <p:sp>
                <p:nvSpPr>
                  <p:cNvPr id="18" name="Object 36"/>
                  <p:cNvSpPr txBox="1"/>
                  <p:nvPr/>
                </p:nvSpPr>
                <p:spPr bwMode="auto">
                  <a:xfrm>
                    <a:off x="3956" y="3329"/>
                    <a:ext cx="7" cy="6"/>
                  </a:xfrm>
                  <a:prstGeom prst="rect">
                    <a:avLst/>
                  </a:prstGeom>
                  <a:noFill/>
                  <a:ln>
                    <a:noFill/>
                  </a:ln>
                  <a:effectLst/>
                </p:spPr>
                <p:txBody>
                  <a:bodyPr>
                    <a:normAutofit fontScale="25000" lnSpcReduction="20000"/>
                  </a:bodyPr>
                  <a:lstStyle/>
                  <a:p>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charset="0"/>
                            </a:rPr>
                            <m:t>𝑥</m:t>
                          </m:r>
                        </m:oMath>
                      </m:oMathPara>
                    </a14:m>
                    <a:endParaRPr lang="zh-CN" altLang="en-US"/>
                  </a:p>
                </p:txBody>
              </p:sp>
            </mc:Choice>
            <mc:Fallback>
              <p:sp>
                <p:nvSpPr>
                  <p:cNvPr id="18" name="Object 36"/>
                  <p:cNvSpPr txBox="1">
                    <a:spLocks noRot="1" noChangeAspect="1" noMove="1" noResize="1" noEditPoints="1" noAdjustHandles="1" noChangeArrowheads="1" noChangeShapeType="1" noTextEdit="1"/>
                  </p:cNvSpPr>
                  <p:nvPr/>
                </p:nvSpPr>
                <p:spPr bwMode="auto">
                  <a:xfrm>
                    <a:off x="3956" y="3329"/>
                    <a:ext cx="7" cy="6"/>
                  </a:xfrm>
                  <a:prstGeom prst="rect">
                    <a:avLst/>
                  </a:prstGeom>
                  <a:blipFill rotWithShape="1">
                    <a:blip r:embed="rId7"/>
                  </a:blipFill>
                  <a:ln>
                    <a:noFill/>
                  </a:ln>
                  <a:effectLst/>
                </p:spPr>
                <p:txBody>
                  <a:bodyPr/>
                  <a:lstStyle/>
                  <a:p>
                    <a:r>
                      <a:rPr lang="zh-CN" altLang="en-US">
                        <a:noFill/>
                      </a:rPr>
                      <a:t> </a:t>
                    </a:r>
                  </a:p>
                </p:txBody>
              </p:sp>
            </mc:Fallback>
          </mc:AlternateContent>
          <p:sp>
            <p:nvSpPr>
              <p:cNvPr id="19" name="Line 48"/>
              <p:cNvSpPr>
                <a:spLocks noChangeShapeType="1"/>
              </p:cNvSpPr>
              <p:nvPr/>
            </p:nvSpPr>
            <p:spPr bwMode="auto">
              <a:xfrm>
                <a:off x="3967" y="2944"/>
                <a:ext cx="0" cy="272"/>
              </a:xfrm>
              <a:prstGeom prst="line">
                <a:avLst/>
              </a:prstGeom>
              <a:noFill/>
              <a:ln w="19050">
                <a:solidFill>
                  <a:srgbClr val="04926A"/>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dirty="0">
                  <a:ln>
                    <a:noFill/>
                  </a:ln>
                  <a:solidFill>
                    <a:prstClr val="black"/>
                  </a:solidFill>
                  <a:effectLst/>
                  <a:uLnTx/>
                  <a:uFillTx/>
                  <a:latin typeface="Cambria Math" panose="02040503050406030204" charset="0"/>
                  <a:ea typeface="黑体" panose="02010609060101010101" pitchFamily="49" charset="-122"/>
                  <a:cs typeface="+mn-cs"/>
                </a:endParaRPr>
              </a:p>
            </p:txBody>
          </p:sp>
        </p:grpSp>
      </p:grpSp>
      <p:grpSp>
        <p:nvGrpSpPr>
          <p:cNvPr id="84" name="组合 83"/>
          <p:cNvGrpSpPr/>
          <p:nvPr/>
        </p:nvGrpSpPr>
        <p:grpSpPr>
          <a:xfrm>
            <a:off x="8282940" y="3956050"/>
            <a:ext cx="1486535" cy="2399665"/>
            <a:chOff x="13004" y="6230"/>
            <a:chExt cx="2341" cy="3779"/>
          </a:xfrm>
        </p:grpSpPr>
        <mc:AlternateContent xmlns:mc="http://schemas.openxmlformats.org/markup-compatibility/2006">
          <mc:Choice xmlns:a14="http://schemas.microsoft.com/office/drawing/2010/main" Requires="a14">
            <p:sp>
              <p:nvSpPr>
                <p:cNvPr id="49" name="Object 40"/>
                <p:cNvSpPr txBox="1"/>
                <p:nvPr/>
              </p:nvSpPr>
              <p:spPr bwMode="auto">
                <a:xfrm>
                  <a:off x="13356" y="9382"/>
                  <a:ext cx="1989" cy="627"/>
                </a:xfrm>
                <a:prstGeom prst="rect">
                  <a:avLst/>
                </a:prstGeom>
                <a:noFill/>
                <a:ln>
                  <a:noFill/>
                </a:ln>
                <a:effectLst/>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𝑥</m:t>
                        </m:r>
                        <m:r>
                          <a:rPr kumimoji="1" lang="en-US" altLang="zh-CN"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func>
                          <m:funcPr>
                            <m:ctrlPr>
                              <a:rPr kumimoji="1" lang="en-US" altLang="zh-CN" i="1"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ctrlPr>
                          </m:funcPr>
                          <m:fName>
                            <m:r>
                              <m:rPr>
                                <m:sty m:val="p"/>
                              </m:rPr>
                              <a:rPr kumimoji="1" lang="en-US" altLang="zh-CN"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d</m:t>
                            </m:r>
                          </m:fName>
                          <m:e>
                            <m:r>
                              <a:rPr kumimoji="1" lang="en-US" altLang="zh-CN"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e>
                        </m:func>
                        <m:r>
                          <a:rPr kumimoji="1" lang="en-US" altLang="zh-CN"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𝑥</m:t>
                        </m:r>
                      </m:oMath>
                    </m:oMathPara>
                  </a14:m>
                  <a:endParaRPr kumimoji="1" lang="en-US" altLang="zh-CN"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49" name="Object 40"/>
                <p:cNvSpPr txBox="1">
                  <a:spLocks noRot="1" noChangeAspect="1" noMove="1" noResize="1" noEditPoints="1" noAdjustHandles="1" noChangeArrowheads="1" noChangeShapeType="1" noTextEdit="1"/>
                </p:cNvSpPr>
                <p:nvPr/>
              </p:nvSpPr>
              <p:spPr bwMode="auto">
                <a:xfrm>
                  <a:off x="13356" y="9382"/>
                  <a:ext cx="1989" cy="627"/>
                </a:xfrm>
                <a:prstGeom prst="rect">
                  <a:avLst/>
                </a:prstGeom>
                <a:blipFill rotWithShape="1">
                  <a:blip r:embed="rId8"/>
                </a:blipFill>
                <a:ln>
                  <a:noFill/>
                </a:ln>
                <a:effectLst/>
              </p:spPr>
              <p:txBody>
                <a:bodyPr/>
                <a:lstStyle/>
                <a:p>
                  <a:r>
                    <a:rPr lang="zh-CN" altLang="en-US">
                      <a:noFill/>
                    </a:rPr>
                    <a:t> </a:t>
                  </a:r>
                </a:p>
              </p:txBody>
            </p:sp>
          </mc:Fallback>
        </mc:AlternateContent>
        <p:grpSp>
          <p:nvGrpSpPr>
            <p:cNvPr id="20" name="Group 58"/>
            <p:cNvGrpSpPr/>
            <p:nvPr/>
          </p:nvGrpSpPr>
          <p:grpSpPr bwMode="auto">
            <a:xfrm>
              <a:off x="13004" y="6230"/>
              <a:ext cx="975" cy="3152"/>
              <a:chOff x="3826" y="1949"/>
              <a:chExt cx="390" cy="1261"/>
            </a:xfrm>
            <a:solidFill>
              <a:srgbClr val="FFCCFF"/>
            </a:solidFill>
          </p:grpSpPr>
          <p:sp>
            <p:nvSpPr>
              <p:cNvPr id="22" name="Oval 13"/>
              <p:cNvSpPr>
                <a:spLocks noChangeArrowheads="1"/>
              </p:cNvSpPr>
              <p:nvPr/>
            </p:nvSpPr>
            <p:spPr bwMode="auto">
              <a:xfrm>
                <a:off x="3826" y="1949"/>
                <a:ext cx="390" cy="975"/>
              </a:xfrm>
              <a:prstGeom prst="ellipse">
                <a:avLst/>
              </a:prstGeom>
              <a:solidFill>
                <a:srgbClr val="A9D18E"/>
              </a:solidFill>
              <a:ln w="9525">
                <a:solidFill>
                  <a:srgbClr val="00FFFF"/>
                </a:solidFill>
                <a:prstDash val="dash"/>
                <a:rou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dirty="0">
                  <a:ln>
                    <a:noFill/>
                  </a:ln>
                  <a:solidFill>
                    <a:prstClr val="black"/>
                  </a:solidFill>
                  <a:effectLst/>
                  <a:uLnTx/>
                  <a:uFillTx/>
                  <a:latin typeface="Cambria Math" panose="02040503050406030204" charset="0"/>
                  <a:ea typeface="黑体" panose="02010609060101010101" pitchFamily="49" charset="-122"/>
                  <a:cs typeface="+mn-cs"/>
                </a:endParaRPr>
              </a:p>
            </p:txBody>
          </p:sp>
          <p:sp>
            <p:nvSpPr>
              <p:cNvPr id="23" name="Line 49"/>
              <p:cNvSpPr>
                <a:spLocks noChangeShapeType="1"/>
              </p:cNvSpPr>
              <p:nvPr/>
            </p:nvSpPr>
            <p:spPr bwMode="auto">
              <a:xfrm>
                <a:off x="4035" y="2922"/>
                <a:ext cx="0" cy="288"/>
              </a:xfrm>
              <a:prstGeom prst="line">
                <a:avLst/>
              </a:prstGeom>
              <a:grpFill/>
              <a:ln w="19050">
                <a:solidFill>
                  <a:srgbClr val="04926A"/>
                </a:solidFill>
                <a:prstDash val="sys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dirty="0">
                  <a:ln>
                    <a:noFill/>
                  </a:ln>
                  <a:solidFill>
                    <a:prstClr val="black"/>
                  </a:solidFill>
                  <a:effectLst/>
                  <a:uLnTx/>
                  <a:uFillTx/>
                  <a:latin typeface="Cambria Math" panose="02040503050406030204" charset="0"/>
                  <a:ea typeface="黑体" panose="02010609060101010101" pitchFamily="49" charset="-122"/>
                  <a:cs typeface="+mn-cs"/>
                </a:endParaRPr>
              </a:p>
            </p:txBody>
          </p:sp>
        </p:grpSp>
      </p:grpSp>
      <p:sp>
        <p:nvSpPr>
          <p:cNvPr id="25" name="矩形 24"/>
          <p:cNvSpPr/>
          <p:nvPr/>
        </p:nvSpPr>
        <p:spPr>
          <a:xfrm>
            <a:off x="1137285" y="549275"/>
            <a:ext cx="6002020" cy="523240"/>
          </a:xfrm>
          <a:prstGeom prst="rect">
            <a:avLst/>
          </a:prstGeom>
          <a:ln w="28575">
            <a:noFill/>
            <a:prstDash val="dashDot"/>
          </a:ln>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sz="2800" b="1" dirty="0">
                <a:solidFill>
                  <a:srgbClr val="04926A"/>
                </a:solidFill>
                <a:latin typeface="微软雅黑" panose="020B0503020204020204" charset="-122"/>
                <a:ea typeface="微软雅黑" panose="020B0503020204020204" charset="-122"/>
              </a:rPr>
              <a:t>2. 平行截面面积为已知的立体的体积</a:t>
            </a:r>
            <a:endParaRPr kumimoji="1" lang="zh-CN" altLang="en-US" sz="2800" b="1" dirty="0">
              <a:solidFill>
                <a:srgbClr val="04926A"/>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48145" name="Text Box 17"/>
              <p:cNvSpPr txBox="1">
                <a:spLocks noChangeArrowheads="1"/>
              </p:cNvSpPr>
              <p:nvPr/>
            </p:nvSpPr>
            <p:spPr bwMode="auto">
              <a:xfrm>
                <a:off x="1137285" y="1065530"/>
                <a:ext cx="9993630" cy="12274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lnSpc>
                    <a:spcPct val="140000"/>
                  </a:lnSpc>
                  <a:spcBef>
                    <a:spcPts val="50"/>
                  </a:spcBef>
                  <a:spcAft>
                    <a:spcPts val="0"/>
                  </a:spcAft>
                </a:pPr>
                <a: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a:t>如果一个立体不是旋转体</a:t>
                </a:r>
                <a14:m>
                  <m:oMath xmlns:m="http://schemas.openxmlformats.org/officeDocument/2006/math">
                    <m: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oMath>
                </a14:m>
                <a: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a:t> 但却知道该立体上垂直于一定轴的各个截面面积</a:t>
                </a:r>
                <a14:m>
                  <m:oMath xmlns:m="http://schemas.openxmlformats.org/officeDocument/2006/math">
                    <m: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oMath>
                </a14:m>
                <a: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a:t> 那么</a:t>
                </a:r>
                <a14:m>
                  <m:oMath xmlns:m="http://schemas.openxmlformats.org/officeDocument/2006/math">
                    <m: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oMath>
                </a14:m>
                <a: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a:t> 这个立体的体积也可用定积分来计算.</a:t>
                </a:r>
                <a:endPar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48145" name="Text Box 17"/>
              <p:cNvSpPr txBox="1">
                <a:spLocks noRot="1" noChangeAspect="1" noMove="1" noResize="1" noEditPoints="1" noAdjustHandles="1" noChangeArrowheads="1" noChangeShapeType="1" noTextEdit="1"/>
              </p:cNvSpPr>
              <p:nvPr/>
            </p:nvSpPr>
            <p:spPr bwMode="auto">
              <a:xfrm>
                <a:off x="1137285" y="1065530"/>
                <a:ext cx="9993630" cy="1227455"/>
              </a:xfrm>
              <a:prstGeom prst="rect">
                <a:avLst/>
              </a:prstGeom>
              <a:blipFill rotWithShape="1">
                <a:blip r:embed="rId9"/>
                <a:stretch>
                  <a:fillRect b="-983"/>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对象 1"/>
              <p:cNvSpPr txBox="1"/>
              <p:nvPr/>
            </p:nvSpPr>
            <p:spPr>
              <a:xfrm>
                <a:off x="1137285" y="2543175"/>
                <a:ext cx="6324600" cy="44450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m:rPr>
                          <m:nor/>
                        </m:rP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设所给立体</m:t>
                      </m:r>
                      <m:r>
                        <m:rPr>
                          <m:nor/>
                        </m:rPr>
                        <a:rPr kumimoji="1" lang="zh-CN" altLang="en-US" sz="2800" i="0" noProof="0" dirty="0">
                          <a:ln>
                            <a:noFill/>
                          </a:ln>
                          <a:solidFill>
                            <a:schemeClr val="tx1">
                              <a:lumMod val="95000"/>
                              <a:lumOff val="5000"/>
                            </a:schemeClr>
                          </a:solidFill>
                          <a:effectLst/>
                          <a:highlight>
                            <a:srgbClr val="FFFF00"/>
                          </a:highlight>
                          <a:uLnTx/>
                          <a:uFillTx/>
                          <a:latin typeface="Cambria Math" panose="02040503050406030204" charset="0"/>
                          <a:ea typeface="黑体" panose="02010609060101010101" pitchFamily="49" charset="-122"/>
                        </a:rPr>
                        <m:t>垂直于</m:t>
                      </m:r>
                      <m:r>
                        <a:rPr kumimoji="1" lang="en-US" altLang="zh-CN" sz="2800" noProof="0" dirty="0">
                          <a:ln>
                            <a:noFill/>
                          </a:ln>
                          <a:solidFill>
                            <a:schemeClr val="tx1">
                              <a:lumMod val="95000"/>
                              <a:lumOff val="5000"/>
                            </a:schemeClr>
                          </a:solidFill>
                          <a:effectLst/>
                          <a:highlight>
                            <a:srgbClr val="FFFF00"/>
                          </a:highlight>
                          <a:uLnTx/>
                          <a:uFillTx/>
                          <a:latin typeface="Cambria Math" panose="02040503050406030204" charset="0"/>
                          <a:ea typeface="黑体" panose="02010609060101010101" pitchFamily="49" charset="-122"/>
                        </a:rPr>
                        <m:t>𝑥</m:t>
                      </m:r>
                      <m:r>
                        <m:rPr>
                          <m:nor/>
                        </m:rPr>
                        <a:rPr kumimoji="1" lang="zh-CN" altLang="en-US" sz="2800" i="0" noProof="0" dirty="0">
                          <a:ln>
                            <a:noFill/>
                          </a:ln>
                          <a:solidFill>
                            <a:schemeClr val="tx1">
                              <a:lumMod val="95000"/>
                              <a:lumOff val="5000"/>
                            </a:schemeClr>
                          </a:solidFill>
                          <a:effectLst/>
                          <a:highlight>
                            <a:srgbClr val="FFFF00"/>
                          </a:highlight>
                          <a:uLnTx/>
                          <a:uFillTx/>
                          <a:latin typeface="Cambria Math" panose="02040503050406030204" charset="0"/>
                          <a:ea typeface="黑体" panose="02010609060101010101" pitchFamily="49" charset="-122"/>
                        </a:rPr>
                        <m:t>轴</m:t>
                      </m:r>
                      <m:r>
                        <m:rPr>
                          <m:nor/>
                        </m:rP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的</m:t>
                      </m:r>
                      <m:r>
                        <m:rPr>
                          <m:nor/>
                        </m:rPr>
                        <a:rPr kumimoji="1" lang="zh-CN" altLang="en-US" sz="2800" i="0" noProof="0" dirty="0">
                          <a:ln>
                            <a:noFill/>
                          </a:ln>
                          <a:solidFill>
                            <a:schemeClr val="tx1">
                              <a:lumMod val="95000"/>
                              <a:lumOff val="5000"/>
                            </a:schemeClr>
                          </a:solidFill>
                          <a:effectLst/>
                          <a:highlight>
                            <a:srgbClr val="FFFF00"/>
                          </a:highlight>
                          <a:uLnTx/>
                          <a:uFillTx/>
                          <a:latin typeface="Cambria Math" panose="02040503050406030204" charset="0"/>
                          <a:ea typeface="黑体" panose="02010609060101010101" pitchFamily="49" charset="-122"/>
                        </a:rPr>
                        <m:t>截面面积为</m:t>
                      </m:r>
                      <m:r>
                        <a:rPr kumimoji="1" lang="en-US" altLang="zh-CN" sz="2800" noProof="0" dirty="0">
                          <a:ln>
                            <a:noFill/>
                          </a:ln>
                          <a:solidFill>
                            <a:schemeClr val="tx1">
                              <a:lumMod val="95000"/>
                              <a:lumOff val="5000"/>
                            </a:schemeClr>
                          </a:solidFill>
                          <a:effectLst/>
                          <a:highlight>
                            <a:srgbClr val="FFFF00"/>
                          </a:highlight>
                          <a:uLnTx/>
                          <a:uFillTx/>
                          <a:latin typeface="Cambria Math" panose="02040503050406030204" charset="0"/>
                          <a:ea typeface="黑体" panose="02010609060101010101" pitchFamily="49" charset="-122"/>
                        </a:rPr>
                        <m:t>𝐴</m:t>
                      </m:r>
                      <m:r>
                        <a:rPr kumimoji="1" lang="en-US" altLang="zh-CN" sz="2800" noProof="0" dirty="0">
                          <a:ln>
                            <a:noFill/>
                          </a:ln>
                          <a:solidFill>
                            <a:schemeClr val="tx1">
                              <a:lumMod val="95000"/>
                              <a:lumOff val="5000"/>
                            </a:schemeClr>
                          </a:solidFill>
                          <a:effectLst/>
                          <a:highlight>
                            <a:srgbClr val="FFFF00"/>
                          </a:highlight>
                          <a:uLnTx/>
                          <a:uFillTx/>
                          <a:latin typeface="Cambria Math" panose="02040503050406030204" charset="0"/>
                          <a:ea typeface="黑体" panose="02010609060101010101" pitchFamily="49" charset="-122"/>
                        </a:rPr>
                        <m:t>(</m:t>
                      </m:r>
                      <m:r>
                        <a:rPr kumimoji="1" lang="en-US" altLang="zh-CN" sz="2800" noProof="0" dirty="0">
                          <a:ln>
                            <a:noFill/>
                          </a:ln>
                          <a:solidFill>
                            <a:schemeClr val="tx1">
                              <a:lumMod val="95000"/>
                              <a:lumOff val="5000"/>
                            </a:schemeClr>
                          </a:solidFill>
                          <a:effectLst/>
                          <a:highlight>
                            <a:srgbClr val="FFFF00"/>
                          </a:highlight>
                          <a:uLnTx/>
                          <a:uFillTx/>
                          <a:latin typeface="Cambria Math" panose="02040503050406030204" charset="0"/>
                          <a:ea typeface="黑体" panose="02010609060101010101" pitchFamily="49" charset="-122"/>
                        </a:rPr>
                        <m:t>𝑥</m:t>
                      </m:r>
                      <m:r>
                        <a:rPr kumimoji="1" lang="en-US" altLang="zh-CN" sz="2800" noProof="0" dirty="0">
                          <a:ln>
                            <a:noFill/>
                          </a:ln>
                          <a:solidFill>
                            <a:schemeClr val="tx1">
                              <a:lumMod val="95000"/>
                              <a:lumOff val="5000"/>
                            </a:schemeClr>
                          </a:solidFill>
                          <a:effectLst/>
                          <a:highlight>
                            <a:srgbClr val="FFFF00"/>
                          </a:highlight>
                          <a:uLnTx/>
                          <a:uFillTx/>
                          <a:latin typeface="Cambria Math" panose="02040503050406030204" charset="0"/>
                          <a:ea typeface="黑体" panose="02010609060101010101" pitchFamily="49" charset="-122"/>
                        </a:rPr>
                        <m:t>)</m:t>
                      </m:r>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oMath>
                  </m:oMathPara>
                </a14:m>
                <a:endPar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5" name="对象 1"/>
              <p:cNvSpPr txBox="1">
                <a:spLocks noRot="1" noChangeAspect="1" noMove="1" noResize="1" noEditPoints="1" noAdjustHandles="1" noChangeArrowheads="1" noChangeShapeType="1" noTextEdit="1"/>
              </p:cNvSpPr>
              <p:nvPr/>
            </p:nvSpPr>
            <p:spPr>
              <a:xfrm>
                <a:off x="1137285" y="2543175"/>
                <a:ext cx="6324600" cy="444500"/>
              </a:xfrm>
              <a:prstGeom prst="rect">
                <a:avLst/>
              </a:prstGeom>
              <a:blipFill rotWithShape="1">
                <a:blip r:embed="rId10"/>
                <a:stretch>
                  <a:fillRect r="-1145" b="-4000"/>
                </a:stretch>
              </a:blipFill>
            </p:spPr>
            <p:txBody>
              <a:bodyPr/>
              <a:lstStyle/>
              <a:p>
                <a:r>
                  <a:rPr lang="zh-CN" altLang="en-US">
                    <a:noFill/>
                  </a:rPr>
                  <a:t> </a:t>
                </a:r>
              </a:p>
            </p:txBody>
          </p:sp>
        </mc:Fallback>
      </mc:AlternateContent>
      <p:grpSp>
        <p:nvGrpSpPr>
          <p:cNvPr id="75" name="组合 74"/>
          <p:cNvGrpSpPr/>
          <p:nvPr/>
        </p:nvGrpSpPr>
        <p:grpSpPr>
          <a:xfrm>
            <a:off x="7717155" y="2529140"/>
            <a:ext cx="3806825" cy="431800"/>
            <a:chOff x="12093" y="3951"/>
            <a:chExt cx="5995" cy="680"/>
          </a:xfrm>
        </p:grpSpPr>
        <mc:AlternateContent xmlns:mc="http://schemas.openxmlformats.org/markup-compatibility/2006">
          <mc:Choice xmlns:a14="http://schemas.microsoft.com/office/drawing/2010/main" Requires="a14">
            <p:sp>
              <p:nvSpPr>
                <p:cNvPr id="27" name="Object 12"/>
                <p:cNvSpPr txBox="1"/>
                <p:nvPr/>
              </p:nvSpPr>
              <p:spPr bwMode="auto">
                <a:xfrm>
                  <a:off x="12093" y="3951"/>
                  <a:ext cx="5995" cy="680"/>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𝐴</m:t>
                        </m:r>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𝑥</m:t>
                        </m:r>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在</m:t>
                        </m:r>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𝑎</m:t>
                        </m:r>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𝑏</m:t>
                        </m:r>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r>
                          <m:rPr>
                            <m:nor/>
                          </m:rP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上连续</m:t>
                        </m:r>
                        <m: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oMath>
                    </m:oMathPara>
                  </a14:m>
                  <a:endPar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27" name="Object 12"/>
                <p:cNvSpPr txBox="1">
                  <a:spLocks noRot="1" noChangeAspect="1" noMove="1" noResize="1" noEditPoints="1" noAdjustHandles="1" noChangeArrowheads="1" noChangeShapeType="1" noTextEdit="1"/>
                </p:cNvSpPr>
                <p:nvPr/>
              </p:nvSpPr>
              <p:spPr bwMode="auto">
                <a:xfrm>
                  <a:off x="12093" y="3951"/>
                  <a:ext cx="5995" cy="680"/>
                </a:xfrm>
                <a:prstGeom prst="rect">
                  <a:avLst/>
                </a:prstGeom>
                <a:blipFill rotWithShape="1">
                  <a:blip r:embed="rId11"/>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4" name="文本框 73"/>
                <p:cNvSpPr txBox="1"/>
                <p:nvPr/>
              </p:nvSpPr>
              <p:spPr>
                <a:xfrm>
                  <a:off x="14391" y="3978"/>
                  <a:ext cx="124" cy="582"/>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r>
                          <a:rPr kumimoji="1" lang="en-US" altLang="zh-CN"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 </m:t>
                        </m:r>
                      </m:oMath>
                    </m:oMathPara>
                  </a14:m>
                  <a:endParaRPr kumimoji="1" lang="en-US" altLang="zh-CN"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74" name="文本框 73"/>
                <p:cNvSpPr txBox="1">
                  <a:spLocks noRot="1" noChangeAspect="1" noMove="1" noResize="1" noEditPoints="1" noAdjustHandles="1" noChangeArrowheads="1" noChangeShapeType="1" noTextEdit="1"/>
                </p:cNvSpPr>
                <p:nvPr/>
              </p:nvSpPr>
              <p:spPr>
                <a:xfrm>
                  <a:off x="14391" y="3978"/>
                  <a:ext cx="124" cy="582"/>
                </a:xfrm>
                <a:prstGeom prst="rect">
                  <a:avLst/>
                </a:prstGeom>
                <a:blipFill rotWithShape="1">
                  <a:blip r:embed="rId12"/>
                </a:blipFill>
              </p:spPr>
              <p:txBody>
                <a:bodyPr/>
                <a:lstStyle/>
                <a:p>
                  <a:r>
                    <a:rPr lang="zh-CN" altLang="en-US">
                      <a:noFill/>
                    </a:rPr>
                    <a:t> </a:t>
                  </a:r>
                </a:p>
              </p:txBody>
            </p:sp>
          </mc:Fallback>
        </mc:AlternateContent>
      </p:grpSp>
      <p:grpSp>
        <p:nvGrpSpPr>
          <p:cNvPr id="77" name="组合 76"/>
          <p:cNvGrpSpPr/>
          <p:nvPr/>
        </p:nvGrpSpPr>
        <p:grpSpPr>
          <a:xfrm>
            <a:off x="1137285" y="3185160"/>
            <a:ext cx="7792720" cy="444500"/>
            <a:chOff x="1731" y="4906"/>
            <a:chExt cx="12272" cy="700"/>
          </a:xfrm>
        </p:grpSpPr>
        <mc:AlternateContent xmlns:mc="http://schemas.openxmlformats.org/markup-compatibility/2006">
          <mc:Choice xmlns:a14="http://schemas.microsoft.com/office/drawing/2010/main" Requires="a14">
            <p:sp>
              <p:nvSpPr>
                <p:cNvPr id="29" name="Object 16"/>
                <p:cNvSpPr txBox="1"/>
                <p:nvPr/>
              </p:nvSpPr>
              <p:spPr bwMode="auto">
                <a:xfrm>
                  <a:off x="1731" y="4906"/>
                  <a:ext cx="12272" cy="700"/>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m:rPr>
                            <m:nor/>
                          </m:rP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则对应于小区间</m:t>
                        </m:r>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𝑥</m:t>
                        </m:r>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𝑥</m:t>
                        </m:r>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func>
                          <m:funcPr>
                            <m:ctrlPr>
                              <a:rPr kumimoji="1" lang="en-US" altLang="zh-CN" sz="2800" i="1"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ctrlPr>
                          </m:funcPr>
                          <m:fName>
                            <m:r>
                              <m:rPr>
                                <m:sty m:val="p"/>
                              </m:rPr>
                              <a:rPr kumimoji="1" lang="en-US" altLang="zh-CN"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d</m:t>
                            </m:r>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𝑥</m:t>
                            </m:r>
                          </m:fName>
                          <m:e>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e>
                        </m:func>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r>
                          <m:rPr>
                            <m:nor/>
                          </m:rP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的体积元素为</m:t>
                        </m:r>
                      </m:oMath>
                    </m:oMathPara>
                  </a14:m>
                  <a:endPar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29" name="Object 16"/>
                <p:cNvSpPr txBox="1">
                  <a:spLocks noRot="1" noChangeAspect="1" noMove="1" noResize="1" noEditPoints="1" noAdjustHandles="1" noChangeArrowheads="1" noChangeShapeType="1" noTextEdit="1"/>
                </p:cNvSpPr>
                <p:nvPr/>
              </p:nvSpPr>
              <p:spPr bwMode="auto">
                <a:xfrm>
                  <a:off x="1731" y="4906"/>
                  <a:ext cx="12272" cy="700"/>
                </a:xfrm>
                <a:prstGeom prst="rect">
                  <a:avLst/>
                </a:prstGeom>
                <a:blipFill rotWithShape="1">
                  <a:blip r:embed="rId13"/>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6" name="文本框 75"/>
                <p:cNvSpPr txBox="1"/>
                <p:nvPr/>
              </p:nvSpPr>
              <p:spPr>
                <a:xfrm>
                  <a:off x="12258" y="4943"/>
                  <a:ext cx="124" cy="582"/>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r>
                          <a:rPr kumimoji="1" lang="en-US" altLang="zh-CN"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 </m:t>
                        </m:r>
                      </m:oMath>
                    </m:oMathPara>
                  </a14:m>
                  <a:endParaRPr kumimoji="1" lang="en-US" altLang="zh-CN"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76" name="文本框 75"/>
                <p:cNvSpPr txBox="1">
                  <a:spLocks noRot="1" noChangeAspect="1" noMove="1" noResize="1" noEditPoints="1" noAdjustHandles="1" noChangeArrowheads="1" noChangeShapeType="1" noTextEdit="1"/>
                </p:cNvSpPr>
                <p:nvPr/>
              </p:nvSpPr>
              <p:spPr>
                <a:xfrm>
                  <a:off x="12258" y="4943"/>
                  <a:ext cx="124" cy="582"/>
                </a:xfrm>
                <a:prstGeom prst="rect">
                  <a:avLst/>
                </a:prstGeom>
                <a:blipFill rotWithShape="1">
                  <a:blip r:embed="rId12"/>
                </a:blipFill>
              </p:spPr>
              <p:txBody>
                <a:bodyPr/>
                <a:lstStyle/>
                <a:p>
                  <a:r>
                    <a:rPr lang="zh-CN" altLang="en-US">
                      <a:noFill/>
                    </a:rPr>
                    <a:t> </a:t>
                  </a:r>
                </a:p>
              </p:txBody>
            </p:sp>
          </mc:Fallback>
        </mc:AlternateContent>
      </p:grpSp>
      <p:grpSp>
        <p:nvGrpSpPr>
          <p:cNvPr id="79" name="组合 78"/>
          <p:cNvGrpSpPr/>
          <p:nvPr/>
        </p:nvGrpSpPr>
        <p:grpSpPr>
          <a:xfrm>
            <a:off x="2275205" y="3832225"/>
            <a:ext cx="2453005" cy="498475"/>
            <a:chOff x="3523" y="5970"/>
            <a:chExt cx="5042" cy="785"/>
          </a:xfrm>
        </p:grpSpPr>
        <mc:AlternateContent xmlns:mc="http://schemas.openxmlformats.org/markup-compatibility/2006">
          <mc:Choice xmlns:a14="http://schemas.microsoft.com/office/drawing/2010/main" Requires="a14">
            <p:sp>
              <p:nvSpPr>
                <p:cNvPr id="31" name="Object 18"/>
                <p:cNvSpPr txBox="1"/>
                <p:nvPr/>
              </p:nvSpPr>
              <p:spPr bwMode="auto">
                <a:xfrm>
                  <a:off x="3523" y="5970"/>
                  <a:ext cx="5042" cy="785"/>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func>
                          <m:funcPr>
                            <m:ctrlPr>
                              <a:rPr kumimoji="1" lang="en-US" altLang="zh-CN" sz="2800" i="1"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ctrlPr>
                          </m:funcPr>
                          <m:fName>
                            <m:r>
                              <m:rPr>
                                <m:sty m:val="p"/>
                              </m:rPr>
                              <a:rPr kumimoji="1" lang="en-US" altLang="zh-CN"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d</m:t>
                            </m:r>
                          </m:fName>
                          <m:e>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𝑉</m:t>
                            </m:r>
                          </m:e>
                        </m:func>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𝐴</m:t>
                        </m:r>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𝑥</m:t>
                        </m:r>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func>
                          <m:funcPr>
                            <m:ctrlPr>
                              <a:rPr kumimoji="1" lang="en-US" altLang="zh-CN" sz="2800" i="1"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ctrlPr>
                          </m:funcPr>
                          <m:fName>
                            <m:r>
                              <m:rPr>
                                <m:sty m:val="p"/>
                              </m:rPr>
                              <a:rPr kumimoji="1" lang="en-US" altLang="zh-CN"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d</m:t>
                            </m:r>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𝑥</m:t>
                            </m:r>
                          </m:fName>
                          <m:e>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e>
                        </m:func>
                      </m:oMath>
                    </m:oMathPara>
                  </a14:m>
                  <a:endPar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31" name="Object 18"/>
                <p:cNvSpPr txBox="1">
                  <a:spLocks noRot="1" noChangeAspect="1" noMove="1" noResize="1" noEditPoints="1" noAdjustHandles="1" noChangeArrowheads="1" noChangeShapeType="1" noTextEdit="1"/>
                </p:cNvSpPr>
                <p:nvPr/>
              </p:nvSpPr>
              <p:spPr bwMode="auto">
                <a:xfrm>
                  <a:off x="3523" y="5970"/>
                  <a:ext cx="5042" cy="785"/>
                </a:xfrm>
                <a:prstGeom prst="rect">
                  <a:avLst/>
                </a:prstGeom>
                <a:blipFill rotWithShape="1">
                  <a:blip r:embed="rId14"/>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8" name="文本框 77"/>
                <p:cNvSpPr txBox="1"/>
                <p:nvPr/>
              </p:nvSpPr>
              <p:spPr>
                <a:xfrm>
                  <a:off x="5982" y="6057"/>
                  <a:ext cx="124" cy="582"/>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r>
                          <a:rPr kumimoji="1" lang="en-US" altLang="zh-CN"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 </m:t>
                        </m:r>
                      </m:oMath>
                    </m:oMathPara>
                  </a14:m>
                  <a:endParaRPr kumimoji="1" lang="en-US" altLang="zh-CN"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78" name="文本框 77"/>
                <p:cNvSpPr txBox="1">
                  <a:spLocks noRot="1" noChangeAspect="1" noMove="1" noResize="1" noEditPoints="1" noAdjustHandles="1" noChangeArrowheads="1" noChangeShapeType="1" noTextEdit="1"/>
                </p:cNvSpPr>
                <p:nvPr/>
              </p:nvSpPr>
              <p:spPr>
                <a:xfrm>
                  <a:off x="5982" y="6057"/>
                  <a:ext cx="124" cy="582"/>
                </a:xfrm>
                <a:prstGeom prst="rect">
                  <a:avLst/>
                </a:prstGeom>
                <a:blipFill rotWithShape="1">
                  <a:blip r:embed="rId15"/>
                </a:blipFill>
              </p:spPr>
              <p:txBody>
                <a:bodyPr/>
                <a:lstStyle/>
                <a:p>
                  <a:r>
                    <a:rPr lang="zh-CN" altLang="en-US">
                      <a:noFill/>
                    </a:rPr>
                    <a:t> </a:t>
                  </a:r>
                </a:p>
              </p:txBody>
            </p:sp>
          </mc:Fallback>
        </mc:AlternateContent>
      </p:grpSp>
      <p:grpSp>
        <p:nvGrpSpPr>
          <p:cNvPr id="81" name="组合 80"/>
          <p:cNvGrpSpPr/>
          <p:nvPr/>
        </p:nvGrpSpPr>
        <p:grpSpPr>
          <a:xfrm>
            <a:off x="1137285" y="4558665"/>
            <a:ext cx="3591560" cy="519430"/>
            <a:chOff x="1731" y="6814"/>
            <a:chExt cx="5656" cy="818"/>
          </a:xfrm>
        </p:grpSpPr>
        <p:sp>
          <p:nvSpPr>
            <p:cNvPr id="32" name="Text Box 19"/>
            <p:cNvSpPr txBox="1">
              <a:spLocks noChangeArrowheads="1"/>
            </p:cNvSpPr>
            <p:nvPr/>
          </p:nvSpPr>
          <p:spPr bwMode="auto">
            <a:xfrm>
              <a:off x="1731" y="6814"/>
              <a:ext cx="5656" cy="8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b="0" i="0" u="none" strike="noStrike" kern="1200" cap="none" spc="0" normalizeH="0" baseline="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cs typeface="+mn-cs"/>
                </a:rPr>
                <a:t>因此所求立体体积为</a:t>
              </a:r>
              <a:endParaRPr kumimoji="1" lang="zh-CN" altLang="en-US" sz="2800" b="0" i="0" u="none" strike="noStrike" kern="1200" cap="none" spc="0" normalizeH="0" baseline="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cs typeface="+mn-cs"/>
              </a:endParaRPr>
            </a:p>
          </p:txBody>
        </p:sp>
        <mc:AlternateContent xmlns:mc="http://schemas.openxmlformats.org/markup-compatibility/2006">
          <mc:Choice xmlns:a14="http://schemas.microsoft.com/office/drawing/2010/main" Requires="a14">
            <p:sp>
              <p:nvSpPr>
                <p:cNvPr id="80" name="文本框 79"/>
                <p:cNvSpPr txBox="1"/>
                <p:nvPr/>
              </p:nvSpPr>
              <p:spPr>
                <a:xfrm>
                  <a:off x="4497" y="6910"/>
                  <a:ext cx="124" cy="582"/>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r>
                          <a:rPr kumimoji="1" lang="en-US" altLang="zh-CN"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 </m:t>
                        </m:r>
                      </m:oMath>
                    </m:oMathPara>
                  </a14:m>
                  <a:endParaRPr kumimoji="1" lang="en-US" altLang="zh-CN"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80" name="文本框 79"/>
                <p:cNvSpPr txBox="1">
                  <a:spLocks noRot="1" noChangeAspect="1" noMove="1" noResize="1" noEditPoints="1" noAdjustHandles="1" noChangeArrowheads="1" noChangeShapeType="1" noTextEdit="1"/>
                </p:cNvSpPr>
                <p:nvPr/>
              </p:nvSpPr>
              <p:spPr>
                <a:xfrm>
                  <a:off x="4497" y="6910"/>
                  <a:ext cx="124" cy="582"/>
                </a:xfrm>
                <a:prstGeom prst="rect">
                  <a:avLst/>
                </a:prstGeom>
                <a:blipFill rotWithShape="1">
                  <a:blip r:embed="rId12"/>
                </a:blipFill>
              </p:spPr>
              <p:txBody>
                <a:bodyPr/>
                <a:lstStyle/>
                <a:p>
                  <a:r>
                    <a:rPr lang="zh-CN" altLang="en-US">
                      <a:noFill/>
                    </a:rPr>
                    <a:t> </a:t>
                  </a:r>
                </a:p>
              </p:txBody>
            </p:sp>
          </mc:Fallback>
        </mc:AlternateContent>
      </p:grpSp>
      <p:grpSp>
        <p:nvGrpSpPr>
          <p:cNvPr id="83" name="组合 82"/>
          <p:cNvGrpSpPr/>
          <p:nvPr/>
        </p:nvGrpSpPr>
        <p:grpSpPr>
          <a:xfrm>
            <a:off x="2339022" y="5057751"/>
            <a:ext cx="2968625" cy="1099185"/>
            <a:chOff x="3523" y="7735"/>
            <a:chExt cx="4675" cy="1731"/>
          </a:xfrm>
        </p:grpSpPr>
        <mc:AlternateContent xmlns:mc="http://schemas.openxmlformats.org/markup-compatibility/2006">
          <mc:Choice xmlns:a14="http://schemas.microsoft.com/office/drawing/2010/main" Requires="a14">
            <p:sp>
              <p:nvSpPr>
                <p:cNvPr id="33" name="Object 20"/>
                <p:cNvSpPr txBox="1"/>
                <p:nvPr/>
              </p:nvSpPr>
              <p:spPr bwMode="auto">
                <a:xfrm>
                  <a:off x="3523" y="7735"/>
                  <a:ext cx="4675" cy="1731"/>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𝑉</m:t>
                        </m:r>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nary>
                          <m:naryPr>
                            <m:ctrlPr>
                              <a:rPr kumimoji="1" lang="en-US" altLang="zh-CN" sz="2800" i="1"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ctrlPr>
                          </m:naryPr>
                          <m:sub>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𝑎</m:t>
                            </m:r>
                          </m:sub>
                          <m:sup>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𝑏</m:t>
                            </m:r>
                          </m:sup>
                          <m:e>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𝐴</m:t>
                            </m:r>
                          </m:e>
                        </m:nary>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𝑥</m:t>
                        </m:r>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func>
                          <m:funcPr>
                            <m:ctrlPr>
                              <a:rPr kumimoji="1" lang="en-US" altLang="zh-CN" sz="2800" i="1"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ctrlPr>
                          </m:funcPr>
                          <m:fName>
                            <m:r>
                              <m:rPr>
                                <m:sty m:val="p"/>
                              </m:rPr>
                              <a:rPr kumimoji="1" lang="en-US" altLang="zh-CN"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d</m:t>
                            </m:r>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𝑥</m:t>
                            </m:r>
                          </m:fName>
                          <m:e>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e>
                        </m:func>
                      </m:oMath>
                    </m:oMathPara>
                  </a14:m>
                  <a:endPar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33" name="Object 20"/>
                <p:cNvSpPr txBox="1">
                  <a:spLocks noRot="1" noChangeAspect="1" noMove="1" noResize="1" noEditPoints="1" noAdjustHandles="1" noChangeArrowheads="1" noChangeShapeType="1" noTextEdit="1"/>
                </p:cNvSpPr>
                <p:nvPr/>
              </p:nvSpPr>
              <p:spPr bwMode="auto">
                <a:xfrm>
                  <a:off x="3523" y="7735"/>
                  <a:ext cx="4675" cy="1731"/>
                </a:xfrm>
                <a:prstGeom prst="rect">
                  <a:avLst/>
                </a:prstGeom>
                <a:blipFill rotWithShape="1">
                  <a:blip r:embed="rId16"/>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2" name="文本框 81"/>
                <p:cNvSpPr txBox="1"/>
                <p:nvPr/>
              </p:nvSpPr>
              <p:spPr>
                <a:xfrm>
                  <a:off x="5799" y="8453"/>
                  <a:ext cx="124" cy="582"/>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r>
                          <a:rPr kumimoji="1" lang="en-US" altLang="zh-CN"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 </m:t>
                        </m:r>
                      </m:oMath>
                    </m:oMathPara>
                  </a14:m>
                  <a:endParaRPr kumimoji="1" lang="en-US" altLang="zh-CN"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82" name="文本框 81"/>
                <p:cNvSpPr txBox="1">
                  <a:spLocks noRot="1" noChangeAspect="1" noMove="1" noResize="1" noEditPoints="1" noAdjustHandles="1" noChangeArrowheads="1" noChangeShapeType="1" noTextEdit="1"/>
                </p:cNvSpPr>
                <p:nvPr/>
              </p:nvSpPr>
              <p:spPr>
                <a:xfrm>
                  <a:off x="5799" y="8453"/>
                  <a:ext cx="124" cy="582"/>
                </a:xfrm>
                <a:prstGeom prst="rect">
                  <a:avLst/>
                </a:prstGeom>
                <a:blipFill rotWithShape="1">
                  <a:blip r:embed="rId12"/>
                </a:blipFill>
              </p:spPr>
              <p:txBody>
                <a:bodyPr/>
                <a:lstStyle/>
                <a:p>
                  <a:r>
                    <a:rPr lang="zh-CN" altLang="en-US">
                      <a:noFill/>
                    </a:rPr>
                    <a:t> </a:t>
                  </a:r>
                </a:p>
              </p:txBody>
            </p:sp>
          </mc:Fallback>
        </mc:AlternateContent>
      </p:grpSp>
      <p:grpSp>
        <p:nvGrpSpPr>
          <p:cNvPr id="87" name="组合 86"/>
          <p:cNvGrpSpPr/>
          <p:nvPr/>
        </p:nvGrpSpPr>
        <p:grpSpPr>
          <a:xfrm>
            <a:off x="8262620" y="4565650"/>
            <a:ext cx="706755" cy="397510"/>
            <a:chOff x="12972" y="7190"/>
            <a:chExt cx="1113" cy="626"/>
          </a:xfrm>
        </p:grpSpPr>
        <mc:AlternateContent xmlns:mc="http://schemas.openxmlformats.org/markup-compatibility/2006">
          <mc:Choice xmlns:a14="http://schemas.microsoft.com/office/drawing/2010/main" Requires="a14">
            <p:sp>
              <p:nvSpPr>
                <p:cNvPr id="67" name="文本框 66"/>
                <p:cNvSpPr txBox="1"/>
                <p:nvPr/>
              </p:nvSpPr>
              <p:spPr>
                <a:xfrm>
                  <a:off x="12972" y="7213"/>
                  <a:ext cx="1113" cy="582"/>
                </a:xfrm>
                <a:prstGeom prst="rect">
                  <a:avLst/>
                </a:prstGeom>
                <a:noFill/>
              </p:spPr>
              <p:txBody>
                <a:bodyPr wrap="none" rtlCol="0">
                  <a:spAutoFit/>
                </a:bodyPr>
                <a:lstStyle/>
                <a:p>
                  <a:pPr algn="l"/>
                  <a14:m>
                    <m:oMathPara xmlns:m="http://schemas.openxmlformats.org/officeDocument/2006/math">
                      <m:oMathParaPr>
                        <m:jc m:val="centerGroup"/>
                      </m:oMathParaPr>
                      <m:oMath xmlns:m="http://schemas.openxmlformats.org/officeDocument/2006/math">
                        <m:r>
                          <a:rPr kumimoji="1" lang="en-US" altLang="zh-CN"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𝐴</m:t>
                        </m:r>
                        <m:r>
                          <a:rPr kumimoji="1" lang="en-US" altLang="zh-CN"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r>
                          <a:rPr kumimoji="1" lang="en-US" altLang="zh-CN"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𝑥</m:t>
                        </m:r>
                        <m:r>
                          <a:rPr kumimoji="1" lang="en-US" altLang="zh-CN"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oMath>
                    </m:oMathPara>
                  </a14:m>
                  <a:endParaRPr kumimoji="1" lang="en-US" altLang="zh-CN"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67" name="文本框 66"/>
                <p:cNvSpPr txBox="1">
                  <a:spLocks noRot="1" noChangeAspect="1" noMove="1" noResize="1" noEditPoints="1" noAdjustHandles="1" noChangeArrowheads="1" noChangeShapeType="1" noTextEdit="1"/>
                </p:cNvSpPr>
                <p:nvPr/>
              </p:nvSpPr>
              <p:spPr>
                <a:xfrm>
                  <a:off x="12972" y="7213"/>
                  <a:ext cx="1113" cy="582"/>
                </a:xfrm>
                <a:prstGeom prst="rect">
                  <a:avLst/>
                </a:prstGeom>
                <a:blipFill rotWithShape="1">
                  <a:blip r:embed="rId1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6" name="文本框 85"/>
                <p:cNvSpPr txBox="1"/>
                <p:nvPr/>
              </p:nvSpPr>
              <p:spPr>
                <a:xfrm>
                  <a:off x="13432" y="7190"/>
                  <a:ext cx="120" cy="626"/>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kumimoji="1" lang="en-US" altLang="zh-CN"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 </m:t>
                        </m:r>
                      </m:oMath>
                    </m:oMathPara>
                  </a14:m>
                  <a:endParaRPr lang="zh-CN" altLang="en-US"/>
                </a:p>
              </p:txBody>
            </p:sp>
          </mc:Choice>
          <mc:Fallback>
            <p:sp>
              <p:nvSpPr>
                <p:cNvPr id="86" name="文本框 85"/>
                <p:cNvSpPr txBox="1">
                  <a:spLocks noRot="1" noChangeAspect="1" noMove="1" noResize="1" noEditPoints="1" noAdjustHandles="1" noChangeArrowheads="1" noChangeShapeType="1" noTextEdit="1"/>
                </p:cNvSpPr>
                <p:nvPr/>
              </p:nvSpPr>
              <p:spPr>
                <a:xfrm>
                  <a:off x="13432" y="7190"/>
                  <a:ext cx="120" cy="626"/>
                </a:xfrm>
                <a:prstGeom prst="rect">
                  <a:avLst/>
                </a:prstGeom>
                <a:blipFill rotWithShape="1">
                  <a:blip r:embed="rId18"/>
                </a:blipFill>
              </p:spPr>
              <p:txBody>
                <a:bodyPr/>
                <a:lstStyle/>
                <a:p>
                  <a:r>
                    <a:rPr lang="zh-CN" alt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8145"/>
                                        </p:tgtEl>
                                        <p:attrNameLst>
                                          <p:attrName>style.visibility</p:attrName>
                                        </p:attrNameLst>
                                      </p:cBhvr>
                                      <p:to>
                                        <p:strVal val="visible"/>
                                      </p:to>
                                    </p:set>
                                    <p:animEffect transition="in" filter="wipe(left)">
                                      <p:cBhvr>
                                        <p:cTn id="12" dur="500"/>
                                        <p:tgtEl>
                                          <p:spTgt spid="4814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3"/>
                                        </p:tgtEl>
                                        <p:attrNameLst>
                                          <p:attrName>style.visibility</p:attrName>
                                        </p:attrNameLst>
                                      </p:cBhvr>
                                      <p:to>
                                        <p:strVal val="visible"/>
                                      </p:to>
                                    </p:set>
                                    <p:animEffect transition="in" filter="wipe(left)">
                                      <p:cBhvr>
                                        <p:cTn id="22" dur="500"/>
                                        <p:tgtEl>
                                          <p:spTgt spid="6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2"/>
                                        </p:tgtEl>
                                        <p:attrNameLst>
                                          <p:attrName>style.visibility</p:attrName>
                                        </p:attrNameLst>
                                      </p:cBhvr>
                                      <p:to>
                                        <p:strVal val="visible"/>
                                      </p:to>
                                    </p:set>
                                    <p:animEffect transition="in" filter="wipe(left)">
                                      <p:cBhvr>
                                        <p:cTn id="27" dur="500"/>
                                        <p:tgtEl>
                                          <p:spTgt spid="62"/>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87"/>
                                        </p:tgtEl>
                                        <p:attrNameLst>
                                          <p:attrName>style.visibility</p:attrName>
                                        </p:attrNameLst>
                                      </p:cBhvr>
                                      <p:to>
                                        <p:strVal val="visible"/>
                                      </p:to>
                                    </p:set>
                                    <p:animEffect transition="in" filter="wipe(left)">
                                      <p:cBhvr>
                                        <p:cTn id="31" dur="500"/>
                                        <p:tgtEl>
                                          <p:spTgt spid="8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75"/>
                                        </p:tgtEl>
                                        <p:attrNameLst>
                                          <p:attrName>style.visibility</p:attrName>
                                        </p:attrNameLst>
                                      </p:cBhvr>
                                      <p:to>
                                        <p:strVal val="visible"/>
                                      </p:to>
                                    </p:set>
                                    <p:animEffect transition="in" filter="wipe(left)">
                                      <p:cBhvr>
                                        <p:cTn id="36" dur="500"/>
                                        <p:tgtEl>
                                          <p:spTgt spid="7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84"/>
                                        </p:tgtEl>
                                        <p:attrNameLst>
                                          <p:attrName>style.visibility</p:attrName>
                                        </p:attrNameLst>
                                      </p:cBhvr>
                                      <p:to>
                                        <p:strVal val="visible"/>
                                      </p:to>
                                    </p:set>
                                    <p:animEffect transition="in" filter="wipe(left)">
                                      <p:cBhvr>
                                        <p:cTn id="41" dur="500"/>
                                        <p:tgtEl>
                                          <p:spTgt spid="84"/>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77"/>
                                        </p:tgtEl>
                                        <p:attrNameLst>
                                          <p:attrName>style.visibility</p:attrName>
                                        </p:attrNameLst>
                                      </p:cBhvr>
                                      <p:to>
                                        <p:strVal val="visible"/>
                                      </p:to>
                                    </p:set>
                                    <p:animEffect transition="in" filter="wipe(left)">
                                      <p:cBhvr>
                                        <p:cTn id="45" dur="500"/>
                                        <p:tgtEl>
                                          <p:spTgt spid="77"/>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79"/>
                                        </p:tgtEl>
                                        <p:attrNameLst>
                                          <p:attrName>style.visibility</p:attrName>
                                        </p:attrNameLst>
                                      </p:cBhvr>
                                      <p:to>
                                        <p:strVal val="visible"/>
                                      </p:to>
                                    </p:set>
                                    <p:animEffect transition="in" filter="wipe(left)">
                                      <p:cBhvr>
                                        <p:cTn id="50" dur="500"/>
                                        <p:tgtEl>
                                          <p:spTgt spid="79"/>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81"/>
                                        </p:tgtEl>
                                        <p:attrNameLst>
                                          <p:attrName>style.visibility</p:attrName>
                                        </p:attrNameLst>
                                      </p:cBhvr>
                                      <p:to>
                                        <p:strVal val="visible"/>
                                      </p:to>
                                    </p:set>
                                    <p:animEffect transition="in" filter="wipe(left)">
                                      <p:cBhvr>
                                        <p:cTn id="55" dur="500"/>
                                        <p:tgtEl>
                                          <p:spTgt spid="81"/>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83"/>
                                        </p:tgtEl>
                                        <p:attrNameLst>
                                          <p:attrName>style.visibility</p:attrName>
                                        </p:attrNameLst>
                                      </p:cBhvr>
                                      <p:to>
                                        <p:strVal val="visible"/>
                                      </p:to>
                                    </p:set>
                                    <p:animEffect transition="in" filter="wipe(left)">
                                      <p:cBhvr>
                                        <p:cTn id="60"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48145"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697230" y="535940"/>
            <a:ext cx="10817860" cy="5803265"/>
            <a:chOff x="1098" y="844"/>
            <a:chExt cx="17036" cy="9139"/>
          </a:xfrm>
        </p:grpSpPr>
        <p:sp>
          <p:nvSpPr>
            <p:cNvPr id="47" name="矩形 46"/>
            <p:cNvSpPr/>
            <p:nvPr/>
          </p:nvSpPr>
          <p:spPr>
            <a:xfrm>
              <a:off x="1098" y="845"/>
              <a:ext cx="17035" cy="9134"/>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半闭框 47"/>
            <p:cNvSpPr/>
            <p:nvPr/>
          </p:nvSpPr>
          <p:spPr>
            <a:xfrm>
              <a:off x="1106" y="845"/>
              <a:ext cx="1073" cy="116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9" name="半闭框 48"/>
            <p:cNvSpPr/>
            <p:nvPr/>
          </p:nvSpPr>
          <p:spPr>
            <a:xfrm flipH="1">
              <a:off x="17057" y="844"/>
              <a:ext cx="1073" cy="116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40" name="半闭框 39"/>
            <p:cNvSpPr/>
            <p:nvPr/>
          </p:nvSpPr>
          <p:spPr>
            <a:xfrm flipV="1">
              <a:off x="1106" y="8922"/>
              <a:ext cx="1073" cy="1061"/>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1" name="半闭框 40"/>
            <p:cNvSpPr/>
            <p:nvPr/>
          </p:nvSpPr>
          <p:spPr>
            <a:xfrm flipH="1" flipV="1">
              <a:off x="17061" y="8886"/>
              <a:ext cx="1073" cy="1092"/>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9" name="组合 8"/>
          <p:cNvGrpSpPr/>
          <p:nvPr/>
        </p:nvGrpSpPr>
        <p:grpSpPr>
          <a:xfrm>
            <a:off x="1541689" y="894624"/>
            <a:ext cx="1405890" cy="609600"/>
            <a:chOff x="2405" y="1356"/>
            <a:chExt cx="2214" cy="960"/>
          </a:xfrm>
        </p:grpSpPr>
        <p:sp>
          <p:nvSpPr>
            <p:cNvPr id="116742" name="Rectangle 6"/>
            <p:cNvSpPr>
              <a:spLocks noGrp="1" noChangeArrowheads="1"/>
            </p:cNvSpPr>
            <p:nvPr/>
          </p:nvSpPr>
          <p:spPr>
            <a:xfrm>
              <a:off x="2405" y="1356"/>
              <a:ext cx="2215" cy="9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gn="l"/>
              <a:r>
                <a:rPr kumimoji="1" lang="zh-CN" altLang="en-US" b="1" dirty="0">
                  <a:solidFill>
                    <a:srgbClr val="04926A"/>
                  </a:solidFill>
                  <a:latin typeface="微软雅黑" panose="020B0503020204020204" charset="-122"/>
                  <a:ea typeface="微软雅黑" panose="020B0503020204020204" charset="-122"/>
                  <a:cs typeface="+mn-cs"/>
                </a:rPr>
                <a:t>例</a:t>
              </a:r>
              <a:r>
                <a:rPr kumimoji="1" lang="en-US" altLang="zh-CN" b="1" dirty="0">
                  <a:solidFill>
                    <a:srgbClr val="04926A"/>
                  </a:solidFill>
                  <a:latin typeface="微软雅黑" panose="020B0503020204020204" charset="-122"/>
                  <a:ea typeface="微软雅黑" panose="020B0503020204020204" charset="-122"/>
                  <a:cs typeface="+mn-cs"/>
                </a:rPr>
                <a:t>11</a:t>
              </a:r>
              <a:endParaRPr kumimoji="1" lang="zh-CN" altLang="en-US" dirty="0">
                <a:solidFill>
                  <a:srgbClr val="04926A"/>
                </a:solidFill>
                <a:latin typeface="微软雅黑" panose="020B0503020204020204" charset="-122"/>
                <a:ea typeface="微软雅黑" panose="020B0503020204020204" charset="-122"/>
                <a:cs typeface="+mn-cs"/>
              </a:endParaRPr>
            </a:p>
          </p:txBody>
        </p:sp>
        <p:sp>
          <p:nvSpPr>
            <p:cNvPr id="4" name="Rectangle 6"/>
            <p:cNvSpPr>
              <a:spLocks noGrp="1" noChangeArrowheads="1"/>
            </p:cNvSpPr>
            <p:nvPr/>
          </p:nvSpPr>
          <p:spPr>
            <a:xfrm>
              <a:off x="3453" y="1580"/>
              <a:ext cx="120" cy="512"/>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gn="l"/>
              <a:r>
                <a:rPr kumimoji="1" lang="en-US" altLang="zh-CN" b="1" dirty="0">
                  <a:solidFill>
                    <a:srgbClr val="04926A"/>
                  </a:solidFill>
                  <a:latin typeface="微软雅黑" panose="020B0503020204020204" charset="-122"/>
                  <a:ea typeface="微软雅黑" panose="020B0503020204020204" charset="-122"/>
                  <a:cs typeface="+mn-cs"/>
                </a:rPr>
                <a:t> </a:t>
              </a:r>
              <a:endParaRPr kumimoji="1" lang="en-US" altLang="zh-CN" b="1" dirty="0">
                <a:solidFill>
                  <a:srgbClr val="04926A"/>
                </a:solidFill>
                <a:latin typeface="微软雅黑" panose="020B0503020204020204" charset="-122"/>
                <a:ea typeface="微软雅黑" panose="020B0503020204020204" charset="-122"/>
                <a:cs typeface="+mn-cs"/>
              </a:endParaRPr>
            </a:p>
          </p:txBody>
        </p:sp>
      </p:grpSp>
      <p:grpSp>
        <p:nvGrpSpPr>
          <p:cNvPr id="11" name="组合 10"/>
          <p:cNvGrpSpPr/>
          <p:nvPr/>
        </p:nvGrpSpPr>
        <p:grpSpPr>
          <a:xfrm>
            <a:off x="2689134" y="913039"/>
            <a:ext cx="8051800" cy="406400"/>
            <a:chOff x="4212" y="1385"/>
            <a:chExt cx="12680" cy="640"/>
          </a:xfrm>
        </p:grpSpPr>
        <mc:AlternateContent xmlns:mc="http://schemas.openxmlformats.org/markup-compatibility/2006">
          <mc:Choice xmlns:a14="http://schemas.microsoft.com/office/drawing/2010/main" Requires="a14">
            <p:sp>
              <p:nvSpPr>
                <p:cNvPr id="6" name="对象 1"/>
                <p:cNvSpPr txBox="1"/>
                <p:nvPr/>
              </p:nvSpPr>
              <p:spPr>
                <a:xfrm>
                  <a:off x="4212" y="1385"/>
                  <a:ext cx="12680" cy="64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m:rPr>
                            <m:nor/>
                          </m:rP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一平面经过半径为</m:t>
                        </m:r>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𝑅</m:t>
                        </m:r>
                        <m:r>
                          <m:rPr>
                            <m:nor/>
                          </m:rP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的圆柱体的底圆中心</m:t>
                        </m:r>
                        <m: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r>
                          <m:rPr>
                            <m:nor/>
                          </m:rP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并与底面</m:t>
                        </m:r>
                      </m:oMath>
                    </m:oMathPara>
                  </a14:m>
                  <a:endPar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6" name="对象 1"/>
                <p:cNvSpPr txBox="1">
                  <a:spLocks noRot="1" noChangeAspect="1" noMove="1" noResize="1" noEditPoints="1" noAdjustHandles="1" noChangeArrowheads="1" noChangeShapeType="1" noTextEdit="1"/>
                </p:cNvSpPr>
                <p:nvPr/>
              </p:nvSpPr>
              <p:spPr>
                <a:xfrm>
                  <a:off x="4212" y="1385"/>
                  <a:ext cx="12680" cy="640"/>
                </a:xfrm>
                <a:prstGeom prst="rect">
                  <a:avLst/>
                </a:prstGeom>
                <a:blipFill rotWithShape="1">
                  <a:blip r:embed="rId1"/>
                </a:blipFill>
              </p:spPr>
              <p:txBody>
                <a:bodyPr/>
                <a:lstStyle/>
                <a:p>
                  <a:r>
                    <a:rPr lang="zh-CN" altLang="en-US">
                      <a:noFill/>
                    </a:rPr>
                    <a:t> </a:t>
                  </a:r>
                </a:p>
              </p:txBody>
            </p:sp>
          </mc:Fallback>
        </mc:AlternateContent>
        <p:sp>
          <p:nvSpPr>
            <p:cNvPr id="10" name="Rectangle 6"/>
            <p:cNvSpPr>
              <a:spLocks noGrp="1" noChangeArrowheads="1"/>
            </p:cNvSpPr>
            <p:nvPr/>
          </p:nvSpPr>
          <p:spPr>
            <a:xfrm>
              <a:off x="10492" y="1449"/>
              <a:ext cx="120" cy="512"/>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gn="l"/>
              <a:r>
                <a:rPr kumimoji="1" lang="en-US" altLang="zh-CN" b="1" dirty="0">
                  <a:solidFill>
                    <a:srgbClr val="04926A"/>
                  </a:solidFill>
                  <a:latin typeface="微软雅黑" panose="020B0503020204020204" charset="-122"/>
                  <a:ea typeface="微软雅黑" panose="020B0503020204020204" charset="-122"/>
                  <a:cs typeface="+mn-cs"/>
                </a:rPr>
                <a:t> </a:t>
              </a:r>
              <a:endParaRPr kumimoji="1" lang="en-US" altLang="zh-CN" b="1" dirty="0">
                <a:solidFill>
                  <a:srgbClr val="04926A"/>
                </a:solidFill>
                <a:latin typeface="微软雅黑" panose="020B0503020204020204" charset="-122"/>
                <a:ea typeface="微软雅黑" panose="020B0503020204020204" charset="-122"/>
                <a:cs typeface="+mn-cs"/>
              </a:endParaRPr>
            </a:p>
          </p:txBody>
        </p:sp>
      </p:grpSp>
      <p:grpSp>
        <p:nvGrpSpPr>
          <p:cNvPr id="14" name="组合 13"/>
          <p:cNvGrpSpPr/>
          <p:nvPr/>
        </p:nvGrpSpPr>
        <p:grpSpPr>
          <a:xfrm>
            <a:off x="2689134" y="1485809"/>
            <a:ext cx="1605280" cy="444500"/>
            <a:chOff x="4212" y="2287"/>
            <a:chExt cx="2528" cy="700"/>
          </a:xfrm>
        </p:grpSpPr>
        <mc:AlternateContent xmlns:mc="http://schemas.openxmlformats.org/markup-compatibility/2006">
          <mc:Choice xmlns:a14="http://schemas.microsoft.com/office/drawing/2010/main" Requires="a14">
            <p:sp>
              <p:nvSpPr>
                <p:cNvPr id="7" name="对象 2"/>
                <p:cNvSpPr txBox="1"/>
                <p:nvPr/>
              </p:nvSpPr>
              <p:spPr>
                <a:xfrm>
                  <a:off x="4212" y="2287"/>
                  <a:ext cx="2529" cy="70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m:rPr>
                            <m:nor/>
                          </m:rP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交成</m:t>
                        </m:r>
                        <m:r>
                          <a:rPr kumimoji="1" lang="en-US" altLang="zh-CN"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𝛼</m:t>
                        </m:r>
                        <m:r>
                          <a:rPr kumimoji="1" lang="zh-CN" altLang="en-US" sz="28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角</m:t>
                        </m:r>
                        <m: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oMath>
                    </m:oMathPara>
                  </a14:m>
                  <a:endPar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7" name="对象 2"/>
                <p:cNvSpPr txBox="1">
                  <a:spLocks noRot="1" noChangeAspect="1" noMove="1" noResize="1" noEditPoints="1" noAdjustHandles="1" noChangeArrowheads="1" noChangeShapeType="1" noTextEdit="1"/>
                </p:cNvSpPr>
                <p:nvPr/>
              </p:nvSpPr>
              <p:spPr>
                <a:xfrm>
                  <a:off x="4212" y="2287"/>
                  <a:ext cx="2529" cy="700"/>
                </a:xfrm>
                <a:prstGeom prst="rect">
                  <a:avLst/>
                </a:prstGeom>
                <a:blipFill rotWithShape="1">
                  <a:blip r:embed="rId2"/>
                </a:blipFill>
              </p:spPr>
              <p:txBody>
                <a:bodyPr/>
                <a:lstStyle/>
                <a:p>
                  <a:r>
                    <a:rPr lang="zh-CN" altLang="en-US">
                      <a:noFill/>
                    </a:rPr>
                    <a:t> </a:t>
                  </a:r>
                </a:p>
              </p:txBody>
            </p:sp>
          </mc:Fallback>
        </mc:AlternateContent>
        <p:sp>
          <p:nvSpPr>
            <p:cNvPr id="12" name="Rectangle 6"/>
            <p:cNvSpPr>
              <a:spLocks noGrp="1" noChangeArrowheads="1"/>
            </p:cNvSpPr>
            <p:nvPr/>
          </p:nvSpPr>
          <p:spPr>
            <a:xfrm>
              <a:off x="5417" y="2381"/>
              <a:ext cx="120" cy="512"/>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gn="l"/>
              <a:r>
                <a:rPr kumimoji="1" lang="en-US" altLang="zh-CN" b="1" dirty="0">
                  <a:solidFill>
                    <a:srgbClr val="04926A"/>
                  </a:solidFill>
                  <a:latin typeface="微软雅黑" panose="020B0503020204020204" charset="-122"/>
                  <a:ea typeface="微软雅黑" panose="020B0503020204020204" charset="-122"/>
                  <a:cs typeface="+mn-cs"/>
                </a:rPr>
                <a:t> </a:t>
              </a:r>
              <a:endParaRPr kumimoji="1" lang="en-US" altLang="zh-CN" b="1" dirty="0">
                <a:solidFill>
                  <a:srgbClr val="04926A"/>
                </a:solidFill>
                <a:latin typeface="微软雅黑" panose="020B0503020204020204" charset="-122"/>
                <a:ea typeface="微软雅黑" panose="020B0503020204020204" charset="-122"/>
                <a:cs typeface="+mn-cs"/>
              </a:endParaRPr>
            </a:p>
          </p:txBody>
        </p:sp>
      </p:grpSp>
      <p:grpSp>
        <p:nvGrpSpPr>
          <p:cNvPr id="16" name="组合 15"/>
          <p:cNvGrpSpPr/>
          <p:nvPr/>
        </p:nvGrpSpPr>
        <p:grpSpPr>
          <a:xfrm>
            <a:off x="4171859" y="1511844"/>
            <a:ext cx="6019800" cy="521970"/>
            <a:chOff x="6547" y="2328"/>
            <a:chExt cx="9480" cy="822"/>
          </a:xfrm>
        </p:grpSpPr>
        <p:sp>
          <p:nvSpPr>
            <p:cNvPr id="116761" name="Text Box 25"/>
            <p:cNvSpPr txBox="1">
              <a:spLocks noChangeArrowheads="1"/>
            </p:cNvSpPr>
            <p:nvPr/>
          </p:nvSpPr>
          <p:spPr bwMode="auto">
            <a:xfrm>
              <a:off x="6547" y="2328"/>
              <a:ext cx="9480" cy="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b="0" i="0" u="none" strike="noStrike" kern="1200" cap="none" spc="0" normalizeH="0" baseline="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cs typeface="+mn-cs"/>
                </a:rPr>
                <a:t>计算该平面截圆柱体所得立体的体积 .</a:t>
              </a:r>
              <a:endParaRPr kumimoji="1" lang="zh-CN" altLang="en-US" sz="2800" b="0" i="0" u="none" strike="noStrike" kern="1200" cap="none" spc="0" normalizeH="0" baseline="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cs typeface="+mn-cs"/>
              </a:endParaRPr>
            </a:p>
          </p:txBody>
        </p:sp>
        <p:sp>
          <p:nvSpPr>
            <p:cNvPr id="15" name="Rectangle 6"/>
            <p:cNvSpPr>
              <a:spLocks noGrp="1" noChangeArrowheads="1"/>
            </p:cNvSpPr>
            <p:nvPr/>
          </p:nvSpPr>
          <p:spPr>
            <a:xfrm>
              <a:off x="11227" y="2483"/>
              <a:ext cx="120" cy="512"/>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gn="l"/>
              <a:r>
                <a:rPr kumimoji="1" lang="en-US" altLang="zh-CN" b="1" dirty="0">
                  <a:solidFill>
                    <a:srgbClr val="04926A"/>
                  </a:solidFill>
                  <a:latin typeface="微软雅黑" panose="020B0503020204020204" charset="-122"/>
                  <a:ea typeface="微软雅黑" panose="020B0503020204020204" charset="-122"/>
                  <a:cs typeface="+mn-cs"/>
                </a:rPr>
                <a:t> </a:t>
              </a:r>
              <a:endParaRPr kumimoji="1" lang="en-US" altLang="zh-CN" b="1" dirty="0">
                <a:solidFill>
                  <a:srgbClr val="04926A"/>
                </a:solidFill>
                <a:latin typeface="微软雅黑" panose="020B0503020204020204" charset="-122"/>
                <a:ea typeface="微软雅黑" panose="020B0503020204020204" charset="-122"/>
                <a:cs typeface="+mn-cs"/>
              </a:endParaRPr>
            </a:p>
          </p:txBody>
        </p:sp>
      </p:grpSp>
      <p:grpSp>
        <p:nvGrpSpPr>
          <p:cNvPr id="20" name="组合 19"/>
          <p:cNvGrpSpPr/>
          <p:nvPr/>
        </p:nvGrpSpPr>
        <p:grpSpPr>
          <a:xfrm>
            <a:off x="1541689" y="2359919"/>
            <a:ext cx="850900" cy="521970"/>
            <a:chOff x="2405" y="3647"/>
            <a:chExt cx="1340" cy="822"/>
          </a:xfrm>
        </p:grpSpPr>
        <p:sp>
          <p:nvSpPr>
            <p:cNvPr id="116750" name="Text Box 14"/>
            <p:cNvSpPr txBox="1">
              <a:spLocks noChangeArrowheads="1"/>
            </p:cNvSpPr>
            <p:nvPr/>
          </p:nvSpPr>
          <p:spPr bwMode="auto">
            <a:xfrm>
              <a:off x="2405" y="3647"/>
              <a:ext cx="1341" cy="8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b="1" i="0" u="none" strike="noStrike" kern="1200" cap="none" spc="0" normalizeH="0" baseline="0" dirty="0">
                  <a:solidFill>
                    <a:srgbClr val="04926A"/>
                  </a:solidFill>
                  <a:latin typeface="微软雅黑" panose="020B0503020204020204" charset="-122"/>
                  <a:ea typeface="微软雅黑" panose="020B0503020204020204" charset="-122"/>
                  <a:cs typeface="+mn-cs"/>
                </a:rPr>
                <a:t>解</a:t>
              </a:r>
              <a:endParaRPr kumimoji="1" lang="zh-CN" altLang="en-US" sz="2800" b="1" i="0" u="none" strike="noStrike" kern="1200" cap="none" spc="0" normalizeH="0" baseline="0" dirty="0">
                <a:solidFill>
                  <a:srgbClr val="04926A"/>
                </a:solidFill>
                <a:latin typeface="微软雅黑" panose="020B0503020204020204" charset="-122"/>
                <a:ea typeface="微软雅黑" panose="020B0503020204020204" charset="-122"/>
                <a:cs typeface="+mn-cs"/>
              </a:endParaRPr>
            </a:p>
          </p:txBody>
        </p:sp>
        <p:sp>
          <p:nvSpPr>
            <p:cNvPr id="17" name="Rectangle 6"/>
            <p:cNvSpPr>
              <a:spLocks noGrp="1" noChangeArrowheads="1"/>
            </p:cNvSpPr>
            <p:nvPr/>
          </p:nvSpPr>
          <p:spPr>
            <a:xfrm>
              <a:off x="3016" y="3802"/>
              <a:ext cx="120" cy="512"/>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gn="l"/>
              <a:r>
                <a:rPr kumimoji="1" lang="en-US" altLang="zh-CN" b="1" dirty="0">
                  <a:solidFill>
                    <a:srgbClr val="04926A"/>
                  </a:solidFill>
                  <a:latin typeface="微软雅黑" panose="020B0503020204020204" charset="-122"/>
                  <a:ea typeface="微软雅黑" panose="020B0503020204020204" charset="-122"/>
                  <a:cs typeface="+mn-cs"/>
                </a:rPr>
                <a:t> </a:t>
              </a:r>
              <a:endParaRPr kumimoji="1" lang="en-US" altLang="zh-CN" b="1" dirty="0">
                <a:solidFill>
                  <a:srgbClr val="04926A"/>
                </a:solidFill>
                <a:latin typeface="微软雅黑" panose="020B0503020204020204" charset="-122"/>
                <a:ea typeface="微软雅黑" panose="020B0503020204020204" charset="-122"/>
                <a:cs typeface="+mn-cs"/>
              </a:endParaRPr>
            </a:p>
          </p:txBody>
        </p:sp>
      </p:grpSp>
      <p:grpSp>
        <p:nvGrpSpPr>
          <p:cNvPr id="22" name="组合 21"/>
          <p:cNvGrpSpPr/>
          <p:nvPr/>
        </p:nvGrpSpPr>
        <p:grpSpPr>
          <a:xfrm>
            <a:off x="2689134" y="2405924"/>
            <a:ext cx="2222500" cy="419100"/>
            <a:chOff x="4212" y="3736"/>
            <a:chExt cx="3500" cy="660"/>
          </a:xfrm>
        </p:grpSpPr>
        <mc:AlternateContent xmlns:mc="http://schemas.openxmlformats.org/markup-compatibility/2006">
          <mc:Choice xmlns:a14="http://schemas.microsoft.com/office/drawing/2010/main" Requires="a14">
            <p:sp>
              <p:nvSpPr>
                <p:cNvPr id="8" name="对象 3"/>
                <p:cNvSpPr txBox="1"/>
                <p:nvPr/>
              </p:nvSpPr>
              <p:spPr>
                <a:xfrm>
                  <a:off x="4212" y="3736"/>
                  <a:ext cx="3500" cy="66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m:rPr>
                            <m:nor/>
                          </m:rPr>
                          <a:rPr kumimoji="1" lang="zh-CN" altLang="en-US" sz="22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取坐标系如图</m:t>
                        </m:r>
                        <m:r>
                          <a:rPr kumimoji="1" lang="zh-CN" altLang="en-US"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oMath>
                    </m:oMathPara>
                  </a14:m>
                  <a:endParaRPr kumimoji="1" lang="zh-CN" altLang="en-US"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8" name="对象 3"/>
                <p:cNvSpPr txBox="1">
                  <a:spLocks noRot="1" noChangeAspect="1" noMove="1" noResize="1" noEditPoints="1" noAdjustHandles="1" noChangeArrowheads="1" noChangeShapeType="1" noTextEdit="1"/>
                </p:cNvSpPr>
                <p:nvPr/>
              </p:nvSpPr>
              <p:spPr>
                <a:xfrm>
                  <a:off x="4212" y="3736"/>
                  <a:ext cx="3500" cy="660"/>
                </a:xfrm>
                <a:prstGeom prst="rect">
                  <a:avLst/>
                </a:prstGeom>
                <a:blipFill rotWithShape="1">
                  <a:blip r:embed="rId3"/>
                </a:blipFill>
              </p:spPr>
              <p:txBody>
                <a:bodyPr/>
                <a:lstStyle/>
                <a:p>
                  <a:r>
                    <a:rPr lang="zh-CN" altLang="en-US">
                      <a:noFill/>
                    </a:rPr>
                    <a:t> </a:t>
                  </a:r>
                </a:p>
              </p:txBody>
            </p:sp>
          </mc:Fallback>
        </mc:AlternateContent>
        <p:sp>
          <p:nvSpPr>
            <p:cNvPr id="21" name="Rectangle 6"/>
            <p:cNvSpPr>
              <a:spLocks noGrp="1" noChangeArrowheads="1"/>
            </p:cNvSpPr>
            <p:nvPr/>
          </p:nvSpPr>
          <p:spPr>
            <a:xfrm>
              <a:off x="5902" y="3810"/>
              <a:ext cx="120" cy="512"/>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gn="l"/>
              <a:r>
                <a:rPr kumimoji="1" lang="en-US" altLang="zh-CN" b="1" dirty="0">
                  <a:solidFill>
                    <a:srgbClr val="04926A"/>
                  </a:solidFill>
                  <a:latin typeface="微软雅黑" panose="020B0503020204020204" charset="-122"/>
                  <a:ea typeface="微软雅黑" panose="020B0503020204020204" charset="-122"/>
                  <a:cs typeface="+mn-cs"/>
                </a:rPr>
                <a:t> </a:t>
              </a:r>
              <a:endParaRPr kumimoji="1" lang="en-US" altLang="zh-CN" b="1" dirty="0">
                <a:solidFill>
                  <a:srgbClr val="04926A"/>
                </a:solidFill>
                <a:latin typeface="微软雅黑" panose="020B0503020204020204" charset="-122"/>
                <a:ea typeface="微软雅黑" panose="020B0503020204020204" charset="-122"/>
                <a:cs typeface="+mn-cs"/>
              </a:endParaRPr>
            </a:p>
          </p:txBody>
        </p:sp>
      </p:grpSp>
      <p:grpSp>
        <p:nvGrpSpPr>
          <p:cNvPr id="24" name="组合 23"/>
          <p:cNvGrpSpPr/>
          <p:nvPr/>
        </p:nvGrpSpPr>
        <p:grpSpPr>
          <a:xfrm>
            <a:off x="4514759" y="2409734"/>
            <a:ext cx="1962150" cy="429260"/>
            <a:chOff x="7087" y="3742"/>
            <a:chExt cx="3090" cy="676"/>
          </a:xfrm>
        </p:grpSpPr>
        <p:sp>
          <p:nvSpPr>
            <p:cNvPr id="116751" name="Text Box 15"/>
            <p:cNvSpPr txBox="1">
              <a:spLocks noChangeArrowheads="1"/>
            </p:cNvSpPr>
            <p:nvPr/>
          </p:nvSpPr>
          <p:spPr bwMode="auto">
            <a:xfrm>
              <a:off x="7087" y="3742"/>
              <a:ext cx="3091" cy="6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200" b="0" i="0" u="none" strike="noStrike" kern="1200" cap="none" spc="0" normalizeH="0" baseline="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cs typeface="+mn-cs"/>
                </a:rPr>
                <a:t>则圆的方程为</a:t>
              </a:r>
              <a:endParaRPr kumimoji="1" lang="zh-CN" altLang="en-US" sz="2200" b="0" i="0" u="none" strike="noStrike" kern="1200" cap="none" spc="0" normalizeH="0" baseline="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cs typeface="+mn-cs"/>
              </a:endParaRPr>
            </a:p>
          </p:txBody>
        </p:sp>
        <p:sp>
          <p:nvSpPr>
            <p:cNvPr id="23" name="Rectangle 6"/>
            <p:cNvSpPr>
              <a:spLocks noGrp="1" noChangeArrowheads="1"/>
            </p:cNvSpPr>
            <p:nvPr/>
          </p:nvSpPr>
          <p:spPr>
            <a:xfrm>
              <a:off x="8573" y="3825"/>
              <a:ext cx="120" cy="512"/>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gn="l"/>
              <a:r>
                <a:rPr kumimoji="1" lang="en-US" altLang="zh-CN" b="1" dirty="0">
                  <a:solidFill>
                    <a:srgbClr val="04926A"/>
                  </a:solidFill>
                  <a:latin typeface="微软雅黑" panose="020B0503020204020204" charset="-122"/>
                  <a:ea typeface="微软雅黑" panose="020B0503020204020204" charset="-122"/>
                  <a:cs typeface="+mn-cs"/>
                </a:rPr>
                <a:t> </a:t>
              </a:r>
              <a:endParaRPr kumimoji="1" lang="en-US" altLang="zh-CN" b="1" dirty="0">
                <a:solidFill>
                  <a:srgbClr val="04926A"/>
                </a:solidFill>
                <a:latin typeface="微软雅黑" panose="020B0503020204020204" charset="-122"/>
                <a:ea typeface="微软雅黑" panose="020B0503020204020204" charset="-122"/>
                <a:cs typeface="+mn-cs"/>
              </a:endParaRPr>
            </a:p>
          </p:txBody>
        </p:sp>
      </p:grpSp>
      <p:grpSp>
        <p:nvGrpSpPr>
          <p:cNvPr id="28" name="组合 27"/>
          <p:cNvGrpSpPr/>
          <p:nvPr/>
        </p:nvGrpSpPr>
        <p:grpSpPr>
          <a:xfrm>
            <a:off x="2689134" y="2916464"/>
            <a:ext cx="4357370" cy="429260"/>
            <a:chOff x="4212" y="4540"/>
            <a:chExt cx="6862" cy="676"/>
          </a:xfrm>
        </p:grpSpPr>
        <mc:AlternateContent xmlns:mc="http://schemas.openxmlformats.org/markup-compatibility/2006">
          <mc:Choice xmlns:a14="http://schemas.microsoft.com/office/drawing/2010/main" Requires="a14">
            <p:sp>
              <p:nvSpPr>
                <p:cNvPr id="116752" name="Text Box 16"/>
                <p:cNvSpPr txBox="1">
                  <a:spLocks noChangeArrowheads="1"/>
                </p:cNvSpPr>
                <p:nvPr/>
              </p:nvSpPr>
              <p:spPr bwMode="auto">
                <a:xfrm>
                  <a:off x="4212" y="4540"/>
                  <a:ext cx="6862" cy="6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200" b="0" i="0" u="none" strike="noStrike" kern="1200" cap="none" spc="0" normalizeH="0" baseline="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cs typeface="+mn-cs"/>
                    </a:rPr>
                    <a:t>垂直于</a:t>
                  </a:r>
                  <a14:m>
                    <m:oMath xmlns:m="http://schemas.openxmlformats.org/officeDocument/2006/math">
                      <m:r>
                        <a:rPr kumimoji="1" lang="en-US" altLang="zh-CN" sz="2200" noProof="0" dirty="0" smtClean="0">
                          <a:ln>
                            <a:noFill/>
                          </a:ln>
                          <a:solidFill>
                            <a:schemeClr val="tx1">
                              <a:lumMod val="95000"/>
                              <a:lumOff val="5000"/>
                            </a:schemeClr>
                          </a:solidFill>
                          <a:effectLst/>
                          <a:uLnTx/>
                          <a:uFillTx/>
                          <a:latin typeface="Cambria Math" panose="02040503050406030204" charset="0"/>
                          <a:ea typeface="黑体" panose="02010609060101010101" pitchFamily="49" charset="-122"/>
                        </a:rPr>
                        <m:t>𝑥</m:t>
                      </m:r>
                    </m:oMath>
                  </a14:m>
                  <a:r>
                    <a:rPr kumimoji="1" lang="zh-CN" altLang="en-US" sz="2200" b="0" i="0" u="none" strike="noStrike" kern="1200" cap="none" spc="0" normalizeH="0" baseline="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cs typeface="+mn-cs"/>
                    </a:rPr>
                    <a:t>轴的截面是直角三角形,</a:t>
                  </a:r>
                  <a:endParaRPr kumimoji="1" lang="zh-CN" altLang="en-US" sz="2200" b="0" i="0" u="none" strike="noStrike" kern="1200" cap="none" spc="0" normalizeH="0" baseline="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cs typeface="+mn-cs"/>
                  </a:endParaRPr>
                </a:p>
              </p:txBody>
            </p:sp>
          </mc:Choice>
          <mc:Fallback>
            <p:sp>
              <p:nvSpPr>
                <p:cNvPr id="116752" name="Text Box 16"/>
                <p:cNvSpPr txBox="1">
                  <a:spLocks noRot="1" noChangeAspect="1" noMove="1" noResize="1" noEditPoints="1" noAdjustHandles="1" noChangeArrowheads="1" noChangeShapeType="1" noTextEdit="1"/>
                </p:cNvSpPr>
                <p:nvPr/>
              </p:nvSpPr>
              <p:spPr bwMode="auto">
                <a:xfrm>
                  <a:off x="4212" y="4540"/>
                  <a:ext cx="6862" cy="677"/>
                </a:xfrm>
                <a:prstGeom prst="rect">
                  <a:avLst/>
                </a:prstGeom>
                <a:blipFill rotWithShape="1">
                  <a:blip r:embed="rId4"/>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p:sp>
          <p:nvSpPr>
            <p:cNvPr id="27" name="Rectangle 6"/>
            <p:cNvSpPr>
              <a:spLocks noGrp="1" noChangeArrowheads="1"/>
            </p:cNvSpPr>
            <p:nvPr/>
          </p:nvSpPr>
          <p:spPr>
            <a:xfrm>
              <a:off x="7583" y="4622"/>
              <a:ext cx="120" cy="512"/>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gn="l"/>
              <a:r>
                <a:rPr kumimoji="1" lang="en-US" altLang="zh-CN" b="1" dirty="0">
                  <a:solidFill>
                    <a:srgbClr val="04926A"/>
                  </a:solidFill>
                  <a:latin typeface="微软雅黑" panose="020B0503020204020204" charset="-122"/>
                  <a:ea typeface="微软雅黑" panose="020B0503020204020204" charset="-122"/>
                  <a:cs typeface="+mn-cs"/>
                </a:rPr>
                <a:t> </a:t>
              </a:r>
              <a:endParaRPr kumimoji="1" lang="en-US" altLang="zh-CN" b="1" dirty="0">
                <a:solidFill>
                  <a:srgbClr val="04926A"/>
                </a:solidFill>
                <a:latin typeface="微软雅黑" panose="020B0503020204020204" charset="-122"/>
                <a:ea typeface="微软雅黑" panose="020B0503020204020204" charset="-122"/>
                <a:cs typeface="+mn-cs"/>
              </a:endParaRPr>
            </a:p>
          </p:txBody>
        </p:sp>
      </p:grpSp>
      <p:grpSp>
        <p:nvGrpSpPr>
          <p:cNvPr id="30" name="组合 29"/>
          <p:cNvGrpSpPr/>
          <p:nvPr/>
        </p:nvGrpSpPr>
        <p:grpSpPr>
          <a:xfrm>
            <a:off x="2689134" y="3431767"/>
            <a:ext cx="1752600" cy="429260"/>
            <a:chOff x="4212" y="5301"/>
            <a:chExt cx="2760" cy="676"/>
          </a:xfrm>
        </p:grpSpPr>
        <p:sp>
          <p:nvSpPr>
            <p:cNvPr id="116753" name="Text Box 17"/>
            <p:cNvSpPr txBox="1">
              <a:spLocks noChangeArrowheads="1"/>
            </p:cNvSpPr>
            <p:nvPr/>
          </p:nvSpPr>
          <p:spPr bwMode="auto">
            <a:xfrm>
              <a:off x="4212" y="5301"/>
              <a:ext cx="2760" cy="6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200" b="0" i="0" u="none" strike="noStrike" kern="1200" cap="none" spc="0" normalizeH="0" baseline="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cs typeface="+mn-cs"/>
                </a:rPr>
                <a:t>其面积为</a:t>
              </a:r>
              <a:endParaRPr kumimoji="1" lang="zh-CN" altLang="en-US" sz="2200" b="0" i="0" u="none" strike="noStrike" kern="1200" cap="none" spc="0" normalizeH="0" baseline="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cs typeface="+mn-cs"/>
              </a:endParaRPr>
            </a:p>
          </p:txBody>
        </p:sp>
        <p:sp>
          <p:nvSpPr>
            <p:cNvPr id="29" name="Rectangle 6"/>
            <p:cNvSpPr>
              <a:spLocks noGrp="1" noChangeArrowheads="1"/>
            </p:cNvSpPr>
            <p:nvPr/>
          </p:nvSpPr>
          <p:spPr>
            <a:xfrm>
              <a:off x="5532" y="5383"/>
              <a:ext cx="120" cy="512"/>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gn="l"/>
              <a:r>
                <a:rPr kumimoji="1" lang="en-US" altLang="zh-CN" b="1" dirty="0">
                  <a:solidFill>
                    <a:srgbClr val="04926A"/>
                  </a:solidFill>
                  <a:latin typeface="微软雅黑" panose="020B0503020204020204" charset="-122"/>
                  <a:ea typeface="微软雅黑" panose="020B0503020204020204" charset="-122"/>
                  <a:cs typeface="+mn-cs"/>
                </a:rPr>
                <a:t> </a:t>
              </a:r>
              <a:endParaRPr kumimoji="1" lang="en-US" altLang="zh-CN" b="1" dirty="0">
                <a:solidFill>
                  <a:srgbClr val="04926A"/>
                </a:solidFill>
                <a:latin typeface="微软雅黑" panose="020B0503020204020204" charset="-122"/>
                <a:ea typeface="微软雅黑" panose="020B0503020204020204" charset="-122"/>
                <a:cs typeface="+mn-cs"/>
              </a:endParaRPr>
            </a:p>
          </p:txBody>
        </p:sp>
      </p:grpSp>
      <p:grpSp>
        <p:nvGrpSpPr>
          <p:cNvPr id="32" name="组合 31"/>
          <p:cNvGrpSpPr/>
          <p:nvPr/>
        </p:nvGrpSpPr>
        <p:grpSpPr>
          <a:xfrm>
            <a:off x="2689134" y="3881664"/>
            <a:ext cx="3556000" cy="721360"/>
            <a:chOff x="4212" y="6092"/>
            <a:chExt cx="5600" cy="1136"/>
          </a:xfrm>
        </p:grpSpPr>
        <mc:AlternateContent xmlns:mc="http://schemas.openxmlformats.org/markup-compatibility/2006">
          <mc:Choice xmlns:a14="http://schemas.microsoft.com/office/drawing/2010/main" Requires="a14">
            <p:sp>
              <p:nvSpPr>
                <p:cNvPr id="116754" name="Object 18"/>
                <p:cNvSpPr txBox="1"/>
                <p:nvPr/>
              </p:nvSpPr>
              <p:spPr bwMode="auto">
                <a:xfrm>
                  <a:off x="4212" y="6092"/>
                  <a:ext cx="5600" cy="1136"/>
                </a:xfrm>
                <a:prstGeom prst="rect">
                  <a:avLst/>
                </a:prstGeom>
                <a:noFill/>
                <a:ln>
                  <a:noFill/>
                </a:ln>
                <a:effectLst/>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𝐴</m:t>
                        </m:r>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𝑥</m:t>
                        </m:r>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f>
                          <m:fPr>
                            <m:ctrlPr>
                              <a:rPr kumimoji="1" lang="en-US" altLang="zh-CN" sz="2200" i="1"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ctrlPr>
                          </m:fPr>
                          <m:num>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1</m:t>
                            </m:r>
                          </m:num>
                          <m:den>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2</m:t>
                            </m:r>
                          </m:den>
                        </m:f>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sSup>
                          <m:sSupPr>
                            <m:ctrlPr>
                              <a:rPr kumimoji="1" lang="en-US" altLang="zh-CN" sz="2200" i="1"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ctrlPr>
                          </m:sSupPr>
                          <m:e>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𝑅</m:t>
                            </m:r>
                          </m:e>
                          <m:sup>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2</m:t>
                            </m:r>
                          </m:sup>
                        </m:sSup>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sSup>
                          <m:sSupPr>
                            <m:ctrlPr>
                              <a:rPr kumimoji="1" lang="en-US" altLang="zh-CN" sz="2200" i="1"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ctrlPr>
                          </m:sSupPr>
                          <m:e>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𝑥</m:t>
                            </m:r>
                          </m:e>
                          <m:sup>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2</m:t>
                            </m:r>
                          </m:sup>
                        </m:sSup>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func>
                          <m:funcPr>
                            <m:ctrlPr>
                              <a:rPr kumimoji="1" lang="en-US" altLang="zh-CN" sz="2200" i="1"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ctrlPr>
                          </m:funcPr>
                          <m:fName>
                            <m:r>
                              <m:rPr>
                                <m:sty m:val="p"/>
                              </m:rPr>
                              <a:rPr kumimoji="1" lang="en-US" altLang="zh-CN" sz="22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tan</m:t>
                            </m:r>
                          </m:fName>
                          <m:e>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𝛼</m:t>
                            </m:r>
                          </m:e>
                        </m:func>
                      </m:oMath>
                    </m:oMathPara>
                  </a14:m>
                  <a:endPar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116754" name="Object 18"/>
                <p:cNvSpPr txBox="1">
                  <a:spLocks noRot="1" noChangeAspect="1" noMove="1" noResize="1" noEditPoints="1" noAdjustHandles="1" noChangeArrowheads="1" noChangeShapeType="1" noTextEdit="1"/>
                </p:cNvSpPr>
                <p:nvPr/>
              </p:nvSpPr>
              <p:spPr bwMode="auto">
                <a:xfrm>
                  <a:off x="4212" y="6092"/>
                  <a:ext cx="5600" cy="1136"/>
                </a:xfrm>
                <a:prstGeom prst="rect">
                  <a:avLst/>
                </a:prstGeom>
                <a:blipFill rotWithShape="1">
                  <a:blip r:embed="rId5"/>
                </a:blipFill>
                <a:ln>
                  <a:noFill/>
                </a:ln>
                <a:effectLst/>
              </p:spPr>
              <p:txBody>
                <a:bodyPr/>
                <a:lstStyle/>
                <a:p>
                  <a:r>
                    <a:rPr lang="zh-CN" altLang="en-US">
                      <a:noFill/>
                    </a:rPr>
                    <a:t> </a:t>
                  </a:r>
                </a:p>
              </p:txBody>
            </p:sp>
          </mc:Fallback>
        </mc:AlternateContent>
        <p:sp>
          <p:nvSpPr>
            <p:cNvPr id="31" name="Rectangle 6"/>
            <p:cNvSpPr>
              <a:spLocks noGrp="1" noChangeArrowheads="1"/>
            </p:cNvSpPr>
            <p:nvPr/>
          </p:nvSpPr>
          <p:spPr>
            <a:xfrm>
              <a:off x="6952" y="6404"/>
              <a:ext cx="120" cy="512"/>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gn="l"/>
              <a:r>
                <a:rPr kumimoji="1" lang="en-US" altLang="zh-CN" b="1" dirty="0">
                  <a:solidFill>
                    <a:srgbClr val="04926A"/>
                  </a:solidFill>
                  <a:latin typeface="微软雅黑" panose="020B0503020204020204" charset="-122"/>
                  <a:ea typeface="微软雅黑" panose="020B0503020204020204" charset="-122"/>
                  <a:cs typeface="+mn-cs"/>
                </a:rPr>
                <a:t> </a:t>
              </a:r>
              <a:endParaRPr kumimoji="1" lang="en-US" altLang="zh-CN" b="1" dirty="0">
                <a:solidFill>
                  <a:srgbClr val="04926A"/>
                </a:solidFill>
                <a:latin typeface="微软雅黑" panose="020B0503020204020204" charset="-122"/>
                <a:ea typeface="微软雅黑" panose="020B0503020204020204" charset="-122"/>
                <a:cs typeface="+mn-cs"/>
              </a:endParaRPr>
            </a:p>
          </p:txBody>
        </p:sp>
      </p:grpSp>
      <p:grpSp>
        <p:nvGrpSpPr>
          <p:cNvPr id="34" name="组合 33"/>
          <p:cNvGrpSpPr/>
          <p:nvPr/>
        </p:nvGrpSpPr>
        <p:grpSpPr>
          <a:xfrm>
            <a:off x="5692684" y="4038224"/>
            <a:ext cx="1968500" cy="413385"/>
            <a:chOff x="8942" y="6322"/>
            <a:chExt cx="3100" cy="651"/>
          </a:xfrm>
        </p:grpSpPr>
        <mc:AlternateContent xmlns:mc="http://schemas.openxmlformats.org/markup-compatibility/2006">
          <mc:Choice xmlns:a14="http://schemas.microsoft.com/office/drawing/2010/main" Requires="a14">
            <p:sp>
              <p:nvSpPr>
                <p:cNvPr id="116755" name="Object 19"/>
                <p:cNvSpPr txBox="1"/>
                <p:nvPr/>
              </p:nvSpPr>
              <p:spPr bwMode="auto">
                <a:xfrm>
                  <a:off x="8942" y="6353"/>
                  <a:ext cx="3100" cy="620"/>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𝑅</m:t>
                        </m:r>
                        <m:r>
                          <m:rPr>
                            <m:nor/>
                          </m:rPr>
                          <a:rPr lang="en-US" altLang="zh-CN" sz="2200" dirty="0">
                            <a:latin typeface="宋体" panose="02010600030101010101" pitchFamily="2" charset="-122"/>
                          </a:rPr>
                          <m:t>≤</m:t>
                        </m:r>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𝑥</m:t>
                        </m:r>
                        <m:r>
                          <m:rPr>
                            <m:nor/>
                          </m:rPr>
                          <a:rPr lang="en-US" altLang="zh-CN" sz="2200" dirty="0">
                            <a:latin typeface="宋体" panose="02010600030101010101" pitchFamily="2" charset="-122"/>
                          </a:rPr>
                          <m:t>≤</m:t>
                        </m:r>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𝑅</m:t>
                        </m:r>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oMath>
                    </m:oMathPara>
                  </a14:m>
                  <a:endPar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116755" name="Object 19"/>
                <p:cNvSpPr txBox="1">
                  <a:spLocks noRot="1" noChangeAspect="1" noMove="1" noResize="1" noEditPoints="1" noAdjustHandles="1" noChangeArrowheads="1" noChangeShapeType="1" noTextEdit="1"/>
                </p:cNvSpPr>
                <p:nvPr/>
              </p:nvSpPr>
              <p:spPr bwMode="auto">
                <a:xfrm>
                  <a:off x="8942" y="6353"/>
                  <a:ext cx="3100" cy="620"/>
                </a:xfrm>
                <a:prstGeom prst="rect">
                  <a:avLst/>
                </a:prstGeom>
                <a:blipFill rotWithShape="1">
                  <a:blip r:embed="rId6"/>
                </a:blipFill>
                <a:ln>
                  <a:noFill/>
                </a:ln>
                <a:effectLst/>
              </p:spPr>
              <p:txBody>
                <a:bodyPr/>
                <a:lstStyle/>
                <a:p>
                  <a:r>
                    <a:rPr lang="zh-CN" altLang="en-US">
                      <a:noFill/>
                    </a:rPr>
                    <a:t> </a:t>
                  </a:r>
                </a:p>
              </p:txBody>
            </p:sp>
          </mc:Fallback>
        </mc:AlternateContent>
        <p:sp>
          <p:nvSpPr>
            <p:cNvPr id="33" name="Rectangle 6"/>
            <p:cNvSpPr>
              <a:spLocks noGrp="1" noChangeArrowheads="1"/>
            </p:cNvSpPr>
            <p:nvPr/>
          </p:nvSpPr>
          <p:spPr>
            <a:xfrm>
              <a:off x="9915" y="6322"/>
              <a:ext cx="120" cy="512"/>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gn="l"/>
              <a:r>
                <a:rPr kumimoji="1" lang="en-US" altLang="zh-CN" b="1" dirty="0">
                  <a:solidFill>
                    <a:srgbClr val="04926A"/>
                  </a:solidFill>
                  <a:latin typeface="微软雅黑" panose="020B0503020204020204" charset="-122"/>
                  <a:ea typeface="微软雅黑" panose="020B0503020204020204" charset="-122"/>
                  <a:cs typeface="+mn-cs"/>
                </a:rPr>
                <a:t> </a:t>
              </a:r>
              <a:endParaRPr kumimoji="1" lang="en-US" altLang="zh-CN" b="1" dirty="0">
                <a:solidFill>
                  <a:srgbClr val="04926A"/>
                </a:solidFill>
                <a:latin typeface="微软雅黑" panose="020B0503020204020204" charset="-122"/>
                <a:ea typeface="微软雅黑" panose="020B0503020204020204" charset="-122"/>
                <a:cs typeface="+mn-cs"/>
              </a:endParaRPr>
            </a:p>
          </p:txBody>
        </p:sp>
      </p:grpSp>
      <p:grpSp>
        <p:nvGrpSpPr>
          <p:cNvPr id="36" name="组合 35"/>
          <p:cNvGrpSpPr/>
          <p:nvPr/>
        </p:nvGrpSpPr>
        <p:grpSpPr>
          <a:xfrm>
            <a:off x="2689134" y="4686209"/>
            <a:ext cx="2501900" cy="393700"/>
            <a:chOff x="4212" y="7327"/>
            <a:chExt cx="3940" cy="620"/>
          </a:xfrm>
        </p:grpSpPr>
        <mc:AlternateContent xmlns:mc="http://schemas.openxmlformats.org/markup-compatibility/2006">
          <mc:Choice xmlns:a14="http://schemas.microsoft.com/office/drawing/2010/main" Requires="a14">
            <p:sp>
              <p:nvSpPr>
                <p:cNvPr id="13" name="对象 5"/>
                <p:cNvSpPr txBox="1"/>
                <p:nvPr/>
              </p:nvSpPr>
              <p:spPr>
                <a:xfrm>
                  <a:off x="4212" y="7327"/>
                  <a:ext cx="3940" cy="62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zh-CN" altLang="en-US"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于是所求体积为</m:t>
                        </m:r>
                      </m:oMath>
                    </m:oMathPara>
                  </a14:m>
                  <a:endParaRPr kumimoji="1" lang="zh-CN" altLang="en-US"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13" name="对象 5"/>
                <p:cNvSpPr txBox="1">
                  <a:spLocks noRot="1" noChangeAspect="1" noMove="1" noResize="1" noEditPoints="1" noAdjustHandles="1" noChangeArrowheads="1" noChangeShapeType="1" noTextEdit="1"/>
                </p:cNvSpPr>
                <p:nvPr/>
              </p:nvSpPr>
              <p:spPr>
                <a:xfrm>
                  <a:off x="4212" y="7327"/>
                  <a:ext cx="3940" cy="620"/>
                </a:xfrm>
                <a:prstGeom prst="rect">
                  <a:avLst/>
                </a:prstGeom>
                <a:blipFill rotWithShape="1">
                  <a:blip r:embed="rId7"/>
                </a:blipFill>
              </p:spPr>
              <p:txBody>
                <a:bodyPr/>
                <a:lstStyle/>
                <a:p>
                  <a:r>
                    <a:rPr lang="zh-CN" altLang="en-US">
                      <a:noFill/>
                    </a:rPr>
                    <a:t> </a:t>
                  </a:r>
                </a:p>
              </p:txBody>
            </p:sp>
          </mc:Fallback>
        </mc:AlternateContent>
        <p:sp>
          <p:nvSpPr>
            <p:cNvPr id="35" name="Rectangle 6"/>
            <p:cNvSpPr>
              <a:spLocks noGrp="1" noChangeArrowheads="1"/>
            </p:cNvSpPr>
            <p:nvPr/>
          </p:nvSpPr>
          <p:spPr>
            <a:xfrm>
              <a:off x="6122" y="7381"/>
              <a:ext cx="120" cy="512"/>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gn="l"/>
              <a:r>
                <a:rPr kumimoji="1" lang="en-US" altLang="zh-CN" b="1" dirty="0">
                  <a:solidFill>
                    <a:srgbClr val="04926A"/>
                  </a:solidFill>
                  <a:latin typeface="微软雅黑" panose="020B0503020204020204" charset="-122"/>
                  <a:ea typeface="微软雅黑" panose="020B0503020204020204" charset="-122"/>
                  <a:cs typeface="+mn-cs"/>
                </a:rPr>
                <a:t> </a:t>
              </a:r>
              <a:endParaRPr kumimoji="1" lang="en-US" altLang="zh-CN" b="1" dirty="0">
                <a:solidFill>
                  <a:srgbClr val="04926A"/>
                </a:solidFill>
                <a:latin typeface="微软雅黑" panose="020B0503020204020204" charset="-122"/>
                <a:ea typeface="微软雅黑" panose="020B0503020204020204" charset="-122"/>
                <a:cs typeface="+mn-cs"/>
              </a:endParaRPr>
            </a:p>
          </p:txBody>
        </p:sp>
      </p:grpSp>
      <p:grpSp>
        <p:nvGrpSpPr>
          <p:cNvPr id="38" name="组合 37"/>
          <p:cNvGrpSpPr/>
          <p:nvPr/>
        </p:nvGrpSpPr>
        <p:grpSpPr>
          <a:xfrm>
            <a:off x="2689134" y="5161824"/>
            <a:ext cx="4000500" cy="838200"/>
            <a:chOff x="4212" y="8076"/>
            <a:chExt cx="6300" cy="1320"/>
          </a:xfrm>
        </p:grpSpPr>
        <mc:AlternateContent xmlns:mc="http://schemas.openxmlformats.org/markup-compatibility/2006">
          <mc:Choice xmlns:a14="http://schemas.microsoft.com/office/drawing/2010/main" Requires="a14">
            <p:sp>
              <p:nvSpPr>
                <p:cNvPr id="116756" name="Object 20"/>
                <p:cNvSpPr txBox="1"/>
                <p:nvPr/>
              </p:nvSpPr>
              <p:spPr bwMode="auto">
                <a:xfrm>
                  <a:off x="4212" y="8076"/>
                  <a:ext cx="6300" cy="1320"/>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𝑉</m:t>
                        </m:r>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nary>
                          <m:naryPr>
                            <m:ctrlPr>
                              <a:rPr kumimoji="1" lang="en-US" altLang="zh-CN" sz="2200" i="1"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ctrlPr>
                          </m:naryPr>
                          <m:sub>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𝑅</m:t>
                            </m:r>
                          </m:sub>
                          <m:sup>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𝑅</m:t>
                            </m:r>
                          </m:sup>
                          <m:e>
                            <m:f>
                              <m:fPr>
                                <m:ctrlPr>
                                  <a:rPr kumimoji="1" lang="en-US" altLang="zh-CN" sz="2200" i="1"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ctrlPr>
                              </m:fPr>
                              <m:num>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1</m:t>
                                </m:r>
                              </m:num>
                              <m:den>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2</m:t>
                                </m:r>
                              </m:den>
                            </m:f>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sSup>
                              <m:sSupPr>
                                <m:ctrlPr>
                                  <a:rPr kumimoji="1" lang="en-US" altLang="zh-CN" sz="2200" i="1"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ctrlPr>
                              </m:sSupPr>
                              <m:e>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𝑅</m:t>
                                </m:r>
                              </m:e>
                              <m:sup>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2</m:t>
                                </m:r>
                              </m:sup>
                            </m:sSup>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sSup>
                              <m:sSupPr>
                                <m:ctrlPr>
                                  <a:rPr kumimoji="1" lang="en-US" altLang="zh-CN" sz="2200" i="1"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ctrlPr>
                              </m:sSupPr>
                              <m:e>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𝑥</m:t>
                                </m:r>
                              </m:e>
                              <m:sup>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2</m:t>
                                </m:r>
                              </m:sup>
                            </m:sSup>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func>
                              <m:funcPr>
                                <m:ctrlPr>
                                  <a:rPr kumimoji="1" lang="en-US" altLang="zh-CN" sz="2200" i="1"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ctrlPr>
                              </m:funcPr>
                              <m:fName>
                                <m:r>
                                  <m:rPr>
                                    <m:sty m:val="p"/>
                                  </m:rPr>
                                  <a:rPr kumimoji="1" lang="en-US" altLang="zh-CN" sz="22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tan</m:t>
                                </m:r>
                              </m:fName>
                              <m:e>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𝛼</m:t>
                                </m:r>
                                <m:r>
                                  <m:rPr>
                                    <m:sty m:val="p"/>
                                  </m:rPr>
                                  <a:rPr kumimoji="1" lang="en-US" altLang="zh-CN" sz="2200" i="0" dirty="0">
                                    <a:solidFill>
                                      <a:schemeClr val="tx1">
                                        <a:lumMod val="95000"/>
                                        <a:lumOff val="5000"/>
                                      </a:schemeClr>
                                    </a:solidFill>
                                    <a:latin typeface="Cambria Math" panose="02040503050406030204" charset="0"/>
                                    <a:ea typeface="黑体" panose="02010609060101010101" pitchFamily="49" charset="-122"/>
                                  </a:rPr>
                                  <m:t>d</m:t>
                                </m:r>
                                <m:r>
                                  <a:rPr kumimoji="1" lang="en-US" altLang="zh-CN" sz="2200" i="1" dirty="0">
                                    <a:solidFill>
                                      <a:schemeClr val="tx1">
                                        <a:lumMod val="95000"/>
                                        <a:lumOff val="5000"/>
                                      </a:schemeClr>
                                    </a:solidFill>
                                    <a:latin typeface="Cambria Math" panose="02040503050406030204" charset="0"/>
                                    <a:ea typeface="黑体" panose="02010609060101010101" pitchFamily="49" charset="-122"/>
                                  </a:rPr>
                                  <m:t>𝑥</m:t>
                                </m:r>
                              </m:e>
                            </m:func>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e>
                        </m:nary>
                      </m:oMath>
                    </m:oMathPara>
                  </a14:m>
                  <a:endPar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116756" name="Object 20"/>
                <p:cNvSpPr txBox="1">
                  <a:spLocks noRot="1" noChangeAspect="1" noMove="1" noResize="1" noEditPoints="1" noAdjustHandles="1" noChangeArrowheads="1" noChangeShapeType="1" noTextEdit="1"/>
                </p:cNvSpPr>
                <p:nvPr/>
              </p:nvSpPr>
              <p:spPr bwMode="auto">
                <a:xfrm>
                  <a:off x="4212" y="8076"/>
                  <a:ext cx="6300" cy="1320"/>
                </a:xfrm>
                <a:prstGeom prst="rect">
                  <a:avLst/>
                </a:prstGeom>
                <a:blipFill rotWithShape="1">
                  <a:blip r:embed="rId8"/>
                </a:blipFill>
                <a:ln>
                  <a:noFill/>
                </a:ln>
                <a:effectLst/>
              </p:spPr>
              <p:txBody>
                <a:bodyPr/>
                <a:lstStyle/>
                <a:p>
                  <a:r>
                    <a:rPr lang="zh-CN" altLang="en-US">
                      <a:noFill/>
                    </a:rPr>
                    <a:t> </a:t>
                  </a:r>
                </a:p>
              </p:txBody>
            </p:sp>
          </mc:Fallback>
        </mc:AlternateContent>
        <p:sp>
          <p:nvSpPr>
            <p:cNvPr id="37" name="Rectangle 6"/>
            <p:cNvSpPr>
              <a:spLocks noGrp="1" noChangeArrowheads="1"/>
            </p:cNvSpPr>
            <p:nvPr/>
          </p:nvSpPr>
          <p:spPr>
            <a:xfrm>
              <a:off x="7302" y="8480"/>
              <a:ext cx="120" cy="512"/>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gn="l"/>
              <a:r>
                <a:rPr kumimoji="1" lang="en-US" altLang="zh-CN" b="1" dirty="0">
                  <a:solidFill>
                    <a:srgbClr val="04926A"/>
                  </a:solidFill>
                  <a:latin typeface="微软雅黑" panose="020B0503020204020204" charset="-122"/>
                  <a:ea typeface="微软雅黑" panose="020B0503020204020204" charset="-122"/>
                  <a:cs typeface="+mn-cs"/>
                </a:rPr>
                <a:t> </a:t>
              </a:r>
              <a:endParaRPr kumimoji="1" lang="en-US" altLang="zh-CN" b="1" dirty="0">
                <a:solidFill>
                  <a:srgbClr val="04926A"/>
                </a:solidFill>
                <a:latin typeface="微软雅黑" panose="020B0503020204020204" charset="-122"/>
                <a:ea typeface="微软雅黑" panose="020B0503020204020204" charset="-122"/>
                <a:cs typeface="+mn-cs"/>
              </a:endParaRPr>
            </a:p>
          </p:txBody>
        </p:sp>
      </p:grpSp>
      <p:grpSp>
        <p:nvGrpSpPr>
          <p:cNvPr id="42" name="组合 41"/>
          <p:cNvGrpSpPr/>
          <p:nvPr/>
        </p:nvGrpSpPr>
        <p:grpSpPr>
          <a:xfrm>
            <a:off x="6100354" y="5205924"/>
            <a:ext cx="1892300" cy="838200"/>
            <a:chOff x="9360" y="8162"/>
            <a:chExt cx="2980" cy="1320"/>
          </a:xfrm>
        </p:grpSpPr>
        <mc:AlternateContent xmlns:mc="http://schemas.openxmlformats.org/markup-compatibility/2006">
          <mc:Choice xmlns:a14="http://schemas.microsoft.com/office/drawing/2010/main" Requires="a14">
            <p:sp>
              <p:nvSpPr>
                <p:cNvPr id="116759" name="Object 23"/>
                <p:cNvSpPr txBox="1"/>
                <p:nvPr/>
              </p:nvSpPr>
              <p:spPr bwMode="auto">
                <a:xfrm>
                  <a:off x="9360" y="8162"/>
                  <a:ext cx="2980" cy="1320"/>
                </a:xfrm>
                <a:prstGeom prst="rect">
                  <a:avLst/>
                </a:prstGeom>
                <a:noFill/>
                <a:ln>
                  <a:noFill/>
                </a:ln>
                <a:effectLst/>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f>
                          <m:fPr>
                            <m:ctrlPr>
                              <a:rPr kumimoji="1" lang="en-US" altLang="zh-CN" sz="2200" i="1"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ctrlPr>
                          </m:fPr>
                          <m:num>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2</m:t>
                            </m:r>
                          </m:num>
                          <m:den>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3</m:t>
                            </m:r>
                          </m:den>
                        </m:f>
                        <m:sSup>
                          <m:sSupPr>
                            <m:ctrlPr>
                              <a:rPr kumimoji="1" lang="en-US" altLang="zh-CN" sz="2200" i="1"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ctrlPr>
                          </m:sSupPr>
                          <m:e>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𝑅</m:t>
                            </m:r>
                          </m:e>
                          <m:sup>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3</m:t>
                            </m:r>
                          </m:sup>
                        </m:sSup>
                        <m:func>
                          <m:funcPr>
                            <m:ctrlPr>
                              <a:rPr kumimoji="1" lang="en-US" altLang="zh-CN" sz="2200" i="1"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ctrlPr>
                          </m:funcPr>
                          <m:fName>
                            <m:r>
                              <m:rPr>
                                <m:sty m:val="p"/>
                              </m:rPr>
                              <a:rPr kumimoji="1" lang="en-US" altLang="zh-CN" sz="2200" i="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tan</m:t>
                            </m:r>
                          </m:fName>
                          <m:e>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𝛼</m:t>
                            </m:r>
                          </m:e>
                        </m:func>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oMath>
                    </m:oMathPara>
                  </a14:m>
                  <a:endPar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116759" name="Object 23"/>
                <p:cNvSpPr txBox="1">
                  <a:spLocks noRot="1" noChangeAspect="1" noMove="1" noResize="1" noEditPoints="1" noAdjustHandles="1" noChangeArrowheads="1" noChangeShapeType="1" noTextEdit="1"/>
                </p:cNvSpPr>
                <p:nvPr/>
              </p:nvSpPr>
              <p:spPr bwMode="auto">
                <a:xfrm>
                  <a:off x="9360" y="8162"/>
                  <a:ext cx="2980" cy="1320"/>
                </a:xfrm>
                <a:prstGeom prst="rect">
                  <a:avLst/>
                </a:prstGeom>
                <a:blipFill rotWithShape="1">
                  <a:blip r:embed="rId9"/>
                </a:blipFill>
                <a:ln>
                  <a:noFill/>
                </a:ln>
                <a:effectLst/>
              </p:spPr>
              <p:txBody>
                <a:bodyPr/>
                <a:lstStyle/>
                <a:p>
                  <a:r>
                    <a:rPr lang="zh-CN" altLang="en-US">
                      <a:noFill/>
                    </a:rPr>
                    <a:t> </a:t>
                  </a:r>
                </a:p>
              </p:txBody>
            </p:sp>
          </mc:Fallback>
        </mc:AlternateContent>
        <p:sp>
          <p:nvSpPr>
            <p:cNvPr id="39" name="Rectangle 6"/>
            <p:cNvSpPr>
              <a:spLocks noGrp="1" noChangeArrowheads="1"/>
            </p:cNvSpPr>
            <p:nvPr/>
          </p:nvSpPr>
          <p:spPr>
            <a:xfrm>
              <a:off x="10790" y="8566"/>
              <a:ext cx="120" cy="512"/>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gn="l"/>
              <a:r>
                <a:rPr kumimoji="1" lang="en-US" altLang="zh-CN" b="1" dirty="0">
                  <a:solidFill>
                    <a:srgbClr val="04926A"/>
                  </a:solidFill>
                  <a:latin typeface="微软雅黑" panose="020B0503020204020204" charset="-122"/>
                  <a:ea typeface="微软雅黑" panose="020B0503020204020204" charset="-122"/>
                  <a:cs typeface="+mn-cs"/>
                </a:rPr>
                <a:t> </a:t>
              </a:r>
              <a:endParaRPr kumimoji="1" lang="en-US" altLang="zh-CN" b="1" dirty="0">
                <a:solidFill>
                  <a:srgbClr val="04926A"/>
                </a:solidFill>
                <a:latin typeface="微软雅黑" panose="020B0503020204020204" charset="-122"/>
                <a:ea typeface="微软雅黑" panose="020B0503020204020204" charset="-122"/>
                <a:cs typeface="+mn-cs"/>
              </a:endParaRPr>
            </a:p>
          </p:txBody>
        </p:sp>
      </p:grpSp>
      <p:grpSp>
        <p:nvGrpSpPr>
          <p:cNvPr id="44" name="组合 43"/>
          <p:cNvGrpSpPr/>
          <p:nvPr/>
        </p:nvGrpSpPr>
        <p:grpSpPr>
          <a:xfrm>
            <a:off x="6306729" y="2386874"/>
            <a:ext cx="1837690" cy="466090"/>
            <a:chOff x="9909" y="3736"/>
            <a:chExt cx="2894" cy="734"/>
          </a:xfrm>
        </p:grpSpPr>
        <p:grpSp>
          <p:nvGrpSpPr>
            <p:cNvPr id="26" name="组合 25"/>
            <p:cNvGrpSpPr/>
            <p:nvPr/>
          </p:nvGrpSpPr>
          <p:grpSpPr>
            <a:xfrm>
              <a:off x="9909" y="3736"/>
              <a:ext cx="2894" cy="734"/>
              <a:chOff x="9909" y="3706"/>
              <a:chExt cx="2894" cy="734"/>
            </a:xfrm>
          </p:grpSpPr>
          <mc:AlternateContent xmlns:mc="http://schemas.openxmlformats.org/markup-compatibility/2006">
            <mc:Choice xmlns:a14="http://schemas.microsoft.com/office/drawing/2010/main" Requires="a14">
              <p:sp>
                <p:nvSpPr>
                  <p:cNvPr id="116749" name="Object 13"/>
                  <p:cNvSpPr txBox="1"/>
                  <p:nvPr/>
                </p:nvSpPr>
                <p:spPr bwMode="auto">
                  <a:xfrm>
                    <a:off x="9909" y="3706"/>
                    <a:ext cx="2895" cy="735"/>
                  </a:xfrm>
                  <a:prstGeom prst="rect">
                    <a:avLst/>
                  </a:prstGeom>
                  <a:noFill/>
                  <a:ln>
                    <a:noFill/>
                  </a:ln>
                  <a:effectLst/>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sSup>
                            <m:sSupPr>
                              <m:ctrlPr>
                                <a:rPr kumimoji="1" lang="en-US" altLang="zh-CN" sz="2200" i="1"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ctrlPr>
                            </m:sSupPr>
                            <m:e>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𝑥</m:t>
                              </m:r>
                            </m:e>
                            <m:sup>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2</m:t>
                              </m:r>
                            </m:sup>
                          </m:sSup>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sSup>
                            <m:sSupPr>
                              <m:ctrlPr>
                                <a:rPr kumimoji="1" lang="en-US" altLang="zh-CN" sz="2200" i="1"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ctrlPr>
                            </m:sSupPr>
                            <m:e>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𝑦</m:t>
                              </m:r>
                            </m:e>
                            <m:sup>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2</m:t>
                              </m:r>
                            </m:sup>
                          </m:sSup>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sSup>
                            <m:sSupPr>
                              <m:ctrlPr>
                                <a:rPr kumimoji="1" lang="en-US" altLang="zh-CN" sz="2200" i="1"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ctrlPr>
                            </m:sSupPr>
                            <m:e>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𝑅</m:t>
                              </m:r>
                            </m:e>
                            <m:sup>
                              <m:r>
                                <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2</m:t>
                              </m:r>
                            </m:sup>
                          </m:sSup>
                        </m:oMath>
                      </m:oMathPara>
                    </a14:m>
                    <a:endParaRPr kumimoji="1" lang="en-US" altLang="zh-CN" sz="22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endParaRPr>
                  </a:p>
                </p:txBody>
              </p:sp>
            </mc:Choice>
            <mc:Fallback>
              <p:sp>
                <p:nvSpPr>
                  <p:cNvPr id="116749" name="Object 13"/>
                  <p:cNvSpPr txBox="1">
                    <a:spLocks noRot="1" noChangeAspect="1" noMove="1" noResize="1" noEditPoints="1" noAdjustHandles="1" noChangeArrowheads="1" noChangeShapeType="1" noTextEdit="1"/>
                  </p:cNvSpPr>
                  <p:nvPr/>
                </p:nvSpPr>
                <p:spPr bwMode="auto">
                  <a:xfrm>
                    <a:off x="9909" y="3706"/>
                    <a:ext cx="2895" cy="735"/>
                  </a:xfrm>
                  <a:prstGeom prst="rect">
                    <a:avLst/>
                  </a:prstGeom>
                  <a:blipFill rotWithShape="1">
                    <a:blip r:embed="rId10"/>
                  </a:blipFill>
                  <a:ln>
                    <a:noFill/>
                  </a:ln>
                  <a:effectLst/>
                </p:spPr>
                <p:txBody>
                  <a:bodyPr/>
                  <a:lstStyle/>
                  <a:p>
                    <a:r>
                      <a:rPr lang="zh-CN" altLang="en-US">
                        <a:noFill/>
                      </a:rPr>
                      <a:t> </a:t>
                    </a:r>
                  </a:p>
                </p:txBody>
              </p:sp>
            </mc:Fallback>
          </mc:AlternateContent>
          <p:sp>
            <p:nvSpPr>
              <p:cNvPr id="25" name="Rectangle 6"/>
              <p:cNvSpPr>
                <a:spLocks noGrp="1" noChangeArrowheads="1"/>
              </p:cNvSpPr>
              <p:nvPr/>
            </p:nvSpPr>
            <p:spPr>
              <a:xfrm>
                <a:off x="11296" y="3818"/>
                <a:ext cx="120" cy="512"/>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gn="l"/>
                <a:r>
                  <a:rPr kumimoji="1" lang="en-US" altLang="zh-CN" b="1" dirty="0">
                    <a:solidFill>
                      <a:srgbClr val="04926A"/>
                    </a:solidFill>
                    <a:latin typeface="微软雅黑" panose="020B0503020204020204" charset="-122"/>
                    <a:ea typeface="微软雅黑" panose="020B0503020204020204" charset="-122"/>
                    <a:cs typeface="+mn-cs"/>
                  </a:rPr>
                  <a:t> </a:t>
                </a:r>
                <a:endParaRPr kumimoji="1" lang="en-US" altLang="zh-CN" b="1" dirty="0">
                  <a:solidFill>
                    <a:srgbClr val="04926A"/>
                  </a:solidFill>
                  <a:latin typeface="微软雅黑" panose="020B0503020204020204" charset="-122"/>
                  <a:ea typeface="微软雅黑" panose="020B0503020204020204" charset="-122"/>
                  <a:cs typeface="+mn-cs"/>
                </a:endParaRPr>
              </a:p>
            </p:txBody>
          </p:sp>
        </p:grpSp>
        <p:sp>
          <p:nvSpPr>
            <p:cNvPr id="43" name="Rectangle 6"/>
            <p:cNvSpPr>
              <a:spLocks noGrp="1" noChangeArrowheads="1"/>
            </p:cNvSpPr>
            <p:nvPr/>
          </p:nvSpPr>
          <p:spPr>
            <a:xfrm>
              <a:off x="11296" y="3847"/>
              <a:ext cx="120" cy="512"/>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gn="l"/>
              <a:r>
                <a:rPr kumimoji="1" lang="en-US" altLang="zh-CN" b="1" dirty="0">
                  <a:solidFill>
                    <a:srgbClr val="04926A"/>
                  </a:solidFill>
                  <a:latin typeface="微软雅黑" panose="020B0503020204020204" charset="-122"/>
                  <a:ea typeface="微软雅黑" panose="020B0503020204020204" charset="-122"/>
                  <a:cs typeface="+mn-cs"/>
                </a:rPr>
                <a:t> </a:t>
              </a:r>
              <a:endParaRPr kumimoji="1" lang="en-US" altLang="zh-CN" b="1" dirty="0">
                <a:solidFill>
                  <a:srgbClr val="04926A"/>
                </a:solidFill>
                <a:latin typeface="微软雅黑" panose="020B0503020204020204" charset="-122"/>
                <a:ea typeface="微软雅黑" panose="020B0503020204020204" charset="-122"/>
                <a:cs typeface="+mn-cs"/>
              </a:endParaRPr>
            </a:p>
          </p:txBody>
        </p:sp>
      </p:grpSp>
      <p:pic>
        <p:nvPicPr>
          <p:cNvPr id="18" name="图片 17"/>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526944" y="3200001"/>
            <a:ext cx="2749169" cy="207260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500"/>
                                        <p:tgtEl>
                                          <p:spTgt spid="1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wipe(left)">
                                      <p:cBhvr>
                                        <p:cTn id="26" dur="500"/>
                                        <p:tgtEl>
                                          <p:spTgt spid="2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wipe(left)">
                                      <p:cBhvr>
                                        <p:cTn id="31" dur="500"/>
                                        <p:tgtEl>
                                          <p:spTgt spid="2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wipe(left)">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wipe(left)">
                                      <p:cBhvr>
                                        <p:cTn id="41" dur="500"/>
                                        <p:tgtEl>
                                          <p:spTgt spid="2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44"/>
                                        </p:tgtEl>
                                        <p:attrNameLst>
                                          <p:attrName>style.visibility</p:attrName>
                                        </p:attrNameLst>
                                      </p:cBhvr>
                                      <p:to>
                                        <p:strVal val="visible"/>
                                      </p:to>
                                    </p:set>
                                    <p:animEffect transition="in" filter="wipe(left)">
                                      <p:cBhvr>
                                        <p:cTn id="46" dur="500"/>
                                        <p:tgtEl>
                                          <p:spTgt spid="4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wipe(left)">
                                      <p:cBhvr>
                                        <p:cTn id="51" dur="500"/>
                                        <p:tgtEl>
                                          <p:spTgt spid="2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wipe(left)">
                                      <p:cBhvr>
                                        <p:cTn id="56" dur="500"/>
                                        <p:tgtEl>
                                          <p:spTgt spid="30"/>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wipe(left)">
                                      <p:cBhvr>
                                        <p:cTn id="61" dur="500"/>
                                        <p:tgtEl>
                                          <p:spTgt spid="3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34"/>
                                        </p:tgtEl>
                                        <p:attrNameLst>
                                          <p:attrName>style.visibility</p:attrName>
                                        </p:attrNameLst>
                                      </p:cBhvr>
                                      <p:to>
                                        <p:strVal val="visible"/>
                                      </p:to>
                                    </p:set>
                                    <p:animEffect transition="in" filter="wipe(left)">
                                      <p:cBhvr>
                                        <p:cTn id="66" dur="500"/>
                                        <p:tgtEl>
                                          <p:spTgt spid="34"/>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36"/>
                                        </p:tgtEl>
                                        <p:attrNameLst>
                                          <p:attrName>style.visibility</p:attrName>
                                        </p:attrNameLst>
                                      </p:cBhvr>
                                      <p:to>
                                        <p:strVal val="visible"/>
                                      </p:to>
                                    </p:set>
                                    <p:animEffect transition="in" filter="wipe(left)">
                                      <p:cBhvr>
                                        <p:cTn id="71" dur="500"/>
                                        <p:tgtEl>
                                          <p:spTgt spid="36"/>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38"/>
                                        </p:tgtEl>
                                        <p:attrNameLst>
                                          <p:attrName>style.visibility</p:attrName>
                                        </p:attrNameLst>
                                      </p:cBhvr>
                                      <p:to>
                                        <p:strVal val="visible"/>
                                      </p:to>
                                    </p:set>
                                    <p:animEffect transition="in" filter="wipe(left)">
                                      <p:cBhvr>
                                        <p:cTn id="76" dur="500"/>
                                        <p:tgtEl>
                                          <p:spTgt spid="38"/>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42"/>
                                        </p:tgtEl>
                                        <p:attrNameLst>
                                          <p:attrName>style.visibility</p:attrName>
                                        </p:attrNameLst>
                                      </p:cBhvr>
                                      <p:to>
                                        <p:strVal val="visible"/>
                                      </p:to>
                                    </p:set>
                                    <p:animEffect transition="in" filter="wipe(left)">
                                      <p:cBhvr>
                                        <p:cTn id="81"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147482623" name="对象 -2147482624"/>
          <p:cNvGraphicFramePr>
            <a:graphicFrameLocks noChangeAspect="1"/>
          </p:cNvGraphicFramePr>
          <p:nvPr/>
        </p:nvGraphicFramePr>
        <p:xfrm>
          <a:off x="193040" y="689610"/>
          <a:ext cx="11487785" cy="536575"/>
        </p:xfrm>
        <a:graphic>
          <a:graphicData uri="http://schemas.openxmlformats.org/presentationml/2006/ole">
            <mc:AlternateContent xmlns:mc="http://schemas.openxmlformats.org/markup-compatibility/2006">
              <mc:Choice xmlns:v="urn:schemas-microsoft-com:vml" Requires="v">
                <p:oleObj spid="_x0000_s3076" name="" r:id="rId1" imgW="4343400" imgH="228600" progId="Equation.KSEE3">
                  <p:embed/>
                </p:oleObj>
              </mc:Choice>
              <mc:Fallback>
                <p:oleObj name="" r:id="rId1" imgW="4343400" imgH="228600" progId="Equation.KSEE3">
                  <p:embed/>
                  <p:pic>
                    <p:nvPicPr>
                      <p:cNvPr id="0" name="图片 3075"/>
                      <p:cNvPicPr/>
                      <p:nvPr/>
                    </p:nvPicPr>
                    <p:blipFill>
                      <a:blip r:embed="rId2"/>
                      <a:stretch>
                        <a:fillRect/>
                      </a:stretch>
                    </p:blipFill>
                    <p:spPr>
                      <a:xfrm>
                        <a:off x="193040" y="689610"/>
                        <a:ext cx="11487785" cy="536575"/>
                      </a:xfrm>
                      <a:prstGeom prst="rect">
                        <a:avLst/>
                      </a:prstGeom>
                      <a:solidFill>
                        <a:schemeClr val="bg2"/>
                      </a:solidFill>
                      <a:ln w="38100">
                        <a:noFill/>
                        <a:miter/>
                      </a:ln>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第</a:t>
            </a:r>
            <a:r>
              <a:rPr lang="en-US" altLang="zh-CN"/>
              <a:t>7</a:t>
            </a:r>
            <a:r>
              <a:rPr lang="zh-CN" altLang="en-US"/>
              <a:t>章</a:t>
            </a:r>
            <a:r>
              <a:rPr lang="en-US" altLang="zh-CN"/>
              <a:t> </a:t>
            </a:r>
            <a:r>
              <a:rPr lang="zh-CN" altLang="en-US"/>
              <a:t>微分方程</a:t>
            </a:r>
            <a:endParaRPr lang="zh-CN" altLang="en-US"/>
          </a:p>
        </p:txBody>
      </p:sp>
      <p:sp>
        <p:nvSpPr>
          <p:cNvPr id="3" name="内容占位符 2"/>
          <p:cNvSpPr>
            <a:spLocks noGrp="1"/>
          </p:cNvSpPr>
          <p:nvPr>
            <p:ph idx="1"/>
          </p:nvPr>
        </p:nvSpPr>
        <p:spPr/>
        <p:txBody>
          <a:bodyPr/>
          <a:p>
            <a:r>
              <a:rPr lang="zh-CN" altLang="en-US">
                <a:highlight>
                  <a:srgbClr val="FFFF00"/>
                </a:highlight>
              </a:rPr>
              <a:t>可分离变量微分方程</a:t>
            </a:r>
            <a:endParaRPr lang="zh-CN" altLang="en-US">
              <a:highlight>
                <a:srgbClr val="FFFF00"/>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640715" y="1188720"/>
            <a:ext cx="10942955" cy="3027680"/>
            <a:chOff x="1111" y="8358"/>
            <a:chExt cx="17233" cy="4768"/>
          </a:xfrm>
        </p:grpSpPr>
        <p:sp>
          <p:nvSpPr>
            <p:cNvPr id="55" name="Rectangle 1"/>
            <p:cNvSpPr/>
            <p:nvPr/>
          </p:nvSpPr>
          <p:spPr>
            <a:xfrm>
              <a:off x="1660" y="8358"/>
              <a:ext cx="16684" cy="4768"/>
            </a:xfrm>
            <a:prstGeom prst="rect">
              <a:avLst/>
            </a:prstGeom>
            <a:solidFill>
              <a:srgbClr val="039462">
                <a:alpha val="2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nvGrpSpPr>
            <p:cNvPr id="56" name="组合 55"/>
            <p:cNvGrpSpPr/>
            <p:nvPr/>
          </p:nvGrpSpPr>
          <p:grpSpPr>
            <a:xfrm>
              <a:off x="1111" y="9990"/>
              <a:ext cx="1962" cy="1417"/>
              <a:chOff x="13276" y="1778820"/>
              <a:chExt cx="1882603" cy="900000"/>
            </a:xfrm>
          </p:grpSpPr>
          <p:sp>
            <p:nvSpPr>
              <p:cNvPr id="57" name="PA-102231"/>
              <p:cNvSpPr/>
              <p:nvPr>
                <p:custDataLst>
                  <p:tags r:id="rId1"/>
                </p:custDataLst>
              </p:nvPr>
            </p:nvSpPr>
            <p:spPr>
              <a:xfrm>
                <a:off x="13276" y="1778820"/>
                <a:ext cx="1882603" cy="900000"/>
              </a:xfrm>
              <a:prstGeom prst="rect">
                <a:avLst/>
              </a:prstGeom>
              <a:solidFill>
                <a:schemeClr val="bg1"/>
              </a:solidFill>
              <a:ln w="19050">
                <a:gradFill>
                  <a:gsLst>
                    <a:gs pos="5000">
                      <a:srgbClr val="17A45E"/>
                    </a:gs>
                    <a:gs pos="56000">
                      <a:srgbClr val="039267"/>
                    </a:gs>
                    <a:gs pos="100000">
                      <a:srgbClr val="068983"/>
                    </a:gs>
                  </a:gsLst>
                  <a:lin ang="10800000" scaled="0"/>
                </a:gradFill>
              </a:ln>
              <a:effectLst>
                <a:outerShdw blurRad="203200" dist="63500" dir="3000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n>
                    <a:solidFill>
                      <a:schemeClr val="bg1">
                        <a:lumMod val="95000"/>
                      </a:schemeClr>
                    </a:solidFill>
                  </a:ln>
                  <a:cs typeface="+mn-ea"/>
                  <a:sym typeface="+mn-lt"/>
                </a:endParaRPr>
              </a:p>
            </p:txBody>
          </p:sp>
          <p:sp>
            <p:nvSpPr>
              <p:cNvPr id="58" name="Rectangle 167"/>
              <p:cNvSpPr>
                <a:spLocks noChangeArrowheads="1"/>
              </p:cNvSpPr>
              <p:nvPr/>
            </p:nvSpPr>
            <p:spPr bwMode="auto">
              <a:xfrm>
                <a:off x="134497" y="2026615"/>
                <a:ext cx="1559241" cy="430628"/>
              </a:xfrm>
              <a:prstGeom prst="rect">
                <a:avLst/>
              </a:prstGeom>
              <a:noFill/>
              <a:ln w="9525">
                <a:noFill/>
                <a:miter lim="800000"/>
              </a:ln>
              <a:effectLst/>
            </p:spPr>
            <p:txBody>
              <a:bodyPr wrap="none" lIns="0" tIns="0" rIns="0" bIns="0">
                <a:spAutoFit/>
              </a:bodyPr>
              <a:lstStyle/>
              <a:p>
                <a:pPr eaLnBrk="0" fontAlgn="base" hangingPunct="0">
                  <a:spcBef>
                    <a:spcPct val="0"/>
                  </a:spcBef>
                  <a:spcAft>
                    <a:spcPct val="0"/>
                  </a:spcAft>
                  <a:defRPr/>
                </a:pPr>
                <a:r>
                  <a:rPr kumimoji="1" lang="en-US" altLang="zh-CN" sz="2800" b="1" dirty="0">
                    <a:solidFill>
                      <a:srgbClr val="04926A"/>
                    </a:solidFill>
                    <a:latin typeface="微软雅黑" panose="020B0503020204020204" charset="-122"/>
                    <a:ea typeface="微软雅黑" panose="020B0503020204020204" charset="-122"/>
                    <a:sym typeface="+mn-ea"/>
                  </a:rPr>
                  <a:t>1.</a:t>
                </a:r>
                <a:r>
                  <a:rPr kumimoji="1" lang="zh-CN" altLang="en-US" sz="2800" b="1" dirty="0">
                    <a:solidFill>
                      <a:srgbClr val="04926A"/>
                    </a:solidFill>
                    <a:latin typeface="微软雅黑" panose="020B0503020204020204" charset="-122"/>
                    <a:ea typeface="微软雅黑" panose="020B0503020204020204" charset="-122"/>
                    <a:sym typeface="+mn-ea"/>
                  </a:rPr>
                  <a:t>定义</a:t>
                </a:r>
                <a:endParaRPr kumimoji="1" lang="en-US" altLang="zh-CN" sz="2800" b="1" dirty="0">
                  <a:solidFill>
                    <a:srgbClr val="04926A"/>
                  </a:solidFill>
                  <a:latin typeface="微软雅黑" panose="020B0503020204020204" charset="-122"/>
                  <a:ea typeface="微软雅黑" panose="020B0503020204020204" charset="-122"/>
                  <a:sym typeface="+mn-ea"/>
                </a:endParaRPr>
              </a:p>
            </p:txBody>
          </p:sp>
        </p:grpSp>
      </p:grpSp>
      <p:sp>
        <p:nvSpPr>
          <p:cNvPr id="4" name="文本框 3"/>
          <p:cNvSpPr txBox="1"/>
          <p:nvPr/>
        </p:nvSpPr>
        <p:spPr bwMode="auto">
          <a:xfrm>
            <a:off x="2144176" y="1205546"/>
            <a:ext cx="480568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50000"/>
              </a:spcBef>
            </a:pPr>
            <a: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a:t>如果一个一阶微分方程能写成</a:t>
            </a:r>
            <a:endParaRPr kumimoji="1" lang="zh-CN" altLang="en-US" sz="2800" dirty="0"/>
          </a:p>
        </p:txBody>
      </p:sp>
      <mc:AlternateContent xmlns:mc="http://schemas.openxmlformats.org/markup-compatibility/2006">
        <mc:Choice xmlns:a14="http://schemas.microsoft.com/office/drawing/2010/main" Requires="a14">
          <p:sp>
            <p:nvSpPr>
              <p:cNvPr id="34" name="文本框 33"/>
              <p:cNvSpPr txBox="1"/>
              <p:nvPr/>
            </p:nvSpPr>
            <p:spPr bwMode="auto">
              <a:xfrm>
                <a:off x="2136898" y="2414270"/>
                <a:ext cx="14351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50000"/>
                  </a:spcBef>
                </a:pPr>
                <a:r>
                  <a:rPr kumimoji="1" lang="zh-CN" altLang="en-US" sz="2800" dirty="0">
                    <a:latin typeface="黑体" panose="02010609060101010101" pitchFamily="49" charset="-122"/>
                    <a:ea typeface="黑体" panose="02010609060101010101" pitchFamily="49" charset="-122"/>
                  </a:rPr>
                  <a:t>的形式</a:t>
                </a:r>
                <a14:m>
                  <m:oMath xmlns:m="http://schemas.openxmlformats.org/officeDocument/2006/math">
                    <m:r>
                      <a:rPr kumimoji="1" lang="zh-CN" altLang="en-US" sz="2800" dirty="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i="1" dirty="0">
                        <a:solidFill>
                          <a:schemeClr val="tx1">
                            <a:lumMod val="95000"/>
                            <a:lumOff val="5000"/>
                          </a:schemeClr>
                        </a:solidFill>
                        <a:latin typeface="Cambria Math" panose="02040503050406030204" charset="0"/>
                        <a:ea typeface="黑体" panose="02010609060101010101" pitchFamily="49" charset="-122"/>
                      </a:rPr>
                      <m:t> </m:t>
                    </m:r>
                  </m:oMath>
                </a14:m>
                <a:endParaRPr kumimoji="1" lang="zh-CN" altLang="en-US" sz="2800" dirty="0">
                  <a:latin typeface="黑体" panose="02010609060101010101" pitchFamily="49" charset="-122"/>
                  <a:ea typeface="黑体" panose="02010609060101010101" pitchFamily="49" charset="-122"/>
                </a:endParaRPr>
              </a:p>
            </p:txBody>
          </p:sp>
        </mc:Choice>
        <mc:Fallback>
          <p:sp>
            <p:nvSpPr>
              <p:cNvPr id="34" name="文本框 33"/>
              <p:cNvSpPr txBox="1">
                <a:spLocks noRot="1" noChangeAspect="1" noMove="1" noResize="1" noEditPoints="1" noAdjustHandles="1" noChangeArrowheads="1" noChangeShapeType="1" noTextEdit="1"/>
              </p:cNvSpPr>
              <p:nvPr/>
            </p:nvSpPr>
            <p:spPr bwMode="auto">
              <a:xfrm>
                <a:off x="2136898" y="2414270"/>
                <a:ext cx="1435100" cy="521970"/>
              </a:xfrm>
              <a:prstGeom prst="rect">
                <a:avLst/>
              </a:prstGeom>
              <a:blipFill rotWithShape="1">
                <a:blip r:embed="rId2"/>
                <a:stretch>
                  <a:fillRect l="-9" r="9" b="-72263"/>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2751455" y="1752600"/>
                <a:ext cx="3205462" cy="523220"/>
              </a:xfrm>
              <a:prstGeom prst="rect">
                <a:avLst/>
              </a:prstGeom>
              <a:noFill/>
            </p:spPr>
            <p:txBody>
              <a:bodyPr wrap="square" rtlCol="0">
                <a:spAutoFit/>
              </a:bodyPr>
              <a:lstStyle/>
              <a:p>
                <a:r>
                  <a:rPr lang="en-US" altLang="zh-CN" sz="2800" i="1" dirty="0">
                    <a:latin typeface="Cambria Math" panose="02040503050406030204" charset="0"/>
                    <a:cs typeface="Times New Roman" panose="02020603050405020304" pitchFamily="18" charset="0"/>
                  </a:rPr>
                  <a:t>g </a:t>
                </a:r>
                <a:r>
                  <a:rPr lang="en-US" altLang="zh-CN" sz="2800" dirty="0">
                    <a:latin typeface="Cambria Math" panose="02040503050406030204" charset="0"/>
                    <a:cs typeface="Times New Roman" panose="02020603050405020304" pitchFamily="18" charset="0"/>
                  </a:rPr>
                  <a:t>(</a:t>
                </a:r>
                <a14:m>
                  <m:oMath xmlns:m="http://schemas.openxmlformats.org/officeDocument/2006/math">
                    <m:r>
                      <a:rPr kumimoji="1" lang="en-US" altLang="zh-CN" sz="2800" i="1" dirty="0">
                        <a:latin typeface="Cambria Math" panose="02040503050406030204" charset="0"/>
                        <a:ea typeface="黑体" panose="02010609060101010101" pitchFamily="49" charset="-122"/>
                      </a:rPr>
                      <m:t>𝑦</m:t>
                    </m:r>
                  </m:oMath>
                </a14:m>
                <a:r>
                  <a:rPr lang="en-US" altLang="zh-CN" sz="2800" dirty="0">
                    <a:latin typeface="Cambria Math" panose="02040503050406030204" charset="0"/>
                    <a:cs typeface="Times New Roman" panose="02020603050405020304" pitchFamily="18" charset="0"/>
                  </a:rPr>
                  <a:t>) </a:t>
                </a:r>
                <a14:m>
                  <m:oMath xmlns:m="http://schemas.openxmlformats.org/officeDocument/2006/math">
                    <m:r>
                      <m:rPr>
                        <m:sty m:val="p"/>
                      </m:rPr>
                      <a:rPr kumimoji="1" lang="en-US" altLang="zh-CN" sz="2800" dirty="0">
                        <a:latin typeface="Cambria Math" panose="02040503050406030204" charset="0"/>
                        <a:ea typeface="黑体" panose="02010609060101010101" pitchFamily="49" charset="-122"/>
                      </a:rPr>
                      <m:t>d</m:t>
                    </m:r>
                    <m:r>
                      <a:rPr kumimoji="1" lang="en-US" altLang="zh-CN" sz="2800" i="1" dirty="0">
                        <a:latin typeface="Cambria Math" panose="02040503050406030204" charset="0"/>
                        <a:ea typeface="黑体" panose="02010609060101010101" pitchFamily="49" charset="-122"/>
                      </a:rPr>
                      <m:t>𝑦</m:t>
                    </m:r>
                    <m:r>
                      <a:rPr kumimoji="1" lang="en-US" altLang="zh-CN" sz="2800" i="1" dirty="0">
                        <a:latin typeface="Cambria Math" panose="02040503050406030204" charset="0"/>
                        <a:ea typeface="黑体" panose="02010609060101010101" pitchFamily="49" charset="-122"/>
                      </a:rPr>
                      <m:t> </m:t>
                    </m:r>
                  </m:oMath>
                </a14:m>
                <a:r>
                  <a:rPr lang="en-US" altLang="zh-CN" sz="2800" dirty="0">
                    <a:latin typeface="Cambria Math" panose="02040503050406030204" charset="0"/>
                    <a:cs typeface="Times New Roman" panose="02020603050405020304" pitchFamily="18" charset="0"/>
                  </a:rPr>
                  <a:t>= </a:t>
                </a:r>
                <a14:m>
                  <m:oMath xmlns:m="http://schemas.openxmlformats.org/officeDocument/2006/math">
                    <m:r>
                      <a:rPr kumimoji="1" lang="en-US" altLang="zh-CN" sz="2800" i="1" dirty="0">
                        <a:latin typeface="Cambria Math" panose="02040503050406030204" charset="0"/>
                        <a:ea typeface="黑体" panose="02010609060101010101" pitchFamily="49" charset="-122"/>
                      </a:rPr>
                      <m:t>𝑓</m:t>
                    </m:r>
                  </m:oMath>
                </a14:m>
                <a:r>
                  <a:rPr lang="en-US" altLang="zh-CN" sz="2800" dirty="0">
                    <a:latin typeface="Cambria Math" panose="02040503050406030204" charset="0"/>
                    <a:cs typeface="Times New Roman" panose="02020603050405020304" pitchFamily="18" charset="0"/>
                  </a:rPr>
                  <a:t>(</a:t>
                </a:r>
                <a14:m>
                  <m:oMath xmlns:m="http://schemas.openxmlformats.org/officeDocument/2006/math">
                    <m:r>
                      <a:rPr kumimoji="1" lang="en-US" altLang="zh-CN" sz="2800" i="1" dirty="0">
                        <a:latin typeface="Cambria Math" panose="02040503050406030204" charset="0"/>
                        <a:ea typeface="黑体" panose="02010609060101010101" pitchFamily="49" charset="-122"/>
                      </a:rPr>
                      <m:t>𝑥</m:t>
                    </m:r>
                  </m:oMath>
                </a14:m>
                <a:r>
                  <a:rPr lang="en-US" altLang="zh-CN" sz="2800" dirty="0">
                    <a:latin typeface="Cambria Math" panose="02040503050406030204" charset="0"/>
                    <a:cs typeface="Times New Roman" panose="02020603050405020304" pitchFamily="18" charset="0"/>
                  </a:rPr>
                  <a:t>)</a:t>
                </a:r>
                <a:r>
                  <a:rPr kumimoji="1" lang="en-US" altLang="zh-CN" sz="2800" dirty="0">
                    <a:ea typeface="黑体" panose="02010609060101010101" pitchFamily="49" charset="-122"/>
                  </a:rPr>
                  <a:t> </a:t>
                </a:r>
                <a14:m>
                  <m:oMath xmlns:m="http://schemas.openxmlformats.org/officeDocument/2006/math">
                    <m:r>
                      <m:rPr>
                        <m:sty m:val="p"/>
                      </m:rPr>
                      <a:rPr kumimoji="1" lang="en-US" altLang="zh-CN" sz="2800" i="1" dirty="0" smtClean="0">
                        <a:latin typeface="Cambria Math" panose="02040503050406030204" charset="0"/>
                        <a:ea typeface="黑体" panose="02010609060101010101" pitchFamily="49" charset="-122"/>
                      </a:rPr>
                      <m:t>d</m:t>
                    </m:r>
                    <m:r>
                      <a:rPr kumimoji="1" lang="en-US" altLang="zh-CN" sz="2800" i="1" dirty="0">
                        <a:latin typeface="Cambria Math" panose="02040503050406030204" charset="0"/>
                        <a:ea typeface="黑体" panose="02010609060101010101" pitchFamily="49" charset="-122"/>
                      </a:rPr>
                      <m:t>𝑥</m:t>
                    </m:r>
                  </m:oMath>
                </a14:m>
                <a:endParaRPr kumimoji="1" lang="en-US" altLang="zh-CN" sz="2800" dirty="0">
                  <a:latin typeface="Cambria Math" panose="02040503050406030204" charset="0"/>
                  <a:ea typeface="黑体" panose="02010609060101010101" pitchFamily="49" charset="-122"/>
                  <a:cs typeface="Times New Roman" panose="02020603050405020304" pitchFamily="18"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2751455" y="1752600"/>
                <a:ext cx="3205462" cy="523220"/>
              </a:xfrm>
              <a:prstGeom prst="rect">
                <a:avLst/>
              </a:prstGeom>
              <a:blipFill rotWithShape="1">
                <a:blip r:embed="rId3"/>
                <a:stretch>
                  <a:fillRect r="19" b="11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3440430" y="2414270"/>
                <a:ext cx="8338820" cy="521970"/>
              </a:xfrm>
              <a:prstGeom prst="rect">
                <a:avLst/>
              </a:prstGeom>
              <a:noFill/>
            </p:spPr>
            <p:txBody>
              <a:bodyPr wrap="square" rtlCol="0">
                <a:spAutoFit/>
              </a:bodyPr>
              <a:lstStyle/>
              <a:p>
                <a:r>
                  <a:rPr lang="zh-CN" altLang="en-US" sz="2800" dirty="0">
                    <a:latin typeface="黑体" panose="02010609060101010101" pitchFamily="49" charset="-122"/>
                    <a:ea typeface="黑体" panose="02010609060101010101" pitchFamily="49" charset="-122"/>
                    <a:cs typeface="黑体" panose="02010609060101010101" pitchFamily="49" charset="-122"/>
                  </a:rPr>
                  <a:t>就是说</a:t>
                </a:r>
                <a14:m>
                  <m:oMath xmlns:m="http://schemas.openxmlformats.org/officeDocument/2006/math">
                    <m:r>
                      <a:rPr kumimoji="1" lang="zh-CN" altLang="en-US" sz="2800" dirty="0">
                        <a:solidFill>
                          <a:schemeClr val="tx1">
                            <a:lumMod val="95000"/>
                            <a:lumOff val="5000"/>
                          </a:schemeClr>
                        </a:solidFill>
                        <a:latin typeface="Cambria Math" panose="02040503050406030204" charset="0"/>
                        <a:ea typeface="黑体" panose="02010609060101010101" pitchFamily="49" charset="-122"/>
                      </a:rPr>
                      <m:t>,</m:t>
                    </m:r>
                  </m:oMath>
                </a14:m>
                <a:r>
                  <a:rPr lang="zh-CN" altLang="en-US" sz="2800" dirty="0">
                    <a:latin typeface="黑体" panose="02010609060101010101" pitchFamily="49" charset="-122"/>
                    <a:ea typeface="黑体" panose="02010609060101010101" pitchFamily="49" charset="-122"/>
                    <a:cs typeface="黑体" panose="02010609060101010101" pitchFamily="49" charset="-122"/>
                  </a:rPr>
                  <a:t> 能把微分方程写成一端只含</a:t>
                </a:r>
                <a14:m>
                  <m:oMath xmlns:m="http://schemas.openxmlformats.org/officeDocument/2006/math">
                    <m:r>
                      <a:rPr kumimoji="1" lang="en-US" altLang="zh-CN" sz="2800" i="1" dirty="0" smtClean="0">
                        <a:latin typeface="Cambria Math" panose="02040503050406030204" charset="0"/>
                        <a:ea typeface="黑体" panose="02010609060101010101" pitchFamily="49" charset="-122"/>
                      </a:rPr>
                      <m:t>𝑦</m:t>
                    </m:r>
                  </m:oMath>
                </a14:m>
                <a:r>
                  <a:rPr lang="zh-CN" altLang="en-US" sz="2800" dirty="0">
                    <a:latin typeface="黑体" panose="02010609060101010101" pitchFamily="49" charset="-122"/>
                    <a:ea typeface="黑体" panose="02010609060101010101" pitchFamily="49" charset="-122"/>
                    <a:cs typeface="黑体" panose="02010609060101010101" pitchFamily="49" charset="-122"/>
                  </a:rPr>
                  <a:t>的函数和</a:t>
                </a:r>
                <a14:m>
                  <m:oMath xmlns:m="http://schemas.openxmlformats.org/officeDocument/2006/math">
                    <m:r>
                      <m:rPr>
                        <m:sty m:val="p"/>
                      </m:rPr>
                      <a:rPr kumimoji="1" lang="en-US" altLang="zh-CN" sz="2800" dirty="0">
                        <a:latin typeface="Cambria Math" panose="02040503050406030204" charset="0"/>
                        <a:ea typeface="黑体" panose="02010609060101010101" pitchFamily="49" charset="-122"/>
                      </a:rPr>
                      <m:t>d</m:t>
                    </m:r>
                    <m:r>
                      <a:rPr kumimoji="1" lang="en-US" altLang="zh-CN" sz="2800" i="1" dirty="0">
                        <a:latin typeface="Cambria Math" panose="02040503050406030204" charset="0"/>
                        <a:ea typeface="黑体" panose="02010609060101010101" pitchFamily="49" charset="-122"/>
                      </a:rPr>
                      <m:t>𝑦</m:t>
                    </m:r>
                    <m:r>
                      <a:rPr kumimoji="1" lang="zh-CN" altLang="en-US" sz="2800" dirty="0">
                        <a:solidFill>
                          <a:schemeClr val="tx1">
                            <a:lumMod val="95000"/>
                            <a:lumOff val="5000"/>
                          </a:schemeClr>
                        </a:solidFill>
                        <a:latin typeface="Cambria Math" panose="02040503050406030204" charset="0"/>
                        <a:ea typeface="黑体" panose="02010609060101010101" pitchFamily="49" charset="-122"/>
                      </a:rPr>
                      <m:t>,</m:t>
                    </m:r>
                  </m:oMath>
                </a14:m>
                <a:endParaRPr lang="zh-CN" altLang="en-US" sz="2800" dirty="0">
                  <a:latin typeface="黑体" panose="02010609060101010101" pitchFamily="49" charset="-122"/>
                  <a:ea typeface="黑体" panose="02010609060101010101" pitchFamily="49" charset="-122"/>
                  <a:cs typeface="黑体" panose="02010609060101010101" pitchFamily="49" charset="-122"/>
                </a:endParaRPr>
              </a:p>
            </p:txBody>
          </p:sp>
        </mc:Choice>
        <mc:Fallback>
          <p:sp>
            <p:nvSpPr>
              <p:cNvPr id="5" name="文本框 4"/>
              <p:cNvSpPr txBox="1">
                <a:spLocks noRot="1" noChangeAspect="1" noMove="1" noResize="1" noEditPoints="1" noAdjustHandles="1" noChangeArrowheads="1" noChangeShapeType="1" noTextEdit="1"/>
              </p:cNvSpPr>
              <p:nvPr/>
            </p:nvSpPr>
            <p:spPr>
              <a:xfrm>
                <a:off x="3440430" y="2414270"/>
                <a:ext cx="8338820" cy="521970"/>
              </a:xfrm>
              <a:prstGeom prst="rect">
                <a:avLst/>
              </a:prstGeom>
              <a:blipFill rotWithShape="1">
                <a:blip r:embed="rId4"/>
                <a:stretch>
                  <a:fillRect/>
                </a:stretch>
              </a:blipFill>
            </p:spPr>
            <p:txBody>
              <a:bodyPr/>
              <a:lstStyle/>
              <a:p>
                <a:r>
                  <a:rPr lang="zh-CN" altLang="en-US">
                    <a:noFill/>
                  </a:rPr>
                  <a:t> </a:t>
                </a:r>
              </a:p>
            </p:txBody>
          </p:sp>
        </mc:Fallback>
      </mc:AlternateContent>
      <p:sp>
        <p:nvSpPr>
          <p:cNvPr id="6" name="文本框 5"/>
          <p:cNvSpPr txBox="1"/>
          <p:nvPr/>
        </p:nvSpPr>
        <p:spPr>
          <a:xfrm>
            <a:off x="6134735" y="3055644"/>
            <a:ext cx="5826760" cy="521970"/>
          </a:xfrm>
          <a:prstGeom prst="rect">
            <a:avLst/>
          </a:prstGeom>
          <a:noFill/>
        </p:spPr>
        <p:txBody>
          <a:bodyPr wrap="square" rtlCol="0">
            <a:spAutoFit/>
          </a:bodyPr>
          <a:lstStyle/>
          <a:p>
            <a:r>
              <a:rPr lang="zh-CN" altLang="en-US" sz="2800" dirty="0">
                <a:latin typeface="黑体" panose="02010609060101010101" pitchFamily="49" charset="-122"/>
                <a:ea typeface="黑体" panose="02010609060101010101" pitchFamily="49" charset="-122"/>
              </a:rPr>
              <a:t>那么原方程就称为</a:t>
            </a:r>
            <a:r>
              <a:rPr lang="zh-CN" altLang="en-US" sz="2800" b="1" dirty="0">
                <a:solidFill>
                  <a:srgbClr val="04926A"/>
                </a:solidFill>
                <a:highlight>
                  <a:srgbClr val="FFFF00"/>
                </a:highlight>
                <a:latin typeface="黑体" panose="02010609060101010101" pitchFamily="49" charset="-122"/>
                <a:ea typeface="黑体" panose="02010609060101010101" pitchFamily="49" charset="-122"/>
              </a:rPr>
              <a:t>可分离变量的</a:t>
            </a:r>
            <a:endParaRPr lang="zh-CN" altLang="en-US" sz="2800" b="1" dirty="0">
              <a:solidFill>
                <a:srgbClr val="04926A"/>
              </a:solidFill>
              <a:highlight>
                <a:srgbClr val="FFFF00"/>
              </a:highlight>
              <a:latin typeface="黑体" panose="02010609060101010101" pitchFamily="49" charset="-122"/>
              <a:ea typeface="黑体" panose="02010609060101010101" pitchFamily="49" charset="-122"/>
            </a:endParaRPr>
          </a:p>
        </p:txBody>
      </p:sp>
      <mc:AlternateContent xmlns:mc="http://schemas.openxmlformats.org/markup-compatibility/2006">
        <mc:Choice xmlns:a14="http://schemas.microsoft.com/office/drawing/2010/main" Requires="a14">
          <p:sp>
            <p:nvSpPr>
              <p:cNvPr id="7" name="文本框 6"/>
              <p:cNvSpPr txBox="1"/>
              <p:nvPr/>
            </p:nvSpPr>
            <p:spPr>
              <a:xfrm>
                <a:off x="2136898" y="3073400"/>
                <a:ext cx="4255770" cy="521970"/>
              </a:xfrm>
              <a:prstGeom prst="rect">
                <a:avLst/>
              </a:prstGeom>
              <a:noFill/>
            </p:spPr>
            <p:txBody>
              <a:bodyPr wrap="square" rtlCol="0">
                <a:spAutoFit/>
              </a:bodyPr>
              <a:lstStyle/>
              <a:p>
                <a:r>
                  <a:rPr lang="zh-CN" altLang="en-US" sz="2800" dirty="0">
                    <a:latin typeface="黑体" panose="02010609060101010101" pitchFamily="49" charset="-122"/>
                    <a:ea typeface="黑体" panose="02010609060101010101" pitchFamily="49" charset="-122"/>
                    <a:cs typeface="黑体" panose="02010609060101010101" pitchFamily="49" charset="-122"/>
                  </a:rPr>
                  <a:t>另一端只含</a:t>
                </a:r>
                <a14:m>
                  <m:oMath xmlns:m="http://schemas.openxmlformats.org/officeDocument/2006/math">
                    <m:r>
                      <a:rPr kumimoji="1" lang="en-US" altLang="zh-CN" sz="2800" i="1" dirty="0">
                        <a:latin typeface="Cambria Math" panose="02040503050406030204" charset="0"/>
                        <a:ea typeface="黑体" panose="02010609060101010101" pitchFamily="49" charset="-122"/>
                      </a:rPr>
                      <m:t>𝑥</m:t>
                    </m:r>
                  </m:oMath>
                </a14:m>
                <a:r>
                  <a:rPr lang="zh-CN" altLang="en-US" sz="2800" dirty="0">
                    <a:latin typeface="黑体" panose="02010609060101010101" pitchFamily="49" charset="-122"/>
                    <a:ea typeface="黑体" panose="02010609060101010101" pitchFamily="49" charset="-122"/>
                    <a:cs typeface="黑体" panose="02010609060101010101" pitchFamily="49" charset="-122"/>
                  </a:rPr>
                  <a:t>的函数和</a:t>
                </a:r>
                <a14:m>
                  <m:oMath xmlns:m="http://schemas.openxmlformats.org/officeDocument/2006/math">
                    <m:r>
                      <m:rPr>
                        <m:sty m:val="p"/>
                      </m:rPr>
                      <a:rPr kumimoji="1" lang="en-US" altLang="zh-CN" sz="2800" i="1" dirty="0">
                        <a:latin typeface="Cambria Math" panose="02040503050406030204" charset="0"/>
                        <a:ea typeface="黑体" panose="02010609060101010101" pitchFamily="49" charset="-122"/>
                      </a:rPr>
                      <m:t>d</m:t>
                    </m:r>
                    <m:r>
                      <a:rPr kumimoji="1" lang="en-US" altLang="zh-CN" sz="2800" i="1" dirty="0">
                        <a:latin typeface="Cambria Math" panose="02040503050406030204" charset="0"/>
                        <a:ea typeface="黑体" panose="02010609060101010101" pitchFamily="49" charset="-122"/>
                      </a:rPr>
                      <m:t>𝑥</m:t>
                    </m:r>
                  </m:oMath>
                </a14:m>
                <a:r>
                  <a:rPr kumimoji="1" lang="zh-CN" altLang="en-US" sz="2800" dirty="0">
                    <a:solidFill>
                      <a:schemeClr val="tx1">
                        <a:lumMod val="95000"/>
                        <a:lumOff val="5000"/>
                      </a:schemeClr>
                    </a:solidFill>
                    <a:ea typeface="黑体" panose="02010609060101010101" pitchFamily="49" charset="-122"/>
                  </a:rPr>
                  <a:t> </a:t>
                </a:r>
                <a14:m>
                  <m:oMath xmlns:m="http://schemas.openxmlformats.org/officeDocument/2006/math">
                    <m:r>
                      <a:rPr kumimoji="1" lang="zh-CN" altLang="en-US" sz="2800" dirty="0">
                        <a:solidFill>
                          <a:schemeClr val="tx1">
                            <a:lumMod val="95000"/>
                            <a:lumOff val="5000"/>
                          </a:schemeClr>
                        </a:solidFill>
                        <a:latin typeface="Cambria Math" panose="02040503050406030204" charset="0"/>
                        <a:ea typeface="黑体" panose="02010609060101010101" pitchFamily="49" charset="-122"/>
                      </a:rPr>
                      <m:t>,</m:t>
                    </m:r>
                  </m:oMath>
                </a14:m>
                <a:endParaRPr lang="zh-CN" altLang="en-US" sz="2800" dirty="0">
                  <a:latin typeface="黑体" panose="02010609060101010101" pitchFamily="49" charset="-122"/>
                  <a:ea typeface="黑体" panose="02010609060101010101" pitchFamily="49" charset="-122"/>
                  <a:cs typeface="黑体" panose="02010609060101010101" pitchFamily="49" charset="-122"/>
                </a:endParaRPr>
              </a:p>
            </p:txBody>
          </p:sp>
        </mc:Choice>
        <mc:Fallback>
          <p:sp>
            <p:nvSpPr>
              <p:cNvPr id="7" name="文本框 6"/>
              <p:cNvSpPr txBox="1">
                <a:spLocks noRot="1" noChangeAspect="1" noMove="1" noResize="1" noEditPoints="1" noAdjustHandles="1" noChangeArrowheads="1" noChangeShapeType="1" noTextEdit="1"/>
              </p:cNvSpPr>
              <p:nvPr/>
            </p:nvSpPr>
            <p:spPr>
              <a:xfrm>
                <a:off x="2136898" y="3073400"/>
                <a:ext cx="4255770" cy="521970"/>
              </a:xfrm>
              <a:prstGeom prst="rect">
                <a:avLst/>
              </a:prstGeom>
              <a:blipFill rotWithShape="1">
                <a:blip r:embed="rId5"/>
                <a:stretch>
                  <a:fillRect l="-3" r="3"/>
                </a:stretch>
              </a:blipFill>
            </p:spPr>
            <p:txBody>
              <a:bodyPr/>
              <a:lstStyle/>
              <a:p>
                <a:r>
                  <a:rPr lang="zh-CN" altLang="en-US">
                    <a:noFill/>
                  </a:rPr>
                  <a:t> </a:t>
                </a:r>
              </a:p>
            </p:txBody>
          </p:sp>
        </mc:Fallback>
      </mc:AlternateContent>
      <p:sp>
        <p:nvSpPr>
          <p:cNvPr id="10" name="文本框 9"/>
          <p:cNvSpPr txBox="1"/>
          <p:nvPr/>
        </p:nvSpPr>
        <p:spPr>
          <a:xfrm>
            <a:off x="2136898" y="3673475"/>
            <a:ext cx="1792605" cy="521970"/>
          </a:xfrm>
          <a:prstGeom prst="rect">
            <a:avLst/>
          </a:prstGeom>
          <a:noFill/>
        </p:spPr>
        <p:txBody>
          <a:bodyPr wrap="none" rtlCol="0">
            <a:spAutoFit/>
          </a:bodyPr>
          <a:lstStyle/>
          <a:p>
            <a:r>
              <a:rPr lang="zh-CN" altLang="en-US" sz="2800" b="1" dirty="0">
                <a:solidFill>
                  <a:srgbClr val="04926A"/>
                </a:solidFill>
                <a:highlight>
                  <a:srgbClr val="FFFF00"/>
                </a:highlight>
                <a:latin typeface="黑体" panose="02010609060101010101" pitchFamily="49" charset="-122"/>
                <a:ea typeface="黑体" panose="02010609060101010101" pitchFamily="49" charset="-122"/>
              </a:rPr>
              <a:t>微分方程</a:t>
            </a:r>
            <a:r>
              <a:rPr lang="en-US" altLang="zh-CN" sz="2800" b="1" dirty="0">
                <a:solidFill>
                  <a:srgbClr val="04926A"/>
                </a:solidFill>
                <a:latin typeface="黑体" panose="02010609060101010101" pitchFamily="49" charset="-122"/>
                <a:ea typeface="黑体" panose="02010609060101010101" pitchFamily="49" charset="-122"/>
              </a:rPr>
              <a:t>.</a:t>
            </a:r>
            <a:endParaRPr lang="en-US" altLang="zh-CN" sz="2800" b="1" dirty="0">
              <a:solidFill>
                <a:srgbClr val="04926A"/>
              </a:solidFill>
              <a:latin typeface="微软雅黑" panose="020B0503020204020204" charset="-122"/>
              <a:ea typeface="微软雅黑" panose="020B0503020204020204" charset="-122"/>
              <a:cs typeface="微软雅黑" panose="020B0503020204020204" charset="-122"/>
            </a:endParaRPr>
          </a:p>
        </p:txBody>
      </p:sp>
      <p:grpSp>
        <p:nvGrpSpPr>
          <p:cNvPr id="13" name="组合 12"/>
          <p:cNvGrpSpPr/>
          <p:nvPr/>
        </p:nvGrpSpPr>
        <p:grpSpPr>
          <a:xfrm>
            <a:off x="958850" y="4611890"/>
            <a:ext cx="984250" cy="449580"/>
            <a:chOff x="1454" y="8251"/>
            <a:chExt cx="1550" cy="708"/>
          </a:xfrm>
        </p:grpSpPr>
        <p:sp>
          <p:nvSpPr>
            <p:cNvPr id="11" name="圆角矩形 10"/>
            <p:cNvSpPr/>
            <p:nvPr/>
          </p:nvSpPr>
          <p:spPr>
            <a:xfrm>
              <a:off x="1454" y="8252"/>
              <a:ext cx="1474" cy="707"/>
            </a:xfrm>
            <a:prstGeom prst="roundRect">
              <a:avLst/>
            </a:prstGeom>
            <a:solidFill>
              <a:srgbClr val="049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2" name="Text Box 28"/>
            <p:cNvSpPr txBox="1">
              <a:spLocks noChangeArrowheads="1"/>
            </p:cNvSpPr>
            <p:nvPr/>
          </p:nvSpPr>
          <p:spPr bwMode="auto">
            <a:xfrm>
              <a:off x="1566" y="8251"/>
              <a:ext cx="1438" cy="6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bIns="0">
              <a:spAutoFit/>
            </a:bodyPr>
            <a:lstStyle>
              <a:lvl1pPr>
                <a:lnSpc>
                  <a:spcPct val="85000"/>
                </a:lnSpc>
                <a:defRPr kumimoji="1" sz="2800" b="1">
                  <a:solidFill>
                    <a:schemeClr val="tx2"/>
                  </a:solidFill>
                  <a:latin typeface="Times New Roman" panose="02020603050405020304" pitchFamily="18" charset="0"/>
                  <a:ea typeface="楷体_GB2312" pitchFamily="49" charset="-122"/>
                </a:defRPr>
              </a:lvl1pPr>
              <a:lvl2pPr marL="742950" indent="-285750">
                <a:lnSpc>
                  <a:spcPct val="85000"/>
                </a:lnSpc>
                <a:defRPr kumimoji="1" sz="2800" b="1">
                  <a:solidFill>
                    <a:schemeClr val="tx2"/>
                  </a:solidFill>
                  <a:latin typeface="Times New Roman" panose="02020603050405020304" pitchFamily="18" charset="0"/>
                  <a:ea typeface="楷体_GB2312" pitchFamily="49" charset="-122"/>
                </a:defRPr>
              </a:lvl2pPr>
              <a:lvl3pPr marL="1143000" indent="-228600">
                <a:lnSpc>
                  <a:spcPct val="85000"/>
                </a:lnSpc>
                <a:defRPr kumimoji="1" sz="2800" b="1">
                  <a:solidFill>
                    <a:schemeClr val="tx2"/>
                  </a:solidFill>
                  <a:latin typeface="Times New Roman" panose="02020603050405020304" pitchFamily="18" charset="0"/>
                  <a:ea typeface="楷体_GB2312" pitchFamily="49" charset="-122"/>
                </a:defRPr>
              </a:lvl3pPr>
              <a:lvl4pPr marL="1600200" indent="-228600">
                <a:lnSpc>
                  <a:spcPct val="85000"/>
                </a:lnSpc>
                <a:defRPr kumimoji="1" sz="2800" b="1">
                  <a:solidFill>
                    <a:schemeClr val="tx2"/>
                  </a:solidFill>
                  <a:latin typeface="Times New Roman" panose="02020603050405020304" pitchFamily="18" charset="0"/>
                  <a:ea typeface="楷体_GB2312" pitchFamily="49" charset="-122"/>
                </a:defRPr>
              </a:lvl4pPr>
              <a:lvl5pPr marL="2057400" indent="-228600">
                <a:lnSpc>
                  <a:spcPct val="85000"/>
                </a:lnSpc>
                <a:defRPr kumimoji="1" sz="2800" b="1">
                  <a:solidFill>
                    <a:schemeClr val="tx2"/>
                  </a:solidFill>
                  <a:latin typeface="Times New Roman" panose="02020603050405020304" pitchFamily="18" charset="0"/>
                  <a:ea typeface="楷体_GB2312" pitchFamily="49" charset="-122"/>
                </a:defRPr>
              </a:lvl5pPr>
              <a:lvl6pPr marL="25146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6pPr>
              <a:lvl7pPr marL="29718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7pPr>
              <a:lvl8pPr marL="34290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8pPr>
              <a:lvl9pPr marL="38862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50000"/>
                </a:spcBef>
                <a:spcAft>
                  <a:spcPct val="0"/>
                </a:spcAft>
                <a:buClrTx/>
                <a:buSzTx/>
                <a:defRPr/>
              </a:pPr>
              <a:r>
                <a:rPr kumimoji="1" lang="zh-CN" altLang="en-US"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例如</a:t>
              </a:r>
              <a:r>
                <a:rPr kumimoji="1" lang="en-US" altLang="zh-CN"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a:t>
              </a:r>
              <a:endParaRPr kumimoji="1" lang="zh-CN" altLang="en-US"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14" name="AutoShape 25"/>
          <p:cNvSpPr>
            <a:spLocks noChangeArrowheads="1"/>
          </p:cNvSpPr>
          <p:nvPr/>
        </p:nvSpPr>
        <p:spPr bwMode="auto">
          <a:xfrm>
            <a:off x="4146550" y="4679633"/>
            <a:ext cx="1296035" cy="295275"/>
          </a:xfrm>
          <a:prstGeom prst="rightArrow">
            <a:avLst>
              <a:gd name="adj1" fmla="val 50000"/>
              <a:gd name="adj2" fmla="val 100221"/>
            </a:avLst>
          </a:prstGeom>
          <a:solidFill>
            <a:srgbClr val="04926A"/>
          </a:solidFill>
          <a:ln w="9525">
            <a:noFill/>
            <a:miter lim="800000"/>
          </a:ln>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dirty="0">
              <a:ln>
                <a:noFill/>
              </a:ln>
              <a:solidFill>
                <a:prstClr val="black"/>
              </a:solidFill>
              <a:effectLst/>
              <a:uLnTx/>
              <a:uFillTx/>
              <a:latin typeface="Cambria Math" panose="02040503050406030204" charset="0"/>
              <a:ea typeface="黑体" panose="02010609060101010101" pitchFamily="49" charset="-122"/>
              <a:cs typeface="+mn-cs"/>
            </a:endParaRPr>
          </a:p>
        </p:txBody>
      </p:sp>
      <mc:AlternateContent xmlns:mc="http://schemas.openxmlformats.org/markup-compatibility/2006">
        <mc:Choice xmlns:a14="http://schemas.microsoft.com/office/drawing/2010/main" Requires="a14">
          <p:sp>
            <p:nvSpPr>
              <p:cNvPr id="16" name="文本框 15"/>
              <p:cNvSpPr txBox="1"/>
              <p:nvPr/>
            </p:nvSpPr>
            <p:spPr>
              <a:xfrm>
                <a:off x="5666740" y="4539651"/>
                <a:ext cx="2059305" cy="521970"/>
              </a:xfrm>
              <a:prstGeom prst="rect">
                <a:avLst/>
              </a:prstGeom>
              <a:noFill/>
            </p:spPr>
            <p:txBody>
              <a:bodyPr wrap="square" rtlCol="0">
                <a:spAutoFit/>
              </a:bodyPr>
              <a:lstStyle/>
              <a:p>
                <a14:m>
                  <m:oMath xmlns:m="http://schemas.openxmlformats.org/officeDocument/2006/math">
                    <m:r>
                      <m:rPr>
                        <m:sty m:val="p"/>
                      </m:rPr>
                      <a:rPr kumimoji="1" lang="en-US" altLang="zh-CN" sz="2800" i="1" dirty="0">
                        <a:latin typeface="Cambria Math" panose="02040503050406030204" charset="0"/>
                        <a:ea typeface="黑体" panose="02010609060101010101" pitchFamily="49" charset="-122"/>
                      </a:rPr>
                      <m:t>d</m:t>
                    </m:r>
                    <m:r>
                      <a:rPr kumimoji="1" lang="en-US" altLang="zh-CN" sz="2800" i="1" dirty="0">
                        <a:latin typeface="Cambria Math" panose="02040503050406030204" charset="0"/>
                        <a:ea typeface="黑体" panose="02010609060101010101" pitchFamily="49" charset="-122"/>
                      </a:rPr>
                      <m:t>𝑦</m:t>
                    </m:r>
                  </m:oMath>
                </a14:m>
                <a:r>
                  <a:rPr kumimoji="1" lang="en-US" altLang="zh-CN" sz="2800" i="1" dirty="0">
                    <a:latin typeface="Cambria Math" panose="02040503050406030204" charset="0"/>
                    <a:ea typeface="黑体" panose="02010609060101010101" pitchFamily="49" charset="-122"/>
                  </a:rPr>
                  <a:t> </a:t>
                </a:r>
                <a:r>
                  <a:rPr kumimoji="1" lang="en-US" altLang="zh-CN" sz="2800" dirty="0">
                    <a:latin typeface="Cambria Math" panose="02040503050406030204" charset="0"/>
                    <a:ea typeface="黑体" panose="02010609060101010101" pitchFamily="49" charset="-122"/>
                  </a:rPr>
                  <a:t>=</a:t>
                </a:r>
                <a:r>
                  <a:rPr kumimoji="1" lang="en-US" altLang="zh-CN" sz="2800" i="1" dirty="0">
                    <a:latin typeface="Cambria Math" panose="02040503050406030204" charset="0"/>
                    <a:ea typeface="黑体" panose="02010609060101010101" pitchFamily="49" charset="-122"/>
                  </a:rPr>
                  <a:t> </a:t>
                </a:r>
                <a14:m>
                  <m:oMath xmlns:m="http://schemas.openxmlformats.org/officeDocument/2006/math">
                    <m:r>
                      <a:rPr kumimoji="1" lang="en-US" altLang="zh-CN" sz="2800" i="1" dirty="0">
                        <a:latin typeface="Cambria Math" panose="02040503050406030204" charset="0"/>
                        <a:ea typeface="黑体" panose="02010609060101010101" pitchFamily="49" charset="-122"/>
                      </a:rPr>
                      <m:t>2</m:t>
                    </m:r>
                    <m:r>
                      <a:rPr kumimoji="1" lang="en-US" altLang="zh-CN" sz="2800" i="1" dirty="0">
                        <a:latin typeface="Cambria Math" panose="02040503050406030204" charset="0"/>
                        <a:ea typeface="黑体" panose="02010609060101010101" pitchFamily="49" charset="-122"/>
                      </a:rPr>
                      <m:t>𝑥</m:t>
                    </m:r>
                    <m:r>
                      <m:rPr>
                        <m:sty m:val="p"/>
                      </m:rPr>
                      <a:rPr kumimoji="1" lang="en-US" altLang="zh-CN" sz="2800" i="1" dirty="0">
                        <a:latin typeface="Cambria Math" panose="02040503050406030204" charset="0"/>
                        <a:ea typeface="黑体" panose="02010609060101010101" pitchFamily="49" charset="-122"/>
                      </a:rPr>
                      <m:t>d</m:t>
                    </m:r>
                    <m:r>
                      <a:rPr kumimoji="1" lang="en-US" altLang="zh-CN" sz="2800" i="1" dirty="0">
                        <a:latin typeface="Cambria Math" panose="02040503050406030204" charset="0"/>
                        <a:ea typeface="黑体" panose="02010609060101010101" pitchFamily="49" charset="-122"/>
                      </a:rPr>
                      <m:t>𝑥</m:t>
                    </m:r>
                  </m:oMath>
                </a14:m>
                <a:endParaRPr kumimoji="1" lang="en-US" altLang="zh-CN" sz="2800" i="1" dirty="0">
                  <a:latin typeface="Cambria Math" panose="02040503050406030204" charset="0"/>
                  <a:ea typeface="黑体" panose="02010609060101010101" pitchFamily="49" charset="-122"/>
                </a:endParaRPr>
              </a:p>
            </p:txBody>
          </p:sp>
        </mc:Choice>
        <mc:Fallback>
          <p:sp>
            <p:nvSpPr>
              <p:cNvPr id="16" name="文本框 15"/>
              <p:cNvSpPr txBox="1">
                <a:spLocks noRot="1" noChangeAspect="1" noMove="1" noResize="1" noEditPoints="1" noAdjustHandles="1" noChangeArrowheads="1" noChangeShapeType="1" noTextEdit="1"/>
              </p:cNvSpPr>
              <p:nvPr/>
            </p:nvSpPr>
            <p:spPr>
              <a:xfrm>
                <a:off x="5666740" y="4539651"/>
                <a:ext cx="2059305" cy="521970"/>
              </a:xfrm>
              <a:prstGeom prst="rect">
                <a:avLst/>
              </a:prstGeom>
              <a:blipFill rotWithShape="1">
                <a:blip r:embed="rId6"/>
                <a:stretch>
                  <a:fillRect t="-7" b="7"/>
                </a:stretch>
              </a:blipFill>
            </p:spPr>
            <p:txBody>
              <a:bodyPr/>
              <a:lstStyle/>
              <a:p>
                <a:r>
                  <a:rPr lang="zh-CN" altLang="en-US">
                    <a:noFill/>
                  </a:rPr>
                  <a:t> </a:t>
                </a:r>
              </a:p>
            </p:txBody>
          </p:sp>
        </mc:Fallback>
      </mc:AlternateContent>
      <p:sp>
        <p:nvSpPr>
          <p:cNvPr id="23" name="AutoShape 25"/>
          <p:cNvSpPr>
            <a:spLocks noChangeArrowheads="1"/>
          </p:cNvSpPr>
          <p:nvPr/>
        </p:nvSpPr>
        <p:spPr bwMode="auto">
          <a:xfrm>
            <a:off x="4146550" y="5783898"/>
            <a:ext cx="1296035" cy="295275"/>
          </a:xfrm>
          <a:prstGeom prst="rightArrow">
            <a:avLst>
              <a:gd name="adj1" fmla="val 50000"/>
              <a:gd name="adj2" fmla="val 100221"/>
            </a:avLst>
          </a:prstGeom>
          <a:solidFill>
            <a:srgbClr val="04926A"/>
          </a:solidFill>
          <a:ln w="9525">
            <a:noFill/>
            <a:miter lim="800000"/>
          </a:ln>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dirty="0">
              <a:ln>
                <a:noFill/>
              </a:ln>
              <a:solidFill>
                <a:prstClr val="black"/>
              </a:solidFill>
              <a:effectLst/>
              <a:uLnTx/>
              <a:uFillTx/>
              <a:latin typeface="Cambria Math" panose="02040503050406030204" charset="0"/>
              <a:ea typeface="黑体" panose="02010609060101010101" pitchFamily="49" charset="-122"/>
              <a:cs typeface="+mn-cs"/>
            </a:endParaRPr>
          </a:p>
        </p:txBody>
      </p:sp>
      <p:grpSp>
        <p:nvGrpSpPr>
          <p:cNvPr id="25" name="组合 24"/>
          <p:cNvGrpSpPr/>
          <p:nvPr/>
        </p:nvGrpSpPr>
        <p:grpSpPr>
          <a:xfrm>
            <a:off x="564291" y="459105"/>
            <a:ext cx="4372610" cy="583565"/>
            <a:chOff x="1089" y="948"/>
            <a:chExt cx="6886" cy="919"/>
          </a:xfrm>
        </p:grpSpPr>
        <p:sp>
          <p:nvSpPr>
            <p:cNvPr id="18" name="Text Box 3"/>
            <p:cNvSpPr txBox="1">
              <a:spLocks noChangeArrowheads="1"/>
            </p:cNvSpPr>
            <p:nvPr/>
          </p:nvSpPr>
          <p:spPr bwMode="auto">
            <a:xfrm>
              <a:off x="1089" y="948"/>
              <a:ext cx="5715" cy="919"/>
            </a:xfrm>
            <a:prstGeom prst="rect">
              <a:avLst/>
            </a:prstGeom>
            <a:noFill/>
            <a:ln w="28575">
              <a:noFill/>
              <a:prstDash val="dashDot"/>
              <a:miter lim="800000"/>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fontAlgn="base">
                <a:spcBef>
                  <a:spcPct val="50000"/>
                </a:spcBef>
                <a:buClrTx/>
                <a:buSzTx/>
                <a:buFontTx/>
                <a:defRPr/>
              </a:pPr>
              <a:r>
                <a:rPr kumimoji="1" lang="zh-CN" altLang="en-US" sz="3200" b="1" dirty="0">
                  <a:solidFill>
                    <a:srgbClr val="04926A"/>
                  </a:solidFill>
                  <a:latin typeface="微软雅黑" panose="020B0503020204020204" charset="-122"/>
                  <a:ea typeface="微软雅黑" panose="020B0503020204020204" charset="-122"/>
                  <a:sym typeface="+mn-ea"/>
                </a:rPr>
                <a:t>一、概念及解法</a:t>
              </a:r>
              <a:endParaRPr kumimoji="1" lang="zh-CN" altLang="en-US" sz="3200" b="1" dirty="0">
                <a:solidFill>
                  <a:srgbClr val="04926A"/>
                </a:solidFill>
                <a:latin typeface="微软雅黑" panose="020B0503020204020204" charset="-122"/>
                <a:ea typeface="微软雅黑" panose="020B0503020204020204" charset="-122"/>
                <a:sym typeface="+mn-ea"/>
              </a:endParaRPr>
            </a:p>
          </p:txBody>
        </p:sp>
        <p:sp>
          <p:nvSpPr>
            <p:cNvPr id="24" name="文本框 23"/>
            <p:cNvSpPr txBox="1"/>
            <p:nvPr/>
          </p:nvSpPr>
          <p:spPr>
            <a:xfrm>
              <a:off x="7487" y="1106"/>
              <a:ext cx="488" cy="580"/>
            </a:xfrm>
            <a:prstGeom prst="rect">
              <a:avLst/>
            </a:prstGeom>
            <a:noFill/>
          </p:spPr>
          <p:txBody>
            <a:bodyPr wrap="none" rtlCol="0">
              <a:spAutoFit/>
            </a:bodyPr>
            <a:lstStyle/>
            <a:p>
              <a:endParaRPr lang="zh-CN" altLang="en-US"/>
            </a:p>
          </p:txBody>
        </p:sp>
      </p:grpSp>
      <p:grpSp>
        <p:nvGrpSpPr>
          <p:cNvPr id="29" name="组合 28"/>
          <p:cNvGrpSpPr/>
          <p:nvPr/>
        </p:nvGrpSpPr>
        <p:grpSpPr>
          <a:xfrm>
            <a:off x="2215515" y="4322445"/>
            <a:ext cx="2145030" cy="838200"/>
            <a:chOff x="4256" y="6318"/>
            <a:chExt cx="3378" cy="1320"/>
          </a:xfrm>
        </p:grpSpPr>
        <mc:AlternateContent xmlns:mc="http://schemas.openxmlformats.org/markup-compatibility/2006">
          <mc:Choice xmlns:a14="http://schemas.microsoft.com/office/drawing/2010/main" Requires="a14">
            <p:sp>
              <p:nvSpPr>
                <p:cNvPr id="21" name="对象 12"/>
                <p:cNvSpPr txBox="1"/>
                <p:nvPr/>
              </p:nvSpPr>
              <p:spPr>
                <a:xfrm>
                  <a:off x="4256" y="6318"/>
                  <a:ext cx="3379" cy="1320"/>
                </a:xfrm>
                <a:prstGeom prst="rect">
                  <a:avLst/>
                </a:prstGeom>
                <a:solidFill>
                  <a:schemeClr val="bg2"/>
                </a:solidFill>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f>
                          <m:fPr>
                            <m:ctrlPr>
                              <a:rPr kumimoji="1" lang="en-US" altLang="zh-CN" sz="2800" i="1" dirty="0">
                                <a:latin typeface="Cambria Math" panose="02040503050406030204" charset="0"/>
                                <a:ea typeface="黑体" panose="02010609060101010101" pitchFamily="49" charset="-122"/>
                              </a:rPr>
                            </m:ctrlPr>
                          </m:fPr>
                          <m:num>
                            <m:r>
                              <m:rPr>
                                <m:sty m:val="p"/>
                              </m:rPr>
                              <a:rPr kumimoji="1" lang="en-US" altLang="zh-CN" sz="2800" dirty="0">
                                <a:latin typeface="Cambria Math" panose="02040503050406030204" charset="0"/>
                                <a:ea typeface="黑体" panose="02010609060101010101" pitchFamily="49" charset="-122"/>
                              </a:rPr>
                              <m:t>d</m:t>
                            </m:r>
                            <m:r>
                              <a:rPr kumimoji="1" lang="en-US" altLang="zh-CN" sz="2800" i="1" dirty="0">
                                <a:latin typeface="Cambria Math" panose="02040503050406030204" charset="0"/>
                                <a:ea typeface="黑体" panose="02010609060101010101" pitchFamily="49" charset="-122"/>
                              </a:rPr>
                              <m:t>𝑦</m:t>
                            </m:r>
                          </m:num>
                          <m:den>
                            <m:r>
                              <m:rPr>
                                <m:sty m:val="p"/>
                              </m:rPr>
                              <a:rPr kumimoji="1" lang="en-US" altLang="zh-CN" sz="2800" dirty="0">
                                <a:latin typeface="Cambria Math" panose="02040503050406030204" charset="0"/>
                                <a:ea typeface="黑体" panose="02010609060101010101" pitchFamily="49" charset="-122"/>
                              </a:rPr>
                              <m:t>d</m:t>
                            </m:r>
                            <m:r>
                              <a:rPr kumimoji="1" lang="en-US" altLang="zh-CN" sz="2800" i="1" dirty="0">
                                <a:latin typeface="Cambria Math" panose="02040503050406030204" charset="0"/>
                                <a:ea typeface="黑体" panose="02010609060101010101" pitchFamily="49" charset="-122"/>
                              </a:rPr>
                              <m:t>𝑥</m:t>
                            </m:r>
                          </m:den>
                        </m:f>
                        <m:r>
                          <a:rPr kumimoji="1" lang="en-US" altLang="zh-CN" sz="2800" i="1" dirty="0">
                            <a:latin typeface="Cambria Math" panose="02040503050406030204" charset="0"/>
                            <a:ea typeface="黑体" panose="02010609060101010101" pitchFamily="49" charset="-122"/>
                          </a:rPr>
                          <m:t>=</m:t>
                        </m:r>
                        <m:r>
                          <a:rPr kumimoji="1" lang="en-US" altLang="zh-CN" sz="2800" i="1" dirty="0">
                            <a:latin typeface="Cambria Math" panose="02040503050406030204" charset="0"/>
                            <a:ea typeface="黑体" panose="02010609060101010101" pitchFamily="49" charset="-122"/>
                          </a:rPr>
                          <m:t>2</m:t>
                        </m:r>
                        <m:r>
                          <a:rPr kumimoji="1" lang="en-US" altLang="zh-CN" sz="2800" i="1" dirty="0">
                            <a:latin typeface="Cambria Math" panose="02040503050406030204" charset="0"/>
                            <a:ea typeface="黑体" panose="02010609060101010101" pitchFamily="49" charset="-122"/>
                          </a:rPr>
                          <m:t>𝑥</m:t>
                        </m:r>
                      </m:oMath>
                    </m:oMathPara>
                  </a14:m>
                  <a:endParaRPr kumimoji="1" lang="en-US" altLang="zh-CN" sz="2800" i="1" dirty="0">
                    <a:latin typeface="Cambria Math" panose="02040503050406030204" charset="0"/>
                    <a:ea typeface="黑体" panose="02010609060101010101" pitchFamily="49" charset="-122"/>
                  </a:endParaRPr>
                </a:p>
              </p:txBody>
            </p:sp>
          </mc:Choice>
          <mc:Fallback>
            <p:sp>
              <p:nvSpPr>
                <p:cNvPr id="21" name="对象 12"/>
                <p:cNvSpPr txBox="1">
                  <a:spLocks noRot="1" noChangeAspect="1" noMove="1" noResize="1" noEditPoints="1" noAdjustHandles="1" noChangeArrowheads="1" noChangeShapeType="1" noTextEdit="1"/>
                </p:cNvSpPr>
                <p:nvPr/>
              </p:nvSpPr>
              <p:spPr>
                <a:xfrm>
                  <a:off x="4256" y="6318"/>
                  <a:ext cx="3379" cy="1320"/>
                </a:xfrm>
                <a:prstGeom prst="rect">
                  <a:avLst/>
                </a:prstGeom>
                <a:blipFill rotWithShape="1">
                  <a:blip r:embed="rId7"/>
                </a:blipFill>
              </p:spPr>
              <p:txBody>
                <a:bodyPr/>
                <a:lstStyle/>
                <a:p>
                  <a:r>
                    <a:rPr lang="zh-CN" altLang="en-US">
                      <a:noFill/>
                    </a:rPr>
                    <a:t> </a:t>
                  </a:r>
                </a:p>
              </p:txBody>
            </p:sp>
          </mc:Fallback>
        </mc:AlternateContent>
        <p:sp>
          <p:nvSpPr>
            <p:cNvPr id="28" name="文本框 27"/>
            <p:cNvSpPr txBox="1"/>
            <p:nvPr/>
          </p:nvSpPr>
          <p:spPr>
            <a:xfrm>
              <a:off x="6355" y="7058"/>
              <a:ext cx="488" cy="580"/>
            </a:xfrm>
            <a:prstGeom prst="rect">
              <a:avLst/>
            </a:prstGeom>
            <a:noFill/>
          </p:spPr>
          <p:txBody>
            <a:bodyPr wrap="none" rtlCol="0">
              <a:spAutoFit/>
            </a:bodyPr>
            <a:lstStyle/>
            <a:p>
              <a:endParaRPr lang="zh-CN" altLang="en-US"/>
            </a:p>
          </p:txBody>
        </p:sp>
      </p:grpSp>
      <mc:AlternateContent xmlns:mc="http://schemas.openxmlformats.org/markup-compatibility/2006">
        <mc:Choice xmlns:a14="http://schemas.microsoft.com/office/drawing/2010/main" Requires="a14">
          <p:sp>
            <p:nvSpPr>
              <p:cNvPr id="40" name="对象 39"/>
              <p:cNvSpPr txBox="1"/>
              <p:nvPr/>
            </p:nvSpPr>
            <p:spPr>
              <a:xfrm>
                <a:off x="1604010" y="5481955"/>
                <a:ext cx="2501265" cy="838200"/>
              </a:xfrm>
              <a:prstGeom prst="rect">
                <a:avLst/>
              </a:prstGeom>
              <a:solidFill>
                <a:schemeClr val="bg2"/>
              </a:solidFill>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14:m>
                  <m:oMathPara xmlns:m="http://schemas.openxmlformats.org/officeDocument/2006/math">
                    <m:oMathParaPr>
                      <m:jc m:val="left"/>
                    </m:oMathParaPr>
                    <m:oMath xmlns:m="http://schemas.openxmlformats.org/officeDocument/2006/math">
                      <m:f>
                        <m:fPr>
                          <m:ctrlPr>
                            <a:rPr kumimoji="1" lang="en-US" altLang="zh-CN" sz="2800" i="1" dirty="0">
                              <a:latin typeface="Cambria Math" panose="02040503050406030204" charset="0"/>
                              <a:ea typeface="黑体" panose="02010609060101010101" pitchFamily="49" charset="-122"/>
                              <a:sym typeface="+mn-ea"/>
                            </a:rPr>
                          </m:ctrlPr>
                        </m:fPr>
                        <m:num>
                          <m:r>
                            <m:rPr>
                              <m:sty m:val="p"/>
                            </m:rPr>
                            <a:rPr kumimoji="1" lang="en-US" altLang="zh-CN" sz="2800" i="1" dirty="0">
                              <a:latin typeface="Cambria Math" panose="02040503050406030204" charset="0"/>
                              <a:ea typeface="黑体" panose="02010609060101010101" pitchFamily="49" charset="-122"/>
                              <a:sym typeface="+mn-ea"/>
                            </a:rPr>
                            <m:t>d</m:t>
                          </m:r>
                          <m:r>
                            <a:rPr kumimoji="1" lang="en-US" altLang="zh-CN" sz="2800" i="1" dirty="0">
                              <a:latin typeface="Cambria Math" panose="02040503050406030204" charset="0"/>
                              <a:ea typeface="黑体" panose="02010609060101010101" pitchFamily="49" charset="-122"/>
                              <a:sym typeface="+mn-ea"/>
                            </a:rPr>
                            <m:t>𝑦</m:t>
                          </m:r>
                        </m:num>
                        <m:den>
                          <m:r>
                            <m:rPr>
                              <m:sty m:val="p"/>
                            </m:rPr>
                            <a:rPr kumimoji="1" lang="en-US" altLang="zh-CN" sz="2800" i="1" dirty="0">
                              <a:latin typeface="Cambria Math" panose="02040503050406030204" charset="0"/>
                              <a:ea typeface="黑体" panose="02010609060101010101" pitchFamily="49" charset="-122"/>
                              <a:sym typeface="+mn-ea"/>
                            </a:rPr>
                            <m:t>d</m:t>
                          </m:r>
                          <m:r>
                            <a:rPr kumimoji="1" lang="en-US" altLang="zh-CN" sz="2800" i="1" dirty="0">
                              <a:latin typeface="Cambria Math" panose="02040503050406030204" charset="0"/>
                              <a:ea typeface="黑体" panose="02010609060101010101" pitchFamily="49" charset="-122"/>
                              <a:sym typeface="+mn-ea"/>
                            </a:rPr>
                            <m:t>𝑥</m:t>
                          </m:r>
                        </m:den>
                      </m:f>
                      <m:r>
                        <a:rPr kumimoji="1" lang="en-US" altLang="zh-CN" sz="2800" i="1" dirty="0">
                          <a:latin typeface="Cambria Math" panose="02040503050406030204" charset="0"/>
                          <a:ea typeface="黑体" panose="02010609060101010101" pitchFamily="49" charset="-122"/>
                          <a:sym typeface="+mn-ea"/>
                        </a:rPr>
                        <m:t>=</m:t>
                      </m:r>
                      <m:r>
                        <a:rPr kumimoji="1" lang="en-US" altLang="zh-CN" sz="2800" i="1" dirty="0">
                          <a:latin typeface="Cambria Math" panose="02040503050406030204" charset="0"/>
                          <a:ea typeface="黑体" panose="02010609060101010101" pitchFamily="49" charset="-122"/>
                          <a:sym typeface="+mn-ea"/>
                        </a:rPr>
                        <m:t>2</m:t>
                      </m:r>
                      <m:r>
                        <a:rPr kumimoji="1" lang="en-US" altLang="zh-CN" sz="2800" i="1" dirty="0">
                          <a:latin typeface="Cambria Math" panose="02040503050406030204" charset="0"/>
                          <a:ea typeface="黑体" panose="02010609060101010101" pitchFamily="49" charset="-122"/>
                          <a:sym typeface="+mn-ea"/>
                        </a:rPr>
                        <m:t>𝑥</m:t>
                      </m:r>
                      <m:sSup>
                        <m:sSupPr>
                          <m:ctrlPr>
                            <a:rPr kumimoji="1" lang="en-US" altLang="zh-CN" sz="2800" i="1" dirty="0">
                              <a:latin typeface="Cambria Math" panose="02040503050406030204" charset="0"/>
                              <a:ea typeface="黑体" panose="02010609060101010101" pitchFamily="49" charset="-122"/>
                              <a:sym typeface="+mn-ea"/>
                            </a:rPr>
                          </m:ctrlPr>
                        </m:sSupPr>
                        <m:e>
                          <m:r>
                            <a:rPr kumimoji="1" lang="en-US" altLang="zh-CN" sz="2800" i="1" dirty="0">
                              <a:latin typeface="Cambria Math" panose="02040503050406030204" charset="0"/>
                              <a:ea typeface="黑体" panose="02010609060101010101" pitchFamily="49" charset="-122"/>
                              <a:sym typeface="+mn-ea"/>
                            </a:rPr>
                            <m:t>𝑦</m:t>
                          </m:r>
                        </m:e>
                        <m:sup>
                          <m:r>
                            <a:rPr kumimoji="1" lang="en-US" altLang="zh-CN" sz="2800" i="1" dirty="0">
                              <a:latin typeface="Cambria Math" panose="02040503050406030204" charset="0"/>
                              <a:ea typeface="黑体" panose="02010609060101010101" pitchFamily="49" charset="-122"/>
                              <a:sym typeface="+mn-ea"/>
                            </a:rPr>
                            <m:t>2</m:t>
                          </m:r>
                        </m:sup>
                      </m:sSup>
                    </m:oMath>
                  </m:oMathPara>
                </a14:m>
                <a:endParaRPr lang="zh-CN" altLang="en-US" sz="2800" i="1" dirty="0">
                  <a:solidFill>
                    <a:srgbClr val="000000"/>
                  </a:solidFill>
                  <a:latin typeface="Cambria Math" panose="02040503050406030204" charset="0"/>
                  <a:cs typeface="Cambria Math" panose="02040503050406030204" charset="0"/>
                  <a:sym typeface="+mn-ea"/>
                </a:endParaRPr>
              </a:p>
            </p:txBody>
          </p:sp>
        </mc:Choice>
        <mc:Fallback>
          <p:sp>
            <p:nvSpPr>
              <p:cNvPr id="40" name="对象 39"/>
              <p:cNvSpPr txBox="1">
                <a:spLocks noRot="1" noChangeAspect="1" noMove="1" noResize="1" noEditPoints="1" noAdjustHandles="1" noChangeArrowheads="1" noChangeShapeType="1" noTextEdit="1"/>
              </p:cNvSpPr>
              <p:nvPr/>
            </p:nvSpPr>
            <p:spPr>
              <a:xfrm>
                <a:off x="1604010" y="5481955"/>
                <a:ext cx="2501265" cy="838200"/>
              </a:xfrm>
              <a:prstGeom prst="rect">
                <a:avLst/>
              </a:prstGeom>
              <a:blipFill rotWithShape="1">
                <a:blip r:embed="rId8"/>
                <a:stretch>
                  <a:fillRect b="-1288"/>
                </a:stretch>
              </a:blipFill>
            </p:spPr>
            <p:txBody>
              <a:bodyPr/>
              <a:lstStyle/>
              <a:p>
                <a:r>
                  <a:rPr lang="zh-CN" altLang="en-US">
                    <a:noFill/>
                  </a:rPr>
                  <a:t> </a:t>
                </a:r>
              </a:p>
            </p:txBody>
          </p:sp>
        </mc:Fallback>
      </mc:AlternateContent>
      <p:grpSp>
        <p:nvGrpSpPr>
          <p:cNvPr id="35" name="组合 34"/>
          <p:cNvGrpSpPr/>
          <p:nvPr/>
        </p:nvGrpSpPr>
        <p:grpSpPr>
          <a:xfrm>
            <a:off x="5666740" y="5427944"/>
            <a:ext cx="3050540" cy="914400"/>
            <a:chOff x="9792" y="8017"/>
            <a:chExt cx="4804" cy="1440"/>
          </a:xfrm>
        </p:grpSpPr>
        <mc:AlternateContent xmlns:mc="http://schemas.openxmlformats.org/markup-compatibility/2006">
          <mc:Choice xmlns:a14="http://schemas.microsoft.com/office/drawing/2010/main" Requires="a14">
            <p:sp>
              <p:nvSpPr>
                <p:cNvPr id="44" name="对象 43"/>
                <p:cNvSpPr txBox="1"/>
                <p:nvPr/>
              </p:nvSpPr>
              <p:spPr>
                <a:xfrm>
                  <a:off x="9792" y="8017"/>
                  <a:ext cx="4804" cy="144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14:m>
                    <m:oMathPara xmlns:m="http://schemas.openxmlformats.org/officeDocument/2006/math">
                      <m:oMathParaPr>
                        <m:jc m:val="left"/>
                      </m:oMathParaPr>
                      <m:oMath xmlns:m="http://schemas.openxmlformats.org/officeDocument/2006/math">
                        <m:f>
                          <m:fPr>
                            <m:ctrlPr>
                              <a:rPr kumimoji="1" lang="en-US" altLang="zh-CN" sz="2800" i="1" dirty="0">
                                <a:latin typeface="Cambria Math" panose="02040503050406030204" charset="0"/>
                                <a:ea typeface="黑体" panose="02010609060101010101" pitchFamily="49" charset="-122"/>
                              </a:rPr>
                            </m:ctrlPr>
                          </m:fPr>
                          <m:num>
                            <m:r>
                              <a:rPr kumimoji="1" lang="en-US" altLang="zh-CN" sz="2800" i="1" dirty="0">
                                <a:latin typeface="Cambria Math" panose="02040503050406030204" charset="0"/>
                                <a:ea typeface="黑体" panose="02010609060101010101" pitchFamily="49" charset="-122"/>
                              </a:rPr>
                              <m:t>1</m:t>
                            </m:r>
                          </m:num>
                          <m:den>
                            <m:sSup>
                              <m:sSupPr>
                                <m:ctrlPr>
                                  <a:rPr kumimoji="1" lang="en-US" altLang="zh-CN" sz="2800" i="1" dirty="0">
                                    <a:latin typeface="Cambria Math" panose="02040503050406030204" charset="0"/>
                                    <a:ea typeface="黑体" panose="02010609060101010101" pitchFamily="49" charset="-122"/>
                                  </a:rPr>
                                </m:ctrlPr>
                              </m:sSupPr>
                              <m:e>
                                <m:r>
                                  <a:rPr kumimoji="1" lang="en-US" altLang="zh-CN" sz="2800" i="1" dirty="0">
                                    <a:latin typeface="Cambria Math" panose="02040503050406030204" charset="0"/>
                                    <a:ea typeface="黑体" panose="02010609060101010101" pitchFamily="49" charset="-122"/>
                                  </a:rPr>
                                  <m:t>𝑦</m:t>
                                </m:r>
                              </m:e>
                              <m:sup>
                                <m:r>
                                  <a:rPr kumimoji="1" lang="en-US" altLang="zh-CN" sz="2800" i="1" dirty="0">
                                    <a:latin typeface="Cambria Math" panose="02040503050406030204" charset="0"/>
                                    <a:ea typeface="黑体" panose="02010609060101010101" pitchFamily="49" charset="-122"/>
                                  </a:rPr>
                                  <m:t>2</m:t>
                                </m:r>
                              </m:sup>
                            </m:sSup>
                          </m:den>
                        </m:f>
                        <m:r>
                          <m:rPr>
                            <m:sty m:val="p"/>
                          </m:rPr>
                          <a:rPr kumimoji="1" lang="en-US" altLang="zh-CN" sz="2800" dirty="0">
                            <a:latin typeface="Cambria Math" panose="02040503050406030204" charset="0"/>
                            <a:ea typeface="黑体" panose="02010609060101010101" pitchFamily="49" charset="-122"/>
                          </a:rPr>
                          <m:t>d</m:t>
                        </m:r>
                        <m:r>
                          <a:rPr kumimoji="1" lang="en-US" altLang="zh-CN" sz="2800" i="1" dirty="0">
                            <a:latin typeface="Cambria Math" panose="02040503050406030204" charset="0"/>
                            <a:ea typeface="黑体" panose="02010609060101010101" pitchFamily="49" charset="-122"/>
                          </a:rPr>
                          <m:t>𝑦</m:t>
                        </m:r>
                        <m:r>
                          <a:rPr kumimoji="1" lang="en-US" altLang="zh-CN" sz="2800" i="1" dirty="0">
                            <a:latin typeface="Cambria Math" panose="02040503050406030204" charset="0"/>
                            <a:ea typeface="黑体" panose="02010609060101010101" pitchFamily="49" charset="-122"/>
                          </a:rPr>
                          <m:t>=</m:t>
                        </m:r>
                        <m:r>
                          <a:rPr kumimoji="1" lang="en-US" altLang="zh-CN" sz="2800" i="1" dirty="0">
                            <a:latin typeface="Cambria Math" panose="02040503050406030204" charset="0"/>
                            <a:ea typeface="黑体" panose="02010609060101010101" pitchFamily="49" charset="-122"/>
                          </a:rPr>
                          <m:t>2</m:t>
                        </m:r>
                        <m:r>
                          <a:rPr kumimoji="1" lang="en-US" altLang="zh-CN" sz="2800" i="1" dirty="0">
                            <a:latin typeface="Cambria Math" panose="02040503050406030204" charset="0"/>
                            <a:ea typeface="黑体" panose="02010609060101010101" pitchFamily="49" charset="-122"/>
                          </a:rPr>
                          <m:t>𝑥</m:t>
                        </m:r>
                        <m:r>
                          <m:rPr>
                            <m:sty m:val="p"/>
                          </m:rPr>
                          <a:rPr kumimoji="1" lang="en-US" altLang="zh-CN" sz="2800" dirty="0">
                            <a:latin typeface="Cambria Math" panose="02040503050406030204" charset="0"/>
                            <a:ea typeface="黑体" panose="02010609060101010101" pitchFamily="49" charset="-122"/>
                          </a:rPr>
                          <m:t>d</m:t>
                        </m:r>
                        <m:r>
                          <a:rPr kumimoji="1" lang="en-US" altLang="zh-CN" sz="2800" i="1" dirty="0">
                            <a:latin typeface="Cambria Math" panose="02040503050406030204" charset="0"/>
                            <a:ea typeface="黑体" panose="02010609060101010101" pitchFamily="49" charset="-122"/>
                          </a:rPr>
                          <m:t>𝑥</m:t>
                        </m:r>
                      </m:oMath>
                    </m:oMathPara>
                  </a14:m>
                  <a:endParaRPr kumimoji="1" lang="en-US" altLang="zh-CN" sz="2800" i="1" dirty="0">
                    <a:latin typeface="Cambria Math" panose="02040503050406030204" charset="0"/>
                    <a:ea typeface="黑体" panose="02010609060101010101" pitchFamily="49" charset="-122"/>
                  </a:endParaRPr>
                </a:p>
              </p:txBody>
            </p:sp>
          </mc:Choice>
          <mc:Fallback>
            <p:sp>
              <p:nvSpPr>
                <p:cNvPr id="44" name="对象 43"/>
                <p:cNvSpPr txBox="1">
                  <a:spLocks noRot="1" noChangeAspect="1" noMove="1" noResize="1" noEditPoints="1" noAdjustHandles="1" noChangeArrowheads="1" noChangeShapeType="1" noTextEdit="1"/>
                </p:cNvSpPr>
                <p:nvPr/>
              </p:nvSpPr>
              <p:spPr>
                <a:xfrm>
                  <a:off x="9792" y="8017"/>
                  <a:ext cx="4804" cy="1440"/>
                </a:xfrm>
                <a:prstGeom prst="rect">
                  <a:avLst/>
                </a:prstGeom>
                <a:blipFill rotWithShape="1">
                  <a:blip r:embed="rId9"/>
                </a:blipFill>
              </p:spPr>
              <p:txBody>
                <a:bodyPr/>
                <a:lstStyle/>
                <a:p>
                  <a:r>
                    <a:rPr lang="zh-CN" altLang="en-US">
                      <a:noFill/>
                    </a:rPr>
                    <a:t> </a:t>
                  </a:r>
                </a:p>
              </p:txBody>
            </p:sp>
          </mc:Fallback>
        </mc:AlternateContent>
        <p:sp>
          <p:nvSpPr>
            <p:cNvPr id="32" name="文本框 31"/>
            <p:cNvSpPr txBox="1"/>
            <p:nvPr/>
          </p:nvSpPr>
          <p:spPr>
            <a:xfrm>
              <a:off x="13035" y="8790"/>
              <a:ext cx="488" cy="580"/>
            </a:xfrm>
            <a:prstGeom prst="rect">
              <a:avLst/>
            </a:prstGeom>
            <a:noFill/>
          </p:spPr>
          <p:txBody>
            <a:bodyPr wrap="none" rtlCol="0">
              <a:spAutoFit/>
            </a:bodyPr>
            <a:lstStyle/>
            <a:p>
              <a:endParaRPr lang="zh-CN" altLang="en-US" i="1"/>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wipe(left)">
                                      <p:cBhvr>
                                        <p:cTn id="27" dur="5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left)">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left)">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wipe(left)">
                                      <p:cBhvr>
                                        <p:cTn id="47" dur="50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left)">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wipe(left)">
                                      <p:cBhvr>
                                        <p:cTn id="57" dur="500"/>
                                        <p:tgtEl>
                                          <p:spTgt spid="2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wipe(left)">
                                      <p:cBhvr>
                                        <p:cTn id="62" dur="500"/>
                                        <p:tgtEl>
                                          <p:spTgt spid="1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wipe(left)">
                                      <p:cBhvr>
                                        <p:cTn id="67" dur="500"/>
                                        <p:tgtEl>
                                          <p:spTgt spid="1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wipe(left)">
                                      <p:cBhvr>
                                        <p:cTn id="72" dur="500"/>
                                        <p:tgtEl>
                                          <p:spTgt spid="23"/>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wipe(left)">
                                      <p:cBhvr>
                                        <p:cTn id="7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34" grpId="0"/>
      <p:bldP spid="34" grpId="1"/>
      <p:bldP spid="3" grpId="0"/>
      <p:bldP spid="3" grpId="1"/>
      <p:bldP spid="5" grpId="0"/>
      <p:bldP spid="5" grpId="1"/>
      <p:bldP spid="6" grpId="0"/>
      <p:bldP spid="6" grpId="1"/>
      <p:bldP spid="7" grpId="0"/>
      <p:bldP spid="7" grpId="1"/>
      <p:bldP spid="10" grpId="0"/>
      <p:bldP spid="10" grpId="1"/>
      <p:bldP spid="14" grpId="0" bldLvl="0" animBg="1"/>
      <p:bldP spid="14" grpId="1" animBg="1"/>
      <p:bldP spid="16" grpId="0"/>
      <p:bldP spid="16" grpId="1"/>
      <p:bldP spid="23" grpId="0" bldLvl="0" animBg="1"/>
      <p:bldP spid="23"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1497837" y="473464"/>
            <a:ext cx="1615951" cy="583565"/>
          </a:xfrm>
          <a:prstGeom prst="rect">
            <a:avLst/>
          </a:prstGeom>
          <a:noFill/>
          <a:ln w="28575">
            <a:noFill/>
            <a:prstDash val="dashDot"/>
            <a:miter lim="800000"/>
          </a:ln>
          <a:extLst>
            <a:ext uri="{909E8E84-426E-40DD-AFC4-6F175D3DCCD1}">
              <a14:hiddenFill xmlns:a14="http://schemas.microsoft.com/office/drawing/2010/main">
                <a:solidFill>
                  <a:schemeClr val="accent1"/>
                </a:solidFill>
              </a14:hiddenFill>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fontAlgn="base">
              <a:spcBef>
                <a:spcPct val="50000"/>
              </a:spcBef>
              <a:spcAft>
                <a:spcPct val="0"/>
              </a:spcAft>
              <a:defRPr/>
            </a:pPr>
            <a:r>
              <a:rPr kumimoji="1" lang="en-US" altLang="zh-CN" sz="3200" b="1" i="0" u="none" strike="noStrike" kern="1200" cap="none" spc="0" normalizeH="0" baseline="0" noProof="0" dirty="0">
                <a:ln>
                  <a:noFill/>
                </a:ln>
                <a:solidFill>
                  <a:srgbClr val="04926A"/>
                </a:solidFill>
                <a:effectLst/>
                <a:uLnTx/>
                <a:uFillTx/>
                <a:latin typeface="微软雅黑" panose="020B0503020204020204" charset="-122"/>
                <a:ea typeface="微软雅黑" panose="020B0503020204020204" charset="-122"/>
                <a:cs typeface="微软雅黑" panose="020B0503020204020204" charset="-122"/>
              </a:rPr>
              <a:t>2. </a:t>
            </a:r>
            <a:r>
              <a:rPr kumimoji="1" lang="zh-CN" altLang="en-US" sz="3200" b="1" i="0" u="none" strike="noStrike" kern="1200" cap="none" spc="0" normalizeH="0" baseline="0" noProof="0" dirty="0">
                <a:ln>
                  <a:noFill/>
                </a:ln>
                <a:solidFill>
                  <a:srgbClr val="04926A"/>
                </a:solidFill>
                <a:effectLst/>
                <a:uLnTx/>
                <a:uFillTx/>
                <a:latin typeface="微软雅黑" panose="020B0503020204020204" charset="-122"/>
                <a:ea typeface="微软雅黑" panose="020B0503020204020204" charset="-122"/>
                <a:cs typeface="微软雅黑" panose="020B0503020204020204" charset="-122"/>
              </a:rPr>
              <a:t>解法</a:t>
            </a:r>
            <a:endParaRPr kumimoji="1" lang="zh-CN" altLang="en-US" sz="3200" b="1" i="0" u="none" strike="noStrike" kern="1200" cap="none" spc="0" normalizeH="0" baseline="0" noProof="0" dirty="0">
              <a:ln>
                <a:noFill/>
              </a:ln>
              <a:solidFill>
                <a:srgbClr val="04926A"/>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 name="Text Box 46"/>
          <p:cNvSpPr txBox="1">
            <a:spLocks noChangeArrowheads="1"/>
          </p:cNvSpPr>
          <p:nvPr/>
        </p:nvSpPr>
        <p:spPr bwMode="auto">
          <a:xfrm>
            <a:off x="1497837" y="1121410"/>
            <a:ext cx="2819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50000"/>
              </a:spcBef>
            </a:pPr>
            <a:r>
              <a:rPr lang="zh-CN" altLang="en-US" sz="2800" dirty="0">
                <a:solidFill>
                  <a:srgbClr val="04926A"/>
                </a:solidFill>
                <a:uFillTx/>
                <a:latin typeface="Cambria Math" panose="02040503050406030204" charset="0"/>
                <a:ea typeface="黑体" panose="02010609060101010101" pitchFamily="49" charset="-122"/>
                <a:cs typeface="Cambria Math" panose="02040503050406030204" charset="0"/>
              </a:rPr>
              <a:t>步骤1 分离变量</a:t>
            </a:r>
            <a:endParaRPr lang="zh-CN" altLang="en-US" sz="2800" b="1" dirty="0">
              <a:solidFill>
                <a:srgbClr val="04926A"/>
              </a:solidFill>
              <a:uFillTx/>
              <a:latin typeface="Cambria Math" panose="02040503050406030204" charset="0"/>
              <a:ea typeface="黑体" panose="02010609060101010101" pitchFamily="49" charset="-122"/>
              <a:cs typeface="Cambria Math" panose="02040503050406030204" charset="0"/>
            </a:endParaRPr>
          </a:p>
        </p:txBody>
      </p:sp>
      <p:sp>
        <p:nvSpPr>
          <p:cNvPr id="8" name="Text Box 46"/>
          <p:cNvSpPr txBox="1">
            <a:spLocks noChangeArrowheads="1"/>
          </p:cNvSpPr>
          <p:nvPr/>
        </p:nvSpPr>
        <p:spPr bwMode="auto">
          <a:xfrm>
            <a:off x="1497837" y="3607130"/>
            <a:ext cx="2819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50000"/>
              </a:spcBef>
            </a:pPr>
            <a:r>
              <a:rPr lang="zh-CN" altLang="en-US" sz="2800" dirty="0">
                <a:solidFill>
                  <a:srgbClr val="04926A"/>
                </a:solidFill>
                <a:uFillTx/>
                <a:latin typeface="Cambria Math" panose="02040503050406030204" charset="0"/>
                <a:ea typeface="黑体" panose="02010609060101010101" pitchFamily="49" charset="-122"/>
                <a:cs typeface="Cambria Math" panose="02040503050406030204" charset="0"/>
              </a:rPr>
              <a:t>步骤2 两边积分</a:t>
            </a:r>
            <a:endParaRPr lang="zh-CN" altLang="en-US" sz="2800" dirty="0">
              <a:solidFill>
                <a:srgbClr val="04926A"/>
              </a:solidFill>
              <a:uFillTx/>
              <a:latin typeface="Cambria Math" panose="02040503050406030204" charset="0"/>
              <a:ea typeface="黑体" panose="02010609060101010101" pitchFamily="49" charset="-122"/>
              <a:cs typeface="Cambria Math" panose="02040503050406030204" charset="0"/>
            </a:endParaRPr>
          </a:p>
        </p:txBody>
      </p:sp>
      <p:grpSp>
        <p:nvGrpSpPr>
          <p:cNvPr id="13" name="组合 12"/>
          <p:cNvGrpSpPr/>
          <p:nvPr/>
        </p:nvGrpSpPr>
        <p:grpSpPr>
          <a:xfrm>
            <a:off x="1497965" y="1752600"/>
            <a:ext cx="4061460" cy="838200"/>
            <a:chOff x="2679" y="2720"/>
            <a:chExt cx="6396" cy="1320"/>
          </a:xfrm>
        </p:grpSpPr>
        <mc:AlternateContent xmlns:mc="http://schemas.openxmlformats.org/markup-compatibility/2006">
          <mc:Choice xmlns:a14="http://schemas.microsoft.com/office/drawing/2010/main" Requires="a14">
            <p:sp>
              <p:nvSpPr>
                <p:cNvPr id="5" name="对象 1"/>
                <p:cNvSpPr txBox="1"/>
                <p:nvPr/>
              </p:nvSpPr>
              <p:spPr>
                <a:xfrm>
                  <a:off x="2679" y="2720"/>
                  <a:ext cx="6396" cy="132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lang="zh-CN" altLang="en-US" sz="2800" b="1">
                            <a:solidFill>
                              <a:srgbClr val="000000"/>
                            </a:solidFill>
                            <a:uFillTx/>
                            <a:latin typeface="Cambria Math" panose="02040503050406030204" charset="0"/>
                            <a:ea typeface="黑体" panose="02010609060101010101" pitchFamily="49" charset="-122"/>
                            <a:cs typeface="Cambria Math" panose="02040503050406030204" charset="0"/>
                          </a:rPr>
                          <m:t>将</m:t>
                        </m:r>
                        <m:r>
                          <a:rPr lang="zh-CN" altLang="en-US" sz="2800">
                            <a:solidFill>
                              <a:srgbClr val="000000"/>
                            </a:solidFill>
                            <a:uFillTx/>
                            <a:latin typeface="Cambria Math" panose="02040503050406030204" charset="0"/>
                            <a:ea typeface="MS Mincho" panose="02020609040205080304" charset="-128"/>
                            <a:cs typeface="Cambria Math" panose="02040503050406030204" charset="0"/>
                          </a:rPr>
                          <m:t> </m:t>
                        </m:r>
                        <m:f>
                          <m:fPr>
                            <m:ctrlPr>
                              <a:rPr kumimoji="1" lang="en-US" altLang="zh-CN" sz="2800" i="1" dirty="0">
                                <a:latin typeface="Cambria Math" panose="02040503050406030204" charset="0"/>
                                <a:ea typeface="黑体" panose="02010609060101010101" pitchFamily="49" charset="-122"/>
                              </a:rPr>
                            </m:ctrlPr>
                          </m:fPr>
                          <m:num>
                            <m:r>
                              <m:rPr>
                                <m:sty m:val="p"/>
                              </m:rPr>
                              <a:rPr kumimoji="1" lang="en-US" altLang="zh-CN" sz="2800" dirty="0">
                                <a:latin typeface="Cambria Math" panose="02040503050406030204" charset="0"/>
                                <a:ea typeface="黑体" panose="02010609060101010101" pitchFamily="49" charset="-122"/>
                              </a:rPr>
                              <m:t>d</m:t>
                            </m:r>
                            <m:r>
                              <a:rPr kumimoji="1" lang="en-US" altLang="zh-CN" sz="2800" i="1" dirty="0">
                                <a:latin typeface="Cambria Math" panose="02040503050406030204" charset="0"/>
                                <a:ea typeface="黑体" panose="02010609060101010101" pitchFamily="49" charset="-122"/>
                              </a:rPr>
                              <m:t>𝑦</m:t>
                            </m:r>
                          </m:num>
                          <m:den>
                            <m:r>
                              <m:rPr>
                                <m:sty m:val="p"/>
                              </m:rPr>
                              <a:rPr kumimoji="1" lang="en-US" altLang="zh-CN" sz="2800" dirty="0">
                                <a:latin typeface="Cambria Math" panose="02040503050406030204" charset="0"/>
                                <a:ea typeface="黑体" panose="02010609060101010101" pitchFamily="49" charset="-122"/>
                              </a:rPr>
                              <m:t>d</m:t>
                            </m:r>
                            <m:r>
                              <a:rPr kumimoji="1" lang="en-US" altLang="zh-CN" sz="2800" i="1" dirty="0">
                                <a:latin typeface="Cambria Math" panose="02040503050406030204" charset="0"/>
                                <a:ea typeface="黑体" panose="02010609060101010101" pitchFamily="49" charset="-122"/>
                              </a:rPr>
                              <m:t>𝑥</m:t>
                            </m:r>
                          </m:den>
                        </m:f>
                        <m:r>
                          <a:rPr kumimoji="1" lang="en-US" altLang="zh-CN" sz="2800" i="1" dirty="0">
                            <a:latin typeface="Cambria Math" panose="02040503050406030204" charset="0"/>
                            <a:ea typeface="黑体" panose="02010609060101010101" pitchFamily="49" charset="-122"/>
                          </a:rPr>
                          <m:t>=</m:t>
                        </m:r>
                        <m:sSub>
                          <m:sSubPr>
                            <m:ctrlPr>
                              <a:rPr kumimoji="1" lang="en-US" altLang="zh-CN" sz="2800" i="1" dirty="0">
                                <a:latin typeface="Cambria Math" panose="02040503050406030204" charset="0"/>
                                <a:ea typeface="黑体" panose="02010609060101010101" pitchFamily="49" charset="-122"/>
                              </a:rPr>
                            </m:ctrlPr>
                          </m:sSubPr>
                          <m:e>
                            <m:r>
                              <a:rPr kumimoji="1" lang="en-US" altLang="zh-CN" sz="2800" i="1" dirty="0">
                                <a:latin typeface="Cambria Math" panose="02040503050406030204" charset="0"/>
                                <a:ea typeface="黑体" panose="02010609060101010101" pitchFamily="49" charset="-122"/>
                              </a:rPr>
                              <m:t>𝑓</m:t>
                            </m:r>
                          </m:e>
                          <m:sub>
                            <m:r>
                              <a:rPr kumimoji="1" lang="en-US" altLang="zh-CN" sz="2800" i="1" dirty="0">
                                <a:latin typeface="Cambria Math" panose="02040503050406030204" charset="0"/>
                                <a:ea typeface="黑体" panose="02010609060101010101" pitchFamily="49" charset="-122"/>
                              </a:rPr>
                              <m:t>1</m:t>
                            </m:r>
                          </m:sub>
                        </m:sSub>
                        <m:r>
                          <a:rPr kumimoji="1" lang="en-US" altLang="zh-CN" sz="2800" i="1" dirty="0">
                            <a:latin typeface="Cambria Math" panose="02040503050406030204" charset="0"/>
                            <a:ea typeface="黑体" panose="02010609060101010101" pitchFamily="49" charset="-122"/>
                          </a:rPr>
                          <m:t>(</m:t>
                        </m:r>
                        <m:r>
                          <a:rPr kumimoji="1" lang="en-US" altLang="zh-CN" sz="2800" i="1" dirty="0">
                            <a:latin typeface="Cambria Math" panose="02040503050406030204" charset="0"/>
                            <a:ea typeface="黑体" panose="02010609060101010101" pitchFamily="49" charset="-122"/>
                          </a:rPr>
                          <m:t>𝑥</m:t>
                        </m:r>
                        <m:r>
                          <a:rPr kumimoji="1" lang="en-US" altLang="zh-CN" sz="2800" i="1" dirty="0">
                            <a:latin typeface="Cambria Math" panose="02040503050406030204" charset="0"/>
                            <a:ea typeface="黑体" panose="02010609060101010101" pitchFamily="49" charset="-122"/>
                          </a:rPr>
                          <m:t>)</m:t>
                        </m:r>
                        <m:sSub>
                          <m:sSubPr>
                            <m:ctrlPr>
                              <a:rPr kumimoji="1" lang="en-US" altLang="zh-CN" sz="2800" i="1" dirty="0">
                                <a:latin typeface="Cambria Math" panose="02040503050406030204" charset="0"/>
                                <a:ea typeface="黑体" panose="02010609060101010101" pitchFamily="49" charset="-122"/>
                              </a:rPr>
                            </m:ctrlPr>
                          </m:sSubPr>
                          <m:e>
                            <m:r>
                              <a:rPr kumimoji="1" lang="en-US" altLang="zh-CN" sz="2800" i="1" dirty="0">
                                <a:latin typeface="Cambria Math" panose="02040503050406030204" charset="0"/>
                                <a:ea typeface="黑体" panose="02010609060101010101" pitchFamily="49" charset="-122"/>
                              </a:rPr>
                              <m:t>𝑓</m:t>
                            </m:r>
                          </m:e>
                          <m:sub>
                            <m:r>
                              <a:rPr kumimoji="1" lang="en-US" altLang="zh-CN" sz="2800" i="1" dirty="0">
                                <a:latin typeface="Cambria Math" panose="02040503050406030204" charset="0"/>
                                <a:ea typeface="黑体" panose="02010609060101010101" pitchFamily="49" charset="-122"/>
                              </a:rPr>
                              <m:t>2</m:t>
                            </m:r>
                          </m:sub>
                        </m:sSub>
                        <m:r>
                          <a:rPr kumimoji="1" lang="en-US" altLang="zh-CN" sz="2800" i="1" dirty="0">
                            <a:latin typeface="Cambria Math" panose="02040503050406030204" charset="0"/>
                            <a:ea typeface="黑体" panose="02010609060101010101" pitchFamily="49" charset="-122"/>
                          </a:rPr>
                          <m:t>(</m:t>
                        </m:r>
                        <m:r>
                          <a:rPr kumimoji="1" lang="en-US" altLang="zh-CN" sz="2800" i="1" dirty="0">
                            <a:latin typeface="Cambria Math" panose="02040503050406030204" charset="0"/>
                            <a:ea typeface="黑体" panose="02010609060101010101" pitchFamily="49" charset="-122"/>
                          </a:rPr>
                          <m:t>𝑦</m:t>
                        </m:r>
                        <m:r>
                          <a:rPr kumimoji="1" lang="en-US" altLang="zh-CN" sz="2800" i="1" dirty="0">
                            <a:latin typeface="Cambria Math" panose="02040503050406030204" charset="0"/>
                            <a:ea typeface="黑体" panose="02010609060101010101" pitchFamily="49" charset="-122"/>
                          </a:rPr>
                          <m:t>)</m:t>
                        </m:r>
                      </m:oMath>
                    </m:oMathPara>
                  </a14:m>
                  <a:endParaRPr lang="zh-CN" altLang="en-US" sz="2800" b="1" dirty="0">
                    <a:solidFill>
                      <a:srgbClr val="000000"/>
                    </a:solidFill>
                    <a:uFillTx/>
                    <a:latin typeface="Cambria Math" panose="02040503050406030204" charset="0"/>
                    <a:ea typeface="黑体" panose="02010609060101010101" pitchFamily="49" charset="-122"/>
                    <a:cs typeface="Cambria Math" panose="02040503050406030204" charset="0"/>
                  </a:endParaRPr>
                </a:p>
              </p:txBody>
            </p:sp>
          </mc:Choice>
          <mc:Fallback>
            <p:sp>
              <p:nvSpPr>
                <p:cNvPr id="5" name="对象 1"/>
                <p:cNvSpPr txBox="1">
                  <a:spLocks noRot="1" noChangeAspect="1" noMove="1" noResize="1" noEditPoints="1" noAdjustHandles="1" noChangeArrowheads="1" noChangeShapeType="1" noTextEdit="1"/>
                </p:cNvSpPr>
                <p:nvPr/>
              </p:nvSpPr>
              <p:spPr>
                <a:xfrm>
                  <a:off x="2679" y="2720"/>
                  <a:ext cx="6396" cy="1320"/>
                </a:xfrm>
                <a:prstGeom prst="rect">
                  <a:avLst/>
                </a:prstGeom>
                <a:blipFill rotWithShape="1">
                  <a:blip r:embed="rId1"/>
                </a:blipFill>
              </p:spPr>
              <p:txBody>
                <a:bodyPr/>
                <a:lstStyle/>
                <a:p>
                  <a:r>
                    <a:rPr lang="zh-CN" altLang="en-US">
                      <a:noFill/>
                    </a:rPr>
                    <a:t> </a:t>
                  </a:r>
                </a:p>
              </p:txBody>
            </p:sp>
          </mc:Fallback>
        </mc:AlternateContent>
        <p:sp>
          <p:nvSpPr>
            <p:cNvPr id="9" name="文本框 8"/>
            <p:cNvSpPr txBox="1"/>
            <p:nvPr/>
          </p:nvSpPr>
          <p:spPr>
            <a:xfrm>
              <a:off x="6900" y="3390"/>
              <a:ext cx="488" cy="580"/>
            </a:xfrm>
            <a:prstGeom prst="rect">
              <a:avLst/>
            </a:prstGeom>
            <a:noFill/>
          </p:spPr>
          <p:txBody>
            <a:bodyPr wrap="none" rtlCol="0">
              <a:spAutoFit/>
            </a:bodyPr>
            <a:lstStyle/>
            <a:p>
              <a:endParaRPr lang="zh-CN" altLang="en-US"/>
            </a:p>
          </p:txBody>
        </p:sp>
      </p:grpSp>
      <p:grpSp>
        <p:nvGrpSpPr>
          <p:cNvPr id="15" name="组合 14"/>
          <p:cNvGrpSpPr/>
          <p:nvPr/>
        </p:nvGrpSpPr>
        <p:grpSpPr>
          <a:xfrm>
            <a:off x="4578350" y="1990090"/>
            <a:ext cx="6830695" cy="556260"/>
            <a:chOff x="7530" y="3094"/>
            <a:chExt cx="10757" cy="876"/>
          </a:xfrm>
        </p:grpSpPr>
        <mc:AlternateContent xmlns:mc="http://schemas.openxmlformats.org/markup-compatibility/2006">
          <mc:Choice xmlns:a14="http://schemas.microsoft.com/office/drawing/2010/main" Requires="a14">
            <p:sp>
              <p:nvSpPr>
                <p:cNvPr id="6" name="对象 19"/>
                <p:cNvSpPr txBox="1"/>
                <p:nvPr/>
              </p:nvSpPr>
              <p:spPr>
                <a:xfrm>
                  <a:off x="7530" y="3094"/>
                  <a:ext cx="10757" cy="70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14:m>
                    <m:oMathPara xmlns:m="http://schemas.openxmlformats.org/officeDocument/2006/math">
                      <m:oMathParaPr>
                        <m:jc m:val="left"/>
                      </m:oMathParaPr>
                      <m:oMath xmlns:m="http://schemas.openxmlformats.org/officeDocument/2006/math">
                        <m:r>
                          <a:rPr lang="zh-CN" altLang="en-US" sz="2800">
                            <a:solidFill>
                              <a:srgbClr val="000000"/>
                            </a:solidFill>
                            <a:uFillTx/>
                            <a:latin typeface="Cambria Math" panose="02040503050406030204" charset="0"/>
                            <a:ea typeface="黑体" panose="02010609060101010101" pitchFamily="49" charset="-122"/>
                            <a:cs typeface="Cambria Math" panose="02040503050406030204" charset="0"/>
                            <a:sym typeface="+mn-ea"/>
                          </a:rPr>
                          <m:t>或</m:t>
                        </m:r>
                        <m:r>
                          <a:rPr lang="zh-CN" altLang="en-US" sz="2800">
                            <a:solidFill>
                              <a:srgbClr val="000000"/>
                            </a:solidFill>
                            <a:uFillTx/>
                            <a:latin typeface="Cambria Math" panose="02040503050406030204" charset="0"/>
                            <a:ea typeface="黑体" panose="02010609060101010101" pitchFamily="49" charset="-122"/>
                            <a:cs typeface="Cambria Math" panose="02040503050406030204" charset="0"/>
                            <a:sym typeface="+mn-ea"/>
                          </a:rPr>
                          <m:t> </m:t>
                        </m:r>
                        <m:sSub>
                          <m:sSubPr>
                            <m:ctrlPr>
                              <a:rPr kumimoji="1" lang="en-US" altLang="zh-CN" sz="2800" i="1" dirty="0">
                                <a:latin typeface="Cambria Math" panose="02040503050406030204" charset="0"/>
                                <a:ea typeface="黑体" panose="02010609060101010101" pitchFamily="49" charset="-122"/>
                                <a:sym typeface="+mn-ea"/>
                              </a:rPr>
                            </m:ctrlPr>
                          </m:sSubPr>
                          <m:e>
                            <m:r>
                              <a:rPr kumimoji="1" lang="en-US" altLang="zh-CN" sz="2800" i="1" dirty="0">
                                <a:latin typeface="Cambria Math" panose="02040503050406030204" charset="0"/>
                                <a:ea typeface="黑体" panose="02010609060101010101" pitchFamily="49" charset="-122"/>
                                <a:sym typeface="+mn-ea"/>
                              </a:rPr>
                              <m:t>𝑀</m:t>
                            </m:r>
                          </m:e>
                          <m:sub>
                            <m:r>
                              <a:rPr kumimoji="1" lang="en-US" altLang="zh-CN" sz="2800" i="1" dirty="0">
                                <a:latin typeface="Cambria Math" panose="02040503050406030204" charset="0"/>
                                <a:ea typeface="黑体" panose="02010609060101010101" pitchFamily="49" charset="-122"/>
                                <a:sym typeface="+mn-ea"/>
                              </a:rPr>
                              <m:t>1</m:t>
                            </m:r>
                          </m:sub>
                        </m:sSub>
                        <m:r>
                          <a:rPr kumimoji="1" lang="en-US" altLang="zh-CN" sz="2800" i="1" dirty="0">
                            <a:latin typeface="Cambria Math" panose="02040503050406030204" charset="0"/>
                            <a:ea typeface="黑体" panose="02010609060101010101" pitchFamily="49" charset="-122"/>
                            <a:sym typeface="+mn-ea"/>
                          </a:rPr>
                          <m:t>(</m:t>
                        </m:r>
                        <m:r>
                          <a:rPr kumimoji="1" lang="en-US" altLang="zh-CN" sz="2800" i="1" dirty="0">
                            <a:latin typeface="Cambria Math" panose="02040503050406030204" charset="0"/>
                            <a:ea typeface="黑体" panose="02010609060101010101" pitchFamily="49" charset="-122"/>
                            <a:sym typeface="+mn-ea"/>
                          </a:rPr>
                          <m:t>𝑥</m:t>
                        </m:r>
                        <m:r>
                          <a:rPr kumimoji="1" lang="en-US" altLang="zh-CN" sz="2800" i="1" dirty="0">
                            <a:latin typeface="Cambria Math" panose="02040503050406030204" charset="0"/>
                            <a:ea typeface="黑体" panose="02010609060101010101" pitchFamily="49" charset="-122"/>
                            <a:sym typeface="+mn-ea"/>
                          </a:rPr>
                          <m:t>)</m:t>
                        </m:r>
                        <m:sSub>
                          <m:sSubPr>
                            <m:ctrlPr>
                              <a:rPr kumimoji="1" lang="en-US" altLang="zh-CN" sz="2800" i="1" dirty="0">
                                <a:latin typeface="Cambria Math" panose="02040503050406030204" charset="0"/>
                                <a:ea typeface="黑体" panose="02010609060101010101" pitchFamily="49" charset="-122"/>
                                <a:sym typeface="+mn-ea"/>
                              </a:rPr>
                            </m:ctrlPr>
                          </m:sSubPr>
                          <m:e>
                            <m:r>
                              <a:rPr kumimoji="1" lang="en-US" altLang="zh-CN" sz="2800" i="1" dirty="0">
                                <a:latin typeface="Cambria Math" panose="02040503050406030204" charset="0"/>
                                <a:ea typeface="黑体" panose="02010609060101010101" pitchFamily="49" charset="-122"/>
                                <a:sym typeface="+mn-ea"/>
                              </a:rPr>
                              <m:t>𝑀</m:t>
                            </m:r>
                          </m:e>
                          <m:sub>
                            <m:r>
                              <a:rPr kumimoji="1" lang="en-US" altLang="zh-CN" sz="2800" i="1" dirty="0">
                                <a:latin typeface="Cambria Math" panose="02040503050406030204" charset="0"/>
                                <a:ea typeface="黑体" panose="02010609060101010101" pitchFamily="49" charset="-122"/>
                                <a:sym typeface="+mn-ea"/>
                              </a:rPr>
                              <m:t>2</m:t>
                            </m:r>
                          </m:sub>
                        </m:sSub>
                        <m:r>
                          <a:rPr kumimoji="1" lang="en-US" altLang="zh-CN" sz="2800" i="1" dirty="0">
                            <a:latin typeface="Cambria Math" panose="02040503050406030204" charset="0"/>
                            <a:ea typeface="黑体" panose="02010609060101010101" pitchFamily="49" charset="-122"/>
                            <a:sym typeface="+mn-ea"/>
                          </a:rPr>
                          <m:t>(</m:t>
                        </m:r>
                        <m:r>
                          <a:rPr kumimoji="1" lang="en-US" altLang="zh-CN" sz="2800" i="1" dirty="0">
                            <a:latin typeface="Cambria Math" panose="02040503050406030204" charset="0"/>
                            <a:ea typeface="黑体" panose="02010609060101010101" pitchFamily="49" charset="-122"/>
                            <a:sym typeface="+mn-ea"/>
                          </a:rPr>
                          <m:t>𝑦</m:t>
                        </m:r>
                        <m:r>
                          <a:rPr kumimoji="1" lang="en-US" altLang="zh-CN" sz="2800" i="1" dirty="0">
                            <a:latin typeface="Cambria Math" panose="02040503050406030204" charset="0"/>
                            <a:ea typeface="黑体" panose="02010609060101010101" pitchFamily="49" charset="-122"/>
                            <a:sym typeface="+mn-ea"/>
                          </a:rPr>
                          <m:t>)</m:t>
                        </m:r>
                        <m:r>
                          <m:rPr>
                            <m:sty m:val="p"/>
                          </m:rPr>
                          <a:rPr kumimoji="1" lang="en-US" altLang="zh-CN" sz="2800" i="0" dirty="0">
                            <a:latin typeface="Cambria Math" panose="02040503050406030204" charset="0"/>
                            <a:ea typeface="黑体" panose="02010609060101010101" pitchFamily="49" charset="-122"/>
                            <a:sym typeface="+mn-ea"/>
                          </a:rPr>
                          <m:t>d</m:t>
                        </m:r>
                        <m:r>
                          <a:rPr kumimoji="1" lang="en-US" altLang="zh-CN" sz="2800" i="1" dirty="0">
                            <a:latin typeface="Cambria Math" panose="02040503050406030204" charset="0"/>
                            <a:ea typeface="黑体" panose="02010609060101010101" pitchFamily="49" charset="-122"/>
                            <a:sym typeface="+mn-ea"/>
                          </a:rPr>
                          <m:t>𝑥</m:t>
                        </m:r>
                        <m:r>
                          <a:rPr kumimoji="1" lang="en-US" altLang="zh-CN" sz="2800" i="1" dirty="0">
                            <a:latin typeface="Cambria Math" panose="02040503050406030204" charset="0"/>
                            <a:ea typeface="黑体" panose="02010609060101010101" pitchFamily="49" charset="-122"/>
                            <a:sym typeface="+mn-ea"/>
                          </a:rPr>
                          <m:t>+</m:t>
                        </m:r>
                        <m:sSub>
                          <m:sSubPr>
                            <m:ctrlPr>
                              <a:rPr kumimoji="1" lang="en-US" altLang="zh-CN" sz="2800" i="1" dirty="0">
                                <a:latin typeface="Cambria Math" panose="02040503050406030204" charset="0"/>
                                <a:ea typeface="黑体" panose="02010609060101010101" pitchFamily="49" charset="-122"/>
                                <a:sym typeface="+mn-ea"/>
                              </a:rPr>
                            </m:ctrlPr>
                          </m:sSubPr>
                          <m:e>
                            <m:r>
                              <a:rPr kumimoji="1" lang="en-US" altLang="zh-CN" sz="2800" i="1" dirty="0">
                                <a:latin typeface="Cambria Math" panose="02040503050406030204" charset="0"/>
                                <a:ea typeface="黑体" panose="02010609060101010101" pitchFamily="49" charset="-122"/>
                                <a:sym typeface="+mn-ea"/>
                              </a:rPr>
                              <m:t>𝑁</m:t>
                            </m:r>
                          </m:e>
                          <m:sub>
                            <m:r>
                              <a:rPr kumimoji="1" lang="en-US" altLang="zh-CN" sz="2800" i="1" dirty="0">
                                <a:latin typeface="Cambria Math" panose="02040503050406030204" charset="0"/>
                                <a:ea typeface="黑体" panose="02010609060101010101" pitchFamily="49" charset="-122"/>
                                <a:sym typeface="+mn-ea"/>
                              </a:rPr>
                              <m:t>1</m:t>
                            </m:r>
                          </m:sub>
                        </m:sSub>
                        <m:r>
                          <a:rPr kumimoji="1" lang="en-US" altLang="zh-CN" sz="2800" i="1" dirty="0">
                            <a:latin typeface="Cambria Math" panose="02040503050406030204" charset="0"/>
                            <a:ea typeface="黑体" panose="02010609060101010101" pitchFamily="49" charset="-122"/>
                            <a:sym typeface="+mn-ea"/>
                          </a:rPr>
                          <m:t>(</m:t>
                        </m:r>
                        <m:r>
                          <a:rPr kumimoji="1" lang="en-US" altLang="zh-CN" sz="2800" i="1" dirty="0">
                            <a:latin typeface="Cambria Math" panose="02040503050406030204" charset="0"/>
                            <a:ea typeface="黑体" panose="02010609060101010101" pitchFamily="49" charset="-122"/>
                            <a:sym typeface="+mn-ea"/>
                          </a:rPr>
                          <m:t>𝑥</m:t>
                        </m:r>
                        <m:r>
                          <a:rPr kumimoji="1" lang="en-US" altLang="zh-CN" sz="2800" i="1" dirty="0">
                            <a:latin typeface="Cambria Math" panose="02040503050406030204" charset="0"/>
                            <a:ea typeface="黑体" panose="02010609060101010101" pitchFamily="49" charset="-122"/>
                            <a:sym typeface="+mn-ea"/>
                          </a:rPr>
                          <m:t>)</m:t>
                        </m:r>
                        <m:sSub>
                          <m:sSubPr>
                            <m:ctrlPr>
                              <a:rPr kumimoji="1" lang="en-US" altLang="zh-CN" sz="2800" i="1" dirty="0">
                                <a:latin typeface="Cambria Math" panose="02040503050406030204" charset="0"/>
                                <a:ea typeface="黑体" panose="02010609060101010101" pitchFamily="49" charset="-122"/>
                                <a:sym typeface="+mn-ea"/>
                              </a:rPr>
                            </m:ctrlPr>
                          </m:sSubPr>
                          <m:e>
                            <m:r>
                              <a:rPr kumimoji="1" lang="en-US" altLang="zh-CN" sz="2800" i="1" dirty="0">
                                <a:latin typeface="Cambria Math" panose="02040503050406030204" charset="0"/>
                                <a:ea typeface="黑体" panose="02010609060101010101" pitchFamily="49" charset="-122"/>
                                <a:sym typeface="+mn-ea"/>
                              </a:rPr>
                              <m:t>𝑁</m:t>
                            </m:r>
                          </m:e>
                          <m:sub>
                            <m:r>
                              <a:rPr kumimoji="1" lang="en-US" altLang="zh-CN" sz="2800" i="1" dirty="0">
                                <a:latin typeface="Cambria Math" panose="02040503050406030204" charset="0"/>
                                <a:ea typeface="黑体" panose="02010609060101010101" pitchFamily="49" charset="-122"/>
                                <a:sym typeface="+mn-ea"/>
                              </a:rPr>
                              <m:t>2</m:t>
                            </m:r>
                          </m:sub>
                        </m:sSub>
                        <m:r>
                          <a:rPr kumimoji="1" lang="en-US" altLang="zh-CN" sz="2800" i="1" dirty="0">
                            <a:latin typeface="Cambria Math" panose="02040503050406030204" charset="0"/>
                            <a:ea typeface="黑体" panose="02010609060101010101" pitchFamily="49" charset="-122"/>
                            <a:sym typeface="+mn-ea"/>
                          </a:rPr>
                          <m:t>(</m:t>
                        </m:r>
                        <m:r>
                          <a:rPr kumimoji="1" lang="en-US" altLang="zh-CN" sz="2800" i="1" dirty="0">
                            <a:latin typeface="Cambria Math" panose="02040503050406030204" charset="0"/>
                            <a:ea typeface="黑体" panose="02010609060101010101" pitchFamily="49" charset="-122"/>
                            <a:sym typeface="+mn-ea"/>
                          </a:rPr>
                          <m:t>𝑦</m:t>
                        </m:r>
                        <m:r>
                          <a:rPr kumimoji="1" lang="en-US" altLang="zh-CN" sz="2800" i="1" dirty="0">
                            <a:latin typeface="Cambria Math" panose="02040503050406030204" charset="0"/>
                            <a:ea typeface="黑体" panose="02010609060101010101" pitchFamily="49" charset="-122"/>
                            <a:sym typeface="+mn-ea"/>
                          </a:rPr>
                          <m:t>)</m:t>
                        </m:r>
                        <m:r>
                          <m:rPr>
                            <m:sty m:val="p"/>
                          </m:rPr>
                          <a:rPr kumimoji="1" lang="en-US" altLang="zh-CN" sz="2800" dirty="0">
                            <a:latin typeface="Cambria Math" panose="02040503050406030204" charset="0"/>
                            <a:ea typeface="黑体" panose="02010609060101010101" pitchFamily="49" charset="-122"/>
                            <a:sym typeface="+mn-ea"/>
                          </a:rPr>
                          <m:t>d</m:t>
                        </m:r>
                        <m:r>
                          <a:rPr kumimoji="1" lang="en-US" altLang="zh-CN" sz="2800" i="1" dirty="0">
                            <a:latin typeface="Cambria Math" panose="02040503050406030204" charset="0"/>
                            <a:ea typeface="黑体" panose="02010609060101010101" pitchFamily="49" charset="-122"/>
                            <a:sym typeface="+mn-ea"/>
                          </a:rPr>
                          <m:t>𝑦</m:t>
                        </m:r>
                        <m:r>
                          <a:rPr kumimoji="1" lang="en-US" altLang="zh-CN" sz="2800" i="1" dirty="0">
                            <a:latin typeface="Cambria Math" panose="02040503050406030204" charset="0"/>
                            <a:ea typeface="黑体" panose="02010609060101010101" pitchFamily="49" charset="-122"/>
                            <a:sym typeface="+mn-ea"/>
                          </a:rPr>
                          <m:t>=</m:t>
                        </m:r>
                        <m:r>
                          <a:rPr kumimoji="1" lang="en-US" altLang="zh-CN" sz="2800" i="1" dirty="0">
                            <a:latin typeface="Cambria Math" panose="02040503050406030204" charset="0"/>
                            <a:ea typeface="黑体" panose="02010609060101010101" pitchFamily="49" charset="-122"/>
                            <a:sym typeface="+mn-ea"/>
                          </a:rPr>
                          <m:t>0</m:t>
                        </m:r>
                      </m:oMath>
                    </m:oMathPara>
                  </a14:m>
                  <a:endParaRPr lang="zh-CN" altLang="en-US" sz="2800" i="1" dirty="0">
                    <a:solidFill>
                      <a:srgbClr val="000000"/>
                    </a:solidFill>
                    <a:uFillTx/>
                    <a:latin typeface="Cambria Math" panose="02040503050406030204" charset="0"/>
                    <a:ea typeface="黑体" panose="02010609060101010101" pitchFamily="49" charset="-122"/>
                    <a:cs typeface="Cambria Math" panose="02040503050406030204" charset="0"/>
                    <a:sym typeface="+mn-ea"/>
                  </a:endParaRPr>
                </a:p>
              </p:txBody>
            </p:sp>
          </mc:Choice>
          <mc:Fallback>
            <p:sp>
              <p:nvSpPr>
                <p:cNvPr id="6" name="对象 19"/>
                <p:cNvSpPr txBox="1">
                  <a:spLocks noRot="1" noChangeAspect="1" noMove="1" noResize="1" noEditPoints="1" noAdjustHandles="1" noChangeArrowheads="1" noChangeShapeType="1" noTextEdit="1"/>
                </p:cNvSpPr>
                <p:nvPr/>
              </p:nvSpPr>
              <p:spPr>
                <a:xfrm>
                  <a:off x="7530" y="3094"/>
                  <a:ext cx="10757" cy="700"/>
                </a:xfrm>
                <a:prstGeom prst="rect">
                  <a:avLst/>
                </a:prstGeom>
                <a:blipFill rotWithShape="1">
                  <a:blip r:embed="rId2"/>
                </a:blipFill>
              </p:spPr>
              <p:txBody>
                <a:bodyPr/>
                <a:lstStyle/>
                <a:p>
                  <a:r>
                    <a:rPr lang="zh-CN" altLang="en-US">
                      <a:noFill/>
                    </a:rPr>
                    <a:t> </a:t>
                  </a:r>
                </a:p>
              </p:txBody>
            </p:sp>
          </mc:Fallback>
        </mc:AlternateContent>
        <p:sp>
          <p:nvSpPr>
            <p:cNvPr id="14" name="文本框 13"/>
            <p:cNvSpPr txBox="1"/>
            <p:nvPr/>
          </p:nvSpPr>
          <p:spPr>
            <a:xfrm>
              <a:off x="16449" y="3390"/>
              <a:ext cx="488" cy="580"/>
            </a:xfrm>
            <a:prstGeom prst="rect">
              <a:avLst/>
            </a:prstGeom>
            <a:noFill/>
          </p:spPr>
          <p:txBody>
            <a:bodyPr wrap="none" rtlCol="0">
              <a:spAutoFit/>
            </a:bodyPr>
            <a:lstStyle/>
            <a:p>
              <a:endParaRPr lang="zh-CN" altLang="en-US"/>
            </a:p>
          </p:txBody>
        </p:sp>
      </p:grpSp>
      <p:grpSp>
        <p:nvGrpSpPr>
          <p:cNvPr id="18" name="组合 17"/>
          <p:cNvGrpSpPr/>
          <p:nvPr/>
        </p:nvGrpSpPr>
        <p:grpSpPr>
          <a:xfrm>
            <a:off x="1497965" y="2851150"/>
            <a:ext cx="4966335" cy="431800"/>
            <a:chOff x="2679" y="4450"/>
            <a:chExt cx="7821" cy="680"/>
          </a:xfrm>
        </p:grpSpPr>
        <mc:AlternateContent xmlns:mc="http://schemas.openxmlformats.org/markup-compatibility/2006">
          <mc:Choice xmlns:a14="http://schemas.microsoft.com/office/drawing/2010/main" Requires="a14">
            <p:sp>
              <p:nvSpPr>
                <p:cNvPr id="7" name="对象 6"/>
                <p:cNvSpPr txBox="1"/>
                <p:nvPr/>
              </p:nvSpPr>
              <p:spPr>
                <a:xfrm>
                  <a:off x="2679" y="4450"/>
                  <a:ext cx="7821" cy="68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lang="zh-CN" altLang="en-US" sz="2800" smtClean="0">
                            <a:solidFill>
                              <a:srgbClr val="000000"/>
                            </a:solidFill>
                            <a:uFillTx/>
                            <a:latin typeface="Cambria Math" panose="02040503050406030204" charset="0"/>
                            <a:ea typeface="黑体" panose="02010609060101010101" pitchFamily="49" charset="-122"/>
                            <a:cs typeface="Cambria Math" panose="02040503050406030204" charset="0"/>
                          </a:rPr>
                          <m:t>转化为</m:t>
                        </m:r>
                        <m:r>
                          <a:rPr lang="zh-CN" altLang="en-US" sz="2800" i="1">
                            <a:solidFill>
                              <a:srgbClr val="000000"/>
                            </a:solidFill>
                            <a:latin typeface="Cambria Math" panose="02040503050406030204" charset="0"/>
                            <a:ea typeface="MS Mincho" panose="02020609040205080304" charset="-128"/>
                            <a:cs typeface="Cambria Math" panose="02040503050406030204" charset="0"/>
                          </a:rPr>
                          <m:t> </m:t>
                        </m:r>
                        <m:r>
                          <a:rPr lang="en-US" altLang="zh-CN" sz="2800" b="0" i="1" smtClean="0">
                            <a:solidFill>
                              <a:srgbClr val="000000"/>
                            </a:solidFill>
                            <a:latin typeface="Cambria Math" panose="02040503050406030204" charset="0"/>
                            <a:ea typeface="MS Mincho" panose="02020609040205080304" charset="-128"/>
                            <a:cs typeface="Cambria Math" panose="02040503050406030204" charset="0"/>
                          </a:rPr>
                          <m:t>       </m:t>
                        </m:r>
                        <m:r>
                          <m:rPr>
                            <m:nor/>
                          </m:rPr>
                          <a:rPr lang="en-US" altLang="zh-CN" sz="2800" i="1" dirty="0">
                            <a:latin typeface="Cambria Math" panose="02040503050406030204" charset="0"/>
                            <a:cs typeface="Times New Roman" panose="02020603050405020304" pitchFamily="18" charset="0"/>
                          </a:rPr>
                          <m:t>g</m:t>
                        </m:r>
                        <m:r>
                          <a:rPr lang="en-US" altLang="zh-CN" sz="2800" b="0" i="1" dirty="0" smtClean="0">
                            <a:latin typeface="Cambria Math" panose="02040503050406030204" charset="0"/>
                            <a:cs typeface="Times New Roman" panose="02020603050405020304" pitchFamily="18" charset="0"/>
                          </a:rPr>
                          <m:t> </m:t>
                        </m:r>
                        <m:r>
                          <a:rPr kumimoji="1" lang="en-US" altLang="zh-CN" sz="2800" i="1" dirty="0">
                            <a:latin typeface="Cambria Math" panose="02040503050406030204" charset="0"/>
                            <a:ea typeface="黑体" panose="02010609060101010101" pitchFamily="49" charset="-122"/>
                          </a:rPr>
                          <m:t>(</m:t>
                        </m:r>
                        <m:r>
                          <a:rPr kumimoji="1" lang="en-US" altLang="zh-CN" sz="2800" i="1" dirty="0">
                            <a:latin typeface="Cambria Math" panose="02040503050406030204" charset="0"/>
                            <a:ea typeface="黑体" panose="02010609060101010101" pitchFamily="49" charset="-122"/>
                          </a:rPr>
                          <m:t>𝑦</m:t>
                        </m:r>
                        <m:r>
                          <a:rPr kumimoji="1" lang="en-US" altLang="zh-CN" sz="2800" i="1" dirty="0">
                            <a:latin typeface="Cambria Math" panose="02040503050406030204" charset="0"/>
                            <a:ea typeface="黑体" panose="02010609060101010101" pitchFamily="49" charset="-122"/>
                          </a:rPr>
                          <m:t>)</m:t>
                        </m:r>
                        <m:r>
                          <m:rPr>
                            <m:sty m:val="p"/>
                          </m:rPr>
                          <a:rPr kumimoji="1" lang="en-US" altLang="zh-CN" sz="2800" dirty="0">
                            <a:latin typeface="Cambria Math" panose="02040503050406030204" charset="0"/>
                            <a:ea typeface="黑体" panose="02010609060101010101" pitchFamily="49" charset="-122"/>
                          </a:rPr>
                          <m:t>d</m:t>
                        </m:r>
                        <m:r>
                          <a:rPr kumimoji="1" lang="en-US" altLang="zh-CN" sz="2800" i="1" dirty="0">
                            <a:latin typeface="Cambria Math" panose="02040503050406030204" charset="0"/>
                            <a:ea typeface="黑体" panose="02010609060101010101" pitchFamily="49" charset="-122"/>
                          </a:rPr>
                          <m:t>𝑦</m:t>
                        </m:r>
                        <m:r>
                          <a:rPr kumimoji="1" lang="en-US" altLang="zh-CN" sz="2800" i="1" dirty="0">
                            <a:latin typeface="Cambria Math" panose="02040503050406030204" charset="0"/>
                            <a:ea typeface="黑体" panose="02010609060101010101" pitchFamily="49" charset="-122"/>
                          </a:rPr>
                          <m:t>=</m:t>
                        </m:r>
                        <m:r>
                          <a:rPr kumimoji="1" lang="en-US" altLang="zh-CN" sz="2800" i="1" dirty="0">
                            <a:latin typeface="Cambria Math" panose="02040503050406030204" charset="0"/>
                            <a:ea typeface="黑体" panose="02010609060101010101" pitchFamily="49" charset="-122"/>
                          </a:rPr>
                          <m:t>𝑓</m:t>
                        </m:r>
                        <m:r>
                          <a:rPr kumimoji="1" lang="en-US" altLang="zh-CN" sz="2800" i="1" dirty="0">
                            <a:latin typeface="Cambria Math" panose="02040503050406030204" charset="0"/>
                            <a:ea typeface="黑体" panose="02010609060101010101" pitchFamily="49" charset="-122"/>
                          </a:rPr>
                          <m:t>(</m:t>
                        </m:r>
                        <m:r>
                          <a:rPr kumimoji="1" lang="en-US" altLang="zh-CN" sz="2800" i="1" dirty="0">
                            <a:latin typeface="Cambria Math" panose="02040503050406030204" charset="0"/>
                            <a:ea typeface="黑体" panose="02010609060101010101" pitchFamily="49" charset="-122"/>
                          </a:rPr>
                          <m:t>𝑥</m:t>
                        </m:r>
                        <m:r>
                          <a:rPr kumimoji="1" lang="en-US" altLang="zh-CN" sz="2800" i="1" dirty="0">
                            <a:latin typeface="Cambria Math" panose="02040503050406030204" charset="0"/>
                            <a:ea typeface="黑体" panose="02010609060101010101" pitchFamily="49" charset="-122"/>
                          </a:rPr>
                          <m:t>)</m:t>
                        </m:r>
                        <m:r>
                          <m:rPr>
                            <m:sty m:val="p"/>
                          </m:rPr>
                          <a:rPr kumimoji="1" lang="en-US" altLang="zh-CN" sz="2800" dirty="0">
                            <a:latin typeface="Cambria Math" panose="02040503050406030204" charset="0"/>
                            <a:ea typeface="黑体" panose="02010609060101010101" pitchFamily="49" charset="-122"/>
                          </a:rPr>
                          <m:t>d</m:t>
                        </m:r>
                        <m:r>
                          <a:rPr kumimoji="1" lang="en-US" altLang="zh-CN" sz="2800" i="1" dirty="0">
                            <a:latin typeface="Cambria Math" panose="02040503050406030204" charset="0"/>
                            <a:ea typeface="黑体" panose="02010609060101010101" pitchFamily="49" charset="-122"/>
                          </a:rPr>
                          <m:t>𝑥</m:t>
                        </m:r>
                      </m:oMath>
                    </m:oMathPara>
                  </a14:m>
                  <a:endParaRPr lang="zh-CN" altLang="en-US" sz="2800" i="1" dirty="0">
                    <a:solidFill>
                      <a:srgbClr val="000000"/>
                    </a:solidFill>
                    <a:latin typeface="Cambria Math" panose="02040503050406030204" charset="0"/>
                    <a:cs typeface="Cambria Math" panose="02040503050406030204" charset="0"/>
                  </a:endParaRPr>
                </a:p>
              </p:txBody>
            </p:sp>
          </mc:Choice>
          <mc:Fallback>
            <p:sp>
              <p:nvSpPr>
                <p:cNvPr id="7" name="对象 6"/>
                <p:cNvSpPr txBox="1">
                  <a:spLocks noRot="1" noChangeAspect="1" noMove="1" noResize="1" noEditPoints="1" noAdjustHandles="1" noChangeArrowheads="1" noChangeShapeType="1" noTextEdit="1"/>
                </p:cNvSpPr>
                <p:nvPr/>
              </p:nvSpPr>
              <p:spPr>
                <a:xfrm>
                  <a:off x="2679" y="4450"/>
                  <a:ext cx="7821" cy="680"/>
                </a:xfrm>
                <a:prstGeom prst="rect">
                  <a:avLst/>
                </a:prstGeom>
                <a:blipFill rotWithShape="1">
                  <a:blip r:embed="rId3"/>
                </a:blipFill>
              </p:spPr>
              <p:txBody>
                <a:bodyPr/>
                <a:lstStyle/>
                <a:p>
                  <a:r>
                    <a:rPr lang="zh-CN" altLang="en-US">
                      <a:noFill/>
                    </a:rPr>
                    <a:t> </a:t>
                  </a:r>
                </a:p>
              </p:txBody>
            </p:sp>
          </mc:Fallback>
        </mc:AlternateContent>
        <p:sp>
          <p:nvSpPr>
            <p:cNvPr id="17" name="文本框 16"/>
            <p:cNvSpPr txBox="1"/>
            <p:nvPr/>
          </p:nvSpPr>
          <p:spPr>
            <a:xfrm>
              <a:off x="8587" y="4550"/>
              <a:ext cx="488" cy="580"/>
            </a:xfrm>
            <a:prstGeom prst="rect">
              <a:avLst/>
            </a:prstGeom>
            <a:noFill/>
          </p:spPr>
          <p:txBody>
            <a:bodyPr wrap="none" rtlCol="0">
              <a:spAutoFit/>
            </a:bodyPr>
            <a:lstStyle/>
            <a:p>
              <a:endParaRPr lang="zh-CN" altLang="en-US"/>
            </a:p>
          </p:txBody>
        </p:sp>
      </p:grpSp>
      <p:grpSp>
        <p:nvGrpSpPr>
          <p:cNvPr id="20" name="组合 19"/>
          <p:cNvGrpSpPr/>
          <p:nvPr/>
        </p:nvGrpSpPr>
        <p:grpSpPr>
          <a:xfrm>
            <a:off x="2735580" y="4201160"/>
            <a:ext cx="4311015" cy="1064260"/>
            <a:chOff x="7119" y="6576"/>
            <a:chExt cx="6789" cy="1676"/>
          </a:xfrm>
        </p:grpSpPr>
        <mc:AlternateContent xmlns:mc="http://schemas.openxmlformats.org/markup-compatibility/2006">
          <mc:Choice xmlns:a14="http://schemas.microsoft.com/office/drawing/2010/main" Requires="a14">
            <p:sp>
              <p:nvSpPr>
                <p:cNvPr id="10" name="对象 21"/>
                <p:cNvSpPr txBox="1"/>
                <p:nvPr/>
              </p:nvSpPr>
              <p:spPr>
                <a:xfrm>
                  <a:off x="7119" y="6576"/>
                  <a:ext cx="6789" cy="1676"/>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14:m>
                    <m:oMathPara xmlns:m="http://schemas.openxmlformats.org/officeDocument/2006/math">
                      <m:oMathParaPr>
                        <m:jc m:val="left"/>
                      </m:oMathParaPr>
                      <m:oMath xmlns:m="http://schemas.openxmlformats.org/officeDocument/2006/math">
                        <m:nary>
                          <m:naryPr>
                            <m:subHide m:val="on"/>
                            <m:supHide m:val="on"/>
                            <m:ctrlPr>
                              <a:rPr kumimoji="1" lang="en-US" altLang="zh-CN" sz="2800" i="1" dirty="0" smtClean="0">
                                <a:latin typeface="Cambria Math" panose="02040503050406030204" charset="0"/>
                                <a:ea typeface="黑体" panose="02010609060101010101" pitchFamily="49" charset="-122"/>
                                <a:sym typeface="+mn-ea"/>
                              </a:rPr>
                            </m:ctrlPr>
                          </m:naryPr>
                          <m:sub/>
                          <m:sup/>
                          <m:e>
                            <m:r>
                              <m:rPr>
                                <m:nor/>
                              </m:rPr>
                              <a:rPr lang="en-US" altLang="zh-CN" sz="2800" i="1" dirty="0">
                                <a:latin typeface="Cambria Math" panose="02040503050406030204" charset="0"/>
                                <a:cs typeface="Times New Roman" panose="02020603050405020304" pitchFamily="18" charset="0"/>
                              </a:rPr>
                              <m:t>g</m:t>
                            </m:r>
                            <m:r>
                              <a:rPr lang="en-US" altLang="zh-CN" sz="2800" b="0" i="1" dirty="0" smtClean="0">
                                <a:latin typeface="Cambria Math" panose="02040503050406030204" charset="0"/>
                                <a:cs typeface="Times New Roman" panose="02020603050405020304" pitchFamily="18" charset="0"/>
                              </a:rPr>
                              <m:t> </m:t>
                            </m:r>
                            <m:r>
                              <a:rPr kumimoji="1" lang="en-US" altLang="zh-CN" sz="2800" i="1" dirty="0">
                                <a:latin typeface="Cambria Math" panose="02040503050406030204" charset="0"/>
                                <a:ea typeface="黑体" panose="02010609060101010101" pitchFamily="49" charset="-122"/>
                                <a:sym typeface="+mn-ea"/>
                              </a:rPr>
                              <m:t>(</m:t>
                            </m:r>
                            <m:r>
                              <a:rPr kumimoji="1" lang="en-US" altLang="zh-CN" sz="2800" i="1" dirty="0">
                                <a:latin typeface="Cambria Math" panose="02040503050406030204" charset="0"/>
                                <a:ea typeface="黑体" panose="02010609060101010101" pitchFamily="49" charset="-122"/>
                                <a:sym typeface="+mn-ea"/>
                              </a:rPr>
                              <m:t>𝑦</m:t>
                            </m:r>
                            <m:r>
                              <a:rPr kumimoji="1" lang="en-US" altLang="zh-CN" sz="2800" i="1" dirty="0">
                                <a:latin typeface="Cambria Math" panose="02040503050406030204" charset="0"/>
                                <a:ea typeface="黑体" panose="02010609060101010101" pitchFamily="49" charset="-122"/>
                                <a:sym typeface="+mn-ea"/>
                              </a:rPr>
                              <m:t>)</m:t>
                            </m:r>
                            <m:r>
                              <m:rPr>
                                <m:sty m:val="p"/>
                              </m:rPr>
                              <a:rPr kumimoji="1" lang="en-US" altLang="zh-CN" sz="2800" dirty="0">
                                <a:latin typeface="Cambria Math" panose="02040503050406030204" charset="0"/>
                                <a:ea typeface="黑体" panose="02010609060101010101" pitchFamily="49" charset="-122"/>
                                <a:sym typeface="+mn-ea"/>
                              </a:rPr>
                              <m:t>d</m:t>
                            </m:r>
                            <m:r>
                              <a:rPr kumimoji="1" lang="en-US" altLang="zh-CN" sz="2800" i="1" dirty="0">
                                <a:latin typeface="Cambria Math" panose="02040503050406030204" charset="0"/>
                                <a:ea typeface="黑体" panose="02010609060101010101" pitchFamily="49" charset="-122"/>
                                <a:sym typeface="+mn-ea"/>
                              </a:rPr>
                              <m:t>𝑦</m:t>
                            </m:r>
                          </m:e>
                        </m:nary>
                        <m:r>
                          <a:rPr kumimoji="1" lang="en-US" altLang="zh-CN" sz="2800" i="1" dirty="0">
                            <a:latin typeface="Cambria Math" panose="02040503050406030204" charset="0"/>
                            <a:ea typeface="黑体" panose="02010609060101010101" pitchFamily="49" charset="-122"/>
                            <a:sym typeface="+mn-ea"/>
                          </a:rPr>
                          <m:t>=</m:t>
                        </m:r>
                        <m:nary>
                          <m:naryPr>
                            <m:subHide m:val="on"/>
                            <m:supHide m:val="on"/>
                            <m:ctrlPr>
                              <a:rPr kumimoji="1" lang="en-US" altLang="zh-CN" sz="2800" i="1" dirty="0">
                                <a:latin typeface="Cambria Math" panose="02040503050406030204" charset="0"/>
                                <a:ea typeface="黑体" panose="02010609060101010101" pitchFamily="49" charset="-122"/>
                                <a:sym typeface="+mn-ea"/>
                              </a:rPr>
                            </m:ctrlPr>
                          </m:naryPr>
                          <m:sub/>
                          <m:sup/>
                          <m:e>
                            <m:r>
                              <a:rPr kumimoji="1" lang="en-US" altLang="zh-CN" sz="2800" i="1" dirty="0">
                                <a:latin typeface="Cambria Math" panose="02040503050406030204" charset="0"/>
                                <a:ea typeface="黑体" panose="02010609060101010101" pitchFamily="49" charset="-122"/>
                                <a:sym typeface="+mn-ea"/>
                              </a:rPr>
                              <m:t>𝑓</m:t>
                            </m:r>
                            <m:r>
                              <a:rPr kumimoji="1" lang="en-US" altLang="zh-CN" sz="2800" i="1" dirty="0">
                                <a:latin typeface="Cambria Math" panose="02040503050406030204" charset="0"/>
                                <a:ea typeface="黑体" panose="02010609060101010101" pitchFamily="49" charset="-122"/>
                                <a:sym typeface="+mn-ea"/>
                              </a:rPr>
                              <m:t>(</m:t>
                            </m:r>
                            <m:r>
                              <a:rPr kumimoji="1" lang="en-US" altLang="zh-CN" sz="2800" i="1" dirty="0">
                                <a:latin typeface="Cambria Math" panose="02040503050406030204" charset="0"/>
                                <a:ea typeface="黑体" panose="02010609060101010101" pitchFamily="49" charset="-122"/>
                                <a:sym typeface="+mn-ea"/>
                              </a:rPr>
                              <m:t>𝑥</m:t>
                            </m:r>
                            <m:r>
                              <a:rPr kumimoji="1" lang="en-US" altLang="zh-CN" sz="2800" i="1" dirty="0">
                                <a:latin typeface="Cambria Math" panose="02040503050406030204" charset="0"/>
                                <a:ea typeface="黑体" panose="02010609060101010101" pitchFamily="49" charset="-122"/>
                                <a:sym typeface="+mn-ea"/>
                              </a:rPr>
                              <m:t>)</m:t>
                            </m:r>
                            <m:r>
                              <m:rPr>
                                <m:sty m:val="p"/>
                              </m:rPr>
                              <a:rPr kumimoji="1" lang="en-US" altLang="zh-CN" sz="2800" dirty="0">
                                <a:latin typeface="Cambria Math" panose="02040503050406030204" charset="0"/>
                                <a:ea typeface="黑体" panose="02010609060101010101" pitchFamily="49" charset="-122"/>
                                <a:sym typeface="+mn-ea"/>
                              </a:rPr>
                              <m:t>d</m:t>
                            </m:r>
                            <m:r>
                              <a:rPr kumimoji="1" lang="en-US" altLang="zh-CN" sz="2800" i="1" dirty="0">
                                <a:latin typeface="Cambria Math" panose="02040503050406030204" charset="0"/>
                                <a:ea typeface="黑体" panose="02010609060101010101" pitchFamily="49" charset="-122"/>
                                <a:sym typeface="+mn-ea"/>
                              </a:rPr>
                              <m:t>𝑥</m:t>
                            </m:r>
                          </m:e>
                        </m:nary>
                      </m:oMath>
                    </m:oMathPara>
                  </a14:m>
                  <a:endParaRPr kumimoji="1" lang="en-US" altLang="zh-CN" sz="2800" i="1" dirty="0">
                    <a:latin typeface="Cambria Math" panose="02040503050406030204" charset="0"/>
                    <a:ea typeface="黑体" panose="02010609060101010101" pitchFamily="49" charset="-122"/>
                    <a:sym typeface="+mn-ea"/>
                  </a:endParaRPr>
                </a:p>
              </p:txBody>
            </p:sp>
          </mc:Choice>
          <mc:Fallback>
            <p:sp>
              <p:nvSpPr>
                <p:cNvPr id="10" name="对象 21"/>
                <p:cNvSpPr txBox="1">
                  <a:spLocks noRot="1" noChangeAspect="1" noMove="1" noResize="1" noEditPoints="1" noAdjustHandles="1" noChangeArrowheads="1" noChangeShapeType="1" noTextEdit="1"/>
                </p:cNvSpPr>
                <p:nvPr/>
              </p:nvSpPr>
              <p:spPr>
                <a:xfrm>
                  <a:off x="7119" y="6576"/>
                  <a:ext cx="6789" cy="1676"/>
                </a:xfrm>
                <a:prstGeom prst="rect">
                  <a:avLst/>
                </a:prstGeom>
                <a:blipFill rotWithShape="1">
                  <a:blip r:embed="rId4"/>
                </a:blipFill>
              </p:spPr>
              <p:txBody>
                <a:bodyPr/>
                <a:lstStyle/>
                <a:p>
                  <a:r>
                    <a:rPr lang="zh-CN" altLang="en-US">
                      <a:noFill/>
                    </a:rPr>
                    <a:t> </a:t>
                  </a:r>
                </a:p>
              </p:txBody>
            </p:sp>
          </mc:Fallback>
        </mc:AlternateContent>
        <p:sp>
          <p:nvSpPr>
            <p:cNvPr id="19" name="文本框 18"/>
            <p:cNvSpPr txBox="1"/>
            <p:nvPr/>
          </p:nvSpPr>
          <p:spPr>
            <a:xfrm>
              <a:off x="12016" y="6936"/>
              <a:ext cx="488" cy="580"/>
            </a:xfrm>
            <a:prstGeom prst="rect">
              <a:avLst/>
            </a:prstGeom>
            <a:noFill/>
          </p:spPr>
          <p:txBody>
            <a:bodyPr wrap="none" rtlCol="0">
              <a:spAutoFit/>
            </a:bodyPr>
            <a:lstStyle/>
            <a:p>
              <a:endParaRPr lang="zh-CN" altLang="en-US"/>
            </a:p>
          </p:txBody>
        </p:sp>
      </p:grpSp>
      <p:grpSp>
        <p:nvGrpSpPr>
          <p:cNvPr id="22" name="组合 21"/>
          <p:cNvGrpSpPr/>
          <p:nvPr/>
        </p:nvGrpSpPr>
        <p:grpSpPr>
          <a:xfrm>
            <a:off x="1497837" y="5190490"/>
            <a:ext cx="7320915" cy="444500"/>
            <a:chOff x="3430" y="8134"/>
            <a:chExt cx="11529" cy="700"/>
          </a:xfrm>
        </p:grpSpPr>
        <mc:AlternateContent xmlns:mc="http://schemas.openxmlformats.org/markup-compatibility/2006">
          <mc:Choice xmlns:a14="http://schemas.microsoft.com/office/drawing/2010/main" Requires="a14">
            <p:sp>
              <p:nvSpPr>
                <p:cNvPr id="12" name="对象 3"/>
                <p:cNvSpPr txBox="1"/>
                <p:nvPr/>
              </p:nvSpPr>
              <p:spPr>
                <a:xfrm>
                  <a:off x="3430" y="8134"/>
                  <a:ext cx="11529" cy="70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lang="zh-CN" altLang="en-US" sz="2800">
                            <a:solidFill>
                              <a:srgbClr val="000000"/>
                            </a:solidFill>
                            <a:highlight>
                              <a:srgbClr val="FFFF00"/>
                            </a:highlight>
                            <a:uFillTx/>
                            <a:latin typeface="Cambria Math" panose="02040503050406030204" charset="0"/>
                            <a:ea typeface="黑体" panose="02010609060101010101" pitchFamily="49" charset="-122"/>
                            <a:cs typeface="Cambria Math" panose="02040503050406030204" charset="0"/>
                          </a:rPr>
                          <m:t>则</m:t>
                        </m:r>
                        <m:r>
                          <a:rPr lang="zh-CN" altLang="en-US" sz="2800">
                            <a:solidFill>
                              <a:srgbClr val="000000"/>
                            </a:solidFill>
                            <a:highlight>
                              <a:srgbClr val="FFFF00"/>
                            </a:highlight>
                            <a:uFillTx/>
                            <a:latin typeface="Cambria Math" panose="02040503050406030204" charset="0"/>
                            <a:ea typeface="MS Mincho" panose="02020609040205080304" charset="-128"/>
                            <a:cs typeface="Cambria Math" panose="02040503050406030204" charset="0"/>
                          </a:rPr>
                          <m:t> </m:t>
                        </m:r>
                        <m:r>
                          <a:rPr kumimoji="1" lang="en-US" altLang="zh-CN" sz="2800" i="1" dirty="0">
                            <a:highlight>
                              <a:srgbClr val="FFFF00"/>
                            </a:highlight>
                            <a:latin typeface="Cambria Math" panose="02040503050406030204" charset="0"/>
                            <a:ea typeface="黑体" panose="02010609060101010101" pitchFamily="49" charset="-122"/>
                          </a:rPr>
                          <m:t>𝐺</m:t>
                        </m:r>
                        <m:r>
                          <a:rPr kumimoji="1" lang="en-US" altLang="zh-CN" sz="2800" i="1" dirty="0">
                            <a:highlight>
                              <a:srgbClr val="FFFF00"/>
                            </a:highlight>
                            <a:latin typeface="Cambria Math" panose="02040503050406030204" charset="0"/>
                            <a:ea typeface="黑体" panose="02010609060101010101" pitchFamily="49" charset="-122"/>
                          </a:rPr>
                          <m:t>(</m:t>
                        </m:r>
                        <m:r>
                          <a:rPr kumimoji="1" lang="en-US" altLang="zh-CN" sz="2800" i="1" dirty="0">
                            <a:highlight>
                              <a:srgbClr val="FFFF00"/>
                            </a:highlight>
                            <a:latin typeface="Cambria Math" panose="02040503050406030204" charset="0"/>
                            <a:ea typeface="黑体" panose="02010609060101010101" pitchFamily="49" charset="-122"/>
                          </a:rPr>
                          <m:t>𝑦</m:t>
                        </m:r>
                        <m:r>
                          <a:rPr kumimoji="1" lang="en-US" altLang="zh-CN" sz="2800" i="1" dirty="0">
                            <a:highlight>
                              <a:srgbClr val="FFFF00"/>
                            </a:highlight>
                            <a:latin typeface="Cambria Math" panose="02040503050406030204" charset="0"/>
                            <a:ea typeface="黑体" panose="02010609060101010101" pitchFamily="49" charset="-122"/>
                          </a:rPr>
                          <m:t>)=</m:t>
                        </m:r>
                        <m:r>
                          <a:rPr kumimoji="1" lang="en-US" altLang="zh-CN" sz="2800" i="1" dirty="0">
                            <a:highlight>
                              <a:srgbClr val="FFFF00"/>
                            </a:highlight>
                            <a:latin typeface="Cambria Math" panose="02040503050406030204" charset="0"/>
                            <a:ea typeface="黑体" panose="02010609060101010101" pitchFamily="49" charset="-122"/>
                          </a:rPr>
                          <m:t>𝐹</m:t>
                        </m:r>
                        <m:r>
                          <a:rPr kumimoji="1" lang="en-US" altLang="zh-CN" sz="2800" i="1" dirty="0">
                            <a:highlight>
                              <a:srgbClr val="FFFF00"/>
                            </a:highlight>
                            <a:latin typeface="Cambria Math" panose="02040503050406030204" charset="0"/>
                            <a:ea typeface="黑体" panose="02010609060101010101" pitchFamily="49" charset="-122"/>
                          </a:rPr>
                          <m:t>(</m:t>
                        </m:r>
                        <m:r>
                          <a:rPr kumimoji="1" lang="en-US" altLang="zh-CN" sz="2800" i="1" dirty="0">
                            <a:highlight>
                              <a:srgbClr val="FFFF00"/>
                            </a:highlight>
                            <a:latin typeface="Cambria Math" panose="02040503050406030204" charset="0"/>
                            <a:ea typeface="黑体" panose="02010609060101010101" pitchFamily="49" charset="-122"/>
                          </a:rPr>
                          <m:t>𝑥</m:t>
                        </m:r>
                        <m:r>
                          <a:rPr kumimoji="1" lang="en-US" altLang="zh-CN" sz="2800" i="1" dirty="0">
                            <a:highlight>
                              <a:srgbClr val="FFFF00"/>
                            </a:highlight>
                            <a:latin typeface="Cambria Math" panose="02040503050406030204" charset="0"/>
                            <a:ea typeface="黑体" panose="02010609060101010101" pitchFamily="49" charset="-122"/>
                          </a:rPr>
                          <m:t>)+</m:t>
                        </m:r>
                        <m:r>
                          <a:rPr kumimoji="1" lang="en-US" altLang="zh-CN" sz="2800" i="1" dirty="0">
                            <a:highlight>
                              <a:srgbClr val="FFFF00"/>
                            </a:highlight>
                            <a:latin typeface="Cambria Math" panose="02040503050406030204" charset="0"/>
                            <a:ea typeface="黑体" panose="02010609060101010101" pitchFamily="49" charset="-122"/>
                          </a:rPr>
                          <m:t>𝐶</m:t>
                        </m:r>
                        <m:r>
                          <a:rPr lang="zh-CN" altLang="en-US" sz="2800">
                            <a:solidFill>
                              <a:srgbClr val="000000"/>
                            </a:solidFill>
                            <a:highlight>
                              <a:srgbClr val="FFFF00"/>
                            </a:highlight>
                            <a:uFillTx/>
                            <a:latin typeface="Cambria Math" panose="02040503050406030204" charset="0"/>
                            <a:ea typeface="黑体" panose="02010609060101010101" pitchFamily="49" charset="-122"/>
                            <a:cs typeface="Cambria Math" panose="02040503050406030204" charset="0"/>
                          </a:rPr>
                          <m:t>是微分方程的通解</m:t>
                        </m:r>
                        <m:r>
                          <a:rPr lang="zh-CN" altLang="en-US" sz="2800" i="1">
                            <a:solidFill>
                              <a:srgbClr val="000000"/>
                            </a:solidFill>
                            <a:highlight>
                              <a:srgbClr val="FFFF00"/>
                            </a:highlight>
                            <a:latin typeface="Cambria Math" panose="02040503050406030204" charset="0"/>
                            <a:ea typeface="黑体" panose="02010609060101010101" pitchFamily="49" charset="-122"/>
                            <a:cs typeface="Cambria Math" panose="02040503050406030204" charset="0"/>
                          </a:rPr>
                          <m:t>，</m:t>
                        </m:r>
                      </m:oMath>
                    </m:oMathPara>
                  </a14:m>
                  <a:endParaRPr lang="zh-CN" altLang="en-US" sz="2800" i="1" dirty="0">
                    <a:solidFill>
                      <a:srgbClr val="000000"/>
                    </a:solidFill>
                    <a:highlight>
                      <a:srgbClr val="FFFF00"/>
                    </a:highlight>
                    <a:uFillTx/>
                    <a:latin typeface="Cambria Math" panose="02040503050406030204" charset="0"/>
                    <a:ea typeface="黑体" panose="02010609060101010101" pitchFamily="49" charset="-122"/>
                    <a:cs typeface="Cambria Math" panose="02040503050406030204" charset="0"/>
                  </a:endParaRPr>
                </a:p>
              </p:txBody>
            </p:sp>
          </mc:Choice>
          <mc:Fallback>
            <p:sp>
              <p:nvSpPr>
                <p:cNvPr id="12" name="对象 3"/>
                <p:cNvSpPr txBox="1">
                  <a:spLocks noRot="1" noChangeAspect="1" noMove="1" noResize="1" noEditPoints="1" noAdjustHandles="1" noChangeArrowheads="1" noChangeShapeType="1" noTextEdit="1"/>
                </p:cNvSpPr>
                <p:nvPr/>
              </p:nvSpPr>
              <p:spPr>
                <a:xfrm>
                  <a:off x="3430" y="8134"/>
                  <a:ext cx="11529" cy="700"/>
                </a:xfrm>
                <a:prstGeom prst="rect">
                  <a:avLst/>
                </a:prstGeom>
                <a:blipFill rotWithShape="1">
                  <a:blip r:embed="rId5"/>
                </a:blipFill>
              </p:spPr>
              <p:txBody>
                <a:bodyPr/>
                <a:lstStyle/>
                <a:p>
                  <a:r>
                    <a:rPr lang="zh-CN" altLang="en-US">
                      <a:noFill/>
                    </a:rPr>
                    <a:t> </a:t>
                  </a:r>
                </a:p>
              </p:txBody>
            </p:sp>
          </mc:Fallback>
        </mc:AlternateContent>
        <p:sp>
          <p:nvSpPr>
            <p:cNvPr id="21" name="文本框 20"/>
            <p:cNvSpPr txBox="1"/>
            <p:nvPr/>
          </p:nvSpPr>
          <p:spPr>
            <a:xfrm>
              <a:off x="12832" y="8254"/>
              <a:ext cx="488" cy="580"/>
            </a:xfrm>
            <a:prstGeom prst="rect">
              <a:avLst/>
            </a:prstGeom>
            <a:noFill/>
          </p:spPr>
          <p:txBody>
            <a:bodyPr wrap="none" rtlCol="0">
              <a:spAutoFit/>
            </a:bodyPr>
            <a:lstStyle/>
            <a:p>
              <a:endParaRPr lang="zh-CN" altLang="en-US" dirty="0">
                <a:highlight>
                  <a:srgbClr val="FFFF00"/>
                </a:highlight>
              </a:endParaRPr>
            </a:p>
          </p:txBody>
        </p:sp>
      </p:grpSp>
      <p:grpSp>
        <p:nvGrpSpPr>
          <p:cNvPr id="24" name="组合 23"/>
          <p:cNvGrpSpPr/>
          <p:nvPr/>
        </p:nvGrpSpPr>
        <p:grpSpPr>
          <a:xfrm>
            <a:off x="1497837" y="5852795"/>
            <a:ext cx="8016875" cy="490220"/>
            <a:chOff x="3430" y="9177"/>
            <a:chExt cx="12625" cy="772"/>
          </a:xfrm>
        </p:grpSpPr>
        <mc:AlternateContent xmlns:mc="http://schemas.openxmlformats.org/markup-compatibility/2006">
          <mc:Choice xmlns:a14="http://schemas.microsoft.com/office/drawing/2010/main" Requires="a14">
            <p:sp>
              <p:nvSpPr>
                <p:cNvPr id="11" name="对象 2"/>
                <p:cNvSpPr txBox="1"/>
                <p:nvPr/>
              </p:nvSpPr>
              <p:spPr>
                <a:xfrm>
                  <a:off x="3430" y="9177"/>
                  <a:ext cx="12625" cy="68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lang="zh-CN" altLang="en-US" sz="2800" smtClean="0">
                            <a:solidFill>
                              <a:srgbClr val="000000"/>
                            </a:solidFill>
                            <a:uFillTx/>
                            <a:latin typeface="Cambria Math" panose="02040503050406030204" charset="0"/>
                            <a:ea typeface="黑体" panose="02010609060101010101" pitchFamily="49" charset="-122"/>
                            <a:cs typeface="Cambria Math" panose="02040503050406030204" charset="0"/>
                          </a:rPr>
                          <m:t>其中函数</m:t>
                        </m:r>
                        <m:r>
                          <a:rPr kumimoji="1" lang="en-US" altLang="zh-CN" sz="2800" i="1" dirty="0">
                            <a:latin typeface="Cambria Math" panose="02040503050406030204" charset="0"/>
                            <a:ea typeface="黑体" panose="02010609060101010101" pitchFamily="49" charset="-122"/>
                          </a:rPr>
                          <m:t>𝐺</m:t>
                        </m:r>
                        <m:d>
                          <m:dPr>
                            <m:ctrlPr>
                              <a:rPr kumimoji="1" lang="en-US" altLang="zh-CN" sz="2800" i="1" dirty="0">
                                <a:latin typeface="Cambria Math" panose="02040503050406030204" charset="0"/>
                                <a:ea typeface="黑体" panose="02010609060101010101" pitchFamily="49" charset="-122"/>
                              </a:rPr>
                            </m:ctrlPr>
                          </m:dPr>
                          <m:e>
                            <m:r>
                              <a:rPr kumimoji="1" lang="en-US" altLang="zh-CN" sz="2800" i="1" dirty="0">
                                <a:latin typeface="Cambria Math" panose="02040503050406030204" charset="0"/>
                                <a:ea typeface="黑体" panose="02010609060101010101" pitchFamily="49" charset="-122"/>
                              </a:rPr>
                              <m:t>𝑦</m:t>
                            </m:r>
                          </m:e>
                        </m:d>
                        <m:r>
                          <a:rPr lang="zh-CN" altLang="en-US" sz="2800">
                            <a:solidFill>
                              <a:srgbClr val="000000"/>
                            </a:solidFill>
                            <a:uFillTx/>
                            <a:latin typeface="Cambria Math" panose="02040503050406030204" charset="0"/>
                            <a:ea typeface="黑体" panose="02010609060101010101" pitchFamily="49" charset="-122"/>
                            <a:cs typeface="Cambria Math" panose="02040503050406030204" charset="0"/>
                          </a:rPr>
                          <m:t>和</m:t>
                        </m:r>
                        <m:r>
                          <a:rPr kumimoji="1" lang="en-US" altLang="zh-CN" sz="2800" i="1" dirty="0">
                            <a:latin typeface="Cambria Math" panose="02040503050406030204" charset="0"/>
                            <a:ea typeface="黑体" panose="02010609060101010101" pitchFamily="49" charset="-122"/>
                          </a:rPr>
                          <m:t>𝐹</m:t>
                        </m:r>
                        <m:d>
                          <m:dPr>
                            <m:ctrlPr>
                              <a:rPr kumimoji="1" lang="zh-CN" altLang="en-US" sz="2800" i="1">
                                <a:solidFill>
                                  <a:srgbClr val="000000"/>
                                </a:solidFill>
                                <a:uFillTx/>
                                <a:latin typeface="Cambria Math" panose="02040503050406030204" charset="0"/>
                                <a:ea typeface="黑体" panose="02010609060101010101" pitchFamily="49" charset="-122"/>
                              </a:rPr>
                            </m:ctrlPr>
                          </m:dPr>
                          <m:e>
                            <m:r>
                              <a:rPr kumimoji="1" lang="en-US" altLang="zh-CN" sz="2800" i="1" dirty="0">
                                <a:latin typeface="Cambria Math" panose="02040503050406030204" charset="0"/>
                                <a:ea typeface="黑体" panose="02010609060101010101" pitchFamily="49" charset="-122"/>
                              </a:rPr>
                              <m:t>𝑥</m:t>
                            </m:r>
                          </m:e>
                        </m:d>
                        <m:r>
                          <a:rPr lang="zh-CN" altLang="en-US" sz="2800">
                            <a:solidFill>
                              <a:srgbClr val="000000"/>
                            </a:solidFill>
                            <a:uFillTx/>
                            <a:latin typeface="Cambria Math" panose="02040503050406030204" charset="0"/>
                            <a:ea typeface="黑体" panose="02010609060101010101" pitchFamily="49" charset="-122"/>
                            <a:cs typeface="Cambria Math" panose="02040503050406030204" charset="0"/>
                          </a:rPr>
                          <m:t>依次是</m:t>
                        </m:r>
                        <m:r>
                          <a:rPr lang="en-US" altLang="zh-CN" sz="2800" b="0" i="0" smtClean="0">
                            <a:solidFill>
                              <a:srgbClr val="000000"/>
                            </a:solidFill>
                            <a:uFillTx/>
                            <a:latin typeface="Cambria Math" panose="02040503050406030204" charset="0"/>
                            <a:ea typeface="黑体" panose="02010609060101010101" pitchFamily="49" charset="-122"/>
                            <a:cs typeface="Cambria Math" panose="02040503050406030204" charset="0"/>
                          </a:rPr>
                          <m:t> </m:t>
                        </m:r>
                        <m:r>
                          <m:rPr>
                            <m:nor/>
                          </m:rPr>
                          <a:rPr lang="en-US" altLang="zh-CN" sz="2800" i="1" dirty="0">
                            <a:latin typeface="Cambria Math" panose="02040503050406030204" charset="0"/>
                            <a:cs typeface="Times New Roman" panose="02020603050405020304" pitchFamily="18" charset="0"/>
                          </a:rPr>
                          <m:t>g</m:t>
                        </m:r>
                        <m:r>
                          <a:rPr lang="en-US" altLang="zh-CN" sz="2800" b="0" i="1" dirty="0" smtClean="0">
                            <a:latin typeface="Cambria Math" panose="02040503050406030204" charset="0"/>
                            <a:cs typeface="Times New Roman" panose="02020603050405020304" pitchFamily="18" charset="0"/>
                          </a:rPr>
                          <m:t> </m:t>
                        </m:r>
                        <m:r>
                          <a:rPr lang="zh-CN" altLang="en-US" sz="2800">
                            <a:solidFill>
                              <a:srgbClr val="000000"/>
                            </a:solidFill>
                            <a:uFillTx/>
                            <a:latin typeface="Cambria Math" panose="02040503050406030204" charset="0"/>
                            <a:ea typeface="黑体" panose="02010609060101010101" pitchFamily="49" charset="-122"/>
                            <a:cs typeface="Cambria Math" panose="02040503050406030204" charset="0"/>
                          </a:rPr>
                          <m:t>(</m:t>
                        </m:r>
                        <m:r>
                          <a:rPr kumimoji="1" lang="en-US" altLang="zh-CN" sz="2800" i="1" dirty="0">
                            <a:latin typeface="Cambria Math" panose="02040503050406030204" charset="0"/>
                            <a:ea typeface="黑体" panose="02010609060101010101" pitchFamily="49" charset="-122"/>
                          </a:rPr>
                          <m:t>𝑦</m:t>
                        </m:r>
                        <m:r>
                          <a:rPr lang="zh-CN" altLang="en-US" sz="2800">
                            <a:solidFill>
                              <a:srgbClr val="000000"/>
                            </a:solidFill>
                            <a:uFillTx/>
                            <a:latin typeface="Cambria Math" panose="02040503050406030204" charset="0"/>
                            <a:ea typeface="黑体" panose="02010609060101010101" pitchFamily="49" charset="-122"/>
                            <a:cs typeface="Cambria Math" panose="02040503050406030204" charset="0"/>
                          </a:rPr>
                          <m:t>)</m:t>
                        </m:r>
                        <m:r>
                          <a:rPr lang="zh-CN" altLang="en-US" sz="2800">
                            <a:solidFill>
                              <a:srgbClr val="000000"/>
                            </a:solidFill>
                            <a:uFillTx/>
                            <a:latin typeface="Cambria Math" panose="02040503050406030204" charset="0"/>
                            <a:ea typeface="黑体" panose="02010609060101010101" pitchFamily="49" charset="-122"/>
                            <a:cs typeface="Cambria Math" panose="02040503050406030204" charset="0"/>
                          </a:rPr>
                          <m:t>和</m:t>
                        </m:r>
                        <m:r>
                          <a:rPr kumimoji="1" lang="en-US" altLang="zh-CN" sz="2800" i="1" dirty="0">
                            <a:latin typeface="Cambria Math" panose="02040503050406030204" charset="0"/>
                            <a:ea typeface="黑体" panose="02010609060101010101" pitchFamily="49" charset="-122"/>
                          </a:rPr>
                          <m:t>𝑓</m:t>
                        </m:r>
                        <m:r>
                          <a:rPr lang="zh-CN" altLang="en-US" sz="2800">
                            <a:solidFill>
                              <a:srgbClr val="000000"/>
                            </a:solidFill>
                            <a:uFillTx/>
                            <a:latin typeface="Cambria Math" panose="02040503050406030204" charset="0"/>
                            <a:ea typeface="黑体" panose="02010609060101010101" pitchFamily="49" charset="-122"/>
                            <a:cs typeface="Cambria Math" panose="02040503050406030204" charset="0"/>
                          </a:rPr>
                          <m:t>(</m:t>
                        </m:r>
                        <m:r>
                          <a:rPr kumimoji="1" lang="en-US" altLang="zh-CN" sz="2800" i="1" dirty="0">
                            <a:latin typeface="Cambria Math" panose="02040503050406030204" charset="0"/>
                            <a:ea typeface="黑体" panose="02010609060101010101" pitchFamily="49" charset="-122"/>
                          </a:rPr>
                          <m:t>𝑥</m:t>
                        </m:r>
                        <m:r>
                          <a:rPr lang="zh-CN" altLang="en-US" sz="2800">
                            <a:solidFill>
                              <a:srgbClr val="000000"/>
                            </a:solidFill>
                            <a:uFillTx/>
                            <a:latin typeface="Cambria Math" panose="02040503050406030204" charset="0"/>
                            <a:ea typeface="黑体" panose="02010609060101010101" pitchFamily="49" charset="-122"/>
                            <a:cs typeface="Cambria Math" panose="02040503050406030204" charset="0"/>
                          </a:rPr>
                          <m:t>)</m:t>
                        </m:r>
                        <m:r>
                          <a:rPr lang="zh-CN" altLang="en-US" sz="2800">
                            <a:solidFill>
                              <a:srgbClr val="000000"/>
                            </a:solidFill>
                            <a:uFillTx/>
                            <a:latin typeface="Cambria Math" panose="02040503050406030204" charset="0"/>
                            <a:ea typeface="黑体" panose="02010609060101010101" pitchFamily="49" charset="-122"/>
                            <a:cs typeface="Cambria Math" panose="02040503050406030204" charset="0"/>
                          </a:rPr>
                          <m:t>的原函数</m:t>
                        </m:r>
                        <m:r>
                          <a:rPr lang="zh-CN" altLang="en-US" sz="2800">
                            <a:solidFill>
                              <a:srgbClr val="000000"/>
                            </a:solidFill>
                            <a:uFillTx/>
                            <a:latin typeface="Cambria Math" panose="02040503050406030204" charset="0"/>
                            <a:ea typeface="黑体" panose="02010609060101010101" pitchFamily="49" charset="-122"/>
                            <a:cs typeface="Cambria Math" panose="02040503050406030204" charset="0"/>
                          </a:rPr>
                          <m:t>.</m:t>
                        </m:r>
                      </m:oMath>
                    </m:oMathPara>
                  </a14:m>
                  <a:endParaRPr lang="zh-CN" altLang="en-US" sz="2800" i="1" dirty="0">
                    <a:solidFill>
                      <a:srgbClr val="000000"/>
                    </a:solidFill>
                    <a:latin typeface="Cambria Math" panose="02040503050406030204" charset="0"/>
                    <a:ea typeface="MS Mincho" panose="02020609040205080304" charset="-128"/>
                    <a:cs typeface="Cambria Math" panose="02040503050406030204" charset="0"/>
                  </a:endParaRPr>
                </a:p>
              </p:txBody>
            </p:sp>
          </mc:Choice>
          <mc:Fallback>
            <p:sp>
              <p:nvSpPr>
                <p:cNvPr id="11" name="对象 2"/>
                <p:cNvSpPr txBox="1">
                  <a:spLocks noRot="1" noChangeAspect="1" noMove="1" noResize="1" noEditPoints="1" noAdjustHandles="1" noChangeArrowheads="1" noChangeShapeType="1" noTextEdit="1"/>
                </p:cNvSpPr>
                <p:nvPr/>
              </p:nvSpPr>
              <p:spPr>
                <a:xfrm>
                  <a:off x="3430" y="9177"/>
                  <a:ext cx="12625" cy="680"/>
                </a:xfrm>
                <a:prstGeom prst="rect">
                  <a:avLst/>
                </a:prstGeom>
                <a:blipFill rotWithShape="1">
                  <a:blip r:embed="rId6"/>
                </a:blipFill>
              </p:spPr>
              <p:txBody>
                <a:bodyPr/>
                <a:lstStyle/>
                <a:p>
                  <a:r>
                    <a:rPr lang="zh-CN" altLang="en-US">
                      <a:noFill/>
                    </a:rPr>
                    <a:t> </a:t>
                  </a:r>
                </a:p>
              </p:txBody>
            </p:sp>
          </mc:Fallback>
        </mc:AlternateContent>
        <p:sp>
          <p:nvSpPr>
            <p:cNvPr id="23" name="文本框 22"/>
            <p:cNvSpPr txBox="1"/>
            <p:nvPr/>
          </p:nvSpPr>
          <p:spPr>
            <a:xfrm>
              <a:off x="15042" y="9369"/>
              <a:ext cx="488" cy="580"/>
            </a:xfrm>
            <a:prstGeom prst="rect">
              <a:avLst/>
            </a:prstGeom>
            <a:noFill/>
          </p:spPr>
          <p:txBody>
            <a:bodyPr wrap="none" rtlCol="0">
              <a:spAutoFit/>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wipe(left)">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wipe(left)">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wipe(left)">
                                      <p:cBhvr>
                                        <p:cTn id="4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bldLvl="0" animBg="1"/>
      <p:bldP spid="3" grpId="1" animBg="1"/>
      <p:bldP spid="8" grpId="0" bldLvl="0" animBg="1"/>
      <p:bldP spid="8"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p:nvPr/>
        </p:nvSpPr>
        <p:spPr>
          <a:xfrm>
            <a:off x="687070" y="1030605"/>
            <a:ext cx="10817225" cy="5256000"/>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687070" y="1030605"/>
            <a:ext cx="10817225" cy="739140"/>
            <a:chOff x="1082" y="1623"/>
            <a:chExt cx="17035" cy="1164"/>
          </a:xfrm>
        </p:grpSpPr>
        <p:sp>
          <p:nvSpPr>
            <p:cNvPr id="48" name="半闭框 47"/>
            <p:cNvSpPr/>
            <p:nvPr/>
          </p:nvSpPr>
          <p:spPr>
            <a:xfrm>
              <a:off x="1082" y="1623"/>
              <a:ext cx="1073" cy="116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9" name="半闭框 48"/>
            <p:cNvSpPr/>
            <p:nvPr/>
          </p:nvSpPr>
          <p:spPr>
            <a:xfrm flipH="1">
              <a:off x="17045" y="1623"/>
              <a:ext cx="1073" cy="116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0" name="半闭框 39"/>
          <p:cNvSpPr/>
          <p:nvPr/>
        </p:nvSpPr>
        <p:spPr>
          <a:xfrm flipV="1">
            <a:off x="687324" y="5613088"/>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1" name="半闭框 40"/>
          <p:cNvSpPr/>
          <p:nvPr/>
        </p:nvSpPr>
        <p:spPr>
          <a:xfrm flipH="1" flipV="1">
            <a:off x="10823530" y="5593222"/>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3"/>
          <p:cNvSpPr txBox="1">
            <a:spLocks noChangeArrowheads="1"/>
          </p:cNvSpPr>
          <p:nvPr/>
        </p:nvSpPr>
        <p:spPr bwMode="auto">
          <a:xfrm>
            <a:off x="600654" y="325516"/>
            <a:ext cx="5976936" cy="583565"/>
          </a:xfrm>
          <a:prstGeom prst="rect">
            <a:avLst/>
          </a:prstGeom>
          <a:noFill/>
          <a:ln w="28575">
            <a:noFill/>
            <a:prstDash val="dashDot"/>
            <a:miter lim="800000"/>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defRPr/>
            </a:pPr>
            <a:r>
              <a:rPr kumimoji="1" lang="zh-CN" altLang="en-US" sz="3200" b="1" dirty="0">
                <a:solidFill>
                  <a:srgbClr val="04926A"/>
                </a:solidFill>
                <a:latin typeface="微软雅黑" panose="020B0503020204020204" charset="-122"/>
                <a:ea typeface="微软雅黑" panose="020B0503020204020204" charset="-122"/>
              </a:rPr>
              <a:t>二、典型例题</a:t>
            </a:r>
            <a:endParaRPr kumimoji="1" lang="zh-CN" altLang="en-US" sz="3200" b="1" i="0" u="none" strike="noStrike" kern="1200" cap="none" spc="0" normalizeH="0" baseline="0" noProof="0" dirty="0">
              <a:ln>
                <a:noFill/>
              </a:ln>
              <a:solidFill>
                <a:srgbClr val="04926A"/>
              </a:solidFill>
              <a:effectLst/>
              <a:uLnTx/>
              <a:uFillTx/>
              <a:latin typeface="微软雅黑" panose="020B0503020204020204" charset="-122"/>
              <a:ea typeface="微软雅黑" panose="020B0503020204020204" charset="-122"/>
            </a:endParaRPr>
          </a:p>
        </p:txBody>
      </p:sp>
      <p:sp>
        <p:nvSpPr>
          <p:cNvPr id="8" name="Rectangle 2"/>
          <p:cNvSpPr>
            <a:spLocks noGrp="1" noChangeArrowheads="1"/>
          </p:cNvSpPr>
          <p:nvPr/>
        </p:nvSpPr>
        <p:spPr>
          <a:xfrm>
            <a:off x="1008380" y="1304478"/>
            <a:ext cx="1508760" cy="609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gn="l"/>
            <a:r>
              <a:rPr lang="zh-CN" altLang="en-US" sz="2800" b="1" dirty="0">
                <a:solidFill>
                  <a:srgbClr val="04926A"/>
                </a:solidFill>
                <a:latin typeface="微软雅黑" panose="020B0503020204020204" charset="-122"/>
                <a:ea typeface="微软雅黑" panose="020B0503020204020204" charset="-122"/>
                <a:cs typeface="微软雅黑" panose="020B0503020204020204" charset="-122"/>
                <a:sym typeface="+mn-lt"/>
              </a:rPr>
              <a:t>例</a:t>
            </a:r>
            <a:r>
              <a:rPr lang="en-US" altLang="zh-CN" sz="2800" b="1" dirty="0">
                <a:solidFill>
                  <a:srgbClr val="04926A"/>
                </a:solidFill>
                <a:latin typeface="微软雅黑" panose="020B0503020204020204" charset="-122"/>
                <a:ea typeface="微软雅黑" panose="020B0503020204020204" charset="-122"/>
                <a:cs typeface="微软雅黑" panose="020B0503020204020204" charset="-122"/>
                <a:sym typeface="+mn-lt"/>
              </a:rPr>
              <a:t>1</a:t>
            </a:r>
            <a:endParaRPr lang="en-US" altLang="zh-CN" sz="2800" b="1" dirty="0">
              <a:solidFill>
                <a:srgbClr val="04926A"/>
              </a:solidFill>
              <a:latin typeface="微软雅黑" panose="020B0503020204020204" charset="-122"/>
              <a:ea typeface="微软雅黑" panose="020B0503020204020204" charset="-122"/>
              <a:cs typeface="微软雅黑" panose="020B0503020204020204" charset="-122"/>
              <a:sym typeface="+mn-lt"/>
            </a:endParaRPr>
          </a:p>
        </p:txBody>
      </p:sp>
      <p:sp>
        <p:nvSpPr>
          <p:cNvPr id="12" name="Text Box 5"/>
          <p:cNvSpPr txBox="1">
            <a:spLocks noChangeArrowheads="1"/>
          </p:cNvSpPr>
          <p:nvPr/>
        </p:nvSpPr>
        <p:spPr bwMode="auto">
          <a:xfrm>
            <a:off x="1017849" y="2162045"/>
            <a:ext cx="297180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b="1" i="0" u="none" strike="noStrike" kern="1200" cap="none" spc="0" normalizeH="0" baseline="0" noProof="0" dirty="0">
                <a:ln>
                  <a:noFill/>
                </a:ln>
                <a:solidFill>
                  <a:srgbClr val="04926A"/>
                </a:solidFill>
                <a:effectLst/>
                <a:uLnTx/>
                <a:uFillTx/>
                <a:latin typeface="微软雅黑" panose="020B0503020204020204" charset="-122"/>
                <a:ea typeface="微软雅黑" panose="020B0503020204020204" charset="-122"/>
                <a:cs typeface="微软雅黑" panose="020B0503020204020204" charset="-122"/>
                <a:sym typeface="+mn-lt"/>
              </a:rPr>
              <a:t>解</a:t>
            </a:r>
            <a:r>
              <a:rPr kumimoji="1" lang="en-US" altLang="zh-CN" sz="2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lt"/>
              </a:rPr>
              <a:t>  </a:t>
            </a:r>
            <a:r>
              <a:rPr kumimoji="1" lang="en-US" altLang="zh-CN"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lt"/>
              </a:rPr>
              <a:t> </a:t>
            </a:r>
            <a:r>
              <a:rPr kumimoji="1" lang="en-US" altLang="zh-CN" sz="2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lt"/>
              </a:rPr>
              <a:t> </a:t>
            </a:r>
            <a:r>
              <a:rPr kumimoji="1" lang="zh-CN" altLang="en-US" sz="2200" b="0" i="0" u="none" strike="noStrike" kern="1200" cap="none" spc="0" normalizeH="0" baseline="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sym typeface="+mn-lt"/>
              </a:rPr>
              <a:t>分离变量得</a:t>
            </a:r>
            <a:endParaRPr kumimoji="1" lang="zh-CN" altLang="en-US" sz="2200" b="0" i="0" u="none" strike="noStrike" kern="1200" cap="none" spc="0" normalizeH="0" baseline="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cs typeface="微软雅黑" panose="020B0503020204020204" charset="-122"/>
              <a:sym typeface="+mn-lt"/>
            </a:endParaRPr>
          </a:p>
        </p:txBody>
      </p:sp>
      <p:sp>
        <p:nvSpPr>
          <p:cNvPr id="34" name="Text Box 7"/>
          <p:cNvSpPr txBox="1">
            <a:spLocks noChangeArrowheads="1"/>
          </p:cNvSpPr>
          <p:nvPr/>
        </p:nvSpPr>
        <p:spPr bwMode="auto">
          <a:xfrm>
            <a:off x="1725874" y="3065006"/>
            <a:ext cx="1752600" cy="4298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200" b="0" i="0" u="none" strike="noStrike" kern="1200" cap="none" spc="0" normalizeH="0" baseline="0" noProof="0">
                <a:ln>
                  <a:noFill/>
                </a:ln>
                <a:solidFill>
                  <a:prstClr val="black"/>
                </a:solidFill>
                <a:effectLst/>
                <a:uLnTx/>
                <a:uFillTx/>
                <a:latin typeface="黑体" panose="02010609060101010101" pitchFamily="49" charset="-122"/>
                <a:ea typeface="黑体" panose="02010609060101010101" pitchFamily="49" charset="-122"/>
                <a:cs typeface="+mn-ea"/>
                <a:sym typeface="+mn-lt"/>
              </a:rPr>
              <a:t>两边积分</a:t>
            </a:r>
            <a:endParaRPr kumimoji="1" lang="zh-CN" altLang="en-US" sz="2200" b="0" i="0" u="none" strike="noStrike" kern="1200" cap="none" spc="0" normalizeH="0" baseline="0" noProof="0">
              <a:ln>
                <a:noFill/>
              </a:ln>
              <a:solidFill>
                <a:prstClr val="black"/>
              </a:solidFill>
              <a:effectLst/>
              <a:uLnTx/>
              <a:uFillTx/>
              <a:latin typeface="黑体" panose="02010609060101010101" pitchFamily="49" charset="-122"/>
              <a:ea typeface="黑体" panose="02010609060101010101" pitchFamily="49" charset="-122"/>
              <a:cs typeface="+mn-ea"/>
              <a:sym typeface="+mn-lt"/>
            </a:endParaRPr>
          </a:p>
        </p:txBody>
      </p:sp>
      <p:sp>
        <p:nvSpPr>
          <p:cNvPr id="42" name="Text Box 9"/>
          <p:cNvSpPr txBox="1">
            <a:spLocks noChangeArrowheads="1"/>
          </p:cNvSpPr>
          <p:nvPr/>
        </p:nvSpPr>
        <p:spPr bwMode="auto">
          <a:xfrm>
            <a:off x="1725874" y="3806686"/>
            <a:ext cx="1371600" cy="4298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200" b="0" i="0" u="none" strike="noStrike" kern="1200" cap="none" spc="0" normalizeH="0" baseline="0" noProof="0">
                <a:ln>
                  <a:noFill/>
                </a:ln>
                <a:solidFill>
                  <a:prstClr val="black"/>
                </a:solidFill>
                <a:effectLst/>
                <a:uLnTx/>
                <a:uFillTx/>
                <a:latin typeface="黑体" panose="02010609060101010101" pitchFamily="49" charset="-122"/>
                <a:ea typeface="黑体" panose="02010609060101010101" pitchFamily="49" charset="-122"/>
                <a:cs typeface="+mn-ea"/>
                <a:sym typeface="+mn-lt"/>
              </a:rPr>
              <a:t>得</a:t>
            </a:r>
            <a:endParaRPr kumimoji="1" lang="zh-CN" altLang="en-US" sz="2200" b="0" i="0" u="none" strike="noStrike" kern="1200" cap="none" spc="0" normalizeH="0" baseline="0" noProof="0">
              <a:ln>
                <a:noFill/>
              </a:ln>
              <a:solidFill>
                <a:prstClr val="black"/>
              </a:solidFill>
              <a:effectLst/>
              <a:uLnTx/>
              <a:uFillTx/>
              <a:latin typeface="黑体" panose="02010609060101010101" pitchFamily="49" charset="-122"/>
              <a:ea typeface="黑体" panose="02010609060101010101" pitchFamily="49" charset="-122"/>
              <a:cs typeface="+mn-ea"/>
              <a:sym typeface="+mn-lt"/>
            </a:endParaRPr>
          </a:p>
        </p:txBody>
      </p:sp>
      <p:sp>
        <p:nvSpPr>
          <p:cNvPr id="50" name="Text Box 13"/>
          <p:cNvSpPr txBox="1">
            <a:spLocks noChangeArrowheads="1"/>
          </p:cNvSpPr>
          <p:nvPr/>
        </p:nvSpPr>
        <p:spPr bwMode="auto">
          <a:xfrm>
            <a:off x="1725874" y="4525833"/>
            <a:ext cx="644525" cy="4298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200" b="0" i="0" u="none" strike="noStrike" kern="1200" cap="none" spc="0" normalizeH="0" baseline="0" noProof="0">
                <a:ln>
                  <a:noFill/>
                </a:ln>
                <a:solidFill>
                  <a:prstClr val="black"/>
                </a:solidFill>
                <a:effectLst/>
                <a:uLnTx/>
                <a:uFillTx/>
                <a:latin typeface="黑体" panose="02010609060101010101" pitchFamily="49" charset="-122"/>
                <a:ea typeface="黑体" panose="02010609060101010101" pitchFamily="49" charset="-122"/>
                <a:cs typeface="+mn-ea"/>
                <a:sym typeface="+mn-lt"/>
              </a:rPr>
              <a:t>即</a:t>
            </a:r>
            <a:endParaRPr kumimoji="1" lang="zh-CN" altLang="en-US" sz="2200" b="0" i="0" u="none" strike="noStrike" kern="1200" cap="none" spc="0" normalizeH="0" baseline="0" noProof="0">
              <a:ln>
                <a:noFill/>
              </a:ln>
              <a:solidFill>
                <a:prstClr val="black"/>
              </a:solidFill>
              <a:effectLst/>
              <a:uLnTx/>
              <a:uFillTx/>
              <a:latin typeface="黑体" panose="02010609060101010101" pitchFamily="49" charset="-122"/>
              <a:ea typeface="黑体" panose="02010609060101010101" pitchFamily="49" charset="-122"/>
              <a:cs typeface="+mn-ea"/>
              <a:sym typeface="+mn-lt"/>
            </a:endParaRPr>
          </a:p>
        </p:txBody>
      </p:sp>
      <p:sp>
        <p:nvSpPr>
          <p:cNvPr id="57" name="Text Box 23"/>
          <p:cNvSpPr txBox="1">
            <a:spLocks noChangeArrowheads="1"/>
          </p:cNvSpPr>
          <p:nvPr/>
        </p:nvSpPr>
        <p:spPr bwMode="auto">
          <a:xfrm>
            <a:off x="4556760" y="3806686"/>
            <a:ext cx="756920" cy="4298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200" b="0" i="0" u="none" strike="noStrike" kern="1200" cap="none" spc="0" normalizeH="0" baseline="0" noProof="0" dirty="0">
                <a:ln>
                  <a:noFill/>
                </a:ln>
                <a:solidFill>
                  <a:srgbClr val="04926A"/>
                </a:solidFill>
                <a:effectLst/>
                <a:uLnTx/>
                <a:uFillTx/>
                <a:latin typeface="黑体" panose="02010609060101010101" pitchFamily="49" charset="-122"/>
                <a:ea typeface="黑体" panose="02010609060101010101" pitchFamily="49" charset="-122"/>
                <a:cs typeface="+mn-ea"/>
                <a:sym typeface="+mn-lt"/>
              </a:rPr>
              <a:t>或</a:t>
            </a:r>
            <a:endParaRPr kumimoji="1" lang="zh-CN" altLang="en-US" sz="2200" b="0" i="0" u="none" strike="noStrike" kern="1200" cap="none" spc="0" normalizeH="0" baseline="0" noProof="0" dirty="0">
              <a:ln>
                <a:noFill/>
              </a:ln>
              <a:solidFill>
                <a:srgbClr val="04926A"/>
              </a:solidFill>
              <a:effectLst/>
              <a:uLnTx/>
              <a:uFillTx/>
              <a:latin typeface="黑体" panose="02010609060101010101" pitchFamily="49" charset="-122"/>
              <a:ea typeface="黑体" panose="02010609060101010101" pitchFamily="49" charset="-122"/>
              <a:cs typeface="+mn-ea"/>
              <a:sym typeface="+mn-lt"/>
            </a:endParaRPr>
          </a:p>
        </p:txBody>
      </p:sp>
      <p:sp>
        <p:nvSpPr>
          <p:cNvPr id="58" name="Text Box 28"/>
          <p:cNvSpPr txBox="1">
            <a:spLocks noChangeArrowheads="1"/>
          </p:cNvSpPr>
          <p:nvPr/>
        </p:nvSpPr>
        <p:spPr bwMode="auto">
          <a:xfrm>
            <a:off x="7958154" y="2264422"/>
            <a:ext cx="2667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zh-CN" sz="2800" b="0" i="0" u="none" strike="noStrike" kern="1200" cap="none" spc="0" normalizeH="0" baseline="0" noProof="0">
              <a:ln>
                <a:noFill/>
              </a:ln>
              <a:solidFill>
                <a:prstClr val="black"/>
              </a:solidFill>
              <a:effectLst/>
              <a:uLnTx/>
              <a:uFillTx/>
              <a:latin typeface="黑体" panose="02010609060101010101" pitchFamily="49" charset="-122"/>
              <a:ea typeface="黑体" panose="02010609060101010101" pitchFamily="49" charset="-122"/>
              <a:cs typeface="+mn-ea"/>
              <a:sym typeface="+mn-lt"/>
            </a:endParaRPr>
          </a:p>
        </p:txBody>
      </p:sp>
      <p:sp>
        <p:nvSpPr>
          <p:cNvPr id="59" name="Oval 31"/>
          <p:cNvSpPr>
            <a:spLocks noChangeArrowheads="1"/>
          </p:cNvSpPr>
          <p:nvPr/>
        </p:nvSpPr>
        <p:spPr bwMode="auto">
          <a:xfrm>
            <a:off x="3299460" y="2549337"/>
            <a:ext cx="378460" cy="324485"/>
          </a:xfrm>
          <a:prstGeom prst="ellipse">
            <a:avLst/>
          </a:prstGeom>
          <a:noFill/>
          <a:ln w="19050">
            <a:solidFill>
              <a:srgbClr val="04926A"/>
            </a:solidFill>
            <a:round/>
          </a:ln>
          <a:extLst>
            <a:ext uri="{909E8E84-426E-40DD-AFC4-6F175D3DCCD1}">
              <a14:hiddenFill xmlns:a14="http://schemas.microsoft.com/office/drawing/2010/main">
                <a:solidFill>
                  <a:schemeClr val="accent1"/>
                </a:solidFill>
              </a14:hiddenFill>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prstClr val="black"/>
              </a:solidFill>
              <a:effectLst/>
              <a:uLnTx/>
              <a:uFillTx/>
              <a:latin typeface="黑体" panose="02010609060101010101" pitchFamily="49" charset="-122"/>
              <a:ea typeface="黑体" panose="02010609060101010101" pitchFamily="49" charset="-122"/>
              <a:cs typeface="+mn-ea"/>
              <a:sym typeface="+mn-lt"/>
            </a:endParaRPr>
          </a:p>
        </p:txBody>
      </p:sp>
      <p:sp>
        <p:nvSpPr>
          <p:cNvPr id="28" name="Rectangle 1"/>
          <p:cNvSpPr/>
          <p:nvPr/>
        </p:nvSpPr>
        <p:spPr>
          <a:xfrm>
            <a:off x="7033260" y="1854200"/>
            <a:ext cx="4055110" cy="1564640"/>
          </a:xfrm>
          <a:prstGeom prst="rect">
            <a:avLst/>
          </a:prstGeom>
          <a:solidFill>
            <a:srgbClr val="04926A">
              <a:alpha val="2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mc:AlternateContent xmlns:mc="http://schemas.openxmlformats.org/markup-compatibility/2006">
        <mc:Choice xmlns:a14="http://schemas.microsoft.com/office/drawing/2010/main" Requires="a14">
          <p:sp>
            <p:nvSpPr>
              <p:cNvPr id="61" name="Text Box 39"/>
              <p:cNvSpPr txBox="1">
                <a:spLocks noChangeArrowheads="1"/>
              </p:cNvSpPr>
              <p:nvPr/>
            </p:nvSpPr>
            <p:spPr bwMode="auto">
              <a:xfrm>
                <a:off x="7156988" y="1961177"/>
                <a:ext cx="3949854" cy="9531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fontAlgn="base">
                  <a:spcBef>
                    <a:spcPct val="50000"/>
                  </a:spcBef>
                  <a:spcAft>
                    <a:spcPct val="0"/>
                  </a:spcAft>
                  <a:defRPr/>
                </a:pPr>
                <a:r>
                  <a:rPr kumimoji="1" lang="zh-CN" altLang="en-US" sz="2800" b="1" i="0" u="none" strike="noStrike" kern="1200" cap="none" spc="0" normalizeH="0" baseline="0" noProof="0" dirty="0">
                    <a:ln>
                      <a:noFill/>
                    </a:ln>
                    <a:solidFill>
                      <a:srgbClr val="04926A"/>
                    </a:solidFill>
                    <a:effectLst/>
                    <a:uLnTx/>
                    <a:uFillTx/>
                    <a:latin typeface="黑体" panose="02010609060101010101" pitchFamily="49" charset="-122"/>
                    <a:ea typeface="黑体" panose="02010609060101010101" pitchFamily="49" charset="-122"/>
                    <a:cs typeface="+mn-ea"/>
                    <a:sym typeface="+mn-lt"/>
                  </a:rPr>
                  <a:t>说明</a:t>
                </a:r>
                <a:r>
                  <a:rPr kumimoji="1" lang="en-US" altLang="zh-CN" sz="2800" b="1" i="0" u="none" strike="noStrike" kern="1200" cap="none" spc="0" normalizeH="0" baseline="0" noProof="0" dirty="0">
                    <a:ln>
                      <a:noFill/>
                    </a:ln>
                    <a:solidFill>
                      <a:srgbClr val="04926A"/>
                    </a:solidFill>
                    <a:effectLst/>
                    <a:uLnTx/>
                    <a:uFillTx/>
                    <a:latin typeface="黑体" panose="02010609060101010101" pitchFamily="49" charset="-122"/>
                    <a:ea typeface="黑体" panose="02010609060101010101" pitchFamily="49" charset="-122"/>
                    <a:cs typeface="+mn-ea"/>
                    <a:sym typeface="+mn-lt"/>
                  </a:rPr>
                  <a:t>:</a:t>
                </a:r>
                <a:r>
                  <a:rPr kumimoji="1" lang="en-US" altLang="zh-CN" sz="28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ea"/>
                    <a:sym typeface="+mn-lt"/>
                  </a:rPr>
                  <a:t> </a:t>
                </a:r>
                <a:r>
                  <a:rPr kumimoji="1" lang="zh-CN" altLang="en-US" sz="28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ea"/>
                    <a:sym typeface="+mn-lt"/>
                  </a:rPr>
                  <a:t>在求解过程中每一步不一定是同解变形</a:t>
                </a:r>
                <a14:m>
                  <m:oMath xmlns:m="http://schemas.openxmlformats.org/officeDocument/2006/math">
                    <m:r>
                      <a:rPr kumimoji="1" lang="en-US" altLang="zh-CN" sz="2800" dirty="0">
                        <a:latin typeface="Cambria Math" panose="02040503050406030204" charset="0"/>
                        <a:ea typeface="黑体" panose="02010609060101010101" pitchFamily="49" charset="-122"/>
                      </a:rPr>
                      <m:t>,</m:t>
                    </m:r>
                  </m:oMath>
                </a14:m>
                <a:endParaRPr kumimoji="1" lang="en-US" altLang="zh-CN" sz="28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ea"/>
                  <a:sym typeface="+mn-lt"/>
                </a:endParaRPr>
              </a:p>
            </p:txBody>
          </p:sp>
        </mc:Choice>
        <mc:Fallback>
          <p:sp>
            <p:nvSpPr>
              <p:cNvPr id="61" name="Text Box 39"/>
              <p:cNvSpPr txBox="1">
                <a:spLocks noRot="1" noChangeAspect="1" noMove="1" noResize="1" noEditPoints="1" noAdjustHandles="1" noChangeArrowheads="1" noChangeShapeType="1" noTextEdit="1"/>
              </p:cNvSpPr>
              <p:nvPr/>
            </p:nvSpPr>
            <p:spPr bwMode="auto">
              <a:xfrm>
                <a:off x="7156988" y="1961177"/>
                <a:ext cx="3949854" cy="953135"/>
              </a:xfrm>
              <a:prstGeom prst="rect">
                <a:avLst/>
              </a:prstGeom>
              <a:blipFill rotWithShape="1">
                <a:blip r:embed="rId1"/>
                <a:stretch>
                  <a:fillRect l="-14" t="-31" r="1" b="31"/>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p:sp>
        <p:nvSpPr>
          <p:cNvPr id="62" name="Text Box 40"/>
          <p:cNvSpPr txBox="1">
            <a:spLocks noChangeArrowheads="1"/>
          </p:cNvSpPr>
          <p:nvPr/>
        </p:nvSpPr>
        <p:spPr bwMode="auto">
          <a:xfrm>
            <a:off x="7138368" y="2886627"/>
            <a:ext cx="3616326" cy="4356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lnSpc>
                <a:spcPct val="80000"/>
              </a:lnSpc>
              <a:spcBef>
                <a:spcPct val="50000"/>
              </a:spcBef>
              <a:spcAft>
                <a:spcPct val="0"/>
              </a:spcAft>
              <a:defRPr/>
            </a:pPr>
            <a:r>
              <a:rPr kumimoji="1" lang="zh-CN" altLang="en-US" sz="28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黑体" panose="02010609060101010101" pitchFamily="49" charset="-122"/>
                <a:sym typeface="+mn-lt"/>
              </a:rPr>
              <a:t>因此可能增</a:t>
            </a:r>
            <a:r>
              <a:rPr kumimoji="1" lang="zh-CN" altLang="en-US" sz="2800" dirty="0">
                <a:solidFill>
                  <a:prstClr val="black"/>
                </a:solidFill>
                <a:latin typeface="黑体" panose="02010609060101010101" pitchFamily="49" charset="-122"/>
                <a:ea typeface="黑体" panose="02010609060101010101" pitchFamily="49" charset="-122"/>
                <a:cs typeface="黑体" panose="02010609060101010101" pitchFamily="49" charset="-122"/>
                <a:sym typeface="+mn-lt"/>
              </a:rPr>
              <a:t>、减解</a:t>
            </a:r>
            <a:r>
              <a:rPr kumimoji="1" lang="en-US" altLang="zh-CN" sz="2800" dirty="0">
                <a:solidFill>
                  <a:prstClr val="black"/>
                </a:solidFill>
                <a:latin typeface="黑体" panose="02010609060101010101" pitchFamily="49" charset="-122"/>
                <a:ea typeface="黑体" panose="02010609060101010101" pitchFamily="49" charset="-122"/>
                <a:cs typeface="黑体" panose="02010609060101010101" pitchFamily="49" charset="-122"/>
                <a:sym typeface="+mn-lt"/>
              </a:rPr>
              <a:t>.</a:t>
            </a:r>
            <a:endParaRPr kumimoji="1" lang="zh-CN" altLang="en-US" sz="28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黑体" panose="02010609060101010101" pitchFamily="49" charset="-122"/>
              <a:sym typeface="+mn-lt"/>
            </a:endParaRPr>
          </a:p>
        </p:txBody>
      </p:sp>
      <p:sp>
        <p:nvSpPr>
          <p:cNvPr id="10" name="AutoShape 25"/>
          <p:cNvSpPr>
            <a:spLocks noChangeArrowheads="1"/>
          </p:cNvSpPr>
          <p:nvPr/>
        </p:nvSpPr>
        <p:spPr bwMode="auto">
          <a:xfrm rot="2700000">
            <a:off x="4730750" y="3649157"/>
            <a:ext cx="666750" cy="218440"/>
          </a:xfrm>
          <a:prstGeom prst="rightArrow">
            <a:avLst>
              <a:gd name="adj1" fmla="val 50000"/>
              <a:gd name="adj2" fmla="val 100221"/>
            </a:avLst>
          </a:prstGeom>
          <a:solidFill>
            <a:srgbClr val="04926A"/>
          </a:solidFill>
          <a:ln w="9525">
            <a:noFill/>
            <a:miter lim="800000"/>
          </a:ln>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dirty="0">
              <a:ln>
                <a:noFill/>
              </a:ln>
              <a:solidFill>
                <a:prstClr val="black"/>
              </a:solidFill>
              <a:effectLst/>
              <a:uLnTx/>
              <a:uFillTx/>
              <a:latin typeface="Cambria Math" panose="02040503050406030204" charset="0"/>
              <a:ea typeface="黑体" panose="02010609060101010101" pitchFamily="49" charset="-122"/>
              <a:cs typeface="+mn-cs"/>
            </a:endParaRPr>
          </a:p>
        </p:txBody>
      </p:sp>
      <p:sp>
        <p:nvSpPr>
          <p:cNvPr id="2" name="AutoShape 25"/>
          <p:cNvSpPr>
            <a:spLocks noChangeArrowheads="1"/>
          </p:cNvSpPr>
          <p:nvPr/>
        </p:nvSpPr>
        <p:spPr bwMode="auto">
          <a:xfrm rot="6720000">
            <a:off x="4952365" y="4665792"/>
            <a:ext cx="1001395" cy="228600"/>
          </a:xfrm>
          <a:prstGeom prst="rightArrow">
            <a:avLst>
              <a:gd name="adj1" fmla="val 50000"/>
              <a:gd name="adj2" fmla="val 100221"/>
            </a:avLst>
          </a:prstGeom>
          <a:solidFill>
            <a:srgbClr val="04926A"/>
          </a:solidFill>
          <a:ln w="9525">
            <a:noFill/>
            <a:miter lim="800000"/>
          </a:ln>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dirty="0">
              <a:ln>
                <a:noFill/>
              </a:ln>
              <a:solidFill>
                <a:prstClr val="black"/>
              </a:solidFill>
              <a:effectLst/>
              <a:uLnTx/>
              <a:uFillTx/>
              <a:latin typeface="Cambria Math" panose="02040503050406030204" charset="0"/>
              <a:ea typeface="黑体" panose="02010609060101010101" pitchFamily="49" charset="-122"/>
              <a:cs typeface="+mn-cs"/>
            </a:endParaRPr>
          </a:p>
        </p:txBody>
      </p:sp>
      <p:grpSp>
        <p:nvGrpSpPr>
          <p:cNvPr id="7" name="组合 6"/>
          <p:cNvGrpSpPr/>
          <p:nvPr/>
        </p:nvGrpSpPr>
        <p:grpSpPr>
          <a:xfrm>
            <a:off x="1740535" y="1098550"/>
            <a:ext cx="5933440" cy="914400"/>
            <a:chOff x="2741" y="1730"/>
            <a:chExt cx="9344" cy="1440"/>
          </a:xfrm>
        </p:grpSpPr>
        <mc:AlternateContent xmlns:mc="http://schemas.openxmlformats.org/markup-compatibility/2006">
          <mc:Choice xmlns:a14="http://schemas.microsoft.com/office/drawing/2010/main" Requires="a14">
            <p:sp>
              <p:nvSpPr>
                <p:cNvPr id="9" name="Object 3"/>
                <p:cNvSpPr txBox="1"/>
                <p:nvPr/>
              </p:nvSpPr>
              <p:spPr bwMode="auto">
                <a:xfrm>
                  <a:off x="2741" y="1730"/>
                  <a:ext cx="9345" cy="1440"/>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zh-CN" altLang="en-US" sz="2800" noProof="0" dirty="0" smtClean="0">
                            <a:ln>
                              <a:noFill/>
                            </a:ln>
                            <a:solidFill>
                              <a:schemeClr val="tx1">
                                <a:lumMod val="95000"/>
                                <a:lumOff val="5000"/>
                              </a:schemeClr>
                            </a:solidFill>
                            <a:effectLst/>
                            <a:uLnTx/>
                            <a:uFillTx/>
                            <a:latin typeface="Cambria Math" panose="02040503050406030204" charset="0"/>
                            <a:ea typeface="黑体" panose="02010609060101010101" pitchFamily="49" charset="-122"/>
                          </a:rPr>
                          <m:t>求微分方程</m:t>
                        </m:r>
                        <m:f>
                          <m:fPr>
                            <m:ctrlPr>
                              <a:rPr kumimoji="1" lang="en-US" altLang="zh-CN" sz="2800" i="1" dirty="0">
                                <a:latin typeface="Cambria Math" panose="02040503050406030204" charset="0"/>
                                <a:ea typeface="黑体" panose="02010609060101010101" pitchFamily="49" charset="-122"/>
                              </a:rPr>
                            </m:ctrlPr>
                          </m:fPr>
                          <m:num>
                            <m:r>
                              <m:rPr>
                                <m:sty m:val="p"/>
                              </m:rPr>
                              <a:rPr kumimoji="1" lang="en-US" altLang="zh-CN" sz="2800" b="0" i="0" dirty="0" smtClean="0">
                                <a:latin typeface="Cambria Math" panose="02040503050406030204" charset="0"/>
                                <a:ea typeface="黑体" panose="02010609060101010101" pitchFamily="49" charset="-122"/>
                              </a:rPr>
                              <m:t>d</m:t>
                            </m:r>
                            <m:r>
                              <a:rPr kumimoji="1" lang="en-US" altLang="zh-CN" sz="2800" b="0" i="1" dirty="0" smtClean="0">
                                <a:latin typeface="Cambria Math" panose="02040503050406030204" charset="0"/>
                                <a:ea typeface="黑体" panose="02010609060101010101" pitchFamily="49" charset="-122"/>
                              </a:rPr>
                              <m:t>𝑦</m:t>
                            </m:r>
                          </m:num>
                          <m:den>
                            <m:r>
                              <m:rPr>
                                <m:sty m:val="p"/>
                              </m:rPr>
                              <a:rPr kumimoji="1" lang="en-US" altLang="zh-CN" sz="2800" b="0" i="0" dirty="0" smtClean="0">
                                <a:latin typeface="Cambria Math" panose="02040503050406030204" charset="0"/>
                                <a:ea typeface="黑体" panose="02010609060101010101" pitchFamily="49" charset="-122"/>
                              </a:rPr>
                              <m:t>d</m:t>
                            </m:r>
                            <m:r>
                              <a:rPr kumimoji="1" lang="en-US" altLang="zh-CN" sz="2800" b="0" i="1" dirty="0" smtClean="0">
                                <a:latin typeface="Cambria Math" panose="02040503050406030204" charset="0"/>
                                <a:ea typeface="黑体" panose="02010609060101010101" pitchFamily="49" charset="-122"/>
                              </a:rPr>
                              <m:t>𝑥</m:t>
                            </m:r>
                          </m:den>
                        </m:f>
                        <m:r>
                          <a:rPr kumimoji="1" lang="en-US" altLang="zh-CN" sz="2800" dirty="0">
                            <a:latin typeface="Cambria Math" panose="02040503050406030204" charset="0"/>
                            <a:ea typeface="黑体" panose="02010609060101010101" pitchFamily="49" charset="-122"/>
                          </a:rPr>
                          <m:t>=</m:t>
                        </m:r>
                        <m:r>
                          <a:rPr kumimoji="1" lang="en-US" altLang="zh-CN" sz="2800" dirty="0">
                            <a:latin typeface="Cambria Math" panose="02040503050406030204" charset="0"/>
                            <a:ea typeface="黑体" panose="02010609060101010101" pitchFamily="49" charset="-122"/>
                          </a:rPr>
                          <m:t>3</m:t>
                        </m:r>
                        <m:sSup>
                          <m:sSupPr>
                            <m:ctrlPr>
                              <a:rPr kumimoji="1" lang="en-US" altLang="zh-CN" sz="2800" i="1" dirty="0">
                                <a:latin typeface="Cambria Math" panose="02040503050406030204" charset="0"/>
                                <a:ea typeface="黑体" panose="02010609060101010101" pitchFamily="49" charset="-122"/>
                              </a:rPr>
                            </m:ctrlPr>
                          </m:sSupPr>
                          <m:e>
                            <m:r>
                              <a:rPr kumimoji="1" lang="en-US" altLang="zh-CN" sz="2800" dirty="0">
                                <a:latin typeface="Cambria Math" panose="02040503050406030204" charset="0"/>
                                <a:ea typeface="黑体" panose="02010609060101010101" pitchFamily="49" charset="-122"/>
                              </a:rPr>
                              <m:t>𝑥</m:t>
                            </m:r>
                          </m:e>
                          <m:sup>
                            <m:r>
                              <a:rPr kumimoji="1" lang="en-US" altLang="zh-CN" sz="2800" dirty="0">
                                <a:latin typeface="Cambria Math" panose="02040503050406030204" charset="0"/>
                                <a:ea typeface="黑体" panose="02010609060101010101" pitchFamily="49" charset="-122"/>
                              </a:rPr>
                              <m:t>2</m:t>
                            </m:r>
                          </m:sup>
                        </m:sSup>
                        <m:r>
                          <a:rPr kumimoji="1" lang="en-US" altLang="zh-CN" sz="2800" dirty="0">
                            <a:latin typeface="Cambria Math" panose="02040503050406030204" charset="0"/>
                            <a:ea typeface="黑体" panose="02010609060101010101" pitchFamily="49" charset="-122"/>
                          </a:rPr>
                          <m:t>𝑦</m:t>
                        </m:r>
                        <m: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的通解</m:t>
                        </m:r>
                        <m:r>
                          <a:rPr kumimoji="1" lang="zh-CN" altLang="en-US" sz="2800" noProof="0" dirty="0">
                            <a:ln>
                              <a:noFill/>
                            </a:ln>
                            <a:solidFill>
                              <a:schemeClr val="tx1">
                                <a:lumMod val="95000"/>
                                <a:lumOff val="5000"/>
                              </a:schemeClr>
                            </a:solidFill>
                            <a:effectLst/>
                            <a:uLnTx/>
                            <a:uFillTx/>
                            <a:latin typeface="Cambria Math" panose="02040503050406030204" charset="0"/>
                            <a:ea typeface="黑体" panose="02010609060101010101" pitchFamily="49" charset="-122"/>
                          </a:rPr>
                          <m:t>.</m:t>
                        </m:r>
                      </m:oMath>
                    </m:oMathPara>
                  </a14:m>
                  <a:endParaRPr lang="zh-CN" altLang="en-US" sz="2800" i="1" dirty="0">
                    <a:solidFill>
                      <a:srgbClr val="000000"/>
                    </a:solidFill>
                    <a:latin typeface="Cambria Math" panose="02040503050406030204" charset="0"/>
                  </a:endParaRPr>
                </a:p>
              </p:txBody>
            </p:sp>
          </mc:Choice>
          <mc:Fallback>
            <p:sp>
              <p:nvSpPr>
                <p:cNvPr id="9" name="Object 3"/>
                <p:cNvSpPr txBox="1">
                  <a:spLocks noRot="1" noChangeAspect="1" noMove="1" noResize="1" noEditPoints="1" noAdjustHandles="1" noChangeArrowheads="1" noChangeShapeType="1" noTextEdit="1"/>
                </p:cNvSpPr>
                <p:nvPr/>
              </p:nvSpPr>
              <p:spPr bwMode="auto">
                <a:xfrm>
                  <a:off x="2741" y="1730"/>
                  <a:ext cx="9345" cy="1440"/>
                </a:xfrm>
                <a:prstGeom prst="rect">
                  <a:avLst/>
                </a:prstGeom>
                <a:blipFill rotWithShape="1">
                  <a:blip r:embed="rId2"/>
                </a:blipFill>
                <a:ln>
                  <a:noFill/>
                </a:ln>
                <a:effectLst/>
              </p:spPr>
              <p:txBody>
                <a:bodyPr/>
                <a:lstStyle/>
                <a:p>
                  <a:r>
                    <a:rPr lang="zh-CN" altLang="en-US">
                      <a:noFill/>
                    </a:rPr>
                    <a:t> </a:t>
                  </a:r>
                </a:p>
              </p:txBody>
            </p:sp>
          </mc:Fallback>
        </mc:AlternateContent>
        <p:sp>
          <p:nvSpPr>
            <p:cNvPr id="6" name="文本框 5"/>
            <p:cNvSpPr txBox="1"/>
            <p:nvPr/>
          </p:nvSpPr>
          <p:spPr>
            <a:xfrm>
              <a:off x="10116" y="2207"/>
              <a:ext cx="488" cy="580"/>
            </a:xfrm>
            <a:prstGeom prst="rect">
              <a:avLst/>
            </a:prstGeom>
            <a:noFill/>
          </p:spPr>
          <p:txBody>
            <a:bodyPr wrap="none" rtlCol="0">
              <a:spAutoFit/>
            </a:bodyPr>
            <a:lstStyle/>
            <a:p>
              <a:endParaRPr lang="zh-CN" altLang="en-US"/>
            </a:p>
          </p:txBody>
        </p:sp>
      </p:grpSp>
      <p:grpSp>
        <p:nvGrpSpPr>
          <p:cNvPr id="13" name="组合 12"/>
          <p:cNvGrpSpPr/>
          <p:nvPr/>
        </p:nvGrpSpPr>
        <p:grpSpPr>
          <a:xfrm>
            <a:off x="3218815" y="2081977"/>
            <a:ext cx="2095500" cy="914400"/>
            <a:chOff x="5069" y="3342"/>
            <a:chExt cx="3300" cy="1440"/>
          </a:xfrm>
        </p:grpSpPr>
        <mc:AlternateContent xmlns:mc="http://schemas.openxmlformats.org/markup-compatibility/2006">
          <mc:Choice xmlns:a14="http://schemas.microsoft.com/office/drawing/2010/main" Requires="a14">
            <p:sp>
              <p:nvSpPr>
                <p:cNvPr id="32" name="Object 6"/>
                <p:cNvSpPr txBox="1"/>
                <p:nvPr/>
              </p:nvSpPr>
              <p:spPr bwMode="auto">
                <a:xfrm>
                  <a:off x="5069" y="3342"/>
                  <a:ext cx="3300" cy="1440"/>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14:m>
                    <m:oMathPara xmlns:m="http://schemas.openxmlformats.org/officeDocument/2006/math">
                      <m:oMathParaPr>
                        <m:jc m:val="left"/>
                      </m:oMathParaPr>
                      <m:oMath xmlns:m="http://schemas.openxmlformats.org/officeDocument/2006/math">
                        <m:f>
                          <m:fPr>
                            <m:ctrlPr>
                              <a:rPr kumimoji="1" lang="en-US" altLang="zh-CN" sz="2200" i="1" dirty="0" smtClean="0">
                                <a:latin typeface="Cambria Math" panose="02040503050406030204" charset="0"/>
                                <a:ea typeface="黑体" panose="02010609060101010101" pitchFamily="49" charset="-122"/>
                              </a:rPr>
                            </m:ctrlPr>
                          </m:fPr>
                          <m:num>
                            <m:r>
                              <m:rPr>
                                <m:sty m:val="p"/>
                              </m:rPr>
                              <a:rPr kumimoji="1" lang="en-US" altLang="zh-CN" sz="2200" b="0" i="0" dirty="0" smtClean="0">
                                <a:latin typeface="Cambria Math" panose="02040503050406030204" charset="0"/>
                                <a:ea typeface="黑体" panose="02010609060101010101" pitchFamily="49" charset="-122"/>
                              </a:rPr>
                              <m:t>d</m:t>
                            </m:r>
                            <m:r>
                              <a:rPr kumimoji="1" lang="en-US" altLang="zh-CN" sz="2200" b="0" i="1" dirty="0" smtClean="0">
                                <a:latin typeface="Cambria Math" panose="02040503050406030204" charset="0"/>
                                <a:ea typeface="黑体" panose="02010609060101010101" pitchFamily="49" charset="-122"/>
                              </a:rPr>
                              <m:t>𝑦</m:t>
                            </m:r>
                          </m:num>
                          <m:den>
                            <m:r>
                              <a:rPr kumimoji="1" lang="en-US" altLang="zh-CN" sz="2200" dirty="0">
                                <a:latin typeface="Cambria Math" panose="02040503050406030204" charset="0"/>
                                <a:ea typeface="黑体" panose="02010609060101010101" pitchFamily="49" charset="-122"/>
                              </a:rPr>
                              <m:t>𝑦</m:t>
                            </m:r>
                          </m:den>
                        </m:f>
                        <m:r>
                          <a:rPr kumimoji="1" lang="en-US" altLang="zh-CN" sz="2200" dirty="0">
                            <a:latin typeface="Cambria Math" panose="02040503050406030204" charset="0"/>
                            <a:ea typeface="黑体" panose="02010609060101010101" pitchFamily="49" charset="-122"/>
                          </a:rPr>
                          <m:t>=</m:t>
                        </m:r>
                        <m:r>
                          <a:rPr kumimoji="1" lang="en-US" altLang="zh-CN" sz="2200" dirty="0">
                            <a:latin typeface="Cambria Math" panose="02040503050406030204" charset="0"/>
                            <a:ea typeface="黑体" panose="02010609060101010101" pitchFamily="49" charset="-122"/>
                          </a:rPr>
                          <m:t>3</m:t>
                        </m:r>
                        <m:sSup>
                          <m:sSupPr>
                            <m:ctrlPr>
                              <a:rPr kumimoji="1" lang="en-US" altLang="zh-CN" sz="2200" i="1" dirty="0">
                                <a:latin typeface="Cambria Math" panose="02040503050406030204" charset="0"/>
                                <a:ea typeface="黑体" panose="02010609060101010101" pitchFamily="49" charset="-122"/>
                              </a:rPr>
                            </m:ctrlPr>
                          </m:sSupPr>
                          <m:e>
                            <m:r>
                              <a:rPr kumimoji="1" lang="en-US" altLang="zh-CN" sz="2200" dirty="0">
                                <a:latin typeface="Cambria Math" panose="02040503050406030204" charset="0"/>
                                <a:ea typeface="黑体" panose="02010609060101010101" pitchFamily="49" charset="-122"/>
                              </a:rPr>
                              <m:t>𝑥</m:t>
                            </m:r>
                          </m:e>
                          <m:sup>
                            <m:r>
                              <a:rPr kumimoji="1" lang="en-US" altLang="zh-CN" sz="2200" dirty="0">
                                <a:latin typeface="Cambria Math" panose="02040503050406030204" charset="0"/>
                                <a:ea typeface="黑体" panose="02010609060101010101" pitchFamily="49" charset="-122"/>
                              </a:rPr>
                              <m:t>2</m:t>
                            </m:r>
                          </m:sup>
                        </m:sSup>
                        <m:r>
                          <m:rPr>
                            <m:sty m:val="p"/>
                          </m:rPr>
                          <a:rPr kumimoji="1" lang="en-US" altLang="zh-CN" sz="2200" b="0" i="0" dirty="0" smtClean="0">
                            <a:latin typeface="Cambria Math" panose="02040503050406030204" charset="0"/>
                            <a:ea typeface="黑体" panose="02010609060101010101" pitchFamily="49" charset="-122"/>
                          </a:rPr>
                          <m:t>d</m:t>
                        </m:r>
                        <m:r>
                          <a:rPr kumimoji="1" lang="en-US" altLang="zh-CN" sz="2200" b="0" i="1" dirty="0" smtClean="0">
                            <a:latin typeface="Cambria Math" panose="02040503050406030204" charset="0"/>
                            <a:ea typeface="黑体" panose="02010609060101010101" pitchFamily="49" charset="-122"/>
                          </a:rPr>
                          <m:t>𝑥</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32" name="Object 6"/>
                <p:cNvSpPr txBox="1">
                  <a:spLocks noRot="1" noChangeAspect="1" noMove="1" noResize="1" noEditPoints="1" noAdjustHandles="1" noChangeArrowheads="1" noChangeShapeType="1" noTextEdit="1"/>
                </p:cNvSpPr>
                <p:nvPr/>
              </p:nvSpPr>
              <p:spPr bwMode="auto">
                <a:xfrm>
                  <a:off x="5069" y="3342"/>
                  <a:ext cx="3300" cy="1440"/>
                </a:xfrm>
                <a:prstGeom prst="rect">
                  <a:avLst/>
                </a:prstGeom>
                <a:blipFill rotWithShape="1">
                  <a:blip r:embed="rId3"/>
                </a:blipFill>
                <a:ln>
                  <a:noFill/>
                </a:ln>
                <a:effectLst/>
              </p:spPr>
              <p:txBody>
                <a:bodyPr/>
                <a:lstStyle/>
                <a:p>
                  <a:r>
                    <a:rPr lang="zh-CN" altLang="en-US">
                      <a:noFill/>
                    </a:rPr>
                    <a:t> </a:t>
                  </a:r>
                </a:p>
              </p:txBody>
            </p:sp>
          </mc:Fallback>
        </mc:AlternateContent>
        <p:sp>
          <p:nvSpPr>
            <p:cNvPr id="11" name="文本框 10"/>
            <p:cNvSpPr txBox="1"/>
            <p:nvPr/>
          </p:nvSpPr>
          <p:spPr>
            <a:xfrm>
              <a:off x="7637" y="3662"/>
              <a:ext cx="488" cy="580"/>
            </a:xfrm>
            <a:prstGeom prst="rect">
              <a:avLst/>
            </a:prstGeom>
            <a:noFill/>
          </p:spPr>
          <p:txBody>
            <a:bodyPr wrap="none" rtlCol="0">
              <a:spAutoFit/>
            </a:bodyPr>
            <a:lstStyle/>
            <a:p>
              <a:endParaRPr lang="zh-CN" altLang="en-US"/>
            </a:p>
          </p:txBody>
        </p:sp>
      </p:grpSp>
      <p:grpSp>
        <p:nvGrpSpPr>
          <p:cNvPr id="16" name="组合 15"/>
          <p:cNvGrpSpPr/>
          <p:nvPr/>
        </p:nvGrpSpPr>
        <p:grpSpPr>
          <a:xfrm>
            <a:off x="3224530" y="2896990"/>
            <a:ext cx="2820670" cy="801370"/>
            <a:chOff x="5078" y="4734"/>
            <a:chExt cx="4442" cy="1262"/>
          </a:xfrm>
        </p:grpSpPr>
        <mc:AlternateContent xmlns:mc="http://schemas.openxmlformats.org/markup-compatibility/2006">
          <mc:Choice xmlns:a14="http://schemas.microsoft.com/office/drawing/2010/main" Requires="a14">
            <p:sp>
              <p:nvSpPr>
                <p:cNvPr id="38" name="Object 8"/>
                <p:cNvSpPr txBox="1"/>
                <p:nvPr/>
              </p:nvSpPr>
              <p:spPr bwMode="auto">
                <a:xfrm>
                  <a:off x="5078" y="4734"/>
                  <a:ext cx="4442" cy="1263"/>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nary>
                          <m:naryPr>
                            <m:subHide m:val="on"/>
                            <m:supHide m:val="on"/>
                            <m:ctrlPr>
                              <a:rPr kumimoji="1" lang="en-US" altLang="zh-CN" sz="2200" i="1" dirty="0">
                                <a:latin typeface="Cambria Math" panose="02040503050406030204" charset="0"/>
                                <a:ea typeface="黑体" panose="02010609060101010101" pitchFamily="49" charset="-122"/>
                              </a:rPr>
                            </m:ctrlPr>
                          </m:naryPr>
                          <m:sub/>
                          <m:sup/>
                          <m:e>
                            <m:f>
                              <m:fPr>
                                <m:ctrlPr>
                                  <a:rPr kumimoji="1" lang="en-US" altLang="zh-CN" sz="2200" i="1" dirty="0">
                                    <a:latin typeface="Cambria Math" panose="02040503050406030204" charset="0"/>
                                    <a:ea typeface="黑体" panose="02010609060101010101" pitchFamily="49" charset="-122"/>
                                  </a:rPr>
                                </m:ctrlPr>
                              </m:fPr>
                              <m:num>
                                <m:r>
                                  <m:rPr>
                                    <m:sty m:val="p"/>
                                  </m:rPr>
                                  <a:rPr kumimoji="1" lang="en-US" altLang="zh-CN" sz="2200" dirty="0">
                                    <a:latin typeface="Cambria Math" panose="02040503050406030204" charset="0"/>
                                    <a:ea typeface="黑体" panose="02010609060101010101" pitchFamily="49" charset="-122"/>
                                  </a:rPr>
                                  <m:t>d</m:t>
                                </m:r>
                                <m:r>
                                  <a:rPr kumimoji="1" lang="en-US" altLang="zh-CN" sz="2200" i="1" dirty="0">
                                    <a:latin typeface="Cambria Math" panose="02040503050406030204" charset="0"/>
                                    <a:ea typeface="黑体" panose="02010609060101010101" pitchFamily="49" charset="-122"/>
                                  </a:rPr>
                                  <m:t>𝑦</m:t>
                                </m:r>
                              </m:num>
                              <m:den>
                                <m:r>
                                  <a:rPr kumimoji="1" lang="en-US" altLang="zh-CN" sz="2200" dirty="0">
                                    <a:latin typeface="Cambria Math" panose="02040503050406030204" charset="0"/>
                                    <a:ea typeface="黑体" panose="02010609060101010101" pitchFamily="49" charset="-122"/>
                                  </a:rPr>
                                  <m:t>𝑦</m:t>
                                </m:r>
                              </m:den>
                            </m:f>
                          </m:e>
                        </m:nary>
                        <m:r>
                          <a:rPr kumimoji="1" lang="en-US" altLang="zh-CN" sz="2200" dirty="0">
                            <a:latin typeface="Cambria Math" panose="02040503050406030204" charset="0"/>
                            <a:ea typeface="黑体" panose="02010609060101010101" pitchFamily="49" charset="-122"/>
                          </a:rPr>
                          <m:t>=</m:t>
                        </m:r>
                        <m:nary>
                          <m:naryPr>
                            <m:subHide m:val="on"/>
                            <m:supHide m:val="on"/>
                            <m:ctrlPr>
                              <a:rPr kumimoji="1" lang="en-US" altLang="zh-CN" sz="2200" i="1" dirty="0">
                                <a:latin typeface="Cambria Math" panose="02040503050406030204" charset="0"/>
                                <a:ea typeface="黑体" panose="02010609060101010101" pitchFamily="49" charset="-122"/>
                              </a:rPr>
                            </m:ctrlPr>
                          </m:naryPr>
                          <m:sub/>
                          <m:sup/>
                          <m:e>
                            <m:r>
                              <a:rPr kumimoji="1" lang="en-US" altLang="zh-CN" sz="2200" dirty="0">
                                <a:latin typeface="Cambria Math" panose="02040503050406030204" charset="0"/>
                                <a:ea typeface="黑体" panose="02010609060101010101" pitchFamily="49" charset="-122"/>
                              </a:rPr>
                              <m:t>3</m:t>
                            </m:r>
                          </m:e>
                        </m:nary>
                        <m:sSup>
                          <m:sSupPr>
                            <m:ctrlPr>
                              <a:rPr kumimoji="1" lang="en-US" altLang="zh-CN" sz="2200" i="1" dirty="0">
                                <a:latin typeface="Cambria Math" panose="02040503050406030204" charset="0"/>
                                <a:ea typeface="黑体" panose="02010609060101010101" pitchFamily="49" charset="-122"/>
                              </a:rPr>
                            </m:ctrlPr>
                          </m:sSupPr>
                          <m:e>
                            <m:r>
                              <a:rPr kumimoji="1" lang="en-US" altLang="zh-CN" sz="2200" dirty="0">
                                <a:latin typeface="Cambria Math" panose="02040503050406030204" charset="0"/>
                                <a:ea typeface="黑体" panose="02010609060101010101" pitchFamily="49" charset="-122"/>
                              </a:rPr>
                              <m:t>𝑥</m:t>
                            </m:r>
                          </m:e>
                          <m:sup>
                            <m:r>
                              <a:rPr kumimoji="1" lang="en-US" altLang="zh-CN" sz="2200" dirty="0">
                                <a:latin typeface="Cambria Math" panose="02040503050406030204" charset="0"/>
                                <a:ea typeface="黑体" panose="02010609060101010101" pitchFamily="49" charset="-122"/>
                              </a:rPr>
                              <m:t>2</m:t>
                            </m:r>
                          </m:sup>
                        </m:sSup>
                        <m:r>
                          <m:rPr>
                            <m:sty m:val="p"/>
                          </m:rPr>
                          <a:rPr kumimoji="1" lang="en-US" altLang="zh-CN" sz="2200" dirty="0">
                            <a:latin typeface="Cambria Math" panose="02040503050406030204" charset="0"/>
                            <a:ea typeface="黑体" panose="02010609060101010101" pitchFamily="49" charset="-122"/>
                          </a:rPr>
                          <m:t>d</m:t>
                        </m:r>
                        <m:r>
                          <a:rPr kumimoji="1" lang="en-US" altLang="zh-CN" sz="2200" i="1" dirty="0">
                            <a:latin typeface="Cambria Math" panose="02040503050406030204" charset="0"/>
                            <a:ea typeface="黑体" panose="02010609060101010101" pitchFamily="49" charset="-122"/>
                          </a:rPr>
                          <m:t>𝑥</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38" name="Object 8"/>
                <p:cNvSpPr txBox="1">
                  <a:spLocks noRot="1" noChangeAspect="1" noMove="1" noResize="1" noEditPoints="1" noAdjustHandles="1" noChangeArrowheads="1" noChangeShapeType="1" noTextEdit="1"/>
                </p:cNvSpPr>
                <p:nvPr/>
              </p:nvSpPr>
              <p:spPr bwMode="auto">
                <a:xfrm>
                  <a:off x="5078" y="4734"/>
                  <a:ext cx="4442" cy="1263"/>
                </a:xfrm>
                <a:prstGeom prst="rect">
                  <a:avLst/>
                </a:prstGeom>
                <a:blipFill rotWithShape="1">
                  <a:blip r:embed="rId4"/>
                </a:blipFill>
                <a:ln>
                  <a:noFill/>
                </a:ln>
                <a:effectLst/>
              </p:spPr>
              <p:txBody>
                <a:bodyPr/>
                <a:lstStyle/>
                <a:p>
                  <a:r>
                    <a:rPr lang="zh-CN" altLang="en-US">
                      <a:noFill/>
                    </a:rPr>
                    <a:t> </a:t>
                  </a:r>
                </a:p>
              </p:txBody>
            </p:sp>
          </mc:Fallback>
        </mc:AlternateContent>
        <p:sp>
          <p:nvSpPr>
            <p:cNvPr id="15" name="文本框 14"/>
            <p:cNvSpPr txBox="1"/>
            <p:nvPr/>
          </p:nvSpPr>
          <p:spPr>
            <a:xfrm>
              <a:off x="8578" y="5137"/>
              <a:ext cx="488" cy="580"/>
            </a:xfrm>
            <a:prstGeom prst="rect">
              <a:avLst/>
            </a:prstGeom>
            <a:noFill/>
          </p:spPr>
          <p:txBody>
            <a:bodyPr wrap="none" rtlCol="0">
              <a:spAutoFit/>
            </a:bodyPr>
            <a:lstStyle/>
            <a:p>
              <a:endParaRPr lang="zh-CN" altLang="en-US"/>
            </a:p>
          </p:txBody>
        </p:sp>
      </p:grpSp>
      <p:grpSp>
        <p:nvGrpSpPr>
          <p:cNvPr id="18" name="组合 17"/>
          <p:cNvGrpSpPr/>
          <p:nvPr/>
        </p:nvGrpSpPr>
        <p:grpSpPr>
          <a:xfrm>
            <a:off x="2522220" y="3780275"/>
            <a:ext cx="2159000" cy="482600"/>
            <a:chOff x="3972" y="6106"/>
            <a:chExt cx="3400" cy="760"/>
          </a:xfrm>
        </p:grpSpPr>
        <mc:AlternateContent xmlns:mc="http://schemas.openxmlformats.org/markup-compatibility/2006">
          <mc:Choice xmlns:a14="http://schemas.microsoft.com/office/drawing/2010/main" Requires="a14">
            <p:sp>
              <p:nvSpPr>
                <p:cNvPr id="45" name="Object 10"/>
                <p:cNvSpPr txBox="1"/>
                <p:nvPr/>
              </p:nvSpPr>
              <p:spPr bwMode="auto">
                <a:xfrm>
                  <a:off x="3972" y="6106"/>
                  <a:ext cx="3400" cy="760"/>
                </a:xfrm>
                <a:prstGeom prst="rect">
                  <a:avLst/>
                </a:prstGeom>
                <a:noFill/>
                <a:ln>
                  <a:noFill/>
                </a:ln>
                <a:effectLst/>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func>
                          <m:funcPr>
                            <m:ctrlPr>
                              <a:rPr kumimoji="1" lang="en-US" altLang="zh-CN" sz="2200" i="1" dirty="0">
                                <a:latin typeface="Cambria Math" panose="02040503050406030204" charset="0"/>
                                <a:ea typeface="黑体" panose="02010609060101010101" pitchFamily="49" charset="-122"/>
                              </a:rPr>
                            </m:ctrlPr>
                          </m:funcPr>
                          <m:fName>
                            <m:r>
                              <m:rPr>
                                <m:sty m:val="p"/>
                              </m:rPr>
                              <a:rPr kumimoji="1" lang="en-US" altLang="zh-CN" sz="2200" i="0" dirty="0">
                                <a:latin typeface="Cambria Math" panose="02040503050406030204" charset="0"/>
                                <a:ea typeface="黑体" panose="02010609060101010101" pitchFamily="49" charset="-122"/>
                              </a:rPr>
                              <m:t>ln</m:t>
                            </m:r>
                          </m:fName>
                          <m:e>
                            <m:d>
                              <m:dPr>
                                <m:begChr m:val="|"/>
                                <m:endChr m:val="|"/>
                                <m:ctrlPr>
                                  <a:rPr kumimoji="1" lang="en-US" altLang="zh-CN" sz="2200" i="1" dirty="0">
                                    <a:latin typeface="Cambria Math" panose="02040503050406030204" charset="0"/>
                                    <a:ea typeface="黑体" panose="02010609060101010101" pitchFamily="49" charset="-122"/>
                                  </a:rPr>
                                </m:ctrlPr>
                              </m:dPr>
                              <m:e>
                                <m:r>
                                  <a:rPr kumimoji="1" lang="en-US" altLang="zh-CN" sz="2200" dirty="0">
                                    <a:latin typeface="Cambria Math" panose="02040503050406030204" charset="0"/>
                                    <a:ea typeface="黑体" panose="02010609060101010101" pitchFamily="49" charset="-122"/>
                                  </a:rPr>
                                  <m:t>𝑦</m:t>
                                </m:r>
                              </m:e>
                            </m:d>
                          </m:e>
                        </m:func>
                        <m:r>
                          <a:rPr kumimoji="1" lang="en-US" altLang="zh-CN" sz="2200" dirty="0">
                            <a:latin typeface="Cambria Math" panose="02040503050406030204" charset="0"/>
                            <a:ea typeface="黑体" panose="02010609060101010101" pitchFamily="49" charset="-122"/>
                          </a:rPr>
                          <m:t>=</m:t>
                        </m:r>
                        <m:sSup>
                          <m:sSupPr>
                            <m:ctrlPr>
                              <a:rPr kumimoji="1" lang="en-US" altLang="zh-CN" sz="2200" i="1" dirty="0">
                                <a:latin typeface="Cambria Math" panose="02040503050406030204" charset="0"/>
                                <a:ea typeface="黑体" panose="02010609060101010101" pitchFamily="49" charset="-122"/>
                              </a:rPr>
                            </m:ctrlPr>
                          </m:sSupPr>
                          <m:e>
                            <m:r>
                              <a:rPr kumimoji="1" lang="en-US" altLang="zh-CN" sz="2200" dirty="0">
                                <a:latin typeface="Cambria Math" panose="02040503050406030204" charset="0"/>
                                <a:ea typeface="黑体" panose="02010609060101010101" pitchFamily="49" charset="-122"/>
                              </a:rPr>
                              <m:t>𝑥</m:t>
                            </m:r>
                          </m:e>
                          <m:sup>
                            <m:r>
                              <a:rPr kumimoji="1" lang="en-US" altLang="zh-CN" sz="2200" dirty="0">
                                <a:latin typeface="Cambria Math" panose="02040503050406030204" charset="0"/>
                                <a:ea typeface="黑体" panose="02010609060101010101" pitchFamily="49" charset="-122"/>
                              </a:rPr>
                              <m:t>3</m:t>
                            </m:r>
                          </m:sup>
                        </m:sSup>
                        <m:r>
                          <a:rPr kumimoji="1" lang="en-US" altLang="zh-CN" sz="2200" dirty="0">
                            <a:latin typeface="Cambria Math" panose="02040503050406030204" charset="0"/>
                            <a:ea typeface="黑体" panose="02010609060101010101" pitchFamily="49" charset="-122"/>
                          </a:rPr>
                          <m:t>+</m:t>
                        </m:r>
                        <m:sSub>
                          <m:sSubPr>
                            <m:ctrlPr>
                              <a:rPr kumimoji="1" lang="en-US" altLang="zh-CN" sz="2200" i="1" dirty="0">
                                <a:latin typeface="Cambria Math" panose="02040503050406030204" charset="0"/>
                                <a:ea typeface="黑体" panose="02010609060101010101" pitchFamily="49" charset="-122"/>
                              </a:rPr>
                            </m:ctrlPr>
                          </m:sSubPr>
                          <m:e>
                            <m:r>
                              <a:rPr kumimoji="1" lang="en-US" altLang="zh-CN" sz="2200" dirty="0">
                                <a:latin typeface="Cambria Math" panose="02040503050406030204" charset="0"/>
                                <a:ea typeface="黑体" panose="02010609060101010101" pitchFamily="49" charset="-122"/>
                              </a:rPr>
                              <m:t>𝐶</m:t>
                            </m:r>
                          </m:e>
                          <m:sub>
                            <m:r>
                              <a:rPr kumimoji="1" lang="en-US" altLang="zh-CN" sz="2200" dirty="0">
                                <a:latin typeface="Cambria Math" panose="02040503050406030204" charset="0"/>
                                <a:ea typeface="黑体" panose="02010609060101010101" pitchFamily="49" charset="-122"/>
                              </a:rPr>
                              <m:t>1</m:t>
                            </m:r>
                          </m:sub>
                        </m:sSub>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45" name="Object 10"/>
                <p:cNvSpPr txBox="1">
                  <a:spLocks noRot="1" noChangeAspect="1" noMove="1" noResize="1" noEditPoints="1" noAdjustHandles="1" noChangeArrowheads="1" noChangeShapeType="1" noTextEdit="1"/>
                </p:cNvSpPr>
                <p:nvPr/>
              </p:nvSpPr>
              <p:spPr bwMode="auto">
                <a:xfrm>
                  <a:off x="3972" y="6106"/>
                  <a:ext cx="3400" cy="760"/>
                </a:xfrm>
                <a:prstGeom prst="rect">
                  <a:avLst/>
                </a:prstGeom>
                <a:blipFill rotWithShape="1">
                  <a:blip r:embed="rId5"/>
                </a:blipFill>
                <a:ln>
                  <a:noFill/>
                </a:ln>
                <a:effectLst/>
              </p:spPr>
              <p:txBody>
                <a:bodyPr/>
                <a:lstStyle/>
                <a:p>
                  <a:r>
                    <a:rPr lang="zh-CN" altLang="en-US">
                      <a:noFill/>
                    </a:rPr>
                    <a:t> </a:t>
                  </a:r>
                </a:p>
              </p:txBody>
            </p:sp>
          </mc:Fallback>
        </mc:AlternateContent>
        <p:sp>
          <p:nvSpPr>
            <p:cNvPr id="17" name="文本框 16"/>
            <p:cNvSpPr txBox="1"/>
            <p:nvPr/>
          </p:nvSpPr>
          <p:spPr>
            <a:xfrm>
              <a:off x="6688" y="6218"/>
              <a:ext cx="488" cy="580"/>
            </a:xfrm>
            <a:prstGeom prst="rect">
              <a:avLst/>
            </a:prstGeom>
            <a:noFill/>
          </p:spPr>
          <p:txBody>
            <a:bodyPr wrap="none" rtlCol="0">
              <a:spAutoFit/>
            </a:bodyPr>
            <a:lstStyle/>
            <a:p>
              <a:endParaRPr lang="zh-CN" altLang="en-US"/>
            </a:p>
          </p:txBody>
        </p:sp>
      </p:grpSp>
      <p:grpSp>
        <p:nvGrpSpPr>
          <p:cNvPr id="24" name="组合 23"/>
          <p:cNvGrpSpPr/>
          <p:nvPr/>
        </p:nvGrpSpPr>
        <p:grpSpPr>
          <a:xfrm>
            <a:off x="2522220" y="4486722"/>
            <a:ext cx="1935480" cy="508000"/>
            <a:chOff x="3972" y="7190"/>
            <a:chExt cx="3048" cy="800"/>
          </a:xfrm>
        </p:grpSpPr>
        <mc:AlternateContent xmlns:mc="http://schemas.openxmlformats.org/markup-compatibility/2006">
          <mc:Choice xmlns:a14="http://schemas.microsoft.com/office/drawing/2010/main" Requires="a14">
            <p:sp>
              <p:nvSpPr>
                <p:cNvPr id="51" name="Object 14"/>
                <p:cNvSpPr txBox="1"/>
                <p:nvPr/>
              </p:nvSpPr>
              <p:spPr bwMode="auto">
                <a:xfrm>
                  <a:off x="3972" y="7190"/>
                  <a:ext cx="3048" cy="800"/>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𝑦</m:t>
                        </m:r>
                        <m:r>
                          <a:rPr kumimoji="1" lang="en-US" altLang="zh-CN" sz="2200" dirty="0">
                            <a:latin typeface="Cambria Math" panose="02040503050406030204" charset="0"/>
                            <a:ea typeface="黑体" panose="02010609060101010101" pitchFamily="49" charset="-122"/>
                          </a:rPr>
                          <m:t>=±</m:t>
                        </m:r>
                        <m:sSup>
                          <m:sSupPr>
                            <m:ctrlPr>
                              <a:rPr kumimoji="1" lang="en-US" altLang="zh-CN" sz="2200" i="1" dirty="0">
                                <a:latin typeface="Cambria Math" panose="02040503050406030204" charset="0"/>
                                <a:ea typeface="黑体" panose="02010609060101010101" pitchFamily="49" charset="-122"/>
                              </a:rPr>
                            </m:ctrlPr>
                          </m:sSupPr>
                          <m:e>
                            <m:r>
                              <m:rPr>
                                <m:sty m:val="p"/>
                              </m:rPr>
                              <a:rPr kumimoji="1" lang="en-US" altLang="zh-CN" sz="2200" dirty="0">
                                <a:latin typeface="Cambria Math" panose="02040503050406030204" charset="0"/>
                                <a:ea typeface="黑体" panose="02010609060101010101" pitchFamily="49" charset="-122"/>
                              </a:rPr>
                              <m:t>e</m:t>
                            </m:r>
                          </m:e>
                          <m:sup>
                            <m:sSup>
                              <m:sSupPr>
                                <m:ctrlPr>
                                  <a:rPr kumimoji="1" lang="en-US" altLang="zh-CN" sz="2200" i="1" dirty="0">
                                    <a:latin typeface="Cambria Math" panose="02040503050406030204" charset="0"/>
                                    <a:ea typeface="黑体" panose="02010609060101010101" pitchFamily="49" charset="-122"/>
                                  </a:rPr>
                                </m:ctrlPr>
                              </m:sSupPr>
                              <m:e>
                                <m:r>
                                  <a:rPr kumimoji="1" lang="en-US" altLang="zh-CN" sz="2200" dirty="0">
                                    <a:latin typeface="Cambria Math" panose="02040503050406030204" charset="0"/>
                                    <a:ea typeface="黑体" panose="02010609060101010101" pitchFamily="49" charset="-122"/>
                                  </a:rPr>
                                  <m:t>𝑥</m:t>
                                </m:r>
                              </m:e>
                              <m:sup>
                                <m:r>
                                  <a:rPr kumimoji="1" lang="en-US" altLang="zh-CN" sz="2200" dirty="0">
                                    <a:latin typeface="Cambria Math" panose="02040503050406030204" charset="0"/>
                                    <a:ea typeface="黑体" panose="02010609060101010101" pitchFamily="49" charset="-122"/>
                                  </a:rPr>
                                  <m:t>3</m:t>
                                </m:r>
                              </m:sup>
                            </m:sSup>
                            <m:r>
                              <a:rPr kumimoji="1" lang="en-US" altLang="zh-CN" sz="2200" dirty="0">
                                <a:latin typeface="Cambria Math" panose="02040503050406030204" charset="0"/>
                                <a:ea typeface="黑体" panose="02010609060101010101" pitchFamily="49" charset="-122"/>
                              </a:rPr>
                              <m:t>+</m:t>
                            </m:r>
                            <m:sSub>
                              <m:sSubPr>
                                <m:ctrlPr>
                                  <a:rPr kumimoji="1" lang="en-US" altLang="zh-CN" sz="2200" i="1" dirty="0">
                                    <a:latin typeface="Cambria Math" panose="02040503050406030204" charset="0"/>
                                    <a:ea typeface="黑体" panose="02010609060101010101" pitchFamily="49" charset="-122"/>
                                  </a:rPr>
                                </m:ctrlPr>
                              </m:sSubPr>
                              <m:e>
                                <m:r>
                                  <a:rPr kumimoji="1" lang="en-US" altLang="zh-CN" sz="2200" dirty="0">
                                    <a:latin typeface="Cambria Math" panose="02040503050406030204" charset="0"/>
                                    <a:ea typeface="黑体" panose="02010609060101010101" pitchFamily="49" charset="-122"/>
                                  </a:rPr>
                                  <m:t>𝐶</m:t>
                                </m:r>
                              </m:e>
                              <m:sub>
                                <m:r>
                                  <a:rPr kumimoji="1" lang="en-US" altLang="zh-CN" sz="2200" dirty="0">
                                    <a:latin typeface="Cambria Math" panose="02040503050406030204" charset="0"/>
                                    <a:ea typeface="黑体" panose="02010609060101010101" pitchFamily="49" charset="-122"/>
                                  </a:rPr>
                                  <m:t>1</m:t>
                                </m:r>
                              </m:sub>
                            </m:sSub>
                          </m:sup>
                        </m:sSup>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51" name="Object 14"/>
                <p:cNvSpPr txBox="1">
                  <a:spLocks noRot="1" noChangeAspect="1" noMove="1" noResize="1" noEditPoints="1" noAdjustHandles="1" noChangeArrowheads="1" noChangeShapeType="1" noTextEdit="1"/>
                </p:cNvSpPr>
                <p:nvPr/>
              </p:nvSpPr>
              <p:spPr bwMode="auto">
                <a:xfrm>
                  <a:off x="3972" y="7190"/>
                  <a:ext cx="3048" cy="800"/>
                </a:xfrm>
                <a:prstGeom prst="rect">
                  <a:avLst/>
                </a:prstGeom>
                <a:blipFill rotWithShape="1">
                  <a:blip r:embed="rId6"/>
                </a:blipFill>
                <a:ln>
                  <a:noFill/>
                </a:ln>
                <a:effectLst/>
              </p:spPr>
              <p:txBody>
                <a:bodyPr/>
                <a:lstStyle/>
                <a:p>
                  <a:r>
                    <a:rPr lang="zh-CN" altLang="en-US">
                      <a:noFill/>
                    </a:rPr>
                    <a:t> </a:t>
                  </a:r>
                </a:p>
              </p:txBody>
            </p:sp>
          </mc:Fallback>
        </mc:AlternateContent>
        <p:sp>
          <p:nvSpPr>
            <p:cNvPr id="23" name="文本框 22"/>
            <p:cNvSpPr txBox="1"/>
            <p:nvPr/>
          </p:nvSpPr>
          <p:spPr>
            <a:xfrm>
              <a:off x="6532" y="7410"/>
              <a:ext cx="488" cy="580"/>
            </a:xfrm>
            <a:prstGeom prst="rect">
              <a:avLst/>
            </a:prstGeom>
            <a:noFill/>
          </p:spPr>
          <p:txBody>
            <a:bodyPr wrap="none" rtlCol="0">
              <a:spAutoFit/>
            </a:bodyPr>
            <a:lstStyle/>
            <a:p>
              <a:endParaRPr lang="zh-CN" altLang="en-US"/>
            </a:p>
          </p:txBody>
        </p:sp>
      </p:grpSp>
      <p:grpSp>
        <p:nvGrpSpPr>
          <p:cNvPr id="26" name="组合 25"/>
          <p:cNvGrpSpPr/>
          <p:nvPr/>
        </p:nvGrpSpPr>
        <p:grpSpPr>
          <a:xfrm>
            <a:off x="4034790" y="4486722"/>
            <a:ext cx="1916430" cy="508000"/>
            <a:chOff x="6354" y="7190"/>
            <a:chExt cx="3018" cy="800"/>
          </a:xfrm>
        </p:grpSpPr>
        <mc:AlternateContent xmlns:mc="http://schemas.openxmlformats.org/markup-compatibility/2006">
          <mc:Choice xmlns:a14="http://schemas.microsoft.com/office/drawing/2010/main" Requires="a14">
            <p:sp>
              <p:nvSpPr>
                <p:cNvPr id="52" name="Object 15"/>
                <p:cNvSpPr txBox="1"/>
                <p:nvPr/>
              </p:nvSpPr>
              <p:spPr bwMode="auto">
                <a:xfrm>
                  <a:off x="6354" y="7190"/>
                  <a:ext cx="3018" cy="800"/>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en-US" altLang="zh-CN" sz="2200" dirty="0">
                            <a:latin typeface="Cambria Math" panose="02040503050406030204" charset="0"/>
                            <a:ea typeface="黑体" panose="02010609060101010101" pitchFamily="49" charset="-122"/>
                          </a:rPr>
                          <m:t>=±</m:t>
                        </m:r>
                        <m:sSup>
                          <m:sSupPr>
                            <m:ctrlPr>
                              <a:rPr kumimoji="1" lang="en-US" altLang="zh-CN" sz="2200" i="1" dirty="0">
                                <a:latin typeface="Cambria Math" panose="02040503050406030204" charset="0"/>
                                <a:ea typeface="黑体" panose="02010609060101010101" pitchFamily="49" charset="-122"/>
                              </a:rPr>
                            </m:ctrlPr>
                          </m:sSupPr>
                          <m:e>
                            <m:r>
                              <m:rPr>
                                <m:sty m:val="p"/>
                              </m:rPr>
                              <a:rPr kumimoji="1" lang="en-US" altLang="zh-CN" sz="2200" dirty="0">
                                <a:latin typeface="Cambria Math" panose="02040503050406030204" charset="0"/>
                                <a:ea typeface="黑体" panose="02010609060101010101" pitchFamily="49" charset="-122"/>
                              </a:rPr>
                              <m:t>e</m:t>
                            </m:r>
                          </m:e>
                          <m:sup>
                            <m:sSub>
                              <m:sSubPr>
                                <m:ctrlPr>
                                  <a:rPr kumimoji="1" lang="en-US" altLang="zh-CN" sz="2200" i="1" dirty="0">
                                    <a:latin typeface="Cambria Math" panose="02040503050406030204" charset="0"/>
                                    <a:ea typeface="黑体" panose="02010609060101010101" pitchFamily="49" charset="-122"/>
                                  </a:rPr>
                                </m:ctrlPr>
                              </m:sSubPr>
                              <m:e>
                                <m:r>
                                  <a:rPr kumimoji="1" lang="en-US" altLang="zh-CN" sz="2200" dirty="0">
                                    <a:latin typeface="Cambria Math" panose="02040503050406030204" charset="0"/>
                                    <a:ea typeface="黑体" panose="02010609060101010101" pitchFamily="49" charset="-122"/>
                                  </a:rPr>
                                  <m:t>𝐶</m:t>
                                </m:r>
                              </m:e>
                              <m:sub>
                                <m:r>
                                  <a:rPr kumimoji="1" lang="en-US" altLang="zh-CN" sz="2200" dirty="0">
                                    <a:latin typeface="Cambria Math" panose="02040503050406030204" charset="0"/>
                                    <a:ea typeface="黑体" panose="02010609060101010101" pitchFamily="49" charset="-122"/>
                                  </a:rPr>
                                  <m:t>1</m:t>
                                </m:r>
                              </m:sub>
                            </m:sSub>
                          </m:sup>
                        </m:sSup>
                        <m:sSup>
                          <m:sSupPr>
                            <m:ctrlPr>
                              <a:rPr kumimoji="1" lang="en-US" altLang="zh-CN" sz="2200" i="1" dirty="0">
                                <a:latin typeface="Cambria Math" panose="02040503050406030204" charset="0"/>
                                <a:ea typeface="黑体" panose="02010609060101010101" pitchFamily="49" charset="-122"/>
                              </a:rPr>
                            </m:ctrlPr>
                          </m:sSupPr>
                          <m:e>
                            <m:r>
                              <m:rPr>
                                <m:sty m:val="p"/>
                              </m:rPr>
                              <a:rPr kumimoji="1" lang="en-US" altLang="zh-CN" sz="2200" dirty="0">
                                <a:latin typeface="Cambria Math" panose="02040503050406030204" charset="0"/>
                                <a:ea typeface="黑体" panose="02010609060101010101" pitchFamily="49" charset="-122"/>
                              </a:rPr>
                              <m:t>e</m:t>
                            </m:r>
                          </m:e>
                          <m:sup>
                            <m:sSup>
                              <m:sSupPr>
                                <m:ctrlPr>
                                  <a:rPr kumimoji="1" lang="en-US" altLang="zh-CN" sz="2200" i="1" dirty="0">
                                    <a:latin typeface="Cambria Math" panose="02040503050406030204" charset="0"/>
                                    <a:ea typeface="黑体" panose="02010609060101010101" pitchFamily="49" charset="-122"/>
                                  </a:rPr>
                                </m:ctrlPr>
                              </m:sSupPr>
                              <m:e>
                                <m:r>
                                  <a:rPr kumimoji="1" lang="en-US" altLang="zh-CN" sz="2200" dirty="0">
                                    <a:latin typeface="Cambria Math" panose="02040503050406030204" charset="0"/>
                                    <a:ea typeface="黑体" panose="02010609060101010101" pitchFamily="49" charset="-122"/>
                                  </a:rPr>
                                  <m:t>𝑥</m:t>
                                </m:r>
                              </m:e>
                              <m:sup>
                                <m:r>
                                  <a:rPr kumimoji="1" lang="en-US" altLang="zh-CN" sz="2200" dirty="0">
                                    <a:latin typeface="Cambria Math" panose="02040503050406030204" charset="0"/>
                                    <a:ea typeface="黑体" panose="02010609060101010101" pitchFamily="49" charset="-122"/>
                                  </a:rPr>
                                  <m:t>3</m:t>
                                </m:r>
                              </m:sup>
                            </m:sSup>
                          </m:sup>
                        </m:sSup>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52" name="Object 15"/>
                <p:cNvSpPr txBox="1">
                  <a:spLocks noRot="1" noChangeAspect="1" noMove="1" noResize="1" noEditPoints="1" noAdjustHandles="1" noChangeArrowheads="1" noChangeShapeType="1" noTextEdit="1"/>
                </p:cNvSpPr>
                <p:nvPr/>
              </p:nvSpPr>
              <p:spPr bwMode="auto">
                <a:xfrm>
                  <a:off x="6354" y="7190"/>
                  <a:ext cx="3018" cy="800"/>
                </a:xfrm>
                <a:prstGeom prst="rect">
                  <a:avLst/>
                </a:prstGeom>
                <a:blipFill rotWithShape="1">
                  <a:blip r:embed="rId7"/>
                </a:blipFill>
                <a:ln>
                  <a:noFill/>
                </a:ln>
                <a:effectLst/>
              </p:spPr>
              <p:txBody>
                <a:bodyPr/>
                <a:lstStyle/>
                <a:p>
                  <a:r>
                    <a:rPr lang="zh-CN" altLang="en-US">
                      <a:noFill/>
                    </a:rPr>
                    <a:t> </a:t>
                  </a:r>
                </a:p>
              </p:txBody>
            </p:sp>
          </mc:Fallback>
        </mc:AlternateContent>
        <p:sp>
          <p:nvSpPr>
            <p:cNvPr id="25" name="文本框 24"/>
            <p:cNvSpPr txBox="1"/>
            <p:nvPr/>
          </p:nvSpPr>
          <p:spPr>
            <a:xfrm>
              <a:off x="8773" y="7330"/>
              <a:ext cx="488" cy="580"/>
            </a:xfrm>
            <a:prstGeom prst="rect">
              <a:avLst/>
            </a:prstGeom>
            <a:noFill/>
          </p:spPr>
          <p:txBody>
            <a:bodyPr wrap="none" rtlCol="0">
              <a:spAutoFit/>
            </a:bodyPr>
            <a:lstStyle/>
            <a:p>
              <a:endParaRPr lang="zh-CN" altLang="en-US"/>
            </a:p>
          </p:txBody>
        </p:sp>
      </p:grpSp>
      <p:grpSp>
        <p:nvGrpSpPr>
          <p:cNvPr id="29" name="组合 28"/>
          <p:cNvGrpSpPr/>
          <p:nvPr/>
        </p:nvGrpSpPr>
        <p:grpSpPr>
          <a:xfrm>
            <a:off x="1725930" y="5183397"/>
            <a:ext cx="2421890" cy="495300"/>
            <a:chOff x="2718" y="8266"/>
            <a:chExt cx="3814" cy="780"/>
          </a:xfrm>
        </p:grpSpPr>
        <mc:AlternateContent xmlns:mc="http://schemas.openxmlformats.org/markup-compatibility/2006">
          <mc:Choice xmlns:a14="http://schemas.microsoft.com/office/drawing/2010/main" Requires="a14">
            <p:sp>
              <p:nvSpPr>
                <p:cNvPr id="54" name="Object 18"/>
                <p:cNvSpPr txBox="1"/>
                <p:nvPr/>
              </p:nvSpPr>
              <p:spPr bwMode="auto">
                <a:xfrm>
                  <a:off x="2718" y="8266"/>
                  <a:ext cx="3440" cy="780"/>
                </a:xfrm>
                <a:prstGeom prst="rect">
                  <a:avLst/>
                </a:prstGeom>
                <a:noFill/>
                <a:ln>
                  <a:noFill/>
                </a:ln>
                <a:effectLst/>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14:m>
                    <m:oMathPara xmlns:m="http://schemas.openxmlformats.org/officeDocument/2006/math">
                      <m:oMathParaPr>
                        <m:jc m:val="left"/>
                      </m:oMathParaPr>
                      <m:oMath xmlns:m="http://schemas.openxmlformats.org/officeDocument/2006/math">
                        <m:r>
                          <a:rPr kumimoji="1" lang="zh-CN" altLang="en-US" sz="2200" noProof="0">
                            <a:ln>
                              <a:noFill/>
                            </a:ln>
                            <a:solidFill>
                              <a:prstClr val="black"/>
                            </a:solidFill>
                            <a:effectLst/>
                            <a:uLnTx/>
                            <a:uFillTx/>
                            <a:latin typeface="Cambria Math" panose="02040503050406030204" charset="0"/>
                            <a:ea typeface="黑体" panose="02010609060101010101" pitchFamily="49" charset="-122"/>
                            <a:cs typeface="+mn-ea"/>
                          </a:rPr>
                          <m:t>令</m:t>
                        </m:r>
                        <m:r>
                          <a:rPr lang="zh-CN" altLang="en-US" sz="2200" i="1">
                            <a:solidFill>
                              <a:srgbClr val="000000"/>
                            </a:solidFill>
                            <a:latin typeface="Cambria Math" panose="02040503050406030204" charset="0"/>
                          </a:rPr>
                          <m:t> </m:t>
                        </m:r>
                        <m:r>
                          <a:rPr lang="en-US" altLang="zh-CN" sz="2200" i="1">
                            <a:solidFill>
                              <a:srgbClr val="000000"/>
                            </a:solidFill>
                            <a:latin typeface="Cambria Math" panose="02040503050406030204" charset="0"/>
                          </a:rPr>
                          <m:t>    </m:t>
                        </m:r>
                        <m:r>
                          <a:rPr kumimoji="1" lang="en-US" altLang="zh-CN" sz="2200" dirty="0">
                            <a:latin typeface="Cambria Math" panose="02040503050406030204" charset="0"/>
                            <a:ea typeface="黑体" panose="02010609060101010101" pitchFamily="49" charset="-122"/>
                          </a:rPr>
                          <m:t>𝐶</m:t>
                        </m:r>
                        <m:r>
                          <a:rPr kumimoji="1" lang="en-US" altLang="zh-CN" sz="2200" dirty="0">
                            <a:latin typeface="Cambria Math" panose="02040503050406030204" charset="0"/>
                            <a:ea typeface="黑体" panose="02010609060101010101" pitchFamily="49" charset="-122"/>
                          </a:rPr>
                          <m:t>=±</m:t>
                        </m:r>
                        <m:sSup>
                          <m:sSupPr>
                            <m:ctrlPr>
                              <a:rPr kumimoji="1" lang="en-US" altLang="zh-CN" sz="2200" i="1" dirty="0">
                                <a:latin typeface="Cambria Math" panose="02040503050406030204" charset="0"/>
                                <a:ea typeface="黑体" panose="02010609060101010101" pitchFamily="49" charset="-122"/>
                              </a:rPr>
                            </m:ctrlPr>
                          </m:sSupPr>
                          <m:e>
                            <m:r>
                              <m:rPr>
                                <m:sty m:val="p"/>
                              </m:rPr>
                              <a:rPr kumimoji="1" lang="en-US" altLang="zh-CN" sz="2200" dirty="0">
                                <a:latin typeface="Cambria Math" panose="02040503050406030204" charset="0"/>
                                <a:ea typeface="黑体" panose="02010609060101010101" pitchFamily="49" charset="-122"/>
                              </a:rPr>
                              <m:t>e</m:t>
                            </m:r>
                          </m:e>
                          <m:sup>
                            <m:sSub>
                              <m:sSubPr>
                                <m:ctrlPr>
                                  <a:rPr kumimoji="1" lang="en-US" altLang="zh-CN" sz="2200" i="1" dirty="0">
                                    <a:latin typeface="Cambria Math" panose="02040503050406030204" charset="0"/>
                                    <a:ea typeface="黑体" panose="02010609060101010101" pitchFamily="49" charset="-122"/>
                                  </a:rPr>
                                </m:ctrlPr>
                              </m:sSubPr>
                              <m:e>
                                <m:r>
                                  <a:rPr kumimoji="1" lang="en-US" altLang="zh-CN" sz="2200" dirty="0">
                                    <a:latin typeface="Cambria Math" panose="02040503050406030204" charset="0"/>
                                    <a:ea typeface="黑体" panose="02010609060101010101" pitchFamily="49" charset="-122"/>
                                  </a:rPr>
                                  <m:t>𝐶</m:t>
                                </m:r>
                              </m:e>
                              <m:sub>
                                <m:r>
                                  <a:rPr kumimoji="1" lang="en-US" altLang="zh-CN" sz="2200" dirty="0">
                                    <a:latin typeface="Cambria Math" panose="02040503050406030204" charset="0"/>
                                    <a:ea typeface="黑体" panose="02010609060101010101" pitchFamily="49" charset="-122"/>
                                  </a:rPr>
                                  <m:t>1</m:t>
                                </m:r>
                              </m:sub>
                            </m:sSub>
                          </m:sup>
                        </m:sSup>
                        <m:r>
                          <a:rPr kumimoji="1" lang="en-US" altLang="zh-CN" sz="2200" dirty="0">
                            <a:latin typeface="Cambria Math" panose="02040503050406030204" charset="0"/>
                            <a:ea typeface="黑体" panose="02010609060101010101" pitchFamily="49" charset="-122"/>
                          </a:rPr>
                          <m:t>,</m:t>
                        </m:r>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54" name="Object 18"/>
                <p:cNvSpPr txBox="1">
                  <a:spLocks noRot="1" noChangeAspect="1" noMove="1" noResize="1" noEditPoints="1" noAdjustHandles="1" noChangeArrowheads="1" noChangeShapeType="1" noTextEdit="1"/>
                </p:cNvSpPr>
                <p:nvPr/>
              </p:nvSpPr>
              <p:spPr bwMode="auto">
                <a:xfrm>
                  <a:off x="2718" y="8266"/>
                  <a:ext cx="3440" cy="780"/>
                </a:xfrm>
                <a:prstGeom prst="rect">
                  <a:avLst/>
                </a:prstGeom>
                <a:blipFill rotWithShape="1">
                  <a:blip r:embed="rId8"/>
                </a:blipFill>
                <a:ln>
                  <a:noFill/>
                </a:ln>
                <a:effectLst/>
              </p:spPr>
              <p:txBody>
                <a:bodyPr/>
                <a:lstStyle/>
                <a:p>
                  <a:r>
                    <a:rPr lang="zh-CN" altLang="en-US">
                      <a:noFill/>
                    </a:rPr>
                    <a:t> </a:t>
                  </a:r>
                </a:p>
              </p:txBody>
            </p:sp>
          </mc:Fallback>
        </mc:AlternateContent>
        <p:sp>
          <p:nvSpPr>
            <p:cNvPr id="27" name="文本框 26"/>
            <p:cNvSpPr txBox="1"/>
            <p:nvPr/>
          </p:nvSpPr>
          <p:spPr>
            <a:xfrm>
              <a:off x="6044" y="8273"/>
              <a:ext cx="488" cy="580"/>
            </a:xfrm>
            <a:prstGeom prst="rect">
              <a:avLst/>
            </a:prstGeom>
            <a:noFill/>
          </p:spPr>
          <p:txBody>
            <a:bodyPr wrap="none" rtlCol="0">
              <a:spAutoFit/>
            </a:bodyPr>
            <a:lstStyle/>
            <a:p>
              <a:endParaRPr lang="zh-CN" altLang="en-US"/>
            </a:p>
          </p:txBody>
        </p:sp>
      </p:grpSp>
      <p:grpSp>
        <p:nvGrpSpPr>
          <p:cNvPr id="31" name="组合 30"/>
          <p:cNvGrpSpPr/>
          <p:nvPr/>
        </p:nvGrpSpPr>
        <p:grpSpPr>
          <a:xfrm>
            <a:off x="3982737" y="5180025"/>
            <a:ext cx="1803400" cy="508000"/>
            <a:chOff x="6532" y="8186"/>
            <a:chExt cx="2840" cy="800"/>
          </a:xfrm>
        </p:grpSpPr>
        <mc:AlternateContent xmlns:mc="http://schemas.openxmlformats.org/markup-compatibility/2006">
          <mc:Choice xmlns:a14="http://schemas.microsoft.com/office/drawing/2010/main" Requires="a14">
            <p:sp>
              <p:nvSpPr>
                <p:cNvPr id="53" name="Object 16"/>
                <p:cNvSpPr txBox="1"/>
                <p:nvPr/>
              </p:nvSpPr>
              <p:spPr bwMode="auto">
                <a:xfrm>
                  <a:off x="6532" y="8186"/>
                  <a:ext cx="2840" cy="800"/>
                </a:xfrm>
                <a:prstGeom prst="rect">
                  <a:avLst/>
                </a:prstGeom>
                <a:noFill/>
                <a:ln>
                  <a:noFill/>
                </a:ln>
                <a:effectLst/>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14:m>
                    <m:oMathPara xmlns:m="http://schemas.openxmlformats.org/officeDocument/2006/math">
                      <m:oMathParaPr>
                        <m:jc m:val="left"/>
                      </m:oMathParaPr>
                      <m:oMath xmlns:m="http://schemas.openxmlformats.org/officeDocument/2006/math">
                        <m:r>
                          <a:rPr kumimoji="1" lang="zh-CN" altLang="en-US" sz="2200" noProof="0">
                            <a:ln>
                              <a:noFill/>
                            </a:ln>
                            <a:solidFill>
                              <a:prstClr val="black"/>
                            </a:solidFill>
                            <a:effectLst/>
                            <a:uLnTx/>
                            <a:uFillTx/>
                            <a:latin typeface="Cambria Math" panose="02040503050406030204" charset="0"/>
                            <a:ea typeface="黑体" panose="02010609060101010101" pitchFamily="49" charset="-122"/>
                            <a:cs typeface="+mn-ea"/>
                          </a:rPr>
                          <m:t>则</m:t>
                        </m:r>
                        <m:r>
                          <a:rPr lang="zh-CN" altLang="en-US" sz="2200" i="1">
                            <a:solidFill>
                              <a:srgbClr val="000000"/>
                            </a:solidFill>
                            <a:latin typeface="Cambria Math" panose="02040503050406030204" charset="0"/>
                          </a:rPr>
                          <m:t> </m:t>
                        </m:r>
                        <m:r>
                          <a:rPr kumimoji="1" lang="en-US" altLang="zh-CN" sz="2200" dirty="0">
                            <a:latin typeface="Cambria Math" panose="02040503050406030204" charset="0"/>
                            <a:ea typeface="黑体" panose="02010609060101010101" pitchFamily="49" charset="-122"/>
                          </a:rPr>
                          <m:t>𝑦</m:t>
                        </m:r>
                        <m:r>
                          <a:rPr kumimoji="1" lang="en-US" altLang="zh-CN" sz="2200" dirty="0">
                            <a:latin typeface="Cambria Math" panose="02040503050406030204" charset="0"/>
                            <a:ea typeface="黑体" panose="02010609060101010101" pitchFamily="49" charset="-122"/>
                          </a:rPr>
                          <m:t>=</m:t>
                        </m:r>
                        <m:r>
                          <a:rPr kumimoji="1" lang="en-US" altLang="zh-CN" sz="2200" dirty="0">
                            <a:latin typeface="Cambria Math" panose="02040503050406030204" charset="0"/>
                            <a:ea typeface="黑体" panose="02010609060101010101" pitchFamily="49" charset="-122"/>
                          </a:rPr>
                          <m:t>𝐶</m:t>
                        </m:r>
                        <m:sSup>
                          <m:sSupPr>
                            <m:ctrlPr>
                              <a:rPr kumimoji="1" lang="en-US" altLang="zh-CN" sz="2200" i="1" dirty="0">
                                <a:latin typeface="Cambria Math" panose="02040503050406030204" charset="0"/>
                                <a:ea typeface="黑体" panose="02010609060101010101" pitchFamily="49" charset="-122"/>
                              </a:rPr>
                            </m:ctrlPr>
                          </m:sSupPr>
                          <m:e>
                            <m:r>
                              <m:rPr>
                                <m:sty m:val="p"/>
                              </m:rPr>
                              <a:rPr kumimoji="1" lang="en-US" altLang="zh-CN" sz="2200" dirty="0">
                                <a:latin typeface="Cambria Math" panose="02040503050406030204" charset="0"/>
                                <a:ea typeface="黑体" panose="02010609060101010101" pitchFamily="49" charset="-122"/>
                              </a:rPr>
                              <m:t>e</m:t>
                            </m:r>
                          </m:e>
                          <m:sup>
                            <m:sSup>
                              <m:sSupPr>
                                <m:ctrlPr>
                                  <a:rPr kumimoji="1" lang="en-US" altLang="zh-CN" sz="2200" i="1" dirty="0">
                                    <a:latin typeface="Cambria Math" panose="02040503050406030204" charset="0"/>
                                    <a:ea typeface="黑体" panose="02010609060101010101" pitchFamily="49" charset="-122"/>
                                  </a:rPr>
                                </m:ctrlPr>
                              </m:sSupPr>
                              <m:e>
                                <m:r>
                                  <a:rPr kumimoji="1" lang="en-US" altLang="zh-CN" sz="2200" dirty="0">
                                    <a:latin typeface="Cambria Math" panose="02040503050406030204" charset="0"/>
                                    <a:ea typeface="黑体" panose="02010609060101010101" pitchFamily="49" charset="-122"/>
                                  </a:rPr>
                                  <m:t>𝑥</m:t>
                                </m:r>
                              </m:e>
                              <m:sup>
                                <m:r>
                                  <a:rPr kumimoji="1" lang="en-US" altLang="zh-CN" sz="2200" dirty="0">
                                    <a:latin typeface="Cambria Math" panose="02040503050406030204" charset="0"/>
                                    <a:ea typeface="黑体" panose="02010609060101010101" pitchFamily="49" charset="-122"/>
                                  </a:rPr>
                                  <m:t>3</m:t>
                                </m:r>
                              </m:sup>
                            </m:sSup>
                          </m:sup>
                        </m:sSup>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53" name="Object 16"/>
                <p:cNvSpPr txBox="1">
                  <a:spLocks noRot="1" noChangeAspect="1" noMove="1" noResize="1" noEditPoints="1" noAdjustHandles="1" noChangeArrowheads="1" noChangeShapeType="1" noTextEdit="1"/>
                </p:cNvSpPr>
                <p:nvPr/>
              </p:nvSpPr>
              <p:spPr bwMode="auto">
                <a:xfrm>
                  <a:off x="6532" y="8186"/>
                  <a:ext cx="2840" cy="800"/>
                </a:xfrm>
                <a:prstGeom prst="rect">
                  <a:avLst/>
                </a:prstGeom>
                <a:blipFill rotWithShape="1">
                  <a:blip r:embed="rId9"/>
                </a:blipFill>
                <a:ln>
                  <a:noFill/>
                </a:ln>
                <a:effectLst/>
              </p:spPr>
              <p:txBody>
                <a:bodyPr/>
                <a:lstStyle/>
                <a:p>
                  <a:r>
                    <a:rPr lang="zh-CN" altLang="en-US">
                      <a:noFill/>
                    </a:rPr>
                    <a:t> </a:t>
                  </a:r>
                </a:p>
              </p:txBody>
            </p:sp>
          </mc:Fallback>
        </mc:AlternateContent>
        <p:sp>
          <p:nvSpPr>
            <p:cNvPr id="30" name="文本框 29"/>
            <p:cNvSpPr txBox="1"/>
            <p:nvPr/>
          </p:nvSpPr>
          <p:spPr>
            <a:xfrm>
              <a:off x="8369" y="8390"/>
              <a:ext cx="488" cy="580"/>
            </a:xfrm>
            <a:prstGeom prst="rect">
              <a:avLst/>
            </a:prstGeom>
            <a:noFill/>
          </p:spPr>
          <p:txBody>
            <a:bodyPr wrap="none" rtlCol="0">
              <a:spAutoFit/>
            </a:bodyPr>
            <a:lstStyle/>
            <a:p>
              <a:endParaRPr lang="zh-CN" altLang="en-US"/>
            </a:p>
          </p:txBody>
        </p:sp>
      </p:grpSp>
      <p:grpSp>
        <p:nvGrpSpPr>
          <p:cNvPr id="36" name="组合 35"/>
          <p:cNvGrpSpPr/>
          <p:nvPr/>
        </p:nvGrpSpPr>
        <p:grpSpPr>
          <a:xfrm>
            <a:off x="1685290" y="5711002"/>
            <a:ext cx="5321300" cy="444500"/>
            <a:chOff x="2654" y="9057"/>
            <a:chExt cx="8380" cy="700"/>
          </a:xfrm>
        </p:grpSpPr>
        <mc:AlternateContent xmlns:mc="http://schemas.openxmlformats.org/markup-compatibility/2006">
          <mc:Choice xmlns:a14="http://schemas.microsoft.com/office/drawing/2010/main" Requires="a14">
            <p:sp>
              <p:nvSpPr>
                <p:cNvPr id="63" name="对象 55"/>
                <p:cNvSpPr txBox="1"/>
                <p:nvPr/>
              </p:nvSpPr>
              <p:spPr>
                <a:xfrm>
                  <a:off x="2654" y="9057"/>
                  <a:ext cx="8380" cy="700"/>
                </a:xfrm>
                <a:prstGeom prst="rect">
                  <a:avLst/>
                </a:prstGeom>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zh-CN" altLang="en-US" sz="2200" noProof="0">
                            <a:ln>
                              <a:noFill/>
                            </a:ln>
                            <a:solidFill>
                              <a:prstClr val="black"/>
                            </a:solidFill>
                            <a:effectLst/>
                            <a:uLnTx/>
                            <a:uFillTx/>
                            <a:latin typeface="Cambria Math" panose="02040503050406030204" charset="0"/>
                            <a:ea typeface="黑体" panose="02010609060101010101" pitchFamily="49" charset="-122"/>
                            <a:cs typeface="+mn-ea"/>
                          </a:rPr>
                          <m:t>(</m:t>
                        </m:r>
                        <m:r>
                          <a:rPr kumimoji="1" lang="zh-CN" altLang="en-US" sz="2200" noProof="0">
                            <a:ln>
                              <a:noFill/>
                            </a:ln>
                            <a:solidFill>
                              <a:prstClr val="black"/>
                            </a:solidFill>
                            <a:effectLst/>
                            <a:uLnTx/>
                            <a:uFillTx/>
                            <a:latin typeface="Cambria Math" panose="02040503050406030204" charset="0"/>
                            <a:ea typeface="黑体" panose="02010609060101010101" pitchFamily="49" charset="-122"/>
                            <a:cs typeface="+mn-ea"/>
                          </a:rPr>
                          <m:t>此式含分离变量时丢失的解</m:t>
                        </m:r>
                        <m:r>
                          <a:rPr kumimoji="1" lang="en-US" altLang="zh-CN" sz="2200" dirty="0">
                            <a:latin typeface="Cambria Math" panose="02040503050406030204" charset="0"/>
                            <a:ea typeface="黑体" panose="02010609060101010101" pitchFamily="49" charset="-122"/>
                          </a:rPr>
                          <m:t>𝑦</m:t>
                        </m:r>
                        <m:r>
                          <a:rPr kumimoji="1" lang="en-US" altLang="zh-CN" sz="2200" dirty="0">
                            <a:latin typeface="Cambria Math" panose="02040503050406030204" charset="0"/>
                            <a:ea typeface="黑体" panose="02010609060101010101" pitchFamily="49" charset="-122"/>
                          </a:rPr>
                          <m:t>=</m:t>
                        </m:r>
                        <m:r>
                          <a:rPr kumimoji="1" lang="en-US" altLang="zh-CN" sz="2200" dirty="0">
                            <a:latin typeface="Cambria Math" panose="02040503050406030204" charset="0"/>
                            <a:ea typeface="黑体" panose="02010609060101010101" pitchFamily="49" charset="-122"/>
                          </a:rPr>
                          <m:t>0</m:t>
                        </m:r>
                        <m:r>
                          <a:rPr kumimoji="1" lang="en-US" altLang="zh-CN" sz="2200" dirty="0">
                            <a:latin typeface="Cambria Math" panose="02040503050406030204" charset="0"/>
                            <a:ea typeface="黑体" panose="02010609060101010101" pitchFamily="49" charset="-122"/>
                          </a:rPr>
                          <m:t>)</m:t>
                        </m:r>
                      </m:oMath>
                    </m:oMathPara>
                  </a14:m>
                  <a:endParaRPr kumimoji="1" lang="zh-CN" altLang="en-US" sz="2200" noProof="0" dirty="0">
                    <a:ln>
                      <a:noFill/>
                    </a:ln>
                    <a:solidFill>
                      <a:prstClr val="black"/>
                    </a:solidFill>
                    <a:effectLst/>
                    <a:uLnTx/>
                    <a:uFillTx/>
                    <a:latin typeface="黑体" panose="02010609060101010101" pitchFamily="49" charset="-122"/>
                    <a:ea typeface="黑体" panose="02010609060101010101" pitchFamily="49" charset="-122"/>
                    <a:cs typeface="+mn-ea"/>
                  </a:endParaRPr>
                </a:p>
              </p:txBody>
            </p:sp>
          </mc:Choice>
          <mc:Fallback>
            <p:sp>
              <p:nvSpPr>
                <p:cNvPr id="63" name="对象 55"/>
                <p:cNvSpPr txBox="1">
                  <a:spLocks noRot="1" noChangeAspect="1" noMove="1" noResize="1" noEditPoints="1" noAdjustHandles="1" noChangeArrowheads="1" noChangeShapeType="1" noTextEdit="1"/>
                </p:cNvSpPr>
                <p:nvPr/>
              </p:nvSpPr>
              <p:spPr>
                <a:xfrm>
                  <a:off x="2654" y="9057"/>
                  <a:ext cx="8380" cy="700"/>
                </a:xfrm>
                <a:prstGeom prst="rect">
                  <a:avLst/>
                </a:prstGeom>
                <a:blipFill rotWithShape="1">
                  <a:blip r:embed="rId10"/>
                </a:blipFill>
              </p:spPr>
              <p:txBody>
                <a:bodyPr/>
                <a:lstStyle/>
                <a:p>
                  <a:r>
                    <a:rPr lang="zh-CN" altLang="en-US">
                      <a:noFill/>
                    </a:rPr>
                    <a:t> </a:t>
                  </a:r>
                </a:p>
              </p:txBody>
            </p:sp>
          </mc:Fallback>
        </mc:AlternateContent>
        <p:sp>
          <p:nvSpPr>
            <p:cNvPr id="35" name="文本框 34"/>
            <p:cNvSpPr txBox="1"/>
            <p:nvPr/>
          </p:nvSpPr>
          <p:spPr>
            <a:xfrm>
              <a:off x="9628" y="9177"/>
              <a:ext cx="488" cy="580"/>
            </a:xfrm>
            <a:prstGeom prst="rect">
              <a:avLst/>
            </a:prstGeom>
            <a:noFill/>
          </p:spPr>
          <p:txBody>
            <a:bodyPr wrap="none" rtlCol="0">
              <a:spAutoFit/>
            </a:bodyPr>
            <a:lstStyle/>
            <a:p>
              <a:endParaRPr lang="zh-CN" altLang="en-US"/>
            </a:p>
          </p:txBody>
        </p:sp>
      </p:grpSp>
      <p:grpSp>
        <p:nvGrpSpPr>
          <p:cNvPr id="39" name="组合 38"/>
          <p:cNvGrpSpPr/>
          <p:nvPr/>
        </p:nvGrpSpPr>
        <p:grpSpPr>
          <a:xfrm>
            <a:off x="5601009" y="5226577"/>
            <a:ext cx="2336800" cy="438785"/>
            <a:chOff x="9025" y="8304"/>
            <a:chExt cx="3680" cy="691"/>
          </a:xfrm>
        </p:grpSpPr>
        <mc:AlternateContent xmlns:mc="http://schemas.openxmlformats.org/markup-compatibility/2006">
          <mc:Choice xmlns:a14="http://schemas.microsoft.com/office/drawing/2010/main" Requires="a14">
            <p:sp>
              <p:nvSpPr>
                <p:cNvPr id="64" name="对象 56"/>
                <p:cNvSpPr txBox="1"/>
                <p:nvPr/>
              </p:nvSpPr>
              <p:spPr>
                <a:xfrm>
                  <a:off x="9025" y="8315"/>
                  <a:ext cx="3680" cy="680"/>
                </a:xfrm>
                <a:prstGeom prst="rect">
                  <a:avLst/>
                </a:prstGeom>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zh-CN" altLang="en-US" sz="2200" noProof="0">
                            <a:ln>
                              <a:noFill/>
                            </a:ln>
                            <a:solidFill>
                              <a:prstClr val="black"/>
                            </a:solidFill>
                            <a:effectLst/>
                            <a:uLnTx/>
                            <a:uFillTx/>
                            <a:latin typeface="Cambria Math" panose="02040503050406030204" charset="0"/>
                            <a:ea typeface="黑体" panose="02010609060101010101" pitchFamily="49" charset="-122"/>
                            <a:cs typeface="+mn-ea"/>
                          </a:rPr>
                          <m:t>(</m:t>
                        </m:r>
                        <m:r>
                          <a:rPr kumimoji="1" lang="en-US" altLang="zh-CN" sz="2200" dirty="0">
                            <a:latin typeface="Cambria Math" panose="02040503050406030204" charset="0"/>
                            <a:ea typeface="黑体" panose="02010609060101010101" pitchFamily="49" charset="-122"/>
                          </a:rPr>
                          <m:t>𝐶</m:t>
                        </m:r>
                        <m:r>
                          <a:rPr kumimoji="1" lang="zh-CN" altLang="en-US" sz="2200" noProof="0">
                            <a:ln>
                              <a:noFill/>
                            </a:ln>
                            <a:solidFill>
                              <a:prstClr val="black"/>
                            </a:solidFill>
                            <a:effectLst/>
                            <a:uLnTx/>
                            <a:uFillTx/>
                            <a:latin typeface="Cambria Math" panose="02040503050406030204" charset="0"/>
                            <a:ea typeface="黑体" panose="02010609060101010101" pitchFamily="49" charset="-122"/>
                            <a:cs typeface="+mn-ea"/>
                          </a:rPr>
                          <m:t>为任意常数</m:t>
                        </m:r>
                        <m:r>
                          <a:rPr kumimoji="1" lang="zh-CN" altLang="en-US" sz="2200" noProof="0">
                            <a:ln>
                              <a:noFill/>
                            </a:ln>
                            <a:solidFill>
                              <a:prstClr val="black"/>
                            </a:solidFill>
                            <a:effectLst/>
                            <a:uLnTx/>
                            <a:uFillTx/>
                            <a:latin typeface="Cambria Math" panose="02040503050406030204" charset="0"/>
                            <a:ea typeface="黑体" panose="02010609060101010101" pitchFamily="49" charset="-122"/>
                            <a:cs typeface="+mn-ea"/>
                          </a:rPr>
                          <m:t>)</m:t>
                        </m:r>
                      </m:oMath>
                    </m:oMathPara>
                  </a14:m>
                  <a:endParaRPr lang="zh-CN" altLang="en-US" sz="2200" dirty="0"/>
                </a:p>
              </p:txBody>
            </p:sp>
          </mc:Choice>
          <mc:Fallback>
            <p:sp>
              <p:nvSpPr>
                <p:cNvPr id="64" name="对象 56"/>
                <p:cNvSpPr txBox="1">
                  <a:spLocks noRot="1" noChangeAspect="1" noMove="1" noResize="1" noEditPoints="1" noAdjustHandles="1" noChangeArrowheads="1" noChangeShapeType="1" noTextEdit="1"/>
                </p:cNvSpPr>
                <p:nvPr/>
              </p:nvSpPr>
              <p:spPr>
                <a:xfrm>
                  <a:off x="9025" y="8315"/>
                  <a:ext cx="3680" cy="680"/>
                </a:xfrm>
                <a:prstGeom prst="rect">
                  <a:avLst/>
                </a:prstGeom>
                <a:blipFill rotWithShape="1">
                  <a:blip r:embed="rId11"/>
                </a:blipFill>
              </p:spPr>
              <p:txBody>
                <a:bodyPr/>
                <a:lstStyle/>
                <a:p>
                  <a:r>
                    <a:rPr lang="zh-CN" altLang="en-US">
                      <a:noFill/>
                    </a:rPr>
                    <a:t> </a:t>
                  </a:r>
                </a:p>
              </p:txBody>
            </p:sp>
          </mc:Fallback>
        </mc:AlternateContent>
        <p:sp>
          <p:nvSpPr>
            <p:cNvPr id="37" name="文本框 36"/>
            <p:cNvSpPr txBox="1"/>
            <p:nvPr/>
          </p:nvSpPr>
          <p:spPr>
            <a:xfrm>
              <a:off x="12086" y="8304"/>
              <a:ext cx="488" cy="580"/>
            </a:xfrm>
            <a:prstGeom prst="rect">
              <a:avLst/>
            </a:prstGeom>
            <a:noFill/>
          </p:spPr>
          <p:txBody>
            <a:bodyPr wrap="none" rtlCol="0">
              <a:spAutoFit/>
            </a:bodyPr>
            <a:lstStyle/>
            <a:p>
              <a:endParaRPr lang="zh-CN" altLang="en-US"/>
            </a:p>
          </p:txBody>
        </p:sp>
      </p:grpSp>
      <p:grpSp>
        <p:nvGrpSpPr>
          <p:cNvPr id="44" name="组合 43"/>
          <p:cNvGrpSpPr/>
          <p:nvPr/>
        </p:nvGrpSpPr>
        <p:grpSpPr>
          <a:xfrm>
            <a:off x="5245100" y="3790435"/>
            <a:ext cx="2667000" cy="462280"/>
            <a:chOff x="8260" y="6122"/>
            <a:chExt cx="4200" cy="728"/>
          </a:xfrm>
        </p:grpSpPr>
        <mc:AlternateContent xmlns:mc="http://schemas.openxmlformats.org/markup-compatibility/2006">
          <mc:Choice xmlns:a14="http://schemas.microsoft.com/office/drawing/2010/main" Requires="a14">
            <p:sp>
              <p:nvSpPr>
                <p:cNvPr id="46" name="Object 12"/>
                <p:cNvSpPr txBox="1"/>
                <p:nvPr/>
              </p:nvSpPr>
              <p:spPr bwMode="auto">
                <a:xfrm>
                  <a:off x="8260" y="6122"/>
                  <a:ext cx="4200" cy="728"/>
                </a:xfrm>
                <a:prstGeom prst="rect">
                  <a:avLst/>
                </a:prstGeom>
                <a:noFill/>
                <a:ln>
                  <a:noFill/>
                </a:ln>
                <a:effectLst/>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14:m>
                    <m:oMathPara xmlns:m="http://schemas.openxmlformats.org/officeDocument/2006/math">
                      <m:oMathParaPr>
                        <m:jc m:val="left"/>
                      </m:oMathParaPr>
                      <m:oMath xmlns:m="http://schemas.openxmlformats.org/officeDocument/2006/math">
                        <m:func>
                          <m:funcPr>
                            <m:ctrlPr>
                              <a:rPr kumimoji="1" lang="en-US" altLang="zh-CN" sz="2200" i="1" dirty="0">
                                <a:latin typeface="Cambria Math" panose="02040503050406030204" charset="0"/>
                                <a:ea typeface="黑体" panose="02010609060101010101" pitchFamily="49" charset="-122"/>
                              </a:rPr>
                            </m:ctrlPr>
                          </m:funcPr>
                          <m:fName>
                            <m:r>
                              <m:rPr>
                                <m:sty m:val="p"/>
                              </m:rPr>
                              <a:rPr kumimoji="1" lang="en-US" altLang="zh-CN" sz="2200" i="0" dirty="0">
                                <a:latin typeface="Cambria Math" panose="02040503050406030204" charset="0"/>
                                <a:ea typeface="黑体" panose="02010609060101010101" pitchFamily="49" charset="-122"/>
                              </a:rPr>
                              <m:t>ln</m:t>
                            </m:r>
                          </m:fName>
                          <m:e>
                            <m:d>
                              <m:dPr>
                                <m:begChr m:val="|"/>
                                <m:endChr m:val="|"/>
                                <m:ctrlPr>
                                  <a:rPr kumimoji="1" lang="en-US" altLang="zh-CN" sz="2200" i="1" dirty="0">
                                    <a:latin typeface="Cambria Math" panose="02040503050406030204" charset="0"/>
                                    <a:ea typeface="黑体" panose="02010609060101010101" pitchFamily="49" charset="-122"/>
                                  </a:rPr>
                                </m:ctrlPr>
                              </m:dPr>
                              <m:e>
                                <m:r>
                                  <a:rPr kumimoji="1" lang="en-US" altLang="zh-CN" sz="2200" dirty="0">
                                    <a:latin typeface="Cambria Math" panose="02040503050406030204" charset="0"/>
                                    <a:ea typeface="黑体" panose="02010609060101010101" pitchFamily="49" charset="-122"/>
                                  </a:rPr>
                                  <m:t>𝑦</m:t>
                                </m:r>
                              </m:e>
                            </m:d>
                          </m:e>
                        </m:func>
                        <m:r>
                          <a:rPr kumimoji="1" lang="en-US" altLang="zh-CN" sz="2200" dirty="0">
                            <a:latin typeface="Cambria Math" panose="02040503050406030204" charset="0"/>
                            <a:ea typeface="黑体" panose="02010609060101010101" pitchFamily="49" charset="-122"/>
                          </a:rPr>
                          <m:t>=</m:t>
                        </m:r>
                        <m:sSup>
                          <m:sSupPr>
                            <m:ctrlPr>
                              <a:rPr kumimoji="1" lang="en-US" altLang="zh-CN" sz="2200" i="1" dirty="0">
                                <a:latin typeface="Cambria Math" panose="02040503050406030204" charset="0"/>
                                <a:ea typeface="黑体" panose="02010609060101010101" pitchFamily="49" charset="-122"/>
                              </a:rPr>
                            </m:ctrlPr>
                          </m:sSupPr>
                          <m:e>
                            <m:r>
                              <a:rPr kumimoji="1" lang="en-US" altLang="zh-CN" sz="2200" dirty="0">
                                <a:latin typeface="Cambria Math" panose="02040503050406030204" charset="0"/>
                                <a:ea typeface="黑体" panose="02010609060101010101" pitchFamily="49" charset="-122"/>
                              </a:rPr>
                              <m:t>𝑥</m:t>
                            </m:r>
                          </m:e>
                          <m:sup>
                            <m:r>
                              <a:rPr kumimoji="1" lang="en-US" altLang="zh-CN" sz="2200" dirty="0">
                                <a:latin typeface="Cambria Math" panose="02040503050406030204" charset="0"/>
                                <a:ea typeface="黑体" panose="02010609060101010101" pitchFamily="49" charset="-122"/>
                              </a:rPr>
                              <m:t>3</m:t>
                            </m:r>
                          </m:sup>
                        </m:sSup>
                        <m:r>
                          <a:rPr kumimoji="1" lang="en-US" altLang="zh-CN" sz="2200" dirty="0">
                            <a:latin typeface="Cambria Math" panose="02040503050406030204" charset="0"/>
                            <a:ea typeface="黑体" panose="02010609060101010101" pitchFamily="49" charset="-122"/>
                          </a:rPr>
                          <m:t>+</m:t>
                        </m:r>
                        <m:func>
                          <m:funcPr>
                            <m:ctrlPr>
                              <a:rPr kumimoji="1" lang="en-US" altLang="zh-CN" sz="2200" i="1" dirty="0">
                                <a:latin typeface="Cambria Math" panose="02040503050406030204" charset="0"/>
                                <a:ea typeface="黑体" panose="02010609060101010101" pitchFamily="49" charset="-122"/>
                              </a:rPr>
                            </m:ctrlPr>
                          </m:funcPr>
                          <m:fName>
                            <m:r>
                              <m:rPr>
                                <m:sty m:val="p"/>
                              </m:rPr>
                              <a:rPr kumimoji="1" lang="en-US" altLang="zh-CN" sz="2200" i="0" dirty="0">
                                <a:latin typeface="Cambria Math" panose="02040503050406030204" charset="0"/>
                                <a:ea typeface="黑体" panose="02010609060101010101" pitchFamily="49" charset="-122"/>
                              </a:rPr>
                              <m:t>ln</m:t>
                            </m:r>
                          </m:fName>
                          <m:e>
                            <m:d>
                              <m:dPr>
                                <m:begChr m:val="|"/>
                                <m:endChr m:val="|"/>
                                <m:ctrlPr>
                                  <a:rPr kumimoji="1" lang="en-US" altLang="zh-CN" sz="2200" i="1" dirty="0">
                                    <a:latin typeface="Cambria Math" panose="02040503050406030204" charset="0"/>
                                    <a:ea typeface="黑体" panose="02010609060101010101" pitchFamily="49" charset="-122"/>
                                  </a:rPr>
                                </m:ctrlPr>
                              </m:dPr>
                              <m:e>
                                <m:r>
                                  <a:rPr kumimoji="1" lang="en-US" altLang="zh-CN" sz="2200" dirty="0">
                                    <a:latin typeface="Cambria Math" panose="02040503050406030204" charset="0"/>
                                    <a:ea typeface="黑体" panose="02010609060101010101" pitchFamily="49" charset="-122"/>
                                  </a:rPr>
                                  <m:t>𝐶</m:t>
                                </m:r>
                              </m:e>
                            </m:d>
                          </m:e>
                        </m:func>
                      </m:oMath>
                    </m:oMathPara>
                  </a14:m>
                  <a:endParaRPr kumimoji="1" lang="en-US" altLang="zh-CN" sz="2200" dirty="0">
                    <a:latin typeface="Cambria Math" panose="02040503050406030204" charset="0"/>
                    <a:ea typeface="黑体" panose="02010609060101010101" pitchFamily="49" charset="-122"/>
                  </a:endParaRPr>
                </a:p>
              </p:txBody>
            </p:sp>
          </mc:Choice>
          <mc:Fallback>
            <p:sp>
              <p:nvSpPr>
                <p:cNvPr id="46" name="Object 12"/>
                <p:cNvSpPr txBox="1">
                  <a:spLocks noRot="1" noChangeAspect="1" noMove="1" noResize="1" noEditPoints="1" noAdjustHandles="1" noChangeArrowheads="1" noChangeShapeType="1" noTextEdit="1"/>
                </p:cNvSpPr>
                <p:nvPr/>
              </p:nvSpPr>
              <p:spPr bwMode="auto">
                <a:xfrm>
                  <a:off x="8260" y="6122"/>
                  <a:ext cx="4200" cy="728"/>
                </a:xfrm>
                <a:prstGeom prst="rect">
                  <a:avLst/>
                </a:prstGeom>
                <a:blipFill rotWithShape="1">
                  <a:blip r:embed="rId12"/>
                </a:blipFill>
                <a:ln>
                  <a:noFill/>
                </a:ln>
                <a:effectLst/>
              </p:spPr>
              <p:txBody>
                <a:bodyPr/>
                <a:lstStyle/>
                <a:p>
                  <a:r>
                    <a:rPr lang="zh-CN" altLang="en-US">
                      <a:noFill/>
                    </a:rPr>
                    <a:t> </a:t>
                  </a:r>
                </a:p>
              </p:txBody>
            </p:sp>
          </mc:Fallback>
        </mc:AlternateContent>
        <p:sp>
          <p:nvSpPr>
            <p:cNvPr id="43" name="文本框 42"/>
            <p:cNvSpPr txBox="1"/>
            <p:nvPr/>
          </p:nvSpPr>
          <p:spPr>
            <a:xfrm>
              <a:off x="11708" y="6157"/>
              <a:ext cx="488" cy="580"/>
            </a:xfrm>
            <a:prstGeom prst="rect">
              <a:avLst/>
            </a:prstGeom>
            <a:noFill/>
          </p:spPr>
          <p:txBody>
            <a:bodyPr wrap="none" rtlCol="0">
              <a:spAutoFit/>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wipe(left)">
                                      <p:cBhvr>
                                        <p:cTn id="32" dur="500"/>
                                        <p:tgtEl>
                                          <p:spTgt spid="3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left)">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wipe(left)">
                                      <p:cBhvr>
                                        <p:cTn id="42" dur="500"/>
                                        <p:tgtEl>
                                          <p:spTgt spid="42"/>
                                        </p:tgtEl>
                                      </p:cBhvr>
                                    </p:animEffect>
                                  </p:childTnLst>
                                </p:cTn>
                              </p:par>
                              <p:par>
                                <p:cTn id="43" presetID="22" presetClass="entr" presetSubtype="8" fill="hold"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wipe(left)">
                                      <p:cBhvr>
                                        <p:cTn id="45" dur="500"/>
                                        <p:tgtEl>
                                          <p:spTgt spid="1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wipe(left)">
                                      <p:cBhvr>
                                        <p:cTn id="50" dur="500"/>
                                        <p:tgtEl>
                                          <p:spTgt spid="24"/>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50"/>
                                        </p:tgtEl>
                                        <p:attrNameLst>
                                          <p:attrName>style.visibility</p:attrName>
                                        </p:attrNameLst>
                                      </p:cBhvr>
                                      <p:to>
                                        <p:strVal val="visible"/>
                                      </p:to>
                                    </p:set>
                                    <p:animEffect transition="in" filter="wipe(left)">
                                      <p:cBhvr>
                                        <p:cTn id="53" dur="500"/>
                                        <p:tgtEl>
                                          <p:spTgt spid="5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wipe(left)">
                                      <p:cBhvr>
                                        <p:cTn id="58" dur="500"/>
                                        <p:tgtEl>
                                          <p:spTgt spid="26"/>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wipe(left)">
                                      <p:cBhvr>
                                        <p:cTn id="63" dur="500"/>
                                        <p:tgtEl>
                                          <p:spTgt spid="29"/>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31"/>
                                        </p:tgtEl>
                                        <p:attrNameLst>
                                          <p:attrName>style.visibility</p:attrName>
                                        </p:attrNameLst>
                                      </p:cBhvr>
                                      <p:to>
                                        <p:strVal val="visible"/>
                                      </p:to>
                                    </p:set>
                                    <p:animEffect transition="in" filter="wipe(left)">
                                      <p:cBhvr>
                                        <p:cTn id="68" dur="500"/>
                                        <p:tgtEl>
                                          <p:spTgt spid="31"/>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wipe(left)">
                                      <p:cBhvr>
                                        <p:cTn id="73" dur="500"/>
                                        <p:tgtEl>
                                          <p:spTgt spid="28"/>
                                        </p:tgtEl>
                                      </p:cBhvr>
                                    </p:animEffect>
                                  </p:childTnLst>
                                </p:cTn>
                              </p:par>
                              <p:par>
                                <p:cTn id="74" presetID="22" presetClass="entr" presetSubtype="8" fill="hold" grpId="0" nodeType="withEffect">
                                  <p:stCondLst>
                                    <p:cond delay="0"/>
                                  </p:stCondLst>
                                  <p:childTnLst>
                                    <p:set>
                                      <p:cBhvr>
                                        <p:cTn id="75" dur="1" fill="hold">
                                          <p:stCondLst>
                                            <p:cond delay="0"/>
                                          </p:stCondLst>
                                        </p:cTn>
                                        <p:tgtEl>
                                          <p:spTgt spid="61"/>
                                        </p:tgtEl>
                                        <p:attrNameLst>
                                          <p:attrName>style.visibility</p:attrName>
                                        </p:attrNameLst>
                                      </p:cBhvr>
                                      <p:to>
                                        <p:strVal val="visible"/>
                                      </p:to>
                                    </p:set>
                                    <p:animEffect transition="in" filter="wipe(left)">
                                      <p:cBhvr>
                                        <p:cTn id="76" dur="500"/>
                                        <p:tgtEl>
                                          <p:spTgt spid="61"/>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62"/>
                                        </p:tgtEl>
                                        <p:attrNameLst>
                                          <p:attrName>style.visibility</p:attrName>
                                        </p:attrNameLst>
                                      </p:cBhvr>
                                      <p:to>
                                        <p:strVal val="visible"/>
                                      </p:to>
                                    </p:set>
                                    <p:animEffect transition="in" filter="wipe(left)">
                                      <p:cBhvr>
                                        <p:cTn id="81" dur="500"/>
                                        <p:tgtEl>
                                          <p:spTgt spid="62"/>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59"/>
                                        </p:tgtEl>
                                        <p:attrNameLst>
                                          <p:attrName>style.visibility</p:attrName>
                                        </p:attrNameLst>
                                      </p:cBhvr>
                                      <p:to>
                                        <p:strVal val="visible"/>
                                      </p:to>
                                    </p:set>
                                    <p:animEffect transition="in" filter="wipe(left)">
                                      <p:cBhvr>
                                        <p:cTn id="86" dur="500"/>
                                        <p:tgtEl>
                                          <p:spTgt spid="59"/>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wipe(left)">
                                      <p:cBhvr>
                                        <p:cTn id="91" dur="500"/>
                                        <p:tgtEl>
                                          <p:spTgt spid="36"/>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39"/>
                                        </p:tgtEl>
                                        <p:attrNameLst>
                                          <p:attrName>style.visibility</p:attrName>
                                        </p:attrNameLst>
                                      </p:cBhvr>
                                      <p:to>
                                        <p:strVal val="visible"/>
                                      </p:to>
                                    </p:set>
                                    <p:animEffect transition="in" filter="wipe(left)">
                                      <p:cBhvr>
                                        <p:cTn id="96" dur="500"/>
                                        <p:tgtEl>
                                          <p:spTgt spid="39"/>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10"/>
                                        </p:tgtEl>
                                        <p:attrNameLst>
                                          <p:attrName>style.visibility</p:attrName>
                                        </p:attrNameLst>
                                      </p:cBhvr>
                                      <p:to>
                                        <p:strVal val="visible"/>
                                      </p:to>
                                    </p:set>
                                    <p:animEffect transition="in" filter="wipe(left)">
                                      <p:cBhvr>
                                        <p:cTn id="101" dur="500"/>
                                        <p:tgtEl>
                                          <p:spTgt spid="10"/>
                                        </p:tgtEl>
                                      </p:cBhvr>
                                    </p:animEffect>
                                  </p:childTnLst>
                                </p:cTn>
                              </p:par>
                              <p:par>
                                <p:cTn id="102" presetID="22" presetClass="entr" presetSubtype="8" fill="hold" grpId="0" nodeType="withEffect">
                                  <p:stCondLst>
                                    <p:cond delay="0"/>
                                  </p:stCondLst>
                                  <p:childTnLst>
                                    <p:set>
                                      <p:cBhvr>
                                        <p:cTn id="103" dur="1" fill="hold">
                                          <p:stCondLst>
                                            <p:cond delay="0"/>
                                          </p:stCondLst>
                                        </p:cTn>
                                        <p:tgtEl>
                                          <p:spTgt spid="57"/>
                                        </p:tgtEl>
                                        <p:attrNameLst>
                                          <p:attrName>style.visibility</p:attrName>
                                        </p:attrNameLst>
                                      </p:cBhvr>
                                      <p:to>
                                        <p:strVal val="visible"/>
                                      </p:to>
                                    </p:set>
                                    <p:animEffect transition="in" filter="wipe(left)">
                                      <p:cBhvr>
                                        <p:cTn id="104" dur="500"/>
                                        <p:tgtEl>
                                          <p:spTgt spid="57"/>
                                        </p:tgtEl>
                                      </p:cBhvr>
                                    </p:animEffect>
                                  </p:childTnLst>
                                </p:cTn>
                              </p:par>
                              <p:par>
                                <p:cTn id="105" presetID="22" presetClass="entr" presetSubtype="8" fill="hold" nodeType="withEffect">
                                  <p:stCondLst>
                                    <p:cond delay="0"/>
                                  </p:stCondLst>
                                  <p:childTnLst>
                                    <p:set>
                                      <p:cBhvr>
                                        <p:cTn id="106" dur="1" fill="hold">
                                          <p:stCondLst>
                                            <p:cond delay="0"/>
                                          </p:stCondLst>
                                        </p:cTn>
                                        <p:tgtEl>
                                          <p:spTgt spid="44"/>
                                        </p:tgtEl>
                                        <p:attrNameLst>
                                          <p:attrName>style.visibility</p:attrName>
                                        </p:attrNameLst>
                                      </p:cBhvr>
                                      <p:to>
                                        <p:strVal val="visible"/>
                                      </p:to>
                                    </p:set>
                                    <p:animEffect transition="in" filter="wipe(left)">
                                      <p:cBhvr>
                                        <p:cTn id="107" dur="500"/>
                                        <p:tgtEl>
                                          <p:spTgt spid="44"/>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2"/>
                                        </p:tgtEl>
                                        <p:attrNameLst>
                                          <p:attrName>style.visibility</p:attrName>
                                        </p:attrNameLst>
                                      </p:cBhvr>
                                      <p:to>
                                        <p:strVal val="visible"/>
                                      </p:to>
                                    </p:set>
                                    <p:animEffect transition="in" filter="wipe(left)">
                                      <p:cBhvr>
                                        <p:cTn id="1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8" grpId="0"/>
      <p:bldP spid="8" grpId="1"/>
      <p:bldP spid="12" grpId="0"/>
      <p:bldP spid="12" grpId="1"/>
      <p:bldP spid="34" grpId="0"/>
      <p:bldP spid="34" grpId="1"/>
      <p:bldP spid="42" grpId="0"/>
      <p:bldP spid="42" grpId="1"/>
      <p:bldP spid="50" grpId="0"/>
      <p:bldP spid="50" grpId="1"/>
      <p:bldP spid="57" grpId="0"/>
      <p:bldP spid="57" grpId="1"/>
      <p:bldP spid="59" grpId="0" bldLvl="0" animBg="1"/>
      <p:bldP spid="59" grpId="1" animBg="1"/>
      <p:bldP spid="28" grpId="0" bldLvl="0" animBg="1"/>
      <p:bldP spid="28" grpId="1" animBg="1"/>
      <p:bldP spid="61" grpId="0"/>
      <p:bldP spid="61" grpId="1"/>
      <p:bldP spid="62" grpId="0"/>
      <p:bldP spid="62" grpId="1"/>
      <p:bldP spid="10" grpId="0" bldLvl="0" animBg="1"/>
      <p:bldP spid="10" grpId="1" animBg="1"/>
      <p:bldP spid="2" grpId="0" bldLvl="0" animBg="1"/>
      <p:bldP spid="2"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齐次方程</a:t>
            </a:r>
            <a:endParaRPr lang="zh-CN" altLang="en-US"/>
          </a:p>
        </p:txBody>
      </p:sp>
      <p:sp>
        <p:nvSpPr>
          <p:cNvPr id="3" name="内容占位符 2"/>
          <p:cNvSpPr>
            <a:spLocks noGrp="1"/>
          </p:cNvSpPr>
          <p:nvPr>
            <p:ph idx="1"/>
          </p:nvPr>
        </p:nvSpPr>
        <p:spPr/>
        <p:txBody>
          <a:bodyPr/>
          <a:p>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3"/>
          <p:cNvSpPr txBox="1">
            <a:spLocks noChangeArrowheads="1"/>
          </p:cNvSpPr>
          <p:nvPr/>
        </p:nvSpPr>
        <p:spPr bwMode="auto">
          <a:xfrm>
            <a:off x="689282" y="909332"/>
            <a:ext cx="5976936" cy="584775"/>
          </a:xfrm>
          <a:prstGeom prst="rect">
            <a:avLst/>
          </a:prstGeom>
          <a:noFill/>
          <a:ln w="28575">
            <a:noFill/>
            <a:prstDash val="dashDot"/>
            <a:miter lim="800000"/>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defRPr/>
            </a:pPr>
            <a:r>
              <a:rPr lang="zh-CN" altLang="en-US" sz="3200" b="1" dirty="0">
                <a:solidFill>
                  <a:srgbClr val="04926A"/>
                </a:solidFill>
                <a:latin typeface="微软雅黑" panose="020B0503020204020204" charset="-122"/>
                <a:ea typeface="微软雅黑" panose="020B0503020204020204" charset="-122"/>
              </a:rPr>
              <a:t>一、齐次方程</a:t>
            </a:r>
            <a:endParaRPr lang="zh-CN" altLang="en-US" sz="3200" b="1" dirty="0">
              <a:solidFill>
                <a:srgbClr val="04926A"/>
              </a:solidFill>
              <a:latin typeface="微软雅黑" panose="020B0503020204020204" charset="-122"/>
              <a:ea typeface="微软雅黑" panose="020B0503020204020204" charset="-122"/>
            </a:endParaRPr>
          </a:p>
        </p:txBody>
      </p:sp>
      <p:sp>
        <p:nvSpPr>
          <p:cNvPr id="14" name="右箭头 13"/>
          <p:cNvSpPr/>
          <p:nvPr/>
        </p:nvSpPr>
        <p:spPr>
          <a:xfrm>
            <a:off x="4547041" y="4082726"/>
            <a:ext cx="1258154" cy="298599"/>
          </a:xfrm>
          <a:prstGeom prst="rightArrow">
            <a:avLst>
              <a:gd name="adj1" fmla="val 50000"/>
              <a:gd name="adj2" fmla="val 88726"/>
            </a:avLst>
          </a:prstGeom>
          <a:solidFill>
            <a:srgbClr val="04926A"/>
          </a:solidFill>
          <a:ln>
            <a:solidFill>
              <a:srgbClr val="04926A"/>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右箭头 7"/>
          <p:cNvSpPr/>
          <p:nvPr/>
        </p:nvSpPr>
        <p:spPr>
          <a:xfrm>
            <a:off x="7567619" y="5131126"/>
            <a:ext cx="1258154" cy="298599"/>
          </a:xfrm>
          <a:prstGeom prst="rightArrow">
            <a:avLst>
              <a:gd name="adj1" fmla="val 50000"/>
              <a:gd name="adj2" fmla="val 88726"/>
            </a:avLst>
          </a:prstGeom>
          <a:solidFill>
            <a:srgbClr val="04926A"/>
          </a:solidFill>
          <a:ln>
            <a:solidFill>
              <a:srgbClr val="04926A"/>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6" name="组合 5"/>
          <p:cNvGrpSpPr/>
          <p:nvPr/>
        </p:nvGrpSpPr>
        <p:grpSpPr>
          <a:xfrm>
            <a:off x="776521" y="1751586"/>
            <a:ext cx="10481296" cy="1706245"/>
            <a:chOff x="763821" y="1624586"/>
            <a:chExt cx="10481296" cy="1706245"/>
          </a:xfrm>
        </p:grpSpPr>
        <p:sp>
          <p:nvSpPr>
            <p:cNvPr id="20" name="Rectangle 1"/>
            <p:cNvSpPr/>
            <p:nvPr/>
          </p:nvSpPr>
          <p:spPr>
            <a:xfrm>
              <a:off x="1048846" y="1624586"/>
              <a:ext cx="10196271" cy="1706245"/>
            </a:xfrm>
            <a:prstGeom prst="rect">
              <a:avLst/>
            </a:prstGeom>
            <a:solidFill>
              <a:srgbClr val="039462">
                <a:alpha val="2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FFFFFF"/>
                </a:solidFill>
                <a:effectLst/>
                <a:uLnTx/>
                <a:uFillTx/>
                <a:latin typeface="Calibri" panose="020F0502020204030204"/>
                <a:ea typeface="+mn-ea"/>
                <a:cs typeface="+mn-cs"/>
              </a:endParaRPr>
            </a:p>
          </p:txBody>
        </p:sp>
        <p:grpSp>
          <p:nvGrpSpPr>
            <p:cNvPr id="21" name="组合 20"/>
            <p:cNvGrpSpPr/>
            <p:nvPr/>
          </p:nvGrpSpPr>
          <p:grpSpPr>
            <a:xfrm>
              <a:off x="763821" y="2044048"/>
              <a:ext cx="1169670" cy="899795"/>
              <a:chOff x="13276" y="994416"/>
              <a:chExt cx="1767844" cy="899795"/>
            </a:xfrm>
          </p:grpSpPr>
          <p:sp>
            <p:nvSpPr>
              <p:cNvPr id="22" name="PA-102231"/>
              <p:cNvSpPr/>
              <p:nvPr>
                <p:custDataLst>
                  <p:tags r:id="rId1"/>
                </p:custDataLst>
              </p:nvPr>
            </p:nvSpPr>
            <p:spPr>
              <a:xfrm>
                <a:off x="13276" y="994416"/>
                <a:ext cx="1767844" cy="899795"/>
              </a:xfrm>
              <a:prstGeom prst="rect">
                <a:avLst/>
              </a:prstGeom>
              <a:solidFill>
                <a:schemeClr val="bg1"/>
              </a:solidFill>
              <a:ln w="19050">
                <a:gradFill>
                  <a:gsLst>
                    <a:gs pos="5000">
                      <a:srgbClr val="17A45E"/>
                    </a:gs>
                    <a:gs pos="56000">
                      <a:srgbClr val="039267"/>
                    </a:gs>
                    <a:gs pos="100000">
                      <a:srgbClr val="068983"/>
                    </a:gs>
                  </a:gsLst>
                  <a:lin ang="10800000" scaled="0"/>
                </a:gradFill>
              </a:ln>
              <a:effectLst>
                <a:outerShdw blurRad="203200" dist="63500" dir="3000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n>
                    <a:solidFill>
                      <a:schemeClr val="bg1">
                        <a:lumMod val="95000"/>
                      </a:schemeClr>
                    </a:solidFill>
                  </a:ln>
                  <a:cs typeface="+mn-ea"/>
                  <a:sym typeface="+mn-lt"/>
                </a:endParaRPr>
              </a:p>
            </p:txBody>
          </p:sp>
          <p:sp>
            <p:nvSpPr>
              <p:cNvPr id="24" name="Rectangle 167"/>
              <p:cNvSpPr>
                <a:spLocks noChangeArrowheads="1"/>
              </p:cNvSpPr>
              <p:nvPr/>
            </p:nvSpPr>
            <p:spPr bwMode="auto">
              <a:xfrm>
                <a:off x="60740" y="1229151"/>
                <a:ext cx="1574810" cy="430887"/>
              </a:xfrm>
              <a:prstGeom prst="rect">
                <a:avLst/>
              </a:prstGeom>
              <a:noFill/>
              <a:ln w="9525">
                <a:noFill/>
                <a:miter lim="800000"/>
              </a:ln>
              <a:effectLst/>
            </p:spPr>
            <p:txBody>
              <a:bodyPr wrap="none" lIns="0" tIns="0" rIns="0" bIns="0">
                <a:spAutoFit/>
              </a:bodyPr>
              <a:lstStyle/>
              <a:p>
                <a:pPr eaLnBrk="0" fontAlgn="base" hangingPunct="0">
                  <a:spcBef>
                    <a:spcPct val="0"/>
                  </a:spcBef>
                  <a:spcAft>
                    <a:spcPct val="0"/>
                  </a:spcAft>
                  <a:defRPr/>
                </a:pPr>
                <a:r>
                  <a:rPr kumimoji="1" lang="en-US" altLang="zh-CN" sz="2800" b="1" dirty="0">
                    <a:solidFill>
                      <a:srgbClr val="04926A"/>
                    </a:solidFill>
                    <a:latin typeface="微软雅黑" panose="020B0503020204020204" charset="-122"/>
                    <a:ea typeface="微软雅黑" panose="020B0503020204020204" charset="-122"/>
                    <a:sym typeface="+mn-ea"/>
                  </a:rPr>
                  <a:t>1.</a:t>
                </a:r>
                <a:r>
                  <a:rPr kumimoji="1" lang="zh-CN" altLang="en-US" sz="2800" b="1" dirty="0">
                    <a:solidFill>
                      <a:srgbClr val="04926A"/>
                    </a:solidFill>
                    <a:latin typeface="微软雅黑" panose="020B0503020204020204" charset="-122"/>
                    <a:ea typeface="微软雅黑" panose="020B0503020204020204" charset="-122"/>
                    <a:sym typeface="+mn-ea"/>
                  </a:rPr>
                  <a:t>定义</a:t>
                </a:r>
                <a:endParaRPr kumimoji="1" lang="en-US" altLang="zh-CN" sz="2800" b="1" dirty="0">
                  <a:solidFill>
                    <a:srgbClr val="04926A"/>
                  </a:solidFill>
                  <a:latin typeface="微软雅黑" panose="020B0503020204020204" charset="-122"/>
                  <a:ea typeface="微软雅黑" panose="020B0503020204020204" charset="-122"/>
                  <a:sym typeface="+mn-ea"/>
                </a:endParaRPr>
              </a:p>
            </p:txBody>
          </p:sp>
        </p:grpSp>
      </p:grpSp>
      <p:grpSp>
        <p:nvGrpSpPr>
          <p:cNvPr id="25" name="组合 24"/>
          <p:cNvGrpSpPr/>
          <p:nvPr/>
        </p:nvGrpSpPr>
        <p:grpSpPr>
          <a:xfrm>
            <a:off x="1046579" y="3995297"/>
            <a:ext cx="982980" cy="449580"/>
            <a:chOff x="1510" y="3802"/>
            <a:chExt cx="1548" cy="708"/>
          </a:xfrm>
        </p:grpSpPr>
        <p:sp>
          <p:nvSpPr>
            <p:cNvPr id="26" name="圆角矩形 25"/>
            <p:cNvSpPr/>
            <p:nvPr/>
          </p:nvSpPr>
          <p:spPr>
            <a:xfrm>
              <a:off x="1510" y="3803"/>
              <a:ext cx="1474" cy="707"/>
            </a:xfrm>
            <a:prstGeom prst="roundRect">
              <a:avLst/>
            </a:prstGeom>
            <a:solidFill>
              <a:srgbClr val="049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7" name="Text Box 28"/>
            <p:cNvSpPr txBox="1">
              <a:spLocks noChangeArrowheads="1"/>
            </p:cNvSpPr>
            <p:nvPr/>
          </p:nvSpPr>
          <p:spPr bwMode="auto">
            <a:xfrm>
              <a:off x="1620" y="3802"/>
              <a:ext cx="1438" cy="6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bIns="0">
              <a:spAutoFit/>
            </a:bodyPr>
            <a:lstStyle>
              <a:lvl1pPr>
                <a:lnSpc>
                  <a:spcPct val="85000"/>
                </a:lnSpc>
                <a:defRPr kumimoji="1" sz="2800" b="1">
                  <a:solidFill>
                    <a:schemeClr val="tx2"/>
                  </a:solidFill>
                  <a:latin typeface="Times New Roman" panose="02020603050405020304" pitchFamily="18" charset="0"/>
                  <a:ea typeface="楷体_GB2312" pitchFamily="49" charset="-122"/>
                </a:defRPr>
              </a:lvl1pPr>
              <a:lvl2pPr marL="742950" indent="-285750">
                <a:lnSpc>
                  <a:spcPct val="85000"/>
                </a:lnSpc>
                <a:defRPr kumimoji="1" sz="2800" b="1">
                  <a:solidFill>
                    <a:schemeClr val="tx2"/>
                  </a:solidFill>
                  <a:latin typeface="Times New Roman" panose="02020603050405020304" pitchFamily="18" charset="0"/>
                  <a:ea typeface="楷体_GB2312" pitchFamily="49" charset="-122"/>
                </a:defRPr>
              </a:lvl2pPr>
              <a:lvl3pPr marL="1143000" indent="-228600">
                <a:lnSpc>
                  <a:spcPct val="85000"/>
                </a:lnSpc>
                <a:defRPr kumimoji="1" sz="2800" b="1">
                  <a:solidFill>
                    <a:schemeClr val="tx2"/>
                  </a:solidFill>
                  <a:latin typeface="Times New Roman" panose="02020603050405020304" pitchFamily="18" charset="0"/>
                  <a:ea typeface="楷体_GB2312" pitchFamily="49" charset="-122"/>
                </a:defRPr>
              </a:lvl3pPr>
              <a:lvl4pPr marL="1600200" indent="-228600">
                <a:lnSpc>
                  <a:spcPct val="85000"/>
                </a:lnSpc>
                <a:defRPr kumimoji="1" sz="2800" b="1">
                  <a:solidFill>
                    <a:schemeClr val="tx2"/>
                  </a:solidFill>
                  <a:latin typeface="Times New Roman" panose="02020603050405020304" pitchFamily="18" charset="0"/>
                  <a:ea typeface="楷体_GB2312" pitchFamily="49" charset="-122"/>
                </a:defRPr>
              </a:lvl4pPr>
              <a:lvl5pPr marL="2057400" indent="-228600">
                <a:lnSpc>
                  <a:spcPct val="85000"/>
                </a:lnSpc>
                <a:defRPr kumimoji="1" sz="2800" b="1">
                  <a:solidFill>
                    <a:schemeClr val="tx2"/>
                  </a:solidFill>
                  <a:latin typeface="Times New Roman" panose="02020603050405020304" pitchFamily="18" charset="0"/>
                  <a:ea typeface="楷体_GB2312" pitchFamily="49" charset="-122"/>
                </a:defRPr>
              </a:lvl5pPr>
              <a:lvl6pPr marL="25146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6pPr>
              <a:lvl7pPr marL="29718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7pPr>
              <a:lvl8pPr marL="34290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8pPr>
              <a:lvl9pPr marL="38862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50000"/>
                </a:spcBef>
                <a:spcAft>
                  <a:spcPct val="0"/>
                </a:spcAft>
                <a:buClrTx/>
                <a:buSzTx/>
                <a:defRPr/>
              </a:pPr>
              <a:r>
                <a:rPr kumimoji="1" lang="zh-CN" altLang="en-US"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例如</a:t>
              </a:r>
              <a:r>
                <a:rPr kumimoji="1" lang="en-US" altLang="zh-CN"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a:t>
              </a:r>
              <a:endParaRPr kumimoji="1" lang="zh-CN" altLang="en-US"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5" name="组合 4"/>
          <p:cNvGrpSpPr/>
          <p:nvPr/>
        </p:nvGrpSpPr>
        <p:grpSpPr>
          <a:xfrm>
            <a:off x="2310550" y="2011157"/>
            <a:ext cx="5340202" cy="781685"/>
            <a:chOff x="2135925" y="1922257"/>
            <a:chExt cx="5340202" cy="781685"/>
          </a:xfrm>
        </p:grpSpPr>
        <mc:AlternateContent xmlns:mc="http://schemas.openxmlformats.org/markup-compatibility/2006">
          <mc:Choice xmlns:a14="http://schemas.microsoft.com/office/drawing/2010/main" Requires="a14">
            <p:sp>
              <p:nvSpPr>
                <p:cNvPr id="11" name="对象 1"/>
                <p:cNvSpPr txBox="1"/>
                <p:nvPr/>
              </p:nvSpPr>
              <p:spPr>
                <a:xfrm>
                  <a:off x="2135925" y="1922257"/>
                  <a:ext cx="5175885" cy="781685"/>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14:m>
                    <m:oMathPara xmlns:m="http://schemas.openxmlformats.org/officeDocument/2006/math">
                      <m:oMathParaPr>
                        <m:jc m:val="left"/>
                      </m:oMathParaPr>
                      <m:oMath xmlns:m="http://schemas.openxmlformats.org/officeDocument/2006/math">
                        <m:r>
                          <a:rPr kumimoji="1" lang="zh-CN" altLang="en-US" sz="2800">
                            <a:solidFill>
                              <a:prstClr val="black"/>
                            </a:solidFill>
                            <a:latin typeface="Cambria Math" panose="02040503050406030204" charset="0"/>
                            <a:ea typeface="黑体" panose="02010609060101010101" pitchFamily="49" charset="-122"/>
                          </a:rPr>
                          <m:t>如果一个一阶微分方程可化为</m:t>
                        </m:r>
                      </m:oMath>
                    </m:oMathPara>
                  </a14:m>
                  <a:endParaRPr kumimoji="1" lang="zh-CN" altLang="en-US" sz="2800" dirty="0">
                    <a:solidFill>
                      <a:prstClr val="black"/>
                    </a:solidFill>
                    <a:latin typeface="Cambria Math" panose="02040503050406030204" charset="0"/>
                    <a:ea typeface="黑体" panose="02010609060101010101" pitchFamily="49" charset="-122"/>
                  </a:endParaRPr>
                </a:p>
              </p:txBody>
            </p:sp>
          </mc:Choice>
          <mc:Fallback>
            <p:sp>
              <p:nvSpPr>
                <p:cNvPr id="11" name="对象 1"/>
                <p:cNvSpPr txBox="1">
                  <a:spLocks noRot="1" noChangeAspect="1" noMove="1" noResize="1" noEditPoints="1" noAdjustHandles="1" noChangeArrowheads="1" noChangeShapeType="1" noTextEdit="1"/>
                </p:cNvSpPr>
                <p:nvPr/>
              </p:nvSpPr>
              <p:spPr>
                <a:xfrm>
                  <a:off x="2135925" y="1922257"/>
                  <a:ext cx="5175885" cy="781685"/>
                </a:xfrm>
                <a:prstGeom prst="rect">
                  <a:avLst/>
                </a:prstGeom>
                <a:blipFill rotWithShape="1">
                  <a:blip r:embed="rId2"/>
                </a:blipFill>
              </p:spPr>
              <p:txBody>
                <a:bodyPr/>
                <a:lstStyle/>
                <a:p>
                  <a:r>
                    <a:rPr lang="zh-CN" altLang="en-US">
                      <a:noFill/>
                    </a:rPr>
                    <a:t> </a:t>
                  </a:r>
                </a:p>
              </p:txBody>
            </p:sp>
          </mc:Fallback>
        </mc:AlternateContent>
        <p:sp>
          <p:nvSpPr>
            <p:cNvPr id="4" name="文本框 3"/>
            <p:cNvSpPr txBox="1"/>
            <p:nvPr/>
          </p:nvSpPr>
          <p:spPr>
            <a:xfrm>
              <a:off x="6945359" y="1975437"/>
              <a:ext cx="530768" cy="555150"/>
            </a:xfrm>
            <a:prstGeom prst="rect">
              <a:avLst/>
            </a:prstGeom>
            <a:noFill/>
          </p:spPr>
          <p:txBody>
            <a:bodyPr wrap="square" rtlCol="0">
              <a:spAutoFit/>
            </a:bodyPr>
            <a:lstStyle/>
            <a:p>
              <a:endParaRPr kumimoji="1" lang="zh-CN" altLang="en-US" dirty="0"/>
            </a:p>
          </p:txBody>
        </p:sp>
      </p:grpSp>
      <p:grpSp>
        <p:nvGrpSpPr>
          <p:cNvPr id="12" name="组合 11"/>
          <p:cNvGrpSpPr/>
          <p:nvPr/>
        </p:nvGrpSpPr>
        <p:grpSpPr>
          <a:xfrm>
            <a:off x="7039610" y="1445260"/>
            <a:ext cx="1987550" cy="1552613"/>
            <a:chOff x="6865088" y="1284812"/>
            <a:chExt cx="2006600" cy="1622714"/>
          </a:xfrm>
        </p:grpSpPr>
        <mc:AlternateContent xmlns:mc="http://schemas.openxmlformats.org/markup-compatibility/2006">
          <mc:Choice xmlns:a14="http://schemas.microsoft.com/office/drawing/2010/main" Requires="a14">
            <p:sp>
              <p:nvSpPr>
                <p:cNvPr id="7" name="对象 6"/>
                <p:cNvSpPr txBox="1"/>
                <p:nvPr/>
              </p:nvSpPr>
              <p:spPr>
                <a:xfrm>
                  <a:off x="6865088" y="1680875"/>
                  <a:ext cx="2006600" cy="1226651"/>
                </a:xfrm>
                <a:prstGeom prst="rect">
                  <a:avLst/>
                </a:prstGeom>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f>
                          <m:fPr>
                            <m:ctrlPr>
                              <a:rPr kumimoji="1" lang="zh-CN" altLang="en-US" sz="2800" i="1">
                                <a:solidFill>
                                  <a:prstClr val="black"/>
                                </a:solidFill>
                                <a:latin typeface="Cambria Math" panose="02040503050406030204" charset="0"/>
                                <a:ea typeface="黑体" panose="02010609060101010101" pitchFamily="49" charset="-122"/>
                              </a:rPr>
                            </m:ctrlPr>
                          </m:fPr>
                          <m:num>
                            <m:r>
                              <m:rPr>
                                <m:sty m:val="p"/>
                              </m:rPr>
                              <a:rPr kumimoji="1" lang="zh-CN" altLang="en-US" sz="2800">
                                <a:solidFill>
                                  <a:prstClr val="black"/>
                                </a:solidFill>
                                <a:latin typeface="Cambria Math" panose="02040503050406030204" charset="0"/>
                                <a:ea typeface="黑体" panose="02010609060101010101" pitchFamily="49" charset="-122"/>
                              </a:rPr>
                              <m:t>d</m:t>
                            </m:r>
                            <m:r>
                              <a:rPr kumimoji="1" lang="zh-CN" altLang="en-US" sz="2800">
                                <a:solidFill>
                                  <a:prstClr val="black"/>
                                </a:solidFill>
                                <a:latin typeface="Cambria Math" panose="02040503050406030204" charset="0"/>
                                <a:ea typeface="黑体" panose="02010609060101010101" pitchFamily="49" charset="-122"/>
                              </a:rPr>
                              <m:t>𝑦</m:t>
                            </m:r>
                          </m:num>
                          <m:den>
                            <m:r>
                              <m:rPr>
                                <m:sty m:val="p"/>
                              </m:rPr>
                              <a:rPr kumimoji="1" lang="zh-CN" altLang="en-US" sz="2800">
                                <a:solidFill>
                                  <a:prstClr val="black"/>
                                </a:solidFill>
                                <a:latin typeface="Cambria Math" panose="02040503050406030204" charset="0"/>
                                <a:ea typeface="黑体" panose="02010609060101010101" pitchFamily="49" charset="-122"/>
                              </a:rPr>
                              <m:t>d</m:t>
                            </m:r>
                            <m:r>
                              <a:rPr kumimoji="1" lang="zh-CN" altLang="en-US" sz="2800">
                                <a:solidFill>
                                  <a:prstClr val="black"/>
                                </a:solidFill>
                                <a:latin typeface="Cambria Math" panose="02040503050406030204" charset="0"/>
                                <a:ea typeface="黑体" panose="02010609060101010101" pitchFamily="49" charset="-122"/>
                              </a:rPr>
                              <m:t>𝑥</m:t>
                            </m:r>
                          </m:den>
                        </m:f>
                        <m:r>
                          <a:rPr kumimoji="1" lang="zh-CN" altLang="en-US" sz="2800">
                            <a:solidFill>
                              <a:prstClr val="black"/>
                            </a:solidFill>
                            <a:latin typeface="Cambria Math" panose="02040503050406030204" charset="0"/>
                            <a:ea typeface="黑体" panose="02010609060101010101" pitchFamily="49" charset="-122"/>
                          </a:rPr>
                          <m:t>=</m:t>
                        </m:r>
                        <m:r>
                          <a:rPr kumimoji="1" lang="zh-CN" altLang="en-US" sz="2800">
                            <a:solidFill>
                              <a:prstClr val="black"/>
                            </a:solidFill>
                            <a:latin typeface="Cambria Math" panose="02040503050406030204" charset="0"/>
                            <a:ea typeface="黑体" panose="02010609060101010101" pitchFamily="49" charset="-122"/>
                          </a:rPr>
                          <m:t>𝜑</m:t>
                        </m:r>
                        <m:d>
                          <m:dPr>
                            <m:ctrlPr>
                              <a:rPr kumimoji="1" lang="zh-CN" altLang="en-US" sz="2800" i="1">
                                <a:solidFill>
                                  <a:prstClr val="black"/>
                                </a:solidFill>
                                <a:latin typeface="Cambria Math" panose="02040503050406030204" charset="0"/>
                                <a:ea typeface="黑体" panose="02010609060101010101" pitchFamily="49" charset="-122"/>
                              </a:rPr>
                            </m:ctrlPr>
                          </m:dPr>
                          <m:e>
                            <m:f>
                              <m:fPr>
                                <m:ctrlPr>
                                  <a:rPr kumimoji="1" lang="zh-CN" altLang="en-US" sz="2800" i="1">
                                    <a:solidFill>
                                      <a:prstClr val="black"/>
                                    </a:solidFill>
                                    <a:latin typeface="Cambria Math" panose="02040503050406030204" charset="0"/>
                                    <a:ea typeface="黑体" panose="02010609060101010101" pitchFamily="49" charset="-122"/>
                                  </a:rPr>
                                </m:ctrlPr>
                              </m:fPr>
                              <m:num>
                                <m:r>
                                  <a:rPr kumimoji="1" lang="zh-CN" altLang="en-US" sz="2800">
                                    <a:solidFill>
                                      <a:prstClr val="black"/>
                                    </a:solidFill>
                                    <a:latin typeface="Cambria Math" panose="02040503050406030204" charset="0"/>
                                    <a:ea typeface="黑体" panose="02010609060101010101" pitchFamily="49" charset="-122"/>
                                  </a:rPr>
                                  <m:t>𝑦</m:t>
                                </m:r>
                              </m:num>
                              <m:den>
                                <m:r>
                                  <a:rPr kumimoji="1" lang="zh-CN" altLang="en-US" sz="2800">
                                    <a:solidFill>
                                      <a:prstClr val="black"/>
                                    </a:solidFill>
                                    <a:latin typeface="Cambria Math" panose="02040503050406030204" charset="0"/>
                                    <a:ea typeface="黑体" panose="02010609060101010101" pitchFamily="49" charset="-122"/>
                                  </a:rPr>
                                  <m:t>𝑥</m:t>
                                </m:r>
                              </m:den>
                            </m:f>
                          </m:e>
                        </m:d>
                      </m:oMath>
                    </m:oMathPara>
                  </a14:m>
                  <a:endParaRPr kumimoji="1" lang="zh-CN" altLang="en-US" sz="2800" dirty="0">
                    <a:solidFill>
                      <a:prstClr val="black"/>
                    </a:solidFill>
                    <a:latin typeface="Cambria Math" panose="02040503050406030204" charset="0"/>
                    <a:ea typeface="黑体" panose="02010609060101010101" pitchFamily="49" charset="-122"/>
                  </a:endParaRPr>
                </a:p>
              </p:txBody>
            </p:sp>
          </mc:Choice>
          <mc:Fallback>
            <p:sp>
              <p:nvSpPr>
                <p:cNvPr id="7" name="对象 6"/>
                <p:cNvSpPr txBox="1">
                  <a:spLocks noRot="1" noChangeAspect="1" noMove="1" noResize="1" noEditPoints="1" noAdjustHandles="1" noChangeArrowheads="1" noChangeShapeType="1" noTextEdit="1"/>
                </p:cNvSpPr>
                <p:nvPr/>
              </p:nvSpPr>
              <p:spPr>
                <a:xfrm>
                  <a:off x="6865088" y="1680875"/>
                  <a:ext cx="2006600" cy="1226651"/>
                </a:xfrm>
                <a:prstGeom prst="rect">
                  <a:avLst/>
                </a:prstGeom>
                <a:blipFill rotWithShape="1">
                  <a:blip r:embed="rId3"/>
                </a:blipFill>
              </p:spPr>
              <p:txBody>
                <a:bodyPr/>
                <a:lstStyle/>
                <a:p>
                  <a:r>
                    <a:rPr lang="zh-CN" altLang="en-US">
                      <a:noFill/>
                    </a:rPr>
                    <a:t> </a:t>
                  </a:r>
                </a:p>
              </p:txBody>
            </p:sp>
          </mc:Fallback>
        </mc:AlternateContent>
        <p:sp>
          <p:nvSpPr>
            <p:cNvPr id="9" name="文本框 8"/>
            <p:cNvSpPr txBox="1"/>
            <p:nvPr/>
          </p:nvSpPr>
          <p:spPr>
            <a:xfrm>
              <a:off x="8055241" y="1284812"/>
              <a:ext cx="746953" cy="555150"/>
            </a:xfrm>
            <a:prstGeom prst="rect">
              <a:avLst/>
            </a:prstGeom>
            <a:noFill/>
          </p:spPr>
          <p:txBody>
            <a:bodyPr wrap="square" rtlCol="0">
              <a:spAutoFit/>
            </a:bodyPr>
            <a:lstStyle/>
            <a:p>
              <a:endParaRPr kumimoji="1" lang="zh-CN" altLang="en-US" dirty="0"/>
            </a:p>
          </p:txBody>
        </p:sp>
      </p:grpSp>
      <p:grpSp>
        <p:nvGrpSpPr>
          <p:cNvPr id="19" name="组合 18"/>
          <p:cNvGrpSpPr/>
          <p:nvPr/>
        </p:nvGrpSpPr>
        <p:grpSpPr>
          <a:xfrm>
            <a:off x="8826891" y="2015399"/>
            <a:ext cx="2077420" cy="601980"/>
            <a:chOff x="8652266" y="1926499"/>
            <a:chExt cx="2077420" cy="601980"/>
          </a:xfrm>
        </p:grpSpPr>
        <mc:AlternateContent xmlns:mc="http://schemas.openxmlformats.org/markup-compatibility/2006">
          <mc:Choice xmlns:a14="http://schemas.microsoft.com/office/drawing/2010/main" Requires="a14">
            <p:sp>
              <p:nvSpPr>
                <p:cNvPr id="15" name="对象 2"/>
                <p:cNvSpPr txBox="1"/>
                <p:nvPr/>
              </p:nvSpPr>
              <p:spPr>
                <a:xfrm>
                  <a:off x="8652266" y="1942374"/>
                  <a:ext cx="1736090" cy="586105"/>
                </a:xfrm>
                <a:prstGeom prst="rect">
                  <a:avLst/>
                </a:prstGeom>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zh-CN" altLang="en-US" sz="2800" smtClean="0">
                            <a:solidFill>
                              <a:prstClr val="black"/>
                            </a:solidFill>
                            <a:latin typeface="Cambria Math" panose="02040503050406030204" charset="0"/>
                            <a:ea typeface="黑体" panose="02010609060101010101" pitchFamily="49" charset="-122"/>
                          </a:rPr>
                          <m:t>的形式</m:t>
                        </m:r>
                        <m:r>
                          <a:rPr kumimoji="1" lang="en-US" altLang="zh-CN" sz="2800" b="0" i="0" smtClean="0">
                            <a:solidFill>
                              <a:prstClr val="black"/>
                            </a:solidFill>
                            <a:latin typeface="Cambria Math" panose="02040503050406030204" charset="0"/>
                            <a:ea typeface="黑体" panose="02010609060101010101" pitchFamily="49" charset="-122"/>
                          </a:rPr>
                          <m:t>,</m:t>
                        </m:r>
                      </m:oMath>
                    </m:oMathPara>
                  </a14:m>
                  <a:endParaRPr kumimoji="1" lang="zh-CN" altLang="en-US" sz="2800" dirty="0">
                    <a:solidFill>
                      <a:prstClr val="black"/>
                    </a:solidFill>
                    <a:latin typeface="Cambria Math" panose="02040503050406030204" charset="0"/>
                    <a:ea typeface="黑体" panose="02010609060101010101" pitchFamily="49" charset="-122"/>
                  </a:endParaRPr>
                </a:p>
              </p:txBody>
            </p:sp>
          </mc:Choice>
          <mc:Fallback>
            <p:sp>
              <p:nvSpPr>
                <p:cNvPr id="15" name="对象 2"/>
                <p:cNvSpPr txBox="1">
                  <a:spLocks noRot="1" noChangeAspect="1" noMove="1" noResize="1" noEditPoints="1" noAdjustHandles="1" noChangeArrowheads="1" noChangeShapeType="1" noTextEdit="1"/>
                </p:cNvSpPr>
                <p:nvPr/>
              </p:nvSpPr>
              <p:spPr>
                <a:xfrm>
                  <a:off x="8652266" y="1942374"/>
                  <a:ext cx="1736090" cy="586105"/>
                </a:xfrm>
                <a:prstGeom prst="rect">
                  <a:avLst/>
                </a:prstGeom>
                <a:blipFill rotWithShape="1">
                  <a:blip r:embed="rId4"/>
                </a:blipFill>
              </p:spPr>
              <p:txBody>
                <a:bodyPr/>
                <a:lstStyle/>
                <a:p>
                  <a:r>
                    <a:rPr lang="zh-CN" altLang="en-US">
                      <a:noFill/>
                    </a:rPr>
                    <a:t> </a:t>
                  </a:r>
                </a:p>
              </p:txBody>
            </p:sp>
          </mc:Fallback>
        </mc:AlternateContent>
        <p:sp>
          <p:nvSpPr>
            <p:cNvPr id="18" name="文本框 17"/>
            <p:cNvSpPr txBox="1"/>
            <p:nvPr/>
          </p:nvSpPr>
          <p:spPr>
            <a:xfrm>
              <a:off x="10134600" y="1926499"/>
              <a:ext cx="595086" cy="595086"/>
            </a:xfrm>
            <a:prstGeom prst="rect">
              <a:avLst/>
            </a:prstGeom>
            <a:noFill/>
          </p:spPr>
          <p:txBody>
            <a:bodyPr wrap="square" rtlCol="0">
              <a:spAutoFit/>
            </a:bodyPr>
            <a:lstStyle/>
            <a:p>
              <a:endParaRPr kumimoji="1" lang="zh-CN" altLang="en-US" dirty="0"/>
            </a:p>
          </p:txBody>
        </p:sp>
      </p:grpSp>
      <p:grpSp>
        <p:nvGrpSpPr>
          <p:cNvPr id="31" name="组合 30"/>
          <p:cNvGrpSpPr/>
          <p:nvPr/>
        </p:nvGrpSpPr>
        <p:grpSpPr>
          <a:xfrm>
            <a:off x="1670783" y="3718154"/>
            <a:ext cx="3050806" cy="1515326"/>
            <a:chOff x="1658083" y="3489554"/>
            <a:chExt cx="3050806" cy="1515326"/>
          </a:xfrm>
        </p:grpSpPr>
        <mc:AlternateContent xmlns:mc="http://schemas.openxmlformats.org/markup-compatibility/2006">
          <mc:Choice xmlns:a14="http://schemas.microsoft.com/office/drawing/2010/main" Requires="a14">
            <p:sp>
              <p:nvSpPr>
                <p:cNvPr id="16" name="对象 4"/>
                <p:cNvSpPr txBox="1"/>
                <p:nvPr/>
              </p:nvSpPr>
              <p:spPr>
                <a:xfrm>
                  <a:off x="2191256" y="3489554"/>
                  <a:ext cx="2517633" cy="1252982"/>
                </a:xfrm>
                <a:prstGeom prst="rect">
                  <a:avLst/>
                </a:prstGeom>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zh-CN" altLang="en-US" sz="2800" i="1">
                            <a:solidFill>
                              <a:schemeClr val="tx1">
                                <a:lumMod val="95000"/>
                                <a:lumOff val="5000"/>
                              </a:schemeClr>
                            </a:solidFill>
                            <a:latin typeface="Cambria Math" panose="02040503050406030204" charset="0"/>
                            <a:ea typeface="黑体" panose="02010609060101010101" pitchFamily="49" charset="-122"/>
                          </a:rPr>
                          <m:t>𝑥</m:t>
                        </m:r>
                        <m:f>
                          <m:f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fPr>
                          <m:num>
                            <m:r>
                              <m:rPr>
                                <m:sty m:val="p"/>
                              </m:rPr>
                              <a:rPr kumimoji="1" lang="zh-CN" altLang="en-US" sz="2800" i="1">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i="1">
                                <a:solidFill>
                                  <a:schemeClr val="tx1">
                                    <a:lumMod val="95000"/>
                                    <a:lumOff val="5000"/>
                                  </a:schemeClr>
                                </a:solidFill>
                                <a:latin typeface="Cambria Math" panose="02040503050406030204" charset="0"/>
                                <a:ea typeface="黑体" panose="02010609060101010101" pitchFamily="49" charset="-122"/>
                              </a:rPr>
                              <m:t>𝑦</m:t>
                            </m:r>
                          </m:num>
                          <m:den>
                            <m:r>
                              <m:rPr>
                                <m:sty m:val="p"/>
                              </m:rPr>
                              <a:rPr kumimoji="1" lang="zh-CN" altLang="en-US" sz="2800" i="1">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i="1">
                                <a:solidFill>
                                  <a:schemeClr val="tx1">
                                    <a:lumMod val="95000"/>
                                    <a:lumOff val="5000"/>
                                  </a:schemeClr>
                                </a:solidFill>
                                <a:latin typeface="Cambria Math" panose="02040503050406030204" charset="0"/>
                                <a:ea typeface="黑体" panose="02010609060101010101" pitchFamily="49" charset="-122"/>
                              </a:rPr>
                              <m:t>𝑥</m:t>
                            </m:r>
                          </m:den>
                        </m:f>
                        <m:r>
                          <a:rPr kumimoji="1" lang="zh-CN" altLang="en-US" sz="2800" i="1">
                            <a:solidFill>
                              <a:schemeClr val="tx1">
                                <a:lumMod val="95000"/>
                                <a:lumOff val="5000"/>
                              </a:schemeClr>
                            </a:solidFill>
                            <a:latin typeface="Cambria Math" panose="02040503050406030204" charset="0"/>
                            <a:ea typeface="黑体" panose="02010609060101010101" pitchFamily="49" charset="-122"/>
                          </a:rPr>
                          <m:t>=</m:t>
                        </m:r>
                        <m:r>
                          <a:rPr kumimoji="1" lang="zh-CN" altLang="en-US" sz="2800" i="1">
                            <a:solidFill>
                              <a:schemeClr val="tx1">
                                <a:lumMod val="95000"/>
                                <a:lumOff val="5000"/>
                              </a:schemeClr>
                            </a:solidFill>
                            <a:latin typeface="Cambria Math" panose="02040503050406030204" charset="0"/>
                            <a:ea typeface="黑体" panose="02010609060101010101" pitchFamily="49" charset="-122"/>
                          </a:rPr>
                          <m:t>𝑦</m:t>
                        </m:r>
                        <m:func>
                          <m:func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800" i="1">
                                <a:solidFill>
                                  <a:schemeClr val="tx1">
                                    <a:lumMod val="95000"/>
                                    <a:lumOff val="5000"/>
                                  </a:schemeClr>
                                </a:solidFill>
                                <a:latin typeface="Cambria Math" panose="02040503050406030204" charset="0"/>
                                <a:ea typeface="黑体" panose="02010609060101010101" pitchFamily="49" charset="-122"/>
                              </a:rPr>
                              <m:t>ln</m:t>
                            </m:r>
                          </m:fName>
                          <m:e>
                            <m:f>
                              <m:f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800" i="1">
                                    <a:solidFill>
                                      <a:schemeClr val="tx1">
                                        <a:lumMod val="95000"/>
                                        <a:lumOff val="5000"/>
                                      </a:schemeClr>
                                    </a:solidFill>
                                    <a:latin typeface="Cambria Math" panose="02040503050406030204" charset="0"/>
                                    <a:ea typeface="黑体" panose="02010609060101010101" pitchFamily="49" charset="-122"/>
                                  </a:rPr>
                                  <m:t>𝑦</m:t>
                                </m:r>
                              </m:num>
                              <m:den>
                                <m:r>
                                  <a:rPr kumimoji="1" lang="zh-CN" altLang="en-US" sz="2800" i="1">
                                    <a:solidFill>
                                      <a:schemeClr val="tx1">
                                        <a:lumMod val="95000"/>
                                        <a:lumOff val="5000"/>
                                      </a:schemeClr>
                                    </a:solidFill>
                                    <a:latin typeface="Cambria Math" panose="02040503050406030204" charset="0"/>
                                    <a:ea typeface="黑体" panose="02010609060101010101" pitchFamily="49" charset="-122"/>
                                  </a:rPr>
                                  <m:t>𝑥</m:t>
                                </m:r>
                              </m:den>
                            </m:f>
                          </m:e>
                        </m:func>
                      </m:oMath>
                    </m:oMathPara>
                  </a14:m>
                  <a:endParaRPr kumimoji="1" lang="zh-CN" altLang="en-US" sz="2800" i="1"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6" name="对象 4"/>
                <p:cNvSpPr txBox="1">
                  <a:spLocks noRot="1" noChangeAspect="1" noMove="1" noResize="1" noEditPoints="1" noAdjustHandles="1" noChangeArrowheads="1" noChangeShapeType="1" noTextEdit="1"/>
                </p:cNvSpPr>
                <p:nvPr/>
              </p:nvSpPr>
              <p:spPr>
                <a:xfrm>
                  <a:off x="2191256" y="3489554"/>
                  <a:ext cx="2517633" cy="1252982"/>
                </a:xfrm>
                <a:prstGeom prst="rect">
                  <a:avLst/>
                </a:prstGeom>
                <a:blipFill rotWithShape="1">
                  <a:blip r:embed="rId5"/>
                </a:blipFill>
              </p:spPr>
              <p:txBody>
                <a:bodyPr/>
                <a:lstStyle/>
                <a:p>
                  <a:r>
                    <a:rPr lang="zh-CN" altLang="en-US">
                      <a:noFill/>
                    </a:rPr>
                    <a:t> </a:t>
                  </a:r>
                </a:p>
              </p:txBody>
            </p:sp>
          </mc:Fallback>
        </mc:AlternateContent>
        <p:sp>
          <p:nvSpPr>
            <p:cNvPr id="30" name="文本框 29"/>
            <p:cNvSpPr txBox="1"/>
            <p:nvPr/>
          </p:nvSpPr>
          <p:spPr>
            <a:xfrm>
              <a:off x="1658083" y="4635548"/>
              <a:ext cx="173808" cy="369332"/>
            </a:xfrm>
            <a:prstGeom prst="rect">
              <a:avLst/>
            </a:prstGeom>
            <a:noFill/>
          </p:spPr>
          <p:txBody>
            <a:bodyPr wrap="square" rtlCol="0">
              <a:spAutoFit/>
            </a:bodyPr>
            <a:lstStyle/>
            <a:p>
              <a:endParaRPr kumimoji="1" lang="zh-CN" altLang="en-US" dirty="0"/>
            </a:p>
          </p:txBody>
        </p:sp>
      </p:grpSp>
      <p:grpSp>
        <p:nvGrpSpPr>
          <p:cNvPr id="33" name="组合 32"/>
          <p:cNvGrpSpPr/>
          <p:nvPr/>
        </p:nvGrpSpPr>
        <p:grpSpPr>
          <a:xfrm>
            <a:off x="5929991" y="3716532"/>
            <a:ext cx="2730663" cy="1119041"/>
            <a:chOff x="5921603" y="3516507"/>
            <a:chExt cx="2730663" cy="1119041"/>
          </a:xfrm>
        </p:grpSpPr>
        <mc:AlternateContent xmlns:mc="http://schemas.openxmlformats.org/markup-compatibility/2006">
          <mc:Choice xmlns:a14="http://schemas.microsoft.com/office/drawing/2010/main" Requires="a14">
            <p:sp>
              <p:nvSpPr>
                <p:cNvPr id="10" name="对象 42"/>
                <p:cNvSpPr txBox="1"/>
                <p:nvPr/>
              </p:nvSpPr>
              <p:spPr>
                <a:xfrm>
                  <a:off x="5921603" y="3516507"/>
                  <a:ext cx="2092300" cy="1119041"/>
                </a:xfrm>
                <a:prstGeom prst="rect">
                  <a:avLst/>
                </a:prstGeom>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f>
                          <m:fPr>
                            <m:ctrlPr>
                              <a:rPr kumimoji="1" lang="zh-CN" altLang="en-US" sz="2800" i="1">
                                <a:solidFill>
                                  <a:prstClr val="black"/>
                                </a:solidFill>
                                <a:latin typeface="Cambria Math" panose="02040503050406030204" charset="0"/>
                                <a:ea typeface="黑体" panose="02010609060101010101" pitchFamily="49" charset="-122"/>
                              </a:rPr>
                            </m:ctrlPr>
                          </m:fPr>
                          <m:num>
                            <m:r>
                              <m:rPr>
                                <m:sty m:val="p"/>
                              </m:rPr>
                              <a:rPr kumimoji="1" lang="zh-CN" altLang="en-US" sz="2800">
                                <a:solidFill>
                                  <a:prstClr val="black"/>
                                </a:solidFill>
                                <a:latin typeface="Cambria Math" panose="02040503050406030204" charset="0"/>
                                <a:ea typeface="黑体" panose="02010609060101010101" pitchFamily="49" charset="-122"/>
                              </a:rPr>
                              <m:t>d</m:t>
                            </m:r>
                            <m:r>
                              <a:rPr kumimoji="1" lang="zh-CN" altLang="en-US" sz="2800">
                                <a:solidFill>
                                  <a:prstClr val="black"/>
                                </a:solidFill>
                                <a:latin typeface="Cambria Math" panose="02040503050406030204" charset="0"/>
                                <a:ea typeface="黑体" panose="02010609060101010101" pitchFamily="49" charset="-122"/>
                              </a:rPr>
                              <m:t>𝑦</m:t>
                            </m:r>
                          </m:num>
                          <m:den>
                            <m:r>
                              <m:rPr>
                                <m:sty m:val="p"/>
                              </m:rPr>
                              <a:rPr kumimoji="1" lang="zh-CN" altLang="en-US" sz="2800">
                                <a:solidFill>
                                  <a:prstClr val="black"/>
                                </a:solidFill>
                                <a:latin typeface="Cambria Math" panose="02040503050406030204" charset="0"/>
                                <a:ea typeface="黑体" panose="02010609060101010101" pitchFamily="49" charset="-122"/>
                              </a:rPr>
                              <m:t>d</m:t>
                            </m:r>
                            <m:r>
                              <a:rPr kumimoji="1" lang="zh-CN" altLang="en-US" sz="2800">
                                <a:solidFill>
                                  <a:prstClr val="black"/>
                                </a:solidFill>
                                <a:latin typeface="Cambria Math" panose="02040503050406030204" charset="0"/>
                                <a:ea typeface="黑体" panose="02010609060101010101" pitchFamily="49" charset="-122"/>
                              </a:rPr>
                              <m:t>𝑥</m:t>
                            </m:r>
                          </m:den>
                        </m:f>
                        <m:r>
                          <a:rPr kumimoji="1" lang="zh-CN" altLang="en-US" sz="2800">
                            <a:solidFill>
                              <a:prstClr val="black"/>
                            </a:solidFill>
                            <a:latin typeface="Cambria Math" panose="02040503050406030204" charset="0"/>
                            <a:ea typeface="黑体" panose="02010609060101010101" pitchFamily="49" charset="-122"/>
                          </a:rPr>
                          <m:t>=</m:t>
                        </m:r>
                        <m:f>
                          <m:fPr>
                            <m:ctrlPr>
                              <a:rPr kumimoji="1" lang="zh-CN" altLang="en-US" sz="2800" i="1">
                                <a:solidFill>
                                  <a:prstClr val="black"/>
                                </a:solidFill>
                                <a:latin typeface="Cambria Math" panose="02040503050406030204" charset="0"/>
                                <a:ea typeface="黑体" panose="02010609060101010101" pitchFamily="49" charset="-122"/>
                              </a:rPr>
                            </m:ctrlPr>
                          </m:fPr>
                          <m:num>
                            <m:r>
                              <a:rPr kumimoji="1" lang="zh-CN" altLang="en-US" sz="2800">
                                <a:solidFill>
                                  <a:prstClr val="black"/>
                                </a:solidFill>
                                <a:latin typeface="Cambria Math" panose="02040503050406030204" charset="0"/>
                                <a:ea typeface="黑体" panose="02010609060101010101" pitchFamily="49" charset="-122"/>
                              </a:rPr>
                              <m:t>𝑦</m:t>
                            </m:r>
                          </m:num>
                          <m:den>
                            <m:r>
                              <a:rPr kumimoji="1" lang="zh-CN" altLang="en-US" sz="2800">
                                <a:solidFill>
                                  <a:prstClr val="black"/>
                                </a:solidFill>
                                <a:latin typeface="Cambria Math" panose="02040503050406030204" charset="0"/>
                                <a:ea typeface="黑体" panose="02010609060101010101" pitchFamily="49" charset="-122"/>
                              </a:rPr>
                              <m:t>𝑥</m:t>
                            </m:r>
                          </m:den>
                        </m:f>
                        <m:func>
                          <m:funcPr>
                            <m:ctrlPr>
                              <a:rPr kumimoji="1" lang="zh-CN" altLang="en-US" sz="2800" i="1">
                                <a:solidFill>
                                  <a:prstClr val="black"/>
                                </a:solidFill>
                                <a:latin typeface="Cambria Math" panose="02040503050406030204" charset="0"/>
                                <a:ea typeface="黑体" panose="02010609060101010101" pitchFamily="49" charset="-122"/>
                              </a:rPr>
                            </m:ctrlPr>
                          </m:funcPr>
                          <m:fName>
                            <m:r>
                              <m:rPr>
                                <m:sty m:val="p"/>
                              </m:rPr>
                              <a:rPr kumimoji="1" lang="zh-CN" altLang="en-US" sz="2800">
                                <a:solidFill>
                                  <a:prstClr val="black"/>
                                </a:solidFill>
                                <a:latin typeface="Cambria Math" panose="02040503050406030204" charset="0"/>
                                <a:ea typeface="黑体" panose="02010609060101010101" pitchFamily="49" charset="-122"/>
                              </a:rPr>
                              <m:t>ln</m:t>
                            </m:r>
                          </m:fName>
                          <m:e>
                            <m:f>
                              <m:fPr>
                                <m:ctrlPr>
                                  <a:rPr kumimoji="1" lang="zh-CN" altLang="en-US" sz="2800" i="1">
                                    <a:solidFill>
                                      <a:prstClr val="black"/>
                                    </a:solidFill>
                                    <a:latin typeface="Cambria Math" panose="02040503050406030204" charset="0"/>
                                    <a:ea typeface="黑体" panose="02010609060101010101" pitchFamily="49" charset="-122"/>
                                  </a:rPr>
                                </m:ctrlPr>
                              </m:fPr>
                              <m:num>
                                <m:r>
                                  <a:rPr kumimoji="1" lang="zh-CN" altLang="en-US" sz="2800">
                                    <a:solidFill>
                                      <a:prstClr val="black"/>
                                    </a:solidFill>
                                    <a:latin typeface="Cambria Math" panose="02040503050406030204" charset="0"/>
                                    <a:ea typeface="黑体" panose="02010609060101010101" pitchFamily="49" charset="-122"/>
                                  </a:rPr>
                                  <m:t>𝑦</m:t>
                                </m:r>
                              </m:num>
                              <m:den>
                                <m:r>
                                  <a:rPr kumimoji="1" lang="zh-CN" altLang="en-US" sz="2800">
                                    <a:solidFill>
                                      <a:prstClr val="black"/>
                                    </a:solidFill>
                                    <a:latin typeface="Cambria Math" panose="02040503050406030204" charset="0"/>
                                    <a:ea typeface="黑体" panose="02010609060101010101" pitchFamily="49" charset="-122"/>
                                  </a:rPr>
                                  <m:t>𝑥</m:t>
                                </m:r>
                              </m:den>
                            </m:f>
                          </m:e>
                        </m:func>
                      </m:oMath>
                    </m:oMathPara>
                  </a14:m>
                  <a:endParaRPr kumimoji="1" lang="zh-CN" altLang="en-US" sz="2800" dirty="0">
                    <a:solidFill>
                      <a:prstClr val="black"/>
                    </a:solidFill>
                    <a:latin typeface="Cambria Math" panose="02040503050406030204" charset="0"/>
                    <a:ea typeface="黑体" panose="02010609060101010101" pitchFamily="49" charset="-122"/>
                  </a:endParaRPr>
                </a:p>
              </p:txBody>
            </p:sp>
          </mc:Choice>
          <mc:Fallback>
            <p:sp>
              <p:nvSpPr>
                <p:cNvPr id="10" name="对象 42"/>
                <p:cNvSpPr txBox="1">
                  <a:spLocks noRot="1" noChangeAspect="1" noMove="1" noResize="1" noEditPoints="1" noAdjustHandles="1" noChangeArrowheads="1" noChangeShapeType="1" noTextEdit="1"/>
                </p:cNvSpPr>
                <p:nvPr/>
              </p:nvSpPr>
              <p:spPr>
                <a:xfrm>
                  <a:off x="5921603" y="3516507"/>
                  <a:ext cx="2092300" cy="1119041"/>
                </a:xfrm>
                <a:prstGeom prst="rect">
                  <a:avLst/>
                </a:prstGeom>
                <a:blipFill rotWithShape="1">
                  <a:blip r:embed="rId6"/>
                </a:blipFill>
              </p:spPr>
              <p:txBody>
                <a:bodyPr/>
                <a:lstStyle/>
                <a:p>
                  <a:r>
                    <a:rPr lang="zh-CN" altLang="en-US">
                      <a:noFill/>
                    </a:rPr>
                    <a:t> </a:t>
                  </a:r>
                </a:p>
              </p:txBody>
            </p:sp>
          </mc:Fallback>
        </mc:AlternateContent>
        <p:sp>
          <p:nvSpPr>
            <p:cNvPr id="32" name="文本框 31"/>
            <p:cNvSpPr txBox="1"/>
            <p:nvPr/>
          </p:nvSpPr>
          <p:spPr>
            <a:xfrm>
              <a:off x="8013903" y="3516507"/>
              <a:ext cx="638363" cy="636218"/>
            </a:xfrm>
            <a:prstGeom prst="rect">
              <a:avLst/>
            </a:prstGeom>
            <a:noFill/>
          </p:spPr>
          <p:txBody>
            <a:bodyPr wrap="square" rtlCol="0">
              <a:spAutoFit/>
            </a:bodyPr>
            <a:lstStyle/>
            <a:p>
              <a:endParaRPr kumimoji="1" lang="zh-CN" altLang="en-US" dirty="0"/>
            </a:p>
          </p:txBody>
        </p:sp>
      </p:grpSp>
      <p:grpSp>
        <p:nvGrpSpPr>
          <p:cNvPr id="35" name="组合 34"/>
          <p:cNvGrpSpPr/>
          <p:nvPr/>
        </p:nvGrpSpPr>
        <p:grpSpPr>
          <a:xfrm>
            <a:off x="2191737" y="5007913"/>
            <a:ext cx="5722389" cy="1243299"/>
            <a:chOff x="2179037" y="4639613"/>
            <a:chExt cx="5722389" cy="1243299"/>
          </a:xfrm>
        </p:grpSpPr>
        <mc:AlternateContent xmlns:mc="http://schemas.openxmlformats.org/markup-compatibility/2006">
          <mc:Choice xmlns:a14="http://schemas.microsoft.com/office/drawing/2010/main" Requires="a14">
            <p:sp>
              <p:nvSpPr>
                <p:cNvPr id="13" name="对象 12"/>
                <p:cNvSpPr txBox="1"/>
                <p:nvPr/>
              </p:nvSpPr>
              <p:spPr>
                <a:xfrm>
                  <a:off x="2179037" y="4639613"/>
                  <a:ext cx="5722389" cy="977899"/>
                </a:xfrm>
                <a:prstGeom prst="rect">
                  <a:avLst/>
                </a:prstGeom>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zh-CN" altLang="en-US" sz="2800">
                            <a:solidFill>
                              <a:prstClr val="black"/>
                            </a:solidFill>
                            <a:latin typeface="Cambria Math" panose="02040503050406030204" charset="0"/>
                            <a:ea typeface="黑体" panose="02010609060101010101" pitchFamily="49" charset="-122"/>
                          </a:rPr>
                          <m:t>(</m:t>
                        </m:r>
                        <m:r>
                          <a:rPr kumimoji="1" lang="zh-CN" altLang="en-US" sz="2800">
                            <a:solidFill>
                              <a:prstClr val="black"/>
                            </a:solidFill>
                            <a:latin typeface="Cambria Math" panose="02040503050406030204" charset="0"/>
                            <a:ea typeface="黑体" panose="02010609060101010101" pitchFamily="49" charset="-122"/>
                          </a:rPr>
                          <m:t>𝑥𝑦</m:t>
                        </m:r>
                        <m:r>
                          <a:rPr kumimoji="1" lang="zh-CN" altLang="en-US" sz="2800">
                            <a:solidFill>
                              <a:prstClr val="black"/>
                            </a:solidFill>
                            <a:latin typeface="Cambria Math" panose="02040503050406030204" charset="0"/>
                            <a:ea typeface="黑体" panose="02010609060101010101" pitchFamily="49" charset="-122"/>
                          </a:rPr>
                          <m:t>−</m:t>
                        </m:r>
                        <m:sSup>
                          <m:sSupPr>
                            <m:ctrlPr>
                              <a:rPr kumimoji="1" lang="zh-CN" altLang="en-US" sz="2800" i="1">
                                <a:solidFill>
                                  <a:prstClr val="black"/>
                                </a:solidFill>
                                <a:latin typeface="Cambria Math" panose="02040503050406030204" charset="0"/>
                                <a:ea typeface="黑体" panose="02010609060101010101" pitchFamily="49" charset="-122"/>
                              </a:rPr>
                            </m:ctrlPr>
                          </m:sSupPr>
                          <m:e>
                            <m:r>
                              <a:rPr kumimoji="1" lang="zh-CN" altLang="en-US" sz="2800">
                                <a:solidFill>
                                  <a:prstClr val="black"/>
                                </a:solidFill>
                                <a:latin typeface="Cambria Math" panose="02040503050406030204" charset="0"/>
                                <a:ea typeface="黑体" panose="02010609060101010101" pitchFamily="49" charset="-122"/>
                              </a:rPr>
                              <m:t>𝑦</m:t>
                            </m:r>
                          </m:e>
                          <m:sup>
                            <m:r>
                              <a:rPr kumimoji="1" lang="zh-CN" altLang="en-US" sz="2800">
                                <a:solidFill>
                                  <a:prstClr val="black"/>
                                </a:solidFill>
                                <a:latin typeface="Cambria Math" panose="02040503050406030204" charset="0"/>
                                <a:ea typeface="黑体" panose="02010609060101010101" pitchFamily="49" charset="-122"/>
                              </a:rPr>
                              <m:t>2</m:t>
                            </m:r>
                          </m:sup>
                        </m:sSup>
                        <m:r>
                          <a:rPr kumimoji="1" lang="zh-CN" altLang="en-US" sz="2800">
                            <a:solidFill>
                              <a:prstClr val="black"/>
                            </a:solidFill>
                            <a:latin typeface="Cambria Math" panose="02040503050406030204" charset="0"/>
                            <a:ea typeface="黑体" panose="02010609060101010101" pitchFamily="49" charset="-122"/>
                          </a:rPr>
                          <m:t>)</m:t>
                        </m:r>
                        <m:r>
                          <m:rPr>
                            <m:sty m:val="p"/>
                          </m:rPr>
                          <a:rPr kumimoji="1" lang="zh-CN" altLang="en-US" sz="2800">
                            <a:solidFill>
                              <a:prstClr val="black"/>
                            </a:solidFill>
                            <a:latin typeface="Cambria Math" panose="02040503050406030204" charset="0"/>
                            <a:ea typeface="黑体" panose="02010609060101010101" pitchFamily="49" charset="-122"/>
                          </a:rPr>
                          <m:t>d</m:t>
                        </m:r>
                        <m:r>
                          <a:rPr kumimoji="1" lang="zh-CN" altLang="en-US" sz="2800">
                            <a:solidFill>
                              <a:prstClr val="black"/>
                            </a:solidFill>
                            <a:latin typeface="Cambria Math" panose="02040503050406030204" charset="0"/>
                            <a:ea typeface="黑体" panose="02010609060101010101" pitchFamily="49" charset="-122"/>
                          </a:rPr>
                          <m:t>𝑥</m:t>
                        </m:r>
                        <m:r>
                          <a:rPr kumimoji="1" lang="zh-CN" altLang="en-US" sz="2800">
                            <a:solidFill>
                              <a:prstClr val="black"/>
                            </a:solidFill>
                            <a:latin typeface="Cambria Math" panose="02040503050406030204" charset="0"/>
                            <a:ea typeface="黑体" panose="02010609060101010101" pitchFamily="49" charset="-122"/>
                          </a:rPr>
                          <m:t>−(</m:t>
                        </m:r>
                        <m:sSup>
                          <m:sSupPr>
                            <m:ctrlPr>
                              <a:rPr kumimoji="1" lang="zh-CN" altLang="en-US" sz="2800" i="1">
                                <a:solidFill>
                                  <a:prstClr val="black"/>
                                </a:solidFill>
                                <a:latin typeface="Cambria Math" panose="02040503050406030204" charset="0"/>
                                <a:ea typeface="黑体" panose="02010609060101010101" pitchFamily="49" charset="-122"/>
                              </a:rPr>
                            </m:ctrlPr>
                          </m:sSupPr>
                          <m:e>
                            <m:r>
                              <a:rPr kumimoji="1" lang="zh-CN" altLang="en-US" sz="2800">
                                <a:solidFill>
                                  <a:prstClr val="black"/>
                                </a:solidFill>
                                <a:latin typeface="Cambria Math" panose="02040503050406030204" charset="0"/>
                                <a:ea typeface="黑体" panose="02010609060101010101" pitchFamily="49" charset="-122"/>
                              </a:rPr>
                              <m:t>𝑥</m:t>
                            </m:r>
                          </m:e>
                          <m:sup>
                            <m:r>
                              <a:rPr kumimoji="1" lang="zh-CN" altLang="en-US" sz="2800">
                                <a:solidFill>
                                  <a:prstClr val="black"/>
                                </a:solidFill>
                                <a:latin typeface="Cambria Math" panose="02040503050406030204" charset="0"/>
                                <a:ea typeface="黑体" panose="02010609060101010101" pitchFamily="49" charset="-122"/>
                              </a:rPr>
                              <m:t>2</m:t>
                            </m:r>
                          </m:sup>
                        </m:sSup>
                        <m:r>
                          <a:rPr kumimoji="1" lang="zh-CN" altLang="en-US" sz="2800">
                            <a:solidFill>
                              <a:prstClr val="black"/>
                            </a:solidFill>
                            <a:latin typeface="Cambria Math" panose="02040503050406030204" charset="0"/>
                            <a:ea typeface="黑体" panose="02010609060101010101" pitchFamily="49" charset="-122"/>
                          </a:rPr>
                          <m:t>−</m:t>
                        </m:r>
                        <m:r>
                          <a:rPr kumimoji="1" lang="zh-CN" altLang="en-US" sz="2800">
                            <a:solidFill>
                              <a:prstClr val="black"/>
                            </a:solidFill>
                            <a:latin typeface="Cambria Math" panose="02040503050406030204" charset="0"/>
                            <a:ea typeface="黑体" panose="02010609060101010101" pitchFamily="49" charset="-122"/>
                          </a:rPr>
                          <m:t>2</m:t>
                        </m:r>
                        <m:r>
                          <a:rPr kumimoji="1" lang="zh-CN" altLang="en-US" sz="2800">
                            <a:solidFill>
                              <a:prstClr val="black"/>
                            </a:solidFill>
                            <a:latin typeface="Cambria Math" panose="02040503050406030204" charset="0"/>
                            <a:ea typeface="黑体" panose="02010609060101010101" pitchFamily="49" charset="-122"/>
                          </a:rPr>
                          <m:t>𝑥𝑦</m:t>
                        </m:r>
                        <m:r>
                          <a:rPr kumimoji="1" lang="zh-CN" altLang="en-US" sz="2800">
                            <a:solidFill>
                              <a:prstClr val="black"/>
                            </a:solidFill>
                            <a:latin typeface="Cambria Math" panose="02040503050406030204" charset="0"/>
                            <a:ea typeface="黑体" panose="02010609060101010101" pitchFamily="49" charset="-122"/>
                          </a:rPr>
                          <m:t>)</m:t>
                        </m:r>
                        <m:r>
                          <m:rPr>
                            <m:sty m:val="p"/>
                          </m:rPr>
                          <a:rPr kumimoji="1" lang="zh-CN" altLang="en-US" sz="2800">
                            <a:solidFill>
                              <a:prstClr val="black"/>
                            </a:solidFill>
                            <a:latin typeface="Cambria Math" panose="02040503050406030204" charset="0"/>
                            <a:ea typeface="黑体" panose="02010609060101010101" pitchFamily="49" charset="-122"/>
                          </a:rPr>
                          <m:t>d</m:t>
                        </m:r>
                        <m:r>
                          <a:rPr kumimoji="1" lang="zh-CN" altLang="en-US" sz="2800">
                            <a:solidFill>
                              <a:prstClr val="black"/>
                            </a:solidFill>
                            <a:latin typeface="Cambria Math" panose="02040503050406030204" charset="0"/>
                            <a:ea typeface="黑体" panose="02010609060101010101" pitchFamily="49" charset="-122"/>
                          </a:rPr>
                          <m:t>𝑦</m:t>
                        </m:r>
                        <m:r>
                          <a:rPr kumimoji="1" lang="zh-CN" altLang="en-US" sz="2800">
                            <a:solidFill>
                              <a:prstClr val="black"/>
                            </a:solidFill>
                            <a:latin typeface="Cambria Math" panose="02040503050406030204" charset="0"/>
                            <a:ea typeface="黑体" panose="02010609060101010101" pitchFamily="49" charset="-122"/>
                          </a:rPr>
                          <m:t>=</m:t>
                        </m:r>
                        <m:r>
                          <a:rPr kumimoji="1" lang="zh-CN" altLang="en-US" sz="2800">
                            <a:solidFill>
                              <a:prstClr val="black"/>
                            </a:solidFill>
                            <a:latin typeface="Cambria Math" panose="02040503050406030204" charset="0"/>
                            <a:ea typeface="黑体" panose="02010609060101010101" pitchFamily="49" charset="-122"/>
                          </a:rPr>
                          <m:t>0</m:t>
                        </m:r>
                      </m:oMath>
                    </m:oMathPara>
                  </a14:m>
                  <a:endParaRPr kumimoji="1" lang="zh-CN" altLang="en-US" sz="2800" dirty="0">
                    <a:solidFill>
                      <a:prstClr val="black"/>
                    </a:solidFill>
                    <a:latin typeface="Cambria Math" panose="02040503050406030204" charset="0"/>
                    <a:ea typeface="黑体" panose="02010609060101010101" pitchFamily="49" charset="-122"/>
                  </a:endParaRPr>
                </a:p>
              </p:txBody>
            </p:sp>
          </mc:Choice>
          <mc:Fallback>
            <p:sp>
              <p:nvSpPr>
                <p:cNvPr id="13" name="对象 12"/>
                <p:cNvSpPr txBox="1">
                  <a:spLocks noRot="1" noChangeAspect="1" noMove="1" noResize="1" noEditPoints="1" noAdjustHandles="1" noChangeArrowheads="1" noChangeShapeType="1" noTextEdit="1"/>
                </p:cNvSpPr>
                <p:nvPr/>
              </p:nvSpPr>
              <p:spPr>
                <a:xfrm>
                  <a:off x="2179037" y="4639613"/>
                  <a:ext cx="5722389" cy="977899"/>
                </a:xfrm>
                <a:prstGeom prst="rect">
                  <a:avLst/>
                </a:prstGeom>
                <a:blipFill rotWithShape="1">
                  <a:blip r:embed="rId7"/>
                </a:blipFill>
              </p:spPr>
              <p:txBody>
                <a:bodyPr/>
                <a:lstStyle/>
                <a:p>
                  <a:r>
                    <a:rPr lang="zh-CN" altLang="en-US">
                      <a:noFill/>
                    </a:rPr>
                    <a:t> </a:t>
                  </a:r>
                </a:p>
              </p:txBody>
            </p:sp>
          </mc:Fallback>
        </mc:AlternateContent>
        <p:sp>
          <p:nvSpPr>
            <p:cNvPr id="34" name="文本框 33"/>
            <p:cNvSpPr txBox="1"/>
            <p:nvPr/>
          </p:nvSpPr>
          <p:spPr>
            <a:xfrm>
              <a:off x="3788229" y="5399314"/>
              <a:ext cx="537028" cy="483598"/>
            </a:xfrm>
            <a:prstGeom prst="rect">
              <a:avLst/>
            </a:prstGeom>
            <a:noFill/>
          </p:spPr>
          <p:txBody>
            <a:bodyPr wrap="square" rtlCol="0">
              <a:spAutoFit/>
            </a:bodyPr>
            <a:lstStyle/>
            <a:p>
              <a:endParaRPr kumimoji="1" lang="zh-CN" altLang="en-US" dirty="0"/>
            </a:p>
          </p:txBody>
        </p:sp>
      </p:grpSp>
      <p:grpSp>
        <p:nvGrpSpPr>
          <p:cNvPr id="37" name="组合 36"/>
          <p:cNvGrpSpPr/>
          <p:nvPr/>
        </p:nvGrpSpPr>
        <p:grpSpPr>
          <a:xfrm>
            <a:off x="8934771" y="4182622"/>
            <a:ext cx="2914471" cy="2116215"/>
            <a:chOff x="8871129" y="3766697"/>
            <a:chExt cx="2914471" cy="2116215"/>
          </a:xfrm>
        </p:grpSpPr>
        <mc:AlternateContent xmlns:mc="http://schemas.openxmlformats.org/markup-compatibility/2006">
          <mc:Choice xmlns:a14="http://schemas.microsoft.com/office/drawing/2010/main" Requires="a14">
            <p:sp>
              <p:nvSpPr>
                <p:cNvPr id="23" name="对象 21"/>
                <p:cNvSpPr txBox="1"/>
                <p:nvPr/>
              </p:nvSpPr>
              <p:spPr>
                <a:xfrm>
                  <a:off x="8871129" y="4176667"/>
                  <a:ext cx="2713080" cy="1706245"/>
                </a:xfrm>
                <a:prstGeom prst="rect">
                  <a:avLst/>
                </a:prstGeom>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f>
                          <m:fPr>
                            <m:ctrlPr>
                              <a:rPr kumimoji="1" lang="zh-CN" altLang="en-US" sz="2800" i="1">
                                <a:solidFill>
                                  <a:prstClr val="black"/>
                                </a:solidFill>
                                <a:latin typeface="Cambria Math" panose="02040503050406030204" charset="0"/>
                                <a:ea typeface="黑体" panose="02010609060101010101" pitchFamily="49" charset="-122"/>
                              </a:rPr>
                            </m:ctrlPr>
                          </m:fPr>
                          <m:num>
                            <m:r>
                              <m:rPr>
                                <m:sty m:val="p"/>
                              </m:rPr>
                              <a:rPr kumimoji="1" lang="zh-CN" altLang="en-US" sz="2800">
                                <a:solidFill>
                                  <a:prstClr val="black"/>
                                </a:solidFill>
                                <a:latin typeface="Cambria Math" panose="02040503050406030204" charset="0"/>
                                <a:ea typeface="黑体" panose="02010609060101010101" pitchFamily="49" charset="-122"/>
                              </a:rPr>
                              <m:t>d</m:t>
                            </m:r>
                            <m:r>
                              <a:rPr kumimoji="1" lang="zh-CN" altLang="en-US" sz="2800">
                                <a:solidFill>
                                  <a:prstClr val="black"/>
                                </a:solidFill>
                                <a:latin typeface="Cambria Math" panose="02040503050406030204" charset="0"/>
                                <a:ea typeface="黑体" panose="02010609060101010101" pitchFamily="49" charset="-122"/>
                              </a:rPr>
                              <m:t>𝑦</m:t>
                            </m:r>
                          </m:num>
                          <m:den>
                            <m:r>
                              <m:rPr>
                                <m:sty m:val="p"/>
                              </m:rPr>
                              <a:rPr kumimoji="1" lang="zh-CN" altLang="en-US" sz="2800">
                                <a:solidFill>
                                  <a:prstClr val="black"/>
                                </a:solidFill>
                                <a:latin typeface="Cambria Math" panose="02040503050406030204" charset="0"/>
                                <a:ea typeface="黑体" panose="02010609060101010101" pitchFamily="49" charset="-122"/>
                              </a:rPr>
                              <m:t>d</m:t>
                            </m:r>
                            <m:r>
                              <a:rPr kumimoji="1" lang="zh-CN" altLang="en-US" sz="2800">
                                <a:solidFill>
                                  <a:prstClr val="black"/>
                                </a:solidFill>
                                <a:latin typeface="Cambria Math" panose="02040503050406030204" charset="0"/>
                                <a:ea typeface="黑体" panose="02010609060101010101" pitchFamily="49" charset="-122"/>
                              </a:rPr>
                              <m:t>𝑥</m:t>
                            </m:r>
                          </m:den>
                        </m:f>
                        <m:r>
                          <a:rPr kumimoji="1" lang="zh-CN" altLang="en-US" sz="2800">
                            <a:solidFill>
                              <a:prstClr val="black"/>
                            </a:solidFill>
                            <a:latin typeface="Cambria Math" panose="02040503050406030204" charset="0"/>
                            <a:ea typeface="黑体" panose="02010609060101010101" pitchFamily="49" charset="-122"/>
                          </a:rPr>
                          <m:t>=</m:t>
                        </m:r>
                        <m:f>
                          <m:fPr>
                            <m:ctrlPr>
                              <a:rPr kumimoji="1" lang="zh-CN" altLang="en-US" sz="2800" i="1">
                                <a:solidFill>
                                  <a:prstClr val="black"/>
                                </a:solidFill>
                                <a:latin typeface="Cambria Math" panose="02040503050406030204" charset="0"/>
                                <a:ea typeface="黑体" panose="02010609060101010101" pitchFamily="49" charset="-122"/>
                              </a:rPr>
                            </m:ctrlPr>
                          </m:fPr>
                          <m:num>
                            <m:f>
                              <m:fPr>
                                <m:ctrlPr>
                                  <a:rPr kumimoji="1" lang="zh-CN" altLang="en-US" sz="2800" i="1">
                                    <a:solidFill>
                                      <a:prstClr val="black"/>
                                    </a:solidFill>
                                    <a:latin typeface="Cambria Math" panose="02040503050406030204" charset="0"/>
                                    <a:ea typeface="黑体" panose="02010609060101010101" pitchFamily="49" charset="-122"/>
                                  </a:rPr>
                                </m:ctrlPr>
                              </m:fPr>
                              <m:num>
                                <m:r>
                                  <a:rPr kumimoji="1" lang="zh-CN" altLang="en-US" sz="2800">
                                    <a:solidFill>
                                      <a:prstClr val="black"/>
                                    </a:solidFill>
                                    <a:latin typeface="Cambria Math" panose="02040503050406030204" charset="0"/>
                                    <a:ea typeface="黑体" panose="02010609060101010101" pitchFamily="49" charset="-122"/>
                                  </a:rPr>
                                  <m:t>𝑦</m:t>
                                </m:r>
                              </m:num>
                              <m:den>
                                <m:r>
                                  <a:rPr kumimoji="1" lang="zh-CN" altLang="en-US" sz="2800">
                                    <a:solidFill>
                                      <a:prstClr val="black"/>
                                    </a:solidFill>
                                    <a:latin typeface="Cambria Math" panose="02040503050406030204" charset="0"/>
                                    <a:ea typeface="黑体" panose="02010609060101010101" pitchFamily="49" charset="-122"/>
                                  </a:rPr>
                                  <m:t>𝑥</m:t>
                                </m:r>
                              </m:den>
                            </m:f>
                            <m:r>
                              <a:rPr kumimoji="1" lang="zh-CN" altLang="en-US" sz="2800">
                                <a:solidFill>
                                  <a:prstClr val="black"/>
                                </a:solidFill>
                                <a:latin typeface="Cambria Math" panose="02040503050406030204" charset="0"/>
                                <a:ea typeface="黑体" panose="02010609060101010101" pitchFamily="49" charset="-122"/>
                              </a:rPr>
                              <m:t>−(</m:t>
                            </m:r>
                            <m:f>
                              <m:fPr>
                                <m:ctrlPr>
                                  <a:rPr kumimoji="1" lang="zh-CN" altLang="en-US" sz="2800" i="1">
                                    <a:solidFill>
                                      <a:prstClr val="black"/>
                                    </a:solidFill>
                                    <a:latin typeface="Cambria Math" panose="02040503050406030204" charset="0"/>
                                    <a:ea typeface="黑体" panose="02010609060101010101" pitchFamily="49" charset="-122"/>
                                  </a:rPr>
                                </m:ctrlPr>
                              </m:fPr>
                              <m:num>
                                <m:r>
                                  <a:rPr kumimoji="1" lang="zh-CN" altLang="en-US" sz="2800">
                                    <a:solidFill>
                                      <a:prstClr val="black"/>
                                    </a:solidFill>
                                    <a:latin typeface="Cambria Math" panose="02040503050406030204" charset="0"/>
                                    <a:ea typeface="黑体" panose="02010609060101010101" pitchFamily="49" charset="-122"/>
                                  </a:rPr>
                                  <m:t>𝑦</m:t>
                                </m:r>
                              </m:num>
                              <m:den>
                                <m:r>
                                  <a:rPr kumimoji="1" lang="zh-CN" altLang="en-US" sz="2800">
                                    <a:solidFill>
                                      <a:prstClr val="black"/>
                                    </a:solidFill>
                                    <a:latin typeface="Cambria Math" panose="02040503050406030204" charset="0"/>
                                    <a:ea typeface="黑体" panose="02010609060101010101" pitchFamily="49" charset="-122"/>
                                  </a:rPr>
                                  <m:t>𝑥</m:t>
                                </m:r>
                              </m:den>
                            </m:f>
                            <m:sSup>
                              <m:sSupPr>
                                <m:ctrlPr>
                                  <a:rPr kumimoji="1" lang="zh-CN" altLang="en-US" sz="2800" i="1">
                                    <a:solidFill>
                                      <a:prstClr val="black"/>
                                    </a:solidFill>
                                    <a:latin typeface="Cambria Math" panose="02040503050406030204" charset="0"/>
                                    <a:ea typeface="黑体" panose="02010609060101010101" pitchFamily="49" charset="-122"/>
                                  </a:rPr>
                                </m:ctrlPr>
                              </m:sSupPr>
                              <m:e>
                                <m:r>
                                  <a:rPr kumimoji="1" lang="zh-CN" altLang="en-US" sz="2800">
                                    <a:solidFill>
                                      <a:prstClr val="black"/>
                                    </a:solidFill>
                                    <a:latin typeface="Cambria Math" panose="02040503050406030204" charset="0"/>
                                    <a:ea typeface="黑体" panose="02010609060101010101" pitchFamily="49" charset="-122"/>
                                  </a:rPr>
                                  <m:t>)</m:t>
                                </m:r>
                              </m:e>
                              <m:sup>
                                <m:r>
                                  <a:rPr kumimoji="1" lang="zh-CN" altLang="en-US" sz="2800">
                                    <a:solidFill>
                                      <a:prstClr val="black"/>
                                    </a:solidFill>
                                    <a:latin typeface="Cambria Math" panose="02040503050406030204" charset="0"/>
                                    <a:ea typeface="黑体" panose="02010609060101010101" pitchFamily="49" charset="-122"/>
                                  </a:rPr>
                                  <m:t>2</m:t>
                                </m:r>
                              </m:sup>
                            </m:sSup>
                          </m:num>
                          <m:den>
                            <m:r>
                              <a:rPr kumimoji="1" lang="zh-CN" altLang="en-US" sz="2800">
                                <a:solidFill>
                                  <a:prstClr val="black"/>
                                </a:solidFill>
                                <a:latin typeface="Cambria Math" panose="02040503050406030204" charset="0"/>
                                <a:ea typeface="黑体" panose="02010609060101010101" pitchFamily="49" charset="-122"/>
                              </a:rPr>
                              <m:t>1</m:t>
                            </m:r>
                            <m:r>
                              <a:rPr kumimoji="1" lang="zh-CN" altLang="en-US" sz="2800">
                                <a:solidFill>
                                  <a:prstClr val="black"/>
                                </a:solidFill>
                                <a:latin typeface="Cambria Math" panose="02040503050406030204" charset="0"/>
                                <a:ea typeface="黑体" panose="02010609060101010101" pitchFamily="49" charset="-122"/>
                              </a:rPr>
                              <m:t>−</m:t>
                            </m:r>
                            <m:r>
                              <a:rPr kumimoji="1" lang="zh-CN" altLang="en-US" sz="2800">
                                <a:solidFill>
                                  <a:prstClr val="black"/>
                                </a:solidFill>
                                <a:latin typeface="Cambria Math" panose="02040503050406030204" charset="0"/>
                                <a:ea typeface="黑体" panose="02010609060101010101" pitchFamily="49" charset="-122"/>
                              </a:rPr>
                              <m:t>2</m:t>
                            </m:r>
                            <m:r>
                              <a:rPr kumimoji="1" lang="zh-CN" altLang="en-US" sz="2800">
                                <a:solidFill>
                                  <a:prstClr val="black"/>
                                </a:solidFill>
                                <a:latin typeface="Cambria Math" panose="02040503050406030204" charset="0"/>
                                <a:ea typeface="黑体" panose="02010609060101010101" pitchFamily="49" charset="-122"/>
                              </a:rPr>
                              <m:t>(</m:t>
                            </m:r>
                            <m:f>
                              <m:fPr>
                                <m:ctrlPr>
                                  <a:rPr kumimoji="1" lang="zh-CN" altLang="en-US" sz="2800" i="1">
                                    <a:solidFill>
                                      <a:prstClr val="black"/>
                                    </a:solidFill>
                                    <a:latin typeface="Cambria Math" panose="02040503050406030204" charset="0"/>
                                    <a:ea typeface="黑体" panose="02010609060101010101" pitchFamily="49" charset="-122"/>
                                  </a:rPr>
                                </m:ctrlPr>
                              </m:fPr>
                              <m:num>
                                <m:r>
                                  <a:rPr kumimoji="1" lang="zh-CN" altLang="en-US" sz="2800">
                                    <a:solidFill>
                                      <a:prstClr val="black"/>
                                    </a:solidFill>
                                    <a:latin typeface="Cambria Math" panose="02040503050406030204" charset="0"/>
                                    <a:ea typeface="黑体" panose="02010609060101010101" pitchFamily="49" charset="-122"/>
                                  </a:rPr>
                                  <m:t>𝑦</m:t>
                                </m:r>
                              </m:num>
                              <m:den>
                                <m:r>
                                  <a:rPr kumimoji="1" lang="zh-CN" altLang="en-US" sz="2800">
                                    <a:solidFill>
                                      <a:prstClr val="black"/>
                                    </a:solidFill>
                                    <a:latin typeface="Cambria Math" panose="02040503050406030204" charset="0"/>
                                    <a:ea typeface="黑体" panose="02010609060101010101" pitchFamily="49" charset="-122"/>
                                  </a:rPr>
                                  <m:t>𝑥</m:t>
                                </m:r>
                              </m:den>
                            </m:f>
                            <m:r>
                              <a:rPr kumimoji="1" lang="zh-CN" altLang="en-US" sz="2800">
                                <a:solidFill>
                                  <a:prstClr val="black"/>
                                </a:solidFill>
                                <a:latin typeface="Cambria Math" panose="02040503050406030204" charset="0"/>
                                <a:ea typeface="黑体" panose="02010609060101010101" pitchFamily="49" charset="-122"/>
                              </a:rPr>
                              <m:t>)</m:t>
                            </m:r>
                          </m:den>
                        </m:f>
                      </m:oMath>
                    </m:oMathPara>
                  </a14:m>
                  <a:endParaRPr kumimoji="1" lang="zh-CN" altLang="en-US" sz="2800" dirty="0">
                    <a:solidFill>
                      <a:prstClr val="black"/>
                    </a:solidFill>
                    <a:latin typeface="Cambria Math" panose="02040503050406030204" charset="0"/>
                    <a:ea typeface="黑体" panose="02010609060101010101" pitchFamily="49" charset="-122"/>
                  </a:endParaRPr>
                </a:p>
              </p:txBody>
            </p:sp>
          </mc:Choice>
          <mc:Fallback>
            <p:sp>
              <p:nvSpPr>
                <p:cNvPr id="23" name="对象 21"/>
                <p:cNvSpPr txBox="1">
                  <a:spLocks noRot="1" noChangeAspect="1" noMove="1" noResize="1" noEditPoints="1" noAdjustHandles="1" noChangeArrowheads="1" noChangeShapeType="1" noTextEdit="1"/>
                </p:cNvSpPr>
                <p:nvPr/>
              </p:nvSpPr>
              <p:spPr>
                <a:xfrm>
                  <a:off x="8871129" y="4176667"/>
                  <a:ext cx="2713080" cy="1706245"/>
                </a:xfrm>
                <a:prstGeom prst="rect">
                  <a:avLst/>
                </a:prstGeom>
                <a:blipFill rotWithShape="1">
                  <a:blip r:embed="rId8"/>
                </a:blipFill>
              </p:spPr>
              <p:txBody>
                <a:bodyPr/>
                <a:lstStyle/>
                <a:p>
                  <a:r>
                    <a:rPr lang="zh-CN" altLang="en-US">
                      <a:noFill/>
                    </a:rPr>
                    <a:t> </a:t>
                  </a:r>
                </a:p>
              </p:txBody>
            </p:sp>
          </mc:Fallback>
        </mc:AlternateContent>
        <p:sp>
          <p:nvSpPr>
            <p:cNvPr id="36" name="文本框 35"/>
            <p:cNvSpPr txBox="1"/>
            <p:nvPr/>
          </p:nvSpPr>
          <p:spPr>
            <a:xfrm>
              <a:off x="11245117" y="3766697"/>
              <a:ext cx="540483" cy="454466"/>
            </a:xfrm>
            <a:prstGeom prst="rect">
              <a:avLst/>
            </a:prstGeom>
            <a:noFill/>
          </p:spPr>
          <p:txBody>
            <a:bodyPr wrap="square" rtlCol="0">
              <a:spAutoFit/>
            </a:bodyPr>
            <a:lstStyle/>
            <a:p>
              <a:endParaRPr kumimoji="1" lang="zh-CN" altLang="en-US" dirty="0"/>
            </a:p>
          </p:txBody>
        </p:sp>
      </p:grpSp>
      <p:sp>
        <p:nvSpPr>
          <p:cNvPr id="2" name="文本框 1"/>
          <p:cNvSpPr txBox="1"/>
          <p:nvPr/>
        </p:nvSpPr>
        <p:spPr>
          <a:xfrm>
            <a:off x="2320290" y="2794000"/>
            <a:ext cx="6096000" cy="521970"/>
          </a:xfrm>
          <a:prstGeom prst="rect">
            <a:avLst/>
          </a:prstGeom>
          <a:noFill/>
        </p:spPr>
        <p:txBody>
          <a:bodyPr wrap="square" rtlCol="0" anchor="t">
            <a:spAutoFit/>
          </a:bodyPr>
          <a:lstStyle/>
          <a:p>
            <a:r>
              <a:rPr kumimoji="1" lang="zh-CN" altLang="en-US" sz="2800" dirty="0">
                <a:solidFill>
                  <a:prstClr val="black"/>
                </a:solidFill>
                <a:latin typeface="Cambria Math" panose="02040503050406030204" charset="0"/>
                <a:ea typeface="黑体" panose="02010609060101010101" pitchFamily="49" charset="-122"/>
              </a:rPr>
              <a:t>那么就称这方程为</a:t>
            </a:r>
            <a:r>
              <a:rPr kumimoji="1" lang="zh-CN" altLang="en-US" sz="2800" b="1" dirty="0">
                <a:solidFill>
                  <a:srgbClr val="04926A"/>
                </a:solidFill>
                <a:latin typeface="Cambria Math" panose="02040503050406030204" charset="0"/>
                <a:ea typeface="黑体" panose="02010609060101010101" pitchFamily="49" charset="-122"/>
              </a:rPr>
              <a:t>齐次方程.</a:t>
            </a:r>
            <a:endParaRPr kumimoji="1" lang="zh-CN" altLang="en-US" sz="2800" b="1" dirty="0">
              <a:solidFill>
                <a:srgbClr val="04926A"/>
              </a:solidFill>
              <a:latin typeface="Cambria Math" panose="0204050305040603020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left)">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wipe(left)">
                                      <p:cBhvr>
                                        <p:cTn id="37" dur="500"/>
                                        <p:tgtEl>
                                          <p:spTgt spid="2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wipe(left)">
                                      <p:cBhvr>
                                        <p:cTn id="42" dur="5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left)">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wipe(left)">
                                      <p:cBhvr>
                                        <p:cTn id="52" dur="500"/>
                                        <p:tgtEl>
                                          <p:spTgt spid="3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wipe(left)">
                                      <p:cBhvr>
                                        <p:cTn id="57" dur="500"/>
                                        <p:tgtEl>
                                          <p:spTgt spid="3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wipe(left)">
                                      <p:cBhvr>
                                        <p:cTn id="62" dur="500"/>
                                        <p:tgtEl>
                                          <p:spTgt spid="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37"/>
                                        </p:tgtEl>
                                        <p:attrNameLst>
                                          <p:attrName>style.visibility</p:attrName>
                                        </p:attrNameLst>
                                      </p:cBhvr>
                                      <p:to>
                                        <p:strVal val="visible"/>
                                      </p:to>
                                    </p:set>
                                    <p:animEffect transition="in" filter="wipe(left)">
                                      <p:cBhvr>
                                        <p:cTn id="6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bldLvl="0" animBg="1"/>
      <p:bldP spid="8" grpId="0" bldLvl="0" animBg="1"/>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对象 4"/>
              <p:cNvSpPr txBox="1"/>
              <p:nvPr/>
            </p:nvSpPr>
            <p:spPr>
              <a:xfrm>
                <a:off x="6193259" y="1525597"/>
                <a:ext cx="2092569" cy="1031699"/>
              </a:xfrm>
              <a:prstGeom prst="rect">
                <a:avLst/>
              </a:prstGeom>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f>
                        <m:fPr>
                          <m:ctrlPr>
                            <a:rPr lang="zh-CN" altLang="en-US" sz="2800" i="1">
                              <a:latin typeface="Cambria Math" panose="02040503050406030204" charset="0"/>
                              <a:ea typeface="黑体" panose="02010609060101010101" pitchFamily="49" charset="-122"/>
                            </a:rPr>
                          </m:ctrlPr>
                        </m:fPr>
                        <m:num>
                          <m:r>
                            <m:rPr>
                              <m:sty m:val="p"/>
                            </m:rPr>
                            <a:rPr lang="zh-CN" altLang="en-US" sz="2800">
                              <a:latin typeface="Cambria Math" panose="02040503050406030204" charset="0"/>
                              <a:ea typeface="黑体" panose="02010609060101010101" pitchFamily="49" charset="-122"/>
                            </a:rPr>
                            <m:t>d</m:t>
                          </m:r>
                          <m:r>
                            <a:rPr lang="zh-CN" altLang="en-US" sz="2800">
                              <a:latin typeface="Cambria Math" panose="02040503050406030204" charset="0"/>
                              <a:ea typeface="黑体" panose="02010609060101010101" pitchFamily="49" charset="-122"/>
                            </a:rPr>
                            <m:t>𝑦</m:t>
                          </m:r>
                        </m:num>
                        <m:den>
                          <m:r>
                            <m:rPr>
                              <m:sty m:val="p"/>
                            </m:rPr>
                            <a:rPr lang="zh-CN" altLang="en-US" sz="2800">
                              <a:latin typeface="Cambria Math" panose="02040503050406030204" charset="0"/>
                              <a:ea typeface="黑体" panose="02010609060101010101" pitchFamily="49" charset="-122"/>
                            </a:rPr>
                            <m:t>d</m:t>
                          </m:r>
                          <m:r>
                            <a:rPr lang="zh-CN" altLang="en-US" sz="2800">
                              <a:latin typeface="Cambria Math" panose="02040503050406030204" charset="0"/>
                              <a:ea typeface="黑体" panose="02010609060101010101" pitchFamily="49" charset="-122"/>
                            </a:rPr>
                            <m:t>𝑥</m:t>
                          </m:r>
                        </m:den>
                      </m:f>
                      <m:r>
                        <a:rPr lang="zh-CN" altLang="en-US" sz="2800">
                          <a:latin typeface="Cambria Math" panose="02040503050406030204" charset="0"/>
                          <a:ea typeface="黑体" panose="02010609060101010101" pitchFamily="49" charset="-122"/>
                        </a:rPr>
                        <m:t>=</m:t>
                      </m:r>
                      <m:r>
                        <a:rPr lang="zh-CN" altLang="en-US" sz="2800">
                          <a:latin typeface="Cambria Math" panose="02040503050406030204" charset="0"/>
                          <a:ea typeface="黑体" panose="02010609060101010101" pitchFamily="49" charset="-122"/>
                        </a:rPr>
                        <m:t>𝜑</m:t>
                      </m:r>
                      <m:d>
                        <m:dPr>
                          <m:ctrlPr>
                            <a:rPr lang="zh-CN" altLang="en-US" sz="2800" i="1">
                              <a:latin typeface="Cambria Math" panose="02040503050406030204" charset="0"/>
                              <a:ea typeface="黑体" panose="02010609060101010101" pitchFamily="49" charset="-122"/>
                            </a:rPr>
                          </m:ctrlPr>
                        </m:dPr>
                        <m:e>
                          <m:f>
                            <m:fPr>
                              <m:ctrlPr>
                                <a:rPr lang="zh-CN" altLang="en-US" sz="2800" i="1">
                                  <a:latin typeface="Cambria Math" panose="02040503050406030204" charset="0"/>
                                  <a:ea typeface="黑体" panose="02010609060101010101" pitchFamily="49" charset="-122"/>
                                </a:rPr>
                              </m:ctrlPr>
                            </m:fPr>
                            <m:num>
                              <m:r>
                                <a:rPr lang="zh-CN" altLang="en-US" sz="2800">
                                  <a:latin typeface="Cambria Math" panose="02040503050406030204" charset="0"/>
                                  <a:ea typeface="黑体" panose="02010609060101010101" pitchFamily="49" charset="-122"/>
                                </a:rPr>
                                <m:t>𝑦</m:t>
                              </m:r>
                            </m:num>
                            <m:den>
                              <m:r>
                                <a:rPr lang="zh-CN" altLang="en-US" sz="2800">
                                  <a:latin typeface="Cambria Math" panose="02040503050406030204" charset="0"/>
                                  <a:ea typeface="黑体" panose="02010609060101010101" pitchFamily="49" charset="-122"/>
                                </a:rPr>
                                <m:t>𝑥</m:t>
                              </m:r>
                            </m:den>
                          </m:f>
                        </m:e>
                      </m:d>
                    </m:oMath>
                  </m:oMathPara>
                </a14:m>
                <a:endParaRPr lang="zh-CN" altLang="en-US" sz="2800" dirty="0">
                  <a:latin typeface="黑体" panose="02010609060101010101" pitchFamily="49" charset="-122"/>
                  <a:ea typeface="黑体" panose="02010609060101010101" pitchFamily="49" charset="-122"/>
                </a:endParaRPr>
              </a:p>
            </p:txBody>
          </p:sp>
        </mc:Choice>
        <mc:Fallback>
          <p:sp>
            <p:nvSpPr>
              <p:cNvPr id="2" name="对象 4"/>
              <p:cNvSpPr txBox="1">
                <a:spLocks noRot="1" noChangeAspect="1" noMove="1" noResize="1" noEditPoints="1" noAdjustHandles="1" noChangeArrowheads="1" noChangeShapeType="1" noTextEdit="1"/>
              </p:cNvSpPr>
              <p:nvPr/>
            </p:nvSpPr>
            <p:spPr>
              <a:xfrm>
                <a:off x="6193259" y="1525597"/>
                <a:ext cx="2092569" cy="1031699"/>
              </a:xfrm>
              <a:prstGeom prst="rect">
                <a:avLst/>
              </a:prstGeom>
              <a:blipFill rotWithShape="1">
                <a:blip r:embed="rId1"/>
                <a:stretch>
                  <a:fillRect l="-5" t="-32" r="17" b="15"/>
                </a:stretch>
              </a:blipFill>
            </p:spPr>
            <p:txBody>
              <a:bodyPr/>
              <a:lstStyle/>
              <a:p>
                <a:r>
                  <a:rPr lang="zh-CN" altLang="en-US">
                    <a:noFill/>
                  </a:rPr>
                  <a:t> </a:t>
                </a:r>
              </a:p>
            </p:txBody>
          </p:sp>
        </mc:Fallback>
      </mc:AlternateContent>
      <p:sp>
        <p:nvSpPr>
          <p:cNvPr id="33" name="Text Box 3"/>
          <p:cNvSpPr txBox="1">
            <a:spLocks noChangeArrowheads="1"/>
          </p:cNvSpPr>
          <p:nvPr/>
        </p:nvSpPr>
        <p:spPr bwMode="auto">
          <a:xfrm>
            <a:off x="1387327" y="946152"/>
            <a:ext cx="1615951" cy="523220"/>
          </a:xfrm>
          <a:prstGeom prst="rect">
            <a:avLst/>
          </a:prstGeom>
          <a:noFill/>
          <a:ln w="28575">
            <a:noFill/>
            <a:prstDash val="dashDot"/>
            <a:miter lim="800000"/>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fontAlgn="base">
              <a:spcBef>
                <a:spcPct val="50000"/>
              </a:spcBef>
              <a:spcAft>
                <a:spcPct val="0"/>
              </a:spcAft>
              <a:defRPr/>
            </a:pPr>
            <a:r>
              <a:rPr kumimoji="1" lang="en-US" altLang="zh-CN" sz="2800" b="1" dirty="0">
                <a:solidFill>
                  <a:srgbClr val="04926A"/>
                </a:solidFill>
                <a:latin typeface="微软雅黑" panose="020B0503020204020204" charset="-122"/>
                <a:ea typeface="微软雅黑" panose="020B0503020204020204" charset="-122"/>
              </a:rPr>
              <a:t>2. </a:t>
            </a:r>
            <a:r>
              <a:rPr kumimoji="1" lang="zh-CN" altLang="en-US" sz="2800" b="1" dirty="0">
                <a:solidFill>
                  <a:srgbClr val="04926A"/>
                </a:solidFill>
                <a:latin typeface="微软雅黑" panose="020B0503020204020204" charset="-122"/>
                <a:ea typeface="微软雅黑" panose="020B0503020204020204" charset="-122"/>
              </a:rPr>
              <a:t>解法</a:t>
            </a:r>
            <a:endParaRPr kumimoji="1" lang="zh-CN" altLang="en-US" sz="2800" b="1" dirty="0">
              <a:solidFill>
                <a:srgbClr val="04926A"/>
              </a:solidFill>
              <a:latin typeface="微软雅黑" panose="020B0503020204020204" charset="-122"/>
              <a:ea typeface="微软雅黑" panose="020B0503020204020204" charset="-122"/>
            </a:endParaRPr>
          </a:p>
        </p:txBody>
      </p:sp>
      <p:grpSp>
        <p:nvGrpSpPr>
          <p:cNvPr id="8" name="组合 7"/>
          <p:cNvGrpSpPr/>
          <p:nvPr/>
        </p:nvGrpSpPr>
        <p:grpSpPr>
          <a:xfrm>
            <a:off x="1181337" y="1779837"/>
            <a:ext cx="5291388" cy="640695"/>
            <a:chOff x="1698171" y="1585202"/>
            <a:chExt cx="5291388" cy="640695"/>
          </a:xfrm>
        </p:grpSpPr>
        <p:sp>
          <p:nvSpPr>
            <p:cNvPr id="19" name="Text Box 46"/>
            <p:cNvSpPr txBox="1">
              <a:spLocks noChangeArrowheads="1"/>
            </p:cNvSpPr>
            <p:nvPr/>
          </p:nvSpPr>
          <p:spPr bwMode="auto">
            <a:xfrm>
              <a:off x="1887120" y="1585202"/>
              <a:ext cx="51024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50000"/>
                </a:spcBef>
              </a:pPr>
              <a:r>
                <a:rPr lang="zh-CN" altLang="en-US" sz="2800" dirty="0">
                  <a:solidFill>
                    <a:srgbClr val="04926A"/>
                  </a:solidFill>
                  <a:latin typeface="黑体" panose="02010609060101010101" pitchFamily="49" charset="-122"/>
                  <a:ea typeface="黑体" panose="02010609060101010101" pitchFamily="49" charset="-122"/>
                </a:rPr>
                <a:t>步骤</a:t>
              </a:r>
              <a:r>
                <a:rPr lang="en-US" altLang="zh-CN" sz="2800" dirty="0">
                  <a:solidFill>
                    <a:srgbClr val="04926A"/>
                  </a:solidFill>
                  <a:latin typeface="黑体" panose="02010609060101010101" pitchFamily="49" charset="-122"/>
                  <a:ea typeface="黑体" panose="02010609060101010101" pitchFamily="49" charset="-122"/>
                </a:rPr>
                <a:t>1</a:t>
              </a:r>
              <a:r>
                <a:rPr lang="en-US" altLang="zh-CN" sz="2800" b="1" dirty="0">
                  <a:solidFill>
                    <a:srgbClr val="0000FF"/>
                  </a:solidFill>
                  <a:latin typeface="Cambria Math" panose="02040503050406030204" charset="0"/>
                  <a:cs typeface="Times New Roman" panose="02020603050405020304" pitchFamily="18" charset="0"/>
                </a:rPr>
                <a:t>  </a:t>
              </a:r>
              <a:r>
                <a:rPr lang="zh-CN" altLang="en-US" sz="2800" dirty="0">
                  <a:latin typeface="黑体" panose="02010609060101010101" pitchFamily="49" charset="-122"/>
                  <a:ea typeface="黑体" panose="02010609060101010101" pitchFamily="49" charset="-122"/>
                </a:rPr>
                <a:t>将齐次方程转化为形式</a:t>
              </a:r>
              <a:endParaRPr lang="zh-CN" altLang="en-US" sz="2800" dirty="0">
                <a:latin typeface="黑体" panose="02010609060101010101" pitchFamily="49" charset="-122"/>
                <a:ea typeface="黑体" panose="02010609060101010101" pitchFamily="49" charset="-122"/>
              </a:endParaRPr>
            </a:p>
          </p:txBody>
        </p:sp>
        <p:sp>
          <p:nvSpPr>
            <p:cNvPr id="7" name="文本框 6"/>
            <p:cNvSpPr txBox="1"/>
            <p:nvPr/>
          </p:nvSpPr>
          <p:spPr>
            <a:xfrm>
              <a:off x="1698171" y="1702677"/>
              <a:ext cx="329067" cy="523220"/>
            </a:xfrm>
            <a:prstGeom prst="rect">
              <a:avLst/>
            </a:prstGeom>
            <a:noFill/>
          </p:spPr>
          <p:txBody>
            <a:bodyPr wrap="square" rtlCol="0">
              <a:spAutoFit/>
            </a:bodyPr>
            <a:lstStyle/>
            <a:p>
              <a:endParaRPr kumimoji="1" lang="zh-CN" altLang="en-US" sz="2800" dirty="0"/>
            </a:p>
          </p:txBody>
        </p:sp>
      </p:grpSp>
      <p:grpSp>
        <p:nvGrpSpPr>
          <p:cNvPr id="11" name="组合 10"/>
          <p:cNvGrpSpPr/>
          <p:nvPr/>
        </p:nvGrpSpPr>
        <p:grpSpPr>
          <a:xfrm>
            <a:off x="8103231" y="1539980"/>
            <a:ext cx="910995" cy="738585"/>
            <a:chOff x="7275062" y="1487312"/>
            <a:chExt cx="910995" cy="738585"/>
          </a:xfrm>
        </p:grpSpPr>
        <p:sp>
          <p:nvSpPr>
            <p:cNvPr id="17" name="文本框 16"/>
            <p:cNvSpPr txBox="1"/>
            <p:nvPr/>
          </p:nvSpPr>
          <p:spPr bwMode="auto">
            <a:xfrm>
              <a:off x="7275062" y="1702677"/>
              <a:ext cx="543739"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spcBef>
                  <a:spcPct val="50000"/>
                </a:spcBef>
              </a:pPr>
              <a:r>
                <a:rPr lang="zh-CN" altLang="en-US" sz="2800" dirty="0">
                  <a:solidFill>
                    <a:srgbClr val="04926A"/>
                  </a:solidFill>
                  <a:latin typeface="黑体" panose="02010609060101010101" pitchFamily="49" charset="-122"/>
                  <a:ea typeface="黑体" panose="02010609060101010101" pitchFamily="49" charset="-122"/>
                </a:rPr>
                <a:t>①</a:t>
              </a:r>
              <a:endParaRPr lang="zh-CN" altLang="en-US" sz="2800" dirty="0">
                <a:solidFill>
                  <a:srgbClr val="04926A"/>
                </a:solidFill>
                <a:latin typeface="黑体" panose="02010609060101010101" pitchFamily="49" charset="-122"/>
                <a:ea typeface="黑体" panose="02010609060101010101" pitchFamily="49" charset="-122"/>
              </a:endParaRPr>
            </a:p>
          </p:txBody>
        </p:sp>
        <p:sp>
          <p:nvSpPr>
            <p:cNvPr id="10" name="文本框 9"/>
            <p:cNvSpPr txBox="1"/>
            <p:nvPr/>
          </p:nvSpPr>
          <p:spPr>
            <a:xfrm>
              <a:off x="7886497" y="1487312"/>
              <a:ext cx="299560" cy="523220"/>
            </a:xfrm>
            <a:prstGeom prst="rect">
              <a:avLst/>
            </a:prstGeom>
            <a:noFill/>
          </p:spPr>
          <p:txBody>
            <a:bodyPr wrap="square" rtlCol="0">
              <a:spAutoFit/>
            </a:bodyPr>
            <a:lstStyle/>
            <a:p>
              <a:endParaRPr kumimoji="1" lang="zh-CN" altLang="en-US" sz="2800" dirty="0"/>
            </a:p>
          </p:txBody>
        </p:sp>
      </p:grpSp>
      <p:grpSp>
        <p:nvGrpSpPr>
          <p:cNvPr id="13" name="组合 12"/>
          <p:cNvGrpSpPr/>
          <p:nvPr/>
        </p:nvGrpSpPr>
        <p:grpSpPr>
          <a:xfrm>
            <a:off x="862772" y="2745762"/>
            <a:ext cx="1874838" cy="766866"/>
            <a:chOff x="1524000" y="2528583"/>
            <a:chExt cx="1874838" cy="766866"/>
          </a:xfrm>
        </p:grpSpPr>
        <p:sp>
          <p:nvSpPr>
            <p:cNvPr id="21" name="Text Box 46"/>
            <p:cNvSpPr txBox="1">
              <a:spLocks noChangeArrowheads="1"/>
            </p:cNvSpPr>
            <p:nvPr/>
          </p:nvSpPr>
          <p:spPr bwMode="auto">
            <a:xfrm>
              <a:off x="2027238" y="2528583"/>
              <a:ext cx="1371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50000"/>
                </a:spcBef>
              </a:pPr>
              <a:r>
                <a:rPr lang="zh-CN" altLang="en-US" sz="2800" dirty="0">
                  <a:solidFill>
                    <a:srgbClr val="04926A"/>
                  </a:solidFill>
                  <a:latin typeface="黑体" panose="02010609060101010101" pitchFamily="49" charset="-122"/>
                  <a:ea typeface="黑体" panose="02010609060101010101" pitchFamily="49" charset="-122"/>
                </a:rPr>
                <a:t>步骤</a:t>
              </a:r>
              <a:r>
                <a:rPr lang="en-US" altLang="zh-CN" sz="2800" dirty="0">
                  <a:solidFill>
                    <a:srgbClr val="04926A"/>
                  </a:solidFill>
                  <a:latin typeface="黑体" panose="02010609060101010101" pitchFamily="49" charset="-122"/>
                  <a:ea typeface="黑体" panose="02010609060101010101" pitchFamily="49" charset="-122"/>
                </a:rPr>
                <a:t>2</a:t>
              </a:r>
              <a:r>
                <a:rPr lang="en-US" altLang="zh-CN" sz="2800" b="1" dirty="0">
                  <a:solidFill>
                    <a:srgbClr val="0000FF"/>
                  </a:solidFill>
                  <a:latin typeface="Cambria Math" panose="02040503050406030204" charset="0"/>
                  <a:cs typeface="Times New Roman" panose="02020603050405020304" pitchFamily="18" charset="0"/>
                </a:rPr>
                <a:t>  </a:t>
              </a:r>
              <a:endParaRPr lang="zh-CN" altLang="en-US" sz="2800" b="1" dirty="0">
                <a:solidFill>
                  <a:srgbClr val="0000FF"/>
                </a:solidFill>
                <a:latin typeface="Cambria Math" panose="02040503050406030204" charset="0"/>
                <a:cs typeface="Times New Roman" panose="02020603050405020304" pitchFamily="18" charset="0"/>
              </a:endParaRPr>
            </a:p>
          </p:txBody>
        </p:sp>
        <p:sp>
          <p:nvSpPr>
            <p:cNvPr id="12" name="文本框 11"/>
            <p:cNvSpPr txBox="1"/>
            <p:nvPr/>
          </p:nvSpPr>
          <p:spPr>
            <a:xfrm>
              <a:off x="1524000" y="2772229"/>
              <a:ext cx="333829" cy="523220"/>
            </a:xfrm>
            <a:prstGeom prst="rect">
              <a:avLst/>
            </a:prstGeom>
            <a:noFill/>
          </p:spPr>
          <p:txBody>
            <a:bodyPr wrap="square" rtlCol="0">
              <a:spAutoFit/>
            </a:bodyPr>
            <a:lstStyle/>
            <a:p>
              <a:endParaRPr kumimoji="1" lang="zh-CN" altLang="en-US" sz="2800" dirty="0"/>
            </a:p>
          </p:txBody>
        </p:sp>
      </p:grpSp>
      <p:grpSp>
        <p:nvGrpSpPr>
          <p:cNvPr id="15" name="组合 14"/>
          <p:cNvGrpSpPr/>
          <p:nvPr/>
        </p:nvGrpSpPr>
        <p:grpSpPr>
          <a:xfrm>
            <a:off x="2372178" y="2606975"/>
            <a:ext cx="5038971" cy="1595072"/>
            <a:chOff x="1797258" y="2144457"/>
            <a:chExt cx="5038971" cy="1595072"/>
          </a:xfrm>
        </p:grpSpPr>
        <mc:AlternateContent xmlns:mc="http://schemas.openxmlformats.org/markup-compatibility/2006">
          <mc:Choice xmlns:a14="http://schemas.microsoft.com/office/drawing/2010/main" Requires="a14">
            <p:sp>
              <p:nvSpPr>
                <p:cNvPr id="22" name="对象 21"/>
                <p:cNvSpPr txBox="1"/>
                <p:nvPr/>
              </p:nvSpPr>
              <p:spPr>
                <a:xfrm>
                  <a:off x="1797258" y="2144457"/>
                  <a:ext cx="1698214" cy="1010506"/>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lang="zh-CN" altLang="en-US" sz="2800">
                            <a:latin typeface="Cambria Math" panose="02040503050406030204" charset="0"/>
                            <a:ea typeface="黑体" panose="02010609060101010101" pitchFamily="49" charset="-122"/>
                          </a:rPr>
                          <m:t>令</m:t>
                        </m:r>
                        <m:r>
                          <a:rPr lang="zh-CN" altLang="en-US" sz="2800">
                            <a:latin typeface="Cambria Math" panose="02040503050406030204" charset="0"/>
                            <a:ea typeface="黑体" panose="02010609060101010101" pitchFamily="49" charset="-122"/>
                          </a:rPr>
                          <m:t>𝑢</m:t>
                        </m:r>
                        <m:r>
                          <a:rPr lang="zh-CN" altLang="en-US" sz="2800">
                            <a:latin typeface="Cambria Math" panose="02040503050406030204" charset="0"/>
                            <a:ea typeface="黑体" panose="02010609060101010101" pitchFamily="49" charset="-122"/>
                          </a:rPr>
                          <m:t>=</m:t>
                        </m:r>
                        <m:f>
                          <m:fPr>
                            <m:ctrlPr>
                              <a:rPr lang="zh-CN" altLang="en-US" sz="2800" i="1">
                                <a:latin typeface="Cambria Math" panose="02040503050406030204" charset="0"/>
                                <a:ea typeface="黑体" panose="02010609060101010101" pitchFamily="49" charset="-122"/>
                              </a:rPr>
                            </m:ctrlPr>
                          </m:fPr>
                          <m:num>
                            <m:r>
                              <a:rPr lang="zh-CN" altLang="en-US" sz="2800">
                                <a:latin typeface="Cambria Math" panose="02040503050406030204" charset="0"/>
                                <a:ea typeface="黑体" panose="02010609060101010101" pitchFamily="49" charset="-122"/>
                              </a:rPr>
                              <m:t>𝑦</m:t>
                            </m:r>
                          </m:num>
                          <m:den>
                            <m:r>
                              <a:rPr lang="zh-CN" altLang="en-US" sz="2800">
                                <a:latin typeface="Cambria Math" panose="02040503050406030204" charset="0"/>
                                <a:ea typeface="黑体" panose="02010609060101010101" pitchFamily="49" charset="-122"/>
                              </a:rPr>
                              <m:t>𝑥</m:t>
                            </m:r>
                          </m:den>
                        </m:f>
                        <m:r>
                          <a:rPr lang="zh-CN" altLang="en-US" sz="2800">
                            <a:latin typeface="Cambria Math" panose="02040503050406030204" charset="0"/>
                            <a:ea typeface="黑体" panose="02010609060101010101" pitchFamily="49" charset="-122"/>
                          </a:rPr>
                          <m:t>,</m:t>
                        </m:r>
                      </m:oMath>
                    </m:oMathPara>
                  </a14:m>
                  <a:endParaRPr lang="zh-CN" altLang="en-US" sz="2800" dirty="0">
                    <a:latin typeface="黑体" panose="02010609060101010101" pitchFamily="49" charset="-122"/>
                    <a:ea typeface="黑体" panose="02010609060101010101" pitchFamily="49" charset="-122"/>
                  </a:endParaRPr>
                </a:p>
              </p:txBody>
            </p:sp>
          </mc:Choice>
          <mc:Fallback>
            <p:sp>
              <p:nvSpPr>
                <p:cNvPr id="22" name="对象 21"/>
                <p:cNvSpPr txBox="1">
                  <a:spLocks noRot="1" noChangeAspect="1" noMove="1" noResize="1" noEditPoints="1" noAdjustHandles="1" noChangeArrowheads="1" noChangeShapeType="1" noTextEdit="1"/>
                </p:cNvSpPr>
                <p:nvPr/>
              </p:nvSpPr>
              <p:spPr>
                <a:xfrm>
                  <a:off x="1797258" y="2144457"/>
                  <a:ext cx="1698214" cy="1010506"/>
                </a:xfrm>
                <a:prstGeom prst="rect">
                  <a:avLst/>
                </a:prstGeom>
                <a:blipFill rotWithShape="1">
                  <a:blip r:embed="rId2"/>
                </a:blipFill>
              </p:spPr>
              <p:txBody>
                <a:bodyPr/>
                <a:lstStyle/>
                <a:p>
                  <a:r>
                    <a:rPr lang="zh-CN" altLang="en-US">
                      <a:noFill/>
                    </a:rPr>
                    <a:t> </a:t>
                  </a:r>
                </a:p>
              </p:txBody>
            </p:sp>
          </mc:Fallback>
        </mc:AlternateContent>
        <p:sp>
          <p:nvSpPr>
            <p:cNvPr id="14" name="文本框 13"/>
            <p:cNvSpPr txBox="1"/>
            <p:nvPr/>
          </p:nvSpPr>
          <p:spPr>
            <a:xfrm>
              <a:off x="6096000" y="3216309"/>
              <a:ext cx="740229" cy="523220"/>
            </a:xfrm>
            <a:prstGeom prst="rect">
              <a:avLst/>
            </a:prstGeom>
            <a:noFill/>
          </p:spPr>
          <p:txBody>
            <a:bodyPr wrap="square" rtlCol="0">
              <a:spAutoFit/>
            </a:bodyPr>
            <a:lstStyle/>
            <a:p>
              <a:endParaRPr kumimoji="1" lang="zh-CN" altLang="en-US" sz="2800" dirty="0"/>
            </a:p>
          </p:txBody>
        </p:sp>
      </p:grpSp>
      <p:grpSp>
        <p:nvGrpSpPr>
          <p:cNvPr id="23" name="组合 22"/>
          <p:cNvGrpSpPr/>
          <p:nvPr/>
        </p:nvGrpSpPr>
        <p:grpSpPr>
          <a:xfrm>
            <a:off x="3949441" y="2523647"/>
            <a:ext cx="4931994" cy="1723980"/>
            <a:chOff x="4010695" y="2228240"/>
            <a:chExt cx="4931994" cy="1723980"/>
          </a:xfrm>
        </p:grpSpPr>
        <mc:AlternateContent xmlns:mc="http://schemas.openxmlformats.org/markup-compatibility/2006">
          <mc:Choice xmlns:a14="http://schemas.microsoft.com/office/drawing/2010/main" Requires="a14">
            <p:sp>
              <p:nvSpPr>
                <p:cNvPr id="4" name="对象 5"/>
                <p:cNvSpPr txBox="1"/>
                <p:nvPr/>
              </p:nvSpPr>
              <p:spPr>
                <a:xfrm>
                  <a:off x="4010695" y="2228240"/>
                  <a:ext cx="4931994" cy="1375910"/>
                </a:xfrm>
                <a:prstGeom prst="rect">
                  <a:avLst/>
                </a:prstGeom>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lang="zh-CN" altLang="en-US" sz="2800">
                            <a:latin typeface="Cambria Math" panose="02040503050406030204" charset="0"/>
                            <a:ea typeface="黑体" panose="02010609060101010101" pitchFamily="49" charset="-122"/>
                          </a:rPr>
                          <m:t>则</m:t>
                        </m:r>
                        <m:r>
                          <a:rPr lang="zh-CN" altLang="en-US" sz="2800">
                            <a:latin typeface="Cambria Math" panose="02040503050406030204" charset="0"/>
                            <a:ea typeface="黑体" panose="02010609060101010101" pitchFamily="49" charset="-122"/>
                          </a:rPr>
                          <m:t> </m:t>
                        </m:r>
                        <m:r>
                          <a:rPr lang="zh-CN" altLang="en-US" sz="2800">
                            <a:latin typeface="Cambria Math" panose="02040503050406030204" charset="0"/>
                            <a:ea typeface="黑体" panose="02010609060101010101" pitchFamily="49" charset="-122"/>
                          </a:rPr>
                          <m:t>𝑦</m:t>
                        </m:r>
                        <m:r>
                          <a:rPr lang="zh-CN" altLang="en-US" sz="2800">
                            <a:latin typeface="Cambria Math" panose="02040503050406030204" charset="0"/>
                            <a:ea typeface="黑体" panose="02010609060101010101" pitchFamily="49" charset="-122"/>
                          </a:rPr>
                          <m:t>=</m:t>
                        </m:r>
                        <m:r>
                          <a:rPr lang="zh-CN" altLang="en-US" sz="2800">
                            <a:latin typeface="Cambria Math" panose="02040503050406030204" charset="0"/>
                            <a:ea typeface="黑体" panose="02010609060101010101" pitchFamily="49" charset="-122"/>
                          </a:rPr>
                          <m:t>𝑢𝑥</m:t>
                        </m:r>
                        <m:r>
                          <a:rPr lang="zh-CN" altLang="en-US" sz="2800">
                            <a:latin typeface="Cambria Math" panose="02040503050406030204" charset="0"/>
                            <a:ea typeface="黑体" panose="02010609060101010101" pitchFamily="49" charset="-122"/>
                          </a:rPr>
                          <m:t> ,  </m:t>
                        </m:r>
                        <m:f>
                          <m:fPr>
                            <m:ctrlPr>
                              <a:rPr lang="zh-CN" altLang="en-US" sz="2800" i="1">
                                <a:latin typeface="Cambria Math" panose="02040503050406030204" charset="0"/>
                                <a:ea typeface="黑体" panose="02010609060101010101" pitchFamily="49" charset="-122"/>
                              </a:rPr>
                            </m:ctrlPr>
                          </m:fPr>
                          <m:num>
                            <m:r>
                              <m:rPr>
                                <m:sty m:val="p"/>
                              </m:rPr>
                              <a:rPr lang="zh-CN" altLang="en-US" sz="2800">
                                <a:latin typeface="Cambria Math" panose="02040503050406030204" charset="0"/>
                                <a:ea typeface="黑体" panose="02010609060101010101" pitchFamily="49" charset="-122"/>
                              </a:rPr>
                              <m:t>d</m:t>
                            </m:r>
                            <m:r>
                              <a:rPr lang="zh-CN" altLang="en-US" sz="2800">
                                <a:latin typeface="Cambria Math" panose="02040503050406030204" charset="0"/>
                                <a:ea typeface="黑体" panose="02010609060101010101" pitchFamily="49" charset="-122"/>
                              </a:rPr>
                              <m:t>𝑦</m:t>
                            </m:r>
                          </m:num>
                          <m:den>
                            <m:r>
                              <m:rPr>
                                <m:sty m:val="p"/>
                              </m:rPr>
                              <a:rPr lang="zh-CN" altLang="en-US" sz="2800">
                                <a:latin typeface="Cambria Math" panose="02040503050406030204" charset="0"/>
                                <a:ea typeface="黑体" panose="02010609060101010101" pitchFamily="49" charset="-122"/>
                              </a:rPr>
                              <m:t>d</m:t>
                            </m:r>
                            <m:r>
                              <a:rPr lang="zh-CN" altLang="en-US" sz="2800">
                                <a:latin typeface="Cambria Math" panose="02040503050406030204" charset="0"/>
                                <a:ea typeface="黑体" panose="02010609060101010101" pitchFamily="49" charset="-122"/>
                              </a:rPr>
                              <m:t>𝑥</m:t>
                            </m:r>
                          </m:den>
                        </m:f>
                        <m:r>
                          <a:rPr lang="zh-CN" altLang="en-US" sz="2800">
                            <a:latin typeface="Cambria Math" panose="02040503050406030204" charset="0"/>
                            <a:ea typeface="黑体" panose="02010609060101010101" pitchFamily="49" charset="-122"/>
                          </a:rPr>
                          <m:t>=</m:t>
                        </m:r>
                        <m:r>
                          <a:rPr lang="zh-CN" altLang="en-US" sz="2800">
                            <a:latin typeface="Cambria Math" panose="02040503050406030204" charset="0"/>
                            <a:ea typeface="黑体" panose="02010609060101010101" pitchFamily="49" charset="-122"/>
                          </a:rPr>
                          <m:t>𝑢</m:t>
                        </m:r>
                        <m:r>
                          <a:rPr lang="zh-CN" altLang="en-US" sz="2800">
                            <a:latin typeface="Cambria Math" panose="02040503050406030204" charset="0"/>
                            <a:ea typeface="黑体" panose="02010609060101010101" pitchFamily="49" charset="-122"/>
                          </a:rPr>
                          <m:t>+</m:t>
                        </m:r>
                        <m:r>
                          <a:rPr lang="zh-CN" altLang="en-US" sz="2800">
                            <a:latin typeface="Cambria Math" panose="02040503050406030204" charset="0"/>
                            <a:ea typeface="黑体" panose="02010609060101010101" pitchFamily="49" charset="-122"/>
                          </a:rPr>
                          <m:t>𝑥</m:t>
                        </m:r>
                        <m:f>
                          <m:fPr>
                            <m:ctrlPr>
                              <a:rPr lang="zh-CN" altLang="en-US" sz="2800" i="1">
                                <a:latin typeface="Cambria Math" panose="02040503050406030204" charset="0"/>
                                <a:ea typeface="黑体" panose="02010609060101010101" pitchFamily="49" charset="-122"/>
                              </a:rPr>
                            </m:ctrlPr>
                          </m:fPr>
                          <m:num>
                            <m:r>
                              <m:rPr>
                                <m:sty m:val="p"/>
                              </m:rPr>
                              <a:rPr lang="zh-CN" altLang="en-US" sz="2800">
                                <a:latin typeface="Cambria Math" panose="02040503050406030204" charset="0"/>
                                <a:ea typeface="黑体" panose="02010609060101010101" pitchFamily="49" charset="-122"/>
                              </a:rPr>
                              <m:t>d</m:t>
                            </m:r>
                            <m:r>
                              <a:rPr lang="zh-CN" altLang="en-US" sz="2800">
                                <a:latin typeface="Cambria Math" panose="02040503050406030204" charset="0"/>
                                <a:ea typeface="黑体" panose="02010609060101010101" pitchFamily="49" charset="-122"/>
                              </a:rPr>
                              <m:t>𝑢</m:t>
                            </m:r>
                          </m:num>
                          <m:den>
                            <m:r>
                              <m:rPr>
                                <m:sty m:val="p"/>
                              </m:rPr>
                              <a:rPr lang="zh-CN" altLang="en-US" sz="2800">
                                <a:latin typeface="Cambria Math" panose="02040503050406030204" charset="0"/>
                                <a:ea typeface="黑体" panose="02010609060101010101" pitchFamily="49" charset="-122"/>
                              </a:rPr>
                              <m:t>d</m:t>
                            </m:r>
                            <m:r>
                              <a:rPr lang="zh-CN" altLang="en-US" sz="2800">
                                <a:latin typeface="Cambria Math" panose="02040503050406030204" charset="0"/>
                                <a:ea typeface="黑体" panose="02010609060101010101" pitchFamily="49" charset="-122"/>
                              </a:rPr>
                              <m:t>𝑥</m:t>
                            </m:r>
                          </m:den>
                        </m:f>
                        <m:r>
                          <a:rPr lang="zh-CN" altLang="en-US" sz="2800">
                            <a:latin typeface="Cambria Math" panose="02040503050406030204" charset="0"/>
                            <a:ea typeface="黑体" panose="02010609060101010101" pitchFamily="49" charset="-122"/>
                          </a:rPr>
                          <m:t> ,</m:t>
                        </m:r>
                      </m:oMath>
                    </m:oMathPara>
                  </a14:m>
                  <a:endParaRPr lang="zh-CN" altLang="en-US" sz="2800" dirty="0">
                    <a:latin typeface="黑体" panose="02010609060101010101" pitchFamily="49" charset="-122"/>
                    <a:ea typeface="黑体" panose="02010609060101010101" pitchFamily="49" charset="-122"/>
                  </a:endParaRPr>
                </a:p>
              </p:txBody>
            </p:sp>
          </mc:Choice>
          <mc:Fallback>
            <p:sp>
              <p:nvSpPr>
                <p:cNvPr id="4" name="对象 5"/>
                <p:cNvSpPr txBox="1">
                  <a:spLocks noRot="1" noChangeAspect="1" noMove="1" noResize="1" noEditPoints="1" noAdjustHandles="1" noChangeArrowheads="1" noChangeShapeType="1" noTextEdit="1"/>
                </p:cNvSpPr>
                <p:nvPr/>
              </p:nvSpPr>
              <p:spPr>
                <a:xfrm>
                  <a:off x="4010695" y="2228240"/>
                  <a:ext cx="4931994" cy="1375910"/>
                </a:xfrm>
                <a:prstGeom prst="rect">
                  <a:avLst/>
                </a:prstGeom>
                <a:blipFill rotWithShape="1">
                  <a:blip r:embed="rId3"/>
                </a:blipFill>
              </p:spPr>
              <p:txBody>
                <a:bodyPr/>
                <a:lstStyle/>
                <a:p>
                  <a:r>
                    <a:rPr lang="zh-CN" altLang="en-US">
                      <a:noFill/>
                    </a:rPr>
                    <a:t> </a:t>
                  </a:r>
                </a:p>
              </p:txBody>
            </p:sp>
          </mc:Fallback>
        </mc:AlternateContent>
        <p:sp>
          <p:nvSpPr>
            <p:cNvPr id="16" name="文本框 15"/>
            <p:cNvSpPr txBox="1"/>
            <p:nvPr/>
          </p:nvSpPr>
          <p:spPr>
            <a:xfrm>
              <a:off x="7741856" y="3429000"/>
              <a:ext cx="545801" cy="523220"/>
            </a:xfrm>
            <a:prstGeom prst="rect">
              <a:avLst/>
            </a:prstGeom>
            <a:noFill/>
          </p:spPr>
          <p:txBody>
            <a:bodyPr wrap="square" rtlCol="0">
              <a:spAutoFit/>
            </a:bodyPr>
            <a:lstStyle/>
            <a:p>
              <a:endParaRPr kumimoji="1" lang="zh-CN" altLang="en-US" sz="2800" dirty="0"/>
            </a:p>
          </p:txBody>
        </p:sp>
      </p:grpSp>
      <p:grpSp>
        <p:nvGrpSpPr>
          <p:cNvPr id="28" name="组合 27"/>
          <p:cNvGrpSpPr/>
          <p:nvPr/>
        </p:nvGrpSpPr>
        <p:grpSpPr>
          <a:xfrm>
            <a:off x="8593398" y="2764954"/>
            <a:ext cx="3276600" cy="1088607"/>
            <a:chOff x="7601622" y="2497127"/>
            <a:chExt cx="3276600" cy="1088607"/>
          </a:xfrm>
        </p:grpSpPr>
        <mc:AlternateContent xmlns:mc="http://schemas.openxmlformats.org/markup-compatibility/2006">
          <mc:Choice xmlns:a14="http://schemas.microsoft.com/office/drawing/2010/main" Requires="a14">
            <p:sp>
              <p:nvSpPr>
                <p:cNvPr id="9" name="Text Box 69"/>
                <p:cNvSpPr txBox="1">
                  <a:spLocks noChangeArrowheads="1"/>
                </p:cNvSpPr>
                <p:nvPr/>
              </p:nvSpPr>
              <p:spPr bwMode="auto">
                <a:xfrm>
                  <a:off x="7601622" y="2497127"/>
                  <a:ext cx="3276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50000"/>
                    </a:spcBef>
                  </a:pPr>
                  <a:r>
                    <a:rPr lang="zh-CN" altLang="en-US" sz="2800" dirty="0">
                      <a:latin typeface="黑体" panose="02010609060101010101" pitchFamily="49" charset="-122"/>
                      <a:ea typeface="黑体" panose="02010609060101010101" pitchFamily="49" charset="-122"/>
                    </a:rPr>
                    <a:t>代入</a:t>
                  </a:r>
                  <a:r>
                    <a:rPr lang="zh-CN" altLang="en-US" sz="2800" dirty="0">
                      <a:solidFill>
                        <a:srgbClr val="04926A"/>
                      </a:solidFill>
                      <a:latin typeface="黑体" panose="02010609060101010101" pitchFamily="49" charset="-122"/>
                      <a:ea typeface="黑体" panose="02010609060101010101" pitchFamily="49" charset="-122"/>
                    </a:rPr>
                    <a:t>①</a:t>
                  </a:r>
                  <a:r>
                    <a:rPr lang="zh-CN" altLang="en-US" sz="2800" dirty="0">
                      <a:latin typeface="黑体" panose="02010609060101010101" pitchFamily="49" charset="-122"/>
                      <a:ea typeface="黑体" panose="02010609060101010101" pitchFamily="49" charset="-122"/>
                    </a:rPr>
                    <a:t>式</a:t>
                  </a:r>
                  <a14:m>
                    <m:oMath xmlns:m="http://schemas.openxmlformats.org/officeDocument/2006/math">
                      <m:r>
                        <a:rPr lang="zh-CN" altLang="en-US" sz="2800" smtClean="0">
                          <a:latin typeface="Cambria Math" panose="02040503050406030204" charset="0"/>
                          <a:ea typeface="黑体" panose="02010609060101010101" pitchFamily="49" charset="-122"/>
                        </a:rPr>
                        <m:t>,</m:t>
                      </m:r>
                    </m:oMath>
                  </a14:m>
                  <a:r>
                    <a:rPr lang="zh-CN" altLang="en-US" sz="2800" dirty="0">
                      <a:latin typeface="黑体" panose="02010609060101010101" pitchFamily="49" charset="-122"/>
                      <a:ea typeface="黑体" panose="02010609060101010101" pitchFamily="49" charset="-122"/>
                    </a:rPr>
                    <a:t> 得</a:t>
                  </a:r>
                  <a:endParaRPr lang="zh-CN" altLang="en-US" sz="2800" dirty="0">
                    <a:latin typeface="黑体" panose="02010609060101010101" pitchFamily="49" charset="-122"/>
                    <a:ea typeface="黑体" panose="02010609060101010101" pitchFamily="49" charset="-122"/>
                  </a:endParaRPr>
                </a:p>
              </p:txBody>
            </p:sp>
          </mc:Choice>
          <mc:Fallback>
            <p:sp>
              <p:nvSpPr>
                <p:cNvPr id="9" name="Text Box 69"/>
                <p:cNvSpPr txBox="1">
                  <a:spLocks noRot="1" noChangeAspect="1" noMove="1" noResize="1" noEditPoints="1" noAdjustHandles="1" noChangeArrowheads="1" noChangeShapeType="1" noTextEdit="1"/>
                </p:cNvSpPr>
                <p:nvPr/>
              </p:nvSpPr>
              <p:spPr bwMode="auto">
                <a:xfrm>
                  <a:off x="7601622" y="2497127"/>
                  <a:ext cx="3276600" cy="523220"/>
                </a:xfrm>
                <a:prstGeom prst="rect">
                  <a:avLst/>
                </a:prstGeom>
                <a:blipFill rotWithShape="1">
                  <a:blip r:embed="rId4"/>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27" name="文本框 26"/>
            <p:cNvSpPr txBox="1"/>
            <p:nvPr/>
          </p:nvSpPr>
          <p:spPr>
            <a:xfrm>
              <a:off x="9318171" y="3062514"/>
              <a:ext cx="362858" cy="523220"/>
            </a:xfrm>
            <a:prstGeom prst="rect">
              <a:avLst/>
            </a:prstGeom>
            <a:noFill/>
          </p:spPr>
          <p:txBody>
            <a:bodyPr wrap="square" rtlCol="0">
              <a:spAutoFit/>
            </a:bodyPr>
            <a:lstStyle/>
            <a:p>
              <a:endParaRPr kumimoji="1" lang="zh-CN" altLang="en-US" sz="2800" dirty="0"/>
            </a:p>
          </p:txBody>
        </p:sp>
      </p:grpSp>
      <p:grpSp>
        <p:nvGrpSpPr>
          <p:cNvPr id="30" name="组合 29"/>
          <p:cNvGrpSpPr/>
          <p:nvPr/>
        </p:nvGrpSpPr>
        <p:grpSpPr>
          <a:xfrm>
            <a:off x="2366046" y="3504084"/>
            <a:ext cx="4076686" cy="1106805"/>
            <a:chOff x="2104087" y="3046617"/>
            <a:chExt cx="4076686" cy="1106805"/>
          </a:xfrm>
        </p:grpSpPr>
        <mc:AlternateContent xmlns:mc="http://schemas.openxmlformats.org/markup-compatibility/2006">
          <mc:Choice xmlns:a14="http://schemas.microsoft.com/office/drawing/2010/main" Requires="a14">
            <p:sp>
              <p:nvSpPr>
                <p:cNvPr id="18" name="对象 8"/>
                <p:cNvSpPr txBox="1"/>
                <p:nvPr/>
              </p:nvSpPr>
              <p:spPr>
                <a:xfrm>
                  <a:off x="2104087" y="3046617"/>
                  <a:ext cx="2954611" cy="1106805"/>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lang="zh-CN" altLang="en-US" sz="2800">
                            <a:latin typeface="Cambria Math" panose="02040503050406030204" charset="0"/>
                            <a:ea typeface="黑体" panose="02010609060101010101" pitchFamily="49" charset="-122"/>
                          </a:rPr>
                          <m:t>𝑥</m:t>
                        </m:r>
                        <m:f>
                          <m:fPr>
                            <m:ctrlPr>
                              <a:rPr lang="zh-CN" altLang="en-US" sz="2800" i="1">
                                <a:latin typeface="Cambria Math" panose="02040503050406030204" charset="0"/>
                                <a:ea typeface="黑体" panose="02010609060101010101" pitchFamily="49" charset="-122"/>
                              </a:rPr>
                            </m:ctrlPr>
                          </m:fPr>
                          <m:num>
                            <m:r>
                              <m:rPr>
                                <m:sty m:val="p"/>
                              </m:rPr>
                              <a:rPr lang="zh-CN" altLang="en-US" sz="2800">
                                <a:latin typeface="Cambria Math" panose="02040503050406030204" charset="0"/>
                                <a:ea typeface="黑体" panose="02010609060101010101" pitchFamily="49" charset="-122"/>
                              </a:rPr>
                              <m:t>d</m:t>
                            </m:r>
                            <m:r>
                              <a:rPr lang="zh-CN" altLang="en-US" sz="2800">
                                <a:latin typeface="Cambria Math" panose="02040503050406030204" charset="0"/>
                                <a:ea typeface="黑体" panose="02010609060101010101" pitchFamily="49" charset="-122"/>
                              </a:rPr>
                              <m:t>𝑢</m:t>
                            </m:r>
                          </m:num>
                          <m:den>
                            <m:r>
                              <m:rPr>
                                <m:sty m:val="p"/>
                              </m:rPr>
                              <a:rPr lang="zh-CN" altLang="en-US" sz="2800">
                                <a:latin typeface="Cambria Math" panose="02040503050406030204" charset="0"/>
                                <a:ea typeface="黑体" panose="02010609060101010101" pitchFamily="49" charset="-122"/>
                              </a:rPr>
                              <m:t>d</m:t>
                            </m:r>
                            <m:r>
                              <a:rPr lang="zh-CN" altLang="en-US" sz="2800">
                                <a:latin typeface="Cambria Math" panose="02040503050406030204" charset="0"/>
                                <a:ea typeface="黑体" panose="02010609060101010101" pitchFamily="49" charset="-122"/>
                              </a:rPr>
                              <m:t>𝑥</m:t>
                            </m:r>
                          </m:den>
                        </m:f>
                        <m:r>
                          <a:rPr lang="zh-CN" altLang="en-US" sz="2800">
                            <a:latin typeface="Cambria Math" panose="02040503050406030204" charset="0"/>
                            <a:ea typeface="黑体" panose="02010609060101010101" pitchFamily="49" charset="-122"/>
                          </a:rPr>
                          <m:t>=</m:t>
                        </m:r>
                        <m:r>
                          <a:rPr lang="zh-CN" altLang="en-US" sz="2800">
                            <a:latin typeface="Cambria Math" panose="02040503050406030204" charset="0"/>
                            <a:ea typeface="黑体" panose="02010609060101010101" pitchFamily="49" charset="-122"/>
                          </a:rPr>
                          <m:t>𝜑</m:t>
                        </m:r>
                        <m:r>
                          <a:rPr lang="zh-CN" altLang="en-US" sz="2800">
                            <a:latin typeface="Cambria Math" panose="02040503050406030204" charset="0"/>
                            <a:ea typeface="黑体" panose="02010609060101010101" pitchFamily="49" charset="-122"/>
                          </a:rPr>
                          <m:t>(</m:t>
                        </m:r>
                        <m:r>
                          <a:rPr lang="zh-CN" altLang="en-US" sz="2800">
                            <a:latin typeface="Cambria Math" panose="02040503050406030204" charset="0"/>
                            <a:ea typeface="黑体" panose="02010609060101010101" pitchFamily="49" charset="-122"/>
                          </a:rPr>
                          <m:t>𝑢</m:t>
                        </m:r>
                        <m:r>
                          <a:rPr lang="zh-CN" altLang="en-US" sz="2800">
                            <a:latin typeface="Cambria Math" panose="02040503050406030204" charset="0"/>
                            <a:ea typeface="黑体" panose="02010609060101010101" pitchFamily="49" charset="-122"/>
                          </a:rPr>
                          <m:t>)−</m:t>
                        </m:r>
                        <m:r>
                          <a:rPr lang="zh-CN" altLang="en-US" sz="2800">
                            <a:latin typeface="Cambria Math" panose="02040503050406030204" charset="0"/>
                            <a:ea typeface="黑体" panose="02010609060101010101" pitchFamily="49" charset="-122"/>
                          </a:rPr>
                          <m:t>𝑢</m:t>
                        </m:r>
                      </m:oMath>
                    </m:oMathPara>
                  </a14:m>
                  <a:endParaRPr lang="zh-CN" altLang="en-US" sz="2800" dirty="0">
                    <a:latin typeface="黑体" panose="02010609060101010101" pitchFamily="49" charset="-122"/>
                    <a:ea typeface="黑体" panose="02010609060101010101" pitchFamily="49" charset="-122"/>
                  </a:endParaRPr>
                </a:p>
              </p:txBody>
            </p:sp>
          </mc:Choice>
          <mc:Fallback>
            <p:sp>
              <p:nvSpPr>
                <p:cNvPr id="18" name="对象 8"/>
                <p:cNvSpPr txBox="1">
                  <a:spLocks noRot="1" noChangeAspect="1" noMove="1" noResize="1" noEditPoints="1" noAdjustHandles="1" noChangeArrowheads="1" noChangeShapeType="1" noTextEdit="1"/>
                </p:cNvSpPr>
                <p:nvPr/>
              </p:nvSpPr>
              <p:spPr>
                <a:xfrm>
                  <a:off x="2104087" y="3046617"/>
                  <a:ext cx="2954611" cy="1106805"/>
                </a:xfrm>
                <a:prstGeom prst="rect">
                  <a:avLst/>
                </a:prstGeom>
                <a:blipFill rotWithShape="1">
                  <a:blip r:embed="rId5"/>
                </a:blipFill>
              </p:spPr>
              <p:txBody>
                <a:bodyPr/>
                <a:lstStyle/>
                <a:p>
                  <a:r>
                    <a:rPr lang="zh-CN" altLang="en-US">
                      <a:noFill/>
                    </a:rPr>
                    <a:t> </a:t>
                  </a:r>
                </a:p>
              </p:txBody>
            </p:sp>
          </mc:Fallback>
        </mc:AlternateContent>
        <p:sp>
          <p:nvSpPr>
            <p:cNvPr id="29" name="文本框 28"/>
            <p:cNvSpPr txBox="1"/>
            <p:nvPr/>
          </p:nvSpPr>
          <p:spPr>
            <a:xfrm>
              <a:off x="5711553" y="3311525"/>
              <a:ext cx="469220" cy="523220"/>
            </a:xfrm>
            <a:prstGeom prst="rect">
              <a:avLst/>
            </a:prstGeom>
            <a:noFill/>
          </p:spPr>
          <p:txBody>
            <a:bodyPr wrap="square" rtlCol="0">
              <a:spAutoFit/>
            </a:bodyPr>
            <a:lstStyle/>
            <a:p>
              <a:endParaRPr kumimoji="1" lang="zh-CN" altLang="en-US" sz="2800" dirty="0"/>
            </a:p>
          </p:txBody>
        </p:sp>
      </p:grpSp>
      <p:grpSp>
        <p:nvGrpSpPr>
          <p:cNvPr id="32" name="组合 31"/>
          <p:cNvGrpSpPr/>
          <p:nvPr/>
        </p:nvGrpSpPr>
        <p:grpSpPr>
          <a:xfrm>
            <a:off x="5092292" y="3756275"/>
            <a:ext cx="902899" cy="540722"/>
            <a:chOff x="4942681" y="3411498"/>
            <a:chExt cx="902899" cy="540722"/>
          </a:xfrm>
        </p:grpSpPr>
        <p:sp>
          <p:nvSpPr>
            <p:cNvPr id="24" name="文本框 23"/>
            <p:cNvSpPr txBox="1"/>
            <p:nvPr/>
          </p:nvSpPr>
          <p:spPr bwMode="auto">
            <a:xfrm>
              <a:off x="4942681" y="3411498"/>
              <a:ext cx="543739"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spcBef>
                  <a:spcPct val="50000"/>
                </a:spcBef>
              </a:pPr>
              <a:r>
                <a:rPr lang="zh-CN" altLang="en-US" sz="2800" dirty="0">
                  <a:solidFill>
                    <a:srgbClr val="04926A"/>
                  </a:solidFill>
                  <a:latin typeface="黑体" panose="02010609060101010101" pitchFamily="49" charset="-122"/>
                  <a:ea typeface="黑体" panose="02010609060101010101" pitchFamily="49" charset="-122"/>
                </a:rPr>
                <a:t>②</a:t>
              </a:r>
              <a:endParaRPr lang="zh-CN" altLang="en-US" sz="2800" dirty="0">
                <a:solidFill>
                  <a:srgbClr val="04926A"/>
                </a:solidFill>
                <a:latin typeface="黑体" panose="02010609060101010101" pitchFamily="49" charset="-122"/>
                <a:ea typeface="黑体" panose="02010609060101010101" pitchFamily="49" charset="-122"/>
              </a:endParaRPr>
            </a:p>
          </p:txBody>
        </p:sp>
        <p:sp>
          <p:nvSpPr>
            <p:cNvPr id="31" name="文本框 30"/>
            <p:cNvSpPr txBox="1"/>
            <p:nvPr/>
          </p:nvSpPr>
          <p:spPr>
            <a:xfrm>
              <a:off x="5675086" y="3429000"/>
              <a:ext cx="170494" cy="523220"/>
            </a:xfrm>
            <a:prstGeom prst="rect">
              <a:avLst/>
            </a:prstGeom>
            <a:noFill/>
          </p:spPr>
          <p:txBody>
            <a:bodyPr wrap="square" rtlCol="0">
              <a:spAutoFit/>
            </a:bodyPr>
            <a:lstStyle/>
            <a:p>
              <a:endParaRPr kumimoji="1" lang="zh-CN" altLang="en-US" sz="2800" dirty="0"/>
            </a:p>
          </p:txBody>
        </p:sp>
      </p:grpSp>
      <p:grpSp>
        <p:nvGrpSpPr>
          <p:cNvPr id="35" name="组合 34"/>
          <p:cNvGrpSpPr/>
          <p:nvPr/>
        </p:nvGrpSpPr>
        <p:grpSpPr>
          <a:xfrm>
            <a:off x="855486" y="4628641"/>
            <a:ext cx="1735270" cy="523220"/>
            <a:chOff x="1524000" y="4156253"/>
            <a:chExt cx="1735270" cy="523220"/>
          </a:xfrm>
        </p:grpSpPr>
        <p:sp>
          <p:nvSpPr>
            <p:cNvPr id="20" name="Text Box 46"/>
            <p:cNvSpPr txBox="1">
              <a:spLocks noChangeArrowheads="1"/>
            </p:cNvSpPr>
            <p:nvPr/>
          </p:nvSpPr>
          <p:spPr bwMode="auto">
            <a:xfrm>
              <a:off x="2027238" y="4156253"/>
              <a:ext cx="123203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50000"/>
                </a:spcBef>
              </a:pPr>
              <a:r>
                <a:rPr lang="zh-CN" altLang="en-US" sz="2800" dirty="0">
                  <a:solidFill>
                    <a:srgbClr val="04926A"/>
                  </a:solidFill>
                  <a:latin typeface="黑体" panose="02010609060101010101" pitchFamily="49" charset="-122"/>
                  <a:ea typeface="黑体" panose="02010609060101010101" pitchFamily="49" charset="-122"/>
                </a:rPr>
                <a:t>步骤</a:t>
              </a:r>
              <a:r>
                <a:rPr lang="en-US" altLang="zh-CN" sz="2800" dirty="0">
                  <a:solidFill>
                    <a:srgbClr val="04926A"/>
                  </a:solidFill>
                  <a:latin typeface="黑体" panose="02010609060101010101" pitchFamily="49" charset="-122"/>
                  <a:ea typeface="黑体" panose="02010609060101010101" pitchFamily="49" charset="-122"/>
                </a:rPr>
                <a:t>3</a:t>
              </a:r>
              <a:r>
                <a:rPr lang="en-US" altLang="zh-CN" sz="2800" b="1" dirty="0">
                  <a:solidFill>
                    <a:srgbClr val="0000FF"/>
                  </a:solidFill>
                  <a:latin typeface="Cambria Math" panose="02040503050406030204" charset="0"/>
                  <a:cs typeface="Times New Roman" panose="02020603050405020304" pitchFamily="18" charset="0"/>
                </a:rPr>
                <a:t>  </a:t>
              </a:r>
              <a:endParaRPr lang="zh-CN" altLang="en-US" sz="2800" b="1" dirty="0">
                <a:solidFill>
                  <a:srgbClr val="0000FF"/>
                </a:solidFill>
                <a:latin typeface="Cambria Math" panose="02040503050406030204" charset="0"/>
                <a:cs typeface="Times New Roman" panose="02020603050405020304" pitchFamily="18" charset="0"/>
              </a:endParaRPr>
            </a:p>
          </p:txBody>
        </p:sp>
        <p:sp>
          <p:nvSpPr>
            <p:cNvPr id="34" name="文本框 33"/>
            <p:cNvSpPr txBox="1"/>
            <p:nvPr/>
          </p:nvSpPr>
          <p:spPr>
            <a:xfrm>
              <a:off x="1524000" y="4156253"/>
              <a:ext cx="503238" cy="523220"/>
            </a:xfrm>
            <a:prstGeom prst="rect">
              <a:avLst/>
            </a:prstGeom>
            <a:noFill/>
          </p:spPr>
          <p:txBody>
            <a:bodyPr wrap="square" rtlCol="0">
              <a:spAutoFit/>
            </a:bodyPr>
            <a:lstStyle/>
            <a:p>
              <a:endParaRPr kumimoji="1" lang="zh-CN" altLang="en-US" sz="2800" dirty="0"/>
            </a:p>
          </p:txBody>
        </p:sp>
      </p:grpSp>
      <p:grpSp>
        <p:nvGrpSpPr>
          <p:cNvPr id="37" name="组合 36"/>
          <p:cNvGrpSpPr/>
          <p:nvPr/>
        </p:nvGrpSpPr>
        <p:grpSpPr>
          <a:xfrm>
            <a:off x="6889132" y="4503190"/>
            <a:ext cx="3800422" cy="783586"/>
            <a:chOff x="8728799" y="4072858"/>
            <a:chExt cx="3800422" cy="783586"/>
          </a:xfrm>
        </p:grpSpPr>
        <mc:AlternateContent xmlns:mc="http://schemas.openxmlformats.org/markup-compatibility/2006">
          <mc:Choice xmlns:a14="http://schemas.microsoft.com/office/drawing/2010/main" Requires="a14">
            <p:sp>
              <p:nvSpPr>
                <p:cNvPr id="25" name="对象 11"/>
                <p:cNvSpPr txBox="1"/>
                <p:nvPr/>
              </p:nvSpPr>
              <p:spPr>
                <a:xfrm>
                  <a:off x="8728799" y="4072858"/>
                  <a:ext cx="3800422" cy="783586"/>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lang="zh-CN" altLang="en-US" sz="2800">
                            <a:latin typeface="Cambria Math" panose="02040503050406030204" charset="0"/>
                            <a:ea typeface="黑体" panose="02010609060101010101" pitchFamily="49" charset="-122"/>
                          </a:rPr>
                          <m:t>求解后再用</m:t>
                        </m:r>
                        <m:f>
                          <m:fPr>
                            <m:ctrlPr>
                              <a:rPr lang="zh-CN" altLang="en-US" sz="2800" i="1">
                                <a:latin typeface="Cambria Math" panose="02040503050406030204" charset="0"/>
                                <a:ea typeface="黑体" panose="02010609060101010101" pitchFamily="49" charset="-122"/>
                              </a:rPr>
                            </m:ctrlPr>
                          </m:fPr>
                          <m:num>
                            <m:r>
                              <a:rPr lang="zh-CN" altLang="en-US" sz="2800">
                                <a:latin typeface="Cambria Math" panose="02040503050406030204" charset="0"/>
                                <a:ea typeface="黑体" panose="02010609060101010101" pitchFamily="49" charset="-122"/>
                              </a:rPr>
                              <m:t>𝑦</m:t>
                            </m:r>
                          </m:num>
                          <m:den>
                            <m:r>
                              <a:rPr lang="zh-CN" altLang="en-US" sz="2800">
                                <a:latin typeface="Cambria Math" panose="02040503050406030204" charset="0"/>
                                <a:ea typeface="黑体" panose="02010609060101010101" pitchFamily="49" charset="-122"/>
                              </a:rPr>
                              <m:t>𝑥</m:t>
                            </m:r>
                          </m:den>
                        </m:f>
                        <m:r>
                          <a:rPr lang="zh-CN" altLang="en-US" sz="2800">
                            <a:latin typeface="Cambria Math" panose="02040503050406030204" charset="0"/>
                            <a:ea typeface="黑体" panose="02010609060101010101" pitchFamily="49" charset="-122"/>
                          </a:rPr>
                          <m:t>代替</m:t>
                        </m:r>
                        <m:r>
                          <a:rPr lang="zh-CN" altLang="en-US" sz="2800">
                            <a:latin typeface="Cambria Math" panose="02040503050406030204" charset="0"/>
                            <a:ea typeface="黑体" panose="02010609060101010101" pitchFamily="49" charset="-122"/>
                          </a:rPr>
                          <m:t>𝑢</m:t>
                        </m:r>
                        <m:r>
                          <a:rPr lang="zh-CN" altLang="en-US" sz="2800">
                            <a:latin typeface="Cambria Math" panose="02040503050406030204" charset="0"/>
                            <a:ea typeface="黑体" panose="02010609060101010101" pitchFamily="49" charset="-122"/>
                          </a:rPr>
                          <m:t>,</m:t>
                        </m:r>
                      </m:oMath>
                    </m:oMathPara>
                  </a14:m>
                  <a:endParaRPr lang="zh-CN" altLang="en-US" sz="2800" dirty="0">
                    <a:latin typeface="黑体" panose="02010609060101010101" pitchFamily="49" charset="-122"/>
                    <a:ea typeface="黑体" panose="02010609060101010101" pitchFamily="49" charset="-122"/>
                  </a:endParaRPr>
                </a:p>
              </p:txBody>
            </p:sp>
          </mc:Choice>
          <mc:Fallback>
            <p:sp>
              <p:nvSpPr>
                <p:cNvPr id="25" name="对象 11"/>
                <p:cNvSpPr txBox="1">
                  <a:spLocks noRot="1" noChangeAspect="1" noMove="1" noResize="1" noEditPoints="1" noAdjustHandles="1" noChangeArrowheads="1" noChangeShapeType="1" noTextEdit="1"/>
                </p:cNvSpPr>
                <p:nvPr/>
              </p:nvSpPr>
              <p:spPr>
                <a:xfrm>
                  <a:off x="8728799" y="4072858"/>
                  <a:ext cx="3800422" cy="783586"/>
                </a:xfrm>
                <a:prstGeom prst="rect">
                  <a:avLst/>
                </a:prstGeom>
                <a:blipFill rotWithShape="1">
                  <a:blip r:embed="rId6"/>
                </a:blipFill>
              </p:spPr>
              <p:txBody>
                <a:bodyPr/>
                <a:lstStyle/>
                <a:p>
                  <a:r>
                    <a:rPr lang="zh-CN" altLang="en-US">
                      <a:noFill/>
                    </a:rPr>
                    <a:t> </a:t>
                  </a:r>
                </a:p>
              </p:txBody>
            </p:sp>
          </mc:Fallback>
        </mc:AlternateContent>
        <p:sp>
          <p:nvSpPr>
            <p:cNvPr id="36" name="文本框 35"/>
            <p:cNvSpPr txBox="1"/>
            <p:nvPr/>
          </p:nvSpPr>
          <p:spPr>
            <a:xfrm>
              <a:off x="10334171" y="4323114"/>
              <a:ext cx="406400" cy="523220"/>
            </a:xfrm>
            <a:prstGeom prst="rect">
              <a:avLst/>
            </a:prstGeom>
            <a:noFill/>
          </p:spPr>
          <p:txBody>
            <a:bodyPr wrap="square" rtlCol="0">
              <a:spAutoFit/>
            </a:bodyPr>
            <a:lstStyle/>
            <a:p>
              <a:endParaRPr kumimoji="1" lang="zh-CN" altLang="en-US" sz="2800" dirty="0"/>
            </a:p>
          </p:txBody>
        </p:sp>
      </p:grpSp>
      <p:grpSp>
        <p:nvGrpSpPr>
          <p:cNvPr id="39" name="组合 38"/>
          <p:cNvGrpSpPr/>
          <p:nvPr/>
        </p:nvGrpSpPr>
        <p:grpSpPr>
          <a:xfrm>
            <a:off x="2373369" y="5409845"/>
            <a:ext cx="3474339" cy="809935"/>
            <a:chOff x="2876595" y="4836828"/>
            <a:chExt cx="3474339" cy="809935"/>
          </a:xfrm>
        </p:grpSpPr>
        <mc:AlternateContent xmlns:mc="http://schemas.openxmlformats.org/markup-compatibility/2006">
          <mc:Choice xmlns:a14="http://schemas.microsoft.com/office/drawing/2010/main" Requires="a14">
            <p:sp>
              <p:nvSpPr>
                <p:cNvPr id="26" name="对象 13"/>
                <p:cNvSpPr txBox="1"/>
                <p:nvPr/>
              </p:nvSpPr>
              <p:spPr>
                <a:xfrm>
                  <a:off x="2876595" y="4836828"/>
                  <a:ext cx="3474339" cy="59707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lang="zh-CN" altLang="en-US" sz="2800">
                            <a:latin typeface="Cambria Math" panose="02040503050406030204" charset="0"/>
                            <a:ea typeface="黑体" panose="02010609060101010101" pitchFamily="49" charset="-122"/>
                          </a:rPr>
                          <m:t>便得原方程的通解</m:t>
                        </m:r>
                        <m:r>
                          <a:rPr lang="zh-CN" altLang="en-US" sz="2800">
                            <a:latin typeface="Cambria Math" panose="02040503050406030204" charset="0"/>
                            <a:ea typeface="黑体" panose="02010609060101010101" pitchFamily="49" charset="-122"/>
                          </a:rPr>
                          <m:t>.</m:t>
                        </m:r>
                      </m:oMath>
                    </m:oMathPara>
                  </a14:m>
                  <a:endParaRPr lang="zh-CN" altLang="en-US" sz="2800" dirty="0">
                    <a:latin typeface="黑体" panose="02010609060101010101" pitchFamily="49" charset="-122"/>
                    <a:ea typeface="黑体" panose="02010609060101010101" pitchFamily="49" charset="-122"/>
                  </a:endParaRPr>
                </a:p>
              </p:txBody>
            </p:sp>
          </mc:Choice>
          <mc:Fallback>
            <p:sp>
              <p:nvSpPr>
                <p:cNvPr id="26" name="对象 13"/>
                <p:cNvSpPr txBox="1">
                  <a:spLocks noRot="1" noChangeAspect="1" noMove="1" noResize="1" noEditPoints="1" noAdjustHandles="1" noChangeArrowheads="1" noChangeShapeType="1" noTextEdit="1"/>
                </p:cNvSpPr>
                <p:nvPr/>
              </p:nvSpPr>
              <p:spPr>
                <a:xfrm>
                  <a:off x="2876595" y="4836828"/>
                  <a:ext cx="3474339" cy="597070"/>
                </a:xfrm>
                <a:prstGeom prst="rect">
                  <a:avLst/>
                </a:prstGeom>
                <a:blipFill rotWithShape="1">
                  <a:blip r:embed="rId7"/>
                </a:blipFill>
              </p:spPr>
              <p:txBody>
                <a:bodyPr/>
                <a:lstStyle/>
                <a:p>
                  <a:r>
                    <a:rPr lang="zh-CN" altLang="en-US">
                      <a:noFill/>
                    </a:rPr>
                    <a:t> </a:t>
                  </a:r>
                </a:p>
              </p:txBody>
            </p:sp>
          </mc:Fallback>
        </mc:AlternateContent>
        <p:sp>
          <p:nvSpPr>
            <p:cNvPr id="38" name="文本框 37"/>
            <p:cNvSpPr txBox="1"/>
            <p:nvPr/>
          </p:nvSpPr>
          <p:spPr>
            <a:xfrm>
              <a:off x="5793928" y="5123543"/>
              <a:ext cx="557006" cy="523220"/>
            </a:xfrm>
            <a:prstGeom prst="rect">
              <a:avLst/>
            </a:prstGeom>
            <a:noFill/>
          </p:spPr>
          <p:txBody>
            <a:bodyPr wrap="square" rtlCol="0">
              <a:spAutoFit/>
            </a:bodyPr>
            <a:lstStyle/>
            <a:p>
              <a:endParaRPr kumimoji="1" lang="zh-CN" altLang="en-US" sz="2800" dirty="0"/>
            </a:p>
          </p:txBody>
        </p:sp>
      </p:grpSp>
      <p:grpSp>
        <p:nvGrpSpPr>
          <p:cNvPr id="40" name="组合 39"/>
          <p:cNvGrpSpPr/>
          <p:nvPr/>
        </p:nvGrpSpPr>
        <p:grpSpPr>
          <a:xfrm>
            <a:off x="2382848" y="4636536"/>
            <a:ext cx="5060907" cy="783586"/>
            <a:chOff x="7506186" y="4064393"/>
            <a:chExt cx="5060907" cy="783586"/>
          </a:xfrm>
        </p:grpSpPr>
        <mc:AlternateContent xmlns:mc="http://schemas.openxmlformats.org/markup-compatibility/2006">
          <mc:Choice xmlns:a14="http://schemas.microsoft.com/office/drawing/2010/main" Requires="a14">
            <p:sp>
              <p:nvSpPr>
                <p:cNvPr id="41" name="对象 11"/>
                <p:cNvSpPr txBox="1"/>
                <p:nvPr/>
              </p:nvSpPr>
              <p:spPr>
                <a:xfrm>
                  <a:off x="7506186" y="4064393"/>
                  <a:ext cx="5060907" cy="783586"/>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 xmlns:m="http://schemas.openxmlformats.org/officeDocument/2006/math">
                      <m:r>
                        <m:rPr>
                          <m:nor/>
                        </m:rPr>
                        <a:rPr lang="zh-CN" altLang="en-US" sz="2800" dirty="0">
                          <a:solidFill>
                            <a:srgbClr val="04926A"/>
                          </a:solidFill>
                          <a:latin typeface="黑体" panose="02010609060101010101" pitchFamily="49" charset="-122"/>
                          <a:ea typeface="黑体" panose="02010609060101010101" pitchFamily="49" charset="-122"/>
                        </a:rPr>
                        <m:t>②</m:t>
                      </m:r>
                      <m:r>
                        <a:rPr lang="zh-CN" altLang="en-US" sz="2800" i="1">
                          <a:latin typeface="Cambria Math" panose="02040503050406030204" charset="0"/>
                          <a:ea typeface="黑体" panose="02010609060101010101" pitchFamily="49" charset="-122"/>
                        </a:rPr>
                        <m:t>是可分离</m:t>
                      </m:r>
                    </m:oMath>
                  </a14:m>
                  <a:r>
                    <a:rPr lang="zh-CN" altLang="en-US" sz="2800" dirty="0">
                      <a:latin typeface="黑体" panose="02010609060101010101" pitchFamily="49" charset="-122"/>
                      <a:ea typeface="黑体" panose="02010609060101010101" pitchFamily="49" charset="-122"/>
                    </a:rPr>
                    <a:t>变量的微分方程</a:t>
                  </a:r>
                  <a14:m>
                    <m:oMath xmlns:m="http://schemas.openxmlformats.org/officeDocument/2006/math">
                      <m:r>
                        <a:rPr lang="zh-CN" altLang="en-US" sz="2800">
                          <a:latin typeface="Cambria Math" panose="02040503050406030204" charset="0"/>
                          <a:ea typeface="黑体" panose="02010609060101010101" pitchFamily="49" charset="-122"/>
                        </a:rPr>
                        <m:t>,</m:t>
                      </m:r>
                    </m:oMath>
                  </a14:m>
                  <a:endParaRPr lang="zh-CN" altLang="en-US" sz="2800" dirty="0">
                    <a:latin typeface="黑体" panose="02010609060101010101" pitchFamily="49" charset="-122"/>
                    <a:ea typeface="黑体" panose="02010609060101010101" pitchFamily="49" charset="-122"/>
                  </a:endParaRPr>
                </a:p>
              </p:txBody>
            </p:sp>
          </mc:Choice>
          <mc:Fallback>
            <p:sp>
              <p:nvSpPr>
                <p:cNvPr id="41" name="对象 11"/>
                <p:cNvSpPr txBox="1">
                  <a:spLocks noRot="1" noChangeAspect="1" noMove="1" noResize="1" noEditPoints="1" noAdjustHandles="1" noChangeArrowheads="1" noChangeShapeType="1" noTextEdit="1"/>
                </p:cNvSpPr>
                <p:nvPr/>
              </p:nvSpPr>
              <p:spPr>
                <a:xfrm>
                  <a:off x="7506186" y="4064393"/>
                  <a:ext cx="5060907" cy="783586"/>
                </a:xfrm>
                <a:prstGeom prst="rect">
                  <a:avLst/>
                </a:prstGeom>
                <a:blipFill rotWithShape="1">
                  <a:blip r:embed="rId8"/>
                </a:blipFill>
              </p:spPr>
              <p:txBody>
                <a:bodyPr/>
                <a:lstStyle/>
                <a:p>
                  <a:r>
                    <a:rPr lang="zh-CN" altLang="en-US">
                      <a:noFill/>
                    </a:rPr>
                    <a:t> </a:t>
                  </a:r>
                </a:p>
              </p:txBody>
            </p:sp>
          </mc:Fallback>
        </mc:AlternateContent>
        <p:sp>
          <p:nvSpPr>
            <p:cNvPr id="42" name="文本框 41"/>
            <p:cNvSpPr txBox="1"/>
            <p:nvPr/>
          </p:nvSpPr>
          <p:spPr>
            <a:xfrm>
              <a:off x="10334171" y="4323114"/>
              <a:ext cx="406400" cy="523220"/>
            </a:xfrm>
            <a:prstGeom prst="rect">
              <a:avLst/>
            </a:prstGeom>
            <a:noFill/>
          </p:spPr>
          <p:txBody>
            <a:bodyPr wrap="square" rtlCol="0">
              <a:spAutoFit/>
            </a:bodyPr>
            <a:lstStyle/>
            <a:p>
              <a:endParaRPr kumimoji="1" lang="zh-CN" altLang="en-US" sz="28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left)">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wipe(left)">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wipe(left)">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wipe(left)">
                                      <p:cBhvr>
                                        <p:cTn id="47" dur="500"/>
                                        <p:tgtEl>
                                          <p:spTgt spid="3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wipe(left)">
                                      <p:cBhvr>
                                        <p:cTn id="52" dur="500"/>
                                        <p:tgtEl>
                                          <p:spTgt spid="3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wipe(left)">
                                      <p:cBhvr>
                                        <p:cTn id="57" dur="500"/>
                                        <p:tgtEl>
                                          <p:spTgt spid="3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40"/>
                                        </p:tgtEl>
                                        <p:attrNameLst>
                                          <p:attrName>style.visibility</p:attrName>
                                        </p:attrNameLst>
                                      </p:cBhvr>
                                      <p:to>
                                        <p:strVal val="visible"/>
                                      </p:to>
                                    </p:set>
                                    <p:animEffect transition="in" filter="wipe(left)">
                                      <p:cBhvr>
                                        <p:cTn id="62" dur="500"/>
                                        <p:tgtEl>
                                          <p:spTgt spid="40"/>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37"/>
                                        </p:tgtEl>
                                        <p:attrNameLst>
                                          <p:attrName>style.visibility</p:attrName>
                                        </p:attrNameLst>
                                      </p:cBhvr>
                                      <p:to>
                                        <p:strVal val="visible"/>
                                      </p:to>
                                    </p:set>
                                    <p:animEffect transition="in" filter="wipe(left)">
                                      <p:cBhvr>
                                        <p:cTn id="67" dur="500"/>
                                        <p:tgtEl>
                                          <p:spTgt spid="37"/>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39"/>
                                        </p:tgtEl>
                                        <p:attrNameLst>
                                          <p:attrName>style.visibility</p:attrName>
                                        </p:attrNameLst>
                                      </p:cBhvr>
                                      <p:to>
                                        <p:strVal val="visible"/>
                                      </p:to>
                                    </p:set>
                                    <p:animEffect transition="in" filter="wipe(left)">
                                      <p:cBhvr>
                                        <p:cTn id="7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p:nvPr/>
        </p:nvSpPr>
        <p:spPr>
          <a:xfrm>
            <a:off x="687070" y="1226820"/>
            <a:ext cx="10817225" cy="5110480"/>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 name="半闭框 47"/>
          <p:cNvSpPr/>
          <p:nvPr/>
        </p:nvSpPr>
        <p:spPr>
          <a:xfrm>
            <a:off x="687324" y="1226820"/>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9" name="半闭框 48"/>
          <p:cNvSpPr/>
          <p:nvPr/>
        </p:nvSpPr>
        <p:spPr>
          <a:xfrm flipH="1">
            <a:off x="10823530" y="1226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0" name="半闭框 39"/>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1" name="半闭框 40"/>
          <p:cNvSpPr/>
          <p:nvPr/>
        </p:nvSpPr>
        <p:spPr>
          <a:xfrm flipH="1" flipV="1">
            <a:off x="10823530" y="5645528"/>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22" name="Text Box 3"/>
          <p:cNvSpPr txBox="1">
            <a:spLocks noChangeArrowheads="1"/>
          </p:cNvSpPr>
          <p:nvPr/>
        </p:nvSpPr>
        <p:spPr bwMode="auto">
          <a:xfrm>
            <a:off x="2504234" y="2636461"/>
            <a:ext cx="56070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base">
              <a:spcBef>
                <a:spcPct val="50000"/>
              </a:spcBef>
              <a:buClrTx/>
              <a:buSzTx/>
              <a:buFontTx/>
              <a:defRPr/>
            </a:pPr>
            <a:r>
              <a:rPr kumimoji="1" lang="zh-CN" altLang="en-US" sz="2800" b="1" dirty="0">
                <a:solidFill>
                  <a:srgbClr val="04926A"/>
                </a:solidFill>
                <a:latin typeface="微软雅黑" panose="020B0503020204020204" charset="-122"/>
                <a:ea typeface="微软雅黑" panose="020B0503020204020204" charset="-122"/>
              </a:rPr>
              <a:t>解</a:t>
            </a:r>
            <a:endParaRPr kumimoji="1" lang="zh-CN" altLang="en-US" sz="2800" b="1" dirty="0">
              <a:solidFill>
                <a:srgbClr val="04926A"/>
              </a:solidFill>
              <a:latin typeface="微软雅黑" panose="020B0503020204020204" charset="-122"/>
              <a:ea typeface="微软雅黑" panose="020B0503020204020204" charset="-122"/>
            </a:endParaRPr>
          </a:p>
        </p:txBody>
      </p:sp>
      <p:sp>
        <p:nvSpPr>
          <p:cNvPr id="14" name="Text Box 3"/>
          <p:cNvSpPr txBox="1">
            <a:spLocks noChangeArrowheads="1"/>
          </p:cNvSpPr>
          <p:nvPr/>
        </p:nvSpPr>
        <p:spPr bwMode="auto">
          <a:xfrm>
            <a:off x="2432444" y="610942"/>
            <a:ext cx="2322267" cy="523220"/>
          </a:xfrm>
          <a:prstGeom prst="rect">
            <a:avLst/>
          </a:prstGeom>
          <a:noFill/>
          <a:ln w="28575">
            <a:noFill/>
            <a:prstDash val="dashDot"/>
            <a:miter lim="800000"/>
          </a:ln>
          <a:extLst>
            <a:ext uri="{909E8E84-426E-40DD-AFC4-6F175D3DCCD1}">
              <a14:hiddenFill xmlns:a14="http://schemas.microsoft.com/office/drawing/2010/main">
                <a:solidFill>
                  <a:schemeClr val="accent1"/>
                </a:solidFill>
              </a14:hiddenFill>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defRPr/>
            </a:pPr>
            <a:r>
              <a:rPr kumimoji="1" lang="en-US" altLang="zh-CN" sz="2800" b="1" dirty="0">
                <a:solidFill>
                  <a:srgbClr val="04926A"/>
                </a:solidFill>
                <a:latin typeface="微软雅黑" panose="020B0503020204020204" charset="-122"/>
                <a:ea typeface="微软雅黑" panose="020B0503020204020204" charset="-122"/>
              </a:rPr>
              <a:t>3. </a:t>
            </a:r>
            <a:r>
              <a:rPr kumimoji="1" lang="zh-CN" altLang="en-US" sz="2800" b="1" dirty="0">
                <a:solidFill>
                  <a:srgbClr val="04926A"/>
                </a:solidFill>
                <a:latin typeface="微软雅黑" panose="020B0503020204020204" charset="-122"/>
                <a:ea typeface="微软雅黑" panose="020B0503020204020204" charset="-122"/>
              </a:rPr>
              <a:t>典型例题</a:t>
            </a:r>
            <a:endParaRPr kumimoji="1" lang="zh-CN" altLang="en-US" sz="2800" b="1" dirty="0">
              <a:solidFill>
                <a:srgbClr val="04926A"/>
              </a:solidFill>
              <a:latin typeface="微软雅黑" panose="020B0503020204020204" charset="-122"/>
              <a:ea typeface="微软雅黑" panose="020B0503020204020204" charset="-122"/>
            </a:endParaRPr>
          </a:p>
        </p:txBody>
      </p:sp>
      <p:sp>
        <p:nvSpPr>
          <p:cNvPr id="19" name="Text Box 44"/>
          <p:cNvSpPr txBox="1">
            <a:spLocks noChangeArrowheads="1"/>
          </p:cNvSpPr>
          <p:nvPr/>
        </p:nvSpPr>
        <p:spPr bwMode="auto">
          <a:xfrm>
            <a:off x="2474353" y="1581509"/>
            <a:ext cx="86754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defRPr/>
            </a:pPr>
            <a:r>
              <a:rPr lang="zh-CN" altLang="en-US" sz="2800" b="1" dirty="0">
                <a:solidFill>
                  <a:srgbClr val="04926A"/>
                </a:solidFill>
                <a:latin typeface="微软雅黑" panose="020B0503020204020204" charset="-122"/>
                <a:ea typeface="微软雅黑" panose="020B0503020204020204" charset="-122"/>
              </a:rPr>
              <a:t>例</a:t>
            </a:r>
            <a:r>
              <a:rPr lang="en-US" altLang="zh-CN" sz="2800" b="1" dirty="0">
                <a:solidFill>
                  <a:srgbClr val="04926A"/>
                </a:solidFill>
                <a:latin typeface="微软雅黑" panose="020B0503020204020204" charset="-122"/>
                <a:ea typeface="微软雅黑" panose="020B0503020204020204" charset="-122"/>
              </a:rPr>
              <a:t>1 </a:t>
            </a:r>
            <a:endParaRPr kumimoji="1" lang="en-US" altLang="zh-CN" sz="2800" dirty="0">
              <a:solidFill>
                <a:srgbClr val="000000"/>
              </a:solidFill>
              <a:latin typeface="华文中宋" panose="02010600040101010101" pitchFamily="2" charset="-122"/>
              <a:ea typeface="华文中宋" panose="02010600040101010101" pitchFamily="2" charset="-122"/>
            </a:endParaRPr>
          </a:p>
        </p:txBody>
      </p:sp>
      <mc:AlternateContent xmlns:mc="http://schemas.openxmlformats.org/markup-compatibility/2006">
        <mc:Choice xmlns:a14="http://schemas.microsoft.com/office/drawing/2010/main" Requires="a14">
          <p:sp>
            <p:nvSpPr>
              <p:cNvPr id="21" name="Object 3"/>
              <p:cNvSpPr txBox="1"/>
              <p:nvPr/>
            </p:nvSpPr>
            <p:spPr bwMode="auto">
              <a:xfrm>
                <a:off x="3229777" y="1350338"/>
                <a:ext cx="5003782" cy="1137213"/>
              </a:xfrm>
              <a:prstGeom prst="rect">
                <a:avLst/>
              </a:prstGeom>
              <a:noFill/>
              <a:ln>
                <a:noFill/>
              </a:ln>
              <a:effectLst/>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zh-CN" altLang="en-US" sz="2800" i="1">
                          <a:solidFill>
                            <a:schemeClr val="tx1">
                              <a:lumMod val="95000"/>
                              <a:lumOff val="5000"/>
                            </a:schemeClr>
                          </a:solidFill>
                          <a:latin typeface="Cambria Math" panose="02040503050406030204" charset="0"/>
                          <a:ea typeface="黑体" panose="02010609060101010101" pitchFamily="49" charset="-122"/>
                        </a:rPr>
                        <m:t>解方程</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i="1">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800" i="1">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i="1">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i="1">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800" i="1">
                              <a:solidFill>
                                <a:schemeClr val="tx1">
                                  <a:lumMod val="95000"/>
                                  <a:lumOff val="5000"/>
                                </a:schemeClr>
                              </a:solidFill>
                              <a:latin typeface="Cambria Math" panose="02040503050406030204" charset="0"/>
                              <a:ea typeface="黑体" panose="02010609060101010101" pitchFamily="49" charset="-122"/>
                            </a:rPr>
                            <m:t>2</m:t>
                          </m:r>
                        </m:sup>
                      </m:sSup>
                      <m:f>
                        <m:f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fPr>
                        <m:num>
                          <m:r>
                            <m:rPr>
                              <m:sty m:val="p"/>
                            </m:rPr>
                            <a:rPr kumimoji="1" lang="en-US" altLang="zh-CN" sz="2800" i="1">
                              <a:solidFill>
                                <a:schemeClr val="tx1">
                                  <a:lumMod val="95000"/>
                                  <a:lumOff val="5000"/>
                                </a:schemeClr>
                              </a:solidFill>
                              <a:latin typeface="Cambria Math" panose="02040503050406030204" charset="0"/>
                              <a:ea typeface="黑体" panose="02010609060101010101" pitchFamily="49" charset="-122"/>
                            </a:rPr>
                            <m:t>d</m:t>
                          </m:r>
                          <m:r>
                            <a:rPr kumimoji="1" lang="en-US" altLang="zh-CN" sz="2800" i="1">
                              <a:solidFill>
                                <a:schemeClr val="tx1">
                                  <a:lumMod val="95000"/>
                                  <a:lumOff val="5000"/>
                                </a:schemeClr>
                              </a:solidFill>
                              <a:latin typeface="Cambria Math" panose="02040503050406030204" charset="0"/>
                              <a:ea typeface="黑体" panose="02010609060101010101" pitchFamily="49" charset="-122"/>
                            </a:rPr>
                            <m:t>𝑦</m:t>
                          </m:r>
                        </m:num>
                        <m:den>
                          <m:r>
                            <m:rPr>
                              <m:sty m:val="p"/>
                            </m:rPr>
                            <a:rPr kumimoji="1" lang="en-US" altLang="zh-CN" sz="2800" i="0">
                              <a:solidFill>
                                <a:schemeClr val="tx1">
                                  <a:lumMod val="95000"/>
                                  <a:lumOff val="5000"/>
                                </a:schemeClr>
                              </a:solidFill>
                              <a:latin typeface="Cambria Math" panose="02040503050406030204" charset="0"/>
                              <a:ea typeface="黑体" panose="02010609060101010101" pitchFamily="49" charset="-122"/>
                            </a:rPr>
                            <m:t>d</m:t>
                          </m:r>
                          <m:r>
                            <a:rPr kumimoji="1" lang="en-US" altLang="zh-CN" sz="2800" i="1">
                              <a:solidFill>
                                <a:schemeClr val="tx1">
                                  <a:lumMod val="95000"/>
                                  <a:lumOff val="5000"/>
                                </a:schemeClr>
                              </a:solidFill>
                              <a:latin typeface="Cambria Math" panose="02040503050406030204" charset="0"/>
                              <a:ea typeface="黑体" panose="02010609060101010101" pitchFamily="49" charset="-122"/>
                            </a:rPr>
                            <m:t>𝑥</m:t>
                          </m:r>
                        </m:den>
                      </m:f>
                      <m:r>
                        <a:rPr kumimoji="1" lang="zh-CN" altLang="en-US" sz="2800" i="1">
                          <a:solidFill>
                            <a:schemeClr val="tx1">
                              <a:lumMod val="95000"/>
                              <a:lumOff val="5000"/>
                            </a:schemeClr>
                          </a:solidFill>
                          <a:latin typeface="Cambria Math" panose="02040503050406030204" charset="0"/>
                          <a:ea typeface="黑体" panose="02010609060101010101" pitchFamily="49" charset="-122"/>
                        </a:rPr>
                        <m:t>=</m:t>
                      </m:r>
                      <m:r>
                        <a:rPr kumimoji="1" lang="zh-CN" altLang="en-US" sz="2800" i="1">
                          <a:solidFill>
                            <a:schemeClr val="tx1">
                              <a:lumMod val="95000"/>
                              <a:lumOff val="5000"/>
                            </a:schemeClr>
                          </a:solidFill>
                          <a:latin typeface="Cambria Math" panose="02040503050406030204" charset="0"/>
                          <a:ea typeface="黑体" panose="02010609060101010101" pitchFamily="49" charset="-122"/>
                        </a:rPr>
                        <m:t>𝑥𝑦</m:t>
                      </m:r>
                      <m:f>
                        <m:f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fPr>
                        <m:num>
                          <m:r>
                            <m:rPr>
                              <m:sty m:val="p"/>
                            </m:rPr>
                            <a:rPr kumimoji="1" lang="en-US" altLang="zh-CN" sz="2800" i="1">
                              <a:solidFill>
                                <a:schemeClr val="tx1">
                                  <a:lumMod val="95000"/>
                                  <a:lumOff val="5000"/>
                                </a:schemeClr>
                              </a:solidFill>
                              <a:latin typeface="Cambria Math" panose="02040503050406030204" charset="0"/>
                              <a:ea typeface="黑体" panose="02010609060101010101" pitchFamily="49" charset="-122"/>
                            </a:rPr>
                            <m:t>d</m:t>
                          </m:r>
                          <m:r>
                            <a:rPr kumimoji="1" lang="en-US" altLang="zh-CN" sz="2800" i="1">
                              <a:solidFill>
                                <a:schemeClr val="tx1">
                                  <a:lumMod val="95000"/>
                                  <a:lumOff val="5000"/>
                                </a:schemeClr>
                              </a:solidFill>
                              <a:latin typeface="Cambria Math" panose="02040503050406030204" charset="0"/>
                              <a:ea typeface="黑体" panose="02010609060101010101" pitchFamily="49" charset="-122"/>
                            </a:rPr>
                            <m:t>𝑦</m:t>
                          </m:r>
                        </m:num>
                        <m:den>
                          <m:func>
                            <m:func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800" i="1">
                                  <a:solidFill>
                                    <a:schemeClr val="tx1">
                                      <a:lumMod val="95000"/>
                                      <a:lumOff val="5000"/>
                                    </a:schemeClr>
                                  </a:solidFill>
                                  <a:latin typeface="Cambria Math" panose="02040503050406030204" charset="0"/>
                                  <a:ea typeface="黑体" panose="02010609060101010101" pitchFamily="49" charset="-122"/>
                                </a:rPr>
                                <m:t>d</m:t>
                              </m:r>
                              <m:r>
                                <a:rPr kumimoji="1" lang="en-US" altLang="zh-CN" sz="2800" i="1">
                                  <a:solidFill>
                                    <a:schemeClr val="tx1">
                                      <a:lumMod val="95000"/>
                                      <a:lumOff val="5000"/>
                                    </a:schemeClr>
                                  </a:solidFill>
                                  <a:latin typeface="Cambria Math" panose="02040503050406030204" charset="0"/>
                                  <a:ea typeface="黑体" panose="02010609060101010101" pitchFamily="49" charset="-122"/>
                                </a:rPr>
                                <m:t>𝑥</m:t>
                              </m:r>
                            </m:fName>
                            <m:e>
                              <m:r>
                                <a:rPr kumimoji="1" lang="zh-CN" altLang="en-US" sz="2800" i="1">
                                  <a:solidFill>
                                    <a:schemeClr val="tx1">
                                      <a:lumMod val="95000"/>
                                      <a:lumOff val="5000"/>
                                    </a:schemeClr>
                                  </a:solidFill>
                                  <a:latin typeface="Cambria Math" panose="02040503050406030204" charset="0"/>
                                  <a:ea typeface="黑体" panose="02010609060101010101" pitchFamily="49" charset="-122"/>
                                </a:rPr>
                                <m:t>​</m:t>
                              </m:r>
                            </m:e>
                          </m:func>
                        </m:den>
                      </m:f>
                      <m:r>
                        <a:rPr kumimoji="1" lang="zh-CN" altLang="en-US" sz="2800" i="1">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i="1"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21" name="Object 3"/>
              <p:cNvSpPr txBox="1">
                <a:spLocks noRot="1" noChangeAspect="1" noMove="1" noResize="1" noEditPoints="1" noAdjustHandles="1" noChangeArrowheads="1" noChangeShapeType="1" noTextEdit="1"/>
              </p:cNvSpPr>
              <p:nvPr/>
            </p:nvSpPr>
            <p:spPr bwMode="auto">
              <a:xfrm>
                <a:off x="3229777" y="1350338"/>
                <a:ext cx="5003782" cy="1137213"/>
              </a:xfrm>
              <a:prstGeom prst="rect">
                <a:avLst/>
              </a:prstGeom>
              <a:blipFill rotWithShape="1">
                <a:blip r:embed="rId1"/>
                <a:stretch>
                  <a:fillRect l="-3" t="-29" r="3" b="23"/>
                </a:stretch>
              </a:blipFill>
              <a:ln>
                <a:noFill/>
              </a:ln>
              <a:effectLst/>
            </p:spPr>
            <p:txBody>
              <a:bodyPr/>
              <a:lstStyle/>
              <a:p>
                <a:r>
                  <a:rPr lang="zh-CN" altLang="en-US">
                    <a:noFill/>
                  </a:rPr>
                  <a:t> </a:t>
                </a:r>
              </a:p>
            </p:txBody>
          </p:sp>
        </mc:Fallback>
      </mc:AlternateContent>
      <p:grpSp>
        <p:nvGrpSpPr>
          <p:cNvPr id="16" name="组合 15"/>
          <p:cNvGrpSpPr/>
          <p:nvPr/>
        </p:nvGrpSpPr>
        <p:grpSpPr>
          <a:xfrm>
            <a:off x="3237062" y="2313814"/>
            <a:ext cx="5353993" cy="1302395"/>
            <a:chOff x="3364062" y="2263014"/>
            <a:chExt cx="5353993" cy="1302395"/>
          </a:xfrm>
        </p:grpSpPr>
        <mc:AlternateContent xmlns:mc="http://schemas.openxmlformats.org/markup-compatibility/2006">
          <mc:Choice xmlns:a14="http://schemas.microsoft.com/office/drawing/2010/main" Requires="a14">
            <p:sp>
              <p:nvSpPr>
                <p:cNvPr id="30" name="Object 3"/>
                <p:cNvSpPr txBox="1"/>
                <p:nvPr/>
              </p:nvSpPr>
              <p:spPr bwMode="auto">
                <a:xfrm>
                  <a:off x="3364062" y="2642216"/>
                  <a:ext cx="2401200" cy="521969"/>
                </a:xfrm>
                <a:prstGeom prst="rect">
                  <a:avLst/>
                </a:prstGeom>
                <a:noFill/>
                <a:ln>
                  <a:noFill/>
                </a:ln>
                <a:effectLst/>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zh-CN" altLang="en-US" sz="2200" i="1">
                            <a:solidFill>
                              <a:schemeClr val="tx1">
                                <a:lumMod val="95000"/>
                                <a:lumOff val="5000"/>
                              </a:schemeClr>
                            </a:solidFill>
                            <a:latin typeface="Cambria Math" panose="02040503050406030204" charset="0"/>
                            <a:ea typeface="黑体" panose="02010609060101010101" pitchFamily="49" charset="-122"/>
                          </a:rPr>
                          <m:t>原方程可写成</m:t>
                        </m:r>
                      </m:oMath>
                    </m:oMathPara>
                  </a14:m>
                  <a:endParaRPr kumimoji="1" lang="zh-CN" altLang="en-US" sz="2200" i="1"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30" name="Object 3"/>
                <p:cNvSpPr txBox="1">
                  <a:spLocks noRot="1" noChangeAspect="1" noMove="1" noResize="1" noEditPoints="1" noAdjustHandles="1" noChangeArrowheads="1" noChangeShapeType="1" noTextEdit="1"/>
                </p:cNvSpPr>
                <p:nvPr/>
              </p:nvSpPr>
              <p:spPr bwMode="auto">
                <a:xfrm>
                  <a:off x="3364062" y="2642216"/>
                  <a:ext cx="2401200" cy="521969"/>
                </a:xfrm>
                <a:prstGeom prst="rect">
                  <a:avLst/>
                </a:prstGeom>
                <a:blipFill rotWithShape="1">
                  <a:blip r:embed="rId2"/>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对象 1"/>
                <p:cNvSpPr txBox="1"/>
                <p:nvPr/>
              </p:nvSpPr>
              <p:spPr>
                <a:xfrm>
                  <a:off x="5297451" y="2263014"/>
                  <a:ext cx="3420604" cy="1302395"/>
                </a:xfrm>
                <a:prstGeom prst="rect">
                  <a:avLst/>
                </a:prstGeom>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m:rPr>
                                <m:sty m:val="p"/>
                              </m:rPr>
                              <a:rPr kumimoji="1" lang="zh-CN" altLang="en-US" sz="2200" i="1">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𝑦</m:t>
                            </m:r>
                          </m:num>
                          <m:den>
                            <m:r>
                              <m:rPr>
                                <m:sty m:val="p"/>
                              </m:rPr>
                              <a:rPr kumimoji="1" lang="zh-CN" altLang="en-US" sz="2200" i="1">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𝑥</m:t>
                            </m:r>
                          </m:den>
                        </m:f>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i="1">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i="1">
                                    <a:solidFill>
                                      <a:schemeClr val="tx1">
                                        <a:lumMod val="95000"/>
                                        <a:lumOff val="5000"/>
                                      </a:schemeClr>
                                    </a:solidFill>
                                    <a:latin typeface="Cambria Math" panose="02040503050406030204" charset="0"/>
                                    <a:ea typeface="黑体" panose="02010609060101010101" pitchFamily="49" charset="-122"/>
                                  </a:rPr>
                                  <m:t>2</m:t>
                                </m:r>
                              </m:sup>
                            </m:sSup>
                          </m:num>
                          <m:den>
                            <m:r>
                              <a:rPr kumimoji="1" lang="zh-CN" altLang="en-US" sz="2200" i="1">
                                <a:solidFill>
                                  <a:schemeClr val="tx1">
                                    <a:lumMod val="95000"/>
                                    <a:lumOff val="5000"/>
                                  </a:schemeClr>
                                </a:solidFill>
                                <a:latin typeface="Cambria Math" panose="02040503050406030204" charset="0"/>
                                <a:ea typeface="黑体" panose="02010609060101010101" pitchFamily="49" charset="-122"/>
                              </a:rPr>
                              <m:t>𝑥𝑦</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i="1">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i="1">
                                    <a:solidFill>
                                      <a:schemeClr val="tx1">
                                        <a:lumMod val="95000"/>
                                        <a:lumOff val="5000"/>
                                      </a:schemeClr>
                                    </a:solidFill>
                                    <a:latin typeface="Cambria Math" panose="02040503050406030204" charset="0"/>
                                    <a:ea typeface="黑体" panose="02010609060101010101" pitchFamily="49" charset="-122"/>
                                  </a:rPr>
                                  <m:t>2</m:t>
                                </m:r>
                              </m:sup>
                            </m:sSup>
                          </m:den>
                        </m:f>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i="1">
                                    <a:solidFill>
                                      <a:schemeClr val="tx1">
                                        <a:lumMod val="95000"/>
                                        <a:lumOff val="5000"/>
                                      </a:schemeClr>
                                    </a:solidFill>
                                    <a:latin typeface="Cambria Math" panose="02040503050406030204" charset="0"/>
                                    <a:ea typeface="黑体" panose="02010609060101010101" pitchFamily="49" charset="-122"/>
                                  </a:rPr>
                                  <m:t>𝑦</m:t>
                                </m:r>
                              </m:num>
                              <m:den>
                                <m:r>
                                  <a:rPr kumimoji="1" lang="zh-CN" altLang="en-US" sz="2200" i="1">
                                    <a:solidFill>
                                      <a:schemeClr val="tx1">
                                        <a:lumMod val="95000"/>
                                        <a:lumOff val="5000"/>
                                      </a:schemeClr>
                                    </a:solidFill>
                                    <a:latin typeface="Cambria Math" panose="02040503050406030204" charset="0"/>
                                    <a:ea typeface="黑体" panose="02010609060101010101" pitchFamily="49" charset="-122"/>
                                  </a:rPr>
                                  <m:t>𝑥</m:t>
                                </m:r>
                              </m:den>
                            </m:f>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i="1">
                                    <a:solidFill>
                                      <a:schemeClr val="tx1">
                                        <a:lumMod val="95000"/>
                                        <a:lumOff val="5000"/>
                                      </a:schemeClr>
                                    </a:solidFill>
                                    <a:latin typeface="Cambria Math" panose="02040503050406030204" charset="0"/>
                                    <a:ea typeface="黑体" panose="02010609060101010101" pitchFamily="49" charset="-122"/>
                                  </a:rPr>
                                  <m:t>2</m:t>
                                </m:r>
                              </m:sup>
                            </m:sSup>
                          </m:num>
                          <m:den>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i="1">
                                    <a:solidFill>
                                      <a:schemeClr val="tx1">
                                        <a:lumMod val="95000"/>
                                        <a:lumOff val="5000"/>
                                      </a:schemeClr>
                                    </a:solidFill>
                                    <a:latin typeface="Cambria Math" panose="02040503050406030204" charset="0"/>
                                    <a:ea typeface="黑体" panose="02010609060101010101" pitchFamily="49" charset="-122"/>
                                  </a:rPr>
                                  <m:t>𝑦</m:t>
                                </m:r>
                              </m:num>
                              <m:den>
                                <m:r>
                                  <a:rPr kumimoji="1" lang="zh-CN" altLang="en-US" sz="2200" i="1">
                                    <a:solidFill>
                                      <a:schemeClr val="tx1">
                                        <a:lumMod val="95000"/>
                                        <a:lumOff val="5000"/>
                                      </a:schemeClr>
                                    </a:solidFill>
                                    <a:latin typeface="Cambria Math" panose="02040503050406030204" charset="0"/>
                                    <a:ea typeface="黑体" panose="02010609060101010101" pitchFamily="49" charset="-122"/>
                                  </a:rPr>
                                  <m:t>𝑥</m:t>
                                </m:r>
                              </m:den>
                            </m:f>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1</m:t>
                            </m:r>
                          </m:den>
                        </m:f>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i="1"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2" name="对象 1"/>
                <p:cNvSpPr txBox="1">
                  <a:spLocks noRot="1" noChangeAspect="1" noMove="1" noResize="1" noEditPoints="1" noAdjustHandles="1" noChangeArrowheads="1" noChangeShapeType="1" noTextEdit="1"/>
                </p:cNvSpPr>
                <p:nvPr/>
              </p:nvSpPr>
              <p:spPr>
                <a:xfrm>
                  <a:off x="5297451" y="2263014"/>
                  <a:ext cx="3420604" cy="1302395"/>
                </a:xfrm>
                <a:prstGeom prst="rect">
                  <a:avLst/>
                </a:prstGeom>
                <a:blipFill rotWithShape="1">
                  <a:blip r:embed="rId3"/>
                </a:blipFill>
              </p:spPr>
              <p:txBody>
                <a:bodyPr/>
                <a:lstStyle/>
                <a:p>
                  <a:r>
                    <a:rPr lang="zh-CN" altLang="en-US">
                      <a:noFill/>
                    </a:rPr>
                    <a:t> </a:t>
                  </a:r>
                </a:p>
              </p:txBody>
            </p:sp>
          </mc:Fallback>
        </mc:AlternateContent>
        <p:sp>
          <p:nvSpPr>
            <p:cNvPr id="15" name="文本框 14"/>
            <p:cNvSpPr txBox="1"/>
            <p:nvPr/>
          </p:nvSpPr>
          <p:spPr>
            <a:xfrm>
              <a:off x="3468898" y="2338927"/>
              <a:ext cx="435445" cy="430887"/>
            </a:xfrm>
            <a:prstGeom prst="rect">
              <a:avLst/>
            </a:prstGeom>
            <a:noFill/>
          </p:spPr>
          <p:txBody>
            <a:bodyPr wrap="square" rtlCol="0">
              <a:spAutoFit/>
            </a:bodyPr>
            <a:lstStyle/>
            <a:p>
              <a:endParaRPr kumimoji="1" lang="zh-CN" altLang="en-US" sz="2200" dirty="0"/>
            </a:p>
          </p:txBody>
        </p:sp>
      </p:grpSp>
      <p:grpSp>
        <p:nvGrpSpPr>
          <p:cNvPr id="18" name="组合 17"/>
          <p:cNvGrpSpPr/>
          <p:nvPr/>
        </p:nvGrpSpPr>
        <p:grpSpPr>
          <a:xfrm>
            <a:off x="3229777" y="3465074"/>
            <a:ext cx="5177970" cy="1037771"/>
            <a:chOff x="3356777" y="3414274"/>
            <a:chExt cx="5177970" cy="1037771"/>
          </a:xfrm>
        </p:grpSpPr>
        <mc:AlternateContent xmlns:mc="http://schemas.openxmlformats.org/markup-compatibility/2006">
          <mc:Choice xmlns:a14="http://schemas.microsoft.com/office/drawing/2010/main" Requires="a14">
            <p:sp>
              <p:nvSpPr>
                <p:cNvPr id="4" name="对象 31"/>
                <p:cNvSpPr txBox="1"/>
                <p:nvPr/>
              </p:nvSpPr>
              <p:spPr>
                <a:xfrm>
                  <a:off x="3356777" y="3480421"/>
                  <a:ext cx="1483686" cy="971624"/>
                </a:xfrm>
                <a:prstGeom prst="rect">
                  <a:avLst/>
                </a:prstGeom>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zh-CN" altLang="en-US" sz="2200" i="1">
                            <a:solidFill>
                              <a:schemeClr val="tx1">
                                <a:lumMod val="95000"/>
                                <a:lumOff val="5000"/>
                              </a:schemeClr>
                            </a:solidFill>
                            <a:latin typeface="Cambria Math" panose="02040503050406030204" charset="0"/>
                            <a:ea typeface="黑体" panose="02010609060101010101" pitchFamily="49" charset="-122"/>
                          </a:rPr>
                          <m:t>令</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𝑢</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i="1">
                                <a:solidFill>
                                  <a:schemeClr val="tx1">
                                    <a:lumMod val="95000"/>
                                    <a:lumOff val="5000"/>
                                  </a:schemeClr>
                                </a:solidFill>
                                <a:latin typeface="Cambria Math" panose="02040503050406030204" charset="0"/>
                                <a:ea typeface="黑体" panose="02010609060101010101" pitchFamily="49" charset="-122"/>
                              </a:rPr>
                              <m:t>𝑦</m:t>
                            </m:r>
                          </m:num>
                          <m:den>
                            <m:r>
                              <a:rPr kumimoji="1" lang="zh-CN" altLang="en-US" sz="2200" i="1">
                                <a:solidFill>
                                  <a:schemeClr val="tx1">
                                    <a:lumMod val="95000"/>
                                    <a:lumOff val="5000"/>
                                  </a:schemeClr>
                                </a:solidFill>
                                <a:latin typeface="Cambria Math" panose="02040503050406030204" charset="0"/>
                                <a:ea typeface="黑体" panose="02010609060101010101" pitchFamily="49" charset="-122"/>
                              </a:rPr>
                              <m:t>𝑥</m:t>
                            </m:r>
                          </m:den>
                        </m:f>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i="1"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4" name="对象 31"/>
                <p:cNvSpPr txBox="1">
                  <a:spLocks noRot="1" noChangeAspect="1" noMove="1" noResize="1" noEditPoints="1" noAdjustHandles="1" noChangeArrowheads="1" noChangeShapeType="1" noTextEdit="1"/>
                </p:cNvSpPr>
                <p:nvPr/>
              </p:nvSpPr>
              <p:spPr>
                <a:xfrm>
                  <a:off x="3356777" y="3480421"/>
                  <a:ext cx="1483686" cy="971624"/>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 name="对象 32"/>
                <p:cNvSpPr txBox="1"/>
                <p:nvPr/>
              </p:nvSpPr>
              <p:spPr>
                <a:xfrm>
                  <a:off x="4585047" y="3414274"/>
                  <a:ext cx="3949700" cy="838200"/>
                </a:xfrm>
                <a:prstGeom prst="rect">
                  <a:avLst/>
                </a:prstGeom>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zh-CN" altLang="en-US" sz="2200" i="1">
                            <a:solidFill>
                              <a:schemeClr val="tx1">
                                <a:lumMod val="95000"/>
                                <a:lumOff val="5000"/>
                              </a:schemeClr>
                            </a:solidFill>
                            <a:latin typeface="Cambria Math" panose="02040503050406030204" charset="0"/>
                            <a:ea typeface="黑体" panose="02010609060101010101" pitchFamily="49" charset="-122"/>
                          </a:rPr>
                          <m:t>则</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𝑢𝑥</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,  </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m:rPr>
                                <m:sty m:val="p"/>
                              </m:rPr>
                              <a:rPr kumimoji="1" lang="zh-CN" altLang="en-US" sz="2200" i="1">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𝑦</m:t>
                            </m:r>
                          </m:num>
                          <m:den>
                            <m:r>
                              <m:rPr>
                                <m:sty m:val="p"/>
                              </m:rPr>
                              <a:rPr kumimoji="1" lang="zh-CN" altLang="en-US" sz="2200" i="1">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𝑥</m:t>
                            </m:r>
                          </m:den>
                        </m:f>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𝑢</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𝑥</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m:rPr>
                                <m:sty m:val="p"/>
                              </m:rPr>
                              <a:rPr kumimoji="1" lang="zh-CN" altLang="en-US" sz="2200" i="1">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𝑢</m:t>
                            </m:r>
                          </m:num>
                          <m:den>
                            <m:r>
                              <m:rPr>
                                <m:sty m:val="p"/>
                              </m:rPr>
                              <a:rPr kumimoji="1" lang="zh-CN" altLang="en-US" sz="2200" i="1">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𝑥</m:t>
                            </m:r>
                          </m:den>
                        </m:f>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i="1"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33" name="对象 32"/>
                <p:cNvSpPr txBox="1">
                  <a:spLocks noRot="1" noChangeAspect="1" noMove="1" noResize="1" noEditPoints="1" noAdjustHandles="1" noChangeArrowheads="1" noChangeShapeType="1" noTextEdit="1"/>
                </p:cNvSpPr>
                <p:nvPr/>
              </p:nvSpPr>
              <p:spPr>
                <a:xfrm>
                  <a:off x="4585047" y="3414274"/>
                  <a:ext cx="3949700" cy="838200"/>
                </a:xfrm>
                <a:prstGeom prst="rect">
                  <a:avLst/>
                </a:prstGeom>
                <a:blipFill rotWithShape="1">
                  <a:blip r:embed="rId5"/>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5" name="Text Box 69"/>
              <p:cNvSpPr txBox="1">
                <a:spLocks noChangeArrowheads="1"/>
              </p:cNvSpPr>
              <p:nvPr/>
            </p:nvSpPr>
            <p:spPr bwMode="auto">
              <a:xfrm>
                <a:off x="7937557" y="3638811"/>
                <a:ext cx="1928336"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50000"/>
                  </a:spcBef>
                </a:pPr>
                <a:r>
                  <a:rPr kumimoji="1" lang="zh-CN" altLang="en-US" sz="2200" dirty="0">
                    <a:solidFill>
                      <a:schemeClr val="tx1">
                        <a:lumMod val="95000"/>
                        <a:lumOff val="5000"/>
                      </a:schemeClr>
                    </a:solidFill>
                    <a:latin typeface="Cambria Math" panose="02040503050406030204" charset="0"/>
                    <a:ea typeface="黑体" panose="02010609060101010101" pitchFamily="49" charset="-122"/>
                  </a:rPr>
                  <a:t>代入上式</a:t>
                </a:r>
                <a14:m>
                  <m:oMath xmlns:m="http://schemas.openxmlformats.org/officeDocument/2006/math">
                    <m:r>
                      <a:rPr kumimoji="1" lang="zh-CN" altLang="en-US" sz="2200" i="1" smtClean="0">
                        <a:solidFill>
                          <a:schemeClr val="tx1">
                            <a:lumMod val="95000"/>
                            <a:lumOff val="5000"/>
                          </a:schemeClr>
                        </a:solidFill>
                        <a:latin typeface="Cambria Math" panose="02040503050406030204" charset="0"/>
                        <a:ea typeface="黑体" panose="02010609060101010101" pitchFamily="49" charset="-122"/>
                      </a:rPr>
                      <m:t>,</m:t>
                    </m:r>
                  </m:oMath>
                </a14:m>
                <a:r>
                  <a:rPr kumimoji="1" lang="zh-CN" altLang="en-US" sz="2200" dirty="0">
                    <a:solidFill>
                      <a:schemeClr val="tx1">
                        <a:lumMod val="95000"/>
                        <a:lumOff val="5000"/>
                      </a:schemeClr>
                    </a:solidFill>
                    <a:latin typeface="Cambria Math" panose="02040503050406030204" charset="0"/>
                    <a:ea typeface="黑体" panose="02010609060101010101" pitchFamily="49" charset="-122"/>
                  </a:rPr>
                  <a:t> 得</a:t>
                </a:r>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5" name="Text Box 69"/>
              <p:cNvSpPr txBox="1">
                <a:spLocks noRot="1" noChangeAspect="1" noMove="1" noResize="1" noEditPoints="1" noAdjustHandles="1" noChangeArrowheads="1" noChangeShapeType="1" noTextEdit="1"/>
              </p:cNvSpPr>
              <p:nvPr/>
            </p:nvSpPr>
            <p:spPr bwMode="auto">
              <a:xfrm>
                <a:off x="7937557" y="3638811"/>
                <a:ext cx="1928336" cy="430887"/>
              </a:xfrm>
              <a:prstGeom prst="rect">
                <a:avLst/>
              </a:prstGeom>
              <a:blipFill rotWithShape="1">
                <a:blip r:embed="rId6"/>
                <a:stretch>
                  <a:fillRect l="-3" t="-61" r="28" b="14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5" name="对象 34"/>
              <p:cNvSpPr txBox="1"/>
              <p:nvPr/>
            </p:nvSpPr>
            <p:spPr>
              <a:xfrm>
                <a:off x="3237642" y="4327915"/>
                <a:ext cx="2835615" cy="1113154"/>
              </a:xfrm>
              <a:prstGeom prst="rect">
                <a:avLst/>
              </a:prstGeom>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zh-CN" altLang="en-US" sz="2200" i="1" smtClean="0">
                          <a:solidFill>
                            <a:schemeClr val="tx1">
                              <a:lumMod val="95000"/>
                              <a:lumOff val="5000"/>
                            </a:schemeClr>
                          </a:solidFill>
                          <a:latin typeface="Cambria Math" panose="02040503050406030204" charset="0"/>
                          <a:ea typeface="黑体" panose="02010609060101010101" pitchFamily="49" charset="-122"/>
                        </a:rPr>
                        <m:t>𝑢</m:t>
                      </m:r>
                      <m:r>
                        <a:rPr kumimoji="1" lang="zh-CN" altLang="en-US" sz="2200" i="1"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i="1" smtClean="0">
                          <a:solidFill>
                            <a:schemeClr val="tx1">
                              <a:lumMod val="95000"/>
                              <a:lumOff val="5000"/>
                            </a:schemeClr>
                          </a:solidFill>
                          <a:latin typeface="Cambria Math" panose="02040503050406030204" charset="0"/>
                          <a:ea typeface="黑体" panose="02010609060101010101" pitchFamily="49" charset="-122"/>
                        </a:rPr>
                        <m:t>𝑥</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m:rPr>
                              <m:sty m:val="p"/>
                            </m:rPr>
                            <a:rPr kumimoji="1" lang="zh-CN" altLang="en-US" sz="2200" i="1">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𝑢</m:t>
                          </m:r>
                        </m:num>
                        <m:den>
                          <m:r>
                            <m:rPr>
                              <m:sty m:val="p"/>
                            </m:rPr>
                            <a:rPr kumimoji="1" lang="zh-CN" altLang="en-US" sz="2200" i="1">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𝑥</m:t>
                          </m:r>
                        </m:den>
                      </m:f>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i="1">
                                  <a:solidFill>
                                    <a:schemeClr val="tx1">
                                      <a:lumMod val="95000"/>
                                      <a:lumOff val="5000"/>
                                    </a:schemeClr>
                                  </a:solidFill>
                                  <a:latin typeface="Cambria Math" panose="02040503050406030204" charset="0"/>
                                  <a:ea typeface="黑体" panose="02010609060101010101" pitchFamily="49" charset="-122"/>
                                </a:rPr>
                                <m:t>𝑢</m:t>
                              </m:r>
                            </m:e>
                            <m:sup>
                              <m:r>
                                <a:rPr kumimoji="1" lang="zh-CN" altLang="en-US" sz="2200" i="1">
                                  <a:solidFill>
                                    <a:schemeClr val="tx1">
                                      <a:lumMod val="95000"/>
                                      <a:lumOff val="5000"/>
                                    </a:schemeClr>
                                  </a:solidFill>
                                  <a:latin typeface="Cambria Math" panose="02040503050406030204" charset="0"/>
                                  <a:ea typeface="黑体" panose="02010609060101010101" pitchFamily="49" charset="-122"/>
                                </a:rPr>
                                <m:t>2</m:t>
                              </m:r>
                            </m:sup>
                          </m:sSup>
                        </m:num>
                        <m:den>
                          <m:r>
                            <a:rPr kumimoji="1" lang="zh-CN" altLang="en-US" sz="2200" i="1">
                              <a:solidFill>
                                <a:schemeClr val="tx1">
                                  <a:lumMod val="95000"/>
                                  <a:lumOff val="5000"/>
                                </a:schemeClr>
                              </a:solidFill>
                              <a:latin typeface="Cambria Math" panose="02040503050406030204" charset="0"/>
                              <a:ea typeface="黑体" panose="02010609060101010101" pitchFamily="49" charset="-122"/>
                            </a:rPr>
                            <m:t>𝑢</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1</m:t>
                          </m:r>
                        </m:den>
                      </m:f>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i="1"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35" name="对象 34"/>
              <p:cNvSpPr txBox="1">
                <a:spLocks noRot="1" noChangeAspect="1" noMove="1" noResize="1" noEditPoints="1" noAdjustHandles="1" noChangeArrowheads="1" noChangeShapeType="1" noTextEdit="1"/>
              </p:cNvSpPr>
              <p:nvPr/>
            </p:nvSpPr>
            <p:spPr>
              <a:xfrm>
                <a:off x="3237642" y="4327915"/>
                <a:ext cx="2835615" cy="1113154"/>
              </a:xfrm>
              <a:prstGeom prst="rect">
                <a:avLst/>
              </a:prstGeom>
              <a:blipFill rotWithShape="1">
                <a:blip r:embed="rId7"/>
                <a:stretch>
                  <a:fillRect l="-15" t="-35" r="4" b="3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7" name="对象 36"/>
              <p:cNvSpPr txBox="1"/>
              <p:nvPr/>
            </p:nvSpPr>
            <p:spPr>
              <a:xfrm>
                <a:off x="5461963" y="4364356"/>
                <a:ext cx="3033809" cy="1191596"/>
              </a:xfrm>
              <a:prstGeom prst="rect">
                <a:avLst/>
              </a:prstGeom>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zh-CN" altLang="en-US" sz="2200" i="1">
                          <a:solidFill>
                            <a:schemeClr val="tx1">
                              <a:lumMod val="95000"/>
                              <a:lumOff val="5000"/>
                            </a:schemeClr>
                          </a:solidFill>
                          <a:latin typeface="Cambria Math" panose="02040503050406030204" charset="0"/>
                          <a:ea typeface="黑体" panose="02010609060101010101" pitchFamily="49" charset="-122"/>
                        </a:rPr>
                        <m:t>即</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𝑥</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m:rPr>
                              <m:sty m:val="p"/>
                            </m:rPr>
                            <a:rPr kumimoji="1" lang="zh-CN" altLang="en-US" sz="2200" i="1">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𝑢</m:t>
                          </m:r>
                        </m:num>
                        <m:den>
                          <m:r>
                            <m:rPr>
                              <m:sty m:val="p"/>
                            </m:rPr>
                            <a:rPr kumimoji="1" lang="zh-CN" altLang="en-US" sz="2200" i="1">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𝑥</m:t>
                          </m:r>
                        </m:den>
                      </m:f>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i="1">
                              <a:solidFill>
                                <a:schemeClr val="tx1">
                                  <a:lumMod val="95000"/>
                                  <a:lumOff val="5000"/>
                                </a:schemeClr>
                              </a:solidFill>
                              <a:latin typeface="Cambria Math" panose="02040503050406030204" charset="0"/>
                              <a:ea typeface="黑体" panose="02010609060101010101" pitchFamily="49" charset="-122"/>
                            </a:rPr>
                            <m:t>𝑢</m:t>
                          </m:r>
                        </m:num>
                        <m:den>
                          <m:r>
                            <a:rPr kumimoji="1" lang="zh-CN" altLang="en-US" sz="2200" i="1">
                              <a:solidFill>
                                <a:schemeClr val="tx1">
                                  <a:lumMod val="95000"/>
                                  <a:lumOff val="5000"/>
                                </a:schemeClr>
                              </a:solidFill>
                              <a:latin typeface="Cambria Math" panose="02040503050406030204" charset="0"/>
                              <a:ea typeface="黑体" panose="02010609060101010101" pitchFamily="49" charset="-122"/>
                            </a:rPr>
                            <m:t>𝑢</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1</m:t>
                          </m:r>
                        </m:den>
                      </m:f>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i="1"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37" name="对象 36"/>
              <p:cNvSpPr txBox="1">
                <a:spLocks noRot="1" noChangeAspect="1" noMove="1" noResize="1" noEditPoints="1" noAdjustHandles="1" noChangeArrowheads="1" noChangeShapeType="1" noTextEdit="1"/>
              </p:cNvSpPr>
              <p:nvPr/>
            </p:nvSpPr>
            <p:spPr>
              <a:xfrm>
                <a:off x="5461963" y="4364356"/>
                <a:ext cx="3033809" cy="1191596"/>
              </a:xfrm>
              <a:prstGeom prst="rect">
                <a:avLst/>
              </a:prstGeom>
              <a:blipFill rotWithShape="1">
                <a:blip r:embed="rId8"/>
                <a:stretch>
                  <a:fillRect l="-11" r="4" b="2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对象 37"/>
              <p:cNvSpPr txBox="1"/>
              <p:nvPr/>
            </p:nvSpPr>
            <p:spPr>
              <a:xfrm>
                <a:off x="3237062" y="5283801"/>
                <a:ext cx="4378928" cy="1126549"/>
              </a:xfrm>
              <a:prstGeom prst="rect">
                <a:avLst/>
              </a:prstGeom>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zh-CN" altLang="en-US" sz="2200" i="1" smtClean="0">
                          <a:solidFill>
                            <a:schemeClr val="tx1">
                              <a:lumMod val="95000"/>
                              <a:lumOff val="5000"/>
                            </a:schemeClr>
                          </a:solidFill>
                          <a:latin typeface="Cambria Math" panose="02040503050406030204" charset="0"/>
                          <a:ea typeface="黑体" panose="02010609060101010101" pitchFamily="49" charset="-122"/>
                        </a:rPr>
                        <m:t>分离变量</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得</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 </m:t>
                      </m:r>
                      <m:d>
                        <m:d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dPr>
                        <m:e>
                          <m:r>
                            <a:rPr kumimoji="1" lang="zh-CN" altLang="en-US" sz="2200" i="1">
                              <a:solidFill>
                                <a:schemeClr val="tx1">
                                  <a:lumMod val="95000"/>
                                  <a:lumOff val="5000"/>
                                </a:schemeClr>
                              </a:solidFill>
                              <a:latin typeface="Cambria Math" panose="02040503050406030204" charset="0"/>
                              <a:ea typeface="黑体" panose="02010609060101010101" pitchFamily="49" charset="-122"/>
                            </a:rPr>
                            <m:t>1</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i="1">
                                  <a:solidFill>
                                    <a:schemeClr val="tx1">
                                      <a:lumMod val="95000"/>
                                      <a:lumOff val="5000"/>
                                    </a:schemeClr>
                                  </a:solidFill>
                                  <a:latin typeface="Cambria Math" panose="02040503050406030204" charset="0"/>
                                  <a:ea typeface="黑体" panose="02010609060101010101" pitchFamily="49" charset="-122"/>
                                </a:rPr>
                                <m:t>1</m:t>
                              </m:r>
                            </m:num>
                            <m:den>
                              <m:r>
                                <a:rPr kumimoji="1" lang="zh-CN" altLang="en-US" sz="2200" i="1">
                                  <a:solidFill>
                                    <a:schemeClr val="tx1">
                                      <a:lumMod val="95000"/>
                                      <a:lumOff val="5000"/>
                                    </a:schemeClr>
                                  </a:solidFill>
                                  <a:latin typeface="Cambria Math" panose="02040503050406030204" charset="0"/>
                                  <a:ea typeface="黑体" panose="02010609060101010101" pitchFamily="49" charset="-122"/>
                                </a:rPr>
                                <m:t>𝑢</m:t>
                              </m:r>
                            </m:den>
                          </m:f>
                        </m:e>
                      </m:d>
                      <m:r>
                        <m:rPr>
                          <m:sty m:val="p"/>
                        </m:rPr>
                        <a:rPr kumimoji="1" lang="zh-CN" altLang="en-US" sz="2200" i="1">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𝑢</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i="1">
                              <a:solidFill>
                                <a:schemeClr val="tx1">
                                  <a:lumMod val="95000"/>
                                  <a:lumOff val="5000"/>
                                </a:schemeClr>
                              </a:solidFill>
                              <a:latin typeface="Cambria Math" panose="02040503050406030204" charset="0"/>
                              <a:ea typeface="黑体" panose="02010609060101010101" pitchFamily="49" charset="-122"/>
                            </a:rPr>
                            <m:t>1</m:t>
                          </m:r>
                        </m:num>
                        <m:den>
                          <m:r>
                            <a:rPr kumimoji="1" lang="zh-CN" altLang="en-US" sz="2200" i="1">
                              <a:solidFill>
                                <a:schemeClr val="tx1">
                                  <a:lumMod val="95000"/>
                                  <a:lumOff val="5000"/>
                                </a:schemeClr>
                              </a:solidFill>
                              <a:latin typeface="Cambria Math" panose="02040503050406030204" charset="0"/>
                              <a:ea typeface="黑体" panose="02010609060101010101" pitchFamily="49" charset="-122"/>
                            </a:rPr>
                            <m:t>𝑥</m:t>
                          </m:r>
                        </m:den>
                      </m:f>
                      <m:r>
                        <m:rPr>
                          <m:sty m:val="p"/>
                        </m:rPr>
                        <a:rPr kumimoji="1" lang="zh-CN" altLang="en-US" sz="2200" i="1">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i="1"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6" name="对象 37"/>
              <p:cNvSpPr txBox="1">
                <a:spLocks noRot="1" noChangeAspect="1" noMove="1" noResize="1" noEditPoints="1" noAdjustHandles="1" noChangeArrowheads="1" noChangeShapeType="1" noTextEdit="1"/>
              </p:cNvSpPr>
              <p:nvPr/>
            </p:nvSpPr>
            <p:spPr>
              <a:xfrm>
                <a:off x="3237062" y="5283801"/>
                <a:ext cx="4378928" cy="1126549"/>
              </a:xfrm>
              <a:prstGeom prst="rect">
                <a:avLst/>
              </a:prstGeom>
              <a:blipFill rotWithShape="1">
                <a:blip r:embed="rId9"/>
                <a:stretch>
                  <a:fillRect l="-11" t="-53" r="10" b="2"/>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left)">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left)">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left)">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wipe(left)">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wipe(left)">
                                      <p:cBhvr>
                                        <p:cTn id="42" dur="500"/>
                                        <p:tgtEl>
                                          <p:spTgt spid="3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wipe(left)">
                                      <p:cBhvr>
                                        <p:cTn id="47" dur="500"/>
                                        <p:tgtEl>
                                          <p:spTgt spid="3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wipe(left)">
                                      <p:cBhvr>
                                        <p:cTn id="5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14" grpId="0"/>
      <p:bldP spid="19" grpId="0" bldLvl="0" animBg="1"/>
      <p:bldP spid="21" grpId="0" bldLvl="0" animBg="1"/>
      <p:bldP spid="5" grpId="0" bldLvl="0" animBg="1"/>
      <p:bldP spid="35" grpId="0"/>
      <p:bldP spid="37" grpId="0"/>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p:nvPr/>
        </p:nvSpPr>
        <p:spPr>
          <a:xfrm>
            <a:off x="687070" y="824230"/>
            <a:ext cx="10817225" cy="5110480"/>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半闭框 47"/>
          <p:cNvSpPr/>
          <p:nvPr/>
        </p:nvSpPr>
        <p:spPr>
          <a:xfrm>
            <a:off x="687324" y="824230"/>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49" name="半闭框 48"/>
          <p:cNvSpPr/>
          <p:nvPr/>
        </p:nvSpPr>
        <p:spPr>
          <a:xfrm flipH="1">
            <a:off x="10823530" y="82423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0" name="半闭框 39"/>
          <p:cNvSpPr/>
          <p:nvPr/>
        </p:nvSpPr>
        <p:spPr>
          <a:xfrm flipV="1">
            <a:off x="687324" y="526280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41" name="半闭框 40"/>
          <p:cNvSpPr/>
          <p:nvPr/>
        </p:nvSpPr>
        <p:spPr>
          <a:xfrm flipH="1" flipV="1">
            <a:off x="10823530" y="5242938"/>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Line 20"/>
          <p:cNvSpPr>
            <a:spLocks noChangeShapeType="1"/>
          </p:cNvSpPr>
          <p:nvPr/>
        </p:nvSpPr>
        <p:spPr bwMode="auto">
          <a:xfrm>
            <a:off x="1864643" y="2279068"/>
            <a:ext cx="8485858" cy="0"/>
          </a:xfrm>
          <a:prstGeom prst="line">
            <a:avLst/>
          </a:prstGeom>
          <a:noFill/>
          <a:ln w="9525">
            <a:solidFill>
              <a:srgbClr val="04926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800">
              <a:latin typeface="+mn-ea"/>
            </a:endParaRPr>
          </a:p>
        </p:txBody>
      </p:sp>
      <p:grpSp>
        <p:nvGrpSpPr>
          <p:cNvPr id="4" name="组合 3"/>
          <p:cNvGrpSpPr/>
          <p:nvPr/>
        </p:nvGrpSpPr>
        <p:grpSpPr>
          <a:xfrm>
            <a:off x="2544763" y="1295397"/>
            <a:ext cx="5051331" cy="1190069"/>
            <a:chOff x="2747963" y="1193797"/>
            <a:chExt cx="5051331" cy="1190069"/>
          </a:xfrm>
        </p:grpSpPr>
        <mc:AlternateContent xmlns:mc="http://schemas.openxmlformats.org/markup-compatibility/2006">
          <mc:Choice xmlns:a14="http://schemas.microsoft.com/office/drawing/2010/main" Requires="a14">
            <p:sp>
              <p:nvSpPr>
                <p:cNvPr id="12" name="对象 8"/>
                <p:cNvSpPr txBox="1"/>
                <p:nvPr/>
              </p:nvSpPr>
              <p:spPr>
                <a:xfrm>
                  <a:off x="3985539" y="1193797"/>
                  <a:ext cx="3813755" cy="1190069"/>
                </a:xfrm>
                <a:prstGeom prst="rect">
                  <a:avLst/>
                </a:prstGeom>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d>
                          <m:d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dPr>
                          <m:e>
                            <m:r>
                              <a:rPr kumimoji="1" lang="zh-CN" altLang="en-US" sz="2200" i="1">
                                <a:solidFill>
                                  <a:schemeClr val="tx1">
                                    <a:lumMod val="95000"/>
                                    <a:lumOff val="5000"/>
                                  </a:schemeClr>
                                </a:solidFill>
                                <a:latin typeface="Cambria Math" panose="02040503050406030204" charset="0"/>
                                <a:ea typeface="黑体" panose="02010609060101010101" pitchFamily="49" charset="-122"/>
                              </a:rPr>
                              <m:t>1</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i="1">
                                    <a:solidFill>
                                      <a:schemeClr val="tx1">
                                        <a:lumMod val="95000"/>
                                        <a:lumOff val="5000"/>
                                      </a:schemeClr>
                                    </a:solidFill>
                                    <a:latin typeface="Cambria Math" panose="02040503050406030204" charset="0"/>
                                    <a:ea typeface="黑体" panose="02010609060101010101" pitchFamily="49" charset="-122"/>
                                  </a:rPr>
                                  <m:t>1</m:t>
                                </m:r>
                              </m:num>
                              <m:den>
                                <m:r>
                                  <a:rPr kumimoji="1" lang="zh-CN" altLang="en-US" sz="2200" i="1">
                                    <a:solidFill>
                                      <a:schemeClr val="tx1">
                                        <a:lumMod val="95000"/>
                                        <a:lumOff val="5000"/>
                                      </a:schemeClr>
                                    </a:solidFill>
                                    <a:latin typeface="Cambria Math" panose="02040503050406030204" charset="0"/>
                                    <a:ea typeface="黑体" panose="02010609060101010101" pitchFamily="49" charset="-122"/>
                                  </a:rPr>
                                  <m:t>𝑢</m:t>
                                </m:r>
                              </m:den>
                            </m:f>
                          </m:e>
                        </m:d>
                        <m:r>
                          <m:rPr>
                            <m:sty m:val="p"/>
                          </m:rPr>
                          <a:rPr kumimoji="1" lang="zh-CN" altLang="en-US" sz="2200" i="1">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𝑢</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i="1">
                                <a:solidFill>
                                  <a:schemeClr val="tx1">
                                    <a:lumMod val="95000"/>
                                    <a:lumOff val="5000"/>
                                  </a:schemeClr>
                                </a:solidFill>
                                <a:latin typeface="Cambria Math" panose="02040503050406030204" charset="0"/>
                                <a:ea typeface="黑体" panose="02010609060101010101" pitchFamily="49" charset="-122"/>
                              </a:rPr>
                              <m:t>1</m:t>
                            </m:r>
                          </m:num>
                          <m:den>
                            <m:r>
                              <a:rPr kumimoji="1" lang="zh-CN" altLang="en-US" sz="2200" i="1">
                                <a:solidFill>
                                  <a:schemeClr val="tx1">
                                    <a:lumMod val="95000"/>
                                    <a:lumOff val="5000"/>
                                  </a:schemeClr>
                                </a:solidFill>
                                <a:latin typeface="Cambria Math" panose="02040503050406030204" charset="0"/>
                                <a:ea typeface="黑体" panose="02010609060101010101" pitchFamily="49" charset="-122"/>
                              </a:rPr>
                              <m:t>𝑥</m:t>
                            </m:r>
                          </m:den>
                        </m:f>
                        <m:r>
                          <m:rPr>
                            <m:sty m:val="p"/>
                          </m:rPr>
                          <a:rPr kumimoji="1" lang="zh-CN" altLang="en-US" sz="2200" i="1">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𝑥</m:t>
                        </m:r>
                      </m:oMath>
                    </m:oMathPara>
                  </a14:m>
                  <a:endParaRPr kumimoji="1" lang="zh-CN" altLang="en-US" sz="2200" i="1"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2" name="对象 8"/>
                <p:cNvSpPr txBox="1">
                  <a:spLocks noRot="1" noChangeAspect="1" noMove="1" noResize="1" noEditPoints="1" noAdjustHandles="1" noChangeArrowheads="1" noChangeShapeType="1" noTextEdit="1"/>
                </p:cNvSpPr>
                <p:nvPr/>
              </p:nvSpPr>
              <p:spPr>
                <a:xfrm>
                  <a:off x="3985539" y="1193797"/>
                  <a:ext cx="3813755" cy="1190069"/>
                </a:xfrm>
                <a:prstGeom prst="rect">
                  <a:avLst/>
                </a:prstGeom>
                <a:blipFill rotWithShape="1">
                  <a:blip r:embed="rId1"/>
                </a:blipFill>
              </p:spPr>
              <p:txBody>
                <a:bodyPr/>
                <a:lstStyle/>
                <a:p>
                  <a:r>
                    <a:rPr lang="zh-CN" altLang="en-US">
                      <a:noFill/>
                    </a:rPr>
                    <a:t> </a:t>
                  </a:r>
                </a:p>
              </p:txBody>
            </p:sp>
          </mc:Fallback>
        </mc:AlternateContent>
        <p:sp>
          <p:nvSpPr>
            <p:cNvPr id="2" name="文本框 1"/>
            <p:cNvSpPr txBox="1"/>
            <p:nvPr/>
          </p:nvSpPr>
          <p:spPr>
            <a:xfrm>
              <a:off x="2747963" y="1224350"/>
              <a:ext cx="633866" cy="430887"/>
            </a:xfrm>
            <a:prstGeom prst="rect">
              <a:avLst/>
            </a:prstGeom>
            <a:noFill/>
          </p:spPr>
          <p:txBody>
            <a:bodyPr wrap="square" rtlCol="0">
              <a:spAutoFit/>
            </a:bodyPr>
            <a:lstStyle/>
            <a:p>
              <a:endParaRPr kumimoji="1" lang="zh-CN" altLang="en-US" sz="2200" dirty="0"/>
            </a:p>
          </p:txBody>
        </p:sp>
      </p:grpSp>
      <p:grpSp>
        <p:nvGrpSpPr>
          <p:cNvPr id="6" name="组合 5"/>
          <p:cNvGrpSpPr/>
          <p:nvPr/>
        </p:nvGrpSpPr>
        <p:grpSpPr>
          <a:xfrm>
            <a:off x="3338286" y="2407655"/>
            <a:ext cx="6499276" cy="698495"/>
            <a:chOff x="3541486" y="2306055"/>
            <a:chExt cx="6499276" cy="698495"/>
          </a:xfrm>
        </p:grpSpPr>
        <mc:AlternateContent xmlns:mc="http://schemas.openxmlformats.org/markup-compatibility/2006">
          <mc:Choice xmlns:a14="http://schemas.microsoft.com/office/drawing/2010/main" Requires="a14">
            <p:sp>
              <p:nvSpPr>
                <p:cNvPr id="3" name="对象 1"/>
                <p:cNvSpPr txBox="1"/>
                <p:nvPr/>
              </p:nvSpPr>
              <p:spPr>
                <a:xfrm>
                  <a:off x="3985158" y="2306055"/>
                  <a:ext cx="6055604" cy="698495"/>
                </a:xfrm>
                <a:prstGeom prst="rect">
                  <a:avLst/>
                </a:prstGeom>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zh-CN" altLang="en-US" sz="2200" i="1" smtClean="0">
                            <a:solidFill>
                              <a:schemeClr val="tx1">
                                <a:lumMod val="95000"/>
                                <a:lumOff val="5000"/>
                              </a:schemeClr>
                            </a:solidFill>
                            <a:latin typeface="Cambria Math" panose="02040503050406030204" charset="0"/>
                            <a:ea typeface="黑体" panose="02010609060101010101" pitchFamily="49" charset="-122"/>
                          </a:rPr>
                          <m:t>两端积分</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r>
                          <a:rPr kumimoji="1" lang="en-US" altLang="zh-CN" sz="2200" b="0" i="1"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得</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𝑢</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i="1">
                                <a:solidFill>
                                  <a:schemeClr val="tx1">
                                    <a:lumMod val="95000"/>
                                    <a:lumOff val="5000"/>
                                  </a:schemeClr>
                                </a:solidFill>
                                <a:latin typeface="Cambria Math" panose="02040503050406030204" charset="0"/>
                                <a:ea typeface="黑体" panose="02010609060101010101" pitchFamily="49" charset="-122"/>
                              </a:rPr>
                              <m:t>ln</m:t>
                            </m:r>
                          </m:fName>
                          <m:e>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e>
                        </m:func>
                        <m:r>
                          <a:rPr kumimoji="1" lang="zh-CN" altLang="en-US" sz="2200" i="1">
                            <a:solidFill>
                              <a:schemeClr val="tx1">
                                <a:lumMod val="95000"/>
                                <a:lumOff val="5000"/>
                              </a:schemeClr>
                            </a:solidFill>
                            <a:latin typeface="Cambria Math" panose="02040503050406030204" charset="0"/>
                            <a:ea typeface="黑体" panose="02010609060101010101" pitchFamily="49" charset="-122"/>
                          </a:rPr>
                          <m:t>𝑢</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i="1">
                                <a:solidFill>
                                  <a:schemeClr val="tx1">
                                    <a:lumMod val="95000"/>
                                    <a:lumOff val="5000"/>
                                  </a:schemeClr>
                                </a:solidFill>
                                <a:latin typeface="Cambria Math" panose="02040503050406030204" charset="0"/>
                                <a:ea typeface="黑体" panose="02010609060101010101" pitchFamily="49" charset="-122"/>
                              </a:rPr>
                              <m:t>𝐶</m:t>
                            </m:r>
                          </m:e>
                          <m:sub>
                            <m:r>
                              <a:rPr kumimoji="1" lang="zh-CN" altLang="en-US" sz="2200" i="1">
                                <a:solidFill>
                                  <a:schemeClr val="tx1">
                                    <a:lumMod val="95000"/>
                                    <a:lumOff val="5000"/>
                                  </a:schemeClr>
                                </a:solidFill>
                                <a:latin typeface="Cambria Math" panose="02040503050406030204" charset="0"/>
                                <a:ea typeface="黑体" panose="02010609060101010101" pitchFamily="49" charset="-122"/>
                              </a:rPr>
                              <m:t>1</m:t>
                            </m:r>
                          </m:sub>
                        </m:sSub>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i="1">
                                <a:solidFill>
                                  <a:schemeClr val="tx1">
                                    <a:lumMod val="95000"/>
                                    <a:lumOff val="5000"/>
                                  </a:schemeClr>
                                </a:solidFill>
                                <a:latin typeface="Cambria Math" panose="02040503050406030204" charset="0"/>
                                <a:ea typeface="黑体" panose="02010609060101010101" pitchFamily="49" charset="-122"/>
                              </a:rPr>
                              <m:t>ln</m:t>
                            </m:r>
                          </m:fName>
                          <m:e>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e>
                        </m:func>
                        <m:r>
                          <a:rPr kumimoji="1" lang="zh-CN" altLang="en-US" sz="2200" i="1">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i="1"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3" name="对象 1"/>
                <p:cNvSpPr txBox="1">
                  <a:spLocks noRot="1" noChangeAspect="1" noMove="1" noResize="1" noEditPoints="1" noAdjustHandles="1" noChangeArrowheads="1" noChangeShapeType="1" noTextEdit="1"/>
                </p:cNvSpPr>
                <p:nvPr/>
              </p:nvSpPr>
              <p:spPr>
                <a:xfrm>
                  <a:off x="3985158" y="2306055"/>
                  <a:ext cx="6055604" cy="698495"/>
                </a:xfrm>
                <a:prstGeom prst="rect">
                  <a:avLst/>
                </a:prstGeom>
                <a:blipFill rotWithShape="1">
                  <a:blip r:embed="rId2"/>
                </a:blipFill>
              </p:spPr>
              <p:txBody>
                <a:bodyPr/>
                <a:lstStyle/>
                <a:p>
                  <a:r>
                    <a:rPr lang="zh-CN" altLang="en-US">
                      <a:noFill/>
                    </a:rPr>
                    <a:t> </a:t>
                  </a:r>
                </a:p>
              </p:txBody>
            </p:sp>
          </mc:Fallback>
        </mc:AlternateContent>
        <p:sp>
          <p:nvSpPr>
            <p:cNvPr id="5" name="文本框 4"/>
            <p:cNvSpPr txBox="1"/>
            <p:nvPr/>
          </p:nvSpPr>
          <p:spPr>
            <a:xfrm>
              <a:off x="3541486" y="2470870"/>
              <a:ext cx="304800" cy="430887"/>
            </a:xfrm>
            <a:prstGeom prst="rect">
              <a:avLst/>
            </a:prstGeom>
            <a:noFill/>
          </p:spPr>
          <p:txBody>
            <a:bodyPr wrap="square" rtlCol="0">
              <a:spAutoFit/>
            </a:bodyPr>
            <a:lstStyle/>
            <a:p>
              <a:endParaRPr kumimoji="1" lang="zh-CN" altLang="en-US" sz="2200" dirty="0"/>
            </a:p>
          </p:txBody>
        </p:sp>
      </p:grpSp>
      <p:grpSp>
        <p:nvGrpSpPr>
          <p:cNvPr id="14" name="组合 13"/>
          <p:cNvGrpSpPr/>
          <p:nvPr/>
        </p:nvGrpSpPr>
        <p:grpSpPr>
          <a:xfrm>
            <a:off x="2728686" y="2932153"/>
            <a:ext cx="4945827" cy="1388563"/>
            <a:chOff x="2931886" y="2830553"/>
            <a:chExt cx="4945827" cy="1388563"/>
          </a:xfrm>
        </p:grpSpPr>
        <mc:AlternateContent xmlns:mc="http://schemas.openxmlformats.org/markup-compatibility/2006">
          <mc:Choice xmlns:a14="http://schemas.microsoft.com/office/drawing/2010/main" Requires="a14">
            <p:sp>
              <p:nvSpPr>
                <p:cNvPr id="7" name="对象 3"/>
                <p:cNvSpPr txBox="1"/>
                <p:nvPr/>
              </p:nvSpPr>
              <p:spPr>
                <a:xfrm>
                  <a:off x="3984396" y="2830553"/>
                  <a:ext cx="3893317" cy="597291"/>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zh-CN" altLang="en-US" sz="2200" i="1">
                            <a:solidFill>
                              <a:schemeClr val="tx1">
                                <a:lumMod val="95000"/>
                                <a:lumOff val="5000"/>
                              </a:schemeClr>
                            </a:solidFill>
                            <a:latin typeface="Cambria Math" panose="02040503050406030204" charset="0"/>
                            <a:ea typeface="黑体" panose="02010609060101010101" pitchFamily="49" charset="-122"/>
                          </a:rPr>
                          <m:t>或写为</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  </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i="1">
                                <a:solidFill>
                                  <a:schemeClr val="tx1">
                                    <a:lumMod val="95000"/>
                                    <a:lumOff val="5000"/>
                                  </a:schemeClr>
                                </a:solidFill>
                                <a:latin typeface="Cambria Math" panose="02040503050406030204" charset="0"/>
                                <a:ea typeface="黑体" panose="02010609060101010101" pitchFamily="49" charset="-122"/>
                              </a:rPr>
                              <m:t>ln</m:t>
                            </m:r>
                          </m:fName>
                          <m:e>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e>
                        </m:func>
                        <m:r>
                          <a:rPr kumimoji="1" lang="zh-CN" altLang="en-US" sz="2200" i="1">
                            <a:solidFill>
                              <a:schemeClr val="tx1">
                                <a:lumMod val="95000"/>
                                <a:lumOff val="5000"/>
                              </a:schemeClr>
                            </a:solidFill>
                            <a:latin typeface="Cambria Math" panose="02040503050406030204" charset="0"/>
                            <a:ea typeface="黑体" panose="02010609060101010101" pitchFamily="49" charset="-122"/>
                          </a:rPr>
                          <m:t>𝑥𝑢</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𝑢</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i="1">
                                <a:solidFill>
                                  <a:schemeClr val="tx1">
                                    <a:lumMod val="95000"/>
                                    <a:lumOff val="5000"/>
                                  </a:schemeClr>
                                </a:solidFill>
                                <a:latin typeface="Cambria Math" panose="02040503050406030204" charset="0"/>
                                <a:ea typeface="黑体" panose="02010609060101010101" pitchFamily="49" charset="-122"/>
                              </a:rPr>
                              <m:t>𝐶</m:t>
                            </m:r>
                          </m:e>
                          <m:sub>
                            <m:r>
                              <a:rPr kumimoji="1" lang="zh-CN" altLang="en-US" sz="2200" i="1">
                                <a:solidFill>
                                  <a:schemeClr val="tx1">
                                    <a:lumMod val="95000"/>
                                    <a:lumOff val="5000"/>
                                  </a:schemeClr>
                                </a:solidFill>
                                <a:latin typeface="Cambria Math" panose="02040503050406030204" charset="0"/>
                                <a:ea typeface="黑体" panose="02010609060101010101" pitchFamily="49" charset="-122"/>
                              </a:rPr>
                              <m:t>1</m:t>
                            </m:r>
                          </m:sub>
                        </m:sSub>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i="1"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7" name="对象 3"/>
                <p:cNvSpPr txBox="1">
                  <a:spLocks noRot="1" noChangeAspect="1" noMove="1" noResize="1" noEditPoints="1" noAdjustHandles="1" noChangeArrowheads="1" noChangeShapeType="1" noTextEdit="1"/>
                </p:cNvSpPr>
                <p:nvPr/>
              </p:nvSpPr>
              <p:spPr>
                <a:xfrm>
                  <a:off x="3984396" y="2830553"/>
                  <a:ext cx="3893317" cy="597291"/>
                </a:xfrm>
                <a:prstGeom prst="rect">
                  <a:avLst/>
                </a:prstGeom>
                <a:blipFill rotWithShape="1">
                  <a:blip r:embed="rId3"/>
                </a:blipFill>
              </p:spPr>
              <p:txBody>
                <a:bodyPr/>
                <a:lstStyle/>
                <a:p>
                  <a:r>
                    <a:rPr lang="zh-CN" altLang="en-US">
                      <a:noFill/>
                    </a:rPr>
                    <a:t> </a:t>
                  </a:r>
                </a:p>
              </p:txBody>
            </p:sp>
          </mc:Fallback>
        </mc:AlternateContent>
        <p:sp>
          <p:nvSpPr>
            <p:cNvPr id="13" name="文本框 12"/>
            <p:cNvSpPr txBox="1"/>
            <p:nvPr/>
          </p:nvSpPr>
          <p:spPr>
            <a:xfrm>
              <a:off x="2931886" y="3788229"/>
              <a:ext cx="290285" cy="430887"/>
            </a:xfrm>
            <a:prstGeom prst="rect">
              <a:avLst/>
            </a:prstGeom>
            <a:noFill/>
          </p:spPr>
          <p:txBody>
            <a:bodyPr wrap="square" rtlCol="0">
              <a:spAutoFit/>
            </a:bodyPr>
            <a:lstStyle/>
            <a:p>
              <a:endParaRPr kumimoji="1" lang="zh-CN" altLang="en-US" sz="2200" dirty="0"/>
            </a:p>
          </p:txBody>
        </p:sp>
      </p:grpSp>
      <p:grpSp>
        <p:nvGrpSpPr>
          <p:cNvPr id="16" name="组合 15"/>
          <p:cNvGrpSpPr/>
          <p:nvPr/>
        </p:nvGrpSpPr>
        <p:grpSpPr>
          <a:xfrm>
            <a:off x="3802712" y="3485354"/>
            <a:ext cx="5355802" cy="1161105"/>
            <a:chOff x="4005912" y="3383754"/>
            <a:chExt cx="5355802" cy="1161105"/>
          </a:xfrm>
        </p:grpSpPr>
        <mc:AlternateContent xmlns:mc="http://schemas.openxmlformats.org/markup-compatibility/2006">
          <mc:Choice xmlns:a14="http://schemas.microsoft.com/office/drawing/2010/main" Requires="a14">
            <p:sp>
              <p:nvSpPr>
                <p:cNvPr id="8" name="对象 4"/>
                <p:cNvSpPr txBox="1"/>
                <p:nvPr/>
              </p:nvSpPr>
              <p:spPr>
                <a:xfrm>
                  <a:off x="4005912" y="3383754"/>
                  <a:ext cx="3105578" cy="838199"/>
                </a:xfrm>
                <a:prstGeom prst="rect">
                  <a:avLst/>
                </a:prstGeom>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zh-CN" altLang="en-US" sz="2200" i="1" smtClean="0">
                            <a:solidFill>
                              <a:schemeClr val="tx1">
                                <a:lumMod val="95000"/>
                                <a:lumOff val="5000"/>
                              </a:schemeClr>
                            </a:solidFill>
                            <a:latin typeface="Cambria Math" panose="02040503050406030204" charset="0"/>
                            <a:ea typeface="黑体" panose="02010609060101010101" pitchFamily="49" charset="-122"/>
                          </a:rPr>
                          <m:t>将</m:t>
                        </m:r>
                        <m:r>
                          <a:rPr kumimoji="1" lang="zh-CN" altLang="en-US" sz="2200" i="1"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i="1" smtClean="0">
                            <a:solidFill>
                              <a:schemeClr val="tx1">
                                <a:lumMod val="95000"/>
                                <a:lumOff val="5000"/>
                              </a:schemeClr>
                            </a:solidFill>
                            <a:latin typeface="Cambria Math" panose="02040503050406030204" charset="0"/>
                            <a:ea typeface="黑体" panose="02010609060101010101" pitchFamily="49" charset="-122"/>
                          </a:rPr>
                          <m:t>𝑢</m:t>
                        </m:r>
                        <m:r>
                          <a:rPr kumimoji="1" lang="zh-CN" altLang="en-US" sz="2200" i="1" smtClean="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i="1">
                                <a:solidFill>
                                  <a:schemeClr val="tx1">
                                    <a:lumMod val="95000"/>
                                    <a:lumOff val="5000"/>
                                  </a:schemeClr>
                                </a:solidFill>
                                <a:latin typeface="Cambria Math" panose="02040503050406030204" charset="0"/>
                                <a:ea typeface="黑体" panose="02010609060101010101" pitchFamily="49" charset="-122"/>
                              </a:rPr>
                              <m:t>𝑦</m:t>
                            </m:r>
                          </m:num>
                          <m:den>
                            <m:r>
                              <a:rPr kumimoji="1" lang="zh-CN" altLang="en-US" sz="2200" i="1">
                                <a:solidFill>
                                  <a:schemeClr val="tx1">
                                    <a:lumMod val="95000"/>
                                    <a:lumOff val="5000"/>
                                  </a:schemeClr>
                                </a:solidFill>
                                <a:latin typeface="Cambria Math" panose="02040503050406030204" charset="0"/>
                                <a:ea typeface="黑体" panose="02010609060101010101" pitchFamily="49" charset="-122"/>
                              </a:rPr>
                              <m:t>𝑥</m:t>
                            </m:r>
                          </m:den>
                        </m:f>
                        <m:r>
                          <a:rPr kumimoji="1" lang="zh-CN" altLang="en-US" sz="2200" i="1">
                            <a:solidFill>
                              <a:schemeClr val="tx1">
                                <a:lumMod val="95000"/>
                                <a:lumOff val="5000"/>
                              </a:schemeClr>
                            </a:solidFill>
                            <a:latin typeface="Cambria Math" panose="02040503050406030204" charset="0"/>
                            <a:ea typeface="黑体" panose="02010609060101010101" pitchFamily="49" charset="-122"/>
                          </a:rPr>
                          <m:t>代入</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得</m:t>
                        </m:r>
                      </m:oMath>
                    </m:oMathPara>
                  </a14:m>
                  <a:endParaRPr kumimoji="1" lang="zh-CN" altLang="en-US" sz="2200" i="1"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8" name="对象 4"/>
                <p:cNvSpPr txBox="1">
                  <a:spLocks noRot="1" noChangeAspect="1" noMove="1" noResize="1" noEditPoints="1" noAdjustHandles="1" noChangeArrowheads="1" noChangeShapeType="1" noTextEdit="1"/>
                </p:cNvSpPr>
                <p:nvPr/>
              </p:nvSpPr>
              <p:spPr>
                <a:xfrm>
                  <a:off x="4005912" y="3383754"/>
                  <a:ext cx="3105578" cy="838199"/>
                </a:xfrm>
                <a:prstGeom prst="rect">
                  <a:avLst/>
                </a:prstGeom>
                <a:blipFill rotWithShape="1">
                  <a:blip r:embed="rId4"/>
                </a:blipFill>
              </p:spPr>
              <p:txBody>
                <a:bodyPr/>
                <a:lstStyle/>
                <a:p>
                  <a:r>
                    <a:rPr lang="zh-CN" altLang="en-US">
                      <a:noFill/>
                    </a:rPr>
                    <a:t> </a:t>
                  </a:r>
                </a:p>
              </p:txBody>
            </p:sp>
          </mc:Fallback>
        </mc:AlternateContent>
        <p:sp>
          <p:nvSpPr>
            <p:cNvPr id="15" name="文本框 14"/>
            <p:cNvSpPr txBox="1"/>
            <p:nvPr/>
          </p:nvSpPr>
          <p:spPr>
            <a:xfrm>
              <a:off x="8940800" y="4113972"/>
              <a:ext cx="420914" cy="430887"/>
            </a:xfrm>
            <a:prstGeom prst="rect">
              <a:avLst/>
            </a:prstGeom>
            <a:noFill/>
          </p:spPr>
          <p:txBody>
            <a:bodyPr wrap="square" rtlCol="0">
              <a:spAutoFit/>
            </a:bodyPr>
            <a:lstStyle/>
            <a:p>
              <a:endParaRPr kumimoji="1" lang="zh-CN" altLang="en-US" sz="2200" dirty="0"/>
            </a:p>
          </p:txBody>
        </p:sp>
      </p:grpSp>
      <p:grpSp>
        <p:nvGrpSpPr>
          <p:cNvPr id="18" name="组合 17"/>
          <p:cNvGrpSpPr/>
          <p:nvPr/>
        </p:nvGrpSpPr>
        <p:grpSpPr>
          <a:xfrm>
            <a:off x="3815165" y="4215572"/>
            <a:ext cx="5082092" cy="1463227"/>
            <a:chOff x="4018365" y="4113972"/>
            <a:chExt cx="5082092" cy="1463227"/>
          </a:xfrm>
        </p:grpSpPr>
        <mc:AlternateContent xmlns:mc="http://schemas.openxmlformats.org/markup-compatibility/2006">
          <mc:Choice xmlns:a14="http://schemas.microsoft.com/office/drawing/2010/main" Requires="a14">
            <p:sp>
              <p:nvSpPr>
                <p:cNvPr id="9" name="对象 5"/>
                <p:cNvSpPr txBox="1"/>
                <p:nvPr/>
              </p:nvSpPr>
              <p:spPr>
                <a:xfrm>
                  <a:off x="4018365" y="4113972"/>
                  <a:ext cx="2317491" cy="838191"/>
                </a:xfrm>
                <a:prstGeom prst="rect">
                  <a:avLst/>
                </a:prstGeom>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i="1">
                                <a:solidFill>
                                  <a:schemeClr val="tx1">
                                    <a:lumMod val="95000"/>
                                    <a:lumOff val="5000"/>
                                  </a:schemeClr>
                                </a:solidFill>
                                <a:latin typeface="Cambria Math" panose="02040503050406030204" charset="0"/>
                                <a:ea typeface="黑体" panose="02010609060101010101" pitchFamily="49" charset="-122"/>
                              </a:rPr>
                              <m:t>ln</m:t>
                            </m:r>
                          </m:fName>
                          <m:e>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e>
                        </m:func>
                        <m:r>
                          <a:rPr kumimoji="1" lang="zh-CN" altLang="en-US" sz="2200" i="1">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i="1">
                                <a:solidFill>
                                  <a:schemeClr val="tx1">
                                    <a:lumMod val="95000"/>
                                    <a:lumOff val="5000"/>
                                  </a:schemeClr>
                                </a:solidFill>
                                <a:latin typeface="Cambria Math" panose="02040503050406030204" charset="0"/>
                                <a:ea typeface="黑体" panose="02010609060101010101" pitchFamily="49" charset="-122"/>
                              </a:rPr>
                              <m:t>𝑦</m:t>
                            </m:r>
                          </m:num>
                          <m:den>
                            <m:r>
                              <a:rPr kumimoji="1" lang="zh-CN" altLang="en-US" sz="2200" i="1">
                                <a:solidFill>
                                  <a:schemeClr val="tx1">
                                    <a:lumMod val="95000"/>
                                    <a:lumOff val="5000"/>
                                  </a:schemeClr>
                                </a:solidFill>
                                <a:latin typeface="Cambria Math" panose="02040503050406030204" charset="0"/>
                                <a:ea typeface="黑体" panose="02010609060101010101" pitchFamily="49" charset="-122"/>
                              </a:rPr>
                              <m:t>𝑥</m:t>
                            </m:r>
                          </m:den>
                        </m:f>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i="1">
                                <a:solidFill>
                                  <a:schemeClr val="tx1">
                                    <a:lumMod val="95000"/>
                                    <a:lumOff val="5000"/>
                                  </a:schemeClr>
                                </a:solidFill>
                                <a:latin typeface="Cambria Math" panose="02040503050406030204" charset="0"/>
                                <a:ea typeface="黑体" panose="02010609060101010101" pitchFamily="49" charset="-122"/>
                              </a:rPr>
                              <m:t>𝐶</m:t>
                            </m:r>
                          </m:e>
                          <m:sub>
                            <m:r>
                              <a:rPr kumimoji="1" lang="zh-CN" altLang="en-US" sz="2200" i="1">
                                <a:solidFill>
                                  <a:schemeClr val="tx1">
                                    <a:lumMod val="95000"/>
                                    <a:lumOff val="5000"/>
                                  </a:schemeClr>
                                </a:solidFill>
                                <a:latin typeface="Cambria Math" panose="02040503050406030204" charset="0"/>
                                <a:ea typeface="黑体" panose="02010609060101010101" pitchFamily="49" charset="-122"/>
                              </a:rPr>
                              <m:t>1</m:t>
                            </m:r>
                          </m:sub>
                        </m:sSub>
                      </m:oMath>
                    </m:oMathPara>
                  </a14:m>
                  <a:endParaRPr kumimoji="1" lang="zh-CN" altLang="en-US" sz="2200" i="1"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9" name="对象 5"/>
                <p:cNvSpPr txBox="1">
                  <a:spLocks noRot="1" noChangeAspect="1" noMove="1" noResize="1" noEditPoints="1" noAdjustHandles="1" noChangeArrowheads="1" noChangeShapeType="1" noTextEdit="1"/>
                </p:cNvSpPr>
                <p:nvPr/>
              </p:nvSpPr>
              <p:spPr>
                <a:xfrm>
                  <a:off x="4018365" y="4113972"/>
                  <a:ext cx="2317491" cy="838191"/>
                </a:xfrm>
                <a:prstGeom prst="rect">
                  <a:avLst/>
                </a:prstGeom>
                <a:blipFill rotWithShape="1">
                  <a:blip r:embed="rId5"/>
                </a:blipFill>
              </p:spPr>
              <p:txBody>
                <a:bodyPr/>
                <a:lstStyle/>
                <a:p>
                  <a:r>
                    <a:rPr lang="zh-CN" altLang="en-US">
                      <a:noFill/>
                    </a:rPr>
                    <a:t> </a:t>
                  </a:r>
                </a:p>
              </p:txBody>
            </p:sp>
          </mc:Fallback>
        </mc:AlternateContent>
        <p:sp>
          <p:nvSpPr>
            <p:cNvPr id="17" name="文本框 16"/>
            <p:cNvSpPr txBox="1"/>
            <p:nvPr/>
          </p:nvSpPr>
          <p:spPr>
            <a:xfrm>
              <a:off x="8577943" y="5138057"/>
              <a:ext cx="522514" cy="439142"/>
            </a:xfrm>
            <a:prstGeom prst="rect">
              <a:avLst/>
            </a:prstGeom>
            <a:noFill/>
          </p:spPr>
          <p:txBody>
            <a:bodyPr wrap="square" rtlCol="0">
              <a:spAutoFit/>
            </a:bodyPr>
            <a:lstStyle/>
            <a:p>
              <a:endParaRPr kumimoji="1" lang="zh-CN" altLang="en-US" sz="2200" dirty="0"/>
            </a:p>
          </p:txBody>
        </p:sp>
      </p:grpSp>
      <p:grpSp>
        <p:nvGrpSpPr>
          <p:cNvPr id="20" name="组合 19"/>
          <p:cNvGrpSpPr/>
          <p:nvPr/>
        </p:nvGrpSpPr>
        <p:grpSpPr>
          <a:xfrm>
            <a:off x="2728686" y="4897059"/>
            <a:ext cx="4871633" cy="898232"/>
            <a:chOff x="2931886" y="4795459"/>
            <a:chExt cx="4871633" cy="898232"/>
          </a:xfrm>
        </p:grpSpPr>
        <mc:AlternateContent xmlns:mc="http://schemas.openxmlformats.org/markup-compatibility/2006">
          <mc:Choice xmlns:a14="http://schemas.microsoft.com/office/drawing/2010/main" Requires="a14">
            <p:sp>
              <p:nvSpPr>
                <p:cNvPr id="10" name="对象 6"/>
                <p:cNvSpPr txBox="1"/>
                <p:nvPr/>
              </p:nvSpPr>
              <p:spPr>
                <a:xfrm>
                  <a:off x="4007607" y="4795459"/>
                  <a:ext cx="3795912" cy="838191"/>
                </a:xfrm>
                <a:prstGeom prst="rect">
                  <a:avLst/>
                </a:prstGeom>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r>
                          <a:rPr kumimoji="1" lang="zh-CN" altLang="en-US" sz="2200" i="1">
                            <a:solidFill>
                              <a:schemeClr val="tx1">
                                <a:lumMod val="95000"/>
                                <a:lumOff val="5000"/>
                              </a:schemeClr>
                            </a:solidFill>
                            <a:latin typeface="Cambria Math" panose="02040503050406030204" charset="0"/>
                            <a:ea typeface="黑体" panose="02010609060101010101" pitchFamily="49" charset="-122"/>
                          </a:rPr>
                          <m:t>或</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𝐶</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m:rPr>
                                <m:sty m:val="p"/>
                              </m:rPr>
                              <a:rPr kumimoji="1" lang="zh-CN" altLang="en-US" sz="2200" i="0">
                                <a:solidFill>
                                  <a:schemeClr val="tx1">
                                    <a:lumMod val="95000"/>
                                    <a:lumOff val="5000"/>
                                  </a:schemeClr>
                                </a:solidFill>
                                <a:latin typeface="Cambria Math" panose="02040503050406030204" charset="0"/>
                                <a:ea typeface="黑体" panose="02010609060101010101" pitchFamily="49" charset="-122"/>
                              </a:rPr>
                              <m:t>e</m:t>
                            </m:r>
                          </m:e>
                          <m:sup>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i="1">
                                    <a:solidFill>
                                      <a:schemeClr val="tx1">
                                        <a:lumMod val="95000"/>
                                        <a:lumOff val="5000"/>
                                      </a:schemeClr>
                                    </a:solidFill>
                                    <a:latin typeface="Cambria Math" panose="02040503050406030204" charset="0"/>
                                    <a:ea typeface="黑体" panose="02010609060101010101" pitchFamily="49" charset="-122"/>
                                  </a:rPr>
                                  <m:t>𝑦</m:t>
                                </m:r>
                              </m:num>
                              <m:den>
                                <m:r>
                                  <a:rPr kumimoji="1" lang="zh-CN" altLang="en-US" sz="2200" i="1">
                                    <a:solidFill>
                                      <a:schemeClr val="tx1">
                                        <a:lumMod val="95000"/>
                                        <a:lumOff val="5000"/>
                                      </a:schemeClr>
                                    </a:solidFill>
                                    <a:latin typeface="Cambria Math" panose="02040503050406030204" charset="0"/>
                                    <a:ea typeface="黑体" panose="02010609060101010101" pitchFamily="49" charset="-122"/>
                                  </a:rPr>
                                  <m:t>𝑥</m:t>
                                </m:r>
                              </m:den>
                            </m:f>
                          </m:sup>
                        </m:sSup>
                        <m:r>
                          <a:rPr kumimoji="1" lang="zh-CN" altLang="en-US" sz="2200" i="1">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𝐶</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m:rPr>
                                <m:sty m:val="p"/>
                              </m:rPr>
                              <a:rPr kumimoji="1" lang="zh-CN" altLang="en-US" sz="2200" b="0" i="0">
                                <a:solidFill>
                                  <a:schemeClr val="tx1">
                                    <a:lumMod val="95000"/>
                                    <a:lumOff val="5000"/>
                                  </a:schemeClr>
                                </a:solidFill>
                                <a:latin typeface="Cambria Math" panose="02040503050406030204" charset="0"/>
                                <a:ea typeface="黑体" panose="02010609060101010101" pitchFamily="49" charset="-122"/>
                              </a:rPr>
                              <m:t>e</m:t>
                            </m:r>
                          </m:e>
                          <m:sup>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i="1">
                                    <a:solidFill>
                                      <a:schemeClr val="tx1">
                                        <a:lumMod val="95000"/>
                                        <a:lumOff val="5000"/>
                                      </a:schemeClr>
                                    </a:solidFill>
                                    <a:latin typeface="Cambria Math" panose="02040503050406030204" charset="0"/>
                                    <a:ea typeface="黑体" panose="02010609060101010101" pitchFamily="49" charset="-122"/>
                                  </a:rPr>
                                  <m:t>𝐶</m:t>
                                </m:r>
                              </m:e>
                              <m:sub>
                                <m:r>
                                  <a:rPr kumimoji="1" lang="zh-CN" altLang="en-US" sz="2200" i="1">
                                    <a:solidFill>
                                      <a:schemeClr val="tx1">
                                        <a:lumMod val="95000"/>
                                        <a:lumOff val="5000"/>
                                      </a:schemeClr>
                                    </a:solidFill>
                                    <a:latin typeface="Cambria Math" panose="02040503050406030204" charset="0"/>
                                    <a:ea typeface="黑体" panose="02010609060101010101" pitchFamily="49" charset="-122"/>
                                  </a:rPr>
                                  <m:t>1</m:t>
                                </m:r>
                              </m:sub>
                            </m:sSub>
                          </m:sup>
                        </m:sSup>
                        <m:r>
                          <a:rPr kumimoji="1" lang="zh-CN" altLang="en-US" sz="2200" i="1">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i="1"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0" name="对象 6"/>
                <p:cNvSpPr txBox="1">
                  <a:spLocks noRot="1" noChangeAspect="1" noMove="1" noResize="1" noEditPoints="1" noAdjustHandles="1" noChangeArrowheads="1" noChangeShapeType="1" noTextEdit="1"/>
                </p:cNvSpPr>
                <p:nvPr/>
              </p:nvSpPr>
              <p:spPr>
                <a:xfrm>
                  <a:off x="4007607" y="4795459"/>
                  <a:ext cx="3795912" cy="838191"/>
                </a:xfrm>
                <a:prstGeom prst="rect">
                  <a:avLst/>
                </a:prstGeom>
                <a:blipFill rotWithShape="1">
                  <a:blip r:embed="rId6"/>
                </a:blipFill>
              </p:spPr>
              <p:txBody>
                <a:bodyPr/>
                <a:lstStyle/>
                <a:p>
                  <a:r>
                    <a:rPr lang="zh-CN" altLang="en-US">
                      <a:noFill/>
                    </a:rPr>
                    <a:t> </a:t>
                  </a:r>
                </a:p>
              </p:txBody>
            </p:sp>
          </mc:Fallback>
        </mc:AlternateContent>
        <p:sp>
          <p:nvSpPr>
            <p:cNvPr id="19" name="文本框 18"/>
            <p:cNvSpPr txBox="1"/>
            <p:nvPr/>
          </p:nvSpPr>
          <p:spPr>
            <a:xfrm>
              <a:off x="2931886" y="5262804"/>
              <a:ext cx="449943" cy="430887"/>
            </a:xfrm>
            <a:prstGeom prst="rect">
              <a:avLst/>
            </a:prstGeom>
            <a:noFill/>
          </p:spPr>
          <p:txBody>
            <a:bodyPr wrap="square" rtlCol="0">
              <a:spAutoFit/>
            </a:bodyPr>
            <a:lstStyle/>
            <a:p>
              <a:endParaRPr kumimoji="1" lang="zh-CN" altLang="en-US" sz="2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left)">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wipe(left)">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wipe(left)">
                                      <p:cBhvr>
                                        <p:cTn id="3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111125" y="488950"/>
            <a:ext cx="11903710" cy="168148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第八章</a:t>
            </a:r>
            <a:r>
              <a:rPr lang="en-US" altLang="zh-CN"/>
              <a:t> </a:t>
            </a:r>
            <a:r>
              <a:rPr lang="zh-CN" altLang="en-US"/>
              <a:t>向量代数</a:t>
            </a:r>
            <a:r>
              <a:rPr lang="en-US" altLang="zh-CN"/>
              <a:t> </a:t>
            </a:r>
            <a:r>
              <a:rPr lang="zh-CN" altLang="en-US"/>
              <a:t>空间解析几何</a:t>
            </a:r>
            <a:endParaRPr lang="zh-CN" altLang="en-US"/>
          </a:p>
        </p:txBody>
      </p:sp>
      <p:sp>
        <p:nvSpPr>
          <p:cNvPr id="3" name="内容占位符 2"/>
          <p:cNvSpPr>
            <a:spLocks noGrp="1"/>
          </p:cNvSpPr>
          <p:nvPr>
            <p:ph idx="1"/>
          </p:nvPr>
        </p:nvSpPr>
        <p:spPr/>
        <p:txBody>
          <a:bodyPr/>
          <a:p>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4"/>
          <p:cNvSpPr>
            <a:spLocks noChangeArrowheads="1"/>
          </p:cNvSpPr>
          <p:nvPr/>
        </p:nvSpPr>
        <p:spPr bwMode="auto">
          <a:xfrm>
            <a:off x="1041537" y="590476"/>
            <a:ext cx="5892663"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3200" b="1" dirty="0">
                <a:solidFill>
                  <a:srgbClr val="04926A"/>
                </a:solidFill>
                <a:highlight>
                  <a:srgbClr val="FFFF00"/>
                </a:highlight>
                <a:latin typeface="微软雅黑" panose="020B0503020204020204" charset="-122"/>
                <a:ea typeface="微软雅黑" panose="020B0503020204020204" charset="-122"/>
              </a:rPr>
              <a:t>向量的模、方向角、投影</a:t>
            </a:r>
            <a:endParaRPr lang="zh-CN" altLang="en-US" sz="3200" b="1" dirty="0">
              <a:solidFill>
                <a:srgbClr val="04926A"/>
              </a:solidFill>
              <a:highlight>
                <a:srgbClr val="FFFF00"/>
              </a:highlight>
              <a:latin typeface="微软雅黑" panose="020B0503020204020204" charset="-122"/>
              <a:ea typeface="微软雅黑" panose="020B0503020204020204" charset="-122"/>
            </a:endParaRPr>
          </a:p>
        </p:txBody>
      </p:sp>
      <p:sp>
        <p:nvSpPr>
          <p:cNvPr id="31749" name="Text Box 5"/>
          <p:cNvSpPr txBox="1">
            <a:spLocks noChangeArrowheads="1"/>
          </p:cNvSpPr>
          <p:nvPr/>
        </p:nvSpPr>
        <p:spPr bwMode="auto">
          <a:xfrm>
            <a:off x="1269107" y="1337948"/>
            <a:ext cx="669925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dirty="0">
                <a:solidFill>
                  <a:srgbClr val="04926A"/>
                </a:solidFill>
                <a:latin typeface="微软雅黑" panose="020B0503020204020204" charset="-122"/>
                <a:ea typeface="微软雅黑" panose="020B0503020204020204" charset="-122"/>
              </a:rPr>
              <a:t>1</a:t>
            </a:r>
            <a:r>
              <a:rPr lang="zh-CN" altLang="en-US" sz="2800" b="1" dirty="0">
                <a:solidFill>
                  <a:srgbClr val="04926A"/>
                </a:solidFill>
                <a:latin typeface="微软雅黑" panose="020B0503020204020204" charset="-122"/>
                <a:ea typeface="微软雅黑" panose="020B0503020204020204" charset="-122"/>
              </a:rPr>
              <a:t>．向量的模与两点间的距离公式</a:t>
            </a:r>
            <a:endParaRPr lang="zh-CN" altLang="en-US" sz="2800" b="1" dirty="0">
              <a:solidFill>
                <a:srgbClr val="04926A"/>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31750" name="Text Box 6"/>
              <p:cNvSpPr txBox="1">
                <a:spLocks noChangeArrowheads="1"/>
              </p:cNvSpPr>
              <p:nvPr/>
            </p:nvSpPr>
            <p:spPr bwMode="auto">
              <a:xfrm>
                <a:off x="1828801" y="2003008"/>
                <a:ext cx="3657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设向量</a:t>
                </a:r>
                <a:r>
                  <a:rPr lang="en-US" altLang="zh-CN" sz="2800" b="1" i="1" dirty="0">
                    <a:latin typeface="Times New Roman" panose="02020603050405020304" pitchFamily="18" charset="0"/>
                    <a:cs typeface="Times New Roman" panose="02020603050405020304" pitchFamily="18" charset="0"/>
                  </a:rPr>
                  <a:t>r</a:t>
                </a:r>
                <a14:m>
                  <m:oMath xmlns:m="http://schemas.openxmlformats.org/officeDocument/2006/math">
                    <m:r>
                      <a:rPr lang="en-US" altLang="zh-CN" sz="2800" b="1" i="1" smtClean="0">
                        <a:latin typeface="Cambria Math" panose="02040503050406030204" charset="0"/>
                      </a:rPr>
                      <m:t> </m:t>
                    </m:r>
                    <m:r>
                      <a:rPr lang="zh-CN" altLang="en-US" sz="2800">
                        <a:latin typeface="Cambria Math" panose="02040503050406030204" charset="0"/>
                      </a:rPr>
                      <m:t>=</m:t>
                    </m:r>
                    <m:r>
                      <a:rPr lang="en-US" altLang="zh-CN" sz="2800" b="0" i="0" smtClean="0">
                        <a:latin typeface="Cambria Math" panose="02040503050406030204" charset="0"/>
                      </a:rPr>
                      <m:t>(</m:t>
                    </m:r>
                    <m:r>
                      <a:rPr lang="en-US" altLang="zh-CN" sz="2800" i="1">
                        <a:latin typeface="Cambria Math" panose="02040503050406030204" charset="0"/>
                      </a:rPr>
                      <m:t>𝑥</m:t>
                    </m:r>
                  </m:oMath>
                </a14:m>
                <a:r>
                  <a:rPr lang="en-US" altLang="zh-CN" sz="2800" dirty="0">
                    <a:latin typeface="Cambria Math" panose="02040503050406030204" charset="0"/>
                  </a:rPr>
                  <a:t>, </a:t>
                </a:r>
                <a14:m>
                  <m:oMath xmlns:m="http://schemas.openxmlformats.org/officeDocument/2006/math">
                    <m:r>
                      <a:rPr lang="en-US" altLang="zh-CN" sz="2800" i="1">
                        <a:latin typeface="Cambria Math" panose="02040503050406030204" charset="0"/>
                      </a:rPr>
                      <m:t>𝑦</m:t>
                    </m:r>
                  </m:oMath>
                </a14:m>
                <a:r>
                  <a:rPr lang="en-US" altLang="zh-CN" sz="2800" dirty="0">
                    <a:latin typeface="Cambria Math" panose="02040503050406030204" charset="0"/>
                  </a:rPr>
                  <a:t>, </a:t>
                </a:r>
                <a14:m>
                  <m:oMath xmlns:m="http://schemas.openxmlformats.org/officeDocument/2006/math">
                    <m:r>
                      <a:rPr lang="en-US" altLang="zh-CN" sz="2800" i="1">
                        <a:latin typeface="Cambria Math" panose="02040503050406030204" charset="0"/>
                      </a:rPr>
                      <m:t>𝑧</m:t>
                    </m:r>
                    <m:r>
                      <a:rPr lang="en-US" altLang="zh-CN" sz="2800" b="0" i="0" smtClean="0">
                        <a:latin typeface="Cambria Math" panose="02040503050406030204" charset="0"/>
                      </a:rPr>
                      <m:t>), </m:t>
                    </m:r>
                  </m:oMath>
                </a14:m>
                <a:r>
                  <a:rPr lang="zh-CN" altLang="en-US" sz="2800" dirty="0">
                    <a:latin typeface="Times New Roman" panose="02020603050405020304" pitchFamily="18" charset="0"/>
                    <a:cs typeface="Times New Roman" panose="02020603050405020304" pitchFamily="18" charset="0"/>
                  </a:rPr>
                  <a:t>作</a:t>
                </a:r>
                <a:endParaRPr lang="zh-CN" altLang="en-US" sz="2800" dirty="0">
                  <a:latin typeface="Times New Roman" panose="02020603050405020304" pitchFamily="18" charset="0"/>
                  <a:cs typeface="Times New Roman" panose="02020603050405020304" pitchFamily="18" charset="0"/>
                </a:endParaRPr>
              </a:p>
            </p:txBody>
          </p:sp>
        </mc:Choice>
        <mc:Fallback>
          <p:sp>
            <p:nvSpPr>
              <p:cNvPr id="31750" name="Text Box 6"/>
              <p:cNvSpPr txBox="1">
                <a:spLocks noRot="1" noChangeAspect="1" noMove="1" noResize="1" noEditPoints="1" noAdjustHandles="1" noChangeArrowheads="1" noChangeShapeType="1" noTextEdit="1"/>
              </p:cNvSpPr>
              <p:nvPr/>
            </p:nvSpPr>
            <p:spPr bwMode="auto">
              <a:xfrm>
                <a:off x="1828801" y="2003008"/>
                <a:ext cx="3657600" cy="523220"/>
              </a:xfrm>
              <a:prstGeom prst="rect">
                <a:avLst/>
              </a:prstGeom>
              <a:blipFill rotWithShape="1">
                <a:blip r:embed="rId1"/>
                <a:stretch>
                  <a:fillRect t="-42" b="3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752" name="Object 8"/>
              <p:cNvSpPr txBox="1"/>
              <p:nvPr/>
            </p:nvSpPr>
            <p:spPr bwMode="auto">
              <a:xfrm>
                <a:off x="3246579" y="3129903"/>
                <a:ext cx="4552143" cy="660709"/>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m:rPr>
                          <m:nor/>
                        </m:rPr>
                        <a:rPr lang="en-US" altLang="zh-CN" sz="2800" b="1" i="1" dirty="0">
                          <a:latin typeface="Times New Roman" panose="02020603050405020304" pitchFamily="18" charset="0"/>
                          <a:cs typeface="Times New Roman" panose="02020603050405020304" pitchFamily="18" charset="0"/>
                        </a:rPr>
                        <m:t>r</m:t>
                      </m:r>
                      <m:r>
                        <a:rPr lang="zh-CN" altLang="en-US" sz="2800" b="0">
                          <a:latin typeface="Cambria Math" panose="02040503050406030204" charset="0"/>
                        </a:rPr>
                        <m:t>=</m:t>
                      </m:r>
                      <m:groupChr>
                        <m:groupChrPr>
                          <m:chr m:val="→"/>
                          <m:pos m:val="top"/>
                          <m:vertJc m:val="bot"/>
                          <m:ctrlPr>
                            <a:rPr lang="zh-CN" altLang="en-US" sz="2800" i="1">
                              <a:latin typeface="Cambria Math" panose="02040503050406030204" charset="0"/>
                            </a:rPr>
                          </m:ctrlPr>
                        </m:groupChrPr>
                        <m:e>
                          <m:r>
                            <a:rPr lang="zh-CN" altLang="en-US" sz="2800" b="0" i="1">
                              <a:latin typeface="Cambria Math" panose="02040503050406030204" charset="0"/>
                            </a:rPr>
                            <m:t>𝑂𝑀</m:t>
                          </m:r>
                        </m:e>
                      </m:groupChr>
                      <m:r>
                        <a:rPr lang="zh-CN" altLang="en-US" sz="2800" b="0">
                          <a:latin typeface="Cambria Math" panose="02040503050406030204" charset="0"/>
                        </a:rPr>
                        <m:t>=</m:t>
                      </m:r>
                      <m:groupChr>
                        <m:groupChrPr>
                          <m:chr m:val="→"/>
                          <m:pos m:val="top"/>
                          <m:vertJc m:val="bot"/>
                          <m:ctrlPr>
                            <a:rPr lang="zh-CN" altLang="en-US" sz="2800" i="1">
                              <a:latin typeface="Cambria Math" panose="02040503050406030204" charset="0"/>
                            </a:rPr>
                          </m:ctrlPr>
                        </m:groupChrPr>
                        <m:e>
                          <m:r>
                            <a:rPr lang="zh-CN" altLang="en-US" sz="2800" b="0" i="1">
                              <a:latin typeface="Cambria Math" panose="02040503050406030204" charset="0"/>
                            </a:rPr>
                            <m:t>𝑂𝑃</m:t>
                          </m:r>
                        </m:e>
                      </m:groupChr>
                      <m:r>
                        <a:rPr lang="zh-CN" altLang="en-US" sz="2800" b="0">
                          <a:latin typeface="Cambria Math" panose="02040503050406030204" charset="0"/>
                        </a:rPr>
                        <m:t>+</m:t>
                      </m:r>
                      <m:groupChr>
                        <m:groupChrPr>
                          <m:chr m:val="→"/>
                          <m:pos m:val="top"/>
                          <m:vertJc m:val="bot"/>
                          <m:ctrlPr>
                            <a:rPr lang="zh-CN" altLang="en-US" sz="2800" i="1">
                              <a:latin typeface="Cambria Math" panose="02040503050406030204" charset="0"/>
                            </a:rPr>
                          </m:ctrlPr>
                        </m:groupChrPr>
                        <m:e>
                          <m:r>
                            <a:rPr lang="zh-CN" altLang="en-US" sz="2800" b="0" i="1">
                              <a:latin typeface="Cambria Math" panose="02040503050406030204" charset="0"/>
                            </a:rPr>
                            <m:t>𝑂𝑄</m:t>
                          </m:r>
                        </m:e>
                      </m:groupChr>
                      <m:r>
                        <a:rPr lang="zh-CN" altLang="en-US" sz="2800" b="0">
                          <a:latin typeface="Cambria Math" panose="02040503050406030204" charset="0"/>
                        </a:rPr>
                        <m:t>+</m:t>
                      </m:r>
                      <m:groupChr>
                        <m:groupChrPr>
                          <m:chr m:val="→"/>
                          <m:pos m:val="top"/>
                          <m:vertJc m:val="bot"/>
                          <m:ctrlPr>
                            <a:rPr lang="zh-CN" altLang="en-US" sz="2800" i="1">
                              <a:latin typeface="Cambria Math" panose="02040503050406030204" charset="0"/>
                            </a:rPr>
                          </m:ctrlPr>
                        </m:groupChrPr>
                        <m:e>
                          <m:r>
                            <a:rPr lang="zh-CN" altLang="en-US" sz="2800" b="0" i="1">
                              <a:latin typeface="Cambria Math" panose="02040503050406030204" charset="0"/>
                            </a:rPr>
                            <m:t>𝑂𝑅</m:t>
                          </m:r>
                        </m:e>
                      </m:groupChr>
                      <m:r>
                        <a:rPr lang="zh-CN" altLang="en-US" sz="2800">
                          <a:latin typeface="Cambria Math" panose="02040503050406030204" charset="0"/>
                        </a:rPr>
                        <m:t>.</m:t>
                      </m:r>
                    </m:oMath>
                  </m:oMathPara>
                </a14:m>
                <a:endParaRPr lang="zh-CN" altLang="en-US" sz="2800" dirty="0">
                  <a:latin typeface="Cambria Math" panose="02040503050406030204" charset="0"/>
                </a:endParaRPr>
              </a:p>
            </p:txBody>
          </p:sp>
        </mc:Choice>
        <mc:Fallback>
          <p:sp>
            <p:nvSpPr>
              <p:cNvPr id="31752" name="Object 8"/>
              <p:cNvSpPr txBox="1">
                <a:spLocks noRot="1" noChangeAspect="1" noMove="1" noResize="1" noEditPoints="1" noAdjustHandles="1" noChangeArrowheads="1" noChangeShapeType="1" noTextEdit="1"/>
              </p:cNvSpPr>
              <p:nvPr/>
            </p:nvSpPr>
            <p:spPr bwMode="auto">
              <a:xfrm>
                <a:off x="3246579" y="3129903"/>
                <a:ext cx="4552143" cy="660709"/>
              </a:xfrm>
              <a:prstGeom prst="rect">
                <a:avLst/>
              </a:prstGeom>
              <a:blipFill rotWithShape="1">
                <a:blip r:embed="rId2"/>
                <a:stretch>
                  <a:fillRect l="-10" t="-94" r="6" b="45"/>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753" name="Object 9"/>
              <p:cNvSpPr txBox="1"/>
              <p:nvPr/>
            </p:nvSpPr>
            <p:spPr bwMode="auto">
              <a:xfrm>
                <a:off x="5297035" y="1891297"/>
                <a:ext cx="1639689" cy="632393"/>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groupChr>
                        <m:groupChrPr>
                          <m:chr m:val="→"/>
                          <m:pos m:val="top"/>
                          <m:vertJc m:val="bot"/>
                          <m:ctrlPr>
                            <a:rPr lang="zh-CN" altLang="en-US" sz="2800" i="1">
                              <a:latin typeface="Cambria Math" panose="02040503050406030204" charset="0"/>
                            </a:rPr>
                          </m:ctrlPr>
                        </m:groupChrPr>
                        <m:e>
                          <m:r>
                            <a:rPr lang="zh-CN" altLang="en-US" sz="2800">
                              <a:latin typeface="Cambria Math" panose="02040503050406030204" charset="0"/>
                            </a:rPr>
                            <m:t>𝑂𝑀</m:t>
                          </m:r>
                        </m:e>
                      </m:groupChr>
                      <m:r>
                        <a:rPr lang="zh-CN" altLang="en-US" sz="2800">
                          <a:latin typeface="Cambria Math" panose="02040503050406030204" charset="0"/>
                        </a:rPr>
                        <m:t>=</m:t>
                      </m:r>
                      <m:r>
                        <m:rPr>
                          <m:nor/>
                        </m:rPr>
                        <a:rPr lang="en-US" altLang="zh-CN" sz="2800" b="1" i="1" dirty="0">
                          <a:latin typeface="Times New Roman" panose="02020603050405020304" pitchFamily="18" charset="0"/>
                          <a:cs typeface="Times New Roman" panose="02020603050405020304" pitchFamily="18" charset="0"/>
                        </a:rPr>
                        <m:t>r</m:t>
                      </m:r>
                      <m:r>
                        <a:rPr lang="zh-CN" altLang="en-US" sz="2800">
                          <a:latin typeface="Cambria Math" panose="02040503050406030204" charset="0"/>
                        </a:rPr>
                        <m:t>,</m:t>
                      </m:r>
                    </m:oMath>
                  </m:oMathPara>
                </a14:m>
                <a:endParaRPr lang="zh-CN" altLang="en-US" sz="2800" dirty="0">
                  <a:latin typeface="Cambria Math" panose="02040503050406030204" charset="0"/>
                </a:endParaRPr>
              </a:p>
            </p:txBody>
          </p:sp>
        </mc:Choice>
        <mc:Fallback>
          <p:sp>
            <p:nvSpPr>
              <p:cNvPr id="31753" name="Object 9"/>
              <p:cNvSpPr txBox="1">
                <a:spLocks noRot="1" noChangeAspect="1" noMove="1" noResize="1" noEditPoints="1" noAdjustHandles="1" noChangeArrowheads="1" noChangeShapeType="1" noTextEdit="1"/>
              </p:cNvSpPr>
              <p:nvPr/>
            </p:nvSpPr>
            <p:spPr bwMode="auto">
              <a:xfrm>
                <a:off x="5297035" y="1891297"/>
                <a:ext cx="1639689" cy="632393"/>
              </a:xfrm>
              <a:prstGeom prst="rect">
                <a:avLst/>
              </a:prstGeom>
              <a:blipFill rotWithShape="1">
                <a:blip r:embed="rId3"/>
                <a:stretch>
                  <a:fillRect l="-30" t="-42" r="38" b="32"/>
                </a:stretch>
              </a:blipFill>
              <a:ln>
                <a:noFill/>
              </a:ln>
              <a:effectLst/>
            </p:spPr>
            <p:txBody>
              <a:bodyPr/>
              <a:lstStyle/>
              <a:p>
                <a:r>
                  <a:rPr lang="zh-CN" altLang="en-US">
                    <a:noFill/>
                  </a:rPr>
                  <a:t> </a:t>
                </a:r>
              </a:p>
            </p:txBody>
          </p:sp>
        </mc:Fallback>
      </mc:AlternateContent>
      <p:sp>
        <p:nvSpPr>
          <p:cNvPr id="31780" name="Text Box 36"/>
          <p:cNvSpPr txBox="1">
            <a:spLocks noChangeArrowheads="1"/>
          </p:cNvSpPr>
          <p:nvPr/>
        </p:nvSpPr>
        <p:spPr bwMode="auto">
          <a:xfrm>
            <a:off x="1828800" y="2688584"/>
            <a:ext cx="2133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如图所示．</a:t>
            </a:r>
            <a:endParaRPr lang="zh-CN" altLang="en-US" sz="2800" dirty="0">
              <a:latin typeface="Times New Roman" panose="02020603050405020304" pitchFamily="18" charset="0"/>
              <a:cs typeface="Times New Roman" panose="02020603050405020304" pitchFamily="18" charset="0"/>
            </a:endParaRPr>
          </a:p>
        </p:txBody>
      </p:sp>
      <p:sp>
        <p:nvSpPr>
          <p:cNvPr id="31781" name="Text Box 37"/>
          <p:cNvSpPr txBox="1">
            <a:spLocks noChangeArrowheads="1"/>
          </p:cNvSpPr>
          <p:nvPr/>
        </p:nvSpPr>
        <p:spPr bwMode="auto">
          <a:xfrm>
            <a:off x="3515594" y="2652721"/>
            <a:ext cx="1143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则有</a:t>
            </a:r>
            <a:endParaRPr lang="zh-CN" altLang="en-US" sz="2800" dirty="0">
              <a:latin typeface="Times New Roman" panose="02020603050405020304" pitchFamily="18" charset="0"/>
              <a:cs typeface="Times New Roman" panose="02020603050405020304" pitchFamily="18" charset="0"/>
            </a:endParaRPr>
          </a:p>
        </p:txBody>
      </p:sp>
      <p:sp>
        <p:nvSpPr>
          <p:cNvPr id="31786" name="Text Box 42"/>
          <p:cNvSpPr txBox="1">
            <a:spLocks noChangeArrowheads="1"/>
          </p:cNvSpPr>
          <p:nvPr/>
        </p:nvSpPr>
        <p:spPr bwMode="auto">
          <a:xfrm>
            <a:off x="1828800" y="3793150"/>
            <a:ext cx="292330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由勾股定理，得</a:t>
            </a:r>
            <a:endParaRPr lang="zh-CN" altLang="en-US" sz="28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1787" name="Object 43"/>
              <p:cNvSpPr txBox="1"/>
              <p:nvPr/>
            </p:nvSpPr>
            <p:spPr bwMode="auto">
              <a:xfrm>
                <a:off x="1828800" y="4385085"/>
                <a:ext cx="6376990" cy="1025261"/>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800" i="1" smtClean="0">
                          <a:latin typeface="Cambria Math" panose="02040503050406030204" charset="0"/>
                        </a:rPr>
                        <m:t>|</m:t>
                      </m:r>
                      <m:r>
                        <m:rPr>
                          <m:nor/>
                        </m:rPr>
                        <a:rPr lang="en-US" altLang="zh-CN" sz="2800" b="1" i="1" dirty="0">
                          <a:latin typeface="Times New Roman" panose="02020603050405020304" pitchFamily="18" charset="0"/>
                          <a:cs typeface="Times New Roman" panose="02020603050405020304" pitchFamily="18" charset="0"/>
                        </a:rPr>
                        <m:t>r</m:t>
                      </m:r>
                      <m:r>
                        <a:rPr lang="zh-CN" altLang="en-US" sz="2800" i="1">
                          <a:latin typeface="Cambria Math" panose="02040503050406030204" charset="0"/>
                        </a:rPr>
                        <m:t>|=</m:t>
                      </m:r>
                      <m:d>
                        <m:dPr>
                          <m:begChr m:val="|"/>
                          <m:endChr m:val="|"/>
                          <m:ctrlPr>
                            <a:rPr lang="zh-CN" altLang="en-US" sz="2800" i="1">
                              <a:latin typeface="Cambria Math" panose="02040503050406030204" charset="0"/>
                            </a:rPr>
                          </m:ctrlPr>
                        </m:dPr>
                        <m:e>
                          <m:groupChr>
                            <m:groupChrPr>
                              <m:chr m:val="→"/>
                              <m:pos m:val="top"/>
                              <m:vertJc m:val="bot"/>
                              <m:ctrlPr>
                                <a:rPr lang="zh-CN" altLang="en-US" sz="2800" i="1">
                                  <a:latin typeface="Cambria Math" panose="02040503050406030204" charset="0"/>
                                </a:rPr>
                              </m:ctrlPr>
                            </m:groupChrPr>
                            <m:e>
                              <m:r>
                                <a:rPr lang="zh-CN" altLang="en-US" sz="2800" i="1">
                                  <a:latin typeface="Cambria Math" panose="02040503050406030204" charset="0"/>
                                </a:rPr>
                                <m:t>𝑂𝑀</m:t>
                              </m:r>
                            </m:e>
                          </m:groupChr>
                        </m:e>
                      </m:d>
                      <m:r>
                        <a:rPr lang="zh-CN" altLang="en-US" sz="2800" i="1">
                          <a:latin typeface="Cambria Math" panose="02040503050406030204" charset="0"/>
                        </a:rPr>
                        <m:t>=</m:t>
                      </m:r>
                      <m:rad>
                        <m:radPr>
                          <m:degHide m:val="on"/>
                          <m:ctrlPr>
                            <a:rPr lang="zh-CN" altLang="en-US" sz="2800" i="1">
                              <a:latin typeface="Cambria Math" panose="02040503050406030204" charset="0"/>
                            </a:rPr>
                          </m:ctrlPr>
                        </m:radPr>
                        <m:deg/>
                        <m:e>
                          <m:sSup>
                            <m:sSupPr>
                              <m:ctrlPr>
                                <a:rPr lang="zh-CN" altLang="en-US" sz="2800" i="1">
                                  <a:latin typeface="Cambria Math" panose="02040503050406030204" charset="0"/>
                                </a:rPr>
                              </m:ctrlPr>
                            </m:sSupPr>
                            <m:e>
                              <m:d>
                                <m:dPr>
                                  <m:begChr m:val="|"/>
                                  <m:endChr m:val="|"/>
                                  <m:ctrlPr>
                                    <a:rPr lang="zh-CN" altLang="en-US" sz="2800" i="1">
                                      <a:latin typeface="Cambria Math" panose="02040503050406030204" charset="0"/>
                                    </a:rPr>
                                  </m:ctrlPr>
                                </m:dPr>
                                <m:e>
                                  <m:r>
                                    <a:rPr lang="en-US" altLang="zh-CN" sz="2800" b="0" i="1" smtClean="0">
                                      <a:latin typeface="Cambria Math" panose="02040503050406030204" charset="0"/>
                                    </a:rPr>
                                    <m:t>𝑂𝑃</m:t>
                                  </m:r>
                                </m:e>
                              </m:d>
                            </m:e>
                            <m:sup>
                              <m:r>
                                <a:rPr lang="zh-CN" altLang="en-US" sz="2800" i="1">
                                  <a:latin typeface="Cambria Math" panose="02040503050406030204" charset="0"/>
                                </a:rPr>
                                <m:t>2</m:t>
                              </m:r>
                            </m:sup>
                          </m:sSup>
                          <m:r>
                            <a:rPr lang="zh-CN" altLang="en-US" sz="2800" i="1">
                              <a:latin typeface="Cambria Math" panose="02040503050406030204" charset="0"/>
                            </a:rPr>
                            <m:t>+</m:t>
                          </m:r>
                          <m:sSup>
                            <m:sSupPr>
                              <m:ctrlPr>
                                <a:rPr lang="zh-CN" altLang="en-US" sz="2800" i="1">
                                  <a:latin typeface="Cambria Math" panose="02040503050406030204" charset="0"/>
                                </a:rPr>
                              </m:ctrlPr>
                            </m:sSupPr>
                            <m:e>
                              <m:d>
                                <m:dPr>
                                  <m:begChr m:val="|"/>
                                  <m:endChr m:val="|"/>
                                  <m:ctrlPr>
                                    <a:rPr lang="zh-CN" altLang="en-US" sz="2800" i="1">
                                      <a:latin typeface="Cambria Math" panose="02040503050406030204" charset="0"/>
                                    </a:rPr>
                                  </m:ctrlPr>
                                </m:dPr>
                                <m:e>
                                  <m:r>
                                    <a:rPr lang="en-US" altLang="zh-CN" sz="2800" b="0" i="1" smtClean="0">
                                      <a:latin typeface="Cambria Math" panose="02040503050406030204" charset="0"/>
                                    </a:rPr>
                                    <m:t>𝑂𝑄</m:t>
                                  </m:r>
                                </m:e>
                              </m:d>
                            </m:e>
                            <m:sup>
                              <m:r>
                                <a:rPr lang="zh-CN" altLang="en-US" sz="2800" i="1">
                                  <a:latin typeface="Cambria Math" panose="02040503050406030204" charset="0"/>
                                </a:rPr>
                                <m:t>2</m:t>
                              </m:r>
                            </m:sup>
                          </m:sSup>
                          <m:r>
                            <a:rPr lang="zh-CN" altLang="en-US" sz="2800" i="1">
                              <a:latin typeface="Cambria Math" panose="02040503050406030204" charset="0"/>
                            </a:rPr>
                            <m:t>+</m:t>
                          </m:r>
                          <m:sSup>
                            <m:sSupPr>
                              <m:ctrlPr>
                                <a:rPr lang="zh-CN" altLang="en-US" sz="2800" i="1">
                                  <a:latin typeface="Cambria Math" panose="02040503050406030204" charset="0"/>
                                </a:rPr>
                              </m:ctrlPr>
                            </m:sSupPr>
                            <m:e>
                              <m:d>
                                <m:dPr>
                                  <m:begChr m:val="|"/>
                                  <m:endChr m:val="|"/>
                                  <m:ctrlPr>
                                    <a:rPr lang="zh-CN" altLang="en-US" sz="2800" i="1">
                                      <a:latin typeface="Cambria Math" panose="02040503050406030204" charset="0"/>
                                    </a:rPr>
                                  </m:ctrlPr>
                                </m:dPr>
                                <m:e>
                                  <m:r>
                                    <a:rPr lang="en-US" altLang="zh-CN" sz="2800" b="0" i="1" smtClean="0">
                                      <a:latin typeface="Cambria Math" panose="02040503050406030204" charset="0"/>
                                    </a:rPr>
                                    <m:t>𝑂𝑄</m:t>
                                  </m:r>
                                </m:e>
                              </m:d>
                            </m:e>
                            <m:sup>
                              <m:r>
                                <a:rPr lang="zh-CN" altLang="en-US" sz="2800" i="1">
                                  <a:latin typeface="Cambria Math" panose="02040503050406030204" charset="0"/>
                                </a:rPr>
                                <m:t>2</m:t>
                              </m:r>
                            </m:sup>
                          </m:sSup>
                        </m:e>
                      </m:rad>
                    </m:oMath>
                  </m:oMathPara>
                </a14:m>
                <a:endParaRPr lang="zh-CN" altLang="en-US" sz="2800" i="1" dirty="0">
                  <a:latin typeface="Cambria Math" panose="02040503050406030204" charset="0"/>
                </a:endParaRPr>
              </a:p>
            </p:txBody>
          </p:sp>
        </mc:Choice>
        <mc:Fallback>
          <p:sp>
            <p:nvSpPr>
              <p:cNvPr id="31787" name="Object 43"/>
              <p:cNvSpPr txBox="1">
                <a:spLocks noRot="1" noChangeAspect="1" noMove="1" noResize="1" noEditPoints="1" noAdjustHandles="1" noChangeArrowheads="1" noChangeShapeType="1" noTextEdit="1"/>
              </p:cNvSpPr>
              <p:nvPr/>
            </p:nvSpPr>
            <p:spPr bwMode="auto">
              <a:xfrm>
                <a:off x="1828800" y="4385085"/>
                <a:ext cx="6376990" cy="1025261"/>
              </a:xfrm>
              <a:prstGeom prst="rect">
                <a:avLst/>
              </a:prstGeom>
              <a:blipFill rotWithShape="1">
                <a:blip r:embed="rId4"/>
                <a:stretch>
                  <a:fillRect t="-40" r="5" b="14"/>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790" name="Object 46"/>
              <p:cNvSpPr txBox="1"/>
              <p:nvPr/>
            </p:nvSpPr>
            <p:spPr bwMode="auto">
              <a:xfrm>
                <a:off x="3594961" y="5314838"/>
                <a:ext cx="3124543" cy="723633"/>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charset="0"/>
                        </a:rPr>
                        <m:t>=</m:t>
                      </m:r>
                      <m:rad>
                        <m:radPr>
                          <m:degHide m:val="on"/>
                          <m:ctrlPr>
                            <a:rPr lang="zh-CN" altLang="en-US" sz="2800" i="1">
                              <a:solidFill>
                                <a:srgbClr val="000000"/>
                              </a:solidFill>
                              <a:latin typeface="Cambria Math" panose="02040503050406030204" charset="0"/>
                            </a:rPr>
                          </m:ctrlPr>
                        </m:radPr>
                        <m:deg/>
                        <m:e>
                          <m:sSup>
                            <m:sSupPr>
                              <m:ctrlPr>
                                <a:rPr lang="zh-CN" altLang="en-US" sz="2800" i="1">
                                  <a:solidFill>
                                    <a:srgbClr val="000000"/>
                                  </a:solidFill>
                                  <a:latin typeface="Cambria Math" panose="02040503050406030204" charset="0"/>
                                </a:rPr>
                              </m:ctrlPr>
                            </m:sSupPr>
                            <m:e>
                              <m:r>
                                <a:rPr lang="zh-CN" altLang="en-US" sz="2800" i="1">
                                  <a:solidFill>
                                    <a:srgbClr val="000000"/>
                                  </a:solidFill>
                                  <a:latin typeface="Cambria Math" panose="02040503050406030204" charset="0"/>
                                </a:rPr>
                                <m:t>𝑥</m:t>
                              </m:r>
                            </m:e>
                            <m:sup>
                              <m:r>
                                <a:rPr lang="zh-CN" altLang="en-US" sz="2800" i="1">
                                  <a:solidFill>
                                    <a:srgbClr val="000000"/>
                                  </a:solidFill>
                                  <a:latin typeface="Cambria Math" panose="02040503050406030204" charset="0"/>
                                </a:rPr>
                                <m:t>2</m:t>
                              </m:r>
                            </m:sup>
                          </m:sSup>
                          <m:r>
                            <a:rPr lang="zh-CN" altLang="en-US" sz="2800" i="1">
                              <a:solidFill>
                                <a:srgbClr val="000000"/>
                              </a:solidFill>
                              <a:latin typeface="Cambria Math" panose="02040503050406030204" charset="0"/>
                            </a:rPr>
                            <m:t>+</m:t>
                          </m:r>
                          <m:sSup>
                            <m:sSupPr>
                              <m:ctrlPr>
                                <a:rPr lang="zh-CN" altLang="en-US" sz="2800" i="1">
                                  <a:solidFill>
                                    <a:srgbClr val="000000"/>
                                  </a:solidFill>
                                  <a:latin typeface="Cambria Math" panose="02040503050406030204" charset="0"/>
                                </a:rPr>
                              </m:ctrlPr>
                            </m:sSupPr>
                            <m:e>
                              <m:r>
                                <a:rPr lang="zh-CN" altLang="en-US" sz="2800" i="1">
                                  <a:solidFill>
                                    <a:srgbClr val="000000"/>
                                  </a:solidFill>
                                  <a:latin typeface="Cambria Math" panose="02040503050406030204" charset="0"/>
                                </a:rPr>
                                <m:t>𝑦</m:t>
                              </m:r>
                            </m:e>
                            <m:sup>
                              <m:r>
                                <a:rPr lang="zh-CN" altLang="en-US" sz="2800" i="1">
                                  <a:solidFill>
                                    <a:srgbClr val="000000"/>
                                  </a:solidFill>
                                  <a:latin typeface="Cambria Math" panose="02040503050406030204" charset="0"/>
                                </a:rPr>
                                <m:t>2</m:t>
                              </m:r>
                            </m:sup>
                          </m:sSup>
                          <m:r>
                            <a:rPr lang="zh-CN" altLang="en-US" sz="2800" i="1">
                              <a:solidFill>
                                <a:srgbClr val="000000"/>
                              </a:solidFill>
                              <a:latin typeface="Cambria Math" panose="02040503050406030204" charset="0"/>
                            </a:rPr>
                            <m:t>+</m:t>
                          </m:r>
                          <m:sSup>
                            <m:sSupPr>
                              <m:ctrlPr>
                                <a:rPr lang="zh-CN" altLang="en-US" sz="2800" i="1">
                                  <a:solidFill>
                                    <a:srgbClr val="000000"/>
                                  </a:solidFill>
                                  <a:latin typeface="Cambria Math" panose="02040503050406030204" charset="0"/>
                                </a:rPr>
                              </m:ctrlPr>
                            </m:sSupPr>
                            <m:e>
                              <m:r>
                                <a:rPr lang="zh-CN" altLang="en-US" sz="2800" i="1">
                                  <a:solidFill>
                                    <a:srgbClr val="000000"/>
                                  </a:solidFill>
                                  <a:latin typeface="Cambria Math" panose="02040503050406030204" charset="0"/>
                                </a:rPr>
                                <m:t>𝑧</m:t>
                              </m:r>
                            </m:e>
                            <m:sup>
                              <m:r>
                                <a:rPr lang="zh-CN" altLang="en-US" sz="2800" i="1">
                                  <a:solidFill>
                                    <a:srgbClr val="000000"/>
                                  </a:solidFill>
                                  <a:latin typeface="Cambria Math" panose="02040503050406030204" charset="0"/>
                                </a:rPr>
                                <m:t>2</m:t>
                              </m:r>
                            </m:sup>
                          </m:sSup>
                        </m:e>
                      </m:rad>
                      <m:r>
                        <a:rPr lang="zh-CN" altLang="en-US" sz="2800" i="1">
                          <a:solidFill>
                            <a:srgbClr val="000000"/>
                          </a:solidFill>
                          <a:latin typeface="Cambria Math" panose="02040503050406030204" charset="0"/>
                        </a:rPr>
                        <m:t> .</m:t>
                      </m:r>
                    </m:oMath>
                  </m:oMathPara>
                </a14:m>
                <a:endParaRPr lang="zh-CN" altLang="en-US" sz="2800" dirty="0"/>
              </a:p>
            </p:txBody>
          </p:sp>
        </mc:Choice>
        <mc:Fallback>
          <p:sp>
            <p:nvSpPr>
              <p:cNvPr id="31790" name="Object 46"/>
              <p:cNvSpPr txBox="1">
                <a:spLocks noRot="1" noChangeAspect="1" noMove="1" noResize="1" noEditPoints="1" noAdjustHandles="1" noChangeArrowheads="1" noChangeShapeType="1" noTextEdit="1"/>
              </p:cNvSpPr>
              <p:nvPr/>
            </p:nvSpPr>
            <p:spPr bwMode="auto">
              <a:xfrm>
                <a:off x="3594961" y="5314838"/>
                <a:ext cx="3124543" cy="723633"/>
              </a:xfrm>
              <a:prstGeom prst="rect">
                <a:avLst/>
              </a:prstGeom>
              <a:blipFill rotWithShape="1">
                <a:blip r:embed="rId5"/>
                <a:stretch>
                  <a:fillRect l="-7" t="-72" r="18" b="35"/>
                </a:stretch>
              </a:blipFill>
              <a:ln>
                <a:noFill/>
              </a:ln>
              <a:effectLst/>
            </p:spPr>
            <p:txBody>
              <a:bodyPr/>
              <a:lstStyle/>
              <a:p>
                <a:r>
                  <a:rPr lang="zh-CN" altLang="en-US">
                    <a:noFill/>
                  </a:rPr>
                  <a:t> </a:t>
                </a:r>
              </a:p>
            </p:txBody>
          </p:sp>
        </mc:Fallback>
      </mc:AlternateContent>
      <p:pic>
        <p:nvPicPr>
          <p:cNvPr id="3" name="图片 2" descr="图示&#10;&#10;描述已自动生成"/>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023864" y="1832934"/>
            <a:ext cx="3101336" cy="288688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748"/>
                                        </p:tgtEl>
                                        <p:attrNameLst>
                                          <p:attrName>style.visibility</p:attrName>
                                        </p:attrNameLst>
                                      </p:cBhvr>
                                      <p:to>
                                        <p:strVal val="visible"/>
                                      </p:to>
                                    </p:set>
                                    <p:animEffect transition="in" filter="wipe(left)">
                                      <p:cBhvr>
                                        <p:cTn id="7" dur="500"/>
                                        <p:tgtEl>
                                          <p:spTgt spid="3174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1749"/>
                                        </p:tgtEl>
                                        <p:attrNameLst>
                                          <p:attrName>style.visibility</p:attrName>
                                        </p:attrNameLst>
                                      </p:cBhvr>
                                      <p:to>
                                        <p:strVal val="visible"/>
                                      </p:to>
                                    </p:set>
                                    <p:animEffect transition="in" filter="wipe(left)">
                                      <p:cBhvr>
                                        <p:cTn id="12" dur="500"/>
                                        <p:tgtEl>
                                          <p:spTgt spid="3174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1750"/>
                                        </p:tgtEl>
                                        <p:attrNameLst>
                                          <p:attrName>style.visibility</p:attrName>
                                        </p:attrNameLst>
                                      </p:cBhvr>
                                      <p:to>
                                        <p:strVal val="visible"/>
                                      </p:to>
                                    </p:set>
                                    <p:animEffect transition="in" filter="wipe(left)">
                                      <p:cBhvr>
                                        <p:cTn id="17" dur="500"/>
                                        <p:tgtEl>
                                          <p:spTgt spid="31750"/>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31753"/>
                                        </p:tgtEl>
                                        <p:attrNameLst>
                                          <p:attrName>style.visibility</p:attrName>
                                        </p:attrNameLst>
                                      </p:cBhvr>
                                      <p:to>
                                        <p:strVal val="visible"/>
                                      </p:to>
                                    </p:set>
                                    <p:animEffect transition="in" filter="wipe(left)">
                                      <p:cBhvr>
                                        <p:cTn id="21" dur="500"/>
                                        <p:tgtEl>
                                          <p:spTgt spid="3175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1780"/>
                                        </p:tgtEl>
                                        <p:attrNameLst>
                                          <p:attrName>style.visibility</p:attrName>
                                        </p:attrNameLst>
                                      </p:cBhvr>
                                      <p:to>
                                        <p:strVal val="visible"/>
                                      </p:to>
                                    </p:set>
                                    <p:animEffect transition="in" filter="wipe(left)">
                                      <p:cBhvr>
                                        <p:cTn id="26" dur="500"/>
                                        <p:tgtEl>
                                          <p:spTgt spid="3178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left)">
                                      <p:cBhvr>
                                        <p:cTn id="31" dur="500"/>
                                        <p:tgtEl>
                                          <p:spTgt spid="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1781"/>
                                        </p:tgtEl>
                                        <p:attrNameLst>
                                          <p:attrName>style.visibility</p:attrName>
                                        </p:attrNameLst>
                                      </p:cBhvr>
                                      <p:to>
                                        <p:strVal val="visible"/>
                                      </p:to>
                                    </p:set>
                                    <p:animEffect transition="in" filter="wipe(left)">
                                      <p:cBhvr>
                                        <p:cTn id="36" dur="500"/>
                                        <p:tgtEl>
                                          <p:spTgt spid="31781"/>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31752"/>
                                        </p:tgtEl>
                                        <p:attrNameLst>
                                          <p:attrName>style.visibility</p:attrName>
                                        </p:attrNameLst>
                                      </p:cBhvr>
                                      <p:to>
                                        <p:strVal val="visible"/>
                                      </p:to>
                                    </p:set>
                                    <p:animEffect transition="in" filter="wipe(left)">
                                      <p:cBhvr>
                                        <p:cTn id="41" dur="500"/>
                                        <p:tgtEl>
                                          <p:spTgt spid="3175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31786"/>
                                        </p:tgtEl>
                                        <p:attrNameLst>
                                          <p:attrName>style.visibility</p:attrName>
                                        </p:attrNameLst>
                                      </p:cBhvr>
                                      <p:to>
                                        <p:strVal val="visible"/>
                                      </p:to>
                                    </p:set>
                                    <p:animEffect transition="in" filter="wipe(left)">
                                      <p:cBhvr>
                                        <p:cTn id="46" dur="500"/>
                                        <p:tgtEl>
                                          <p:spTgt spid="31786"/>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31787"/>
                                        </p:tgtEl>
                                        <p:attrNameLst>
                                          <p:attrName>style.visibility</p:attrName>
                                        </p:attrNameLst>
                                      </p:cBhvr>
                                      <p:to>
                                        <p:strVal val="visible"/>
                                      </p:to>
                                    </p:set>
                                    <p:animEffect transition="in" filter="wipe(left)">
                                      <p:cBhvr>
                                        <p:cTn id="51" dur="500"/>
                                        <p:tgtEl>
                                          <p:spTgt spid="3178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31790"/>
                                        </p:tgtEl>
                                        <p:attrNameLst>
                                          <p:attrName>style.visibility</p:attrName>
                                        </p:attrNameLst>
                                      </p:cBhvr>
                                      <p:to>
                                        <p:strVal val="visible"/>
                                      </p:to>
                                    </p:set>
                                    <p:animEffect transition="in" filter="wipe(left)">
                                      <p:cBhvr>
                                        <p:cTn id="56" dur="500"/>
                                        <p:tgtEl>
                                          <p:spTgt spid="317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8" grpId="0" bldLvl="0" animBg="1"/>
      <p:bldP spid="31749" grpId="0" bldLvl="0" animBg="1"/>
      <p:bldP spid="31750" grpId="0" bldLvl="0" animBg="1"/>
      <p:bldP spid="31752" grpId="0" bldLvl="0" animBg="1"/>
      <p:bldP spid="31753" grpId="0" bldLvl="0" animBg="1"/>
      <p:bldP spid="31780" grpId="0" bldLvl="0" animBg="1"/>
      <p:bldP spid="31781" grpId="0" bldLvl="0" animBg="1"/>
      <p:bldP spid="31786" grpId="0" bldLvl="0" animBg="1"/>
      <p:bldP spid="31787" grpId="0" bldLvl="0" animBg="1"/>
      <p:bldP spid="31790"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highlight>
                  <a:srgbClr val="FFFF00"/>
                </a:highlight>
              </a:rPr>
              <a:t>单位向量</a:t>
            </a:r>
            <a:endParaRPr lang="zh-CN" altLang="en-US">
              <a:highlight>
                <a:srgbClr val="FFFF00"/>
              </a:highlight>
            </a:endParaRPr>
          </a:p>
        </p:txBody>
      </p:sp>
      <p:pic>
        <p:nvPicPr>
          <p:cNvPr id="4" name="内容占位符 3"/>
          <p:cNvPicPr>
            <a:picLocks noChangeAspect="1"/>
          </p:cNvPicPr>
          <p:nvPr>
            <p:ph idx="1"/>
          </p:nvPr>
        </p:nvPicPr>
        <p:blipFill>
          <a:blip r:embed="rId1"/>
          <a:stretch>
            <a:fillRect/>
          </a:stretch>
        </p:blipFill>
        <p:spPr>
          <a:xfrm>
            <a:off x="732155" y="1819910"/>
            <a:ext cx="11083290" cy="296481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510540" y="494665"/>
            <a:ext cx="11149330" cy="5612765"/>
            <a:chOff x="838" y="906"/>
            <a:chExt cx="17558" cy="8839"/>
          </a:xfrm>
        </p:grpSpPr>
        <p:sp>
          <p:nvSpPr>
            <p:cNvPr id="20" name="PA-102232"/>
            <p:cNvSpPr/>
            <p:nvPr>
              <p:custDataLst>
                <p:tags r:id="rId1"/>
              </p:custDataLst>
            </p:nvPr>
          </p:nvSpPr>
          <p:spPr>
            <a:xfrm>
              <a:off x="872" y="906"/>
              <a:ext cx="17524" cy="8826"/>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6BB6"/>
                </a:solidFill>
                <a:cs typeface="+mn-ea"/>
                <a:sym typeface="+mn-lt"/>
              </a:endParaRPr>
            </a:p>
          </p:txBody>
        </p:sp>
        <p:grpSp>
          <p:nvGrpSpPr>
            <p:cNvPr id="21" name="组合 20"/>
            <p:cNvGrpSpPr/>
            <p:nvPr/>
          </p:nvGrpSpPr>
          <p:grpSpPr>
            <a:xfrm>
              <a:off x="838" y="9635"/>
              <a:ext cx="17558" cy="110"/>
              <a:chOff x="838" y="9635"/>
              <a:chExt cx="17558" cy="110"/>
            </a:xfrm>
          </p:grpSpPr>
          <p:sp>
            <p:nvSpPr>
              <p:cNvPr id="22" name="Rectangle 1"/>
              <p:cNvSpPr/>
              <p:nvPr/>
            </p:nvSpPr>
            <p:spPr>
              <a:xfrm>
                <a:off x="5321" y="9650"/>
                <a:ext cx="4286" cy="83"/>
              </a:xfrm>
              <a:prstGeom prst="rect">
                <a:avLst/>
              </a:prstGeom>
              <a:solidFill>
                <a:schemeClr val="bg1"/>
              </a:solidFill>
              <a:ln w="3175" cap="flat" cmpd="sng" algn="ctr">
                <a:solidFill>
                  <a:srgbClr val="0492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3" name="Rectangle 1"/>
              <p:cNvSpPr/>
              <p:nvPr/>
            </p:nvSpPr>
            <p:spPr>
              <a:xfrm>
                <a:off x="838" y="9650"/>
                <a:ext cx="4483" cy="83"/>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4" name="Rectangle 1"/>
              <p:cNvSpPr/>
              <p:nvPr/>
            </p:nvSpPr>
            <p:spPr>
              <a:xfrm>
                <a:off x="9602" y="9635"/>
                <a:ext cx="8794" cy="111"/>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sp>
        <p:nvSpPr>
          <p:cNvPr id="34820" name="Text Box 4"/>
          <p:cNvSpPr txBox="1">
            <a:spLocks noChangeArrowheads="1"/>
          </p:cNvSpPr>
          <p:nvPr/>
        </p:nvSpPr>
        <p:spPr bwMode="auto">
          <a:xfrm>
            <a:off x="1219200" y="790238"/>
            <a:ext cx="4413251"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a:solidFill>
                  <a:srgbClr val="04926A"/>
                </a:solidFill>
                <a:highlight>
                  <a:srgbClr val="FFFF00"/>
                </a:highlight>
                <a:latin typeface="微软雅黑" panose="020B0503020204020204" charset="-122"/>
                <a:ea typeface="微软雅黑" panose="020B0503020204020204" charset="-122"/>
              </a:rPr>
              <a:t>方向角与方向余弦</a:t>
            </a:r>
            <a:endParaRPr kumimoji="1" lang="zh-CN" altLang="en-US" sz="2800" b="1" dirty="0">
              <a:solidFill>
                <a:srgbClr val="04926A"/>
              </a:solidFill>
              <a:highlight>
                <a:srgbClr val="FFFF00"/>
              </a:highlight>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34821" name="Text Box 5"/>
              <p:cNvSpPr txBox="1">
                <a:spLocks noChangeArrowheads="1"/>
              </p:cNvSpPr>
              <p:nvPr/>
            </p:nvSpPr>
            <p:spPr bwMode="auto">
              <a:xfrm>
                <a:off x="1752600" y="1637851"/>
                <a:ext cx="774541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设有两非零向量</a:t>
                </a:r>
                <a14:m>
                  <m:oMath xmlns:m="http://schemas.openxmlformats.org/officeDocument/2006/math">
                    <m:r>
                      <a:rPr lang="zh-CN" altLang="en-US" sz="2800" b="1" i="1">
                        <a:latin typeface="Cambria Math" panose="02040503050406030204" charset="0"/>
                      </a:rPr>
                      <m:t>𝒂</m:t>
                    </m:r>
                    <m:r>
                      <a:rPr lang="en-US" altLang="zh-CN" sz="2800" b="0" i="1" smtClean="0">
                        <a:latin typeface="Cambria Math" panose="02040503050406030204" charset="0"/>
                      </a:rPr>
                      <m:t>,</m:t>
                    </m:r>
                    <m:r>
                      <a:rPr lang="en-US" altLang="zh-CN" sz="2800" b="1" i="1" smtClean="0">
                        <a:latin typeface="Cambria Math" panose="02040503050406030204" charset="0"/>
                      </a:rPr>
                      <m:t>𝒃</m:t>
                    </m:r>
                    <m:r>
                      <a:rPr lang="en-US" altLang="zh-CN" sz="2800" b="0" i="1" smtClean="0">
                        <a:latin typeface="Cambria Math" panose="02040503050406030204" charset="0"/>
                      </a:rPr>
                      <m:t>,</m:t>
                    </m:r>
                    <m:r>
                      <a:rPr lang="en-US" altLang="zh-CN" sz="2800" b="0" i="1" smtClean="0">
                        <a:latin typeface="Cambria Math" panose="02040503050406030204" charset="0"/>
                      </a:rPr>
                      <m:t>𝑂</m:t>
                    </m:r>
                  </m:oMath>
                </a14:m>
                <a:r>
                  <a:rPr lang="en-US" altLang="zh-CN" sz="2800" i="1" dirty="0">
                    <a:latin typeface="Cambria Math" panose="02040503050406030204" charset="0"/>
                  </a:rPr>
                  <a:t> </a:t>
                </a:r>
                <a:r>
                  <a:rPr lang="zh-CN" altLang="en-US" sz="2800" dirty="0">
                    <a:latin typeface="Times New Roman" panose="02020603050405020304" pitchFamily="18" charset="0"/>
                    <a:cs typeface="Times New Roman" panose="02020603050405020304" pitchFamily="18" charset="0"/>
                  </a:rPr>
                  <a:t>是空间任一点，作两向量</a:t>
                </a:r>
                <a:endParaRPr lang="zh-CN" altLang="en-US" sz="2800" dirty="0">
                  <a:latin typeface="Times New Roman" panose="02020603050405020304" pitchFamily="18" charset="0"/>
                  <a:cs typeface="Times New Roman" panose="02020603050405020304" pitchFamily="18" charset="0"/>
                </a:endParaRPr>
              </a:p>
            </p:txBody>
          </p:sp>
        </mc:Choice>
        <mc:Fallback>
          <p:sp>
            <p:nvSpPr>
              <p:cNvPr id="34821" name="Text Box 5"/>
              <p:cNvSpPr txBox="1">
                <a:spLocks noRot="1" noChangeAspect="1" noMove="1" noResize="1" noEditPoints="1" noAdjustHandles="1" noChangeArrowheads="1" noChangeShapeType="1" noTextEdit="1"/>
              </p:cNvSpPr>
              <p:nvPr/>
            </p:nvSpPr>
            <p:spPr bwMode="auto">
              <a:xfrm>
                <a:off x="1752600" y="1637851"/>
                <a:ext cx="7745419" cy="523220"/>
              </a:xfrm>
              <a:prstGeom prst="rect">
                <a:avLst/>
              </a:prstGeom>
              <a:blipFill rotWithShape="1">
                <a:blip r:embed="rId2"/>
                <a:stretch>
                  <a:fillRect t="-36" r="4" b="3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4822" name="Object 6"/>
              <p:cNvSpPr txBox="1">
                <a:spLocks noGrp="1"/>
              </p:cNvSpPr>
              <p:nvPr>
                <p:ph sz="half" idx="4294967295"/>
              </p:nvPr>
            </p:nvSpPr>
            <p:spPr bwMode="auto">
              <a:xfrm>
                <a:off x="1790698" y="2282355"/>
                <a:ext cx="2945911" cy="613877"/>
              </a:xfrm>
              <a:prstGeom prst="rect">
                <a:avLst/>
              </a:prstGeom>
              <a:noFill/>
              <a:ln>
                <a:noFill/>
              </a:ln>
              <a:effectLst/>
            </p:spPr>
            <p:txBody>
              <a:bodyPr>
                <a:normAutofit/>
              </a:bodyPr>
              <a:lstStyle/>
              <a:p>
                <a:pPr>
                  <a:buNone/>
                </a:pPr>
                <a14:m>
                  <m:oMathPara xmlns:m="http://schemas.openxmlformats.org/officeDocument/2006/math">
                    <m:oMathParaPr>
                      <m:jc m:val="left"/>
                    </m:oMathParaPr>
                    <m:oMath xmlns:m="http://schemas.openxmlformats.org/officeDocument/2006/math">
                      <m:groupChr>
                        <m:groupChrPr>
                          <m:chr m:val="→"/>
                          <m:pos m:val="top"/>
                          <m:vertJc m:val="bot"/>
                          <m:ctrlPr>
                            <a:rPr lang="zh-CN" altLang="en-US" b="0" i="1">
                              <a:latin typeface="Cambria Math" panose="02040503050406030204" charset="0"/>
                            </a:rPr>
                          </m:ctrlPr>
                        </m:groupChrPr>
                        <m:e>
                          <m:r>
                            <a:rPr lang="zh-CN" altLang="en-US" b="0" i="1">
                              <a:latin typeface="Cambria Math" panose="02040503050406030204" charset="0"/>
                            </a:rPr>
                            <m:t>𝑂𝐴</m:t>
                          </m:r>
                        </m:e>
                      </m:groupChr>
                      <m:r>
                        <a:rPr lang="zh-CN" altLang="en-US" b="0" i="1">
                          <a:latin typeface="Cambria Math" panose="02040503050406030204" charset="0"/>
                        </a:rPr>
                        <m:t>=</m:t>
                      </m:r>
                      <m:r>
                        <a:rPr lang="zh-CN" altLang="en-US" b="1" i="1">
                          <a:latin typeface="Cambria Math" panose="02040503050406030204" charset="0"/>
                        </a:rPr>
                        <m:t>𝒂</m:t>
                      </m:r>
                      <m:r>
                        <a:rPr lang="zh-CN" altLang="en-US" b="0" i="1">
                          <a:latin typeface="Cambria Math" panose="02040503050406030204" charset="0"/>
                        </a:rPr>
                        <m:t>,</m:t>
                      </m:r>
                      <m:groupChr>
                        <m:groupChrPr>
                          <m:chr m:val="→"/>
                          <m:pos m:val="top"/>
                          <m:vertJc m:val="bot"/>
                          <m:ctrlPr>
                            <a:rPr lang="zh-CN" altLang="en-US" b="0" i="1">
                              <a:latin typeface="Cambria Math" panose="02040503050406030204" charset="0"/>
                            </a:rPr>
                          </m:ctrlPr>
                        </m:groupChrPr>
                        <m:e>
                          <m:r>
                            <a:rPr lang="zh-CN" altLang="en-US" b="0" i="1">
                              <a:latin typeface="Cambria Math" panose="02040503050406030204" charset="0"/>
                            </a:rPr>
                            <m:t>𝑂𝐵</m:t>
                          </m:r>
                        </m:e>
                      </m:groupChr>
                      <m:r>
                        <a:rPr lang="zh-CN" altLang="en-US" b="0" i="1">
                          <a:latin typeface="Cambria Math" panose="02040503050406030204" charset="0"/>
                        </a:rPr>
                        <m:t>=</m:t>
                      </m:r>
                      <m:r>
                        <a:rPr lang="zh-CN" altLang="en-US" b="1" i="1">
                          <a:latin typeface="Cambria Math" panose="02040503050406030204" charset="0"/>
                        </a:rPr>
                        <m:t>𝒃</m:t>
                      </m:r>
                      <m:r>
                        <a:rPr lang="zh-CN" altLang="en-US" b="0" i="1">
                          <a:latin typeface="Cambria Math" panose="02040503050406030204" charset="0"/>
                        </a:rPr>
                        <m:t>, </m:t>
                      </m:r>
                    </m:oMath>
                  </m:oMathPara>
                </a14:m>
                <a:endParaRPr lang="zh-CN" altLang="en-US" b="0" i="1" dirty="0">
                  <a:latin typeface="Cambria Math" panose="02040503050406030204" charset="0"/>
                </a:endParaRPr>
              </a:p>
            </p:txBody>
          </p:sp>
        </mc:Choice>
        <mc:Fallback>
          <p:sp>
            <p:nvSpPr>
              <p:cNvPr id="34822" name="Object 6"/>
              <p:cNvSpPr txBox="1">
                <a:spLocks noRot="1" noChangeAspect="1" noMove="1" noResize="1" noEditPoints="1" noAdjustHandles="1" noChangeArrowheads="1" noChangeShapeType="1" noTextEdit="1"/>
              </p:cNvSpPr>
              <p:nvPr>
                <p:ph sz="half" idx="4294967295"/>
              </p:nvPr>
            </p:nvSpPr>
            <p:spPr bwMode="auto">
              <a:xfrm>
                <a:off x="1790698" y="2282355"/>
                <a:ext cx="2945911" cy="613877"/>
              </a:xfrm>
              <a:prstGeom prst="rect">
                <a:avLst/>
              </a:prstGeom>
              <a:blipFill rotWithShape="1">
                <a:blip r:embed="rId3"/>
                <a:stretch>
                  <a:fillRect l="-21" t="-27" r="5" b="103"/>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4834" name="Object 18"/>
              <p:cNvSpPr txBox="1">
                <a:spLocks noGrp="1"/>
              </p:cNvSpPr>
              <p:nvPr>
                <p:ph sz="half" idx="4294967295"/>
              </p:nvPr>
            </p:nvSpPr>
            <p:spPr bwMode="auto">
              <a:xfrm>
                <a:off x="2133600" y="3128771"/>
                <a:ext cx="3654586" cy="591721"/>
              </a:xfrm>
              <a:prstGeom prst="rect">
                <a:avLst/>
              </a:prstGeom>
              <a:noFill/>
              <a:ln>
                <a:noFill/>
              </a:ln>
              <a:effectLst/>
            </p:spPr>
            <p:txBody>
              <a:bodyPr>
                <a:normAutofit/>
              </a:bodyPr>
              <a:lstStyle/>
              <a:p>
                <a:pPr>
                  <a:buNone/>
                </a:pPr>
                <a14:m>
                  <m:oMathPara xmlns:m="http://schemas.openxmlformats.org/officeDocument/2006/math">
                    <m:oMathParaPr>
                      <m:jc m:val="left"/>
                    </m:oMathParaPr>
                    <m:oMath xmlns:m="http://schemas.openxmlformats.org/officeDocument/2006/math">
                      <m:r>
                        <m:rPr>
                          <m:nor/>
                        </m:rPr>
                        <a:rPr lang="en-US" altLang="zh-CN" b="0" i="1" dirty="0">
                          <a:latin typeface="Cambria Math" panose="02040503050406030204" charset="0"/>
                          <a:sym typeface="Symbol" panose="05050102010706020507" pitchFamily="18" charset="2"/>
                        </a:rPr>
                        <m:t></m:t>
                      </m:r>
                      <m:r>
                        <a:rPr lang="zh-CN" altLang="en-US" b="0" i="1">
                          <a:solidFill>
                            <a:srgbClr val="000000"/>
                          </a:solidFill>
                          <a:latin typeface="Cambria Math" panose="02040503050406030204" charset="0"/>
                        </a:rPr>
                        <m:t>=∠</m:t>
                      </m:r>
                      <m:r>
                        <a:rPr lang="zh-CN" altLang="en-US" b="0" i="1">
                          <a:solidFill>
                            <a:srgbClr val="000000"/>
                          </a:solidFill>
                          <a:latin typeface="Cambria Math" panose="02040503050406030204" charset="0"/>
                        </a:rPr>
                        <m:t>𝐴𝑂𝐵</m:t>
                      </m:r>
                      <m:r>
                        <a:rPr lang="zh-CN" altLang="en-US" b="0" i="1">
                          <a:solidFill>
                            <a:srgbClr val="000000"/>
                          </a:solidFill>
                          <a:latin typeface="Cambria Math" panose="02040503050406030204" charset="0"/>
                        </a:rPr>
                        <m:t> (</m:t>
                      </m:r>
                      <m:r>
                        <a:rPr lang="zh-CN" altLang="en-US" b="0" i="1">
                          <a:solidFill>
                            <a:srgbClr val="000000"/>
                          </a:solidFill>
                          <a:latin typeface="Cambria Math" panose="02040503050406030204" charset="0"/>
                        </a:rPr>
                        <m:t>0</m:t>
                      </m:r>
                      <m:r>
                        <m:rPr>
                          <m:nor/>
                        </m:rPr>
                        <a:rPr lang="en-US" altLang="zh-CN" dirty="0">
                          <a:latin typeface="宋体" panose="02010600030101010101" pitchFamily="2" charset="-122"/>
                          <a:ea typeface="宋体" panose="02010600030101010101" pitchFamily="2" charset="-122"/>
                        </a:rPr>
                        <m:t>≤</m:t>
                      </m:r>
                      <m:r>
                        <m:rPr>
                          <m:nor/>
                        </m:rPr>
                        <a:rPr lang="en-US" altLang="zh-CN" b="0" i="1" dirty="0">
                          <a:latin typeface="Cambria Math" panose="02040503050406030204" charset="0"/>
                          <a:sym typeface="Symbol" panose="05050102010706020507" pitchFamily="18" charset="2"/>
                        </a:rPr>
                        <m:t></m:t>
                      </m:r>
                      <m:r>
                        <m:rPr>
                          <m:nor/>
                        </m:rPr>
                        <a:rPr lang="en-US" altLang="zh-CN" dirty="0">
                          <a:latin typeface="宋体" panose="02010600030101010101" pitchFamily="2" charset="-122"/>
                          <a:ea typeface="宋体" panose="02010600030101010101" pitchFamily="2" charset="-122"/>
                        </a:rPr>
                        <m:t>≤</m:t>
                      </m:r>
                      <m:r>
                        <m:rPr>
                          <m:sty m:val="p"/>
                        </m:rPr>
                        <a:rPr lang="zh-CN" altLang="en-US" b="0" i="0">
                          <a:solidFill>
                            <a:srgbClr val="000000"/>
                          </a:solidFill>
                          <a:latin typeface="Cambria Math" panose="02040503050406030204" charset="0"/>
                        </a:rPr>
                        <m:t>π</m:t>
                      </m:r>
                      <m:r>
                        <a:rPr lang="zh-CN" altLang="en-US" b="0" i="1">
                          <a:solidFill>
                            <a:srgbClr val="000000"/>
                          </a:solidFill>
                          <a:latin typeface="Cambria Math" panose="02040503050406030204" charset="0"/>
                        </a:rPr>
                        <m:t>)</m:t>
                      </m:r>
                    </m:oMath>
                  </m:oMathPara>
                </a14:m>
                <a:endParaRPr lang="zh-CN" altLang="en-US" b="0" dirty="0"/>
              </a:p>
            </p:txBody>
          </p:sp>
        </mc:Choice>
        <mc:Fallback>
          <p:sp>
            <p:nvSpPr>
              <p:cNvPr id="34834" name="Object 18"/>
              <p:cNvSpPr txBox="1">
                <a:spLocks noRot="1" noChangeAspect="1" noMove="1" noResize="1" noEditPoints="1" noAdjustHandles="1" noChangeArrowheads="1" noChangeShapeType="1" noTextEdit="1"/>
              </p:cNvSpPr>
              <p:nvPr>
                <p:ph sz="half" idx="4294967295"/>
              </p:nvPr>
            </p:nvSpPr>
            <p:spPr bwMode="auto">
              <a:xfrm>
                <a:off x="2133600" y="3128771"/>
                <a:ext cx="3654586" cy="591721"/>
              </a:xfrm>
              <a:prstGeom prst="rect">
                <a:avLst/>
              </a:prstGeom>
              <a:blipFill rotWithShape="1">
                <a:blip r:embed="rId4"/>
                <a:stretch>
                  <a:fillRect t="-21" r="4" b="5"/>
                </a:stretch>
              </a:blipFill>
              <a:ln>
                <a:noFill/>
              </a:ln>
              <a:effectLst/>
            </p:spPr>
            <p:txBody>
              <a:bodyPr/>
              <a:lstStyle/>
              <a:p>
                <a:r>
                  <a:rPr lang="zh-CN" altLang="en-US">
                    <a:noFill/>
                  </a:rPr>
                  <a:t> </a:t>
                </a:r>
              </a:p>
            </p:txBody>
          </p:sp>
        </mc:Fallback>
      </mc:AlternateContent>
      <p:sp>
        <p:nvSpPr>
          <p:cNvPr id="34824" name="Text Box 8"/>
          <p:cNvSpPr txBox="1">
            <a:spLocks noChangeArrowheads="1"/>
          </p:cNvSpPr>
          <p:nvPr/>
        </p:nvSpPr>
        <p:spPr bwMode="auto">
          <a:xfrm>
            <a:off x="4343400" y="2324818"/>
            <a:ext cx="2667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如图所示．</a:t>
            </a:r>
            <a:endParaRPr lang="zh-CN" altLang="en-US" sz="2800" dirty="0">
              <a:latin typeface="Times New Roman" panose="02020603050405020304" pitchFamily="18" charset="0"/>
              <a:cs typeface="Times New Roman" panose="02020603050405020304" pitchFamily="18" charset="0"/>
            </a:endParaRPr>
          </a:p>
        </p:txBody>
      </p:sp>
      <p:sp>
        <p:nvSpPr>
          <p:cNvPr id="34833" name="Text Box 17"/>
          <p:cNvSpPr txBox="1">
            <a:spLocks noChangeArrowheads="1"/>
          </p:cNvSpPr>
          <p:nvPr/>
        </p:nvSpPr>
        <p:spPr bwMode="auto">
          <a:xfrm>
            <a:off x="1782365" y="3124267"/>
            <a:ext cx="609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称</a:t>
            </a:r>
            <a:endParaRPr lang="zh-CN" altLang="en-US" sz="2800" dirty="0">
              <a:latin typeface="Times New Roman" panose="02020603050405020304" pitchFamily="18" charset="0"/>
              <a:cs typeface="Times New Roman" panose="02020603050405020304" pitchFamily="18" charset="0"/>
            </a:endParaRPr>
          </a:p>
        </p:txBody>
      </p:sp>
      <p:sp>
        <p:nvSpPr>
          <p:cNvPr id="34837" name="Text Box 21"/>
          <p:cNvSpPr txBox="1">
            <a:spLocks noChangeArrowheads="1"/>
          </p:cNvSpPr>
          <p:nvPr/>
        </p:nvSpPr>
        <p:spPr bwMode="auto">
          <a:xfrm>
            <a:off x="5562600" y="3077806"/>
            <a:ext cx="1752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为向量</a:t>
            </a:r>
            <a:endParaRPr lang="zh-CN" altLang="en-US" sz="28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4838" name="Rectangle 22"/>
              <p:cNvSpPr>
                <a:spLocks noChangeArrowheads="1"/>
              </p:cNvSpPr>
              <p:nvPr/>
            </p:nvSpPr>
            <p:spPr bwMode="auto">
              <a:xfrm>
                <a:off x="1763715" y="3890606"/>
                <a:ext cx="319563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14:m>
                  <m:oMath xmlns:m="http://schemas.openxmlformats.org/officeDocument/2006/math">
                    <m:r>
                      <a:rPr lang="zh-CN" altLang="en-US" sz="2800" b="1" i="1">
                        <a:latin typeface="Cambria Math" panose="02040503050406030204" charset="0"/>
                      </a:rPr>
                      <m:t>𝒂</m:t>
                    </m:r>
                    <m:r>
                      <a:rPr lang="en-US" altLang="zh-CN" sz="2800" i="1">
                        <a:latin typeface="Cambria Math" panose="02040503050406030204" charset="0"/>
                      </a:rPr>
                      <m:t>,</m:t>
                    </m:r>
                    <m:r>
                      <a:rPr lang="en-US" altLang="zh-CN" sz="2800" b="1" i="1">
                        <a:latin typeface="Cambria Math" panose="02040503050406030204" charset="0"/>
                      </a:rPr>
                      <m:t>𝒃</m:t>
                    </m:r>
                  </m:oMath>
                </a14:m>
                <a:r>
                  <a:rPr lang="zh-CN" altLang="en-US" sz="2800" dirty="0">
                    <a:latin typeface="Times New Roman" panose="02020603050405020304" pitchFamily="18" charset="0"/>
                    <a:cs typeface="Times New Roman" panose="02020603050405020304" pitchFamily="18" charset="0"/>
                  </a:rPr>
                  <a:t>的</a:t>
                </a:r>
                <a:r>
                  <a:rPr lang="zh-CN" altLang="en-US" sz="2800" b="1" dirty="0">
                    <a:solidFill>
                      <a:srgbClr val="04926A"/>
                    </a:solidFill>
                    <a:latin typeface="Times New Roman" panose="02020603050405020304" pitchFamily="18" charset="0"/>
                    <a:cs typeface="Times New Roman" panose="02020603050405020304" pitchFamily="18" charset="0"/>
                  </a:rPr>
                  <a:t>夹角</a:t>
                </a:r>
                <a:r>
                  <a:rPr lang="zh-CN" altLang="en-US" sz="2800" dirty="0">
                    <a:latin typeface="Times New Roman" panose="02020603050405020304" pitchFamily="18" charset="0"/>
                    <a:cs typeface="Times New Roman" panose="02020603050405020304" pitchFamily="18" charset="0"/>
                  </a:rPr>
                  <a:t>，记为</a:t>
                </a:r>
                <a:endParaRPr lang="zh-CN" altLang="en-US" sz="2800" dirty="0">
                  <a:latin typeface="Times New Roman" panose="02020603050405020304" pitchFamily="18" charset="0"/>
                  <a:cs typeface="Times New Roman" panose="02020603050405020304" pitchFamily="18" charset="0"/>
                </a:endParaRPr>
              </a:p>
            </p:txBody>
          </p:sp>
        </mc:Choice>
        <mc:Fallback>
          <p:sp>
            <p:nvSpPr>
              <p:cNvPr id="34838" name="Rectangle 22"/>
              <p:cNvSpPr>
                <a:spLocks noRot="1" noChangeAspect="1" noMove="1" noResize="1" noEditPoints="1" noAdjustHandles="1" noChangeArrowheads="1" noChangeShapeType="1" noTextEdit="1"/>
              </p:cNvSpPr>
              <p:nvPr/>
            </p:nvSpPr>
            <p:spPr bwMode="auto">
              <a:xfrm>
                <a:off x="1763715" y="3890606"/>
                <a:ext cx="3195637" cy="523220"/>
              </a:xfrm>
              <a:prstGeom prst="rect">
                <a:avLst/>
              </a:prstGeom>
              <a:blipFill rotWithShape="1">
                <a:blip r:embed="rId5"/>
                <a:stretch>
                  <a:fillRect l="-10" t="-114" b="11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4853" name="Object 37"/>
              <p:cNvSpPr txBox="1"/>
              <p:nvPr/>
            </p:nvSpPr>
            <p:spPr bwMode="auto">
              <a:xfrm>
                <a:off x="4492259" y="3860973"/>
                <a:ext cx="1072849" cy="605558"/>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d>
                        <m:dPr>
                          <m:ctrlPr>
                            <a:rPr lang="en-US" altLang="zh-CN" sz="2800" b="0" i="1" smtClean="0">
                              <a:latin typeface="Cambria Math" panose="02040503050406030204" charset="0"/>
                            </a:rPr>
                          </m:ctrlPr>
                        </m:dPr>
                        <m:e>
                          <m:r>
                            <a:rPr lang="zh-CN" altLang="en-US" sz="2800" b="1" i="1">
                              <a:latin typeface="Cambria Math" panose="02040503050406030204" charset="0"/>
                            </a:rPr>
                            <m:t>𝒂</m:t>
                          </m:r>
                          <m:r>
                            <m:rPr>
                              <m:nor/>
                            </m:rPr>
                            <a:rPr lang="en-US" altLang="zh-CN" sz="2800" b="0" i="0" smtClean="0">
                              <a:latin typeface="Cambria Math" panose="02040503050406030204" charset="0"/>
                            </a:rPr>
                            <m:t>,</m:t>
                          </m:r>
                          <m:r>
                            <a:rPr lang="en-US" altLang="zh-CN" sz="2800" b="1" i="1">
                              <a:latin typeface="Cambria Math" panose="02040503050406030204" charset="0"/>
                            </a:rPr>
                            <m:t>𝒃</m:t>
                          </m:r>
                        </m:e>
                      </m:d>
                      <m:r>
                        <a:rPr lang="en-US" altLang="zh-CN" sz="2800" b="0" i="1" smtClean="0">
                          <a:latin typeface="Cambria Math" panose="02040503050406030204" charset="0"/>
                        </a:rPr>
                        <m:t>,</m:t>
                      </m:r>
                    </m:oMath>
                  </m:oMathPara>
                </a14:m>
                <a:endParaRPr lang="zh-CN" altLang="en-US" sz="2800" dirty="0"/>
              </a:p>
            </p:txBody>
          </p:sp>
        </mc:Choice>
        <mc:Fallback>
          <p:sp>
            <p:nvSpPr>
              <p:cNvPr id="34853" name="Object 37"/>
              <p:cNvSpPr txBox="1">
                <a:spLocks noRot="1" noChangeAspect="1" noMove="1" noResize="1" noEditPoints="1" noAdjustHandles="1" noChangeArrowheads="1" noChangeShapeType="1" noTextEdit="1"/>
              </p:cNvSpPr>
              <p:nvPr/>
            </p:nvSpPr>
            <p:spPr bwMode="auto">
              <a:xfrm>
                <a:off x="4492259" y="3860973"/>
                <a:ext cx="1072849" cy="605558"/>
              </a:xfrm>
              <a:prstGeom prst="rect">
                <a:avLst/>
              </a:prstGeom>
              <a:blipFill rotWithShape="1">
                <a:blip r:embed="rId6"/>
                <a:stretch>
                  <a:fillRect l="-25" t="-29" r="56" b="95"/>
                </a:stretch>
              </a:blipFill>
              <a:ln>
                <a:noFill/>
              </a:ln>
              <a:effectLst/>
            </p:spPr>
            <p:txBody>
              <a:bodyPr/>
              <a:lstStyle/>
              <a:p>
                <a:r>
                  <a:rPr lang="zh-CN" altLang="en-US">
                    <a:noFill/>
                  </a:rPr>
                  <a:t> </a:t>
                </a:r>
              </a:p>
            </p:txBody>
          </p:sp>
        </mc:Fallback>
      </mc:AlternateContent>
      <p:sp>
        <p:nvSpPr>
          <p:cNvPr id="34855" name="Text Box 39"/>
          <p:cNvSpPr txBox="1">
            <a:spLocks noChangeArrowheads="1"/>
          </p:cNvSpPr>
          <p:nvPr/>
        </p:nvSpPr>
        <p:spPr bwMode="auto">
          <a:xfrm>
            <a:off x="5448300" y="3902142"/>
            <a:ext cx="54382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或</a:t>
            </a:r>
            <a:endParaRPr lang="zh-CN" altLang="en-US" sz="2800" dirty="0">
              <a:latin typeface="Times New Roman" panose="02020603050405020304" pitchFamily="18" charset="0"/>
              <a:cs typeface="Times New Roman" panose="02020603050405020304" pitchFamily="18" charset="0"/>
            </a:endParaRPr>
          </a:p>
        </p:txBody>
      </p:sp>
      <p:grpSp>
        <p:nvGrpSpPr>
          <p:cNvPr id="34875" name="Group 59"/>
          <p:cNvGrpSpPr/>
          <p:nvPr/>
        </p:nvGrpSpPr>
        <p:grpSpPr bwMode="auto">
          <a:xfrm>
            <a:off x="8229606" y="2620606"/>
            <a:ext cx="1857376" cy="2276475"/>
            <a:chOff x="4224" y="1449"/>
            <a:chExt cx="1170" cy="1434"/>
          </a:xfrm>
        </p:grpSpPr>
        <p:grpSp>
          <p:nvGrpSpPr>
            <p:cNvPr id="34832" name="Group 16"/>
            <p:cNvGrpSpPr/>
            <p:nvPr/>
          </p:nvGrpSpPr>
          <p:grpSpPr bwMode="auto">
            <a:xfrm>
              <a:off x="4224" y="1449"/>
              <a:ext cx="1170" cy="1434"/>
              <a:chOff x="3840" y="1296"/>
              <a:chExt cx="1170" cy="1434"/>
            </a:xfrm>
          </p:grpSpPr>
          <p:sp>
            <p:nvSpPr>
              <p:cNvPr id="34825" name="Line 9"/>
              <p:cNvSpPr>
                <a:spLocks noChangeShapeType="1"/>
              </p:cNvSpPr>
              <p:nvPr/>
            </p:nvSpPr>
            <p:spPr bwMode="auto">
              <a:xfrm>
                <a:off x="4080" y="2016"/>
                <a:ext cx="912" cy="432"/>
              </a:xfrm>
              <a:prstGeom prst="line">
                <a:avLst/>
              </a:prstGeom>
              <a:noFill/>
              <a:ln w="28575">
                <a:solidFill>
                  <a:srgbClr val="04926A"/>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Times New Roman" panose="02020603050405020304" pitchFamily="18" charset="0"/>
                  <a:cs typeface="Times New Roman" panose="02020603050405020304" pitchFamily="18" charset="0"/>
                </a:endParaRPr>
              </a:p>
            </p:txBody>
          </p:sp>
          <p:sp>
            <p:nvSpPr>
              <p:cNvPr id="34826" name="Line 10"/>
              <p:cNvSpPr>
                <a:spLocks noChangeShapeType="1"/>
              </p:cNvSpPr>
              <p:nvPr/>
            </p:nvSpPr>
            <p:spPr bwMode="auto">
              <a:xfrm flipV="1">
                <a:off x="4080" y="1584"/>
                <a:ext cx="624" cy="432"/>
              </a:xfrm>
              <a:prstGeom prst="line">
                <a:avLst/>
              </a:prstGeom>
              <a:noFill/>
              <a:ln w="28575">
                <a:solidFill>
                  <a:srgbClr val="4A7BA8"/>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Times New Roman" panose="02020603050405020304" pitchFamily="18" charset="0"/>
                  <a:cs typeface="Times New Roman" panose="02020603050405020304" pitchFamily="18" charset="0"/>
                </a:endParaRPr>
              </a:p>
            </p:txBody>
          </p:sp>
          <p:sp>
            <p:nvSpPr>
              <p:cNvPr id="34827" name="Rectangle 11"/>
              <p:cNvSpPr>
                <a:spLocks noChangeArrowheads="1"/>
              </p:cNvSpPr>
              <p:nvPr/>
            </p:nvSpPr>
            <p:spPr bwMode="auto">
              <a:xfrm>
                <a:off x="3840" y="1872"/>
                <a:ext cx="26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i="1" dirty="0">
                    <a:latin typeface="Cambria Math" panose="02040503050406030204" charset="0"/>
                  </a:rPr>
                  <a:t>O</a:t>
                </a:r>
                <a:endParaRPr lang="en-US" altLang="zh-CN" sz="2800" i="1" dirty="0">
                  <a:latin typeface="Cambria Math" panose="02040503050406030204" charset="0"/>
                </a:endParaRPr>
              </a:p>
            </p:txBody>
          </p:sp>
          <p:sp>
            <p:nvSpPr>
              <p:cNvPr id="34828" name="Rectangle 12"/>
              <p:cNvSpPr>
                <a:spLocks noChangeArrowheads="1"/>
              </p:cNvSpPr>
              <p:nvPr/>
            </p:nvSpPr>
            <p:spPr bwMode="auto">
              <a:xfrm>
                <a:off x="4752" y="2400"/>
                <a:ext cx="258"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i="1" dirty="0">
                    <a:latin typeface="Cambria Math" panose="02040503050406030204" charset="0"/>
                  </a:rPr>
                  <a:t>A</a:t>
                </a:r>
                <a:endParaRPr lang="en-US" altLang="zh-CN" sz="2800" i="1" dirty="0">
                  <a:latin typeface="Cambria Math" panose="02040503050406030204" charset="0"/>
                </a:endParaRPr>
              </a:p>
            </p:txBody>
          </p:sp>
          <p:sp>
            <p:nvSpPr>
              <p:cNvPr id="34829" name="Rectangle 13"/>
              <p:cNvSpPr>
                <a:spLocks noChangeArrowheads="1"/>
              </p:cNvSpPr>
              <p:nvPr/>
            </p:nvSpPr>
            <p:spPr bwMode="auto">
              <a:xfrm>
                <a:off x="4512" y="1296"/>
                <a:ext cx="25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i="1" dirty="0">
                    <a:latin typeface="Cambria Math" panose="02040503050406030204" charset="0"/>
                  </a:rPr>
                  <a:t>B</a:t>
                </a:r>
                <a:endParaRPr lang="en-US" altLang="zh-CN" sz="2800" i="1" dirty="0">
                  <a:latin typeface="Cambria Math" panose="02040503050406030204" charset="0"/>
                </a:endParaRPr>
              </a:p>
            </p:txBody>
          </p:sp>
          <mc:AlternateContent xmlns:mc="http://schemas.openxmlformats.org/markup-compatibility/2006">
            <mc:Choice xmlns:a14="http://schemas.microsoft.com/office/drawing/2010/main" Requires="a14">
              <p:sp>
                <p:nvSpPr>
                  <p:cNvPr id="34830" name="Rectangle 14"/>
                  <p:cNvSpPr>
                    <a:spLocks noChangeArrowheads="1"/>
                  </p:cNvSpPr>
                  <p:nvPr/>
                </p:nvSpPr>
                <p:spPr bwMode="auto">
                  <a:xfrm>
                    <a:off x="4334" y="2181"/>
                    <a:ext cx="31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14:m>
                      <m:oMathPara xmlns:m="http://schemas.openxmlformats.org/officeDocument/2006/math">
                        <m:oMathParaPr>
                          <m:jc m:val="centerGroup"/>
                        </m:oMathParaPr>
                        <m:oMath xmlns:m="http://schemas.openxmlformats.org/officeDocument/2006/math">
                          <m:r>
                            <a:rPr lang="zh-CN" altLang="en-US" sz="2800" b="1" i="1" smtClean="0">
                              <a:latin typeface="Cambria Math" panose="02040503050406030204" charset="0"/>
                            </a:rPr>
                            <m:t>𝒂</m:t>
                          </m:r>
                        </m:oMath>
                      </m:oMathPara>
                    </a14:m>
                    <a:endParaRPr lang="en-US" altLang="zh-CN" sz="2800" b="1" i="1" dirty="0">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mc:Choice>
            <mc:Fallback>
              <p:sp>
                <p:nvSpPr>
                  <p:cNvPr id="34830" name="Rectangle 14"/>
                  <p:cNvSpPr>
                    <a:spLocks noRot="1" noChangeAspect="1" noMove="1" noResize="1" noEditPoints="1" noAdjustHandles="1" noChangeArrowheads="1" noChangeShapeType="1" noTextEdit="1"/>
                  </p:cNvSpPr>
                  <p:nvPr/>
                </p:nvSpPr>
                <p:spPr bwMode="auto">
                  <a:xfrm>
                    <a:off x="4334" y="2181"/>
                    <a:ext cx="313" cy="330"/>
                  </a:xfrm>
                  <a:prstGeom prst="rect">
                    <a:avLst/>
                  </a:prstGeom>
                  <a:blipFill rotWithShape="1">
                    <a:blip r:embed="rId7"/>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4831" name="Rectangle 15"/>
                  <p:cNvSpPr>
                    <a:spLocks noChangeArrowheads="1"/>
                  </p:cNvSpPr>
                  <p:nvPr/>
                </p:nvSpPr>
                <p:spPr bwMode="auto">
                  <a:xfrm>
                    <a:off x="4187" y="1508"/>
                    <a:ext cx="31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14:m>
                      <m:oMathPara xmlns:m="http://schemas.openxmlformats.org/officeDocument/2006/math">
                        <m:oMathParaPr>
                          <m:jc m:val="centerGroup"/>
                        </m:oMathParaPr>
                        <m:oMath xmlns:m="http://schemas.openxmlformats.org/officeDocument/2006/math">
                          <m:r>
                            <a:rPr lang="zh-CN" altLang="en-US" sz="2800" b="1" i="1" smtClean="0">
                              <a:latin typeface="Cambria Math" panose="02040503050406030204" charset="0"/>
                            </a:rPr>
                            <m:t>𝒃</m:t>
                          </m:r>
                        </m:oMath>
                      </m:oMathPara>
                    </a14:m>
                    <a:endParaRPr lang="en-US" altLang="zh-CN" sz="2800" b="1" i="1" dirty="0">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mc:Choice>
            <mc:Fallback>
              <p:sp>
                <p:nvSpPr>
                  <p:cNvPr id="34831" name="Rectangle 15"/>
                  <p:cNvSpPr>
                    <a:spLocks noRot="1" noChangeAspect="1" noMove="1" noResize="1" noEditPoints="1" noAdjustHandles="1" noChangeArrowheads="1" noChangeShapeType="1" noTextEdit="1"/>
                  </p:cNvSpPr>
                  <p:nvPr/>
                </p:nvSpPr>
                <p:spPr bwMode="auto">
                  <a:xfrm>
                    <a:off x="4187" y="1508"/>
                    <a:ext cx="310" cy="330"/>
                  </a:xfrm>
                  <a:prstGeom prst="rect">
                    <a:avLst/>
                  </a:prstGeom>
                  <a:blipFill rotWithShape="1">
                    <a:blip r:embed="rId8"/>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sp>
          <p:nvSpPr>
            <p:cNvPr id="34861" name="Arc 45"/>
            <p:cNvSpPr/>
            <p:nvPr/>
          </p:nvSpPr>
          <p:spPr bwMode="auto">
            <a:xfrm>
              <a:off x="4577" y="2057"/>
              <a:ext cx="144" cy="192"/>
            </a:xfrm>
            <a:custGeom>
              <a:avLst/>
              <a:gdLst>
                <a:gd name="G0" fmla="+- 0 0 0"/>
                <a:gd name="G1" fmla="+- 19484 0 0"/>
                <a:gd name="G2" fmla="+- 21600 0 0"/>
                <a:gd name="T0" fmla="*/ 9323 w 21600"/>
                <a:gd name="T1" fmla="*/ 0 h 39047"/>
                <a:gd name="T2" fmla="*/ 9156 w 21600"/>
                <a:gd name="T3" fmla="*/ 39047 h 39047"/>
                <a:gd name="T4" fmla="*/ 0 w 21600"/>
                <a:gd name="T5" fmla="*/ 19484 h 39047"/>
              </a:gdLst>
              <a:ahLst/>
              <a:cxnLst>
                <a:cxn ang="0">
                  <a:pos x="T0" y="T1"/>
                </a:cxn>
                <a:cxn ang="0">
                  <a:pos x="T2" y="T3"/>
                </a:cxn>
                <a:cxn ang="0">
                  <a:pos x="T4" y="T5"/>
                </a:cxn>
              </a:cxnLst>
              <a:rect l="0" t="0" r="r" b="b"/>
              <a:pathLst>
                <a:path w="21600" h="39047" fill="none" extrusionOk="0">
                  <a:moveTo>
                    <a:pt x="9323" y="-1"/>
                  </a:moveTo>
                  <a:cubicBezTo>
                    <a:pt x="16825" y="3589"/>
                    <a:pt x="21600" y="11167"/>
                    <a:pt x="21600" y="19484"/>
                  </a:cubicBezTo>
                  <a:cubicBezTo>
                    <a:pt x="21600" y="27867"/>
                    <a:pt x="16749" y="35493"/>
                    <a:pt x="9156" y="39047"/>
                  </a:cubicBezTo>
                </a:path>
                <a:path w="21600" h="39047" stroke="0" extrusionOk="0">
                  <a:moveTo>
                    <a:pt x="9323" y="-1"/>
                  </a:moveTo>
                  <a:cubicBezTo>
                    <a:pt x="16825" y="3589"/>
                    <a:pt x="21600" y="11167"/>
                    <a:pt x="21600" y="19484"/>
                  </a:cubicBezTo>
                  <a:cubicBezTo>
                    <a:pt x="21600" y="27867"/>
                    <a:pt x="16749" y="35493"/>
                    <a:pt x="9156" y="39047"/>
                  </a:cubicBezTo>
                  <a:lnTo>
                    <a:pt x="0" y="19484"/>
                  </a:lnTo>
                  <a:close/>
                </a:path>
              </a:pathLst>
            </a:custGeom>
            <a:noFill/>
            <a:ln w="19050">
              <a:solidFill>
                <a:schemeClr val="folHlink"/>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latin typeface="Times New Roman" panose="02020603050405020304" pitchFamily="18" charset="0"/>
                <a:cs typeface="Times New Roman" panose="02020603050405020304" pitchFamily="18" charset="0"/>
              </a:endParaRPr>
            </a:p>
          </p:txBody>
        </p:sp>
        <p:sp>
          <p:nvSpPr>
            <p:cNvPr id="34862" name="Text Box 46"/>
            <p:cNvSpPr txBox="1">
              <a:spLocks noChangeArrowheads="1"/>
            </p:cNvSpPr>
            <p:nvPr/>
          </p:nvSpPr>
          <p:spPr bwMode="auto">
            <a:xfrm>
              <a:off x="4673" y="1937"/>
              <a:ext cx="288"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i="1" dirty="0">
                  <a:latin typeface="Cambria Math" panose="02040503050406030204" charset="0"/>
                  <a:sym typeface="Symbol" panose="05050102010706020507" pitchFamily="18" charset="2"/>
                </a:rPr>
                <a:t></a:t>
              </a:r>
              <a:endParaRPr lang="en-US" altLang="zh-CN" sz="2800" i="1" dirty="0">
                <a:latin typeface="Cambria Math" panose="02040503050406030204" charset="0"/>
                <a:sym typeface="Symbol" panose="05050102010706020507" pitchFamily="18" charset="2"/>
              </a:endParaRPr>
            </a:p>
          </p:txBody>
        </p:sp>
      </p:grpSp>
      <p:sp>
        <p:nvSpPr>
          <p:cNvPr id="34863" name="Text Box 47"/>
          <p:cNvSpPr txBox="1">
            <a:spLocks noChangeArrowheads="1"/>
          </p:cNvSpPr>
          <p:nvPr/>
        </p:nvSpPr>
        <p:spPr bwMode="auto">
          <a:xfrm>
            <a:off x="1725615" y="4658380"/>
            <a:ext cx="6477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zh-CN" altLang="en-US" sz="2800" dirty="0">
                <a:latin typeface="Times New Roman" panose="02020603050405020304" pitchFamily="18" charset="0"/>
                <a:cs typeface="Times New Roman" panose="02020603050405020304" pitchFamily="18" charset="0"/>
              </a:rPr>
              <a:t>类似可定义向量与轴</a:t>
            </a:r>
            <a:r>
              <a:rPr lang="zh-CN" altLang="en-US" sz="2800" dirty="0">
                <a:latin typeface="Times New Roman" panose="02020603050405020304" pitchFamily="18" charset="0"/>
                <a:cs typeface="Times New Roman" panose="02020603050405020304" pitchFamily="18" charset="0"/>
              </a:rPr>
              <a:t>，</a:t>
            </a:r>
            <a:r>
              <a:rPr kumimoji="1" lang="zh-CN" altLang="en-US" sz="2800" dirty="0">
                <a:latin typeface="Times New Roman" panose="02020603050405020304" pitchFamily="18" charset="0"/>
                <a:cs typeface="Times New Roman" panose="02020603050405020304" pitchFamily="18" charset="0"/>
              </a:rPr>
              <a:t>轴与轴的夹角</a:t>
            </a:r>
            <a:r>
              <a:rPr lang="zh-CN" altLang="en-US" sz="2800" dirty="0">
                <a:latin typeface="Times New Roman" panose="02020603050405020304" pitchFamily="18" charset="0"/>
                <a:cs typeface="Times New Roman" panose="02020603050405020304" pitchFamily="18" charset="0"/>
              </a:rPr>
              <a:t>．</a:t>
            </a:r>
            <a:endParaRPr lang="zh-CN" altLang="en-US" sz="2800" dirty="0">
              <a:latin typeface="Times New Roman" panose="02020603050405020304" pitchFamily="18" charset="0"/>
              <a:cs typeface="Times New Roman" panose="02020603050405020304" pitchFamily="18" charset="0"/>
            </a:endParaRPr>
          </a:p>
        </p:txBody>
      </p:sp>
      <p:grpSp>
        <p:nvGrpSpPr>
          <p:cNvPr id="14" name="组合 13"/>
          <p:cNvGrpSpPr/>
          <p:nvPr/>
        </p:nvGrpSpPr>
        <p:grpSpPr>
          <a:xfrm>
            <a:off x="4876800" y="3819027"/>
            <a:ext cx="154734" cy="128075"/>
            <a:chOff x="5149851" y="3629027"/>
            <a:chExt cx="154734" cy="128075"/>
          </a:xfrm>
        </p:grpSpPr>
        <p:cxnSp>
          <p:nvCxnSpPr>
            <p:cNvPr id="4" name="直接连接符 3"/>
            <p:cNvCxnSpPr/>
            <p:nvPr/>
          </p:nvCxnSpPr>
          <p:spPr>
            <a:xfrm flipV="1">
              <a:off x="5149851" y="3629027"/>
              <a:ext cx="82552" cy="128075"/>
            </a:xfrm>
            <a:prstGeom prst="line">
              <a:avLst/>
            </a:prstGeom>
          </p:spPr>
          <p:style>
            <a:lnRef idx="1">
              <a:schemeClr val="dk1"/>
            </a:lnRef>
            <a:fillRef idx="0">
              <a:schemeClr val="dk1"/>
            </a:fillRef>
            <a:effectRef idx="0">
              <a:schemeClr val="dk1"/>
            </a:effectRef>
            <a:fontRef idx="minor">
              <a:schemeClr val="tx1"/>
            </a:fontRef>
          </p:style>
        </p:cxnSp>
        <p:cxnSp>
          <p:nvCxnSpPr>
            <p:cNvPr id="7" name="直接连接符 6"/>
            <p:cNvCxnSpPr/>
            <p:nvPr/>
          </p:nvCxnSpPr>
          <p:spPr>
            <a:xfrm flipH="1" flipV="1">
              <a:off x="5232403" y="3629027"/>
              <a:ext cx="72182" cy="118145"/>
            </a:xfrm>
            <a:prstGeom prst="line">
              <a:avLst/>
            </a:prstGeom>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mc:Choice xmlns:a14="http://schemas.microsoft.com/office/drawing/2010/main" Requires="a14">
          <p:sp>
            <p:nvSpPr>
              <p:cNvPr id="15" name="Object 37"/>
              <p:cNvSpPr txBox="1"/>
              <p:nvPr/>
            </p:nvSpPr>
            <p:spPr bwMode="auto">
              <a:xfrm>
                <a:off x="5867400" y="3847567"/>
                <a:ext cx="1109823" cy="566259"/>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d>
                        <m:dPr>
                          <m:ctrlPr>
                            <a:rPr lang="en-US" altLang="zh-CN" sz="2800" b="0" i="1" smtClean="0">
                              <a:latin typeface="Cambria Math" panose="02040503050406030204" charset="0"/>
                            </a:rPr>
                          </m:ctrlPr>
                        </m:dPr>
                        <m:e>
                          <m:r>
                            <a:rPr lang="en-US" altLang="zh-CN" sz="2800" b="1" i="1">
                              <a:latin typeface="Cambria Math" panose="02040503050406030204" charset="0"/>
                            </a:rPr>
                            <m:t>𝒃</m:t>
                          </m:r>
                          <m:r>
                            <m:rPr>
                              <m:nor/>
                            </m:rPr>
                            <a:rPr lang="en-US" altLang="zh-CN" sz="2800" b="0" i="0" smtClean="0">
                              <a:latin typeface="Cambria Math" panose="02040503050406030204" charset="0"/>
                            </a:rPr>
                            <m:t>,</m:t>
                          </m:r>
                          <m:r>
                            <a:rPr lang="zh-CN" altLang="en-US" sz="2800" b="1" i="1">
                              <a:latin typeface="Cambria Math" panose="02040503050406030204" charset="0"/>
                            </a:rPr>
                            <m:t>𝒂</m:t>
                          </m:r>
                        </m:e>
                      </m:d>
                      <m:r>
                        <a:rPr lang="en-US" altLang="zh-CN" sz="2800" b="0" i="1" smtClean="0">
                          <a:latin typeface="Cambria Math" panose="02040503050406030204" charset="0"/>
                        </a:rPr>
                        <m:t>.</m:t>
                      </m:r>
                    </m:oMath>
                  </m:oMathPara>
                </a14:m>
                <a:endParaRPr lang="zh-CN" altLang="en-US" sz="2800" dirty="0"/>
              </a:p>
            </p:txBody>
          </p:sp>
        </mc:Choice>
        <mc:Fallback>
          <p:sp>
            <p:nvSpPr>
              <p:cNvPr id="15" name="Object 37"/>
              <p:cNvSpPr txBox="1">
                <a:spLocks noRot="1" noChangeAspect="1" noMove="1" noResize="1" noEditPoints="1" noAdjustHandles="1" noChangeArrowheads="1" noChangeShapeType="1" noTextEdit="1"/>
              </p:cNvSpPr>
              <p:nvPr/>
            </p:nvSpPr>
            <p:spPr bwMode="auto">
              <a:xfrm>
                <a:off x="5867400" y="3847567"/>
                <a:ext cx="1109823" cy="566259"/>
              </a:xfrm>
              <a:prstGeom prst="rect">
                <a:avLst/>
              </a:prstGeom>
              <a:blipFill rotWithShape="1">
                <a:blip r:embed="rId9"/>
                <a:stretch>
                  <a:fillRect t="-18" r="43" b="102"/>
                </a:stretch>
              </a:blipFill>
              <a:ln>
                <a:noFill/>
              </a:ln>
              <a:effectLst/>
            </p:spPr>
            <p:txBody>
              <a:bodyPr/>
              <a:lstStyle/>
              <a:p>
                <a:r>
                  <a:rPr lang="zh-CN" altLang="en-US">
                    <a:noFill/>
                  </a:rPr>
                  <a:t> </a:t>
                </a:r>
              </a:p>
            </p:txBody>
          </p:sp>
        </mc:Fallback>
      </mc:AlternateContent>
      <p:grpSp>
        <p:nvGrpSpPr>
          <p:cNvPr id="16" name="组合 15"/>
          <p:cNvGrpSpPr/>
          <p:nvPr/>
        </p:nvGrpSpPr>
        <p:grpSpPr>
          <a:xfrm>
            <a:off x="6294415" y="3805621"/>
            <a:ext cx="154734" cy="128075"/>
            <a:chOff x="5149851" y="3629027"/>
            <a:chExt cx="154734" cy="128075"/>
          </a:xfrm>
        </p:grpSpPr>
        <p:cxnSp>
          <p:nvCxnSpPr>
            <p:cNvPr id="17" name="直接连接符 16"/>
            <p:cNvCxnSpPr/>
            <p:nvPr/>
          </p:nvCxnSpPr>
          <p:spPr>
            <a:xfrm flipV="1">
              <a:off x="5149851" y="3629027"/>
              <a:ext cx="82552" cy="128075"/>
            </a:xfrm>
            <a:prstGeom prst="line">
              <a:avLst/>
            </a:prstGeom>
          </p:spPr>
          <p:style>
            <a:lnRef idx="1">
              <a:schemeClr val="dk1"/>
            </a:lnRef>
            <a:fillRef idx="0">
              <a:schemeClr val="dk1"/>
            </a:fillRef>
            <a:effectRef idx="0">
              <a:schemeClr val="dk1"/>
            </a:effectRef>
            <a:fontRef idx="minor">
              <a:schemeClr val="tx1"/>
            </a:fontRef>
          </p:style>
        </p:cxnSp>
        <p:cxnSp>
          <p:nvCxnSpPr>
            <p:cNvPr id="18" name="直接连接符 17"/>
            <p:cNvCxnSpPr/>
            <p:nvPr/>
          </p:nvCxnSpPr>
          <p:spPr>
            <a:xfrm flipH="1" flipV="1">
              <a:off x="5232403" y="3629027"/>
              <a:ext cx="72182" cy="118145"/>
            </a:xfrm>
            <a:prstGeom prst="line">
              <a:avLst/>
            </a:prstGeom>
          </p:spPr>
          <p:style>
            <a:lnRef idx="1">
              <a:schemeClr val="dk1"/>
            </a:lnRef>
            <a:fillRef idx="0">
              <a:schemeClr val="dk1"/>
            </a:fillRef>
            <a:effectRef idx="0">
              <a:schemeClr val="dk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820"/>
                                        </p:tgtEl>
                                        <p:attrNameLst>
                                          <p:attrName>style.visibility</p:attrName>
                                        </p:attrNameLst>
                                      </p:cBhvr>
                                      <p:to>
                                        <p:strVal val="visible"/>
                                      </p:to>
                                    </p:set>
                                    <p:animEffect transition="in" filter="wipe(left)">
                                      <p:cBhvr>
                                        <p:cTn id="7" dur="500"/>
                                        <p:tgtEl>
                                          <p:spTgt spid="348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821"/>
                                        </p:tgtEl>
                                        <p:attrNameLst>
                                          <p:attrName>style.visibility</p:attrName>
                                        </p:attrNameLst>
                                      </p:cBhvr>
                                      <p:to>
                                        <p:strVal val="visible"/>
                                      </p:to>
                                    </p:set>
                                    <p:animEffect transition="in" filter="wipe(left)">
                                      <p:cBhvr>
                                        <p:cTn id="12" dur="500"/>
                                        <p:tgtEl>
                                          <p:spTgt spid="34821"/>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4822">
                                            <p:txEl>
                                              <p:pRg st="4294967295" end="4294967295"/>
                                            </p:txEl>
                                          </p:spTgt>
                                        </p:tgtEl>
                                        <p:attrNameLst>
                                          <p:attrName>style.visibility</p:attrName>
                                        </p:attrNameLst>
                                      </p:cBhvr>
                                      <p:to>
                                        <p:strVal val="visible"/>
                                      </p:to>
                                    </p:set>
                                    <p:animEffect transition="in" filter="wipe(left)">
                                      <p:cBhvr>
                                        <p:cTn id="16" dur="500"/>
                                        <p:tgtEl>
                                          <p:spTgt spid="34822">
                                            <p:txEl>
                                              <p:pRg st="4294967295" end="4294967295"/>
                                            </p:txEl>
                                          </p:spTgt>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34822">
                                            <p:txEl>
                                              <p:pRg st="0" end="0"/>
                                            </p:txEl>
                                          </p:spTgt>
                                        </p:tgtEl>
                                        <p:attrNameLst>
                                          <p:attrName>style.visibility</p:attrName>
                                        </p:attrNameLst>
                                      </p:cBhvr>
                                      <p:to>
                                        <p:strVal val="visible"/>
                                      </p:to>
                                    </p:set>
                                    <p:animEffect transition="in" filter="wipe(left)">
                                      <p:cBhvr>
                                        <p:cTn id="20" dur="500"/>
                                        <p:tgtEl>
                                          <p:spTgt spid="34822">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4824"/>
                                        </p:tgtEl>
                                        <p:attrNameLst>
                                          <p:attrName>style.visibility</p:attrName>
                                        </p:attrNameLst>
                                      </p:cBhvr>
                                      <p:to>
                                        <p:strVal val="visible"/>
                                      </p:to>
                                    </p:set>
                                    <p:animEffect transition="in" filter="wipe(left)">
                                      <p:cBhvr>
                                        <p:cTn id="25" dur="500"/>
                                        <p:tgtEl>
                                          <p:spTgt spid="34824"/>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34875"/>
                                        </p:tgtEl>
                                        <p:attrNameLst>
                                          <p:attrName>style.visibility</p:attrName>
                                        </p:attrNameLst>
                                      </p:cBhvr>
                                      <p:to>
                                        <p:strVal val="visible"/>
                                      </p:to>
                                    </p:set>
                                    <p:animEffect transition="in" filter="wipe(left)">
                                      <p:cBhvr>
                                        <p:cTn id="29" dur="500"/>
                                        <p:tgtEl>
                                          <p:spTgt spid="3487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4833"/>
                                        </p:tgtEl>
                                        <p:attrNameLst>
                                          <p:attrName>style.visibility</p:attrName>
                                        </p:attrNameLst>
                                      </p:cBhvr>
                                      <p:to>
                                        <p:strVal val="visible"/>
                                      </p:to>
                                    </p:set>
                                    <p:animEffect transition="in" filter="wipe(left)">
                                      <p:cBhvr>
                                        <p:cTn id="34" dur="500"/>
                                        <p:tgtEl>
                                          <p:spTgt spid="34833"/>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34834">
                                            <p:txEl>
                                              <p:pRg st="4294967295" end="4294967295"/>
                                            </p:txEl>
                                          </p:spTgt>
                                        </p:tgtEl>
                                        <p:attrNameLst>
                                          <p:attrName>style.visibility</p:attrName>
                                        </p:attrNameLst>
                                      </p:cBhvr>
                                      <p:to>
                                        <p:strVal val="visible"/>
                                      </p:to>
                                    </p:set>
                                    <p:animEffect transition="in" filter="wipe(left)">
                                      <p:cBhvr>
                                        <p:cTn id="38" dur="500"/>
                                        <p:tgtEl>
                                          <p:spTgt spid="34834">
                                            <p:txEl>
                                              <p:pRg st="4294967295" end="4294967295"/>
                                            </p:txEl>
                                          </p:spTgt>
                                        </p:tgtEl>
                                      </p:cBhvr>
                                    </p:animEffect>
                                  </p:childTnLst>
                                </p:cTn>
                              </p:par>
                            </p:childTnLst>
                          </p:cTn>
                        </p:par>
                        <p:par>
                          <p:cTn id="39" fill="hold">
                            <p:stCondLst>
                              <p:cond delay="1000"/>
                            </p:stCondLst>
                            <p:childTnLst>
                              <p:par>
                                <p:cTn id="40" presetID="22" presetClass="entr" presetSubtype="8" fill="hold" grpId="0" nodeType="afterEffect">
                                  <p:stCondLst>
                                    <p:cond delay="0"/>
                                  </p:stCondLst>
                                  <p:childTnLst>
                                    <p:set>
                                      <p:cBhvr>
                                        <p:cTn id="41" dur="1" fill="hold">
                                          <p:stCondLst>
                                            <p:cond delay="0"/>
                                          </p:stCondLst>
                                        </p:cTn>
                                        <p:tgtEl>
                                          <p:spTgt spid="34834">
                                            <p:txEl>
                                              <p:pRg st="0" end="0"/>
                                            </p:txEl>
                                          </p:spTgt>
                                        </p:tgtEl>
                                        <p:attrNameLst>
                                          <p:attrName>style.visibility</p:attrName>
                                        </p:attrNameLst>
                                      </p:cBhvr>
                                      <p:to>
                                        <p:strVal val="visible"/>
                                      </p:to>
                                    </p:set>
                                    <p:animEffect transition="in" filter="wipe(left)">
                                      <p:cBhvr>
                                        <p:cTn id="42" dur="500"/>
                                        <p:tgtEl>
                                          <p:spTgt spid="34834">
                                            <p:txEl>
                                              <p:pRg st="0" end="0"/>
                                            </p:txEl>
                                          </p:spTgt>
                                        </p:tgtEl>
                                      </p:cBhvr>
                                    </p:animEffect>
                                  </p:childTnLst>
                                </p:cTn>
                              </p:par>
                            </p:childTnLst>
                          </p:cTn>
                        </p:par>
                        <p:par>
                          <p:cTn id="43" fill="hold">
                            <p:stCondLst>
                              <p:cond delay="1500"/>
                            </p:stCondLst>
                            <p:childTnLst>
                              <p:par>
                                <p:cTn id="44" presetID="22" presetClass="entr" presetSubtype="8" fill="hold" grpId="0" nodeType="afterEffect">
                                  <p:stCondLst>
                                    <p:cond delay="0"/>
                                  </p:stCondLst>
                                  <p:childTnLst>
                                    <p:set>
                                      <p:cBhvr>
                                        <p:cTn id="45" dur="1" fill="hold">
                                          <p:stCondLst>
                                            <p:cond delay="0"/>
                                          </p:stCondLst>
                                        </p:cTn>
                                        <p:tgtEl>
                                          <p:spTgt spid="34838"/>
                                        </p:tgtEl>
                                        <p:attrNameLst>
                                          <p:attrName>style.visibility</p:attrName>
                                        </p:attrNameLst>
                                      </p:cBhvr>
                                      <p:to>
                                        <p:strVal val="visible"/>
                                      </p:to>
                                    </p:set>
                                    <p:animEffect transition="in" filter="wipe(left)">
                                      <p:cBhvr>
                                        <p:cTn id="46" dur="500"/>
                                        <p:tgtEl>
                                          <p:spTgt spid="34838"/>
                                        </p:tgtEl>
                                      </p:cBhvr>
                                    </p:animEffect>
                                  </p:childTnLst>
                                </p:cTn>
                              </p:par>
                            </p:childTnLst>
                          </p:cTn>
                        </p:par>
                        <p:par>
                          <p:cTn id="47" fill="hold">
                            <p:stCondLst>
                              <p:cond delay="2000"/>
                            </p:stCondLst>
                            <p:childTnLst>
                              <p:par>
                                <p:cTn id="48" presetID="22" presetClass="entr" presetSubtype="8" fill="hold" grpId="0" nodeType="afterEffect">
                                  <p:stCondLst>
                                    <p:cond delay="0"/>
                                  </p:stCondLst>
                                  <p:childTnLst>
                                    <p:set>
                                      <p:cBhvr>
                                        <p:cTn id="49" dur="1" fill="hold">
                                          <p:stCondLst>
                                            <p:cond delay="0"/>
                                          </p:stCondLst>
                                        </p:cTn>
                                        <p:tgtEl>
                                          <p:spTgt spid="34837"/>
                                        </p:tgtEl>
                                        <p:attrNameLst>
                                          <p:attrName>style.visibility</p:attrName>
                                        </p:attrNameLst>
                                      </p:cBhvr>
                                      <p:to>
                                        <p:strVal val="visible"/>
                                      </p:to>
                                    </p:set>
                                    <p:animEffect transition="in" filter="wipe(left)">
                                      <p:cBhvr>
                                        <p:cTn id="50" dur="500"/>
                                        <p:tgtEl>
                                          <p:spTgt spid="34837"/>
                                        </p:tgtEl>
                                      </p:cBhvr>
                                    </p:animEffect>
                                  </p:childTnLst>
                                </p:cTn>
                              </p:par>
                            </p:childTnLst>
                          </p:cTn>
                        </p:par>
                        <p:par>
                          <p:cTn id="51" fill="hold">
                            <p:stCondLst>
                              <p:cond delay="2500"/>
                            </p:stCondLst>
                            <p:childTnLst>
                              <p:par>
                                <p:cTn id="52" presetID="22" presetClass="entr" presetSubtype="8" fill="hold" grpId="0" nodeType="afterEffect">
                                  <p:stCondLst>
                                    <p:cond delay="0"/>
                                  </p:stCondLst>
                                  <p:childTnLst>
                                    <p:set>
                                      <p:cBhvr>
                                        <p:cTn id="53" dur="1" fill="hold">
                                          <p:stCondLst>
                                            <p:cond delay="0"/>
                                          </p:stCondLst>
                                        </p:cTn>
                                        <p:tgtEl>
                                          <p:spTgt spid="34853"/>
                                        </p:tgtEl>
                                        <p:attrNameLst>
                                          <p:attrName>style.visibility</p:attrName>
                                        </p:attrNameLst>
                                      </p:cBhvr>
                                      <p:to>
                                        <p:strVal val="visible"/>
                                      </p:to>
                                    </p:set>
                                    <p:animEffect transition="in" filter="wipe(left)">
                                      <p:cBhvr>
                                        <p:cTn id="54" dur="500"/>
                                        <p:tgtEl>
                                          <p:spTgt spid="34853"/>
                                        </p:tgtEl>
                                      </p:cBhvr>
                                    </p:animEffect>
                                  </p:childTnLst>
                                </p:cTn>
                              </p:par>
                            </p:childTnLst>
                          </p:cTn>
                        </p:par>
                        <p:par>
                          <p:cTn id="55" fill="hold">
                            <p:stCondLst>
                              <p:cond delay="3000"/>
                            </p:stCondLst>
                            <p:childTnLst>
                              <p:par>
                                <p:cTn id="56" presetID="22" presetClass="entr" presetSubtype="8" fill="hold" grpId="0" nodeType="afterEffect">
                                  <p:stCondLst>
                                    <p:cond delay="0"/>
                                  </p:stCondLst>
                                  <p:childTnLst>
                                    <p:set>
                                      <p:cBhvr>
                                        <p:cTn id="57" dur="1" fill="hold">
                                          <p:stCondLst>
                                            <p:cond delay="0"/>
                                          </p:stCondLst>
                                        </p:cTn>
                                        <p:tgtEl>
                                          <p:spTgt spid="34855"/>
                                        </p:tgtEl>
                                        <p:attrNameLst>
                                          <p:attrName>style.visibility</p:attrName>
                                        </p:attrNameLst>
                                      </p:cBhvr>
                                      <p:to>
                                        <p:strVal val="visible"/>
                                      </p:to>
                                    </p:set>
                                    <p:animEffect transition="in" filter="wipe(left)">
                                      <p:cBhvr>
                                        <p:cTn id="58" dur="500"/>
                                        <p:tgtEl>
                                          <p:spTgt spid="34855"/>
                                        </p:tgtEl>
                                      </p:cBhvr>
                                    </p:animEffect>
                                  </p:childTnLst>
                                </p:cTn>
                              </p:par>
                            </p:childTnLst>
                          </p:cTn>
                        </p:par>
                        <p:par>
                          <p:cTn id="59" fill="hold">
                            <p:stCondLst>
                              <p:cond delay="3500"/>
                            </p:stCondLst>
                            <p:childTnLst>
                              <p:par>
                                <p:cTn id="60" presetID="22" presetClass="entr" presetSubtype="8" fill="hold" nodeType="after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wipe(left)">
                                      <p:cBhvr>
                                        <p:cTn id="62" dur="500"/>
                                        <p:tgtEl>
                                          <p:spTgt spid="14"/>
                                        </p:tgtEl>
                                      </p:cBhvr>
                                    </p:animEffect>
                                  </p:childTnLst>
                                </p:cTn>
                              </p:par>
                            </p:childTnLst>
                          </p:cTn>
                        </p:par>
                        <p:par>
                          <p:cTn id="63" fill="hold">
                            <p:stCondLst>
                              <p:cond delay="4000"/>
                            </p:stCondLst>
                            <p:childTnLst>
                              <p:par>
                                <p:cTn id="64" presetID="22" presetClass="entr" presetSubtype="8" fill="hold" grpId="0" nodeType="after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wipe(left)">
                                      <p:cBhvr>
                                        <p:cTn id="66" dur="500"/>
                                        <p:tgtEl>
                                          <p:spTgt spid="15"/>
                                        </p:tgtEl>
                                      </p:cBhvr>
                                    </p:animEffect>
                                  </p:childTnLst>
                                </p:cTn>
                              </p:par>
                            </p:childTnLst>
                          </p:cTn>
                        </p:par>
                        <p:par>
                          <p:cTn id="67" fill="hold">
                            <p:stCondLst>
                              <p:cond delay="4500"/>
                            </p:stCondLst>
                            <p:childTnLst>
                              <p:par>
                                <p:cTn id="68" presetID="22" presetClass="entr" presetSubtype="8" fill="hold" nodeType="afterEffect">
                                  <p:stCondLst>
                                    <p:cond delay="0"/>
                                  </p:stCondLst>
                                  <p:childTnLst>
                                    <p:set>
                                      <p:cBhvr>
                                        <p:cTn id="69" dur="1" fill="hold">
                                          <p:stCondLst>
                                            <p:cond delay="0"/>
                                          </p:stCondLst>
                                        </p:cTn>
                                        <p:tgtEl>
                                          <p:spTgt spid="16"/>
                                        </p:tgtEl>
                                        <p:attrNameLst>
                                          <p:attrName>style.visibility</p:attrName>
                                        </p:attrNameLst>
                                      </p:cBhvr>
                                      <p:to>
                                        <p:strVal val="visible"/>
                                      </p:to>
                                    </p:set>
                                    <p:animEffect transition="in" filter="wipe(left)">
                                      <p:cBhvr>
                                        <p:cTn id="70" dur="500"/>
                                        <p:tgtEl>
                                          <p:spTgt spid="16"/>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34863">
                                            <p:txEl>
                                              <p:pRg st="4294967295" end="4294967295"/>
                                            </p:txEl>
                                          </p:spTgt>
                                        </p:tgtEl>
                                        <p:attrNameLst>
                                          <p:attrName>style.visibility</p:attrName>
                                        </p:attrNameLst>
                                      </p:cBhvr>
                                      <p:to>
                                        <p:strVal val="visible"/>
                                      </p:to>
                                    </p:set>
                                    <p:animEffect transition="in" filter="wipe(left)">
                                      <p:cBhvr>
                                        <p:cTn id="75" dur="500"/>
                                        <p:tgtEl>
                                          <p:spTgt spid="34863">
                                            <p:txEl>
                                              <p:pRg st="4294967295" end="4294967295"/>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34863">
                                            <p:txEl>
                                              <p:pRg st="0" end="0"/>
                                            </p:txEl>
                                          </p:spTgt>
                                        </p:tgtEl>
                                        <p:attrNameLst>
                                          <p:attrName>style.visibility</p:attrName>
                                        </p:attrNameLst>
                                      </p:cBhvr>
                                      <p:to>
                                        <p:strVal val="visible"/>
                                      </p:to>
                                    </p:set>
                                    <p:animEffect transition="in" filter="wipe(left)">
                                      <p:cBhvr>
                                        <p:cTn id="80" dur="500"/>
                                        <p:tgtEl>
                                          <p:spTgt spid="3486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0" grpId="0" bldLvl="0" animBg="1"/>
      <p:bldP spid="34821" grpId="0" bldLvl="0" animBg="1"/>
      <p:bldP spid="34822" grpId="0" build="p"/>
      <p:bldP spid="34834" grpId="0" build="p"/>
      <p:bldP spid="34824" grpId="0" bldLvl="0" animBg="1"/>
      <p:bldP spid="34833" grpId="0" bldLvl="0" animBg="1"/>
      <p:bldP spid="34837" grpId="0" bldLvl="0" animBg="1"/>
      <p:bldP spid="34838" grpId="0" bldLvl="0" animBg="1"/>
      <p:bldP spid="34853" grpId="0" bldLvl="0" animBg="1"/>
      <p:bldP spid="34855" grpId="0" bldLvl="0" animBg="1"/>
      <p:bldP spid="34863" grpId="0" autoUpdateAnimBg="0" build="p"/>
      <p:bldP spid="15"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510540" y="494665"/>
            <a:ext cx="11149330" cy="5612765"/>
            <a:chOff x="838" y="906"/>
            <a:chExt cx="17558" cy="8839"/>
          </a:xfrm>
        </p:grpSpPr>
        <p:sp>
          <p:nvSpPr>
            <p:cNvPr id="8" name="PA-102232"/>
            <p:cNvSpPr/>
            <p:nvPr>
              <p:custDataLst>
                <p:tags r:id="rId1"/>
              </p:custDataLst>
            </p:nvPr>
          </p:nvSpPr>
          <p:spPr>
            <a:xfrm>
              <a:off x="872" y="906"/>
              <a:ext cx="17524" cy="8826"/>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6BB6"/>
                </a:solidFill>
                <a:cs typeface="+mn-ea"/>
                <a:sym typeface="+mn-lt"/>
              </a:endParaRPr>
            </a:p>
          </p:txBody>
        </p:sp>
        <p:grpSp>
          <p:nvGrpSpPr>
            <p:cNvPr id="9" name="组合 8"/>
            <p:cNvGrpSpPr/>
            <p:nvPr/>
          </p:nvGrpSpPr>
          <p:grpSpPr>
            <a:xfrm>
              <a:off x="838" y="9635"/>
              <a:ext cx="17558" cy="110"/>
              <a:chOff x="838" y="9635"/>
              <a:chExt cx="17558" cy="110"/>
            </a:xfrm>
          </p:grpSpPr>
          <p:sp>
            <p:nvSpPr>
              <p:cNvPr id="10" name="Rectangle 1"/>
              <p:cNvSpPr/>
              <p:nvPr/>
            </p:nvSpPr>
            <p:spPr>
              <a:xfrm>
                <a:off x="5321" y="9650"/>
                <a:ext cx="4286" cy="83"/>
              </a:xfrm>
              <a:prstGeom prst="rect">
                <a:avLst/>
              </a:prstGeom>
              <a:solidFill>
                <a:schemeClr val="bg1"/>
              </a:solidFill>
              <a:ln w="3175" cap="flat" cmpd="sng" algn="ctr">
                <a:solidFill>
                  <a:srgbClr val="0492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1" name="Rectangle 1"/>
              <p:cNvSpPr/>
              <p:nvPr/>
            </p:nvSpPr>
            <p:spPr>
              <a:xfrm>
                <a:off x="838" y="9650"/>
                <a:ext cx="4483" cy="83"/>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2" name="Rectangle 1"/>
              <p:cNvSpPr/>
              <p:nvPr/>
            </p:nvSpPr>
            <p:spPr>
              <a:xfrm>
                <a:off x="9602" y="9635"/>
                <a:ext cx="8794" cy="111"/>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mc:AlternateContent xmlns:mc="http://schemas.openxmlformats.org/markup-compatibility/2006">
        <mc:Choice xmlns:a14="http://schemas.microsoft.com/office/drawing/2010/main" Requires="a14">
          <p:sp>
            <p:nvSpPr>
              <p:cNvPr id="39940" name="Text Box 4"/>
              <p:cNvSpPr txBox="1">
                <a:spLocks noChangeArrowheads="1"/>
              </p:cNvSpPr>
              <p:nvPr/>
            </p:nvSpPr>
            <p:spPr bwMode="auto">
              <a:xfrm>
                <a:off x="1524000" y="685800"/>
                <a:ext cx="827765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设</a:t>
                </a:r>
                <a14:m>
                  <m:oMath xmlns:m="http://schemas.openxmlformats.org/officeDocument/2006/math">
                    <m:r>
                      <a:rPr lang="en-US" altLang="zh-CN" sz="2800" b="1" i="1">
                        <a:latin typeface="Cambria Math" panose="02040503050406030204" charset="0"/>
                      </a:rPr>
                      <m:t>𝒓</m:t>
                    </m:r>
                  </m:oMath>
                </a14:m>
                <a:r>
                  <a:rPr lang="en-US" altLang="zh-CN" sz="2800" dirty="0">
                    <a:latin typeface="Cambria Math" panose="02040503050406030204" charset="0"/>
                  </a:rPr>
                  <a:t>= (</a:t>
                </a:r>
                <a14:m>
                  <m:oMath xmlns:m="http://schemas.openxmlformats.org/officeDocument/2006/math">
                    <m:r>
                      <a:rPr lang="en-US" altLang="zh-CN" sz="2800" i="1">
                        <a:latin typeface="Cambria Math" panose="02040503050406030204" charset="0"/>
                      </a:rPr>
                      <m:t>𝑥</m:t>
                    </m:r>
                  </m:oMath>
                </a14:m>
                <a:r>
                  <a:rPr lang="en-US" altLang="zh-CN" sz="2800" dirty="0">
                    <a:latin typeface="Cambria Math" panose="02040503050406030204" charset="0"/>
                  </a:rPr>
                  <a:t>, </a:t>
                </a:r>
                <a14:m>
                  <m:oMath xmlns:m="http://schemas.openxmlformats.org/officeDocument/2006/math">
                    <m:r>
                      <a:rPr lang="en-US" altLang="zh-CN" sz="2800" i="1">
                        <a:latin typeface="Cambria Math" panose="02040503050406030204" charset="0"/>
                      </a:rPr>
                      <m:t>𝑦</m:t>
                    </m:r>
                  </m:oMath>
                </a14:m>
                <a:r>
                  <a:rPr lang="en-US" altLang="zh-CN" sz="2800" dirty="0">
                    <a:latin typeface="Cambria Math" panose="02040503050406030204" charset="0"/>
                  </a:rPr>
                  <a:t>, </a:t>
                </a:r>
                <a:r>
                  <a:rPr lang="en-US" altLang="zh-CN" sz="2800" i="1" dirty="0">
                    <a:latin typeface="Cambria Math" panose="02040503050406030204" charset="0"/>
                  </a:rPr>
                  <a:t>z</a:t>
                </a:r>
                <a:r>
                  <a:rPr lang="en-US" altLang="zh-CN" sz="2800" dirty="0">
                    <a:latin typeface="Cambria Math" panose="02040503050406030204" charset="0"/>
                  </a:rPr>
                  <a:t>)</a:t>
                </a:r>
                <a:r>
                  <a:rPr lang="zh-CN" altLang="en-US" sz="2800" dirty="0">
                    <a:latin typeface="Times New Roman" panose="02020603050405020304" pitchFamily="18" charset="0"/>
                    <a:cs typeface="Times New Roman" panose="02020603050405020304" pitchFamily="18" charset="0"/>
                  </a:rPr>
                  <a:t>是一非零向量，称</a:t>
                </a:r>
                <a14:m>
                  <m:oMath xmlns:m="http://schemas.openxmlformats.org/officeDocument/2006/math">
                    <m:r>
                      <a:rPr lang="en-US" altLang="zh-CN" sz="2800" b="1" i="1">
                        <a:latin typeface="Cambria Math" panose="02040503050406030204" charset="0"/>
                      </a:rPr>
                      <m:t>𝒓</m:t>
                    </m:r>
                  </m:oMath>
                </a14:m>
                <a:r>
                  <a:rPr lang="zh-CN" altLang="en-US" sz="2800" dirty="0">
                    <a:latin typeface="Times New Roman" panose="02020603050405020304" pitchFamily="18" charset="0"/>
                    <a:cs typeface="Times New Roman" panose="02020603050405020304" pitchFamily="18" charset="0"/>
                  </a:rPr>
                  <a:t>与三坐标轴的夹角</a:t>
                </a:r>
                <a:endParaRPr lang="zh-CN" altLang="en-US" sz="2800" dirty="0">
                  <a:latin typeface="Times New Roman" panose="02020603050405020304" pitchFamily="18" charset="0"/>
                  <a:cs typeface="Times New Roman" panose="02020603050405020304" pitchFamily="18" charset="0"/>
                </a:endParaRPr>
              </a:p>
            </p:txBody>
          </p:sp>
        </mc:Choice>
        <mc:Fallback>
          <p:sp>
            <p:nvSpPr>
              <p:cNvPr id="39940" name="Text Box 4"/>
              <p:cNvSpPr txBox="1">
                <a:spLocks noRot="1" noChangeAspect="1" noMove="1" noResize="1" noEditPoints="1" noAdjustHandles="1" noChangeArrowheads="1" noChangeShapeType="1" noTextEdit="1"/>
              </p:cNvSpPr>
              <p:nvPr/>
            </p:nvSpPr>
            <p:spPr bwMode="auto">
              <a:xfrm>
                <a:off x="1524000" y="685800"/>
                <a:ext cx="8277657" cy="523220"/>
              </a:xfrm>
              <a:prstGeom prst="rect">
                <a:avLst/>
              </a:prstGeom>
              <a:blipFill rotWithShape="1">
                <a:blip r:embed="rId2"/>
                <a:stretch>
                  <a:fillRect r="5" b="11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9941" name="Text Box 5"/>
              <p:cNvSpPr txBox="1">
                <a:spLocks noChangeArrowheads="1"/>
              </p:cNvSpPr>
              <p:nvPr/>
            </p:nvSpPr>
            <p:spPr bwMode="auto">
              <a:xfrm>
                <a:off x="1524000" y="1295400"/>
                <a:ext cx="3505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14:m>
                  <m:oMath xmlns:m="http://schemas.openxmlformats.org/officeDocument/2006/math">
                    <m:r>
                      <a:rPr lang="zh-CN" altLang="en-US" sz="2800" i="1" smtClean="0">
                        <a:latin typeface="Cambria Math" panose="02040503050406030204" charset="0"/>
                        <a:sym typeface="Symbol" panose="05050102010706020507" pitchFamily="18" charset="2"/>
                      </a:rPr>
                      <m:t>𝛼</m:t>
                    </m:r>
                    <m:r>
                      <a:rPr lang="en-US" altLang="zh-CN" sz="2800" b="0" i="1" smtClean="0">
                        <a:latin typeface="Cambria Math" panose="02040503050406030204" charset="0"/>
                        <a:sym typeface="Symbol" panose="05050102010706020507" pitchFamily="18" charset="2"/>
                      </a:rPr>
                      <m:t>,</m:t>
                    </m:r>
                    <m:r>
                      <a:rPr lang="zh-CN" altLang="en-US" sz="2800" i="1" smtClean="0">
                        <a:latin typeface="Cambria Math" panose="02040503050406030204" charset="0"/>
                        <a:sym typeface="Symbol" panose="05050102010706020507" pitchFamily="18" charset="2"/>
                      </a:rPr>
                      <m:t>𝛽</m:t>
                    </m:r>
                    <m:r>
                      <a:rPr lang="en-US" altLang="zh-CN" sz="2800" b="0" i="1" smtClean="0">
                        <a:latin typeface="Cambria Math" panose="02040503050406030204" charset="0"/>
                        <a:sym typeface="Symbol" panose="05050102010706020507" pitchFamily="18" charset="2"/>
                      </a:rPr>
                      <m:t>,</m:t>
                    </m:r>
                    <m:r>
                      <a:rPr lang="zh-CN" altLang="en-US" sz="2800" i="1" smtClean="0">
                        <a:latin typeface="Cambria Math" panose="02040503050406030204" charset="0"/>
                        <a:sym typeface="Symbol" panose="05050102010706020507" pitchFamily="18" charset="2"/>
                      </a:rPr>
                      <m:t>𝛾</m:t>
                    </m:r>
                  </m:oMath>
                </a14:m>
                <a:r>
                  <a:rPr lang="zh-CN" altLang="en-US" sz="2800" dirty="0">
                    <a:latin typeface="Times New Roman" panose="02020603050405020304" pitchFamily="18" charset="0"/>
                    <a:cs typeface="Times New Roman" panose="02020603050405020304" pitchFamily="18" charset="0"/>
                    <a:sym typeface="Symbol" panose="05050102010706020507" pitchFamily="18" charset="2"/>
                  </a:rPr>
                  <a:t>为</a:t>
                </a:r>
                <a14:m>
                  <m:oMath xmlns:m="http://schemas.openxmlformats.org/officeDocument/2006/math">
                    <m:r>
                      <a:rPr lang="en-US" altLang="zh-CN" sz="2800" b="1" i="1">
                        <a:latin typeface="Cambria Math" panose="02040503050406030204" charset="0"/>
                      </a:rPr>
                      <m:t>𝒓</m:t>
                    </m:r>
                  </m:oMath>
                </a14:m>
                <a:r>
                  <a:rPr lang="zh-CN" altLang="en-US" sz="2800" dirty="0">
                    <a:latin typeface="Times New Roman" panose="02020603050405020304" pitchFamily="18" charset="0"/>
                    <a:cs typeface="Times New Roman" panose="02020603050405020304" pitchFamily="18" charset="0"/>
                    <a:sym typeface="Symbol" panose="05050102010706020507" pitchFamily="18" charset="2"/>
                  </a:rPr>
                  <a:t>的</a:t>
                </a:r>
                <a:r>
                  <a:rPr lang="zh-CN" altLang="en-US" sz="2800" b="1" dirty="0">
                    <a:solidFill>
                      <a:srgbClr val="04926A"/>
                    </a:solidFill>
                    <a:latin typeface="Times New Roman" panose="02020603050405020304" pitchFamily="18" charset="0"/>
                    <a:cs typeface="Times New Roman" panose="02020603050405020304" pitchFamily="18" charset="0"/>
                    <a:sym typeface="Symbol" panose="05050102010706020507" pitchFamily="18" charset="2"/>
                  </a:rPr>
                  <a:t>方向角</a:t>
                </a:r>
                <a:r>
                  <a:rPr lang="zh-CN" altLang="en-US" sz="2800" dirty="0">
                    <a:latin typeface="Times New Roman" panose="02020603050405020304" pitchFamily="18" charset="0"/>
                    <a:cs typeface="Times New Roman" panose="02020603050405020304" pitchFamily="18" charset="0"/>
                    <a:sym typeface="Symbol" panose="05050102010706020507" pitchFamily="18" charset="2"/>
                  </a:rPr>
                  <a:t>，</a:t>
                </a:r>
                <a:endParaRPr lang="zh-CN" altLang="en-US" sz="2800" dirty="0">
                  <a:latin typeface="Times New Roman" panose="02020603050405020304" pitchFamily="18" charset="0"/>
                  <a:cs typeface="Times New Roman" panose="02020603050405020304" pitchFamily="18" charset="0"/>
                  <a:sym typeface="Symbol" panose="05050102010706020507" pitchFamily="18" charset="2"/>
                </a:endParaRPr>
              </a:p>
            </p:txBody>
          </p:sp>
        </mc:Choice>
        <mc:Fallback>
          <p:sp>
            <p:nvSpPr>
              <p:cNvPr id="39941" name="Text Box 5"/>
              <p:cNvSpPr txBox="1">
                <a:spLocks noRot="1" noChangeAspect="1" noMove="1" noResize="1" noEditPoints="1" noAdjustHandles="1" noChangeArrowheads="1" noChangeShapeType="1" noTextEdit="1"/>
              </p:cNvSpPr>
              <p:nvPr/>
            </p:nvSpPr>
            <p:spPr bwMode="auto">
              <a:xfrm>
                <a:off x="1524000" y="1295400"/>
                <a:ext cx="3505200" cy="523220"/>
              </a:xfrm>
              <a:prstGeom prst="rect">
                <a:avLst/>
              </a:prstGeom>
              <a:blipFill rotWithShape="1">
                <a:blip r:embed="rId3"/>
                <a:stretch>
                  <a:fillRect b="11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39942" name="Text Box 6"/>
          <p:cNvSpPr txBox="1">
            <a:spLocks noChangeArrowheads="1"/>
          </p:cNvSpPr>
          <p:nvPr/>
        </p:nvSpPr>
        <p:spPr bwMode="auto">
          <a:xfrm>
            <a:off x="1524000" y="5181600"/>
            <a:ext cx="5105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方向角的余弦称为</a:t>
            </a:r>
            <a:r>
              <a:rPr lang="zh-CN" altLang="en-US" sz="2800" b="1" dirty="0">
                <a:solidFill>
                  <a:srgbClr val="04926A"/>
                </a:solidFill>
                <a:latin typeface="Times New Roman" panose="02020603050405020304" pitchFamily="18" charset="0"/>
                <a:cs typeface="Times New Roman" panose="02020603050405020304" pitchFamily="18" charset="0"/>
              </a:rPr>
              <a:t>方向余弦</a:t>
            </a:r>
            <a:r>
              <a:rPr lang="zh-CN" altLang="en-US" sz="2800" dirty="0">
                <a:latin typeface="Times New Roman" panose="02020603050405020304" pitchFamily="18" charset="0"/>
                <a:cs typeface="Times New Roman" panose="02020603050405020304" pitchFamily="18" charset="0"/>
              </a:rPr>
              <a:t>．</a:t>
            </a:r>
            <a:endParaRPr lang="zh-CN" altLang="en-US" sz="28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对象 2"/>
              <p:cNvSpPr txBox="1"/>
              <p:nvPr/>
            </p:nvSpPr>
            <p:spPr>
              <a:xfrm>
                <a:off x="1524000" y="1981200"/>
                <a:ext cx="4800601" cy="1016000"/>
              </a:xfrm>
              <a:prstGeom prst="rect">
                <a:avLst/>
              </a:prstGeom>
            </p:spPr>
            <p:txBody>
              <a:bodyPr>
                <a:noAutofit/>
              </a:bodyPr>
              <a:lstStyle/>
              <a:p>
                <a14:m>
                  <m:oMathPara xmlns:m="http://schemas.openxmlformats.org/officeDocument/2006/math">
                    <m:oMathParaPr>
                      <m:jc m:val="left"/>
                    </m:oMathParaPr>
                    <m:oMath xmlns:m="http://schemas.openxmlformats.org/officeDocument/2006/math">
                      <m:func>
                        <m:funcPr>
                          <m:ctrlPr>
                            <a:rPr lang="zh-CN" altLang="en-US" sz="2800" i="1">
                              <a:solidFill>
                                <a:srgbClr val="000000"/>
                              </a:solidFill>
                              <a:latin typeface="Cambria Math" panose="02040503050406030204" charset="0"/>
                            </a:rPr>
                          </m:ctrlPr>
                        </m:funcPr>
                        <m:fName>
                          <m:r>
                            <m:rPr>
                              <m:sty m:val="p"/>
                            </m:rPr>
                            <a:rPr lang="zh-CN" altLang="en-US" sz="2800" i="0">
                              <a:solidFill>
                                <a:srgbClr val="000000"/>
                              </a:solidFill>
                              <a:latin typeface="Cambria Math" panose="02040503050406030204" charset="0"/>
                            </a:rPr>
                            <m:t>cos</m:t>
                          </m:r>
                        </m:fName>
                        <m:e>
                          <m:r>
                            <a:rPr lang="zh-CN" altLang="en-US" sz="2800" i="1">
                              <a:solidFill>
                                <a:srgbClr val="000000"/>
                              </a:solidFill>
                              <a:latin typeface="Cambria Math" panose="02040503050406030204" charset="0"/>
                            </a:rPr>
                            <m:t>𝛼</m:t>
                          </m:r>
                        </m:e>
                      </m:func>
                      <m:r>
                        <a:rPr lang="zh-CN" altLang="en-US" sz="2800" i="1">
                          <a:solidFill>
                            <a:srgbClr val="000000"/>
                          </a:solidFill>
                          <a:latin typeface="Cambria Math" panose="02040503050406030204" charset="0"/>
                        </a:rPr>
                        <m:t>=</m:t>
                      </m:r>
                      <m:f>
                        <m:fPr>
                          <m:ctrlPr>
                            <a:rPr lang="zh-CN" altLang="en-US" sz="2800" i="1">
                              <a:solidFill>
                                <a:srgbClr val="000000"/>
                              </a:solidFill>
                              <a:latin typeface="Cambria Math" panose="02040503050406030204" charset="0"/>
                            </a:rPr>
                          </m:ctrlPr>
                        </m:fPr>
                        <m:num>
                          <m:r>
                            <a:rPr lang="zh-CN" altLang="en-US" sz="2800" i="1">
                              <a:solidFill>
                                <a:srgbClr val="000000"/>
                              </a:solidFill>
                              <a:latin typeface="Cambria Math" panose="02040503050406030204" charset="0"/>
                            </a:rPr>
                            <m:t>𝑥</m:t>
                          </m:r>
                        </m:num>
                        <m:den>
                          <m:r>
                            <a:rPr lang="zh-CN" altLang="en-US" sz="2800" i="1">
                              <a:solidFill>
                                <a:srgbClr val="000000"/>
                              </a:solidFill>
                              <a:latin typeface="Cambria Math" panose="02040503050406030204" charset="0"/>
                            </a:rPr>
                            <m:t>|</m:t>
                          </m:r>
                          <m:r>
                            <a:rPr lang="zh-CN" altLang="en-US" sz="2800" b="1" i="1">
                              <a:solidFill>
                                <a:srgbClr val="000000"/>
                              </a:solidFill>
                              <a:latin typeface="Cambria Math" panose="02040503050406030204" charset="0"/>
                            </a:rPr>
                            <m:t>𝒓</m:t>
                          </m:r>
                          <m:r>
                            <a:rPr lang="zh-CN" altLang="en-US" sz="2800" i="1">
                              <a:solidFill>
                                <a:srgbClr val="000000"/>
                              </a:solidFill>
                              <a:latin typeface="Cambria Math" panose="02040503050406030204" charset="0"/>
                            </a:rPr>
                            <m:t>|</m:t>
                          </m:r>
                        </m:den>
                      </m:f>
                      <m:r>
                        <a:rPr lang="zh-CN" altLang="en-US" sz="2800" i="1">
                          <a:solidFill>
                            <a:srgbClr val="000000"/>
                          </a:solidFill>
                          <a:latin typeface="Cambria Math" panose="02040503050406030204" charset="0"/>
                        </a:rPr>
                        <m:t>=</m:t>
                      </m:r>
                      <m:f>
                        <m:fPr>
                          <m:ctrlPr>
                            <a:rPr lang="zh-CN" altLang="en-US" sz="2800" i="1">
                              <a:solidFill>
                                <a:srgbClr val="000000"/>
                              </a:solidFill>
                              <a:latin typeface="Cambria Math" panose="02040503050406030204" charset="0"/>
                            </a:rPr>
                          </m:ctrlPr>
                        </m:fPr>
                        <m:num>
                          <m:r>
                            <a:rPr lang="zh-CN" altLang="en-US" sz="2800" i="1">
                              <a:solidFill>
                                <a:srgbClr val="000000"/>
                              </a:solidFill>
                              <a:latin typeface="Cambria Math" panose="02040503050406030204" charset="0"/>
                            </a:rPr>
                            <m:t>𝑥</m:t>
                          </m:r>
                        </m:num>
                        <m:den>
                          <m:rad>
                            <m:radPr>
                              <m:degHide m:val="on"/>
                              <m:ctrlPr>
                                <a:rPr lang="zh-CN" altLang="en-US" sz="2800" i="1">
                                  <a:solidFill>
                                    <a:srgbClr val="000000"/>
                                  </a:solidFill>
                                  <a:latin typeface="Cambria Math" panose="02040503050406030204" charset="0"/>
                                </a:rPr>
                              </m:ctrlPr>
                            </m:radPr>
                            <m:deg/>
                            <m:e>
                              <m:sSup>
                                <m:sSupPr>
                                  <m:ctrlPr>
                                    <a:rPr lang="zh-CN" altLang="en-US" sz="2800" i="1">
                                      <a:solidFill>
                                        <a:srgbClr val="000000"/>
                                      </a:solidFill>
                                      <a:latin typeface="Cambria Math" panose="02040503050406030204" charset="0"/>
                                    </a:rPr>
                                  </m:ctrlPr>
                                </m:sSupPr>
                                <m:e>
                                  <m:r>
                                    <a:rPr lang="zh-CN" altLang="en-US" sz="2800" i="1">
                                      <a:solidFill>
                                        <a:srgbClr val="000000"/>
                                      </a:solidFill>
                                      <a:latin typeface="Cambria Math" panose="02040503050406030204" charset="0"/>
                                    </a:rPr>
                                    <m:t>𝑥</m:t>
                                  </m:r>
                                </m:e>
                                <m:sup>
                                  <m:r>
                                    <a:rPr lang="zh-CN" altLang="en-US" sz="2800" i="1">
                                      <a:solidFill>
                                        <a:srgbClr val="000000"/>
                                      </a:solidFill>
                                      <a:latin typeface="Cambria Math" panose="02040503050406030204" charset="0"/>
                                    </a:rPr>
                                    <m:t>2</m:t>
                                  </m:r>
                                </m:sup>
                              </m:sSup>
                              <m:r>
                                <a:rPr lang="zh-CN" altLang="en-US" sz="2800" i="1">
                                  <a:solidFill>
                                    <a:srgbClr val="000000"/>
                                  </a:solidFill>
                                  <a:latin typeface="Cambria Math" panose="02040503050406030204" charset="0"/>
                                </a:rPr>
                                <m:t>+</m:t>
                              </m:r>
                              <m:sSup>
                                <m:sSupPr>
                                  <m:ctrlPr>
                                    <a:rPr lang="zh-CN" altLang="en-US" sz="2800" i="1">
                                      <a:solidFill>
                                        <a:srgbClr val="000000"/>
                                      </a:solidFill>
                                      <a:latin typeface="Cambria Math" panose="02040503050406030204" charset="0"/>
                                    </a:rPr>
                                  </m:ctrlPr>
                                </m:sSupPr>
                                <m:e>
                                  <m:r>
                                    <a:rPr lang="zh-CN" altLang="en-US" sz="2800" i="1">
                                      <a:solidFill>
                                        <a:srgbClr val="000000"/>
                                      </a:solidFill>
                                      <a:latin typeface="Cambria Math" panose="02040503050406030204" charset="0"/>
                                    </a:rPr>
                                    <m:t>𝑦</m:t>
                                  </m:r>
                                </m:e>
                                <m:sup>
                                  <m:r>
                                    <a:rPr lang="zh-CN" altLang="en-US" sz="2800" i="1">
                                      <a:solidFill>
                                        <a:srgbClr val="000000"/>
                                      </a:solidFill>
                                      <a:latin typeface="Cambria Math" panose="02040503050406030204" charset="0"/>
                                    </a:rPr>
                                    <m:t>2</m:t>
                                  </m:r>
                                </m:sup>
                              </m:sSup>
                              <m:r>
                                <a:rPr lang="zh-CN" altLang="en-US" sz="2800" i="1">
                                  <a:solidFill>
                                    <a:srgbClr val="000000"/>
                                  </a:solidFill>
                                  <a:latin typeface="Cambria Math" panose="02040503050406030204" charset="0"/>
                                </a:rPr>
                                <m:t>+</m:t>
                              </m:r>
                              <m:sSup>
                                <m:sSupPr>
                                  <m:ctrlPr>
                                    <a:rPr lang="zh-CN" altLang="en-US" sz="2800" i="1">
                                      <a:solidFill>
                                        <a:srgbClr val="000000"/>
                                      </a:solidFill>
                                      <a:latin typeface="Cambria Math" panose="02040503050406030204" charset="0"/>
                                    </a:rPr>
                                  </m:ctrlPr>
                                </m:sSupPr>
                                <m:e>
                                  <m:r>
                                    <a:rPr lang="zh-CN" altLang="en-US" sz="2800" i="1">
                                      <a:solidFill>
                                        <a:srgbClr val="000000"/>
                                      </a:solidFill>
                                      <a:latin typeface="Cambria Math" panose="02040503050406030204" charset="0"/>
                                    </a:rPr>
                                    <m:t>𝑧</m:t>
                                  </m:r>
                                </m:e>
                                <m:sup>
                                  <m:r>
                                    <a:rPr lang="zh-CN" altLang="en-US" sz="2800" i="1">
                                      <a:solidFill>
                                        <a:srgbClr val="000000"/>
                                      </a:solidFill>
                                      <a:latin typeface="Cambria Math" panose="02040503050406030204" charset="0"/>
                                    </a:rPr>
                                    <m:t>2</m:t>
                                  </m:r>
                                </m:sup>
                              </m:sSup>
                            </m:e>
                          </m:rad>
                        </m:den>
                      </m:f>
                      <m:r>
                        <a:rPr lang="zh-CN" altLang="en-US" sz="2800" i="1">
                          <a:solidFill>
                            <a:srgbClr val="000000"/>
                          </a:solidFill>
                          <a:latin typeface="Cambria Math" panose="02040503050406030204" charset="0"/>
                        </a:rPr>
                        <m:t>,</m:t>
                      </m:r>
                    </m:oMath>
                  </m:oMathPara>
                </a14:m>
                <a:endParaRPr lang="zh-CN" altLang="en-US" sz="2800" dirty="0"/>
              </a:p>
            </p:txBody>
          </p:sp>
        </mc:Choice>
        <mc:Fallback>
          <p:sp>
            <p:nvSpPr>
              <p:cNvPr id="3" name="对象 2"/>
              <p:cNvSpPr txBox="1">
                <a:spLocks noRot="1" noChangeAspect="1" noMove="1" noResize="1" noEditPoints="1" noAdjustHandles="1" noChangeArrowheads="1" noChangeShapeType="1" noTextEdit="1"/>
              </p:cNvSpPr>
              <p:nvPr/>
            </p:nvSpPr>
            <p:spPr>
              <a:xfrm>
                <a:off x="1524000" y="1981200"/>
                <a:ext cx="4800601" cy="101600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对象 3"/>
              <p:cNvSpPr txBox="1"/>
              <p:nvPr/>
            </p:nvSpPr>
            <p:spPr>
              <a:xfrm>
                <a:off x="1524000" y="3022600"/>
                <a:ext cx="4822191" cy="1016000"/>
              </a:xfrm>
              <a:prstGeom prst="rect">
                <a:avLst/>
              </a:prstGeom>
            </p:spPr>
            <p:txBody>
              <a:bodyPr>
                <a:noAutofit/>
              </a:bodyPr>
              <a:lstStyle/>
              <a:p>
                <a14:m>
                  <m:oMathPara xmlns:m="http://schemas.openxmlformats.org/officeDocument/2006/math">
                    <m:oMathParaPr>
                      <m:jc m:val="left"/>
                    </m:oMathParaPr>
                    <m:oMath xmlns:m="http://schemas.openxmlformats.org/officeDocument/2006/math">
                      <m:func>
                        <m:funcPr>
                          <m:ctrlPr>
                            <a:rPr lang="zh-CN" altLang="en-US" sz="2800" i="1">
                              <a:solidFill>
                                <a:srgbClr val="000000"/>
                              </a:solidFill>
                              <a:latin typeface="Cambria Math" panose="02040503050406030204" charset="0"/>
                            </a:rPr>
                          </m:ctrlPr>
                        </m:funcPr>
                        <m:fName>
                          <m:r>
                            <m:rPr>
                              <m:sty m:val="p"/>
                            </m:rPr>
                            <a:rPr lang="zh-CN" altLang="en-US" sz="2800" i="0">
                              <a:solidFill>
                                <a:srgbClr val="000000"/>
                              </a:solidFill>
                              <a:latin typeface="Cambria Math" panose="02040503050406030204" charset="0"/>
                            </a:rPr>
                            <m:t>cos</m:t>
                          </m:r>
                        </m:fName>
                        <m:e>
                          <m:r>
                            <a:rPr lang="zh-CN" altLang="en-US" sz="2800" i="1">
                              <a:solidFill>
                                <a:srgbClr val="000000"/>
                              </a:solidFill>
                              <a:latin typeface="Cambria Math" panose="02040503050406030204" charset="0"/>
                            </a:rPr>
                            <m:t>𝛽</m:t>
                          </m:r>
                        </m:e>
                      </m:func>
                      <m:r>
                        <a:rPr lang="zh-CN" altLang="en-US" sz="2800" i="1">
                          <a:solidFill>
                            <a:srgbClr val="000000"/>
                          </a:solidFill>
                          <a:latin typeface="Cambria Math" panose="02040503050406030204" charset="0"/>
                        </a:rPr>
                        <m:t>=</m:t>
                      </m:r>
                      <m:f>
                        <m:fPr>
                          <m:ctrlPr>
                            <a:rPr lang="zh-CN" altLang="en-US" sz="2800" i="1">
                              <a:solidFill>
                                <a:srgbClr val="000000"/>
                              </a:solidFill>
                              <a:latin typeface="Cambria Math" panose="02040503050406030204" charset="0"/>
                            </a:rPr>
                          </m:ctrlPr>
                        </m:fPr>
                        <m:num>
                          <m:r>
                            <a:rPr lang="zh-CN" altLang="en-US" sz="2800" i="1">
                              <a:solidFill>
                                <a:srgbClr val="000000"/>
                              </a:solidFill>
                              <a:latin typeface="Cambria Math" panose="02040503050406030204" charset="0"/>
                            </a:rPr>
                            <m:t>𝑦</m:t>
                          </m:r>
                        </m:num>
                        <m:den>
                          <m:r>
                            <a:rPr lang="zh-CN" altLang="en-US" sz="2800" i="1">
                              <a:solidFill>
                                <a:srgbClr val="000000"/>
                              </a:solidFill>
                              <a:latin typeface="Cambria Math" panose="02040503050406030204" charset="0"/>
                            </a:rPr>
                            <m:t>|</m:t>
                          </m:r>
                          <m:r>
                            <a:rPr lang="zh-CN" altLang="en-US" sz="2800" b="1" i="1">
                              <a:solidFill>
                                <a:srgbClr val="000000"/>
                              </a:solidFill>
                              <a:latin typeface="Cambria Math" panose="02040503050406030204" charset="0"/>
                            </a:rPr>
                            <m:t>𝒓</m:t>
                          </m:r>
                          <m:r>
                            <a:rPr lang="zh-CN" altLang="en-US" sz="2800" i="1">
                              <a:solidFill>
                                <a:srgbClr val="000000"/>
                              </a:solidFill>
                              <a:latin typeface="Cambria Math" panose="02040503050406030204" charset="0"/>
                            </a:rPr>
                            <m:t>|</m:t>
                          </m:r>
                        </m:den>
                      </m:f>
                      <m:r>
                        <a:rPr lang="zh-CN" altLang="en-US" sz="2800" i="1">
                          <a:solidFill>
                            <a:srgbClr val="000000"/>
                          </a:solidFill>
                          <a:latin typeface="Cambria Math" panose="02040503050406030204" charset="0"/>
                        </a:rPr>
                        <m:t>=</m:t>
                      </m:r>
                      <m:f>
                        <m:fPr>
                          <m:ctrlPr>
                            <a:rPr lang="zh-CN" altLang="en-US" sz="2800" i="1">
                              <a:solidFill>
                                <a:srgbClr val="000000"/>
                              </a:solidFill>
                              <a:latin typeface="Cambria Math" panose="02040503050406030204" charset="0"/>
                            </a:rPr>
                          </m:ctrlPr>
                        </m:fPr>
                        <m:num>
                          <m:r>
                            <a:rPr lang="zh-CN" altLang="en-US" sz="2800" i="1">
                              <a:solidFill>
                                <a:srgbClr val="000000"/>
                              </a:solidFill>
                              <a:latin typeface="Cambria Math" panose="02040503050406030204" charset="0"/>
                            </a:rPr>
                            <m:t>𝑦</m:t>
                          </m:r>
                        </m:num>
                        <m:den>
                          <m:rad>
                            <m:radPr>
                              <m:degHide m:val="on"/>
                              <m:ctrlPr>
                                <a:rPr lang="zh-CN" altLang="en-US" sz="2800" i="1">
                                  <a:solidFill>
                                    <a:srgbClr val="000000"/>
                                  </a:solidFill>
                                  <a:latin typeface="Cambria Math" panose="02040503050406030204" charset="0"/>
                                </a:rPr>
                              </m:ctrlPr>
                            </m:radPr>
                            <m:deg/>
                            <m:e>
                              <m:sSup>
                                <m:sSupPr>
                                  <m:ctrlPr>
                                    <a:rPr lang="zh-CN" altLang="en-US" sz="2800" i="1">
                                      <a:solidFill>
                                        <a:srgbClr val="000000"/>
                                      </a:solidFill>
                                      <a:latin typeface="Cambria Math" panose="02040503050406030204" charset="0"/>
                                    </a:rPr>
                                  </m:ctrlPr>
                                </m:sSupPr>
                                <m:e>
                                  <m:r>
                                    <a:rPr lang="zh-CN" altLang="en-US" sz="2800" i="1">
                                      <a:solidFill>
                                        <a:srgbClr val="000000"/>
                                      </a:solidFill>
                                      <a:latin typeface="Cambria Math" panose="02040503050406030204" charset="0"/>
                                    </a:rPr>
                                    <m:t>𝑥</m:t>
                                  </m:r>
                                </m:e>
                                <m:sup>
                                  <m:r>
                                    <a:rPr lang="zh-CN" altLang="en-US" sz="2800" i="1">
                                      <a:solidFill>
                                        <a:srgbClr val="000000"/>
                                      </a:solidFill>
                                      <a:latin typeface="Cambria Math" panose="02040503050406030204" charset="0"/>
                                    </a:rPr>
                                    <m:t>2</m:t>
                                  </m:r>
                                </m:sup>
                              </m:sSup>
                              <m:r>
                                <a:rPr lang="zh-CN" altLang="en-US" sz="2800" i="1">
                                  <a:solidFill>
                                    <a:srgbClr val="000000"/>
                                  </a:solidFill>
                                  <a:latin typeface="Cambria Math" panose="02040503050406030204" charset="0"/>
                                </a:rPr>
                                <m:t>+</m:t>
                              </m:r>
                              <m:sSup>
                                <m:sSupPr>
                                  <m:ctrlPr>
                                    <a:rPr lang="zh-CN" altLang="en-US" sz="2800" i="1">
                                      <a:solidFill>
                                        <a:srgbClr val="000000"/>
                                      </a:solidFill>
                                      <a:latin typeface="Cambria Math" panose="02040503050406030204" charset="0"/>
                                    </a:rPr>
                                  </m:ctrlPr>
                                </m:sSupPr>
                                <m:e>
                                  <m:r>
                                    <a:rPr lang="zh-CN" altLang="en-US" sz="2800" i="1">
                                      <a:solidFill>
                                        <a:srgbClr val="000000"/>
                                      </a:solidFill>
                                      <a:latin typeface="Cambria Math" panose="02040503050406030204" charset="0"/>
                                    </a:rPr>
                                    <m:t>𝑦</m:t>
                                  </m:r>
                                </m:e>
                                <m:sup>
                                  <m:r>
                                    <a:rPr lang="zh-CN" altLang="en-US" sz="2800" i="1">
                                      <a:solidFill>
                                        <a:srgbClr val="000000"/>
                                      </a:solidFill>
                                      <a:latin typeface="Cambria Math" panose="02040503050406030204" charset="0"/>
                                    </a:rPr>
                                    <m:t>2</m:t>
                                  </m:r>
                                </m:sup>
                              </m:sSup>
                              <m:r>
                                <a:rPr lang="zh-CN" altLang="en-US" sz="2800" i="1">
                                  <a:solidFill>
                                    <a:srgbClr val="000000"/>
                                  </a:solidFill>
                                  <a:latin typeface="Cambria Math" panose="02040503050406030204" charset="0"/>
                                </a:rPr>
                                <m:t>+</m:t>
                              </m:r>
                              <m:sSup>
                                <m:sSupPr>
                                  <m:ctrlPr>
                                    <a:rPr lang="zh-CN" altLang="en-US" sz="2800" i="1">
                                      <a:solidFill>
                                        <a:srgbClr val="000000"/>
                                      </a:solidFill>
                                      <a:latin typeface="Cambria Math" panose="02040503050406030204" charset="0"/>
                                    </a:rPr>
                                  </m:ctrlPr>
                                </m:sSupPr>
                                <m:e>
                                  <m:r>
                                    <a:rPr lang="zh-CN" altLang="en-US" sz="2800" i="1">
                                      <a:solidFill>
                                        <a:srgbClr val="000000"/>
                                      </a:solidFill>
                                      <a:latin typeface="Cambria Math" panose="02040503050406030204" charset="0"/>
                                    </a:rPr>
                                    <m:t>𝑧</m:t>
                                  </m:r>
                                </m:e>
                                <m:sup>
                                  <m:r>
                                    <a:rPr lang="zh-CN" altLang="en-US" sz="2800" i="1">
                                      <a:solidFill>
                                        <a:srgbClr val="000000"/>
                                      </a:solidFill>
                                      <a:latin typeface="Cambria Math" panose="02040503050406030204" charset="0"/>
                                    </a:rPr>
                                    <m:t>2</m:t>
                                  </m:r>
                                </m:sup>
                              </m:sSup>
                            </m:e>
                          </m:rad>
                        </m:den>
                      </m:f>
                      <m:r>
                        <a:rPr lang="zh-CN" altLang="en-US" sz="2800" i="1">
                          <a:solidFill>
                            <a:srgbClr val="000000"/>
                          </a:solidFill>
                          <a:latin typeface="Cambria Math" panose="02040503050406030204" charset="0"/>
                        </a:rPr>
                        <m:t>,</m:t>
                      </m:r>
                    </m:oMath>
                  </m:oMathPara>
                </a14:m>
                <a:endParaRPr lang="zh-CN" altLang="en-US" sz="2800" dirty="0"/>
              </a:p>
            </p:txBody>
          </p:sp>
        </mc:Choice>
        <mc:Fallback>
          <p:sp>
            <p:nvSpPr>
              <p:cNvPr id="4" name="对象 3"/>
              <p:cNvSpPr txBox="1">
                <a:spLocks noRot="1" noChangeAspect="1" noMove="1" noResize="1" noEditPoints="1" noAdjustHandles="1" noChangeArrowheads="1" noChangeShapeType="1" noTextEdit="1"/>
              </p:cNvSpPr>
              <p:nvPr/>
            </p:nvSpPr>
            <p:spPr>
              <a:xfrm>
                <a:off x="1524000" y="3022600"/>
                <a:ext cx="4822191" cy="1016000"/>
              </a:xfrm>
              <a:prstGeom prst="rect">
                <a:avLst/>
              </a:prstGeom>
              <a:blipFill rotWithShape="1">
                <a:blip r:embed="rId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对象 4"/>
              <p:cNvSpPr txBox="1"/>
              <p:nvPr/>
            </p:nvSpPr>
            <p:spPr>
              <a:xfrm>
                <a:off x="1524001" y="4038600"/>
                <a:ext cx="4800600" cy="1016000"/>
              </a:xfrm>
              <a:prstGeom prst="rect">
                <a:avLst/>
              </a:prstGeom>
            </p:spPr>
            <p:txBody>
              <a:bodyPr>
                <a:noAutofit/>
              </a:bodyPr>
              <a:lstStyle/>
              <a:p>
                <a14:m>
                  <m:oMathPara xmlns:m="http://schemas.openxmlformats.org/officeDocument/2006/math">
                    <m:oMathParaPr>
                      <m:jc m:val="left"/>
                    </m:oMathParaPr>
                    <m:oMath xmlns:m="http://schemas.openxmlformats.org/officeDocument/2006/math">
                      <m:func>
                        <m:funcPr>
                          <m:ctrlPr>
                            <a:rPr lang="zh-CN" altLang="en-US" sz="2800" i="1">
                              <a:solidFill>
                                <a:srgbClr val="000000"/>
                              </a:solidFill>
                              <a:latin typeface="Cambria Math" panose="02040503050406030204" charset="0"/>
                            </a:rPr>
                          </m:ctrlPr>
                        </m:funcPr>
                        <m:fName>
                          <m:r>
                            <m:rPr>
                              <m:sty m:val="p"/>
                            </m:rPr>
                            <a:rPr lang="zh-CN" altLang="en-US" sz="2800" i="0">
                              <a:solidFill>
                                <a:srgbClr val="000000"/>
                              </a:solidFill>
                              <a:latin typeface="Cambria Math" panose="02040503050406030204" charset="0"/>
                            </a:rPr>
                            <m:t>cos</m:t>
                          </m:r>
                        </m:fName>
                        <m:e>
                          <m:r>
                            <a:rPr lang="zh-CN" altLang="en-US" sz="2800" i="1">
                              <a:solidFill>
                                <a:srgbClr val="000000"/>
                              </a:solidFill>
                              <a:latin typeface="Cambria Math" panose="02040503050406030204" charset="0"/>
                            </a:rPr>
                            <m:t>𝛾</m:t>
                          </m:r>
                        </m:e>
                      </m:func>
                      <m:r>
                        <a:rPr lang="zh-CN" altLang="en-US" sz="2800" i="1">
                          <a:solidFill>
                            <a:srgbClr val="000000"/>
                          </a:solidFill>
                          <a:latin typeface="Cambria Math" panose="02040503050406030204" charset="0"/>
                        </a:rPr>
                        <m:t>=</m:t>
                      </m:r>
                      <m:f>
                        <m:fPr>
                          <m:ctrlPr>
                            <a:rPr lang="zh-CN" altLang="en-US" sz="2800" i="1">
                              <a:solidFill>
                                <a:srgbClr val="000000"/>
                              </a:solidFill>
                              <a:latin typeface="Cambria Math" panose="02040503050406030204" charset="0"/>
                            </a:rPr>
                          </m:ctrlPr>
                        </m:fPr>
                        <m:num>
                          <m:r>
                            <a:rPr lang="zh-CN" altLang="en-US" sz="2800" i="1">
                              <a:solidFill>
                                <a:srgbClr val="000000"/>
                              </a:solidFill>
                              <a:latin typeface="Cambria Math" panose="02040503050406030204" charset="0"/>
                            </a:rPr>
                            <m:t>𝑧</m:t>
                          </m:r>
                        </m:num>
                        <m:den>
                          <m:r>
                            <a:rPr lang="zh-CN" altLang="en-US" sz="2800" i="1">
                              <a:solidFill>
                                <a:srgbClr val="000000"/>
                              </a:solidFill>
                              <a:latin typeface="Cambria Math" panose="02040503050406030204" charset="0"/>
                            </a:rPr>
                            <m:t>|</m:t>
                          </m:r>
                          <m:r>
                            <a:rPr lang="zh-CN" altLang="en-US" sz="2800" b="1" i="1">
                              <a:solidFill>
                                <a:srgbClr val="000000"/>
                              </a:solidFill>
                              <a:latin typeface="Cambria Math" panose="02040503050406030204" charset="0"/>
                            </a:rPr>
                            <m:t>𝒓</m:t>
                          </m:r>
                          <m:r>
                            <a:rPr lang="zh-CN" altLang="en-US" sz="2800" i="1">
                              <a:solidFill>
                                <a:srgbClr val="000000"/>
                              </a:solidFill>
                              <a:latin typeface="Cambria Math" panose="02040503050406030204" charset="0"/>
                            </a:rPr>
                            <m:t>|</m:t>
                          </m:r>
                        </m:den>
                      </m:f>
                      <m:r>
                        <a:rPr lang="zh-CN" altLang="en-US" sz="2800" i="1">
                          <a:solidFill>
                            <a:srgbClr val="000000"/>
                          </a:solidFill>
                          <a:latin typeface="Cambria Math" panose="02040503050406030204" charset="0"/>
                        </a:rPr>
                        <m:t>=</m:t>
                      </m:r>
                      <m:f>
                        <m:fPr>
                          <m:ctrlPr>
                            <a:rPr lang="zh-CN" altLang="en-US" sz="2800" i="1">
                              <a:solidFill>
                                <a:srgbClr val="000000"/>
                              </a:solidFill>
                              <a:latin typeface="Cambria Math" panose="02040503050406030204" charset="0"/>
                            </a:rPr>
                          </m:ctrlPr>
                        </m:fPr>
                        <m:num>
                          <m:r>
                            <a:rPr lang="zh-CN" altLang="en-US" sz="2800" i="1">
                              <a:solidFill>
                                <a:srgbClr val="000000"/>
                              </a:solidFill>
                              <a:latin typeface="Cambria Math" panose="02040503050406030204" charset="0"/>
                            </a:rPr>
                            <m:t>𝑧</m:t>
                          </m:r>
                        </m:num>
                        <m:den>
                          <m:rad>
                            <m:radPr>
                              <m:degHide m:val="on"/>
                              <m:ctrlPr>
                                <a:rPr lang="zh-CN" altLang="en-US" sz="2800" i="1">
                                  <a:solidFill>
                                    <a:srgbClr val="000000"/>
                                  </a:solidFill>
                                  <a:latin typeface="Cambria Math" panose="02040503050406030204" charset="0"/>
                                </a:rPr>
                              </m:ctrlPr>
                            </m:radPr>
                            <m:deg/>
                            <m:e>
                              <m:sSup>
                                <m:sSupPr>
                                  <m:ctrlPr>
                                    <a:rPr lang="zh-CN" altLang="en-US" sz="2800" i="1">
                                      <a:solidFill>
                                        <a:srgbClr val="000000"/>
                                      </a:solidFill>
                                      <a:latin typeface="Cambria Math" panose="02040503050406030204" charset="0"/>
                                    </a:rPr>
                                  </m:ctrlPr>
                                </m:sSupPr>
                                <m:e>
                                  <m:r>
                                    <a:rPr lang="zh-CN" altLang="en-US" sz="2800" i="1">
                                      <a:solidFill>
                                        <a:srgbClr val="000000"/>
                                      </a:solidFill>
                                      <a:latin typeface="Cambria Math" panose="02040503050406030204" charset="0"/>
                                    </a:rPr>
                                    <m:t>𝑥</m:t>
                                  </m:r>
                                </m:e>
                                <m:sup>
                                  <m:r>
                                    <a:rPr lang="zh-CN" altLang="en-US" sz="2800" i="1">
                                      <a:solidFill>
                                        <a:srgbClr val="000000"/>
                                      </a:solidFill>
                                      <a:latin typeface="Cambria Math" panose="02040503050406030204" charset="0"/>
                                    </a:rPr>
                                    <m:t>2</m:t>
                                  </m:r>
                                </m:sup>
                              </m:sSup>
                              <m:r>
                                <a:rPr lang="zh-CN" altLang="en-US" sz="2800" i="1">
                                  <a:solidFill>
                                    <a:srgbClr val="000000"/>
                                  </a:solidFill>
                                  <a:latin typeface="Cambria Math" panose="02040503050406030204" charset="0"/>
                                </a:rPr>
                                <m:t>+</m:t>
                              </m:r>
                              <m:sSup>
                                <m:sSupPr>
                                  <m:ctrlPr>
                                    <a:rPr lang="zh-CN" altLang="en-US" sz="2800" i="1">
                                      <a:solidFill>
                                        <a:srgbClr val="000000"/>
                                      </a:solidFill>
                                      <a:latin typeface="Cambria Math" panose="02040503050406030204" charset="0"/>
                                    </a:rPr>
                                  </m:ctrlPr>
                                </m:sSupPr>
                                <m:e>
                                  <m:r>
                                    <a:rPr lang="zh-CN" altLang="en-US" sz="2800" i="1">
                                      <a:solidFill>
                                        <a:srgbClr val="000000"/>
                                      </a:solidFill>
                                      <a:latin typeface="Cambria Math" panose="02040503050406030204" charset="0"/>
                                    </a:rPr>
                                    <m:t>𝑦</m:t>
                                  </m:r>
                                </m:e>
                                <m:sup>
                                  <m:r>
                                    <a:rPr lang="zh-CN" altLang="en-US" sz="2800" i="1">
                                      <a:solidFill>
                                        <a:srgbClr val="000000"/>
                                      </a:solidFill>
                                      <a:latin typeface="Cambria Math" panose="02040503050406030204" charset="0"/>
                                    </a:rPr>
                                    <m:t>2</m:t>
                                  </m:r>
                                </m:sup>
                              </m:sSup>
                              <m:r>
                                <a:rPr lang="zh-CN" altLang="en-US" sz="2800" i="1">
                                  <a:solidFill>
                                    <a:srgbClr val="000000"/>
                                  </a:solidFill>
                                  <a:latin typeface="Cambria Math" panose="02040503050406030204" charset="0"/>
                                </a:rPr>
                                <m:t>+</m:t>
                              </m:r>
                              <m:sSup>
                                <m:sSupPr>
                                  <m:ctrlPr>
                                    <a:rPr lang="zh-CN" altLang="en-US" sz="2800" i="1">
                                      <a:solidFill>
                                        <a:srgbClr val="000000"/>
                                      </a:solidFill>
                                      <a:latin typeface="Cambria Math" panose="02040503050406030204" charset="0"/>
                                    </a:rPr>
                                  </m:ctrlPr>
                                </m:sSupPr>
                                <m:e>
                                  <m:r>
                                    <a:rPr lang="zh-CN" altLang="en-US" sz="2800" i="1">
                                      <a:solidFill>
                                        <a:srgbClr val="000000"/>
                                      </a:solidFill>
                                      <a:latin typeface="Cambria Math" panose="02040503050406030204" charset="0"/>
                                    </a:rPr>
                                    <m:t>𝑧</m:t>
                                  </m:r>
                                </m:e>
                                <m:sup>
                                  <m:r>
                                    <a:rPr lang="zh-CN" altLang="en-US" sz="2800" i="1">
                                      <a:solidFill>
                                        <a:srgbClr val="000000"/>
                                      </a:solidFill>
                                      <a:latin typeface="Cambria Math" panose="02040503050406030204" charset="0"/>
                                    </a:rPr>
                                    <m:t>2</m:t>
                                  </m:r>
                                </m:sup>
                              </m:sSup>
                            </m:e>
                          </m:rad>
                        </m:den>
                      </m:f>
                      <m:r>
                        <a:rPr lang="zh-CN" altLang="en-US" sz="2800" i="1">
                          <a:solidFill>
                            <a:srgbClr val="000000"/>
                          </a:solidFill>
                          <a:latin typeface="Cambria Math" panose="02040503050406030204" charset="0"/>
                        </a:rPr>
                        <m:t>.</m:t>
                      </m:r>
                    </m:oMath>
                  </m:oMathPara>
                </a14:m>
                <a:endParaRPr lang="zh-CN" altLang="en-US" sz="2800" dirty="0"/>
              </a:p>
            </p:txBody>
          </p:sp>
        </mc:Choice>
        <mc:Fallback>
          <p:sp>
            <p:nvSpPr>
              <p:cNvPr id="5" name="对象 4"/>
              <p:cNvSpPr txBox="1">
                <a:spLocks noRot="1" noChangeAspect="1" noMove="1" noResize="1" noEditPoints="1" noAdjustHandles="1" noChangeArrowheads="1" noChangeShapeType="1" noTextEdit="1"/>
              </p:cNvSpPr>
              <p:nvPr/>
            </p:nvSpPr>
            <p:spPr>
              <a:xfrm>
                <a:off x="1524001" y="4038600"/>
                <a:ext cx="4800600" cy="1016000"/>
              </a:xfrm>
              <a:prstGeom prst="rect">
                <a:avLst/>
              </a:prstGeom>
              <a:blipFill rotWithShape="1">
                <a:blip r:embed="rId6"/>
                <a:stretch>
                  <a:fillRect/>
                </a:stretch>
              </a:blipFill>
            </p:spPr>
            <p:txBody>
              <a:bodyPr/>
              <a:lstStyle/>
              <a:p>
                <a:r>
                  <a:rPr lang="zh-CN" altLang="en-US">
                    <a:noFill/>
                  </a:rPr>
                  <a:t> </a:t>
                </a:r>
              </a:p>
            </p:txBody>
          </p:sp>
        </mc:Fallback>
      </mc:AlternateContent>
      <p:pic>
        <p:nvPicPr>
          <p:cNvPr id="13" name="图片 12" descr="图示&#10;&#10;描述已自动生成"/>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083971" y="1842568"/>
            <a:ext cx="3075242" cy="288183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9940"/>
                                        </p:tgtEl>
                                        <p:attrNameLst>
                                          <p:attrName>style.visibility</p:attrName>
                                        </p:attrNameLst>
                                      </p:cBhvr>
                                      <p:to>
                                        <p:strVal val="visible"/>
                                      </p:to>
                                    </p:set>
                                    <p:animEffect transition="in" filter="wipe(left)">
                                      <p:cBhvr>
                                        <p:cTn id="7" dur="500"/>
                                        <p:tgtEl>
                                          <p:spTgt spid="3994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9941"/>
                                        </p:tgtEl>
                                        <p:attrNameLst>
                                          <p:attrName>style.visibility</p:attrName>
                                        </p:attrNameLst>
                                      </p:cBhvr>
                                      <p:to>
                                        <p:strVal val="visible"/>
                                      </p:to>
                                    </p:set>
                                    <p:animEffect transition="in" filter="wipe(left)">
                                      <p:cBhvr>
                                        <p:cTn id="11" dur="500"/>
                                        <p:tgtEl>
                                          <p:spTgt spid="3994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left)">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9942"/>
                                        </p:tgtEl>
                                        <p:attrNameLst>
                                          <p:attrName>style.visibility</p:attrName>
                                        </p:attrNameLst>
                                      </p:cBhvr>
                                      <p:to>
                                        <p:strVal val="visible"/>
                                      </p:to>
                                    </p:set>
                                    <p:animEffect transition="in" filter="wipe(left)">
                                      <p:cBhvr>
                                        <p:cTn id="31" dur="500"/>
                                        <p:tgtEl>
                                          <p:spTgt spid="3994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0" grpId="0" bldLvl="0" animBg="1"/>
      <p:bldP spid="39941" grpId="0" bldLvl="0" animBg="1"/>
      <p:bldP spid="39942" grpId="0" bldLvl="0" animBg="1"/>
      <p:bldP spid="3" grpId="0"/>
      <p:bldP spid="4" grpId="0"/>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310504" y="838200"/>
            <a:ext cx="11570992" cy="4805890"/>
            <a:chOff x="289932" y="816189"/>
            <a:chExt cx="11570992" cy="4805890"/>
          </a:xfrm>
        </p:grpSpPr>
        <p:sp>
          <p:nvSpPr>
            <p:cNvPr id="15" name="矩形 14"/>
            <p:cNvSpPr/>
            <p:nvPr/>
          </p:nvSpPr>
          <p:spPr>
            <a:xfrm>
              <a:off x="381391" y="1006537"/>
              <a:ext cx="11479533" cy="4615542"/>
            </a:xfrm>
            <a:prstGeom prst="rect">
              <a:avLst/>
            </a:prstGeom>
            <a:solidFill>
              <a:schemeClr val="bg1"/>
            </a:solidFill>
            <a:ln>
              <a:solidFill>
                <a:srgbClr val="04926A"/>
              </a:solid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16" name="组合 15"/>
            <p:cNvGrpSpPr/>
            <p:nvPr/>
          </p:nvGrpSpPr>
          <p:grpSpPr>
            <a:xfrm>
              <a:off x="9041684" y="816189"/>
              <a:ext cx="1647019" cy="607060"/>
              <a:chOff x="10233025" y="1155148"/>
              <a:chExt cx="1647019" cy="607060"/>
            </a:xfrm>
          </p:grpSpPr>
          <p:sp>
            <p:nvSpPr>
              <p:cNvPr id="18" name="梯形 17"/>
              <p:cNvSpPr/>
              <p:nvPr/>
            </p:nvSpPr>
            <p:spPr>
              <a:xfrm flipV="1">
                <a:off x="10398357" y="1155148"/>
                <a:ext cx="1310005" cy="607060"/>
              </a:xfrm>
              <a:prstGeom prst="trapezoid">
                <a:avLst/>
              </a:prstGeom>
              <a:solidFill>
                <a:srgbClr val="1D9D79"/>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0552769" y="1197693"/>
                <a:ext cx="902811" cy="523220"/>
              </a:xfrm>
              <a:prstGeom prst="rect">
                <a:avLst/>
              </a:prstGeom>
            </p:spPr>
            <p:txBody>
              <a:bodyPr wrap="none">
                <a:spAutoFit/>
              </a:bodyPr>
              <a:lstStyle/>
              <a:p>
                <a:pPr>
                  <a:spcBef>
                    <a:spcPct val="50000"/>
                  </a:spcBef>
                </a:pPr>
                <a:r>
                  <a:rPr lang="zh-CN" altLang="en-US" sz="2800" b="1" dirty="0">
                    <a:solidFill>
                      <a:schemeClr val="bg1"/>
                    </a:solidFill>
                    <a:latin typeface="微软雅黑" panose="020B0503020204020204" charset="-122"/>
                    <a:ea typeface="微软雅黑" panose="020B0503020204020204" charset="-122"/>
                    <a:cs typeface="微软雅黑" panose="020B0503020204020204" charset="-122"/>
                  </a:rPr>
                  <a:t>性质</a:t>
                </a:r>
                <a:endParaRPr lang="zh-CN" altLang="en-US" sz="28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0" name="等腰三角形 2"/>
              <p:cNvSpPr/>
              <p:nvPr/>
            </p:nvSpPr>
            <p:spPr>
              <a:xfrm>
                <a:off x="10233025" y="1155148"/>
                <a:ext cx="221688" cy="190348"/>
              </a:xfrm>
              <a:custGeom>
                <a:avLst/>
                <a:gdLst>
                  <a:gd name="connsiteX0" fmla="*/ 0 w 228832"/>
                  <a:gd name="connsiteY0" fmla="*/ 190348 h 190348"/>
                  <a:gd name="connsiteX1" fmla="*/ 114416 w 228832"/>
                  <a:gd name="connsiteY1" fmla="*/ 0 h 190348"/>
                  <a:gd name="connsiteX2" fmla="*/ 228832 w 228832"/>
                  <a:gd name="connsiteY2" fmla="*/ 190348 h 190348"/>
                  <a:gd name="connsiteX3" fmla="*/ 0 w 228832"/>
                  <a:gd name="connsiteY3" fmla="*/ 190348 h 190348"/>
                  <a:gd name="connsiteX0-1" fmla="*/ 0 w 228832"/>
                  <a:gd name="connsiteY0-2" fmla="*/ 190348 h 190348"/>
                  <a:gd name="connsiteX1-3" fmla="*/ 171566 w 228832"/>
                  <a:gd name="connsiteY1-4" fmla="*/ 0 h 190348"/>
                  <a:gd name="connsiteX2-5" fmla="*/ 228832 w 228832"/>
                  <a:gd name="connsiteY2-6" fmla="*/ 190348 h 190348"/>
                  <a:gd name="connsiteX3-7" fmla="*/ 0 w 228832"/>
                  <a:gd name="connsiteY3-8" fmla="*/ 190348 h 190348"/>
                  <a:gd name="connsiteX0-9" fmla="*/ 0 w 221688"/>
                  <a:gd name="connsiteY0-10" fmla="*/ 190348 h 190348"/>
                  <a:gd name="connsiteX1-11" fmla="*/ 171566 w 221688"/>
                  <a:gd name="connsiteY1-12" fmla="*/ 0 h 190348"/>
                  <a:gd name="connsiteX2-13" fmla="*/ 221688 w 221688"/>
                  <a:gd name="connsiteY2-14" fmla="*/ 190348 h 190348"/>
                  <a:gd name="connsiteX3-15" fmla="*/ 0 w 221688"/>
                  <a:gd name="connsiteY3-16" fmla="*/ 190348 h 190348"/>
                </a:gdLst>
                <a:ahLst/>
                <a:cxnLst>
                  <a:cxn ang="0">
                    <a:pos x="connsiteX0-1" y="connsiteY0-2"/>
                  </a:cxn>
                  <a:cxn ang="0">
                    <a:pos x="connsiteX1-3" y="connsiteY1-4"/>
                  </a:cxn>
                  <a:cxn ang="0">
                    <a:pos x="connsiteX2-5" y="connsiteY2-6"/>
                  </a:cxn>
                  <a:cxn ang="0">
                    <a:pos x="connsiteX3-7" y="connsiteY3-8"/>
                  </a:cxn>
                </a:cxnLst>
                <a:rect l="l" t="t" r="r" b="b"/>
                <a:pathLst>
                  <a:path w="221688" h="190348">
                    <a:moveTo>
                      <a:pt x="0" y="190348"/>
                    </a:moveTo>
                    <a:lnTo>
                      <a:pt x="171566" y="0"/>
                    </a:lnTo>
                    <a:lnTo>
                      <a:pt x="221688" y="190348"/>
                    </a:lnTo>
                    <a:lnTo>
                      <a:pt x="0" y="190348"/>
                    </a:lnTo>
                    <a:close/>
                  </a:path>
                </a:pathLst>
              </a:custGeom>
              <a:solidFill>
                <a:srgbClr val="0688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等腰三角形 2"/>
              <p:cNvSpPr/>
              <p:nvPr/>
            </p:nvSpPr>
            <p:spPr>
              <a:xfrm flipH="1">
                <a:off x="11658356" y="1155148"/>
                <a:ext cx="221688" cy="190348"/>
              </a:xfrm>
              <a:custGeom>
                <a:avLst/>
                <a:gdLst>
                  <a:gd name="connsiteX0" fmla="*/ 0 w 228832"/>
                  <a:gd name="connsiteY0" fmla="*/ 190348 h 190348"/>
                  <a:gd name="connsiteX1" fmla="*/ 114416 w 228832"/>
                  <a:gd name="connsiteY1" fmla="*/ 0 h 190348"/>
                  <a:gd name="connsiteX2" fmla="*/ 228832 w 228832"/>
                  <a:gd name="connsiteY2" fmla="*/ 190348 h 190348"/>
                  <a:gd name="connsiteX3" fmla="*/ 0 w 228832"/>
                  <a:gd name="connsiteY3" fmla="*/ 190348 h 190348"/>
                  <a:gd name="connsiteX0-1" fmla="*/ 0 w 228832"/>
                  <a:gd name="connsiteY0-2" fmla="*/ 190348 h 190348"/>
                  <a:gd name="connsiteX1-3" fmla="*/ 171566 w 228832"/>
                  <a:gd name="connsiteY1-4" fmla="*/ 0 h 190348"/>
                  <a:gd name="connsiteX2-5" fmla="*/ 228832 w 228832"/>
                  <a:gd name="connsiteY2-6" fmla="*/ 190348 h 190348"/>
                  <a:gd name="connsiteX3-7" fmla="*/ 0 w 228832"/>
                  <a:gd name="connsiteY3-8" fmla="*/ 190348 h 190348"/>
                  <a:gd name="connsiteX0-9" fmla="*/ 0 w 221688"/>
                  <a:gd name="connsiteY0-10" fmla="*/ 190348 h 190348"/>
                  <a:gd name="connsiteX1-11" fmla="*/ 171566 w 221688"/>
                  <a:gd name="connsiteY1-12" fmla="*/ 0 h 190348"/>
                  <a:gd name="connsiteX2-13" fmla="*/ 221688 w 221688"/>
                  <a:gd name="connsiteY2-14" fmla="*/ 190348 h 190348"/>
                  <a:gd name="connsiteX3-15" fmla="*/ 0 w 221688"/>
                  <a:gd name="connsiteY3-16" fmla="*/ 190348 h 190348"/>
                </a:gdLst>
                <a:ahLst/>
                <a:cxnLst>
                  <a:cxn ang="0">
                    <a:pos x="connsiteX0-1" y="connsiteY0-2"/>
                  </a:cxn>
                  <a:cxn ang="0">
                    <a:pos x="connsiteX1-3" y="connsiteY1-4"/>
                  </a:cxn>
                  <a:cxn ang="0">
                    <a:pos x="connsiteX2-5" y="connsiteY2-6"/>
                  </a:cxn>
                  <a:cxn ang="0">
                    <a:pos x="connsiteX3-7" y="connsiteY3-8"/>
                  </a:cxn>
                </a:cxnLst>
                <a:rect l="l" t="t" r="r" b="b"/>
                <a:pathLst>
                  <a:path w="221688" h="190348">
                    <a:moveTo>
                      <a:pt x="0" y="190348"/>
                    </a:moveTo>
                    <a:lnTo>
                      <a:pt x="171566" y="0"/>
                    </a:lnTo>
                    <a:lnTo>
                      <a:pt x="221688" y="190348"/>
                    </a:lnTo>
                    <a:lnTo>
                      <a:pt x="0" y="190348"/>
                    </a:lnTo>
                    <a:close/>
                  </a:path>
                </a:pathLst>
              </a:custGeom>
              <a:solidFill>
                <a:srgbClr val="0688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矩形 16"/>
            <p:cNvSpPr/>
            <p:nvPr/>
          </p:nvSpPr>
          <p:spPr>
            <a:xfrm>
              <a:off x="289932" y="1260088"/>
              <a:ext cx="91459" cy="4125951"/>
            </a:xfrm>
            <a:prstGeom prst="rect">
              <a:avLst/>
            </a:prstGeom>
            <a:solidFill>
              <a:srgbClr val="049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mc:Choice xmlns:a14="http://schemas.microsoft.com/office/drawing/2010/main" Requires="a14">
          <p:sp>
            <p:nvSpPr>
              <p:cNvPr id="3" name="Object 74"/>
              <p:cNvSpPr txBox="1"/>
              <p:nvPr/>
            </p:nvSpPr>
            <p:spPr bwMode="auto">
              <a:xfrm>
                <a:off x="2514601" y="2667562"/>
                <a:ext cx="4602423" cy="637788"/>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charset="0"/>
                        </a:rPr>
                        <m:t>与向量</m:t>
                      </m:r>
                      <m:r>
                        <a:rPr lang="zh-CN" altLang="en-US" sz="2800" b="1" i="1">
                          <a:solidFill>
                            <a:srgbClr val="000000"/>
                          </a:solidFill>
                          <a:latin typeface="Cambria Math" panose="02040503050406030204" charset="0"/>
                        </a:rPr>
                        <m:t>𝒓</m:t>
                      </m:r>
                      <m:r>
                        <a:rPr lang="zh-CN" altLang="en-US" sz="2800" i="1">
                          <a:solidFill>
                            <a:srgbClr val="000000"/>
                          </a:solidFill>
                          <a:latin typeface="Cambria Math" panose="02040503050406030204" charset="0"/>
                        </a:rPr>
                        <m:t>同方向的单位向量</m:t>
                      </m:r>
                      <m:r>
                        <a:rPr lang="zh-CN" altLang="en-US" sz="2800" i="1">
                          <a:solidFill>
                            <a:srgbClr val="000000"/>
                          </a:solidFill>
                          <a:latin typeface="Cambria Math" panose="02040503050406030204" charset="0"/>
                        </a:rPr>
                        <m:t>:</m:t>
                      </m:r>
                    </m:oMath>
                  </m:oMathPara>
                </a14:m>
                <a:endParaRPr lang="zh-CN" altLang="en-US" sz="2800" dirty="0"/>
              </a:p>
            </p:txBody>
          </p:sp>
        </mc:Choice>
        <mc:Fallback>
          <p:sp>
            <p:nvSpPr>
              <p:cNvPr id="3" name="Object 74"/>
              <p:cNvSpPr txBox="1">
                <a:spLocks noRot="1" noChangeAspect="1" noMove="1" noResize="1" noEditPoints="1" noAdjustHandles="1" noChangeArrowheads="1" noChangeShapeType="1" noTextEdit="1"/>
              </p:cNvSpPr>
              <p:nvPr/>
            </p:nvSpPr>
            <p:spPr bwMode="auto">
              <a:xfrm>
                <a:off x="2514601" y="2667562"/>
                <a:ext cx="4602423" cy="637788"/>
              </a:xfrm>
              <a:prstGeom prst="rect">
                <a:avLst/>
              </a:prstGeom>
              <a:blipFill rotWithShape="1">
                <a:blip r:embed="rId1"/>
                <a:stretch>
                  <a:fillRect t="-88" r="13" b="27"/>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Object 75"/>
              <p:cNvSpPr txBox="1"/>
              <p:nvPr/>
            </p:nvSpPr>
            <p:spPr bwMode="auto">
              <a:xfrm>
                <a:off x="2514600" y="3411242"/>
                <a:ext cx="1432541" cy="1008358"/>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sSub>
                        <m:sSubPr>
                          <m:ctrlPr>
                            <a:rPr lang="zh-CN" altLang="en-US" sz="2800" b="1" i="1" smtClean="0">
                              <a:solidFill>
                                <a:srgbClr val="000000"/>
                              </a:solidFill>
                              <a:latin typeface="Cambria Math" panose="02040503050406030204" charset="0"/>
                            </a:rPr>
                          </m:ctrlPr>
                        </m:sSubPr>
                        <m:e>
                          <m:r>
                            <a:rPr lang="zh-CN" altLang="en-US" sz="2800" b="1" i="1">
                              <a:solidFill>
                                <a:srgbClr val="000000"/>
                              </a:solidFill>
                              <a:latin typeface="Cambria Math" panose="02040503050406030204" charset="0"/>
                            </a:rPr>
                            <m:t>𝒆</m:t>
                          </m:r>
                        </m:e>
                        <m:sub>
                          <m:r>
                            <a:rPr lang="en-US" altLang="zh-CN" sz="2800" b="0" i="1" smtClean="0">
                              <a:solidFill>
                                <a:srgbClr val="000000"/>
                              </a:solidFill>
                              <a:latin typeface="Cambria Math" panose="02040503050406030204" charset="0"/>
                            </a:rPr>
                            <m:t>𝑟</m:t>
                          </m:r>
                        </m:sub>
                      </m:sSub>
                      <m:r>
                        <a:rPr lang="zh-CN" altLang="en-US" sz="2800" i="1">
                          <a:solidFill>
                            <a:srgbClr val="000000"/>
                          </a:solidFill>
                          <a:latin typeface="Cambria Math" panose="02040503050406030204" charset="0"/>
                        </a:rPr>
                        <m:t>=</m:t>
                      </m:r>
                      <m:f>
                        <m:fPr>
                          <m:ctrlPr>
                            <a:rPr lang="zh-CN" altLang="en-US" sz="2800" i="1">
                              <a:solidFill>
                                <a:srgbClr val="000000"/>
                              </a:solidFill>
                              <a:latin typeface="Cambria Math" panose="02040503050406030204" charset="0"/>
                            </a:rPr>
                          </m:ctrlPr>
                        </m:fPr>
                        <m:num>
                          <m:r>
                            <a:rPr lang="zh-CN" altLang="en-US" sz="2800" b="1" i="1">
                              <a:solidFill>
                                <a:srgbClr val="000000"/>
                              </a:solidFill>
                              <a:latin typeface="Cambria Math" panose="02040503050406030204" charset="0"/>
                            </a:rPr>
                            <m:t>𝒓</m:t>
                          </m:r>
                        </m:num>
                        <m:den>
                          <m:d>
                            <m:dPr>
                              <m:begChr m:val="|"/>
                              <m:endChr m:val="|"/>
                              <m:ctrlPr>
                                <a:rPr lang="zh-CN" altLang="en-US" sz="2800" b="1" i="1">
                                  <a:solidFill>
                                    <a:srgbClr val="000000"/>
                                  </a:solidFill>
                                  <a:latin typeface="Cambria Math" panose="02040503050406030204" charset="0"/>
                                </a:rPr>
                              </m:ctrlPr>
                            </m:dPr>
                            <m:e>
                              <m:r>
                                <a:rPr lang="zh-CN" altLang="en-US" sz="2800" b="1" i="1">
                                  <a:solidFill>
                                    <a:srgbClr val="000000"/>
                                  </a:solidFill>
                                  <a:latin typeface="Cambria Math" panose="02040503050406030204" charset="0"/>
                                </a:rPr>
                                <m:t>𝒓</m:t>
                              </m:r>
                            </m:e>
                          </m:d>
                        </m:den>
                      </m:f>
                    </m:oMath>
                  </m:oMathPara>
                </a14:m>
                <a:endParaRPr lang="zh-CN" altLang="en-US" sz="2800" dirty="0"/>
              </a:p>
            </p:txBody>
          </p:sp>
        </mc:Choice>
        <mc:Fallback>
          <p:sp>
            <p:nvSpPr>
              <p:cNvPr id="4" name="Object 75"/>
              <p:cNvSpPr txBox="1">
                <a:spLocks noRot="1" noChangeAspect="1" noMove="1" noResize="1" noEditPoints="1" noAdjustHandles="1" noChangeArrowheads="1" noChangeShapeType="1" noTextEdit="1"/>
              </p:cNvSpPr>
              <p:nvPr/>
            </p:nvSpPr>
            <p:spPr bwMode="auto">
              <a:xfrm>
                <a:off x="2514600" y="3411242"/>
                <a:ext cx="1432541" cy="1008358"/>
              </a:xfrm>
              <a:prstGeom prst="rect">
                <a:avLst/>
              </a:prstGeom>
              <a:blipFill rotWithShape="1">
                <a:blip r:embed="rId2"/>
                <a:stretch>
                  <a:fillRect t="-2" r="43"/>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Object 76"/>
              <p:cNvSpPr txBox="1"/>
              <p:nvPr/>
            </p:nvSpPr>
            <p:spPr bwMode="auto">
              <a:xfrm>
                <a:off x="3809998" y="3549468"/>
                <a:ext cx="3733802" cy="637788"/>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charset="0"/>
                        </a:rPr>
                        <m:t>=</m:t>
                      </m:r>
                      <m:r>
                        <a:rPr lang="zh-CN" altLang="en-US" sz="2800" i="1">
                          <a:solidFill>
                            <a:srgbClr val="000000"/>
                          </a:solidFill>
                          <a:highlight>
                            <a:srgbClr val="FFFF00"/>
                          </a:highlight>
                          <a:latin typeface="Cambria Math" panose="02040503050406030204" charset="0"/>
                        </a:rPr>
                        <m:t>(</m:t>
                      </m:r>
                      <m:func>
                        <m:funcPr>
                          <m:ctrlPr>
                            <a:rPr lang="zh-CN" altLang="en-US" sz="2800" i="1">
                              <a:solidFill>
                                <a:srgbClr val="000000"/>
                              </a:solidFill>
                              <a:highlight>
                                <a:srgbClr val="FFFF00"/>
                              </a:highlight>
                              <a:latin typeface="Cambria Math" panose="02040503050406030204" charset="0"/>
                            </a:rPr>
                          </m:ctrlPr>
                        </m:funcPr>
                        <m:fName>
                          <m:r>
                            <m:rPr>
                              <m:sty m:val="p"/>
                            </m:rPr>
                            <a:rPr lang="zh-CN" altLang="en-US" sz="2800" i="0">
                              <a:solidFill>
                                <a:srgbClr val="000000"/>
                              </a:solidFill>
                              <a:highlight>
                                <a:srgbClr val="FFFF00"/>
                              </a:highlight>
                              <a:latin typeface="Cambria Math" panose="02040503050406030204" charset="0"/>
                            </a:rPr>
                            <m:t>cos</m:t>
                          </m:r>
                        </m:fName>
                        <m:e>
                          <m:r>
                            <a:rPr lang="zh-CN" altLang="en-US" sz="2800" i="1">
                              <a:solidFill>
                                <a:srgbClr val="000000"/>
                              </a:solidFill>
                              <a:highlight>
                                <a:srgbClr val="FFFF00"/>
                              </a:highlight>
                              <a:latin typeface="Cambria Math" panose="02040503050406030204" charset="0"/>
                            </a:rPr>
                            <m:t>𝛼</m:t>
                          </m:r>
                        </m:e>
                      </m:func>
                      <m:r>
                        <a:rPr lang="zh-CN" altLang="en-US" sz="2800" i="1">
                          <a:solidFill>
                            <a:srgbClr val="000000"/>
                          </a:solidFill>
                          <a:highlight>
                            <a:srgbClr val="FFFF00"/>
                          </a:highlight>
                          <a:latin typeface="Cambria Math" panose="02040503050406030204" charset="0"/>
                        </a:rPr>
                        <m:t>,</m:t>
                      </m:r>
                      <m:func>
                        <m:funcPr>
                          <m:ctrlPr>
                            <a:rPr lang="zh-CN" altLang="en-US" sz="2800" i="1">
                              <a:solidFill>
                                <a:srgbClr val="000000"/>
                              </a:solidFill>
                              <a:highlight>
                                <a:srgbClr val="FFFF00"/>
                              </a:highlight>
                              <a:latin typeface="Cambria Math" panose="02040503050406030204" charset="0"/>
                            </a:rPr>
                          </m:ctrlPr>
                        </m:funcPr>
                        <m:fName>
                          <m:r>
                            <m:rPr>
                              <m:sty m:val="p"/>
                            </m:rPr>
                            <a:rPr lang="zh-CN" altLang="en-US" sz="2800" i="0">
                              <a:solidFill>
                                <a:srgbClr val="000000"/>
                              </a:solidFill>
                              <a:highlight>
                                <a:srgbClr val="FFFF00"/>
                              </a:highlight>
                              <a:latin typeface="Cambria Math" panose="02040503050406030204" charset="0"/>
                            </a:rPr>
                            <m:t>cos</m:t>
                          </m:r>
                        </m:fName>
                        <m:e>
                          <m:r>
                            <a:rPr lang="zh-CN" altLang="en-US" sz="2800" i="1">
                              <a:solidFill>
                                <a:srgbClr val="000000"/>
                              </a:solidFill>
                              <a:highlight>
                                <a:srgbClr val="FFFF00"/>
                              </a:highlight>
                              <a:latin typeface="Cambria Math" panose="02040503050406030204" charset="0"/>
                            </a:rPr>
                            <m:t>𝛽</m:t>
                          </m:r>
                        </m:e>
                      </m:func>
                      <m:r>
                        <a:rPr lang="zh-CN" altLang="en-US" sz="2800" i="1">
                          <a:solidFill>
                            <a:srgbClr val="000000"/>
                          </a:solidFill>
                          <a:highlight>
                            <a:srgbClr val="FFFF00"/>
                          </a:highlight>
                          <a:latin typeface="Cambria Math" panose="02040503050406030204" charset="0"/>
                        </a:rPr>
                        <m:t>,</m:t>
                      </m:r>
                      <m:func>
                        <m:funcPr>
                          <m:ctrlPr>
                            <a:rPr lang="zh-CN" altLang="en-US" sz="2800" i="1">
                              <a:solidFill>
                                <a:srgbClr val="000000"/>
                              </a:solidFill>
                              <a:highlight>
                                <a:srgbClr val="FFFF00"/>
                              </a:highlight>
                              <a:latin typeface="Cambria Math" panose="02040503050406030204" charset="0"/>
                            </a:rPr>
                          </m:ctrlPr>
                        </m:funcPr>
                        <m:fName>
                          <m:r>
                            <m:rPr>
                              <m:sty m:val="p"/>
                            </m:rPr>
                            <a:rPr lang="zh-CN" altLang="en-US" sz="2800" i="0">
                              <a:solidFill>
                                <a:srgbClr val="000000"/>
                              </a:solidFill>
                              <a:highlight>
                                <a:srgbClr val="FFFF00"/>
                              </a:highlight>
                              <a:latin typeface="Cambria Math" panose="02040503050406030204" charset="0"/>
                            </a:rPr>
                            <m:t>cos</m:t>
                          </m:r>
                        </m:fName>
                        <m:e>
                          <m:r>
                            <a:rPr lang="zh-CN" altLang="en-US" sz="2800" i="1">
                              <a:solidFill>
                                <a:srgbClr val="000000"/>
                              </a:solidFill>
                              <a:highlight>
                                <a:srgbClr val="FFFF00"/>
                              </a:highlight>
                              <a:latin typeface="Cambria Math" panose="02040503050406030204" charset="0"/>
                            </a:rPr>
                            <m:t>𝛾</m:t>
                          </m:r>
                        </m:e>
                      </m:func>
                      <m:r>
                        <a:rPr lang="zh-CN" altLang="en-US" sz="2800" i="1">
                          <a:solidFill>
                            <a:srgbClr val="000000"/>
                          </a:solidFill>
                          <a:highlight>
                            <a:srgbClr val="FFFF00"/>
                          </a:highlight>
                          <a:latin typeface="Cambria Math" panose="02040503050406030204" charset="0"/>
                          <a:ea typeface="MS Mincho" panose="02020609040205080304" charset="-128"/>
                          <a:cs typeface="Cambria Math" panose="02040503050406030204" charset="0"/>
                        </a:rPr>
                        <m:t>)</m:t>
                      </m:r>
                    </m:oMath>
                  </m:oMathPara>
                </a14:m>
                <a:endParaRPr lang="zh-CN" altLang="en-US" sz="2800" i="1" dirty="0">
                  <a:solidFill>
                    <a:srgbClr val="000000"/>
                  </a:solidFill>
                  <a:highlight>
                    <a:srgbClr val="FFFF00"/>
                  </a:highlight>
                  <a:latin typeface="Cambria Math" panose="02040503050406030204" charset="0"/>
                </a:endParaRPr>
              </a:p>
            </p:txBody>
          </p:sp>
        </mc:Choice>
        <mc:Fallback>
          <p:sp>
            <p:nvSpPr>
              <p:cNvPr id="5" name="Object 76"/>
              <p:cNvSpPr txBox="1">
                <a:spLocks noRot="1" noChangeAspect="1" noMove="1" noResize="1" noEditPoints="1" noAdjustHandles="1" noChangeArrowheads="1" noChangeShapeType="1" noTextEdit="1"/>
              </p:cNvSpPr>
              <p:nvPr/>
            </p:nvSpPr>
            <p:spPr bwMode="auto">
              <a:xfrm>
                <a:off x="3809998" y="3549468"/>
                <a:ext cx="3733802" cy="637788"/>
              </a:xfrm>
              <a:prstGeom prst="rect">
                <a:avLst/>
              </a:prstGeom>
              <a:blipFill rotWithShape="1">
                <a:blip r:embed="rId3"/>
                <a:stretch>
                  <a:fillRect l="-17" t="-71" b="10"/>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Object 36"/>
              <p:cNvSpPr txBox="1"/>
              <p:nvPr/>
            </p:nvSpPr>
            <p:spPr bwMode="auto">
              <a:xfrm>
                <a:off x="2514601" y="1800613"/>
                <a:ext cx="4876800" cy="637788"/>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func>
                        <m:funcPr>
                          <m:ctrlPr>
                            <a:rPr lang="zh-CN" altLang="en-US" sz="2800" i="1">
                              <a:solidFill>
                                <a:srgbClr val="000000"/>
                              </a:solidFill>
                              <a:latin typeface="Cambria Math" panose="02040503050406030204" charset="0"/>
                            </a:rPr>
                          </m:ctrlPr>
                        </m:funcPr>
                        <m:fName>
                          <m:sSup>
                            <m:sSupPr>
                              <m:ctrlPr>
                                <a:rPr lang="zh-CN" altLang="en-US" sz="2800" i="1">
                                  <a:solidFill>
                                    <a:srgbClr val="000000"/>
                                  </a:solidFill>
                                  <a:latin typeface="Cambria Math" panose="02040503050406030204" charset="0"/>
                                </a:rPr>
                              </m:ctrlPr>
                            </m:sSupPr>
                            <m:e>
                              <m:r>
                                <m:rPr>
                                  <m:sty m:val="p"/>
                                </m:rPr>
                                <a:rPr lang="zh-CN" altLang="en-US" sz="2800" i="0">
                                  <a:solidFill>
                                    <a:srgbClr val="000000"/>
                                  </a:solidFill>
                                  <a:latin typeface="Cambria Math" panose="02040503050406030204" charset="0"/>
                                </a:rPr>
                                <m:t>cos</m:t>
                              </m:r>
                            </m:e>
                            <m:sup>
                              <m:r>
                                <a:rPr lang="zh-CN" altLang="en-US" sz="2800" i="1">
                                  <a:solidFill>
                                    <a:srgbClr val="000000"/>
                                  </a:solidFill>
                                  <a:latin typeface="Cambria Math" panose="02040503050406030204" charset="0"/>
                                </a:rPr>
                                <m:t>2</m:t>
                              </m:r>
                            </m:sup>
                          </m:sSup>
                        </m:fName>
                        <m:e>
                          <m:r>
                            <a:rPr lang="zh-CN" altLang="en-US" sz="2800" i="1">
                              <a:solidFill>
                                <a:srgbClr val="000000"/>
                              </a:solidFill>
                              <a:latin typeface="Cambria Math" panose="02040503050406030204" charset="0"/>
                            </a:rPr>
                            <m:t>𝛼</m:t>
                          </m:r>
                        </m:e>
                      </m:func>
                      <m:r>
                        <a:rPr lang="zh-CN" altLang="en-US" sz="2800" i="1">
                          <a:solidFill>
                            <a:srgbClr val="000000"/>
                          </a:solidFill>
                          <a:latin typeface="Cambria Math" panose="02040503050406030204" charset="0"/>
                        </a:rPr>
                        <m:t>+</m:t>
                      </m:r>
                      <m:func>
                        <m:funcPr>
                          <m:ctrlPr>
                            <a:rPr lang="zh-CN" altLang="en-US" sz="2800" i="1">
                              <a:solidFill>
                                <a:srgbClr val="000000"/>
                              </a:solidFill>
                              <a:latin typeface="Cambria Math" panose="02040503050406030204" charset="0"/>
                            </a:rPr>
                          </m:ctrlPr>
                        </m:funcPr>
                        <m:fName>
                          <m:sSup>
                            <m:sSupPr>
                              <m:ctrlPr>
                                <a:rPr lang="zh-CN" altLang="en-US" sz="2800" i="1">
                                  <a:solidFill>
                                    <a:srgbClr val="000000"/>
                                  </a:solidFill>
                                  <a:latin typeface="Cambria Math" panose="02040503050406030204" charset="0"/>
                                </a:rPr>
                              </m:ctrlPr>
                            </m:sSupPr>
                            <m:e>
                              <m:r>
                                <m:rPr>
                                  <m:sty m:val="p"/>
                                </m:rPr>
                                <a:rPr lang="zh-CN" altLang="en-US" sz="2800" i="0">
                                  <a:solidFill>
                                    <a:srgbClr val="000000"/>
                                  </a:solidFill>
                                  <a:latin typeface="Cambria Math" panose="02040503050406030204" charset="0"/>
                                </a:rPr>
                                <m:t>cos</m:t>
                              </m:r>
                            </m:e>
                            <m:sup>
                              <m:r>
                                <a:rPr lang="zh-CN" altLang="en-US" sz="2800" i="1">
                                  <a:solidFill>
                                    <a:srgbClr val="000000"/>
                                  </a:solidFill>
                                  <a:latin typeface="Cambria Math" panose="02040503050406030204" charset="0"/>
                                </a:rPr>
                                <m:t>2</m:t>
                              </m:r>
                            </m:sup>
                          </m:sSup>
                        </m:fName>
                        <m:e>
                          <m:r>
                            <a:rPr lang="zh-CN" altLang="en-US" sz="2800" i="1">
                              <a:solidFill>
                                <a:srgbClr val="000000"/>
                              </a:solidFill>
                              <a:latin typeface="Cambria Math" panose="02040503050406030204" charset="0"/>
                            </a:rPr>
                            <m:t>𝛽</m:t>
                          </m:r>
                        </m:e>
                      </m:func>
                      <m:r>
                        <a:rPr lang="zh-CN" altLang="en-US" sz="2800" i="1">
                          <a:solidFill>
                            <a:srgbClr val="000000"/>
                          </a:solidFill>
                          <a:latin typeface="Cambria Math" panose="02040503050406030204" charset="0"/>
                        </a:rPr>
                        <m:t>+</m:t>
                      </m:r>
                      <m:func>
                        <m:funcPr>
                          <m:ctrlPr>
                            <a:rPr lang="zh-CN" altLang="en-US" sz="2800" i="1">
                              <a:solidFill>
                                <a:srgbClr val="000000"/>
                              </a:solidFill>
                              <a:latin typeface="Cambria Math" panose="02040503050406030204" charset="0"/>
                            </a:rPr>
                          </m:ctrlPr>
                        </m:funcPr>
                        <m:fName>
                          <m:sSup>
                            <m:sSupPr>
                              <m:ctrlPr>
                                <a:rPr lang="zh-CN" altLang="en-US" sz="2800" i="1">
                                  <a:solidFill>
                                    <a:srgbClr val="000000"/>
                                  </a:solidFill>
                                  <a:latin typeface="Cambria Math" panose="02040503050406030204" charset="0"/>
                                </a:rPr>
                              </m:ctrlPr>
                            </m:sSupPr>
                            <m:e>
                              <m:r>
                                <m:rPr>
                                  <m:sty m:val="p"/>
                                </m:rPr>
                                <a:rPr lang="zh-CN" altLang="en-US" sz="2800" i="0">
                                  <a:solidFill>
                                    <a:srgbClr val="000000"/>
                                  </a:solidFill>
                                  <a:latin typeface="Cambria Math" panose="02040503050406030204" charset="0"/>
                                </a:rPr>
                                <m:t>cos</m:t>
                              </m:r>
                            </m:e>
                            <m:sup>
                              <m:r>
                                <a:rPr lang="zh-CN" altLang="en-US" sz="2800" i="1">
                                  <a:solidFill>
                                    <a:srgbClr val="000000"/>
                                  </a:solidFill>
                                  <a:latin typeface="Cambria Math" panose="02040503050406030204" charset="0"/>
                                </a:rPr>
                                <m:t>2</m:t>
                              </m:r>
                            </m:sup>
                          </m:sSup>
                        </m:fName>
                        <m:e>
                          <m:r>
                            <a:rPr lang="zh-CN" altLang="en-US" sz="2800" i="1">
                              <a:solidFill>
                                <a:srgbClr val="000000"/>
                              </a:solidFill>
                              <a:latin typeface="Cambria Math" panose="02040503050406030204" charset="0"/>
                            </a:rPr>
                            <m:t>𝛾</m:t>
                          </m:r>
                        </m:e>
                      </m:func>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1</m:t>
                      </m:r>
                      <m:r>
                        <a:rPr lang="zh-CN" altLang="en-US" sz="2800" i="1">
                          <a:solidFill>
                            <a:srgbClr val="000000"/>
                          </a:solidFill>
                          <a:latin typeface="Cambria Math" panose="02040503050406030204" charset="0"/>
                        </a:rPr>
                        <m:t>,</m:t>
                      </m:r>
                    </m:oMath>
                  </m:oMathPara>
                </a14:m>
                <a:endParaRPr lang="zh-CN" altLang="en-US" sz="2800" dirty="0"/>
              </a:p>
            </p:txBody>
          </p:sp>
        </mc:Choice>
        <mc:Fallback>
          <p:sp>
            <p:nvSpPr>
              <p:cNvPr id="8" name="Object 36"/>
              <p:cNvSpPr txBox="1">
                <a:spLocks noRot="1" noChangeAspect="1" noMove="1" noResize="1" noEditPoints="1" noAdjustHandles="1" noChangeArrowheads="1" noChangeShapeType="1" noTextEdit="1"/>
              </p:cNvSpPr>
              <p:nvPr/>
            </p:nvSpPr>
            <p:spPr bwMode="auto">
              <a:xfrm>
                <a:off x="2514601" y="1800613"/>
                <a:ext cx="4876800" cy="637788"/>
              </a:xfrm>
              <a:prstGeom prst="rect">
                <a:avLst/>
              </a:prstGeom>
              <a:blipFill rotWithShape="1">
                <a:blip r:embed="rId4"/>
                <a:stretch>
                  <a:fillRect t="-61"/>
                </a:stretch>
              </a:blipFill>
              <a:ln>
                <a:noFill/>
              </a:ln>
              <a:effec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5" grpId="0" bldLvl="0" animBg="1"/>
      <p:bldP spid="8" grpId="0" bldLvl="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687324" y="476827"/>
            <a:ext cx="10817987" cy="5818829"/>
            <a:chOff x="687324" y="535820"/>
            <a:chExt cx="10817987" cy="5818829"/>
          </a:xfrm>
        </p:grpSpPr>
        <mc:AlternateContent xmlns:mc="http://schemas.openxmlformats.org/markup-compatibility/2006">
          <mc:Choice xmlns:a14="http://schemas.microsoft.com/office/drawing/2010/main" Requires="a14">
            <p:sp>
              <p:nvSpPr>
                <p:cNvPr id="7" name="矩形 6"/>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p:sp>
              <p:nvSpPr>
                <p:cNvPr id="7" name="矩形 6"/>
                <p:cNvSpPr>
                  <a:spLocks noRot="1" noChangeAspect="1" noMove="1" noResize="1" noEditPoints="1" noAdjustHandles="1" noChangeArrowheads="1" noChangeShapeType="1" noTextEdit="1"/>
                </p:cNvSpPr>
                <p:nvPr/>
              </p:nvSpPr>
              <p:spPr>
                <a:xfrm>
                  <a:off x="687959" y="536260"/>
                  <a:ext cx="10817352" cy="5799897"/>
                </a:xfrm>
                <a:prstGeom prst="rect">
                  <a:avLst/>
                </a:prstGeom>
                <a:blipFill rotWithShape="1">
                  <a:blip r:embed="rId1"/>
                </a:blip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8" name="半闭框 7"/>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半闭框 8"/>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半闭框 9"/>
            <p:cNvSpPr/>
            <p:nvPr/>
          </p:nvSpPr>
          <p:spPr>
            <a:xfrm flipV="1">
              <a:off x="687324" y="5661266"/>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11" name="半闭框 10"/>
            <p:cNvSpPr/>
            <p:nvPr/>
          </p:nvSpPr>
          <p:spPr>
            <a:xfrm flipH="1" flipV="1">
              <a:off x="10823530" y="5661266"/>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mc:AlternateContent xmlns:mc="http://schemas.openxmlformats.org/markup-compatibility/2006">
        <mc:Choice xmlns:a14="http://schemas.microsoft.com/office/drawing/2010/main" Requires="a14">
          <p:sp>
            <p:nvSpPr>
              <p:cNvPr id="103426" name="Rectangle 2"/>
              <p:cNvSpPr>
                <a:spLocks noGrp="1" noChangeArrowheads="1"/>
              </p:cNvSpPr>
              <p:nvPr>
                <p:ph type="title"/>
              </p:nvPr>
            </p:nvSpPr>
            <p:spPr>
              <a:xfrm>
                <a:off x="1046480" y="806450"/>
                <a:ext cx="5291455" cy="511810"/>
              </a:xfrm>
            </p:spPr>
            <p:txBody>
              <a:bodyPr>
                <a:noAutofit/>
              </a:bodyPr>
              <a:lstStyle/>
              <a:p>
                <a:r>
                  <a:rPr kumimoji="1" lang="zh-CN" altLang="en-US" sz="2800" dirty="0">
                    <a:ln w="22225">
                      <a:solidFill>
                        <a:schemeClr val="accent2"/>
                      </a:solidFill>
                      <a:prstDash val="solid"/>
                    </a:ln>
                    <a:solidFill>
                      <a:schemeClr val="accent2">
                        <a:lumMod val="40000"/>
                        <a:lumOff val="60000"/>
                      </a:schemeClr>
                    </a:solidFill>
                    <a:effectLst/>
                    <a:latin typeface="微软雅黑" panose="020B0503020204020204" charset="-122"/>
                    <a:ea typeface="微软雅黑" panose="020B0503020204020204" charset="-122"/>
                    <a:cs typeface="+mn-cs"/>
                  </a:rPr>
                  <a:t>经典题例</a:t>
                </a:r>
                <a:r>
                  <a:rPr kumimoji="1" lang="en-US" altLang="zh-CN" sz="2800" dirty="0">
                    <a:ln w="22225">
                      <a:solidFill>
                        <a:schemeClr val="accent2"/>
                      </a:solidFill>
                      <a:prstDash val="solid"/>
                    </a:ln>
                    <a:solidFill>
                      <a:schemeClr val="accent2">
                        <a:lumMod val="40000"/>
                        <a:lumOff val="60000"/>
                      </a:schemeClr>
                    </a:solidFill>
                    <a:effectLst/>
                    <a:latin typeface="微软雅黑" panose="020B0503020204020204" charset="-122"/>
                    <a:ea typeface="微软雅黑" panose="020B0503020204020204" charset="-122"/>
                    <a:cs typeface="+mn-cs"/>
                  </a:rPr>
                  <a:t>8</a:t>
                </a:r>
                <a:r>
                  <a:rPr kumimoji="1" lang="en-US" altLang="zh-CN" sz="2800" dirty="0">
                    <a:solidFill>
                      <a:srgbClr val="04926A"/>
                    </a:solidFill>
                    <a:latin typeface="微软雅黑" panose="020B0503020204020204" charset="-122"/>
                    <a:ea typeface="微软雅黑" panose="020B0503020204020204" charset="-122"/>
                    <a:cs typeface="+mn-cs"/>
                  </a:rPr>
                  <a:t> </a:t>
                </a:r>
                <a:r>
                  <a:rPr lang="en-US" altLang="zh-CN" sz="2800" dirty="0">
                    <a:ea typeface="黑体" panose="02010609060101010101" pitchFamily="49" charset="-122"/>
                  </a:rPr>
                  <a:t>     </a:t>
                </a:r>
                <a:r>
                  <a:rPr lang="zh-CN" altLang="en-US" sz="2800" b="0" dirty="0">
                    <a:solidFill>
                      <a:schemeClr val="tx1"/>
                    </a:solidFill>
                    <a:latin typeface="Times New Roman" panose="02020603050405020304" pitchFamily="18" charset="0"/>
                    <a:ea typeface="+mn-ea"/>
                    <a:cs typeface="Times New Roman" panose="02020603050405020304" pitchFamily="18" charset="0"/>
                  </a:rPr>
                  <a:t>设点</a:t>
                </a:r>
                <a14:m>
                  <m:oMath xmlns:m="http://schemas.openxmlformats.org/officeDocument/2006/math">
                    <m:r>
                      <a:rPr lang="en-US" altLang="zh-CN" sz="2800" b="0" i="1">
                        <a:solidFill>
                          <a:schemeClr val="tx1"/>
                        </a:solidFill>
                        <a:latin typeface="Cambria Math" panose="02040503050406030204" charset="0"/>
                        <a:ea typeface="+mn-ea"/>
                        <a:cs typeface="Times New Roman" panose="02020603050405020304" pitchFamily="18" charset="0"/>
                      </a:rPr>
                      <m:t>𝐴</m:t>
                    </m:r>
                  </m:oMath>
                </a14:m>
                <a:r>
                  <a:rPr lang="zh-CN" altLang="en-US" sz="2800" b="0" dirty="0">
                    <a:solidFill>
                      <a:schemeClr val="tx1"/>
                    </a:solidFill>
                    <a:latin typeface="Times New Roman" panose="02020603050405020304" pitchFamily="18" charset="0"/>
                    <a:ea typeface="+mn-ea"/>
                    <a:cs typeface="Times New Roman" panose="02020603050405020304" pitchFamily="18" charset="0"/>
                  </a:rPr>
                  <a:t>位于第</a:t>
                </a:r>
                <a:r>
                  <a:rPr lang="en-US" altLang="zh-CN" sz="2800" b="0" dirty="0">
                    <a:solidFill>
                      <a:schemeClr val="tx1"/>
                    </a:solidFill>
                    <a:latin typeface="Times New Roman" panose="02020603050405020304" pitchFamily="18" charset="0"/>
                    <a:ea typeface="+mn-ea"/>
                    <a:cs typeface="Times New Roman" panose="02020603050405020304" pitchFamily="18" charset="0"/>
                  </a:rPr>
                  <a:t>Ⅰ</a:t>
                </a:r>
                <a:r>
                  <a:rPr lang="zh-CN" altLang="en-US" sz="2800" b="0" dirty="0">
                    <a:solidFill>
                      <a:schemeClr val="tx1"/>
                    </a:solidFill>
                    <a:latin typeface="Times New Roman" panose="02020603050405020304" pitchFamily="18" charset="0"/>
                    <a:ea typeface="+mn-ea"/>
                    <a:cs typeface="Times New Roman" panose="02020603050405020304" pitchFamily="18" charset="0"/>
                  </a:rPr>
                  <a:t>卦限，</a:t>
                </a:r>
                <a:endParaRPr lang="zh-CN" altLang="en-US" sz="2800" b="0" dirty="0">
                  <a:solidFill>
                    <a:schemeClr val="tx1"/>
                  </a:solidFill>
                  <a:latin typeface="Times New Roman" panose="02020603050405020304" pitchFamily="18" charset="0"/>
                  <a:ea typeface="+mn-ea"/>
                  <a:cs typeface="Times New Roman" panose="02020603050405020304" pitchFamily="18" charset="0"/>
                </a:endParaRPr>
              </a:p>
            </p:txBody>
          </p:sp>
        </mc:Choice>
        <mc:Fallback>
          <p:sp>
            <p:nvSpPr>
              <p:cNvPr id="103426" name="Rectangle 2"/>
              <p:cNvSpPr>
                <a:spLocks noRot="1" noChangeAspect="1" noMove="1" noResize="1" noEditPoints="1" noAdjustHandles="1" noChangeArrowheads="1" noChangeShapeType="1" noTextEdit="1"/>
              </p:cNvSpPr>
              <p:nvPr>
                <p:ph type="title"/>
              </p:nvPr>
            </p:nvSpPr>
            <p:spPr>
              <a:xfrm>
                <a:off x="1046480" y="806450"/>
                <a:ext cx="5291455" cy="511810"/>
              </a:xfrm>
              <a:blipFill rotWithShape="1">
                <a:blip r:embed="rId2"/>
                <a:stretch>
                  <a:fillRect t="-6700" r="-2412"/>
                </a:stretch>
              </a:blipFill>
            </p:spPr>
            <p:txBody>
              <a:bodyPr/>
              <a:lstStyle/>
              <a:p>
                <a:r>
                  <a:rPr lang="zh-CN" altLang="en-US">
                    <a:noFill/>
                  </a:rPr>
                  <a:t> </a:t>
                </a:r>
              </a:p>
            </p:txBody>
          </p:sp>
        </mc:Fallback>
      </mc:AlternateContent>
      <p:sp>
        <p:nvSpPr>
          <p:cNvPr id="103432" name="Text Box 8"/>
          <p:cNvSpPr txBox="1">
            <a:spLocks noChangeArrowheads="1"/>
          </p:cNvSpPr>
          <p:nvPr/>
        </p:nvSpPr>
        <p:spPr bwMode="auto">
          <a:xfrm>
            <a:off x="1835044" y="2248943"/>
            <a:ext cx="2128660"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b="1" dirty="0">
                <a:solidFill>
                  <a:srgbClr val="04926A"/>
                </a:solidFill>
                <a:latin typeface="微软雅黑" panose="020B0503020204020204" charset="-122"/>
                <a:ea typeface="微软雅黑" panose="020B0503020204020204" charset="-122"/>
              </a:rPr>
              <a:t>解</a:t>
            </a:r>
            <a:r>
              <a:rPr kumimoji="1" lang="en-US" altLang="zh-CN" sz="2800" b="1" dirty="0">
                <a:solidFill>
                  <a:srgbClr val="04926A"/>
                </a:solidFill>
                <a:latin typeface="微软雅黑" panose="020B0503020204020204" charset="-122"/>
                <a:ea typeface="微软雅黑" panose="020B0503020204020204" charset="-122"/>
              </a:rPr>
              <a:t> </a:t>
            </a:r>
            <a:r>
              <a:rPr kumimoji="1" lang="en-US" altLang="zh-CN" sz="2800" b="1" i="0" u="none" strike="noStrike" kern="1200" cap="none" spc="0" normalizeH="0" baseline="0" noProof="0" dirty="0">
                <a:ln>
                  <a:noFill/>
                </a:ln>
                <a:solidFill>
                  <a:srgbClr val="242852"/>
                </a:solidFill>
                <a:effectLst/>
                <a:uLnTx/>
                <a:uFillTx/>
                <a:latin typeface="Times New Roman" panose="02020603050405020304" pitchFamily="18" charset="0"/>
                <a:ea typeface="黑体" panose="02010609060101010101" pitchFamily="49" charset="-122"/>
              </a:rPr>
              <a:t>       </a:t>
            </a:r>
            <a:r>
              <a:rPr kumimoji="1" lang="zh-CN" altLang="en-US" sz="22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rPr>
              <a:t>已知</a:t>
            </a:r>
            <a:endParaRPr kumimoji="1" lang="zh-CN" altLang="en-US" sz="22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endParaRPr>
          </a:p>
        </p:txBody>
      </p:sp>
      <p:sp>
        <p:nvSpPr>
          <p:cNvPr id="103437" name="Text Box 13"/>
          <p:cNvSpPr txBox="1">
            <a:spLocks noChangeArrowheads="1"/>
          </p:cNvSpPr>
          <p:nvPr/>
        </p:nvSpPr>
        <p:spPr bwMode="auto">
          <a:xfrm>
            <a:off x="3065411" y="1420551"/>
            <a:ext cx="16065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rPr>
              <a:t>角依次为</a:t>
            </a:r>
            <a:endParaRPr kumimoji="1"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endParaRPr>
          </a:p>
        </p:txBody>
      </p:sp>
      <mc:AlternateContent xmlns:mc="http://schemas.openxmlformats.org/markup-compatibility/2006">
        <mc:Choice xmlns:a14="http://schemas.microsoft.com/office/drawing/2010/main" Requires="a14">
          <p:sp>
            <p:nvSpPr>
              <p:cNvPr id="103438" name="Object 14"/>
              <p:cNvSpPr txBox="1"/>
              <p:nvPr/>
            </p:nvSpPr>
            <p:spPr bwMode="auto">
              <a:xfrm>
                <a:off x="4565781" y="1250523"/>
                <a:ext cx="1137679" cy="988240"/>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f>
                        <m:fPr>
                          <m:ctrlPr>
                            <a:rPr lang="zh-CN" altLang="en-US" sz="2800" i="1">
                              <a:solidFill>
                                <a:srgbClr val="000000"/>
                              </a:solidFill>
                              <a:latin typeface="Cambria Math" panose="02040503050406030204" charset="0"/>
                            </a:rPr>
                          </m:ctrlPr>
                        </m:fPr>
                        <m:num>
                          <m:r>
                            <m:rPr>
                              <m:sty m:val="p"/>
                            </m:rPr>
                            <a:rPr lang="zh-CN" altLang="en-US" sz="2800" i="0">
                              <a:solidFill>
                                <a:srgbClr val="000000"/>
                              </a:solidFill>
                              <a:latin typeface="Cambria Math" panose="02040503050406030204" charset="0"/>
                            </a:rPr>
                            <m:t>π</m:t>
                          </m:r>
                        </m:num>
                        <m:den>
                          <m:r>
                            <a:rPr lang="zh-CN" altLang="en-US" sz="2800" i="1">
                              <a:solidFill>
                                <a:srgbClr val="000000"/>
                              </a:solidFill>
                              <a:latin typeface="Cambria Math" panose="02040503050406030204" charset="0"/>
                            </a:rPr>
                            <m:t>3</m:t>
                          </m:r>
                        </m:den>
                      </m:f>
                      <m:r>
                        <a:rPr lang="zh-CN" altLang="en-US" sz="2800" i="1">
                          <a:solidFill>
                            <a:srgbClr val="000000"/>
                          </a:solidFill>
                          <a:latin typeface="Cambria Math" panose="02040503050406030204" charset="0"/>
                        </a:rPr>
                        <m:t>, </m:t>
                      </m:r>
                      <m:f>
                        <m:fPr>
                          <m:ctrlPr>
                            <a:rPr lang="zh-CN" altLang="en-US" sz="2800" i="1">
                              <a:solidFill>
                                <a:srgbClr val="000000"/>
                              </a:solidFill>
                              <a:latin typeface="Cambria Math" panose="02040503050406030204" charset="0"/>
                            </a:rPr>
                          </m:ctrlPr>
                        </m:fPr>
                        <m:num>
                          <m:r>
                            <m:rPr>
                              <m:sty m:val="p"/>
                            </m:rPr>
                            <a:rPr lang="zh-CN" altLang="en-US" sz="2800" i="0">
                              <a:solidFill>
                                <a:srgbClr val="000000"/>
                              </a:solidFill>
                              <a:latin typeface="Cambria Math" panose="02040503050406030204" charset="0"/>
                            </a:rPr>
                            <m:t>π</m:t>
                          </m:r>
                        </m:num>
                        <m:den>
                          <m:r>
                            <a:rPr lang="zh-CN" altLang="en-US" sz="2800" i="1">
                              <a:solidFill>
                                <a:srgbClr val="000000"/>
                              </a:solidFill>
                              <a:latin typeface="Cambria Math" panose="02040503050406030204" charset="0"/>
                            </a:rPr>
                            <m:t>4</m:t>
                          </m:r>
                        </m:den>
                      </m:f>
                      <m:r>
                        <a:rPr lang="zh-CN" altLang="en-US" sz="2800" i="1">
                          <a:solidFill>
                            <a:srgbClr val="000000"/>
                          </a:solidFill>
                          <a:latin typeface="Cambria Math" panose="02040503050406030204" charset="0"/>
                        </a:rPr>
                        <m:t>,</m:t>
                      </m:r>
                    </m:oMath>
                  </m:oMathPara>
                </a14:m>
                <a:endParaRPr lang="zh-CN" altLang="en-US" sz="2800" dirty="0"/>
              </a:p>
            </p:txBody>
          </p:sp>
        </mc:Choice>
        <mc:Fallback>
          <p:sp>
            <p:nvSpPr>
              <p:cNvPr id="103438" name="Object 14"/>
              <p:cNvSpPr txBox="1">
                <a:spLocks noRot="1" noChangeAspect="1" noMove="1" noResize="1" noEditPoints="1" noAdjustHandles="1" noChangeArrowheads="1" noChangeShapeType="1" noTextEdit="1"/>
              </p:cNvSpPr>
              <p:nvPr/>
            </p:nvSpPr>
            <p:spPr bwMode="auto">
              <a:xfrm>
                <a:off x="4565781" y="1250523"/>
                <a:ext cx="1137679" cy="988240"/>
              </a:xfrm>
              <a:prstGeom prst="rect">
                <a:avLst/>
              </a:prstGeom>
              <a:blipFill rotWithShape="1">
                <a:blip r:embed="rId3"/>
                <a:stretch>
                  <a:fillRect l="-12" t="-21" r="46" b="39"/>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3441" name="Text Box 17"/>
              <p:cNvSpPr txBox="1">
                <a:spLocks noChangeArrowheads="1"/>
              </p:cNvSpPr>
              <p:nvPr/>
            </p:nvSpPr>
            <p:spPr bwMode="auto">
              <a:xfrm>
                <a:off x="7357491" y="1440086"/>
                <a:ext cx="248048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0" eaLnBrk="0" fontAlgn="base" hangingPunct="0">
                  <a:spcBef>
                    <a:spcPct val="0"/>
                  </a:spcBef>
                  <a:spcAft>
                    <a:spcPct val="0"/>
                  </a:spcAft>
                  <a:defRPr/>
                </a:pPr>
                <a:r>
                  <a:rPr kumimoji="1"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rPr>
                  <a:t>求点</a:t>
                </a:r>
                <a14:m>
                  <m:oMath xmlns:m="http://schemas.openxmlformats.org/officeDocument/2006/math">
                    <m:r>
                      <a:rPr lang="en-US" altLang="zh-CN" sz="2800" i="1">
                        <a:latin typeface="Cambria Math" panose="02040503050406030204" charset="0"/>
                        <a:cs typeface="Times New Roman" panose="02020603050405020304" pitchFamily="18" charset="0"/>
                      </a:rPr>
                      <m:t>𝐴</m:t>
                    </m:r>
                  </m:oMath>
                </a14:m>
                <a:r>
                  <a:rPr kumimoji="1"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rPr>
                  <a:t>的坐标 </a:t>
                </a:r>
                <a:r>
                  <a:rPr kumimoji="1" lang="en-US" altLang="zh-CN" sz="28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rPr>
                  <a:t>. </a:t>
                </a:r>
                <a:endParaRPr kumimoji="1" lang="en-US" altLang="zh-CN" sz="2400" b="0" i="0" u="none" strike="noStrike" kern="1200" cap="none" spc="0" normalizeH="0" baseline="0" noProof="0" dirty="0">
                  <a:ln>
                    <a:noFill/>
                  </a:ln>
                  <a:solidFill>
                    <a:srgbClr val="629DD1"/>
                  </a:solidFill>
                  <a:effectLst/>
                  <a:uLnTx/>
                  <a:uFillTx/>
                  <a:latin typeface="Times New Roman" panose="02020603050405020304" pitchFamily="18" charset="0"/>
                  <a:ea typeface="黑体" panose="02010609060101010101" pitchFamily="49" charset="-122"/>
                  <a:cs typeface="+mn-cs"/>
                </a:endParaRPr>
              </a:p>
            </p:txBody>
          </p:sp>
        </mc:Choice>
        <mc:Fallback>
          <p:sp>
            <p:nvSpPr>
              <p:cNvPr id="103441" name="Text Box 17"/>
              <p:cNvSpPr txBox="1">
                <a:spLocks noRot="1" noChangeAspect="1" noMove="1" noResize="1" noEditPoints="1" noAdjustHandles="1" noChangeArrowheads="1" noChangeShapeType="1" noTextEdit="1"/>
              </p:cNvSpPr>
              <p:nvPr/>
            </p:nvSpPr>
            <p:spPr bwMode="auto">
              <a:xfrm>
                <a:off x="7357491" y="1440086"/>
                <a:ext cx="2480487" cy="523220"/>
              </a:xfrm>
              <a:prstGeom prst="rect">
                <a:avLst/>
              </a:prstGeom>
              <a:blipFill rotWithShape="1">
                <a:blip r:embed="rId4"/>
                <a:stretch>
                  <a:fillRect l="-15" t="-103" r="-2179" b="10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3443" name="Object 19"/>
              <p:cNvSpPr txBox="1"/>
              <p:nvPr/>
            </p:nvSpPr>
            <p:spPr bwMode="auto">
              <a:xfrm>
                <a:off x="3612626" y="2209034"/>
                <a:ext cx="2026217" cy="880638"/>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lang="zh-CN" altLang="en-US" sz="2200" i="1">
                          <a:solidFill>
                            <a:srgbClr val="000000"/>
                          </a:solidFill>
                          <a:latin typeface="Cambria Math" panose="02040503050406030204" charset="0"/>
                        </a:rPr>
                        <m:t>𝛼</m:t>
                      </m:r>
                      <m:r>
                        <a:rPr lang="zh-CN" altLang="en-US" sz="2200" i="1">
                          <a:solidFill>
                            <a:srgbClr val="000000"/>
                          </a:solidFill>
                          <a:latin typeface="Cambria Math" panose="02040503050406030204" charset="0"/>
                        </a:rPr>
                        <m:t>=</m:t>
                      </m:r>
                      <m:f>
                        <m:fPr>
                          <m:ctrlPr>
                            <a:rPr lang="zh-CN" altLang="en-US" sz="2200" i="1">
                              <a:solidFill>
                                <a:srgbClr val="000000"/>
                              </a:solidFill>
                              <a:latin typeface="Cambria Math" panose="02040503050406030204" charset="0"/>
                            </a:rPr>
                          </m:ctrlPr>
                        </m:fPr>
                        <m:num>
                          <m:r>
                            <m:rPr>
                              <m:sty m:val="p"/>
                            </m:rPr>
                            <a:rPr lang="zh-CN" altLang="en-US" sz="2200" i="0">
                              <a:solidFill>
                                <a:srgbClr val="000000"/>
                              </a:solidFill>
                              <a:latin typeface="Cambria Math" panose="02040503050406030204" charset="0"/>
                            </a:rPr>
                            <m:t>π</m:t>
                          </m:r>
                        </m:num>
                        <m:den>
                          <m:r>
                            <a:rPr lang="zh-CN" altLang="en-US" sz="2200" i="1">
                              <a:solidFill>
                                <a:srgbClr val="000000"/>
                              </a:solidFill>
                              <a:latin typeface="Cambria Math" panose="02040503050406030204" charset="0"/>
                            </a:rPr>
                            <m:t>3</m:t>
                          </m:r>
                        </m:den>
                      </m:f>
                      <m:r>
                        <a:rPr lang="zh-CN" altLang="en-US" sz="2200" i="1">
                          <a:solidFill>
                            <a:srgbClr val="000000"/>
                          </a:solidFill>
                          <a:latin typeface="Cambria Math" panose="02040503050406030204" charset="0"/>
                        </a:rPr>
                        <m:t>, </m:t>
                      </m:r>
                      <m:r>
                        <a:rPr lang="zh-CN" altLang="en-US" sz="2200" i="1">
                          <a:solidFill>
                            <a:srgbClr val="000000"/>
                          </a:solidFill>
                          <a:latin typeface="Cambria Math" panose="02040503050406030204" charset="0"/>
                        </a:rPr>
                        <m:t>𝛽</m:t>
                      </m:r>
                      <m:r>
                        <a:rPr lang="zh-CN" altLang="en-US" sz="2200" i="1">
                          <a:solidFill>
                            <a:srgbClr val="000000"/>
                          </a:solidFill>
                          <a:latin typeface="Cambria Math" panose="02040503050406030204" charset="0"/>
                        </a:rPr>
                        <m:t>=</m:t>
                      </m:r>
                      <m:f>
                        <m:fPr>
                          <m:ctrlPr>
                            <a:rPr lang="zh-CN" altLang="en-US" sz="2200" i="1">
                              <a:solidFill>
                                <a:srgbClr val="000000"/>
                              </a:solidFill>
                              <a:latin typeface="Cambria Math" panose="02040503050406030204" charset="0"/>
                            </a:rPr>
                          </m:ctrlPr>
                        </m:fPr>
                        <m:num>
                          <m:r>
                            <m:rPr>
                              <m:sty m:val="p"/>
                            </m:rPr>
                            <a:rPr lang="zh-CN" altLang="en-US" sz="2200" i="0">
                              <a:solidFill>
                                <a:srgbClr val="000000"/>
                              </a:solidFill>
                              <a:latin typeface="Cambria Math" panose="02040503050406030204" charset="0"/>
                            </a:rPr>
                            <m:t>π</m:t>
                          </m:r>
                        </m:num>
                        <m:den>
                          <m:r>
                            <a:rPr lang="zh-CN" altLang="en-US" sz="2200" i="1">
                              <a:solidFill>
                                <a:srgbClr val="000000"/>
                              </a:solidFill>
                              <a:latin typeface="Cambria Math" panose="02040503050406030204" charset="0"/>
                            </a:rPr>
                            <m:t>4</m:t>
                          </m:r>
                        </m:den>
                      </m:f>
                      <m:r>
                        <a:rPr lang="zh-CN" altLang="en-US" sz="2200" i="1">
                          <a:solidFill>
                            <a:srgbClr val="000000"/>
                          </a:solidFill>
                          <a:latin typeface="Cambria Math" panose="02040503050406030204" charset="0"/>
                        </a:rPr>
                        <m:t>,</m:t>
                      </m:r>
                    </m:oMath>
                  </m:oMathPara>
                </a14:m>
                <a:endParaRPr lang="zh-CN" altLang="en-US" sz="2200" dirty="0"/>
              </a:p>
            </p:txBody>
          </p:sp>
        </mc:Choice>
        <mc:Fallback>
          <p:sp>
            <p:nvSpPr>
              <p:cNvPr id="103443" name="Object 19"/>
              <p:cNvSpPr txBox="1">
                <a:spLocks noRot="1" noChangeAspect="1" noMove="1" noResize="1" noEditPoints="1" noAdjustHandles="1" noChangeArrowheads="1" noChangeShapeType="1" noTextEdit="1"/>
              </p:cNvSpPr>
              <p:nvPr/>
            </p:nvSpPr>
            <p:spPr bwMode="auto">
              <a:xfrm>
                <a:off x="3612626" y="2209034"/>
                <a:ext cx="2026217" cy="880638"/>
              </a:xfrm>
              <a:prstGeom prst="rect">
                <a:avLst/>
              </a:prstGeom>
              <a:blipFill rotWithShape="1">
                <a:blip r:embed="rId5"/>
                <a:stretch>
                  <a:fillRect l="-5" t="-57" r="2" b="45"/>
                </a:stretch>
              </a:blipFill>
              <a:ln>
                <a:noFill/>
              </a:ln>
              <a:effectLst/>
            </p:spPr>
            <p:txBody>
              <a:bodyPr/>
              <a:lstStyle/>
              <a:p>
                <a:r>
                  <a:rPr lang="zh-CN" altLang="en-US">
                    <a:noFill/>
                  </a:rPr>
                  <a:t> </a:t>
                </a:r>
              </a:p>
            </p:txBody>
          </p:sp>
        </mc:Fallback>
      </mc:AlternateContent>
      <p:sp>
        <p:nvSpPr>
          <p:cNvPr id="103444" name="Text Box 20"/>
          <p:cNvSpPr txBox="1">
            <a:spLocks noChangeArrowheads="1"/>
          </p:cNvSpPr>
          <p:nvPr/>
        </p:nvSpPr>
        <p:spPr bwMode="auto">
          <a:xfrm>
            <a:off x="5523704" y="2381639"/>
            <a:ext cx="466794"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2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rPr>
              <a:t>则</a:t>
            </a:r>
            <a:endParaRPr kumimoji="1" lang="zh-CN" altLang="en-US" sz="22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endParaRPr>
          </a:p>
        </p:txBody>
      </p:sp>
      <mc:AlternateContent xmlns:mc="http://schemas.openxmlformats.org/markup-compatibility/2006">
        <mc:Choice xmlns:a14="http://schemas.microsoft.com/office/drawing/2010/main" Requires="a14">
          <p:sp>
            <p:nvSpPr>
              <p:cNvPr id="103445" name="Object 21"/>
              <p:cNvSpPr txBox="1"/>
              <p:nvPr/>
            </p:nvSpPr>
            <p:spPr bwMode="auto">
              <a:xfrm>
                <a:off x="3593141" y="2993283"/>
                <a:ext cx="3651067" cy="506413"/>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func>
                        <m:funcPr>
                          <m:ctrlPr>
                            <a:rPr lang="zh-CN" altLang="en-US" sz="2200" i="1">
                              <a:solidFill>
                                <a:srgbClr val="000000"/>
                              </a:solidFill>
                              <a:latin typeface="Cambria Math" panose="02040503050406030204" charset="0"/>
                            </a:rPr>
                          </m:ctrlPr>
                        </m:funcPr>
                        <m:fName>
                          <m:sSup>
                            <m:sSupPr>
                              <m:ctrlPr>
                                <a:rPr lang="zh-CN" altLang="en-US" sz="2200" i="1">
                                  <a:solidFill>
                                    <a:srgbClr val="000000"/>
                                  </a:solidFill>
                                  <a:latin typeface="Cambria Math" panose="02040503050406030204" charset="0"/>
                                </a:rPr>
                              </m:ctrlPr>
                            </m:sSupPr>
                            <m:e>
                              <m:r>
                                <m:rPr>
                                  <m:sty m:val="p"/>
                                </m:rPr>
                                <a:rPr lang="zh-CN" altLang="en-US" sz="2200" i="0">
                                  <a:solidFill>
                                    <a:srgbClr val="000000"/>
                                  </a:solidFill>
                                  <a:latin typeface="Cambria Math" panose="02040503050406030204" charset="0"/>
                                </a:rPr>
                                <m:t>cos</m:t>
                              </m:r>
                            </m:e>
                            <m:sup>
                              <m:r>
                                <a:rPr lang="zh-CN" altLang="en-US" sz="2200" i="1">
                                  <a:solidFill>
                                    <a:srgbClr val="000000"/>
                                  </a:solidFill>
                                  <a:latin typeface="Cambria Math" panose="02040503050406030204" charset="0"/>
                                </a:rPr>
                                <m:t>2</m:t>
                              </m:r>
                            </m:sup>
                          </m:sSup>
                        </m:fName>
                        <m:e>
                          <m:r>
                            <a:rPr lang="zh-CN" altLang="en-US" sz="2200" i="1">
                              <a:solidFill>
                                <a:srgbClr val="000000"/>
                              </a:solidFill>
                              <a:latin typeface="Cambria Math" panose="02040503050406030204" charset="0"/>
                            </a:rPr>
                            <m:t>𝛾</m:t>
                          </m:r>
                        </m:e>
                      </m:func>
                      <m:r>
                        <a:rPr lang="zh-CN" altLang="en-US" sz="2200" i="1">
                          <a:solidFill>
                            <a:srgbClr val="000000"/>
                          </a:solidFill>
                          <a:latin typeface="Cambria Math" panose="02040503050406030204" charset="0"/>
                        </a:rPr>
                        <m:t>=</m:t>
                      </m:r>
                      <m:r>
                        <a:rPr lang="zh-CN" altLang="en-US" sz="2200" i="1">
                          <a:solidFill>
                            <a:srgbClr val="000000"/>
                          </a:solidFill>
                          <a:latin typeface="Cambria Math" panose="02040503050406030204" charset="0"/>
                        </a:rPr>
                        <m:t>1</m:t>
                      </m:r>
                      <m:r>
                        <a:rPr lang="zh-CN" altLang="en-US" sz="2200" i="1">
                          <a:solidFill>
                            <a:srgbClr val="000000"/>
                          </a:solidFill>
                          <a:latin typeface="Cambria Math" panose="02040503050406030204" charset="0"/>
                        </a:rPr>
                        <m:t>−</m:t>
                      </m:r>
                      <m:func>
                        <m:funcPr>
                          <m:ctrlPr>
                            <a:rPr lang="zh-CN" altLang="en-US" sz="2200" i="1">
                              <a:solidFill>
                                <a:srgbClr val="000000"/>
                              </a:solidFill>
                              <a:latin typeface="Cambria Math" panose="02040503050406030204" charset="0"/>
                            </a:rPr>
                          </m:ctrlPr>
                        </m:funcPr>
                        <m:fName>
                          <m:sSup>
                            <m:sSupPr>
                              <m:ctrlPr>
                                <a:rPr lang="zh-CN" altLang="en-US" sz="2200" i="1">
                                  <a:solidFill>
                                    <a:srgbClr val="000000"/>
                                  </a:solidFill>
                                  <a:latin typeface="Cambria Math" panose="02040503050406030204" charset="0"/>
                                </a:rPr>
                              </m:ctrlPr>
                            </m:sSupPr>
                            <m:e>
                              <m:r>
                                <m:rPr>
                                  <m:sty m:val="p"/>
                                </m:rPr>
                                <a:rPr lang="zh-CN" altLang="en-US" sz="2200" i="0">
                                  <a:solidFill>
                                    <a:srgbClr val="000000"/>
                                  </a:solidFill>
                                  <a:latin typeface="Cambria Math" panose="02040503050406030204" charset="0"/>
                                </a:rPr>
                                <m:t>cos</m:t>
                              </m:r>
                            </m:e>
                            <m:sup>
                              <m:r>
                                <a:rPr lang="zh-CN" altLang="en-US" sz="2200" i="1">
                                  <a:solidFill>
                                    <a:srgbClr val="000000"/>
                                  </a:solidFill>
                                  <a:latin typeface="Cambria Math" panose="02040503050406030204" charset="0"/>
                                </a:rPr>
                                <m:t>2</m:t>
                              </m:r>
                            </m:sup>
                          </m:sSup>
                        </m:fName>
                        <m:e>
                          <m:r>
                            <a:rPr lang="zh-CN" altLang="en-US" sz="2200" i="1">
                              <a:solidFill>
                                <a:srgbClr val="000000"/>
                              </a:solidFill>
                              <a:latin typeface="Cambria Math" panose="02040503050406030204" charset="0"/>
                            </a:rPr>
                            <m:t>𝛼</m:t>
                          </m:r>
                        </m:e>
                      </m:func>
                      <m:r>
                        <a:rPr lang="zh-CN" altLang="en-US" sz="2200" i="1">
                          <a:solidFill>
                            <a:srgbClr val="000000"/>
                          </a:solidFill>
                          <a:latin typeface="Cambria Math" panose="02040503050406030204" charset="0"/>
                        </a:rPr>
                        <m:t>−</m:t>
                      </m:r>
                      <m:func>
                        <m:funcPr>
                          <m:ctrlPr>
                            <a:rPr lang="zh-CN" altLang="en-US" sz="2200" i="1">
                              <a:solidFill>
                                <a:srgbClr val="000000"/>
                              </a:solidFill>
                              <a:latin typeface="Cambria Math" panose="02040503050406030204" charset="0"/>
                            </a:rPr>
                          </m:ctrlPr>
                        </m:funcPr>
                        <m:fName>
                          <m:sSup>
                            <m:sSupPr>
                              <m:ctrlPr>
                                <a:rPr lang="zh-CN" altLang="en-US" sz="2200" i="1">
                                  <a:solidFill>
                                    <a:srgbClr val="000000"/>
                                  </a:solidFill>
                                  <a:latin typeface="Cambria Math" panose="02040503050406030204" charset="0"/>
                                </a:rPr>
                              </m:ctrlPr>
                            </m:sSupPr>
                            <m:e>
                              <m:r>
                                <m:rPr>
                                  <m:sty m:val="p"/>
                                </m:rPr>
                                <a:rPr lang="zh-CN" altLang="en-US" sz="2200" i="0" smtClean="0">
                                  <a:solidFill>
                                    <a:srgbClr val="000000"/>
                                  </a:solidFill>
                                  <a:latin typeface="Cambria Math" panose="02040503050406030204" charset="0"/>
                                </a:rPr>
                                <m:t>cos</m:t>
                              </m:r>
                            </m:e>
                            <m:sup>
                              <m:r>
                                <a:rPr lang="zh-CN" altLang="en-US" sz="2200" i="1">
                                  <a:solidFill>
                                    <a:srgbClr val="000000"/>
                                  </a:solidFill>
                                  <a:latin typeface="Cambria Math" panose="02040503050406030204" charset="0"/>
                                </a:rPr>
                                <m:t>2</m:t>
                              </m:r>
                            </m:sup>
                          </m:sSup>
                        </m:fName>
                        <m:e>
                          <m:r>
                            <a:rPr lang="zh-CN" altLang="en-US" sz="2200" i="1">
                              <a:solidFill>
                                <a:srgbClr val="000000"/>
                              </a:solidFill>
                              <a:latin typeface="Cambria Math" panose="02040503050406030204" charset="0"/>
                            </a:rPr>
                            <m:t>𝛽</m:t>
                          </m:r>
                        </m:e>
                      </m:func>
                    </m:oMath>
                  </m:oMathPara>
                </a14:m>
                <a:endParaRPr lang="zh-CN" altLang="en-US" sz="2200" dirty="0"/>
              </a:p>
            </p:txBody>
          </p:sp>
        </mc:Choice>
        <mc:Fallback>
          <p:sp>
            <p:nvSpPr>
              <p:cNvPr id="103445" name="Object 21"/>
              <p:cNvSpPr txBox="1">
                <a:spLocks noRot="1" noChangeAspect="1" noMove="1" noResize="1" noEditPoints="1" noAdjustHandles="1" noChangeArrowheads="1" noChangeShapeType="1" noTextEdit="1"/>
              </p:cNvSpPr>
              <p:nvPr/>
            </p:nvSpPr>
            <p:spPr bwMode="auto">
              <a:xfrm>
                <a:off x="3593141" y="2993283"/>
                <a:ext cx="3651067" cy="506413"/>
              </a:xfrm>
              <a:prstGeom prst="rect">
                <a:avLst/>
              </a:prstGeom>
              <a:blipFill rotWithShape="1">
                <a:blip r:embed="rId6"/>
                <a:stretch>
                  <a:fillRect l="-9" t="-104" r="4" b="42"/>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3446" name="Object 22"/>
              <p:cNvSpPr txBox="1"/>
              <p:nvPr/>
            </p:nvSpPr>
            <p:spPr bwMode="auto">
              <a:xfrm>
                <a:off x="7044463" y="2837252"/>
                <a:ext cx="1170852" cy="959526"/>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lang="zh-CN" altLang="en-US" sz="2200" i="1">
                          <a:solidFill>
                            <a:srgbClr val="000000"/>
                          </a:solidFill>
                          <a:latin typeface="Cambria Math" panose="02040503050406030204" charset="0"/>
                        </a:rPr>
                        <m:t>=</m:t>
                      </m:r>
                      <m:f>
                        <m:fPr>
                          <m:ctrlPr>
                            <a:rPr lang="zh-CN" altLang="en-US" sz="2200" i="1">
                              <a:solidFill>
                                <a:srgbClr val="000000"/>
                              </a:solidFill>
                              <a:latin typeface="Cambria Math" panose="02040503050406030204" charset="0"/>
                            </a:rPr>
                          </m:ctrlPr>
                        </m:fPr>
                        <m:num>
                          <m:r>
                            <a:rPr lang="zh-CN" altLang="en-US" sz="2200" i="1">
                              <a:solidFill>
                                <a:srgbClr val="000000"/>
                              </a:solidFill>
                              <a:latin typeface="Cambria Math" panose="02040503050406030204" charset="0"/>
                            </a:rPr>
                            <m:t>1</m:t>
                          </m:r>
                        </m:num>
                        <m:den>
                          <m:r>
                            <a:rPr lang="zh-CN" altLang="en-US" sz="2200" i="1">
                              <a:solidFill>
                                <a:srgbClr val="000000"/>
                              </a:solidFill>
                              <a:latin typeface="Cambria Math" panose="02040503050406030204" charset="0"/>
                            </a:rPr>
                            <m:t>4</m:t>
                          </m:r>
                        </m:den>
                      </m:f>
                    </m:oMath>
                  </m:oMathPara>
                </a14:m>
                <a:endParaRPr lang="zh-CN" altLang="en-US" sz="2200" dirty="0"/>
              </a:p>
            </p:txBody>
          </p:sp>
        </mc:Choice>
        <mc:Fallback>
          <p:sp>
            <p:nvSpPr>
              <p:cNvPr id="103446" name="Object 22"/>
              <p:cNvSpPr txBox="1">
                <a:spLocks noRot="1" noChangeAspect="1" noMove="1" noResize="1" noEditPoints="1" noAdjustHandles="1" noChangeArrowheads="1" noChangeShapeType="1" noTextEdit="1"/>
              </p:cNvSpPr>
              <p:nvPr/>
            </p:nvSpPr>
            <p:spPr bwMode="auto">
              <a:xfrm>
                <a:off x="7044463" y="2837252"/>
                <a:ext cx="1170852" cy="959526"/>
              </a:xfrm>
              <a:prstGeom prst="rect">
                <a:avLst/>
              </a:prstGeom>
              <a:blipFill rotWithShape="1">
                <a:blip r:embed="rId7"/>
                <a:stretch>
                  <a:fillRect l="-35" t="-8" r="27" b="12"/>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3447" name="Text Box 23"/>
              <p:cNvSpPr txBox="1">
                <a:spLocks noChangeArrowheads="1"/>
              </p:cNvSpPr>
              <p:nvPr/>
            </p:nvSpPr>
            <p:spPr bwMode="auto">
              <a:xfrm>
                <a:off x="2991970" y="3809244"/>
                <a:ext cx="248132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0" eaLnBrk="0" fontAlgn="base" hangingPunct="0">
                  <a:spcBef>
                    <a:spcPct val="0"/>
                  </a:spcBef>
                  <a:spcAft>
                    <a:spcPct val="0"/>
                  </a:spcAft>
                  <a:defRPr/>
                </a:pPr>
                <a:r>
                  <a:rPr kumimoji="1" lang="zh-CN" altLang="en-US" sz="22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rPr>
                  <a:t>因点</a:t>
                </a:r>
                <a14:m>
                  <m:oMath xmlns:m="http://schemas.openxmlformats.org/officeDocument/2006/math">
                    <m:r>
                      <a:rPr lang="en-US" altLang="zh-CN" sz="2200" i="1">
                        <a:latin typeface="Cambria Math" panose="02040503050406030204" charset="0"/>
                        <a:cs typeface="Times New Roman" panose="02020603050405020304" pitchFamily="18" charset="0"/>
                      </a:rPr>
                      <m:t>𝐴</m:t>
                    </m:r>
                  </m:oMath>
                </a14:m>
                <a:r>
                  <a:rPr kumimoji="1" lang="zh-CN" altLang="en-US" sz="22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rPr>
                  <a:t>在第一卦限 </a:t>
                </a:r>
                <a:r>
                  <a:rPr kumimoji="1" lang="en-US" altLang="zh-CN" sz="22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rPr>
                  <a:t>,</a:t>
                </a:r>
                <a:endParaRPr kumimoji="1" lang="en-US" altLang="zh-CN" sz="22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endParaRPr>
              </a:p>
            </p:txBody>
          </p:sp>
        </mc:Choice>
        <mc:Fallback>
          <p:sp>
            <p:nvSpPr>
              <p:cNvPr id="103447" name="Text Box 23"/>
              <p:cNvSpPr txBox="1">
                <a:spLocks noRot="1" noChangeAspect="1" noMove="1" noResize="1" noEditPoints="1" noAdjustHandles="1" noChangeArrowheads="1" noChangeShapeType="1" noTextEdit="1"/>
              </p:cNvSpPr>
              <p:nvPr/>
            </p:nvSpPr>
            <p:spPr bwMode="auto">
              <a:xfrm>
                <a:off x="2991970" y="3809244"/>
                <a:ext cx="2481320" cy="430887"/>
              </a:xfrm>
              <a:prstGeom prst="rect">
                <a:avLst/>
              </a:prstGeom>
              <a:blipFill rotWithShape="1">
                <a:blip r:embed="rId8"/>
                <a:stretch>
                  <a:fillRect l="-20" t="-119" r="9" b="5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03448" name="Text Box 24"/>
          <p:cNvSpPr txBox="1">
            <a:spLocks noChangeArrowheads="1"/>
          </p:cNvSpPr>
          <p:nvPr/>
        </p:nvSpPr>
        <p:spPr bwMode="auto">
          <a:xfrm>
            <a:off x="5458318" y="3783217"/>
            <a:ext cx="466794"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2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rPr>
              <a:t>故</a:t>
            </a:r>
            <a:endParaRPr kumimoji="1" lang="zh-CN" altLang="en-US" sz="22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endParaRPr>
          </a:p>
        </p:txBody>
      </p:sp>
      <mc:AlternateContent xmlns:mc="http://schemas.openxmlformats.org/markup-compatibility/2006">
        <mc:Choice xmlns:a14="http://schemas.microsoft.com/office/drawing/2010/main" Requires="a14">
          <p:sp>
            <p:nvSpPr>
              <p:cNvPr id="103449" name="Object 25"/>
              <p:cNvSpPr txBox="1"/>
              <p:nvPr/>
            </p:nvSpPr>
            <p:spPr bwMode="auto">
              <a:xfrm>
                <a:off x="5787668" y="3575701"/>
                <a:ext cx="2178646" cy="890610"/>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func>
                        <m:funcPr>
                          <m:ctrlPr>
                            <a:rPr lang="zh-CN" altLang="en-US" sz="2200" i="1">
                              <a:solidFill>
                                <a:srgbClr val="000000"/>
                              </a:solidFill>
                              <a:latin typeface="Cambria Math" panose="02040503050406030204" charset="0"/>
                            </a:rPr>
                          </m:ctrlPr>
                        </m:funcPr>
                        <m:fName>
                          <m:r>
                            <m:rPr>
                              <m:sty m:val="p"/>
                            </m:rPr>
                            <a:rPr lang="zh-CN" altLang="en-US" sz="2200" i="0">
                              <a:solidFill>
                                <a:srgbClr val="000000"/>
                              </a:solidFill>
                              <a:latin typeface="Cambria Math" panose="02040503050406030204" charset="0"/>
                            </a:rPr>
                            <m:t>cos</m:t>
                          </m:r>
                        </m:fName>
                        <m:e>
                          <m:r>
                            <a:rPr lang="zh-CN" altLang="en-US" sz="2200" i="1">
                              <a:solidFill>
                                <a:srgbClr val="000000"/>
                              </a:solidFill>
                              <a:latin typeface="Cambria Math" panose="02040503050406030204" charset="0"/>
                            </a:rPr>
                            <m:t>𝛾</m:t>
                          </m:r>
                        </m:e>
                      </m:func>
                      <m:r>
                        <a:rPr lang="zh-CN" altLang="en-US" sz="2200" i="1">
                          <a:solidFill>
                            <a:srgbClr val="000000"/>
                          </a:solidFill>
                          <a:latin typeface="Cambria Math" panose="02040503050406030204" charset="0"/>
                        </a:rPr>
                        <m:t>=</m:t>
                      </m:r>
                      <m:f>
                        <m:fPr>
                          <m:ctrlPr>
                            <a:rPr lang="zh-CN" altLang="en-US" sz="2200" i="1">
                              <a:solidFill>
                                <a:srgbClr val="000000"/>
                              </a:solidFill>
                              <a:latin typeface="Cambria Math" panose="02040503050406030204" charset="0"/>
                            </a:rPr>
                          </m:ctrlPr>
                        </m:fPr>
                        <m:num>
                          <m:r>
                            <a:rPr lang="zh-CN" altLang="en-US" sz="2200" i="1">
                              <a:solidFill>
                                <a:srgbClr val="000000"/>
                              </a:solidFill>
                              <a:latin typeface="Cambria Math" panose="02040503050406030204" charset="0"/>
                            </a:rPr>
                            <m:t>1</m:t>
                          </m:r>
                        </m:num>
                        <m:den>
                          <m:r>
                            <a:rPr lang="zh-CN" altLang="en-US" sz="2200" i="1">
                              <a:solidFill>
                                <a:srgbClr val="000000"/>
                              </a:solidFill>
                              <a:latin typeface="Cambria Math" panose="02040503050406030204" charset="0"/>
                            </a:rPr>
                            <m:t>2</m:t>
                          </m:r>
                        </m:den>
                      </m:f>
                      <m:r>
                        <a:rPr lang="zh-CN" altLang="en-US" sz="2200" i="1">
                          <a:solidFill>
                            <a:srgbClr val="000000"/>
                          </a:solidFill>
                          <a:latin typeface="Cambria Math" panose="02040503050406030204" charset="0"/>
                        </a:rPr>
                        <m:t>,</m:t>
                      </m:r>
                    </m:oMath>
                  </m:oMathPara>
                </a14:m>
                <a:endParaRPr lang="zh-CN" altLang="en-US" sz="2200" dirty="0"/>
              </a:p>
            </p:txBody>
          </p:sp>
        </mc:Choice>
        <mc:Fallback>
          <p:sp>
            <p:nvSpPr>
              <p:cNvPr id="103449" name="Object 25"/>
              <p:cNvSpPr txBox="1">
                <a:spLocks noRot="1" noChangeAspect="1" noMove="1" noResize="1" noEditPoints="1" noAdjustHandles="1" noChangeArrowheads="1" noChangeShapeType="1" noTextEdit="1"/>
              </p:cNvSpPr>
              <p:nvPr/>
            </p:nvSpPr>
            <p:spPr bwMode="auto">
              <a:xfrm>
                <a:off x="5787668" y="3575701"/>
                <a:ext cx="2178646" cy="890610"/>
              </a:xfrm>
              <a:prstGeom prst="rect">
                <a:avLst/>
              </a:prstGeom>
              <a:blipFill rotWithShape="1">
                <a:blip r:embed="rId9"/>
                <a:stretch>
                  <a:fillRect l="-13" t="-2" r="11" b="40"/>
                </a:stretch>
              </a:blipFill>
              <a:ln>
                <a:noFill/>
              </a:ln>
              <a:effectLst/>
            </p:spPr>
            <p:txBody>
              <a:bodyPr/>
              <a:lstStyle/>
              <a:p>
                <a:r>
                  <a:rPr lang="zh-CN" altLang="en-US">
                    <a:noFill/>
                  </a:rPr>
                  <a:t> </a:t>
                </a:r>
              </a:p>
            </p:txBody>
          </p:sp>
        </mc:Fallback>
      </mc:AlternateContent>
      <p:sp>
        <p:nvSpPr>
          <p:cNvPr id="103450" name="Text Box 26"/>
          <p:cNvSpPr txBox="1">
            <a:spLocks noChangeArrowheads="1"/>
          </p:cNvSpPr>
          <p:nvPr/>
        </p:nvSpPr>
        <p:spPr bwMode="auto">
          <a:xfrm>
            <a:off x="7098812" y="3802454"/>
            <a:ext cx="748923"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2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rPr>
              <a:t>于是</a:t>
            </a:r>
            <a:endParaRPr kumimoji="1" lang="zh-CN" altLang="en-US" sz="22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endParaRPr>
          </a:p>
        </p:txBody>
      </p:sp>
      <mc:AlternateContent xmlns:mc="http://schemas.openxmlformats.org/markup-compatibility/2006">
        <mc:Choice xmlns:a14="http://schemas.microsoft.com/office/drawing/2010/main" Requires="a14">
          <p:sp>
            <p:nvSpPr>
              <p:cNvPr id="103453" name="Object 29"/>
              <p:cNvSpPr txBox="1"/>
              <p:nvPr/>
            </p:nvSpPr>
            <p:spPr bwMode="auto">
              <a:xfrm>
                <a:off x="5638800" y="4659218"/>
                <a:ext cx="906578" cy="565124"/>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lang="zh-CN" altLang="en-US" sz="2200" i="1">
                          <a:solidFill>
                            <a:srgbClr val="000000"/>
                          </a:solidFill>
                          <a:latin typeface="Cambria Math" panose="02040503050406030204" charset="0"/>
                        </a:rPr>
                        <m:t>=</m:t>
                      </m:r>
                      <m:r>
                        <a:rPr lang="zh-CN" altLang="en-US" sz="2200" i="1">
                          <a:solidFill>
                            <a:srgbClr val="000000"/>
                          </a:solidFill>
                          <a:latin typeface="Cambria Math" panose="02040503050406030204" charset="0"/>
                        </a:rPr>
                        <m:t>6</m:t>
                      </m:r>
                      <m:r>
                        <a:rPr lang="zh-CN" altLang="en-US" sz="2200" i="1">
                          <a:solidFill>
                            <a:srgbClr val="000000"/>
                          </a:solidFill>
                          <a:latin typeface="Cambria Math" panose="02040503050406030204" charset="0"/>
                        </a:rPr>
                        <m:t>(</m:t>
                      </m:r>
                    </m:oMath>
                  </m:oMathPara>
                </a14:m>
                <a:endParaRPr lang="zh-CN" altLang="en-US" sz="2200" dirty="0"/>
              </a:p>
            </p:txBody>
          </p:sp>
        </mc:Choice>
        <mc:Fallback>
          <p:sp>
            <p:nvSpPr>
              <p:cNvPr id="103453" name="Object 29"/>
              <p:cNvSpPr txBox="1">
                <a:spLocks noRot="1" noChangeAspect="1" noMove="1" noResize="1" noEditPoints="1" noAdjustHandles="1" noChangeArrowheads="1" noChangeShapeType="1" noTextEdit="1"/>
              </p:cNvSpPr>
              <p:nvPr/>
            </p:nvSpPr>
            <p:spPr bwMode="auto">
              <a:xfrm>
                <a:off x="5638800" y="4659218"/>
                <a:ext cx="906578" cy="565124"/>
              </a:xfrm>
              <a:prstGeom prst="rect">
                <a:avLst/>
              </a:prstGeom>
              <a:blipFill rotWithShape="1">
                <a:blip r:embed="rId10"/>
                <a:stretch>
                  <a:fillRect t="-39" r="48" b="35"/>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3454" name="Object 30"/>
              <p:cNvSpPr txBox="1"/>
              <p:nvPr/>
            </p:nvSpPr>
            <p:spPr bwMode="auto">
              <a:xfrm>
                <a:off x="6263369" y="4506268"/>
                <a:ext cx="428787" cy="717352"/>
              </a:xfrm>
              <a:prstGeom prst="rect">
                <a:avLst/>
              </a:prstGeom>
              <a:noFill/>
              <a:ln>
                <a:noFill/>
              </a:ln>
              <a:effectLst/>
            </p:spPr>
            <p:txBody>
              <a:bodyPr>
                <a:normAutofit fontScale="92500"/>
              </a:bodyPr>
              <a:lstStyle/>
              <a:p>
                <a14:m>
                  <m:oMathPara xmlns:m="http://schemas.openxmlformats.org/officeDocument/2006/math">
                    <m:oMathParaPr>
                      <m:jc m:val="left"/>
                    </m:oMathParaPr>
                    <m:oMath xmlns:m="http://schemas.openxmlformats.org/officeDocument/2006/math">
                      <m:f>
                        <m:fPr>
                          <m:ctrlPr>
                            <a:rPr lang="zh-CN" altLang="en-US" sz="2200" i="1">
                              <a:solidFill>
                                <a:srgbClr val="000000"/>
                              </a:solidFill>
                              <a:latin typeface="Cambria Math" panose="02040503050406030204" charset="0"/>
                            </a:rPr>
                          </m:ctrlPr>
                        </m:fPr>
                        <m:num>
                          <m:r>
                            <a:rPr lang="zh-CN" altLang="en-US" sz="2200" i="1">
                              <a:solidFill>
                                <a:srgbClr val="000000"/>
                              </a:solidFill>
                              <a:latin typeface="Cambria Math" panose="02040503050406030204" charset="0"/>
                            </a:rPr>
                            <m:t>1</m:t>
                          </m:r>
                        </m:num>
                        <m:den>
                          <m:r>
                            <a:rPr lang="zh-CN" altLang="en-US" sz="2200" i="1">
                              <a:solidFill>
                                <a:srgbClr val="000000"/>
                              </a:solidFill>
                              <a:latin typeface="Cambria Math" panose="02040503050406030204" charset="0"/>
                            </a:rPr>
                            <m:t>2</m:t>
                          </m:r>
                        </m:den>
                      </m:f>
                      <m:r>
                        <a:rPr lang="zh-CN" altLang="en-US" sz="2200" i="1">
                          <a:solidFill>
                            <a:srgbClr val="000000"/>
                          </a:solidFill>
                          <a:latin typeface="Cambria Math" panose="02040503050406030204" charset="0"/>
                        </a:rPr>
                        <m:t>,</m:t>
                      </m:r>
                    </m:oMath>
                  </m:oMathPara>
                </a14:m>
                <a:endParaRPr lang="zh-CN" altLang="en-US" sz="2200" dirty="0"/>
              </a:p>
            </p:txBody>
          </p:sp>
        </mc:Choice>
        <mc:Fallback>
          <p:sp>
            <p:nvSpPr>
              <p:cNvPr id="103454" name="Object 30"/>
              <p:cNvSpPr txBox="1">
                <a:spLocks noRot="1" noChangeAspect="1" noMove="1" noResize="1" noEditPoints="1" noAdjustHandles="1" noChangeArrowheads="1" noChangeShapeType="1" noTextEdit="1"/>
              </p:cNvSpPr>
              <p:nvPr/>
            </p:nvSpPr>
            <p:spPr bwMode="auto">
              <a:xfrm>
                <a:off x="6263369" y="4506268"/>
                <a:ext cx="428787" cy="717352"/>
              </a:xfrm>
              <a:prstGeom prst="rect">
                <a:avLst/>
              </a:prstGeom>
              <a:blipFill rotWithShape="1">
                <a:blip r:embed="rId11"/>
                <a:stretch>
                  <a:fillRect l="-85" t="-43" r="123" b="15"/>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3455" name="Object 31"/>
              <p:cNvSpPr txBox="1"/>
              <p:nvPr/>
            </p:nvSpPr>
            <p:spPr bwMode="auto">
              <a:xfrm>
                <a:off x="6668180" y="4477692"/>
                <a:ext cx="686059" cy="752803"/>
              </a:xfrm>
              <a:prstGeom prst="rect">
                <a:avLst/>
              </a:prstGeom>
              <a:noFill/>
              <a:ln>
                <a:noFill/>
              </a:ln>
              <a:effectLst/>
            </p:spPr>
            <p:txBody>
              <a:bodyPr>
                <a:normAutofit fontScale="92500"/>
              </a:bodyPr>
              <a:lstStyle/>
              <a:p>
                <a14:m>
                  <m:oMathPara xmlns:m="http://schemas.openxmlformats.org/officeDocument/2006/math">
                    <m:oMathParaPr>
                      <m:jc m:val="left"/>
                    </m:oMathParaPr>
                    <m:oMath xmlns:m="http://schemas.openxmlformats.org/officeDocument/2006/math">
                      <m:f>
                        <m:fPr>
                          <m:ctrlPr>
                            <a:rPr lang="zh-CN" altLang="en-US" sz="2200" i="1">
                              <a:solidFill>
                                <a:srgbClr val="000000"/>
                              </a:solidFill>
                              <a:latin typeface="Cambria Math" panose="02040503050406030204" charset="0"/>
                            </a:rPr>
                          </m:ctrlPr>
                        </m:fPr>
                        <m:num>
                          <m:rad>
                            <m:radPr>
                              <m:degHide m:val="on"/>
                              <m:ctrlPr>
                                <a:rPr lang="zh-CN" altLang="en-US" sz="2200" i="1">
                                  <a:solidFill>
                                    <a:srgbClr val="000000"/>
                                  </a:solidFill>
                                  <a:latin typeface="Cambria Math" panose="02040503050406030204" charset="0"/>
                                </a:rPr>
                              </m:ctrlPr>
                            </m:radPr>
                            <m:deg/>
                            <m:e>
                              <m:r>
                                <a:rPr lang="zh-CN" altLang="en-US" sz="2200" i="1">
                                  <a:solidFill>
                                    <a:srgbClr val="000000"/>
                                  </a:solidFill>
                                  <a:latin typeface="Cambria Math" panose="02040503050406030204" charset="0"/>
                                </a:rPr>
                                <m:t>2</m:t>
                              </m:r>
                            </m:e>
                          </m:rad>
                        </m:num>
                        <m:den>
                          <m:r>
                            <a:rPr lang="zh-CN" altLang="en-US" sz="2200" i="1">
                              <a:solidFill>
                                <a:srgbClr val="000000"/>
                              </a:solidFill>
                              <a:latin typeface="Cambria Math" panose="02040503050406030204" charset="0"/>
                            </a:rPr>
                            <m:t>2</m:t>
                          </m:r>
                        </m:den>
                      </m:f>
                      <m:r>
                        <a:rPr lang="zh-CN" altLang="en-US" sz="2200" i="1">
                          <a:solidFill>
                            <a:srgbClr val="000000"/>
                          </a:solidFill>
                          <a:latin typeface="Cambria Math" panose="02040503050406030204" charset="0"/>
                        </a:rPr>
                        <m:t>,</m:t>
                      </m:r>
                    </m:oMath>
                  </m:oMathPara>
                </a14:m>
                <a:endParaRPr lang="zh-CN" altLang="en-US" sz="2200" dirty="0"/>
              </a:p>
            </p:txBody>
          </p:sp>
        </mc:Choice>
        <mc:Fallback>
          <p:sp>
            <p:nvSpPr>
              <p:cNvPr id="103455" name="Object 31"/>
              <p:cNvSpPr txBox="1">
                <a:spLocks noRot="1" noChangeAspect="1" noMove="1" noResize="1" noEditPoints="1" noAdjustHandles="1" noChangeArrowheads="1" noChangeShapeType="1" noTextEdit="1"/>
              </p:cNvSpPr>
              <p:nvPr/>
            </p:nvSpPr>
            <p:spPr bwMode="auto">
              <a:xfrm>
                <a:off x="6668180" y="4477692"/>
                <a:ext cx="686059" cy="752803"/>
              </a:xfrm>
              <a:prstGeom prst="rect">
                <a:avLst/>
              </a:prstGeom>
              <a:blipFill rotWithShape="1">
                <a:blip r:embed="rId12"/>
                <a:stretch>
                  <a:fillRect l="-7" t="-41" r="44"/>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3457" name="Object 33"/>
              <p:cNvSpPr txBox="1"/>
              <p:nvPr/>
            </p:nvSpPr>
            <p:spPr bwMode="auto">
              <a:xfrm>
                <a:off x="7558768" y="4624016"/>
                <a:ext cx="1950964" cy="598488"/>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200" i="1" smtClean="0">
                          <a:solidFill>
                            <a:srgbClr val="000000"/>
                          </a:solidFill>
                          <a:latin typeface="Cambria Math" panose="02040503050406030204" charset="0"/>
                        </a:rPr>
                        <m:t>=(</m:t>
                      </m:r>
                      <m:r>
                        <a:rPr lang="zh-CN" altLang="en-US" sz="2200" i="1" smtClean="0">
                          <a:solidFill>
                            <a:srgbClr val="000000"/>
                          </a:solidFill>
                          <a:latin typeface="Cambria Math" panose="02040503050406030204" charset="0"/>
                        </a:rPr>
                        <m:t>3</m:t>
                      </m:r>
                      <m:r>
                        <a:rPr lang="zh-CN" altLang="en-US" sz="2200" i="1" smtClean="0">
                          <a:solidFill>
                            <a:srgbClr val="000000"/>
                          </a:solidFill>
                          <a:latin typeface="Cambria Math" panose="02040503050406030204" charset="0"/>
                        </a:rPr>
                        <m:t>,</m:t>
                      </m:r>
                      <m:r>
                        <a:rPr lang="en-US" altLang="zh-CN" sz="2200" b="0" i="1" smtClean="0">
                          <a:solidFill>
                            <a:srgbClr val="000000"/>
                          </a:solidFill>
                          <a:latin typeface="Cambria Math" panose="02040503050406030204" charset="0"/>
                        </a:rPr>
                        <m:t> </m:t>
                      </m:r>
                      <m:r>
                        <a:rPr lang="zh-CN" altLang="en-US" sz="2200" i="1">
                          <a:solidFill>
                            <a:srgbClr val="000000"/>
                          </a:solidFill>
                          <a:latin typeface="Cambria Math" panose="02040503050406030204" charset="0"/>
                        </a:rPr>
                        <m:t>3</m:t>
                      </m:r>
                      <m:rad>
                        <m:radPr>
                          <m:degHide m:val="on"/>
                          <m:ctrlPr>
                            <a:rPr lang="zh-CN" altLang="en-US" sz="2200" i="1">
                              <a:solidFill>
                                <a:srgbClr val="000000"/>
                              </a:solidFill>
                              <a:latin typeface="Cambria Math" panose="02040503050406030204" charset="0"/>
                            </a:rPr>
                          </m:ctrlPr>
                        </m:radPr>
                        <m:deg/>
                        <m:e>
                          <m:r>
                            <a:rPr lang="zh-CN" altLang="en-US" sz="2200" i="1">
                              <a:solidFill>
                                <a:srgbClr val="000000"/>
                              </a:solidFill>
                              <a:latin typeface="Cambria Math" panose="02040503050406030204" charset="0"/>
                            </a:rPr>
                            <m:t>2</m:t>
                          </m:r>
                        </m:e>
                      </m:rad>
                      <m:r>
                        <a:rPr lang="zh-CN" altLang="en-US" sz="2200" i="1">
                          <a:solidFill>
                            <a:srgbClr val="000000"/>
                          </a:solidFill>
                          <a:latin typeface="Cambria Math" panose="02040503050406030204" charset="0"/>
                        </a:rPr>
                        <m:t>,</m:t>
                      </m:r>
                      <m:r>
                        <a:rPr lang="en-US" altLang="zh-CN" sz="2200" b="0" i="1" smtClean="0">
                          <a:solidFill>
                            <a:srgbClr val="000000"/>
                          </a:solidFill>
                          <a:latin typeface="Cambria Math" panose="02040503050406030204" charset="0"/>
                        </a:rPr>
                        <m:t> </m:t>
                      </m:r>
                      <m:r>
                        <a:rPr lang="zh-CN" altLang="en-US" sz="2200" i="1">
                          <a:solidFill>
                            <a:srgbClr val="000000"/>
                          </a:solidFill>
                          <a:latin typeface="Cambria Math" panose="02040503050406030204" charset="0"/>
                        </a:rPr>
                        <m:t>3</m:t>
                      </m:r>
                      <m:r>
                        <a:rPr lang="zh-CN" altLang="en-US" sz="2200" i="1">
                          <a:solidFill>
                            <a:srgbClr val="000000"/>
                          </a:solidFill>
                          <a:latin typeface="Cambria Math" panose="02040503050406030204" charset="0"/>
                        </a:rPr>
                        <m:t>)</m:t>
                      </m:r>
                    </m:oMath>
                  </m:oMathPara>
                </a14:m>
                <a:endParaRPr lang="zh-CN" altLang="en-US" sz="2200" dirty="0"/>
              </a:p>
            </p:txBody>
          </p:sp>
        </mc:Choice>
        <mc:Fallback>
          <p:sp>
            <p:nvSpPr>
              <p:cNvPr id="103457" name="Object 33"/>
              <p:cNvSpPr txBox="1">
                <a:spLocks noRot="1" noChangeAspect="1" noMove="1" noResize="1" noEditPoints="1" noAdjustHandles="1" noChangeArrowheads="1" noChangeShapeType="1" noTextEdit="1"/>
              </p:cNvSpPr>
              <p:nvPr/>
            </p:nvSpPr>
            <p:spPr bwMode="auto">
              <a:xfrm>
                <a:off x="7558768" y="4624016"/>
                <a:ext cx="1950964" cy="598488"/>
              </a:xfrm>
              <a:prstGeom prst="rect">
                <a:avLst/>
              </a:prstGeom>
              <a:blipFill rotWithShape="1">
                <a:blip r:embed="rId13"/>
                <a:stretch>
                  <a:fillRect l="-19" t="-97" r="31" b="44"/>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3458" name="Text Box 34"/>
              <p:cNvSpPr txBox="1">
                <a:spLocks noChangeArrowheads="1"/>
              </p:cNvSpPr>
              <p:nvPr/>
            </p:nvSpPr>
            <p:spPr bwMode="auto">
              <a:xfrm>
                <a:off x="2991970" y="5388528"/>
                <a:ext cx="212866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0" eaLnBrk="0" fontAlgn="base" hangingPunct="0">
                  <a:spcBef>
                    <a:spcPct val="0"/>
                  </a:spcBef>
                  <a:spcAft>
                    <a:spcPct val="0"/>
                  </a:spcAft>
                  <a:defRPr/>
                </a:pPr>
                <a:r>
                  <a:rPr kumimoji="1" lang="zh-CN" altLang="en-US" sz="22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rPr>
                  <a:t>故点</a:t>
                </a:r>
                <a14:m>
                  <m:oMath xmlns:m="http://schemas.openxmlformats.org/officeDocument/2006/math">
                    <m:r>
                      <a:rPr lang="en-US" altLang="zh-CN" sz="2200" i="1">
                        <a:latin typeface="Cambria Math" panose="02040503050406030204" charset="0"/>
                        <a:cs typeface="Times New Roman" panose="02020603050405020304" pitchFamily="18" charset="0"/>
                      </a:rPr>
                      <m:t>𝐴</m:t>
                    </m:r>
                  </m:oMath>
                </a14:m>
                <a:r>
                  <a:rPr kumimoji="1" lang="zh-CN" altLang="en-US" sz="22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rPr>
                  <a:t>的坐标为 </a:t>
                </a:r>
                <a:endParaRPr kumimoji="1" lang="zh-CN" altLang="en-US" sz="22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endParaRPr>
              </a:p>
            </p:txBody>
          </p:sp>
        </mc:Choice>
        <mc:Fallback>
          <p:sp>
            <p:nvSpPr>
              <p:cNvPr id="103458" name="Text Box 34"/>
              <p:cNvSpPr txBox="1">
                <a:spLocks noRot="1" noChangeAspect="1" noMove="1" noResize="1" noEditPoints="1" noAdjustHandles="1" noChangeArrowheads="1" noChangeShapeType="1" noTextEdit="1"/>
              </p:cNvSpPr>
              <p:nvPr/>
            </p:nvSpPr>
            <p:spPr bwMode="auto">
              <a:xfrm>
                <a:off x="2991970" y="5388528"/>
                <a:ext cx="2128660" cy="430887"/>
              </a:xfrm>
              <a:prstGeom prst="rect">
                <a:avLst/>
              </a:prstGeom>
              <a:blipFill rotWithShape="1">
                <a:blip r:embed="rId14"/>
                <a:stretch>
                  <a:fillRect l="-23" t="-128" r="-1552" b="6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3459" name="Object 35"/>
              <p:cNvSpPr txBox="1"/>
              <p:nvPr/>
            </p:nvSpPr>
            <p:spPr bwMode="auto">
              <a:xfrm>
                <a:off x="4921013" y="5325400"/>
                <a:ext cx="1593291" cy="541288"/>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200" i="1" smtClean="0">
                          <a:solidFill>
                            <a:srgbClr val="000000"/>
                          </a:solidFill>
                          <a:latin typeface="Cambria Math" panose="02040503050406030204" charset="0"/>
                        </a:rPr>
                        <m:t>(</m:t>
                      </m:r>
                      <m:r>
                        <a:rPr lang="zh-CN" altLang="en-US" sz="2200" i="1" smtClean="0">
                          <a:solidFill>
                            <a:srgbClr val="000000"/>
                          </a:solidFill>
                          <a:latin typeface="Cambria Math" panose="02040503050406030204" charset="0"/>
                        </a:rPr>
                        <m:t>3</m:t>
                      </m:r>
                      <m:r>
                        <a:rPr lang="zh-CN" altLang="en-US" sz="2200" i="1" smtClean="0">
                          <a:solidFill>
                            <a:srgbClr val="000000"/>
                          </a:solidFill>
                          <a:latin typeface="Cambria Math" panose="02040503050406030204" charset="0"/>
                        </a:rPr>
                        <m:t>,</m:t>
                      </m:r>
                      <m:r>
                        <a:rPr lang="en-US" altLang="zh-CN" sz="2200" b="0" i="1" smtClean="0">
                          <a:solidFill>
                            <a:srgbClr val="000000"/>
                          </a:solidFill>
                          <a:latin typeface="Cambria Math" panose="02040503050406030204" charset="0"/>
                        </a:rPr>
                        <m:t> </m:t>
                      </m:r>
                      <m:r>
                        <a:rPr lang="zh-CN" altLang="en-US" sz="2200" i="1">
                          <a:solidFill>
                            <a:srgbClr val="000000"/>
                          </a:solidFill>
                          <a:latin typeface="Cambria Math" panose="02040503050406030204" charset="0"/>
                        </a:rPr>
                        <m:t>3</m:t>
                      </m:r>
                      <m:rad>
                        <m:radPr>
                          <m:degHide m:val="on"/>
                          <m:ctrlPr>
                            <a:rPr lang="zh-CN" altLang="en-US" sz="2200" i="1">
                              <a:solidFill>
                                <a:srgbClr val="000000"/>
                              </a:solidFill>
                              <a:latin typeface="Cambria Math" panose="02040503050406030204" charset="0"/>
                            </a:rPr>
                          </m:ctrlPr>
                        </m:radPr>
                        <m:deg/>
                        <m:e>
                          <m:r>
                            <a:rPr lang="zh-CN" altLang="en-US" sz="2200" i="1">
                              <a:solidFill>
                                <a:srgbClr val="000000"/>
                              </a:solidFill>
                              <a:latin typeface="Cambria Math" panose="02040503050406030204" charset="0"/>
                            </a:rPr>
                            <m:t>2</m:t>
                          </m:r>
                        </m:e>
                      </m:rad>
                      <m:r>
                        <a:rPr lang="zh-CN" altLang="en-US" sz="2200" i="1">
                          <a:solidFill>
                            <a:srgbClr val="000000"/>
                          </a:solidFill>
                          <a:latin typeface="Cambria Math" panose="02040503050406030204" charset="0"/>
                        </a:rPr>
                        <m:t>,</m:t>
                      </m:r>
                      <m:r>
                        <a:rPr lang="zh-CN" altLang="en-US" sz="2200" i="1">
                          <a:solidFill>
                            <a:srgbClr val="000000"/>
                          </a:solidFill>
                          <a:latin typeface="Cambria Math" panose="02040503050406030204" charset="0"/>
                        </a:rPr>
                        <m:t>3</m:t>
                      </m:r>
                      <m:r>
                        <a:rPr lang="zh-CN" altLang="en-US" sz="2200" i="1">
                          <a:solidFill>
                            <a:srgbClr val="000000"/>
                          </a:solidFill>
                          <a:latin typeface="Cambria Math" panose="02040503050406030204" charset="0"/>
                        </a:rPr>
                        <m:t>).</m:t>
                      </m:r>
                    </m:oMath>
                  </m:oMathPara>
                </a14:m>
                <a:endParaRPr lang="zh-CN" altLang="en-US" sz="2200" dirty="0"/>
              </a:p>
            </p:txBody>
          </p:sp>
        </mc:Choice>
        <mc:Fallback>
          <p:sp>
            <p:nvSpPr>
              <p:cNvPr id="103459" name="Object 35"/>
              <p:cNvSpPr txBox="1">
                <a:spLocks noRot="1" noChangeAspect="1" noMove="1" noResize="1" noEditPoints="1" noAdjustHandles="1" noChangeArrowheads="1" noChangeShapeType="1" noTextEdit="1"/>
              </p:cNvSpPr>
              <p:nvPr/>
            </p:nvSpPr>
            <p:spPr bwMode="auto">
              <a:xfrm>
                <a:off x="4921013" y="5325400"/>
                <a:ext cx="1593291" cy="541288"/>
              </a:xfrm>
              <a:prstGeom prst="rect">
                <a:avLst/>
              </a:prstGeom>
              <a:blipFill rotWithShape="1">
                <a:blip r:embed="rId15"/>
                <a:stretch>
                  <a:fillRect l="-25" t="-54" r="30" b="103"/>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3435" name="Text Box 11"/>
              <p:cNvSpPr txBox="1">
                <a:spLocks noChangeArrowheads="1"/>
              </p:cNvSpPr>
              <p:nvPr/>
            </p:nvSpPr>
            <p:spPr bwMode="auto">
              <a:xfrm>
                <a:off x="6383560" y="701217"/>
                <a:ext cx="4101276" cy="57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lvl="0" eaLnBrk="0" fontAlgn="base" hangingPunct="0">
                  <a:spcBef>
                    <a:spcPct val="0"/>
                  </a:spcBef>
                  <a:spcAft>
                    <a:spcPct val="0"/>
                  </a:spcAft>
                  <a:defRPr/>
                </a:pPr>
                <a:r>
                  <a:rPr kumimoji="1"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rPr>
                  <a:t>向径</a:t>
                </a:r>
                <a14:m>
                  <m:oMath xmlns:m="http://schemas.openxmlformats.org/officeDocument/2006/math">
                    <m:acc>
                      <m:accPr>
                        <m:chr m:val="⃗"/>
                        <m:ctrlPr>
                          <a:rPr lang="zh-CN" altLang="en-US" sz="2800" i="1">
                            <a:latin typeface="Cambria Math" panose="02040503050406030204" charset="0"/>
                          </a:rPr>
                        </m:ctrlPr>
                      </m:accPr>
                      <m:e>
                        <m:r>
                          <a:rPr lang="en-US" altLang="zh-CN" sz="2800" b="0" i="1" smtClean="0">
                            <a:latin typeface="Cambria Math" panose="02040503050406030204" charset="0"/>
                          </a:rPr>
                          <m:t>𝑂𝐴</m:t>
                        </m:r>
                      </m:e>
                    </m:acc>
                  </m:oMath>
                </a14:m>
                <a:r>
                  <a:rPr kumimoji="1"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rPr>
                  <a:t>与</a:t>
                </a:r>
                <a14:m>
                  <m:oMath xmlns:m="http://schemas.openxmlformats.org/officeDocument/2006/math">
                    <m:r>
                      <a:rPr lang="en-US" altLang="zh-CN" sz="2800" b="0" i="1" smtClean="0">
                        <a:latin typeface="Cambria Math" panose="02040503050406030204" charset="0"/>
                      </a:rPr>
                      <m:t>𝑥</m:t>
                    </m:r>
                  </m:oMath>
                </a14:m>
                <a:r>
                  <a:rPr kumimoji="1"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rPr>
                  <a:t>轴</a:t>
                </a:r>
                <a14:m>
                  <m:oMath xmlns:m="http://schemas.openxmlformats.org/officeDocument/2006/math">
                    <m:r>
                      <a:rPr lang="zh-CN" altLang="en-US" sz="2800" i="1" smtClean="0">
                        <a:latin typeface="Cambria Math" panose="02040503050406030204" charset="0"/>
                      </a:rPr>
                      <m:t>、</m:t>
                    </m:r>
                    <m:r>
                      <a:rPr lang="en-US" altLang="zh-CN" sz="2800" b="0" i="1" smtClean="0">
                        <a:latin typeface="Cambria Math" panose="02040503050406030204" charset="0"/>
                      </a:rPr>
                      <m:t>𝑦</m:t>
                    </m:r>
                    <m:r>
                      <a:rPr lang="en-US" altLang="zh-CN" sz="2800" b="0" i="1" smtClean="0">
                        <a:latin typeface="Cambria Math" panose="02040503050406030204" charset="0"/>
                      </a:rPr>
                      <m:t> </m:t>
                    </m:r>
                  </m:oMath>
                </a14:m>
                <a:r>
                  <a:rPr kumimoji="1"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rPr>
                  <a:t>轴的夹 </a:t>
                </a:r>
                <a:endParaRPr kumimoji="1"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endParaRPr>
              </a:p>
            </p:txBody>
          </p:sp>
        </mc:Choice>
        <mc:Fallback>
          <p:sp>
            <p:nvSpPr>
              <p:cNvPr id="103435" name="Text Box 11"/>
              <p:cNvSpPr txBox="1">
                <a:spLocks noRot="1" noChangeAspect="1" noMove="1" noResize="1" noEditPoints="1" noAdjustHandles="1" noChangeArrowheads="1" noChangeShapeType="1" noTextEdit="1"/>
              </p:cNvSpPr>
              <p:nvPr/>
            </p:nvSpPr>
            <p:spPr bwMode="auto">
              <a:xfrm>
                <a:off x="6383560" y="701217"/>
                <a:ext cx="4101276" cy="578300"/>
              </a:xfrm>
              <a:prstGeom prst="rect">
                <a:avLst/>
              </a:prstGeom>
              <a:blipFill rotWithShape="1">
                <a:blip r:embed="rId16"/>
                <a:stretch>
                  <a:fillRect l="-13" t="-31" r="9" b="-889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3440" name="Object 16"/>
              <p:cNvSpPr txBox="1"/>
              <p:nvPr/>
            </p:nvSpPr>
            <p:spPr bwMode="auto">
              <a:xfrm>
                <a:off x="5505841" y="1388895"/>
                <a:ext cx="2104040" cy="603616"/>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charset="0"/>
                        </a:rPr>
                        <m:t>且</m:t>
                      </m:r>
                      <m:d>
                        <m:dPr>
                          <m:begChr m:val="|"/>
                          <m:endChr m:val="|"/>
                          <m:ctrlPr>
                            <a:rPr lang="zh-CN" altLang="en-US" sz="2800" i="1">
                              <a:solidFill>
                                <a:srgbClr val="000000"/>
                              </a:solidFill>
                              <a:latin typeface="Cambria Math" panose="02040503050406030204" charset="0"/>
                            </a:rPr>
                          </m:ctrlPr>
                        </m:dPr>
                        <m:e>
                          <m:acc>
                            <m:accPr>
                              <m:chr m:val="⃗"/>
                              <m:ctrlPr>
                                <a:rPr lang="zh-CN" altLang="en-US" sz="2800" i="1">
                                  <a:latin typeface="Cambria Math" panose="02040503050406030204" charset="0"/>
                                </a:rPr>
                              </m:ctrlPr>
                            </m:accPr>
                            <m:e>
                              <m:r>
                                <a:rPr lang="en-US" altLang="zh-CN" sz="2800" i="1">
                                  <a:latin typeface="Cambria Math" panose="02040503050406030204" charset="0"/>
                                </a:rPr>
                                <m:t>𝑂𝐴</m:t>
                              </m:r>
                            </m:e>
                          </m:acc>
                        </m:e>
                      </m:d>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6</m:t>
                      </m:r>
                      <m:r>
                        <a:rPr lang="zh-CN" altLang="en-US" sz="2800" i="1">
                          <a:solidFill>
                            <a:srgbClr val="000000"/>
                          </a:solidFill>
                          <a:latin typeface="Cambria Math" panose="02040503050406030204" charset="0"/>
                        </a:rPr>
                        <m:t>,</m:t>
                      </m:r>
                    </m:oMath>
                  </m:oMathPara>
                </a14:m>
                <a:endParaRPr lang="zh-CN" altLang="en-US" sz="2800" dirty="0"/>
              </a:p>
            </p:txBody>
          </p:sp>
        </mc:Choice>
        <mc:Fallback>
          <p:sp>
            <p:nvSpPr>
              <p:cNvPr id="103440" name="Object 16"/>
              <p:cNvSpPr txBox="1">
                <a:spLocks noRot="1" noChangeAspect="1" noMove="1" noResize="1" noEditPoints="1" noAdjustHandles="1" noChangeArrowheads="1" noChangeShapeType="1" noTextEdit="1"/>
              </p:cNvSpPr>
              <p:nvPr/>
            </p:nvSpPr>
            <p:spPr bwMode="auto">
              <a:xfrm>
                <a:off x="5505841" y="1388895"/>
                <a:ext cx="2104040" cy="603616"/>
              </a:xfrm>
              <a:prstGeom prst="rect">
                <a:avLst/>
              </a:prstGeom>
              <a:blipFill rotWithShape="1">
                <a:blip r:embed="rId17"/>
                <a:stretch>
                  <a:fillRect l="-19" t="-25" r="2" b="-4859"/>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Object 39"/>
              <p:cNvSpPr txBox="1"/>
              <p:nvPr/>
            </p:nvSpPr>
            <p:spPr bwMode="auto">
              <a:xfrm>
                <a:off x="5043413" y="4637352"/>
                <a:ext cx="744255" cy="544248"/>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sSub>
                        <m:sSubPr>
                          <m:ctrlPr>
                            <a:rPr lang="en-US" altLang="zh-CN" sz="2200" i="1" smtClean="0">
                              <a:solidFill>
                                <a:srgbClr val="000000"/>
                              </a:solidFill>
                              <a:latin typeface="Cambria Math" panose="02040503050406030204" charset="0"/>
                            </a:rPr>
                          </m:ctrlPr>
                        </m:sSubPr>
                        <m:e>
                          <m:r>
                            <a:rPr lang="en-US" altLang="zh-CN" sz="2200" b="1" i="1">
                              <a:solidFill>
                                <a:srgbClr val="000000"/>
                              </a:solidFill>
                              <a:latin typeface="Cambria Math" panose="02040503050406030204" charset="0"/>
                            </a:rPr>
                            <m:t>𝒆</m:t>
                          </m:r>
                          <m:r>
                            <a:rPr lang="en-US" altLang="zh-CN" sz="2200" b="1" i="1">
                              <a:solidFill>
                                <a:srgbClr val="000000"/>
                              </a:solidFill>
                              <a:latin typeface="Cambria Math" panose="02040503050406030204" charset="0"/>
                            </a:rPr>
                            <m:t> </m:t>
                          </m:r>
                        </m:e>
                        <m:sub>
                          <m:acc>
                            <m:accPr>
                              <m:chr m:val="⃗"/>
                              <m:ctrlPr>
                                <a:rPr lang="en-US" altLang="zh-CN" sz="2200" i="1">
                                  <a:solidFill>
                                    <a:srgbClr val="000000"/>
                                  </a:solidFill>
                                  <a:latin typeface="Cambria Math" panose="02040503050406030204" charset="0"/>
                                </a:rPr>
                              </m:ctrlPr>
                            </m:accPr>
                            <m:e>
                              <m:r>
                                <a:rPr lang="en-US" altLang="zh-CN" sz="2200" b="0" i="1" smtClean="0">
                                  <a:solidFill>
                                    <a:srgbClr val="000000"/>
                                  </a:solidFill>
                                  <a:latin typeface="Cambria Math" panose="02040503050406030204" charset="0"/>
                                </a:rPr>
                                <m:t>𝑂𝐴</m:t>
                              </m:r>
                            </m:e>
                          </m:acc>
                        </m:sub>
                      </m:sSub>
                    </m:oMath>
                  </m:oMathPara>
                </a14:m>
                <a:endParaRPr lang="zh-CN" altLang="en-US" sz="2200" dirty="0"/>
              </a:p>
            </p:txBody>
          </p:sp>
        </mc:Choice>
        <mc:Fallback>
          <p:sp>
            <p:nvSpPr>
              <p:cNvPr id="15" name="Object 39"/>
              <p:cNvSpPr txBox="1">
                <a:spLocks noRot="1" noChangeAspect="1" noMove="1" noResize="1" noEditPoints="1" noAdjustHandles="1" noChangeArrowheads="1" noChangeShapeType="1" noTextEdit="1"/>
              </p:cNvSpPr>
              <p:nvPr/>
            </p:nvSpPr>
            <p:spPr bwMode="auto">
              <a:xfrm>
                <a:off x="5043413" y="4637352"/>
                <a:ext cx="744255" cy="544248"/>
              </a:xfrm>
              <a:prstGeom prst="rect">
                <a:avLst/>
              </a:prstGeom>
              <a:blipFill rotWithShape="1">
                <a:blip r:embed="rId18"/>
                <a:stretch>
                  <a:fillRect l="-33" t="-107" r="37"/>
                </a:stretch>
              </a:blipFill>
              <a:ln>
                <a:noFill/>
              </a:ln>
              <a:effectLst/>
            </p:spPr>
            <p:txBody>
              <a:bodyPr/>
              <a:lstStyle/>
              <a:p>
                <a:r>
                  <a:rPr lang="zh-CN" altLang="en-US">
                    <a:noFill/>
                  </a:rPr>
                  <a:t> </a:t>
                </a:r>
              </a:p>
            </p:txBody>
          </p:sp>
        </mc:Fallback>
      </mc:AlternateContent>
      <p:grpSp>
        <p:nvGrpSpPr>
          <p:cNvPr id="3" name="组合 2"/>
          <p:cNvGrpSpPr/>
          <p:nvPr/>
        </p:nvGrpSpPr>
        <p:grpSpPr>
          <a:xfrm>
            <a:off x="3745542" y="4652369"/>
            <a:ext cx="1436058" cy="453031"/>
            <a:chOff x="3593142" y="4661313"/>
            <a:chExt cx="1436058" cy="453031"/>
          </a:xfrm>
        </p:grpSpPr>
        <mc:AlternateContent xmlns:mc="http://schemas.openxmlformats.org/markup-compatibility/2006">
          <mc:Choice xmlns:a14="http://schemas.microsoft.com/office/drawing/2010/main" Requires="a14">
            <p:sp>
              <p:nvSpPr>
                <p:cNvPr id="103451" name="Object 27"/>
                <p:cNvSpPr txBox="1"/>
                <p:nvPr/>
              </p:nvSpPr>
              <p:spPr bwMode="auto">
                <a:xfrm>
                  <a:off x="3593142" y="4674514"/>
                  <a:ext cx="674648" cy="430886"/>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acc>
                          <m:accPr>
                            <m:chr m:val="⃗"/>
                            <m:ctrlPr>
                              <a:rPr lang="zh-CN" altLang="en-US" sz="2200" i="1">
                                <a:latin typeface="Cambria Math" panose="02040503050406030204" charset="0"/>
                              </a:rPr>
                            </m:ctrlPr>
                          </m:accPr>
                          <m:e>
                            <m:r>
                              <a:rPr lang="en-US" altLang="zh-CN" sz="2200" i="1">
                                <a:latin typeface="Cambria Math" panose="02040503050406030204" charset="0"/>
                              </a:rPr>
                              <m:t>𝑂𝐴</m:t>
                            </m:r>
                          </m:e>
                        </m:acc>
                      </m:oMath>
                    </m:oMathPara>
                  </a14:m>
                  <a:endParaRPr lang="zh-CN" altLang="en-US" sz="2200" dirty="0"/>
                </a:p>
              </p:txBody>
            </p:sp>
          </mc:Choice>
          <mc:Fallback>
            <p:sp>
              <p:nvSpPr>
                <p:cNvPr id="103451" name="Object 27"/>
                <p:cNvSpPr txBox="1">
                  <a:spLocks noRot="1" noChangeAspect="1" noMove="1" noResize="1" noEditPoints="1" noAdjustHandles="1" noChangeArrowheads="1" noChangeShapeType="1" noTextEdit="1"/>
                </p:cNvSpPr>
                <p:nvPr/>
              </p:nvSpPr>
              <p:spPr bwMode="auto">
                <a:xfrm>
                  <a:off x="3593142" y="4674514"/>
                  <a:ext cx="674648" cy="430886"/>
                </a:xfrm>
                <a:prstGeom prst="rect">
                  <a:avLst/>
                </a:prstGeom>
                <a:blipFill rotWithShape="1">
                  <a:blip r:embed="rId19"/>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3452" name="Object 28"/>
                <p:cNvSpPr txBox="1"/>
                <p:nvPr/>
              </p:nvSpPr>
              <p:spPr bwMode="auto">
                <a:xfrm>
                  <a:off x="3998448" y="4661313"/>
                  <a:ext cx="1030752" cy="453031"/>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200" i="1" smtClean="0">
                            <a:solidFill>
                              <a:srgbClr val="000000"/>
                            </a:solidFill>
                            <a:latin typeface="Cambria Math" panose="02040503050406030204" charset="0"/>
                          </a:rPr>
                          <m:t>=</m:t>
                        </m:r>
                        <m:d>
                          <m:dPr>
                            <m:begChr m:val="|"/>
                            <m:endChr m:val="|"/>
                            <m:ctrlPr>
                              <a:rPr lang="zh-CN" altLang="en-US" sz="2200" i="1">
                                <a:solidFill>
                                  <a:srgbClr val="000000"/>
                                </a:solidFill>
                                <a:latin typeface="Cambria Math" panose="02040503050406030204" charset="0"/>
                              </a:rPr>
                            </m:ctrlPr>
                          </m:dPr>
                          <m:e>
                            <m:acc>
                              <m:accPr>
                                <m:chr m:val="⃗"/>
                                <m:ctrlPr>
                                  <a:rPr lang="zh-CN" altLang="en-US" sz="2200" i="1">
                                    <a:latin typeface="Cambria Math" panose="02040503050406030204" charset="0"/>
                                  </a:rPr>
                                </m:ctrlPr>
                              </m:accPr>
                              <m:e>
                                <m:r>
                                  <a:rPr lang="en-US" altLang="zh-CN" sz="2200" i="1">
                                    <a:latin typeface="Cambria Math" panose="02040503050406030204" charset="0"/>
                                  </a:rPr>
                                  <m:t>𝑂𝐴</m:t>
                                </m:r>
                              </m:e>
                            </m:acc>
                          </m:e>
                        </m:d>
                      </m:oMath>
                    </m:oMathPara>
                  </a14:m>
                  <a:endParaRPr lang="zh-CN" altLang="en-US" sz="2200" dirty="0"/>
                </a:p>
              </p:txBody>
            </p:sp>
          </mc:Choice>
          <mc:Fallback>
            <p:sp>
              <p:nvSpPr>
                <p:cNvPr id="103452" name="Object 28"/>
                <p:cNvSpPr txBox="1">
                  <a:spLocks noRot="1" noChangeAspect="1" noMove="1" noResize="1" noEditPoints="1" noAdjustHandles="1" noChangeArrowheads="1" noChangeShapeType="1" noTextEdit="1"/>
                </p:cNvSpPr>
                <p:nvPr/>
              </p:nvSpPr>
              <p:spPr bwMode="auto">
                <a:xfrm>
                  <a:off x="3998448" y="4661313"/>
                  <a:ext cx="1030752" cy="453031"/>
                </a:xfrm>
                <a:prstGeom prst="rect">
                  <a:avLst/>
                </a:prstGeom>
                <a:blipFill rotWithShape="1">
                  <a:blip r:embed="rId20"/>
                </a:blipFill>
                <a:ln>
                  <a:noFill/>
                </a:ln>
                <a:effectLst/>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5" name="Object 31"/>
              <p:cNvSpPr txBox="1"/>
              <p:nvPr/>
            </p:nvSpPr>
            <p:spPr bwMode="auto">
              <a:xfrm>
                <a:off x="7143700" y="4470817"/>
                <a:ext cx="686059" cy="752803"/>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f>
                        <m:fPr>
                          <m:ctrlPr>
                            <a:rPr lang="zh-CN" altLang="en-US" sz="2200" i="1" smtClean="0">
                              <a:solidFill>
                                <a:srgbClr val="000000"/>
                              </a:solidFill>
                              <a:latin typeface="Cambria Math" panose="02040503050406030204" charset="0"/>
                            </a:rPr>
                          </m:ctrlPr>
                        </m:fPr>
                        <m:num>
                          <m:r>
                            <a:rPr lang="en-US" altLang="zh-CN" sz="2200" i="1">
                              <a:solidFill>
                                <a:srgbClr val="000000"/>
                              </a:solidFill>
                              <a:latin typeface="Cambria Math" panose="02040503050406030204" charset="0"/>
                            </a:rPr>
                            <m:t>1</m:t>
                          </m:r>
                        </m:num>
                        <m:den>
                          <m:r>
                            <a:rPr lang="zh-CN" altLang="en-US" sz="2200" i="1">
                              <a:solidFill>
                                <a:srgbClr val="000000"/>
                              </a:solidFill>
                              <a:latin typeface="Cambria Math" panose="02040503050406030204" charset="0"/>
                            </a:rPr>
                            <m:t>2</m:t>
                          </m:r>
                        </m:den>
                      </m:f>
                      <m:r>
                        <a:rPr lang="en-US" altLang="zh-CN" sz="2200" b="0" i="0" smtClean="0">
                          <a:solidFill>
                            <a:srgbClr val="000000"/>
                          </a:solidFill>
                          <a:latin typeface="Cambria Math" panose="02040503050406030204" charset="0"/>
                        </a:rPr>
                        <m:t> )</m:t>
                      </m:r>
                    </m:oMath>
                  </m:oMathPara>
                </a14:m>
                <a:endParaRPr lang="zh-CN" altLang="en-US" sz="2200" dirty="0"/>
              </a:p>
            </p:txBody>
          </p:sp>
        </mc:Choice>
        <mc:Fallback>
          <p:sp>
            <p:nvSpPr>
              <p:cNvPr id="5" name="Object 31"/>
              <p:cNvSpPr txBox="1">
                <a:spLocks noRot="1" noChangeAspect="1" noMove="1" noResize="1" noEditPoints="1" noAdjustHandles="1" noChangeArrowheads="1" noChangeShapeType="1" noTextEdit="1"/>
              </p:cNvSpPr>
              <p:nvPr/>
            </p:nvSpPr>
            <p:spPr bwMode="auto">
              <a:xfrm>
                <a:off x="7143700" y="4470817"/>
                <a:ext cx="686059" cy="752803"/>
              </a:xfrm>
              <a:prstGeom prst="rect">
                <a:avLst/>
              </a:prstGeom>
              <a:blipFill rotWithShape="1">
                <a:blip r:embed="rId21"/>
                <a:stretch>
                  <a:fillRect l="-85" t="-55" r="30" b="15"/>
                </a:stretch>
              </a:blipFill>
              <a:ln>
                <a:noFill/>
              </a:ln>
              <a:effec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3426"/>
                                        </p:tgtEl>
                                        <p:attrNameLst>
                                          <p:attrName>style.visibility</p:attrName>
                                        </p:attrNameLst>
                                      </p:cBhvr>
                                      <p:to>
                                        <p:strVal val="visible"/>
                                      </p:to>
                                    </p:set>
                                    <p:animEffect transition="in" filter="wipe(left)">
                                      <p:cBhvr>
                                        <p:cTn id="7" dur="500"/>
                                        <p:tgtEl>
                                          <p:spTgt spid="10342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3437"/>
                                        </p:tgtEl>
                                        <p:attrNameLst>
                                          <p:attrName>style.visibility</p:attrName>
                                        </p:attrNameLst>
                                      </p:cBhvr>
                                      <p:to>
                                        <p:strVal val="visible"/>
                                      </p:to>
                                    </p:set>
                                    <p:animEffect transition="in" filter="wipe(left)">
                                      <p:cBhvr>
                                        <p:cTn id="10" dur="500"/>
                                        <p:tgtEl>
                                          <p:spTgt spid="103437"/>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03438"/>
                                        </p:tgtEl>
                                        <p:attrNameLst>
                                          <p:attrName>style.visibility</p:attrName>
                                        </p:attrNameLst>
                                      </p:cBhvr>
                                      <p:to>
                                        <p:strVal val="visible"/>
                                      </p:to>
                                    </p:set>
                                    <p:animEffect transition="in" filter="wipe(left)">
                                      <p:cBhvr>
                                        <p:cTn id="13" dur="500"/>
                                        <p:tgtEl>
                                          <p:spTgt spid="103438"/>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03441"/>
                                        </p:tgtEl>
                                        <p:attrNameLst>
                                          <p:attrName>style.visibility</p:attrName>
                                        </p:attrNameLst>
                                      </p:cBhvr>
                                      <p:to>
                                        <p:strVal val="visible"/>
                                      </p:to>
                                    </p:set>
                                    <p:animEffect transition="in" filter="wipe(left)">
                                      <p:cBhvr>
                                        <p:cTn id="16" dur="500"/>
                                        <p:tgtEl>
                                          <p:spTgt spid="103441"/>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03435"/>
                                        </p:tgtEl>
                                        <p:attrNameLst>
                                          <p:attrName>style.visibility</p:attrName>
                                        </p:attrNameLst>
                                      </p:cBhvr>
                                      <p:to>
                                        <p:strVal val="visible"/>
                                      </p:to>
                                    </p:set>
                                    <p:animEffect transition="in" filter="wipe(left)">
                                      <p:cBhvr>
                                        <p:cTn id="19" dur="500"/>
                                        <p:tgtEl>
                                          <p:spTgt spid="103435"/>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03440"/>
                                        </p:tgtEl>
                                        <p:attrNameLst>
                                          <p:attrName>style.visibility</p:attrName>
                                        </p:attrNameLst>
                                      </p:cBhvr>
                                      <p:to>
                                        <p:strVal val="visible"/>
                                      </p:to>
                                    </p:set>
                                    <p:animEffect transition="in" filter="wipe(left)">
                                      <p:cBhvr>
                                        <p:cTn id="22" dur="500"/>
                                        <p:tgtEl>
                                          <p:spTgt spid="10344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3432">
                                            <p:txEl>
                                              <p:pRg st="0" end="0"/>
                                            </p:txEl>
                                          </p:spTgt>
                                        </p:tgtEl>
                                        <p:attrNameLst>
                                          <p:attrName>style.visibility</p:attrName>
                                        </p:attrNameLst>
                                      </p:cBhvr>
                                      <p:to>
                                        <p:strVal val="visible"/>
                                      </p:to>
                                    </p:set>
                                    <p:animEffect transition="in" filter="wipe(left)">
                                      <p:cBhvr>
                                        <p:cTn id="27" dur="500"/>
                                        <p:tgtEl>
                                          <p:spTgt spid="103432">
                                            <p:txEl>
                                              <p:pRg st="0" end="0"/>
                                            </p:txEl>
                                          </p:spTgt>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103443"/>
                                        </p:tgtEl>
                                        <p:attrNameLst>
                                          <p:attrName>style.visibility</p:attrName>
                                        </p:attrNameLst>
                                      </p:cBhvr>
                                      <p:to>
                                        <p:strVal val="visible"/>
                                      </p:to>
                                    </p:set>
                                    <p:animEffect transition="in" filter="wipe(left)">
                                      <p:cBhvr>
                                        <p:cTn id="31" dur="500"/>
                                        <p:tgtEl>
                                          <p:spTgt spid="10344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03444">
                                            <p:txEl>
                                              <p:pRg st="4294967295" end="4294967295"/>
                                            </p:txEl>
                                          </p:spTgt>
                                        </p:tgtEl>
                                        <p:attrNameLst>
                                          <p:attrName>style.visibility</p:attrName>
                                        </p:attrNameLst>
                                      </p:cBhvr>
                                      <p:to>
                                        <p:strVal val="visible"/>
                                      </p:to>
                                    </p:set>
                                    <p:animEffect transition="in" filter="wipe(left)">
                                      <p:cBhvr>
                                        <p:cTn id="36" dur="500"/>
                                        <p:tgtEl>
                                          <p:spTgt spid="103444">
                                            <p:txEl>
                                              <p:pRg st="4294967295" end="429496729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03444">
                                            <p:txEl>
                                              <p:pRg st="0" end="0"/>
                                            </p:txEl>
                                          </p:spTgt>
                                        </p:tgtEl>
                                        <p:attrNameLst>
                                          <p:attrName>style.visibility</p:attrName>
                                        </p:attrNameLst>
                                      </p:cBhvr>
                                      <p:to>
                                        <p:strVal val="visible"/>
                                      </p:to>
                                    </p:set>
                                    <p:animEffect transition="in" filter="wipe(left)">
                                      <p:cBhvr>
                                        <p:cTn id="41" dur="500"/>
                                        <p:tgtEl>
                                          <p:spTgt spid="103444">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03445"/>
                                        </p:tgtEl>
                                        <p:attrNameLst>
                                          <p:attrName>style.visibility</p:attrName>
                                        </p:attrNameLst>
                                      </p:cBhvr>
                                      <p:to>
                                        <p:strVal val="visible"/>
                                      </p:to>
                                    </p:set>
                                    <p:animEffect transition="in" filter="wipe(left)">
                                      <p:cBhvr>
                                        <p:cTn id="46" dur="500"/>
                                        <p:tgtEl>
                                          <p:spTgt spid="103445"/>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03446"/>
                                        </p:tgtEl>
                                        <p:attrNameLst>
                                          <p:attrName>style.visibility</p:attrName>
                                        </p:attrNameLst>
                                      </p:cBhvr>
                                      <p:to>
                                        <p:strVal val="visible"/>
                                      </p:to>
                                    </p:set>
                                    <p:animEffect transition="in" filter="wipe(left)">
                                      <p:cBhvr>
                                        <p:cTn id="51" dur="500"/>
                                        <p:tgtEl>
                                          <p:spTgt spid="103446"/>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03447">
                                            <p:txEl>
                                              <p:pRg st="4294967295" end="4294967295"/>
                                            </p:txEl>
                                          </p:spTgt>
                                        </p:tgtEl>
                                        <p:attrNameLst>
                                          <p:attrName>style.visibility</p:attrName>
                                        </p:attrNameLst>
                                      </p:cBhvr>
                                      <p:to>
                                        <p:strVal val="visible"/>
                                      </p:to>
                                    </p:set>
                                    <p:animEffect transition="in" filter="wipe(left)">
                                      <p:cBhvr>
                                        <p:cTn id="56" dur="500"/>
                                        <p:tgtEl>
                                          <p:spTgt spid="103447">
                                            <p:txEl>
                                              <p:pRg st="4294967295" end="4294967295"/>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03447">
                                            <p:txEl>
                                              <p:pRg st="0" end="0"/>
                                            </p:txEl>
                                          </p:spTgt>
                                        </p:tgtEl>
                                        <p:attrNameLst>
                                          <p:attrName>style.visibility</p:attrName>
                                        </p:attrNameLst>
                                      </p:cBhvr>
                                      <p:to>
                                        <p:strVal val="visible"/>
                                      </p:to>
                                    </p:set>
                                    <p:animEffect transition="in" filter="wipe(left)">
                                      <p:cBhvr>
                                        <p:cTn id="61" dur="500"/>
                                        <p:tgtEl>
                                          <p:spTgt spid="103447">
                                            <p:txEl>
                                              <p:pRg st="0" end="0"/>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03448">
                                            <p:txEl>
                                              <p:pRg st="4294967295" end="4294967295"/>
                                            </p:txEl>
                                          </p:spTgt>
                                        </p:tgtEl>
                                        <p:attrNameLst>
                                          <p:attrName>style.visibility</p:attrName>
                                        </p:attrNameLst>
                                      </p:cBhvr>
                                      <p:to>
                                        <p:strVal val="visible"/>
                                      </p:to>
                                    </p:set>
                                    <p:animEffect transition="in" filter="wipe(left)">
                                      <p:cBhvr>
                                        <p:cTn id="66" dur="500"/>
                                        <p:tgtEl>
                                          <p:spTgt spid="103448">
                                            <p:txEl>
                                              <p:pRg st="4294967295" end="4294967295"/>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03448">
                                            <p:txEl>
                                              <p:pRg st="0" end="0"/>
                                            </p:txEl>
                                          </p:spTgt>
                                        </p:tgtEl>
                                        <p:attrNameLst>
                                          <p:attrName>style.visibility</p:attrName>
                                        </p:attrNameLst>
                                      </p:cBhvr>
                                      <p:to>
                                        <p:strVal val="visible"/>
                                      </p:to>
                                    </p:set>
                                    <p:animEffect transition="in" filter="wipe(left)">
                                      <p:cBhvr>
                                        <p:cTn id="71" dur="500"/>
                                        <p:tgtEl>
                                          <p:spTgt spid="103448">
                                            <p:txEl>
                                              <p:pRg st="0" end="0"/>
                                            </p:txEl>
                                          </p:spTgt>
                                        </p:tgtEl>
                                      </p:cBhvr>
                                    </p:animEffect>
                                  </p:childTnLst>
                                </p:cTn>
                              </p:par>
                            </p:childTnLst>
                          </p:cTn>
                        </p:par>
                        <p:par>
                          <p:cTn id="72" fill="hold">
                            <p:stCondLst>
                              <p:cond delay="500"/>
                            </p:stCondLst>
                            <p:childTnLst>
                              <p:par>
                                <p:cTn id="73" presetID="22" presetClass="entr" presetSubtype="8" fill="hold" grpId="0" nodeType="afterEffect">
                                  <p:stCondLst>
                                    <p:cond delay="0"/>
                                  </p:stCondLst>
                                  <p:childTnLst>
                                    <p:set>
                                      <p:cBhvr>
                                        <p:cTn id="74" dur="1" fill="hold">
                                          <p:stCondLst>
                                            <p:cond delay="0"/>
                                          </p:stCondLst>
                                        </p:cTn>
                                        <p:tgtEl>
                                          <p:spTgt spid="103449"/>
                                        </p:tgtEl>
                                        <p:attrNameLst>
                                          <p:attrName>style.visibility</p:attrName>
                                        </p:attrNameLst>
                                      </p:cBhvr>
                                      <p:to>
                                        <p:strVal val="visible"/>
                                      </p:to>
                                    </p:set>
                                    <p:animEffect transition="in" filter="wipe(left)">
                                      <p:cBhvr>
                                        <p:cTn id="75" dur="500"/>
                                        <p:tgtEl>
                                          <p:spTgt spid="103449"/>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103450">
                                            <p:txEl>
                                              <p:pRg st="4294967295" end="4294967295"/>
                                            </p:txEl>
                                          </p:spTgt>
                                        </p:tgtEl>
                                        <p:attrNameLst>
                                          <p:attrName>style.visibility</p:attrName>
                                        </p:attrNameLst>
                                      </p:cBhvr>
                                      <p:to>
                                        <p:strVal val="visible"/>
                                      </p:to>
                                    </p:set>
                                    <p:animEffect transition="in" filter="wipe(left)">
                                      <p:cBhvr>
                                        <p:cTn id="80" dur="500"/>
                                        <p:tgtEl>
                                          <p:spTgt spid="103450">
                                            <p:txEl>
                                              <p:pRg st="4294967295" end="4294967295"/>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103450">
                                            <p:txEl>
                                              <p:pRg st="0" end="0"/>
                                            </p:txEl>
                                          </p:spTgt>
                                        </p:tgtEl>
                                        <p:attrNameLst>
                                          <p:attrName>style.visibility</p:attrName>
                                        </p:attrNameLst>
                                      </p:cBhvr>
                                      <p:to>
                                        <p:strVal val="visible"/>
                                      </p:to>
                                    </p:set>
                                    <p:animEffect transition="in" filter="wipe(left)">
                                      <p:cBhvr>
                                        <p:cTn id="85" dur="500"/>
                                        <p:tgtEl>
                                          <p:spTgt spid="103450">
                                            <p:txEl>
                                              <p:pRg st="0" end="0"/>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3"/>
                                        </p:tgtEl>
                                        <p:attrNameLst>
                                          <p:attrName>style.visibility</p:attrName>
                                        </p:attrNameLst>
                                      </p:cBhvr>
                                      <p:to>
                                        <p:strVal val="visible"/>
                                      </p:to>
                                    </p:set>
                                    <p:animEffect transition="in" filter="wipe(left)">
                                      <p:cBhvr>
                                        <p:cTn id="90" dur="500"/>
                                        <p:tgtEl>
                                          <p:spTgt spid="3"/>
                                        </p:tgtEl>
                                      </p:cBhvr>
                                    </p:animEffect>
                                  </p:childTnLst>
                                </p:cTn>
                              </p:par>
                              <p:par>
                                <p:cTn id="91" presetID="22" presetClass="entr" presetSubtype="8" fill="hold" grpId="0" nodeType="withEffect">
                                  <p:stCondLst>
                                    <p:cond delay="0"/>
                                  </p:stCondLst>
                                  <p:childTnLst>
                                    <p:set>
                                      <p:cBhvr>
                                        <p:cTn id="92" dur="1" fill="hold">
                                          <p:stCondLst>
                                            <p:cond delay="0"/>
                                          </p:stCondLst>
                                        </p:cTn>
                                        <p:tgtEl>
                                          <p:spTgt spid="103453"/>
                                        </p:tgtEl>
                                        <p:attrNameLst>
                                          <p:attrName>style.visibility</p:attrName>
                                        </p:attrNameLst>
                                      </p:cBhvr>
                                      <p:to>
                                        <p:strVal val="visible"/>
                                      </p:to>
                                    </p:set>
                                    <p:animEffect transition="in" filter="wipe(left)">
                                      <p:cBhvr>
                                        <p:cTn id="93" dur="500"/>
                                        <p:tgtEl>
                                          <p:spTgt spid="103453"/>
                                        </p:tgtEl>
                                      </p:cBhvr>
                                    </p:animEffect>
                                  </p:childTnLst>
                                </p:cTn>
                              </p:par>
                              <p:par>
                                <p:cTn id="94" presetID="22" presetClass="entr" presetSubtype="8" fill="hold" grpId="0" nodeType="withEffect">
                                  <p:stCondLst>
                                    <p:cond delay="0"/>
                                  </p:stCondLst>
                                  <p:childTnLst>
                                    <p:set>
                                      <p:cBhvr>
                                        <p:cTn id="95" dur="1" fill="hold">
                                          <p:stCondLst>
                                            <p:cond delay="0"/>
                                          </p:stCondLst>
                                        </p:cTn>
                                        <p:tgtEl>
                                          <p:spTgt spid="15"/>
                                        </p:tgtEl>
                                        <p:attrNameLst>
                                          <p:attrName>style.visibility</p:attrName>
                                        </p:attrNameLst>
                                      </p:cBhvr>
                                      <p:to>
                                        <p:strVal val="visible"/>
                                      </p:to>
                                    </p:set>
                                    <p:animEffect transition="in" filter="wipe(left)">
                                      <p:cBhvr>
                                        <p:cTn id="96" dur="500"/>
                                        <p:tgtEl>
                                          <p:spTgt spid="15"/>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103454"/>
                                        </p:tgtEl>
                                        <p:attrNameLst>
                                          <p:attrName>style.visibility</p:attrName>
                                        </p:attrNameLst>
                                      </p:cBhvr>
                                      <p:to>
                                        <p:strVal val="visible"/>
                                      </p:to>
                                    </p:set>
                                    <p:animEffect transition="in" filter="wipe(left)">
                                      <p:cBhvr>
                                        <p:cTn id="101" dur="500"/>
                                        <p:tgtEl>
                                          <p:spTgt spid="103454"/>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103455"/>
                                        </p:tgtEl>
                                        <p:attrNameLst>
                                          <p:attrName>style.visibility</p:attrName>
                                        </p:attrNameLst>
                                      </p:cBhvr>
                                      <p:to>
                                        <p:strVal val="visible"/>
                                      </p:to>
                                    </p:set>
                                    <p:animEffect transition="in" filter="wipe(left)">
                                      <p:cBhvr>
                                        <p:cTn id="106" dur="500"/>
                                        <p:tgtEl>
                                          <p:spTgt spid="103455"/>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grpId="0" nodeType="clickEffect">
                                  <p:stCondLst>
                                    <p:cond delay="0"/>
                                  </p:stCondLst>
                                  <p:childTnLst>
                                    <p:set>
                                      <p:cBhvr>
                                        <p:cTn id="110" dur="1" fill="hold">
                                          <p:stCondLst>
                                            <p:cond delay="0"/>
                                          </p:stCondLst>
                                        </p:cTn>
                                        <p:tgtEl>
                                          <p:spTgt spid="5"/>
                                        </p:tgtEl>
                                        <p:attrNameLst>
                                          <p:attrName>style.visibility</p:attrName>
                                        </p:attrNameLst>
                                      </p:cBhvr>
                                      <p:to>
                                        <p:strVal val="visible"/>
                                      </p:to>
                                    </p:set>
                                    <p:animEffect transition="in" filter="wipe(left)">
                                      <p:cBhvr>
                                        <p:cTn id="111" dur="500"/>
                                        <p:tgtEl>
                                          <p:spTgt spid="5"/>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grpId="0" nodeType="clickEffect">
                                  <p:stCondLst>
                                    <p:cond delay="0"/>
                                  </p:stCondLst>
                                  <p:childTnLst>
                                    <p:set>
                                      <p:cBhvr>
                                        <p:cTn id="115" dur="1" fill="hold">
                                          <p:stCondLst>
                                            <p:cond delay="0"/>
                                          </p:stCondLst>
                                        </p:cTn>
                                        <p:tgtEl>
                                          <p:spTgt spid="103457"/>
                                        </p:tgtEl>
                                        <p:attrNameLst>
                                          <p:attrName>style.visibility</p:attrName>
                                        </p:attrNameLst>
                                      </p:cBhvr>
                                      <p:to>
                                        <p:strVal val="visible"/>
                                      </p:to>
                                    </p:set>
                                    <p:animEffect transition="in" filter="wipe(left)">
                                      <p:cBhvr>
                                        <p:cTn id="116" dur="500"/>
                                        <p:tgtEl>
                                          <p:spTgt spid="103457"/>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grpId="0" nodeType="clickEffect">
                                  <p:stCondLst>
                                    <p:cond delay="0"/>
                                  </p:stCondLst>
                                  <p:childTnLst>
                                    <p:set>
                                      <p:cBhvr>
                                        <p:cTn id="120" dur="1" fill="hold">
                                          <p:stCondLst>
                                            <p:cond delay="0"/>
                                          </p:stCondLst>
                                        </p:cTn>
                                        <p:tgtEl>
                                          <p:spTgt spid="103458">
                                            <p:txEl>
                                              <p:pRg st="4294967295" end="4294967295"/>
                                            </p:txEl>
                                          </p:spTgt>
                                        </p:tgtEl>
                                        <p:attrNameLst>
                                          <p:attrName>style.visibility</p:attrName>
                                        </p:attrNameLst>
                                      </p:cBhvr>
                                      <p:to>
                                        <p:strVal val="visible"/>
                                      </p:to>
                                    </p:set>
                                    <p:animEffect transition="in" filter="wipe(left)">
                                      <p:cBhvr>
                                        <p:cTn id="121" dur="500"/>
                                        <p:tgtEl>
                                          <p:spTgt spid="103458">
                                            <p:txEl>
                                              <p:pRg st="4294967295" end="4294967295"/>
                                            </p:txEl>
                                          </p:spTgt>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103458">
                                            <p:txEl>
                                              <p:pRg st="0" end="0"/>
                                            </p:txEl>
                                          </p:spTgt>
                                        </p:tgtEl>
                                        <p:attrNameLst>
                                          <p:attrName>style.visibility</p:attrName>
                                        </p:attrNameLst>
                                      </p:cBhvr>
                                      <p:to>
                                        <p:strVal val="visible"/>
                                      </p:to>
                                    </p:set>
                                    <p:animEffect transition="in" filter="wipe(left)">
                                      <p:cBhvr>
                                        <p:cTn id="126" dur="500"/>
                                        <p:tgtEl>
                                          <p:spTgt spid="103458">
                                            <p:txEl>
                                              <p:pRg st="0" end="0"/>
                                            </p:txEl>
                                          </p:spTgt>
                                        </p:tgtEl>
                                      </p:cBhvr>
                                    </p:animEffect>
                                  </p:childTnLst>
                                </p:cTn>
                              </p:par>
                              <p:par>
                                <p:cTn id="127" presetID="22" presetClass="entr" presetSubtype="8" fill="hold" grpId="0" nodeType="withEffect">
                                  <p:stCondLst>
                                    <p:cond delay="0"/>
                                  </p:stCondLst>
                                  <p:childTnLst>
                                    <p:set>
                                      <p:cBhvr>
                                        <p:cTn id="128" dur="1" fill="hold">
                                          <p:stCondLst>
                                            <p:cond delay="0"/>
                                          </p:stCondLst>
                                        </p:cTn>
                                        <p:tgtEl>
                                          <p:spTgt spid="103459"/>
                                        </p:tgtEl>
                                        <p:attrNameLst>
                                          <p:attrName>style.visibility</p:attrName>
                                        </p:attrNameLst>
                                      </p:cBhvr>
                                      <p:to>
                                        <p:strVal val="visible"/>
                                      </p:to>
                                    </p:set>
                                    <p:animEffect transition="in" filter="wipe(left)">
                                      <p:cBhvr>
                                        <p:cTn id="129" dur="500"/>
                                        <p:tgtEl>
                                          <p:spTgt spid="103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6" grpId="0"/>
      <p:bldP spid="103432" grpId="0" autoUpdateAnimBg="0" build="p"/>
      <p:bldP spid="103437" grpId="0" bldLvl="0" animBg="1"/>
      <p:bldP spid="103438" grpId="0" bldLvl="0" animBg="1"/>
      <p:bldP spid="103441" grpId="0" bldLvl="0" animBg="1"/>
      <p:bldP spid="103443" grpId="0" bldLvl="0" animBg="1"/>
      <p:bldP spid="103444" grpId="0" autoUpdateAnimBg="0" build="p"/>
      <p:bldP spid="103445" grpId="0" bldLvl="0" animBg="1"/>
      <p:bldP spid="103446" grpId="0" bldLvl="0" animBg="1"/>
      <p:bldP spid="103447" grpId="0" autoUpdateAnimBg="0" build="p"/>
      <p:bldP spid="103448" grpId="0" autoUpdateAnimBg="0" build="p"/>
      <p:bldP spid="103449" grpId="0" bldLvl="0" animBg="1"/>
      <p:bldP spid="103450" grpId="0" autoUpdateAnimBg="0" build="p"/>
      <p:bldP spid="103453" grpId="0" bldLvl="0" animBg="1"/>
      <p:bldP spid="103454" grpId="0" bldLvl="0" animBg="1"/>
      <p:bldP spid="103455" grpId="0" bldLvl="0" animBg="1"/>
      <p:bldP spid="103457" grpId="0" bldLvl="0" animBg="1"/>
      <p:bldP spid="103458" grpId="0" autoUpdateAnimBg="0" build="p"/>
      <p:bldP spid="103459" grpId="0" bldLvl="0" animBg="1"/>
      <p:bldP spid="103435" grpId="0" bldLvl="0" animBg="1"/>
      <p:bldP spid="103440" grpId="0" bldLvl="0" animBg="1"/>
      <p:bldP spid="15" grpId="0" bldLvl="0" animBg="1"/>
      <p:bldP spid="5"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highlight>
                  <a:srgbClr val="FFFF00"/>
                </a:highlight>
              </a:rPr>
              <a:t>数量积</a:t>
            </a:r>
            <a:r>
              <a:rPr lang="en-US" altLang="zh-CN">
                <a:highlight>
                  <a:srgbClr val="FFFF00"/>
                </a:highlight>
              </a:rPr>
              <a:t> </a:t>
            </a:r>
            <a:endParaRPr lang="zh-CN" altLang="en-US">
              <a:highlight>
                <a:srgbClr val="FFFF00"/>
              </a:high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
          <p:cNvSpPr/>
          <p:nvPr/>
        </p:nvSpPr>
        <p:spPr>
          <a:xfrm>
            <a:off x="1477734" y="1297822"/>
            <a:ext cx="9302837" cy="1225054"/>
          </a:xfrm>
          <a:prstGeom prst="rect">
            <a:avLst/>
          </a:prstGeom>
          <a:solidFill>
            <a:srgbClr val="04926A">
              <a:alpha val="2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9" name="PA-102231"/>
          <p:cNvSpPr/>
          <p:nvPr>
            <p:custDataLst>
              <p:tags r:id="rId1"/>
            </p:custDataLst>
          </p:nvPr>
        </p:nvSpPr>
        <p:spPr>
          <a:xfrm>
            <a:off x="930798" y="1504704"/>
            <a:ext cx="1093871" cy="787792"/>
          </a:xfrm>
          <a:prstGeom prst="rect">
            <a:avLst/>
          </a:prstGeom>
          <a:solidFill>
            <a:schemeClr val="bg1"/>
          </a:solidFill>
          <a:ln w="19050">
            <a:gradFill>
              <a:gsLst>
                <a:gs pos="5000">
                  <a:srgbClr val="17A45E"/>
                </a:gs>
                <a:gs pos="56000">
                  <a:srgbClr val="039267"/>
                </a:gs>
                <a:gs pos="100000">
                  <a:srgbClr val="068983"/>
                </a:gs>
              </a:gsLst>
              <a:lin ang="10800000" scaled="0"/>
            </a:gradFill>
          </a:ln>
          <a:effectLst>
            <a:outerShdw blurRad="203200" dist="63500" dir="3000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n>
                <a:solidFill>
                  <a:schemeClr val="bg1">
                    <a:lumMod val="95000"/>
                  </a:schemeClr>
                </a:solidFill>
              </a:ln>
              <a:cs typeface="+mn-ea"/>
              <a:sym typeface="+mn-lt"/>
            </a:endParaRPr>
          </a:p>
        </p:txBody>
      </p:sp>
      <p:sp>
        <p:nvSpPr>
          <p:cNvPr id="20" name="Rectangle 2"/>
          <p:cNvSpPr txBox="1">
            <a:spLocks noChangeArrowheads="1"/>
          </p:cNvSpPr>
          <p:nvPr/>
        </p:nvSpPr>
        <p:spPr>
          <a:xfrm>
            <a:off x="930799" y="1651108"/>
            <a:ext cx="1341632" cy="526262"/>
          </a:xfrm>
          <a:noFill/>
          <a:ln>
            <a:noFill/>
          </a:ln>
        </p:spPr>
        <p:txBody>
          <a:bodyPr>
            <a:no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pPr>
              <a:lnSpc>
                <a:spcPct val="100000"/>
              </a:lnSpc>
            </a:pPr>
            <a:r>
              <a:rPr kumimoji="1" lang="zh-CN" altLang="en-US" sz="2800" dirty="0">
                <a:solidFill>
                  <a:srgbClr val="04926A"/>
                </a:solidFill>
                <a:latin typeface="微软雅黑" panose="020B0503020204020204" charset="-122"/>
                <a:ea typeface="微软雅黑" panose="020B0503020204020204" charset="-122"/>
                <a:cs typeface="+mn-cs"/>
              </a:rPr>
              <a:t>定义1</a:t>
            </a:r>
            <a:endParaRPr kumimoji="1" lang="en-US" altLang="zh-CN" sz="2800" dirty="0">
              <a:solidFill>
                <a:srgbClr val="04926A"/>
              </a:solidFill>
              <a:latin typeface="微软雅黑" panose="020B0503020204020204" charset="-122"/>
              <a:ea typeface="微软雅黑" panose="020B0503020204020204" charset="-122"/>
              <a:cs typeface="+mn-cs"/>
            </a:endParaRPr>
          </a:p>
        </p:txBody>
      </p:sp>
      <p:sp>
        <p:nvSpPr>
          <p:cNvPr id="21" name="Text Box 23"/>
          <p:cNvSpPr txBox="1">
            <a:spLocks noChangeArrowheads="1"/>
          </p:cNvSpPr>
          <p:nvPr/>
        </p:nvSpPr>
        <p:spPr bwMode="auto">
          <a:xfrm>
            <a:off x="1271335" y="646672"/>
            <a:ext cx="2133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defRPr/>
            </a:pPr>
            <a:r>
              <a:rPr kumimoji="1" lang="en-US" altLang="zh-CN" sz="2800" b="1" dirty="0">
                <a:solidFill>
                  <a:srgbClr val="04926A"/>
                </a:solidFill>
                <a:latin typeface="微软雅黑" panose="020B0503020204020204" charset="-122"/>
                <a:ea typeface="微软雅黑" panose="020B0503020204020204" charset="-122"/>
              </a:rPr>
              <a:t>1.  </a:t>
            </a:r>
            <a:r>
              <a:rPr kumimoji="1" lang="zh-CN" altLang="en-US" sz="2800" b="1" dirty="0">
                <a:solidFill>
                  <a:srgbClr val="04926A"/>
                </a:solidFill>
                <a:latin typeface="微软雅黑" panose="020B0503020204020204" charset="-122"/>
                <a:ea typeface="微软雅黑" panose="020B0503020204020204" charset="-122"/>
              </a:rPr>
              <a:t>定义</a:t>
            </a:r>
            <a:endParaRPr kumimoji="1" lang="zh-CN" altLang="en-US" sz="2800" b="1" dirty="0">
              <a:solidFill>
                <a:srgbClr val="04926A"/>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22" name="Text Box 25"/>
              <p:cNvSpPr txBox="1">
                <a:spLocks noChangeArrowheads="1"/>
              </p:cNvSpPr>
              <p:nvPr/>
            </p:nvSpPr>
            <p:spPr bwMode="auto">
              <a:xfrm>
                <a:off x="2244167" y="1369753"/>
                <a:ext cx="84518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2800" dirty="0">
                    <a:solidFill>
                      <a:srgbClr val="000000"/>
                    </a:solidFill>
                    <a:latin typeface="Times New Roman" panose="02020603050405020304" pitchFamily="18" charset="0"/>
                  </a:rPr>
                  <a:t>对于任意两个向量</a:t>
                </a:r>
                <a14:m>
                  <m:oMath xmlns:m="http://schemas.openxmlformats.org/officeDocument/2006/math">
                    <m:r>
                      <a:rPr kumimoji="1" lang="en-US" altLang="zh-CN" sz="2800" b="1" i="1" dirty="0">
                        <a:latin typeface="Cambria Math" panose="02040503050406030204" charset="0"/>
                        <a:ea typeface="黑体" panose="02010609060101010101" pitchFamily="49" charset="-122"/>
                      </a:rPr>
                      <m:t>𝒂</m:t>
                    </m:r>
                  </m:oMath>
                </a14:m>
                <a:r>
                  <a:rPr lang="zh-CN" altLang="en-US" sz="2800" dirty="0">
                    <a:solidFill>
                      <a:srgbClr val="000000"/>
                    </a:solidFill>
                    <a:latin typeface="Times New Roman" panose="02020603050405020304" pitchFamily="18" charset="0"/>
                  </a:rPr>
                  <a:t>和</a:t>
                </a:r>
                <a14:m>
                  <m:oMath xmlns:m="http://schemas.openxmlformats.org/officeDocument/2006/math">
                    <m:r>
                      <a:rPr kumimoji="1" lang="en-US" altLang="zh-CN" sz="2800" b="1" i="1" dirty="0">
                        <a:latin typeface="Cambria Math" panose="02040503050406030204" charset="0"/>
                        <a:ea typeface="黑体" panose="02010609060101010101" pitchFamily="49" charset="-122"/>
                      </a:rPr>
                      <m:t>𝒃</m:t>
                    </m:r>
                    <m:r>
                      <a:rPr kumimoji="1" lang="en-US" altLang="zh-CN" sz="2800" b="0" i="1" dirty="0" smtClean="0">
                        <a:latin typeface="Cambria Math" panose="02040503050406030204" charset="0"/>
                        <a:ea typeface="黑体" panose="02010609060101010101" pitchFamily="49" charset="-122"/>
                      </a:rPr>
                      <m:t>, </m:t>
                    </m:r>
                  </m:oMath>
                </a14:m>
                <a:r>
                  <a:rPr lang="zh-CN" altLang="en-US" sz="2800" dirty="0">
                    <a:solidFill>
                      <a:srgbClr val="000000"/>
                    </a:solidFill>
                    <a:latin typeface="Times New Roman" panose="02020603050405020304" pitchFamily="18" charset="0"/>
                  </a:rPr>
                  <a:t>称</a:t>
                </a:r>
                <a:r>
                  <a:rPr kumimoji="1" lang="en-US" altLang="zh-CN" sz="2800" dirty="0">
                    <a:latin typeface="Cambria Math" panose="02040503050406030204" charset="0"/>
                    <a:ea typeface="黑体" panose="02010609060101010101" pitchFamily="49" charset="-122"/>
                    <a:cs typeface="黑体" panose="02010609060101010101" pitchFamily="49" charset="-122"/>
                  </a:rPr>
                  <a:t>| </a:t>
                </a:r>
                <a14:m>
                  <m:oMath xmlns:m="http://schemas.openxmlformats.org/officeDocument/2006/math">
                    <m:r>
                      <a:rPr kumimoji="1" lang="en-US" altLang="zh-CN" sz="2800" b="1" i="1" dirty="0">
                        <a:latin typeface="Cambria Math" panose="02040503050406030204" charset="0"/>
                        <a:ea typeface="黑体" panose="02010609060101010101" pitchFamily="49" charset="-122"/>
                      </a:rPr>
                      <m:t>𝒂</m:t>
                    </m:r>
                  </m:oMath>
                </a14:m>
                <a:r>
                  <a:rPr kumimoji="1" lang="en-US" altLang="zh-CN" sz="2800" dirty="0">
                    <a:latin typeface="Cambria Math" panose="02040503050406030204" charset="0"/>
                    <a:ea typeface="黑体" panose="02010609060101010101" pitchFamily="49" charset="-122"/>
                    <a:cs typeface="黑体" panose="02010609060101010101" pitchFamily="49" charset="-122"/>
                  </a:rPr>
                  <a:t> | | </a:t>
                </a:r>
                <a14:m>
                  <m:oMath xmlns:m="http://schemas.openxmlformats.org/officeDocument/2006/math">
                    <m:r>
                      <a:rPr kumimoji="1" lang="en-US" altLang="zh-CN" sz="2800" b="1" i="1" dirty="0">
                        <a:latin typeface="Cambria Math" panose="02040503050406030204" charset="0"/>
                        <a:ea typeface="黑体" panose="02010609060101010101" pitchFamily="49" charset="-122"/>
                      </a:rPr>
                      <m:t>𝒃</m:t>
                    </m:r>
                  </m:oMath>
                </a14:m>
                <a:r>
                  <a:rPr kumimoji="1" lang="en-US" altLang="zh-CN" sz="2800" dirty="0">
                    <a:latin typeface="Cambria Math" panose="02040503050406030204" charset="0"/>
                    <a:ea typeface="黑体" panose="02010609060101010101" pitchFamily="49" charset="-122"/>
                    <a:cs typeface="黑体" panose="02010609060101010101" pitchFamily="49" charset="-122"/>
                  </a:rPr>
                  <a:t> | cos</a:t>
                </a:r>
                <a:r>
                  <a:rPr kumimoji="1" lang="en-US" altLang="zh-CN" sz="2800" i="1" dirty="0">
                    <a:latin typeface="Cambria Math" panose="02040503050406030204" charset="0"/>
                    <a:ea typeface="黑体" panose="02010609060101010101" pitchFamily="49" charset="-122"/>
                    <a:cs typeface="黑体" panose="02010609060101010101" pitchFamily="49" charset="-122"/>
                    <a:sym typeface="Symbol" panose="05050102010706020507" pitchFamily="18" charset="2"/>
                  </a:rPr>
                  <a:t></a:t>
                </a:r>
                <a:r>
                  <a:rPr kumimoji="1" lang="en-US" altLang="zh-CN" sz="2800" dirty="0">
                    <a:latin typeface="Cambria Math" panose="02040503050406030204" charset="0"/>
                    <a:ea typeface="黑体" panose="02010609060101010101" pitchFamily="49" charset="-122"/>
                    <a:cs typeface="黑体" panose="02010609060101010101" pitchFamily="49" charset="-122"/>
                    <a:sym typeface="Symbol" panose="05050102010706020507" pitchFamily="18" charset="2"/>
                  </a:rPr>
                  <a:t> </a:t>
                </a:r>
                <a:r>
                  <a:rPr lang="zh-CN" altLang="en-US" sz="2800" dirty="0">
                    <a:solidFill>
                      <a:srgbClr val="000000"/>
                    </a:solidFill>
                    <a:latin typeface="Times New Roman" panose="02020603050405020304" pitchFamily="18" charset="0"/>
                  </a:rPr>
                  <a:t>为</a:t>
                </a:r>
                <a14:m>
                  <m:oMath xmlns:m="http://schemas.openxmlformats.org/officeDocument/2006/math">
                    <m:r>
                      <a:rPr kumimoji="1" lang="en-US" altLang="zh-CN" sz="2800" b="1" i="1" dirty="0">
                        <a:latin typeface="Cambria Math" panose="02040503050406030204" charset="0"/>
                        <a:ea typeface="黑体" panose="02010609060101010101" pitchFamily="49" charset="-122"/>
                      </a:rPr>
                      <m:t>𝒂</m:t>
                    </m:r>
                  </m:oMath>
                </a14:m>
                <a:endParaRPr lang="en-US" altLang="zh-CN" sz="2800" b="1" dirty="0">
                  <a:latin typeface="Cambria Math" panose="02040503050406030204" charset="0"/>
                  <a:ea typeface="MS Mincho" panose="02020609040205080304" charset="-128"/>
                  <a:cs typeface="Cambria Math" panose="02040503050406030204" charset="0"/>
                </a:endParaRPr>
              </a:p>
            </p:txBody>
          </p:sp>
        </mc:Choice>
        <mc:Fallback>
          <p:sp>
            <p:nvSpPr>
              <p:cNvPr id="22" name="Text Box 25"/>
              <p:cNvSpPr txBox="1">
                <a:spLocks noRot="1" noChangeAspect="1" noMove="1" noResize="1" noEditPoints="1" noAdjustHandles="1" noChangeArrowheads="1" noChangeShapeType="1" noTextEdit="1"/>
              </p:cNvSpPr>
              <p:nvPr/>
            </p:nvSpPr>
            <p:spPr bwMode="auto">
              <a:xfrm>
                <a:off x="2244167" y="1369753"/>
                <a:ext cx="8451850" cy="523220"/>
              </a:xfrm>
              <a:prstGeom prst="rect">
                <a:avLst/>
              </a:prstGeom>
              <a:blipFill rotWithShape="1">
                <a:blip r:embed="rId2"/>
                <a:stretch>
                  <a:fillRect l="-1" t="-11" r="1" b="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Rectangle 26"/>
              <p:cNvSpPr>
                <a:spLocks noChangeArrowheads="1"/>
              </p:cNvSpPr>
              <p:nvPr/>
            </p:nvSpPr>
            <p:spPr bwMode="auto">
              <a:xfrm>
                <a:off x="2244167" y="1900964"/>
                <a:ext cx="52260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dirty="0">
                    <a:solidFill>
                      <a:srgbClr val="000000"/>
                    </a:solidFill>
                    <a:latin typeface="Times New Roman" panose="02020603050405020304" pitchFamily="18" charset="0"/>
                  </a:rPr>
                  <a:t>与</a:t>
                </a:r>
                <a14:m>
                  <m:oMath xmlns:m="http://schemas.openxmlformats.org/officeDocument/2006/math">
                    <m:r>
                      <a:rPr kumimoji="1" lang="en-US" altLang="zh-CN" sz="2800" b="1" i="1" dirty="0">
                        <a:latin typeface="Cambria Math" panose="02040503050406030204" charset="0"/>
                        <a:ea typeface="黑体" panose="02010609060101010101" pitchFamily="49" charset="-122"/>
                      </a:rPr>
                      <m:t>𝒃</m:t>
                    </m:r>
                  </m:oMath>
                </a14:m>
                <a:r>
                  <a:rPr lang="zh-CN" altLang="en-US" sz="2800" dirty="0">
                    <a:solidFill>
                      <a:srgbClr val="000000"/>
                    </a:solidFill>
                    <a:latin typeface="Times New Roman" panose="02020603050405020304" pitchFamily="18" charset="0"/>
                  </a:rPr>
                  <a:t>的</a:t>
                </a:r>
                <a:r>
                  <a:rPr lang="zh-CN" altLang="en-US" sz="2800" b="1" dirty="0">
                    <a:solidFill>
                      <a:srgbClr val="04926A"/>
                    </a:solidFill>
                    <a:latin typeface="Times New Roman" panose="02020603050405020304" pitchFamily="18" charset="0"/>
                  </a:rPr>
                  <a:t>数量积</a:t>
                </a:r>
                <a:r>
                  <a:rPr lang="zh-CN" altLang="en-US" sz="2800" dirty="0">
                    <a:solidFill>
                      <a:srgbClr val="000000"/>
                    </a:solidFill>
                    <a:latin typeface="Times New Roman" panose="02020603050405020304" pitchFamily="18" charset="0"/>
                  </a:rPr>
                  <a:t>，记作 </a:t>
                </a:r>
                <a14:m>
                  <m:oMath xmlns:m="http://schemas.openxmlformats.org/officeDocument/2006/math">
                    <m:r>
                      <a:rPr kumimoji="1" lang="en-US" altLang="zh-CN" sz="2800" b="1" i="1" dirty="0">
                        <a:latin typeface="Cambria Math" panose="02040503050406030204" charset="0"/>
                        <a:ea typeface="黑体" panose="02010609060101010101" pitchFamily="49" charset="-122"/>
                      </a:rPr>
                      <m:t>𝒂</m:t>
                    </m:r>
                  </m:oMath>
                </a14:m>
                <a:r>
                  <a:rPr lang="en-US" altLang="zh-CN" sz="2800" b="1" dirty="0">
                    <a:solidFill>
                      <a:srgbClr val="000000"/>
                    </a:solidFill>
                    <a:latin typeface="Times New Roman" panose="02020603050405020304" pitchFamily="18" charset="0"/>
                  </a:rPr>
                  <a:t> · </a:t>
                </a:r>
                <a14:m>
                  <m:oMath xmlns:m="http://schemas.openxmlformats.org/officeDocument/2006/math">
                    <m:r>
                      <a:rPr kumimoji="1" lang="en-US" altLang="zh-CN" sz="2800" b="1" i="1" dirty="0">
                        <a:latin typeface="Cambria Math" panose="02040503050406030204" charset="0"/>
                        <a:ea typeface="黑体" panose="02010609060101010101" pitchFamily="49" charset="-122"/>
                      </a:rPr>
                      <m:t>𝒃</m:t>
                    </m:r>
                  </m:oMath>
                </a14:m>
                <a:r>
                  <a:rPr lang="en-US" altLang="zh-CN" sz="2800" b="1" dirty="0">
                    <a:solidFill>
                      <a:srgbClr val="000000"/>
                    </a:solidFill>
                    <a:latin typeface="Times New Roman" panose="02020603050405020304" pitchFamily="18" charset="0"/>
                  </a:rPr>
                  <a:t> </a:t>
                </a:r>
                <a:r>
                  <a:rPr lang="zh-CN" altLang="en-US" sz="2800" dirty="0">
                    <a:solidFill>
                      <a:srgbClr val="000000"/>
                    </a:solidFill>
                    <a:latin typeface="Times New Roman" panose="02020603050405020304" pitchFamily="18" charset="0"/>
                  </a:rPr>
                  <a:t>，即</a:t>
                </a:r>
                <a:endParaRPr lang="zh-CN" altLang="en-US" sz="2800" dirty="0">
                  <a:solidFill>
                    <a:srgbClr val="000000"/>
                  </a:solidFill>
                  <a:latin typeface="Times New Roman" panose="02020603050405020304" pitchFamily="18" charset="0"/>
                </a:endParaRPr>
              </a:p>
            </p:txBody>
          </p:sp>
        </mc:Choice>
        <mc:Fallback>
          <p:sp>
            <p:nvSpPr>
              <p:cNvPr id="23" name="Rectangle 26"/>
              <p:cNvSpPr>
                <a:spLocks noRot="1" noChangeAspect="1" noMove="1" noResize="1" noEditPoints="1" noAdjustHandles="1" noChangeArrowheads="1" noChangeShapeType="1" noTextEdit="1"/>
              </p:cNvSpPr>
              <p:nvPr/>
            </p:nvSpPr>
            <p:spPr bwMode="auto">
              <a:xfrm>
                <a:off x="2244167" y="1900964"/>
                <a:ext cx="5226050" cy="523220"/>
              </a:xfrm>
              <a:prstGeom prst="rect">
                <a:avLst/>
              </a:prstGeom>
              <a:blipFill rotWithShape="1">
                <a:blip r:embed="rId3"/>
                <a:stretch>
                  <a:fillRect l="-1" t="-78" r="1" b="7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 name="Rectangle 27"/>
              <p:cNvSpPr>
                <a:spLocks noChangeArrowheads="1"/>
              </p:cNvSpPr>
              <p:nvPr/>
            </p:nvSpPr>
            <p:spPr bwMode="auto">
              <a:xfrm>
                <a:off x="3392170" y="2696210"/>
                <a:ext cx="3598545" cy="655320"/>
              </a:xfrm>
              <a:prstGeom prst="rect">
                <a:avLst/>
              </a:prstGeom>
              <a:solidFill>
                <a:srgbClr val="96D1C0"/>
              </a:solidFill>
              <a:ln w="9525">
                <a:noFill/>
                <a:miter lim="800000"/>
              </a:ln>
              <a:effectLst/>
            </p:spPr>
            <p:txBody>
              <a:bodyPr wrap="square">
                <a:noAutofit/>
              </a:bodyPr>
              <a:lstStyle/>
              <a:p>
                <a:pPr lvl="0" algn="ctr" fontAlgn="base">
                  <a:spcBef>
                    <a:spcPct val="0"/>
                  </a:spcBef>
                  <a:spcAft>
                    <a:spcPct val="0"/>
                  </a:spcAft>
                  <a:defRPr/>
                </a:pPr>
                <a14:m>
                  <m:oMath xmlns:m="http://schemas.openxmlformats.org/officeDocument/2006/math">
                    <m:r>
                      <a:rPr kumimoji="1" lang="en-US" altLang="zh-CN" sz="2800" b="1" i="1" dirty="0" smtClean="0">
                        <a:solidFill>
                          <a:schemeClr val="tx1"/>
                        </a:solidFill>
                        <a:highlight>
                          <a:srgbClr val="FFFF00"/>
                        </a:highlight>
                        <a:latin typeface="Cambria Math" panose="02040503050406030204" charset="0"/>
                        <a:ea typeface="Cambria Math" panose="02040503050406030204" charset="0"/>
                      </a:rPr>
                      <m:t>𝒂</m:t>
                    </m:r>
                    <m:r>
                      <a:rPr kumimoji="1" lang="en-US" altLang="zh-CN" sz="2800" b="1" i="1" dirty="0" smtClean="0">
                        <a:solidFill>
                          <a:schemeClr val="tx1"/>
                        </a:solidFill>
                        <a:highlight>
                          <a:srgbClr val="FFFF00"/>
                        </a:highlight>
                        <a:latin typeface="Cambria Math" panose="02040503050406030204" charset="0"/>
                        <a:ea typeface="Cambria Math" panose="02040503050406030204" charset="0"/>
                      </a:rPr>
                      <m:t>∙</m:t>
                    </m:r>
                    <m:r>
                      <a:rPr kumimoji="1" lang="en-US" altLang="zh-CN" sz="2800" b="1" i="1" dirty="0">
                        <a:solidFill>
                          <a:schemeClr val="tx1"/>
                        </a:solidFill>
                        <a:highlight>
                          <a:srgbClr val="FFFF00"/>
                        </a:highlight>
                        <a:latin typeface="Cambria Math" panose="02040503050406030204" charset="0"/>
                        <a:ea typeface="黑体" panose="02010609060101010101" pitchFamily="49" charset="-122"/>
                      </a:rPr>
                      <m:t>𝒃</m:t>
                    </m:r>
                    <m:r>
                      <a:rPr kumimoji="1" lang="en-US" altLang="zh-CN" sz="2800" b="0" i="1" dirty="0" smtClean="0">
                        <a:solidFill>
                          <a:schemeClr val="tx1"/>
                        </a:solidFill>
                        <a:highlight>
                          <a:srgbClr val="FFFF00"/>
                        </a:highlight>
                        <a:latin typeface="Cambria Math" panose="02040503050406030204" charset="0"/>
                        <a:ea typeface="黑体" panose="02010609060101010101" pitchFamily="49" charset="-122"/>
                      </a:rPr>
                      <m:t>=</m:t>
                    </m:r>
                    <m:d>
                      <m:dPr>
                        <m:begChr m:val="|"/>
                        <m:endChr m:val="|"/>
                        <m:ctrlPr>
                          <a:rPr kumimoji="1" lang="en-US" altLang="zh-CN" sz="2800" b="1" i="1" dirty="0" smtClean="0">
                            <a:solidFill>
                              <a:schemeClr val="tx1"/>
                            </a:solidFill>
                            <a:highlight>
                              <a:srgbClr val="FFFF00"/>
                            </a:highlight>
                            <a:latin typeface="Cambria Math" panose="02040503050406030204" charset="0"/>
                            <a:ea typeface="黑体" panose="02010609060101010101" pitchFamily="49" charset="-122"/>
                          </a:rPr>
                        </m:ctrlPr>
                      </m:dPr>
                      <m:e>
                        <m:r>
                          <a:rPr kumimoji="1" lang="en-US" altLang="zh-CN" sz="2800" b="1" i="1" dirty="0">
                            <a:solidFill>
                              <a:schemeClr val="tx1"/>
                            </a:solidFill>
                            <a:highlight>
                              <a:srgbClr val="FFFF00"/>
                            </a:highlight>
                            <a:latin typeface="Cambria Math" panose="02040503050406030204" charset="0"/>
                            <a:ea typeface="黑体" panose="02010609060101010101" pitchFamily="49" charset="-122"/>
                          </a:rPr>
                          <m:t>𝒂</m:t>
                        </m:r>
                      </m:e>
                    </m:d>
                    <m:d>
                      <m:dPr>
                        <m:begChr m:val="|"/>
                        <m:endChr m:val="|"/>
                        <m:ctrlPr>
                          <a:rPr kumimoji="1" lang="en-US" altLang="zh-CN" sz="2800" b="1" i="1" dirty="0" smtClean="0">
                            <a:solidFill>
                              <a:schemeClr val="tx1"/>
                            </a:solidFill>
                            <a:highlight>
                              <a:srgbClr val="FFFF00"/>
                            </a:highlight>
                            <a:latin typeface="Cambria Math" panose="02040503050406030204" charset="0"/>
                            <a:ea typeface="黑体" panose="02010609060101010101" pitchFamily="49" charset="-122"/>
                          </a:rPr>
                        </m:ctrlPr>
                      </m:dPr>
                      <m:e>
                        <m:r>
                          <a:rPr kumimoji="1" lang="en-US" altLang="zh-CN" sz="2800" b="1" i="1" dirty="0" smtClean="0">
                            <a:solidFill>
                              <a:schemeClr val="tx1"/>
                            </a:solidFill>
                            <a:highlight>
                              <a:srgbClr val="FFFF00"/>
                            </a:highlight>
                            <a:latin typeface="Cambria Math" panose="02040503050406030204" charset="0"/>
                            <a:ea typeface="黑体" panose="02010609060101010101" pitchFamily="49" charset="-122"/>
                          </a:rPr>
                          <m:t>𝒃</m:t>
                        </m:r>
                      </m:e>
                    </m:d>
                    <m:func>
                      <m:funcPr>
                        <m:ctrlPr>
                          <a:rPr kumimoji="1" lang="en-US" altLang="zh-CN" sz="2800" b="0" i="1" dirty="0" smtClean="0">
                            <a:solidFill>
                              <a:schemeClr val="tx1"/>
                            </a:solidFill>
                            <a:highlight>
                              <a:srgbClr val="FFFF00"/>
                            </a:highlight>
                            <a:latin typeface="Cambria Math" panose="02040503050406030204" charset="0"/>
                            <a:ea typeface="黑体" panose="02010609060101010101" pitchFamily="49" charset="-122"/>
                          </a:rPr>
                        </m:ctrlPr>
                      </m:funcPr>
                      <m:fName>
                        <m:r>
                          <m:rPr>
                            <m:sty m:val="p"/>
                          </m:rPr>
                          <a:rPr kumimoji="1" lang="en-US" altLang="zh-CN" sz="2800" b="0" i="0" dirty="0" smtClean="0">
                            <a:solidFill>
                              <a:schemeClr val="tx1"/>
                            </a:solidFill>
                            <a:highlight>
                              <a:srgbClr val="FFFF00"/>
                            </a:highlight>
                            <a:latin typeface="Cambria Math" panose="02040503050406030204" charset="0"/>
                            <a:ea typeface="黑体" panose="02010609060101010101" pitchFamily="49" charset="-122"/>
                          </a:rPr>
                          <m:t>cos</m:t>
                        </m:r>
                      </m:fName>
                      <m:e>
                        <m:r>
                          <a:rPr kumimoji="1" lang="zh-CN" altLang="en-US" sz="2800" b="0" i="1" dirty="0" smtClean="0">
                            <a:solidFill>
                              <a:schemeClr val="tx1"/>
                            </a:solidFill>
                            <a:highlight>
                              <a:srgbClr val="FFFF00"/>
                            </a:highlight>
                            <a:latin typeface="Cambria Math" panose="02040503050406030204" charset="0"/>
                            <a:ea typeface="黑体" panose="02010609060101010101" pitchFamily="49" charset="-122"/>
                          </a:rPr>
                          <m:t>𝜃</m:t>
                        </m:r>
                      </m:e>
                    </m:func>
                  </m:oMath>
                </a14:m>
                <a:r>
                  <a:rPr kumimoji="1" lang="en-US" altLang="zh-CN" sz="2800" dirty="0">
                    <a:highlight>
                      <a:srgbClr val="FFFF00"/>
                    </a:highlight>
                    <a:latin typeface="Cambria Math" panose="02040503050406030204" charset="0"/>
                    <a:ea typeface="黑体" panose="02010609060101010101" pitchFamily="49" charset="-122"/>
                    <a:sym typeface="Symbol" panose="05050102010706020507" pitchFamily="18" charset="2"/>
                  </a:rPr>
                  <a:t> </a:t>
                </a:r>
                <a:endParaRPr kumimoji="1" lang="en-US" altLang="zh-CN" sz="2800" dirty="0">
                  <a:highlight>
                    <a:srgbClr val="FFFF00"/>
                  </a:highlight>
                  <a:latin typeface="Cambria Math" panose="02040503050406030204" charset="0"/>
                  <a:ea typeface="黑体" panose="02010609060101010101" pitchFamily="49" charset="-122"/>
                  <a:sym typeface="Symbol" panose="05050102010706020507" pitchFamily="18" charset="2"/>
                </a:endParaRPr>
              </a:p>
            </p:txBody>
          </p:sp>
        </mc:Choice>
        <mc:Fallback>
          <p:sp>
            <p:nvSpPr>
              <p:cNvPr id="24" name="Rectangle 27"/>
              <p:cNvSpPr>
                <a:spLocks noRot="1" noChangeAspect="1" noMove="1" noResize="1" noEditPoints="1" noAdjustHandles="1" noChangeArrowheads="1" noChangeShapeType="1" noTextEdit="1"/>
              </p:cNvSpPr>
              <p:nvPr/>
            </p:nvSpPr>
            <p:spPr bwMode="auto">
              <a:xfrm>
                <a:off x="3392170" y="2696210"/>
                <a:ext cx="3598545" cy="655320"/>
              </a:xfrm>
              <a:prstGeom prst="rect">
                <a:avLst/>
              </a:prstGeom>
              <a:blipFill rotWithShape="1">
                <a:blip r:embed="rId4"/>
                <a:stretch>
                  <a:fillRect/>
                </a:stretch>
              </a:blipFill>
              <a:ln w="9525">
                <a:noFill/>
                <a:miter lim="800000"/>
              </a:ln>
              <a:effectLst/>
            </p:spPr>
            <p:txBody>
              <a:bodyPr/>
              <a:lstStyle/>
              <a:p>
                <a:r>
                  <a:rPr lang="zh-CN" altLang="en-US">
                    <a:noFill/>
                  </a:rPr>
                  <a:t> </a:t>
                </a:r>
              </a:p>
            </p:txBody>
          </p:sp>
        </mc:Fallback>
      </mc:AlternateContent>
      <p:sp>
        <p:nvSpPr>
          <p:cNvPr id="32" name="Text Box 74"/>
          <p:cNvSpPr txBox="1">
            <a:spLocks noChangeArrowheads="1"/>
          </p:cNvSpPr>
          <p:nvPr/>
        </p:nvSpPr>
        <p:spPr bwMode="auto">
          <a:xfrm>
            <a:off x="2185735" y="3408762"/>
            <a:ext cx="2438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2800" dirty="0">
                <a:solidFill>
                  <a:srgbClr val="000000"/>
                </a:solidFill>
                <a:latin typeface="Times New Roman" panose="02020603050405020304" pitchFamily="18" charset="0"/>
              </a:rPr>
              <a:t>引例中功即为</a:t>
            </a:r>
            <a:endParaRPr lang="zh-CN" altLang="en-US" sz="2800" dirty="0">
              <a:solidFill>
                <a:srgbClr val="000000"/>
              </a:solidFill>
              <a:latin typeface="Times New Roman" panose="02020603050405020304" pitchFamily="18" charset="0"/>
            </a:endParaRPr>
          </a:p>
        </p:txBody>
      </p:sp>
      <mc:AlternateContent xmlns:mc="http://schemas.openxmlformats.org/markup-compatibility/2006">
        <mc:Choice xmlns:a14="http://schemas.microsoft.com/office/drawing/2010/main" Requires="a14">
          <p:sp>
            <p:nvSpPr>
              <p:cNvPr id="33" name="Object 76"/>
              <p:cNvSpPr txBox="1"/>
              <p:nvPr/>
            </p:nvSpPr>
            <p:spPr bwMode="auto">
              <a:xfrm>
                <a:off x="4465385" y="3432574"/>
                <a:ext cx="1887790" cy="477837"/>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800" b="0" i="1">
                          <a:latin typeface="Cambria Math" panose="02040503050406030204" charset="0"/>
                          <a:ea typeface="黑体" panose="02010609060101010101" pitchFamily="49" charset="-122"/>
                          <a:cs typeface="黑体" panose="02010609060101010101" pitchFamily="49" charset="-122"/>
                        </a:rPr>
                        <m:t>𝑊</m:t>
                      </m:r>
                      <m:r>
                        <a:rPr kumimoji="1" lang="zh-CN" altLang="en-US" sz="2800" b="0" i="1">
                          <a:latin typeface="Cambria Math" panose="02040503050406030204" charset="0"/>
                          <a:ea typeface="黑体" panose="02010609060101010101" pitchFamily="49" charset="-122"/>
                          <a:cs typeface="黑体" panose="02010609060101010101" pitchFamily="49" charset="-122"/>
                        </a:rPr>
                        <m:t>=</m:t>
                      </m:r>
                      <m:r>
                        <a:rPr kumimoji="1" lang="zh-CN" altLang="en-US" sz="2800" b="1" i="1">
                          <a:latin typeface="Cambria Math" panose="02040503050406030204" charset="0"/>
                          <a:ea typeface="黑体" panose="02010609060101010101" pitchFamily="49" charset="-122"/>
                          <a:cs typeface="黑体" panose="02010609060101010101" pitchFamily="49" charset="-122"/>
                        </a:rPr>
                        <m:t>𝑭</m:t>
                      </m:r>
                      <m:r>
                        <a:rPr kumimoji="1" lang="zh-CN" altLang="en-US" sz="2800" b="1" i="1">
                          <a:latin typeface="Cambria Math" panose="02040503050406030204" charset="0"/>
                          <a:ea typeface="黑体" panose="02010609060101010101" pitchFamily="49" charset="-122"/>
                          <a:cs typeface="黑体" panose="02010609060101010101" pitchFamily="49" charset="-122"/>
                        </a:rPr>
                        <m:t>⋅</m:t>
                      </m:r>
                      <m:r>
                        <a:rPr kumimoji="1" lang="zh-CN" altLang="en-US" sz="2800" b="1" i="1">
                          <a:latin typeface="Cambria Math" panose="02040503050406030204" charset="0"/>
                          <a:ea typeface="黑体" panose="02010609060101010101" pitchFamily="49" charset="-122"/>
                          <a:cs typeface="黑体" panose="02010609060101010101" pitchFamily="49" charset="-122"/>
                        </a:rPr>
                        <m:t>𝒔</m:t>
                      </m:r>
                      <m:r>
                        <a:rPr kumimoji="1" lang="zh-CN" altLang="en-US" sz="2800" b="0" i="1">
                          <a:latin typeface="Cambria Math" panose="02040503050406030204" charset="0"/>
                          <a:ea typeface="黑体" panose="02010609060101010101" pitchFamily="49" charset="-122"/>
                          <a:cs typeface="黑体" panose="02010609060101010101" pitchFamily="49" charset="-122"/>
                        </a:rPr>
                        <m:t>.</m:t>
                      </m:r>
                    </m:oMath>
                  </m:oMathPara>
                </a14:m>
                <a:endParaRPr kumimoji="1" lang="zh-CN" altLang="en-US" sz="2800" i="1" dirty="0">
                  <a:latin typeface="Cambria Math" panose="02040503050406030204" charset="0"/>
                  <a:ea typeface="黑体" panose="02010609060101010101" pitchFamily="49" charset="-122"/>
                  <a:cs typeface="黑体" panose="02010609060101010101" pitchFamily="49" charset="-122"/>
                </a:endParaRPr>
              </a:p>
            </p:txBody>
          </p:sp>
        </mc:Choice>
        <mc:Fallback>
          <p:sp>
            <p:nvSpPr>
              <p:cNvPr id="33" name="Object 76"/>
              <p:cNvSpPr txBox="1">
                <a:spLocks noRot="1" noChangeAspect="1" noMove="1" noResize="1" noEditPoints="1" noAdjustHandles="1" noChangeArrowheads="1" noChangeShapeType="1" noTextEdit="1"/>
              </p:cNvSpPr>
              <p:nvPr/>
            </p:nvSpPr>
            <p:spPr bwMode="auto">
              <a:xfrm>
                <a:off x="4465385" y="3432574"/>
                <a:ext cx="1887790" cy="477837"/>
              </a:xfrm>
              <a:prstGeom prst="rect">
                <a:avLst/>
              </a:prstGeom>
              <a:blipFill rotWithShape="1">
                <a:blip r:embed="rId5"/>
                <a:stretch>
                  <a:fillRect l="-3" t="-84" b="17"/>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4" name="Text Box 77"/>
              <p:cNvSpPr txBox="1">
                <a:spLocks noChangeArrowheads="1"/>
              </p:cNvSpPr>
              <p:nvPr/>
            </p:nvSpPr>
            <p:spPr bwMode="auto">
              <a:xfrm>
                <a:off x="2185735" y="4108849"/>
                <a:ext cx="631099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pPr>
                <a:r>
                  <a:rPr lang="zh-CN" altLang="en-US" sz="2800" dirty="0">
                    <a:solidFill>
                      <a:srgbClr val="000000"/>
                    </a:solidFill>
                    <a:latin typeface="Times New Roman" panose="02020603050405020304" pitchFamily="18" charset="0"/>
                  </a:rPr>
                  <a:t>当向量</a:t>
                </a:r>
                <a14:m>
                  <m:oMath xmlns:m="http://schemas.openxmlformats.org/officeDocument/2006/math">
                    <m:r>
                      <a:rPr kumimoji="1" lang="en-US" altLang="zh-CN" sz="2800" b="1" i="1" dirty="0">
                        <a:latin typeface="Cambria Math" panose="02040503050406030204" charset="0"/>
                        <a:ea typeface="黑体" panose="02010609060101010101" pitchFamily="49" charset="-122"/>
                      </a:rPr>
                      <m:t>𝒂</m:t>
                    </m:r>
                    <m:r>
                      <a:rPr kumimoji="1" lang="en-US" altLang="zh-CN" sz="2800" i="1" dirty="0" smtClean="0">
                        <a:latin typeface="Cambria Math" panose="02040503050406030204" charset="0"/>
                        <a:ea typeface="Cambria Math" panose="02040503050406030204" charset="0"/>
                      </a:rPr>
                      <m:t>≠</m:t>
                    </m:r>
                    <m:r>
                      <a:rPr kumimoji="1" lang="en-US" altLang="zh-CN" sz="2800" b="1" i="1" dirty="0" smtClean="0">
                        <a:latin typeface="Cambria Math" panose="02040503050406030204" charset="0"/>
                        <a:ea typeface="Cambria Math" panose="02040503050406030204" charset="0"/>
                      </a:rPr>
                      <m:t>𝟎</m:t>
                    </m:r>
                  </m:oMath>
                </a14:m>
                <a:r>
                  <a:rPr lang="zh-CN" altLang="en-US" sz="2800" dirty="0">
                    <a:solidFill>
                      <a:srgbClr val="000000"/>
                    </a:solidFill>
                    <a:latin typeface="Times New Roman" panose="02020603050405020304" pitchFamily="18" charset="0"/>
                    <a:sym typeface="Symbol" panose="05050102010706020507" pitchFamily="18" charset="2"/>
                  </a:rPr>
                  <a:t>时，</a:t>
                </a:r>
                <a14:m>
                  <m:oMath xmlns:m="http://schemas.openxmlformats.org/officeDocument/2006/math">
                    <m:sSub>
                      <m:sSubPr>
                        <m:ctrlPr>
                          <a:rPr kumimoji="1" lang="en-US" altLang="zh-CN" sz="2800" i="1" dirty="0">
                            <a:latin typeface="Cambria Math" panose="02040503050406030204" charset="0"/>
                            <a:ea typeface="黑体" panose="02010609060101010101" pitchFamily="49" charset="-122"/>
                            <a:cs typeface="Cambria Math" panose="02040503050406030204" charset="0"/>
                          </a:rPr>
                        </m:ctrlPr>
                      </m:sSubPr>
                      <m:e>
                        <m:r>
                          <m:rPr>
                            <m:sty m:val="p"/>
                          </m:rPr>
                          <a:rPr kumimoji="1" lang="en-US" altLang="zh-CN" sz="2800" dirty="0">
                            <a:latin typeface="Cambria Math" panose="02040503050406030204" charset="0"/>
                            <a:ea typeface="黑体" panose="02010609060101010101" pitchFamily="49" charset="-122"/>
                            <a:cs typeface="Cambria Math" panose="02040503050406030204" charset="0"/>
                          </a:rPr>
                          <m:t>P</m:t>
                        </m:r>
                        <m:r>
                          <m:rPr>
                            <m:sty m:val="p"/>
                          </m:rPr>
                          <a:rPr kumimoji="1" lang="en-US" altLang="zh-CN" sz="2800" b="0" i="0" dirty="0" smtClean="0">
                            <a:latin typeface="Cambria Math" panose="02040503050406030204" charset="0"/>
                            <a:ea typeface="黑体" panose="02010609060101010101" pitchFamily="49" charset="-122"/>
                            <a:cs typeface="Cambria Math" panose="02040503050406030204" charset="0"/>
                          </a:rPr>
                          <m:t>rj</m:t>
                        </m:r>
                      </m:e>
                      <m:sub>
                        <m:r>
                          <a:rPr kumimoji="1" lang="en-US" altLang="zh-CN" sz="2800" b="0" i="1" dirty="0" smtClean="0">
                            <a:latin typeface="Cambria Math" panose="02040503050406030204" charset="0"/>
                            <a:ea typeface="黑体" panose="02010609060101010101" pitchFamily="49" charset="-122"/>
                            <a:cs typeface="Cambria Math" panose="02040503050406030204" charset="0"/>
                          </a:rPr>
                          <m:t>𝑎</m:t>
                        </m:r>
                      </m:sub>
                    </m:sSub>
                    <m:r>
                      <a:rPr kumimoji="1" lang="en-US" altLang="zh-CN" sz="2800" b="1" i="1" dirty="0" smtClean="0">
                        <a:latin typeface="Cambria Math" panose="02040503050406030204" charset="0"/>
                        <a:ea typeface="黑体" panose="02010609060101010101" pitchFamily="49" charset="-122"/>
                        <a:cs typeface="Cambria Math" panose="02040503050406030204" charset="0"/>
                      </a:rPr>
                      <m:t>𝒃</m:t>
                    </m:r>
                    <m:r>
                      <a:rPr kumimoji="1" lang="en-US" altLang="zh-CN" sz="2800" b="0" i="1" dirty="0" smtClean="0">
                        <a:latin typeface="Cambria Math" panose="02040503050406030204" charset="0"/>
                        <a:ea typeface="黑体" panose="02010609060101010101" pitchFamily="49" charset="-122"/>
                        <a:cs typeface="Cambria Math" panose="02040503050406030204" charset="0"/>
                      </a:rPr>
                      <m:t>=</m:t>
                    </m:r>
                    <m:d>
                      <m:dPr>
                        <m:begChr m:val="|"/>
                        <m:endChr m:val="|"/>
                        <m:ctrlPr>
                          <a:rPr kumimoji="1" lang="en-US" altLang="zh-CN" sz="2800" b="1" i="1" dirty="0" smtClean="0">
                            <a:latin typeface="Cambria Math" panose="02040503050406030204" charset="0"/>
                            <a:ea typeface="黑体" panose="02010609060101010101" pitchFamily="49" charset="-122"/>
                            <a:cs typeface="Cambria Math" panose="02040503050406030204" charset="0"/>
                          </a:rPr>
                        </m:ctrlPr>
                      </m:dPr>
                      <m:e>
                        <m:r>
                          <a:rPr kumimoji="1" lang="en-US" altLang="zh-CN" sz="2800" b="1" i="1" dirty="0" smtClean="0">
                            <a:latin typeface="Cambria Math" panose="02040503050406030204" charset="0"/>
                            <a:ea typeface="黑体" panose="02010609060101010101" pitchFamily="49" charset="-122"/>
                            <a:cs typeface="Cambria Math" panose="02040503050406030204" charset="0"/>
                          </a:rPr>
                          <m:t>𝒃</m:t>
                        </m:r>
                      </m:e>
                    </m:d>
                    <m:func>
                      <m:funcPr>
                        <m:ctrlPr>
                          <a:rPr kumimoji="1" lang="en-US" altLang="zh-CN" sz="2800" i="1" dirty="0">
                            <a:latin typeface="Cambria Math" panose="02040503050406030204" charset="0"/>
                            <a:ea typeface="黑体" panose="02010609060101010101" pitchFamily="49" charset="-122"/>
                          </a:rPr>
                        </m:ctrlPr>
                      </m:funcPr>
                      <m:fName>
                        <m:r>
                          <m:rPr>
                            <m:sty m:val="p"/>
                          </m:rPr>
                          <a:rPr kumimoji="1" lang="en-US" altLang="zh-CN" sz="2800" dirty="0">
                            <a:latin typeface="Cambria Math" panose="02040503050406030204" charset="0"/>
                            <a:ea typeface="黑体" panose="02010609060101010101" pitchFamily="49" charset="-122"/>
                          </a:rPr>
                          <m:t>cos</m:t>
                        </m:r>
                      </m:fName>
                      <m:e>
                        <m:r>
                          <a:rPr kumimoji="1" lang="zh-CN" altLang="en-US" sz="2800" i="1" dirty="0">
                            <a:latin typeface="Cambria Math" panose="02040503050406030204" charset="0"/>
                            <a:ea typeface="黑体" panose="02010609060101010101" pitchFamily="49" charset="-122"/>
                          </a:rPr>
                          <m:t>𝜃</m:t>
                        </m:r>
                      </m:e>
                    </m:func>
                    <m:r>
                      <a:rPr kumimoji="1" lang="en-US" altLang="zh-CN" sz="2800" b="0" i="1" dirty="0" smtClean="0">
                        <a:latin typeface="Cambria Math" panose="02040503050406030204" charset="0"/>
                        <a:ea typeface="黑体" panose="02010609060101010101" pitchFamily="49" charset="-122"/>
                      </a:rPr>
                      <m:t>,</m:t>
                    </m:r>
                  </m:oMath>
                </a14:m>
                <a:r>
                  <a:rPr lang="zh-CN" altLang="en-US" sz="2800" dirty="0">
                    <a:solidFill>
                      <a:srgbClr val="000000"/>
                    </a:solidFill>
                    <a:latin typeface="Times New Roman" panose="02020603050405020304" pitchFamily="18" charset="0"/>
                    <a:sym typeface="Symbol" panose="05050102010706020507" pitchFamily="18" charset="2"/>
                  </a:rPr>
                  <a:t>故</a:t>
                </a:r>
                <a:endParaRPr lang="zh-CN" altLang="en-US" sz="2800" dirty="0">
                  <a:solidFill>
                    <a:srgbClr val="000000"/>
                  </a:solidFill>
                  <a:latin typeface="Times New Roman" panose="02020603050405020304" pitchFamily="18" charset="0"/>
                  <a:sym typeface="Symbol" panose="05050102010706020507" pitchFamily="18" charset="2"/>
                </a:endParaRPr>
              </a:p>
            </p:txBody>
          </p:sp>
        </mc:Choice>
        <mc:Fallback>
          <p:sp>
            <p:nvSpPr>
              <p:cNvPr id="34" name="Text Box 77"/>
              <p:cNvSpPr txBox="1">
                <a:spLocks noRot="1" noChangeAspect="1" noMove="1" noResize="1" noEditPoints="1" noAdjustHandles="1" noChangeArrowheads="1" noChangeShapeType="1" noTextEdit="1"/>
              </p:cNvSpPr>
              <p:nvPr/>
            </p:nvSpPr>
            <p:spPr bwMode="auto">
              <a:xfrm>
                <a:off x="2185735" y="4108849"/>
                <a:ext cx="6310993" cy="523220"/>
              </a:xfrm>
              <a:prstGeom prst="rect">
                <a:avLst/>
              </a:prstGeom>
              <a:blipFill rotWithShape="1">
                <a:blip r:embed="rId6"/>
                <a:stretch>
                  <a:fillRect l="-1" t="-76" r="7" b="7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5" name="Rectangle 78"/>
              <p:cNvSpPr>
                <a:spLocks noChangeArrowheads="1"/>
              </p:cNvSpPr>
              <p:nvPr/>
            </p:nvSpPr>
            <p:spPr bwMode="auto">
              <a:xfrm>
                <a:off x="4008185" y="4708924"/>
                <a:ext cx="3352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14:m>
                  <m:oMathPara xmlns:m="http://schemas.openxmlformats.org/officeDocument/2006/math">
                    <m:oMathParaPr>
                      <m:jc m:val="centerGroup"/>
                    </m:oMathParaPr>
                    <m:oMath xmlns:m="http://schemas.openxmlformats.org/officeDocument/2006/math">
                      <m:r>
                        <a:rPr kumimoji="1" lang="en-US" altLang="zh-CN" sz="2800" b="1" i="1" dirty="0" smtClean="0">
                          <a:latin typeface="Cambria Math" panose="02040503050406030204" charset="0"/>
                          <a:ea typeface="Cambria Math" panose="02040503050406030204" charset="0"/>
                        </a:rPr>
                        <m:t>𝒂</m:t>
                      </m:r>
                      <m:r>
                        <a:rPr kumimoji="1" lang="en-US" altLang="zh-CN" sz="2800" b="1" i="1" dirty="0" smtClean="0">
                          <a:latin typeface="Cambria Math" panose="02040503050406030204" charset="0"/>
                          <a:ea typeface="Cambria Math" panose="02040503050406030204" charset="0"/>
                        </a:rPr>
                        <m:t>∙</m:t>
                      </m:r>
                      <m:r>
                        <a:rPr kumimoji="1" lang="en-US" altLang="zh-CN" sz="2800" b="1" i="1" dirty="0">
                          <a:latin typeface="Cambria Math" panose="02040503050406030204" charset="0"/>
                          <a:ea typeface="黑体" panose="02010609060101010101" pitchFamily="49" charset="-122"/>
                        </a:rPr>
                        <m:t>𝒃</m:t>
                      </m:r>
                      <m:r>
                        <a:rPr kumimoji="1" lang="en-US" altLang="zh-CN" sz="2800" i="1" dirty="0">
                          <a:latin typeface="Cambria Math" panose="02040503050406030204" charset="0"/>
                          <a:ea typeface="黑体" panose="02010609060101010101" pitchFamily="49" charset="-122"/>
                        </a:rPr>
                        <m:t>=</m:t>
                      </m:r>
                      <m:d>
                        <m:dPr>
                          <m:begChr m:val="|"/>
                          <m:endChr m:val="|"/>
                          <m:ctrlPr>
                            <a:rPr kumimoji="1" lang="en-US" altLang="zh-CN" sz="2800" b="1" i="1" dirty="0">
                              <a:latin typeface="Cambria Math" panose="02040503050406030204" charset="0"/>
                              <a:ea typeface="黑体" panose="02010609060101010101" pitchFamily="49" charset="-122"/>
                            </a:rPr>
                          </m:ctrlPr>
                        </m:dPr>
                        <m:e>
                          <m:r>
                            <a:rPr kumimoji="1" lang="en-US" altLang="zh-CN" sz="2800" b="1" i="1" dirty="0">
                              <a:latin typeface="Cambria Math" panose="02040503050406030204" charset="0"/>
                              <a:ea typeface="黑体" panose="02010609060101010101" pitchFamily="49" charset="-122"/>
                            </a:rPr>
                            <m:t>𝒂</m:t>
                          </m:r>
                        </m:e>
                      </m:d>
                      <m:r>
                        <a:rPr kumimoji="1" lang="en-US" altLang="zh-CN" sz="2800" b="1" i="1" dirty="0" smtClean="0">
                          <a:latin typeface="Cambria Math" panose="02040503050406030204" charset="0"/>
                          <a:ea typeface="黑体" panose="02010609060101010101" pitchFamily="49" charset="-122"/>
                        </a:rPr>
                        <m:t> </m:t>
                      </m:r>
                      <m:sSub>
                        <m:sSubPr>
                          <m:ctrlPr>
                            <a:rPr kumimoji="1" lang="en-US" altLang="zh-CN" sz="2800" i="1" dirty="0">
                              <a:latin typeface="Cambria Math" panose="02040503050406030204" charset="0"/>
                              <a:ea typeface="黑体" panose="02010609060101010101" pitchFamily="49" charset="-122"/>
                              <a:cs typeface="Cambria Math" panose="02040503050406030204" charset="0"/>
                            </a:rPr>
                          </m:ctrlPr>
                        </m:sSubPr>
                        <m:e>
                          <m:r>
                            <m:rPr>
                              <m:sty m:val="p"/>
                            </m:rPr>
                            <a:rPr kumimoji="1" lang="en-US" altLang="zh-CN" sz="2800" b="0" i="0" dirty="0" smtClean="0">
                              <a:latin typeface="Cambria Math" panose="02040503050406030204" charset="0"/>
                              <a:ea typeface="黑体" panose="02010609060101010101" pitchFamily="49" charset="-122"/>
                              <a:cs typeface="Cambria Math" panose="02040503050406030204" charset="0"/>
                            </a:rPr>
                            <m:t>P</m:t>
                          </m:r>
                          <m:r>
                            <m:rPr>
                              <m:sty m:val="p"/>
                            </m:rPr>
                            <a:rPr kumimoji="1" lang="en-US" altLang="zh-CN" sz="2800" dirty="0">
                              <a:latin typeface="Cambria Math" panose="02040503050406030204" charset="0"/>
                              <a:ea typeface="黑体" panose="02010609060101010101" pitchFamily="49" charset="-122"/>
                              <a:cs typeface="Cambria Math" panose="02040503050406030204" charset="0"/>
                            </a:rPr>
                            <m:t>rj</m:t>
                          </m:r>
                        </m:e>
                        <m:sub>
                          <m:r>
                            <a:rPr kumimoji="1" lang="en-US" altLang="zh-CN" sz="2800" i="1" dirty="0">
                              <a:latin typeface="Cambria Math" panose="02040503050406030204" charset="0"/>
                              <a:ea typeface="黑体" panose="02010609060101010101" pitchFamily="49" charset="-122"/>
                              <a:cs typeface="Cambria Math" panose="02040503050406030204" charset="0"/>
                            </a:rPr>
                            <m:t>𝑎</m:t>
                          </m:r>
                        </m:sub>
                      </m:sSub>
                      <m:r>
                        <a:rPr kumimoji="1" lang="en-US" altLang="zh-CN" sz="2800" b="1" i="1" dirty="0">
                          <a:latin typeface="Cambria Math" panose="02040503050406030204" charset="0"/>
                          <a:ea typeface="黑体" panose="02010609060101010101" pitchFamily="49" charset="-122"/>
                          <a:cs typeface="Cambria Math" panose="02040503050406030204" charset="0"/>
                        </a:rPr>
                        <m:t>𝒃</m:t>
                      </m:r>
                    </m:oMath>
                  </m:oMathPara>
                </a14:m>
                <a:endParaRPr kumimoji="1" lang="en-US" altLang="zh-CN" sz="2800" b="1" dirty="0">
                  <a:latin typeface="Cambria Math" panose="02040503050406030204" charset="0"/>
                  <a:ea typeface="黑体" panose="02010609060101010101" pitchFamily="49" charset="-122"/>
                  <a:cs typeface="黑体" panose="02010609060101010101" pitchFamily="49" charset="-122"/>
                  <a:sym typeface="Symbol" panose="05050102010706020507" pitchFamily="18" charset="2"/>
                </a:endParaRPr>
              </a:p>
            </p:txBody>
          </p:sp>
        </mc:Choice>
        <mc:Fallback>
          <p:sp>
            <p:nvSpPr>
              <p:cNvPr id="35" name="Rectangle 78"/>
              <p:cNvSpPr>
                <a:spLocks noRot="1" noChangeAspect="1" noMove="1" noResize="1" noEditPoints="1" noAdjustHandles="1" noChangeArrowheads="1" noChangeShapeType="1" noTextEdit="1"/>
              </p:cNvSpPr>
              <p:nvPr/>
            </p:nvSpPr>
            <p:spPr bwMode="auto">
              <a:xfrm>
                <a:off x="4008185" y="4708924"/>
                <a:ext cx="3352800" cy="519113"/>
              </a:xfrm>
              <a:prstGeom prst="rect">
                <a:avLst/>
              </a:prstGeom>
              <a:blipFill rotWithShape="1">
                <a:blip r:embed="rId7"/>
                <a:stretch>
                  <a:fillRect l="-2" t="-77" r="2" b="1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6" name="Text Box 79"/>
              <p:cNvSpPr txBox="1">
                <a:spLocks noChangeArrowheads="1"/>
              </p:cNvSpPr>
              <p:nvPr/>
            </p:nvSpPr>
            <p:spPr bwMode="auto">
              <a:xfrm>
                <a:off x="2185734" y="5389962"/>
                <a:ext cx="659631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pPr>
                <a:r>
                  <a:rPr lang="zh-CN" altLang="en-US" sz="2800" dirty="0">
                    <a:solidFill>
                      <a:srgbClr val="000000"/>
                    </a:solidFill>
                    <a:latin typeface="Times New Roman" panose="02020603050405020304" pitchFamily="18" charset="0"/>
                  </a:rPr>
                  <a:t>同理，当</a:t>
                </a:r>
                <a14:m>
                  <m:oMath xmlns:m="http://schemas.openxmlformats.org/officeDocument/2006/math">
                    <m:r>
                      <a:rPr kumimoji="1" lang="en-US" altLang="zh-CN" sz="2800" b="1" i="1" dirty="0" smtClean="0">
                        <a:latin typeface="Cambria Math" panose="02040503050406030204" charset="0"/>
                        <a:ea typeface="黑体" panose="02010609060101010101" pitchFamily="49" charset="-122"/>
                      </a:rPr>
                      <m:t>𝒃</m:t>
                    </m:r>
                    <m:r>
                      <a:rPr kumimoji="1" lang="en-US" altLang="zh-CN" sz="2800" i="1" dirty="0">
                        <a:latin typeface="Cambria Math" panose="02040503050406030204" charset="0"/>
                        <a:ea typeface="Cambria Math" panose="02040503050406030204" charset="0"/>
                      </a:rPr>
                      <m:t>≠</m:t>
                    </m:r>
                    <m:r>
                      <a:rPr kumimoji="1" lang="en-US" altLang="zh-CN" sz="2800" b="1" i="1" dirty="0">
                        <a:latin typeface="Cambria Math" panose="02040503050406030204" charset="0"/>
                        <a:ea typeface="Cambria Math" panose="02040503050406030204" charset="0"/>
                      </a:rPr>
                      <m:t>𝟎</m:t>
                    </m:r>
                  </m:oMath>
                </a14:m>
                <a:r>
                  <a:rPr lang="zh-CN" altLang="en-US" sz="2800" dirty="0">
                    <a:solidFill>
                      <a:srgbClr val="000000"/>
                    </a:solidFill>
                    <a:latin typeface="Times New Roman" panose="02020603050405020304" pitchFamily="18" charset="0"/>
                    <a:sym typeface="Symbol" panose="05050102010706020507" pitchFamily="18" charset="2"/>
                  </a:rPr>
                  <a:t>时，有 </a:t>
                </a:r>
                <a14:m>
                  <m:oMath xmlns:m="http://schemas.openxmlformats.org/officeDocument/2006/math">
                    <m:r>
                      <a:rPr kumimoji="1" lang="en-US" altLang="zh-CN" sz="2800" b="1" i="1" dirty="0">
                        <a:latin typeface="Cambria Math" panose="02040503050406030204" charset="0"/>
                        <a:ea typeface="Cambria Math" panose="02040503050406030204" charset="0"/>
                      </a:rPr>
                      <m:t>𝒂</m:t>
                    </m:r>
                    <m:r>
                      <a:rPr kumimoji="1" lang="en-US" altLang="zh-CN" sz="2800" b="1" i="1" dirty="0">
                        <a:latin typeface="Cambria Math" panose="02040503050406030204" charset="0"/>
                        <a:ea typeface="Cambria Math" panose="02040503050406030204" charset="0"/>
                      </a:rPr>
                      <m:t>∙</m:t>
                    </m:r>
                    <m:r>
                      <a:rPr kumimoji="1" lang="en-US" altLang="zh-CN" sz="2800" b="1" i="1" dirty="0">
                        <a:latin typeface="Cambria Math" panose="02040503050406030204" charset="0"/>
                        <a:ea typeface="黑体" panose="02010609060101010101" pitchFamily="49" charset="-122"/>
                      </a:rPr>
                      <m:t>𝒃</m:t>
                    </m:r>
                    <m:r>
                      <a:rPr kumimoji="1" lang="en-US" altLang="zh-CN" sz="2800" i="1" dirty="0">
                        <a:latin typeface="Cambria Math" panose="02040503050406030204" charset="0"/>
                        <a:ea typeface="黑体" panose="02010609060101010101" pitchFamily="49" charset="-122"/>
                      </a:rPr>
                      <m:t>=</m:t>
                    </m:r>
                    <m:d>
                      <m:dPr>
                        <m:begChr m:val="|"/>
                        <m:endChr m:val="|"/>
                        <m:ctrlPr>
                          <a:rPr kumimoji="1" lang="en-US" altLang="zh-CN" sz="2800" b="1" i="1" dirty="0">
                            <a:latin typeface="Cambria Math" panose="02040503050406030204" charset="0"/>
                            <a:ea typeface="黑体" panose="02010609060101010101" pitchFamily="49" charset="-122"/>
                          </a:rPr>
                        </m:ctrlPr>
                      </m:dPr>
                      <m:e>
                        <m:r>
                          <a:rPr kumimoji="1" lang="en-US" altLang="zh-CN" sz="2800" b="1" i="1" dirty="0">
                            <a:latin typeface="Cambria Math" panose="02040503050406030204" charset="0"/>
                            <a:ea typeface="黑体" panose="02010609060101010101" pitchFamily="49" charset="-122"/>
                          </a:rPr>
                          <m:t>𝒃</m:t>
                        </m:r>
                      </m:e>
                    </m:d>
                    <m:r>
                      <a:rPr kumimoji="1" lang="en-US" altLang="zh-CN" sz="2800" b="1" i="1" dirty="0" smtClean="0">
                        <a:latin typeface="Cambria Math" panose="02040503050406030204" charset="0"/>
                        <a:ea typeface="黑体" panose="02010609060101010101" pitchFamily="49" charset="-122"/>
                      </a:rPr>
                      <m:t> </m:t>
                    </m:r>
                    <m:sSub>
                      <m:sSubPr>
                        <m:ctrlPr>
                          <a:rPr kumimoji="1" lang="en-US" altLang="zh-CN" sz="2800" i="1" dirty="0">
                            <a:latin typeface="Cambria Math" panose="02040503050406030204" charset="0"/>
                            <a:ea typeface="黑体" panose="02010609060101010101" pitchFamily="49" charset="-122"/>
                            <a:cs typeface="Cambria Math" panose="02040503050406030204" charset="0"/>
                          </a:rPr>
                        </m:ctrlPr>
                      </m:sSubPr>
                      <m:e>
                        <m:r>
                          <m:rPr>
                            <m:sty m:val="p"/>
                          </m:rPr>
                          <a:rPr kumimoji="1" lang="en-US" altLang="zh-CN" sz="2800" dirty="0">
                            <a:latin typeface="Cambria Math" panose="02040503050406030204" charset="0"/>
                            <a:ea typeface="黑体" panose="02010609060101010101" pitchFamily="49" charset="-122"/>
                            <a:cs typeface="Cambria Math" panose="02040503050406030204" charset="0"/>
                          </a:rPr>
                          <m:t>Prj</m:t>
                        </m:r>
                      </m:e>
                      <m:sub>
                        <m:r>
                          <a:rPr kumimoji="1" lang="en-US" altLang="zh-CN" sz="2800" b="0" i="1" dirty="0" smtClean="0">
                            <a:latin typeface="Cambria Math" panose="02040503050406030204" charset="0"/>
                            <a:ea typeface="黑体" panose="02010609060101010101" pitchFamily="49" charset="-122"/>
                            <a:cs typeface="Cambria Math" panose="02040503050406030204" charset="0"/>
                          </a:rPr>
                          <m:t>𝑏</m:t>
                        </m:r>
                      </m:sub>
                    </m:sSub>
                    <m:r>
                      <a:rPr kumimoji="1" lang="en-US" altLang="zh-CN" sz="2800" b="1" i="1" dirty="0" smtClean="0">
                        <a:latin typeface="Cambria Math" panose="02040503050406030204" charset="0"/>
                        <a:ea typeface="黑体" panose="02010609060101010101" pitchFamily="49" charset="-122"/>
                        <a:cs typeface="Cambria Math" panose="02040503050406030204" charset="0"/>
                      </a:rPr>
                      <m:t>𝒂</m:t>
                    </m:r>
                    <m:r>
                      <a:rPr kumimoji="1" lang="en-US" altLang="zh-CN" sz="2800" b="0" i="1" dirty="0" smtClean="0">
                        <a:latin typeface="Cambria Math" panose="02040503050406030204" charset="0"/>
                        <a:ea typeface="黑体" panose="02010609060101010101" pitchFamily="49" charset="-122"/>
                        <a:cs typeface="Cambria Math" panose="02040503050406030204" charset="0"/>
                      </a:rPr>
                      <m:t>.</m:t>
                    </m:r>
                  </m:oMath>
                </a14:m>
                <a:endParaRPr kumimoji="1" lang="zh-CN" altLang="en-US" sz="2800" dirty="0">
                  <a:latin typeface="Cambria Math" panose="02040503050406030204" charset="0"/>
                  <a:ea typeface="黑体" panose="02010609060101010101" pitchFamily="49" charset="-122"/>
                  <a:cs typeface="黑体" panose="02010609060101010101" pitchFamily="49" charset="-122"/>
                  <a:sym typeface="Symbol" panose="05050102010706020507" pitchFamily="18" charset="2"/>
                </a:endParaRPr>
              </a:p>
            </p:txBody>
          </p:sp>
        </mc:Choice>
        <mc:Fallback>
          <p:sp>
            <p:nvSpPr>
              <p:cNvPr id="36" name="Text Box 79"/>
              <p:cNvSpPr txBox="1">
                <a:spLocks noRot="1" noChangeAspect="1" noMove="1" noResize="1" noEditPoints="1" noAdjustHandles="1" noChangeArrowheads="1" noChangeShapeType="1" noTextEdit="1"/>
              </p:cNvSpPr>
              <p:nvPr/>
            </p:nvSpPr>
            <p:spPr bwMode="auto">
              <a:xfrm>
                <a:off x="2185734" y="5389962"/>
                <a:ext cx="6596315" cy="523220"/>
              </a:xfrm>
              <a:prstGeom prst="rect">
                <a:avLst/>
              </a:prstGeom>
              <a:blipFill rotWithShape="1">
                <a:blip r:embed="rId8"/>
                <a:stretch>
                  <a:fillRect l="-1" t="-16" r="10" b="1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pic>
        <p:nvPicPr>
          <p:cNvPr id="3" name="图片 2" descr="图表&#10;&#10;低可信度描述已自动生成"/>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342176" y="3005347"/>
            <a:ext cx="3147486" cy="162672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left)">
                                      <p:cBhvr>
                                        <p:cTn id="12" dur="500"/>
                                        <p:tgtEl>
                                          <p:spTgt spid="20"/>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left)">
                                      <p:cBhvr>
                                        <p:cTn id="15" dur="500"/>
                                        <p:tgtEl>
                                          <p:spTgt spid="19"/>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wipe(left)">
                                      <p:cBhvr>
                                        <p:cTn id="18" dur="500"/>
                                        <p:tgtEl>
                                          <p:spTgt spid="18"/>
                                        </p:tgtEl>
                                      </p:cBhvr>
                                    </p:animEffect>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left)">
                                      <p:cBhvr>
                                        <p:cTn id="22" dur="500"/>
                                        <p:tgtEl>
                                          <p:spTgt spid="22"/>
                                        </p:tgtEl>
                                      </p:cBhvr>
                                    </p:animEffect>
                                  </p:childTnLst>
                                </p:cTn>
                              </p:par>
                            </p:childTnLst>
                          </p:cTn>
                        </p:par>
                        <p:par>
                          <p:cTn id="23" fill="hold">
                            <p:stCondLst>
                              <p:cond delay="1000"/>
                            </p:stCondLst>
                            <p:childTnLst>
                              <p:par>
                                <p:cTn id="24" presetID="22" presetClass="entr" presetSubtype="8" fill="hold" grpId="0" nodeType="after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wipe(left)">
                                      <p:cBhvr>
                                        <p:cTn id="26" dur="5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wipe(left)">
                                      <p:cBhvr>
                                        <p:cTn id="31" dur="500"/>
                                        <p:tgtEl>
                                          <p:spTgt spid="2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wipe(left)">
                                      <p:cBhvr>
                                        <p:cTn id="36" dur="500"/>
                                        <p:tgtEl>
                                          <p:spTgt spid="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wipe(left)">
                                      <p:cBhvr>
                                        <p:cTn id="41" dur="500"/>
                                        <p:tgtEl>
                                          <p:spTgt spid="3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wipe(left)">
                                      <p:cBhvr>
                                        <p:cTn id="46" dur="500"/>
                                        <p:tgtEl>
                                          <p:spTgt spid="33"/>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wipe(left)">
                                      <p:cBhvr>
                                        <p:cTn id="51" dur="500"/>
                                        <p:tgtEl>
                                          <p:spTgt spid="34"/>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35"/>
                                        </p:tgtEl>
                                        <p:attrNameLst>
                                          <p:attrName>style.visibility</p:attrName>
                                        </p:attrNameLst>
                                      </p:cBhvr>
                                      <p:to>
                                        <p:strVal val="visible"/>
                                      </p:to>
                                    </p:set>
                                    <p:animEffect transition="in" filter="wipe(left)">
                                      <p:cBhvr>
                                        <p:cTn id="56" dur="500"/>
                                        <p:tgtEl>
                                          <p:spTgt spid="35"/>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36"/>
                                        </p:tgtEl>
                                        <p:attrNameLst>
                                          <p:attrName>style.visibility</p:attrName>
                                        </p:attrNameLst>
                                      </p:cBhvr>
                                      <p:to>
                                        <p:strVal val="visible"/>
                                      </p:to>
                                    </p:set>
                                    <p:animEffect transition="in" filter="wipe(left)">
                                      <p:cBhvr>
                                        <p:cTn id="61"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18" grpId="1" animBg="1"/>
      <p:bldP spid="19" grpId="0" bldLvl="0" animBg="1"/>
      <p:bldP spid="19" grpId="1" animBg="1"/>
      <p:bldP spid="20" grpId="0"/>
      <p:bldP spid="21" grpId="0" bldLvl="0" animBg="1"/>
      <p:bldP spid="22" grpId="0" bldLvl="0" animBg="1"/>
      <p:bldP spid="23" grpId="0" bldLvl="0" animBg="1"/>
      <p:bldP spid="24" grpId="0" bldLvl="0" animBg="1"/>
      <p:bldP spid="32" grpId="0" bldLvl="0" animBg="1"/>
      <p:bldP spid="33" grpId="0" bldLvl="0" animBg="1"/>
      <p:bldP spid="34" grpId="0" bldLvl="0" animBg="1"/>
      <p:bldP spid="35" grpId="0" bldLvl="0" animBg="1"/>
      <p:bldP spid="36"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48"/>
          <p:cNvGrpSpPr/>
          <p:nvPr/>
        </p:nvGrpSpPr>
        <p:grpSpPr>
          <a:xfrm>
            <a:off x="687324" y="535820"/>
            <a:ext cx="10817987" cy="5803091"/>
            <a:chOff x="687324" y="535820"/>
            <a:chExt cx="10817987" cy="5803091"/>
          </a:xfrm>
        </p:grpSpPr>
        <mc:AlternateContent xmlns:mc="http://schemas.openxmlformats.org/markup-compatibility/2006">
          <mc:Choice xmlns:a14="http://schemas.microsoft.com/office/drawing/2010/main" Requires="a14">
            <p:sp>
              <p:nvSpPr>
                <p:cNvPr id="50" name="矩形 49"/>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p:sp>
              <p:nvSpPr>
                <p:cNvPr id="50" name="矩形 49"/>
                <p:cNvSpPr>
                  <a:spLocks noRot="1" noChangeAspect="1" noMove="1" noResize="1" noEditPoints="1" noAdjustHandles="1" noChangeArrowheads="1" noChangeShapeType="1" noTextEdit="1"/>
                </p:cNvSpPr>
                <p:nvPr/>
              </p:nvSpPr>
              <p:spPr>
                <a:xfrm>
                  <a:off x="687959" y="536260"/>
                  <a:ext cx="10817352" cy="5799897"/>
                </a:xfrm>
                <a:prstGeom prst="rect">
                  <a:avLst/>
                </a:prstGeom>
                <a:blipFill rotWithShape="1">
                  <a:blip r:embed="rId1"/>
                </a:blip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51" name="半闭框 50"/>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2" name="半闭框 51"/>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3" name="半闭框 52"/>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54" name="半闭框 53"/>
            <p:cNvSpPr/>
            <p:nvPr/>
          </p:nvSpPr>
          <p:spPr>
            <a:xfrm flipH="1" flipV="1">
              <a:off x="10823530"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mc:AlternateContent xmlns:mc="http://schemas.openxmlformats.org/markup-compatibility/2006">
        <mc:Choice xmlns:a14="http://schemas.microsoft.com/office/drawing/2010/main" Requires="a14">
          <p:sp>
            <p:nvSpPr>
              <p:cNvPr id="2" name="Object 3"/>
              <p:cNvSpPr txBox="1"/>
              <p:nvPr/>
            </p:nvSpPr>
            <p:spPr bwMode="auto">
              <a:xfrm>
                <a:off x="3251389" y="2621571"/>
                <a:ext cx="2227174" cy="564809"/>
              </a:xfrm>
              <a:prstGeom prst="rect">
                <a:avLst/>
              </a:prstGeom>
              <a:noFill/>
              <a:ln>
                <a:noFill/>
              </a:ln>
              <a:effectLst/>
            </p:spPr>
            <p:txBody>
              <a:bodyPr>
                <a:normAutofit fontScale="92500"/>
              </a:bodyPr>
              <a:lstStyle/>
              <a:p>
                <a14:m>
                  <m:oMathPara xmlns:m="http://schemas.openxmlformats.org/officeDocument/2006/math">
                    <m:oMathParaPr>
                      <m:jc m:val="left"/>
                    </m:oMathParaPr>
                    <m:oMath xmlns:m="http://schemas.openxmlformats.org/officeDocument/2006/math">
                      <m:r>
                        <a:rPr kumimoji="1" lang="zh-CN" altLang="en-US" sz="2800" smtClean="0">
                          <a:latin typeface="Cambria Math" panose="02040503050406030204" charset="0"/>
                          <a:ea typeface="黑体" panose="02010609060101010101" pitchFamily="49" charset="-122"/>
                          <a:cs typeface="黑体" panose="02010609060101010101" pitchFamily="49" charset="-122"/>
                        </a:rPr>
                        <m:t>(</m:t>
                      </m:r>
                      <m:r>
                        <a:rPr kumimoji="1" lang="zh-CN" altLang="en-US" sz="2800" smtClean="0">
                          <a:latin typeface="Cambria Math" panose="02040503050406030204" charset="0"/>
                          <a:ea typeface="黑体" panose="02010609060101010101" pitchFamily="49" charset="-122"/>
                          <a:cs typeface="黑体" panose="02010609060101010101" pitchFamily="49" charset="-122"/>
                        </a:rPr>
                        <m:t>2</m:t>
                      </m:r>
                      <m:r>
                        <a:rPr kumimoji="1" lang="zh-CN" altLang="en-US" sz="2800" smtClean="0">
                          <a:latin typeface="Cambria Math" panose="02040503050406030204" charset="0"/>
                          <a:ea typeface="黑体" panose="02010609060101010101" pitchFamily="49" charset="-122"/>
                          <a:cs typeface="黑体" panose="02010609060101010101" pitchFamily="49" charset="-122"/>
                        </a:rPr>
                        <m:t>)  </m:t>
                      </m:r>
                      <m:r>
                        <a:rPr kumimoji="1" lang="en-US" altLang="zh-CN" sz="2800" b="1" i="1" smtClean="0">
                          <a:highlight>
                            <a:srgbClr val="FFFF00"/>
                          </a:highlight>
                          <a:latin typeface="Cambria Math" panose="02040503050406030204" charset="0"/>
                          <a:ea typeface="黑体" panose="02010609060101010101" pitchFamily="49" charset="-122"/>
                          <a:cs typeface="黑体" panose="02010609060101010101" pitchFamily="49" charset="-122"/>
                        </a:rPr>
                        <m:t>𝒂</m:t>
                      </m:r>
                      <m:r>
                        <a:rPr kumimoji="1" lang="zh-CN" altLang="en-US" sz="2800" b="1">
                          <a:highlight>
                            <a:srgbClr val="FFFF00"/>
                          </a:highlight>
                          <a:latin typeface="Cambria Math" panose="02040503050406030204" charset="0"/>
                          <a:ea typeface="黑体" panose="02010609060101010101" pitchFamily="49" charset="-122"/>
                          <a:cs typeface="黑体" panose="02010609060101010101" pitchFamily="49" charset="-122"/>
                        </a:rPr>
                        <m:t>⋅</m:t>
                      </m:r>
                      <m:r>
                        <a:rPr kumimoji="1" lang="en-US" altLang="zh-CN" sz="2800" b="1" i="1" smtClean="0">
                          <a:highlight>
                            <a:srgbClr val="FFFF00"/>
                          </a:highlight>
                          <a:latin typeface="Cambria Math" panose="02040503050406030204" charset="0"/>
                          <a:ea typeface="黑体" panose="02010609060101010101" pitchFamily="49" charset="-122"/>
                          <a:cs typeface="黑体" panose="02010609060101010101" pitchFamily="49" charset="-122"/>
                        </a:rPr>
                        <m:t>𝒃</m:t>
                      </m:r>
                      <m:r>
                        <a:rPr kumimoji="1" lang="zh-CN" altLang="en-US" sz="2800">
                          <a:highlight>
                            <a:srgbClr val="FFFF00"/>
                          </a:highlight>
                          <a:latin typeface="Cambria Math" panose="02040503050406030204" charset="0"/>
                          <a:ea typeface="黑体" panose="02010609060101010101" pitchFamily="49" charset="-122"/>
                          <a:cs typeface="黑体" panose="02010609060101010101" pitchFamily="49" charset="-122"/>
                        </a:rPr>
                        <m:t>=</m:t>
                      </m:r>
                      <m:r>
                        <a:rPr kumimoji="1" lang="zh-CN" altLang="en-US" sz="2800">
                          <a:highlight>
                            <a:srgbClr val="FFFF00"/>
                          </a:highlight>
                          <a:latin typeface="Cambria Math" panose="02040503050406030204" charset="0"/>
                          <a:ea typeface="黑体" panose="02010609060101010101" pitchFamily="49" charset="-122"/>
                          <a:cs typeface="黑体" panose="02010609060101010101" pitchFamily="49" charset="-122"/>
                        </a:rPr>
                        <m:t>0</m:t>
                      </m:r>
                    </m:oMath>
                  </m:oMathPara>
                </a14:m>
                <a:endParaRPr kumimoji="1" lang="zh-CN" altLang="en-US" sz="2800" dirty="0">
                  <a:highlight>
                    <a:srgbClr val="FFFF00"/>
                  </a:highlight>
                  <a:latin typeface="Cambria Math" panose="02040503050406030204" charset="0"/>
                  <a:ea typeface="黑体" panose="02010609060101010101" pitchFamily="49" charset="-122"/>
                  <a:cs typeface="黑体" panose="02010609060101010101" pitchFamily="49" charset="-122"/>
                </a:endParaRPr>
              </a:p>
            </p:txBody>
          </p:sp>
        </mc:Choice>
        <mc:Fallback>
          <p:sp>
            <p:nvSpPr>
              <p:cNvPr id="2" name="Object 3"/>
              <p:cNvSpPr txBox="1">
                <a:spLocks noRot="1" noChangeAspect="1" noMove="1" noResize="1" noEditPoints="1" noAdjustHandles="1" noChangeArrowheads="1" noChangeShapeType="1" noTextEdit="1"/>
              </p:cNvSpPr>
              <p:nvPr/>
            </p:nvSpPr>
            <p:spPr bwMode="auto">
              <a:xfrm>
                <a:off x="3251389" y="2621571"/>
                <a:ext cx="2227174" cy="564809"/>
              </a:xfrm>
              <a:prstGeom prst="rect">
                <a:avLst/>
              </a:prstGeom>
              <a:blipFill rotWithShape="1">
                <a:blip r:embed="rId2"/>
                <a:stretch>
                  <a:fillRect l="-8" t="-52" r="19" b="104"/>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Object 5"/>
              <p:cNvSpPr txBox="1"/>
              <p:nvPr/>
            </p:nvSpPr>
            <p:spPr bwMode="auto">
              <a:xfrm>
                <a:off x="5713378" y="2593205"/>
                <a:ext cx="1215592" cy="5334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en-US" altLang="zh-CN" sz="2800" b="1" i="1" smtClean="0">
                          <a:highlight>
                            <a:srgbClr val="FFFF00"/>
                          </a:highlight>
                          <a:latin typeface="Cambria Math" panose="02040503050406030204" charset="0"/>
                          <a:ea typeface="黑体" panose="02010609060101010101" pitchFamily="49" charset="-122"/>
                          <a:cs typeface="黑体" panose="02010609060101010101" pitchFamily="49" charset="-122"/>
                        </a:rPr>
                        <m:t>𝒂</m:t>
                      </m:r>
                      <m:r>
                        <a:rPr kumimoji="1" lang="zh-CN" altLang="en-US" sz="2800">
                          <a:highlight>
                            <a:srgbClr val="FFFF00"/>
                          </a:highlight>
                          <a:latin typeface="Cambria Math" panose="02040503050406030204" charset="0"/>
                          <a:ea typeface="黑体" panose="02010609060101010101" pitchFamily="49" charset="-122"/>
                          <a:cs typeface="黑体" panose="02010609060101010101" pitchFamily="49" charset="-122"/>
                        </a:rPr>
                        <m:t>⊥</m:t>
                      </m:r>
                      <m:r>
                        <a:rPr kumimoji="1" lang="en-US" altLang="zh-CN" sz="2800" b="1" i="1" smtClean="0">
                          <a:highlight>
                            <a:srgbClr val="FFFF00"/>
                          </a:highlight>
                          <a:latin typeface="Cambria Math" panose="02040503050406030204" charset="0"/>
                          <a:ea typeface="黑体" panose="02010609060101010101" pitchFamily="49" charset="-122"/>
                          <a:cs typeface="黑体" panose="02010609060101010101" pitchFamily="49" charset="-122"/>
                        </a:rPr>
                        <m:t>𝒃</m:t>
                      </m:r>
                      <m:r>
                        <a:rPr kumimoji="1" lang="zh-CN" altLang="en-US" sz="2800">
                          <a:highlight>
                            <a:srgbClr val="FFFF00"/>
                          </a:highlight>
                          <a:latin typeface="Cambria Math" panose="02040503050406030204" charset="0"/>
                          <a:ea typeface="黑体" panose="02010609060101010101" pitchFamily="49" charset="-122"/>
                          <a:cs typeface="黑体" panose="02010609060101010101" pitchFamily="49" charset="-122"/>
                        </a:rPr>
                        <m:t>.</m:t>
                      </m:r>
                    </m:oMath>
                  </m:oMathPara>
                </a14:m>
                <a:endParaRPr kumimoji="1" lang="zh-CN" altLang="en-US" sz="2800" dirty="0">
                  <a:highlight>
                    <a:srgbClr val="FFFF00"/>
                  </a:highlight>
                  <a:latin typeface="Cambria Math" panose="02040503050406030204" charset="0"/>
                  <a:ea typeface="黑体" panose="02010609060101010101" pitchFamily="49" charset="-122"/>
                  <a:cs typeface="黑体" panose="02010609060101010101" pitchFamily="49" charset="-122"/>
                </a:endParaRPr>
              </a:p>
            </p:txBody>
          </p:sp>
        </mc:Choice>
        <mc:Fallback>
          <p:sp>
            <p:nvSpPr>
              <p:cNvPr id="4" name="Object 5"/>
              <p:cNvSpPr txBox="1">
                <a:spLocks noRot="1" noChangeAspect="1" noMove="1" noResize="1" noEditPoints="1" noAdjustHandles="1" noChangeArrowheads="1" noChangeShapeType="1" noTextEdit="1"/>
              </p:cNvSpPr>
              <p:nvPr/>
            </p:nvSpPr>
            <p:spPr bwMode="auto">
              <a:xfrm>
                <a:off x="5713378" y="2593205"/>
                <a:ext cx="1215592" cy="533400"/>
              </a:xfrm>
              <a:prstGeom prst="rect">
                <a:avLst/>
              </a:prstGeom>
              <a:blipFill rotWithShape="1">
                <a:blip r:embed="rId3"/>
                <a:stretch>
                  <a:fillRect l="-23" t="-94" r="40" b="94"/>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Object 7"/>
              <p:cNvSpPr txBox="1"/>
              <p:nvPr/>
            </p:nvSpPr>
            <p:spPr bwMode="auto">
              <a:xfrm>
                <a:off x="3861753" y="3388254"/>
                <a:ext cx="671512" cy="404812"/>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smtClean="0">
                          <a:solidFill>
                            <a:srgbClr val="04926A"/>
                          </a:solidFill>
                          <a:latin typeface="Cambria Math" panose="02040503050406030204" charset="0"/>
                          <a:ea typeface="黑体" panose="02010609060101010101" pitchFamily="49" charset="-122"/>
                          <a:cs typeface="黑体" panose="02010609060101010101" pitchFamily="49" charset="-122"/>
                        </a:rPr>
                        <m:t>(⇒)</m:t>
                      </m:r>
                    </m:oMath>
                  </m:oMathPara>
                </a14:m>
                <a:endParaRPr kumimoji="1" lang="zh-CN" altLang="en-US" sz="2200" dirty="0">
                  <a:solidFill>
                    <a:srgbClr val="04926A"/>
                  </a:solidFill>
                  <a:latin typeface="Cambria Math" panose="02040503050406030204" charset="0"/>
                  <a:ea typeface="黑体" panose="02010609060101010101" pitchFamily="49" charset="-122"/>
                  <a:cs typeface="黑体" panose="02010609060101010101" pitchFamily="49" charset="-122"/>
                </a:endParaRPr>
              </a:p>
            </p:txBody>
          </p:sp>
        </mc:Choice>
        <mc:Fallback>
          <p:sp>
            <p:nvSpPr>
              <p:cNvPr id="5" name="Object 7"/>
              <p:cNvSpPr txBox="1">
                <a:spLocks noRot="1" noChangeAspect="1" noMove="1" noResize="1" noEditPoints="1" noAdjustHandles="1" noChangeArrowheads="1" noChangeShapeType="1" noTextEdit="1"/>
              </p:cNvSpPr>
              <p:nvPr/>
            </p:nvSpPr>
            <p:spPr bwMode="auto">
              <a:xfrm>
                <a:off x="3861753" y="3388254"/>
                <a:ext cx="671512" cy="404812"/>
              </a:xfrm>
              <a:prstGeom prst="rect">
                <a:avLst/>
              </a:prstGeom>
              <a:blipFill rotWithShape="1">
                <a:blip r:embed="rId4"/>
                <a:stretch>
                  <a:fillRect l="-47" t="-131" b="52"/>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Object 8"/>
              <p:cNvSpPr txBox="1"/>
              <p:nvPr/>
            </p:nvSpPr>
            <p:spPr bwMode="auto">
              <a:xfrm>
                <a:off x="4488251" y="3390218"/>
                <a:ext cx="1754188" cy="443136"/>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kumimoji="1" lang="zh-CN" altLang="en-US" sz="2200">
                          <a:latin typeface="Cambria Math" panose="02040503050406030204" charset="0"/>
                          <a:ea typeface="黑体" panose="02010609060101010101" pitchFamily="49" charset="-122"/>
                          <a:cs typeface="黑体" panose="02010609060101010101" pitchFamily="49" charset="-122"/>
                        </a:rPr>
                        <m:t>∵</m:t>
                      </m:r>
                      <m:r>
                        <a:rPr kumimoji="1" lang="en-US" altLang="zh-CN" sz="2200" b="1" i="1">
                          <a:latin typeface="Cambria Math" panose="02040503050406030204" charset="0"/>
                          <a:ea typeface="黑体" panose="02010609060101010101" pitchFamily="49" charset="-122"/>
                          <a:cs typeface="黑体" panose="02010609060101010101" pitchFamily="49" charset="-122"/>
                        </a:rPr>
                        <m:t>𝒂</m:t>
                      </m:r>
                      <m:r>
                        <a:rPr kumimoji="1" lang="zh-CN" altLang="en-US" sz="2200" b="1">
                          <a:latin typeface="Cambria Math" panose="02040503050406030204" charset="0"/>
                          <a:ea typeface="黑体" panose="02010609060101010101" pitchFamily="49" charset="-122"/>
                          <a:cs typeface="黑体" panose="02010609060101010101" pitchFamily="49" charset="-122"/>
                        </a:rPr>
                        <m:t>⋅</m:t>
                      </m:r>
                      <m:r>
                        <a:rPr kumimoji="1" lang="en-US" altLang="zh-CN" sz="2200" b="1" i="1">
                          <a:latin typeface="Cambria Math" panose="02040503050406030204" charset="0"/>
                          <a:ea typeface="黑体" panose="02010609060101010101" pitchFamily="49" charset="-122"/>
                          <a:cs typeface="黑体" panose="02010609060101010101" pitchFamily="49" charset="-122"/>
                        </a:rPr>
                        <m:t>𝒃</m:t>
                      </m:r>
                      <m:r>
                        <a:rPr kumimoji="1" lang="zh-CN" altLang="en-US" sz="2200">
                          <a:latin typeface="Cambria Math" panose="02040503050406030204" charset="0"/>
                          <a:ea typeface="黑体" panose="02010609060101010101" pitchFamily="49" charset="-122"/>
                          <a:cs typeface="黑体" panose="02010609060101010101" pitchFamily="49" charset="-122"/>
                        </a:rPr>
                        <m:t>=</m:t>
                      </m:r>
                      <m:r>
                        <a:rPr kumimoji="1" lang="zh-CN" altLang="en-US" sz="2200">
                          <a:latin typeface="Cambria Math" panose="02040503050406030204" charset="0"/>
                          <a:ea typeface="黑体" panose="02010609060101010101" pitchFamily="49" charset="-122"/>
                          <a:cs typeface="黑体" panose="02010609060101010101" pitchFamily="49" charset="-122"/>
                        </a:rPr>
                        <m:t>0</m:t>
                      </m:r>
                      <m:r>
                        <a:rPr kumimoji="1" lang="zh-CN" altLang="en-US" sz="2200">
                          <a:latin typeface="Cambria Math" panose="02040503050406030204" charset="0"/>
                          <a:ea typeface="黑体" panose="02010609060101010101" pitchFamily="49" charset="-122"/>
                          <a:cs typeface="黑体" panose="02010609060101010101" pitchFamily="49" charset="-122"/>
                        </a:rPr>
                        <m:t>,</m:t>
                      </m:r>
                    </m:oMath>
                  </m:oMathPara>
                </a14:m>
                <a:endParaRPr kumimoji="1" lang="zh-CN" altLang="en-US" sz="2200" dirty="0">
                  <a:latin typeface="Cambria Math" panose="02040503050406030204" charset="0"/>
                  <a:ea typeface="黑体" panose="02010609060101010101" pitchFamily="49" charset="-122"/>
                  <a:cs typeface="黑体" panose="02010609060101010101" pitchFamily="49" charset="-122"/>
                </a:endParaRPr>
              </a:p>
            </p:txBody>
          </p:sp>
        </mc:Choice>
        <mc:Fallback>
          <p:sp>
            <p:nvSpPr>
              <p:cNvPr id="6" name="Object 8"/>
              <p:cNvSpPr txBox="1">
                <a:spLocks noRot="1" noChangeAspect="1" noMove="1" noResize="1" noEditPoints="1" noAdjustHandles="1" noChangeArrowheads="1" noChangeShapeType="1" noTextEdit="1"/>
              </p:cNvSpPr>
              <p:nvPr/>
            </p:nvSpPr>
            <p:spPr bwMode="auto">
              <a:xfrm>
                <a:off x="4488251" y="3390218"/>
                <a:ext cx="1754188" cy="443136"/>
              </a:xfrm>
              <a:prstGeom prst="rect">
                <a:avLst/>
              </a:prstGeom>
              <a:blipFill rotWithShape="1">
                <a:blip r:embed="rId5"/>
                <a:stretch>
                  <a:fillRect l="-4" t="-133" r="22" b="111"/>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Object 9"/>
              <p:cNvSpPr txBox="1"/>
              <p:nvPr/>
            </p:nvSpPr>
            <p:spPr bwMode="auto">
              <a:xfrm>
                <a:off x="5907231" y="3377630"/>
                <a:ext cx="1315501" cy="468313"/>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smtClean="0">
                          <a:latin typeface="Cambria Math" panose="02040503050406030204" charset="0"/>
                          <a:ea typeface="黑体" panose="02010609060101010101" pitchFamily="49" charset="-122"/>
                          <a:cs typeface="黑体" panose="02010609060101010101" pitchFamily="49" charset="-122"/>
                        </a:rPr>
                        <m:t>|</m:t>
                      </m:r>
                      <m:r>
                        <a:rPr kumimoji="1" lang="en-US" altLang="zh-CN" sz="2200" b="1" i="1" smtClean="0">
                          <a:latin typeface="Cambria Math" panose="02040503050406030204" charset="0"/>
                          <a:ea typeface="黑体" panose="02010609060101010101" pitchFamily="49" charset="-122"/>
                          <a:cs typeface="黑体" panose="02010609060101010101" pitchFamily="49" charset="-122"/>
                        </a:rPr>
                        <m:t>𝒂</m:t>
                      </m:r>
                      <m:r>
                        <a:rPr kumimoji="1" lang="zh-CN" altLang="en-US" sz="2200">
                          <a:latin typeface="Cambria Math" panose="02040503050406030204" charset="0"/>
                          <a:ea typeface="黑体" panose="02010609060101010101" pitchFamily="49" charset="-122"/>
                          <a:cs typeface="黑体" panose="02010609060101010101" pitchFamily="49" charset="-122"/>
                        </a:rPr>
                        <m:t>|≠</m:t>
                      </m:r>
                      <m:r>
                        <a:rPr kumimoji="1" lang="zh-CN" altLang="en-US" sz="2200">
                          <a:latin typeface="Cambria Math" panose="02040503050406030204" charset="0"/>
                          <a:ea typeface="黑体" panose="02010609060101010101" pitchFamily="49" charset="-122"/>
                          <a:cs typeface="黑体" panose="02010609060101010101" pitchFamily="49" charset="-122"/>
                        </a:rPr>
                        <m:t>0</m:t>
                      </m:r>
                      <m:r>
                        <a:rPr kumimoji="1" lang="zh-CN" altLang="en-US" sz="2200">
                          <a:latin typeface="Cambria Math" panose="02040503050406030204" charset="0"/>
                          <a:ea typeface="黑体" panose="02010609060101010101" pitchFamily="49" charset="-122"/>
                          <a:cs typeface="黑体" panose="02010609060101010101" pitchFamily="49" charset="-122"/>
                        </a:rPr>
                        <m:t>,</m:t>
                      </m:r>
                    </m:oMath>
                  </m:oMathPara>
                </a14:m>
                <a:endParaRPr kumimoji="1" lang="zh-CN" altLang="en-US" sz="2200" dirty="0">
                  <a:latin typeface="Cambria Math" panose="02040503050406030204" charset="0"/>
                  <a:ea typeface="黑体" panose="02010609060101010101" pitchFamily="49" charset="-122"/>
                  <a:cs typeface="黑体" panose="02010609060101010101" pitchFamily="49" charset="-122"/>
                </a:endParaRPr>
              </a:p>
            </p:txBody>
          </p:sp>
        </mc:Choice>
        <mc:Fallback>
          <p:sp>
            <p:nvSpPr>
              <p:cNvPr id="7" name="Object 9"/>
              <p:cNvSpPr txBox="1">
                <a:spLocks noRot="1" noChangeAspect="1" noMove="1" noResize="1" noEditPoints="1" noAdjustHandles="1" noChangeArrowheads="1" noChangeShapeType="1" noTextEdit="1"/>
              </p:cNvSpPr>
              <p:nvPr/>
            </p:nvSpPr>
            <p:spPr bwMode="auto">
              <a:xfrm>
                <a:off x="5907231" y="3377630"/>
                <a:ext cx="1315501" cy="468313"/>
              </a:xfrm>
              <a:prstGeom prst="rect">
                <a:avLst/>
              </a:prstGeom>
              <a:blipFill rotWithShape="1">
                <a:blip r:embed="rId6"/>
                <a:stretch>
                  <a:fillRect l="-35" t="-14" r="18" b="82"/>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Object 10"/>
              <p:cNvSpPr txBox="1"/>
              <p:nvPr/>
            </p:nvSpPr>
            <p:spPr bwMode="auto">
              <a:xfrm>
                <a:off x="6948404" y="3388254"/>
                <a:ext cx="1213253" cy="519576"/>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kumimoji="1" lang="zh-CN" altLang="en-US" sz="2200" smtClean="0">
                          <a:latin typeface="Cambria Math" panose="02040503050406030204" charset="0"/>
                          <a:ea typeface="黑体" panose="02010609060101010101" pitchFamily="49" charset="-122"/>
                          <a:cs typeface="黑体" panose="02010609060101010101" pitchFamily="49" charset="-122"/>
                        </a:rPr>
                        <m:t>|</m:t>
                      </m:r>
                      <m:r>
                        <a:rPr kumimoji="1" lang="en-US" altLang="zh-CN" sz="2200" b="1" i="1" smtClean="0">
                          <a:latin typeface="Cambria Math" panose="02040503050406030204" charset="0"/>
                          <a:ea typeface="黑体" panose="02010609060101010101" pitchFamily="49" charset="-122"/>
                          <a:cs typeface="黑体" panose="02010609060101010101" pitchFamily="49" charset="-122"/>
                        </a:rPr>
                        <m:t>𝒃</m:t>
                      </m:r>
                      <m:r>
                        <a:rPr kumimoji="1" lang="zh-CN" altLang="en-US" sz="2200">
                          <a:latin typeface="Cambria Math" panose="02040503050406030204" charset="0"/>
                          <a:ea typeface="黑体" panose="02010609060101010101" pitchFamily="49" charset="-122"/>
                          <a:cs typeface="黑体" panose="02010609060101010101" pitchFamily="49" charset="-122"/>
                        </a:rPr>
                        <m:t>|≠</m:t>
                      </m:r>
                      <m:r>
                        <a:rPr kumimoji="1" lang="zh-CN" altLang="en-US" sz="2200">
                          <a:latin typeface="Cambria Math" panose="02040503050406030204" charset="0"/>
                          <a:ea typeface="黑体" panose="02010609060101010101" pitchFamily="49" charset="-122"/>
                          <a:cs typeface="黑体" panose="02010609060101010101" pitchFamily="49" charset="-122"/>
                        </a:rPr>
                        <m:t>0</m:t>
                      </m:r>
                      <m:r>
                        <a:rPr kumimoji="1" lang="zh-CN" altLang="en-US" sz="2200">
                          <a:latin typeface="Cambria Math" panose="02040503050406030204" charset="0"/>
                          <a:ea typeface="黑体" panose="02010609060101010101" pitchFamily="49" charset="-122"/>
                          <a:cs typeface="黑体" panose="02010609060101010101" pitchFamily="49" charset="-122"/>
                        </a:rPr>
                        <m:t>,</m:t>
                      </m:r>
                    </m:oMath>
                  </m:oMathPara>
                </a14:m>
                <a:endParaRPr kumimoji="1" lang="zh-CN" altLang="en-US" sz="2200" dirty="0">
                  <a:latin typeface="Cambria Math" panose="02040503050406030204" charset="0"/>
                  <a:ea typeface="黑体" panose="02010609060101010101" pitchFamily="49" charset="-122"/>
                  <a:cs typeface="黑体" panose="02010609060101010101" pitchFamily="49" charset="-122"/>
                </a:endParaRPr>
              </a:p>
            </p:txBody>
          </p:sp>
        </mc:Choice>
        <mc:Fallback>
          <p:sp>
            <p:nvSpPr>
              <p:cNvPr id="8" name="Object 10"/>
              <p:cNvSpPr txBox="1">
                <a:spLocks noRot="1" noChangeAspect="1" noMove="1" noResize="1" noEditPoints="1" noAdjustHandles="1" noChangeArrowheads="1" noChangeShapeType="1" noTextEdit="1"/>
              </p:cNvSpPr>
              <p:nvPr/>
            </p:nvSpPr>
            <p:spPr bwMode="auto">
              <a:xfrm>
                <a:off x="6948404" y="3388254"/>
                <a:ext cx="1213253" cy="519576"/>
              </a:xfrm>
              <a:prstGeom prst="rect">
                <a:avLst/>
              </a:prstGeom>
              <a:blipFill rotWithShape="1">
                <a:blip r:embed="rId7"/>
                <a:stretch>
                  <a:fillRect l="-19" t="-102" b="8"/>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Object 11"/>
              <p:cNvSpPr txBox="1"/>
              <p:nvPr/>
            </p:nvSpPr>
            <p:spPr bwMode="auto">
              <a:xfrm>
                <a:off x="4488251" y="4100763"/>
                <a:ext cx="2101850" cy="51435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latin typeface="Cambria Math" panose="02040503050406030204" charset="0"/>
                          <a:ea typeface="黑体" panose="02010609060101010101" pitchFamily="49" charset="-122"/>
                          <a:cs typeface="黑体" panose="02010609060101010101" pitchFamily="49" charset="-122"/>
                        </a:rPr>
                        <m:t>∴</m:t>
                      </m:r>
                      <m:func>
                        <m:funcPr>
                          <m:ctrlPr>
                            <a:rPr kumimoji="1" lang="zh-CN" altLang="en-US" sz="2200" i="1">
                              <a:latin typeface="Cambria Math" panose="02040503050406030204" charset="0"/>
                              <a:ea typeface="黑体" panose="02010609060101010101" pitchFamily="49" charset="-122"/>
                              <a:cs typeface="黑体" panose="02010609060101010101" pitchFamily="49" charset="-122"/>
                            </a:rPr>
                          </m:ctrlPr>
                        </m:funcPr>
                        <m:fName>
                          <m:r>
                            <m:rPr>
                              <m:sty m:val="p"/>
                            </m:rPr>
                            <a:rPr kumimoji="1" lang="zh-CN" altLang="en-US" sz="2200">
                              <a:latin typeface="Cambria Math" panose="02040503050406030204" charset="0"/>
                              <a:ea typeface="黑体" panose="02010609060101010101" pitchFamily="49" charset="-122"/>
                              <a:cs typeface="黑体" panose="02010609060101010101" pitchFamily="49" charset="-122"/>
                            </a:rPr>
                            <m:t>cos</m:t>
                          </m:r>
                        </m:fName>
                        <m:e>
                          <m:r>
                            <a:rPr kumimoji="1" lang="zh-CN" altLang="en-US" sz="2200">
                              <a:latin typeface="Cambria Math" panose="02040503050406030204" charset="0"/>
                              <a:ea typeface="黑体" panose="02010609060101010101" pitchFamily="49" charset="-122"/>
                              <a:cs typeface="黑体" panose="02010609060101010101" pitchFamily="49" charset="-122"/>
                            </a:rPr>
                            <m:t>𝜃</m:t>
                          </m:r>
                        </m:e>
                      </m:func>
                      <m:r>
                        <a:rPr kumimoji="1" lang="zh-CN" altLang="en-US" sz="2200">
                          <a:latin typeface="Cambria Math" panose="02040503050406030204" charset="0"/>
                          <a:ea typeface="黑体" panose="02010609060101010101" pitchFamily="49" charset="-122"/>
                          <a:cs typeface="黑体" panose="02010609060101010101" pitchFamily="49" charset="-122"/>
                        </a:rPr>
                        <m:t>=</m:t>
                      </m:r>
                      <m:r>
                        <a:rPr kumimoji="1" lang="zh-CN" altLang="en-US" sz="2200">
                          <a:latin typeface="Cambria Math" panose="02040503050406030204" charset="0"/>
                          <a:ea typeface="黑体" panose="02010609060101010101" pitchFamily="49" charset="-122"/>
                          <a:cs typeface="黑体" panose="02010609060101010101" pitchFamily="49" charset="-122"/>
                        </a:rPr>
                        <m:t>0</m:t>
                      </m:r>
                      <m:r>
                        <a:rPr kumimoji="1" lang="zh-CN" altLang="en-US" sz="2200">
                          <a:latin typeface="Cambria Math" panose="02040503050406030204" charset="0"/>
                          <a:ea typeface="黑体" panose="02010609060101010101" pitchFamily="49" charset="-122"/>
                          <a:cs typeface="黑体" panose="02010609060101010101" pitchFamily="49" charset="-122"/>
                        </a:rPr>
                        <m:t>,</m:t>
                      </m:r>
                    </m:oMath>
                  </m:oMathPara>
                </a14:m>
                <a:endParaRPr kumimoji="1" lang="zh-CN" altLang="en-US" sz="2200" dirty="0">
                  <a:latin typeface="Cambria Math" panose="02040503050406030204" charset="0"/>
                  <a:ea typeface="黑体" panose="02010609060101010101" pitchFamily="49" charset="-122"/>
                  <a:cs typeface="黑体" panose="02010609060101010101" pitchFamily="49" charset="-122"/>
                </a:endParaRPr>
              </a:p>
            </p:txBody>
          </p:sp>
        </mc:Choice>
        <mc:Fallback>
          <p:sp>
            <p:nvSpPr>
              <p:cNvPr id="9" name="Object 11"/>
              <p:cNvSpPr txBox="1">
                <a:spLocks noRot="1" noChangeAspect="1" noMove="1" noResize="1" noEditPoints="1" noAdjustHandles="1" noChangeArrowheads="1" noChangeShapeType="1" noTextEdit="1"/>
              </p:cNvSpPr>
              <p:nvPr/>
            </p:nvSpPr>
            <p:spPr bwMode="auto">
              <a:xfrm>
                <a:off x="4488251" y="4100763"/>
                <a:ext cx="2101850" cy="514350"/>
              </a:xfrm>
              <a:prstGeom prst="rect">
                <a:avLst/>
              </a:prstGeom>
              <a:blipFill rotWithShape="1">
                <a:blip r:embed="rId8"/>
                <a:stretch>
                  <a:fillRect l="-3" t="-110" r="3" b="110"/>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Object 13"/>
              <p:cNvSpPr txBox="1"/>
              <p:nvPr/>
            </p:nvSpPr>
            <p:spPr bwMode="auto">
              <a:xfrm>
                <a:off x="6928970" y="4114127"/>
                <a:ext cx="1250280" cy="404812"/>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smtClean="0">
                          <a:latin typeface="Cambria Math" panose="02040503050406030204" charset="0"/>
                          <a:ea typeface="黑体" panose="02010609060101010101" pitchFamily="49" charset="-122"/>
                          <a:cs typeface="黑体" panose="02010609060101010101" pitchFamily="49" charset="-122"/>
                        </a:rPr>
                        <m:t>∴</m:t>
                      </m:r>
                      <m:r>
                        <a:rPr kumimoji="1" lang="en-US" altLang="zh-CN" sz="2200" b="1" i="1" smtClean="0">
                          <a:latin typeface="Cambria Math" panose="02040503050406030204" charset="0"/>
                          <a:ea typeface="黑体" panose="02010609060101010101" pitchFamily="49" charset="-122"/>
                          <a:cs typeface="黑体" panose="02010609060101010101" pitchFamily="49" charset="-122"/>
                        </a:rPr>
                        <m:t>𝒂</m:t>
                      </m:r>
                      <m:r>
                        <a:rPr kumimoji="1" lang="zh-CN" altLang="en-US" sz="2200">
                          <a:latin typeface="Cambria Math" panose="02040503050406030204" charset="0"/>
                          <a:ea typeface="黑体" panose="02010609060101010101" pitchFamily="49" charset="-122"/>
                          <a:cs typeface="黑体" panose="02010609060101010101" pitchFamily="49" charset="-122"/>
                        </a:rPr>
                        <m:t>⊥</m:t>
                      </m:r>
                      <m:r>
                        <a:rPr kumimoji="1" lang="en-US" altLang="zh-CN" sz="2200" b="1" i="1" smtClean="0">
                          <a:latin typeface="Cambria Math" panose="02040503050406030204" charset="0"/>
                          <a:ea typeface="黑体" panose="02010609060101010101" pitchFamily="49" charset="-122"/>
                          <a:cs typeface="黑体" panose="02010609060101010101" pitchFamily="49" charset="-122"/>
                        </a:rPr>
                        <m:t>𝒃</m:t>
                      </m:r>
                      <m:r>
                        <a:rPr kumimoji="1" lang="zh-CN" altLang="en-US" sz="2200">
                          <a:latin typeface="Cambria Math" panose="02040503050406030204" charset="0"/>
                          <a:ea typeface="黑体" panose="02010609060101010101" pitchFamily="49" charset="-122"/>
                          <a:cs typeface="黑体" panose="02010609060101010101" pitchFamily="49" charset="-122"/>
                        </a:rPr>
                        <m:t>.</m:t>
                      </m:r>
                    </m:oMath>
                  </m:oMathPara>
                </a14:m>
                <a:endParaRPr kumimoji="1" lang="zh-CN" altLang="en-US" sz="2200" dirty="0">
                  <a:latin typeface="Cambria Math" panose="02040503050406030204" charset="0"/>
                  <a:ea typeface="黑体" panose="02010609060101010101" pitchFamily="49" charset="-122"/>
                  <a:cs typeface="黑体" panose="02010609060101010101" pitchFamily="49" charset="-122"/>
                </a:endParaRPr>
              </a:p>
            </p:txBody>
          </p:sp>
        </mc:Choice>
        <mc:Fallback>
          <p:sp>
            <p:nvSpPr>
              <p:cNvPr id="10" name="Object 13"/>
              <p:cNvSpPr txBox="1">
                <a:spLocks noRot="1" noChangeAspect="1" noMove="1" noResize="1" noEditPoints="1" noAdjustHandles="1" noChangeArrowheads="1" noChangeShapeType="1" noTextEdit="1"/>
              </p:cNvSpPr>
              <p:nvPr/>
            </p:nvSpPr>
            <p:spPr bwMode="auto">
              <a:xfrm>
                <a:off x="6928970" y="4114127"/>
                <a:ext cx="1250280" cy="404812"/>
              </a:xfrm>
              <a:prstGeom prst="rect">
                <a:avLst/>
              </a:prstGeom>
              <a:blipFill rotWithShape="1">
                <a:blip r:embed="rId9"/>
                <a:stretch>
                  <a:fillRect l="-39" t="-147" r="36" b="69"/>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Object 14"/>
              <p:cNvSpPr txBox="1"/>
              <p:nvPr/>
            </p:nvSpPr>
            <p:spPr bwMode="auto">
              <a:xfrm>
                <a:off x="3246583" y="1279312"/>
                <a:ext cx="2865890" cy="493712"/>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800" smtClean="0">
                          <a:latin typeface="Cambria Math" panose="02040503050406030204" charset="0"/>
                          <a:ea typeface="黑体" panose="02010609060101010101" pitchFamily="49" charset="-122"/>
                          <a:cs typeface="黑体" panose="02010609060101010101" pitchFamily="49" charset="-122"/>
                        </a:rPr>
                        <m:t>(</m:t>
                      </m:r>
                      <m:r>
                        <a:rPr kumimoji="1" lang="zh-CN" altLang="en-US" sz="2800" smtClean="0">
                          <a:latin typeface="Cambria Math" panose="02040503050406030204" charset="0"/>
                          <a:ea typeface="黑体" panose="02010609060101010101" pitchFamily="49" charset="-122"/>
                          <a:cs typeface="黑体" panose="02010609060101010101" pitchFamily="49" charset="-122"/>
                        </a:rPr>
                        <m:t>1</m:t>
                      </m:r>
                      <m:r>
                        <a:rPr kumimoji="1" lang="zh-CN" altLang="en-US" sz="2800" smtClean="0">
                          <a:latin typeface="Cambria Math" panose="02040503050406030204" charset="0"/>
                          <a:ea typeface="黑体" panose="02010609060101010101" pitchFamily="49" charset="-122"/>
                          <a:cs typeface="黑体" panose="02010609060101010101" pitchFamily="49" charset="-122"/>
                        </a:rPr>
                        <m:t>)  </m:t>
                      </m:r>
                      <m:r>
                        <a:rPr kumimoji="1" lang="en-US" altLang="zh-CN" sz="2800" b="1" i="1" smtClean="0">
                          <a:latin typeface="Cambria Math" panose="02040503050406030204" charset="0"/>
                          <a:ea typeface="黑体" panose="02010609060101010101" pitchFamily="49" charset="-122"/>
                          <a:cs typeface="黑体" panose="02010609060101010101" pitchFamily="49" charset="-122"/>
                        </a:rPr>
                        <m:t>𝒂</m:t>
                      </m:r>
                      <m:r>
                        <a:rPr kumimoji="1" lang="zh-CN" altLang="en-US" sz="2800" b="1">
                          <a:latin typeface="Cambria Math" panose="02040503050406030204" charset="0"/>
                          <a:ea typeface="黑体" panose="02010609060101010101" pitchFamily="49" charset="-122"/>
                          <a:cs typeface="黑体" panose="02010609060101010101" pitchFamily="49" charset="-122"/>
                        </a:rPr>
                        <m:t>⋅</m:t>
                      </m:r>
                      <m:r>
                        <a:rPr kumimoji="1" lang="en-US" altLang="zh-CN" sz="2800" b="1" i="1" smtClean="0">
                          <a:latin typeface="Cambria Math" panose="02040503050406030204" charset="0"/>
                          <a:ea typeface="黑体" panose="02010609060101010101" pitchFamily="49" charset="-122"/>
                          <a:cs typeface="黑体" panose="02010609060101010101" pitchFamily="49" charset="-122"/>
                        </a:rPr>
                        <m:t>𝒂</m:t>
                      </m:r>
                      <m:r>
                        <a:rPr kumimoji="1" lang="zh-CN" altLang="en-US" sz="2800">
                          <a:latin typeface="Cambria Math" panose="02040503050406030204" charset="0"/>
                          <a:ea typeface="黑体" panose="02010609060101010101" pitchFamily="49" charset="-122"/>
                          <a:cs typeface="黑体" panose="02010609060101010101" pitchFamily="49" charset="-122"/>
                        </a:rPr>
                        <m:t>=|</m:t>
                      </m:r>
                      <m:r>
                        <a:rPr kumimoji="1" lang="en-US" altLang="zh-CN" sz="2800" b="1" i="1" smtClean="0">
                          <a:latin typeface="Cambria Math" panose="02040503050406030204" charset="0"/>
                          <a:ea typeface="黑体" panose="02010609060101010101" pitchFamily="49" charset="-122"/>
                          <a:cs typeface="黑体" panose="02010609060101010101" pitchFamily="49" charset="-122"/>
                        </a:rPr>
                        <m:t>𝒂</m:t>
                      </m:r>
                      <m:sSup>
                        <m:sSupPr>
                          <m:ctrlPr>
                            <a:rPr kumimoji="1" lang="zh-CN" altLang="en-US" sz="2800" i="1">
                              <a:latin typeface="Cambria Math" panose="02040503050406030204" charset="0"/>
                              <a:ea typeface="黑体" panose="02010609060101010101" pitchFamily="49" charset="-122"/>
                              <a:cs typeface="黑体" panose="02010609060101010101" pitchFamily="49" charset="-122"/>
                            </a:rPr>
                          </m:ctrlPr>
                        </m:sSupPr>
                        <m:e>
                          <m:r>
                            <a:rPr kumimoji="1" lang="zh-CN" altLang="en-US" sz="2800">
                              <a:latin typeface="Cambria Math" panose="02040503050406030204" charset="0"/>
                              <a:ea typeface="黑体" panose="02010609060101010101" pitchFamily="49" charset="-122"/>
                              <a:cs typeface="黑体" panose="02010609060101010101" pitchFamily="49" charset="-122"/>
                            </a:rPr>
                            <m:t>|</m:t>
                          </m:r>
                        </m:e>
                        <m:sup>
                          <m:r>
                            <a:rPr kumimoji="1" lang="zh-CN" altLang="en-US" sz="2800">
                              <a:latin typeface="Cambria Math" panose="02040503050406030204" charset="0"/>
                              <a:ea typeface="黑体" panose="02010609060101010101" pitchFamily="49" charset="-122"/>
                              <a:cs typeface="黑体" panose="02010609060101010101" pitchFamily="49" charset="-122"/>
                            </a:rPr>
                            <m:t>2</m:t>
                          </m:r>
                        </m:sup>
                      </m:sSup>
                      <m:r>
                        <a:rPr kumimoji="1" lang="zh-CN" altLang="en-US" sz="2800">
                          <a:latin typeface="Cambria Math" panose="02040503050406030204" charset="0"/>
                          <a:ea typeface="黑体" panose="02010609060101010101" pitchFamily="49" charset="-122"/>
                          <a:cs typeface="黑体" panose="02010609060101010101" pitchFamily="49" charset="-122"/>
                        </a:rPr>
                        <m:t>.</m:t>
                      </m:r>
                    </m:oMath>
                  </m:oMathPara>
                </a14:m>
                <a:endParaRPr kumimoji="1" lang="zh-CN" altLang="en-US" sz="2800" dirty="0">
                  <a:latin typeface="Cambria Math" panose="02040503050406030204" charset="0"/>
                  <a:ea typeface="黑体" panose="02010609060101010101" pitchFamily="49" charset="-122"/>
                  <a:cs typeface="黑体" panose="02010609060101010101" pitchFamily="49" charset="-122"/>
                </a:endParaRPr>
              </a:p>
            </p:txBody>
          </p:sp>
        </mc:Choice>
        <mc:Fallback>
          <p:sp>
            <p:nvSpPr>
              <p:cNvPr id="11" name="Object 14"/>
              <p:cNvSpPr txBox="1">
                <a:spLocks noRot="1" noChangeAspect="1" noMove="1" noResize="1" noEditPoints="1" noAdjustHandles="1" noChangeArrowheads="1" noChangeShapeType="1" noTextEdit="1"/>
              </p:cNvSpPr>
              <p:nvPr/>
            </p:nvSpPr>
            <p:spPr bwMode="auto">
              <a:xfrm>
                <a:off x="3246583" y="1279312"/>
                <a:ext cx="2865890" cy="493712"/>
              </a:xfrm>
              <a:prstGeom prst="rect">
                <a:avLst/>
              </a:prstGeom>
              <a:blipFill rotWithShape="1">
                <a:blip r:embed="rId10"/>
                <a:stretch>
                  <a:fillRect l="-16" t="-85" r="21" b="21"/>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Object 15"/>
              <p:cNvSpPr txBox="1"/>
              <p:nvPr/>
            </p:nvSpPr>
            <p:spPr bwMode="auto">
              <a:xfrm>
                <a:off x="3861753" y="4990181"/>
                <a:ext cx="671513" cy="404813"/>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smtClean="0">
                          <a:solidFill>
                            <a:srgbClr val="04926A"/>
                          </a:solidFill>
                          <a:latin typeface="Cambria Math" panose="02040503050406030204" charset="0"/>
                          <a:ea typeface="黑体" panose="02010609060101010101" pitchFamily="49" charset="-122"/>
                          <a:cs typeface="黑体" panose="02010609060101010101" pitchFamily="49" charset="-122"/>
                        </a:rPr>
                        <m:t>(⇐)</m:t>
                      </m:r>
                    </m:oMath>
                  </m:oMathPara>
                </a14:m>
                <a:endParaRPr kumimoji="1" lang="zh-CN" altLang="en-US" sz="2200" dirty="0">
                  <a:solidFill>
                    <a:srgbClr val="04926A"/>
                  </a:solidFill>
                  <a:latin typeface="Cambria Math" panose="02040503050406030204" charset="0"/>
                  <a:ea typeface="黑体" panose="02010609060101010101" pitchFamily="49" charset="-122"/>
                  <a:cs typeface="黑体" panose="02010609060101010101" pitchFamily="49" charset="-122"/>
                </a:endParaRPr>
              </a:p>
            </p:txBody>
          </p:sp>
        </mc:Choice>
        <mc:Fallback>
          <p:sp>
            <p:nvSpPr>
              <p:cNvPr id="12" name="Object 15"/>
              <p:cNvSpPr txBox="1">
                <a:spLocks noRot="1" noChangeAspect="1" noMove="1" noResize="1" noEditPoints="1" noAdjustHandles="1" noChangeArrowheads="1" noChangeShapeType="1" noTextEdit="1"/>
              </p:cNvSpPr>
              <p:nvPr/>
            </p:nvSpPr>
            <p:spPr bwMode="auto">
              <a:xfrm>
                <a:off x="3861753" y="4990181"/>
                <a:ext cx="671513" cy="404813"/>
              </a:xfrm>
              <a:prstGeom prst="rect">
                <a:avLst/>
              </a:prstGeom>
              <a:blipFill rotWithShape="1">
                <a:blip r:embed="rId11"/>
                <a:stretch>
                  <a:fillRect l="-47" t="-87" b="8"/>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Object 16"/>
              <p:cNvSpPr txBox="1"/>
              <p:nvPr/>
            </p:nvSpPr>
            <p:spPr bwMode="auto">
              <a:xfrm>
                <a:off x="4491916" y="5021365"/>
                <a:ext cx="1225127" cy="465348"/>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smtClean="0">
                          <a:latin typeface="Cambria Math" panose="02040503050406030204" charset="0"/>
                          <a:ea typeface="黑体" panose="02010609060101010101" pitchFamily="49" charset="-122"/>
                          <a:cs typeface="黑体" panose="02010609060101010101" pitchFamily="49" charset="-122"/>
                        </a:rPr>
                        <m:t>∵</m:t>
                      </m:r>
                      <m:r>
                        <a:rPr kumimoji="1" lang="en-US" altLang="zh-CN" sz="2200" b="1" i="1" smtClean="0">
                          <a:latin typeface="Cambria Math" panose="02040503050406030204" charset="0"/>
                          <a:ea typeface="黑体" panose="02010609060101010101" pitchFamily="49" charset="-122"/>
                          <a:cs typeface="黑体" panose="02010609060101010101" pitchFamily="49" charset="-122"/>
                        </a:rPr>
                        <m:t>𝒂</m:t>
                      </m:r>
                      <m:r>
                        <a:rPr kumimoji="1" lang="zh-CN" altLang="en-US" sz="2200">
                          <a:latin typeface="Cambria Math" panose="02040503050406030204" charset="0"/>
                          <a:ea typeface="黑体" panose="02010609060101010101" pitchFamily="49" charset="-122"/>
                          <a:cs typeface="黑体" panose="02010609060101010101" pitchFamily="49" charset="-122"/>
                        </a:rPr>
                        <m:t>⊥</m:t>
                      </m:r>
                      <m:r>
                        <a:rPr kumimoji="1" lang="en-US" altLang="zh-CN" sz="2200" b="1" i="1" smtClean="0">
                          <a:latin typeface="Cambria Math" panose="02040503050406030204" charset="0"/>
                          <a:ea typeface="黑体" panose="02010609060101010101" pitchFamily="49" charset="-122"/>
                          <a:cs typeface="黑体" panose="02010609060101010101" pitchFamily="49" charset="-122"/>
                        </a:rPr>
                        <m:t>𝒃</m:t>
                      </m:r>
                      <m:r>
                        <a:rPr kumimoji="1" lang="zh-CN" altLang="en-US" sz="2200">
                          <a:latin typeface="Cambria Math" panose="02040503050406030204" charset="0"/>
                          <a:ea typeface="黑体" panose="02010609060101010101" pitchFamily="49" charset="-122"/>
                          <a:cs typeface="黑体" panose="02010609060101010101" pitchFamily="49" charset="-122"/>
                        </a:rPr>
                        <m:t>,</m:t>
                      </m:r>
                    </m:oMath>
                  </m:oMathPara>
                </a14:m>
                <a:endParaRPr kumimoji="1" lang="zh-CN" altLang="en-US" sz="2200" dirty="0">
                  <a:latin typeface="Cambria Math" panose="02040503050406030204" charset="0"/>
                  <a:ea typeface="黑体" panose="02010609060101010101" pitchFamily="49" charset="-122"/>
                  <a:cs typeface="黑体" panose="02010609060101010101" pitchFamily="49" charset="-122"/>
                </a:endParaRPr>
              </a:p>
            </p:txBody>
          </p:sp>
        </mc:Choice>
        <mc:Fallback>
          <p:sp>
            <p:nvSpPr>
              <p:cNvPr id="13" name="Object 16"/>
              <p:cNvSpPr txBox="1">
                <a:spLocks noRot="1" noChangeAspect="1" noMove="1" noResize="1" noEditPoints="1" noAdjustHandles="1" noChangeArrowheads="1" noChangeShapeType="1" noTextEdit="1"/>
              </p:cNvSpPr>
              <p:nvPr/>
            </p:nvSpPr>
            <p:spPr bwMode="auto">
              <a:xfrm>
                <a:off x="4491916" y="5021365"/>
                <a:ext cx="1225127" cy="465348"/>
              </a:xfrm>
              <a:prstGeom prst="rect">
                <a:avLst/>
              </a:prstGeom>
              <a:blipFill rotWithShape="1">
                <a:blip r:embed="rId12"/>
                <a:stretch>
                  <a:fillRect l="-46" t="-90" r="11" b="67"/>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Object 18"/>
              <p:cNvSpPr txBox="1"/>
              <p:nvPr/>
            </p:nvSpPr>
            <p:spPr bwMode="auto">
              <a:xfrm>
                <a:off x="6833846" y="5021824"/>
                <a:ext cx="1989976" cy="522994"/>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latin typeface="Cambria Math" panose="02040503050406030204" charset="0"/>
                          <a:ea typeface="黑体" panose="02010609060101010101" pitchFamily="49" charset="-122"/>
                          <a:cs typeface="黑体" panose="02010609060101010101" pitchFamily="49" charset="-122"/>
                        </a:rPr>
                        <m:t>∴</m:t>
                      </m:r>
                      <m:func>
                        <m:funcPr>
                          <m:ctrlPr>
                            <a:rPr kumimoji="1" lang="zh-CN" altLang="en-US" sz="2200" i="1">
                              <a:latin typeface="Cambria Math" panose="02040503050406030204" charset="0"/>
                              <a:ea typeface="黑体" panose="02010609060101010101" pitchFamily="49" charset="-122"/>
                              <a:cs typeface="黑体" panose="02010609060101010101" pitchFamily="49" charset="-122"/>
                            </a:rPr>
                          </m:ctrlPr>
                        </m:funcPr>
                        <m:fName>
                          <m:r>
                            <m:rPr>
                              <m:sty m:val="p"/>
                            </m:rPr>
                            <a:rPr kumimoji="1" lang="zh-CN" altLang="en-US" sz="2200">
                              <a:latin typeface="Cambria Math" panose="02040503050406030204" charset="0"/>
                              <a:ea typeface="黑体" panose="02010609060101010101" pitchFamily="49" charset="-122"/>
                              <a:cs typeface="黑体" panose="02010609060101010101" pitchFamily="49" charset="-122"/>
                            </a:rPr>
                            <m:t>cos</m:t>
                          </m:r>
                        </m:fName>
                        <m:e>
                          <m:r>
                            <a:rPr kumimoji="1" lang="zh-CN" altLang="en-US" sz="2200">
                              <a:latin typeface="Cambria Math" panose="02040503050406030204" charset="0"/>
                              <a:ea typeface="黑体" panose="02010609060101010101" pitchFamily="49" charset="-122"/>
                              <a:cs typeface="黑体" panose="02010609060101010101" pitchFamily="49" charset="-122"/>
                            </a:rPr>
                            <m:t>𝜃</m:t>
                          </m:r>
                        </m:e>
                      </m:func>
                      <m:r>
                        <a:rPr kumimoji="1" lang="zh-CN" altLang="en-US" sz="2200">
                          <a:latin typeface="Cambria Math" panose="02040503050406030204" charset="0"/>
                          <a:ea typeface="黑体" panose="02010609060101010101" pitchFamily="49" charset="-122"/>
                          <a:cs typeface="黑体" panose="02010609060101010101" pitchFamily="49" charset="-122"/>
                        </a:rPr>
                        <m:t>=</m:t>
                      </m:r>
                      <m:r>
                        <a:rPr kumimoji="1" lang="zh-CN" altLang="en-US" sz="2200">
                          <a:latin typeface="Cambria Math" panose="02040503050406030204" charset="0"/>
                          <a:ea typeface="黑体" panose="02010609060101010101" pitchFamily="49" charset="-122"/>
                          <a:cs typeface="黑体" panose="02010609060101010101" pitchFamily="49" charset="-122"/>
                        </a:rPr>
                        <m:t>0</m:t>
                      </m:r>
                      <m:r>
                        <a:rPr kumimoji="1" lang="zh-CN" altLang="en-US" sz="2200">
                          <a:latin typeface="Cambria Math" panose="02040503050406030204" charset="0"/>
                          <a:ea typeface="黑体" panose="02010609060101010101" pitchFamily="49" charset="-122"/>
                          <a:cs typeface="黑体" panose="02010609060101010101" pitchFamily="49" charset="-122"/>
                        </a:rPr>
                        <m:t>,</m:t>
                      </m:r>
                    </m:oMath>
                  </m:oMathPara>
                </a14:m>
                <a:endParaRPr kumimoji="1" lang="zh-CN" altLang="en-US" sz="2200" dirty="0">
                  <a:latin typeface="Cambria Math" panose="02040503050406030204" charset="0"/>
                  <a:ea typeface="黑体" panose="02010609060101010101" pitchFamily="49" charset="-122"/>
                  <a:cs typeface="黑体" panose="02010609060101010101" pitchFamily="49" charset="-122"/>
                </a:endParaRPr>
              </a:p>
            </p:txBody>
          </p:sp>
        </mc:Choice>
        <mc:Fallback>
          <p:sp>
            <p:nvSpPr>
              <p:cNvPr id="14" name="Object 18"/>
              <p:cNvSpPr txBox="1">
                <a:spLocks noRot="1" noChangeAspect="1" noMove="1" noResize="1" noEditPoints="1" noAdjustHandles="1" noChangeArrowheads="1" noChangeShapeType="1" noTextEdit="1"/>
              </p:cNvSpPr>
              <p:nvPr/>
            </p:nvSpPr>
            <p:spPr bwMode="auto">
              <a:xfrm>
                <a:off x="6833846" y="5021824"/>
                <a:ext cx="1989976" cy="522994"/>
              </a:xfrm>
              <a:prstGeom prst="rect">
                <a:avLst/>
              </a:prstGeom>
              <a:blipFill rotWithShape="1">
                <a:blip r:embed="rId13"/>
                <a:stretch>
                  <a:fillRect l="-31" t="-47" r="25" b="121"/>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Object 19"/>
              <p:cNvSpPr txBox="1"/>
              <p:nvPr/>
            </p:nvSpPr>
            <p:spPr bwMode="auto">
              <a:xfrm>
                <a:off x="4799308" y="5657192"/>
                <a:ext cx="3029526" cy="477852"/>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kumimoji="1" lang="en-US" altLang="zh-CN" sz="2200" b="1" i="1">
                          <a:latin typeface="Cambria Math" panose="02040503050406030204" charset="0"/>
                          <a:ea typeface="黑体" panose="02010609060101010101" pitchFamily="49" charset="-122"/>
                          <a:cs typeface="黑体" panose="02010609060101010101" pitchFamily="49" charset="-122"/>
                        </a:rPr>
                        <m:t>𝒂</m:t>
                      </m:r>
                      <m:r>
                        <a:rPr kumimoji="1" lang="zh-CN" altLang="en-US" sz="2200">
                          <a:latin typeface="Cambria Math" panose="02040503050406030204" charset="0"/>
                          <a:ea typeface="黑体" panose="02010609060101010101" pitchFamily="49" charset="-122"/>
                          <a:cs typeface="黑体" panose="02010609060101010101" pitchFamily="49" charset="-122"/>
                        </a:rPr>
                        <m:t>⋅</m:t>
                      </m:r>
                      <m:r>
                        <a:rPr kumimoji="1" lang="en-US" altLang="zh-CN" sz="2200" b="1" i="1">
                          <a:latin typeface="Cambria Math" panose="02040503050406030204" charset="0"/>
                          <a:ea typeface="黑体" panose="02010609060101010101" pitchFamily="49" charset="-122"/>
                          <a:cs typeface="黑体" panose="02010609060101010101" pitchFamily="49" charset="-122"/>
                        </a:rPr>
                        <m:t>𝒃</m:t>
                      </m:r>
                      <m:r>
                        <a:rPr kumimoji="1" lang="zh-CN" altLang="en-US" sz="2200">
                          <a:latin typeface="Cambria Math" panose="02040503050406030204" charset="0"/>
                          <a:ea typeface="黑体" panose="02010609060101010101" pitchFamily="49" charset="-122"/>
                          <a:cs typeface="黑体" panose="02010609060101010101" pitchFamily="49" charset="-122"/>
                        </a:rPr>
                        <m:t>=|</m:t>
                      </m:r>
                      <m:r>
                        <a:rPr kumimoji="1" lang="en-US" altLang="zh-CN" sz="2200" b="1" i="1">
                          <a:latin typeface="Cambria Math" panose="02040503050406030204" charset="0"/>
                          <a:ea typeface="黑体" panose="02010609060101010101" pitchFamily="49" charset="-122"/>
                          <a:cs typeface="黑体" panose="02010609060101010101" pitchFamily="49" charset="-122"/>
                        </a:rPr>
                        <m:t>𝒂</m:t>
                      </m:r>
                      <m:r>
                        <a:rPr kumimoji="1" lang="zh-CN" altLang="en-US" sz="2200" b="1">
                          <a:latin typeface="Cambria Math" panose="02040503050406030204" charset="0"/>
                          <a:ea typeface="黑体" panose="02010609060101010101" pitchFamily="49" charset="-122"/>
                          <a:cs typeface="黑体" panose="02010609060101010101" pitchFamily="49" charset="-122"/>
                        </a:rPr>
                        <m:t>||</m:t>
                      </m:r>
                      <m:r>
                        <a:rPr kumimoji="1" lang="en-US" altLang="zh-CN" sz="2200" b="1" i="1">
                          <a:latin typeface="Cambria Math" panose="02040503050406030204" charset="0"/>
                          <a:ea typeface="黑体" panose="02010609060101010101" pitchFamily="49" charset="-122"/>
                          <a:cs typeface="黑体" panose="02010609060101010101" pitchFamily="49" charset="-122"/>
                        </a:rPr>
                        <m:t>𝒃</m:t>
                      </m:r>
                      <m:r>
                        <a:rPr kumimoji="1" lang="zh-CN" altLang="en-US" sz="2200">
                          <a:latin typeface="Cambria Math" panose="02040503050406030204" charset="0"/>
                          <a:ea typeface="黑体" panose="02010609060101010101" pitchFamily="49" charset="-122"/>
                          <a:cs typeface="黑体" panose="02010609060101010101" pitchFamily="49" charset="-122"/>
                        </a:rPr>
                        <m:t>|</m:t>
                      </m:r>
                      <m:func>
                        <m:funcPr>
                          <m:ctrlPr>
                            <a:rPr kumimoji="1" lang="zh-CN" altLang="en-US" sz="2200" i="1">
                              <a:latin typeface="Cambria Math" panose="02040503050406030204" charset="0"/>
                              <a:ea typeface="黑体" panose="02010609060101010101" pitchFamily="49" charset="-122"/>
                              <a:cs typeface="黑体" panose="02010609060101010101" pitchFamily="49" charset="-122"/>
                            </a:rPr>
                          </m:ctrlPr>
                        </m:funcPr>
                        <m:fName>
                          <m:r>
                            <m:rPr>
                              <m:sty m:val="p"/>
                            </m:rPr>
                            <a:rPr kumimoji="1" lang="zh-CN" altLang="en-US" sz="2200">
                              <a:latin typeface="Cambria Math" panose="02040503050406030204" charset="0"/>
                              <a:ea typeface="黑体" panose="02010609060101010101" pitchFamily="49" charset="-122"/>
                              <a:cs typeface="黑体" panose="02010609060101010101" pitchFamily="49" charset="-122"/>
                            </a:rPr>
                            <m:t>cos</m:t>
                          </m:r>
                        </m:fName>
                        <m:e>
                          <m:r>
                            <a:rPr kumimoji="1" lang="zh-CN" altLang="en-US" sz="2200">
                              <a:latin typeface="Cambria Math" panose="02040503050406030204" charset="0"/>
                              <a:ea typeface="黑体" panose="02010609060101010101" pitchFamily="49" charset="-122"/>
                              <a:cs typeface="黑体" panose="02010609060101010101" pitchFamily="49" charset="-122"/>
                            </a:rPr>
                            <m:t>𝜃</m:t>
                          </m:r>
                        </m:e>
                      </m:func>
                      <m:r>
                        <a:rPr kumimoji="1" lang="zh-CN" altLang="en-US" sz="2200">
                          <a:latin typeface="Cambria Math" panose="02040503050406030204" charset="0"/>
                          <a:ea typeface="黑体" panose="02010609060101010101" pitchFamily="49" charset="-122"/>
                          <a:cs typeface="黑体" panose="02010609060101010101" pitchFamily="49" charset="-122"/>
                        </a:rPr>
                        <m:t>=</m:t>
                      </m:r>
                      <m:r>
                        <a:rPr kumimoji="1" lang="zh-CN" altLang="en-US" sz="2200">
                          <a:latin typeface="Cambria Math" panose="02040503050406030204" charset="0"/>
                          <a:ea typeface="黑体" panose="02010609060101010101" pitchFamily="49" charset="-122"/>
                          <a:cs typeface="黑体" panose="02010609060101010101" pitchFamily="49" charset="-122"/>
                        </a:rPr>
                        <m:t>0</m:t>
                      </m:r>
                      <m:r>
                        <a:rPr kumimoji="1" lang="zh-CN" altLang="en-US" sz="2200">
                          <a:latin typeface="Cambria Math" panose="02040503050406030204" charset="0"/>
                          <a:ea typeface="黑体" panose="02010609060101010101" pitchFamily="49" charset="-122"/>
                          <a:cs typeface="黑体" panose="02010609060101010101" pitchFamily="49" charset="-122"/>
                        </a:rPr>
                        <m:t>.</m:t>
                      </m:r>
                    </m:oMath>
                  </m:oMathPara>
                </a14:m>
                <a:endParaRPr kumimoji="1" lang="zh-CN" altLang="en-US" sz="2200" dirty="0">
                  <a:latin typeface="Cambria Math" panose="02040503050406030204" charset="0"/>
                  <a:ea typeface="黑体" panose="02010609060101010101" pitchFamily="49" charset="-122"/>
                  <a:cs typeface="黑体" panose="02010609060101010101" pitchFamily="49" charset="-122"/>
                </a:endParaRPr>
              </a:p>
            </p:txBody>
          </p:sp>
        </mc:Choice>
        <mc:Fallback>
          <p:sp>
            <p:nvSpPr>
              <p:cNvPr id="15" name="Object 19"/>
              <p:cNvSpPr txBox="1">
                <a:spLocks noRot="1" noChangeAspect="1" noMove="1" noResize="1" noEditPoints="1" noAdjustHandles="1" noChangeArrowheads="1" noChangeShapeType="1" noTextEdit="1"/>
              </p:cNvSpPr>
              <p:nvPr/>
            </p:nvSpPr>
            <p:spPr bwMode="auto">
              <a:xfrm>
                <a:off x="4799308" y="5657192"/>
                <a:ext cx="3029526" cy="477852"/>
              </a:xfrm>
              <a:prstGeom prst="rect">
                <a:avLst/>
              </a:prstGeom>
              <a:blipFill rotWithShape="1">
                <a:blip r:embed="rId14"/>
                <a:stretch>
                  <a:fillRect l="-20" t="-128" r="18" b="65"/>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Object 21"/>
              <p:cNvSpPr txBox="1"/>
              <p:nvPr/>
            </p:nvSpPr>
            <p:spPr bwMode="auto">
              <a:xfrm>
                <a:off x="3976411" y="1984535"/>
                <a:ext cx="1281054" cy="468777"/>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latin typeface="Cambria Math" panose="02040503050406030204" charset="0"/>
                          <a:ea typeface="黑体" panose="02010609060101010101" pitchFamily="49" charset="-122"/>
                          <a:cs typeface="黑体" panose="02010609060101010101" pitchFamily="49" charset="-122"/>
                        </a:rPr>
                        <m:t>∵</m:t>
                      </m:r>
                      <m:r>
                        <a:rPr kumimoji="1" lang="zh-CN" altLang="en-US" sz="2200">
                          <a:latin typeface="Cambria Math" panose="02040503050406030204" charset="0"/>
                          <a:ea typeface="黑体" panose="02010609060101010101" pitchFamily="49" charset="-122"/>
                          <a:cs typeface="黑体" panose="02010609060101010101" pitchFamily="49" charset="-122"/>
                        </a:rPr>
                        <m:t>𝜃</m:t>
                      </m:r>
                      <m:r>
                        <a:rPr kumimoji="1" lang="zh-CN" altLang="en-US" sz="2200">
                          <a:latin typeface="Cambria Math" panose="02040503050406030204" charset="0"/>
                          <a:ea typeface="黑体" panose="02010609060101010101" pitchFamily="49" charset="-122"/>
                          <a:cs typeface="黑体" panose="02010609060101010101" pitchFamily="49" charset="-122"/>
                        </a:rPr>
                        <m:t>=</m:t>
                      </m:r>
                      <m:r>
                        <a:rPr kumimoji="1" lang="zh-CN" altLang="en-US" sz="2200">
                          <a:latin typeface="Cambria Math" panose="02040503050406030204" charset="0"/>
                          <a:ea typeface="黑体" panose="02010609060101010101" pitchFamily="49" charset="-122"/>
                          <a:cs typeface="黑体" panose="02010609060101010101" pitchFamily="49" charset="-122"/>
                        </a:rPr>
                        <m:t>0</m:t>
                      </m:r>
                      <m:r>
                        <a:rPr kumimoji="1" lang="zh-CN" altLang="en-US" sz="2200">
                          <a:latin typeface="Cambria Math" panose="02040503050406030204" charset="0"/>
                          <a:ea typeface="黑体" panose="02010609060101010101" pitchFamily="49" charset="-122"/>
                          <a:cs typeface="黑体" panose="02010609060101010101" pitchFamily="49" charset="-122"/>
                        </a:rPr>
                        <m:t>,</m:t>
                      </m:r>
                    </m:oMath>
                  </m:oMathPara>
                </a14:m>
                <a:endParaRPr kumimoji="1" lang="zh-CN" altLang="en-US" sz="2200" dirty="0">
                  <a:latin typeface="Cambria Math" panose="02040503050406030204" charset="0"/>
                  <a:ea typeface="黑体" panose="02010609060101010101" pitchFamily="49" charset="-122"/>
                  <a:cs typeface="黑体" panose="02010609060101010101" pitchFamily="49" charset="-122"/>
                </a:endParaRPr>
              </a:p>
            </p:txBody>
          </p:sp>
        </mc:Choice>
        <mc:Fallback>
          <p:sp>
            <p:nvSpPr>
              <p:cNvPr id="16" name="Object 21"/>
              <p:cNvSpPr txBox="1">
                <a:spLocks noRot="1" noChangeAspect="1" noMove="1" noResize="1" noEditPoints="1" noAdjustHandles="1" noChangeArrowheads="1" noChangeShapeType="1" noTextEdit="1"/>
              </p:cNvSpPr>
              <p:nvPr/>
            </p:nvSpPr>
            <p:spPr bwMode="auto">
              <a:xfrm>
                <a:off x="3976411" y="1984535"/>
                <a:ext cx="1281054" cy="468777"/>
              </a:xfrm>
              <a:prstGeom prst="rect">
                <a:avLst/>
              </a:prstGeom>
              <a:blipFill rotWithShape="1">
                <a:blip r:embed="rId15"/>
                <a:stretch>
                  <a:fillRect l="-3" t="-34" r="23" b="65"/>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Object 22"/>
              <p:cNvSpPr txBox="1"/>
              <p:nvPr/>
            </p:nvSpPr>
            <p:spPr bwMode="auto">
              <a:xfrm>
                <a:off x="5124393" y="1974731"/>
                <a:ext cx="3881655" cy="452090"/>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kumimoji="1" lang="zh-CN" altLang="en-US" sz="2200" smtClean="0">
                          <a:latin typeface="Cambria Math" panose="02040503050406030204" charset="0"/>
                          <a:ea typeface="黑体" panose="02010609060101010101" pitchFamily="49" charset="-122"/>
                          <a:cs typeface="黑体" panose="02010609060101010101" pitchFamily="49" charset="-122"/>
                        </a:rPr>
                        <m:t>∴</m:t>
                      </m:r>
                      <m:r>
                        <a:rPr kumimoji="1" lang="en-US" altLang="zh-CN" sz="2200" b="1" i="1" smtClean="0">
                          <a:latin typeface="Cambria Math" panose="02040503050406030204" charset="0"/>
                          <a:ea typeface="黑体" panose="02010609060101010101" pitchFamily="49" charset="-122"/>
                          <a:cs typeface="黑体" panose="02010609060101010101" pitchFamily="49" charset="-122"/>
                        </a:rPr>
                        <m:t>𝒂</m:t>
                      </m:r>
                      <m:r>
                        <a:rPr kumimoji="1" lang="zh-CN" altLang="en-US" sz="2200" b="1">
                          <a:latin typeface="Cambria Math" panose="02040503050406030204" charset="0"/>
                          <a:ea typeface="黑体" panose="02010609060101010101" pitchFamily="49" charset="-122"/>
                          <a:cs typeface="黑体" panose="02010609060101010101" pitchFamily="49" charset="-122"/>
                        </a:rPr>
                        <m:t>⋅</m:t>
                      </m:r>
                      <m:r>
                        <a:rPr kumimoji="1" lang="en-US" altLang="zh-CN" sz="2200" b="1" i="1" smtClean="0">
                          <a:latin typeface="Cambria Math" panose="02040503050406030204" charset="0"/>
                          <a:ea typeface="黑体" panose="02010609060101010101" pitchFamily="49" charset="-122"/>
                          <a:cs typeface="黑体" panose="02010609060101010101" pitchFamily="49" charset="-122"/>
                        </a:rPr>
                        <m:t>𝒂</m:t>
                      </m:r>
                      <m:r>
                        <a:rPr kumimoji="1" lang="zh-CN" altLang="en-US" sz="2200">
                          <a:latin typeface="Cambria Math" panose="02040503050406030204" charset="0"/>
                          <a:ea typeface="黑体" panose="02010609060101010101" pitchFamily="49" charset="-122"/>
                          <a:cs typeface="黑体" panose="02010609060101010101" pitchFamily="49" charset="-122"/>
                        </a:rPr>
                        <m:t>=|</m:t>
                      </m:r>
                      <m:r>
                        <a:rPr kumimoji="1" lang="en-US" altLang="zh-CN" sz="2200" b="1" i="1" smtClean="0">
                          <a:latin typeface="Cambria Math" panose="02040503050406030204" charset="0"/>
                          <a:ea typeface="黑体" panose="02010609060101010101" pitchFamily="49" charset="-122"/>
                          <a:cs typeface="黑体" panose="02010609060101010101" pitchFamily="49" charset="-122"/>
                        </a:rPr>
                        <m:t>𝒂</m:t>
                      </m:r>
                      <m:r>
                        <a:rPr kumimoji="1" lang="zh-CN" altLang="en-US" sz="2200" b="1">
                          <a:latin typeface="Cambria Math" panose="02040503050406030204" charset="0"/>
                          <a:ea typeface="黑体" panose="02010609060101010101" pitchFamily="49" charset="-122"/>
                          <a:cs typeface="黑体" panose="02010609060101010101" pitchFamily="49" charset="-122"/>
                        </a:rPr>
                        <m:t>||</m:t>
                      </m:r>
                      <m:r>
                        <a:rPr kumimoji="1" lang="en-US" altLang="zh-CN" sz="2200" b="1" i="1" smtClean="0">
                          <a:latin typeface="Cambria Math" panose="02040503050406030204" charset="0"/>
                          <a:ea typeface="黑体" panose="02010609060101010101" pitchFamily="49" charset="-122"/>
                          <a:cs typeface="黑体" panose="02010609060101010101" pitchFamily="49" charset="-122"/>
                        </a:rPr>
                        <m:t>𝒂</m:t>
                      </m:r>
                      <m:r>
                        <a:rPr kumimoji="1" lang="zh-CN" altLang="en-US" sz="2200">
                          <a:latin typeface="Cambria Math" panose="02040503050406030204" charset="0"/>
                          <a:ea typeface="黑体" panose="02010609060101010101" pitchFamily="49" charset="-122"/>
                          <a:cs typeface="黑体" panose="02010609060101010101" pitchFamily="49" charset="-122"/>
                        </a:rPr>
                        <m:t>|</m:t>
                      </m:r>
                      <m:func>
                        <m:funcPr>
                          <m:ctrlPr>
                            <a:rPr kumimoji="1" lang="zh-CN" altLang="en-US" sz="2200" i="1">
                              <a:latin typeface="Cambria Math" panose="02040503050406030204" charset="0"/>
                              <a:ea typeface="黑体" panose="02010609060101010101" pitchFamily="49" charset="-122"/>
                              <a:cs typeface="黑体" panose="02010609060101010101" pitchFamily="49" charset="-122"/>
                            </a:rPr>
                          </m:ctrlPr>
                        </m:funcPr>
                        <m:fName>
                          <m:r>
                            <m:rPr>
                              <m:sty m:val="p"/>
                            </m:rPr>
                            <a:rPr kumimoji="1" lang="zh-CN" altLang="en-US" sz="2200">
                              <a:latin typeface="Cambria Math" panose="02040503050406030204" charset="0"/>
                              <a:ea typeface="黑体" panose="02010609060101010101" pitchFamily="49" charset="-122"/>
                              <a:cs typeface="黑体" panose="02010609060101010101" pitchFamily="49" charset="-122"/>
                            </a:rPr>
                            <m:t>cos</m:t>
                          </m:r>
                        </m:fName>
                        <m:e>
                          <m:r>
                            <a:rPr kumimoji="1" lang="zh-CN" altLang="en-US" sz="2200">
                              <a:latin typeface="Cambria Math" panose="02040503050406030204" charset="0"/>
                              <a:ea typeface="黑体" panose="02010609060101010101" pitchFamily="49" charset="-122"/>
                              <a:cs typeface="黑体" panose="02010609060101010101" pitchFamily="49" charset="-122"/>
                            </a:rPr>
                            <m:t>𝜃</m:t>
                          </m:r>
                        </m:e>
                      </m:func>
                      <m:r>
                        <a:rPr kumimoji="1" lang="zh-CN" altLang="en-US" sz="2200">
                          <a:latin typeface="Cambria Math" panose="02040503050406030204" charset="0"/>
                          <a:ea typeface="黑体" panose="02010609060101010101" pitchFamily="49" charset="-122"/>
                          <a:cs typeface="黑体" panose="02010609060101010101" pitchFamily="49" charset="-122"/>
                        </a:rPr>
                        <m:t>=|</m:t>
                      </m:r>
                      <m:r>
                        <a:rPr kumimoji="1" lang="en-US" altLang="zh-CN" sz="2200" b="1" i="1" smtClean="0">
                          <a:latin typeface="Cambria Math" panose="02040503050406030204" charset="0"/>
                          <a:ea typeface="黑体" panose="02010609060101010101" pitchFamily="49" charset="-122"/>
                          <a:cs typeface="黑体" panose="02010609060101010101" pitchFamily="49" charset="-122"/>
                        </a:rPr>
                        <m:t>𝒂</m:t>
                      </m:r>
                      <m:sSup>
                        <m:sSupPr>
                          <m:ctrlPr>
                            <a:rPr kumimoji="1" lang="zh-CN" altLang="en-US" sz="2200" i="1">
                              <a:latin typeface="Cambria Math" panose="02040503050406030204" charset="0"/>
                              <a:ea typeface="黑体" panose="02010609060101010101" pitchFamily="49" charset="-122"/>
                              <a:cs typeface="黑体" panose="02010609060101010101" pitchFamily="49" charset="-122"/>
                            </a:rPr>
                          </m:ctrlPr>
                        </m:sSupPr>
                        <m:e>
                          <m:r>
                            <a:rPr kumimoji="1" lang="zh-CN" altLang="en-US" sz="2200">
                              <a:latin typeface="Cambria Math" panose="02040503050406030204" charset="0"/>
                              <a:ea typeface="黑体" panose="02010609060101010101" pitchFamily="49" charset="-122"/>
                              <a:cs typeface="黑体" panose="02010609060101010101" pitchFamily="49" charset="-122"/>
                            </a:rPr>
                            <m:t>|</m:t>
                          </m:r>
                        </m:e>
                        <m:sup>
                          <m:r>
                            <a:rPr kumimoji="1" lang="zh-CN" altLang="en-US" sz="2200">
                              <a:latin typeface="Cambria Math" panose="02040503050406030204" charset="0"/>
                              <a:ea typeface="黑体" panose="02010609060101010101" pitchFamily="49" charset="-122"/>
                              <a:cs typeface="黑体" panose="02010609060101010101" pitchFamily="49" charset="-122"/>
                            </a:rPr>
                            <m:t>2</m:t>
                          </m:r>
                        </m:sup>
                      </m:sSup>
                      <m:r>
                        <a:rPr kumimoji="1" lang="zh-CN" altLang="en-US" sz="2200">
                          <a:latin typeface="Cambria Math" panose="02040503050406030204" charset="0"/>
                          <a:ea typeface="黑体" panose="02010609060101010101" pitchFamily="49" charset="-122"/>
                          <a:cs typeface="黑体" panose="02010609060101010101" pitchFamily="49" charset="-122"/>
                        </a:rPr>
                        <m:t>.</m:t>
                      </m:r>
                    </m:oMath>
                  </m:oMathPara>
                </a14:m>
                <a:endParaRPr kumimoji="1" lang="zh-CN" altLang="en-US" sz="2200" dirty="0">
                  <a:latin typeface="Cambria Math" panose="02040503050406030204" charset="0"/>
                  <a:ea typeface="黑体" panose="02010609060101010101" pitchFamily="49" charset="-122"/>
                  <a:cs typeface="黑体" panose="02010609060101010101" pitchFamily="49" charset="-122"/>
                </a:endParaRPr>
              </a:p>
            </p:txBody>
          </p:sp>
        </mc:Choice>
        <mc:Fallback>
          <p:sp>
            <p:nvSpPr>
              <p:cNvPr id="17" name="Object 22"/>
              <p:cNvSpPr txBox="1">
                <a:spLocks noRot="1" noChangeAspect="1" noMove="1" noResize="1" noEditPoints="1" noAdjustHandles="1" noChangeArrowheads="1" noChangeShapeType="1" noTextEdit="1"/>
              </p:cNvSpPr>
              <p:nvPr/>
            </p:nvSpPr>
            <p:spPr bwMode="auto">
              <a:xfrm>
                <a:off x="5124393" y="1974731"/>
                <a:ext cx="3881655" cy="452090"/>
              </a:xfrm>
              <a:prstGeom prst="rect">
                <a:avLst/>
              </a:prstGeom>
              <a:blipFill rotWithShape="1">
                <a:blip r:embed="rId16"/>
                <a:stretch>
                  <a:fillRect l="-15" t="-114" r="12" b="108"/>
                </a:stretch>
              </a:blipFill>
              <a:ln>
                <a:noFill/>
              </a:ln>
              <a:effectLst/>
            </p:spPr>
            <p:txBody>
              <a:bodyPr/>
              <a:lstStyle/>
              <a:p>
                <a:r>
                  <a:rPr lang="zh-CN" altLang="en-US">
                    <a:noFill/>
                  </a:rPr>
                  <a:t> </a:t>
                </a:r>
              </a:p>
            </p:txBody>
          </p:sp>
        </mc:Fallback>
      </mc:AlternateContent>
      <p:sp>
        <p:nvSpPr>
          <p:cNvPr id="18" name="Rectangle 23"/>
          <p:cNvSpPr>
            <a:spLocks noChangeArrowheads="1"/>
          </p:cNvSpPr>
          <p:nvPr/>
        </p:nvSpPr>
        <p:spPr bwMode="auto">
          <a:xfrm>
            <a:off x="3330142" y="1953647"/>
            <a:ext cx="593591"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r>
              <a:rPr kumimoji="1" lang="zh-CN" altLang="en-US" sz="2800" b="1" dirty="0">
                <a:solidFill>
                  <a:srgbClr val="04926A"/>
                </a:solidFill>
                <a:latin typeface="微软雅黑" panose="020B0503020204020204" charset="-122"/>
                <a:ea typeface="微软雅黑" panose="020B0503020204020204" charset="-122"/>
              </a:rPr>
              <a:t>证</a:t>
            </a:r>
            <a:endParaRPr kumimoji="1" lang="zh-CN" altLang="en-US" sz="2800" b="1" dirty="0">
              <a:solidFill>
                <a:srgbClr val="04926A"/>
              </a:solidFill>
              <a:latin typeface="微软雅黑" panose="020B0503020204020204" charset="-122"/>
              <a:ea typeface="微软雅黑" panose="020B0503020204020204" charset="-122"/>
            </a:endParaRPr>
          </a:p>
        </p:txBody>
      </p:sp>
      <p:sp>
        <p:nvSpPr>
          <p:cNvPr id="19" name="Rectangle 24"/>
          <p:cNvSpPr>
            <a:spLocks noChangeArrowheads="1"/>
          </p:cNvSpPr>
          <p:nvPr/>
        </p:nvSpPr>
        <p:spPr bwMode="auto">
          <a:xfrm>
            <a:off x="3330142" y="3363869"/>
            <a:ext cx="65787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kumimoji="1" lang="zh-CN" altLang="en-US" sz="2800" b="1" dirty="0">
                <a:solidFill>
                  <a:srgbClr val="04926A"/>
                </a:solidFill>
                <a:latin typeface="微软雅黑" panose="020B0503020204020204" charset="-122"/>
                <a:ea typeface="微软雅黑" panose="020B0503020204020204" charset="-122"/>
              </a:rPr>
              <a:t>证</a:t>
            </a:r>
            <a:endParaRPr kumimoji="1" lang="zh-CN" altLang="en-US" sz="2800" b="1" dirty="0">
              <a:solidFill>
                <a:srgbClr val="04926A"/>
              </a:solidFill>
              <a:latin typeface="微软雅黑" panose="020B0503020204020204" charset="-122"/>
              <a:ea typeface="微软雅黑" panose="020B0503020204020204" charset="-122"/>
            </a:endParaRPr>
          </a:p>
        </p:txBody>
      </p:sp>
      <p:grpSp>
        <p:nvGrpSpPr>
          <p:cNvPr id="20" name="Group 26"/>
          <p:cNvGrpSpPr/>
          <p:nvPr/>
        </p:nvGrpSpPr>
        <p:grpSpPr bwMode="auto">
          <a:xfrm>
            <a:off x="6018755" y="4000839"/>
            <a:ext cx="1074562" cy="719129"/>
            <a:chOff x="2668" y="2331"/>
            <a:chExt cx="636" cy="459"/>
          </a:xfrm>
        </p:grpSpPr>
        <mc:AlternateContent xmlns:mc="http://schemas.openxmlformats.org/markup-compatibility/2006">
          <mc:Choice xmlns:a14="http://schemas.microsoft.com/office/drawing/2010/main" Requires="a14">
            <p:sp>
              <p:nvSpPr>
                <p:cNvPr id="21" name="Object 12"/>
                <p:cNvSpPr txBox="1"/>
                <p:nvPr/>
              </p:nvSpPr>
              <p:spPr bwMode="auto">
                <a:xfrm>
                  <a:off x="2668" y="2400"/>
                  <a:ext cx="636" cy="343"/>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latin typeface="Cambria Math" panose="02040503050406030204" charset="0"/>
                            <a:ea typeface="黑体" panose="02010609060101010101" pitchFamily="49" charset="-122"/>
                            <a:cs typeface="黑体" panose="02010609060101010101" pitchFamily="49" charset="-122"/>
                          </a:rPr>
                          <m:t>𝜃</m:t>
                        </m:r>
                        <m:r>
                          <a:rPr kumimoji="1" lang="zh-CN" altLang="en-US" sz="2200">
                            <a:latin typeface="Cambria Math" panose="02040503050406030204" charset="0"/>
                            <a:ea typeface="黑体" panose="02010609060101010101" pitchFamily="49" charset="-122"/>
                            <a:cs typeface="黑体" panose="02010609060101010101" pitchFamily="49" charset="-122"/>
                          </a:rPr>
                          <m:t>=</m:t>
                        </m:r>
                      </m:oMath>
                    </m:oMathPara>
                  </a14:m>
                  <a:endParaRPr kumimoji="1" lang="zh-CN" altLang="en-US" sz="2200" dirty="0">
                    <a:latin typeface="Cambria Math" panose="02040503050406030204" charset="0"/>
                    <a:ea typeface="黑体" panose="02010609060101010101" pitchFamily="49" charset="-122"/>
                    <a:cs typeface="黑体" panose="02010609060101010101" pitchFamily="49" charset="-122"/>
                  </a:endParaRPr>
                </a:p>
              </p:txBody>
            </p:sp>
          </mc:Choice>
          <mc:Fallback>
            <p:sp>
              <p:nvSpPr>
                <p:cNvPr id="21" name="Object 12"/>
                <p:cNvSpPr txBox="1">
                  <a:spLocks noRot="1" noChangeAspect="1" noMove="1" noResize="1" noEditPoints="1" noAdjustHandles="1" noChangeArrowheads="1" noChangeShapeType="1" noTextEdit="1"/>
                </p:cNvSpPr>
                <p:nvPr/>
              </p:nvSpPr>
              <p:spPr bwMode="auto">
                <a:xfrm>
                  <a:off x="2668" y="2400"/>
                  <a:ext cx="636" cy="343"/>
                </a:xfrm>
                <a:prstGeom prst="rect">
                  <a:avLst/>
                </a:prstGeom>
                <a:blipFill rotWithShape="1">
                  <a:blip r:embed="rId17"/>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Object 25"/>
                <p:cNvSpPr txBox="1"/>
                <p:nvPr/>
              </p:nvSpPr>
              <p:spPr bwMode="auto">
                <a:xfrm>
                  <a:off x="2964" y="2331"/>
                  <a:ext cx="254" cy="459"/>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f>
                          <m:fPr>
                            <m:ctrlPr>
                              <a:rPr kumimoji="1" lang="zh-CN" altLang="en-US" sz="2200" i="1">
                                <a:latin typeface="Cambria Math" panose="02040503050406030204" charset="0"/>
                                <a:ea typeface="黑体" panose="02010609060101010101" pitchFamily="49" charset="-122"/>
                                <a:cs typeface="黑体" panose="02010609060101010101" pitchFamily="49" charset="-122"/>
                              </a:rPr>
                            </m:ctrlPr>
                          </m:fPr>
                          <m:num>
                            <m:r>
                              <m:rPr>
                                <m:sty m:val="p"/>
                              </m:rPr>
                              <a:rPr kumimoji="1" lang="zh-CN" altLang="en-US" sz="2200" i="0">
                                <a:latin typeface="Cambria Math" panose="02040503050406030204" charset="0"/>
                                <a:ea typeface="黑体" panose="02010609060101010101" pitchFamily="49" charset="-122"/>
                                <a:cs typeface="黑体" panose="02010609060101010101" pitchFamily="49" charset="-122"/>
                              </a:rPr>
                              <m:t>π</m:t>
                            </m:r>
                          </m:num>
                          <m:den>
                            <m:r>
                              <a:rPr kumimoji="1" lang="zh-CN" altLang="en-US" sz="2200">
                                <a:latin typeface="Cambria Math" panose="02040503050406030204" charset="0"/>
                                <a:ea typeface="黑体" panose="02010609060101010101" pitchFamily="49" charset="-122"/>
                                <a:cs typeface="黑体" panose="02010609060101010101" pitchFamily="49" charset="-122"/>
                              </a:rPr>
                              <m:t>2</m:t>
                            </m:r>
                          </m:den>
                        </m:f>
                        <m:r>
                          <a:rPr kumimoji="1" lang="zh-CN" altLang="en-US" sz="2200">
                            <a:latin typeface="Cambria Math" panose="02040503050406030204" charset="0"/>
                            <a:ea typeface="黑体" panose="02010609060101010101" pitchFamily="49" charset="-122"/>
                            <a:cs typeface="黑体" panose="02010609060101010101" pitchFamily="49" charset="-122"/>
                          </a:rPr>
                          <m:t>,</m:t>
                        </m:r>
                      </m:oMath>
                    </m:oMathPara>
                  </a14:m>
                  <a:endParaRPr kumimoji="1" lang="zh-CN" altLang="en-US" sz="2200" dirty="0">
                    <a:latin typeface="Cambria Math" panose="02040503050406030204" charset="0"/>
                    <a:ea typeface="黑体" panose="02010609060101010101" pitchFamily="49" charset="-122"/>
                    <a:cs typeface="黑体" panose="02010609060101010101" pitchFamily="49" charset="-122"/>
                  </a:endParaRPr>
                </a:p>
              </p:txBody>
            </p:sp>
          </mc:Choice>
          <mc:Fallback>
            <p:sp>
              <p:nvSpPr>
                <p:cNvPr id="22" name="Object 25"/>
                <p:cNvSpPr txBox="1">
                  <a:spLocks noRot="1" noChangeAspect="1" noMove="1" noResize="1" noEditPoints="1" noAdjustHandles="1" noChangeArrowheads="1" noChangeShapeType="1" noTextEdit="1"/>
                </p:cNvSpPr>
                <p:nvPr/>
              </p:nvSpPr>
              <p:spPr bwMode="auto">
                <a:xfrm>
                  <a:off x="2964" y="2331"/>
                  <a:ext cx="254" cy="459"/>
                </a:xfrm>
                <a:prstGeom prst="rect">
                  <a:avLst/>
                </a:prstGeom>
                <a:blipFill rotWithShape="1">
                  <a:blip r:embed="rId18"/>
                </a:blipFill>
                <a:ln>
                  <a:noFill/>
                </a:ln>
                <a:effectLst/>
              </p:spPr>
              <p:txBody>
                <a:bodyPr/>
                <a:lstStyle/>
                <a:p>
                  <a:r>
                    <a:rPr lang="zh-CN" altLang="en-US">
                      <a:noFill/>
                    </a:rPr>
                    <a:t> </a:t>
                  </a:r>
                </a:p>
              </p:txBody>
            </p:sp>
          </mc:Fallback>
        </mc:AlternateContent>
      </p:grpSp>
      <p:grpSp>
        <p:nvGrpSpPr>
          <p:cNvPr id="23" name="Group 28"/>
          <p:cNvGrpSpPr/>
          <p:nvPr/>
        </p:nvGrpSpPr>
        <p:grpSpPr bwMode="auto">
          <a:xfrm>
            <a:off x="5643671" y="4840111"/>
            <a:ext cx="1200764" cy="766900"/>
            <a:chOff x="2066" y="2853"/>
            <a:chExt cx="776" cy="459"/>
          </a:xfrm>
        </p:grpSpPr>
        <mc:AlternateContent xmlns:mc="http://schemas.openxmlformats.org/markup-compatibility/2006">
          <mc:Choice xmlns:a14="http://schemas.microsoft.com/office/drawing/2010/main" Requires="a14">
            <p:sp>
              <p:nvSpPr>
                <p:cNvPr id="24" name="Object 17"/>
                <p:cNvSpPr txBox="1"/>
                <p:nvPr/>
              </p:nvSpPr>
              <p:spPr bwMode="auto">
                <a:xfrm>
                  <a:off x="2595" y="2853"/>
                  <a:ext cx="247" cy="459"/>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f>
                          <m:fPr>
                            <m:ctrlPr>
                              <a:rPr kumimoji="1" lang="zh-CN" altLang="en-US" sz="2200" i="1">
                                <a:latin typeface="Cambria Math" panose="02040503050406030204" charset="0"/>
                                <a:ea typeface="黑体" panose="02010609060101010101" pitchFamily="49" charset="-122"/>
                                <a:cs typeface="黑体" panose="02010609060101010101" pitchFamily="49" charset="-122"/>
                              </a:rPr>
                            </m:ctrlPr>
                          </m:fPr>
                          <m:num>
                            <m:r>
                              <m:rPr>
                                <m:sty m:val="p"/>
                              </m:rPr>
                              <a:rPr kumimoji="1" lang="zh-CN" altLang="en-US" sz="2200" i="0">
                                <a:latin typeface="Cambria Math" panose="02040503050406030204" charset="0"/>
                                <a:ea typeface="黑体" panose="02010609060101010101" pitchFamily="49" charset="-122"/>
                                <a:cs typeface="黑体" panose="02010609060101010101" pitchFamily="49" charset="-122"/>
                              </a:rPr>
                              <m:t>π</m:t>
                            </m:r>
                          </m:num>
                          <m:den>
                            <m:r>
                              <a:rPr kumimoji="1" lang="zh-CN" altLang="en-US" sz="2200">
                                <a:latin typeface="Cambria Math" panose="02040503050406030204" charset="0"/>
                                <a:ea typeface="黑体" panose="02010609060101010101" pitchFamily="49" charset="-122"/>
                                <a:cs typeface="黑体" panose="02010609060101010101" pitchFamily="49" charset="-122"/>
                              </a:rPr>
                              <m:t>2</m:t>
                            </m:r>
                          </m:den>
                        </m:f>
                        <m:r>
                          <a:rPr kumimoji="1" lang="zh-CN" altLang="en-US" sz="2200">
                            <a:latin typeface="Cambria Math" panose="02040503050406030204" charset="0"/>
                            <a:ea typeface="黑体" panose="02010609060101010101" pitchFamily="49" charset="-122"/>
                            <a:cs typeface="黑体" panose="02010609060101010101" pitchFamily="49" charset="-122"/>
                          </a:rPr>
                          <m:t>,</m:t>
                        </m:r>
                      </m:oMath>
                    </m:oMathPara>
                  </a14:m>
                  <a:endParaRPr kumimoji="1" lang="zh-CN" altLang="en-US" sz="2200" dirty="0">
                    <a:latin typeface="Cambria Math" panose="02040503050406030204" charset="0"/>
                    <a:ea typeface="黑体" panose="02010609060101010101" pitchFamily="49" charset="-122"/>
                    <a:cs typeface="黑体" panose="02010609060101010101" pitchFamily="49" charset="-122"/>
                  </a:endParaRPr>
                </a:p>
              </p:txBody>
            </p:sp>
          </mc:Choice>
          <mc:Fallback>
            <p:sp>
              <p:nvSpPr>
                <p:cNvPr id="24" name="Object 17"/>
                <p:cNvSpPr txBox="1">
                  <a:spLocks noRot="1" noChangeAspect="1" noMove="1" noResize="1" noEditPoints="1" noAdjustHandles="1" noChangeArrowheads="1" noChangeShapeType="1" noTextEdit="1"/>
                </p:cNvSpPr>
                <p:nvPr/>
              </p:nvSpPr>
              <p:spPr bwMode="auto">
                <a:xfrm>
                  <a:off x="2595" y="2853"/>
                  <a:ext cx="247" cy="459"/>
                </a:xfrm>
                <a:prstGeom prst="rect">
                  <a:avLst/>
                </a:prstGeom>
                <a:blipFill rotWithShape="1">
                  <a:blip r:embed="rId19"/>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 name="Object 27"/>
                <p:cNvSpPr txBox="1"/>
                <p:nvPr/>
              </p:nvSpPr>
              <p:spPr bwMode="auto">
                <a:xfrm>
                  <a:off x="2066" y="2954"/>
                  <a:ext cx="595" cy="286"/>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latin typeface="Cambria Math" panose="02040503050406030204" charset="0"/>
                            <a:ea typeface="黑体" panose="02010609060101010101" pitchFamily="49" charset="-122"/>
                            <a:cs typeface="黑体" panose="02010609060101010101" pitchFamily="49" charset="-122"/>
                          </a:rPr>
                          <m:t>∴</m:t>
                        </m:r>
                        <m:r>
                          <a:rPr kumimoji="1" lang="zh-CN" altLang="en-US" sz="2200">
                            <a:latin typeface="Cambria Math" panose="02040503050406030204" charset="0"/>
                            <a:ea typeface="黑体" panose="02010609060101010101" pitchFamily="49" charset="-122"/>
                            <a:cs typeface="黑体" panose="02010609060101010101" pitchFamily="49" charset="-122"/>
                          </a:rPr>
                          <m:t>𝜃</m:t>
                        </m:r>
                        <m:r>
                          <a:rPr kumimoji="1" lang="zh-CN" altLang="en-US" sz="2200">
                            <a:latin typeface="Cambria Math" panose="02040503050406030204" charset="0"/>
                            <a:ea typeface="黑体" panose="02010609060101010101" pitchFamily="49" charset="-122"/>
                            <a:cs typeface="黑体" panose="02010609060101010101" pitchFamily="49" charset="-122"/>
                          </a:rPr>
                          <m:t>=</m:t>
                        </m:r>
                      </m:oMath>
                    </m:oMathPara>
                  </a14:m>
                  <a:endParaRPr kumimoji="1" lang="zh-CN" altLang="en-US" sz="2200" dirty="0">
                    <a:latin typeface="Cambria Math" panose="02040503050406030204" charset="0"/>
                    <a:ea typeface="黑体" panose="02010609060101010101" pitchFamily="49" charset="-122"/>
                    <a:cs typeface="黑体" panose="02010609060101010101" pitchFamily="49" charset="-122"/>
                  </a:endParaRPr>
                </a:p>
              </p:txBody>
            </p:sp>
          </mc:Choice>
          <mc:Fallback>
            <p:sp>
              <p:nvSpPr>
                <p:cNvPr id="25" name="Object 27"/>
                <p:cNvSpPr txBox="1">
                  <a:spLocks noRot="1" noChangeAspect="1" noMove="1" noResize="1" noEditPoints="1" noAdjustHandles="1" noChangeArrowheads="1" noChangeShapeType="1" noTextEdit="1"/>
                </p:cNvSpPr>
                <p:nvPr/>
              </p:nvSpPr>
              <p:spPr bwMode="auto">
                <a:xfrm>
                  <a:off x="2066" y="2954"/>
                  <a:ext cx="595" cy="286"/>
                </a:xfrm>
                <a:prstGeom prst="rect">
                  <a:avLst/>
                </a:prstGeom>
                <a:blipFill rotWithShape="1">
                  <a:blip r:embed="rId20"/>
                </a:blipFill>
                <a:ln>
                  <a:noFill/>
                </a:ln>
                <a:effectLst/>
              </p:spPr>
              <p:txBody>
                <a:bodyPr/>
                <a:lstStyle/>
                <a:p>
                  <a:r>
                    <a:rPr lang="zh-CN" altLang="en-US">
                      <a:noFill/>
                    </a:rPr>
                    <a:t> </a:t>
                  </a:r>
                </a:p>
              </p:txBody>
            </p:sp>
          </mc:Fallback>
        </mc:AlternateContent>
      </p:grpSp>
      <p:sp>
        <p:nvSpPr>
          <p:cNvPr id="26" name="Text Box 40"/>
          <p:cNvSpPr txBox="1">
            <a:spLocks noChangeArrowheads="1"/>
          </p:cNvSpPr>
          <p:nvPr/>
        </p:nvSpPr>
        <p:spPr bwMode="auto">
          <a:xfrm>
            <a:off x="2625224" y="750395"/>
            <a:ext cx="157228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800" b="1" dirty="0">
                <a:solidFill>
                  <a:srgbClr val="04926A"/>
                </a:solidFill>
                <a:latin typeface="微软雅黑" panose="020B0503020204020204" charset="-122"/>
                <a:ea typeface="微软雅黑" panose="020B0503020204020204" charset="-122"/>
              </a:rPr>
              <a:t>2.  </a:t>
            </a:r>
            <a:r>
              <a:rPr kumimoji="1" lang="zh-CN" altLang="en-US" sz="2800" b="1" dirty="0">
                <a:solidFill>
                  <a:srgbClr val="04926A"/>
                </a:solidFill>
                <a:latin typeface="微软雅黑" panose="020B0503020204020204" charset="-122"/>
                <a:ea typeface="微软雅黑" panose="020B0503020204020204" charset="-122"/>
              </a:rPr>
              <a:t>性质</a:t>
            </a:r>
            <a:endParaRPr kumimoji="1" lang="zh-CN" altLang="en-US" sz="2800" b="1" dirty="0">
              <a:solidFill>
                <a:srgbClr val="04926A"/>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3" name="Object 4"/>
              <p:cNvSpPr txBox="1"/>
              <p:nvPr/>
            </p:nvSpPr>
            <p:spPr bwMode="auto">
              <a:xfrm>
                <a:off x="5263390" y="2633410"/>
                <a:ext cx="511969" cy="432981"/>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800" i="1" smtClean="0">
                          <a:solidFill>
                            <a:srgbClr val="04926A"/>
                          </a:solidFill>
                          <a:latin typeface="Cambria Math" panose="02040503050406030204" charset="0"/>
                          <a:ea typeface="黑体" panose="02010609060101010101" pitchFamily="49" charset="-122"/>
                          <a:cs typeface="黑体" panose="02010609060101010101" pitchFamily="49" charset="-122"/>
                        </a:rPr>
                        <m:t>⇔</m:t>
                      </m:r>
                    </m:oMath>
                  </m:oMathPara>
                </a14:m>
                <a:endParaRPr kumimoji="1" lang="zh-CN" altLang="en-US" sz="2800" dirty="0">
                  <a:solidFill>
                    <a:srgbClr val="04926A"/>
                  </a:solidFill>
                  <a:latin typeface="Cambria Math" panose="02040503050406030204" charset="0"/>
                  <a:ea typeface="黑体" panose="02010609060101010101" pitchFamily="49" charset="-122"/>
                  <a:cs typeface="黑体" panose="02010609060101010101" pitchFamily="49" charset="-122"/>
                </a:endParaRPr>
              </a:p>
            </p:txBody>
          </p:sp>
        </mc:Choice>
        <mc:Fallback>
          <p:sp>
            <p:nvSpPr>
              <p:cNvPr id="3" name="Object 4"/>
              <p:cNvSpPr txBox="1">
                <a:spLocks noRot="1" noChangeAspect="1" noMove="1" noResize="1" noEditPoints="1" noAdjustHandles="1" noChangeArrowheads="1" noChangeShapeType="1" noTextEdit="1"/>
              </p:cNvSpPr>
              <p:nvPr/>
            </p:nvSpPr>
            <p:spPr bwMode="auto">
              <a:xfrm>
                <a:off x="5263390" y="2633410"/>
                <a:ext cx="511969" cy="432981"/>
              </a:xfrm>
              <a:prstGeom prst="rect">
                <a:avLst/>
              </a:prstGeom>
              <a:blipFill rotWithShape="1">
                <a:blip r:embed="rId21"/>
                <a:stretch>
                  <a:fillRect l="-100" t="-15" r="7" b="-9098"/>
                </a:stretch>
              </a:blipFill>
              <a:ln>
                <a:noFill/>
              </a:ln>
              <a:effec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par>
                                <p:cTn id="8" presetID="22" presetClass="entr" presetSubtype="8" fill="hold"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wipe(left)">
                                      <p:cBhvr>
                                        <p:cTn id="10" dur="500"/>
                                        <p:tgtEl>
                                          <p:spTgt spid="4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left)">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5" dur="5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30" dur="500"/>
                                        <p:tgtEl>
                                          <p:spTgt spid="1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left)">
                                      <p:cBhvr>
                                        <p:cTn id="35" dur="500"/>
                                        <p:tgtEl>
                                          <p:spTgt spid="2"/>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wipe(down)">
                                      <p:cBhvr>
                                        <p:cTn id="38" dur="500"/>
                                        <p:tgtEl>
                                          <p:spTgt spid="3"/>
                                        </p:tgtEl>
                                      </p:cBhvr>
                                    </p:animEffect>
                                  </p:child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wipe(left)">
                                      <p:cBhvr>
                                        <p:cTn id="42" dur="500"/>
                                        <p:tgtEl>
                                          <p:spTgt spid="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left)">
                                      <p:cBhvr>
                                        <p:cTn id="47" dur="5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wipe(left)">
                                      <p:cBhvr>
                                        <p:cTn id="52" dur="500"/>
                                        <p:tgtEl>
                                          <p:spTgt spid="5"/>
                                        </p:tgtEl>
                                      </p:cBhvr>
                                    </p:animEffect>
                                  </p:childTnLst>
                                </p:cTn>
                              </p:par>
                            </p:childTnLst>
                          </p:cTn>
                        </p:par>
                        <p:par>
                          <p:cTn id="53" fill="hold">
                            <p:stCondLst>
                              <p:cond delay="500"/>
                            </p:stCondLst>
                            <p:childTnLst>
                              <p:par>
                                <p:cTn id="54" presetID="22" presetClass="entr" presetSubtype="8" fill="hold" grpId="0" nodeType="afterEffect">
                                  <p:stCondLst>
                                    <p:cond delay="0"/>
                                  </p:stCondLst>
                                  <p:childTnLst>
                                    <p:set>
                                      <p:cBhvr>
                                        <p:cTn id="55" dur="1" fill="hold">
                                          <p:stCondLst>
                                            <p:cond delay="0"/>
                                          </p:stCondLst>
                                        </p:cTn>
                                        <p:tgtEl>
                                          <p:spTgt spid="6"/>
                                        </p:tgtEl>
                                        <p:attrNameLst>
                                          <p:attrName>style.visibility</p:attrName>
                                        </p:attrNameLst>
                                      </p:cBhvr>
                                      <p:to>
                                        <p:strVal val="visible"/>
                                      </p:to>
                                    </p:set>
                                    <p:animEffect transition="in" filter="wipe(left)">
                                      <p:cBhvr>
                                        <p:cTn id="56" dur="500"/>
                                        <p:tgtEl>
                                          <p:spTgt spid="6"/>
                                        </p:tgtEl>
                                      </p:cBhvr>
                                    </p:animEffect>
                                  </p:childTnLst>
                                </p:cTn>
                              </p:par>
                            </p:childTnLst>
                          </p:cTn>
                        </p:par>
                        <p:par>
                          <p:cTn id="57" fill="hold">
                            <p:stCondLst>
                              <p:cond delay="1000"/>
                            </p:stCondLst>
                            <p:childTnLst>
                              <p:par>
                                <p:cTn id="58" presetID="22" presetClass="entr" presetSubtype="8" fill="hold" grpId="0" nodeType="afterEffect">
                                  <p:stCondLst>
                                    <p:cond delay="0"/>
                                  </p:stCondLst>
                                  <p:childTnLst>
                                    <p:set>
                                      <p:cBhvr>
                                        <p:cTn id="59" dur="1" fill="hold">
                                          <p:stCondLst>
                                            <p:cond delay="0"/>
                                          </p:stCondLst>
                                        </p:cTn>
                                        <p:tgtEl>
                                          <p:spTgt spid="7"/>
                                        </p:tgtEl>
                                        <p:attrNameLst>
                                          <p:attrName>style.visibility</p:attrName>
                                        </p:attrNameLst>
                                      </p:cBhvr>
                                      <p:to>
                                        <p:strVal val="visible"/>
                                      </p:to>
                                    </p:set>
                                    <p:animEffect transition="in" filter="wipe(left)">
                                      <p:cBhvr>
                                        <p:cTn id="60" dur="500"/>
                                        <p:tgtEl>
                                          <p:spTgt spid="7"/>
                                        </p:tgtEl>
                                      </p:cBhvr>
                                    </p:animEffect>
                                  </p:childTnLst>
                                </p:cTn>
                              </p:par>
                            </p:childTnLst>
                          </p:cTn>
                        </p:par>
                        <p:par>
                          <p:cTn id="61" fill="hold">
                            <p:stCondLst>
                              <p:cond delay="1500"/>
                            </p:stCondLst>
                            <p:childTnLst>
                              <p:par>
                                <p:cTn id="62" presetID="22" presetClass="entr" presetSubtype="4" fill="hold" grpId="0" nodeType="afterEffect">
                                  <p:stCondLst>
                                    <p:cond delay="0"/>
                                  </p:stCondLst>
                                  <p:childTnLst>
                                    <p:set>
                                      <p:cBhvr>
                                        <p:cTn id="63" dur="1" fill="hold">
                                          <p:stCondLst>
                                            <p:cond delay="0"/>
                                          </p:stCondLst>
                                        </p:cTn>
                                        <p:tgtEl>
                                          <p:spTgt spid="8"/>
                                        </p:tgtEl>
                                        <p:attrNameLst>
                                          <p:attrName>style.visibility</p:attrName>
                                        </p:attrNameLst>
                                      </p:cBhvr>
                                      <p:to>
                                        <p:strVal val="visible"/>
                                      </p:to>
                                    </p:set>
                                    <p:animEffect transition="in" filter="wipe(down)">
                                      <p:cBhvr>
                                        <p:cTn id="64" dur="500"/>
                                        <p:tgtEl>
                                          <p:spTgt spid="8"/>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9"/>
                                        </p:tgtEl>
                                        <p:attrNameLst>
                                          <p:attrName>style.visibility</p:attrName>
                                        </p:attrNameLst>
                                      </p:cBhvr>
                                      <p:to>
                                        <p:strVal val="visible"/>
                                      </p:to>
                                    </p:set>
                                    <p:animEffect transition="in" filter="wipe(left)">
                                      <p:cBhvr>
                                        <p:cTn id="69" dur="500"/>
                                        <p:tgtEl>
                                          <p:spTgt spid="9"/>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wipe(left)">
                                      <p:cBhvr>
                                        <p:cTn id="74" dur="500"/>
                                        <p:tgtEl>
                                          <p:spTgt spid="20"/>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10"/>
                                        </p:tgtEl>
                                        <p:attrNameLst>
                                          <p:attrName>style.visibility</p:attrName>
                                        </p:attrNameLst>
                                      </p:cBhvr>
                                      <p:to>
                                        <p:strVal val="visible"/>
                                      </p:to>
                                    </p:set>
                                    <p:animEffect transition="in" filter="wipe(left)">
                                      <p:cBhvr>
                                        <p:cTn id="79" dur="500"/>
                                        <p:tgtEl>
                                          <p:spTgt spid="10"/>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12"/>
                                        </p:tgtEl>
                                        <p:attrNameLst>
                                          <p:attrName>style.visibility</p:attrName>
                                        </p:attrNameLst>
                                      </p:cBhvr>
                                      <p:to>
                                        <p:strVal val="visible"/>
                                      </p:to>
                                    </p:set>
                                    <p:animEffect transition="in" filter="wipe(left)">
                                      <p:cBhvr>
                                        <p:cTn id="84" dur="500"/>
                                        <p:tgtEl>
                                          <p:spTgt spid="12"/>
                                        </p:tgtEl>
                                      </p:cBhvr>
                                    </p:animEffect>
                                  </p:childTnLst>
                                </p:cTn>
                              </p:par>
                            </p:childTnLst>
                          </p:cTn>
                        </p:par>
                        <p:par>
                          <p:cTn id="85" fill="hold">
                            <p:stCondLst>
                              <p:cond delay="500"/>
                            </p:stCondLst>
                            <p:childTnLst>
                              <p:par>
                                <p:cTn id="86" presetID="22" presetClass="entr" presetSubtype="8" fill="hold" grpId="0" nodeType="afterEffect">
                                  <p:stCondLst>
                                    <p:cond delay="0"/>
                                  </p:stCondLst>
                                  <p:childTnLst>
                                    <p:set>
                                      <p:cBhvr>
                                        <p:cTn id="87" dur="1" fill="hold">
                                          <p:stCondLst>
                                            <p:cond delay="0"/>
                                          </p:stCondLst>
                                        </p:cTn>
                                        <p:tgtEl>
                                          <p:spTgt spid="13"/>
                                        </p:tgtEl>
                                        <p:attrNameLst>
                                          <p:attrName>style.visibility</p:attrName>
                                        </p:attrNameLst>
                                      </p:cBhvr>
                                      <p:to>
                                        <p:strVal val="visible"/>
                                      </p:to>
                                    </p:set>
                                    <p:animEffect transition="in" filter="wipe(left)">
                                      <p:cBhvr>
                                        <p:cTn id="88" dur="500"/>
                                        <p:tgtEl>
                                          <p:spTgt spid="13"/>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0"/>
                                  </p:stCondLst>
                                  <p:childTnLst>
                                    <p:set>
                                      <p:cBhvr>
                                        <p:cTn id="92" dur="1" fill="hold">
                                          <p:stCondLst>
                                            <p:cond delay="0"/>
                                          </p:stCondLst>
                                        </p:cTn>
                                        <p:tgtEl>
                                          <p:spTgt spid="23"/>
                                        </p:tgtEl>
                                        <p:attrNameLst>
                                          <p:attrName>style.visibility</p:attrName>
                                        </p:attrNameLst>
                                      </p:cBhvr>
                                      <p:to>
                                        <p:strVal val="visible"/>
                                      </p:to>
                                    </p:set>
                                    <p:animEffect transition="in" filter="wipe(left)">
                                      <p:cBhvr>
                                        <p:cTn id="93" dur="500"/>
                                        <p:tgtEl>
                                          <p:spTgt spid="23"/>
                                        </p:tgtEl>
                                      </p:cBhvr>
                                    </p:animEffect>
                                  </p:childTnLst>
                                </p:cTn>
                              </p:par>
                            </p:childTnLst>
                          </p:cTn>
                        </p:par>
                        <p:par>
                          <p:cTn id="94" fill="hold">
                            <p:stCondLst>
                              <p:cond delay="500"/>
                            </p:stCondLst>
                            <p:childTnLst>
                              <p:par>
                                <p:cTn id="95" presetID="22" presetClass="entr" presetSubtype="8" fill="hold" grpId="0" nodeType="afterEffect">
                                  <p:stCondLst>
                                    <p:cond delay="0"/>
                                  </p:stCondLst>
                                  <p:childTnLst>
                                    <p:set>
                                      <p:cBhvr>
                                        <p:cTn id="96" dur="1" fill="hold">
                                          <p:stCondLst>
                                            <p:cond delay="0"/>
                                          </p:stCondLst>
                                        </p:cTn>
                                        <p:tgtEl>
                                          <p:spTgt spid="14"/>
                                        </p:tgtEl>
                                        <p:attrNameLst>
                                          <p:attrName>style.visibility</p:attrName>
                                        </p:attrNameLst>
                                      </p:cBhvr>
                                      <p:to>
                                        <p:strVal val="visible"/>
                                      </p:to>
                                    </p:set>
                                    <p:animEffect transition="in" filter="wipe(left)">
                                      <p:cBhvr>
                                        <p:cTn id="97" dur="500"/>
                                        <p:tgtEl>
                                          <p:spTgt spid="14"/>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15"/>
                                        </p:tgtEl>
                                        <p:attrNameLst>
                                          <p:attrName>style.visibility</p:attrName>
                                        </p:attrNameLst>
                                      </p:cBhvr>
                                      <p:to>
                                        <p:strVal val="visible"/>
                                      </p:to>
                                    </p:set>
                                    <p:animEffect transition="in" filter="wipe(left)">
                                      <p:cBhvr>
                                        <p:cTn id="10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4" grpId="0" bldLvl="0" animBg="1"/>
      <p:bldP spid="5" grpId="0" bldLvl="0" animBg="1"/>
      <p:bldP spid="6" grpId="0" bldLvl="0" animBg="1"/>
      <p:bldP spid="7" grpId="0" bldLvl="0" animBg="1"/>
      <p:bldP spid="8" grpId="0" bldLvl="0" animBg="1"/>
      <p:bldP spid="9" grpId="0" bldLvl="0" animBg="1"/>
      <p:bldP spid="10" grpId="0" bldLvl="0" animBg="1"/>
      <p:bldP spid="11" grpId="0" bldLvl="0" animBg="1"/>
      <p:bldP spid="12" grpId="0" bldLvl="0" animBg="1"/>
      <p:bldP spid="13" grpId="0" bldLvl="0" animBg="1"/>
      <p:bldP spid="14" grpId="0" bldLvl="0" animBg="1"/>
      <p:bldP spid="15" grpId="0" bldLvl="0" animBg="1"/>
      <p:bldP spid="16" grpId="0" bldLvl="0" animBg="1"/>
      <p:bldP spid="17" grpId="0" bldLvl="0" animBg="1"/>
      <p:bldP spid="18" grpId="0" autoUpdateAnimBg="0"/>
      <p:bldP spid="19" grpId="0" autoUpdateAnimBg="0"/>
      <p:bldP spid="26" grpId="0" bldLvl="0" animBg="1"/>
      <p:bldP spid="3"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32130" y="516952"/>
            <a:ext cx="11149330" cy="5612130"/>
            <a:chOff x="838" y="907"/>
            <a:chExt cx="17558" cy="8838"/>
          </a:xfrm>
        </p:grpSpPr>
        <p:sp>
          <p:nvSpPr>
            <p:cNvPr id="10" name="PA-102232"/>
            <p:cNvSpPr/>
            <p:nvPr>
              <p:custDataLst>
                <p:tags r:id="rId1"/>
              </p:custDataLst>
            </p:nvPr>
          </p:nvSpPr>
          <p:spPr>
            <a:xfrm>
              <a:off x="872" y="907"/>
              <a:ext cx="17524" cy="8826"/>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6BB6"/>
                </a:solidFill>
                <a:cs typeface="+mn-ea"/>
                <a:sym typeface="+mn-lt"/>
              </a:endParaRPr>
            </a:p>
          </p:txBody>
        </p:sp>
        <p:grpSp>
          <p:nvGrpSpPr>
            <p:cNvPr id="11" name="组合 10"/>
            <p:cNvGrpSpPr/>
            <p:nvPr/>
          </p:nvGrpSpPr>
          <p:grpSpPr>
            <a:xfrm>
              <a:off x="838" y="9635"/>
              <a:ext cx="17558" cy="110"/>
              <a:chOff x="838" y="9635"/>
              <a:chExt cx="17558" cy="110"/>
            </a:xfrm>
          </p:grpSpPr>
          <p:sp>
            <p:nvSpPr>
              <p:cNvPr id="12" name="Rectangle 1"/>
              <p:cNvSpPr/>
              <p:nvPr/>
            </p:nvSpPr>
            <p:spPr>
              <a:xfrm>
                <a:off x="5321" y="9650"/>
                <a:ext cx="4286" cy="83"/>
              </a:xfrm>
              <a:prstGeom prst="rect">
                <a:avLst/>
              </a:prstGeom>
              <a:solidFill>
                <a:schemeClr val="bg1"/>
              </a:solidFill>
              <a:ln w="3175" cap="flat" cmpd="sng" algn="ctr">
                <a:solidFill>
                  <a:srgbClr val="0492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3" name="Rectangle 1"/>
              <p:cNvSpPr/>
              <p:nvPr/>
            </p:nvSpPr>
            <p:spPr>
              <a:xfrm>
                <a:off x="838" y="9650"/>
                <a:ext cx="4483" cy="83"/>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4" name="Rectangle 1"/>
              <p:cNvSpPr/>
              <p:nvPr/>
            </p:nvSpPr>
            <p:spPr>
              <a:xfrm>
                <a:off x="9602" y="9635"/>
                <a:ext cx="8794" cy="111"/>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sp>
        <p:nvSpPr>
          <p:cNvPr id="14344" name="Text Box 8"/>
          <p:cNvSpPr txBox="1">
            <a:spLocks noChangeArrowheads="1"/>
          </p:cNvSpPr>
          <p:nvPr/>
        </p:nvSpPr>
        <p:spPr bwMode="auto">
          <a:xfrm>
            <a:off x="1910715" y="734276"/>
            <a:ext cx="84518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由数量积的定义和坐标计算公式，还可得到两非零</a:t>
            </a:r>
            <a:endParaRPr lang="zh-CN" altLang="en-US" sz="2800" dirty="0">
              <a:latin typeface="Times New Roman" panose="02020603050405020304" pitchFamily="18" charset="0"/>
              <a:cs typeface="Times New Roman" panose="02020603050405020304" pitchFamily="18" charset="0"/>
            </a:endParaRPr>
          </a:p>
        </p:txBody>
      </p:sp>
      <p:sp>
        <p:nvSpPr>
          <p:cNvPr id="14345" name="Text Box 9"/>
          <p:cNvSpPr txBox="1">
            <a:spLocks noChangeArrowheads="1"/>
          </p:cNvSpPr>
          <p:nvPr/>
        </p:nvSpPr>
        <p:spPr bwMode="auto">
          <a:xfrm>
            <a:off x="1186133" y="1283613"/>
            <a:ext cx="38049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向量夹角的计算公式．</a:t>
            </a:r>
            <a:endParaRPr lang="zh-CN" altLang="en-US" sz="28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4346" name="Text Box 10"/>
              <p:cNvSpPr txBox="1">
                <a:spLocks noChangeArrowheads="1"/>
              </p:cNvSpPr>
              <p:nvPr/>
            </p:nvSpPr>
            <p:spPr bwMode="auto">
              <a:xfrm>
                <a:off x="1910715" y="1807963"/>
                <a:ext cx="4038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设向量</a:t>
                </a:r>
                <a14:m>
                  <m:oMath xmlns:m="http://schemas.openxmlformats.org/officeDocument/2006/math">
                    <m:r>
                      <a:rPr lang="zh-CN" altLang="en-US" sz="2800" b="1" i="1">
                        <a:latin typeface="Cambria Math" panose="02040503050406030204" charset="0"/>
                      </a:rPr>
                      <m:t>𝒂</m:t>
                    </m:r>
                    <m:r>
                      <a:rPr lang="en-US" altLang="zh-CN" sz="2800" b="0" i="1" smtClean="0">
                        <a:latin typeface="Cambria Math" panose="02040503050406030204" charset="0"/>
                      </a:rPr>
                      <m:t>,</m:t>
                    </m:r>
                    <m:r>
                      <a:rPr lang="zh-CN" altLang="en-US" sz="2800" b="1" i="1">
                        <a:latin typeface="Cambria Math" panose="02040503050406030204" charset="0"/>
                      </a:rPr>
                      <m:t>𝒃</m:t>
                    </m:r>
                  </m:oMath>
                </a14:m>
                <a:r>
                  <a:rPr lang="zh-CN" altLang="en-US" sz="2800" dirty="0">
                    <a:latin typeface="Times New Roman" panose="02020603050405020304" pitchFamily="18" charset="0"/>
                    <a:cs typeface="Times New Roman" panose="02020603050405020304" pitchFamily="18" charset="0"/>
                  </a:rPr>
                  <a:t>均为非零向量</a:t>
                </a:r>
                <a:endParaRPr lang="zh-CN" altLang="en-US" sz="2800" dirty="0">
                  <a:latin typeface="Times New Roman" panose="02020603050405020304" pitchFamily="18" charset="0"/>
                  <a:cs typeface="Times New Roman" panose="02020603050405020304" pitchFamily="18" charset="0"/>
                </a:endParaRPr>
              </a:p>
            </p:txBody>
          </p:sp>
        </mc:Choice>
        <mc:Fallback>
          <p:sp>
            <p:nvSpPr>
              <p:cNvPr id="14346" name="Text Box 10"/>
              <p:cNvSpPr txBox="1">
                <a:spLocks noRot="1" noChangeAspect="1" noMove="1" noResize="1" noEditPoints="1" noAdjustHandles="1" noChangeArrowheads="1" noChangeShapeType="1" noTextEdit="1"/>
              </p:cNvSpPr>
              <p:nvPr/>
            </p:nvSpPr>
            <p:spPr bwMode="auto">
              <a:xfrm>
                <a:off x="1910715" y="1807963"/>
                <a:ext cx="4038600" cy="523220"/>
              </a:xfrm>
              <a:prstGeom prst="rect">
                <a:avLst/>
              </a:prstGeom>
              <a:blipFill rotWithShape="1">
                <a:blip r:embed="rId2"/>
                <a:stretch>
                  <a:fillRect t="-23" b="1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347" name="Object 11"/>
              <p:cNvSpPr txBox="1"/>
              <p:nvPr/>
            </p:nvSpPr>
            <p:spPr bwMode="auto">
              <a:xfrm>
                <a:off x="3638647" y="2234026"/>
                <a:ext cx="3390803" cy="522288"/>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800" b="1" i="1">
                          <a:latin typeface="Cambria Math" panose="02040503050406030204" charset="0"/>
                        </a:rPr>
                        <m:t>𝒂</m:t>
                      </m:r>
                      <m:r>
                        <a:rPr lang="zh-CN" altLang="en-US" sz="2800" i="1">
                          <a:latin typeface="Cambria Math" panose="02040503050406030204" charset="0"/>
                        </a:rPr>
                        <m:t>⋅</m:t>
                      </m:r>
                      <m:r>
                        <a:rPr lang="zh-CN" altLang="en-US" sz="2800" b="1" i="1">
                          <a:latin typeface="Cambria Math" panose="02040503050406030204" charset="0"/>
                        </a:rPr>
                        <m:t>𝒃</m:t>
                      </m:r>
                      <m:r>
                        <a:rPr lang="zh-CN" altLang="en-US" sz="2800" i="1">
                          <a:latin typeface="Cambria Math" panose="02040503050406030204" charset="0"/>
                        </a:rPr>
                        <m:t>=|</m:t>
                      </m:r>
                      <m:r>
                        <a:rPr lang="zh-CN" altLang="en-US" sz="2800" b="1" i="1">
                          <a:latin typeface="Cambria Math" panose="02040503050406030204" charset="0"/>
                        </a:rPr>
                        <m:t>𝒂</m:t>
                      </m:r>
                      <m:r>
                        <a:rPr lang="zh-CN" altLang="en-US" sz="2800" i="1">
                          <a:latin typeface="Cambria Math" panose="02040503050406030204" charset="0"/>
                        </a:rPr>
                        <m:t>| |</m:t>
                      </m:r>
                      <m:r>
                        <a:rPr lang="zh-CN" altLang="en-US" sz="2800" b="1" i="1">
                          <a:latin typeface="Cambria Math" panose="02040503050406030204" charset="0"/>
                        </a:rPr>
                        <m:t>𝒃</m:t>
                      </m:r>
                      <m:r>
                        <a:rPr lang="zh-CN" altLang="en-US" sz="2800" i="1">
                          <a:latin typeface="Cambria Math" panose="02040503050406030204" charset="0"/>
                        </a:rPr>
                        <m:t>|</m:t>
                      </m:r>
                      <m:func>
                        <m:funcPr>
                          <m:ctrlPr>
                            <a:rPr lang="zh-CN" altLang="en-US" sz="2800" i="1">
                              <a:latin typeface="Cambria Math" panose="02040503050406030204" charset="0"/>
                            </a:rPr>
                          </m:ctrlPr>
                        </m:funcPr>
                        <m:fName>
                          <m:r>
                            <m:rPr>
                              <m:sty m:val="p"/>
                            </m:rPr>
                            <a:rPr lang="zh-CN" altLang="en-US" sz="2800" i="0">
                              <a:latin typeface="Cambria Math" panose="02040503050406030204" charset="0"/>
                            </a:rPr>
                            <m:t>cos</m:t>
                          </m:r>
                        </m:fName>
                        <m:e>
                          <m:r>
                            <a:rPr lang="zh-CN" altLang="en-US" sz="2800" i="1">
                              <a:latin typeface="Cambria Math" panose="02040503050406030204" charset="0"/>
                            </a:rPr>
                            <m:t>𝜃</m:t>
                          </m:r>
                        </m:e>
                      </m:func>
                      <m:r>
                        <a:rPr lang="zh-CN" altLang="en-US" sz="2800" i="1">
                          <a:latin typeface="Cambria Math" panose="02040503050406030204" charset="0"/>
                        </a:rPr>
                        <m:t>,</m:t>
                      </m:r>
                    </m:oMath>
                  </m:oMathPara>
                </a14:m>
                <a:endParaRPr lang="zh-CN" altLang="en-US" sz="2800" i="1" dirty="0">
                  <a:latin typeface="Cambria Math" panose="02040503050406030204" charset="0"/>
                </a:endParaRPr>
              </a:p>
            </p:txBody>
          </p:sp>
        </mc:Choice>
        <mc:Fallback>
          <p:sp>
            <p:nvSpPr>
              <p:cNvPr id="14347" name="Object 11"/>
              <p:cNvSpPr txBox="1">
                <a:spLocks noRot="1" noChangeAspect="1" noMove="1" noResize="1" noEditPoints="1" noAdjustHandles="1" noChangeArrowheads="1" noChangeShapeType="1" noTextEdit="1"/>
              </p:cNvSpPr>
              <p:nvPr/>
            </p:nvSpPr>
            <p:spPr bwMode="auto">
              <a:xfrm>
                <a:off x="3638647" y="2234026"/>
                <a:ext cx="3390803" cy="522288"/>
              </a:xfrm>
              <a:prstGeom prst="rect">
                <a:avLst/>
              </a:prstGeom>
              <a:blipFill rotWithShape="1">
                <a:blip r:embed="rId3"/>
                <a:stretch>
                  <a:fillRect l="-3" t="-18" b="79"/>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348" name="Object 12"/>
              <p:cNvSpPr txBox="1"/>
              <p:nvPr/>
            </p:nvSpPr>
            <p:spPr bwMode="auto">
              <a:xfrm>
                <a:off x="4185871" y="2920767"/>
                <a:ext cx="2653079" cy="999482"/>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func>
                        <m:funcPr>
                          <m:ctrlPr>
                            <a:rPr lang="zh-CN" altLang="en-US" sz="2800" i="1">
                              <a:latin typeface="Cambria Math" panose="02040503050406030204" charset="0"/>
                            </a:rPr>
                          </m:ctrlPr>
                        </m:funcPr>
                        <m:fName>
                          <m:r>
                            <m:rPr>
                              <m:sty m:val="p"/>
                            </m:rPr>
                            <a:rPr lang="zh-CN" altLang="en-US" sz="2800" b="0" i="0">
                              <a:latin typeface="Cambria Math" panose="02040503050406030204" charset="0"/>
                            </a:rPr>
                            <m:t>cos</m:t>
                          </m:r>
                        </m:fName>
                        <m:e>
                          <m:r>
                            <a:rPr lang="zh-CN" altLang="en-US" sz="2800" b="0" i="1">
                              <a:latin typeface="Cambria Math" panose="02040503050406030204" charset="0"/>
                            </a:rPr>
                            <m:t>𝜃</m:t>
                          </m:r>
                        </m:e>
                      </m:func>
                      <m:r>
                        <a:rPr lang="zh-CN" altLang="en-US" sz="2800" b="0" i="1">
                          <a:latin typeface="Cambria Math" panose="02040503050406030204" charset="0"/>
                        </a:rPr>
                        <m:t>=</m:t>
                      </m:r>
                      <m:f>
                        <m:fPr>
                          <m:ctrlPr>
                            <a:rPr lang="zh-CN" altLang="en-US" sz="2800" i="1">
                              <a:latin typeface="Cambria Math" panose="02040503050406030204" charset="0"/>
                            </a:rPr>
                          </m:ctrlPr>
                        </m:fPr>
                        <m:num>
                          <m:r>
                            <a:rPr lang="zh-CN" altLang="en-US" sz="2800" b="1" i="1">
                              <a:latin typeface="Cambria Math" panose="02040503050406030204" charset="0"/>
                            </a:rPr>
                            <m:t>𝒂</m:t>
                          </m:r>
                          <m:r>
                            <a:rPr lang="zh-CN" altLang="en-US" sz="2800" b="0" i="1">
                              <a:latin typeface="Cambria Math" panose="02040503050406030204" charset="0"/>
                            </a:rPr>
                            <m:t>⋅</m:t>
                          </m:r>
                          <m:r>
                            <a:rPr lang="zh-CN" altLang="en-US" sz="2800" b="1" i="1">
                              <a:latin typeface="Cambria Math" panose="02040503050406030204" charset="0"/>
                            </a:rPr>
                            <m:t>𝒃</m:t>
                          </m:r>
                        </m:num>
                        <m:den>
                          <m:r>
                            <a:rPr lang="zh-CN" altLang="en-US" sz="2800" b="0" i="1">
                              <a:latin typeface="Cambria Math" panose="02040503050406030204" charset="0"/>
                            </a:rPr>
                            <m:t>|</m:t>
                          </m:r>
                          <m:r>
                            <a:rPr lang="zh-CN" altLang="en-US" sz="2800" b="1" i="1">
                              <a:latin typeface="Cambria Math" panose="02040503050406030204" charset="0"/>
                            </a:rPr>
                            <m:t>𝒂</m:t>
                          </m:r>
                          <m:r>
                            <a:rPr lang="zh-CN" altLang="en-US" sz="2800" b="0" i="1">
                              <a:latin typeface="Cambria Math" panose="02040503050406030204" charset="0"/>
                            </a:rPr>
                            <m:t>| |</m:t>
                          </m:r>
                          <m:r>
                            <a:rPr lang="zh-CN" altLang="en-US" sz="2800" b="1" i="1">
                              <a:latin typeface="Cambria Math" panose="02040503050406030204" charset="0"/>
                            </a:rPr>
                            <m:t>𝒃</m:t>
                          </m:r>
                          <m:r>
                            <a:rPr lang="zh-CN" altLang="en-US" sz="2800" b="0" i="1">
                              <a:latin typeface="Cambria Math" panose="02040503050406030204" charset="0"/>
                            </a:rPr>
                            <m:t>|</m:t>
                          </m:r>
                        </m:den>
                      </m:f>
                      <m:r>
                        <a:rPr lang="zh-CN" altLang="en-US" sz="2800" b="0" i="1">
                          <a:latin typeface="Cambria Math" panose="02040503050406030204" charset="0"/>
                        </a:rPr>
                        <m:t>,</m:t>
                      </m:r>
                    </m:oMath>
                  </m:oMathPara>
                </a14:m>
                <a:endParaRPr lang="zh-CN" altLang="en-US" sz="2800" i="1" dirty="0">
                  <a:latin typeface="Cambria Math" panose="02040503050406030204" charset="0"/>
                </a:endParaRPr>
              </a:p>
            </p:txBody>
          </p:sp>
        </mc:Choice>
        <mc:Fallback>
          <p:sp>
            <p:nvSpPr>
              <p:cNvPr id="14348" name="Object 12"/>
              <p:cNvSpPr txBox="1">
                <a:spLocks noRot="1" noChangeAspect="1" noMove="1" noResize="1" noEditPoints="1" noAdjustHandles="1" noChangeArrowheads="1" noChangeShapeType="1" noTextEdit="1"/>
              </p:cNvSpPr>
              <p:nvPr/>
            </p:nvSpPr>
            <p:spPr bwMode="auto">
              <a:xfrm>
                <a:off x="4185871" y="2920767"/>
                <a:ext cx="2653079" cy="999482"/>
              </a:xfrm>
              <a:prstGeom prst="rect">
                <a:avLst/>
              </a:prstGeom>
              <a:blipFill rotWithShape="1">
                <a:blip r:embed="rId4"/>
                <a:stretch>
                  <a:fillRect l="-22" t="-40" b="39"/>
                </a:stretch>
              </a:blipFill>
              <a:ln>
                <a:noFill/>
              </a:ln>
              <a:effectLst/>
            </p:spPr>
            <p:txBody>
              <a:bodyPr/>
              <a:lstStyle/>
              <a:p>
                <a:r>
                  <a:rPr lang="zh-CN" altLang="en-US">
                    <a:noFill/>
                  </a:rPr>
                  <a:t> </a:t>
                </a:r>
              </a:p>
            </p:txBody>
          </p:sp>
        </mc:Fallback>
      </mc:AlternateContent>
      <p:sp>
        <p:nvSpPr>
          <p:cNvPr id="14349" name="AutoShape 13"/>
          <p:cNvSpPr>
            <a:spLocks noChangeArrowheads="1"/>
          </p:cNvSpPr>
          <p:nvPr/>
        </p:nvSpPr>
        <p:spPr bwMode="auto">
          <a:xfrm>
            <a:off x="5202057" y="2853546"/>
            <a:ext cx="254391" cy="375910"/>
          </a:xfrm>
          <a:prstGeom prst="downArrow">
            <a:avLst>
              <a:gd name="adj1" fmla="val 50000"/>
              <a:gd name="adj2" fmla="val 40000"/>
            </a:avLst>
          </a:prstGeom>
          <a:solidFill>
            <a:srgbClr val="04926A"/>
          </a:solidFill>
          <a:ln w="9525">
            <a:noFill/>
            <a:miter lim="800000"/>
          </a:ln>
          <a:effectLst/>
        </p:spPr>
        <p:txBody>
          <a:bodyPr vert="eaVert" wrap="none" anchor="ctr"/>
          <a:lstStyle/>
          <a:p>
            <a:endParaRPr lang="zh-CN" altLang="en-US" sz="280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4350" name="Object 14"/>
              <p:cNvSpPr txBox="1"/>
              <p:nvPr/>
            </p:nvSpPr>
            <p:spPr bwMode="auto">
              <a:xfrm>
                <a:off x="2191734" y="4211729"/>
                <a:ext cx="6150408" cy="1556023"/>
              </a:xfrm>
              <a:prstGeom prst="rect">
                <a:avLst/>
              </a:prstGeom>
              <a:solidFill>
                <a:srgbClr val="04926A">
                  <a:alpha val="42000"/>
                </a:srgbClr>
              </a:solidFill>
              <a:ln w="9525">
                <a:noFill/>
                <a:miter lim="800000"/>
              </a:ln>
              <a:effectLst/>
            </p:spPr>
            <p:txBody>
              <a:bodyPr>
                <a:normAutofit/>
              </a:bodyPr>
              <a:lstStyle/>
              <a:p>
                <a14:m>
                  <m:oMathPara xmlns:m="http://schemas.openxmlformats.org/officeDocument/2006/math">
                    <m:oMathParaPr>
                      <m:jc m:val="left"/>
                    </m:oMathParaPr>
                    <m:oMath xmlns:m="http://schemas.openxmlformats.org/officeDocument/2006/math">
                      <m:func>
                        <m:funcPr>
                          <m:ctrlPr>
                            <a:rPr lang="zh-CN" altLang="en-US" sz="2800" i="1">
                              <a:latin typeface="Cambria Math" panose="02040503050406030204" charset="0"/>
                            </a:rPr>
                          </m:ctrlPr>
                        </m:funcPr>
                        <m:fName>
                          <m:r>
                            <m:rPr>
                              <m:sty m:val="p"/>
                            </m:rPr>
                            <a:rPr lang="zh-CN" altLang="en-US" sz="2800" i="1">
                              <a:latin typeface="Cambria Math" panose="02040503050406030204" charset="0"/>
                            </a:rPr>
                            <m:t>cos</m:t>
                          </m:r>
                        </m:fName>
                        <m:e>
                          <m:r>
                            <a:rPr lang="zh-CN" altLang="en-US" sz="2800" i="1">
                              <a:latin typeface="Cambria Math" panose="02040503050406030204" charset="0"/>
                            </a:rPr>
                            <m:t>𝜃</m:t>
                          </m:r>
                        </m:e>
                      </m:func>
                      <m:r>
                        <a:rPr lang="zh-CN" altLang="en-US" sz="2800" i="1">
                          <a:latin typeface="Cambria Math" panose="02040503050406030204" charset="0"/>
                        </a:rPr>
                        <m:t>=</m:t>
                      </m:r>
                      <m:f>
                        <m:fPr>
                          <m:ctrlPr>
                            <a:rPr lang="zh-CN" altLang="en-US" sz="2800" i="1">
                              <a:latin typeface="Cambria Math" panose="02040503050406030204" charset="0"/>
                            </a:rPr>
                          </m:ctrlPr>
                        </m:fPr>
                        <m:num>
                          <m:sSub>
                            <m:sSubPr>
                              <m:ctrlPr>
                                <a:rPr lang="zh-CN" altLang="en-US" sz="2800" i="1">
                                  <a:latin typeface="Cambria Math" panose="02040503050406030204" charset="0"/>
                                </a:rPr>
                              </m:ctrlPr>
                            </m:sSubPr>
                            <m:e>
                              <m:r>
                                <a:rPr lang="zh-CN" altLang="en-US" sz="2800" i="1">
                                  <a:latin typeface="Cambria Math" panose="02040503050406030204" charset="0"/>
                                </a:rPr>
                                <m:t>𝑎</m:t>
                              </m:r>
                            </m:e>
                            <m:sub>
                              <m:r>
                                <a:rPr lang="zh-CN" altLang="en-US" sz="2800" i="1">
                                  <a:latin typeface="Cambria Math" panose="02040503050406030204" charset="0"/>
                                </a:rPr>
                                <m:t>𝑥</m:t>
                              </m:r>
                            </m:sub>
                          </m:sSub>
                          <m:sSub>
                            <m:sSubPr>
                              <m:ctrlPr>
                                <a:rPr lang="zh-CN" altLang="en-US" sz="2800" i="1">
                                  <a:latin typeface="Cambria Math" panose="02040503050406030204" charset="0"/>
                                </a:rPr>
                              </m:ctrlPr>
                            </m:sSubPr>
                            <m:e>
                              <m:r>
                                <a:rPr lang="zh-CN" altLang="en-US" sz="2800" i="1">
                                  <a:latin typeface="Cambria Math" panose="02040503050406030204" charset="0"/>
                                </a:rPr>
                                <m:t>𝑏</m:t>
                              </m:r>
                            </m:e>
                            <m:sub>
                              <m:r>
                                <a:rPr lang="zh-CN" altLang="en-US" sz="2800" i="1">
                                  <a:latin typeface="Cambria Math" panose="02040503050406030204" charset="0"/>
                                </a:rPr>
                                <m:t>𝑥</m:t>
                              </m:r>
                            </m:sub>
                          </m:sSub>
                          <m:r>
                            <a:rPr lang="zh-CN" altLang="en-US" sz="2800" i="1">
                              <a:latin typeface="Cambria Math" panose="02040503050406030204" charset="0"/>
                            </a:rPr>
                            <m:t>+</m:t>
                          </m:r>
                          <m:sSub>
                            <m:sSubPr>
                              <m:ctrlPr>
                                <a:rPr lang="zh-CN" altLang="en-US" sz="2800" i="1">
                                  <a:latin typeface="Cambria Math" panose="02040503050406030204" charset="0"/>
                                </a:rPr>
                              </m:ctrlPr>
                            </m:sSubPr>
                            <m:e>
                              <m:r>
                                <a:rPr lang="zh-CN" altLang="en-US" sz="2800" i="1">
                                  <a:latin typeface="Cambria Math" panose="02040503050406030204" charset="0"/>
                                </a:rPr>
                                <m:t>𝑎</m:t>
                              </m:r>
                            </m:e>
                            <m:sub>
                              <m:r>
                                <a:rPr lang="zh-CN" altLang="en-US" sz="2800" i="1">
                                  <a:latin typeface="Cambria Math" panose="02040503050406030204" charset="0"/>
                                </a:rPr>
                                <m:t>𝑦</m:t>
                              </m:r>
                            </m:sub>
                          </m:sSub>
                          <m:sSub>
                            <m:sSubPr>
                              <m:ctrlPr>
                                <a:rPr lang="zh-CN" altLang="en-US" sz="2800" i="1">
                                  <a:latin typeface="Cambria Math" panose="02040503050406030204" charset="0"/>
                                </a:rPr>
                              </m:ctrlPr>
                            </m:sSubPr>
                            <m:e>
                              <m:r>
                                <a:rPr lang="zh-CN" altLang="en-US" sz="2800" i="1">
                                  <a:latin typeface="Cambria Math" panose="02040503050406030204" charset="0"/>
                                </a:rPr>
                                <m:t>𝑏</m:t>
                              </m:r>
                            </m:e>
                            <m:sub>
                              <m:r>
                                <a:rPr lang="zh-CN" altLang="en-US" sz="2800" i="1">
                                  <a:latin typeface="Cambria Math" panose="02040503050406030204" charset="0"/>
                                </a:rPr>
                                <m:t>𝑦</m:t>
                              </m:r>
                            </m:sub>
                          </m:sSub>
                          <m:r>
                            <a:rPr lang="zh-CN" altLang="en-US" sz="2800" i="1">
                              <a:latin typeface="Cambria Math" panose="02040503050406030204" charset="0"/>
                            </a:rPr>
                            <m:t>+</m:t>
                          </m:r>
                          <m:sSub>
                            <m:sSubPr>
                              <m:ctrlPr>
                                <a:rPr lang="zh-CN" altLang="en-US" sz="2800" i="1">
                                  <a:latin typeface="Cambria Math" panose="02040503050406030204" charset="0"/>
                                </a:rPr>
                              </m:ctrlPr>
                            </m:sSubPr>
                            <m:e>
                              <m:r>
                                <a:rPr lang="zh-CN" altLang="en-US" sz="2800" i="1">
                                  <a:latin typeface="Cambria Math" panose="02040503050406030204" charset="0"/>
                                </a:rPr>
                                <m:t>𝑎</m:t>
                              </m:r>
                            </m:e>
                            <m:sub>
                              <m:r>
                                <a:rPr lang="zh-CN" altLang="en-US" sz="2800" i="1">
                                  <a:latin typeface="Cambria Math" panose="02040503050406030204" charset="0"/>
                                </a:rPr>
                                <m:t>𝑧</m:t>
                              </m:r>
                            </m:sub>
                          </m:sSub>
                          <m:sSub>
                            <m:sSubPr>
                              <m:ctrlPr>
                                <a:rPr lang="zh-CN" altLang="en-US" sz="2800" i="1">
                                  <a:latin typeface="Cambria Math" panose="02040503050406030204" charset="0"/>
                                </a:rPr>
                              </m:ctrlPr>
                            </m:sSubPr>
                            <m:e>
                              <m:r>
                                <a:rPr lang="zh-CN" altLang="en-US" sz="2800" i="1">
                                  <a:latin typeface="Cambria Math" panose="02040503050406030204" charset="0"/>
                                </a:rPr>
                                <m:t>𝑏</m:t>
                              </m:r>
                            </m:e>
                            <m:sub>
                              <m:r>
                                <a:rPr lang="zh-CN" altLang="en-US" sz="2800" i="1">
                                  <a:latin typeface="Cambria Math" panose="02040503050406030204" charset="0"/>
                                </a:rPr>
                                <m:t>𝑧</m:t>
                              </m:r>
                            </m:sub>
                          </m:sSub>
                        </m:num>
                        <m:den>
                          <m:rad>
                            <m:radPr>
                              <m:degHide m:val="on"/>
                              <m:ctrlPr>
                                <a:rPr lang="zh-CN" altLang="en-US" sz="2800" i="1">
                                  <a:latin typeface="Cambria Math" panose="02040503050406030204" charset="0"/>
                                </a:rPr>
                              </m:ctrlPr>
                            </m:radPr>
                            <m:deg/>
                            <m:e>
                              <m:sSubSup>
                                <m:sSubSupPr>
                                  <m:ctrlPr>
                                    <a:rPr lang="zh-CN" altLang="en-US" sz="2800" i="1">
                                      <a:latin typeface="Cambria Math" panose="02040503050406030204" charset="0"/>
                                    </a:rPr>
                                  </m:ctrlPr>
                                </m:sSubSupPr>
                                <m:e>
                                  <m:r>
                                    <a:rPr lang="zh-CN" altLang="en-US" sz="2800" i="1">
                                      <a:latin typeface="Cambria Math" panose="02040503050406030204" charset="0"/>
                                    </a:rPr>
                                    <m:t>𝑎</m:t>
                                  </m:r>
                                </m:e>
                                <m:sub>
                                  <m:r>
                                    <a:rPr lang="zh-CN" altLang="en-US" sz="2800" i="1">
                                      <a:latin typeface="Cambria Math" panose="02040503050406030204" charset="0"/>
                                    </a:rPr>
                                    <m:t>𝑥</m:t>
                                  </m:r>
                                </m:sub>
                                <m:sup>
                                  <m:r>
                                    <a:rPr lang="zh-CN" altLang="en-US" sz="2800" i="1">
                                      <a:latin typeface="Cambria Math" panose="02040503050406030204" charset="0"/>
                                    </a:rPr>
                                    <m:t>2</m:t>
                                  </m:r>
                                </m:sup>
                              </m:sSubSup>
                              <m:r>
                                <a:rPr lang="zh-CN" altLang="en-US" sz="2800" i="1">
                                  <a:latin typeface="Cambria Math" panose="02040503050406030204" charset="0"/>
                                </a:rPr>
                                <m:t>+</m:t>
                              </m:r>
                              <m:sSubSup>
                                <m:sSubSupPr>
                                  <m:ctrlPr>
                                    <a:rPr lang="zh-CN" altLang="en-US" sz="2800" i="1">
                                      <a:latin typeface="Cambria Math" panose="02040503050406030204" charset="0"/>
                                    </a:rPr>
                                  </m:ctrlPr>
                                </m:sSubSupPr>
                                <m:e>
                                  <m:r>
                                    <a:rPr lang="zh-CN" altLang="en-US" sz="2800" i="1">
                                      <a:latin typeface="Cambria Math" panose="02040503050406030204" charset="0"/>
                                    </a:rPr>
                                    <m:t>𝑎</m:t>
                                  </m:r>
                                </m:e>
                                <m:sub>
                                  <m:r>
                                    <a:rPr lang="zh-CN" altLang="en-US" sz="2800" i="1">
                                      <a:latin typeface="Cambria Math" panose="02040503050406030204" charset="0"/>
                                    </a:rPr>
                                    <m:t>𝑦</m:t>
                                  </m:r>
                                </m:sub>
                                <m:sup>
                                  <m:r>
                                    <a:rPr lang="zh-CN" altLang="en-US" sz="2800" i="1">
                                      <a:latin typeface="Cambria Math" panose="02040503050406030204" charset="0"/>
                                    </a:rPr>
                                    <m:t>2</m:t>
                                  </m:r>
                                </m:sup>
                              </m:sSubSup>
                              <m:r>
                                <a:rPr lang="zh-CN" altLang="en-US" sz="2800" i="1">
                                  <a:latin typeface="Cambria Math" panose="02040503050406030204" charset="0"/>
                                </a:rPr>
                                <m:t>+</m:t>
                              </m:r>
                              <m:sSubSup>
                                <m:sSubSupPr>
                                  <m:ctrlPr>
                                    <a:rPr lang="zh-CN" altLang="en-US" sz="2800" i="1">
                                      <a:latin typeface="Cambria Math" panose="02040503050406030204" charset="0"/>
                                    </a:rPr>
                                  </m:ctrlPr>
                                </m:sSubSupPr>
                                <m:e>
                                  <m:r>
                                    <a:rPr lang="zh-CN" altLang="en-US" sz="2800" i="1">
                                      <a:latin typeface="Cambria Math" panose="02040503050406030204" charset="0"/>
                                    </a:rPr>
                                    <m:t>𝑎</m:t>
                                  </m:r>
                                </m:e>
                                <m:sub>
                                  <m:r>
                                    <a:rPr lang="zh-CN" altLang="en-US" sz="2800" i="1">
                                      <a:latin typeface="Cambria Math" panose="02040503050406030204" charset="0"/>
                                    </a:rPr>
                                    <m:t>𝑧</m:t>
                                  </m:r>
                                </m:sub>
                                <m:sup>
                                  <m:r>
                                    <a:rPr lang="zh-CN" altLang="en-US" sz="2800" i="1">
                                      <a:latin typeface="Cambria Math" panose="02040503050406030204" charset="0"/>
                                    </a:rPr>
                                    <m:t>2</m:t>
                                  </m:r>
                                </m:sup>
                              </m:sSubSup>
                            </m:e>
                          </m:rad>
                          <m:rad>
                            <m:radPr>
                              <m:degHide m:val="on"/>
                              <m:ctrlPr>
                                <a:rPr lang="zh-CN" altLang="en-US" sz="2800" i="1">
                                  <a:latin typeface="Cambria Math" panose="02040503050406030204" charset="0"/>
                                </a:rPr>
                              </m:ctrlPr>
                            </m:radPr>
                            <m:deg/>
                            <m:e>
                              <m:sSubSup>
                                <m:sSubSupPr>
                                  <m:ctrlPr>
                                    <a:rPr lang="zh-CN" altLang="en-US" sz="2800" i="1">
                                      <a:latin typeface="Cambria Math" panose="02040503050406030204" charset="0"/>
                                    </a:rPr>
                                  </m:ctrlPr>
                                </m:sSubSupPr>
                                <m:e>
                                  <m:r>
                                    <a:rPr lang="zh-CN" altLang="en-US" sz="2800" i="1">
                                      <a:latin typeface="Cambria Math" panose="02040503050406030204" charset="0"/>
                                    </a:rPr>
                                    <m:t>𝑏</m:t>
                                  </m:r>
                                </m:e>
                                <m:sub>
                                  <m:r>
                                    <a:rPr lang="zh-CN" altLang="en-US" sz="2800" i="1">
                                      <a:latin typeface="Cambria Math" panose="02040503050406030204" charset="0"/>
                                    </a:rPr>
                                    <m:t>𝑥</m:t>
                                  </m:r>
                                </m:sub>
                                <m:sup>
                                  <m:r>
                                    <a:rPr lang="zh-CN" altLang="en-US" sz="2800" i="1">
                                      <a:latin typeface="Cambria Math" panose="02040503050406030204" charset="0"/>
                                    </a:rPr>
                                    <m:t>2</m:t>
                                  </m:r>
                                </m:sup>
                              </m:sSubSup>
                              <m:r>
                                <a:rPr lang="zh-CN" altLang="en-US" sz="2800" i="1">
                                  <a:latin typeface="Cambria Math" panose="02040503050406030204" charset="0"/>
                                </a:rPr>
                                <m:t>+</m:t>
                              </m:r>
                              <m:sSubSup>
                                <m:sSubSupPr>
                                  <m:ctrlPr>
                                    <a:rPr lang="zh-CN" altLang="en-US" sz="2800" i="1">
                                      <a:latin typeface="Cambria Math" panose="02040503050406030204" charset="0"/>
                                    </a:rPr>
                                  </m:ctrlPr>
                                </m:sSubSupPr>
                                <m:e>
                                  <m:r>
                                    <a:rPr lang="zh-CN" altLang="en-US" sz="2800" i="1">
                                      <a:latin typeface="Cambria Math" panose="02040503050406030204" charset="0"/>
                                    </a:rPr>
                                    <m:t>𝑏</m:t>
                                  </m:r>
                                </m:e>
                                <m:sub>
                                  <m:r>
                                    <a:rPr lang="zh-CN" altLang="en-US" sz="2800" i="1">
                                      <a:latin typeface="Cambria Math" panose="02040503050406030204" charset="0"/>
                                    </a:rPr>
                                    <m:t>𝑦</m:t>
                                  </m:r>
                                </m:sub>
                                <m:sup>
                                  <m:r>
                                    <a:rPr lang="zh-CN" altLang="en-US" sz="2800" i="1">
                                      <a:latin typeface="Cambria Math" panose="02040503050406030204" charset="0"/>
                                    </a:rPr>
                                    <m:t>2</m:t>
                                  </m:r>
                                </m:sup>
                              </m:sSubSup>
                              <m:r>
                                <a:rPr lang="zh-CN" altLang="en-US" sz="2800" i="1">
                                  <a:latin typeface="Cambria Math" panose="02040503050406030204" charset="0"/>
                                </a:rPr>
                                <m:t>+</m:t>
                              </m:r>
                              <m:sSubSup>
                                <m:sSubSupPr>
                                  <m:ctrlPr>
                                    <a:rPr lang="zh-CN" altLang="en-US" sz="2800" i="1">
                                      <a:latin typeface="Cambria Math" panose="02040503050406030204" charset="0"/>
                                    </a:rPr>
                                  </m:ctrlPr>
                                </m:sSubSupPr>
                                <m:e>
                                  <m:r>
                                    <a:rPr lang="zh-CN" altLang="en-US" sz="2800" i="1">
                                      <a:latin typeface="Cambria Math" panose="02040503050406030204" charset="0"/>
                                    </a:rPr>
                                    <m:t>𝑏</m:t>
                                  </m:r>
                                </m:e>
                                <m:sub>
                                  <m:r>
                                    <a:rPr lang="zh-CN" altLang="en-US" sz="2800" i="1">
                                      <a:latin typeface="Cambria Math" panose="02040503050406030204" charset="0"/>
                                    </a:rPr>
                                    <m:t>𝑧</m:t>
                                  </m:r>
                                </m:sub>
                                <m:sup>
                                  <m:r>
                                    <a:rPr lang="zh-CN" altLang="en-US" sz="2800" i="1">
                                      <a:latin typeface="Cambria Math" panose="02040503050406030204" charset="0"/>
                                    </a:rPr>
                                    <m:t>2</m:t>
                                  </m:r>
                                </m:sup>
                              </m:sSubSup>
                            </m:e>
                          </m:rad>
                        </m:den>
                      </m:f>
                      <m:r>
                        <a:rPr lang="zh-CN" altLang="en-US" sz="2800" i="1">
                          <a:latin typeface="Cambria Math" panose="02040503050406030204" charset="0"/>
                        </a:rPr>
                        <m:t>.</m:t>
                      </m:r>
                    </m:oMath>
                  </m:oMathPara>
                </a14:m>
                <a:endParaRPr lang="zh-CN" altLang="en-US" sz="2800" i="1" dirty="0">
                  <a:latin typeface="Cambria Math" panose="02040503050406030204" charset="0"/>
                </a:endParaRPr>
              </a:p>
            </p:txBody>
          </p:sp>
        </mc:Choice>
        <mc:Fallback>
          <p:sp>
            <p:nvSpPr>
              <p:cNvPr id="14350" name="Object 14"/>
              <p:cNvSpPr txBox="1">
                <a:spLocks noRot="1" noChangeAspect="1" noMove="1" noResize="1" noEditPoints="1" noAdjustHandles="1" noChangeArrowheads="1" noChangeShapeType="1" noTextEdit="1"/>
              </p:cNvSpPr>
              <p:nvPr/>
            </p:nvSpPr>
            <p:spPr bwMode="auto">
              <a:xfrm>
                <a:off x="2191734" y="4211729"/>
                <a:ext cx="6150408" cy="1556023"/>
              </a:xfrm>
              <a:prstGeom prst="rect">
                <a:avLst/>
              </a:prstGeom>
              <a:blipFill rotWithShape="1">
                <a:blip r:embed="rId5"/>
                <a:stretch>
                  <a:fillRect l="-6" t="-26" r="2" b="3"/>
                </a:stretch>
              </a:blipFill>
              <a:ln w="9525">
                <a:noFill/>
                <a:miter lim="800000"/>
              </a:ln>
              <a:effectLst/>
            </p:spPr>
            <p:txBody>
              <a:bodyPr/>
              <a:lstStyle/>
              <a:p>
                <a:r>
                  <a:rPr lang="zh-CN" altLang="en-US">
                    <a:noFill/>
                  </a:rPr>
                  <a:t> </a:t>
                </a:r>
              </a:p>
            </p:txBody>
          </p:sp>
        </mc:Fallback>
      </mc:AlternateContent>
      <p:sp>
        <p:nvSpPr>
          <p:cNvPr id="9" name="AutoShape 13"/>
          <p:cNvSpPr>
            <a:spLocks noChangeArrowheads="1"/>
          </p:cNvSpPr>
          <p:nvPr/>
        </p:nvSpPr>
        <p:spPr bwMode="auto">
          <a:xfrm>
            <a:off x="5202057" y="3747715"/>
            <a:ext cx="254391" cy="375910"/>
          </a:xfrm>
          <a:prstGeom prst="downArrow">
            <a:avLst>
              <a:gd name="adj1" fmla="val 50000"/>
              <a:gd name="adj2" fmla="val 40000"/>
            </a:avLst>
          </a:prstGeom>
          <a:solidFill>
            <a:srgbClr val="04926A"/>
          </a:solidFill>
          <a:ln w="9525">
            <a:noFill/>
            <a:miter lim="800000"/>
          </a:ln>
          <a:effectLst/>
        </p:spPr>
        <p:txBody>
          <a:bodyPr vert="eaVert" wrap="none" anchor="ctr"/>
          <a:lstStyle/>
          <a:p>
            <a:endParaRPr lang="zh-CN" altLang="en-US" sz="28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44"/>
                                        </p:tgtEl>
                                        <p:attrNameLst>
                                          <p:attrName>style.visibility</p:attrName>
                                        </p:attrNameLst>
                                      </p:cBhvr>
                                      <p:to>
                                        <p:strVal val="visible"/>
                                      </p:to>
                                    </p:set>
                                    <p:animEffect transition="in" filter="wipe(left)">
                                      <p:cBhvr>
                                        <p:cTn id="7" dur="500"/>
                                        <p:tgtEl>
                                          <p:spTgt spid="1434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4345"/>
                                        </p:tgtEl>
                                        <p:attrNameLst>
                                          <p:attrName>style.visibility</p:attrName>
                                        </p:attrNameLst>
                                      </p:cBhvr>
                                      <p:to>
                                        <p:strVal val="visible"/>
                                      </p:to>
                                    </p:set>
                                    <p:animEffect transition="in" filter="wipe(left)">
                                      <p:cBhvr>
                                        <p:cTn id="11" dur="500"/>
                                        <p:tgtEl>
                                          <p:spTgt spid="1434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4346"/>
                                        </p:tgtEl>
                                        <p:attrNameLst>
                                          <p:attrName>style.visibility</p:attrName>
                                        </p:attrNameLst>
                                      </p:cBhvr>
                                      <p:to>
                                        <p:strVal val="visible"/>
                                      </p:to>
                                    </p:set>
                                    <p:animEffect transition="in" filter="wipe(left)">
                                      <p:cBhvr>
                                        <p:cTn id="16" dur="500"/>
                                        <p:tgtEl>
                                          <p:spTgt spid="1434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4347"/>
                                        </p:tgtEl>
                                        <p:attrNameLst>
                                          <p:attrName>style.visibility</p:attrName>
                                        </p:attrNameLst>
                                      </p:cBhvr>
                                      <p:to>
                                        <p:strVal val="visible"/>
                                      </p:to>
                                    </p:set>
                                    <p:animEffect transition="in" filter="wipe(left)">
                                      <p:cBhvr>
                                        <p:cTn id="21" dur="500"/>
                                        <p:tgtEl>
                                          <p:spTgt spid="1434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14349"/>
                                        </p:tgtEl>
                                        <p:attrNameLst>
                                          <p:attrName>style.visibility</p:attrName>
                                        </p:attrNameLst>
                                      </p:cBhvr>
                                      <p:to>
                                        <p:strVal val="visible"/>
                                      </p:to>
                                    </p:set>
                                    <p:animEffect transition="in" filter="wipe(up)">
                                      <p:cBhvr>
                                        <p:cTn id="26" dur="500"/>
                                        <p:tgtEl>
                                          <p:spTgt spid="1434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4348"/>
                                        </p:tgtEl>
                                        <p:attrNameLst>
                                          <p:attrName>style.visibility</p:attrName>
                                        </p:attrNameLst>
                                      </p:cBhvr>
                                      <p:to>
                                        <p:strVal val="visible"/>
                                      </p:to>
                                    </p:set>
                                    <p:animEffect transition="in" filter="wipe(left)">
                                      <p:cBhvr>
                                        <p:cTn id="31" dur="500"/>
                                        <p:tgtEl>
                                          <p:spTgt spid="1434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up)">
                                      <p:cBhvr>
                                        <p:cTn id="36" dur="500"/>
                                        <p:tgtEl>
                                          <p:spTgt spid="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4350"/>
                                        </p:tgtEl>
                                        <p:attrNameLst>
                                          <p:attrName>style.visibility</p:attrName>
                                        </p:attrNameLst>
                                      </p:cBhvr>
                                      <p:to>
                                        <p:strVal val="visible"/>
                                      </p:to>
                                    </p:set>
                                    <p:animEffect transition="in" filter="wipe(left)">
                                      <p:cBhvr>
                                        <p:cTn id="41" dur="500"/>
                                        <p:tgtEl>
                                          <p:spTgt spid="143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4" grpId="0" bldLvl="0" animBg="1"/>
      <p:bldP spid="14345" grpId="0" bldLvl="0" animBg="1"/>
      <p:bldP spid="14346" grpId="0" bldLvl="0" animBg="1"/>
      <p:bldP spid="14347" grpId="0" bldLvl="0" animBg="1"/>
      <p:bldP spid="14348" grpId="0" bldLvl="0" animBg="1"/>
      <p:bldP spid="14350"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highlight>
                  <a:srgbClr val="FFFF00"/>
                </a:highlight>
                <a:sym typeface="+mn-ea"/>
              </a:rPr>
              <a:t>向量积</a:t>
            </a:r>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p:nvPr/>
        </p:nvSpPr>
        <p:spPr>
          <a:xfrm>
            <a:off x="1062343" y="1193808"/>
            <a:ext cx="7374167" cy="4855299"/>
          </a:xfrm>
          <a:prstGeom prst="rect">
            <a:avLst/>
          </a:prstGeom>
          <a:solidFill>
            <a:srgbClr val="039462">
              <a:alpha val="2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FFFFFF"/>
              </a:solidFill>
              <a:effectLst/>
              <a:uLnTx/>
              <a:uFillTx/>
              <a:latin typeface="Calibri" panose="020F0502020204030204"/>
              <a:ea typeface="+mn-ea"/>
              <a:cs typeface="+mn-cs"/>
            </a:endParaRPr>
          </a:p>
        </p:txBody>
      </p:sp>
      <p:sp>
        <p:nvSpPr>
          <p:cNvPr id="19520" name="Text Box 64"/>
          <p:cNvSpPr txBox="1">
            <a:spLocks noChangeArrowheads="1"/>
          </p:cNvSpPr>
          <p:nvPr/>
        </p:nvSpPr>
        <p:spPr bwMode="auto">
          <a:xfrm>
            <a:off x="943568" y="493743"/>
            <a:ext cx="2133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b="1" dirty="0">
                <a:solidFill>
                  <a:srgbClr val="04926A"/>
                </a:solidFill>
                <a:latin typeface="微软雅黑" panose="020B0503020204020204" charset="-122"/>
                <a:ea typeface="微软雅黑" panose="020B0503020204020204" charset="-122"/>
              </a:rPr>
              <a:t>1.  </a:t>
            </a:r>
            <a:r>
              <a:rPr kumimoji="1" lang="zh-CN" altLang="en-US" sz="2800" b="1" dirty="0">
                <a:solidFill>
                  <a:srgbClr val="04926A"/>
                </a:solidFill>
                <a:latin typeface="微软雅黑" panose="020B0503020204020204" charset="-122"/>
                <a:ea typeface="微软雅黑" panose="020B0503020204020204" charset="-122"/>
              </a:rPr>
              <a:t>定义</a:t>
            </a:r>
            <a:endParaRPr kumimoji="1" lang="zh-CN" altLang="en-US" sz="2800" b="1" dirty="0">
              <a:solidFill>
                <a:srgbClr val="04926A"/>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19521" name="Text Box 65"/>
              <p:cNvSpPr txBox="1">
                <a:spLocks noChangeArrowheads="1"/>
              </p:cNvSpPr>
              <p:nvPr/>
            </p:nvSpPr>
            <p:spPr bwMode="auto">
              <a:xfrm>
                <a:off x="1239887" y="1401447"/>
                <a:ext cx="721529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b="1" dirty="0">
                    <a:solidFill>
                      <a:srgbClr val="04926A"/>
                    </a:solidFill>
                    <a:sym typeface="+mn-ea"/>
                  </a:rPr>
                  <a:t>定义</a:t>
                </a:r>
                <a:r>
                  <a:rPr lang="en-US" altLang="zh-CN" sz="2800" b="1" dirty="0">
                    <a:solidFill>
                      <a:srgbClr val="04926A"/>
                    </a:solidFill>
                    <a:sym typeface="+mn-ea"/>
                  </a:rPr>
                  <a:t>2 </a:t>
                </a:r>
                <a:r>
                  <a:rPr lang="zh-CN" altLang="en-US" sz="2800" dirty="0"/>
                  <a:t>对于任意两个向量</a:t>
                </a:r>
                <a14:m>
                  <m:oMath xmlns:m="http://schemas.openxmlformats.org/officeDocument/2006/math">
                    <m:r>
                      <a:rPr lang="zh-CN" altLang="en-US" sz="2800" b="1" i="1">
                        <a:solidFill>
                          <a:srgbClr val="000000"/>
                        </a:solidFill>
                        <a:latin typeface="Cambria Math" panose="02040503050406030204" charset="0"/>
                      </a:rPr>
                      <m:t>𝒂</m:t>
                    </m:r>
                  </m:oMath>
                </a14:m>
                <a:r>
                  <a:rPr lang="zh-CN" altLang="en-US" sz="2800" dirty="0"/>
                  <a:t>和</a:t>
                </a:r>
                <a14:m>
                  <m:oMath xmlns:m="http://schemas.openxmlformats.org/officeDocument/2006/math">
                    <m:r>
                      <a:rPr lang="zh-CN" altLang="en-US" sz="2800" b="1" i="1">
                        <a:solidFill>
                          <a:srgbClr val="000000"/>
                        </a:solidFill>
                        <a:latin typeface="Cambria Math" panose="02040503050406030204" charset="0"/>
                      </a:rPr>
                      <m:t>𝒃</m:t>
                    </m:r>
                    <m:r>
                      <a:rPr lang="en-US" altLang="zh-CN" sz="2800" b="0" i="1" smtClean="0">
                        <a:solidFill>
                          <a:srgbClr val="000000"/>
                        </a:solidFill>
                        <a:latin typeface="Cambria Math" panose="02040503050406030204" charset="0"/>
                      </a:rPr>
                      <m:t>,  </m:t>
                    </m:r>
                  </m:oMath>
                </a14:m>
                <a:r>
                  <a:rPr lang="zh-CN" altLang="en-US" sz="2800" dirty="0"/>
                  <a:t>定义向量</a:t>
                </a:r>
                <a14:m>
                  <m:oMath xmlns:m="http://schemas.openxmlformats.org/officeDocument/2006/math">
                    <m:r>
                      <a:rPr lang="en-US" altLang="zh-CN" sz="2800" b="1" i="1">
                        <a:solidFill>
                          <a:srgbClr val="000000"/>
                        </a:solidFill>
                        <a:latin typeface="Cambria Math" panose="02040503050406030204" charset="0"/>
                      </a:rPr>
                      <m:t>𝒄</m:t>
                    </m:r>
                  </m:oMath>
                </a14:m>
                <a:endParaRPr lang="zh-CN" altLang="en-US" sz="2800" dirty="0"/>
              </a:p>
            </p:txBody>
          </p:sp>
        </mc:Choice>
        <mc:Fallback>
          <p:sp>
            <p:nvSpPr>
              <p:cNvPr id="19521" name="Text Box 65"/>
              <p:cNvSpPr txBox="1">
                <a:spLocks noRot="1" noChangeAspect="1" noMove="1" noResize="1" noEditPoints="1" noAdjustHandles="1" noChangeArrowheads="1" noChangeShapeType="1" noTextEdit="1"/>
              </p:cNvSpPr>
              <p:nvPr/>
            </p:nvSpPr>
            <p:spPr bwMode="auto">
              <a:xfrm>
                <a:off x="1239887" y="1401447"/>
                <a:ext cx="7215297" cy="523220"/>
              </a:xfrm>
              <a:prstGeom prst="rect">
                <a:avLst/>
              </a:prstGeom>
              <a:blipFill rotWithShape="1">
                <a:blip r:embed="rId1"/>
                <a:stretch>
                  <a:fillRect l="-5" r="2" b="11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522" name="Rectangle 66"/>
              <p:cNvSpPr>
                <a:spLocks noChangeArrowheads="1"/>
              </p:cNvSpPr>
              <p:nvPr/>
            </p:nvSpPr>
            <p:spPr bwMode="auto">
              <a:xfrm>
                <a:off x="1220912" y="3082063"/>
                <a:ext cx="442853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14:m>
                  <m:oMath xmlns:m="http://schemas.openxmlformats.org/officeDocument/2006/math">
                    <m:r>
                      <a:rPr lang="en-US" altLang="zh-CN" sz="2800" b="1" i="1" smtClean="0">
                        <a:solidFill>
                          <a:srgbClr val="000000"/>
                        </a:solidFill>
                        <a:latin typeface="Cambria Math" panose="02040503050406030204" charset="0"/>
                      </a:rPr>
                      <m:t>𝒄</m:t>
                    </m:r>
                  </m:oMath>
                </a14:m>
                <a:r>
                  <a:rPr lang="zh-CN" altLang="en-US" sz="2800" dirty="0"/>
                  <a:t>的模：</a:t>
                </a:r>
                <a:r>
                  <a:rPr lang="zh-CN" alt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zh-CN" altLang="en-US" sz="2800" b="1" i="1" smtClean="0">
                            <a:solidFill>
                              <a:srgbClr val="000000"/>
                            </a:solidFill>
                            <a:latin typeface="Cambria Math" panose="02040503050406030204" charset="0"/>
                          </a:rPr>
                        </m:ctrlPr>
                      </m:dPr>
                      <m:e>
                        <m:r>
                          <a:rPr lang="en-US" altLang="zh-CN" sz="2800" b="1" i="1" smtClean="0">
                            <a:solidFill>
                              <a:srgbClr val="000000"/>
                            </a:solidFill>
                            <a:latin typeface="Cambria Math" panose="02040503050406030204" charset="0"/>
                          </a:rPr>
                          <m:t>𝒄</m:t>
                        </m:r>
                      </m:e>
                    </m:d>
                    <m:r>
                      <a:rPr lang="zh-CN" altLang="en-US" sz="2800" i="1">
                        <a:solidFill>
                          <a:srgbClr val="000000"/>
                        </a:solidFill>
                        <a:latin typeface="Cambria Math" panose="02040503050406030204" charset="0"/>
                      </a:rPr>
                      <m:t>=</m:t>
                    </m:r>
                    <m:d>
                      <m:dPr>
                        <m:begChr m:val="|"/>
                        <m:endChr m:val="|"/>
                        <m:ctrlPr>
                          <a:rPr lang="zh-CN" altLang="en-US" sz="2800" b="1" i="1">
                            <a:solidFill>
                              <a:srgbClr val="000000"/>
                            </a:solidFill>
                            <a:latin typeface="Cambria Math" panose="02040503050406030204" charset="0"/>
                          </a:rPr>
                        </m:ctrlPr>
                      </m:dPr>
                      <m:e>
                        <m:r>
                          <a:rPr lang="en-US" altLang="zh-CN" sz="2800" b="1" i="1" smtClean="0">
                            <a:solidFill>
                              <a:srgbClr val="000000"/>
                            </a:solidFill>
                            <a:latin typeface="Cambria Math" panose="02040503050406030204" charset="0"/>
                          </a:rPr>
                          <m:t>𝒂</m:t>
                        </m:r>
                      </m:e>
                    </m:d>
                    <m:d>
                      <m:dPr>
                        <m:begChr m:val="|"/>
                        <m:endChr m:val="|"/>
                        <m:ctrlPr>
                          <a:rPr lang="zh-CN" altLang="en-US" sz="2800" b="1" i="1">
                            <a:solidFill>
                              <a:srgbClr val="000000"/>
                            </a:solidFill>
                            <a:latin typeface="Cambria Math" panose="02040503050406030204" charset="0"/>
                          </a:rPr>
                        </m:ctrlPr>
                      </m:dPr>
                      <m:e>
                        <m:r>
                          <a:rPr lang="en-US" altLang="zh-CN" sz="2800" b="1" i="1" smtClean="0">
                            <a:solidFill>
                              <a:srgbClr val="000000"/>
                            </a:solidFill>
                            <a:latin typeface="Cambria Math" panose="02040503050406030204" charset="0"/>
                          </a:rPr>
                          <m:t>𝒃</m:t>
                        </m:r>
                      </m:e>
                    </m:d>
                    <m:func>
                      <m:funcPr>
                        <m:ctrlPr>
                          <a:rPr lang="zh-CN" altLang="en-US" sz="2800" i="1">
                            <a:solidFill>
                              <a:srgbClr val="000000"/>
                            </a:solidFill>
                            <a:latin typeface="Cambria Math" panose="02040503050406030204" charset="0"/>
                          </a:rPr>
                        </m:ctrlPr>
                      </m:funcPr>
                      <m:fName>
                        <m:r>
                          <m:rPr>
                            <m:sty m:val="p"/>
                          </m:rPr>
                          <a:rPr lang="zh-CN" altLang="en-US" sz="2800">
                            <a:solidFill>
                              <a:srgbClr val="000000"/>
                            </a:solidFill>
                            <a:latin typeface="Cambria Math" panose="02040503050406030204" charset="0"/>
                          </a:rPr>
                          <m:t>sin</m:t>
                        </m:r>
                      </m:fName>
                      <m:e>
                        <m:r>
                          <a:rPr lang="zh-CN" altLang="en-US" sz="2800" i="1">
                            <a:solidFill>
                              <a:srgbClr val="000000"/>
                            </a:solidFill>
                            <a:latin typeface="Cambria Math" panose="02040503050406030204" charset="0"/>
                          </a:rPr>
                          <m:t>𝜃</m:t>
                        </m:r>
                      </m:e>
                    </m:func>
                    <m:r>
                      <a:rPr lang="en-US" altLang="zh-CN" sz="2800" b="0" i="1" smtClean="0">
                        <a:solidFill>
                          <a:srgbClr val="000000"/>
                        </a:solidFill>
                        <a:latin typeface="Cambria Math" panose="02040503050406030204" charset="0"/>
                      </a:rPr>
                      <m:t>,</m:t>
                    </m:r>
                  </m:oMath>
                </a14:m>
                <a:endParaRPr lang="zh-CN" altLang="en-US" sz="2200" i="1" dirty="0">
                  <a:solidFill>
                    <a:srgbClr val="000000"/>
                  </a:solidFill>
                  <a:latin typeface="Cambria Math" panose="02040503050406030204" charset="0"/>
                </a:endParaRPr>
              </a:p>
            </p:txBody>
          </p:sp>
        </mc:Choice>
        <mc:Fallback>
          <p:sp>
            <p:nvSpPr>
              <p:cNvPr id="19522" name="Rectangle 66"/>
              <p:cNvSpPr>
                <a:spLocks noRot="1" noChangeAspect="1" noMove="1" noResize="1" noEditPoints="1" noAdjustHandles="1" noChangeArrowheads="1" noChangeShapeType="1" noTextEdit="1"/>
              </p:cNvSpPr>
              <p:nvPr/>
            </p:nvSpPr>
            <p:spPr bwMode="auto">
              <a:xfrm>
                <a:off x="1220912" y="3082063"/>
                <a:ext cx="4428532" cy="523220"/>
              </a:xfrm>
              <a:prstGeom prst="rect">
                <a:avLst/>
              </a:prstGeom>
              <a:blipFill rotWithShape="1">
                <a:blip r:embed="rId2"/>
                <a:stretch>
                  <a:fillRect l="-10" t="-78" r="11" b="7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523" name="Rectangle 67"/>
              <p:cNvSpPr>
                <a:spLocks noChangeArrowheads="1"/>
              </p:cNvSpPr>
              <p:nvPr/>
            </p:nvSpPr>
            <p:spPr bwMode="auto">
              <a:xfrm>
                <a:off x="1220912" y="1942732"/>
                <a:ext cx="692554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14:m>
                  <m:oMath xmlns:m="http://schemas.openxmlformats.org/officeDocument/2006/math">
                    <m:r>
                      <a:rPr lang="en-US" altLang="zh-CN" sz="2800" b="1" i="1">
                        <a:solidFill>
                          <a:srgbClr val="000000"/>
                        </a:solidFill>
                        <a:latin typeface="Cambria Math" panose="02040503050406030204" charset="0"/>
                      </a:rPr>
                      <m:t>𝒄</m:t>
                    </m:r>
                  </m:oMath>
                </a14:m>
                <a:r>
                  <a:rPr lang="zh-CN" altLang="en-US" sz="2800" dirty="0"/>
                  <a:t>的方向：</a:t>
                </a:r>
                <a:r>
                  <a:rPr lang="zh-CN" altLang="en-US" sz="2800" dirty="0">
                    <a:highlight>
                      <a:srgbClr val="FFFF00"/>
                    </a:highlight>
                  </a:rPr>
                  <a:t>同时垂直于</a:t>
                </a:r>
                <a14:m>
                  <m:oMath xmlns:m="http://schemas.openxmlformats.org/officeDocument/2006/math">
                    <m:r>
                      <a:rPr lang="zh-CN" altLang="en-US" sz="2800" b="1" i="1">
                        <a:solidFill>
                          <a:srgbClr val="000000"/>
                        </a:solidFill>
                        <a:highlight>
                          <a:srgbClr val="FFFF00"/>
                        </a:highlight>
                        <a:latin typeface="Cambria Math" panose="02040503050406030204" charset="0"/>
                      </a:rPr>
                      <m:t>𝒂</m:t>
                    </m:r>
                  </m:oMath>
                </a14:m>
                <a:r>
                  <a:rPr lang="zh-CN" altLang="en-US" sz="2800" dirty="0">
                    <a:highlight>
                      <a:srgbClr val="FFFF00"/>
                    </a:highlight>
                  </a:rPr>
                  <a:t>和</a:t>
                </a:r>
                <a14:m>
                  <m:oMath xmlns:m="http://schemas.openxmlformats.org/officeDocument/2006/math">
                    <m:r>
                      <a:rPr lang="zh-CN" altLang="en-US" sz="2800" b="1" i="1">
                        <a:solidFill>
                          <a:srgbClr val="000000"/>
                        </a:solidFill>
                        <a:highlight>
                          <a:srgbClr val="FFFF00"/>
                        </a:highlight>
                        <a:latin typeface="Cambria Math" panose="02040503050406030204" charset="0"/>
                      </a:rPr>
                      <m:t>𝒃</m:t>
                    </m:r>
                  </m:oMath>
                </a14:m>
                <a:r>
                  <a:rPr lang="zh-CN" altLang="en-US" sz="2800" dirty="0">
                    <a:highlight>
                      <a:srgbClr val="FFFF00"/>
                    </a:highlight>
                  </a:rPr>
                  <a:t>所确定的平面</a:t>
                </a:r>
                <a:r>
                  <a:rPr lang="zh-CN" altLang="en-US" sz="2800" dirty="0">
                    <a:latin typeface="Times New Roman" panose="02020603050405020304" pitchFamily="18" charset="0"/>
                    <a:cs typeface="Times New Roman" panose="02020603050405020304" pitchFamily="18" charset="0"/>
                  </a:rPr>
                  <a:t>，</a:t>
                </a:r>
                <a:endParaRPr lang="zh-CN" altLang="en-US" sz="2800" dirty="0">
                  <a:latin typeface="Times New Roman" panose="02020603050405020304" pitchFamily="18" charset="0"/>
                  <a:cs typeface="Times New Roman" panose="02020603050405020304" pitchFamily="18" charset="0"/>
                </a:endParaRPr>
              </a:p>
            </p:txBody>
          </p:sp>
        </mc:Choice>
        <mc:Fallback>
          <p:sp>
            <p:nvSpPr>
              <p:cNvPr id="19523" name="Rectangle 67"/>
              <p:cNvSpPr>
                <a:spLocks noRot="1" noChangeAspect="1" noMove="1" noResize="1" noEditPoints="1" noAdjustHandles="1" noChangeArrowheads="1" noChangeShapeType="1" noTextEdit="1"/>
              </p:cNvSpPr>
              <p:nvPr/>
            </p:nvSpPr>
            <p:spPr bwMode="auto">
              <a:xfrm>
                <a:off x="1220912" y="1942732"/>
                <a:ext cx="6925543" cy="523220"/>
              </a:xfrm>
              <a:prstGeom prst="rect">
                <a:avLst/>
              </a:prstGeom>
              <a:blipFill rotWithShape="1">
                <a:blip r:embed="rId3"/>
                <a:stretch>
                  <a:fillRect l="-6" t="-51" r="1" b="4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9524" name="Rectangle 68"/>
          <p:cNvSpPr>
            <a:spLocks noChangeArrowheads="1"/>
          </p:cNvSpPr>
          <p:nvPr/>
        </p:nvSpPr>
        <p:spPr bwMode="auto">
          <a:xfrm>
            <a:off x="1220912" y="2525396"/>
            <a:ext cx="4876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dirty="0"/>
              <a:t>具体指向由右手法则确定，</a:t>
            </a:r>
            <a:endParaRPr lang="zh-CN" altLang="en-US" sz="2800" dirty="0"/>
          </a:p>
        </p:txBody>
      </p:sp>
      <mc:AlternateContent xmlns:mc="http://schemas.openxmlformats.org/markup-compatibility/2006">
        <mc:Choice xmlns:a14="http://schemas.microsoft.com/office/drawing/2010/main" Requires="a14">
          <p:sp>
            <p:nvSpPr>
              <p:cNvPr id="19531" name="Text Box 75"/>
              <p:cNvSpPr txBox="1">
                <a:spLocks noChangeArrowheads="1"/>
              </p:cNvSpPr>
              <p:nvPr/>
            </p:nvSpPr>
            <p:spPr bwMode="auto">
              <a:xfrm>
                <a:off x="1220912" y="3661643"/>
                <a:ext cx="5943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dirty="0"/>
                  <a:t>称向量</a:t>
                </a:r>
                <a14:m>
                  <m:oMath xmlns:m="http://schemas.openxmlformats.org/officeDocument/2006/math">
                    <m:r>
                      <a:rPr lang="en-US" altLang="zh-CN" sz="2800" b="1" i="1">
                        <a:solidFill>
                          <a:srgbClr val="000000"/>
                        </a:solidFill>
                        <a:latin typeface="Cambria Math" panose="02040503050406030204" charset="0"/>
                      </a:rPr>
                      <m:t>𝒄</m:t>
                    </m:r>
                  </m:oMath>
                </a14:m>
                <a:r>
                  <a:rPr lang="zh-CN" altLang="en-US" sz="2800" dirty="0"/>
                  <a:t>为</a:t>
                </a:r>
                <a14:m>
                  <m:oMath xmlns:m="http://schemas.openxmlformats.org/officeDocument/2006/math">
                    <m:r>
                      <a:rPr lang="en-US" altLang="zh-CN" sz="2800" b="1" i="1">
                        <a:solidFill>
                          <a:srgbClr val="000000"/>
                        </a:solidFill>
                        <a:latin typeface="Cambria Math" panose="02040503050406030204" charset="0"/>
                      </a:rPr>
                      <m:t>𝒂</m:t>
                    </m:r>
                  </m:oMath>
                </a14:m>
                <a:r>
                  <a:rPr lang="zh-CN" altLang="en-US" sz="2800" dirty="0"/>
                  <a:t>与</a:t>
                </a:r>
                <a14:m>
                  <m:oMath xmlns:m="http://schemas.openxmlformats.org/officeDocument/2006/math">
                    <m:r>
                      <a:rPr lang="zh-CN" altLang="en-US" sz="2800" b="1" i="1">
                        <a:solidFill>
                          <a:srgbClr val="000000"/>
                        </a:solidFill>
                        <a:latin typeface="Cambria Math" panose="02040503050406030204" charset="0"/>
                      </a:rPr>
                      <m:t>𝒃</m:t>
                    </m:r>
                  </m:oMath>
                </a14:m>
                <a:r>
                  <a:rPr lang="zh-CN" altLang="en-US" sz="2800" dirty="0"/>
                  <a:t>的向量积，记为</a:t>
                </a:r>
                <a:endParaRPr lang="zh-CN" altLang="en-US" sz="2800" dirty="0"/>
              </a:p>
            </p:txBody>
          </p:sp>
        </mc:Choice>
        <mc:Fallback>
          <p:sp>
            <p:nvSpPr>
              <p:cNvPr id="19531" name="Text Box 75"/>
              <p:cNvSpPr txBox="1">
                <a:spLocks noRot="1" noChangeAspect="1" noMove="1" noResize="1" noEditPoints="1" noAdjustHandles="1" noChangeArrowheads="1" noChangeShapeType="1" noTextEdit="1"/>
              </p:cNvSpPr>
              <p:nvPr/>
            </p:nvSpPr>
            <p:spPr bwMode="auto">
              <a:xfrm>
                <a:off x="1220912" y="3661643"/>
                <a:ext cx="5943600" cy="523220"/>
              </a:xfrm>
              <a:prstGeom prst="rect">
                <a:avLst/>
              </a:prstGeom>
              <a:blipFill rotWithShape="1">
                <a:blip r:embed="rId4"/>
                <a:stretch>
                  <a:fillRect l="-7" t="-45" r="7" b="4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532" name="Rectangle 76"/>
              <p:cNvSpPr>
                <a:spLocks noChangeArrowheads="1"/>
              </p:cNvSpPr>
              <p:nvPr/>
            </p:nvSpPr>
            <p:spPr bwMode="auto">
              <a:xfrm>
                <a:off x="3296305" y="4151646"/>
                <a:ext cx="179281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800" b="1" i="1" smtClean="0">
                          <a:solidFill>
                            <a:srgbClr val="000000"/>
                          </a:solidFill>
                          <a:latin typeface="Cambria Math" panose="02040503050406030204" charset="0"/>
                        </a:rPr>
                        <m:t>𝒄</m:t>
                      </m:r>
                      <m:r>
                        <a:rPr lang="en-US" altLang="zh-CN" sz="2800" i="1" smtClean="0">
                          <a:solidFill>
                            <a:srgbClr val="000000"/>
                          </a:solidFill>
                          <a:latin typeface="Cambria Math" panose="02040503050406030204" charset="0"/>
                        </a:rPr>
                        <m:t>=</m:t>
                      </m:r>
                      <m:r>
                        <a:rPr lang="en-US" altLang="zh-CN" sz="2800" b="1" i="1" smtClean="0">
                          <a:solidFill>
                            <a:srgbClr val="000000"/>
                          </a:solidFill>
                          <a:latin typeface="Cambria Math" panose="02040503050406030204" charset="0"/>
                        </a:rPr>
                        <m:t>𝒂</m:t>
                      </m:r>
                      <m:r>
                        <a:rPr lang="zh-CN" altLang="en-US" sz="2800" i="1">
                          <a:solidFill>
                            <a:srgbClr val="000000"/>
                          </a:solidFill>
                          <a:latin typeface="Cambria Math" panose="02040503050406030204" charset="0"/>
                        </a:rPr>
                        <m:t>×</m:t>
                      </m:r>
                      <m:r>
                        <a:rPr lang="en-US" altLang="zh-CN" sz="2800" b="1" i="1" smtClean="0">
                          <a:solidFill>
                            <a:srgbClr val="000000"/>
                          </a:solidFill>
                          <a:latin typeface="Cambria Math" panose="02040503050406030204" charset="0"/>
                        </a:rPr>
                        <m:t>𝒃</m:t>
                      </m:r>
                      <m:r>
                        <a:rPr lang="en-US" altLang="zh-CN" sz="2800" b="0" i="1" smtClean="0">
                          <a:solidFill>
                            <a:srgbClr val="000000"/>
                          </a:solidFill>
                          <a:latin typeface="Cambria Math" panose="02040503050406030204" charset="0"/>
                        </a:rPr>
                        <m:t>.</m:t>
                      </m:r>
                    </m:oMath>
                  </m:oMathPara>
                </a14:m>
                <a:endParaRPr lang="zh-CN" altLang="en-US" sz="2800" dirty="0">
                  <a:latin typeface="Cambria Math" panose="02040503050406030204" charset="0"/>
                </a:endParaRPr>
              </a:p>
            </p:txBody>
          </p:sp>
        </mc:Choice>
        <mc:Fallback>
          <p:sp>
            <p:nvSpPr>
              <p:cNvPr id="19532" name="Rectangle 76"/>
              <p:cNvSpPr>
                <a:spLocks noRot="1" noChangeAspect="1" noMove="1" noResize="1" noEditPoints="1" noAdjustHandles="1" noChangeArrowheads="1" noChangeShapeType="1" noTextEdit="1"/>
              </p:cNvSpPr>
              <p:nvPr/>
            </p:nvSpPr>
            <p:spPr bwMode="auto">
              <a:xfrm>
                <a:off x="3296305" y="4151646"/>
                <a:ext cx="1792813" cy="523220"/>
              </a:xfrm>
              <a:prstGeom prst="rect">
                <a:avLst/>
              </a:prstGeom>
              <a:blipFill rotWithShape="1">
                <a:blip r:embed="rId5"/>
                <a:stretch>
                  <a:fillRect l="-1" t="-3" r="13" b="12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9534" name="Text Box 78"/>
          <p:cNvSpPr txBox="1">
            <a:spLocks noChangeArrowheads="1"/>
          </p:cNvSpPr>
          <p:nvPr/>
        </p:nvSpPr>
        <p:spPr bwMode="auto">
          <a:xfrm>
            <a:off x="1220912" y="4785090"/>
            <a:ext cx="2819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dirty="0"/>
              <a:t>引例中的力矩</a:t>
            </a:r>
            <a:endParaRPr lang="zh-CN" altLang="en-US" sz="2800" dirty="0"/>
          </a:p>
        </p:txBody>
      </p:sp>
      <mc:AlternateContent xmlns:mc="http://schemas.openxmlformats.org/markup-compatibility/2006">
        <mc:Choice xmlns:a14="http://schemas.microsoft.com/office/drawing/2010/main" Requires="a14">
          <p:sp>
            <p:nvSpPr>
              <p:cNvPr id="19535" name="Object 79"/>
              <p:cNvSpPr txBox="1">
                <a:spLocks noGrp="1"/>
              </p:cNvSpPr>
              <p:nvPr>
                <p:ph/>
              </p:nvPr>
            </p:nvSpPr>
            <p:spPr bwMode="auto">
              <a:xfrm>
                <a:off x="3410650" y="4739888"/>
                <a:ext cx="2552700" cy="515937"/>
              </a:xfrm>
              <a:prstGeom prst="rect">
                <a:avLst/>
              </a:prstGeom>
              <a:noFill/>
              <a:ln>
                <a:noFill/>
              </a:ln>
              <a:effectLst/>
            </p:spPr>
            <p:txBody>
              <a:bodyPr>
                <a:noAutofit/>
              </a:bodyPr>
              <a:lstStyle/>
              <a:p>
                <a:pPr marL="0">
                  <a:buNone/>
                </a:pPr>
                <a14:m>
                  <m:oMathPara xmlns:m="http://schemas.openxmlformats.org/officeDocument/2006/math">
                    <m:oMathParaPr>
                      <m:jc m:val="left"/>
                    </m:oMathParaPr>
                    <m:oMath xmlns:m="http://schemas.openxmlformats.org/officeDocument/2006/math">
                      <m:r>
                        <a:rPr lang="zh-CN" altLang="en-US" b="1" i="1">
                          <a:latin typeface="Cambria Math" panose="02040503050406030204" charset="0"/>
                        </a:rPr>
                        <m:t>𝑴</m:t>
                      </m:r>
                      <m:r>
                        <a:rPr lang="zh-CN" altLang="en-US">
                          <a:latin typeface="Cambria Math" panose="02040503050406030204" charset="0"/>
                        </a:rPr>
                        <m:t>=</m:t>
                      </m:r>
                      <m:groupChr>
                        <m:groupChrPr>
                          <m:chr m:val="→"/>
                          <m:pos m:val="top"/>
                          <m:vertJc m:val="bot"/>
                          <m:ctrlPr>
                            <a:rPr lang="zh-CN" altLang="en-US" i="1">
                              <a:latin typeface="Cambria Math" panose="02040503050406030204" charset="0"/>
                            </a:rPr>
                          </m:ctrlPr>
                        </m:groupChrPr>
                        <m:e>
                          <m:r>
                            <a:rPr lang="zh-CN" altLang="en-US">
                              <a:latin typeface="Cambria Math" panose="02040503050406030204" charset="0"/>
                            </a:rPr>
                            <m:t>𝑂𝑃</m:t>
                          </m:r>
                        </m:e>
                      </m:groupChr>
                      <m:r>
                        <a:rPr lang="zh-CN" altLang="en-US">
                          <a:latin typeface="Cambria Math" panose="02040503050406030204" charset="0"/>
                        </a:rPr>
                        <m:t>×</m:t>
                      </m:r>
                      <m:r>
                        <a:rPr lang="zh-CN" altLang="en-US" b="1" i="1">
                          <a:latin typeface="Cambria Math" panose="02040503050406030204" charset="0"/>
                        </a:rPr>
                        <m:t>𝑭</m:t>
                      </m:r>
                      <m:r>
                        <a:rPr lang="zh-CN" altLang="en-US">
                          <a:latin typeface="Cambria Math" panose="02040503050406030204" charset="0"/>
                        </a:rPr>
                        <m:t>.</m:t>
                      </m:r>
                    </m:oMath>
                  </m:oMathPara>
                </a14:m>
                <a:endParaRPr lang="zh-CN" altLang="en-US" dirty="0">
                  <a:latin typeface="Cambria Math" panose="02040503050406030204" charset="0"/>
                </a:endParaRPr>
              </a:p>
            </p:txBody>
          </p:sp>
        </mc:Choice>
        <mc:Fallback>
          <p:sp>
            <p:nvSpPr>
              <p:cNvPr id="19535" name="Object 79"/>
              <p:cNvSpPr txBox="1">
                <a:spLocks noRot="1" noChangeAspect="1" noMove="1" noResize="1" noEditPoints="1" noAdjustHandles="1" noChangeArrowheads="1" noChangeShapeType="1" noTextEdit="1"/>
              </p:cNvSpPr>
              <p:nvPr>
                <p:ph/>
              </p:nvPr>
            </p:nvSpPr>
            <p:spPr bwMode="auto">
              <a:xfrm>
                <a:off x="3410650" y="4739888"/>
                <a:ext cx="2552700" cy="515937"/>
              </a:xfrm>
              <a:prstGeom prst="rect">
                <a:avLst/>
              </a:prstGeom>
              <a:blipFill rotWithShape="1">
                <a:blip r:embed="rId6"/>
                <a:stretch>
                  <a:fillRect l="-3" t="-48" r="3" b="110"/>
                </a:stretch>
              </a:blipFill>
              <a:ln>
                <a:noFill/>
              </a:ln>
              <a:effectLst/>
            </p:spPr>
            <p:txBody>
              <a:bodyPr/>
              <a:lstStyle/>
              <a:p>
                <a:r>
                  <a:rPr lang="zh-CN" altLang="en-US">
                    <a:noFill/>
                  </a:rPr>
                  <a:t> </a:t>
                </a:r>
              </a:p>
            </p:txBody>
          </p:sp>
        </mc:Fallback>
      </mc:AlternateContent>
      <p:sp>
        <p:nvSpPr>
          <p:cNvPr id="51" name="Text Box 31"/>
          <p:cNvSpPr txBox="1">
            <a:spLocks noChangeArrowheads="1"/>
          </p:cNvSpPr>
          <p:nvPr/>
        </p:nvSpPr>
        <p:spPr bwMode="auto">
          <a:xfrm>
            <a:off x="1220912" y="5358830"/>
            <a:ext cx="61722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lang="zh-CN" altLang="en-US" sz="2800" dirty="0"/>
              <a:t>向量积也称为“</a:t>
            </a:r>
            <a:r>
              <a:rPr lang="zh-CN" altLang="en-US" sz="2800" dirty="0">
                <a:solidFill>
                  <a:srgbClr val="008000"/>
                </a:solidFill>
              </a:rPr>
              <a:t>叉</a:t>
            </a:r>
            <a:r>
              <a:rPr lang="zh-CN" altLang="en-US" sz="2800" dirty="0">
                <a:solidFill>
                  <a:srgbClr val="008000"/>
                </a:solidFill>
                <a:ea typeface="黑体" panose="02010609060101010101" pitchFamily="49" charset="-122"/>
              </a:rPr>
              <a:t>积</a:t>
            </a:r>
            <a:r>
              <a:rPr lang="zh-CN" altLang="en-US" sz="2800" dirty="0"/>
              <a:t>”“</a:t>
            </a:r>
            <a:r>
              <a:rPr lang="zh-CN" altLang="en-US" sz="2800" dirty="0">
                <a:solidFill>
                  <a:srgbClr val="008000"/>
                </a:solidFill>
              </a:rPr>
              <a:t>外</a:t>
            </a:r>
            <a:r>
              <a:rPr lang="zh-CN" altLang="en-US" sz="2800" dirty="0">
                <a:solidFill>
                  <a:srgbClr val="008000"/>
                </a:solidFill>
                <a:ea typeface="黑体" panose="02010609060101010101" pitchFamily="49" charset="-122"/>
              </a:rPr>
              <a:t>积</a:t>
            </a:r>
            <a:r>
              <a:rPr lang="zh-CN" altLang="en-US" sz="2800" dirty="0"/>
              <a:t>”</a:t>
            </a:r>
            <a:r>
              <a:rPr lang="en-US" altLang="zh-CN" sz="2800" dirty="0"/>
              <a:t>.</a:t>
            </a:r>
            <a:endParaRPr lang="en-US" altLang="zh-CN" sz="2800" dirty="0"/>
          </a:p>
        </p:txBody>
      </p:sp>
      <p:pic>
        <p:nvPicPr>
          <p:cNvPr id="5" name="图片 4" descr="图示&#10;&#10;描述已自动生成"/>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077215" y="1867983"/>
            <a:ext cx="2289266" cy="312203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520"/>
                                        </p:tgtEl>
                                        <p:attrNameLst>
                                          <p:attrName>style.visibility</p:attrName>
                                        </p:attrNameLst>
                                      </p:cBhvr>
                                      <p:to>
                                        <p:strVal val="visible"/>
                                      </p:to>
                                    </p:set>
                                    <p:animEffect transition="in" filter="wipe(left)">
                                      <p:cBhvr>
                                        <p:cTn id="7" dur="500"/>
                                        <p:tgtEl>
                                          <p:spTgt spid="195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521"/>
                                        </p:tgtEl>
                                        <p:attrNameLst>
                                          <p:attrName>style.visibility</p:attrName>
                                        </p:attrNameLst>
                                      </p:cBhvr>
                                      <p:to>
                                        <p:strVal val="visible"/>
                                      </p:to>
                                    </p:set>
                                    <p:animEffect transition="in" filter="wipe(left)">
                                      <p:cBhvr>
                                        <p:cTn id="12" dur="500"/>
                                        <p:tgtEl>
                                          <p:spTgt spid="19521"/>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9523"/>
                                        </p:tgtEl>
                                        <p:attrNameLst>
                                          <p:attrName>style.visibility</p:attrName>
                                        </p:attrNameLst>
                                      </p:cBhvr>
                                      <p:to>
                                        <p:strVal val="visible"/>
                                      </p:to>
                                    </p:set>
                                    <p:animEffect transition="in" filter="wipe(left)">
                                      <p:cBhvr>
                                        <p:cTn id="20" dur="500"/>
                                        <p:tgtEl>
                                          <p:spTgt spid="1952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9524"/>
                                        </p:tgtEl>
                                        <p:attrNameLst>
                                          <p:attrName>style.visibility</p:attrName>
                                        </p:attrNameLst>
                                      </p:cBhvr>
                                      <p:to>
                                        <p:strVal val="visible"/>
                                      </p:to>
                                    </p:set>
                                    <p:animEffect transition="in" filter="wipe(left)">
                                      <p:cBhvr>
                                        <p:cTn id="25" dur="500"/>
                                        <p:tgtEl>
                                          <p:spTgt spid="1952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left)">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9522"/>
                                        </p:tgtEl>
                                        <p:attrNameLst>
                                          <p:attrName>style.visibility</p:attrName>
                                        </p:attrNameLst>
                                      </p:cBhvr>
                                      <p:to>
                                        <p:strVal val="visible"/>
                                      </p:to>
                                    </p:set>
                                    <p:animEffect transition="in" filter="wipe(left)">
                                      <p:cBhvr>
                                        <p:cTn id="35" dur="500"/>
                                        <p:tgtEl>
                                          <p:spTgt spid="1952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9531"/>
                                        </p:tgtEl>
                                        <p:attrNameLst>
                                          <p:attrName>style.visibility</p:attrName>
                                        </p:attrNameLst>
                                      </p:cBhvr>
                                      <p:to>
                                        <p:strVal val="visible"/>
                                      </p:to>
                                    </p:set>
                                    <p:animEffect transition="in" filter="wipe(left)">
                                      <p:cBhvr>
                                        <p:cTn id="40" dur="500"/>
                                        <p:tgtEl>
                                          <p:spTgt spid="1953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9532"/>
                                        </p:tgtEl>
                                        <p:attrNameLst>
                                          <p:attrName>style.visibility</p:attrName>
                                        </p:attrNameLst>
                                      </p:cBhvr>
                                      <p:to>
                                        <p:strVal val="visible"/>
                                      </p:to>
                                    </p:set>
                                    <p:animEffect transition="in" filter="wipe(left)">
                                      <p:cBhvr>
                                        <p:cTn id="45" dur="500"/>
                                        <p:tgtEl>
                                          <p:spTgt spid="1953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9534"/>
                                        </p:tgtEl>
                                        <p:attrNameLst>
                                          <p:attrName>style.visibility</p:attrName>
                                        </p:attrNameLst>
                                      </p:cBhvr>
                                      <p:to>
                                        <p:strVal val="visible"/>
                                      </p:to>
                                    </p:set>
                                    <p:animEffect transition="in" filter="wipe(left)">
                                      <p:cBhvr>
                                        <p:cTn id="50" dur="500"/>
                                        <p:tgtEl>
                                          <p:spTgt spid="19534"/>
                                        </p:tgtEl>
                                      </p:cBhvr>
                                    </p:animEffect>
                                  </p:childTnLst>
                                </p:cTn>
                              </p:par>
                            </p:childTnLst>
                          </p:cTn>
                        </p:par>
                        <p:par>
                          <p:cTn id="51" fill="hold">
                            <p:stCondLst>
                              <p:cond delay="500"/>
                            </p:stCondLst>
                            <p:childTnLst>
                              <p:par>
                                <p:cTn id="52" presetID="22" presetClass="entr" presetSubtype="8" fill="hold" grpId="0" nodeType="afterEffect">
                                  <p:stCondLst>
                                    <p:cond delay="0"/>
                                  </p:stCondLst>
                                  <p:childTnLst>
                                    <p:set>
                                      <p:cBhvr>
                                        <p:cTn id="53" dur="1" fill="hold">
                                          <p:stCondLst>
                                            <p:cond delay="0"/>
                                          </p:stCondLst>
                                        </p:cTn>
                                        <p:tgtEl>
                                          <p:spTgt spid="19535">
                                            <p:txEl>
                                              <p:pRg st="4294967295" end="4294967295"/>
                                            </p:txEl>
                                          </p:spTgt>
                                        </p:tgtEl>
                                        <p:attrNameLst>
                                          <p:attrName>style.visibility</p:attrName>
                                        </p:attrNameLst>
                                      </p:cBhvr>
                                      <p:to>
                                        <p:strVal val="visible"/>
                                      </p:to>
                                    </p:set>
                                    <p:animEffect transition="in" filter="wipe(left)">
                                      <p:cBhvr>
                                        <p:cTn id="54" dur="500"/>
                                        <p:tgtEl>
                                          <p:spTgt spid="19535">
                                            <p:txEl>
                                              <p:pRg st="4294967295" end="4294967295"/>
                                            </p:txEl>
                                          </p:spTgt>
                                        </p:tgtEl>
                                      </p:cBhvr>
                                    </p:animEffect>
                                  </p:childTnLst>
                                </p:cTn>
                              </p:par>
                            </p:childTnLst>
                          </p:cTn>
                        </p:par>
                        <p:par>
                          <p:cTn id="55" fill="hold">
                            <p:stCondLst>
                              <p:cond delay="1000"/>
                            </p:stCondLst>
                            <p:childTnLst>
                              <p:par>
                                <p:cTn id="56" presetID="22" presetClass="entr" presetSubtype="8" fill="hold" grpId="0" nodeType="afterEffect">
                                  <p:stCondLst>
                                    <p:cond delay="0"/>
                                  </p:stCondLst>
                                  <p:childTnLst>
                                    <p:set>
                                      <p:cBhvr>
                                        <p:cTn id="57" dur="1" fill="hold">
                                          <p:stCondLst>
                                            <p:cond delay="0"/>
                                          </p:stCondLst>
                                        </p:cTn>
                                        <p:tgtEl>
                                          <p:spTgt spid="19535">
                                            <p:txEl>
                                              <p:pRg st="0" end="0"/>
                                            </p:txEl>
                                          </p:spTgt>
                                        </p:tgtEl>
                                        <p:attrNameLst>
                                          <p:attrName>style.visibility</p:attrName>
                                        </p:attrNameLst>
                                      </p:cBhvr>
                                      <p:to>
                                        <p:strVal val="visible"/>
                                      </p:to>
                                    </p:set>
                                    <p:animEffect transition="in" filter="wipe(left)">
                                      <p:cBhvr>
                                        <p:cTn id="58" dur="500"/>
                                        <p:tgtEl>
                                          <p:spTgt spid="19535">
                                            <p:txEl>
                                              <p:pRg st="0" end="0"/>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51"/>
                                        </p:tgtEl>
                                        <p:attrNameLst>
                                          <p:attrName>style.visibility</p:attrName>
                                        </p:attrNameLst>
                                      </p:cBhvr>
                                      <p:to>
                                        <p:strVal val="visible"/>
                                      </p:to>
                                    </p:set>
                                    <p:animEffect transition="in" filter="wipe(left)">
                                      <p:cBhvr>
                                        <p:cTn id="63"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19520" grpId="0" bldLvl="0" animBg="1"/>
      <p:bldP spid="19521" grpId="0" bldLvl="0" animBg="1"/>
      <p:bldP spid="19522" grpId="0" bldLvl="0" animBg="1"/>
      <p:bldP spid="19523" grpId="0" bldLvl="0" animBg="1"/>
      <p:bldP spid="19524" grpId="0" bldLvl="0" animBg="1"/>
      <p:bldP spid="19531" grpId="0" bldLvl="0" animBg="1"/>
      <p:bldP spid="19532" grpId="0" bldLvl="0" animBg="1"/>
      <p:bldP spid="19534" grpId="0" bldLvl="0" animBg="1"/>
      <p:bldP spid="19535" grpId="0" build="p"/>
      <p:bldP spid="51"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0" name="Text Box 30"/>
          <p:cNvSpPr txBox="1">
            <a:spLocks noChangeArrowheads="1"/>
          </p:cNvSpPr>
          <p:nvPr/>
        </p:nvSpPr>
        <p:spPr bwMode="auto">
          <a:xfrm>
            <a:off x="2055053" y="959133"/>
            <a:ext cx="2133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b="1" dirty="0">
                <a:solidFill>
                  <a:srgbClr val="04926A"/>
                </a:solidFill>
                <a:latin typeface="微软雅黑" panose="020B0503020204020204" charset="-122"/>
                <a:ea typeface="微软雅黑" panose="020B0503020204020204" charset="-122"/>
              </a:rPr>
              <a:t>2.  </a:t>
            </a:r>
            <a:r>
              <a:rPr kumimoji="1" lang="zh-CN" altLang="en-US" sz="2800" b="1" dirty="0">
                <a:solidFill>
                  <a:srgbClr val="04926A"/>
                </a:solidFill>
                <a:latin typeface="微软雅黑" panose="020B0503020204020204" charset="-122"/>
                <a:ea typeface="微软雅黑" panose="020B0503020204020204" charset="-122"/>
              </a:rPr>
              <a:t>性质</a:t>
            </a:r>
            <a:endParaRPr kumimoji="1" lang="zh-CN" altLang="en-US" sz="2800" b="1" dirty="0">
              <a:solidFill>
                <a:srgbClr val="04926A"/>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20511" name="Text Box 31"/>
              <p:cNvSpPr txBox="1">
                <a:spLocks noChangeArrowheads="1"/>
              </p:cNvSpPr>
              <p:nvPr/>
            </p:nvSpPr>
            <p:spPr bwMode="auto">
              <a:xfrm>
                <a:off x="2055053" y="1524000"/>
                <a:ext cx="4038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dirty="0">
                    <a:solidFill>
                      <a:srgbClr val="04926A"/>
                    </a:solidFill>
                    <a:latin typeface="Times New Roman" panose="02020603050405020304" pitchFamily="18" charset="0"/>
                    <a:cs typeface="Times New Roman" panose="02020603050405020304" pitchFamily="18" charset="0"/>
                  </a:rPr>
                  <a:t>(1)</a:t>
                </a:r>
                <a14:m>
                  <m:oMath xmlns:m="http://schemas.openxmlformats.org/officeDocument/2006/math">
                    <m:r>
                      <a:rPr lang="en-US" altLang="zh-CN" sz="2800" b="0" i="0" smtClean="0">
                        <a:solidFill>
                          <a:srgbClr val="04926A"/>
                        </a:solidFill>
                        <a:latin typeface="Cambria Math" panose="02040503050406030204" charset="0"/>
                      </a:rPr>
                      <m:t> </m:t>
                    </m:r>
                    <m:r>
                      <a:rPr lang="zh-CN" altLang="en-US" sz="2800" b="1" i="1" smtClean="0">
                        <a:solidFill>
                          <a:srgbClr val="04926A"/>
                        </a:solidFill>
                        <a:latin typeface="Cambria Math" panose="02040503050406030204" charset="0"/>
                      </a:rPr>
                      <m:t>𝒂</m:t>
                    </m:r>
                    <m:r>
                      <a:rPr lang="en-US" altLang="zh-CN" sz="2800" i="1">
                        <a:solidFill>
                          <a:srgbClr val="04926A"/>
                        </a:solidFill>
                        <a:latin typeface="Cambria Math" panose="02040503050406030204" charset="0"/>
                        <a:ea typeface="Cambria Math" panose="02040503050406030204" charset="0"/>
                      </a:rPr>
                      <m:t>×</m:t>
                    </m:r>
                    <m:r>
                      <a:rPr lang="zh-CN" altLang="en-US" sz="2800" b="1" i="1">
                        <a:solidFill>
                          <a:srgbClr val="04926A"/>
                        </a:solidFill>
                        <a:latin typeface="Cambria Math" panose="02040503050406030204" charset="0"/>
                      </a:rPr>
                      <m:t>𝒂</m:t>
                    </m:r>
                    <m:r>
                      <a:rPr lang="en-US" altLang="zh-CN" sz="2800" i="1">
                        <a:solidFill>
                          <a:srgbClr val="04926A"/>
                        </a:solidFill>
                        <a:latin typeface="Cambria Math" panose="02040503050406030204" charset="0"/>
                      </a:rPr>
                      <m:t>=</m:t>
                    </m:r>
                    <m:r>
                      <a:rPr lang="en-US" altLang="zh-CN" sz="2800" b="1" i="1" smtClean="0">
                        <a:solidFill>
                          <a:srgbClr val="04926A"/>
                        </a:solidFill>
                        <a:latin typeface="Cambria Math" panose="02040503050406030204" charset="0"/>
                      </a:rPr>
                      <m:t>𝟎</m:t>
                    </m:r>
                    <m:r>
                      <a:rPr lang="en-US" altLang="zh-CN" sz="2800" b="0" i="1" smtClean="0">
                        <a:solidFill>
                          <a:srgbClr val="04926A"/>
                        </a:solidFill>
                        <a:latin typeface="Cambria Math" panose="02040503050406030204" charset="0"/>
                      </a:rPr>
                      <m:t>;</m:t>
                    </m:r>
                  </m:oMath>
                </a14:m>
                <a:endParaRPr lang="zh-CN" altLang="en-US" sz="2800" dirty="0">
                  <a:solidFill>
                    <a:srgbClr val="000000"/>
                  </a:solidFill>
                  <a:latin typeface="Cambria Math" panose="02040503050406030204" charset="0"/>
                  <a:sym typeface="Symbol" panose="05050102010706020507" pitchFamily="18" charset="2"/>
                </a:endParaRPr>
              </a:p>
            </p:txBody>
          </p:sp>
        </mc:Choice>
        <mc:Fallback>
          <p:sp>
            <p:nvSpPr>
              <p:cNvPr id="20511" name="Text Box 31"/>
              <p:cNvSpPr txBox="1">
                <a:spLocks noRot="1" noChangeAspect="1" noMove="1" noResize="1" noEditPoints="1" noAdjustHandles="1" noChangeArrowheads="1" noChangeShapeType="1" noTextEdit="1"/>
              </p:cNvSpPr>
              <p:nvPr/>
            </p:nvSpPr>
            <p:spPr bwMode="auto">
              <a:xfrm>
                <a:off x="2055053" y="1524000"/>
                <a:ext cx="4038600" cy="523220"/>
              </a:xfrm>
              <a:prstGeom prst="rect">
                <a:avLst/>
              </a:prstGeom>
              <a:blipFill rotWithShape="1">
                <a:blip r:embed="rId1"/>
                <a:stretch>
                  <a:fillRect l="-5" r="5" b="11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512" name="Text Box 32"/>
              <p:cNvSpPr txBox="1">
                <a:spLocks noChangeArrowheads="1"/>
              </p:cNvSpPr>
              <p:nvPr/>
            </p:nvSpPr>
            <p:spPr bwMode="auto">
              <a:xfrm>
                <a:off x="2055053" y="2147888"/>
                <a:ext cx="4038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dirty="0">
                    <a:solidFill>
                      <a:srgbClr val="04926A"/>
                    </a:solidFill>
                    <a:latin typeface="Times New Roman" panose="02020603050405020304" pitchFamily="18" charset="0"/>
                    <a:cs typeface="Times New Roman" panose="02020603050405020304" pitchFamily="18" charset="0"/>
                  </a:rPr>
                  <a:t>(2)</a:t>
                </a:r>
                <a14:m>
                  <m:oMath xmlns:m="http://schemas.openxmlformats.org/officeDocument/2006/math">
                    <m:r>
                      <a:rPr lang="en-US" altLang="zh-CN" sz="2800" b="0" i="0" smtClean="0">
                        <a:solidFill>
                          <a:srgbClr val="04926A"/>
                        </a:solidFill>
                        <a:latin typeface="Cambria Math" panose="02040503050406030204" charset="0"/>
                      </a:rPr>
                      <m:t> </m:t>
                    </m:r>
                    <m:r>
                      <a:rPr lang="zh-CN" altLang="en-US" sz="2800" b="1" i="1" smtClean="0">
                        <a:solidFill>
                          <a:srgbClr val="04926A"/>
                        </a:solidFill>
                        <a:latin typeface="Cambria Math" panose="02040503050406030204" charset="0"/>
                      </a:rPr>
                      <m:t>𝒂</m:t>
                    </m:r>
                  </m:oMath>
                </a14:m>
                <a:r>
                  <a:rPr lang="en-US" altLang="zh-CN" sz="2800" i="1" dirty="0" err="1">
                    <a:solidFill>
                      <a:srgbClr val="04926A"/>
                    </a:solidFill>
                    <a:latin typeface="Cambria Math" panose="02040503050406030204" charset="0"/>
                    <a:sym typeface="Symbol" panose="05050102010706020507" pitchFamily="18" charset="2"/>
                  </a:rPr>
                  <a:t>∥</a:t>
                </a:r>
                <a14:m>
                  <m:oMath xmlns:m="http://schemas.openxmlformats.org/officeDocument/2006/math">
                    <m:r>
                      <a:rPr lang="en-US" altLang="zh-CN" sz="2800" b="0" i="1" smtClean="0">
                        <a:solidFill>
                          <a:srgbClr val="04926A"/>
                        </a:solidFill>
                        <a:latin typeface="Cambria Math" panose="02040503050406030204" charset="0"/>
                      </a:rPr>
                      <m:t> </m:t>
                    </m:r>
                    <m:r>
                      <a:rPr lang="zh-CN" altLang="en-US" sz="2800" b="1" i="1" smtClean="0">
                        <a:solidFill>
                          <a:srgbClr val="04926A"/>
                        </a:solidFill>
                        <a:latin typeface="Cambria Math" panose="02040503050406030204" charset="0"/>
                      </a:rPr>
                      <m:t>𝒃</m:t>
                    </m:r>
                    <m:r>
                      <a:rPr lang="en-US" altLang="zh-CN" sz="2800" i="1">
                        <a:solidFill>
                          <a:srgbClr val="04926A"/>
                        </a:solidFill>
                        <a:latin typeface="Cambria Math" panose="02040503050406030204" charset="0"/>
                        <a:ea typeface="Cambria Math" panose="02040503050406030204" charset="0"/>
                      </a:rPr>
                      <m:t>⇔</m:t>
                    </m:r>
                    <m:r>
                      <a:rPr lang="zh-CN" altLang="en-US" sz="2800" b="1" i="1">
                        <a:solidFill>
                          <a:srgbClr val="04926A"/>
                        </a:solidFill>
                        <a:latin typeface="Cambria Math" panose="02040503050406030204" charset="0"/>
                      </a:rPr>
                      <m:t>𝒂</m:t>
                    </m:r>
                    <m:r>
                      <a:rPr lang="en-US" altLang="zh-CN" sz="2800" i="1">
                        <a:solidFill>
                          <a:srgbClr val="04926A"/>
                        </a:solidFill>
                        <a:latin typeface="Cambria Math" panose="02040503050406030204" charset="0"/>
                        <a:ea typeface="Cambria Math" panose="02040503050406030204" charset="0"/>
                      </a:rPr>
                      <m:t>×</m:t>
                    </m:r>
                    <m:r>
                      <a:rPr lang="zh-CN" altLang="en-US" sz="2800" b="1" i="1">
                        <a:solidFill>
                          <a:srgbClr val="04926A"/>
                        </a:solidFill>
                        <a:latin typeface="Cambria Math" panose="02040503050406030204" charset="0"/>
                      </a:rPr>
                      <m:t>𝒃</m:t>
                    </m:r>
                    <m:r>
                      <a:rPr lang="en-US" altLang="zh-CN" sz="2800" i="1">
                        <a:solidFill>
                          <a:srgbClr val="04926A"/>
                        </a:solidFill>
                        <a:latin typeface="Cambria Math" panose="02040503050406030204" charset="0"/>
                      </a:rPr>
                      <m:t>=</m:t>
                    </m:r>
                    <m:r>
                      <a:rPr lang="en-US" altLang="zh-CN" sz="2800" b="1" i="1" smtClean="0">
                        <a:solidFill>
                          <a:srgbClr val="04926A"/>
                        </a:solidFill>
                        <a:latin typeface="Cambria Math" panose="02040503050406030204" charset="0"/>
                      </a:rPr>
                      <m:t>𝟎</m:t>
                    </m:r>
                    <m:r>
                      <a:rPr lang="en-US" altLang="zh-CN" sz="2800" b="0" i="1" smtClean="0">
                        <a:solidFill>
                          <a:srgbClr val="4A7BA8"/>
                        </a:solidFill>
                        <a:latin typeface="Cambria Math" panose="02040503050406030204" charset="0"/>
                      </a:rPr>
                      <m:t>.</m:t>
                    </m:r>
                  </m:oMath>
                </a14:m>
                <a:endParaRPr lang="zh-CN" altLang="en-US" sz="2800" dirty="0">
                  <a:solidFill>
                    <a:srgbClr val="000000"/>
                  </a:solidFill>
                  <a:latin typeface="Cambria Math" panose="02040503050406030204" charset="0"/>
                  <a:sym typeface="Symbol" panose="05050102010706020507" pitchFamily="18" charset="2"/>
                </a:endParaRPr>
              </a:p>
            </p:txBody>
          </p:sp>
        </mc:Choice>
        <mc:Fallback>
          <p:sp>
            <p:nvSpPr>
              <p:cNvPr id="20512" name="Text Box 32"/>
              <p:cNvSpPr txBox="1">
                <a:spLocks noRot="1" noChangeAspect="1" noMove="1" noResize="1" noEditPoints="1" noAdjustHandles="1" noChangeArrowheads="1" noChangeShapeType="1" noTextEdit="1"/>
              </p:cNvSpPr>
              <p:nvPr/>
            </p:nvSpPr>
            <p:spPr bwMode="auto">
              <a:xfrm>
                <a:off x="2055053" y="2147888"/>
                <a:ext cx="4038600" cy="523220"/>
              </a:xfrm>
              <a:prstGeom prst="rect">
                <a:avLst/>
              </a:prstGeom>
              <a:blipFill rotWithShape="1">
                <a:blip r:embed="rId2"/>
                <a:stretch>
                  <a:fillRect l="-5" t="-61" r="5" b="5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20513" name="Text Box 33"/>
          <p:cNvSpPr txBox="1">
            <a:spLocks noChangeArrowheads="1"/>
          </p:cNvSpPr>
          <p:nvPr/>
        </p:nvSpPr>
        <p:spPr bwMode="auto">
          <a:xfrm>
            <a:off x="2055053" y="2829580"/>
            <a:ext cx="226929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800" b="1" dirty="0">
                <a:solidFill>
                  <a:srgbClr val="04926A"/>
                </a:solidFill>
                <a:latin typeface="微软雅黑" panose="020B0503020204020204" charset="-122"/>
                <a:ea typeface="微软雅黑" panose="020B0503020204020204" charset="-122"/>
              </a:rPr>
              <a:t>3.  </a:t>
            </a:r>
            <a:r>
              <a:rPr kumimoji="1" lang="zh-CN" altLang="en-US" sz="2800" b="1" dirty="0">
                <a:solidFill>
                  <a:srgbClr val="04926A"/>
                </a:solidFill>
                <a:latin typeface="微软雅黑" panose="020B0503020204020204" charset="-122"/>
                <a:ea typeface="微软雅黑" panose="020B0503020204020204" charset="-122"/>
              </a:rPr>
              <a:t>运算规律</a:t>
            </a:r>
            <a:endParaRPr kumimoji="1" lang="zh-CN" altLang="en-US" sz="2800" b="1" dirty="0">
              <a:solidFill>
                <a:srgbClr val="04926A"/>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20514" name="Text Box 34"/>
              <p:cNvSpPr txBox="1">
                <a:spLocks noChangeArrowheads="1"/>
              </p:cNvSpPr>
              <p:nvPr/>
            </p:nvSpPr>
            <p:spPr bwMode="auto">
              <a:xfrm>
                <a:off x="2055053" y="3505200"/>
                <a:ext cx="495534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dirty="0">
                    <a:solidFill>
                      <a:srgbClr val="04926A"/>
                    </a:solidFill>
                    <a:latin typeface="Times New Roman" panose="02020603050405020304" pitchFamily="18" charset="0"/>
                    <a:cs typeface="Times New Roman" panose="02020603050405020304" pitchFamily="18" charset="0"/>
                  </a:rPr>
                  <a:t>(1) </a:t>
                </a:r>
                <a:r>
                  <a:rPr lang="zh-CN" altLang="en-US" sz="2800" dirty="0">
                    <a:solidFill>
                      <a:srgbClr val="04926A"/>
                    </a:solidFill>
                    <a:latin typeface="Times New Roman" panose="02020603050405020304" pitchFamily="18" charset="0"/>
                    <a:cs typeface="Times New Roman" panose="02020603050405020304" pitchFamily="18" charset="0"/>
                  </a:rPr>
                  <a:t>负交换律   </a:t>
                </a:r>
                <a14:m>
                  <m:oMath xmlns:m="http://schemas.openxmlformats.org/officeDocument/2006/math">
                    <m:r>
                      <a:rPr lang="zh-CN" altLang="en-US" sz="2800" b="1" i="1" smtClean="0">
                        <a:solidFill>
                          <a:srgbClr val="04926A"/>
                        </a:solidFill>
                        <a:latin typeface="Cambria Math" panose="02040503050406030204" charset="0"/>
                      </a:rPr>
                      <m:t>𝒂</m:t>
                    </m:r>
                    <m:r>
                      <a:rPr lang="en-US" altLang="zh-CN" sz="2800" i="1">
                        <a:solidFill>
                          <a:srgbClr val="04926A"/>
                        </a:solidFill>
                        <a:latin typeface="Cambria Math" panose="02040503050406030204" charset="0"/>
                        <a:ea typeface="Cambria Math" panose="02040503050406030204" charset="0"/>
                      </a:rPr>
                      <m:t>×</m:t>
                    </m:r>
                    <m:r>
                      <a:rPr lang="zh-CN" altLang="en-US" sz="2800" b="1" i="1">
                        <a:solidFill>
                          <a:srgbClr val="04926A"/>
                        </a:solidFill>
                        <a:latin typeface="Cambria Math" panose="02040503050406030204" charset="0"/>
                      </a:rPr>
                      <m:t>𝒃</m:t>
                    </m:r>
                    <m:r>
                      <a:rPr lang="en-US" altLang="zh-CN" sz="2800" i="1">
                        <a:solidFill>
                          <a:srgbClr val="04926A"/>
                        </a:solidFill>
                        <a:latin typeface="Cambria Math" panose="02040503050406030204" charset="0"/>
                      </a:rPr>
                      <m:t>=</m:t>
                    </m:r>
                    <m:r>
                      <a:rPr lang="en-US" altLang="zh-CN" sz="2800" b="0" i="1" smtClean="0">
                        <a:solidFill>
                          <a:srgbClr val="04926A"/>
                        </a:solidFill>
                        <a:latin typeface="Cambria Math" panose="02040503050406030204" charset="0"/>
                      </a:rPr>
                      <m:t>−</m:t>
                    </m:r>
                    <m:r>
                      <a:rPr lang="en-US" altLang="zh-CN" sz="2800" b="1" i="1" smtClean="0">
                        <a:solidFill>
                          <a:srgbClr val="04926A"/>
                        </a:solidFill>
                        <a:latin typeface="Cambria Math" panose="02040503050406030204" charset="0"/>
                      </a:rPr>
                      <m:t>𝒃</m:t>
                    </m:r>
                    <m:r>
                      <a:rPr lang="en-US" altLang="zh-CN" sz="2800" i="1">
                        <a:solidFill>
                          <a:srgbClr val="04926A"/>
                        </a:solidFill>
                        <a:latin typeface="Cambria Math" panose="02040503050406030204" charset="0"/>
                        <a:ea typeface="Cambria Math" panose="02040503050406030204" charset="0"/>
                      </a:rPr>
                      <m:t>×</m:t>
                    </m:r>
                    <m:r>
                      <a:rPr lang="en-US" altLang="zh-CN" sz="2800" b="1" i="1" smtClean="0">
                        <a:solidFill>
                          <a:srgbClr val="04926A"/>
                        </a:solidFill>
                        <a:latin typeface="Cambria Math" panose="02040503050406030204" charset="0"/>
                      </a:rPr>
                      <m:t>𝒂</m:t>
                    </m:r>
                    <m:r>
                      <a:rPr lang="en-US" altLang="zh-CN" sz="2800" b="0" i="1" smtClean="0">
                        <a:solidFill>
                          <a:srgbClr val="04926A"/>
                        </a:solidFill>
                        <a:latin typeface="Cambria Math" panose="02040503050406030204" charset="0"/>
                      </a:rPr>
                      <m:t>;</m:t>
                    </m:r>
                  </m:oMath>
                </a14:m>
                <a:endParaRPr lang="zh-CN" altLang="en-US" sz="2800" dirty="0">
                  <a:solidFill>
                    <a:srgbClr val="04926A"/>
                  </a:solidFill>
                  <a:latin typeface="Cambria Math" panose="02040503050406030204" charset="0"/>
                </a:endParaRPr>
              </a:p>
            </p:txBody>
          </p:sp>
        </mc:Choice>
        <mc:Fallback>
          <p:sp>
            <p:nvSpPr>
              <p:cNvPr id="20514" name="Text Box 34"/>
              <p:cNvSpPr txBox="1">
                <a:spLocks noRot="1" noChangeAspect="1" noMove="1" noResize="1" noEditPoints="1" noAdjustHandles="1" noChangeArrowheads="1" noChangeShapeType="1" noTextEdit="1"/>
              </p:cNvSpPr>
              <p:nvPr/>
            </p:nvSpPr>
            <p:spPr bwMode="auto">
              <a:xfrm>
                <a:off x="2055053" y="3505200"/>
                <a:ext cx="4955347" cy="523220"/>
              </a:xfrm>
              <a:prstGeom prst="rect">
                <a:avLst/>
              </a:prstGeom>
              <a:blipFill rotWithShape="1">
                <a:blip r:embed="rId3"/>
                <a:stretch>
                  <a:fillRect l="-4" b="11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515" name="Text Box 35"/>
              <p:cNvSpPr txBox="1">
                <a:spLocks noChangeArrowheads="1"/>
              </p:cNvSpPr>
              <p:nvPr/>
            </p:nvSpPr>
            <p:spPr bwMode="auto">
              <a:xfrm>
                <a:off x="2055053" y="4205288"/>
                <a:ext cx="808189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dirty="0">
                    <a:solidFill>
                      <a:srgbClr val="04926A"/>
                    </a:solidFill>
                    <a:latin typeface="Times New Roman" panose="02020603050405020304" pitchFamily="18" charset="0"/>
                    <a:cs typeface="Times New Roman" panose="02020603050405020304" pitchFamily="18" charset="0"/>
                  </a:rPr>
                  <a:t>(2) </a:t>
                </a:r>
                <a:r>
                  <a:rPr lang="zh-CN" altLang="en-US" sz="2800" dirty="0">
                    <a:solidFill>
                      <a:srgbClr val="04926A"/>
                    </a:solidFill>
                    <a:latin typeface="Times New Roman" panose="02020603050405020304" pitchFamily="18" charset="0"/>
                    <a:cs typeface="Times New Roman" panose="02020603050405020304" pitchFamily="18" charset="0"/>
                  </a:rPr>
                  <a:t>结合律       </a:t>
                </a:r>
                <a14:m>
                  <m:oMath xmlns:m="http://schemas.openxmlformats.org/officeDocument/2006/math">
                    <m:r>
                      <a:rPr kumimoji="1" lang="en-US" altLang="zh-CN" sz="2800" i="1" dirty="0" smtClean="0">
                        <a:solidFill>
                          <a:srgbClr val="04926A"/>
                        </a:solidFill>
                        <a:latin typeface="Cambria Math" panose="02040503050406030204" charset="0"/>
                        <a:ea typeface="黑体" panose="02010609060101010101" pitchFamily="49" charset="-122"/>
                      </a:rPr>
                      <m:t>𝜆</m:t>
                    </m:r>
                    <m:d>
                      <m:dPr>
                        <m:ctrlPr>
                          <a:rPr kumimoji="1" lang="en-US" altLang="zh-CN" sz="2800" b="1" i="1" dirty="0" smtClean="0">
                            <a:solidFill>
                              <a:srgbClr val="04926A"/>
                            </a:solidFill>
                            <a:latin typeface="Cambria Math" panose="02040503050406030204" charset="0"/>
                            <a:ea typeface="黑体" panose="02010609060101010101" pitchFamily="49" charset="-122"/>
                          </a:rPr>
                        </m:ctrlPr>
                      </m:dPr>
                      <m:e>
                        <m:r>
                          <a:rPr kumimoji="1" lang="en-US" altLang="zh-CN" sz="2800" b="1" i="1" dirty="0" smtClean="0">
                            <a:solidFill>
                              <a:srgbClr val="04926A"/>
                            </a:solidFill>
                            <a:latin typeface="Cambria Math" panose="02040503050406030204" charset="0"/>
                            <a:ea typeface="黑体" panose="02010609060101010101" pitchFamily="49" charset="-122"/>
                          </a:rPr>
                          <m:t>𝒂</m:t>
                        </m:r>
                        <m:r>
                          <a:rPr lang="en-US" altLang="zh-CN" sz="2800" b="1" i="1">
                            <a:solidFill>
                              <a:srgbClr val="04926A"/>
                            </a:solidFill>
                            <a:latin typeface="Cambria Math" panose="02040503050406030204" charset="0"/>
                            <a:ea typeface="Cambria Math" panose="02040503050406030204" charset="0"/>
                          </a:rPr>
                          <m:t>×</m:t>
                        </m:r>
                        <m:r>
                          <a:rPr lang="zh-CN" altLang="en-US" sz="2800" b="1" i="1">
                            <a:solidFill>
                              <a:srgbClr val="04926A"/>
                            </a:solidFill>
                            <a:latin typeface="Cambria Math" panose="02040503050406030204" charset="0"/>
                          </a:rPr>
                          <m:t>𝒃</m:t>
                        </m:r>
                      </m:e>
                    </m:d>
                    <m:r>
                      <a:rPr lang="en-US" altLang="zh-CN" sz="2800" b="0" i="1" smtClean="0">
                        <a:solidFill>
                          <a:srgbClr val="04926A"/>
                        </a:solidFill>
                        <a:latin typeface="Cambria Math" panose="02040503050406030204" charset="0"/>
                      </a:rPr>
                      <m:t>=</m:t>
                    </m:r>
                    <m:d>
                      <m:dPr>
                        <m:ctrlPr>
                          <a:rPr kumimoji="1" lang="en-US" altLang="zh-CN" sz="2800" b="0" i="1" dirty="0" smtClean="0">
                            <a:solidFill>
                              <a:srgbClr val="04926A"/>
                            </a:solidFill>
                            <a:latin typeface="Cambria Math" panose="02040503050406030204" charset="0"/>
                            <a:ea typeface="黑体" panose="02010609060101010101" pitchFamily="49" charset="-122"/>
                          </a:rPr>
                        </m:ctrlPr>
                      </m:dPr>
                      <m:e>
                        <m:r>
                          <a:rPr kumimoji="1" lang="en-US" altLang="zh-CN" sz="2800" i="1" dirty="0">
                            <a:solidFill>
                              <a:srgbClr val="04926A"/>
                            </a:solidFill>
                            <a:latin typeface="Cambria Math" panose="02040503050406030204" charset="0"/>
                            <a:ea typeface="黑体" panose="02010609060101010101" pitchFamily="49" charset="-122"/>
                          </a:rPr>
                          <m:t>𝜆</m:t>
                        </m:r>
                        <m:r>
                          <a:rPr lang="zh-CN" altLang="en-US" sz="2800" b="1" i="1">
                            <a:solidFill>
                              <a:srgbClr val="04926A"/>
                            </a:solidFill>
                            <a:latin typeface="Cambria Math" panose="02040503050406030204" charset="0"/>
                          </a:rPr>
                          <m:t>𝒂</m:t>
                        </m:r>
                      </m:e>
                    </m:d>
                    <m:r>
                      <a:rPr lang="en-US" altLang="zh-CN" sz="2800" i="1">
                        <a:solidFill>
                          <a:srgbClr val="04926A"/>
                        </a:solidFill>
                        <a:latin typeface="Cambria Math" panose="02040503050406030204" charset="0"/>
                        <a:ea typeface="Cambria Math" panose="02040503050406030204" charset="0"/>
                      </a:rPr>
                      <m:t>×</m:t>
                    </m:r>
                    <m:r>
                      <a:rPr lang="zh-CN" altLang="en-US" sz="2800" b="1" i="1">
                        <a:solidFill>
                          <a:srgbClr val="04926A"/>
                        </a:solidFill>
                        <a:latin typeface="Cambria Math" panose="02040503050406030204" charset="0"/>
                      </a:rPr>
                      <m:t>𝒃</m:t>
                    </m:r>
                    <m:r>
                      <a:rPr lang="en-US" altLang="zh-CN" sz="2800" b="0" i="1" smtClean="0">
                        <a:solidFill>
                          <a:srgbClr val="04926A"/>
                        </a:solidFill>
                        <a:latin typeface="Cambria Math" panose="02040503050406030204" charset="0"/>
                      </a:rPr>
                      <m:t>=</m:t>
                    </m:r>
                    <m:r>
                      <a:rPr lang="en-US" altLang="zh-CN" sz="2800" b="1" i="1" smtClean="0">
                        <a:solidFill>
                          <a:srgbClr val="04926A"/>
                        </a:solidFill>
                        <a:latin typeface="Cambria Math" panose="02040503050406030204" charset="0"/>
                      </a:rPr>
                      <m:t>𝒂</m:t>
                    </m:r>
                    <m:r>
                      <a:rPr lang="en-US" altLang="zh-CN" sz="2800" i="1">
                        <a:solidFill>
                          <a:srgbClr val="04926A"/>
                        </a:solidFill>
                        <a:latin typeface="Cambria Math" panose="02040503050406030204" charset="0"/>
                        <a:ea typeface="Cambria Math" panose="02040503050406030204" charset="0"/>
                      </a:rPr>
                      <m:t>×</m:t>
                    </m:r>
                    <m:d>
                      <m:dPr>
                        <m:ctrlPr>
                          <a:rPr kumimoji="1" lang="en-US" altLang="zh-CN" sz="2800" b="0" i="1" dirty="0" smtClean="0">
                            <a:solidFill>
                              <a:srgbClr val="04926A"/>
                            </a:solidFill>
                            <a:latin typeface="Cambria Math" panose="02040503050406030204" charset="0"/>
                            <a:ea typeface="Cambria Math" panose="02040503050406030204" charset="0"/>
                          </a:rPr>
                        </m:ctrlPr>
                      </m:dPr>
                      <m:e>
                        <m:r>
                          <a:rPr kumimoji="1" lang="en-US" altLang="zh-CN" sz="2800" i="1" dirty="0">
                            <a:solidFill>
                              <a:srgbClr val="04926A"/>
                            </a:solidFill>
                            <a:latin typeface="Cambria Math" panose="02040503050406030204" charset="0"/>
                            <a:ea typeface="黑体" panose="02010609060101010101" pitchFamily="49" charset="-122"/>
                          </a:rPr>
                          <m:t>𝜆</m:t>
                        </m:r>
                        <m:r>
                          <a:rPr lang="zh-CN" altLang="en-US" sz="2800" b="1" i="1">
                            <a:solidFill>
                              <a:srgbClr val="04926A"/>
                            </a:solidFill>
                            <a:latin typeface="Cambria Math" panose="02040503050406030204" charset="0"/>
                          </a:rPr>
                          <m:t>𝒃</m:t>
                        </m:r>
                      </m:e>
                    </m:d>
                    <m:r>
                      <a:rPr lang="en-US" altLang="zh-CN" sz="2800" b="0" i="1" smtClean="0">
                        <a:solidFill>
                          <a:srgbClr val="04926A"/>
                        </a:solidFill>
                        <a:latin typeface="Cambria Math" panose="02040503050406030204" charset="0"/>
                      </a:rPr>
                      <m:t>;</m:t>
                    </m:r>
                  </m:oMath>
                </a14:m>
                <a:endParaRPr lang="zh-CN" altLang="en-US" sz="2800" dirty="0">
                  <a:solidFill>
                    <a:srgbClr val="04926A"/>
                  </a:solidFill>
                  <a:latin typeface="Cambria Math" panose="02040503050406030204" charset="0"/>
                </a:endParaRPr>
              </a:p>
            </p:txBody>
          </p:sp>
        </mc:Choice>
        <mc:Fallback>
          <p:sp>
            <p:nvSpPr>
              <p:cNvPr id="20515" name="Text Box 35"/>
              <p:cNvSpPr txBox="1">
                <a:spLocks noRot="1" noChangeAspect="1" noMove="1" noResize="1" noEditPoints="1" noAdjustHandles="1" noChangeArrowheads="1" noChangeShapeType="1" noTextEdit="1"/>
              </p:cNvSpPr>
              <p:nvPr/>
            </p:nvSpPr>
            <p:spPr bwMode="auto">
              <a:xfrm>
                <a:off x="2055053" y="4205288"/>
                <a:ext cx="8081894" cy="523220"/>
              </a:xfrm>
              <a:prstGeom prst="rect">
                <a:avLst/>
              </a:prstGeom>
              <a:blipFill rotWithShape="1">
                <a:blip r:embed="rId4"/>
                <a:stretch>
                  <a:fillRect l="-2" t="-61" r="5" b="5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516" name="Text Box 36"/>
              <p:cNvSpPr txBox="1">
                <a:spLocks noChangeArrowheads="1"/>
              </p:cNvSpPr>
              <p:nvPr/>
            </p:nvSpPr>
            <p:spPr bwMode="auto">
              <a:xfrm>
                <a:off x="2055053" y="4891088"/>
                <a:ext cx="682224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dirty="0">
                    <a:solidFill>
                      <a:srgbClr val="04926A"/>
                    </a:solidFill>
                    <a:latin typeface="Times New Roman" panose="02020603050405020304" pitchFamily="18" charset="0"/>
                    <a:cs typeface="Times New Roman" panose="02020603050405020304" pitchFamily="18" charset="0"/>
                  </a:rPr>
                  <a:t>(3) </a:t>
                </a:r>
                <a:r>
                  <a:rPr lang="zh-CN" altLang="en-US" sz="2800" dirty="0">
                    <a:solidFill>
                      <a:srgbClr val="04926A"/>
                    </a:solidFill>
                    <a:latin typeface="Times New Roman" panose="02020603050405020304" pitchFamily="18" charset="0"/>
                    <a:cs typeface="Times New Roman" panose="02020603050405020304" pitchFamily="18" charset="0"/>
                  </a:rPr>
                  <a:t>分配律       </a:t>
                </a:r>
                <a14:m>
                  <m:oMath xmlns:m="http://schemas.openxmlformats.org/officeDocument/2006/math">
                    <m:d>
                      <m:dPr>
                        <m:ctrlPr>
                          <a:rPr kumimoji="1" lang="en-US" altLang="zh-CN" sz="2800" i="1" dirty="0" smtClean="0">
                            <a:solidFill>
                              <a:srgbClr val="04926A"/>
                            </a:solidFill>
                            <a:latin typeface="Cambria Math" panose="02040503050406030204" charset="0"/>
                            <a:ea typeface="黑体" panose="02010609060101010101" pitchFamily="49" charset="-122"/>
                          </a:rPr>
                        </m:ctrlPr>
                      </m:dPr>
                      <m:e>
                        <m:r>
                          <a:rPr kumimoji="1" lang="en-US" altLang="zh-CN" sz="2800" b="1" i="1" dirty="0">
                            <a:solidFill>
                              <a:srgbClr val="04926A"/>
                            </a:solidFill>
                            <a:latin typeface="Cambria Math" panose="02040503050406030204" charset="0"/>
                            <a:ea typeface="黑体" panose="02010609060101010101" pitchFamily="49" charset="-122"/>
                          </a:rPr>
                          <m:t>𝒂</m:t>
                        </m:r>
                        <m:r>
                          <a:rPr lang="en-US" altLang="zh-CN" sz="2800" b="0" i="1" smtClean="0">
                            <a:solidFill>
                              <a:srgbClr val="04926A"/>
                            </a:solidFill>
                            <a:latin typeface="Cambria Math" panose="02040503050406030204" charset="0"/>
                            <a:ea typeface="Cambria Math" panose="02040503050406030204" charset="0"/>
                          </a:rPr>
                          <m:t>+</m:t>
                        </m:r>
                        <m:r>
                          <a:rPr lang="zh-CN" altLang="en-US" sz="2800" b="1" i="1">
                            <a:solidFill>
                              <a:srgbClr val="04926A"/>
                            </a:solidFill>
                            <a:latin typeface="Cambria Math" panose="02040503050406030204" charset="0"/>
                          </a:rPr>
                          <m:t>𝒃</m:t>
                        </m:r>
                      </m:e>
                    </m:d>
                    <m:r>
                      <a:rPr lang="en-US" altLang="zh-CN" sz="2800" i="1">
                        <a:solidFill>
                          <a:srgbClr val="04926A"/>
                        </a:solidFill>
                        <a:latin typeface="Cambria Math" panose="02040503050406030204" charset="0"/>
                        <a:ea typeface="Cambria Math" panose="02040503050406030204" charset="0"/>
                      </a:rPr>
                      <m:t>×</m:t>
                    </m:r>
                    <m:r>
                      <a:rPr lang="en-US" altLang="zh-CN" sz="2800" b="1" i="1" smtClean="0">
                        <a:solidFill>
                          <a:srgbClr val="04926A"/>
                        </a:solidFill>
                        <a:latin typeface="Cambria Math" panose="02040503050406030204" charset="0"/>
                        <a:ea typeface="Cambria Math" panose="02040503050406030204" charset="0"/>
                      </a:rPr>
                      <m:t>𝒄</m:t>
                    </m:r>
                    <m:r>
                      <a:rPr lang="en-US" altLang="zh-CN" sz="2800" b="0" i="1" smtClean="0">
                        <a:solidFill>
                          <a:srgbClr val="04926A"/>
                        </a:solidFill>
                        <a:latin typeface="Cambria Math" panose="02040503050406030204" charset="0"/>
                        <a:ea typeface="Cambria Math" panose="02040503050406030204" charset="0"/>
                      </a:rPr>
                      <m:t>=</m:t>
                    </m:r>
                    <m:r>
                      <a:rPr lang="en-US" altLang="zh-CN" sz="2800" b="1" i="1" smtClean="0">
                        <a:solidFill>
                          <a:srgbClr val="04926A"/>
                        </a:solidFill>
                        <a:latin typeface="Cambria Math" panose="02040503050406030204" charset="0"/>
                        <a:ea typeface="Cambria Math" panose="02040503050406030204" charset="0"/>
                      </a:rPr>
                      <m:t>𝒂</m:t>
                    </m:r>
                    <m:r>
                      <a:rPr lang="en-US" altLang="zh-CN" sz="2800" i="1">
                        <a:solidFill>
                          <a:srgbClr val="04926A"/>
                        </a:solidFill>
                        <a:latin typeface="Cambria Math" panose="02040503050406030204" charset="0"/>
                        <a:ea typeface="Cambria Math" panose="02040503050406030204" charset="0"/>
                      </a:rPr>
                      <m:t>×</m:t>
                    </m:r>
                    <m:r>
                      <a:rPr lang="en-US" altLang="zh-CN" sz="2800" b="1" i="1" smtClean="0">
                        <a:solidFill>
                          <a:srgbClr val="04926A"/>
                        </a:solidFill>
                        <a:latin typeface="Cambria Math" panose="02040503050406030204" charset="0"/>
                        <a:ea typeface="Cambria Math" panose="02040503050406030204" charset="0"/>
                      </a:rPr>
                      <m:t>𝒄</m:t>
                    </m:r>
                    <m:r>
                      <a:rPr lang="en-US" altLang="zh-CN" sz="2800" b="0" i="1" smtClean="0">
                        <a:solidFill>
                          <a:srgbClr val="04926A"/>
                        </a:solidFill>
                        <a:latin typeface="Cambria Math" panose="02040503050406030204" charset="0"/>
                        <a:ea typeface="Cambria Math" panose="02040503050406030204" charset="0"/>
                      </a:rPr>
                      <m:t>+</m:t>
                    </m:r>
                    <m:r>
                      <a:rPr lang="en-US" altLang="zh-CN" sz="2800" b="1" i="1" smtClean="0">
                        <a:solidFill>
                          <a:srgbClr val="04926A"/>
                        </a:solidFill>
                        <a:latin typeface="Cambria Math" panose="02040503050406030204" charset="0"/>
                        <a:ea typeface="Cambria Math" panose="02040503050406030204" charset="0"/>
                      </a:rPr>
                      <m:t>𝒃</m:t>
                    </m:r>
                    <m:r>
                      <a:rPr lang="en-US" altLang="zh-CN" sz="2800" i="1">
                        <a:solidFill>
                          <a:srgbClr val="04926A"/>
                        </a:solidFill>
                        <a:latin typeface="Cambria Math" panose="02040503050406030204" charset="0"/>
                        <a:ea typeface="Cambria Math" panose="02040503050406030204" charset="0"/>
                      </a:rPr>
                      <m:t>×</m:t>
                    </m:r>
                    <m:r>
                      <a:rPr lang="en-US" altLang="zh-CN" sz="2800" b="1" i="1" smtClean="0">
                        <a:solidFill>
                          <a:srgbClr val="04926A"/>
                        </a:solidFill>
                        <a:latin typeface="Cambria Math" panose="02040503050406030204" charset="0"/>
                        <a:ea typeface="Cambria Math" panose="02040503050406030204" charset="0"/>
                      </a:rPr>
                      <m:t>𝒄</m:t>
                    </m:r>
                    <m:r>
                      <a:rPr lang="en-US" altLang="zh-CN" sz="2800" b="0" i="1" smtClean="0">
                        <a:solidFill>
                          <a:srgbClr val="04926A"/>
                        </a:solidFill>
                        <a:latin typeface="Cambria Math" panose="02040503050406030204" charset="0"/>
                        <a:ea typeface="Cambria Math" panose="02040503050406030204" charset="0"/>
                      </a:rPr>
                      <m:t>.</m:t>
                    </m:r>
                  </m:oMath>
                </a14:m>
                <a:endParaRPr lang="zh-CN" altLang="en-US" sz="2800" dirty="0">
                  <a:solidFill>
                    <a:srgbClr val="04926A"/>
                  </a:solidFill>
                  <a:latin typeface="Cambria Math" panose="02040503050406030204" charset="0"/>
                </a:endParaRPr>
              </a:p>
            </p:txBody>
          </p:sp>
        </mc:Choice>
        <mc:Fallback>
          <p:sp>
            <p:nvSpPr>
              <p:cNvPr id="20516" name="Text Box 36"/>
              <p:cNvSpPr txBox="1">
                <a:spLocks noRot="1" noChangeAspect="1" noMove="1" noResize="1" noEditPoints="1" noAdjustHandles="1" noChangeArrowheads="1" noChangeShapeType="1" noTextEdit="1"/>
              </p:cNvSpPr>
              <p:nvPr/>
            </p:nvSpPr>
            <p:spPr bwMode="auto">
              <a:xfrm>
                <a:off x="2055053" y="4891088"/>
                <a:ext cx="6822247" cy="523220"/>
              </a:xfrm>
              <a:prstGeom prst="rect">
                <a:avLst/>
              </a:prstGeom>
              <a:blipFill rotWithShape="1">
                <a:blip r:embed="rId5"/>
                <a:stretch>
                  <a:fillRect l="-3" t="-61" b="5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510"/>
                                        </p:tgtEl>
                                        <p:attrNameLst>
                                          <p:attrName>style.visibility</p:attrName>
                                        </p:attrNameLst>
                                      </p:cBhvr>
                                      <p:to>
                                        <p:strVal val="visible"/>
                                      </p:to>
                                    </p:set>
                                    <p:animEffect transition="in" filter="wipe(left)">
                                      <p:cBhvr>
                                        <p:cTn id="7" dur="500"/>
                                        <p:tgtEl>
                                          <p:spTgt spid="205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511"/>
                                        </p:tgtEl>
                                        <p:attrNameLst>
                                          <p:attrName>style.visibility</p:attrName>
                                        </p:attrNameLst>
                                      </p:cBhvr>
                                      <p:to>
                                        <p:strVal val="visible"/>
                                      </p:to>
                                    </p:set>
                                    <p:animEffect transition="in" filter="wipe(left)">
                                      <p:cBhvr>
                                        <p:cTn id="12" dur="500"/>
                                        <p:tgtEl>
                                          <p:spTgt spid="205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512"/>
                                        </p:tgtEl>
                                        <p:attrNameLst>
                                          <p:attrName>style.visibility</p:attrName>
                                        </p:attrNameLst>
                                      </p:cBhvr>
                                      <p:to>
                                        <p:strVal val="visible"/>
                                      </p:to>
                                    </p:set>
                                    <p:animEffect transition="in" filter="wipe(left)">
                                      <p:cBhvr>
                                        <p:cTn id="17" dur="500"/>
                                        <p:tgtEl>
                                          <p:spTgt spid="205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513"/>
                                        </p:tgtEl>
                                        <p:attrNameLst>
                                          <p:attrName>style.visibility</p:attrName>
                                        </p:attrNameLst>
                                      </p:cBhvr>
                                      <p:to>
                                        <p:strVal val="visible"/>
                                      </p:to>
                                    </p:set>
                                    <p:animEffect transition="in" filter="wipe(left)">
                                      <p:cBhvr>
                                        <p:cTn id="22" dur="500"/>
                                        <p:tgtEl>
                                          <p:spTgt spid="205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514"/>
                                        </p:tgtEl>
                                        <p:attrNameLst>
                                          <p:attrName>style.visibility</p:attrName>
                                        </p:attrNameLst>
                                      </p:cBhvr>
                                      <p:to>
                                        <p:strVal val="visible"/>
                                      </p:to>
                                    </p:set>
                                    <p:animEffect transition="in" filter="wipe(left)">
                                      <p:cBhvr>
                                        <p:cTn id="27" dur="500"/>
                                        <p:tgtEl>
                                          <p:spTgt spid="205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515"/>
                                        </p:tgtEl>
                                        <p:attrNameLst>
                                          <p:attrName>style.visibility</p:attrName>
                                        </p:attrNameLst>
                                      </p:cBhvr>
                                      <p:to>
                                        <p:strVal val="visible"/>
                                      </p:to>
                                    </p:set>
                                    <p:animEffect transition="in" filter="wipe(left)">
                                      <p:cBhvr>
                                        <p:cTn id="32" dur="500"/>
                                        <p:tgtEl>
                                          <p:spTgt spid="205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0516"/>
                                        </p:tgtEl>
                                        <p:attrNameLst>
                                          <p:attrName>style.visibility</p:attrName>
                                        </p:attrNameLst>
                                      </p:cBhvr>
                                      <p:to>
                                        <p:strVal val="visible"/>
                                      </p:to>
                                    </p:set>
                                    <p:animEffect transition="in" filter="wipe(left)">
                                      <p:cBhvr>
                                        <p:cTn id="37" dur="500"/>
                                        <p:tgtEl>
                                          <p:spTgt spid="20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0" grpId="0" bldLvl="0" animBg="1"/>
      <p:bldP spid="20511" grpId="0" bldLvl="0" animBg="1"/>
      <p:bldP spid="20512" grpId="0" bldLvl="0" animBg="1"/>
      <p:bldP spid="20513" grpId="0" bldLvl="0" animBg="1"/>
      <p:bldP spid="20514" grpId="0" bldLvl="0" animBg="1"/>
      <p:bldP spid="20515" grpId="0" bldLvl="0" animBg="1"/>
      <p:bldP spid="20516"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剪去单角的矩形 10"/>
          <p:cNvSpPr/>
          <p:nvPr/>
        </p:nvSpPr>
        <p:spPr>
          <a:xfrm>
            <a:off x="1276350" y="1504951"/>
            <a:ext cx="9904095" cy="4358640"/>
          </a:xfrm>
          <a:prstGeom prst="snip1Rect">
            <a:avLst>
              <a:gd name="adj" fmla="val 5085"/>
            </a:avLst>
          </a:prstGeom>
          <a:solidFill>
            <a:srgbClr val="04926A">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36号-正文宋楷" panose="00000500000000000000" pitchFamily="2" charset="-122"/>
              <a:ea typeface="字魂36号-正文宋楷" panose="00000500000000000000" pitchFamily="2" charset="-122"/>
            </a:endParaRPr>
          </a:p>
        </p:txBody>
      </p:sp>
      <p:sp>
        <p:nvSpPr>
          <p:cNvPr id="21548" name="Text Box 44"/>
          <p:cNvSpPr txBox="1">
            <a:spLocks noChangeArrowheads="1"/>
          </p:cNvSpPr>
          <p:nvPr/>
        </p:nvSpPr>
        <p:spPr bwMode="auto">
          <a:xfrm>
            <a:off x="1202126" y="757040"/>
            <a:ext cx="58610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b="1" dirty="0">
                <a:solidFill>
                  <a:srgbClr val="04926A"/>
                </a:solidFill>
                <a:latin typeface="微软雅黑" panose="020B0503020204020204" charset="-122"/>
                <a:ea typeface="微软雅黑" panose="020B0503020204020204" charset="-122"/>
              </a:rPr>
              <a:t>4.  </a:t>
            </a:r>
            <a:r>
              <a:rPr kumimoji="1" lang="zh-CN" altLang="en-US" sz="2800" b="1" dirty="0">
                <a:solidFill>
                  <a:srgbClr val="04926A"/>
                </a:solidFill>
                <a:latin typeface="微软雅黑" panose="020B0503020204020204" charset="-122"/>
                <a:ea typeface="微软雅黑" panose="020B0503020204020204" charset="-122"/>
              </a:rPr>
              <a:t>向量积的坐标表示式</a:t>
            </a:r>
            <a:endParaRPr kumimoji="1" lang="zh-CN" altLang="en-US" sz="2800" b="1" dirty="0">
              <a:solidFill>
                <a:srgbClr val="04926A"/>
              </a:solidFill>
              <a:latin typeface="微软雅黑" panose="020B0503020204020204" charset="-122"/>
              <a:ea typeface="微软雅黑" panose="020B0503020204020204" charset="-122"/>
            </a:endParaRPr>
          </a:p>
        </p:txBody>
      </p:sp>
      <p:sp>
        <p:nvSpPr>
          <p:cNvPr id="21549" name="Text Box 45"/>
          <p:cNvSpPr txBox="1">
            <a:spLocks noChangeArrowheads="1"/>
          </p:cNvSpPr>
          <p:nvPr/>
        </p:nvSpPr>
        <p:spPr bwMode="auto">
          <a:xfrm>
            <a:off x="1564005" y="1777542"/>
            <a:ext cx="6794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dirty="0"/>
              <a:t>设</a:t>
            </a:r>
            <a:endParaRPr lang="zh-CN" altLang="en-US" sz="2800" dirty="0"/>
          </a:p>
        </p:txBody>
      </p:sp>
      <mc:AlternateContent xmlns:mc="http://schemas.openxmlformats.org/markup-compatibility/2006">
        <mc:Choice xmlns:a14="http://schemas.microsoft.com/office/drawing/2010/main" Requires="a14">
          <p:sp>
            <p:nvSpPr>
              <p:cNvPr id="21550" name="Object 46"/>
              <p:cNvSpPr txBox="1">
                <a:spLocks noGrp="1"/>
              </p:cNvSpPr>
              <p:nvPr>
                <p:ph/>
              </p:nvPr>
            </p:nvSpPr>
            <p:spPr bwMode="auto">
              <a:xfrm>
                <a:off x="1975168" y="1816998"/>
                <a:ext cx="6728119" cy="550356"/>
              </a:xfrm>
              <a:prstGeom prst="rect">
                <a:avLst/>
              </a:prstGeom>
              <a:noFill/>
              <a:ln>
                <a:noFill/>
              </a:ln>
              <a:effectLst/>
            </p:spPr>
            <p:txBody>
              <a:bodyPr>
                <a:noAutofit/>
              </a:bodyPr>
              <a:lstStyle/>
              <a:p>
                <a:pPr>
                  <a:buNone/>
                </a:pPr>
                <a14:m>
                  <m:oMathPara xmlns:m="http://schemas.openxmlformats.org/officeDocument/2006/math">
                    <m:oMathParaPr>
                      <m:jc m:val="left"/>
                    </m:oMathParaPr>
                    <m:oMath xmlns:m="http://schemas.openxmlformats.org/officeDocument/2006/math">
                      <m:r>
                        <a:rPr lang="zh-CN" altLang="en-US" b="1" i="1">
                          <a:latin typeface="Cambria Math" panose="02040503050406030204" charset="0"/>
                        </a:rPr>
                        <m:t>𝒂</m:t>
                      </m:r>
                      <m:r>
                        <a:rPr lang="zh-CN" altLang="en-US" b="0" i="1">
                          <a:latin typeface="Cambria Math" panose="02040503050406030204" charset="0"/>
                        </a:rPr>
                        <m:t>=</m:t>
                      </m:r>
                      <m:sSub>
                        <m:sSubPr>
                          <m:ctrlPr>
                            <a:rPr lang="zh-CN" altLang="en-US" b="0" i="1">
                              <a:latin typeface="Cambria Math" panose="02040503050406030204" charset="0"/>
                            </a:rPr>
                          </m:ctrlPr>
                        </m:sSubPr>
                        <m:e>
                          <m:r>
                            <a:rPr lang="zh-CN" altLang="en-US" b="0" i="1">
                              <a:latin typeface="Cambria Math" panose="02040503050406030204" charset="0"/>
                            </a:rPr>
                            <m:t>𝑎</m:t>
                          </m:r>
                        </m:e>
                        <m:sub>
                          <m:r>
                            <a:rPr lang="zh-CN" altLang="en-US" b="0" i="1">
                              <a:latin typeface="Cambria Math" panose="02040503050406030204" charset="0"/>
                            </a:rPr>
                            <m:t>𝑥</m:t>
                          </m:r>
                        </m:sub>
                      </m:sSub>
                      <m:r>
                        <a:rPr lang="zh-CN" altLang="en-US" b="1" i="1">
                          <a:latin typeface="Cambria Math" panose="02040503050406030204" charset="0"/>
                        </a:rPr>
                        <m:t>𝒊</m:t>
                      </m:r>
                      <m:r>
                        <a:rPr lang="zh-CN" altLang="en-US" b="0" i="1">
                          <a:latin typeface="Cambria Math" panose="02040503050406030204" charset="0"/>
                        </a:rPr>
                        <m:t>+</m:t>
                      </m:r>
                      <m:sSub>
                        <m:sSubPr>
                          <m:ctrlPr>
                            <a:rPr lang="zh-CN" altLang="en-US" b="0" i="1">
                              <a:latin typeface="Cambria Math" panose="02040503050406030204" charset="0"/>
                            </a:rPr>
                          </m:ctrlPr>
                        </m:sSubPr>
                        <m:e>
                          <m:r>
                            <a:rPr lang="zh-CN" altLang="en-US" b="0" i="1">
                              <a:latin typeface="Cambria Math" panose="02040503050406030204" charset="0"/>
                            </a:rPr>
                            <m:t>𝑎</m:t>
                          </m:r>
                        </m:e>
                        <m:sub>
                          <m:r>
                            <a:rPr lang="zh-CN" altLang="en-US" b="0" i="1">
                              <a:latin typeface="Cambria Math" panose="02040503050406030204" charset="0"/>
                            </a:rPr>
                            <m:t>𝑦</m:t>
                          </m:r>
                        </m:sub>
                      </m:sSub>
                      <m:r>
                        <a:rPr lang="zh-CN" altLang="en-US" b="1" i="1">
                          <a:latin typeface="Cambria Math" panose="02040503050406030204" charset="0"/>
                        </a:rPr>
                        <m:t>𝒋</m:t>
                      </m:r>
                      <m:r>
                        <a:rPr lang="zh-CN" altLang="en-US" b="0" i="1">
                          <a:latin typeface="Cambria Math" panose="02040503050406030204" charset="0"/>
                        </a:rPr>
                        <m:t>+</m:t>
                      </m:r>
                      <m:sSub>
                        <m:sSubPr>
                          <m:ctrlPr>
                            <a:rPr lang="zh-CN" altLang="en-US" b="0" i="1">
                              <a:latin typeface="Cambria Math" panose="02040503050406030204" charset="0"/>
                            </a:rPr>
                          </m:ctrlPr>
                        </m:sSubPr>
                        <m:e>
                          <m:r>
                            <a:rPr lang="zh-CN" altLang="en-US" b="0" i="1">
                              <a:latin typeface="Cambria Math" panose="02040503050406030204" charset="0"/>
                            </a:rPr>
                            <m:t>𝑎</m:t>
                          </m:r>
                        </m:e>
                        <m:sub>
                          <m:r>
                            <a:rPr lang="zh-CN" altLang="en-US" b="0" i="1">
                              <a:latin typeface="Cambria Math" panose="02040503050406030204" charset="0"/>
                            </a:rPr>
                            <m:t>𝑧</m:t>
                          </m:r>
                        </m:sub>
                      </m:sSub>
                      <m:r>
                        <a:rPr lang="zh-CN" altLang="en-US" b="1" i="1">
                          <a:latin typeface="Cambria Math" panose="02040503050406030204" charset="0"/>
                        </a:rPr>
                        <m:t>𝒌</m:t>
                      </m:r>
                      <m:r>
                        <a:rPr lang="zh-CN" altLang="en-US" b="0" i="1">
                          <a:latin typeface="Cambria Math" panose="02040503050406030204" charset="0"/>
                        </a:rPr>
                        <m:t>, </m:t>
                      </m:r>
                      <m:r>
                        <a:rPr lang="zh-CN" altLang="en-US" b="1" i="1">
                          <a:latin typeface="Cambria Math" panose="02040503050406030204" charset="0"/>
                        </a:rPr>
                        <m:t>𝒃</m:t>
                      </m:r>
                      <m:r>
                        <a:rPr lang="zh-CN" altLang="en-US" b="0" i="1">
                          <a:latin typeface="Cambria Math" panose="02040503050406030204" charset="0"/>
                        </a:rPr>
                        <m:t>=</m:t>
                      </m:r>
                      <m:sSub>
                        <m:sSubPr>
                          <m:ctrlPr>
                            <a:rPr lang="zh-CN" altLang="en-US" b="0" i="1">
                              <a:latin typeface="Cambria Math" panose="02040503050406030204" charset="0"/>
                            </a:rPr>
                          </m:ctrlPr>
                        </m:sSubPr>
                        <m:e>
                          <m:r>
                            <a:rPr lang="zh-CN" altLang="en-US" b="0" i="1">
                              <a:latin typeface="Cambria Math" panose="02040503050406030204" charset="0"/>
                            </a:rPr>
                            <m:t>𝑏</m:t>
                          </m:r>
                        </m:e>
                        <m:sub>
                          <m:r>
                            <a:rPr lang="zh-CN" altLang="en-US" b="0" i="1">
                              <a:latin typeface="Cambria Math" panose="02040503050406030204" charset="0"/>
                            </a:rPr>
                            <m:t>𝑥</m:t>
                          </m:r>
                        </m:sub>
                      </m:sSub>
                      <m:r>
                        <a:rPr lang="zh-CN" altLang="en-US" b="1" i="1">
                          <a:latin typeface="Cambria Math" panose="02040503050406030204" charset="0"/>
                        </a:rPr>
                        <m:t>𝒊</m:t>
                      </m:r>
                      <m:r>
                        <a:rPr lang="zh-CN" altLang="en-US" b="0" i="1">
                          <a:latin typeface="Cambria Math" panose="02040503050406030204" charset="0"/>
                        </a:rPr>
                        <m:t>+</m:t>
                      </m:r>
                      <m:sSub>
                        <m:sSubPr>
                          <m:ctrlPr>
                            <a:rPr lang="zh-CN" altLang="en-US" b="0" i="1">
                              <a:latin typeface="Cambria Math" panose="02040503050406030204" charset="0"/>
                            </a:rPr>
                          </m:ctrlPr>
                        </m:sSubPr>
                        <m:e>
                          <m:r>
                            <a:rPr lang="zh-CN" altLang="en-US" b="0" i="1">
                              <a:latin typeface="Cambria Math" panose="02040503050406030204" charset="0"/>
                            </a:rPr>
                            <m:t>𝑏</m:t>
                          </m:r>
                        </m:e>
                        <m:sub>
                          <m:r>
                            <a:rPr lang="zh-CN" altLang="en-US" b="0" i="1">
                              <a:latin typeface="Cambria Math" panose="02040503050406030204" charset="0"/>
                            </a:rPr>
                            <m:t>𝑦</m:t>
                          </m:r>
                        </m:sub>
                      </m:sSub>
                      <m:r>
                        <a:rPr lang="zh-CN" altLang="en-US" b="1" i="1">
                          <a:latin typeface="Cambria Math" panose="02040503050406030204" charset="0"/>
                        </a:rPr>
                        <m:t>𝒋</m:t>
                      </m:r>
                      <m:r>
                        <a:rPr lang="zh-CN" altLang="en-US" b="0" i="1">
                          <a:latin typeface="Cambria Math" panose="02040503050406030204" charset="0"/>
                        </a:rPr>
                        <m:t>+</m:t>
                      </m:r>
                      <m:sSub>
                        <m:sSubPr>
                          <m:ctrlPr>
                            <a:rPr lang="zh-CN" altLang="en-US" b="0" i="1">
                              <a:latin typeface="Cambria Math" panose="02040503050406030204" charset="0"/>
                            </a:rPr>
                          </m:ctrlPr>
                        </m:sSubPr>
                        <m:e>
                          <m:r>
                            <a:rPr lang="zh-CN" altLang="en-US" b="0" i="1">
                              <a:latin typeface="Cambria Math" panose="02040503050406030204" charset="0"/>
                            </a:rPr>
                            <m:t>𝑏</m:t>
                          </m:r>
                        </m:e>
                        <m:sub>
                          <m:r>
                            <a:rPr lang="zh-CN" altLang="en-US" b="0" i="1">
                              <a:latin typeface="Cambria Math" panose="02040503050406030204" charset="0"/>
                            </a:rPr>
                            <m:t>𝑧</m:t>
                          </m:r>
                        </m:sub>
                      </m:sSub>
                      <m:r>
                        <a:rPr lang="zh-CN" altLang="en-US" b="1" i="1">
                          <a:latin typeface="Cambria Math" panose="02040503050406030204" charset="0"/>
                        </a:rPr>
                        <m:t>𝒌</m:t>
                      </m:r>
                      <m:r>
                        <a:rPr lang="zh-CN" altLang="en-US" b="0" i="1">
                          <a:latin typeface="Cambria Math" panose="02040503050406030204" charset="0"/>
                        </a:rPr>
                        <m:t>,</m:t>
                      </m:r>
                    </m:oMath>
                  </m:oMathPara>
                </a14:m>
                <a:endParaRPr lang="zh-CN" altLang="en-US" b="0" i="1" dirty="0"/>
              </a:p>
            </p:txBody>
          </p:sp>
        </mc:Choice>
        <mc:Fallback>
          <p:sp>
            <p:nvSpPr>
              <p:cNvPr id="21550" name="Object 46"/>
              <p:cNvSpPr txBox="1">
                <a:spLocks noRot="1" noChangeAspect="1" noMove="1" noResize="1" noEditPoints="1" noAdjustHandles="1" noChangeArrowheads="1" noChangeShapeType="1" noTextEdit="1"/>
              </p:cNvSpPr>
              <p:nvPr>
                <p:ph/>
              </p:nvPr>
            </p:nvSpPr>
            <p:spPr bwMode="auto">
              <a:xfrm>
                <a:off x="1975168" y="1816998"/>
                <a:ext cx="6728119" cy="550356"/>
              </a:xfrm>
              <a:prstGeom prst="rect">
                <a:avLst/>
              </a:prstGeom>
              <a:blipFill rotWithShape="1">
                <a:blip r:embed="rId1"/>
                <a:stretch>
                  <a:fillRect l="-5" t="-48" r="9" b="13"/>
                </a:stretch>
              </a:blipFill>
              <a:ln>
                <a:noFill/>
              </a:ln>
              <a:effectLst/>
            </p:spPr>
            <p:txBody>
              <a:bodyPr/>
              <a:lstStyle/>
              <a:p>
                <a:r>
                  <a:rPr lang="zh-CN" altLang="en-US">
                    <a:noFill/>
                  </a:rPr>
                  <a:t> </a:t>
                </a:r>
              </a:p>
            </p:txBody>
          </p:sp>
        </mc:Fallback>
      </mc:AlternateContent>
      <p:sp>
        <p:nvSpPr>
          <p:cNvPr id="21551" name="Text Box 47"/>
          <p:cNvSpPr txBox="1">
            <a:spLocks noChangeArrowheads="1"/>
          </p:cNvSpPr>
          <p:nvPr/>
        </p:nvSpPr>
        <p:spPr bwMode="auto">
          <a:xfrm>
            <a:off x="8525657" y="1790451"/>
            <a:ext cx="762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dirty="0"/>
              <a:t>则</a:t>
            </a:r>
            <a:endParaRPr lang="zh-CN" altLang="en-US" sz="2800" dirty="0"/>
          </a:p>
        </p:txBody>
      </p:sp>
      <mc:AlternateContent xmlns:mc="http://schemas.openxmlformats.org/markup-compatibility/2006">
        <mc:Choice xmlns:a14="http://schemas.microsoft.com/office/drawing/2010/main" Requires="a14">
          <p:sp>
            <p:nvSpPr>
              <p:cNvPr id="21552" name="Object 48"/>
              <p:cNvSpPr txBox="1"/>
              <p:nvPr/>
            </p:nvSpPr>
            <p:spPr bwMode="auto">
              <a:xfrm>
                <a:off x="1937137" y="2449015"/>
                <a:ext cx="7945820" cy="619125"/>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800" b="1" i="1">
                          <a:latin typeface="Cambria Math" panose="02040503050406030204" charset="0"/>
                        </a:rPr>
                        <m:t>𝒂</m:t>
                      </m:r>
                      <m:r>
                        <a:rPr lang="zh-CN" altLang="en-US" sz="2800" b="0" i="1">
                          <a:latin typeface="Cambria Math" panose="02040503050406030204" charset="0"/>
                        </a:rPr>
                        <m:t>×</m:t>
                      </m:r>
                      <m:r>
                        <a:rPr lang="zh-CN" altLang="en-US" sz="2800" b="1" i="1">
                          <a:latin typeface="Cambria Math" panose="02040503050406030204" charset="0"/>
                        </a:rPr>
                        <m:t>𝒃</m:t>
                      </m:r>
                      <m:r>
                        <a:rPr lang="zh-CN" altLang="en-US" sz="2800" b="0" i="1">
                          <a:latin typeface="Cambria Math" panose="02040503050406030204" charset="0"/>
                        </a:rPr>
                        <m:t>=(</m:t>
                      </m:r>
                      <m:sSub>
                        <m:sSubPr>
                          <m:ctrlPr>
                            <a:rPr lang="zh-CN" altLang="en-US" sz="2800" i="1">
                              <a:latin typeface="Cambria Math" panose="02040503050406030204" charset="0"/>
                            </a:rPr>
                          </m:ctrlPr>
                        </m:sSubPr>
                        <m:e>
                          <m:r>
                            <a:rPr lang="zh-CN" altLang="en-US" sz="2800" b="0" i="1">
                              <a:latin typeface="Cambria Math" panose="02040503050406030204" charset="0"/>
                            </a:rPr>
                            <m:t>𝑎</m:t>
                          </m:r>
                        </m:e>
                        <m:sub>
                          <m:r>
                            <a:rPr lang="zh-CN" altLang="en-US" sz="2800" b="0" i="1">
                              <a:latin typeface="Cambria Math" panose="02040503050406030204" charset="0"/>
                            </a:rPr>
                            <m:t>𝑥</m:t>
                          </m:r>
                        </m:sub>
                      </m:sSub>
                      <m:r>
                        <a:rPr lang="zh-CN" altLang="en-US" sz="2800" b="1" i="1">
                          <a:latin typeface="Cambria Math" panose="02040503050406030204" charset="0"/>
                        </a:rPr>
                        <m:t>𝒊</m:t>
                      </m:r>
                      <m:r>
                        <a:rPr lang="zh-CN" altLang="en-US" sz="2800" b="0" i="1">
                          <a:latin typeface="Cambria Math" panose="02040503050406030204" charset="0"/>
                        </a:rPr>
                        <m:t>+</m:t>
                      </m:r>
                      <m:sSub>
                        <m:sSubPr>
                          <m:ctrlPr>
                            <a:rPr lang="zh-CN" altLang="en-US" sz="2800" i="1">
                              <a:latin typeface="Cambria Math" panose="02040503050406030204" charset="0"/>
                            </a:rPr>
                          </m:ctrlPr>
                        </m:sSubPr>
                        <m:e>
                          <m:r>
                            <a:rPr lang="zh-CN" altLang="en-US" sz="2800" b="0" i="1">
                              <a:latin typeface="Cambria Math" panose="02040503050406030204" charset="0"/>
                            </a:rPr>
                            <m:t>𝑎</m:t>
                          </m:r>
                        </m:e>
                        <m:sub>
                          <m:r>
                            <a:rPr lang="zh-CN" altLang="en-US" sz="2800" b="0" i="1">
                              <a:latin typeface="Cambria Math" panose="02040503050406030204" charset="0"/>
                            </a:rPr>
                            <m:t>𝑦</m:t>
                          </m:r>
                        </m:sub>
                      </m:sSub>
                      <m:r>
                        <a:rPr lang="zh-CN" altLang="en-US" sz="2800" b="1" i="1">
                          <a:latin typeface="Cambria Math" panose="02040503050406030204" charset="0"/>
                        </a:rPr>
                        <m:t>𝒋</m:t>
                      </m:r>
                      <m:r>
                        <a:rPr lang="zh-CN" altLang="en-US" sz="2800" b="0" i="1">
                          <a:latin typeface="Cambria Math" panose="02040503050406030204" charset="0"/>
                        </a:rPr>
                        <m:t>+</m:t>
                      </m:r>
                      <m:sSub>
                        <m:sSubPr>
                          <m:ctrlPr>
                            <a:rPr lang="zh-CN" altLang="en-US" sz="2800" i="1">
                              <a:latin typeface="Cambria Math" panose="02040503050406030204" charset="0"/>
                            </a:rPr>
                          </m:ctrlPr>
                        </m:sSubPr>
                        <m:e>
                          <m:r>
                            <a:rPr lang="zh-CN" altLang="en-US" sz="2800" b="0" i="1">
                              <a:latin typeface="Cambria Math" panose="02040503050406030204" charset="0"/>
                            </a:rPr>
                            <m:t>𝑎</m:t>
                          </m:r>
                        </m:e>
                        <m:sub>
                          <m:r>
                            <a:rPr lang="zh-CN" altLang="en-US" sz="2800" b="0" i="1">
                              <a:latin typeface="Cambria Math" panose="02040503050406030204" charset="0"/>
                            </a:rPr>
                            <m:t>𝑧</m:t>
                          </m:r>
                        </m:sub>
                      </m:sSub>
                      <m:r>
                        <a:rPr lang="zh-CN" altLang="en-US" sz="2800" b="1" i="1">
                          <a:latin typeface="Cambria Math" panose="02040503050406030204" charset="0"/>
                        </a:rPr>
                        <m:t>𝒌</m:t>
                      </m:r>
                      <m:r>
                        <a:rPr lang="zh-CN" altLang="en-US" sz="2800" b="0" i="1">
                          <a:latin typeface="Cambria Math" panose="02040503050406030204" charset="0"/>
                        </a:rPr>
                        <m:t>)×(</m:t>
                      </m:r>
                      <m:sSub>
                        <m:sSubPr>
                          <m:ctrlPr>
                            <a:rPr lang="zh-CN" altLang="en-US" sz="2800" i="1">
                              <a:latin typeface="Cambria Math" panose="02040503050406030204" charset="0"/>
                            </a:rPr>
                          </m:ctrlPr>
                        </m:sSubPr>
                        <m:e>
                          <m:r>
                            <a:rPr lang="zh-CN" altLang="en-US" sz="2800" b="0" i="1">
                              <a:latin typeface="Cambria Math" panose="02040503050406030204" charset="0"/>
                            </a:rPr>
                            <m:t>𝑏</m:t>
                          </m:r>
                        </m:e>
                        <m:sub>
                          <m:r>
                            <a:rPr lang="zh-CN" altLang="en-US" sz="2800" b="0" i="1">
                              <a:latin typeface="Cambria Math" panose="02040503050406030204" charset="0"/>
                            </a:rPr>
                            <m:t>𝑥</m:t>
                          </m:r>
                        </m:sub>
                      </m:sSub>
                      <m:r>
                        <a:rPr lang="zh-CN" altLang="en-US" sz="2800" b="1" i="1">
                          <a:latin typeface="Cambria Math" panose="02040503050406030204" charset="0"/>
                        </a:rPr>
                        <m:t>𝒊</m:t>
                      </m:r>
                      <m:r>
                        <a:rPr lang="zh-CN" altLang="en-US" sz="2800" b="0" i="1">
                          <a:latin typeface="Cambria Math" panose="02040503050406030204" charset="0"/>
                        </a:rPr>
                        <m:t>+</m:t>
                      </m:r>
                      <m:sSub>
                        <m:sSubPr>
                          <m:ctrlPr>
                            <a:rPr lang="zh-CN" altLang="en-US" sz="2800" i="1">
                              <a:latin typeface="Cambria Math" panose="02040503050406030204" charset="0"/>
                            </a:rPr>
                          </m:ctrlPr>
                        </m:sSubPr>
                        <m:e>
                          <m:r>
                            <a:rPr lang="zh-CN" altLang="en-US" sz="2800" b="0" i="1">
                              <a:latin typeface="Cambria Math" panose="02040503050406030204" charset="0"/>
                            </a:rPr>
                            <m:t>𝑏</m:t>
                          </m:r>
                        </m:e>
                        <m:sub>
                          <m:r>
                            <a:rPr lang="zh-CN" altLang="en-US" sz="2800" b="0" i="1">
                              <a:latin typeface="Cambria Math" panose="02040503050406030204" charset="0"/>
                            </a:rPr>
                            <m:t>𝑦</m:t>
                          </m:r>
                        </m:sub>
                      </m:sSub>
                      <m:r>
                        <a:rPr lang="zh-CN" altLang="en-US" sz="2800" b="1" i="1">
                          <a:latin typeface="Cambria Math" panose="02040503050406030204" charset="0"/>
                        </a:rPr>
                        <m:t>𝒋</m:t>
                      </m:r>
                      <m:r>
                        <a:rPr lang="zh-CN" altLang="en-US" sz="2800" b="0" i="1">
                          <a:latin typeface="Cambria Math" panose="02040503050406030204" charset="0"/>
                        </a:rPr>
                        <m:t>+</m:t>
                      </m:r>
                      <m:sSub>
                        <m:sSubPr>
                          <m:ctrlPr>
                            <a:rPr lang="zh-CN" altLang="en-US" sz="2800" i="1">
                              <a:latin typeface="Cambria Math" panose="02040503050406030204" charset="0"/>
                            </a:rPr>
                          </m:ctrlPr>
                        </m:sSubPr>
                        <m:e>
                          <m:r>
                            <a:rPr lang="zh-CN" altLang="en-US" sz="2800" b="0" i="1">
                              <a:latin typeface="Cambria Math" panose="02040503050406030204" charset="0"/>
                            </a:rPr>
                            <m:t>𝑏</m:t>
                          </m:r>
                        </m:e>
                        <m:sub>
                          <m:r>
                            <a:rPr lang="zh-CN" altLang="en-US" sz="2800" b="0" i="1">
                              <a:latin typeface="Cambria Math" panose="02040503050406030204" charset="0"/>
                            </a:rPr>
                            <m:t>𝑧</m:t>
                          </m:r>
                        </m:sub>
                      </m:sSub>
                      <m:r>
                        <a:rPr lang="zh-CN" altLang="en-US" sz="2800" b="1" i="1">
                          <a:latin typeface="Cambria Math" panose="02040503050406030204" charset="0"/>
                        </a:rPr>
                        <m:t>𝒌</m:t>
                      </m:r>
                      <m:r>
                        <a:rPr lang="zh-CN" altLang="en-US" sz="2800" b="0" i="1">
                          <a:latin typeface="Cambria Math" panose="02040503050406030204" charset="0"/>
                        </a:rPr>
                        <m:t>)</m:t>
                      </m:r>
                    </m:oMath>
                  </m:oMathPara>
                </a14:m>
                <a:endParaRPr lang="zh-CN" altLang="en-US" sz="2800" i="1" dirty="0"/>
              </a:p>
            </p:txBody>
          </p:sp>
        </mc:Choice>
        <mc:Fallback>
          <p:sp>
            <p:nvSpPr>
              <p:cNvPr id="21552" name="Object 48"/>
              <p:cNvSpPr txBox="1">
                <a:spLocks noRot="1" noChangeAspect="1" noMove="1" noResize="1" noEditPoints="1" noAdjustHandles="1" noChangeArrowheads="1" noChangeShapeType="1" noTextEdit="1"/>
              </p:cNvSpPr>
              <p:nvPr/>
            </p:nvSpPr>
            <p:spPr bwMode="auto">
              <a:xfrm>
                <a:off x="1937137" y="2449015"/>
                <a:ext cx="7945820" cy="619125"/>
              </a:xfrm>
              <a:prstGeom prst="rect">
                <a:avLst/>
              </a:prstGeom>
              <a:blipFill rotWithShape="1">
                <a:blip r:embed="rId2"/>
                <a:stretch>
                  <a:fillRect l="-5" t="-73" r="6" b="73"/>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553" name="Object 49"/>
              <p:cNvSpPr txBox="1"/>
              <p:nvPr/>
            </p:nvSpPr>
            <p:spPr bwMode="auto">
              <a:xfrm>
                <a:off x="1937137" y="2985753"/>
                <a:ext cx="6337811" cy="1889125"/>
              </a:xfrm>
              <a:prstGeom prst="rect">
                <a:avLst/>
              </a:prstGeom>
              <a:noFill/>
              <a:ln>
                <a:noFill/>
              </a:ln>
              <a:effectLst/>
            </p:spPr>
            <p:txBody>
              <a:bodyPr>
                <a:noAutofit/>
              </a:bodyPr>
              <a:lstStyle/>
              <a:p>
                <a:pPr>
                  <a:lnSpc>
                    <a:spcPct val="130000"/>
                  </a:lnSpc>
                </a:pPr>
                <a14:m>
                  <m:oMath xmlns:m="http://schemas.openxmlformats.org/officeDocument/2006/math">
                    <m:r>
                      <a:rPr lang="zh-CN" altLang="en-US" sz="2800" b="0" i="1" smtClean="0">
                        <a:latin typeface="Cambria Math" panose="02040503050406030204" charset="0"/>
                      </a:rPr>
                      <m:t>=</m:t>
                    </m:r>
                    <m:sSub>
                      <m:sSubPr>
                        <m:ctrlPr>
                          <a:rPr lang="zh-CN" altLang="en-US" sz="2800" i="1">
                            <a:latin typeface="Cambria Math" panose="02040503050406030204" charset="0"/>
                          </a:rPr>
                        </m:ctrlPr>
                      </m:sSubPr>
                      <m:e>
                        <m:r>
                          <a:rPr lang="zh-CN" altLang="en-US" sz="2800" b="0" i="1">
                            <a:latin typeface="Cambria Math" panose="02040503050406030204" charset="0"/>
                          </a:rPr>
                          <m:t>𝑎</m:t>
                        </m:r>
                      </m:e>
                      <m:sub>
                        <m:r>
                          <a:rPr lang="zh-CN" altLang="en-US" sz="2800" b="0" i="1">
                            <a:latin typeface="Cambria Math" panose="02040503050406030204" charset="0"/>
                          </a:rPr>
                          <m:t>𝑥</m:t>
                        </m:r>
                      </m:sub>
                    </m:sSub>
                    <m:sSub>
                      <m:sSubPr>
                        <m:ctrlPr>
                          <a:rPr lang="zh-CN" altLang="en-US" sz="2800" i="1">
                            <a:latin typeface="Cambria Math" panose="02040503050406030204" charset="0"/>
                          </a:rPr>
                        </m:ctrlPr>
                      </m:sSubPr>
                      <m:e>
                        <m:r>
                          <a:rPr lang="zh-CN" altLang="en-US" sz="2800" b="0" i="1">
                            <a:latin typeface="Cambria Math" panose="02040503050406030204" charset="0"/>
                          </a:rPr>
                          <m:t>𝑏</m:t>
                        </m:r>
                      </m:e>
                      <m:sub>
                        <m:r>
                          <a:rPr lang="zh-CN" altLang="en-US" sz="2800" b="0" i="1">
                            <a:latin typeface="Cambria Math" panose="02040503050406030204" charset="0"/>
                          </a:rPr>
                          <m:t>𝑥</m:t>
                        </m:r>
                      </m:sub>
                    </m:sSub>
                    <m:r>
                      <a:rPr lang="zh-CN" altLang="en-US" sz="2800" b="1" i="1">
                        <a:latin typeface="Cambria Math" panose="02040503050406030204" charset="0"/>
                      </a:rPr>
                      <m:t>𝒊</m:t>
                    </m:r>
                    <m:r>
                      <a:rPr lang="zh-CN" altLang="en-US" sz="2800" b="0" i="1">
                        <a:latin typeface="Cambria Math" panose="02040503050406030204" charset="0"/>
                      </a:rPr>
                      <m:t>×</m:t>
                    </m:r>
                    <m:r>
                      <a:rPr lang="zh-CN" altLang="en-US" sz="2800" b="1" i="1">
                        <a:latin typeface="Cambria Math" panose="02040503050406030204" charset="0"/>
                      </a:rPr>
                      <m:t>𝒊</m:t>
                    </m:r>
                    <m:r>
                      <a:rPr lang="zh-CN" altLang="en-US" sz="2800" b="0" i="1">
                        <a:latin typeface="Cambria Math" panose="02040503050406030204" charset="0"/>
                      </a:rPr>
                      <m:t>+</m:t>
                    </m:r>
                    <m:sSub>
                      <m:sSubPr>
                        <m:ctrlPr>
                          <a:rPr lang="zh-CN" altLang="en-US" sz="2800" i="1">
                            <a:latin typeface="Cambria Math" panose="02040503050406030204" charset="0"/>
                          </a:rPr>
                        </m:ctrlPr>
                      </m:sSubPr>
                      <m:e>
                        <m:r>
                          <a:rPr lang="zh-CN" altLang="en-US" sz="2800" b="0" i="1">
                            <a:latin typeface="Cambria Math" panose="02040503050406030204" charset="0"/>
                          </a:rPr>
                          <m:t>𝑎</m:t>
                        </m:r>
                      </m:e>
                      <m:sub>
                        <m:r>
                          <a:rPr lang="zh-CN" altLang="en-US" sz="2800" b="0" i="1">
                            <a:latin typeface="Cambria Math" panose="02040503050406030204" charset="0"/>
                          </a:rPr>
                          <m:t>𝑥</m:t>
                        </m:r>
                      </m:sub>
                    </m:sSub>
                    <m:sSub>
                      <m:sSubPr>
                        <m:ctrlPr>
                          <a:rPr lang="zh-CN" altLang="en-US" sz="2800" i="1">
                            <a:latin typeface="Cambria Math" panose="02040503050406030204" charset="0"/>
                          </a:rPr>
                        </m:ctrlPr>
                      </m:sSubPr>
                      <m:e>
                        <m:r>
                          <a:rPr lang="zh-CN" altLang="en-US" sz="2800" b="0" i="1">
                            <a:latin typeface="Cambria Math" panose="02040503050406030204" charset="0"/>
                          </a:rPr>
                          <m:t>𝑏</m:t>
                        </m:r>
                      </m:e>
                      <m:sub>
                        <m:r>
                          <a:rPr lang="zh-CN" altLang="en-US" sz="2800" b="0" i="1">
                            <a:latin typeface="Cambria Math" panose="02040503050406030204" charset="0"/>
                          </a:rPr>
                          <m:t>𝑦</m:t>
                        </m:r>
                      </m:sub>
                    </m:sSub>
                    <m:r>
                      <a:rPr lang="zh-CN" altLang="en-US" sz="2800" b="1" i="1">
                        <a:latin typeface="Cambria Math" panose="02040503050406030204" charset="0"/>
                      </a:rPr>
                      <m:t>𝒊</m:t>
                    </m:r>
                    <m:r>
                      <a:rPr lang="zh-CN" altLang="en-US" sz="2800" b="0" i="1">
                        <a:latin typeface="Cambria Math" panose="02040503050406030204" charset="0"/>
                      </a:rPr>
                      <m:t>×</m:t>
                    </m:r>
                    <m:r>
                      <a:rPr lang="zh-CN" altLang="en-US" sz="2800" b="1" i="1">
                        <a:latin typeface="Cambria Math" panose="02040503050406030204" charset="0"/>
                      </a:rPr>
                      <m:t>𝒋</m:t>
                    </m:r>
                    <m:r>
                      <a:rPr lang="zh-CN" altLang="en-US" sz="2800" b="0" i="1">
                        <a:latin typeface="Cambria Math" panose="02040503050406030204" charset="0"/>
                      </a:rPr>
                      <m:t>+</m:t>
                    </m:r>
                    <m:sSub>
                      <m:sSubPr>
                        <m:ctrlPr>
                          <a:rPr lang="zh-CN" altLang="en-US" sz="2800" i="1">
                            <a:latin typeface="Cambria Math" panose="02040503050406030204" charset="0"/>
                          </a:rPr>
                        </m:ctrlPr>
                      </m:sSubPr>
                      <m:e>
                        <m:r>
                          <a:rPr lang="zh-CN" altLang="en-US" sz="2800" b="0" i="1">
                            <a:latin typeface="Cambria Math" panose="02040503050406030204" charset="0"/>
                          </a:rPr>
                          <m:t>𝑎</m:t>
                        </m:r>
                      </m:e>
                      <m:sub>
                        <m:r>
                          <a:rPr lang="zh-CN" altLang="en-US" sz="2800" b="0" i="1">
                            <a:latin typeface="Cambria Math" panose="02040503050406030204" charset="0"/>
                          </a:rPr>
                          <m:t>𝑥</m:t>
                        </m:r>
                      </m:sub>
                    </m:sSub>
                    <m:sSub>
                      <m:sSubPr>
                        <m:ctrlPr>
                          <a:rPr lang="zh-CN" altLang="en-US" sz="2800" i="1">
                            <a:latin typeface="Cambria Math" panose="02040503050406030204" charset="0"/>
                          </a:rPr>
                        </m:ctrlPr>
                      </m:sSubPr>
                      <m:e>
                        <m:r>
                          <a:rPr lang="zh-CN" altLang="en-US" sz="2800" b="0" i="1">
                            <a:latin typeface="Cambria Math" panose="02040503050406030204" charset="0"/>
                          </a:rPr>
                          <m:t>𝑏</m:t>
                        </m:r>
                      </m:e>
                      <m:sub>
                        <m:r>
                          <a:rPr lang="zh-CN" altLang="en-US" sz="2800" b="0" i="1">
                            <a:latin typeface="Cambria Math" panose="02040503050406030204" charset="0"/>
                          </a:rPr>
                          <m:t>𝑧</m:t>
                        </m:r>
                      </m:sub>
                    </m:sSub>
                    <m:r>
                      <a:rPr lang="zh-CN" altLang="en-US" sz="2800" b="1" i="1">
                        <a:latin typeface="Cambria Math" panose="02040503050406030204" charset="0"/>
                      </a:rPr>
                      <m:t>𝒊</m:t>
                    </m:r>
                    <m:r>
                      <a:rPr lang="zh-CN" altLang="en-US" sz="2800" b="0" i="1">
                        <a:latin typeface="Cambria Math" panose="02040503050406030204" charset="0"/>
                      </a:rPr>
                      <m:t>×</m:t>
                    </m:r>
                    <m:r>
                      <a:rPr lang="zh-CN" altLang="en-US" sz="2800" b="1" i="1">
                        <a:latin typeface="Cambria Math" panose="02040503050406030204" charset="0"/>
                      </a:rPr>
                      <m:t>𝒌</m:t>
                    </m:r>
                  </m:oMath>
                </a14:m>
                <a:r>
                  <a:rPr lang="en-US" altLang="zh-CN" sz="2800" b="0" dirty="0">
                    <a:latin typeface="Cambria Math" panose="02040503050406030204" charset="0"/>
                  </a:rPr>
                  <a:t>+</a:t>
                </a:r>
                <a:br>
                  <a:rPr lang="zh-CN" altLang="en-US" sz="2800" b="0" i="1" dirty="0">
                    <a:latin typeface="Cambria Math" panose="02040503050406030204" charset="0"/>
                  </a:rPr>
                </a:br>
                <a14:m>
                  <m:oMath xmlns:m="http://schemas.openxmlformats.org/officeDocument/2006/math">
                    <m:r>
                      <a:rPr lang="zh-CN" altLang="en-US" sz="2800" i="1">
                        <a:latin typeface="Cambria Math" panose="02040503050406030204" charset="0"/>
                      </a:rPr>
                      <m:t> </m:t>
                    </m:r>
                    <m:r>
                      <a:rPr lang="en-US" altLang="zh-CN" sz="2800" b="0" i="1" smtClean="0">
                        <a:latin typeface="Cambria Math" panose="02040503050406030204" charset="0"/>
                      </a:rPr>
                      <m:t>    </m:t>
                    </m:r>
                    <m:sSub>
                      <m:sSubPr>
                        <m:ctrlPr>
                          <a:rPr lang="zh-CN" altLang="en-US" sz="2800" i="1">
                            <a:latin typeface="Cambria Math" panose="02040503050406030204" charset="0"/>
                          </a:rPr>
                        </m:ctrlPr>
                      </m:sSubPr>
                      <m:e>
                        <m:r>
                          <a:rPr lang="zh-CN" altLang="en-US" sz="2800" b="0" i="1">
                            <a:latin typeface="Cambria Math" panose="02040503050406030204" charset="0"/>
                          </a:rPr>
                          <m:t>𝑎</m:t>
                        </m:r>
                      </m:e>
                      <m:sub>
                        <m:r>
                          <a:rPr lang="zh-CN" altLang="en-US" sz="2800" b="0" i="1">
                            <a:latin typeface="Cambria Math" panose="02040503050406030204" charset="0"/>
                          </a:rPr>
                          <m:t>𝑦</m:t>
                        </m:r>
                      </m:sub>
                    </m:sSub>
                    <m:sSub>
                      <m:sSubPr>
                        <m:ctrlPr>
                          <a:rPr lang="zh-CN" altLang="en-US" sz="2800" i="1">
                            <a:latin typeface="Cambria Math" panose="02040503050406030204" charset="0"/>
                          </a:rPr>
                        </m:ctrlPr>
                      </m:sSubPr>
                      <m:e>
                        <m:r>
                          <a:rPr lang="zh-CN" altLang="en-US" sz="2800" b="0" i="1">
                            <a:latin typeface="Cambria Math" panose="02040503050406030204" charset="0"/>
                          </a:rPr>
                          <m:t>𝑏</m:t>
                        </m:r>
                      </m:e>
                      <m:sub>
                        <m:r>
                          <a:rPr lang="zh-CN" altLang="en-US" sz="2800" b="0" i="1">
                            <a:latin typeface="Cambria Math" panose="02040503050406030204" charset="0"/>
                          </a:rPr>
                          <m:t>𝑥</m:t>
                        </m:r>
                      </m:sub>
                    </m:sSub>
                    <m:r>
                      <a:rPr lang="zh-CN" altLang="en-US" sz="2800" b="1" i="1">
                        <a:latin typeface="Cambria Math" panose="02040503050406030204" charset="0"/>
                      </a:rPr>
                      <m:t>𝒋</m:t>
                    </m:r>
                    <m:r>
                      <a:rPr lang="zh-CN" altLang="en-US" sz="2800" b="0" i="1">
                        <a:latin typeface="Cambria Math" panose="02040503050406030204" charset="0"/>
                      </a:rPr>
                      <m:t>×</m:t>
                    </m:r>
                    <m:r>
                      <a:rPr lang="zh-CN" altLang="en-US" sz="2800" b="1" i="1">
                        <a:latin typeface="Cambria Math" panose="02040503050406030204" charset="0"/>
                      </a:rPr>
                      <m:t>𝒊</m:t>
                    </m:r>
                    <m:r>
                      <a:rPr lang="zh-CN" altLang="en-US" sz="2800" b="0" i="1">
                        <a:latin typeface="Cambria Math" panose="02040503050406030204" charset="0"/>
                      </a:rPr>
                      <m:t>+</m:t>
                    </m:r>
                    <m:sSub>
                      <m:sSubPr>
                        <m:ctrlPr>
                          <a:rPr lang="zh-CN" altLang="en-US" sz="2800" i="1">
                            <a:latin typeface="Cambria Math" panose="02040503050406030204" charset="0"/>
                          </a:rPr>
                        </m:ctrlPr>
                      </m:sSubPr>
                      <m:e>
                        <m:r>
                          <a:rPr lang="zh-CN" altLang="en-US" sz="2800" b="0" i="1">
                            <a:latin typeface="Cambria Math" panose="02040503050406030204" charset="0"/>
                          </a:rPr>
                          <m:t>𝑎</m:t>
                        </m:r>
                      </m:e>
                      <m:sub>
                        <m:r>
                          <a:rPr lang="zh-CN" altLang="en-US" sz="2800" b="0" i="1">
                            <a:latin typeface="Cambria Math" panose="02040503050406030204" charset="0"/>
                          </a:rPr>
                          <m:t>𝑦</m:t>
                        </m:r>
                      </m:sub>
                    </m:sSub>
                    <m:sSub>
                      <m:sSubPr>
                        <m:ctrlPr>
                          <a:rPr lang="zh-CN" altLang="en-US" sz="2800" i="1">
                            <a:latin typeface="Cambria Math" panose="02040503050406030204" charset="0"/>
                          </a:rPr>
                        </m:ctrlPr>
                      </m:sSubPr>
                      <m:e>
                        <m:r>
                          <a:rPr lang="zh-CN" altLang="en-US" sz="2800" b="0" i="1">
                            <a:latin typeface="Cambria Math" panose="02040503050406030204" charset="0"/>
                          </a:rPr>
                          <m:t>𝑏</m:t>
                        </m:r>
                      </m:e>
                      <m:sub>
                        <m:r>
                          <a:rPr lang="zh-CN" altLang="en-US" sz="2800" b="0" i="1">
                            <a:latin typeface="Cambria Math" panose="02040503050406030204" charset="0"/>
                          </a:rPr>
                          <m:t>𝑦</m:t>
                        </m:r>
                      </m:sub>
                    </m:sSub>
                    <m:r>
                      <a:rPr lang="zh-CN" altLang="en-US" sz="2800" b="1" i="1">
                        <a:latin typeface="Cambria Math" panose="02040503050406030204" charset="0"/>
                      </a:rPr>
                      <m:t>𝒋</m:t>
                    </m:r>
                    <m:r>
                      <a:rPr lang="zh-CN" altLang="en-US" sz="2800" b="0" i="1">
                        <a:latin typeface="Cambria Math" panose="02040503050406030204" charset="0"/>
                      </a:rPr>
                      <m:t>×</m:t>
                    </m:r>
                    <m:r>
                      <a:rPr lang="zh-CN" altLang="en-US" sz="2800" b="1" i="1">
                        <a:latin typeface="Cambria Math" panose="02040503050406030204" charset="0"/>
                      </a:rPr>
                      <m:t>𝒋</m:t>
                    </m:r>
                    <m:r>
                      <a:rPr lang="zh-CN" altLang="en-US" sz="2800" b="0" i="1">
                        <a:latin typeface="Cambria Math" panose="02040503050406030204" charset="0"/>
                      </a:rPr>
                      <m:t>+</m:t>
                    </m:r>
                    <m:sSub>
                      <m:sSubPr>
                        <m:ctrlPr>
                          <a:rPr lang="zh-CN" altLang="en-US" sz="2800" i="1">
                            <a:latin typeface="Cambria Math" panose="02040503050406030204" charset="0"/>
                          </a:rPr>
                        </m:ctrlPr>
                      </m:sSubPr>
                      <m:e>
                        <m:r>
                          <a:rPr lang="zh-CN" altLang="en-US" sz="2800" b="0" i="1">
                            <a:latin typeface="Cambria Math" panose="02040503050406030204" charset="0"/>
                          </a:rPr>
                          <m:t>𝑎</m:t>
                        </m:r>
                      </m:e>
                      <m:sub>
                        <m:r>
                          <a:rPr lang="zh-CN" altLang="en-US" sz="2800" b="0" i="1">
                            <a:latin typeface="Cambria Math" panose="02040503050406030204" charset="0"/>
                          </a:rPr>
                          <m:t>𝑦</m:t>
                        </m:r>
                      </m:sub>
                    </m:sSub>
                    <m:sSub>
                      <m:sSubPr>
                        <m:ctrlPr>
                          <a:rPr lang="zh-CN" altLang="en-US" sz="2800" i="1">
                            <a:latin typeface="Cambria Math" panose="02040503050406030204" charset="0"/>
                          </a:rPr>
                        </m:ctrlPr>
                      </m:sSubPr>
                      <m:e>
                        <m:r>
                          <a:rPr lang="zh-CN" altLang="en-US" sz="2800" b="0" i="1">
                            <a:latin typeface="Cambria Math" panose="02040503050406030204" charset="0"/>
                          </a:rPr>
                          <m:t>𝑏</m:t>
                        </m:r>
                      </m:e>
                      <m:sub>
                        <m:r>
                          <a:rPr lang="zh-CN" altLang="en-US" sz="2800" b="0" i="1">
                            <a:latin typeface="Cambria Math" panose="02040503050406030204" charset="0"/>
                          </a:rPr>
                          <m:t>𝑧</m:t>
                        </m:r>
                      </m:sub>
                    </m:sSub>
                    <m:r>
                      <a:rPr lang="zh-CN" altLang="en-US" sz="2800" b="1" i="1">
                        <a:latin typeface="Cambria Math" panose="02040503050406030204" charset="0"/>
                      </a:rPr>
                      <m:t>𝒋</m:t>
                    </m:r>
                    <m:r>
                      <a:rPr lang="zh-CN" altLang="en-US" sz="2800" b="0" i="1">
                        <a:latin typeface="Cambria Math" panose="02040503050406030204" charset="0"/>
                      </a:rPr>
                      <m:t>×</m:t>
                    </m:r>
                    <m:r>
                      <a:rPr lang="zh-CN" altLang="en-US" sz="2800" b="1" i="1">
                        <a:latin typeface="Cambria Math" panose="02040503050406030204" charset="0"/>
                      </a:rPr>
                      <m:t>𝒌</m:t>
                    </m:r>
                  </m:oMath>
                </a14:m>
                <a:r>
                  <a:rPr lang="en-US" altLang="zh-CN" sz="2800" b="0" dirty="0">
                    <a:latin typeface="Cambria Math" panose="02040503050406030204" charset="0"/>
                  </a:rPr>
                  <a:t>+</a:t>
                </a:r>
                <a:br>
                  <a:rPr lang="zh-CN" altLang="en-US" sz="2800" b="0" i="1" dirty="0">
                    <a:latin typeface="Cambria Math" panose="02040503050406030204" charset="0"/>
                  </a:rPr>
                </a:br>
                <a14:m>
                  <m:oMathPara xmlns:m="http://schemas.openxmlformats.org/officeDocument/2006/math">
                    <m:oMathParaPr>
                      <m:jc m:val="left"/>
                    </m:oMathParaPr>
                    <m:oMath xmlns:m="http://schemas.openxmlformats.org/officeDocument/2006/math">
                      <m:r>
                        <a:rPr lang="zh-CN" altLang="en-US" sz="2800" i="1">
                          <a:latin typeface="Cambria Math" panose="02040503050406030204" charset="0"/>
                        </a:rPr>
                        <m:t> </m:t>
                      </m:r>
                      <m:r>
                        <a:rPr lang="en-US" altLang="zh-CN" sz="2800" b="0" i="1" smtClean="0">
                          <a:latin typeface="Cambria Math" panose="02040503050406030204" charset="0"/>
                        </a:rPr>
                        <m:t>    </m:t>
                      </m:r>
                      <m:sSub>
                        <m:sSubPr>
                          <m:ctrlPr>
                            <a:rPr lang="zh-CN" altLang="en-US" sz="2800" i="1">
                              <a:latin typeface="Cambria Math" panose="02040503050406030204" charset="0"/>
                            </a:rPr>
                          </m:ctrlPr>
                        </m:sSubPr>
                        <m:e>
                          <m:r>
                            <a:rPr lang="zh-CN" altLang="en-US" sz="2800" b="0" i="1">
                              <a:latin typeface="Cambria Math" panose="02040503050406030204" charset="0"/>
                            </a:rPr>
                            <m:t>𝑎</m:t>
                          </m:r>
                        </m:e>
                        <m:sub>
                          <m:r>
                            <a:rPr lang="zh-CN" altLang="en-US" sz="2800" b="0" i="1">
                              <a:latin typeface="Cambria Math" panose="02040503050406030204" charset="0"/>
                            </a:rPr>
                            <m:t>𝑧</m:t>
                          </m:r>
                        </m:sub>
                      </m:sSub>
                      <m:sSub>
                        <m:sSubPr>
                          <m:ctrlPr>
                            <a:rPr lang="zh-CN" altLang="en-US" sz="2800" i="1">
                              <a:latin typeface="Cambria Math" panose="02040503050406030204" charset="0"/>
                            </a:rPr>
                          </m:ctrlPr>
                        </m:sSubPr>
                        <m:e>
                          <m:r>
                            <a:rPr lang="zh-CN" altLang="en-US" sz="2800" b="0" i="1">
                              <a:latin typeface="Cambria Math" panose="02040503050406030204" charset="0"/>
                            </a:rPr>
                            <m:t>𝑏</m:t>
                          </m:r>
                        </m:e>
                        <m:sub>
                          <m:r>
                            <a:rPr lang="zh-CN" altLang="en-US" sz="2800" b="0" i="1">
                              <a:latin typeface="Cambria Math" panose="02040503050406030204" charset="0"/>
                            </a:rPr>
                            <m:t>𝑥</m:t>
                          </m:r>
                        </m:sub>
                      </m:sSub>
                      <m:r>
                        <a:rPr lang="zh-CN" altLang="en-US" sz="2800" b="1" i="1">
                          <a:latin typeface="Cambria Math" panose="02040503050406030204" charset="0"/>
                        </a:rPr>
                        <m:t>𝒌</m:t>
                      </m:r>
                      <m:r>
                        <a:rPr lang="zh-CN" altLang="en-US" sz="2800" b="0" i="1">
                          <a:latin typeface="Cambria Math" panose="02040503050406030204" charset="0"/>
                        </a:rPr>
                        <m:t>×</m:t>
                      </m:r>
                      <m:r>
                        <a:rPr lang="zh-CN" altLang="en-US" sz="2800" b="1" i="1">
                          <a:latin typeface="Cambria Math" panose="02040503050406030204" charset="0"/>
                        </a:rPr>
                        <m:t>𝒊</m:t>
                      </m:r>
                      <m:r>
                        <a:rPr lang="zh-CN" altLang="en-US" sz="2800" b="0" i="1">
                          <a:latin typeface="Cambria Math" panose="02040503050406030204" charset="0"/>
                        </a:rPr>
                        <m:t>+</m:t>
                      </m:r>
                      <m:sSub>
                        <m:sSubPr>
                          <m:ctrlPr>
                            <a:rPr lang="zh-CN" altLang="en-US" sz="2800" i="1">
                              <a:latin typeface="Cambria Math" panose="02040503050406030204" charset="0"/>
                            </a:rPr>
                          </m:ctrlPr>
                        </m:sSubPr>
                        <m:e>
                          <m:r>
                            <a:rPr lang="zh-CN" altLang="en-US" sz="2800" b="0" i="1">
                              <a:latin typeface="Cambria Math" panose="02040503050406030204" charset="0"/>
                            </a:rPr>
                            <m:t>𝑎</m:t>
                          </m:r>
                        </m:e>
                        <m:sub>
                          <m:r>
                            <a:rPr lang="zh-CN" altLang="en-US" sz="2800" b="0" i="1">
                              <a:latin typeface="Cambria Math" panose="02040503050406030204" charset="0"/>
                            </a:rPr>
                            <m:t>𝑧</m:t>
                          </m:r>
                        </m:sub>
                      </m:sSub>
                      <m:sSub>
                        <m:sSubPr>
                          <m:ctrlPr>
                            <a:rPr lang="zh-CN" altLang="en-US" sz="2800" i="1">
                              <a:latin typeface="Cambria Math" panose="02040503050406030204" charset="0"/>
                            </a:rPr>
                          </m:ctrlPr>
                        </m:sSubPr>
                        <m:e>
                          <m:r>
                            <a:rPr lang="zh-CN" altLang="en-US" sz="2800" b="0" i="1">
                              <a:latin typeface="Cambria Math" panose="02040503050406030204" charset="0"/>
                            </a:rPr>
                            <m:t>𝑏</m:t>
                          </m:r>
                        </m:e>
                        <m:sub>
                          <m:r>
                            <a:rPr lang="zh-CN" altLang="en-US" sz="2800" b="0" i="1">
                              <a:latin typeface="Cambria Math" panose="02040503050406030204" charset="0"/>
                            </a:rPr>
                            <m:t>𝑦</m:t>
                          </m:r>
                        </m:sub>
                      </m:sSub>
                      <m:r>
                        <a:rPr lang="zh-CN" altLang="en-US" sz="2800" b="1" i="1">
                          <a:latin typeface="Cambria Math" panose="02040503050406030204" charset="0"/>
                        </a:rPr>
                        <m:t>𝒌</m:t>
                      </m:r>
                      <m:r>
                        <a:rPr lang="zh-CN" altLang="en-US" sz="2800" b="0" i="1">
                          <a:latin typeface="Cambria Math" panose="02040503050406030204" charset="0"/>
                        </a:rPr>
                        <m:t>×</m:t>
                      </m:r>
                      <m:r>
                        <a:rPr lang="zh-CN" altLang="en-US" sz="2800" b="1" i="1">
                          <a:latin typeface="Cambria Math" panose="02040503050406030204" charset="0"/>
                        </a:rPr>
                        <m:t>𝒋</m:t>
                      </m:r>
                      <m:r>
                        <a:rPr lang="zh-CN" altLang="en-US" sz="2800" b="0" i="1">
                          <a:latin typeface="Cambria Math" panose="02040503050406030204" charset="0"/>
                        </a:rPr>
                        <m:t>+</m:t>
                      </m:r>
                      <m:sSub>
                        <m:sSubPr>
                          <m:ctrlPr>
                            <a:rPr lang="zh-CN" altLang="en-US" sz="2800" i="1">
                              <a:latin typeface="Cambria Math" panose="02040503050406030204" charset="0"/>
                            </a:rPr>
                          </m:ctrlPr>
                        </m:sSubPr>
                        <m:e>
                          <m:r>
                            <a:rPr lang="zh-CN" altLang="en-US" sz="2800" b="0" i="1">
                              <a:latin typeface="Cambria Math" panose="02040503050406030204" charset="0"/>
                            </a:rPr>
                            <m:t>𝑎</m:t>
                          </m:r>
                        </m:e>
                        <m:sub>
                          <m:r>
                            <a:rPr lang="zh-CN" altLang="en-US" sz="2800" b="0" i="1">
                              <a:latin typeface="Cambria Math" panose="02040503050406030204" charset="0"/>
                            </a:rPr>
                            <m:t>𝑧</m:t>
                          </m:r>
                        </m:sub>
                      </m:sSub>
                      <m:sSub>
                        <m:sSubPr>
                          <m:ctrlPr>
                            <a:rPr lang="zh-CN" altLang="en-US" sz="2800" i="1">
                              <a:latin typeface="Cambria Math" panose="02040503050406030204" charset="0"/>
                            </a:rPr>
                          </m:ctrlPr>
                        </m:sSubPr>
                        <m:e>
                          <m:r>
                            <a:rPr lang="zh-CN" altLang="en-US" sz="2800" b="0" i="1">
                              <a:latin typeface="Cambria Math" panose="02040503050406030204" charset="0"/>
                            </a:rPr>
                            <m:t>𝑏</m:t>
                          </m:r>
                        </m:e>
                        <m:sub>
                          <m:r>
                            <a:rPr lang="zh-CN" altLang="en-US" sz="2800" b="0" i="1">
                              <a:latin typeface="Cambria Math" panose="02040503050406030204" charset="0"/>
                            </a:rPr>
                            <m:t>𝑧</m:t>
                          </m:r>
                        </m:sub>
                      </m:sSub>
                      <m:r>
                        <a:rPr lang="zh-CN" altLang="en-US" sz="2800" b="1" i="1">
                          <a:latin typeface="Cambria Math" panose="02040503050406030204" charset="0"/>
                        </a:rPr>
                        <m:t>𝒌</m:t>
                      </m:r>
                      <m:r>
                        <a:rPr lang="zh-CN" altLang="en-US" sz="2800" b="0" i="1">
                          <a:latin typeface="Cambria Math" panose="02040503050406030204" charset="0"/>
                        </a:rPr>
                        <m:t>×</m:t>
                      </m:r>
                      <m:r>
                        <a:rPr lang="zh-CN" altLang="en-US" sz="2800" b="1" i="1">
                          <a:latin typeface="Cambria Math" panose="02040503050406030204" charset="0"/>
                        </a:rPr>
                        <m:t>𝒌</m:t>
                      </m:r>
                    </m:oMath>
                  </m:oMathPara>
                </a14:m>
                <a:endParaRPr lang="zh-CN" altLang="en-US" sz="2800" b="1" i="1" dirty="0"/>
              </a:p>
            </p:txBody>
          </p:sp>
        </mc:Choice>
        <mc:Fallback>
          <p:sp>
            <p:nvSpPr>
              <p:cNvPr id="21553" name="Object 49"/>
              <p:cNvSpPr txBox="1">
                <a:spLocks noRot="1" noChangeAspect="1" noMove="1" noResize="1" noEditPoints="1" noAdjustHandles="1" noChangeArrowheads="1" noChangeShapeType="1" noTextEdit="1"/>
              </p:cNvSpPr>
              <p:nvPr/>
            </p:nvSpPr>
            <p:spPr bwMode="auto">
              <a:xfrm>
                <a:off x="1937137" y="2985753"/>
                <a:ext cx="6337811" cy="1889125"/>
              </a:xfrm>
              <a:prstGeom prst="rect">
                <a:avLst/>
              </a:prstGeom>
              <a:blipFill rotWithShape="1">
                <a:blip r:embed="rId3"/>
                <a:stretch>
                  <a:fillRect l="-6" t="-33" r="4" b="33"/>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555" name="Object 51"/>
              <p:cNvSpPr txBox="1"/>
              <p:nvPr/>
            </p:nvSpPr>
            <p:spPr bwMode="auto">
              <a:xfrm>
                <a:off x="1937137" y="4900278"/>
                <a:ext cx="3008243" cy="614363"/>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800" b="0" i="1">
                          <a:latin typeface="Cambria Math" panose="02040503050406030204" charset="0"/>
                        </a:rPr>
                        <m:t>=(</m:t>
                      </m:r>
                      <m:sSub>
                        <m:sSubPr>
                          <m:ctrlPr>
                            <a:rPr lang="zh-CN" altLang="en-US" sz="2800" i="1">
                              <a:latin typeface="Cambria Math" panose="02040503050406030204" charset="0"/>
                            </a:rPr>
                          </m:ctrlPr>
                        </m:sSubPr>
                        <m:e>
                          <m:r>
                            <a:rPr lang="zh-CN" altLang="en-US" sz="2800" b="0" i="1">
                              <a:latin typeface="Cambria Math" panose="02040503050406030204" charset="0"/>
                            </a:rPr>
                            <m:t>𝑎</m:t>
                          </m:r>
                        </m:e>
                        <m:sub>
                          <m:r>
                            <a:rPr lang="zh-CN" altLang="en-US" sz="2800" b="0" i="1">
                              <a:latin typeface="Cambria Math" panose="02040503050406030204" charset="0"/>
                            </a:rPr>
                            <m:t>𝑦</m:t>
                          </m:r>
                        </m:sub>
                      </m:sSub>
                      <m:sSub>
                        <m:sSubPr>
                          <m:ctrlPr>
                            <a:rPr lang="zh-CN" altLang="en-US" sz="2800" i="1">
                              <a:latin typeface="Cambria Math" panose="02040503050406030204" charset="0"/>
                            </a:rPr>
                          </m:ctrlPr>
                        </m:sSubPr>
                        <m:e>
                          <m:r>
                            <a:rPr lang="zh-CN" altLang="en-US" sz="2800" b="0" i="1">
                              <a:latin typeface="Cambria Math" panose="02040503050406030204" charset="0"/>
                            </a:rPr>
                            <m:t>𝑏</m:t>
                          </m:r>
                        </m:e>
                        <m:sub>
                          <m:r>
                            <a:rPr lang="zh-CN" altLang="en-US" sz="2800" b="0" i="1">
                              <a:latin typeface="Cambria Math" panose="02040503050406030204" charset="0"/>
                            </a:rPr>
                            <m:t>𝑧</m:t>
                          </m:r>
                        </m:sub>
                      </m:sSub>
                      <m:r>
                        <a:rPr lang="zh-CN" altLang="en-US" sz="2800" b="0" i="1">
                          <a:latin typeface="Cambria Math" panose="02040503050406030204" charset="0"/>
                        </a:rPr>
                        <m:t>−</m:t>
                      </m:r>
                      <m:sSub>
                        <m:sSubPr>
                          <m:ctrlPr>
                            <a:rPr lang="zh-CN" altLang="en-US" sz="2800" i="1">
                              <a:latin typeface="Cambria Math" panose="02040503050406030204" charset="0"/>
                            </a:rPr>
                          </m:ctrlPr>
                        </m:sSubPr>
                        <m:e>
                          <m:r>
                            <a:rPr lang="zh-CN" altLang="en-US" sz="2800" b="0" i="1">
                              <a:latin typeface="Cambria Math" panose="02040503050406030204" charset="0"/>
                            </a:rPr>
                            <m:t>𝑎</m:t>
                          </m:r>
                        </m:e>
                        <m:sub>
                          <m:r>
                            <a:rPr lang="zh-CN" altLang="en-US" sz="2800" b="0" i="1">
                              <a:latin typeface="Cambria Math" panose="02040503050406030204" charset="0"/>
                            </a:rPr>
                            <m:t>𝑧</m:t>
                          </m:r>
                        </m:sub>
                      </m:sSub>
                      <m:sSub>
                        <m:sSubPr>
                          <m:ctrlPr>
                            <a:rPr lang="zh-CN" altLang="en-US" sz="2800" i="1">
                              <a:latin typeface="Cambria Math" panose="02040503050406030204" charset="0"/>
                            </a:rPr>
                          </m:ctrlPr>
                        </m:sSubPr>
                        <m:e>
                          <m:r>
                            <a:rPr lang="zh-CN" altLang="en-US" sz="2800" b="0" i="1">
                              <a:latin typeface="Cambria Math" panose="02040503050406030204" charset="0"/>
                            </a:rPr>
                            <m:t>𝑏</m:t>
                          </m:r>
                        </m:e>
                        <m:sub>
                          <m:r>
                            <a:rPr lang="zh-CN" altLang="en-US" sz="2800" b="0" i="1">
                              <a:latin typeface="Cambria Math" panose="02040503050406030204" charset="0"/>
                            </a:rPr>
                            <m:t>𝑦</m:t>
                          </m:r>
                        </m:sub>
                      </m:sSub>
                      <m:r>
                        <a:rPr lang="zh-CN" altLang="en-US" sz="2800" b="0" i="1">
                          <a:latin typeface="Cambria Math" panose="02040503050406030204" charset="0"/>
                        </a:rPr>
                        <m:t>)</m:t>
                      </m:r>
                      <m:r>
                        <a:rPr lang="zh-CN" altLang="en-US" sz="2800" b="1" i="1">
                          <a:latin typeface="Cambria Math" panose="02040503050406030204" charset="0"/>
                        </a:rPr>
                        <m:t>𝒊</m:t>
                      </m:r>
                    </m:oMath>
                  </m:oMathPara>
                </a14:m>
                <a:endParaRPr lang="zh-CN" altLang="en-US" sz="2800" b="1" i="1" dirty="0"/>
              </a:p>
            </p:txBody>
          </p:sp>
        </mc:Choice>
        <mc:Fallback>
          <p:sp>
            <p:nvSpPr>
              <p:cNvPr id="21555" name="Object 51"/>
              <p:cNvSpPr txBox="1">
                <a:spLocks noRot="1" noChangeAspect="1" noMove="1" noResize="1" noEditPoints="1" noAdjustHandles="1" noChangeArrowheads="1" noChangeShapeType="1" noTextEdit="1"/>
              </p:cNvSpPr>
              <p:nvPr/>
            </p:nvSpPr>
            <p:spPr bwMode="auto">
              <a:xfrm>
                <a:off x="1937137" y="4900278"/>
                <a:ext cx="3008243" cy="614363"/>
              </a:xfrm>
              <a:prstGeom prst="rect">
                <a:avLst/>
              </a:prstGeom>
              <a:blipFill rotWithShape="1">
                <a:blip r:embed="rId4"/>
                <a:stretch>
                  <a:fillRect l="-13" t="-101" b="49"/>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558" name="Object 54"/>
              <p:cNvSpPr txBox="1"/>
              <p:nvPr/>
            </p:nvSpPr>
            <p:spPr bwMode="auto">
              <a:xfrm>
                <a:off x="4646269" y="4916153"/>
                <a:ext cx="2928012" cy="582612"/>
              </a:xfrm>
              <a:prstGeom prst="rect">
                <a:avLst/>
              </a:prstGeom>
              <a:noFill/>
              <a:ln>
                <a:noFill/>
              </a:ln>
              <a:effectLst/>
            </p:spPr>
            <p:txBody>
              <a:bodyPr>
                <a:noAutofit/>
              </a:bodyPr>
              <a:lstStyle/>
              <a:p>
                <a:pPr>
                  <a:spcBef>
                    <a:spcPct val="50000"/>
                  </a:spcBef>
                </a:pPr>
                <a14:m>
                  <m:oMathPara xmlns:m="http://schemas.openxmlformats.org/officeDocument/2006/math">
                    <m:oMathParaPr>
                      <m:jc m:val="left"/>
                    </m:oMathParaPr>
                    <m:oMath xmlns:m="http://schemas.openxmlformats.org/officeDocument/2006/math">
                      <m:r>
                        <a:rPr lang="zh-CN" altLang="en-US" sz="2800" b="0" i="1">
                          <a:latin typeface="Cambria Math" panose="02040503050406030204" charset="0"/>
                        </a:rPr>
                        <m:t>+(</m:t>
                      </m:r>
                      <m:sSub>
                        <m:sSubPr>
                          <m:ctrlPr>
                            <a:rPr lang="zh-CN" altLang="en-US" sz="2800" i="1">
                              <a:latin typeface="Cambria Math" panose="02040503050406030204" charset="0"/>
                            </a:rPr>
                          </m:ctrlPr>
                        </m:sSubPr>
                        <m:e>
                          <m:r>
                            <a:rPr lang="zh-CN" altLang="en-US" sz="2800" b="0" i="1">
                              <a:latin typeface="Cambria Math" panose="02040503050406030204" charset="0"/>
                            </a:rPr>
                            <m:t>𝑎</m:t>
                          </m:r>
                        </m:e>
                        <m:sub>
                          <m:r>
                            <a:rPr lang="zh-CN" altLang="en-US" sz="2800" b="0" i="1">
                              <a:latin typeface="Cambria Math" panose="02040503050406030204" charset="0"/>
                            </a:rPr>
                            <m:t>𝑧</m:t>
                          </m:r>
                        </m:sub>
                      </m:sSub>
                      <m:sSub>
                        <m:sSubPr>
                          <m:ctrlPr>
                            <a:rPr lang="zh-CN" altLang="en-US" sz="2800" i="1">
                              <a:latin typeface="Cambria Math" panose="02040503050406030204" charset="0"/>
                            </a:rPr>
                          </m:ctrlPr>
                        </m:sSubPr>
                        <m:e>
                          <m:r>
                            <a:rPr lang="zh-CN" altLang="en-US" sz="2800" b="0" i="1">
                              <a:latin typeface="Cambria Math" panose="02040503050406030204" charset="0"/>
                            </a:rPr>
                            <m:t>𝑏</m:t>
                          </m:r>
                        </m:e>
                        <m:sub>
                          <m:r>
                            <a:rPr lang="zh-CN" altLang="en-US" sz="2800" b="0" i="1">
                              <a:latin typeface="Cambria Math" panose="02040503050406030204" charset="0"/>
                            </a:rPr>
                            <m:t>𝑥</m:t>
                          </m:r>
                        </m:sub>
                      </m:sSub>
                      <m:r>
                        <a:rPr lang="zh-CN" altLang="en-US" sz="2800" b="0" i="1">
                          <a:latin typeface="Cambria Math" panose="02040503050406030204" charset="0"/>
                        </a:rPr>
                        <m:t>−</m:t>
                      </m:r>
                      <m:sSub>
                        <m:sSubPr>
                          <m:ctrlPr>
                            <a:rPr lang="zh-CN" altLang="en-US" sz="2800" i="1">
                              <a:latin typeface="Cambria Math" panose="02040503050406030204" charset="0"/>
                            </a:rPr>
                          </m:ctrlPr>
                        </m:sSubPr>
                        <m:e>
                          <m:r>
                            <a:rPr lang="zh-CN" altLang="en-US" sz="2800" b="0" i="1">
                              <a:latin typeface="Cambria Math" panose="02040503050406030204" charset="0"/>
                            </a:rPr>
                            <m:t>𝑎</m:t>
                          </m:r>
                        </m:e>
                        <m:sub>
                          <m:r>
                            <a:rPr lang="zh-CN" altLang="en-US" sz="2800" b="0" i="1">
                              <a:latin typeface="Cambria Math" panose="02040503050406030204" charset="0"/>
                            </a:rPr>
                            <m:t>𝑥</m:t>
                          </m:r>
                        </m:sub>
                      </m:sSub>
                      <m:sSub>
                        <m:sSubPr>
                          <m:ctrlPr>
                            <a:rPr lang="zh-CN" altLang="en-US" sz="2800" i="1">
                              <a:latin typeface="Cambria Math" panose="02040503050406030204" charset="0"/>
                            </a:rPr>
                          </m:ctrlPr>
                        </m:sSubPr>
                        <m:e>
                          <m:r>
                            <a:rPr lang="zh-CN" altLang="en-US" sz="2800" b="0" i="1">
                              <a:latin typeface="Cambria Math" panose="02040503050406030204" charset="0"/>
                            </a:rPr>
                            <m:t>𝑏</m:t>
                          </m:r>
                        </m:e>
                        <m:sub>
                          <m:r>
                            <a:rPr lang="zh-CN" altLang="en-US" sz="2800" b="0" i="1">
                              <a:latin typeface="Cambria Math" panose="02040503050406030204" charset="0"/>
                            </a:rPr>
                            <m:t>𝑧</m:t>
                          </m:r>
                        </m:sub>
                      </m:sSub>
                      <m:r>
                        <a:rPr lang="zh-CN" altLang="en-US" sz="2800" b="0" i="1">
                          <a:latin typeface="Cambria Math" panose="02040503050406030204" charset="0"/>
                        </a:rPr>
                        <m:t>)</m:t>
                      </m:r>
                      <m:r>
                        <a:rPr lang="zh-CN" altLang="en-US" sz="2800" b="1" i="1">
                          <a:latin typeface="Cambria Math" panose="02040503050406030204" charset="0"/>
                        </a:rPr>
                        <m:t>𝒋</m:t>
                      </m:r>
                    </m:oMath>
                  </m:oMathPara>
                </a14:m>
                <a:endParaRPr lang="zh-CN" altLang="en-US" sz="2800" b="1" i="1" dirty="0"/>
              </a:p>
            </p:txBody>
          </p:sp>
        </mc:Choice>
        <mc:Fallback>
          <p:sp>
            <p:nvSpPr>
              <p:cNvPr id="21558" name="Object 54"/>
              <p:cNvSpPr txBox="1">
                <a:spLocks noRot="1" noChangeAspect="1" noMove="1" noResize="1" noEditPoints="1" noAdjustHandles="1" noChangeArrowheads="1" noChangeShapeType="1" noTextEdit="1"/>
              </p:cNvSpPr>
              <p:nvPr/>
            </p:nvSpPr>
            <p:spPr bwMode="auto">
              <a:xfrm>
                <a:off x="4646269" y="4916153"/>
                <a:ext cx="2928012" cy="582612"/>
              </a:xfrm>
              <a:prstGeom prst="rect">
                <a:avLst/>
              </a:prstGeom>
              <a:blipFill rotWithShape="1">
                <a:blip r:embed="rId5"/>
                <a:stretch>
                  <a:fillRect l="-21" t="-106" b="51"/>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561" name="Object 57"/>
              <p:cNvSpPr txBox="1"/>
              <p:nvPr/>
            </p:nvSpPr>
            <p:spPr bwMode="auto">
              <a:xfrm>
                <a:off x="7219918" y="4900278"/>
                <a:ext cx="3256530" cy="614363"/>
              </a:xfrm>
              <a:prstGeom prst="rect">
                <a:avLst/>
              </a:prstGeom>
              <a:noFill/>
              <a:ln>
                <a:noFill/>
              </a:ln>
              <a:effectLst/>
            </p:spPr>
            <p:txBody>
              <a:bodyPr>
                <a:noAutofit/>
              </a:bodyPr>
              <a:lstStyle/>
              <a:p>
                <a:pPr>
                  <a:spcBef>
                    <a:spcPct val="50000"/>
                  </a:spcBef>
                </a:pPr>
                <a14:m>
                  <m:oMathPara xmlns:m="http://schemas.openxmlformats.org/officeDocument/2006/math">
                    <m:oMathParaPr>
                      <m:jc m:val="left"/>
                    </m:oMathParaPr>
                    <m:oMath xmlns:m="http://schemas.openxmlformats.org/officeDocument/2006/math">
                      <m:r>
                        <a:rPr lang="zh-CN" altLang="en-US" sz="2800" b="0" i="1">
                          <a:latin typeface="Cambria Math" panose="02040503050406030204" charset="0"/>
                        </a:rPr>
                        <m:t>+(</m:t>
                      </m:r>
                      <m:sSub>
                        <m:sSubPr>
                          <m:ctrlPr>
                            <a:rPr lang="zh-CN" altLang="en-US" sz="2800" i="1">
                              <a:latin typeface="Cambria Math" panose="02040503050406030204" charset="0"/>
                            </a:rPr>
                          </m:ctrlPr>
                        </m:sSubPr>
                        <m:e>
                          <m:r>
                            <a:rPr lang="zh-CN" altLang="en-US" sz="2800" b="0" i="1">
                              <a:latin typeface="Cambria Math" panose="02040503050406030204" charset="0"/>
                            </a:rPr>
                            <m:t>𝑎</m:t>
                          </m:r>
                        </m:e>
                        <m:sub>
                          <m:r>
                            <a:rPr lang="zh-CN" altLang="en-US" sz="2800" b="0" i="1">
                              <a:latin typeface="Cambria Math" panose="02040503050406030204" charset="0"/>
                            </a:rPr>
                            <m:t>𝑥</m:t>
                          </m:r>
                        </m:sub>
                      </m:sSub>
                      <m:sSub>
                        <m:sSubPr>
                          <m:ctrlPr>
                            <a:rPr lang="zh-CN" altLang="en-US" sz="2800" i="1">
                              <a:latin typeface="Cambria Math" panose="02040503050406030204" charset="0"/>
                            </a:rPr>
                          </m:ctrlPr>
                        </m:sSubPr>
                        <m:e>
                          <m:r>
                            <a:rPr lang="zh-CN" altLang="en-US" sz="2800" b="0" i="1">
                              <a:latin typeface="Cambria Math" panose="02040503050406030204" charset="0"/>
                            </a:rPr>
                            <m:t>𝑏</m:t>
                          </m:r>
                        </m:e>
                        <m:sub>
                          <m:r>
                            <a:rPr lang="zh-CN" altLang="en-US" sz="2800" b="0" i="1">
                              <a:latin typeface="Cambria Math" panose="02040503050406030204" charset="0"/>
                            </a:rPr>
                            <m:t>𝑦</m:t>
                          </m:r>
                        </m:sub>
                      </m:sSub>
                      <m:r>
                        <a:rPr lang="zh-CN" altLang="en-US" sz="2800" b="0" i="1">
                          <a:latin typeface="Cambria Math" panose="02040503050406030204" charset="0"/>
                        </a:rPr>
                        <m:t>−</m:t>
                      </m:r>
                      <m:sSub>
                        <m:sSubPr>
                          <m:ctrlPr>
                            <a:rPr lang="zh-CN" altLang="en-US" sz="2800" i="1">
                              <a:latin typeface="Cambria Math" panose="02040503050406030204" charset="0"/>
                            </a:rPr>
                          </m:ctrlPr>
                        </m:sSubPr>
                        <m:e>
                          <m:r>
                            <a:rPr lang="zh-CN" altLang="en-US" sz="2800" b="0" i="1">
                              <a:latin typeface="Cambria Math" panose="02040503050406030204" charset="0"/>
                            </a:rPr>
                            <m:t>𝑎</m:t>
                          </m:r>
                        </m:e>
                        <m:sub>
                          <m:r>
                            <a:rPr lang="zh-CN" altLang="en-US" sz="2800" b="0" i="1">
                              <a:latin typeface="Cambria Math" panose="02040503050406030204" charset="0"/>
                            </a:rPr>
                            <m:t>𝑦</m:t>
                          </m:r>
                        </m:sub>
                      </m:sSub>
                      <m:sSub>
                        <m:sSubPr>
                          <m:ctrlPr>
                            <a:rPr lang="zh-CN" altLang="en-US" sz="2800" i="1">
                              <a:latin typeface="Cambria Math" panose="02040503050406030204" charset="0"/>
                            </a:rPr>
                          </m:ctrlPr>
                        </m:sSubPr>
                        <m:e>
                          <m:r>
                            <a:rPr lang="zh-CN" altLang="en-US" sz="2800" b="0" i="1">
                              <a:latin typeface="Cambria Math" panose="02040503050406030204" charset="0"/>
                            </a:rPr>
                            <m:t>𝑏</m:t>
                          </m:r>
                        </m:e>
                        <m:sub>
                          <m:r>
                            <a:rPr lang="zh-CN" altLang="en-US" sz="2800" b="0" i="1">
                              <a:latin typeface="Cambria Math" panose="02040503050406030204" charset="0"/>
                            </a:rPr>
                            <m:t>𝑥</m:t>
                          </m:r>
                        </m:sub>
                      </m:sSub>
                      <m:r>
                        <a:rPr lang="zh-CN" altLang="en-US" sz="2800" b="0" i="1">
                          <a:latin typeface="Cambria Math" panose="02040503050406030204" charset="0"/>
                        </a:rPr>
                        <m:t>)</m:t>
                      </m:r>
                      <m:r>
                        <a:rPr lang="zh-CN" altLang="en-US" sz="2800" b="1" i="1">
                          <a:latin typeface="Cambria Math" panose="02040503050406030204" charset="0"/>
                        </a:rPr>
                        <m:t>𝒌</m:t>
                      </m:r>
                      <m:r>
                        <a:rPr lang="zh-CN" altLang="en-US" sz="2800" b="0" i="1">
                          <a:latin typeface="Cambria Math" panose="02040503050406030204" charset="0"/>
                        </a:rPr>
                        <m:t>.</m:t>
                      </m:r>
                    </m:oMath>
                  </m:oMathPara>
                </a14:m>
                <a:endParaRPr lang="zh-CN" altLang="en-US" sz="2800" i="1" dirty="0"/>
              </a:p>
            </p:txBody>
          </p:sp>
        </mc:Choice>
        <mc:Fallback>
          <p:sp>
            <p:nvSpPr>
              <p:cNvPr id="21561" name="Object 57"/>
              <p:cNvSpPr txBox="1">
                <a:spLocks noRot="1" noChangeAspect="1" noMove="1" noResize="1" noEditPoints="1" noAdjustHandles="1" noChangeArrowheads="1" noChangeShapeType="1" noTextEdit="1"/>
              </p:cNvSpPr>
              <p:nvPr/>
            </p:nvSpPr>
            <p:spPr bwMode="auto">
              <a:xfrm>
                <a:off x="7219918" y="4900278"/>
                <a:ext cx="3256530" cy="614363"/>
              </a:xfrm>
              <a:prstGeom prst="rect">
                <a:avLst/>
              </a:prstGeom>
              <a:blipFill rotWithShape="1">
                <a:blip r:embed="rId6"/>
                <a:stretch>
                  <a:fillRect l="-19" t="-101" r="7" b="49"/>
                </a:stretch>
              </a:blipFill>
              <a:ln>
                <a:noFill/>
              </a:ln>
              <a:effec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548"/>
                                        </p:tgtEl>
                                        <p:attrNameLst>
                                          <p:attrName>style.visibility</p:attrName>
                                        </p:attrNameLst>
                                      </p:cBhvr>
                                      <p:to>
                                        <p:strVal val="visible"/>
                                      </p:to>
                                    </p:set>
                                    <p:animEffect transition="in" filter="wipe(left)">
                                      <p:cBhvr>
                                        <p:cTn id="7" dur="500"/>
                                        <p:tgtEl>
                                          <p:spTgt spid="2154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549"/>
                                        </p:tgtEl>
                                        <p:attrNameLst>
                                          <p:attrName>style.visibility</p:attrName>
                                        </p:attrNameLst>
                                      </p:cBhvr>
                                      <p:to>
                                        <p:strVal val="visible"/>
                                      </p:to>
                                    </p:set>
                                    <p:animEffect transition="in" filter="wipe(left)">
                                      <p:cBhvr>
                                        <p:cTn id="12" dur="500"/>
                                        <p:tgtEl>
                                          <p:spTgt spid="21549"/>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1550">
                                            <p:txEl>
                                              <p:pRg st="4294967295" end="4294967295"/>
                                            </p:txEl>
                                          </p:spTgt>
                                        </p:tgtEl>
                                        <p:attrNameLst>
                                          <p:attrName>style.visibility</p:attrName>
                                        </p:attrNameLst>
                                      </p:cBhvr>
                                      <p:to>
                                        <p:strVal val="visible"/>
                                      </p:to>
                                    </p:set>
                                    <p:animEffect transition="in" filter="wipe(left)">
                                      <p:cBhvr>
                                        <p:cTn id="20" dur="500"/>
                                        <p:tgtEl>
                                          <p:spTgt spid="21550">
                                            <p:txEl>
                                              <p:pRg st="4294967295" end="429496729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1550">
                                            <p:txEl>
                                              <p:pRg st="0" end="0"/>
                                            </p:txEl>
                                          </p:spTgt>
                                        </p:tgtEl>
                                        <p:attrNameLst>
                                          <p:attrName>style.visibility</p:attrName>
                                        </p:attrNameLst>
                                      </p:cBhvr>
                                      <p:to>
                                        <p:strVal val="visible"/>
                                      </p:to>
                                    </p:set>
                                    <p:animEffect transition="in" filter="wipe(left)">
                                      <p:cBhvr>
                                        <p:cTn id="25" dur="500"/>
                                        <p:tgtEl>
                                          <p:spTgt spid="21550">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1551"/>
                                        </p:tgtEl>
                                        <p:attrNameLst>
                                          <p:attrName>style.visibility</p:attrName>
                                        </p:attrNameLst>
                                      </p:cBhvr>
                                      <p:to>
                                        <p:strVal val="visible"/>
                                      </p:to>
                                    </p:set>
                                    <p:animEffect transition="in" filter="wipe(left)">
                                      <p:cBhvr>
                                        <p:cTn id="30" dur="500"/>
                                        <p:tgtEl>
                                          <p:spTgt spid="2155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1552"/>
                                        </p:tgtEl>
                                        <p:attrNameLst>
                                          <p:attrName>style.visibility</p:attrName>
                                        </p:attrNameLst>
                                      </p:cBhvr>
                                      <p:to>
                                        <p:strVal val="visible"/>
                                      </p:to>
                                    </p:set>
                                    <p:animEffect transition="in" filter="wipe(left)">
                                      <p:cBhvr>
                                        <p:cTn id="35" dur="500"/>
                                        <p:tgtEl>
                                          <p:spTgt spid="2155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1553"/>
                                        </p:tgtEl>
                                        <p:attrNameLst>
                                          <p:attrName>style.visibility</p:attrName>
                                        </p:attrNameLst>
                                      </p:cBhvr>
                                      <p:to>
                                        <p:strVal val="visible"/>
                                      </p:to>
                                    </p:set>
                                    <p:animEffect transition="in" filter="wipe(left)">
                                      <p:cBhvr>
                                        <p:cTn id="40" dur="500"/>
                                        <p:tgtEl>
                                          <p:spTgt spid="2155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1555"/>
                                        </p:tgtEl>
                                        <p:attrNameLst>
                                          <p:attrName>style.visibility</p:attrName>
                                        </p:attrNameLst>
                                      </p:cBhvr>
                                      <p:to>
                                        <p:strVal val="visible"/>
                                      </p:to>
                                    </p:set>
                                    <p:animEffect transition="in" filter="wipe(left)">
                                      <p:cBhvr>
                                        <p:cTn id="45" dur="500"/>
                                        <p:tgtEl>
                                          <p:spTgt spid="2155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1558"/>
                                        </p:tgtEl>
                                        <p:attrNameLst>
                                          <p:attrName>style.visibility</p:attrName>
                                        </p:attrNameLst>
                                      </p:cBhvr>
                                      <p:to>
                                        <p:strVal val="visible"/>
                                      </p:to>
                                    </p:set>
                                    <p:animEffect transition="in" filter="wipe(left)">
                                      <p:cBhvr>
                                        <p:cTn id="50" dur="500"/>
                                        <p:tgtEl>
                                          <p:spTgt spid="21558"/>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1561"/>
                                        </p:tgtEl>
                                        <p:attrNameLst>
                                          <p:attrName>style.visibility</p:attrName>
                                        </p:attrNameLst>
                                      </p:cBhvr>
                                      <p:to>
                                        <p:strVal val="visible"/>
                                      </p:to>
                                    </p:set>
                                    <p:animEffect transition="in" filter="wipe(left)">
                                      <p:cBhvr>
                                        <p:cTn id="55" dur="500"/>
                                        <p:tgtEl>
                                          <p:spTgt spid="215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1548" grpId="0" bldLvl="0" animBg="1"/>
      <p:bldP spid="21549" grpId="0" bldLvl="0" animBg="1"/>
      <p:bldP spid="21550" grpId="0" build="p"/>
      <p:bldP spid="21551" grpId="0" bldLvl="0" animBg="1"/>
      <p:bldP spid="21552" grpId="0" bldLvl="0" animBg="1"/>
      <p:bldP spid="21553" grpId="0" bldLvl="0" animBg="1"/>
      <p:bldP spid="21555" grpId="0" bldLvl="0" animBg="1"/>
      <p:bldP spid="21558" grpId="0" bldLvl="0" animBg="1"/>
      <p:bldP spid="21561"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32130" y="516952"/>
            <a:ext cx="11149330" cy="5612130"/>
            <a:chOff x="838" y="907"/>
            <a:chExt cx="17558" cy="8838"/>
          </a:xfrm>
        </p:grpSpPr>
        <p:sp>
          <p:nvSpPr>
            <p:cNvPr id="4" name="PA-102232"/>
            <p:cNvSpPr/>
            <p:nvPr>
              <p:custDataLst>
                <p:tags r:id="rId1"/>
              </p:custDataLst>
            </p:nvPr>
          </p:nvSpPr>
          <p:spPr>
            <a:xfrm>
              <a:off x="872" y="907"/>
              <a:ext cx="17524" cy="8826"/>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6BB6"/>
                </a:solidFill>
                <a:cs typeface="+mn-ea"/>
                <a:sym typeface="+mn-lt"/>
              </a:endParaRPr>
            </a:p>
          </p:txBody>
        </p:sp>
        <p:grpSp>
          <p:nvGrpSpPr>
            <p:cNvPr id="5" name="组合 4"/>
            <p:cNvGrpSpPr/>
            <p:nvPr/>
          </p:nvGrpSpPr>
          <p:grpSpPr>
            <a:xfrm>
              <a:off x="838" y="9635"/>
              <a:ext cx="17558" cy="110"/>
              <a:chOff x="838" y="9635"/>
              <a:chExt cx="17558" cy="110"/>
            </a:xfrm>
          </p:grpSpPr>
          <p:sp>
            <p:nvSpPr>
              <p:cNvPr id="6" name="Rectangle 1"/>
              <p:cNvSpPr/>
              <p:nvPr/>
            </p:nvSpPr>
            <p:spPr>
              <a:xfrm>
                <a:off x="5321" y="9650"/>
                <a:ext cx="4286" cy="83"/>
              </a:xfrm>
              <a:prstGeom prst="rect">
                <a:avLst/>
              </a:prstGeom>
              <a:solidFill>
                <a:schemeClr val="bg1"/>
              </a:solidFill>
              <a:ln w="3175" cap="flat" cmpd="sng" algn="ctr">
                <a:solidFill>
                  <a:srgbClr val="0492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7" name="Rectangle 1"/>
              <p:cNvSpPr/>
              <p:nvPr/>
            </p:nvSpPr>
            <p:spPr>
              <a:xfrm>
                <a:off x="838" y="9650"/>
                <a:ext cx="4483" cy="83"/>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8" name="Rectangle 1"/>
              <p:cNvSpPr/>
              <p:nvPr/>
            </p:nvSpPr>
            <p:spPr>
              <a:xfrm>
                <a:off x="9602" y="9635"/>
                <a:ext cx="8794" cy="111"/>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mc:AlternateContent xmlns:mc="http://schemas.openxmlformats.org/markup-compatibility/2006">
        <mc:Choice xmlns:a14="http://schemas.microsoft.com/office/drawing/2010/main" Requires="a14">
          <p:sp>
            <p:nvSpPr>
              <p:cNvPr id="24619" name="Object 43"/>
              <p:cNvSpPr txBox="1"/>
              <p:nvPr/>
            </p:nvSpPr>
            <p:spPr bwMode="auto">
              <a:xfrm>
                <a:off x="1420493" y="1714773"/>
                <a:ext cx="9674227" cy="50165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800" b="1" i="1">
                          <a:latin typeface="Cambria Math" panose="02040503050406030204" charset="0"/>
                        </a:rPr>
                        <m:t>𝒂</m:t>
                      </m:r>
                      <m:r>
                        <a:rPr lang="zh-CN" altLang="en-US" sz="2800" b="0" i="1">
                          <a:latin typeface="Cambria Math" panose="02040503050406030204" charset="0"/>
                        </a:rPr>
                        <m:t>×</m:t>
                      </m:r>
                      <m:r>
                        <a:rPr lang="zh-CN" altLang="en-US" sz="2800" b="1" i="1">
                          <a:latin typeface="Cambria Math" panose="02040503050406030204" charset="0"/>
                        </a:rPr>
                        <m:t>𝒃</m:t>
                      </m:r>
                      <m:r>
                        <a:rPr lang="zh-CN" altLang="en-US" sz="2800" b="0" i="1">
                          <a:latin typeface="Cambria Math" panose="02040503050406030204" charset="0"/>
                        </a:rPr>
                        <m:t>=(</m:t>
                      </m:r>
                      <m:sSub>
                        <m:sSubPr>
                          <m:ctrlPr>
                            <a:rPr lang="zh-CN" altLang="en-US" sz="2800" i="1">
                              <a:latin typeface="Cambria Math" panose="02040503050406030204" charset="0"/>
                            </a:rPr>
                          </m:ctrlPr>
                        </m:sSubPr>
                        <m:e>
                          <m:r>
                            <a:rPr lang="zh-CN" altLang="en-US" sz="2800" b="0" i="1">
                              <a:latin typeface="Cambria Math" panose="02040503050406030204" charset="0"/>
                            </a:rPr>
                            <m:t>𝑎</m:t>
                          </m:r>
                        </m:e>
                        <m:sub>
                          <m:r>
                            <a:rPr lang="zh-CN" altLang="en-US" sz="2800" b="0" i="1">
                              <a:latin typeface="Cambria Math" panose="02040503050406030204" charset="0"/>
                            </a:rPr>
                            <m:t>𝑦</m:t>
                          </m:r>
                        </m:sub>
                      </m:sSub>
                      <m:sSub>
                        <m:sSubPr>
                          <m:ctrlPr>
                            <a:rPr lang="zh-CN" altLang="en-US" sz="2800" i="1">
                              <a:latin typeface="Cambria Math" panose="02040503050406030204" charset="0"/>
                            </a:rPr>
                          </m:ctrlPr>
                        </m:sSubPr>
                        <m:e>
                          <m:r>
                            <a:rPr lang="zh-CN" altLang="en-US" sz="2800" b="0" i="1">
                              <a:latin typeface="Cambria Math" panose="02040503050406030204" charset="0"/>
                            </a:rPr>
                            <m:t>𝑏</m:t>
                          </m:r>
                        </m:e>
                        <m:sub>
                          <m:r>
                            <a:rPr lang="zh-CN" altLang="en-US" sz="2800" b="0" i="1">
                              <a:latin typeface="Cambria Math" panose="02040503050406030204" charset="0"/>
                            </a:rPr>
                            <m:t>𝑧</m:t>
                          </m:r>
                        </m:sub>
                      </m:sSub>
                      <m:r>
                        <a:rPr lang="zh-CN" altLang="en-US" sz="2800" b="0" i="1">
                          <a:latin typeface="Cambria Math" panose="02040503050406030204" charset="0"/>
                        </a:rPr>
                        <m:t>−</m:t>
                      </m:r>
                      <m:sSub>
                        <m:sSubPr>
                          <m:ctrlPr>
                            <a:rPr lang="zh-CN" altLang="en-US" sz="2800" i="1">
                              <a:latin typeface="Cambria Math" panose="02040503050406030204" charset="0"/>
                            </a:rPr>
                          </m:ctrlPr>
                        </m:sSubPr>
                        <m:e>
                          <m:r>
                            <a:rPr lang="zh-CN" altLang="en-US" sz="2800" b="0" i="1">
                              <a:latin typeface="Cambria Math" panose="02040503050406030204" charset="0"/>
                            </a:rPr>
                            <m:t>𝑎</m:t>
                          </m:r>
                        </m:e>
                        <m:sub>
                          <m:r>
                            <a:rPr lang="zh-CN" altLang="en-US" sz="2800" b="0" i="1">
                              <a:latin typeface="Cambria Math" panose="02040503050406030204" charset="0"/>
                            </a:rPr>
                            <m:t>𝑧</m:t>
                          </m:r>
                        </m:sub>
                      </m:sSub>
                      <m:sSub>
                        <m:sSubPr>
                          <m:ctrlPr>
                            <a:rPr lang="zh-CN" altLang="en-US" sz="2800" i="1">
                              <a:latin typeface="Cambria Math" panose="02040503050406030204" charset="0"/>
                            </a:rPr>
                          </m:ctrlPr>
                        </m:sSubPr>
                        <m:e>
                          <m:r>
                            <a:rPr lang="zh-CN" altLang="en-US" sz="2800" b="0" i="1">
                              <a:latin typeface="Cambria Math" panose="02040503050406030204" charset="0"/>
                            </a:rPr>
                            <m:t>𝑏</m:t>
                          </m:r>
                        </m:e>
                        <m:sub>
                          <m:r>
                            <a:rPr lang="zh-CN" altLang="en-US" sz="2800" b="0" i="1">
                              <a:latin typeface="Cambria Math" panose="02040503050406030204" charset="0"/>
                            </a:rPr>
                            <m:t>𝑦</m:t>
                          </m:r>
                        </m:sub>
                      </m:sSub>
                      <m:r>
                        <a:rPr lang="zh-CN" altLang="en-US" sz="2800" b="0" i="1">
                          <a:latin typeface="Cambria Math" panose="02040503050406030204" charset="0"/>
                        </a:rPr>
                        <m:t>) </m:t>
                      </m:r>
                      <m:r>
                        <a:rPr lang="zh-CN" altLang="en-US" sz="2800" b="1" i="1">
                          <a:latin typeface="Cambria Math" panose="02040503050406030204" charset="0"/>
                        </a:rPr>
                        <m:t>𝒊</m:t>
                      </m:r>
                      <m:r>
                        <a:rPr lang="zh-CN" altLang="en-US" sz="2800" b="0" i="1">
                          <a:latin typeface="Cambria Math" panose="02040503050406030204" charset="0"/>
                        </a:rPr>
                        <m:t>+(</m:t>
                      </m:r>
                      <m:sSub>
                        <m:sSubPr>
                          <m:ctrlPr>
                            <a:rPr lang="zh-CN" altLang="en-US" sz="2800" i="1">
                              <a:latin typeface="Cambria Math" panose="02040503050406030204" charset="0"/>
                            </a:rPr>
                          </m:ctrlPr>
                        </m:sSubPr>
                        <m:e>
                          <m:r>
                            <a:rPr lang="zh-CN" altLang="en-US" sz="2800" b="0" i="1">
                              <a:latin typeface="Cambria Math" panose="02040503050406030204" charset="0"/>
                            </a:rPr>
                            <m:t>𝑎</m:t>
                          </m:r>
                        </m:e>
                        <m:sub>
                          <m:r>
                            <a:rPr lang="zh-CN" altLang="en-US" sz="2800" b="0" i="1">
                              <a:latin typeface="Cambria Math" panose="02040503050406030204" charset="0"/>
                            </a:rPr>
                            <m:t>𝑧</m:t>
                          </m:r>
                        </m:sub>
                      </m:sSub>
                      <m:sSub>
                        <m:sSubPr>
                          <m:ctrlPr>
                            <a:rPr lang="zh-CN" altLang="en-US" sz="2800" i="1">
                              <a:latin typeface="Cambria Math" panose="02040503050406030204" charset="0"/>
                            </a:rPr>
                          </m:ctrlPr>
                        </m:sSubPr>
                        <m:e>
                          <m:r>
                            <a:rPr lang="zh-CN" altLang="en-US" sz="2800" b="0" i="1">
                              <a:latin typeface="Cambria Math" panose="02040503050406030204" charset="0"/>
                            </a:rPr>
                            <m:t>𝑏</m:t>
                          </m:r>
                        </m:e>
                        <m:sub>
                          <m:r>
                            <a:rPr lang="zh-CN" altLang="en-US" sz="2800" b="0" i="1">
                              <a:latin typeface="Cambria Math" panose="02040503050406030204" charset="0"/>
                            </a:rPr>
                            <m:t>𝑥</m:t>
                          </m:r>
                        </m:sub>
                      </m:sSub>
                      <m:r>
                        <a:rPr lang="zh-CN" altLang="en-US" sz="2800" b="0" i="1">
                          <a:latin typeface="Cambria Math" panose="02040503050406030204" charset="0"/>
                        </a:rPr>
                        <m:t>−</m:t>
                      </m:r>
                      <m:sSub>
                        <m:sSubPr>
                          <m:ctrlPr>
                            <a:rPr lang="zh-CN" altLang="en-US" sz="2800" i="1">
                              <a:latin typeface="Cambria Math" panose="02040503050406030204" charset="0"/>
                            </a:rPr>
                          </m:ctrlPr>
                        </m:sSubPr>
                        <m:e>
                          <m:r>
                            <a:rPr lang="zh-CN" altLang="en-US" sz="2800" b="0" i="1">
                              <a:latin typeface="Cambria Math" panose="02040503050406030204" charset="0"/>
                            </a:rPr>
                            <m:t>𝑎</m:t>
                          </m:r>
                        </m:e>
                        <m:sub>
                          <m:r>
                            <a:rPr lang="zh-CN" altLang="en-US" sz="2800" b="0" i="1">
                              <a:latin typeface="Cambria Math" panose="02040503050406030204" charset="0"/>
                            </a:rPr>
                            <m:t>𝑥</m:t>
                          </m:r>
                        </m:sub>
                      </m:sSub>
                      <m:sSub>
                        <m:sSubPr>
                          <m:ctrlPr>
                            <a:rPr lang="zh-CN" altLang="en-US" sz="2800" i="1">
                              <a:latin typeface="Cambria Math" panose="02040503050406030204" charset="0"/>
                            </a:rPr>
                          </m:ctrlPr>
                        </m:sSubPr>
                        <m:e>
                          <m:r>
                            <a:rPr lang="zh-CN" altLang="en-US" sz="2800" b="0" i="1">
                              <a:latin typeface="Cambria Math" panose="02040503050406030204" charset="0"/>
                            </a:rPr>
                            <m:t>𝑏</m:t>
                          </m:r>
                        </m:e>
                        <m:sub>
                          <m:r>
                            <a:rPr lang="zh-CN" altLang="en-US" sz="2800" b="0" i="1">
                              <a:latin typeface="Cambria Math" panose="02040503050406030204" charset="0"/>
                            </a:rPr>
                            <m:t>𝑧</m:t>
                          </m:r>
                        </m:sub>
                      </m:sSub>
                      <m:r>
                        <a:rPr lang="zh-CN" altLang="en-US" sz="2800" b="0" i="1">
                          <a:latin typeface="Cambria Math" panose="02040503050406030204" charset="0"/>
                        </a:rPr>
                        <m:t>)</m:t>
                      </m:r>
                      <m:r>
                        <a:rPr lang="zh-CN" altLang="en-US" sz="2800" b="1" i="1">
                          <a:latin typeface="Cambria Math" panose="02040503050406030204" charset="0"/>
                        </a:rPr>
                        <m:t>𝒋</m:t>
                      </m:r>
                      <m:r>
                        <a:rPr lang="zh-CN" altLang="en-US" sz="2800" b="0" i="1">
                          <a:latin typeface="Cambria Math" panose="02040503050406030204" charset="0"/>
                        </a:rPr>
                        <m:t>+(</m:t>
                      </m:r>
                      <m:sSub>
                        <m:sSubPr>
                          <m:ctrlPr>
                            <a:rPr lang="zh-CN" altLang="en-US" sz="2800" i="1">
                              <a:latin typeface="Cambria Math" panose="02040503050406030204" charset="0"/>
                            </a:rPr>
                          </m:ctrlPr>
                        </m:sSubPr>
                        <m:e>
                          <m:r>
                            <a:rPr lang="zh-CN" altLang="en-US" sz="2800" b="0" i="1">
                              <a:latin typeface="Cambria Math" panose="02040503050406030204" charset="0"/>
                            </a:rPr>
                            <m:t>𝑎</m:t>
                          </m:r>
                        </m:e>
                        <m:sub>
                          <m:r>
                            <a:rPr lang="zh-CN" altLang="en-US" sz="2800" b="0" i="1">
                              <a:latin typeface="Cambria Math" panose="02040503050406030204" charset="0"/>
                            </a:rPr>
                            <m:t>𝑥</m:t>
                          </m:r>
                        </m:sub>
                      </m:sSub>
                      <m:sSub>
                        <m:sSubPr>
                          <m:ctrlPr>
                            <a:rPr lang="zh-CN" altLang="en-US" sz="2800" i="1">
                              <a:latin typeface="Cambria Math" panose="02040503050406030204" charset="0"/>
                            </a:rPr>
                          </m:ctrlPr>
                        </m:sSubPr>
                        <m:e>
                          <m:r>
                            <a:rPr lang="zh-CN" altLang="en-US" sz="2800" b="0" i="1">
                              <a:latin typeface="Cambria Math" panose="02040503050406030204" charset="0"/>
                            </a:rPr>
                            <m:t>𝑏</m:t>
                          </m:r>
                        </m:e>
                        <m:sub>
                          <m:r>
                            <a:rPr lang="zh-CN" altLang="en-US" sz="2800" b="0" i="1">
                              <a:latin typeface="Cambria Math" panose="02040503050406030204" charset="0"/>
                            </a:rPr>
                            <m:t>𝑦</m:t>
                          </m:r>
                        </m:sub>
                      </m:sSub>
                      <m:r>
                        <a:rPr lang="zh-CN" altLang="en-US" sz="2800" b="0" i="1">
                          <a:latin typeface="Cambria Math" panose="02040503050406030204" charset="0"/>
                        </a:rPr>
                        <m:t>−</m:t>
                      </m:r>
                      <m:sSub>
                        <m:sSubPr>
                          <m:ctrlPr>
                            <a:rPr lang="zh-CN" altLang="en-US" sz="2800" i="1">
                              <a:latin typeface="Cambria Math" panose="02040503050406030204" charset="0"/>
                            </a:rPr>
                          </m:ctrlPr>
                        </m:sSubPr>
                        <m:e>
                          <m:r>
                            <a:rPr lang="zh-CN" altLang="en-US" sz="2800" b="0" i="1">
                              <a:latin typeface="Cambria Math" panose="02040503050406030204" charset="0"/>
                            </a:rPr>
                            <m:t>𝑎</m:t>
                          </m:r>
                        </m:e>
                        <m:sub>
                          <m:r>
                            <a:rPr lang="zh-CN" altLang="en-US" sz="2800" b="0" i="1">
                              <a:latin typeface="Cambria Math" panose="02040503050406030204" charset="0"/>
                            </a:rPr>
                            <m:t>𝑦</m:t>
                          </m:r>
                        </m:sub>
                      </m:sSub>
                      <m:sSub>
                        <m:sSubPr>
                          <m:ctrlPr>
                            <a:rPr lang="zh-CN" altLang="en-US" sz="2800" i="1">
                              <a:latin typeface="Cambria Math" panose="02040503050406030204" charset="0"/>
                            </a:rPr>
                          </m:ctrlPr>
                        </m:sSubPr>
                        <m:e>
                          <m:r>
                            <a:rPr lang="zh-CN" altLang="en-US" sz="2800" b="0" i="1">
                              <a:latin typeface="Cambria Math" panose="02040503050406030204" charset="0"/>
                            </a:rPr>
                            <m:t>𝑏</m:t>
                          </m:r>
                        </m:e>
                        <m:sub>
                          <m:r>
                            <a:rPr lang="zh-CN" altLang="en-US" sz="2800" b="0" i="1">
                              <a:latin typeface="Cambria Math" panose="02040503050406030204" charset="0"/>
                            </a:rPr>
                            <m:t>𝑧</m:t>
                          </m:r>
                        </m:sub>
                      </m:sSub>
                      <m:r>
                        <a:rPr lang="zh-CN" altLang="en-US" sz="2800" b="0" i="1">
                          <a:latin typeface="Cambria Math" panose="02040503050406030204" charset="0"/>
                        </a:rPr>
                        <m:t>)</m:t>
                      </m:r>
                      <m:r>
                        <a:rPr lang="zh-CN" altLang="en-US" sz="2800" b="1" i="1">
                          <a:latin typeface="Cambria Math" panose="02040503050406030204" charset="0"/>
                        </a:rPr>
                        <m:t>𝒌</m:t>
                      </m:r>
                    </m:oMath>
                  </m:oMathPara>
                </a14:m>
                <a:endParaRPr lang="zh-CN" altLang="en-US" sz="2800" b="1" i="1" dirty="0">
                  <a:latin typeface="Cambria Math" panose="02040503050406030204" charset="0"/>
                </a:endParaRPr>
              </a:p>
            </p:txBody>
          </p:sp>
        </mc:Choice>
        <mc:Fallback>
          <p:sp>
            <p:nvSpPr>
              <p:cNvPr id="24619" name="Object 43"/>
              <p:cNvSpPr txBox="1">
                <a:spLocks noRot="1" noChangeAspect="1" noMove="1" noResize="1" noEditPoints="1" noAdjustHandles="1" noChangeArrowheads="1" noChangeShapeType="1" noTextEdit="1"/>
              </p:cNvSpPr>
              <p:nvPr/>
            </p:nvSpPr>
            <p:spPr bwMode="auto">
              <a:xfrm>
                <a:off x="1420493" y="1714773"/>
                <a:ext cx="9674227" cy="501650"/>
              </a:xfrm>
              <a:prstGeom prst="rect">
                <a:avLst/>
              </a:prstGeom>
              <a:blipFill rotWithShape="1">
                <a:blip r:embed="rId2"/>
                <a:stretch>
                  <a:fillRect l="-7" t="-54" b="-4123"/>
                </a:stretch>
              </a:blipFill>
              <a:ln>
                <a:noFill/>
              </a:ln>
              <a:effectLst/>
            </p:spPr>
            <p:txBody>
              <a:bodyPr/>
              <a:lstStyle/>
              <a:p>
                <a:r>
                  <a:rPr lang="zh-CN" altLang="en-US">
                    <a:noFill/>
                  </a:rPr>
                  <a:t> </a:t>
                </a:r>
              </a:p>
            </p:txBody>
          </p:sp>
        </mc:Fallback>
      </mc:AlternateContent>
      <p:sp>
        <p:nvSpPr>
          <p:cNvPr id="24622" name="Text Box 46"/>
          <p:cNvSpPr txBox="1">
            <a:spLocks noChangeArrowheads="1"/>
          </p:cNvSpPr>
          <p:nvPr/>
        </p:nvSpPr>
        <p:spPr bwMode="auto">
          <a:xfrm>
            <a:off x="1406425" y="1103912"/>
            <a:ext cx="38132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向量积的行列式计算法</a:t>
            </a:r>
            <a:endParaRPr lang="zh-CN" altLang="en-US" sz="28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4624" name="Object 48"/>
              <p:cNvSpPr txBox="1"/>
              <p:nvPr/>
            </p:nvSpPr>
            <p:spPr bwMode="auto">
              <a:xfrm>
                <a:off x="2336260" y="2509508"/>
                <a:ext cx="2992025" cy="1519567"/>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lang="zh-CN" altLang="en-US" sz="2800" b="0" i="1">
                          <a:solidFill>
                            <a:srgbClr val="000000"/>
                          </a:solidFill>
                          <a:latin typeface="Cambria Math" panose="02040503050406030204" charset="0"/>
                        </a:rPr>
                        <m:t>=</m:t>
                      </m:r>
                      <m:d>
                        <m:dPr>
                          <m:begChr m:val="|"/>
                          <m:endChr m:val="|"/>
                          <m:ctrlPr>
                            <a:rPr lang="zh-CN" altLang="en-US" sz="2800" i="1">
                              <a:solidFill>
                                <a:srgbClr val="000000"/>
                              </a:solidFill>
                              <a:latin typeface="Cambria Math" panose="02040503050406030204" charset="0"/>
                            </a:rPr>
                          </m:ctrlPr>
                        </m:dPr>
                        <m:e>
                          <m:m>
                            <m:mPr>
                              <m:mcs>
                                <m:mc>
                                  <m:mcPr>
                                    <m:count m:val="3"/>
                                    <m:mcJc m:val="center"/>
                                  </m:mcPr>
                                </m:mc>
                              </m:mcs>
                              <m:plcHide m:val="on"/>
                              <m:ctrlPr>
                                <a:rPr lang="zh-CN" altLang="en-US" sz="2800" i="1">
                                  <a:solidFill>
                                    <a:srgbClr val="000000"/>
                                  </a:solidFill>
                                  <a:latin typeface="Cambria Math" panose="02040503050406030204" charset="0"/>
                                </a:rPr>
                              </m:ctrlPr>
                            </m:mPr>
                            <m:mr>
                              <m:e>
                                <m:r>
                                  <a:rPr lang="zh-CN" altLang="en-US" sz="2800" b="1" i="1">
                                    <a:solidFill>
                                      <a:srgbClr val="000000"/>
                                    </a:solidFill>
                                    <a:latin typeface="Cambria Math" panose="02040503050406030204" charset="0"/>
                                  </a:rPr>
                                  <m:t>𝒊</m:t>
                                </m:r>
                              </m:e>
                              <m:e>
                                <m:r>
                                  <a:rPr lang="zh-CN" altLang="en-US" sz="2800" b="1" i="1">
                                    <a:solidFill>
                                      <a:srgbClr val="000000"/>
                                    </a:solidFill>
                                    <a:latin typeface="Cambria Math" panose="02040503050406030204" charset="0"/>
                                  </a:rPr>
                                  <m:t>𝒋</m:t>
                                </m:r>
                              </m:e>
                              <m:e>
                                <m:r>
                                  <a:rPr lang="zh-CN" altLang="en-US" sz="2800" b="1" i="1">
                                    <a:solidFill>
                                      <a:srgbClr val="000000"/>
                                    </a:solidFill>
                                    <a:latin typeface="Cambria Math" panose="02040503050406030204" charset="0"/>
                                  </a:rPr>
                                  <m:t>𝒌</m:t>
                                </m:r>
                              </m:e>
                            </m:mr>
                            <m:mr>
                              <m:e>
                                <m:sSub>
                                  <m:sSubPr>
                                    <m:ctrlPr>
                                      <a:rPr lang="zh-CN" altLang="en-US" sz="2800" i="1">
                                        <a:solidFill>
                                          <a:srgbClr val="000000"/>
                                        </a:solidFill>
                                        <a:latin typeface="Cambria Math" panose="02040503050406030204" charset="0"/>
                                      </a:rPr>
                                    </m:ctrlPr>
                                  </m:sSubPr>
                                  <m:e>
                                    <m:r>
                                      <a:rPr lang="zh-CN" altLang="en-US" sz="2800" b="0" i="1">
                                        <a:solidFill>
                                          <a:srgbClr val="000000"/>
                                        </a:solidFill>
                                        <a:latin typeface="Cambria Math" panose="02040503050406030204" charset="0"/>
                                      </a:rPr>
                                      <m:t>𝑎</m:t>
                                    </m:r>
                                  </m:e>
                                  <m:sub>
                                    <m:r>
                                      <a:rPr lang="zh-CN" altLang="en-US" sz="2800" b="0" i="1">
                                        <a:solidFill>
                                          <a:srgbClr val="000000"/>
                                        </a:solidFill>
                                        <a:latin typeface="Cambria Math" panose="02040503050406030204" charset="0"/>
                                      </a:rPr>
                                      <m:t>𝑥</m:t>
                                    </m:r>
                                  </m:sub>
                                </m:sSub>
                              </m:e>
                              <m:e>
                                <m:sSub>
                                  <m:sSubPr>
                                    <m:ctrlPr>
                                      <a:rPr lang="zh-CN" altLang="en-US" sz="2800" i="1">
                                        <a:solidFill>
                                          <a:srgbClr val="000000"/>
                                        </a:solidFill>
                                        <a:latin typeface="Cambria Math" panose="02040503050406030204" charset="0"/>
                                      </a:rPr>
                                    </m:ctrlPr>
                                  </m:sSubPr>
                                  <m:e>
                                    <m:r>
                                      <a:rPr lang="zh-CN" altLang="en-US" sz="2800" b="0" i="1">
                                        <a:solidFill>
                                          <a:srgbClr val="000000"/>
                                        </a:solidFill>
                                        <a:latin typeface="Cambria Math" panose="02040503050406030204" charset="0"/>
                                      </a:rPr>
                                      <m:t>𝑎</m:t>
                                    </m:r>
                                  </m:e>
                                  <m:sub>
                                    <m:r>
                                      <a:rPr lang="zh-CN" altLang="en-US" sz="2800" b="0" i="1">
                                        <a:solidFill>
                                          <a:srgbClr val="000000"/>
                                        </a:solidFill>
                                        <a:latin typeface="Cambria Math" panose="02040503050406030204" charset="0"/>
                                      </a:rPr>
                                      <m:t>𝑦</m:t>
                                    </m:r>
                                  </m:sub>
                                </m:sSub>
                              </m:e>
                              <m:e>
                                <m:sSub>
                                  <m:sSubPr>
                                    <m:ctrlPr>
                                      <a:rPr lang="zh-CN" altLang="en-US" sz="2800" i="1">
                                        <a:solidFill>
                                          <a:srgbClr val="000000"/>
                                        </a:solidFill>
                                        <a:latin typeface="Cambria Math" panose="02040503050406030204" charset="0"/>
                                      </a:rPr>
                                    </m:ctrlPr>
                                  </m:sSubPr>
                                  <m:e>
                                    <m:r>
                                      <a:rPr lang="zh-CN" altLang="en-US" sz="2800" b="0" i="1">
                                        <a:solidFill>
                                          <a:srgbClr val="000000"/>
                                        </a:solidFill>
                                        <a:latin typeface="Cambria Math" panose="02040503050406030204" charset="0"/>
                                      </a:rPr>
                                      <m:t>𝑎</m:t>
                                    </m:r>
                                  </m:e>
                                  <m:sub>
                                    <m:r>
                                      <a:rPr lang="zh-CN" altLang="en-US" sz="2800" b="0" i="1">
                                        <a:solidFill>
                                          <a:srgbClr val="000000"/>
                                        </a:solidFill>
                                        <a:latin typeface="Cambria Math" panose="02040503050406030204" charset="0"/>
                                      </a:rPr>
                                      <m:t>𝑧</m:t>
                                    </m:r>
                                  </m:sub>
                                </m:sSub>
                              </m:e>
                            </m:mr>
                            <m:mr>
                              <m:e>
                                <m:sSub>
                                  <m:sSubPr>
                                    <m:ctrlPr>
                                      <a:rPr lang="zh-CN" altLang="en-US" sz="2800" i="1">
                                        <a:solidFill>
                                          <a:srgbClr val="000000"/>
                                        </a:solidFill>
                                        <a:latin typeface="Cambria Math" panose="02040503050406030204" charset="0"/>
                                      </a:rPr>
                                    </m:ctrlPr>
                                  </m:sSubPr>
                                  <m:e>
                                    <m:r>
                                      <a:rPr lang="zh-CN" altLang="en-US" sz="2800" b="0" i="1">
                                        <a:solidFill>
                                          <a:srgbClr val="000000"/>
                                        </a:solidFill>
                                        <a:latin typeface="Cambria Math" panose="02040503050406030204" charset="0"/>
                                      </a:rPr>
                                      <m:t>𝑏</m:t>
                                    </m:r>
                                  </m:e>
                                  <m:sub>
                                    <m:r>
                                      <a:rPr lang="zh-CN" altLang="en-US" sz="2800" b="0" i="1">
                                        <a:solidFill>
                                          <a:srgbClr val="000000"/>
                                        </a:solidFill>
                                        <a:latin typeface="Cambria Math" panose="02040503050406030204" charset="0"/>
                                      </a:rPr>
                                      <m:t>𝑥</m:t>
                                    </m:r>
                                  </m:sub>
                                </m:sSub>
                              </m:e>
                              <m:e>
                                <m:sSub>
                                  <m:sSubPr>
                                    <m:ctrlPr>
                                      <a:rPr lang="zh-CN" altLang="en-US" sz="2800" i="1">
                                        <a:solidFill>
                                          <a:srgbClr val="000000"/>
                                        </a:solidFill>
                                        <a:latin typeface="Cambria Math" panose="02040503050406030204" charset="0"/>
                                      </a:rPr>
                                    </m:ctrlPr>
                                  </m:sSubPr>
                                  <m:e>
                                    <m:r>
                                      <a:rPr lang="zh-CN" altLang="en-US" sz="2800" b="0" i="1">
                                        <a:solidFill>
                                          <a:srgbClr val="000000"/>
                                        </a:solidFill>
                                        <a:latin typeface="Cambria Math" panose="02040503050406030204" charset="0"/>
                                      </a:rPr>
                                      <m:t>𝑏</m:t>
                                    </m:r>
                                  </m:e>
                                  <m:sub>
                                    <m:r>
                                      <a:rPr lang="zh-CN" altLang="en-US" sz="2800" b="0" i="1">
                                        <a:solidFill>
                                          <a:srgbClr val="000000"/>
                                        </a:solidFill>
                                        <a:latin typeface="Cambria Math" panose="02040503050406030204" charset="0"/>
                                      </a:rPr>
                                      <m:t>𝑦</m:t>
                                    </m:r>
                                  </m:sub>
                                </m:sSub>
                              </m:e>
                              <m:e>
                                <m:sSub>
                                  <m:sSubPr>
                                    <m:ctrlPr>
                                      <a:rPr lang="zh-CN" altLang="en-US" sz="2800" i="1">
                                        <a:solidFill>
                                          <a:srgbClr val="000000"/>
                                        </a:solidFill>
                                        <a:latin typeface="Cambria Math" panose="02040503050406030204" charset="0"/>
                                      </a:rPr>
                                    </m:ctrlPr>
                                  </m:sSubPr>
                                  <m:e>
                                    <m:r>
                                      <a:rPr lang="zh-CN" altLang="en-US" sz="2800" b="0" i="1">
                                        <a:solidFill>
                                          <a:srgbClr val="000000"/>
                                        </a:solidFill>
                                        <a:latin typeface="Cambria Math" panose="02040503050406030204" charset="0"/>
                                      </a:rPr>
                                      <m:t>𝑏</m:t>
                                    </m:r>
                                  </m:e>
                                  <m:sub>
                                    <m:r>
                                      <a:rPr lang="zh-CN" altLang="en-US" sz="2800" b="0" i="1">
                                        <a:solidFill>
                                          <a:srgbClr val="000000"/>
                                        </a:solidFill>
                                        <a:latin typeface="Cambria Math" panose="02040503050406030204" charset="0"/>
                                      </a:rPr>
                                      <m:t>𝑧</m:t>
                                    </m:r>
                                  </m:sub>
                                </m:sSub>
                              </m:e>
                            </m:mr>
                          </m:m>
                        </m:e>
                      </m:d>
                    </m:oMath>
                  </m:oMathPara>
                </a14:m>
                <a:endParaRPr lang="zh-CN" altLang="en-US" sz="2800" dirty="0"/>
              </a:p>
            </p:txBody>
          </p:sp>
        </mc:Choice>
        <mc:Fallback>
          <p:sp>
            <p:nvSpPr>
              <p:cNvPr id="24624" name="Object 48"/>
              <p:cNvSpPr txBox="1">
                <a:spLocks noRot="1" noChangeAspect="1" noMove="1" noResize="1" noEditPoints="1" noAdjustHandles="1" noChangeArrowheads="1" noChangeShapeType="1" noTextEdit="1"/>
              </p:cNvSpPr>
              <p:nvPr/>
            </p:nvSpPr>
            <p:spPr bwMode="auto">
              <a:xfrm>
                <a:off x="2336260" y="2509508"/>
                <a:ext cx="2992025" cy="1519567"/>
              </a:xfrm>
              <a:prstGeom prst="rect">
                <a:avLst/>
              </a:prstGeom>
              <a:blipFill rotWithShape="1">
                <a:blip r:embed="rId3"/>
                <a:stretch>
                  <a:fillRect l="-3" t="-41"/>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627" name="Object 51"/>
              <p:cNvSpPr txBox="1"/>
              <p:nvPr/>
            </p:nvSpPr>
            <p:spPr bwMode="auto">
              <a:xfrm>
                <a:off x="2336261" y="4247806"/>
                <a:ext cx="6217190" cy="1111042"/>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lang="zh-CN" altLang="en-US" sz="2800" b="0" i="1">
                          <a:solidFill>
                            <a:srgbClr val="000000"/>
                          </a:solidFill>
                          <a:latin typeface="Cambria Math" panose="02040503050406030204" charset="0"/>
                        </a:rPr>
                        <m:t>=</m:t>
                      </m:r>
                      <m:d>
                        <m:dPr>
                          <m:begChr m:val="|"/>
                          <m:endChr m:val="|"/>
                          <m:ctrlPr>
                            <a:rPr lang="zh-CN" altLang="en-US" sz="2800" i="1">
                              <a:solidFill>
                                <a:srgbClr val="000000"/>
                              </a:solidFill>
                              <a:latin typeface="Cambria Math" panose="02040503050406030204" charset="0"/>
                            </a:rPr>
                          </m:ctrlPr>
                        </m:dPr>
                        <m:e>
                          <m:m>
                            <m:mPr>
                              <m:mcs>
                                <m:mc>
                                  <m:mcPr>
                                    <m:count m:val="2"/>
                                    <m:mcJc m:val="center"/>
                                  </m:mcPr>
                                </m:mc>
                              </m:mcs>
                              <m:plcHide m:val="on"/>
                              <m:ctrlPr>
                                <a:rPr lang="zh-CN" altLang="en-US" sz="2800" i="1">
                                  <a:solidFill>
                                    <a:srgbClr val="000000"/>
                                  </a:solidFill>
                                  <a:latin typeface="Cambria Math" panose="02040503050406030204" charset="0"/>
                                </a:rPr>
                              </m:ctrlPr>
                            </m:mPr>
                            <m:mr>
                              <m:e>
                                <m:sSub>
                                  <m:sSubPr>
                                    <m:ctrlPr>
                                      <a:rPr lang="zh-CN" altLang="en-US" sz="2800" i="1">
                                        <a:solidFill>
                                          <a:srgbClr val="000000"/>
                                        </a:solidFill>
                                        <a:latin typeface="Cambria Math" panose="02040503050406030204" charset="0"/>
                                      </a:rPr>
                                    </m:ctrlPr>
                                  </m:sSubPr>
                                  <m:e>
                                    <m:r>
                                      <a:rPr lang="zh-CN" altLang="en-US" sz="2800" b="0" i="1">
                                        <a:solidFill>
                                          <a:srgbClr val="000000"/>
                                        </a:solidFill>
                                        <a:latin typeface="Cambria Math" panose="02040503050406030204" charset="0"/>
                                      </a:rPr>
                                      <m:t>𝑎</m:t>
                                    </m:r>
                                  </m:e>
                                  <m:sub>
                                    <m:r>
                                      <a:rPr lang="zh-CN" altLang="en-US" sz="2800" b="0" i="1">
                                        <a:solidFill>
                                          <a:srgbClr val="000000"/>
                                        </a:solidFill>
                                        <a:latin typeface="Cambria Math" panose="02040503050406030204" charset="0"/>
                                      </a:rPr>
                                      <m:t>𝑦</m:t>
                                    </m:r>
                                  </m:sub>
                                </m:sSub>
                              </m:e>
                              <m:e>
                                <m:sSub>
                                  <m:sSubPr>
                                    <m:ctrlPr>
                                      <a:rPr lang="zh-CN" altLang="en-US" sz="2800" i="1">
                                        <a:solidFill>
                                          <a:srgbClr val="000000"/>
                                        </a:solidFill>
                                        <a:latin typeface="Cambria Math" panose="02040503050406030204" charset="0"/>
                                      </a:rPr>
                                    </m:ctrlPr>
                                  </m:sSubPr>
                                  <m:e>
                                    <m:r>
                                      <a:rPr lang="zh-CN" altLang="en-US" sz="2800" b="0" i="1">
                                        <a:solidFill>
                                          <a:srgbClr val="000000"/>
                                        </a:solidFill>
                                        <a:latin typeface="Cambria Math" panose="02040503050406030204" charset="0"/>
                                      </a:rPr>
                                      <m:t>𝑎</m:t>
                                    </m:r>
                                  </m:e>
                                  <m:sub>
                                    <m:r>
                                      <a:rPr lang="zh-CN" altLang="en-US" sz="2800" b="0" i="1">
                                        <a:solidFill>
                                          <a:srgbClr val="000000"/>
                                        </a:solidFill>
                                        <a:latin typeface="Cambria Math" panose="02040503050406030204" charset="0"/>
                                      </a:rPr>
                                      <m:t>𝑧</m:t>
                                    </m:r>
                                  </m:sub>
                                </m:sSub>
                              </m:e>
                            </m:mr>
                            <m:mr>
                              <m:e>
                                <m:sSub>
                                  <m:sSubPr>
                                    <m:ctrlPr>
                                      <a:rPr lang="zh-CN" altLang="en-US" sz="2800" i="1">
                                        <a:solidFill>
                                          <a:srgbClr val="000000"/>
                                        </a:solidFill>
                                        <a:latin typeface="Cambria Math" panose="02040503050406030204" charset="0"/>
                                      </a:rPr>
                                    </m:ctrlPr>
                                  </m:sSubPr>
                                  <m:e>
                                    <m:r>
                                      <a:rPr lang="zh-CN" altLang="en-US" sz="2800" b="0" i="1">
                                        <a:solidFill>
                                          <a:srgbClr val="000000"/>
                                        </a:solidFill>
                                        <a:latin typeface="Cambria Math" panose="02040503050406030204" charset="0"/>
                                      </a:rPr>
                                      <m:t>𝑏</m:t>
                                    </m:r>
                                  </m:e>
                                  <m:sub>
                                    <m:r>
                                      <a:rPr lang="zh-CN" altLang="en-US" sz="2800" b="0" i="1">
                                        <a:solidFill>
                                          <a:srgbClr val="000000"/>
                                        </a:solidFill>
                                        <a:latin typeface="Cambria Math" panose="02040503050406030204" charset="0"/>
                                      </a:rPr>
                                      <m:t>𝑦</m:t>
                                    </m:r>
                                  </m:sub>
                                </m:sSub>
                              </m:e>
                              <m:e>
                                <m:sSub>
                                  <m:sSubPr>
                                    <m:ctrlPr>
                                      <a:rPr lang="zh-CN" altLang="en-US" sz="2800" i="1">
                                        <a:solidFill>
                                          <a:srgbClr val="000000"/>
                                        </a:solidFill>
                                        <a:latin typeface="Cambria Math" panose="02040503050406030204" charset="0"/>
                                      </a:rPr>
                                    </m:ctrlPr>
                                  </m:sSubPr>
                                  <m:e>
                                    <m:r>
                                      <a:rPr lang="zh-CN" altLang="en-US" sz="2800" b="0" i="1">
                                        <a:solidFill>
                                          <a:srgbClr val="000000"/>
                                        </a:solidFill>
                                        <a:latin typeface="Cambria Math" panose="02040503050406030204" charset="0"/>
                                      </a:rPr>
                                      <m:t>𝑏</m:t>
                                    </m:r>
                                  </m:e>
                                  <m:sub>
                                    <m:r>
                                      <a:rPr lang="zh-CN" altLang="en-US" sz="2800" b="0" i="1">
                                        <a:solidFill>
                                          <a:srgbClr val="000000"/>
                                        </a:solidFill>
                                        <a:latin typeface="Cambria Math" panose="02040503050406030204" charset="0"/>
                                      </a:rPr>
                                      <m:t>𝑧</m:t>
                                    </m:r>
                                  </m:sub>
                                </m:sSub>
                              </m:e>
                            </m:mr>
                          </m:m>
                        </m:e>
                      </m:d>
                      <m:r>
                        <a:rPr lang="zh-CN" altLang="en-US" sz="2800" b="1" i="1">
                          <a:solidFill>
                            <a:srgbClr val="000000"/>
                          </a:solidFill>
                          <a:latin typeface="Cambria Math" panose="02040503050406030204" charset="0"/>
                        </a:rPr>
                        <m:t>𝒊</m:t>
                      </m:r>
                      <m:r>
                        <a:rPr lang="zh-CN" altLang="en-US" sz="2800" b="0" i="1">
                          <a:solidFill>
                            <a:srgbClr val="000000"/>
                          </a:solidFill>
                          <a:latin typeface="Cambria Math" panose="02040503050406030204" charset="0"/>
                        </a:rPr>
                        <m:t>−</m:t>
                      </m:r>
                      <m:d>
                        <m:dPr>
                          <m:begChr m:val="|"/>
                          <m:endChr m:val="|"/>
                          <m:ctrlPr>
                            <a:rPr lang="zh-CN" altLang="en-US" sz="2800" i="1">
                              <a:solidFill>
                                <a:srgbClr val="000000"/>
                              </a:solidFill>
                              <a:latin typeface="Cambria Math" panose="02040503050406030204" charset="0"/>
                            </a:rPr>
                          </m:ctrlPr>
                        </m:dPr>
                        <m:e>
                          <m:m>
                            <m:mPr>
                              <m:mcs>
                                <m:mc>
                                  <m:mcPr>
                                    <m:count m:val="2"/>
                                    <m:mcJc m:val="center"/>
                                  </m:mcPr>
                                </m:mc>
                              </m:mcs>
                              <m:plcHide m:val="on"/>
                              <m:ctrlPr>
                                <a:rPr lang="zh-CN" altLang="en-US" sz="2800" i="1">
                                  <a:solidFill>
                                    <a:srgbClr val="000000"/>
                                  </a:solidFill>
                                  <a:latin typeface="Cambria Math" panose="02040503050406030204" charset="0"/>
                                </a:rPr>
                              </m:ctrlPr>
                            </m:mPr>
                            <m:mr>
                              <m:e>
                                <m:sSub>
                                  <m:sSubPr>
                                    <m:ctrlPr>
                                      <a:rPr lang="zh-CN" altLang="en-US" sz="2800" i="1">
                                        <a:solidFill>
                                          <a:srgbClr val="000000"/>
                                        </a:solidFill>
                                        <a:latin typeface="Cambria Math" panose="02040503050406030204" charset="0"/>
                                      </a:rPr>
                                    </m:ctrlPr>
                                  </m:sSubPr>
                                  <m:e>
                                    <m:r>
                                      <a:rPr lang="zh-CN" altLang="en-US" sz="2800" b="0" i="1">
                                        <a:solidFill>
                                          <a:srgbClr val="000000"/>
                                        </a:solidFill>
                                        <a:latin typeface="Cambria Math" panose="02040503050406030204" charset="0"/>
                                      </a:rPr>
                                      <m:t>𝑎</m:t>
                                    </m:r>
                                  </m:e>
                                  <m:sub>
                                    <m:r>
                                      <a:rPr lang="zh-CN" altLang="en-US" sz="2800" b="0" i="1">
                                        <a:solidFill>
                                          <a:srgbClr val="000000"/>
                                        </a:solidFill>
                                        <a:latin typeface="Cambria Math" panose="02040503050406030204" charset="0"/>
                                      </a:rPr>
                                      <m:t>𝑥</m:t>
                                    </m:r>
                                  </m:sub>
                                </m:sSub>
                              </m:e>
                              <m:e>
                                <m:sSub>
                                  <m:sSubPr>
                                    <m:ctrlPr>
                                      <a:rPr lang="zh-CN" altLang="en-US" sz="2800" i="1">
                                        <a:solidFill>
                                          <a:srgbClr val="000000"/>
                                        </a:solidFill>
                                        <a:latin typeface="Cambria Math" panose="02040503050406030204" charset="0"/>
                                      </a:rPr>
                                    </m:ctrlPr>
                                  </m:sSubPr>
                                  <m:e>
                                    <m:r>
                                      <a:rPr lang="zh-CN" altLang="en-US" sz="2800" b="0" i="1">
                                        <a:solidFill>
                                          <a:srgbClr val="000000"/>
                                        </a:solidFill>
                                        <a:latin typeface="Cambria Math" panose="02040503050406030204" charset="0"/>
                                      </a:rPr>
                                      <m:t>𝑎</m:t>
                                    </m:r>
                                  </m:e>
                                  <m:sub>
                                    <m:r>
                                      <a:rPr lang="zh-CN" altLang="en-US" sz="2800" b="0" i="1">
                                        <a:solidFill>
                                          <a:srgbClr val="000000"/>
                                        </a:solidFill>
                                        <a:latin typeface="Cambria Math" panose="02040503050406030204" charset="0"/>
                                      </a:rPr>
                                      <m:t>𝑧</m:t>
                                    </m:r>
                                  </m:sub>
                                </m:sSub>
                              </m:e>
                            </m:mr>
                            <m:mr>
                              <m:e>
                                <m:sSub>
                                  <m:sSubPr>
                                    <m:ctrlPr>
                                      <a:rPr lang="zh-CN" altLang="en-US" sz="2800" i="1">
                                        <a:solidFill>
                                          <a:srgbClr val="000000"/>
                                        </a:solidFill>
                                        <a:latin typeface="Cambria Math" panose="02040503050406030204" charset="0"/>
                                      </a:rPr>
                                    </m:ctrlPr>
                                  </m:sSubPr>
                                  <m:e>
                                    <m:r>
                                      <a:rPr lang="zh-CN" altLang="en-US" sz="2800" b="0" i="1">
                                        <a:solidFill>
                                          <a:srgbClr val="000000"/>
                                        </a:solidFill>
                                        <a:latin typeface="Cambria Math" panose="02040503050406030204" charset="0"/>
                                      </a:rPr>
                                      <m:t>𝑏</m:t>
                                    </m:r>
                                  </m:e>
                                  <m:sub>
                                    <m:r>
                                      <a:rPr lang="zh-CN" altLang="en-US" sz="2800" b="0" i="1">
                                        <a:solidFill>
                                          <a:srgbClr val="000000"/>
                                        </a:solidFill>
                                        <a:latin typeface="Cambria Math" panose="02040503050406030204" charset="0"/>
                                      </a:rPr>
                                      <m:t>𝑥</m:t>
                                    </m:r>
                                  </m:sub>
                                </m:sSub>
                              </m:e>
                              <m:e>
                                <m:sSub>
                                  <m:sSubPr>
                                    <m:ctrlPr>
                                      <a:rPr lang="zh-CN" altLang="en-US" sz="2800" i="1">
                                        <a:solidFill>
                                          <a:srgbClr val="000000"/>
                                        </a:solidFill>
                                        <a:latin typeface="Cambria Math" panose="02040503050406030204" charset="0"/>
                                      </a:rPr>
                                    </m:ctrlPr>
                                  </m:sSubPr>
                                  <m:e>
                                    <m:r>
                                      <a:rPr lang="zh-CN" altLang="en-US" sz="2800" b="0" i="1">
                                        <a:solidFill>
                                          <a:srgbClr val="000000"/>
                                        </a:solidFill>
                                        <a:latin typeface="Cambria Math" panose="02040503050406030204" charset="0"/>
                                      </a:rPr>
                                      <m:t>𝑏</m:t>
                                    </m:r>
                                  </m:e>
                                  <m:sub>
                                    <m:r>
                                      <a:rPr lang="zh-CN" altLang="en-US" sz="2800" b="0" i="1">
                                        <a:solidFill>
                                          <a:srgbClr val="000000"/>
                                        </a:solidFill>
                                        <a:latin typeface="Cambria Math" panose="02040503050406030204" charset="0"/>
                                      </a:rPr>
                                      <m:t>𝑧</m:t>
                                    </m:r>
                                  </m:sub>
                                </m:sSub>
                              </m:e>
                            </m:mr>
                          </m:m>
                        </m:e>
                      </m:d>
                      <m:r>
                        <a:rPr lang="zh-CN" altLang="en-US" sz="2800" b="1" i="1">
                          <a:solidFill>
                            <a:srgbClr val="000000"/>
                          </a:solidFill>
                          <a:latin typeface="Cambria Math" panose="02040503050406030204" charset="0"/>
                        </a:rPr>
                        <m:t>𝒋</m:t>
                      </m:r>
                      <m:r>
                        <a:rPr lang="zh-CN" altLang="en-US" sz="2800" b="0" i="1">
                          <a:solidFill>
                            <a:srgbClr val="000000"/>
                          </a:solidFill>
                          <a:latin typeface="Cambria Math" panose="02040503050406030204" charset="0"/>
                        </a:rPr>
                        <m:t>+</m:t>
                      </m:r>
                      <m:d>
                        <m:dPr>
                          <m:begChr m:val="|"/>
                          <m:endChr m:val="|"/>
                          <m:ctrlPr>
                            <a:rPr lang="zh-CN" altLang="en-US" sz="2800" i="1">
                              <a:solidFill>
                                <a:srgbClr val="000000"/>
                              </a:solidFill>
                              <a:latin typeface="Cambria Math" panose="02040503050406030204" charset="0"/>
                            </a:rPr>
                          </m:ctrlPr>
                        </m:dPr>
                        <m:e>
                          <m:m>
                            <m:mPr>
                              <m:mcs>
                                <m:mc>
                                  <m:mcPr>
                                    <m:count m:val="2"/>
                                    <m:mcJc m:val="center"/>
                                  </m:mcPr>
                                </m:mc>
                              </m:mcs>
                              <m:plcHide m:val="on"/>
                              <m:ctrlPr>
                                <a:rPr lang="zh-CN" altLang="en-US" sz="2800" i="1">
                                  <a:solidFill>
                                    <a:srgbClr val="000000"/>
                                  </a:solidFill>
                                  <a:latin typeface="Cambria Math" panose="02040503050406030204" charset="0"/>
                                </a:rPr>
                              </m:ctrlPr>
                            </m:mPr>
                            <m:mr>
                              <m:e>
                                <m:sSub>
                                  <m:sSubPr>
                                    <m:ctrlPr>
                                      <a:rPr lang="zh-CN" altLang="en-US" sz="2800" i="1">
                                        <a:solidFill>
                                          <a:srgbClr val="000000"/>
                                        </a:solidFill>
                                        <a:latin typeface="Cambria Math" panose="02040503050406030204" charset="0"/>
                                      </a:rPr>
                                    </m:ctrlPr>
                                  </m:sSubPr>
                                  <m:e>
                                    <m:r>
                                      <a:rPr lang="zh-CN" altLang="en-US" sz="2800" b="0" i="1">
                                        <a:solidFill>
                                          <a:srgbClr val="000000"/>
                                        </a:solidFill>
                                        <a:latin typeface="Cambria Math" panose="02040503050406030204" charset="0"/>
                                      </a:rPr>
                                      <m:t>𝑎</m:t>
                                    </m:r>
                                  </m:e>
                                  <m:sub>
                                    <m:r>
                                      <a:rPr lang="zh-CN" altLang="en-US" sz="2800" b="0" i="1">
                                        <a:solidFill>
                                          <a:srgbClr val="000000"/>
                                        </a:solidFill>
                                        <a:latin typeface="Cambria Math" panose="02040503050406030204" charset="0"/>
                                      </a:rPr>
                                      <m:t>𝑥</m:t>
                                    </m:r>
                                  </m:sub>
                                </m:sSub>
                              </m:e>
                              <m:e>
                                <m:sSub>
                                  <m:sSubPr>
                                    <m:ctrlPr>
                                      <a:rPr lang="zh-CN" altLang="en-US" sz="2800" i="1">
                                        <a:solidFill>
                                          <a:srgbClr val="000000"/>
                                        </a:solidFill>
                                        <a:latin typeface="Cambria Math" panose="02040503050406030204" charset="0"/>
                                      </a:rPr>
                                    </m:ctrlPr>
                                  </m:sSubPr>
                                  <m:e>
                                    <m:r>
                                      <a:rPr lang="zh-CN" altLang="en-US" sz="2800" b="0" i="1">
                                        <a:solidFill>
                                          <a:srgbClr val="000000"/>
                                        </a:solidFill>
                                        <a:latin typeface="Cambria Math" panose="02040503050406030204" charset="0"/>
                                      </a:rPr>
                                      <m:t>𝑎</m:t>
                                    </m:r>
                                  </m:e>
                                  <m:sub>
                                    <m:r>
                                      <a:rPr lang="zh-CN" altLang="en-US" sz="2800" b="0" i="1">
                                        <a:solidFill>
                                          <a:srgbClr val="000000"/>
                                        </a:solidFill>
                                        <a:latin typeface="Cambria Math" panose="02040503050406030204" charset="0"/>
                                      </a:rPr>
                                      <m:t>𝑦</m:t>
                                    </m:r>
                                  </m:sub>
                                </m:sSub>
                              </m:e>
                            </m:mr>
                            <m:mr>
                              <m:e>
                                <m:sSub>
                                  <m:sSubPr>
                                    <m:ctrlPr>
                                      <a:rPr lang="zh-CN" altLang="en-US" sz="2800" i="1">
                                        <a:solidFill>
                                          <a:srgbClr val="000000"/>
                                        </a:solidFill>
                                        <a:latin typeface="Cambria Math" panose="02040503050406030204" charset="0"/>
                                      </a:rPr>
                                    </m:ctrlPr>
                                  </m:sSubPr>
                                  <m:e>
                                    <m:r>
                                      <a:rPr lang="zh-CN" altLang="en-US" sz="2800" b="0" i="1">
                                        <a:solidFill>
                                          <a:srgbClr val="000000"/>
                                        </a:solidFill>
                                        <a:latin typeface="Cambria Math" panose="02040503050406030204" charset="0"/>
                                      </a:rPr>
                                      <m:t>𝑏</m:t>
                                    </m:r>
                                  </m:e>
                                  <m:sub>
                                    <m:r>
                                      <a:rPr lang="zh-CN" altLang="en-US" sz="2800" b="0" i="1">
                                        <a:solidFill>
                                          <a:srgbClr val="000000"/>
                                        </a:solidFill>
                                        <a:latin typeface="Cambria Math" panose="02040503050406030204" charset="0"/>
                                      </a:rPr>
                                      <m:t>𝑥</m:t>
                                    </m:r>
                                  </m:sub>
                                </m:sSub>
                              </m:e>
                              <m:e>
                                <m:sSub>
                                  <m:sSubPr>
                                    <m:ctrlPr>
                                      <a:rPr lang="zh-CN" altLang="en-US" sz="2800" i="1">
                                        <a:solidFill>
                                          <a:srgbClr val="000000"/>
                                        </a:solidFill>
                                        <a:latin typeface="Cambria Math" panose="02040503050406030204" charset="0"/>
                                      </a:rPr>
                                    </m:ctrlPr>
                                  </m:sSubPr>
                                  <m:e>
                                    <m:r>
                                      <a:rPr lang="zh-CN" altLang="en-US" sz="2800" b="0" i="1">
                                        <a:solidFill>
                                          <a:srgbClr val="000000"/>
                                        </a:solidFill>
                                        <a:latin typeface="Cambria Math" panose="02040503050406030204" charset="0"/>
                                      </a:rPr>
                                      <m:t>𝑏</m:t>
                                    </m:r>
                                  </m:e>
                                  <m:sub>
                                    <m:r>
                                      <a:rPr lang="zh-CN" altLang="en-US" sz="2800" b="0" i="1">
                                        <a:solidFill>
                                          <a:srgbClr val="000000"/>
                                        </a:solidFill>
                                        <a:latin typeface="Cambria Math" panose="02040503050406030204" charset="0"/>
                                      </a:rPr>
                                      <m:t>𝑦</m:t>
                                    </m:r>
                                  </m:sub>
                                </m:sSub>
                              </m:e>
                            </m:mr>
                          </m:m>
                        </m:e>
                      </m:d>
                      <m:r>
                        <a:rPr lang="zh-CN" altLang="en-US" sz="2800" b="1" i="1">
                          <a:solidFill>
                            <a:srgbClr val="000000"/>
                          </a:solidFill>
                          <a:latin typeface="Cambria Math" panose="02040503050406030204" charset="0"/>
                        </a:rPr>
                        <m:t>𝒌</m:t>
                      </m:r>
                      <m:r>
                        <a:rPr lang="zh-CN" altLang="en-US" sz="2800" b="0" i="1">
                          <a:solidFill>
                            <a:srgbClr val="000000"/>
                          </a:solidFill>
                          <a:latin typeface="Cambria Math" panose="02040503050406030204" charset="0"/>
                        </a:rPr>
                        <m:t>.</m:t>
                      </m:r>
                    </m:oMath>
                  </m:oMathPara>
                </a14:m>
                <a:endParaRPr lang="zh-CN" altLang="en-US" sz="2800" dirty="0"/>
              </a:p>
            </p:txBody>
          </p:sp>
        </mc:Choice>
        <mc:Fallback>
          <p:sp>
            <p:nvSpPr>
              <p:cNvPr id="24627" name="Object 51"/>
              <p:cNvSpPr txBox="1">
                <a:spLocks noRot="1" noChangeAspect="1" noMove="1" noResize="1" noEditPoints="1" noAdjustHandles="1" noChangeArrowheads="1" noChangeShapeType="1" noTextEdit="1"/>
              </p:cNvSpPr>
              <p:nvPr/>
            </p:nvSpPr>
            <p:spPr bwMode="auto">
              <a:xfrm>
                <a:off x="2336261" y="4247806"/>
                <a:ext cx="6217190" cy="1111042"/>
              </a:xfrm>
              <a:prstGeom prst="rect">
                <a:avLst/>
              </a:prstGeom>
              <a:blipFill rotWithShape="1">
                <a:blip r:embed="rId4"/>
                <a:stretch>
                  <a:fillRect l="-2" t="-26" b="7"/>
                </a:stretch>
              </a:blipFill>
              <a:ln>
                <a:noFill/>
              </a:ln>
              <a:effectLst/>
            </p:spPr>
            <p:txBody>
              <a:bodyPr/>
              <a:lstStyle/>
              <a:p>
                <a:r>
                  <a:rPr lang="zh-CN" altLang="en-US">
                    <a:noFill/>
                  </a:rPr>
                  <a:t> </a:t>
                </a:r>
              </a:p>
            </p:txBody>
          </p:sp>
        </mc:Fallback>
      </mc:AlternateContent>
      <p:sp>
        <p:nvSpPr>
          <p:cNvPr id="24629" name="Line 53"/>
          <p:cNvSpPr>
            <a:spLocks noChangeShapeType="1"/>
          </p:cNvSpPr>
          <p:nvPr/>
        </p:nvSpPr>
        <p:spPr bwMode="auto">
          <a:xfrm flipH="1">
            <a:off x="4965457" y="3039255"/>
            <a:ext cx="457200" cy="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Times New Roman" panose="02020603050405020304" pitchFamily="18" charset="0"/>
              <a:cs typeface="Times New Roman" panose="02020603050405020304" pitchFamily="18" charset="0"/>
            </a:endParaRPr>
          </a:p>
        </p:txBody>
      </p:sp>
      <p:sp>
        <p:nvSpPr>
          <p:cNvPr id="24630" name="Line 54"/>
          <p:cNvSpPr>
            <a:spLocks noChangeShapeType="1"/>
          </p:cNvSpPr>
          <p:nvPr/>
        </p:nvSpPr>
        <p:spPr bwMode="auto">
          <a:xfrm flipH="1">
            <a:off x="4965457" y="3448391"/>
            <a:ext cx="457200" cy="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4631" name="Text Box 55"/>
              <p:cNvSpPr txBox="1">
                <a:spLocks noChangeArrowheads="1"/>
              </p:cNvSpPr>
              <p:nvPr/>
            </p:nvSpPr>
            <p:spPr bwMode="auto">
              <a:xfrm>
                <a:off x="5323011" y="2749509"/>
                <a:ext cx="229259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800" dirty="0">
                    <a:solidFill>
                      <a:srgbClr val="04926A"/>
                    </a:solidFill>
                    <a:latin typeface="黑体" panose="02010609060101010101" pitchFamily="49" charset="-122"/>
                    <a:ea typeface="黑体" panose="02010609060101010101" pitchFamily="49" charset="-122"/>
                  </a:rPr>
                  <a:t>向量</a:t>
                </a:r>
                <a14:m>
                  <m:oMath xmlns:m="http://schemas.openxmlformats.org/officeDocument/2006/math">
                    <m:r>
                      <a:rPr lang="zh-CN" altLang="en-US" sz="2800" b="1" i="1" smtClean="0">
                        <a:solidFill>
                          <a:srgbClr val="04926A"/>
                        </a:solidFill>
                        <a:latin typeface="Cambria Math" panose="02040503050406030204" charset="0"/>
                      </a:rPr>
                      <m:t>𝒂</m:t>
                    </m:r>
                  </m:oMath>
                </a14:m>
                <a:r>
                  <a:rPr kumimoji="1" lang="zh-CN" altLang="en-US" sz="2800" dirty="0">
                    <a:solidFill>
                      <a:srgbClr val="04926A"/>
                    </a:solidFill>
                    <a:latin typeface="黑体" panose="02010609060101010101" pitchFamily="49" charset="-122"/>
                    <a:ea typeface="黑体" panose="02010609060101010101" pitchFamily="49" charset="-122"/>
                  </a:rPr>
                  <a:t>的坐标</a:t>
                </a:r>
                <a:endParaRPr kumimoji="1" lang="zh-CN" altLang="en-US" sz="2800" dirty="0">
                  <a:solidFill>
                    <a:srgbClr val="04926A"/>
                  </a:solidFill>
                  <a:latin typeface="黑体" panose="02010609060101010101" pitchFamily="49" charset="-122"/>
                  <a:ea typeface="黑体" panose="02010609060101010101" pitchFamily="49" charset="-122"/>
                </a:endParaRPr>
              </a:p>
            </p:txBody>
          </p:sp>
        </mc:Choice>
        <mc:Fallback>
          <p:sp>
            <p:nvSpPr>
              <p:cNvPr id="24631" name="Text Box 55"/>
              <p:cNvSpPr txBox="1">
                <a:spLocks noRot="1" noChangeAspect="1" noMove="1" noResize="1" noEditPoints="1" noAdjustHandles="1" noChangeArrowheads="1" noChangeShapeType="1" noTextEdit="1"/>
              </p:cNvSpPr>
              <p:nvPr/>
            </p:nvSpPr>
            <p:spPr bwMode="auto">
              <a:xfrm>
                <a:off x="5323011" y="2749509"/>
                <a:ext cx="2292593" cy="523220"/>
              </a:xfrm>
              <a:prstGeom prst="rect">
                <a:avLst/>
              </a:prstGeom>
              <a:blipFill rotWithShape="1">
                <a:blip r:embed="rId5"/>
                <a:stretch>
                  <a:fillRect l="-19" t="-114" r="2" b="11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632" name="Text Box 56"/>
              <p:cNvSpPr txBox="1">
                <a:spLocks noChangeArrowheads="1"/>
              </p:cNvSpPr>
              <p:nvPr/>
            </p:nvSpPr>
            <p:spPr bwMode="auto">
              <a:xfrm>
                <a:off x="5346457" y="3191655"/>
                <a:ext cx="229259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800" dirty="0">
                    <a:solidFill>
                      <a:srgbClr val="04926A"/>
                    </a:solidFill>
                    <a:latin typeface="黑体" panose="02010609060101010101" pitchFamily="49" charset="-122"/>
                    <a:ea typeface="黑体" panose="02010609060101010101" pitchFamily="49" charset="-122"/>
                  </a:rPr>
                  <a:t>向量</a:t>
                </a:r>
                <a14:m>
                  <m:oMath xmlns:m="http://schemas.openxmlformats.org/officeDocument/2006/math">
                    <m:r>
                      <a:rPr lang="zh-CN" altLang="en-US" sz="2800" b="1" i="1" smtClean="0">
                        <a:solidFill>
                          <a:srgbClr val="04926A"/>
                        </a:solidFill>
                        <a:latin typeface="Cambria Math" panose="02040503050406030204" charset="0"/>
                      </a:rPr>
                      <m:t>𝒃</m:t>
                    </m:r>
                  </m:oMath>
                </a14:m>
                <a:r>
                  <a:rPr kumimoji="1" lang="zh-CN" altLang="en-US" sz="2800" dirty="0">
                    <a:solidFill>
                      <a:srgbClr val="04926A"/>
                    </a:solidFill>
                    <a:latin typeface="黑体" panose="02010609060101010101" pitchFamily="49" charset="-122"/>
                    <a:ea typeface="黑体" panose="02010609060101010101" pitchFamily="49" charset="-122"/>
                  </a:rPr>
                  <a:t>的坐标</a:t>
                </a:r>
                <a:endParaRPr kumimoji="1" lang="zh-CN" altLang="en-US" sz="2800" dirty="0">
                  <a:solidFill>
                    <a:srgbClr val="04926A"/>
                  </a:solidFill>
                  <a:latin typeface="黑体" panose="02010609060101010101" pitchFamily="49" charset="-122"/>
                  <a:ea typeface="黑体" panose="02010609060101010101" pitchFamily="49" charset="-122"/>
                </a:endParaRPr>
              </a:p>
            </p:txBody>
          </p:sp>
        </mc:Choice>
        <mc:Fallback>
          <p:sp>
            <p:nvSpPr>
              <p:cNvPr id="24632" name="Text Box 56"/>
              <p:cNvSpPr txBox="1">
                <a:spLocks noRot="1" noChangeAspect="1" noMove="1" noResize="1" noEditPoints="1" noAdjustHandles="1" noChangeArrowheads="1" noChangeShapeType="1" noTextEdit="1"/>
              </p:cNvSpPr>
              <p:nvPr/>
            </p:nvSpPr>
            <p:spPr bwMode="auto">
              <a:xfrm>
                <a:off x="5346457" y="3191655"/>
                <a:ext cx="2292593" cy="523220"/>
              </a:xfrm>
              <a:prstGeom prst="rect">
                <a:avLst/>
              </a:prstGeom>
              <a:blipFill rotWithShape="1">
                <a:blip r:embed="rId6"/>
                <a:stretch>
                  <a:fillRect l="-17" t="-28" b="2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622"/>
                                        </p:tgtEl>
                                        <p:attrNameLst>
                                          <p:attrName>style.visibility</p:attrName>
                                        </p:attrNameLst>
                                      </p:cBhvr>
                                      <p:to>
                                        <p:strVal val="visible"/>
                                      </p:to>
                                    </p:set>
                                    <p:animEffect transition="in" filter="wipe(left)">
                                      <p:cBhvr>
                                        <p:cTn id="7" dur="500"/>
                                        <p:tgtEl>
                                          <p:spTgt spid="246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619"/>
                                        </p:tgtEl>
                                        <p:attrNameLst>
                                          <p:attrName>style.visibility</p:attrName>
                                        </p:attrNameLst>
                                      </p:cBhvr>
                                      <p:to>
                                        <p:strVal val="visible"/>
                                      </p:to>
                                    </p:set>
                                    <p:animEffect transition="in" filter="wipe(left)">
                                      <p:cBhvr>
                                        <p:cTn id="12" dur="500"/>
                                        <p:tgtEl>
                                          <p:spTgt spid="246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624"/>
                                        </p:tgtEl>
                                        <p:attrNameLst>
                                          <p:attrName>style.visibility</p:attrName>
                                        </p:attrNameLst>
                                      </p:cBhvr>
                                      <p:to>
                                        <p:strVal val="visible"/>
                                      </p:to>
                                    </p:set>
                                    <p:animEffect transition="in" filter="wipe(left)">
                                      <p:cBhvr>
                                        <p:cTn id="17" dur="500"/>
                                        <p:tgtEl>
                                          <p:spTgt spid="2462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4629"/>
                                        </p:tgtEl>
                                        <p:attrNameLst>
                                          <p:attrName>style.visibility</p:attrName>
                                        </p:attrNameLst>
                                      </p:cBhvr>
                                      <p:to>
                                        <p:strVal val="visible"/>
                                      </p:to>
                                    </p:set>
                                    <p:animEffect transition="in" filter="wipe(left)">
                                      <p:cBhvr>
                                        <p:cTn id="22" dur="500"/>
                                        <p:tgtEl>
                                          <p:spTgt spid="2462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4631"/>
                                        </p:tgtEl>
                                        <p:attrNameLst>
                                          <p:attrName>style.visibility</p:attrName>
                                        </p:attrNameLst>
                                      </p:cBhvr>
                                      <p:to>
                                        <p:strVal val="visible"/>
                                      </p:to>
                                    </p:set>
                                    <p:animEffect transition="in" filter="wipe(left)">
                                      <p:cBhvr>
                                        <p:cTn id="27" dur="500"/>
                                        <p:tgtEl>
                                          <p:spTgt spid="2463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4630"/>
                                        </p:tgtEl>
                                        <p:attrNameLst>
                                          <p:attrName>style.visibility</p:attrName>
                                        </p:attrNameLst>
                                      </p:cBhvr>
                                      <p:to>
                                        <p:strVal val="visible"/>
                                      </p:to>
                                    </p:set>
                                    <p:animEffect transition="in" filter="wipe(left)">
                                      <p:cBhvr>
                                        <p:cTn id="32" dur="500"/>
                                        <p:tgtEl>
                                          <p:spTgt spid="2463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4632"/>
                                        </p:tgtEl>
                                        <p:attrNameLst>
                                          <p:attrName>style.visibility</p:attrName>
                                        </p:attrNameLst>
                                      </p:cBhvr>
                                      <p:to>
                                        <p:strVal val="visible"/>
                                      </p:to>
                                    </p:set>
                                    <p:animEffect transition="in" filter="wipe(left)">
                                      <p:cBhvr>
                                        <p:cTn id="37" dur="500"/>
                                        <p:tgtEl>
                                          <p:spTgt spid="2463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4627"/>
                                        </p:tgtEl>
                                        <p:attrNameLst>
                                          <p:attrName>style.visibility</p:attrName>
                                        </p:attrNameLst>
                                      </p:cBhvr>
                                      <p:to>
                                        <p:strVal val="visible"/>
                                      </p:to>
                                    </p:set>
                                    <p:animEffect transition="in" filter="wipe(left)">
                                      <p:cBhvr>
                                        <p:cTn id="42" dur="500"/>
                                        <p:tgtEl>
                                          <p:spTgt spid="24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19" grpId="0" bldLvl="0" animBg="1"/>
      <p:bldP spid="24622" grpId="0" bldLvl="0" animBg="1"/>
      <p:bldP spid="24624" grpId="0" bldLvl="0" animBg="1"/>
      <p:bldP spid="24627" grpId="0" bldLvl="0" animBg="1"/>
      <p:bldP spid="24631" grpId="0" bldLvl="0" animBg="1"/>
      <p:bldP spid="24632"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687324" y="535820"/>
            <a:ext cx="10817987" cy="5803091"/>
            <a:chOff x="687324" y="535820"/>
            <a:chExt cx="10817987" cy="5803091"/>
          </a:xfrm>
        </p:grpSpPr>
        <mc:AlternateContent xmlns:mc="http://schemas.openxmlformats.org/markup-compatibility/2006">
          <mc:Choice xmlns:a14="http://schemas.microsoft.com/office/drawing/2010/main" Requires="a14">
            <p:sp>
              <p:nvSpPr>
                <p:cNvPr id="4" name="矩形 3"/>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dirty="0"/>
                </a:p>
              </p:txBody>
            </p:sp>
          </mc:Choice>
          <mc:Fallback>
            <p:sp>
              <p:nvSpPr>
                <p:cNvPr id="4" name="矩形 3"/>
                <p:cNvSpPr>
                  <a:spLocks noRot="1" noChangeAspect="1" noMove="1" noResize="1" noEditPoints="1" noAdjustHandles="1" noChangeArrowheads="1" noChangeShapeType="1" noTextEdit="1"/>
                </p:cNvSpPr>
                <p:nvPr/>
              </p:nvSpPr>
              <p:spPr>
                <a:xfrm>
                  <a:off x="687959" y="536260"/>
                  <a:ext cx="10817352" cy="5799897"/>
                </a:xfrm>
                <a:prstGeom prst="rect">
                  <a:avLst/>
                </a:prstGeom>
                <a:blipFill rotWithShape="1">
                  <a:blip r:embed="rId1"/>
                </a:blip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5" name="半闭框 4"/>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半闭框 5"/>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半闭框 6"/>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8" name="半闭框 7"/>
            <p:cNvSpPr/>
            <p:nvPr/>
          </p:nvSpPr>
          <p:spPr>
            <a:xfrm flipH="1" flipV="1">
              <a:off x="10823530"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2197" name="Rectangle 149"/>
          <p:cNvSpPr>
            <a:spLocks noChangeArrowheads="1"/>
          </p:cNvSpPr>
          <p:nvPr/>
        </p:nvSpPr>
        <p:spPr bwMode="auto">
          <a:xfrm>
            <a:off x="1452176" y="2254396"/>
            <a:ext cx="5437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1" dirty="0">
                <a:solidFill>
                  <a:srgbClr val="04926A"/>
                </a:solidFill>
                <a:latin typeface="微软雅黑" panose="020B0503020204020204" charset="-122"/>
                <a:ea typeface="微软雅黑" panose="020B0503020204020204" charset="-122"/>
              </a:rPr>
              <a:t>解</a:t>
            </a:r>
            <a:endParaRPr kumimoji="1" lang="zh-CN" altLang="en-US" sz="2800" b="1" dirty="0">
              <a:solidFill>
                <a:srgbClr val="04926A"/>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2239" name="Text Box 191"/>
              <p:cNvSpPr txBox="1">
                <a:spLocks noChangeArrowheads="1"/>
              </p:cNvSpPr>
              <p:nvPr/>
            </p:nvSpPr>
            <p:spPr bwMode="auto">
              <a:xfrm>
                <a:off x="1452176" y="873452"/>
                <a:ext cx="84518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a:solidFill>
                      <a:srgbClr val="04926A"/>
                    </a:solidFill>
                    <a:latin typeface="微软雅黑" panose="020B0503020204020204" charset="-122"/>
                    <a:ea typeface="微软雅黑" panose="020B0503020204020204" charset="-122"/>
                  </a:rPr>
                  <a:t>例</a:t>
                </a:r>
                <a:r>
                  <a:rPr kumimoji="1" lang="en-US" altLang="zh-CN" sz="2800" b="1" dirty="0">
                    <a:solidFill>
                      <a:srgbClr val="04926A"/>
                    </a:solidFill>
                    <a:latin typeface="微软雅黑" panose="020B0503020204020204" charset="-122"/>
                    <a:ea typeface="微软雅黑" panose="020B0503020204020204" charset="-122"/>
                  </a:rPr>
                  <a:t>4</a:t>
                </a:r>
                <a:r>
                  <a:rPr lang="en-US" altLang="zh-CN" sz="2800" dirty="0">
                    <a:solidFill>
                      <a:srgbClr val="3333C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求一个与向量</a:t>
                </a:r>
                <a14:m>
                  <m:oMath xmlns:m="http://schemas.openxmlformats.org/officeDocument/2006/math">
                    <m:r>
                      <a:rPr lang="zh-CN" altLang="en-US" sz="2800" b="1" i="1" smtClean="0">
                        <a:latin typeface="Cambria Math" panose="02040503050406030204" charset="0"/>
                      </a:rPr>
                      <m:t>𝒂</m:t>
                    </m:r>
                    <m:r>
                      <a:rPr lang="en-US" altLang="zh-CN" sz="2800" b="0" i="1" smtClean="0">
                        <a:latin typeface="Cambria Math" panose="02040503050406030204" charset="0"/>
                      </a:rPr>
                      <m:t>=</m:t>
                    </m:r>
                    <m:d>
                      <m:dPr>
                        <m:ctrlPr>
                          <a:rPr lang="en-US" altLang="zh-CN" sz="2800" b="0" i="1" smtClean="0">
                            <a:latin typeface="Cambria Math" panose="02040503050406030204" charset="0"/>
                          </a:rPr>
                        </m:ctrlPr>
                      </m:dPr>
                      <m:e>
                        <m:r>
                          <a:rPr lang="en-US" altLang="zh-CN" sz="2800" b="0" i="1" smtClean="0">
                            <a:latin typeface="Cambria Math" panose="02040503050406030204" charset="0"/>
                          </a:rPr>
                          <m:t>1</m:t>
                        </m:r>
                        <m:r>
                          <a:rPr lang="en-US" altLang="zh-CN" sz="2800" b="0" i="1" smtClean="0">
                            <a:latin typeface="Cambria Math" panose="02040503050406030204" charset="0"/>
                          </a:rPr>
                          <m:t>,</m:t>
                        </m:r>
                        <m:r>
                          <a:rPr lang="en-US" altLang="zh-CN" sz="2800" b="0" i="1" smtClean="0">
                            <a:latin typeface="Cambria Math" panose="02040503050406030204" charset="0"/>
                          </a:rPr>
                          <m:t>2</m:t>
                        </m:r>
                        <m:r>
                          <a:rPr lang="en-US" altLang="zh-CN" sz="2800" b="0" i="1" smtClean="0">
                            <a:latin typeface="Cambria Math" panose="02040503050406030204" charset="0"/>
                          </a:rPr>
                          <m:t>,</m:t>
                        </m:r>
                        <m:r>
                          <a:rPr lang="en-US" altLang="zh-CN" sz="2800" b="0" i="1" smtClean="0">
                            <a:latin typeface="Cambria Math" panose="02040503050406030204" charset="0"/>
                          </a:rPr>
                          <m:t>1</m:t>
                        </m:r>
                      </m:e>
                    </m:d>
                    <m:r>
                      <a:rPr lang="en-US" altLang="zh-CN" sz="2800" b="0" i="1" smtClean="0">
                        <a:latin typeface="Cambria Math" panose="02040503050406030204" charset="0"/>
                      </a:rPr>
                      <m:t>,</m:t>
                    </m:r>
                    <m:r>
                      <a:rPr lang="en-US" altLang="zh-CN" sz="2800" b="1" i="1" smtClean="0">
                        <a:latin typeface="Cambria Math" panose="02040503050406030204" charset="0"/>
                      </a:rPr>
                      <m:t>𝒃</m:t>
                    </m:r>
                    <m:r>
                      <a:rPr lang="en-US" altLang="zh-CN" sz="2800" b="0" i="1" smtClean="0">
                        <a:latin typeface="Cambria Math" panose="02040503050406030204" charset="0"/>
                      </a:rPr>
                      <m:t>=(</m:t>
                    </m:r>
                    <m:r>
                      <a:rPr lang="en-US" altLang="zh-CN" sz="2800" b="0" i="1" smtClean="0">
                        <a:latin typeface="Cambria Math" panose="02040503050406030204" charset="0"/>
                      </a:rPr>
                      <m:t>2</m:t>
                    </m:r>
                    <m:r>
                      <a:rPr lang="en-US" altLang="zh-CN" sz="2800" b="0" i="1" smtClean="0">
                        <a:latin typeface="Cambria Math" panose="02040503050406030204" charset="0"/>
                      </a:rPr>
                      <m:t>,</m:t>
                    </m:r>
                    <m:r>
                      <a:rPr lang="en-US" altLang="zh-CN" sz="2800" b="0" i="1" smtClean="0">
                        <a:latin typeface="Cambria Math" panose="02040503050406030204" charset="0"/>
                      </a:rPr>
                      <m:t>1</m:t>
                    </m:r>
                    <m:r>
                      <a:rPr lang="en-US" altLang="zh-CN" sz="2800" b="0" i="1" smtClean="0">
                        <a:latin typeface="Cambria Math" panose="02040503050406030204" charset="0"/>
                      </a:rPr>
                      <m:t>,</m:t>
                    </m:r>
                    <m:r>
                      <a:rPr lang="en-US" altLang="zh-CN" sz="2800" b="0" i="1" smtClean="0">
                        <a:latin typeface="Cambria Math" panose="02040503050406030204" charset="0"/>
                      </a:rPr>
                      <m:t>1</m:t>
                    </m:r>
                    <m:r>
                      <a:rPr lang="en-US" altLang="zh-CN" sz="2800" b="0" i="1" smtClean="0">
                        <a:latin typeface="Cambria Math" panose="02040503050406030204" charset="0"/>
                      </a:rPr>
                      <m:t>)</m:t>
                    </m:r>
                  </m:oMath>
                </a14:m>
                <a:r>
                  <a:rPr lang="zh-CN" altLang="en-US" sz="2800" dirty="0">
                    <a:latin typeface="Times New Roman" panose="02020603050405020304" pitchFamily="18" charset="0"/>
                    <a:cs typeface="Times New Roman" panose="02020603050405020304" pitchFamily="18" charset="0"/>
                  </a:rPr>
                  <a:t>都垂直</a:t>
                </a:r>
                <a:endParaRPr lang="zh-CN" altLang="en-US" sz="2800" dirty="0">
                  <a:latin typeface="Times New Roman" panose="02020603050405020304" pitchFamily="18" charset="0"/>
                  <a:cs typeface="Times New Roman" panose="02020603050405020304" pitchFamily="18" charset="0"/>
                </a:endParaRPr>
              </a:p>
            </p:txBody>
          </p:sp>
        </mc:Choice>
        <mc:Fallback>
          <p:sp>
            <p:nvSpPr>
              <p:cNvPr id="2239" name="Text Box 191"/>
              <p:cNvSpPr txBox="1">
                <a:spLocks noRot="1" noChangeAspect="1" noMove="1" noResize="1" noEditPoints="1" noAdjustHandles="1" noChangeArrowheads="1" noChangeShapeType="1" noTextEdit="1"/>
              </p:cNvSpPr>
              <p:nvPr/>
            </p:nvSpPr>
            <p:spPr bwMode="auto">
              <a:xfrm>
                <a:off x="1452176" y="873452"/>
                <a:ext cx="8451850" cy="523220"/>
              </a:xfrm>
              <a:prstGeom prst="rect">
                <a:avLst/>
              </a:prstGeom>
              <a:blipFill rotWithShape="1">
                <a:blip r:embed="rId2"/>
                <a:stretch>
                  <a:fillRect l="-7" t="-62" r="7" b="5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2240" name="Text Box 192"/>
          <p:cNvSpPr txBox="1">
            <a:spLocks noChangeArrowheads="1"/>
          </p:cNvSpPr>
          <p:nvPr/>
        </p:nvSpPr>
        <p:spPr bwMode="auto">
          <a:xfrm>
            <a:off x="2484024" y="1394025"/>
            <a:ext cx="150052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的向量</a:t>
            </a:r>
            <a:r>
              <a:rPr lang="en-US" altLang="zh-CN" sz="2800" dirty="0">
                <a:latin typeface="Times New Roman" panose="02020603050405020304" pitchFamily="18" charset="0"/>
                <a:cs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p:txBody>
      </p:sp>
      <p:sp>
        <p:nvSpPr>
          <p:cNvPr id="2242" name="Text Box 194"/>
          <p:cNvSpPr txBox="1">
            <a:spLocks noChangeArrowheads="1"/>
          </p:cNvSpPr>
          <p:nvPr/>
        </p:nvSpPr>
        <p:spPr bwMode="auto">
          <a:xfrm>
            <a:off x="2444493" y="2318655"/>
            <a:ext cx="72072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200" dirty="0">
                <a:latin typeface="Times New Roman" panose="02020603050405020304" pitchFamily="18" charset="0"/>
                <a:cs typeface="Times New Roman" panose="02020603050405020304" pitchFamily="18" charset="0"/>
              </a:rPr>
              <a:t>令</a:t>
            </a:r>
            <a:endParaRPr lang="zh-CN" altLang="en-US" sz="2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243" name="Rectangle 195"/>
              <p:cNvSpPr>
                <a:spLocks noChangeArrowheads="1"/>
              </p:cNvSpPr>
              <p:nvPr/>
            </p:nvSpPr>
            <p:spPr bwMode="auto">
              <a:xfrm>
                <a:off x="2479638" y="2873986"/>
                <a:ext cx="1500522"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14:m>
                  <m:oMathPara xmlns:m="http://schemas.openxmlformats.org/officeDocument/2006/math">
                    <m:oMathParaPr>
                      <m:jc m:val="left"/>
                    </m:oMathParaPr>
                    <m:oMath xmlns:m="http://schemas.openxmlformats.org/officeDocument/2006/math">
                      <m:r>
                        <a:rPr lang="en-US" altLang="zh-CN" sz="2200" b="1" i="1" smtClean="0">
                          <a:latin typeface="Cambria Math" panose="02040503050406030204" charset="0"/>
                        </a:rPr>
                        <m:t>𝒄</m:t>
                      </m:r>
                      <m:r>
                        <a:rPr lang="en-US" altLang="zh-CN" sz="2200" b="0" i="0" smtClean="0">
                          <a:latin typeface="Cambria Math" panose="02040503050406030204" charset="0"/>
                        </a:rPr>
                        <m:t>=</m:t>
                      </m:r>
                      <m:r>
                        <a:rPr lang="zh-CN" altLang="en-US" sz="2200" b="1" i="1">
                          <a:latin typeface="Cambria Math" panose="02040503050406030204" charset="0"/>
                        </a:rPr>
                        <m:t>𝒂</m:t>
                      </m:r>
                      <m:r>
                        <a:rPr lang="zh-CN" altLang="en-US" sz="2200" i="1">
                          <a:latin typeface="Cambria Math" panose="02040503050406030204" charset="0"/>
                        </a:rPr>
                        <m:t>×</m:t>
                      </m:r>
                      <m:r>
                        <a:rPr lang="zh-CN" altLang="en-US" sz="2200" b="1" i="1">
                          <a:latin typeface="Cambria Math" panose="02040503050406030204" charset="0"/>
                        </a:rPr>
                        <m:t>𝒃</m:t>
                      </m:r>
                    </m:oMath>
                  </m:oMathPara>
                </a14:m>
                <a:endParaRPr lang="en-US" altLang="zh-CN" sz="2200" b="1" dirty="0">
                  <a:latin typeface="Cambria Math" panose="02040503050406030204" charset="0"/>
                </a:endParaRPr>
              </a:p>
            </p:txBody>
          </p:sp>
        </mc:Choice>
        <mc:Fallback>
          <p:sp>
            <p:nvSpPr>
              <p:cNvPr id="2243" name="Rectangle 195"/>
              <p:cNvSpPr>
                <a:spLocks noRot="1" noChangeAspect="1" noMove="1" noResize="1" noEditPoints="1" noAdjustHandles="1" noChangeArrowheads="1" noChangeShapeType="1" noTextEdit="1"/>
              </p:cNvSpPr>
              <p:nvPr/>
            </p:nvSpPr>
            <p:spPr bwMode="auto">
              <a:xfrm>
                <a:off x="2479638" y="2873986"/>
                <a:ext cx="1500522" cy="430887"/>
              </a:xfrm>
              <a:prstGeom prst="rect">
                <a:avLst/>
              </a:prstGeom>
              <a:blipFill rotWithShape="1">
                <a:blip r:embed="rId3"/>
                <a:stretch>
                  <a:fillRect l="-40" t="-142" r="41" b="7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44" name="Object 196"/>
              <p:cNvSpPr txBox="1"/>
              <p:nvPr/>
            </p:nvSpPr>
            <p:spPr bwMode="auto">
              <a:xfrm>
                <a:off x="3679813" y="2617503"/>
                <a:ext cx="1660625" cy="999158"/>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200" b="0" i="1">
                          <a:solidFill>
                            <a:srgbClr val="000000"/>
                          </a:solidFill>
                          <a:latin typeface="Cambria Math" panose="02040503050406030204" charset="0"/>
                        </a:rPr>
                        <m:t>=</m:t>
                      </m:r>
                      <m:d>
                        <m:dPr>
                          <m:begChr m:val="|"/>
                          <m:endChr m:val="|"/>
                          <m:ctrlPr>
                            <a:rPr lang="zh-CN" altLang="en-US" sz="2200" i="1">
                              <a:solidFill>
                                <a:srgbClr val="000000"/>
                              </a:solidFill>
                              <a:latin typeface="Cambria Math" panose="02040503050406030204" charset="0"/>
                            </a:rPr>
                          </m:ctrlPr>
                        </m:dPr>
                        <m:e>
                          <m:m>
                            <m:mPr>
                              <m:mcs>
                                <m:mc>
                                  <m:mcPr>
                                    <m:count m:val="3"/>
                                    <m:mcJc m:val="center"/>
                                  </m:mcPr>
                                </m:mc>
                              </m:mcs>
                              <m:plcHide m:val="on"/>
                              <m:ctrlPr>
                                <a:rPr lang="zh-CN" altLang="en-US" sz="2200" i="1">
                                  <a:solidFill>
                                    <a:srgbClr val="000000"/>
                                  </a:solidFill>
                                  <a:latin typeface="Cambria Math" panose="02040503050406030204" charset="0"/>
                                </a:rPr>
                              </m:ctrlPr>
                            </m:mPr>
                            <m:mr>
                              <m:e>
                                <m:r>
                                  <a:rPr lang="zh-CN" altLang="en-US" sz="2200" b="1" i="1">
                                    <a:solidFill>
                                      <a:srgbClr val="000000"/>
                                    </a:solidFill>
                                    <a:latin typeface="Cambria Math" panose="02040503050406030204" charset="0"/>
                                  </a:rPr>
                                  <m:t>𝒊</m:t>
                                </m:r>
                              </m:e>
                              <m:e>
                                <m:r>
                                  <a:rPr lang="zh-CN" altLang="en-US" sz="2200" b="1" i="1">
                                    <a:solidFill>
                                      <a:srgbClr val="000000"/>
                                    </a:solidFill>
                                    <a:latin typeface="Cambria Math" panose="02040503050406030204" charset="0"/>
                                  </a:rPr>
                                  <m:t>𝒋</m:t>
                                </m:r>
                              </m:e>
                              <m:e>
                                <m:r>
                                  <a:rPr lang="zh-CN" altLang="en-US" sz="2200" b="1" i="1">
                                    <a:solidFill>
                                      <a:srgbClr val="000000"/>
                                    </a:solidFill>
                                    <a:latin typeface="Cambria Math" panose="02040503050406030204" charset="0"/>
                                  </a:rPr>
                                  <m:t>𝒌</m:t>
                                </m:r>
                              </m:e>
                            </m:mr>
                            <m:mr>
                              <m:e>
                                <m:r>
                                  <a:rPr lang="zh-CN" altLang="en-US" sz="2200" b="0" i="1">
                                    <a:solidFill>
                                      <a:srgbClr val="000000"/>
                                    </a:solidFill>
                                    <a:latin typeface="Cambria Math" panose="02040503050406030204" charset="0"/>
                                  </a:rPr>
                                  <m:t>1</m:t>
                                </m:r>
                              </m:e>
                              <m:e>
                                <m:r>
                                  <a:rPr lang="zh-CN" altLang="en-US" sz="2200" b="0" i="1">
                                    <a:solidFill>
                                      <a:srgbClr val="000000"/>
                                    </a:solidFill>
                                    <a:latin typeface="Cambria Math" panose="02040503050406030204" charset="0"/>
                                  </a:rPr>
                                  <m:t>2</m:t>
                                </m:r>
                              </m:e>
                              <m:e>
                                <m:r>
                                  <a:rPr lang="zh-CN" altLang="en-US" sz="2200" b="0" i="1">
                                    <a:solidFill>
                                      <a:srgbClr val="000000"/>
                                    </a:solidFill>
                                    <a:latin typeface="Cambria Math" panose="02040503050406030204" charset="0"/>
                                  </a:rPr>
                                  <m:t>1</m:t>
                                </m:r>
                              </m:e>
                            </m:mr>
                            <m:mr>
                              <m:e>
                                <m:r>
                                  <a:rPr lang="zh-CN" altLang="en-US" sz="2200" b="0" i="1">
                                    <a:solidFill>
                                      <a:srgbClr val="000000"/>
                                    </a:solidFill>
                                    <a:latin typeface="Cambria Math" panose="02040503050406030204" charset="0"/>
                                  </a:rPr>
                                  <m:t>2</m:t>
                                </m:r>
                              </m:e>
                              <m:e>
                                <m:r>
                                  <a:rPr lang="zh-CN" altLang="en-US" sz="2200" b="0" i="1">
                                    <a:solidFill>
                                      <a:srgbClr val="000000"/>
                                    </a:solidFill>
                                    <a:latin typeface="Cambria Math" panose="02040503050406030204" charset="0"/>
                                  </a:rPr>
                                  <m:t>1</m:t>
                                </m:r>
                              </m:e>
                              <m:e>
                                <m:r>
                                  <a:rPr lang="zh-CN" altLang="en-US" sz="2200" b="0" i="1">
                                    <a:solidFill>
                                      <a:srgbClr val="000000"/>
                                    </a:solidFill>
                                    <a:latin typeface="Cambria Math" panose="02040503050406030204" charset="0"/>
                                  </a:rPr>
                                  <m:t>1</m:t>
                                </m:r>
                              </m:e>
                            </m:mr>
                          </m:m>
                        </m:e>
                      </m:d>
                    </m:oMath>
                  </m:oMathPara>
                </a14:m>
                <a:endParaRPr lang="zh-CN" altLang="en-US" sz="2200" dirty="0"/>
              </a:p>
            </p:txBody>
          </p:sp>
        </mc:Choice>
        <mc:Fallback>
          <p:sp>
            <p:nvSpPr>
              <p:cNvPr id="2244" name="Object 196"/>
              <p:cNvSpPr txBox="1">
                <a:spLocks noRot="1" noChangeAspect="1" noMove="1" noResize="1" noEditPoints="1" noAdjustHandles="1" noChangeArrowheads="1" noChangeShapeType="1" noTextEdit="1"/>
              </p:cNvSpPr>
              <p:nvPr/>
            </p:nvSpPr>
            <p:spPr bwMode="auto">
              <a:xfrm>
                <a:off x="3679813" y="2617503"/>
                <a:ext cx="1660625" cy="999158"/>
              </a:xfrm>
              <a:prstGeom prst="rect">
                <a:avLst/>
              </a:prstGeom>
              <a:blipFill rotWithShape="1">
                <a:blip r:embed="rId4"/>
                <a:stretch>
                  <a:fillRect l="-38" t="-3" r="5" b="34"/>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46" name="Object 198"/>
              <p:cNvSpPr txBox="1"/>
              <p:nvPr/>
            </p:nvSpPr>
            <p:spPr bwMode="auto">
              <a:xfrm>
                <a:off x="2672977" y="3778715"/>
                <a:ext cx="4152132" cy="751732"/>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200" b="0" i="1">
                          <a:latin typeface="Cambria Math" panose="02040503050406030204" charset="0"/>
                        </a:rPr>
                        <m:t>=</m:t>
                      </m:r>
                      <m:d>
                        <m:dPr>
                          <m:begChr m:val="|"/>
                          <m:endChr m:val="|"/>
                          <m:ctrlPr>
                            <a:rPr lang="zh-CN" altLang="en-US" sz="2200" i="1">
                              <a:latin typeface="Cambria Math" panose="02040503050406030204" charset="0"/>
                            </a:rPr>
                          </m:ctrlPr>
                        </m:dPr>
                        <m:e>
                          <m:m>
                            <m:mPr>
                              <m:mcs>
                                <m:mc>
                                  <m:mcPr>
                                    <m:count m:val="2"/>
                                    <m:mcJc m:val="center"/>
                                  </m:mcPr>
                                </m:mc>
                              </m:mcs>
                              <m:plcHide m:val="on"/>
                              <m:ctrlPr>
                                <a:rPr lang="zh-CN" altLang="en-US" sz="2200" i="1">
                                  <a:latin typeface="Cambria Math" panose="02040503050406030204" charset="0"/>
                                </a:rPr>
                              </m:ctrlPr>
                            </m:mPr>
                            <m:mr>
                              <m:e>
                                <m:r>
                                  <a:rPr lang="zh-CN" altLang="en-US" sz="2200" b="0" i="1">
                                    <a:latin typeface="Cambria Math" panose="02040503050406030204" charset="0"/>
                                  </a:rPr>
                                  <m:t>2</m:t>
                                </m:r>
                              </m:e>
                              <m:e>
                                <m:r>
                                  <a:rPr lang="zh-CN" altLang="en-US" sz="2200" b="0" i="1">
                                    <a:latin typeface="Cambria Math" panose="02040503050406030204" charset="0"/>
                                  </a:rPr>
                                  <m:t>1</m:t>
                                </m:r>
                              </m:e>
                            </m:mr>
                            <m:mr>
                              <m:e>
                                <m:r>
                                  <a:rPr lang="zh-CN" altLang="en-US" sz="2200" b="0" i="1">
                                    <a:latin typeface="Cambria Math" panose="02040503050406030204" charset="0"/>
                                  </a:rPr>
                                  <m:t>1</m:t>
                                </m:r>
                              </m:e>
                              <m:e>
                                <m:r>
                                  <a:rPr lang="zh-CN" altLang="en-US" sz="2200" b="0" i="1">
                                    <a:latin typeface="Cambria Math" panose="02040503050406030204" charset="0"/>
                                  </a:rPr>
                                  <m:t>1</m:t>
                                </m:r>
                              </m:e>
                            </m:mr>
                          </m:m>
                        </m:e>
                      </m:d>
                      <m:r>
                        <a:rPr lang="zh-CN" altLang="en-US" sz="2200" b="1" i="1">
                          <a:latin typeface="Cambria Math" panose="02040503050406030204" charset="0"/>
                        </a:rPr>
                        <m:t>𝒊</m:t>
                      </m:r>
                      <m:r>
                        <a:rPr lang="zh-CN" altLang="en-US" sz="2200" b="0" i="1">
                          <a:latin typeface="Cambria Math" panose="02040503050406030204" charset="0"/>
                        </a:rPr>
                        <m:t>−</m:t>
                      </m:r>
                      <m:d>
                        <m:dPr>
                          <m:begChr m:val="|"/>
                          <m:endChr m:val="|"/>
                          <m:ctrlPr>
                            <a:rPr lang="zh-CN" altLang="en-US" sz="2200" i="1">
                              <a:latin typeface="Cambria Math" panose="02040503050406030204" charset="0"/>
                            </a:rPr>
                          </m:ctrlPr>
                        </m:dPr>
                        <m:e>
                          <m:m>
                            <m:mPr>
                              <m:mcs>
                                <m:mc>
                                  <m:mcPr>
                                    <m:count m:val="2"/>
                                    <m:mcJc m:val="center"/>
                                  </m:mcPr>
                                </m:mc>
                              </m:mcs>
                              <m:plcHide m:val="on"/>
                              <m:ctrlPr>
                                <a:rPr lang="zh-CN" altLang="en-US" sz="2200" i="1">
                                  <a:latin typeface="Cambria Math" panose="02040503050406030204" charset="0"/>
                                </a:rPr>
                              </m:ctrlPr>
                            </m:mPr>
                            <m:mr>
                              <m:e>
                                <m:r>
                                  <a:rPr lang="zh-CN" altLang="en-US" sz="2200" b="0" i="1">
                                    <a:latin typeface="Cambria Math" panose="02040503050406030204" charset="0"/>
                                  </a:rPr>
                                  <m:t>1</m:t>
                                </m:r>
                              </m:e>
                              <m:e>
                                <m:r>
                                  <a:rPr lang="zh-CN" altLang="en-US" sz="2200" b="0" i="1">
                                    <a:latin typeface="Cambria Math" panose="02040503050406030204" charset="0"/>
                                  </a:rPr>
                                  <m:t>1</m:t>
                                </m:r>
                              </m:e>
                            </m:mr>
                            <m:mr>
                              <m:e>
                                <m:r>
                                  <a:rPr lang="zh-CN" altLang="en-US" sz="2200" b="0" i="1">
                                    <a:latin typeface="Cambria Math" panose="02040503050406030204" charset="0"/>
                                  </a:rPr>
                                  <m:t>2</m:t>
                                </m:r>
                              </m:e>
                              <m:e>
                                <m:r>
                                  <a:rPr lang="zh-CN" altLang="en-US" sz="2200" b="0" i="1">
                                    <a:latin typeface="Cambria Math" panose="02040503050406030204" charset="0"/>
                                  </a:rPr>
                                  <m:t>1</m:t>
                                </m:r>
                              </m:e>
                            </m:mr>
                          </m:m>
                        </m:e>
                      </m:d>
                      <m:r>
                        <a:rPr lang="zh-CN" altLang="en-US" sz="2200" b="1" i="1">
                          <a:latin typeface="Cambria Math" panose="02040503050406030204" charset="0"/>
                        </a:rPr>
                        <m:t>𝒋</m:t>
                      </m:r>
                      <m:r>
                        <a:rPr lang="zh-CN" altLang="en-US" sz="2200" b="0" i="1">
                          <a:latin typeface="Cambria Math" panose="02040503050406030204" charset="0"/>
                        </a:rPr>
                        <m:t>+</m:t>
                      </m:r>
                      <m:d>
                        <m:dPr>
                          <m:begChr m:val="|"/>
                          <m:endChr m:val="|"/>
                          <m:ctrlPr>
                            <a:rPr lang="zh-CN" altLang="en-US" sz="2200" i="1">
                              <a:latin typeface="Cambria Math" panose="02040503050406030204" charset="0"/>
                            </a:rPr>
                          </m:ctrlPr>
                        </m:dPr>
                        <m:e>
                          <m:m>
                            <m:mPr>
                              <m:mcs>
                                <m:mc>
                                  <m:mcPr>
                                    <m:count m:val="2"/>
                                    <m:mcJc m:val="center"/>
                                  </m:mcPr>
                                </m:mc>
                              </m:mcs>
                              <m:plcHide m:val="on"/>
                              <m:ctrlPr>
                                <a:rPr lang="zh-CN" altLang="en-US" sz="2200" i="1">
                                  <a:latin typeface="Cambria Math" panose="02040503050406030204" charset="0"/>
                                </a:rPr>
                              </m:ctrlPr>
                            </m:mPr>
                            <m:mr>
                              <m:e>
                                <m:r>
                                  <a:rPr lang="zh-CN" altLang="en-US" sz="2200" b="0" i="1">
                                    <a:latin typeface="Cambria Math" panose="02040503050406030204" charset="0"/>
                                  </a:rPr>
                                  <m:t>1</m:t>
                                </m:r>
                              </m:e>
                              <m:e>
                                <m:r>
                                  <a:rPr lang="zh-CN" altLang="en-US" sz="2200" b="0" i="1">
                                    <a:latin typeface="Cambria Math" panose="02040503050406030204" charset="0"/>
                                  </a:rPr>
                                  <m:t>2</m:t>
                                </m:r>
                              </m:e>
                            </m:mr>
                            <m:mr>
                              <m:e>
                                <m:r>
                                  <a:rPr lang="zh-CN" altLang="en-US" sz="2200" b="0" i="1">
                                    <a:latin typeface="Cambria Math" panose="02040503050406030204" charset="0"/>
                                  </a:rPr>
                                  <m:t>2</m:t>
                                </m:r>
                              </m:e>
                              <m:e>
                                <m:r>
                                  <a:rPr lang="zh-CN" altLang="en-US" sz="2200" b="0" i="1">
                                    <a:latin typeface="Cambria Math" panose="02040503050406030204" charset="0"/>
                                  </a:rPr>
                                  <m:t>1</m:t>
                                </m:r>
                              </m:e>
                            </m:mr>
                          </m:m>
                        </m:e>
                      </m:d>
                      <m:r>
                        <a:rPr lang="zh-CN" altLang="en-US" sz="2200" b="1" i="1">
                          <a:latin typeface="Cambria Math" panose="02040503050406030204" charset="0"/>
                        </a:rPr>
                        <m:t>𝒌</m:t>
                      </m:r>
                    </m:oMath>
                  </m:oMathPara>
                </a14:m>
                <a:endParaRPr lang="zh-CN" altLang="en-US" sz="2200" b="1" i="1" dirty="0">
                  <a:latin typeface="Cambria Math" panose="02040503050406030204" charset="0"/>
                </a:endParaRPr>
              </a:p>
            </p:txBody>
          </p:sp>
        </mc:Choice>
        <mc:Fallback>
          <p:sp>
            <p:nvSpPr>
              <p:cNvPr id="2246" name="Object 198"/>
              <p:cNvSpPr txBox="1">
                <a:spLocks noRot="1" noChangeAspect="1" noMove="1" noResize="1" noEditPoints="1" noAdjustHandles="1" noChangeArrowheads="1" noChangeShapeType="1" noTextEdit="1"/>
              </p:cNvSpPr>
              <p:nvPr/>
            </p:nvSpPr>
            <p:spPr bwMode="auto">
              <a:xfrm>
                <a:off x="2672977" y="3778715"/>
                <a:ext cx="4152132" cy="751732"/>
              </a:xfrm>
              <a:prstGeom prst="rect">
                <a:avLst/>
              </a:prstGeom>
              <a:blipFill rotWithShape="1">
                <a:blip r:embed="rId5"/>
                <a:stretch>
                  <a:fillRect l="-6" t="-62" r="3" b="47"/>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48" name="Object 200"/>
              <p:cNvSpPr txBox="1"/>
              <p:nvPr/>
            </p:nvSpPr>
            <p:spPr bwMode="auto">
              <a:xfrm>
                <a:off x="2669539" y="4580758"/>
                <a:ext cx="2065632" cy="505602"/>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lang="zh-CN" altLang="en-US" sz="2200" b="0" i="1">
                          <a:latin typeface="Cambria Math" panose="02040503050406030204" charset="0"/>
                        </a:rPr>
                        <m:t>=</m:t>
                      </m:r>
                      <m:r>
                        <a:rPr lang="zh-CN" altLang="en-US" sz="2200" b="1" i="1">
                          <a:latin typeface="Cambria Math" panose="02040503050406030204" charset="0"/>
                        </a:rPr>
                        <m:t>𝒊</m:t>
                      </m:r>
                      <m:r>
                        <a:rPr lang="zh-CN" altLang="en-US" sz="2200" b="0" i="1">
                          <a:latin typeface="Cambria Math" panose="02040503050406030204" charset="0"/>
                        </a:rPr>
                        <m:t>+</m:t>
                      </m:r>
                      <m:r>
                        <a:rPr lang="zh-CN" altLang="en-US" sz="2200" b="1" i="1">
                          <a:latin typeface="Cambria Math" panose="02040503050406030204" charset="0"/>
                        </a:rPr>
                        <m:t>𝒋</m:t>
                      </m:r>
                      <m:r>
                        <a:rPr lang="zh-CN" altLang="en-US" sz="2200" b="0" i="1">
                          <a:latin typeface="Cambria Math" panose="02040503050406030204" charset="0"/>
                        </a:rPr>
                        <m:t>−</m:t>
                      </m:r>
                      <m:r>
                        <a:rPr lang="zh-CN" altLang="en-US" sz="2200" b="0" i="1">
                          <a:latin typeface="Cambria Math" panose="02040503050406030204" charset="0"/>
                        </a:rPr>
                        <m:t>3</m:t>
                      </m:r>
                      <m:r>
                        <a:rPr lang="zh-CN" altLang="en-US" sz="2200" b="1" i="1">
                          <a:latin typeface="Cambria Math" panose="02040503050406030204" charset="0"/>
                        </a:rPr>
                        <m:t>𝒌</m:t>
                      </m:r>
                      <m:r>
                        <a:rPr lang="zh-CN" altLang="en-US" sz="2200" b="0" i="1">
                          <a:latin typeface="Cambria Math" panose="02040503050406030204" charset="0"/>
                        </a:rPr>
                        <m:t>.</m:t>
                      </m:r>
                    </m:oMath>
                  </m:oMathPara>
                </a14:m>
                <a:endParaRPr lang="zh-CN" altLang="en-US" sz="2200" i="1" dirty="0">
                  <a:latin typeface="Cambria Math" panose="02040503050406030204" charset="0"/>
                </a:endParaRPr>
              </a:p>
            </p:txBody>
          </p:sp>
        </mc:Choice>
        <mc:Fallback>
          <p:sp>
            <p:nvSpPr>
              <p:cNvPr id="2248" name="Object 200"/>
              <p:cNvSpPr txBox="1">
                <a:spLocks noRot="1" noChangeAspect="1" noMove="1" noResize="1" noEditPoints="1" noAdjustHandles="1" noChangeArrowheads="1" noChangeShapeType="1" noTextEdit="1"/>
              </p:cNvSpPr>
              <p:nvPr/>
            </p:nvSpPr>
            <p:spPr bwMode="auto">
              <a:xfrm>
                <a:off x="2669539" y="4580758"/>
                <a:ext cx="2065632" cy="505602"/>
              </a:xfrm>
              <a:prstGeom prst="rect">
                <a:avLst/>
              </a:prstGeom>
              <a:blipFill rotWithShape="1">
                <a:blip r:embed="rId6"/>
                <a:stretch>
                  <a:fillRect l="-31" t="-99" r="30" b="2"/>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56" name="Text Box 208"/>
              <p:cNvSpPr txBox="1">
                <a:spLocks noChangeArrowheads="1"/>
              </p:cNvSpPr>
              <p:nvPr/>
            </p:nvSpPr>
            <p:spPr bwMode="auto">
              <a:xfrm>
                <a:off x="2444493" y="5004289"/>
                <a:ext cx="206563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200" dirty="0">
                    <a:latin typeface="Times New Roman" panose="02020603050405020304" pitchFamily="18" charset="0"/>
                    <a:cs typeface="Times New Roman" panose="02020603050405020304" pitchFamily="18" charset="0"/>
                  </a:rPr>
                  <a:t>则</a:t>
                </a:r>
                <a14:m>
                  <m:oMath xmlns:m="http://schemas.openxmlformats.org/officeDocument/2006/math">
                    <m:r>
                      <a:rPr lang="en-US" altLang="zh-CN" sz="2200" b="1" i="1">
                        <a:latin typeface="Cambria Math" panose="02040503050406030204" charset="0"/>
                      </a:rPr>
                      <m:t>𝒄</m:t>
                    </m:r>
                  </m:oMath>
                </a14:m>
                <a:r>
                  <a:rPr lang="zh-CN" altLang="en-US" sz="2200" dirty="0">
                    <a:latin typeface="Times New Roman" panose="02020603050405020304" pitchFamily="18" charset="0"/>
                    <a:cs typeface="Times New Roman" panose="02020603050405020304" pitchFamily="18" charset="0"/>
                  </a:rPr>
                  <a:t>即为所求</a:t>
                </a:r>
                <a:r>
                  <a:rPr lang="en-US" altLang="zh-CN" sz="2800" dirty="0">
                    <a:latin typeface="Times New Roman" panose="02020603050405020304" pitchFamily="18" charset="0"/>
                    <a:cs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p:txBody>
          </p:sp>
        </mc:Choice>
        <mc:Fallback>
          <p:sp>
            <p:nvSpPr>
              <p:cNvPr id="2256" name="Text Box 208"/>
              <p:cNvSpPr txBox="1">
                <a:spLocks noRot="1" noChangeAspect="1" noMove="1" noResize="1" noEditPoints="1" noAdjustHandles="1" noChangeArrowheads="1" noChangeShapeType="1" noTextEdit="1"/>
              </p:cNvSpPr>
              <p:nvPr/>
            </p:nvSpPr>
            <p:spPr bwMode="auto">
              <a:xfrm>
                <a:off x="2444493" y="5004289"/>
                <a:ext cx="2065633" cy="523220"/>
              </a:xfrm>
              <a:prstGeom prst="rect">
                <a:avLst/>
              </a:prstGeom>
              <a:blipFill rotWithShape="1">
                <a:blip r:embed="rId7"/>
                <a:stretch>
                  <a:fillRect l="-18" t="-93" r="17" b="9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39"/>
                                        </p:tgtEl>
                                        <p:attrNameLst>
                                          <p:attrName>style.visibility</p:attrName>
                                        </p:attrNameLst>
                                      </p:cBhvr>
                                      <p:to>
                                        <p:strVal val="visible"/>
                                      </p:to>
                                    </p:set>
                                    <p:animEffect transition="in" filter="wipe(left)">
                                      <p:cBhvr>
                                        <p:cTn id="7" dur="500"/>
                                        <p:tgtEl>
                                          <p:spTgt spid="223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240"/>
                                        </p:tgtEl>
                                        <p:attrNameLst>
                                          <p:attrName>style.visibility</p:attrName>
                                        </p:attrNameLst>
                                      </p:cBhvr>
                                      <p:to>
                                        <p:strVal val="visible"/>
                                      </p:to>
                                    </p:set>
                                    <p:animEffect transition="in" filter="wipe(left)">
                                      <p:cBhvr>
                                        <p:cTn id="10" dur="500"/>
                                        <p:tgtEl>
                                          <p:spTgt spid="2240"/>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197"/>
                                        </p:tgtEl>
                                        <p:attrNameLst>
                                          <p:attrName>style.visibility</p:attrName>
                                        </p:attrNameLst>
                                      </p:cBhvr>
                                      <p:to>
                                        <p:strVal val="visible"/>
                                      </p:to>
                                    </p:set>
                                    <p:animEffect transition="in" filter="wipe(left)">
                                      <p:cBhvr>
                                        <p:cTn id="13" dur="500"/>
                                        <p:tgtEl>
                                          <p:spTgt spid="219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242"/>
                                        </p:tgtEl>
                                        <p:attrNameLst>
                                          <p:attrName>style.visibility</p:attrName>
                                        </p:attrNameLst>
                                      </p:cBhvr>
                                      <p:to>
                                        <p:strVal val="visible"/>
                                      </p:to>
                                    </p:set>
                                    <p:animEffect transition="in" filter="wipe(left)">
                                      <p:cBhvr>
                                        <p:cTn id="18" dur="500"/>
                                        <p:tgtEl>
                                          <p:spTgt spid="224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243"/>
                                        </p:tgtEl>
                                        <p:attrNameLst>
                                          <p:attrName>style.visibility</p:attrName>
                                        </p:attrNameLst>
                                      </p:cBhvr>
                                      <p:to>
                                        <p:strVal val="visible"/>
                                      </p:to>
                                    </p:set>
                                    <p:animEffect transition="in" filter="wipe(left)">
                                      <p:cBhvr>
                                        <p:cTn id="23" dur="500"/>
                                        <p:tgtEl>
                                          <p:spTgt spid="224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244"/>
                                        </p:tgtEl>
                                        <p:attrNameLst>
                                          <p:attrName>style.visibility</p:attrName>
                                        </p:attrNameLst>
                                      </p:cBhvr>
                                      <p:to>
                                        <p:strVal val="visible"/>
                                      </p:to>
                                    </p:set>
                                    <p:animEffect transition="in" filter="wipe(left)">
                                      <p:cBhvr>
                                        <p:cTn id="28" dur="500"/>
                                        <p:tgtEl>
                                          <p:spTgt spid="224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246"/>
                                        </p:tgtEl>
                                        <p:attrNameLst>
                                          <p:attrName>style.visibility</p:attrName>
                                        </p:attrNameLst>
                                      </p:cBhvr>
                                      <p:to>
                                        <p:strVal val="visible"/>
                                      </p:to>
                                    </p:set>
                                    <p:animEffect transition="in" filter="wipe(left)">
                                      <p:cBhvr>
                                        <p:cTn id="33" dur="500"/>
                                        <p:tgtEl>
                                          <p:spTgt spid="224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248"/>
                                        </p:tgtEl>
                                        <p:attrNameLst>
                                          <p:attrName>style.visibility</p:attrName>
                                        </p:attrNameLst>
                                      </p:cBhvr>
                                      <p:to>
                                        <p:strVal val="visible"/>
                                      </p:to>
                                    </p:set>
                                    <p:animEffect transition="in" filter="wipe(left)">
                                      <p:cBhvr>
                                        <p:cTn id="38" dur="500"/>
                                        <p:tgtEl>
                                          <p:spTgt spid="2248"/>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256"/>
                                        </p:tgtEl>
                                        <p:attrNameLst>
                                          <p:attrName>style.visibility</p:attrName>
                                        </p:attrNameLst>
                                      </p:cBhvr>
                                      <p:to>
                                        <p:strVal val="visible"/>
                                      </p:to>
                                    </p:set>
                                    <p:animEffect transition="in" filter="wipe(left)">
                                      <p:cBhvr>
                                        <p:cTn id="43" dur="500"/>
                                        <p:tgtEl>
                                          <p:spTgt spid="22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7" grpId="0" bldLvl="0" animBg="1"/>
      <p:bldP spid="2239" grpId="0" bldLvl="0" animBg="1"/>
      <p:bldP spid="2240" grpId="0" bldLvl="0" animBg="1"/>
      <p:bldP spid="2242" grpId="0" bldLvl="0" animBg="1"/>
      <p:bldP spid="2243" grpId="0" bldLvl="0" animBg="1"/>
      <p:bldP spid="2244" grpId="0" bldLvl="0" animBg="1"/>
      <p:bldP spid="2246" grpId="0" bldLvl="0" animBg="1"/>
      <p:bldP spid="2248" grpId="0" bldLvl="0" animBg="1"/>
      <p:bldP spid="2256"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highlight>
                  <a:srgbClr val="FFFF00"/>
                </a:highlight>
              </a:rPr>
              <a:t>平面及其方程</a:t>
            </a:r>
            <a:endParaRPr lang="zh-CN" altLang="en-US">
              <a:highlight>
                <a:srgbClr val="FFFF00"/>
              </a:highligh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14" name="Text Box 22"/>
          <p:cNvSpPr txBox="1">
            <a:spLocks noChangeArrowheads="1"/>
          </p:cNvSpPr>
          <p:nvPr/>
        </p:nvSpPr>
        <p:spPr bwMode="auto">
          <a:xfrm>
            <a:off x="1673582" y="1486946"/>
            <a:ext cx="4343400" cy="13731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lang="zh-CN" altLang="en-US" sz="2800" dirty="0">
                <a:ea typeface="黑体" panose="02010609060101010101" pitchFamily="49" charset="-122"/>
              </a:rPr>
              <a:t>如果一非零向量垂直于一平面，这向量就叫做该平面的</a:t>
            </a:r>
            <a:r>
              <a:rPr lang="zh-CN" altLang="en-US" sz="2800" dirty="0">
                <a:solidFill>
                  <a:srgbClr val="04926A"/>
                </a:solidFill>
                <a:ea typeface="黑体" panose="02010609060101010101" pitchFamily="49" charset="-122"/>
              </a:rPr>
              <a:t>法线向量</a:t>
            </a:r>
            <a:r>
              <a:rPr lang="zh-CN" altLang="en-US" sz="2800" dirty="0">
                <a:ea typeface="黑体" panose="02010609060101010101" pitchFamily="49" charset="-122"/>
              </a:rPr>
              <a:t>．</a:t>
            </a:r>
            <a:endParaRPr lang="zh-CN" altLang="en-US" sz="2800" dirty="0"/>
          </a:p>
        </p:txBody>
      </p:sp>
      <p:sp>
        <p:nvSpPr>
          <p:cNvPr id="8215" name="Text Box 23"/>
          <p:cNvSpPr txBox="1">
            <a:spLocks noChangeArrowheads="1"/>
          </p:cNvSpPr>
          <p:nvPr/>
        </p:nvSpPr>
        <p:spPr bwMode="auto">
          <a:xfrm>
            <a:off x="1673582" y="3265488"/>
            <a:ext cx="293373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spcBef>
                <a:spcPct val="50000"/>
              </a:spcBef>
            </a:pPr>
            <a:r>
              <a:rPr lang="zh-CN" altLang="en-US" sz="2800" dirty="0">
                <a:ea typeface="黑体" panose="02010609060101010101" pitchFamily="49" charset="-122"/>
              </a:rPr>
              <a:t>法线向量的</a:t>
            </a:r>
            <a:r>
              <a:rPr lang="zh-CN" altLang="en-US" sz="2800" dirty="0">
                <a:solidFill>
                  <a:srgbClr val="04926A"/>
                </a:solidFill>
                <a:ea typeface="黑体" panose="02010609060101010101" pitchFamily="49" charset="-122"/>
              </a:rPr>
              <a:t>特征</a:t>
            </a:r>
            <a:r>
              <a:rPr lang="zh-CN" altLang="en-US" sz="2800" dirty="0">
                <a:ea typeface="黑体" panose="02010609060101010101" pitchFamily="49" charset="-122"/>
              </a:rPr>
              <a:t>：</a:t>
            </a:r>
            <a:endParaRPr lang="zh-CN" altLang="en-US" sz="2800" dirty="0">
              <a:ea typeface="黑体" panose="02010609060101010101" pitchFamily="49" charset="-122"/>
            </a:endParaRPr>
          </a:p>
        </p:txBody>
      </p:sp>
      <p:sp>
        <p:nvSpPr>
          <p:cNvPr id="8216" name="Rectangle 24"/>
          <p:cNvSpPr>
            <a:spLocks noChangeArrowheads="1"/>
          </p:cNvSpPr>
          <p:nvPr/>
        </p:nvSpPr>
        <p:spPr bwMode="auto">
          <a:xfrm>
            <a:off x="4452083" y="3260752"/>
            <a:ext cx="4481513"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1" hangingPunct="1"/>
            <a:r>
              <a:rPr lang="zh-CN" altLang="en-US" sz="2800" dirty="0"/>
              <a:t>垂直于平面内的任一向量．</a:t>
            </a:r>
            <a:endParaRPr lang="zh-CN" altLang="en-US" sz="2800" dirty="0"/>
          </a:p>
        </p:txBody>
      </p:sp>
      <p:sp>
        <p:nvSpPr>
          <p:cNvPr id="8217" name="Text Box 25"/>
          <p:cNvSpPr txBox="1">
            <a:spLocks noChangeArrowheads="1"/>
          </p:cNvSpPr>
          <p:nvPr/>
        </p:nvSpPr>
        <p:spPr bwMode="auto">
          <a:xfrm>
            <a:off x="1673582" y="3957193"/>
            <a:ext cx="939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lang="zh-CN" altLang="en-US" sz="2800" dirty="0"/>
              <a:t>已知</a:t>
            </a:r>
            <a:endParaRPr lang="zh-CN" altLang="en-US" sz="2800" dirty="0"/>
          </a:p>
        </p:txBody>
      </p:sp>
      <mc:AlternateContent xmlns:mc="http://schemas.openxmlformats.org/markup-compatibility/2006">
        <mc:Choice xmlns:a14="http://schemas.microsoft.com/office/drawing/2010/main" Requires="a14">
          <p:sp>
            <p:nvSpPr>
              <p:cNvPr id="8218" name="Object 26"/>
              <p:cNvSpPr txBox="1"/>
              <p:nvPr/>
            </p:nvSpPr>
            <p:spPr bwMode="auto">
              <a:xfrm>
                <a:off x="2477026" y="3961832"/>
                <a:ext cx="2225002" cy="519111"/>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en-US" altLang="zh-CN" sz="2800" b="1" i="1">
                          <a:solidFill>
                            <a:srgbClr val="000000"/>
                          </a:solidFill>
                          <a:latin typeface="Cambria Math" panose="02040503050406030204" charset="0"/>
                        </a:rPr>
                        <m:t>𝒏</m:t>
                      </m:r>
                      <m:r>
                        <a:rPr lang="zh-CN" altLang="en-US" sz="2800" b="1">
                          <a:latin typeface="Cambria Math" panose="02040503050406030204" charset="0"/>
                          <a:ea typeface="MS Mincho" panose="02020609040205080304" charset="-128"/>
                        </a:rPr>
                        <m:t>={</m:t>
                      </m:r>
                      <m:r>
                        <a:rPr lang="zh-CN" altLang="en-US" sz="2800" b="1">
                          <a:latin typeface="Cambria Math" panose="02040503050406030204" charset="0"/>
                          <a:ea typeface="MS Mincho" panose="02020609040205080304" charset="-128"/>
                        </a:rPr>
                        <m:t>𝐴</m:t>
                      </m:r>
                      <m:r>
                        <a:rPr lang="zh-CN" altLang="en-US" sz="2800" b="1">
                          <a:latin typeface="Cambria Math" panose="02040503050406030204" charset="0"/>
                          <a:ea typeface="MS Mincho" panose="02020609040205080304" charset="-128"/>
                        </a:rPr>
                        <m:t>,</m:t>
                      </m:r>
                      <m:r>
                        <a:rPr lang="zh-CN" altLang="en-US" sz="2800" b="1">
                          <a:latin typeface="Cambria Math" panose="02040503050406030204" charset="0"/>
                          <a:ea typeface="MS Mincho" panose="02020609040205080304" charset="-128"/>
                        </a:rPr>
                        <m:t>𝐵</m:t>
                      </m:r>
                      <m:r>
                        <a:rPr lang="zh-CN" altLang="en-US" sz="2800" b="1">
                          <a:latin typeface="Cambria Math" panose="02040503050406030204" charset="0"/>
                          <a:ea typeface="MS Mincho" panose="02020609040205080304" charset="-128"/>
                        </a:rPr>
                        <m:t>,</m:t>
                      </m:r>
                      <m:r>
                        <a:rPr lang="zh-CN" altLang="en-US" sz="2800" b="1">
                          <a:latin typeface="Cambria Math" panose="02040503050406030204" charset="0"/>
                          <a:ea typeface="MS Mincho" panose="02020609040205080304" charset="-128"/>
                        </a:rPr>
                        <m:t>𝐶</m:t>
                      </m:r>
                      <m:r>
                        <a:rPr lang="zh-CN" altLang="en-US" sz="2800" b="1">
                          <a:latin typeface="Cambria Math" panose="02040503050406030204" charset="0"/>
                          <a:ea typeface="MS Mincho" panose="02020609040205080304" charset="-128"/>
                        </a:rPr>
                        <m:t>},</m:t>
                      </m:r>
                    </m:oMath>
                  </m:oMathPara>
                </a14:m>
                <a:endParaRPr lang="zh-CN" altLang="en-US" sz="2800" b="1" dirty="0">
                  <a:latin typeface="Cambria Math" panose="02040503050406030204" charset="0"/>
                  <a:ea typeface="MS Mincho" panose="02020609040205080304" charset="-128"/>
                </a:endParaRPr>
              </a:p>
            </p:txBody>
          </p:sp>
        </mc:Choice>
        <mc:Fallback>
          <p:sp>
            <p:nvSpPr>
              <p:cNvPr id="8218" name="Object 26"/>
              <p:cNvSpPr txBox="1">
                <a:spLocks noRot="1" noChangeAspect="1" noMove="1" noResize="1" noEditPoints="1" noAdjustHandles="1" noChangeArrowheads="1" noChangeShapeType="1" noTextEdit="1"/>
              </p:cNvSpPr>
              <p:nvPr/>
            </p:nvSpPr>
            <p:spPr bwMode="auto">
              <a:xfrm>
                <a:off x="2477026" y="3961832"/>
                <a:ext cx="2225002" cy="519111"/>
              </a:xfrm>
              <a:prstGeom prst="rect">
                <a:avLst/>
              </a:prstGeom>
              <a:blipFill rotWithShape="1">
                <a:blip r:embed="rId1"/>
                <a:stretch>
                  <a:fillRect l="-24" t="-13" r="22" b="74"/>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220" name="Object 28"/>
              <p:cNvSpPr txBox="1"/>
              <p:nvPr/>
            </p:nvSpPr>
            <p:spPr bwMode="auto">
              <a:xfrm>
                <a:off x="4628763" y="3963027"/>
                <a:ext cx="2362587" cy="608891"/>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sSub>
                        <m:sSubPr>
                          <m:ctrlPr>
                            <a:rPr kumimoji="1" lang="zh-CN" altLang="en-US" sz="2800" i="1">
                              <a:latin typeface="Cambria Math" panose="02040503050406030204" charset="0"/>
                              <a:ea typeface="黑体" panose="02010609060101010101" pitchFamily="49" charset="-122"/>
                              <a:cs typeface="黑体" panose="02010609060101010101" pitchFamily="49" charset="-122"/>
                            </a:rPr>
                          </m:ctrlPr>
                        </m:sSubPr>
                        <m:e>
                          <m:r>
                            <a:rPr kumimoji="1" lang="zh-CN" altLang="en-US" sz="2800" i="1">
                              <a:latin typeface="Cambria Math" panose="02040503050406030204" charset="0"/>
                              <a:ea typeface="黑体" panose="02010609060101010101" pitchFamily="49" charset="-122"/>
                              <a:cs typeface="黑体" panose="02010609060101010101" pitchFamily="49" charset="-122"/>
                            </a:rPr>
                            <m:t>𝑀</m:t>
                          </m:r>
                        </m:e>
                        <m:sub>
                          <m:r>
                            <a:rPr kumimoji="1" lang="zh-CN" altLang="en-US" sz="2800" i="1">
                              <a:latin typeface="Cambria Math" panose="02040503050406030204" charset="0"/>
                              <a:ea typeface="黑体" panose="02010609060101010101" pitchFamily="49" charset="-122"/>
                              <a:cs typeface="黑体" panose="02010609060101010101" pitchFamily="49" charset="-122"/>
                            </a:rPr>
                            <m:t>0</m:t>
                          </m:r>
                        </m:sub>
                      </m:sSub>
                      <m:r>
                        <a:rPr kumimoji="1" lang="zh-CN" altLang="en-US" sz="2800" i="1">
                          <a:latin typeface="Cambria Math" panose="02040503050406030204" charset="0"/>
                          <a:ea typeface="黑体" panose="02010609060101010101" pitchFamily="49" charset="-122"/>
                          <a:cs typeface="黑体" panose="02010609060101010101" pitchFamily="49" charset="-122"/>
                        </a:rPr>
                        <m:t>(</m:t>
                      </m:r>
                      <m:sSub>
                        <m:sSubPr>
                          <m:ctrlPr>
                            <a:rPr kumimoji="1" lang="zh-CN" altLang="en-US" sz="2800" i="1">
                              <a:latin typeface="Cambria Math" panose="02040503050406030204" charset="0"/>
                              <a:ea typeface="黑体" panose="02010609060101010101" pitchFamily="49" charset="-122"/>
                              <a:cs typeface="黑体" panose="02010609060101010101" pitchFamily="49" charset="-122"/>
                            </a:rPr>
                          </m:ctrlPr>
                        </m:sSubPr>
                        <m:e>
                          <m:r>
                            <a:rPr kumimoji="1" lang="zh-CN" altLang="en-US" sz="2800" i="1">
                              <a:latin typeface="Cambria Math" panose="02040503050406030204" charset="0"/>
                              <a:ea typeface="黑体" panose="02010609060101010101" pitchFamily="49" charset="-122"/>
                              <a:cs typeface="黑体" panose="02010609060101010101" pitchFamily="49" charset="-122"/>
                            </a:rPr>
                            <m:t>𝑥</m:t>
                          </m:r>
                        </m:e>
                        <m:sub>
                          <m:r>
                            <a:rPr kumimoji="1" lang="zh-CN" altLang="en-US" sz="2800" i="1">
                              <a:latin typeface="Cambria Math" panose="02040503050406030204" charset="0"/>
                              <a:ea typeface="黑体" panose="02010609060101010101" pitchFamily="49" charset="-122"/>
                              <a:cs typeface="黑体" panose="02010609060101010101" pitchFamily="49" charset="-122"/>
                            </a:rPr>
                            <m:t>0</m:t>
                          </m:r>
                        </m:sub>
                      </m:sSub>
                      <m:r>
                        <a:rPr kumimoji="1" lang="zh-CN" altLang="en-US" sz="2800" i="1">
                          <a:latin typeface="Cambria Math" panose="02040503050406030204" charset="0"/>
                          <a:ea typeface="黑体" panose="02010609060101010101" pitchFamily="49" charset="-122"/>
                          <a:cs typeface="黑体" panose="02010609060101010101" pitchFamily="49" charset="-122"/>
                        </a:rPr>
                        <m:t>,</m:t>
                      </m:r>
                      <m:sSub>
                        <m:sSubPr>
                          <m:ctrlPr>
                            <a:rPr kumimoji="1" lang="zh-CN" altLang="en-US" sz="2800" i="1">
                              <a:latin typeface="Cambria Math" panose="02040503050406030204" charset="0"/>
                              <a:ea typeface="黑体" panose="02010609060101010101" pitchFamily="49" charset="-122"/>
                              <a:cs typeface="黑体" panose="02010609060101010101" pitchFamily="49" charset="-122"/>
                            </a:rPr>
                          </m:ctrlPr>
                        </m:sSubPr>
                        <m:e>
                          <m:r>
                            <a:rPr kumimoji="1" lang="zh-CN" altLang="en-US" sz="2800" i="1">
                              <a:latin typeface="Cambria Math" panose="02040503050406030204" charset="0"/>
                              <a:ea typeface="黑体" panose="02010609060101010101" pitchFamily="49" charset="-122"/>
                              <a:cs typeface="黑体" panose="02010609060101010101" pitchFamily="49" charset="-122"/>
                            </a:rPr>
                            <m:t>𝑦</m:t>
                          </m:r>
                        </m:e>
                        <m:sub>
                          <m:r>
                            <a:rPr kumimoji="1" lang="zh-CN" altLang="en-US" sz="2800" i="1">
                              <a:latin typeface="Cambria Math" panose="02040503050406030204" charset="0"/>
                              <a:ea typeface="黑体" panose="02010609060101010101" pitchFamily="49" charset="-122"/>
                              <a:cs typeface="黑体" panose="02010609060101010101" pitchFamily="49" charset="-122"/>
                            </a:rPr>
                            <m:t>0</m:t>
                          </m:r>
                        </m:sub>
                      </m:sSub>
                      <m:r>
                        <a:rPr kumimoji="1" lang="zh-CN" altLang="en-US" sz="2800" i="1">
                          <a:latin typeface="Cambria Math" panose="02040503050406030204" charset="0"/>
                          <a:ea typeface="黑体" panose="02010609060101010101" pitchFamily="49" charset="-122"/>
                          <a:cs typeface="黑体" panose="02010609060101010101" pitchFamily="49" charset="-122"/>
                        </a:rPr>
                        <m:t>,</m:t>
                      </m:r>
                      <m:sSub>
                        <m:sSubPr>
                          <m:ctrlPr>
                            <a:rPr kumimoji="1" lang="zh-CN" altLang="en-US" sz="2800" i="1">
                              <a:latin typeface="Cambria Math" panose="02040503050406030204" charset="0"/>
                              <a:ea typeface="黑体" panose="02010609060101010101" pitchFamily="49" charset="-122"/>
                              <a:cs typeface="黑体" panose="02010609060101010101" pitchFamily="49" charset="-122"/>
                            </a:rPr>
                          </m:ctrlPr>
                        </m:sSubPr>
                        <m:e>
                          <m:r>
                            <a:rPr kumimoji="1" lang="zh-CN" altLang="en-US" sz="2800" i="1">
                              <a:latin typeface="Cambria Math" panose="02040503050406030204" charset="0"/>
                              <a:ea typeface="黑体" panose="02010609060101010101" pitchFamily="49" charset="-122"/>
                              <a:cs typeface="黑体" panose="02010609060101010101" pitchFamily="49" charset="-122"/>
                            </a:rPr>
                            <m:t>𝑧</m:t>
                          </m:r>
                        </m:e>
                        <m:sub>
                          <m:r>
                            <a:rPr kumimoji="1" lang="zh-CN" altLang="en-US" sz="2800" i="1">
                              <a:latin typeface="Cambria Math" panose="02040503050406030204" charset="0"/>
                              <a:ea typeface="黑体" panose="02010609060101010101" pitchFamily="49" charset="-122"/>
                              <a:cs typeface="黑体" panose="02010609060101010101" pitchFamily="49" charset="-122"/>
                            </a:rPr>
                            <m:t>0</m:t>
                          </m:r>
                        </m:sub>
                      </m:sSub>
                      <m:r>
                        <a:rPr kumimoji="1" lang="zh-CN" altLang="en-US" sz="2800" i="1">
                          <a:latin typeface="Cambria Math" panose="02040503050406030204" charset="0"/>
                          <a:ea typeface="黑体" panose="02010609060101010101" pitchFamily="49" charset="-122"/>
                          <a:cs typeface="黑体" panose="02010609060101010101" pitchFamily="49" charset="-122"/>
                        </a:rPr>
                        <m:t>),</m:t>
                      </m:r>
                    </m:oMath>
                  </m:oMathPara>
                </a14:m>
                <a:endParaRPr kumimoji="1" lang="zh-CN" altLang="en-US" sz="2800" i="1" dirty="0">
                  <a:latin typeface="Cambria Math" panose="02040503050406030204" charset="0"/>
                  <a:ea typeface="黑体" panose="02010609060101010101" pitchFamily="49" charset="-122"/>
                  <a:cs typeface="黑体" panose="02010609060101010101" pitchFamily="49" charset="-122"/>
                </a:endParaRPr>
              </a:p>
            </p:txBody>
          </p:sp>
        </mc:Choice>
        <mc:Fallback>
          <p:sp>
            <p:nvSpPr>
              <p:cNvPr id="8220" name="Object 28"/>
              <p:cNvSpPr txBox="1">
                <a:spLocks noRot="1" noChangeAspect="1" noMove="1" noResize="1" noEditPoints="1" noAdjustHandles="1" noChangeArrowheads="1" noChangeShapeType="1" noTextEdit="1"/>
              </p:cNvSpPr>
              <p:nvPr/>
            </p:nvSpPr>
            <p:spPr bwMode="auto">
              <a:xfrm>
                <a:off x="4628763" y="3963027"/>
                <a:ext cx="2362587" cy="608891"/>
              </a:xfrm>
              <a:prstGeom prst="rect">
                <a:avLst/>
              </a:prstGeom>
              <a:blipFill rotWithShape="1">
                <a:blip r:embed="rId2"/>
                <a:stretch>
                  <a:fillRect l="-10" t="-103" b="91"/>
                </a:stretch>
              </a:blipFill>
              <a:ln>
                <a:noFill/>
              </a:ln>
              <a:effectLst/>
            </p:spPr>
            <p:txBody>
              <a:bodyPr/>
              <a:lstStyle/>
              <a:p>
                <a:r>
                  <a:rPr lang="zh-CN" altLang="en-US">
                    <a:noFill/>
                  </a:rPr>
                  <a:t> </a:t>
                </a:r>
              </a:p>
            </p:txBody>
          </p:sp>
        </mc:Fallback>
      </mc:AlternateContent>
      <p:grpSp>
        <p:nvGrpSpPr>
          <p:cNvPr id="8223" name="Group 31"/>
          <p:cNvGrpSpPr/>
          <p:nvPr/>
        </p:nvGrpSpPr>
        <p:grpSpPr bwMode="auto">
          <a:xfrm>
            <a:off x="1673582" y="4618973"/>
            <a:ext cx="5180013" cy="590551"/>
            <a:chOff x="672" y="2880"/>
            <a:chExt cx="3263" cy="372"/>
          </a:xfrm>
        </p:grpSpPr>
        <p:sp>
          <p:nvSpPr>
            <p:cNvPr id="8221" name="Text Box 29"/>
            <p:cNvSpPr txBox="1">
              <a:spLocks noChangeArrowheads="1"/>
            </p:cNvSpPr>
            <p:nvPr/>
          </p:nvSpPr>
          <p:spPr bwMode="auto">
            <a:xfrm>
              <a:off x="672" y="2880"/>
              <a:ext cx="2592"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lang="zh-CN" altLang="en-US" sz="2800" dirty="0"/>
                <a:t>设平面上的任一点为</a:t>
              </a:r>
              <a:endParaRPr lang="zh-CN" altLang="en-US" sz="2800" dirty="0"/>
            </a:p>
          </p:txBody>
        </p:sp>
        <mc:AlternateContent xmlns:mc="http://schemas.openxmlformats.org/markup-compatibility/2006">
          <mc:Choice xmlns:a14="http://schemas.microsoft.com/office/drawing/2010/main" Requires="a14">
            <p:sp>
              <p:nvSpPr>
                <p:cNvPr id="8222" name="Object 30"/>
                <p:cNvSpPr txBox="1"/>
                <p:nvPr/>
              </p:nvSpPr>
              <p:spPr bwMode="auto">
                <a:xfrm>
                  <a:off x="2694" y="2898"/>
                  <a:ext cx="1241" cy="354"/>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800">
                            <a:latin typeface="Cambria Math" panose="02040503050406030204" charset="0"/>
                            <a:ea typeface="MS Mincho" panose="02020609040205080304" charset="-128"/>
                            <a:cs typeface="Cambria Math" panose="02040503050406030204" charset="0"/>
                          </a:rPr>
                          <m:t>𝑀</m:t>
                        </m:r>
                        <m:r>
                          <a:rPr lang="zh-CN" altLang="en-US" sz="2800">
                            <a:latin typeface="Cambria Math" panose="02040503050406030204" charset="0"/>
                            <a:ea typeface="MS Mincho" panose="02020609040205080304" charset="-128"/>
                            <a:cs typeface="Cambria Math" panose="02040503050406030204" charset="0"/>
                          </a:rPr>
                          <m:t>(</m:t>
                        </m:r>
                        <m:r>
                          <a:rPr lang="zh-CN" altLang="en-US" sz="2800">
                            <a:latin typeface="Cambria Math" panose="02040503050406030204" charset="0"/>
                            <a:ea typeface="MS Mincho" panose="02020609040205080304" charset="-128"/>
                            <a:cs typeface="Cambria Math" panose="02040503050406030204" charset="0"/>
                          </a:rPr>
                          <m:t>𝑥</m:t>
                        </m:r>
                        <m:r>
                          <a:rPr lang="zh-CN" altLang="en-US" sz="2800">
                            <a:latin typeface="Cambria Math" panose="02040503050406030204" charset="0"/>
                            <a:ea typeface="MS Mincho" panose="02020609040205080304" charset="-128"/>
                            <a:cs typeface="Cambria Math" panose="02040503050406030204" charset="0"/>
                          </a:rPr>
                          <m:t>, </m:t>
                        </m:r>
                        <m:r>
                          <a:rPr lang="zh-CN" altLang="en-US" sz="2800">
                            <a:latin typeface="Cambria Math" panose="02040503050406030204" charset="0"/>
                            <a:ea typeface="MS Mincho" panose="02020609040205080304" charset="-128"/>
                            <a:cs typeface="Cambria Math" panose="02040503050406030204" charset="0"/>
                          </a:rPr>
                          <m:t>𝑦</m:t>
                        </m:r>
                        <m:r>
                          <a:rPr lang="zh-CN" altLang="en-US" sz="2800">
                            <a:latin typeface="Cambria Math" panose="02040503050406030204" charset="0"/>
                            <a:ea typeface="MS Mincho" panose="02020609040205080304" charset="-128"/>
                            <a:cs typeface="Cambria Math" panose="02040503050406030204" charset="0"/>
                          </a:rPr>
                          <m:t>, </m:t>
                        </m:r>
                        <m:r>
                          <a:rPr lang="zh-CN" altLang="en-US" sz="2800">
                            <a:latin typeface="Cambria Math" panose="02040503050406030204" charset="0"/>
                            <a:ea typeface="MS Mincho" panose="02020609040205080304" charset="-128"/>
                            <a:cs typeface="Cambria Math" panose="02040503050406030204" charset="0"/>
                          </a:rPr>
                          <m:t>𝑧</m:t>
                        </m:r>
                        <m:r>
                          <a:rPr lang="zh-CN" altLang="en-US" sz="2800">
                            <a:latin typeface="Cambria Math" panose="02040503050406030204" charset="0"/>
                            <a:ea typeface="MS Mincho" panose="02020609040205080304" charset="-128"/>
                            <a:cs typeface="Cambria Math" panose="02040503050406030204" charset="0"/>
                          </a:rPr>
                          <m:t>)</m:t>
                        </m:r>
                        <m:r>
                          <a:rPr kumimoji="1" lang="zh-CN" altLang="en-US" sz="2800" i="1">
                            <a:latin typeface="Cambria Math" panose="02040503050406030204" charset="0"/>
                            <a:ea typeface="黑体" panose="02010609060101010101" pitchFamily="49" charset="-122"/>
                            <a:cs typeface="黑体" panose="02010609060101010101" pitchFamily="49" charset="-122"/>
                          </a:rPr>
                          <m:t>,</m:t>
                        </m:r>
                      </m:oMath>
                    </m:oMathPara>
                  </a14:m>
                  <a:endParaRPr lang="zh-CN" altLang="en-US" sz="2800" dirty="0">
                    <a:latin typeface="Cambria Math" panose="02040503050406030204" charset="0"/>
                    <a:ea typeface="MS Mincho" panose="02020609040205080304" charset="-128"/>
                    <a:cs typeface="Cambria Math" panose="02040503050406030204" charset="0"/>
                  </a:endParaRPr>
                </a:p>
              </p:txBody>
            </p:sp>
          </mc:Choice>
          <mc:Fallback>
            <p:sp>
              <p:nvSpPr>
                <p:cNvPr id="8222" name="Object 30"/>
                <p:cNvSpPr txBox="1">
                  <a:spLocks noRot="1" noChangeAspect="1" noMove="1" noResize="1" noEditPoints="1" noAdjustHandles="1" noChangeArrowheads="1" noChangeShapeType="1" noTextEdit="1"/>
                </p:cNvSpPr>
                <p:nvPr/>
              </p:nvSpPr>
              <p:spPr bwMode="auto">
                <a:xfrm>
                  <a:off x="2694" y="2898"/>
                  <a:ext cx="1241" cy="354"/>
                </a:xfrm>
                <a:prstGeom prst="rect">
                  <a:avLst/>
                </a:prstGeom>
                <a:blipFill rotWithShape="1">
                  <a:blip r:embed="rId3"/>
                </a:blipFill>
                <a:ln>
                  <a:noFill/>
                </a:ln>
                <a:effectLst/>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8224" name="Object 32"/>
              <p:cNvSpPr txBox="1"/>
              <p:nvPr/>
            </p:nvSpPr>
            <p:spPr bwMode="auto">
              <a:xfrm>
                <a:off x="2476069" y="5367569"/>
                <a:ext cx="2131243" cy="615247"/>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acc>
                        <m:accPr>
                          <m:chr m:val="⃗"/>
                          <m:ctrlPr>
                            <a:rPr lang="en-US" altLang="zh-CN" sz="2800" i="1">
                              <a:latin typeface="Cambria Math" panose="02040503050406030204" charset="0"/>
                              <a:ea typeface="MS Mincho" panose="02020609040205080304" charset="-128"/>
                            </a:rPr>
                          </m:ctrlPr>
                        </m:accPr>
                        <m:e>
                          <m:sSub>
                            <m:sSubPr>
                              <m:ctrlPr>
                                <a:rPr kumimoji="1" lang="zh-CN" altLang="en-US" sz="2800" i="1">
                                  <a:latin typeface="Cambria Math" panose="02040503050406030204" charset="0"/>
                                  <a:ea typeface="黑体" panose="02010609060101010101" pitchFamily="49" charset="-122"/>
                                  <a:cs typeface="黑体" panose="02010609060101010101" pitchFamily="49" charset="-122"/>
                                </a:rPr>
                              </m:ctrlPr>
                            </m:sSubPr>
                            <m:e>
                              <m:r>
                                <a:rPr kumimoji="1" lang="zh-CN" altLang="en-US" sz="2800" i="1">
                                  <a:latin typeface="Cambria Math" panose="02040503050406030204" charset="0"/>
                                  <a:ea typeface="黑体" panose="02010609060101010101" pitchFamily="49" charset="-122"/>
                                  <a:cs typeface="黑体" panose="02010609060101010101" pitchFamily="49" charset="-122"/>
                                </a:rPr>
                                <m:t>𝑀</m:t>
                              </m:r>
                            </m:e>
                            <m:sub>
                              <m:r>
                                <a:rPr kumimoji="1" lang="zh-CN" altLang="en-US" sz="2800" i="1">
                                  <a:latin typeface="Cambria Math" panose="02040503050406030204" charset="0"/>
                                  <a:ea typeface="黑体" panose="02010609060101010101" pitchFamily="49" charset="-122"/>
                                  <a:cs typeface="黑体" panose="02010609060101010101" pitchFamily="49" charset="-122"/>
                                </a:rPr>
                                <m:t>0</m:t>
                              </m:r>
                            </m:sub>
                          </m:sSub>
                          <m:r>
                            <a:rPr kumimoji="1" lang="zh-CN" altLang="en-US" sz="2800" i="1">
                              <a:latin typeface="Cambria Math" panose="02040503050406030204" charset="0"/>
                              <a:ea typeface="黑体" panose="02010609060101010101" pitchFamily="49" charset="-122"/>
                              <a:cs typeface="黑体" panose="02010609060101010101" pitchFamily="49" charset="-122"/>
                            </a:rPr>
                            <m:t>𝑀</m:t>
                          </m:r>
                        </m:e>
                      </m:acc>
                      <m:r>
                        <a:rPr kumimoji="1" lang="zh-CN" altLang="en-US" sz="2800" i="1">
                          <a:latin typeface="Cambria Math" panose="02040503050406030204" charset="0"/>
                          <a:ea typeface="黑体" panose="02010609060101010101" pitchFamily="49" charset="-122"/>
                          <a:cs typeface="黑体" panose="02010609060101010101" pitchFamily="49" charset="-122"/>
                        </a:rPr>
                        <m:t>⊥​</m:t>
                      </m:r>
                      <m:r>
                        <a:rPr kumimoji="1" lang="zh-CN" altLang="en-US" sz="2800" b="1" i="1">
                          <a:latin typeface="Cambria Math" panose="02040503050406030204" charset="0"/>
                          <a:ea typeface="黑体" panose="02010609060101010101" pitchFamily="49" charset="-122"/>
                          <a:cs typeface="黑体" panose="02010609060101010101" pitchFamily="49" charset="-122"/>
                        </a:rPr>
                        <m:t>𝒏</m:t>
                      </m:r>
                      <m:r>
                        <a:rPr lang="en-US" altLang="zh-CN" sz="2800" i="1" smtClean="0">
                          <a:solidFill>
                            <a:srgbClr val="04926A"/>
                          </a:solidFill>
                          <a:latin typeface="Cambria Math" panose="02040503050406030204" charset="0"/>
                          <a:ea typeface="Cambria Math" panose="02040503050406030204" charset="0"/>
                        </a:rPr>
                        <m:t>⇒</m:t>
                      </m:r>
                    </m:oMath>
                  </m:oMathPara>
                </a14:m>
                <a:endParaRPr lang="zh-CN" altLang="en-US" sz="2800" dirty="0">
                  <a:solidFill>
                    <a:srgbClr val="04926A"/>
                  </a:solidFill>
                  <a:latin typeface="Cambria Math" panose="02040503050406030204" charset="0"/>
                  <a:ea typeface="MS Mincho" panose="02020609040205080304" charset="-128"/>
                  <a:cs typeface="Cambria Math" panose="02040503050406030204" charset="0"/>
                </a:endParaRPr>
              </a:p>
            </p:txBody>
          </p:sp>
        </mc:Choice>
        <mc:Fallback>
          <p:sp>
            <p:nvSpPr>
              <p:cNvPr id="8224" name="Object 32"/>
              <p:cNvSpPr txBox="1">
                <a:spLocks noRot="1" noChangeAspect="1" noMove="1" noResize="1" noEditPoints="1" noAdjustHandles="1" noChangeArrowheads="1" noChangeShapeType="1" noTextEdit="1"/>
              </p:cNvSpPr>
              <p:nvPr/>
            </p:nvSpPr>
            <p:spPr bwMode="auto">
              <a:xfrm>
                <a:off x="2476069" y="5367569"/>
                <a:ext cx="2131243" cy="615247"/>
              </a:xfrm>
              <a:prstGeom prst="rect">
                <a:avLst/>
              </a:prstGeom>
              <a:blipFill rotWithShape="1">
                <a:blip r:embed="rId4"/>
                <a:stretch>
                  <a:fillRect l="-10" t="-89" r="18" b="78"/>
                </a:stretch>
              </a:blipFill>
              <a:ln>
                <a:noFill/>
              </a:ln>
              <a:effectLst/>
            </p:spPr>
            <p:txBody>
              <a:bodyPr/>
              <a:lstStyle/>
              <a:p>
                <a:r>
                  <a:rPr lang="zh-CN" altLang="en-US">
                    <a:noFill/>
                  </a:rPr>
                  <a:t> </a:t>
                </a:r>
              </a:p>
            </p:txBody>
          </p:sp>
        </mc:Fallback>
      </mc:AlternateContent>
      <p:sp>
        <p:nvSpPr>
          <p:cNvPr id="8227" name="Text Box 35"/>
          <p:cNvSpPr txBox="1">
            <a:spLocks noChangeArrowheads="1"/>
          </p:cNvSpPr>
          <p:nvPr/>
        </p:nvSpPr>
        <p:spPr bwMode="auto">
          <a:xfrm>
            <a:off x="1673582" y="5375682"/>
            <a:ext cx="1066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lang="zh-CN" altLang="en-US" sz="2800" dirty="0"/>
              <a:t>必有</a:t>
            </a:r>
            <a:endParaRPr lang="zh-CN" altLang="en-US" sz="2800" dirty="0"/>
          </a:p>
        </p:txBody>
      </p:sp>
      <mc:AlternateContent xmlns:mc="http://schemas.openxmlformats.org/markup-compatibility/2006">
        <mc:Choice xmlns:a14="http://schemas.microsoft.com/office/drawing/2010/main" Requires="a14">
          <p:sp>
            <p:nvSpPr>
              <p:cNvPr id="8230" name="Object 38"/>
              <p:cNvSpPr txBox="1"/>
              <p:nvPr/>
            </p:nvSpPr>
            <p:spPr bwMode="auto">
              <a:xfrm>
                <a:off x="4329522" y="5366157"/>
                <a:ext cx="2201810" cy="615247"/>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acc>
                        <m:accPr>
                          <m:chr m:val="⃗"/>
                          <m:ctrlPr>
                            <a:rPr lang="en-US" altLang="zh-CN" sz="2800" i="1">
                              <a:latin typeface="Cambria Math" panose="02040503050406030204" charset="0"/>
                              <a:ea typeface="MS Mincho" panose="02020609040205080304" charset="-128"/>
                            </a:rPr>
                          </m:ctrlPr>
                        </m:accPr>
                        <m:e>
                          <m:sSub>
                            <m:sSubPr>
                              <m:ctrlPr>
                                <a:rPr kumimoji="1" lang="zh-CN" altLang="en-US" sz="2800" i="1">
                                  <a:latin typeface="Cambria Math" panose="02040503050406030204" charset="0"/>
                                  <a:ea typeface="黑体" panose="02010609060101010101" pitchFamily="49" charset="-122"/>
                                  <a:cs typeface="黑体" panose="02010609060101010101" pitchFamily="49" charset="-122"/>
                                </a:rPr>
                              </m:ctrlPr>
                            </m:sSubPr>
                            <m:e>
                              <m:r>
                                <a:rPr kumimoji="1" lang="zh-CN" altLang="en-US" sz="2800" i="1">
                                  <a:latin typeface="Cambria Math" panose="02040503050406030204" charset="0"/>
                                  <a:ea typeface="黑体" panose="02010609060101010101" pitchFamily="49" charset="-122"/>
                                  <a:cs typeface="黑体" panose="02010609060101010101" pitchFamily="49" charset="-122"/>
                                </a:rPr>
                                <m:t>𝑀</m:t>
                              </m:r>
                            </m:e>
                            <m:sub>
                              <m:r>
                                <a:rPr kumimoji="1" lang="zh-CN" altLang="en-US" sz="2800" i="1">
                                  <a:latin typeface="Cambria Math" panose="02040503050406030204" charset="0"/>
                                  <a:ea typeface="黑体" panose="02010609060101010101" pitchFamily="49" charset="-122"/>
                                  <a:cs typeface="黑体" panose="02010609060101010101" pitchFamily="49" charset="-122"/>
                                </a:rPr>
                                <m:t>0</m:t>
                              </m:r>
                            </m:sub>
                          </m:sSub>
                          <m:r>
                            <a:rPr kumimoji="1" lang="zh-CN" altLang="en-US" sz="2800" i="1">
                              <a:latin typeface="Cambria Math" panose="02040503050406030204" charset="0"/>
                              <a:ea typeface="黑体" panose="02010609060101010101" pitchFamily="49" charset="-122"/>
                              <a:cs typeface="黑体" panose="02010609060101010101" pitchFamily="49" charset="-122"/>
                            </a:rPr>
                            <m:t>𝑀</m:t>
                          </m:r>
                        </m:e>
                      </m:acc>
                      <m:r>
                        <a:rPr kumimoji="1" lang="zh-CN" altLang="en-US" sz="2800" i="1">
                          <a:latin typeface="Cambria Math" panose="02040503050406030204" charset="0"/>
                          <a:ea typeface="黑体" panose="02010609060101010101" pitchFamily="49" charset="-122"/>
                          <a:cs typeface="黑体" panose="02010609060101010101" pitchFamily="49" charset="-122"/>
                        </a:rPr>
                        <m:t>⋅​</m:t>
                      </m:r>
                      <m:r>
                        <a:rPr kumimoji="1" lang="zh-CN" altLang="en-US" sz="2800" b="1" i="1">
                          <a:latin typeface="Cambria Math" panose="02040503050406030204" charset="0"/>
                          <a:ea typeface="黑体" panose="02010609060101010101" pitchFamily="49" charset="-122"/>
                          <a:cs typeface="黑体" panose="02010609060101010101" pitchFamily="49" charset="-122"/>
                        </a:rPr>
                        <m:t>𝒏</m:t>
                      </m:r>
                      <m:r>
                        <a:rPr kumimoji="1" lang="zh-CN" altLang="en-US" sz="2800" i="1">
                          <a:latin typeface="Cambria Math" panose="02040503050406030204" charset="0"/>
                          <a:ea typeface="黑体" panose="02010609060101010101" pitchFamily="49" charset="-122"/>
                          <a:cs typeface="黑体" panose="02010609060101010101" pitchFamily="49" charset="-122"/>
                        </a:rPr>
                        <m:t>=</m:t>
                      </m:r>
                      <m:r>
                        <a:rPr kumimoji="1" lang="zh-CN" altLang="en-US" sz="2800" i="1">
                          <a:latin typeface="Cambria Math" panose="02040503050406030204" charset="0"/>
                          <a:ea typeface="黑体" panose="02010609060101010101" pitchFamily="49" charset="-122"/>
                          <a:cs typeface="黑体" panose="02010609060101010101" pitchFamily="49" charset="-122"/>
                        </a:rPr>
                        <m:t>0</m:t>
                      </m:r>
                    </m:oMath>
                  </m:oMathPara>
                </a14:m>
                <a:endParaRPr kumimoji="1" lang="zh-CN" altLang="en-US" sz="2800" i="1" dirty="0">
                  <a:latin typeface="Cambria Math" panose="02040503050406030204" charset="0"/>
                  <a:ea typeface="黑体" panose="02010609060101010101" pitchFamily="49" charset="-122"/>
                  <a:cs typeface="黑体" panose="02010609060101010101" pitchFamily="49" charset="-122"/>
                </a:endParaRPr>
              </a:p>
            </p:txBody>
          </p:sp>
        </mc:Choice>
        <mc:Fallback>
          <p:sp>
            <p:nvSpPr>
              <p:cNvPr id="8230" name="Object 38"/>
              <p:cNvSpPr txBox="1">
                <a:spLocks noRot="1" noChangeAspect="1" noMove="1" noResize="1" noEditPoints="1" noAdjustHandles="1" noChangeArrowheads="1" noChangeShapeType="1" noTextEdit="1"/>
              </p:cNvSpPr>
              <p:nvPr/>
            </p:nvSpPr>
            <p:spPr bwMode="auto">
              <a:xfrm>
                <a:off x="4329522" y="5366157"/>
                <a:ext cx="2201810" cy="615247"/>
              </a:xfrm>
              <a:prstGeom prst="rect">
                <a:avLst/>
              </a:prstGeom>
              <a:blipFill rotWithShape="1">
                <a:blip r:embed="rId5"/>
                <a:stretch>
                  <a:fillRect l="-4" t="-66" r="16" b="55"/>
                </a:stretch>
              </a:blipFill>
              <a:ln>
                <a:noFill/>
              </a:ln>
              <a:effectLst/>
            </p:spPr>
            <p:txBody>
              <a:bodyPr/>
              <a:lstStyle/>
              <a:p>
                <a:r>
                  <a:rPr lang="zh-CN" altLang="en-US">
                    <a:noFill/>
                  </a:rPr>
                  <a:t> </a:t>
                </a:r>
              </a:p>
            </p:txBody>
          </p:sp>
        </mc:Fallback>
      </mc:AlternateContent>
      <p:sp>
        <p:nvSpPr>
          <p:cNvPr id="8235" name="Rectangle 43"/>
          <p:cNvSpPr>
            <a:spLocks noGrp="1" noChangeArrowheads="1"/>
          </p:cNvSpPr>
          <p:nvPr>
            <p:ph type="title" idx="4294967295"/>
          </p:nvPr>
        </p:nvSpPr>
        <p:spPr>
          <a:xfrm>
            <a:off x="838200" y="705685"/>
            <a:ext cx="4781550" cy="614572"/>
          </a:xfrm>
          <a:prstGeom prst="rect">
            <a:avLst/>
          </a:prstGeom>
        </p:spPr>
        <p:txBody>
          <a:bodyPr>
            <a:normAutofit/>
          </a:bodyPr>
          <a:lstStyle/>
          <a:p>
            <a:pPr algn="l"/>
            <a:r>
              <a:rPr lang="zh-CN" altLang="en-US" sz="3200" dirty="0">
                <a:ln w="22225">
                  <a:solidFill>
                    <a:schemeClr val="accent2"/>
                  </a:solidFill>
                  <a:prstDash val="solid"/>
                </a:ln>
                <a:solidFill>
                  <a:schemeClr val="accent2">
                    <a:lumMod val="40000"/>
                    <a:lumOff val="60000"/>
                  </a:schemeClr>
                </a:solidFill>
                <a:effectLst/>
                <a:latin typeface="微软雅黑" panose="020B0503020204020204" charset="-122"/>
                <a:ea typeface="微软雅黑" panose="020B0503020204020204" charset="-122"/>
                <a:cs typeface="+mn-cs"/>
              </a:rPr>
              <a:t>平面的点法式方程</a:t>
            </a:r>
            <a:endParaRPr lang="zh-CN" altLang="en-US" sz="3200" dirty="0">
              <a:ln w="22225">
                <a:solidFill>
                  <a:schemeClr val="accent2"/>
                </a:solidFill>
                <a:prstDash val="solid"/>
              </a:ln>
              <a:solidFill>
                <a:schemeClr val="accent2">
                  <a:lumMod val="40000"/>
                  <a:lumOff val="60000"/>
                </a:schemeClr>
              </a:solidFill>
              <a:effectLst/>
              <a:latin typeface="微软雅黑" panose="020B0503020204020204" charset="-122"/>
              <a:ea typeface="微软雅黑" panose="020B0503020204020204" charset="-122"/>
              <a:cs typeface="+mn-cs"/>
            </a:endParaRPr>
          </a:p>
        </p:txBody>
      </p:sp>
      <p:pic>
        <p:nvPicPr>
          <p:cNvPr id="3" name="图片 2" descr="图示&#10;&#10;描述已自动生成"/>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853594" y="602053"/>
            <a:ext cx="2595205" cy="2653964"/>
          </a:xfrm>
          <a:prstGeom prst="rect">
            <a:avLst/>
          </a:prstGeom>
        </p:spPr>
      </p:pic>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235"/>
                                        </p:tgtEl>
                                        <p:attrNameLst>
                                          <p:attrName>style.visibility</p:attrName>
                                        </p:attrNameLst>
                                      </p:cBhvr>
                                      <p:to>
                                        <p:strVal val="visible"/>
                                      </p:to>
                                    </p:set>
                                    <p:animEffect transition="in" filter="wipe(left)">
                                      <p:cBhvr>
                                        <p:cTn id="7" dur="500"/>
                                        <p:tgtEl>
                                          <p:spTgt spid="82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214"/>
                                        </p:tgtEl>
                                        <p:attrNameLst>
                                          <p:attrName>style.visibility</p:attrName>
                                        </p:attrNameLst>
                                      </p:cBhvr>
                                      <p:to>
                                        <p:strVal val="visible"/>
                                      </p:to>
                                    </p:set>
                                    <p:animEffect transition="in" filter="wipe(left)">
                                      <p:cBhvr>
                                        <p:cTn id="12" dur="500"/>
                                        <p:tgtEl>
                                          <p:spTgt spid="82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8215"/>
                                        </p:tgtEl>
                                        <p:attrNameLst>
                                          <p:attrName>style.visibility</p:attrName>
                                        </p:attrNameLst>
                                      </p:cBhvr>
                                      <p:to>
                                        <p:strVal val="visible"/>
                                      </p:to>
                                    </p:set>
                                    <p:animEffect transition="in" filter="wipe(left)">
                                      <p:cBhvr>
                                        <p:cTn id="22" dur="75"/>
                                        <p:tgtEl>
                                          <p:spTgt spid="8215"/>
                                        </p:tgtEl>
                                      </p:cBhvr>
                                    </p:animEffect>
                                  </p:childTnLst>
                                </p:cTn>
                              </p:par>
                            </p:childTnLst>
                          </p:cTn>
                        </p:par>
                        <p:par>
                          <p:cTn id="23" fill="hold">
                            <p:stCondLst>
                              <p:cond delay="600"/>
                            </p:stCondLst>
                            <p:childTnLst>
                              <p:par>
                                <p:cTn id="24" presetID="22" presetClass="entr" presetSubtype="8" fill="hold" grpId="0" nodeType="afterEffect">
                                  <p:stCondLst>
                                    <p:cond delay="0"/>
                                  </p:stCondLst>
                                  <p:iterate type="lt">
                                    <p:tmPct val="100000"/>
                                  </p:iterate>
                                  <p:childTnLst>
                                    <p:set>
                                      <p:cBhvr>
                                        <p:cTn id="25" dur="1" fill="hold">
                                          <p:stCondLst>
                                            <p:cond delay="0"/>
                                          </p:stCondLst>
                                        </p:cTn>
                                        <p:tgtEl>
                                          <p:spTgt spid="8216"/>
                                        </p:tgtEl>
                                        <p:attrNameLst>
                                          <p:attrName>style.visibility</p:attrName>
                                        </p:attrNameLst>
                                      </p:cBhvr>
                                      <p:to>
                                        <p:strVal val="visible"/>
                                      </p:to>
                                    </p:set>
                                    <p:animEffect transition="in" filter="wipe(left)">
                                      <p:cBhvr>
                                        <p:cTn id="26" dur="75"/>
                                        <p:tgtEl>
                                          <p:spTgt spid="821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iterate type="lt">
                                    <p:tmPct val="100000"/>
                                  </p:iterate>
                                  <p:childTnLst>
                                    <p:set>
                                      <p:cBhvr>
                                        <p:cTn id="30" dur="1" fill="hold">
                                          <p:stCondLst>
                                            <p:cond delay="0"/>
                                          </p:stCondLst>
                                        </p:cTn>
                                        <p:tgtEl>
                                          <p:spTgt spid="8217"/>
                                        </p:tgtEl>
                                        <p:attrNameLst>
                                          <p:attrName>style.visibility</p:attrName>
                                        </p:attrNameLst>
                                      </p:cBhvr>
                                      <p:to>
                                        <p:strVal val="visible"/>
                                      </p:to>
                                    </p:set>
                                    <p:animEffect transition="in" filter="wipe(left)">
                                      <p:cBhvr>
                                        <p:cTn id="31" dur="75"/>
                                        <p:tgtEl>
                                          <p:spTgt spid="8217"/>
                                        </p:tgtEl>
                                      </p:cBhvr>
                                    </p:animEffect>
                                  </p:childTnLst>
                                </p:cTn>
                              </p:par>
                            </p:childTnLst>
                          </p:cTn>
                        </p:par>
                        <p:par>
                          <p:cTn id="32" fill="hold">
                            <p:stCondLst>
                              <p:cond delay="150"/>
                            </p:stCondLst>
                            <p:childTnLst>
                              <p:par>
                                <p:cTn id="33" presetID="22" presetClass="entr" presetSubtype="8" fill="hold" grpId="0" nodeType="afterEffect">
                                  <p:stCondLst>
                                    <p:cond delay="0"/>
                                  </p:stCondLst>
                                  <p:childTnLst>
                                    <p:set>
                                      <p:cBhvr>
                                        <p:cTn id="34" dur="1" fill="hold">
                                          <p:stCondLst>
                                            <p:cond delay="0"/>
                                          </p:stCondLst>
                                        </p:cTn>
                                        <p:tgtEl>
                                          <p:spTgt spid="8218"/>
                                        </p:tgtEl>
                                        <p:attrNameLst>
                                          <p:attrName>style.visibility</p:attrName>
                                        </p:attrNameLst>
                                      </p:cBhvr>
                                      <p:to>
                                        <p:strVal val="visible"/>
                                      </p:to>
                                    </p:set>
                                    <p:animEffect transition="in" filter="wipe(left)">
                                      <p:cBhvr>
                                        <p:cTn id="35" dur="500"/>
                                        <p:tgtEl>
                                          <p:spTgt spid="8218"/>
                                        </p:tgtEl>
                                      </p:cBhvr>
                                    </p:animEffect>
                                  </p:childTnLst>
                                </p:cTn>
                              </p:par>
                            </p:childTnLst>
                          </p:cTn>
                        </p:par>
                        <p:par>
                          <p:cTn id="36" fill="hold">
                            <p:stCondLst>
                              <p:cond delay="650"/>
                            </p:stCondLst>
                            <p:childTnLst>
                              <p:par>
                                <p:cTn id="37" presetID="22" presetClass="entr" presetSubtype="8" fill="hold" grpId="0" nodeType="afterEffect">
                                  <p:stCondLst>
                                    <p:cond delay="0"/>
                                  </p:stCondLst>
                                  <p:childTnLst>
                                    <p:set>
                                      <p:cBhvr>
                                        <p:cTn id="38" dur="1" fill="hold">
                                          <p:stCondLst>
                                            <p:cond delay="0"/>
                                          </p:stCondLst>
                                        </p:cTn>
                                        <p:tgtEl>
                                          <p:spTgt spid="8220"/>
                                        </p:tgtEl>
                                        <p:attrNameLst>
                                          <p:attrName>style.visibility</p:attrName>
                                        </p:attrNameLst>
                                      </p:cBhvr>
                                      <p:to>
                                        <p:strVal val="visible"/>
                                      </p:to>
                                    </p:set>
                                    <p:animEffect transition="in" filter="wipe(left)">
                                      <p:cBhvr>
                                        <p:cTn id="39" dur="500"/>
                                        <p:tgtEl>
                                          <p:spTgt spid="822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8223"/>
                                        </p:tgtEl>
                                        <p:attrNameLst>
                                          <p:attrName>style.visibility</p:attrName>
                                        </p:attrNameLst>
                                      </p:cBhvr>
                                      <p:to>
                                        <p:strVal val="visible"/>
                                      </p:to>
                                    </p:set>
                                    <p:animEffect transition="in" filter="wipe(left)">
                                      <p:cBhvr>
                                        <p:cTn id="44" dur="500"/>
                                        <p:tgtEl>
                                          <p:spTgt spid="8223"/>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8227"/>
                                        </p:tgtEl>
                                        <p:attrNameLst>
                                          <p:attrName>style.visibility</p:attrName>
                                        </p:attrNameLst>
                                      </p:cBhvr>
                                      <p:to>
                                        <p:strVal val="visible"/>
                                      </p:to>
                                    </p:set>
                                    <p:animEffect transition="in" filter="wipe(left)">
                                      <p:cBhvr>
                                        <p:cTn id="49" dur="500"/>
                                        <p:tgtEl>
                                          <p:spTgt spid="8227"/>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8230"/>
                                        </p:tgtEl>
                                        <p:attrNameLst>
                                          <p:attrName>style.visibility</p:attrName>
                                        </p:attrNameLst>
                                      </p:cBhvr>
                                      <p:to>
                                        <p:strVal val="visible"/>
                                      </p:to>
                                    </p:set>
                                    <p:animEffect transition="in" filter="wipe(left)">
                                      <p:cBhvr>
                                        <p:cTn id="52" dur="500"/>
                                        <p:tgtEl>
                                          <p:spTgt spid="8230"/>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8224"/>
                                        </p:tgtEl>
                                        <p:attrNameLst>
                                          <p:attrName>style.visibility</p:attrName>
                                        </p:attrNameLst>
                                      </p:cBhvr>
                                      <p:to>
                                        <p:strVal val="visible"/>
                                      </p:to>
                                    </p:set>
                                    <p:animEffect transition="in" filter="wipe(left)">
                                      <p:cBhvr>
                                        <p:cTn id="55" dur="500"/>
                                        <p:tgtEl>
                                          <p:spTgt spid="82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14" grpId="0" autoUpdateAnimBg="0"/>
      <p:bldP spid="8215" grpId="0" autoUpdateAnimBg="0"/>
      <p:bldP spid="8216" grpId="0" autoUpdateAnimBg="0"/>
      <p:bldP spid="8217" grpId="0" autoUpdateAnimBg="0"/>
      <p:bldP spid="8218" grpId="0" bldLvl="0" animBg="1"/>
      <p:bldP spid="8220" grpId="0" bldLvl="0" animBg="1"/>
      <p:bldP spid="8224" grpId="0" bldLvl="0" animBg="1"/>
      <p:bldP spid="8227" grpId="0" autoUpdateAnimBg="0"/>
      <p:bldP spid="8230" grpId="0" bldLvl="0" animBg="1"/>
      <p:bldP spid="823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10540" y="494665"/>
            <a:ext cx="11149330" cy="5612765"/>
            <a:chOff x="838" y="906"/>
            <a:chExt cx="17558" cy="8839"/>
          </a:xfrm>
        </p:grpSpPr>
        <p:sp>
          <p:nvSpPr>
            <p:cNvPr id="9" name="PA-102232"/>
            <p:cNvSpPr/>
            <p:nvPr>
              <p:custDataLst>
                <p:tags r:id="rId1"/>
              </p:custDataLst>
            </p:nvPr>
          </p:nvSpPr>
          <p:spPr>
            <a:xfrm>
              <a:off x="872" y="906"/>
              <a:ext cx="17524" cy="8826"/>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6BB6"/>
                </a:solidFill>
                <a:cs typeface="+mn-ea"/>
                <a:sym typeface="+mn-lt"/>
              </a:endParaRPr>
            </a:p>
          </p:txBody>
        </p:sp>
        <p:grpSp>
          <p:nvGrpSpPr>
            <p:cNvPr id="10" name="组合 9"/>
            <p:cNvGrpSpPr/>
            <p:nvPr/>
          </p:nvGrpSpPr>
          <p:grpSpPr>
            <a:xfrm>
              <a:off x="838" y="9635"/>
              <a:ext cx="17558" cy="110"/>
              <a:chOff x="838" y="9635"/>
              <a:chExt cx="17558" cy="110"/>
            </a:xfrm>
          </p:grpSpPr>
          <p:sp>
            <p:nvSpPr>
              <p:cNvPr id="11" name="Rectangle 1"/>
              <p:cNvSpPr/>
              <p:nvPr/>
            </p:nvSpPr>
            <p:spPr>
              <a:xfrm>
                <a:off x="5321" y="9650"/>
                <a:ext cx="4286" cy="83"/>
              </a:xfrm>
              <a:prstGeom prst="rect">
                <a:avLst/>
              </a:prstGeom>
              <a:solidFill>
                <a:schemeClr val="bg1"/>
              </a:solidFill>
              <a:ln w="3175" cap="flat" cmpd="sng" algn="ctr">
                <a:solidFill>
                  <a:srgbClr val="0492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2" name="Rectangle 1"/>
              <p:cNvSpPr/>
              <p:nvPr/>
            </p:nvSpPr>
            <p:spPr>
              <a:xfrm>
                <a:off x="838" y="9650"/>
                <a:ext cx="4483" cy="83"/>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3" name="Rectangle 1"/>
              <p:cNvSpPr/>
              <p:nvPr/>
            </p:nvSpPr>
            <p:spPr>
              <a:xfrm>
                <a:off x="9602" y="9635"/>
                <a:ext cx="8794" cy="111"/>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mc:AlternateContent xmlns:mc="http://schemas.openxmlformats.org/markup-compatibility/2006">
        <mc:Choice xmlns:a14="http://schemas.microsoft.com/office/drawing/2010/main" Requires="a14">
          <p:sp>
            <p:nvSpPr>
              <p:cNvPr id="9219" name="Object 3"/>
              <p:cNvSpPr txBox="1"/>
              <p:nvPr/>
            </p:nvSpPr>
            <p:spPr bwMode="auto">
              <a:xfrm>
                <a:off x="1779146" y="1258472"/>
                <a:ext cx="5687830" cy="609582"/>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800" i="1">
                          <a:latin typeface="Cambria Math" panose="02040503050406030204" charset="0"/>
                          <a:cs typeface="Cambria Math" panose="02040503050406030204" charset="0"/>
                        </a:rPr>
                        <m:t>∵ </m:t>
                      </m:r>
                      <m:acc>
                        <m:accPr>
                          <m:chr m:val="⃗"/>
                          <m:ctrlPr>
                            <a:rPr lang="en-US" altLang="zh-CN" sz="2800" i="1">
                              <a:latin typeface="Cambria Math" panose="02040503050406030204" charset="0"/>
                              <a:ea typeface="MS Mincho" panose="02020609040205080304" charset="-128"/>
                            </a:rPr>
                          </m:ctrlPr>
                        </m:accPr>
                        <m:e>
                          <m:sSub>
                            <m:sSubPr>
                              <m:ctrlPr>
                                <a:rPr kumimoji="1" lang="zh-CN" altLang="en-US" sz="2800" i="1">
                                  <a:latin typeface="Cambria Math" panose="02040503050406030204" charset="0"/>
                                  <a:ea typeface="黑体" panose="02010609060101010101" pitchFamily="49" charset="-122"/>
                                  <a:cs typeface="黑体" panose="02010609060101010101" pitchFamily="49" charset="-122"/>
                                </a:rPr>
                              </m:ctrlPr>
                            </m:sSubPr>
                            <m:e>
                              <m:r>
                                <a:rPr kumimoji="1" lang="zh-CN" altLang="en-US" sz="2800" i="1">
                                  <a:latin typeface="Cambria Math" panose="02040503050406030204" charset="0"/>
                                  <a:ea typeface="黑体" panose="02010609060101010101" pitchFamily="49" charset="-122"/>
                                  <a:cs typeface="黑体" panose="02010609060101010101" pitchFamily="49" charset="-122"/>
                                </a:rPr>
                                <m:t>𝑀</m:t>
                              </m:r>
                            </m:e>
                            <m:sub>
                              <m:r>
                                <a:rPr kumimoji="1" lang="zh-CN" altLang="en-US" sz="2800" i="1">
                                  <a:latin typeface="Cambria Math" panose="02040503050406030204" charset="0"/>
                                  <a:ea typeface="黑体" panose="02010609060101010101" pitchFamily="49" charset="-122"/>
                                  <a:cs typeface="黑体" panose="02010609060101010101" pitchFamily="49" charset="-122"/>
                                </a:rPr>
                                <m:t>0</m:t>
                              </m:r>
                            </m:sub>
                          </m:sSub>
                          <m:r>
                            <a:rPr kumimoji="1" lang="zh-CN" altLang="en-US" sz="2800" i="1">
                              <a:latin typeface="Cambria Math" panose="02040503050406030204" charset="0"/>
                              <a:ea typeface="黑体" panose="02010609060101010101" pitchFamily="49" charset="-122"/>
                              <a:cs typeface="黑体" panose="02010609060101010101" pitchFamily="49" charset="-122"/>
                            </a:rPr>
                            <m:t>𝑀</m:t>
                          </m:r>
                        </m:e>
                      </m:acc>
                      <m:r>
                        <a:rPr lang="zh-CN" altLang="en-US" sz="2800" i="1">
                          <a:latin typeface="Cambria Math" panose="02040503050406030204" charset="0"/>
                          <a:cs typeface="Cambria Math" panose="02040503050406030204" charset="0"/>
                        </a:rPr>
                        <m:t>={</m:t>
                      </m:r>
                      <m:r>
                        <a:rPr lang="zh-CN" altLang="en-US" sz="2800" i="1">
                          <a:latin typeface="Cambria Math" panose="02040503050406030204" charset="0"/>
                          <a:cs typeface="Cambria Math" panose="02040503050406030204" charset="0"/>
                        </a:rPr>
                        <m:t>𝑥</m:t>
                      </m:r>
                      <m:r>
                        <a:rPr lang="zh-CN" altLang="en-US" sz="2800" i="1">
                          <a:latin typeface="Cambria Math" panose="02040503050406030204" charset="0"/>
                          <a:cs typeface="Cambria Math" panose="02040503050406030204" charset="0"/>
                        </a:rPr>
                        <m:t>−</m:t>
                      </m:r>
                      <m:sSub>
                        <m:sSubPr>
                          <m:ctrlPr>
                            <a:rPr lang="zh-CN" altLang="en-US" sz="2800" i="1">
                              <a:latin typeface="Cambria Math" panose="02040503050406030204" charset="0"/>
                              <a:cs typeface="Cambria Math" panose="02040503050406030204" charset="0"/>
                            </a:rPr>
                          </m:ctrlPr>
                        </m:sSubPr>
                        <m:e>
                          <m:r>
                            <a:rPr lang="zh-CN" altLang="en-US" sz="2800" i="1">
                              <a:latin typeface="Cambria Math" panose="02040503050406030204" charset="0"/>
                              <a:cs typeface="Cambria Math" panose="02040503050406030204" charset="0"/>
                            </a:rPr>
                            <m:t>𝑥</m:t>
                          </m:r>
                        </m:e>
                        <m:sub>
                          <m:r>
                            <a:rPr lang="zh-CN" altLang="en-US" sz="2800" i="1">
                              <a:latin typeface="Cambria Math" panose="02040503050406030204" charset="0"/>
                              <a:cs typeface="Cambria Math" panose="02040503050406030204" charset="0"/>
                            </a:rPr>
                            <m:t>0</m:t>
                          </m:r>
                        </m:sub>
                      </m:sSub>
                      <m:r>
                        <a:rPr lang="zh-CN" altLang="en-US" sz="2800" i="1">
                          <a:latin typeface="Cambria Math" panose="02040503050406030204" charset="0"/>
                          <a:cs typeface="Cambria Math" panose="02040503050406030204" charset="0"/>
                        </a:rPr>
                        <m:t>,</m:t>
                      </m:r>
                      <m:r>
                        <a:rPr lang="zh-CN" altLang="en-US" sz="2800" i="1">
                          <a:latin typeface="Cambria Math" panose="02040503050406030204" charset="0"/>
                          <a:cs typeface="Cambria Math" panose="02040503050406030204" charset="0"/>
                        </a:rPr>
                        <m:t>𝑦</m:t>
                      </m:r>
                      <m:r>
                        <a:rPr lang="zh-CN" altLang="en-US" sz="2800" i="1">
                          <a:latin typeface="Cambria Math" panose="02040503050406030204" charset="0"/>
                          <a:cs typeface="Cambria Math" panose="02040503050406030204" charset="0"/>
                        </a:rPr>
                        <m:t>−</m:t>
                      </m:r>
                      <m:sSub>
                        <m:sSubPr>
                          <m:ctrlPr>
                            <a:rPr lang="zh-CN" altLang="en-US" sz="2800" i="1">
                              <a:latin typeface="Cambria Math" panose="02040503050406030204" charset="0"/>
                              <a:cs typeface="Cambria Math" panose="02040503050406030204" charset="0"/>
                            </a:rPr>
                          </m:ctrlPr>
                        </m:sSubPr>
                        <m:e>
                          <m:r>
                            <a:rPr lang="zh-CN" altLang="en-US" sz="2800" i="1">
                              <a:latin typeface="Cambria Math" panose="02040503050406030204" charset="0"/>
                              <a:cs typeface="Cambria Math" panose="02040503050406030204" charset="0"/>
                            </a:rPr>
                            <m:t>𝑦</m:t>
                          </m:r>
                        </m:e>
                        <m:sub>
                          <m:r>
                            <a:rPr lang="zh-CN" altLang="en-US" sz="2800" i="1">
                              <a:latin typeface="Cambria Math" panose="02040503050406030204" charset="0"/>
                              <a:cs typeface="Cambria Math" panose="02040503050406030204" charset="0"/>
                            </a:rPr>
                            <m:t>0</m:t>
                          </m:r>
                        </m:sub>
                      </m:sSub>
                      <m:r>
                        <a:rPr lang="zh-CN" altLang="en-US" sz="2800" i="1">
                          <a:latin typeface="Cambria Math" panose="02040503050406030204" charset="0"/>
                          <a:cs typeface="Cambria Math" panose="02040503050406030204" charset="0"/>
                        </a:rPr>
                        <m:t>,</m:t>
                      </m:r>
                      <m:r>
                        <a:rPr lang="zh-CN" altLang="en-US" sz="2800" i="1">
                          <a:latin typeface="Cambria Math" panose="02040503050406030204" charset="0"/>
                          <a:cs typeface="Cambria Math" panose="02040503050406030204" charset="0"/>
                        </a:rPr>
                        <m:t>𝑧</m:t>
                      </m:r>
                      <m:r>
                        <a:rPr lang="zh-CN" altLang="en-US" sz="2800" i="1">
                          <a:latin typeface="Cambria Math" panose="02040503050406030204" charset="0"/>
                          <a:cs typeface="Cambria Math" panose="02040503050406030204" charset="0"/>
                        </a:rPr>
                        <m:t>−</m:t>
                      </m:r>
                      <m:sSub>
                        <m:sSubPr>
                          <m:ctrlPr>
                            <a:rPr lang="zh-CN" altLang="en-US" sz="2800" i="1">
                              <a:latin typeface="Cambria Math" panose="02040503050406030204" charset="0"/>
                              <a:cs typeface="Cambria Math" panose="02040503050406030204" charset="0"/>
                            </a:rPr>
                          </m:ctrlPr>
                        </m:sSubPr>
                        <m:e>
                          <m:r>
                            <a:rPr lang="zh-CN" altLang="en-US" sz="2800" i="1">
                              <a:latin typeface="Cambria Math" panose="02040503050406030204" charset="0"/>
                              <a:cs typeface="Cambria Math" panose="02040503050406030204" charset="0"/>
                            </a:rPr>
                            <m:t>𝑧</m:t>
                          </m:r>
                        </m:e>
                        <m:sub>
                          <m:r>
                            <a:rPr lang="zh-CN" altLang="en-US" sz="2800" i="1">
                              <a:latin typeface="Cambria Math" panose="02040503050406030204" charset="0"/>
                              <a:cs typeface="Cambria Math" panose="02040503050406030204" charset="0"/>
                            </a:rPr>
                            <m:t>0</m:t>
                          </m:r>
                        </m:sub>
                      </m:sSub>
                      <m:r>
                        <a:rPr lang="zh-CN" altLang="en-US" sz="2800" i="1">
                          <a:latin typeface="Cambria Math" panose="02040503050406030204" charset="0"/>
                          <a:cs typeface="Cambria Math" panose="02040503050406030204" charset="0"/>
                        </a:rPr>
                        <m:t>}</m:t>
                      </m:r>
                    </m:oMath>
                  </m:oMathPara>
                </a14:m>
                <a:endParaRPr lang="zh-CN" altLang="en-US" sz="2800" i="1" dirty="0">
                  <a:latin typeface="Cambria Math" panose="02040503050406030204" charset="0"/>
                  <a:cs typeface="Cambria Math" panose="02040503050406030204" charset="0"/>
                </a:endParaRPr>
              </a:p>
            </p:txBody>
          </p:sp>
        </mc:Choice>
        <mc:Fallback>
          <p:sp>
            <p:nvSpPr>
              <p:cNvPr id="9219" name="Object 3"/>
              <p:cNvSpPr txBox="1">
                <a:spLocks noRot="1" noChangeAspect="1" noMove="1" noResize="1" noEditPoints="1" noAdjustHandles="1" noChangeArrowheads="1" noChangeShapeType="1" noTextEdit="1"/>
              </p:cNvSpPr>
              <p:nvPr/>
            </p:nvSpPr>
            <p:spPr bwMode="auto">
              <a:xfrm>
                <a:off x="1779146" y="1258472"/>
                <a:ext cx="5687830" cy="609582"/>
              </a:xfrm>
              <a:prstGeom prst="rect">
                <a:avLst/>
              </a:prstGeom>
              <a:blipFill rotWithShape="1">
                <a:blip r:embed="rId2"/>
                <a:stretch>
                  <a:fillRect l="-9" t="-88" b="85"/>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223" name="Object 7"/>
              <p:cNvSpPr txBox="1"/>
              <p:nvPr/>
            </p:nvSpPr>
            <p:spPr bwMode="auto">
              <a:xfrm>
                <a:off x="1779146" y="2074386"/>
                <a:ext cx="6961187" cy="571501"/>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800" i="1">
                          <a:latin typeface="Cambria Math" panose="02040503050406030204" charset="0"/>
                          <a:cs typeface="Cambria Math" panose="02040503050406030204" charset="0"/>
                        </a:rPr>
                        <m:t>∴ </m:t>
                      </m:r>
                      <m:r>
                        <a:rPr lang="zh-CN" altLang="en-US" sz="2800" i="1">
                          <a:highlight>
                            <a:srgbClr val="FFFF00"/>
                          </a:highlight>
                          <a:latin typeface="Cambria Math" panose="02040503050406030204" charset="0"/>
                          <a:cs typeface="Cambria Math" panose="02040503050406030204" charset="0"/>
                        </a:rPr>
                        <m:t>𝐴</m:t>
                      </m:r>
                      <m:r>
                        <a:rPr lang="zh-CN" altLang="en-US" sz="2800" i="1">
                          <a:highlight>
                            <a:srgbClr val="FFFF00"/>
                          </a:highlight>
                          <a:latin typeface="Cambria Math" panose="02040503050406030204" charset="0"/>
                          <a:cs typeface="Cambria Math" panose="02040503050406030204" charset="0"/>
                        </a:rPr>
                        <m:t>(</m:t>
                      </m:r>
                      <m:r>
                        <a:rPr lang="zh-CN" altLang="en-US" sz="2800" i="1">
                          <a:highlight>
                            <a:srgbClr val="FFFF00"/>
                          </a:highlight>
                          <a:latin typeface="Cambria Math" panose="02040503050406030204" charset="0"/>
                          <a:cs typeface="Cambria Math" panose="02040503050406030204" charset="0"/>
                        </a:rPr>
                        <m:t>𝑥</m:t>
                      </m:r>
                      <m:r>
                        <a:rPr lang="zh-CN" altLang="en-US" sz="2800" i="1">
                          <a:highlight>
                            <a:srgbClr val="FFFF00"/>
                          </a:highlight>
                          <a:latin typeface="Cambria Math" panose="02040503050406030204" charset="0"/>
                          <a:cs typeface="Cambria Math" panose="02040503050406030204" charset="0"/>
                        </a:rPr>
                        <m:t>−</m:t>
                      </m:r>
                      <m:sSub>
                        <m:sSubPr>
                          <m:ctrlPr>
                            <a:rPr lang="zh-CN" altLang="en-US" sz="2800" i="1">
                              <a:highlight>
                                <a:srgbClr val="FFFF00"/>
                              </a:highlight>
                              <a:latin typeface="Cambria Math" panose="02040503050406030204" charset="0"/>
                              <a:cs typeface="Cambria Math" panose="02040503050406030204" charset="0"/>
                            </a:rPr>
                          </m:ctrlPr>
                        </m:sSubPr>
                        <m:e>
                          <m:r>
                            <a:rPr lang="zh-CN" altLang="en-US" sz="2800" i="1">
                              <a:highlight>
                                <a:srgbClr val="FFFF00"/>
                              </a:highlight>
                              <a:latin typeface="Cambria Math" panose="02040503050406030204" charset="0"/>
                              <a:cs typeface="Cambria Math" panose="02040503050406030204" charset="0"/>
                            </a:rPr>
                            <m:t>𝑥</m:t>
                          </m:r>
                        </m:e>
                        <m:sub>
                          <m:r>
                            <a:rPr lang="zh-CN" altLang="en-US" sz="2800" i="1">
                              <a:highlight>
                                <a:srgbClr val="FFFF00"/>
                              </a:highlight>
                              <a:latin typeface="Cambria Math" panose="02040503050406030204" charset="0"/>
                              <a:cs typeface="Cambria Math" panose="02040503050406030204" charset="0"/>
                            </a:rPr>
                            <m:t>0</m:t>
                          </m:r>
                        </m:sub>
                      </m:sSub>
                      <m:r>
                        <a:rPr lang="zh-CN" altLang="en-US" sz="2800" i="1">
                          <a:highlight>
                            <a:srgbClr val="FFFF00"/>
                          </a:highlight>
                          <a:latin typeface="Cambria Math" panose="02040503050406030204" charset="0"/>
                          <a:cs typeface="Cambria Math" panose="02040503050406030204" charset="0"/>
                        </a:rPr>
                        <m:t>)+</m:t>
                      </m:r>
                      <m:r>
                        <a:rPr lang="zh-CN" altLang="en-US" sz="2800" i="1">
                          <a:highlight>
                            <a:srgbClr val="FFFF00"/>
                          </a:highlight>
                          <a:latin typeface="Cambria Math" panose="02040503050406030204" charset="0"/>
                          <a:cs typeface="Cambria Math" panose="02040503050406030204" charset="0"/>
                        </a:rPr>
                        <m:t>𝐵</m:t>
                      </m:r>
                      <m:r>
                        <a:rPr lang="zh-CN" altLang="en-US" sz="2800" i="1">
                          <a:highlight>
                            <a:srgbClr val="FFFF00"/>
                          </a:highlight>
                          <a:latin typeface="Cambria Math" panose="02040503050406030204" charset="0"/>
                          <a:cs typeface="Cambria Math" panose="02040503050406030204" charset="0"/>
                        </a:rPr>
                        <m:t>(</m:t>
                      </m:r>
                      <m:r>
                        <a:rPr lang="zh-CN" altLang="en-US" sz="2800" i="1">
                          <a:highlight>
                            <a:srgbClr val="FFFF00"/>
                          </a:highlight>
                          <a:latin typeface="Cambria Math" panose="02040503050406030204" charset="0"/>
                          <a:cs typeface="Cambria Math" panose="02040503050406030204" charset="0"/>
                        </a:rPr>
                        <m:t>𝑦</m:t>
                      </m:r>
                      <m:r>
                        <a:rPr lang="zh-CN" altLang="en-US" sz="2800" i="1">
                          <a:highlight>
                            <a:srgbClr val="FFFF00"/>
                          </a:highlight>
                          <a:latin typeface="Cambria Math" panose="02040503050406030204" charset="0"/>
                          <a:cs typeface="Cambria Math" panose="02040503050406030204" charset="0"/>
                        </a:rPr>
                        <m:t>−</m:t>
                      </m:r>
                      <m:sSub>
                        <m:sSubPr>
                          <m:ctrlPr>
                            <a:rPr lang="zh-CN" altLang="en-US" sz="2800" i="1">
                              <a:highlight>
                                <a:srgbClr val="FFFF00"/>
                              </a:highlight>
                              <a:latin typeface="Cambria Math" panose="02040503050406030204" charset="0"/>
                              <a:cs typeface="Cambria Math" panose="02040503050406030204" charset="0"/>
                            </a:rPr>
                          </m:ctrlPr>
                        </m:sSubPr>
                        <m:e>
                          <m:r>
                            <a:rPr lang="zh-CN" altLang="en-US" sz="2800" i="1">
                              <a:highlight>
                                <a:srgbClr val="FFFF00"/>
                              </a:highlight>
                              <a:latin typeface="Cambria Math" panose="02040503050406030204" charset="0"/>
                              <a:cs typeface="Cambria Math" panose="02040503050406030204" charset="0"/>
                            </a:rPr>
                            <m:t>𝑦</m:t>
                          </m:r>
                        </m:e>
                        <m:sub>
                          <m:r>
                            <a:rPr lang="zh-CN" altLang="en-US" sz="2800" i="1">
                              <a:highlight>
                                <a:srgbClr val="FFFF00"/>
                              </a:highlight>
                              <a:latin typeface="Cambria Math" panose="02040503050406030204" charset="0"/>
                              <a:cs typeface="Cambria Math" panose="02040503050406030204" charset="0"/>
                            </a:rPr>
                            <m:t>0</m:t>
                          </m:r>
                        </m:sub>
                      </m:sSub>
                      <m:r>
                        <a:rPr lang="zh-CN" altLang="en-US" sz="2800" i="1">
                          <a:highlight>
                            <a:srgbClr val="FFFF00"/>
                          </a:highlight>
                          <a:latin typeface="Cambria Math" panose="02040503050406030204" charset="0"/>
                          <a:cs typeface="Cambria Math" panose="02040503050406030204" charset="0"/>
                        </a:rPr>
                        <m:t>)+</m:t>
                      </m:r>
                      <m:r>
                        <a:rPr lang="zh-CN" altLang="en-US" sz="2800" i="1">
                          <a:highlight>
                            <a:srgbClr val="FFFF00"/>
                          </a:highlight>
                          <a:latin typeface="Cambria Math" panose="02040503050406030204" charset="0"/>
                          <a:cs typeface="Cambria Math" panose="02040503050406030204" charset="0"/>
                        </a:rPr>
                        <m:t>𝐶</m:t>
                      </m:r>
                      <m:r>
                        <a:rPr lang="zh-CN" altLang="en-US" sz="2800" i="1">
                          <a:highlight>
                            <a:srgbClr val="FFFF00"/>
                          </a:highlight>
                          <a:latin typeface="Cambria Math" panose="02040503050406030204" charset="0"/>
                          <a:cs typeface="Cambria Math" panose="02040503050406030204" charset="0"/>
                        </a:rPr>
                        <m:t>(</m:t>
                      </m:r>
                      <m:r>
                        <a:rPr lang="zh-CN" altLang="en-US" sz="2800" i="1">
                          <a:highlight>
                            <a:srgbClr val="FFFF00"/>
                          </a:highlight>
                          <a:latin typeface="Cambria Math" panose="02040503050406030204" charset="0"/>
                          <a:cs typeface="Cambria Math" panose="02040503050406030204" charset="0"/>
                        </a:rPr>
                        <m:t>𝑧</m:t>
                      </m:r>
                      <m:r>
                        <a:rPr lang="zh-CN" altLang="en-US" sz="2800" i="1">
                          <a:highlight>
                            <a:srgbClr val="FFFF00"/>
                          </a:highlight>
                          <a:latin typeface="Cambria Math" panose="02040503050406030204" charset="0"/>
                          <a:cs typeface="Cambria Math" panose="02040503050406030204" charset="0"/>
                        </a:rPr>
                        <m:t>−</m:t>
                      </m:r>
                      <m:sSub>
                        <m:sSubPr>
                          <m:ctrlPr>
                            <a:rPr lang="zh-CN" altLang="en-US" sz="2800" i="1">
                              <a:highlight>
                                <a:srgbClr val="FFFF00"/>
                              </a:highlight>
                              <a:latin typeface="Cambria Math" panose="02040503050406030204" charset="0"/>
                              <a:cs typeface="Cambria Math" panose="02040503050406030204" charset="0"/>
                            </a:rPr>
                          </m:ctrlPr>
                        </m:sSubPr>
                        <m:e>
                          <m:r>
                            <a:rPr lang="zh-CN" altLang="en-US" sz="2800" i="1">
                              <a:highlight>
                                <a:srgbClr val="FFFF00"/>
                              </a:highlight>
                              <a:latin typeface="Cambria Math" panose="02040503050406030204" charset="0"/>
                              <a:cs typeface="Cambria Math" panose="02040503050406030204" charset="0"/>
                            </a:rPr>
                            <m:t>𝑧</m:t>
                          </m:r>
                        </m:e>
                        <m:sub>
                          <m:r>
                            <a:rPr lang="zh-CN" altLang="en-US" sz="2800" i="1">
                              <a:highlight>
                                <a:srgbClr val="FFFF00"/>
                              </a:highlight>
                              <a:latin typeface="Cambria Math" panose="02040503050406030204" charset="0"/>
                              <a:cs typeface="Cambria Math" panose="02040503050406030204" charset="0"/>
                            </a:rPr>
                            <m:t>0</m:t>
                          </m:r>
                        </m:sub>
                      </m:sSub>
                      <m:r>
                        <a:rPr lang="zh-CN" altLang="en-US" sz="2800" i="1">
                          <a:highlight>
                            <a:srgbClr val="FFFF00"/>
                          </a:highlight>
                          <a:latin typeface="Cambria Math" panose="02040503050406030204" charset="0"/>
                          <a:cs typeface="Cambria Math" panose="02040503050406030204" charset="0"/>
                        </a:rPr>
                        <m:t>)=</m:t>
                      </m:r>
                      <m:r>
                        <a:rPr lang="zh-CN" altLang="en-US" sz="2800" i="1">
                          <a:highlight>
                            <a:srgbClr val="FFFF00"/>
                          </a:highlight>
                          <a:latin typeface="Cambria Math" panose="02040503050406030204" charset="0"/>
                          <a:cs typeface="Cambria Math" panose="02040503050406030204" charset="0"/>
                        </a:rPr>
                        <m:t>0</m:t>
                      </m:r>
                    </m:oMath>
                  </m:oMathPara>
                </a14:m>
                <a:endParaRPr lang="zh-CN" altLang="en-US" sz="2800" i="1" dirty="0">
                  <a:highlight>
                    <a:srgbClr val="FFFF00"/>
                  </a:highlight>
                  <a:latin typeface="Cambria Math" panose="02040503050406030204" charset="0"/>
                  <a:cs typeface="Cambria Math" panose="02040503050406030204" charset="0"/>
                </a:endParaRPr>
              </a:p>
            </p:txBody>
          </p:sp>
        </mc:Choice>
        <mc:Fallback>
          <p:sp>
            <p:nvSpPr>
              <p:cNvPr id="9223" name="Object 7"/>
              <p:cNvSpPr txBox="1">
                <a:spLocks noRot="1" noChangeAspect="1" noMove="1" noResize="1" noEditPoints="1" noAdjustHandles="1" noChangeArrowheads="1" noChangeShapeType="1" noTextEdit="1"/>
              </p:cNvSpPr>
              <p:nvPr/>
            </p:nvSpPr>
            <p:spPr bwMode="auto">
              <a:xfrm>
                <a:off x="1779146" y="2074386"/>
                <a:ext cx="6961187" cy="571501"/>
              </a:xfrm>
              <a:prstGeom prst="rect">
                <a:avLst/>
              </a:prstGeom>
              <a:blipFill rotWithShape="1">
                <a:blip r:embed="rId3"/>
                <a:stretch>
                  <a:fillRect l="-7" t="-83" r="3" b="83"/>
                </a:stretch>
              </a:blipFill>
              <a:ln>
                <a:noFill/>
              </a:ln>
              <a:effectLst/>
            </p:spPr>
            <p:txBody>
              <a:bodyPr/>
              <a:lstStyle/>
              <a:p>
                <a:r>
                  <a:rPr lang="zh-CN" altLang="en-US">
                    <a:noFill/>
                  </a:rPr>
                  <a:t> </a:t>
                </a:r>
              </a:p>
            </p:txBody>
          </p:sp>
        </mc:Fallback>
      </mc:AlternateContent>
      <p:sp>
        <p:nvSpPr>
          <p:cNvPr id="9226" name="Rectangle 10"/>
          <p:cNvSpPr>
            <a:spLocks noChangeArrowheads="1"/>
          </p:cNvSpPr>
          <p:nvPr/>
        </p:nvSpPr>
        <p:spPr bwMode="auto">
          <a:xfrm>
            <a:off x="5578998" y="2852219"/>
            <a:ext cx="3161335"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r>
              <a:rPr lang="zh-CN" altLang="en-US" sz="2800" dirty="0">
                <a:solidFill>
                  <a:srgbClr val="04926A"/>
                </a:solidFill>
                <a:ea typeface="黑体" panose="02010609060101010101" pitchFamily="49" charset="-122"/>
              </a:rPr>
              <a:t>平面的点法式方程</a:t>
            </a:r>
            <a:endParaRPr lang="zh-CN" altLang="en-US" sz="2800" dirty="0">
              <a:solidFill>
                <a:srgbClr val="04926A"/>
              </a:solidFill>
              <a:ea typeface="黑体" panose="02010609060101010101" pitchFamily="49" charset="-122"/>
            </a:endParaRPr>
          </a:p>
        </p:txBody>
      </p:sp>
      <p:sp>
        <p:nvSpPr>
          <p:cNvPr id="9228" name="Text Box 12"/>
          <p:cNvSpPr txBox="1">
            <a:spLocks noChangeArrowheads="1"/>
          </p:cNvSpPr>
          <p:nvPr/>
        </p:nvSpPr>
        <p:spPr bwMode="auto">
          <a:xfrm>
            <a:off x="1779146" y="4206458"/>
            <a:ext cx="8815754" cy="10577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lnSpc>
                <a:spcPct val="120000"/>
              </a:lnSpc>
              <a:spcBef>
                <a:spcPct val="50000"/>
              </a:spcBef>
            </a:pPr>
            <a:r>
              <a:rPr lang="en-US" altLang="zh-CN" sz="2800" b="1" dirty="0">
                <a:latin typeface="黑体" panose="02010609060101010101" pitchFamily="49" charset="-122"/>
                <a:ea typeface="黑体" panose="02010609060101010101" pitchFamily="49" charset="-122"/>
              </a:rPr>
              <a:t>    </a:t>
            </a:r>
            <a:r>
              <a:rPr lang="zh-CN" altLang="en-US" sz="2800" dirty="0">
                <a:latin typeface="黑体" panose="02010609060101010101" pitchFamily="49" charset="-122"/>
                <a:ea typeface="黑体" panose="02010609060101010101" pitchFamily="49" charset="-122"/>
              </a:rPr>
              <a:t>平面上的点都满足方程，不在平面上的点都不满足方程，方程称为平面的方程，平面称为方程的图形．</a:t>
            </a:r>
            <a:endParaRPr lang="zh-CN" altLang="en-US" sz="2800" dirty="0">
              <a:latin typeface="黑体" panose="02010609060101010101" pitchFamily="49" charset="-122"/>
              <a:ea typeface="黑体" panose="02010609060101010101" pitchFamily="49" charset="-122"/>
            </a:endParaRPr>
          </a:p>
        </p:txBody>
      </p:sp>
      <p:sp>
        <p:nvSpPr>
          <p:cNvPr id="9229" name="Text Box 13"/>
          <p:cNvSpPr txBox="1">
            <a:spLocks noChangeArrowheads="1"/>
          </p:cNvSpPr>
          <p:nvPr/>
        </p:nvSpPr>
        <p:spPr bwMode="auto">
          <a:xfrm>
            <a:off x="1779146" y="3573245"/>
            <a:ext cx="1964179"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spcBef>
                <a:spcPct val="50000"/>
              </a:spcBef>
            </a:pPr>
            <a:r>
              <a:rPr lang="zh-CN" altLang="en-US" sz="2800" dirty="0"/>
              <a:t>其中法向量</a:t>
            </a:r>
            <a:endParaRPr lang="zh-CN" altLang="en-US" sz="2800" dirty="0"/>
          </a:p>
        </p:txBody>
      </p:sp>
      <mc:AlternateContent xmlns:mc="http://schemas.openxmlformats.org/markup-compatibility/2006">
        <mc:Choice xmlns:a14="http://schemas.microsoft.com/office/drawing/2010/main" Requires="a14">
          <p:sp>
            <p:nvSpPr>
              <p:cNvPr id="9230" name="Object 14"/>
              <p:cNvSpPr txBox="1"/>
              <p:nvPr/>
            </p:nvSpPr>
            <p:spPr bwMode="auto">
              <a:xfrm>
                <a:off x="3608838" y="3577664"/>
                <a:ext cx="2390642" cy="544864"/>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800" b="1" i="1">
                          <a:latin typeface="Cambria Math" panose="02040503050406030204" charset="0"/>
                          <a:cs typeface="Cambria Math" panose="02040503050406030204" charset="0"/>
                        </a:rPr>
                        <m:t>𝒏</m:t>
                      </m:r>
                      <m:r>
                        <a:rPr lang="zh-CN" altLang="en-US" sz="2800" i="1">
                          <a:latin typeface="Cambria Math" panose="02040503050406030204" charset="0"/>
                          <a:cs typeface="Cambria Math" panose="02040503050406030204" charset="0"/>
                        </a:rPr>
                        <m:t>={</m:t>
                      </m:r>
                      <m:r>
                        <a:rPr lang="zh-CN" altLang="en-US" sz="2800" i="1">
                          <a:latin typeface="Cambria Math" panose="02040503050406030204" charset="0"/>
                          <a:cs typeface="Cambria Math" panose="02040503050406030204" charset="0"/>
                        </a:rPr>
                        <m:t>𝐴</m:t>
                      </m:r>
                      <m:r>
                        <a:rPr lang="zh-CN" altLang="en-US" sz="2800" i="1">
                          <a:latin typeface="Cambria Math" panose="02040503050406030204" charset="0"/>
                          <a:cs typeface="Cambria Math" panose="02040503050406030204" charset="0"/>
                        </a:rPr>
                        <m:t>,</m:t>
                      </m:r>
                      <m:r>
                        <a:rPr lang="zh-CN" altLang="en-US" sz="2800" i="1">
                          <a:latin typeface="Cambria Math" panose="02040503050406030204" charset="0"/>
                          <a:cs typeface="Cambria Math" panose="02040503050406030204" charset="0"/>
                        </a:rPr>
                        <m:t>𝐵</m:t>
                      </m:r>
                      <m:r>
                        <a:rPr lang="zh-CN" altLang="en-US" sz="2800" i="1">
                          <a:latin typeface="Cambria Math" panose="02040503050406030204" charset="0"/>
                          <a:cs typeface="Cambria Math" panose="02040503050406030204" charset="0"/>
                        </a:rPr>
                        <m:t>,</m:t>
                      </m:r>
                      <m:r>
                        <a:rPr lang="zh-CN" altLang="en-US" sz="2800" i="1">
                          <a:latin typeface="Cambria Math" panose="02040503050406030204" charset="0"/>
                          <a:cs typeface="Cambria Math" panose="02040503050406030204" charset="0"/>
                        </a:rPr>
                        <m:t>𝐶</m:t>
                      </m:r>
                      <m:r>
                        <a:rPr lang="zh-CN" altLang="en-US" sz="2800" i="1">
                          <a:latin typeface="Cambria Math" panose="02040503050406030204" charset="0"/>
                          <a:cs typeface="Cambria Math" panose="02040503050406030204" charset="0"/>
                        </a:rPr>
                        <m:t>},</m:t>
                      </m:r>
                    </m:oMath>
                  </m:oMathPara>
                </a14:m>
                <a:endParaRPr lang="zh-CN" altLang="en-US" sz="2800" i="1" dirty="0">
                  <a:latin typeface="Cambria Math" panose="02040503050406030204" charset="0"/>
                  <a:cs typeface="Cambria Math" panose="02040503050406030204" charset="0"/>
                </a:endParaRPr>
              </a:p>
            </p:txBody>
          </p:sp>
        </mc:Choice>
        <mc:Fallback>
          <p:sp>
            <p:nvSpPr>
              <p:cNvPr id="9230" name="Object 14"/>
              <p:cNvSpPr txBox="1">
                <a:spLocks noRot="1" noChangeAspect="1" noMove="1" noResize="1" noEditPoints="1" noAdjustHandles="1" noChangeArrowheads="1" noChangeShapeType="1" noTextEdit="1"/>
              </p:cNvSpPr>
              <p:nvPr/>
            </p:nvSpPr>
            <p:spPr bwMode="auto">
              <a:xfrm>
                <a:off x="3608838" y="3577664"/>
                <a:ext cx="2390642" cy="544864"/>
              </a:xfrm>
              <a:prstGeom prst="rect">
                <a:avLst/>
              </a:prstGeom>
              <a:blipFill rotWithShape="1">
                <a:blip r:embed="rId4"/>
                <a:stretch>
                  <a:fillRect l="-6" t="-14" b="20"/>
                </a:stretch>
              </a:blipFill>
              <a:ln>
                <a:noFill/>
              </a:ln>
              <a:effectLst/>
            </p:spPr>
            <p:txBody>
              <a:bodyPr/>
              <a:lstStyle/>
              <a:p>
                <a:r>
                  <a:rPr lang="zh-CN" altLang="en-US">
                    <a:noFill/>
                  </a:rPr>
                  <a:t> </a:t>
                </a:r>
              </a:p>
            </p:txBody>
          </p:sp>
        </mc:Fallback>
      </mc:AlternateContent>
      <p:sp>
        <p:nvSpPr>
          <p:cNvPr id="9231" name="Text Box 15"/>
          <p:cNvSpPr txBox="1">
            <a:spLocks noChangeArrowheads="1"/>
          </p:cNvSpPr>
          <p:nvPr/>
        </p:nvSpPr>
        <p:spPr bwMode="auto">
          <a:xfrm>
            <a:off x="5727829" y="3572925"/>
            <a:ext cx="1447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lang="zh-CN" altLang="en-US" sz="2800" dirty="0"/>
              <a:t>已知点</a:t>
            </a:r>
            <a:endParaRPr lang="zh-CN" altLang="en-US" sz="2800" dirty="0"/>
          </a:p>
        </p:txBody>
      </p:sp>
      <mc:AlternateContent xmlns:mc="http://schemas.openxmlformats.org/markup-compatibility/2006">
        <mc:Choice xmlns:a14="http://schemas.microsoft.com/office/drawing/2010/main" Requires="a14">
          <p:sp>
            <p:nvSpPr>
              <p:cNvPr id="9232" name="Object 16"/>
              <p:cNvSpPr txBox="1"/>
              <p:nvPr/>
            </p:nvSpPr>
            <p:spPr bwMode="auto">
              <a:xfrm>
                <a:off x="6820033" y="3542435"/>
                <a:ext cx="1971236" cy="580093"/>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800" i="1">
                          <a:latin typeface="Cambria Math" panose="02040503050406030204" charset="0"/>
                          <a:cs typeface="Cambria Math" panose="02040503050406030204" charset="0"/>
                        </a:rPr>
                        <m:t>(</m:t>
                      </m:r>
                      <m:sSub>
                        <m:sSubPr>
                          <m:ctrlPr>
                            <a:rPr lang="zh-CN" altLang="en-US" sz="2800" i="1">
                              <a:latin typeface="Cambria Math" panose="02040503050406030204" charset="0"/>
                              <a:cs typeface="Cambria Math" panose="02040503050406030204" charset="0"/>
                            </a:rPr>
                          </m:ctrlPr>
                        </m:sSubPr>
                        <m:e>
                          <m:r>
                            <a:rPr lang="zh-CN" altLang="en-US" sz="2800" i="1">
                              <a:latin typeface="Cambria Math" panose="02040503050406030204" charset="0"/>
                              <a:cs typeface="Cambria Math" panose="02040503050406030204" charset="0"/>
                            </a:rPr>
                            <m:t>𝑥</m:t>
                          </m:r>
                        </m:e>
                        <m:sub>
                          <m:r>
                            <a:rPr lang="zh-CN" altLang="en-US" sz="2800" i="1">
                              <a:latin typeface="Cambria Math" panose="02040503050406030204" charset="0"/>
                              <a:cs typeface="Cambria Math" panose="02040503050406030204" charset="0"/>
                            </a:rPr>
                            <m:t>0</m:t>
                          </m:r>
                        </m:sub>
                      </m:sSub>
                      <m:r>
                        <a:rPr lang="zh-CN" altLang="en-US" sz="2800" i="1">
                          <a:latin typeface="Cambria Math" panose="02040503050406030204" charset="0"/>
                          <a:cs typeface="Cambria Math" panose="02040503050406030204" charset="0"/>
                        </a:rPr>
                        <m:t>,</m:t>
                      </m:r>
                      <m:sSub>
                        <m:sSubPr>
                          <m:ctrlPr>
                            <a:rPr lang="zh-CN" altLang="en-US" sz="2800" i="1">
                              <a:latin typeface="Cambria Math" panose="02040503050406030204" charset="0"/>
                              <a:cs typeface="Cambria Math" panose="02040503050406030204" charset="0"/>
                            </a:rPr>
                          </m:ctrlPr>
                        </m:sSubPr>
                        <m:e>
                          <m:r>
                            <a:rPr lang="zh-CN" altLang="en-US" sz="2800" i="1">
                              <a:latin typeface="Cambria Math" panose="02040503050406030204" charset="0"/>
                              <a:cs typeface="Cambria Math" panose="02040503050406030204" charset="0"/>
                            </a:rPr>
                            <m:t>𝑦</m:t>
                          </m:r>
                        </m:e>
                        <m:sub>
                          <m:r>
                            <a:rPr lang="zh-CN" altLang="en-US" sz="2800" i="1">
                              <a:latin typeface="Cambria Math" panose="02040503050406030204" charset="0"/>
                              <a:cs typeface="Cambria Math" panose="02040503050406030204" charset="0"/>
                            </a:rPr>
                            <m:t>0</m:t>
                          </m:r>
                        </m:sub>
                      </m:sSub>
                      <m:r>
                        <a:rPr lang="zh-CN" altLang="en-US" sz="2800" i="1">
                          <a:latin typeface="Cambria Math" panose="02040503050406030204" charset="0"/>
                          <a:cs typeface="Cambria Math" panose="02040503050406030204" charset="0"/>
                        </a:rPr>
                        <m:t>,</m:t>
                      </m:r>
                      <m:sSub>
                        <m:sSubPr>
                          <m:ctrlPr>
                            <a:rPr lang="zh-CN" altLang="en-US" sz="2800" i="1">
                              <a:latin typeface="Cambria Math" panose="02040503050406030204" charset="0"/>
                              <a:cs typeface="Cambria Math" panose="02040503050406030204" charset="0"/>
                            </a:rPr>
                          </m:ctrlPr>
                        </m:sSubPr>
                        <m:e>
                          <m:r>
                            <a:rPr lang="zh-CN" altLang="en-US" sz="2800" i="1">
                              <a:latin typeface="Cambria Math" panose="02040503050406030204" charset="0"/>
                              <a:cs typeface="Cambria Math" panose="02040503050406030204" charset="0"/>
                            </a:rPr>
                            <m:t>𝑧</m:t>
                          </m:r>
                        </m:e>
                        <m:sub>
                          <m:r>
                            <a:rPr lang="zh-CN" altLang="en-US" sz="2800" i="1">
                              <a:latin typeface="Cambria Math" panose="02040503050406030204" charset="0"/>
                              <a:cs typeface="Cambria Math" panose="02040503050406030204" charset="0"/>
                            </a:rPr>
                            <m:t>0</m:t>
                          </m:r>
                        </m:sub>
                      </m:sSub>
                      <m:r>
                        <a:rPr lang="zh-CN" altLang="en-US" sz="2800" i="1">
                          <a:latin typeface="Cambria Math" panose="02040503050406030204" charset="0"/>
                          <a:cs typeface="Cambria Math" panose="02040503050406030204" charset="0"/>
                        </a:rPr>
                        <m:t>).</m:t>
                      </m:r>
                    </m:oMath>
                  </m:oMathPara>
                </a14:m>
                <a:endParaRPr lang="zh-CN" altLang="en-US" sz="2800" i="1" dirty="0">
                  <a:latin typeface="Cambria Math" panose="02040503050406030204" charset="0"/>
                  <a:cs typeface="Cambria Math" panose="02040503050406030204" charset="0"/>
                </a:endParaRPr>
              </a:p>
            </p:txBody>
          </p:sp>
        </mc:Choice>
        <mc:Fallback>
          <p:sp>
            <p:nvSpPr>
              <p:cNvPr id="9232" name="Object 16"/>
              <p:cNvSpPr txBox="1">
                <a:spLocks noRot="1" noChangeAspect="1" noMove="1" noResize="1" noEditPoints="1" noAdjustHandles="1" noChangeArrowheads="1" noChangeShapeType="1" noTextEdit="1"/>
              </p:cNvSpPr>
              <p:nvPr/>
            </p:nvSpPr>
            <p:spPr bwMode="auto">
              <a:xfrm>
                <a:off x="6820033" y="3542435"/>
                <a:ext cx="1971236" cy="580093"/>
              </a:xfrm>
              <a:prstGeom prst="rect">
                <a:avLst/>
              </a:prstGeom>
              <a:blipFill rotWithShape="1">
                <a:blip r:embed="rId5"/>
                <a:stretch>
                  <a:fillRect l="-7" t="-70" r="17" b="19"/>
                </a:stretch>
              </a:blipFill>
              <a:ln>
                <a:noFill/>
              </a:ln>
              <a:effectLst/>
            </p:spPr>
            <p:txBody>
              <a:bodyPr/>
              <a:lstStyle/>
              <a:p>
                <a:r>
                  <a:rPr lang="zh-CN" altLang="en-US">
                    <a:noFill/>
                  </a:rPr>
                  <a:t> </a:t>
                </a:r>
              </a:p>
            </p:txBody>
          </p:sp>
        </mc:Fallback>
      </mc:AlternateContent>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19"/>
                                        </p:tgtEl>
                                        <p:attrNameLst>
                                          <p:attrName>style.visibility</p:attrName>
                                        </p:attrNameLst>
                                      </p:cBhvr>
                                      <p:to>
                                        <p:strVal val="visible"/>
                                      </p:to>
                                    </p:set>
                                    <p:animEffect transition="in" filter="wipe(left)">
                                      <p:cBhvr>
                                        <p:cTn id="7" dur="500"/>
                                        <p:tgtEl>
                                          <p:spTgt spid="92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23"/>
                                        </p:tgtEl>
                                        <p:attrNameLst>
                                          <p:attrName>style.visibility</p:attrName>
                                        </p:attrNameLst>
                                      </p:cBhvr>
                                      <p:to>
                                        <p:strVal val="visible"/>
                                      </p:to>
                                    </p:set>
                                    <p:animEffect transition="in" filter="wipe(left)">
                                      <p:cBhvr>
                                        <p:cTn id="12" dur="500"/>
                                        <p:tgtEl>
                                          <p:spTgt spid="9223"/>
                                        </p:tgtEl>
                                      </p:cBhvr>
                                    </p:animEffect>
                                  </p:childTnLst>
                                </p:cTn>
                              </p:par>
                            </p:childTnLst>
                          </p:cTn>
                        </p:par>
                        <p:par>
                          <p:cTn id="13" fill="hold">
                            <p:stCondLst>
                              <p:cond delay="500"/>
                            </p:stCondLst>
                            <p:childTnLst>
                              <p:par>
                                <p:cTn id="14" presetID="22" presetClass="entr" presetSubtype="8" fill="hold" grpId="0" nodeType="afterEffect">
                                  <p:stCondLst>
                                    <p:cond delay="0"/>
                                  </p:stCondLst>
                                  <p:iterate type="lt">
                                    <p:tmPct val="100000"/>
                                  </p:iterate>
                                  <p:childTnLst>
                                    <p:set>
                                      <p:cBhvr>
                                        <p:cTn id="15" dur="1" fill="hold">
                                          <p:stCondLst>
                                            <p:cond delay="0"/>
                                          </p:stCondLst>
                                        </p:cTn>
                                        <p:tgtEl>
                                          <p:spTgt spid="9226"/>
                                        </p:tgtEl>
                                        <p:attrNameLst>
                                          <p:attrName>style.visibility</p:attrName>
                                        </p:attrNameLst>
                                      </p:cBhvr>
                                      <p:to>
                                        <p:strVal val="visible"/>
                                      </p:to>
                                    </p:set>
                                    <p:animEffect transition="in" filter="wipe(left)">
                                      <p:cBhvr>
                                        <p:cTn id="16" dur="75"/>
                                        <p:tgtEl>
                                          <p:spTgt spid="922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iterate type="lt">
                                    <p:tmPct val="100000"/>
                                  </p:iterate>
                                  <p:childTnLst>
                                    <p:set>
                                      <p:cBhvr>
                                        <p:cTn id="20" dur="1" fill="hold">
                                          <p:stCondLst>
                                            <p:cond delay="0"/>
                                          </p:stCondLst>
                                        </p:cTn>
                                        <p:tgtEl>
                                          <p:spTgt spid="9229"/>
                                        </p:tgtEl>
                                        <p:attrNameLst>
                                          <p:attrName>style.visibility</p:attrName>
                                        </p:attrNameLst>
                                      </p:cBhvr>
                                      <p:to>
                                        <p:strVal val="visible"/>
                                      </p:to>
                                    </p:set>
                                    <p:animEffect transition="in" filter="wipe(left)">
                                      <p:cBhvr>
                                        <p:cTn id="21" dur="75"/>
                                        <p:tgtEl>
                                          <p:spTgt spid="9229"/>
                                        </p:tgtEl>
                                      </p:cBhvr>
                                    </p:animEffect>
                                  </p:childTnLst>
                                </p:cTn>
                              </p:par>
                            </p:childTnLst>
                          </p:cTn>
                        </p:par>
                        <p:par>
                          <p:cTn id="22" fill="hold">
                            <p:stCondLst>
                              <p:cond delay="375"/>
                            </p:stCondLst>
                            <p:childTnLst>
                              <p:par>
                                <p:cTn id="23" presetID="22" presetClass="entr" presetSubtype="8" fill="hold" grpId="0" nodeType="afterEffect">
                                  <p:stCondLst>
                                    <p:cond delay="0"/>
                                  </p:stCondLst>
                                  <p:childTnLst>
                                    <p:set>
                                      <p:cBhvr>
                                        <p:cTn id="24" dur="1" fill="hold">
                                          <p:stCondLst>
                                            <p:cond delay="0"/>
                                          </p:stCondLst>
                                        </p:cTn>
                                        <p:tgtEl>
                                          <p:spTgt spid="9230"/>
                                        </p:tgtEl>
                                        <p:attrNameLst>
                                          <p:attrName>style.visibility</p:attrName>
                                        </p:attrNameLst>
                                      </p:cBhvr>
                                      <p:to>
                                        <p:strVal val="visible"/>
                                      </p:to>
                                    </p:set>
                                    <p:animEffect transition="in" filter="wipe(left)">
                                      <p:cBhvr>
                                        <p:cTn id="25" dur="500"/>
                                        <p:tgtEl>
                                          <p:spTgt spid="9230"/>
                                        </p:tgtEl>
                                      </p:cBhvr>
                                    </p:animEffect>
                                  </p:childTnLst>
                                </p:cTn>
                              </p:par>
                            </p:childTnLst>
                          </p:cTn>
                        </p:par>
                        <p:par>
                          <p:cTn id="26" fill="hold">
                            <p:stCondLst>
                              <p:cond delay="875"/>
                            </p:stCondLst>
                            <p:childTnLst>
                              <p:par>
                                <p:cTn id="27" presetID="22" presetClass="entr" presetSubtype="8" fill="hold" grpId="0" nodeType="afterEffect">
                                  <p:stCondLst>
                                    <p:cond delay="0"/>
                                  </p:stCondLst>
                                  <p:iterate type="lt">
                                    <p:tmPct val="100000"/>
                                  </p:iterate>
                                  <p:childTnLst>
                                    <p:set>
                                      <p:cBhvr>
                                        <p:cTn id="28" dur="1" fill="hold">
                                          <p:stCondLst>
                                            <p:cond delay="0"/>
                                          </p:stCondLst>
                                        </p:cTn>
                                        <p:tgtEl>
                                          <p:spTgt spid="9231"/>
                                        </p:tgtEl>
                                        <p:attrNameLst>
                                          <p:attrName>style.visibility</p:attrName>
                                        </p:attrNameLst>
                                      </p:cBhvr>
                                      <p:to>
                                        <p:strVal val="visible"/>
                                      </p:to>
                                    </p:set>
                                    <p:animEffect transition="in" filter="wipe(left)">
                                      <p:cBhvr>
                                        <p:cTn id="29" dur="75"/>
                                        <p:tgtEl>
                                          <p:spTgt spid="9231"/>
                                        </p:tgtEl>
                                      </p:cBhvr>
                                    </p:animEffect>
                                  </p:childTnLst>
                                </p:cTn>
                              </p:par>
                            </p:childTnLst>
                          </p:cTn>
                        </p:par>
                        <p:par>
                          <p:cTn id="30" fill="hold">
                            <p:stCondLst>
                              <p:cond delay="1100"/>
                            </p:stCondLst>
                            <p:childTnLst>
                              <p:par>
                                <p:cTn id="31" presetID="22" presetClass="entr" presetSubtype="8" fill="hold" grpId="0" nodeType="afterEffect">
                                  <p:stCondLst>
                                    <p:cond delay="0"/>
                                  </p:stCondLst>
                                  <p:childTnLst>
                                    <p:set>
                                      <p:cBhvr>
                                        <p:cTn id="32" dur="1" fill="hold">
                                          <p:stCondLst>
                                            <p:cond delay="0"/>
                                          </p:stCondLst>
                                        </p:cTn>
                                        <p:tgtEl>
                                          <p:spTgt spid="9232"/>
                                        </p:tgtEl>
                                        <p:attrNameLst>
                                          <p:attrName>style.visibility</p:attrName>
                                        </p:attrNameLst>
                                      </p:cBhvr>
                                      <p:to>
                                        <p:strVal val="visible"/>
                                      </p:to>
                                    </p:set>
                                    <p:animEffect transition="in" filter="wipe(left)">
                                      <p:cBhvr>
                                        <p:cTn id="33" dur="500"/>
                                        <p:tgtEl>
                                          <p:spTgt spid="923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9228"/>
                                        </p:tgtEl>
                                        <p:attrNameLst>
                                          <p:attrName>style.visibility</p:attrName>
                                        </p:attrNameLst>
                                      </p:cBhvr>
                                      <p:to>
                                        <p:strVal val="visible"/>
                                      </p:to>
                                    </p:set>
                                    <p:animEffect transition="in" filter="wipe(left)">
                                      <p:cBhvr>
                                        <p:cTn id="38" dur="500"/>
                                        <p:tgtEl>
                                          <p:spTgt spid="9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ldLvl="0" animBg="1"/>
      <p:bldP spid="9223" grpId="0" bldLvl="0" animBg="1"/>
      <p:bldP spid="9226" grpId="0" autoUpdateAnimBg="0"/>
      <p:bldP spid="9228" grpId="0" autoUpdateAnimBg="0"/>
      <p:bldP spid="9229" grpId="0" autoUpdateAnimBg="0"/>
      <p:bldP spid="9230" grpId="0" bldLvl="0" animBg="1"/>
      <p:bldP spid="9231" grpId="0" autoUpdateAnimBg="0"/>
      <p:bldP spid="9232" grpId="0" bldLvl="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147482611" name="对象 -2147482612"/>
          <p:cNvGraphicFramePr>
            <a:graphicFrameLocks noChangeAspect="1"/>
          </p:cNvGraphicFramePr>
          <p:nvPr/>
        </p:nvGraphicFramePr>
        <p:xfrm>
          <a:off x="195580" y="836930"/>
          <a:ext cx="11184890" cy="795655"/>
        </p:xfrm>
        <a:graphic>
          <a:graphicData uri="http://schemas.openxmlformats.org/presentationml/2006/ole">
            <mc:AlternateContent xmlns:mc="http://schemas.openxmlformats.org/markup-compatibility/2006">
              <mc:Choice xmlns:v="urn:schemas-microsoft-com:vml" Requires="v">
                <p:oleObj spid="_x0000_s3076" name="" r:id="rId1" imgW="3035300" imgH="215900" progId="Equation.KSEE3">
                  <p:embed/>
                </p:oleObj>
              </mc:Choice>
              <mc:Fallback>
                <p:oleObj name="" r:id="rId1" imgW="3035300" imgH="215900" progId="Equation.KSEE3">
                  <p:embed/>
                  <p:pic>
                    <p:nvPicPr>
                      <p:cNvPr id="0" name="图片 3075"/>
                      <p:cNvPicPr/>
                      <p:nvPr/>
                    </p:nvPicPr>
                    <p:blipFill>
                      <a:blip r:embed="rId2"/>
                      <a:stretch>
                        <a:fillRect/>
                      </a:stretch>
                    </p:blipFill>
                    <p:spPr>
                      <a:xfrm>
                        <a:off x="195580" y="836930"/>
                        <a:ext cx="11184890" cy="795655"/>
                      </a:xfrm>
                      <a:prstGeom prst="rect">
                        <a:avLst/>
                      </a:prstGeom>
                      <a:solidFill>
                        <a:schemeClr val="bg2"/>
                      </a:solidFill>
                      <a:ln w="38100">
                        <a:noFill/>
                        <a:miter/>
                      </a:ln>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highlight>
                  <a:srgbClr val="FFFF00"/>
                </a:highlight>
              </a:rPr>
              <a:t>空间直线及其方程</a:t>
            </a:r>
            <a:br>
              <a:rPr lang="zh-CN" altLang="en-US"/>
            </a:br>
            <a:endParaRPr lang="zh-C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2184959" y="2238743"/>
            <a:ext cx="4645680" cy="1538488"/>
          </a:xfrm>
          <a:prstGeom prst="rect">
            <a:avLst/>
          </a:prstGeom>
          <a:solidFill>
            <a:srgbClr val="04926A">
              <a:alpha val="2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9230" name="Text Box 14"/>
          <p:cNvSpPr txBox="1">
            <a:spLocks noChangeArrowheads="1"/>
          </p:cNvSpPr>
          <p:nvPr/>
        </p:nvSpPr>
        <p:spPr bwMode="auto">
          <a:xfrm>
            <a:off x="2101038" y="1485825"/>
            <a:ext cx="3032937"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0" fontAlgn="base" hangingPunct="0">
              <a:spcBef>
                <a:spcPct val="0"/>
              </a:spcBef>
              <a:spcAft>
                <a:spcPct val="0"/>
              </a:spcAft>
              <a:defRPr/>
            </a:pPr>
            <a:r>
              <a:rPr kumimoji="1" lang="zh-CN" altLang="en-US" sz="2800" b="1" dirty="0">
                <a:solidFill>
                  <a:srgbClr val="04926A"/>
                </a:solidFill>
                <a:latin typeface="微软雅黑" panose="020B0503020204020204" charset="-122"/>
                <a:ea typeface="微软雅黑" panose="020B0503020204020204" charset="-122"/>
              </a:rPr>
              <a:t>方向向量的定义：</a:t>
            </a:r>
            <a:endParaRPr kumimoji="1" lang="zh-CN" altLang="en-US" sz="2800" b="1" dirty="0">
              <a:solidFill>
                <a:srgbClr val="04926A"/>
              </a:solidFill>
              <a:latin typeface="微软雅黑" panose="020B0503020204020204" charset="-122"/>
              <a:ea typeface="微软雅黑" panose="020B0503020204020204" charset="-122"/>
            </a:endParaRPr>
          </a:p>
        </p:txBody>
      </p:sp>
      <p:sp>
        <p:nvSpPr>
          <p:cNvPr id="9231" name="Text Box 15"/>
          <p:cNvSpPr txBox="1">
            <a:spLocks noChangeArrowheads="1"/>
          </p:cNvSpPr>
          <p:nvPr/>
        </p:nvSpPr>
        <p:spPr bwMode="auto">
          <a:xfrm>
            <a:off x="2251634" y="2290624"/>
            <a:ext cx="4495800" cy="13731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lang="zh-CN" altLang="en-US" sz="2800" dirty="0">
                <a:latin typeface="黑体" panose="02010609060101010101" pitchFamily="49" charset="-122"/>
                <a:ea typeface="黑体" panose="02010609060101010101" pitchFamily="49" charset="-122"/>
              </a:rPr>
              <a:t>如果一非零向量平行于一条已知直线，那么这个向量称为这条直线的</a:t>
            </a:r>
            <a:r>
              <a:rPr lang="zh-CN" altLang="en-US" sz="2800" dirty="0">
                <a:solidFill>
                  <a:srgbClr val="04926A"/>
                </a:solidFill>
                <a:latin typeface="黑体" panose="02010609060101010101" pitchFamily="49" charset="-122"/>
                <a:ea typeface="黑体" panose="02010609060101010101" pitchFamily="49" charset="-122"/>
              </a:rPr>
              <a:t>方向向量</a:t>
            </a:r>
            <a:r>
              <a:rPr lang="zh-CN" altLang="en-US" sz="2800" b="1" dirty="0">
                <a:latin typeface="黑体" panose="02010609060101010101" pitchFamily="49" charset="-122"/>
                <a:ea typeface="黑体" panose="02010609060101010101" pitchFamily="49" charset="-122"/>
              </a:rPr>
              <a:t>．</a:t>
            </a:r>
            <a:endParaRPr lang="zh-CN" altLang="en-US" sz="2800" b="1" dirty="0">
              <a:latin typeface="黑体" panose="02010609060101010101" pitchFamily="49" charset="-122"/>
              <a:ea typeface="黑体" panose="02010609060101010101" pitchFamily="49" charset="-122"/>
            </a:endParaRPr>
          </a:p>
        </p:txBody>
      </p:sp>
      <mc:AlternateContent xmlns:mc="http://schemas.openxmlformats.org/markup-compatibility/2006">
        <mc:Choice xmlns:a14="http://schemas.microsoft.com/office/drawing/2010/main" Requires="a14">
          <p:sp>
            <p:nvSpPr>
              <p:cNvPr id="9238" name="Object 22"/>
              <p:cNvSpPr txBox="1"/>
              <p:nvPr/>
            </p:nvSpPr>
            <p:spPr bwMode="auto">
              <a:xfrm>
                <a:off x="2155053" y="3883073"/>
                <a:ext cx="2338851" cy="516188"/>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𝑀</m:t>
                          </m:r>
                        </m:e>
                        <m:sub>
                          <m:r>
                            <a:rPr lang="zh-CN" altLang="en-US" sz="2800" i="1">
                              <a:solidFill>
                                <a:srgbClr val="000000"/>
                              </a:solidFill>
                              <a:latin typeface="Cambria Math" panose="02040503050406030204" charset="0"/>
                            </a:rPr>
                            <m:t>0</m:t>
                          </m:r>
                        </m:sub>
                      </m:sSub>
                      <m:r>
                        <a:rPr lang="zh-CN" altLang="en-US" sz="2800" i="1">
                          <a:solidFill>
                            <a:srgbClr val="000000"/>
                          </a:solidFill>
                          <a:latin typeface="Cambria Math" panose="02040503050406030204" charset="0"/>
                        </a:rPr>
                        <m:t>(</m:t>
                      </m:r>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𝑥</m:t>
                          </m:r>
                        </m:e>
                        <m:sub>
                          <m:r>
                            <a:rPr lang="zh-CN" altLang="en-US" sz="2800" i="1">
                              <a:solidFill>
                                <a:srgbClr val="000000"/>
                              </a:solidFill>
                              <a:latin typeface="Cambria Math" panose="02040503050406030204" charset="0"/>
                            </a:rPr>
                            <m:t>0</m:t>
                          </m:r>
                        </m:sub>
                      </m:sSub>
                      <m:r>
                        <a:rPr lang="zh-CN" altLang="en-US" sz="2800" i="1">
                          <a:solidFill>
                            <a:srgbClr val="000000"/>
                          </a:solidFill>
                          <a:latin typeface="Cambria Math" panose="02040503050406030204" charset="0"/>
                        </a:rPr>
                        <m:t>,</m:t>
                      </m:r>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𝑦</m:t>
                          </m:r>
                        </m:e>
                        <m:sub>
                          <m:r>
                            <a:rPr lang="zh-CN" altLang="en-US" sz="2800" i="1">
                              <a:solidFill>
                                <a:srgbClr val="000000"/>
                              </a:solidFill>
                              <a:latin typeface="Cambria Math" panose="02040503050406030204" charset="0"/>
                            </a:rPr>
                            <m:t>0</m:t>
                          </m:r>
                        </m:sub>
                      </m:sSub>
                      <m:r>
                        <a:rPr lang="zh-CN" altLang="en-US" sz="2800" i="1">
                          <a:solidFill>
                            <a:srgbClr val="000000"/>
                          </a:solidFill>
                          <a:latin typeface="Cambria Math" panose="02040503050406030204" charset="0"/>
                        </a:rPr>
                        <m:t>,</m:t>
                      </m:r>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𝑧</m:t>
                          </m:r>
                        </m:e>
                        <m:sub>
                          <m:r>
                            <a:rPr lang="zh-CN" altLang="en-US" sz="2800" i="1">
                              <a:solidFill>
                                <a:srgbClr val="000000"/>
                              </a:solidFill>
                              <a:latin typeface="Cambria Math" panose="02040503050406030204" charset="0"/>
                            </a:rPr>
                            <m:t>0</m:t>
                          </m:r>
                        </m:sub>
                      </m:sSub>
                      <m:r>
                        <a:rPr lang="zh-CN" altLang="en-US" sz="2800" i="1">
                          <a:solidFill>
                            <a:srgbClr val="000000"/>
                          </a:solidFill>
                          <a:latin typeface="Cambria Math" panose="02040503050406030204" charset="0"/>
                        </a:rPr>
                        <m:t>),</m:t>
                      </m:r>
                    </m:oMath>
                  </m:oMathPara>
                </a14:m>
                <a:endParaRPr lang="zh-CN" altLang="en-US" sz="2800" dirty="0"/>
              </a:p>
            </p:txBody>
          </p:sp>
        </mc:Choice>
        <mc:Fallback>
          <p:sp>
            <p:nvSpPr>
              <p:cNvPr id="9238" name="Object 22"/>
              <p:cNvSpPr txBox="1">
                <a:spLocks noRot="1" noChangeAspect="1" noMove="1" noResize="1" noEditPoints="1" noAdjustHandles="1" noChangeArrowheads="1" noChangeShapeType="1" noTextEdit="1"/>
              </p:cNvSpPr>
              <p:nvPr/>
            </p:nvSpPr>
            <p:spPr bwMode="auto">
              <a:xfrm>
                <a:off x="2155053" y="3883073"/>
                <a:ext cx="2338851" cy="516188"/>
              </a:xfrm>
              <a:prstGeom prst="rect">
                <a:avLst/>
              </a:prstGeom>
              <a:blipFill rotWithShape="1">
                <a:blip r:embed="rId1"/>
                <a:stretch>
                  <a:fillRect l="-21" t="-9" b="119"/>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241" name="Object 25"/>
              <p:cNvSpPr txBox="1"/>
              <p:nvPr/>
            </p:nvSpPr>
            <p:spPr bwMode="auto">
              <a:xfrm>
                <a:off x="2168227" y="4593269"/>
                <a:ext cx="1461478" cy="516188"/>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800" i="0">
                          <a:solidFill>
                            <a:srgbClr val="000000"/>
                          </a:solidFill>
                          <a:latin typeface="Cambria Math" panose="02040503050406030204" charset="0"/>
                        </a:rPr>
                        <m:t>∀</m:t>
                      </m:r>
                      <m:r>
                        <a:rPr lang="zh-CN" altLang="en-US" sz="2800" i="1">
                          <a:solidFill>
                            <a:srgbClr val="000000"/>
                          </a:solidFill>
                          <a:latin typeface="Cambria Math" panose="02040503050406030204" charset="0"/>
                        </a:rPr>
                        <m:t>𝑀</m:t>
                      </m:r>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𝐿</m:t>
                      </m:r>
                      <m:r>
                        <a:rPr lang="zh-CN" altLang="en-US" sz="2800" i="1">
                          <a:solidFill>
                            <a:srgbClr val="000000"/>
                          </a:solidFill>
                          <a:latin typeface="Cambria Math" panose="02040503050406030204" charset="0"/>
                        </a:rPr>
                        <m:t>,</m:t>
                      </m:r>
                    </m:oMath>
                  </m:oMathPara>
                </a14:m>
                <a:endParaRPr lang="zh-CN" altLang="en-US" sz="2800" dirty="0"/>
              </a:p>
            </p:txBody>
          </p:sp>
        </mc:Choice>
        <mc:Fallback>
          <p:sp>
            <p:nvSpPr>
              <p:cNvPr id="9241" name="Object 25"/>
              <p:cNvSpPr txBox="1">
                <a:spLocks noRot="1" noChangeAspect="1" noMove="1" noResize="1" noEditPoints="1" noAdjustHandles="1" noChangeArrowheads="1" noChangeShapeType="1" noTextEdit="1"/>
              </p:cNvSpPr>
              <p:nvPr/>
            </p:nvSpPr>
            <p:spPr bwMode="auto">
              <a:xfrm>
                <a:off x="2168227" y="4593269"/>
                <a:ext cx="1461478" cy="516188"/>
              </a:xfrm>
              <a:prstGeom prst="rect">
                <a:avLst/>
              </a:prstGeom>
              <a:blipFill rotWithShape="1">
                <a:blip r:embed="rId2"/>
                <a:stretch>
                  <a:fillRect l="-23" t="-61" r="3" b="48"/>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242" name="Object 26"/>
              <p:cNvSpPr txBox="1"/>
              <p:nvPr/>
            </p:nvSpPr>
            <p:spPr bwMode="auto">
              <a:xfrm>
                <a:off x="4381420" y="3895203"/>
                <a:ext cx="1612900" cy="507999"/>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charset="0"/>
                        </a:rPr>
                        <m:t>𝑀</m:t>
                      </m:r>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𝑥</m:t>
                      </m:r>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𝑦</m:t>
                      </m:r>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𝑧</m:t>
                      </m:r>
                      <m:r>
                        <a:rPr lang="zh-CN" altLang="en-US" sz="2800" i="1">
                          <a:solidFill>
                            <a:srgbClr val="000000"/>
                          </a:solidFill>
                          <a:latin typeface="Cambria Math" panose="02040503050406030204" charset="0"/>
                        </a:rPr>
                        <m:t>),</m:t>
                      </m:r>
                    </m:oMath>
                  </m:oMathPara>
                </a14:m>
                <a:endParaRPr lang="zh-CN" altLang="en-US" sz="2800" dirty="0"/>
              </a:p>
            </p:txBody>
          </p:sp>
        </mc:Choice>
        <mc:Fallback>
          <p:sp>
            <p:nvSpPr>
              <p:cNvPr id="9242" name="Object 26"/>
              <p:cNvSpPr txBox="1">
                <a:spLocks noRot="1" noChangeAspect="1" noMove="1" noResize="1" noEditPoints="1" noAdjustHandles="1" noChangeArrowheads="1" noChangeShapeType="1" noTextEdit="1"/>
              </p:cNvSpPr>
              <p:nvPr/>
            </p:nvSpPr>
            <p:spPr bwMode="auto">
              <a:xfrm>
                <a:off x="4381420" y="3895203"/>
                <a:ext cx="1612900" cy="507999"/>
              </a:xfrm>
              <a:prstGeom prst="rect">
                <a:avLst/>
              </a:prstGeom>
              <a:blipFill rotWithShape="1">
                <a:blip r:embed="rId3"/>
                <a:stretch>
                  <a:fillRect l="-34" t="-22" r="34" b="22"/>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247" name="Object 31"/>
              <p:cNvSpPr txBox="1"/>
              <p:nvPr/>
            </p:nvSpPr>
            <p:spPr bwMode="auto">
              <a:xfrm>
                <a:off x="2155054" y="5283854"/>
                <a:ext cx="2400764" cy="516187"/>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800" b="1" i="1">
                          <a:solidFill>
                            <a:srgbClr val="000000"/>
                          </a:solidFill>
                          <a:latin typeface="Cambria Math" panose="02040503050406030204" charset="0"/>
                        </a:rPr>
                        <m:t>𝒔</m:t>
                      </m:r>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𝑚</m:t>
                      </m:r>
                      <m:r>
                        <a:rPr lang="zh-CN" altLang="en-US" sz="2800" i="1">
                          <a:solidFill>
                            <a:srgbClr val="000000"/>
                          </a:solidFill>
                          <a:latin typeface="Cambria Math" panose="02040503050406030204" charset="0"/>
                        </a:rPr>
                        <m:t>, </m:t>
                      </m:r>
                      <m:r>
                        <a:rPr lang="zh-CN" altLang="en-US" sz="2800" i="1">
                          <a:solidFill>
                            <a:srgbClr val="000000"/>
                          </a:solidFill>
                          <a:latin typeface="Cambria Math" panose="02040503050406030204" charset="0"/>
                        </a:rPr>
                        <m:t>𝑛</m:t>
                      </m:r>
                      <m:r>
                        <a:rPr lang="zh-CN" altLang="en-US" sz="2800" i="1">
                          <a:solidFill>
                            <a:srgbClr val="000000"/>
                          </a:solidFill>
                          <a:latin typeface="Cambria Math" panose="02040503050406030204" charset="0"/>
                        </a:rPr>
                        <m:t>, </m:t>
                      </m:r>
                      <m:r>
                        <a:rPr lang="zh-CN" altLang="en-US" sz="2800" i="1">
                          <a:solidFill>
                            <a:srgbClr val="000000"/>
                          </a:solidFill>
                          <a:latin typeface="Cambria Math" panose="02040503050406030204" charset="0"/>
                        </a:rPr>
                        <m:t>𝑝</m:t>
                      </m:r>
                      <m:r>
                        <a:rPr lang="zh-CN" altLang="en-US" sz="2800" i="1">
                          <a:solidFill>
                            <a:srgbClr val="000000"/>
                          </a:solidFill>
                          <a:latin typeface="Cambria Math" panose="02040503050406030204" charset="0"/>
                        </a:rPr>
                        <m:t>},</m:t>
                      </m:r>
                    </m:oMath>
                  </m:oMathPara>
                </a14:m>
                <a:endParaRPr lang="zh-CN" altLang="en-US" sz="2800" dirty="0"/>
              </a:p>
            </p:txBody>
          </p:sp>
        </mc:Choice>
        <mc:Fallback>
          <p:sp>
            <p:nvSpPr>
              <p:cNvPr id="9247" name="Object 31"/>
              <p:cNvSpPr txBox="1">
                <a:spLocks noRot="1" noChangeAspect="1" noMove="1" noResize="1" noEditPoints="1" noAdjustHandles="1" noChangeArrowheads="1" noChangeShapeType="1" noTextEdit="1"/>
              </p:cNvSpPr>
              <p:nvPr/>
            </p:nvSpPr>
            <p:spPr bwMode="auto">
              <a:xfrm>
                <a:off x="2155054" y="5283854"/>
                <a:ext cx="2400764" cy="516187"/>
              </a:xfrm>
              <a:prstGeom prst="rect">
                <a:avLst/>
              </a:prstGeom>
              <a:blipFill rotWithShape="1">
                <a:blip r:embed="rId4"/>
                <a:stretch>
                  <a:fillRect l="-21" t="-4" r="14" b="114"/>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253" name="Object 37"/>
              <p:cNvSpPr txBox="1"/>
              <p:nvPr/>
            </p:nvSpPr>
            <p:spPr bwMode="auto">
              <a:xfrm>
                <a:off x="4493904" y="5253187"/>
                <a:ext cx="4889792" cy="623358"/>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acc>
                        <m:accPr>
                          <m:chr m:val="⃗"/>
                          <m:ctrlPr>
                            <a:rPr lang="zh-CN" altLang="en-US" sz="2800" i="1">
                              <a:solidFill>
                                <a:srgbClr val="000000"/>
                              </a:solidFill>
                              <a:latin typeface="Cambria Math" panose="02040503050406030204" charset="0"/>
                            </a:rPr>
                          </m:ctrlPr>
                        </m:accPr>
                        <m:e>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𝑀</m:t>
                              </m:r>
                            </m:e>
                            <m:sub>
                              <m:r>
                                <a:rPr lang="zh-CN" altLang="en-US" sz="2800" i="1">
                                  <a:solidFill>
                                    <a:srgbClr val="000000"/>
                                  </a:solidFill>
                                  <a:latin typeface="Cambria Math" panose="02040503050406030204" charset="0"/>
                                </a:rPr>
                                <m:t>0</m:t>
                              </m:r>
                            </m:sub>
                          </m:sSub>
                          <m:r>
                            <a:rPr lang="zh-CN" altLang="en-US" sz="2800" i="1">
                              <a:solidFill>
                                <a:srgbClr val="000000"/>
                              </a:solidFill>
                              <a:latin typeface="Cambria Math" panose="02040503050406030204" charset="0"/>
                            </a:rPr>
                            <m:t>𝑀</m:t>
                          </m:r>
                        </m:e>
                      </m:acc>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𝑥</m:t>
                      </m:r>
                      <m:r>
                        <a:rPr lang="zh-CN" altLang="en-US" sz="2800" i="1">
                          <a:solidFill>
                            <a:srgbClr val="000000"/>
                          </a:solidFill>
                          <a:latin typeface="Cambria Math" panose="02040503050406030204" charset="0"/>
                        </a:rPr>
                        <m:t>−</m:t>
                      </m:r>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𝑥</m:t>
                          </m:r>
                        </m:e>
                        <m:sub>
                          <m:r>
                            <a:rPr lang="zh-CN" altLang="en-US" sz="2800" i="1">
                              <a:solidFill>
                                <a:srgbClr val="000000"/>
                              </a:solidFill>
                              <a:latin typeface="Cambria Math" panose="02040503050406030204" charset="0"/>
                            </a:rPr>
                            <m:t>0</m:t>
                          </m:r>
                        </m:sub>
                      </m:sSub>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𝑦</m:t>
                      </m:r>
                      <m:r>
                        <a:rPr lang="zh-CN" altLang="en-US" sz="2800" i="1">
                          <a:solidFill>
                            <a:srgbClr val="000000"/>
                          </a:solidFill>
                          <a:latin typeface="Cambria Math" panose="02040503050406030204" charset="0"/>
                        </a:rPr>
                        <m:t>−</m:t>
                      </m:r>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𝑦</m:t>
                          </m:r>
                        </m:e>
                        <m:sub>
                          <m:r>
                            <a:rPr lang="zh-CN" altLang="en-US" sz="2800" i="1">
                              <a:solidFill>
                                <a:srgbClr val="000000"/>
                              </a:solidFill>
                              <a:latin typeface="Cambria Math" panose="02040503050406030204" charset="0"/>
                            </a:rPr>
                            <m:t>0</m:t>
                          </m:r>
                        </m:sub>
                      </m:sSub>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𝑧</m:t>
                      </m:r>
                      <m:r>
                        <a:rPr lang="zh-CN" altLang="en-US" sz="2800" i="1">
                          <a:solidFill>
                            <a:srgbClr val="000000"/>
                          </a:solidFill>
                          <a:latin typeface="Cambria Math" panose="02040503050406030204" charset="0"/>
                        </a:rPr>
                        <m:t>−</m:t>
                      </m:r>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𝑧</m:t>
                          </m:r>
                        </m:e>
                        <m:sub>
                          <m:r>
                            <a:rPr lang="zh-CN" altLang="en-US" sz="2800" i="1">
                              <a:solidFill>
                                <a:srgbClr val="000000"/>
                              </a:solidFill>
                              <a:latin typeface="Cambria Math" panose="02040503050406030204" charset="0"/>
                            </a:rPr>
                            <m:t>0</m:t>
                          </m:r>
                        </m:sub>
                      </m:sSub>
                      <m:r>
                        <a:rPr lang="zh-CN" altLang="en-US" sz="2800" i="1">
                          <a:solidFill>
                            <a:srgbClr val="000000"/>
                          </a:solidFill>
                          <a:latin typeface="Cambria Math" panose="02040503050406030204" charset="0"/>
                        </a:rPr>
                        <m:t>}</m:t>
                      </m:r>
                    </m:oMath>
                  </m:oMathPara>
                </a14:m>
                <a:endParaRPr lang="zh-CN" altLang="en-US" sz="2800" dirty="0"/>
              </a:p>
            </p:txBody>
          </p:sp>
        </mc:Choice>
        <mc:Fallback>
          <p:sp>
            <p:nvSpPr>
              <p:cNvPr id="9253" name="Object 37"/>
              <p:cNvSpPr txBox="1">
                <a:spLocks noRot="1" noChangeAspect="1" noMove="1" noResize="1" noEditPoints="1" noAdjustHandles="1" noChangeArrowheads="1" noChangeShapeType="1" noTextEdit="1"/>
              </p:cNvSpPr>
              <p:nvPr/>
            </p:nvSpPr>
            <p:spPr bwMode="auto">
              <a:xfrm>
                <a:off x="4493904" y="5253187"/>
                <a:ext cx="4889792" cy="623358"/>
              </a:xfrm>
              <a:prstGeom prst="rect">
                <a:avLst/>
              </a:prstGeom>
              <a:blipFill rotWithShape="1">
                <a:blip r:embed="rId5"/>
                <a:stretch>
                  <a:fillRect t="-75" r="6" b="41"/>
                </a:stretch>
              </a:blipFill>
              <a:ln>
                <a:noFill/>
              </a:ln>
              <a:effectLst/>
            </p:spPr>
            <p:txBody>
              <a:bodyPr/>
              <a:lstStyle/>
              <a:p>
                <a:r>
                  <a:rPr lang="zh-CN" altLang="en-US">
                    <a:noFill/>
                  </a:rPr>
                  <a:t> </a:t>
                </a:r>
              </a:p>
            </p:txBody>
          </p:sp>
        </mc:Fallback>
      </mc:AlternateContent>
      <p:sp>
        <p:nvSpPr>
          <p:cNvPr id="9256" name="Rectangle 40"/>
          <p:cNvSpPr>
            <a:spLocks noGrp="1" noChangeArrowheads="1"/>
          </p:cNvSpPr>
          <p:nvPr>
            <p:ph type="title"/>
          </p:nvPr>
        </p:nvSpPr>
        <p:spPr>
          <a:xfrm>
            <a:off x="1249922" y="836705"/>
            <a:ext cx="7193189" cy="596283"/>
          </a:xfrm>
        </p:spPr>
        <p:txBody>
          <a:bodyPr>
            <a:scene3d>
              <a:camera prst="orthographicFront"/>
              <a:lightRig rig="threePt" dir="t"/>
            </a:scene3d>
          </a:bodyPr>
          <a:lstStyle/>
          <a:p>
            <a:pPr algn="l"/>
            <a:r>
              <a:rPr kumimoji="1" lang="zh-CN" altLang="en-US" sz="3200" dirty="0">
                <a:ln w="22225">
                  <a:solidFill>
                    <a:schemeClr val="accent2"/>
                  </a:solidFill>
                  <a:prstDash val="solid"/>
                </a:ln>
                <a:solidFill>
                  <a:schemeClr val="accent2">
                    <a:lumMod val="40000"/>
                    <a:lumOff val="60000"/>
                  </a:schemeClr>
                </a:solidFill>
                <a:effectLst/>
                <a:latin typeface="微软雅黑" panose="020B0503020204020204" charset="-122"/>
                <a:ea typeface="微软雅黑" panose="020B0503020204020204" charset="-122"/>
                <a:cs typeface="+mn-cs"/>
              </a:rPr>
              <a:t>空间直线的对称式方程与参数方程</a:t>
            </a:r>
            <a:endParaRPr kumimoji="1" lang="zh-CN" altLang="en-US" sz="3200" dirty="0">
              <a:ln w="22225">
                <a:solidFill>
                  <a:schemeClr val="accent2"/>
                </a:solidFill>
                <a:prstDash val="solid"/>
              </a:ln>
              <a:solidFill>
                <a:schemeClr val="accent2">
                  <a:lumMod val="40000"/>
                  <a:lumOff val="60000"/>
                </a:schemeClr>
              </a:solidFill>
              <a:effectLst/>
              <a:latin typeface="微软雅黑" panose="020B0503020204020204" charset="-122"/>
              <a:ea typeface="微软雅黑" panose="020B0503020204020204" charset="-122"/>
              <a:cs typeface="+mn-cs"/>
            </a:endParaRPr>
          </a:p>
        </p:txBody>
      </p:sp>
      <mc:AlternateContent xmlns:mc="http://schemas.openxmlformats.org/markup-compatibility/2006">
        <mc:Choice xmlns:a14="http://schemas.microsoft.com/office/drawing/2010/main" Requires="a14">
          <p:sp>
            <p:nvSpPr>
              <p:cNvPr id="2" name="对象 1"/>
              <p:cNvSpPr txBox="1"/>
              <p:nvPr/>
            </p:nvSpPr>
            <p:spPr>
              <a:xfrm>
                <a:off x="3629704" y="4570075"/>
                <a:ext cx="1421810" cy="508000"/>
              </a:xfrm>
              <a:prstGeom prst="rect">
                <a:avLst/>
              </a:prstGeom>
            </p:spPr>
            <p:txBody>
              <a:bodyPr>
                <a:noAutofit/>
              </a:bodyPr>
              <a:lstStyle/>
              <a:p>
                <a14:m>
                  <m:oMathPara xmlns:m="http://schemas.openxmlformats.org/officeDocument/2006/math">
                    <m:oMathParaPr>
                      <m:jc m:val="left"/>
                    </m:oMathParaPr>
                    <m:oMath xmlns:m="http://schemas.openxmlformats.org/officeDocument/2006/math">
                      <m:acc>
                        <m:accPr>
                          <m:chr m:val="⃗"/>
                          <m:ctrlPr>
                            <a:rPr lang="zh-CN" altLang="en-US" sz="2800" i="1" smtClean="0">
                              <a:solidFill>
                                <a:srgbClr val="000000"/>
                              </a:solidFill>
                              <a:latin typeface="Cambria Math" panose="02040503050406030204" charset="0"/>
                            </a:rPr>
                          </m:ctrlPr>
                        </m:accPr>
                        <m:e>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𝑀</m:t>
                              </m:r>
                            </m:e>
                            <m:sub>
                              <m:r>
                                <a:rPr lang="zh-CN" altLang="en-US" sz="2800" i="1">
                                  <a:solidFill>
                                    <a:srgbClr val="000000"/>
                                  </a:solidFill>
                                  <a:latin typeface="Cambria Math" panose="02040503050406030204" charset="0"/>
                                </a:rPr>
                                <m:t>0</m:t>
                              </m:r>
                            </m:sub>
                          </m:sSub>
                          <m:r>
                            <a:rPr lang="zh-CN" altLang="en-US" sz="2800" i="1">
                              <a:solidFill>
                                <a:srgbClr val="000000"/>
                              </a:solidFill>
                              <a:latin typeface="Cambria Math" panose="02040503050406030204" charset="0"/>
                            </a:rPr>
                            <m:t>𝑀</m:t>
                          </m:r>
                        </m:e>
                      </m:acc>
                      <m:r>
                        <m:rPr>
                          <m:nor/>
                        </m:rPr>
                        <a:rPr lang="en-US" altLang="zh-CN" sz="2800" i="1" dirty="0">
                          <a:latin typeface="Cambria Math" panose="02040503050406030204" charset="0"/>
                          <a:sym typeface="Symbol" panose="05050102010706020507" pitchFamily="18" charset="2"/>
                        </a:rPr>
                        <m:t>∥</m:t>
                      </m:r>
                      <m:r>
                        <a:rPr lang="en-US" altLang="zh-CN" sz="2800" b="0" i="1" dirty="0" smtClean="0">
                          <a:latin typeface="Cambria Math" panose="02040503050406030204" charset="0"/>
                          <a:sym typeface="Symbol" panose="05050102010706020507" pitchFamily="18" charset="2"/>
                        </a:rPr>
                        <m:t> </m:t>
                      </m:r>
                      <m:r>
                        <a:rPr lang="zh-CN" altLang="en-US" sz="2800" b="1" i="1">
                          <a:solidFill>
                            <a:srgbClr val="000000"/>
                          </a:solidFill>
                          <a:latin typeface="Cambria Math" panose="02040503050406030204" charset="0"/>
                        </a:rPr>
                        <m:t>𝒔</m:t>
                      </m:r>
                    </m:oMath>
                  </m:oMathPara>
                </a14:m>
                <a:endParaRPr lang="zh-CN" altLang="en-US" sz="2800" b="1" dirty="0"/>
              </a:p>
            </p:txBody>
          </p:sp>
        </mc:Choice>
        <mc:Fallback>
          <p:sp>
            <p:nvSpPr>
              <p:cNvPr id="2" name="对象 1"/>
              <p:cNvSpPr txBox="1">
                <a:spLocks noRot="1" noChangeAspect="1" noMove="1" noResize="1" noEditPoints="1" noAdjustHandles="1" noChangeArrowheads="1" noChangeShapeType="1" noTextEdit="1"/>
              </p:cNvSpPr>
              <p:nvPr/>
            </p:nvSpPr>
            <p:spPr>
              <a:xfrm>
                <a:off x="3629704" y="4570075"/>
                <a:ext cx="1421810" cy="508000"/>
              </a:xfrm>
              <a:prstGeom prst="rect">
                <a:avLst/>
              </a:prstGeom>
              <a:blipFill rotWithShape="1">
                <a:blip r:embed="rId6"/>
                <a:stretch>
                  <a:fillRect l="-3" t="-121" r="6" b="-1254"/>
                </a:stretch>
              </a:blipFill>
            </p:spPr>
            <p:txBody>
              <a:bodyPr/>
              <a:lstStyle/>
              <a:p>
                <a:r>
                  <a:rPr lang="zh-CN" altLang="en-US">
                    <a:noFill/>
                  </a:rPr>
                  <a:t> </a:t>
                </a:r>
              </a:p>
            </p:txBody>
          </p:sp>
        </mc:Fallback>
      </mc:AlternateContent>
      <p:pic>
        <p:nvPicPr>
          <p:cNvPr id="5" name="图片 4" descr="图示&#10;&#10;描述已自动生成"/>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235025" y="1946139"/>
            <a:ext cx="3477551" cy="2793896"/>
          </a:xfrm>
          <a:prstGeom prst="rect">
            <a:avLst/>
          </a:prstGeom>
        </p:spPr>
      </p:pic>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56"/>
                                        </p:tgtEl>
                                        <p:attrNameLst>
                                          <p:attrName>style.visibility</p:attrName>
                                        </p:attrNameLst>
                                      </p:cBhvr>
                                      <p:to>
                                        <p:strVal val="visible"/>
                                      </p:to>
                                    </p:set>
                                    <p:animEffect transition="in" filter="wipe(left)">
                                      <p:cBhvr>
                                        <p:cTn id="7" dur="500"/>
                                        <p:tgtEl>
                                          <p:spTgt spid="925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30"/>
                                        </p:tgtEl>
                                        <p:attrNameLst>
                                          <p:attrName>style.visibility</p:attrName>
                                        </p:attrNameLst>
                                      </p:cBhvr>
                                      <p:to>
                                        <p:strVal val="visible"/>
                                      </p:to>
                                    </p:set>
                                    <p:animEffect transition="in" filter="wipe(left)">
                                      <p:cBhvr>
                                        <p:cTn id="12" dur="500"/>
                                        <p:tgtEl>
                                          <p:spTgt spid="9230"/>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9231"/>
                                        </p:tgtEl>
                                        <p:attrNameLst>
                                          <p:attrName>style.visibility</p:attrName>
                                        </p:attrNameLst>
                                      </p:cBhvr>
                                      <p:to>
                                        <p:strVal val="visible"/>
                                      </p:to>
                                    </p:set>
                                    <p:animEffect transition="in" filter="wipe(left)">
                                      <p:cBhvr>
                                        <p:cTn id="16" dur="500"/>
                                        <p:tgtEl>
                                          <p:spTgt spid="923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500"/>
                                        <p:tgtEl>
                                          <p:spTgt spid="5"/>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left)">
                                      <p:cBhvr>
                                        <p:cTn id="24" dur="5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9238"/>
                                        </p:tgtEl>
                                        <p:attrNameLst>
                                          <p:attrName>style.visibility</p:attrName>
                                        </p:attrNameLst>
                                      </p:cBhvr>
                                      <p:to>
                                        <p:strVal val="visible"/>
                                      </p:to>
                                    </p:set>
                                    <p:animEffect transition="in" filter="wipe(left)">
                                      <p:cBhvr>
                                        <p:cTn id="29" dur="500"/>
                                        <p:tgtEl>
                                          <p:spTgt spid="923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9242"/>
                                        </p:tgtEl>
                                        <p:attrNameLst>
                                          <p:attrName>style.visibility</p:attrName>
                                        </p:attrNameLst>
                                      </p:cBhvr>
                                      <p:to>
                                        <p:strVal val="visible"/>
                                      </p:to>
                                    </p:set>
                                    <p:animEffect transition="in" filter="wipe(left)">
                                      <p:cBhvr>
                                        <p:cTn id="34" dur="500"/>
                                        <p:tgtEl>
                                          <p:spTgt spid="924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9241"/>
                                        </p:tgtEl>
                                        <p:attrNameLst>
                                          <p:attrName>style.visibility</p:attrName>
                                        </p:attrNameLst>
                                      </p:cBhvr>
                                      <p:to>
                                        <p:strVal val="visible"/>
                                      </p:to>
                                    </p:set>
                                    <p:animEffect transition="in" filter="wipe(left)">
                                      <p:cBhvr>
                                        <p:cTn id="39" dur="500"/>
                                        <p:tgtEl>
                                          <p:spTgt spid="9241"/>
                                        </p:tgtEl>
                                      </p:cBhvr>
                                    </p:animEffect>
                                  </p:childTnLst>
                                </p:cTn>
                              </p:par>
                            </p:childTnLst>
                          </p:cTn>
                        </p:par>
                        <p:par>
                          <p:cTn id="40"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wipe(left)">
                                      <p:cBhvr>
                                        <p:cTn id="43" dur="500"/>
                                        <p:tgtEl>
                                          <p:spTgt spid="2"/>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9247"/>
                                        </p:tgtEl>
                                        <p:attrNameLst>
                                          <p:attrName>style.visibility</p:attrName>
                                        </p:attrNameLst>
                                      </p:cBhvr>
                                      <p:to>
                                        <p:strVal val="visible"/>
                                      </p:to>
                                    </p:set>
                                    <p:animEffect transition="in" filter="wipe(left)">
                                      <p:cBhvr>
                                        <p:cTn id="48" dur="500"/>
                                        <p:tgtEl>
                                          <p:spTgt spid="924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9253"/>
                                        </p:tgtEl>
                                        <p:attrNameLst>
                                          <p:attrName>style.visibility</p:attrName>
                                        </p:attrNameLst>
                                      </p:cBhvr>
                                      <p:to>
                                        <p:strVal val="visible"/>
                                      </p:to>
                                    </p:set>
                                    <p:animEffect transition="in" filter="wipe(left)">
                                      <p:cBhvr>
                                        <p:cTn id="53" dur="500"/>
                                        <p:tgtEl>
                                          <p:spTgt spid="9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9230" grpId="0" autoUpdateAnimBg="0"/>
      <p:bldP spid="9231" grpId="0" autoUpdateAnimBg="0"/>
      <p:bldP spid="9238" grpId="0" bldLvl="0" animBg="1"/>
      <p:bldP spid="9241" grpId="0" bldLvl="0" animBg="1"/>
      <p:bldP spid="9242" grpId="0" bldLvl="0" animBg="1"/>
      <p:bldP spid="9247" grpId="0" bldLvl="0" animBg="1"/>
      <p:bldP spid="9253" grpId="0" bldLvl="0" animBg="1"/>
      <p:bldP spid="9256" grpId="0"/>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10540" y="494665"/>
            <a:ext cx="11149330" cy="5612765"/>
            <a:chOff x="838" y="906"/>
            <a:chExt cx="17558" cy="8839"/>
          </a:xfrm>
        </p:grpSpPr>
        <p:sp>
          <p:nvSpPr>
            <p:cNvPr id="4" name="PA-102232"/>
            <p:cNvSpPr/>
            <p:nvPr>
              <p:custDataLst>
                <p:tags r:id="rId1"/>
              </p:custDataLst>
            </p:nvPr>
          </p:nvSpPr>
          <p:spPr>
            <a:xfrm>
              <a:off x="872" y="906"/>
              <a:ext cx="17524" cy="8826"/>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6BB6"/>
                </a:solidFill>
                <a:cs typeface="+mn-ea"/>
                <a:sym typeface="+mn-lt"/>
              </a:endParaRPr>
            </a:p>
          </p:txBody>
        </p:sp>
        <p:grpSp>
          <p:nvGrpSpPr>
            <p:cNvPr id="5" name="组合 4"/>
            <p:cNvGrpSpPr/>
            <p:nvPr/>
          </p:nvGrpSpPr>
          <p:grpSpPr>
            <a:xfrm>
              <a:off x="838" y="9635"/>
              <a:ext cx="17558" cy="110"/>
              <a:chOff x="838" y="9635"/>
              <a:chExt cx="17558" cy="110"/>
            </a:xfrm>
          </p:grpSpPr>
          <p:sp>
            <p:nvSpPr>
              <p:cNvPr id="6" name="Rectangle 1"/>
              <p:cNvSpPr/>
              <p:nvPr/>
            </p:nvSpPr>
            <p:spPr>
              <a:xfrm>
                <a:off x="5321" y="9650"/>
                <a:ext cx="4286" cy="83"/>
              </a:xfrm>
              <a:prstGeom prst="rect">
                <a:avLst/>
              </a:prstGeom>
              <a:solidFill>
                <a:schemeClr val="bg1"/>
              </a:solidFill>
              <a:ln w="3175" cap="flat" cmpd="sng" algn="ctr">
                <a:solidFill>
                  <a:srgbClr val="0492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7" name="Rectangle 1"/>
              <p:cNvSpPr/>
              <p:nvPr/>
            </p:nvSpPr>
            <p:spPr>
              <a:xfrm>
                <a:off x="838" y="9650"/>
                <a:ext cx="4483" cy="83"/>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8" name="Rectangle 1"/>
              <p:cNvSpPr/>
              <p:nvPr/>
            </p:nvSpPr>
            <p:spPr>
              <a:xfrm>
                <a:off x="9602" y="9635"/>
                <a:ext cx="8794" cy="111"/>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mc:AlternateContent xmlns:mc="http://schemas.openxmlformats.org/markup-compatibility/2006">
        <mc:Choice xmlns:a14="http://schemas.microsoft.com/office/drawing/2010/main" Requires="a14">
          <p:sp>
            <p:nvSpPr>
              <p:cNvPr id="10245" name="Object 5"/>
              <p:cNvSpPr txBox="1"/>
              <p:nvPr/>
            </p:nvSpPr>
            <p:spPr bwMode="auto">
              <a:xfrm>
                <a:off x="2538413" y="1097656"/>
                <a:ext cx="4110962" cy="892867"/>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f>
                        <m:fPr>
                          <m:ctrlPr>
                            <a:rPr lang="zh-CN" altLang="en-US" sz="2800" i="1">
                              <a:solidFill>
                                <a:srgbClr val="000000"/>
                              </a:solidFill>
                              <a:latin typeface="Cambria Math" panose="02040503050406030204" charset="0"/>
                            </a:rPr>
                          </m:ctrlPr>
                        </m:fPr>
                        <m:num>
                          <m:r>
                            <a:rPr lang="zh-CN" altLang="en-US" sz="2800" i="1">
                              <a:solidFill>
                                <a:srgbClr val="000000"/>
                              </a:solidFill>
                              <a:latin typeface="Cambria Math" panose="02040503050406030204" charset="0"/>
                            </a:rPr>
                            <m:t>𝑥</m:t>
                          </m:r>
                          <m:r>
                            <a:rPr lang="zh-CN" altLang="en-US" sz="2800" i="1">
                              <a:solidFill>
                                <a:srgbClr val="000000"/>
                              </a:solidFill>
                              <a:latin typeface="Cambria Math" panose="02040503050406030204" charset="0"/>
                            </a:rPr>
                            <m:t>−</m:t>
                          </m:r>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𝑥</m:t>
                              </m:r>
                            </m:e>
                            <m:sub>
                              <m:r>
                                <a:rPr lang="zh-CN" altLang="en-US" sz="2800" i="1">
                                  <a:solidFill>
                                    <a:srgbClr val="000000"/>
                                  </a:solidFill>
                                  <a:latin typeface="Cambria Math" panose="02040503050406030204" charset="0"/>
                                </a:rPr>
                                <m:t>0</m:t>
                              </m:r>
                            </m:sub>
                          </m:sSub>
                        </m:num>
                        <m:den>
                          <m:r>
                            <a:rPr lang="zh-CN" altLang="en-US" sz="2800" i="1">
                              <a:solidFill>
                                <a:srgbClr val="000000"/>
                              </a:solidFill>
                              <a:latin typeface="Cambria Math" panose="02040503050406030204" charset="0"/>
                            </a:rPr>
                            <m:t>𝑚</m:t>
                          </m:r>
                        </m:den>
                      </m:f>
                      <m:r>
                        <a:rPr lang="zh-CN" altLang="en-US" sz="2800" i="1">
                          <a:solidFill>
                            <a:srgbClr val="000000"/>
                          </a:solidFill>
                          <a:latin typeface="Cambria Math" panose="02040503050406030204" charset="0"/>
                        </a:rPr>
                        <m:t>=</m:t>
                      </m:r>
                      <m:f>
                        <m:fPr>
                          <m:ctrlPr>
                            <a:rPr lang="zh-CN" altLang="en-US" sz="2800" i="1">
                              <a:solidFill>
                                <a:srgbClr val="000000"/>
                              </a:solidFill>
                              <a:latin typeface="Cambria Math" panose="02040503050406030204" charset="0"/>
                            </a:rPr>
                          </m:ctrlPr>
                        </m:fPr>
                        <m:num>
                          <m:r>
                            <a:rPr lang="zh-CN" altLang="en-US" sz="2800" i="1">
                              <a:solidFill>
                                <a:srgbClr val="000000"/>
                              </a:solidFill>
                              <a:latin typeface="Cambria Math" panose="02040503050406030204" charset="0"/>
                            </a:rPr>
                            <m:t>𝑦</m:t>
                          </m:r>
                          <m:r>
                            <a:rPr lang="zh-CN" altLang="en-US" sz="2800" i="1">
                              <a:solidFill>
                                <a:srgbClr val="000000"/>
                              </a:solidFill>
                              <a:latin typeface="Cambria Math" panose="02040503050406030204" charset="0"/>
                            </a:rPr>
                            <m:t>−</m:t>
                          </m:r>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𝑦</m:t>
                              </m:r>
                            </m:e>
                            <m:sub>
                              <m:r>
                                <a:rPr lang="zh-CN" altLang="en-US" sz="2800" i="1">
                                  <a:solidFill>
                                    <a:srgbClr val="000000"/>
                                  </a:solidFill>
                                  <a:latin typeface="Cambria Math" panose="02040503050406030204" charset="0"/>
                                </a:rPr>
                                <m:t>0</m:t>
                              </m:r>
                            </m:sub>
                          </m:sSub>
                        </m:num>
                        <m:den>
                          <m:r>
                            <a:rPr lang="zh-CN" altLang="en-US" sz="2800" i="1">
                              <a:solidFill>
                                <a:srgbClr val="000000"/>
                              </a:solidFill>
                              <a:latin typeface="Cambria Math" panose="02040503050406030204" charset="0"/>
                            </a:rPr>
                            <m:t>𝑛</m:t>
                          </m:r>
                        </m:den>
                      </m:f>
                      <m:r>
                        <a:rPr lang="zh-CN" altLang="en-US" sz="2800" i="1">
                          <a:solidFill>
                            <a:srgbClr val="000000"/>
                          </a:solidFill>
                          <a:latin typeface="Cambria Math" panose="02040503050406030204" charset="0"/>
                        </a:rPr>
                        <m:t>=</m:t>
                      </m:r>
                      <m:f>
                        <m:fPr>
                          <m:ctrlPr>
                            <a:rPr lang="zh-CN" altLang="en-US" sz="2800" i="1">
                              <a:solidFill>
                                <a:srgbClr val="000000"/>
                              </a:solidFill>
                              <a:latin typeface="Cambria Math" panose="02040503050406030204" charset="0"/>
                            </a:rPr>
                          </m:ctrlPr>
                        </m:fPr>
                        <m:num>
                          <m:r>
                            <a:rPr lang="zh-CN" altLang="en-US" sz="2800" i="1">
                              <a:solidFill>
                                <a:srgbClr val="000000"/>
                              </a:solidFill>
                              <a:latin typeface="Cambria Math" panose="02040503050406030204" charset="0"/>
                            </a:rPr>
                            <m:t>𝑧</m:t>
                          </m:r>
                          <m:r>
                            <a:rPr lang="zh-CN" altLang="en-US" sz="2800" i="1">
                              <a:solidFill>
                                <a:srgbClr val="000000"/>
                              </a:solidFill>
                              <a:latin typeface="Cambria Math" panose="02040503050406030204" charset="0"/>
                            </a:rPr>
                            <m:t>−</m:t>
                          </m:r>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𝑧</m:t>
                              </m:r>
                            </m:e>
                            <m:sub>
                              <m:r>
                                <a:rPr lang="zh-CN" altLang="en-US" sz="2800" i="1">
                                  <a:solidFill>
                                    <a:srgbClr val="000000"/>
                                  </a:solidFill>
                                  <a:latin typeface="Cambria Math" panose="02040503050406030204" charset="0"/>
                                </a:rPr>
                                <m:t>0</m:t>
                              </m:r>
                            </m:sub>
                          </m:sSub>
                        </m:num>
                        <m:den>
                          <m:r>
                            <a:rPr lang="zh-CN" altLang="en-US" sz="2800" i="1">
                              <a:solidFill>
                                <a:srgbClr val="000000"/>
                              </a:solidFill>
                              <a:latin typeface="Cambria Math" panose="02040503050406030204" charset="0"/>
                            </a:rPr>
                            <m:t>𝑝</m:t>
                          </m:r>
                        </m:den>
                      </m:f>
                    </m:oMath>
                  </m:oMathPara>
                </a14:m>
                <a:endParaRPr lang="zh-CN" altLang="en-US" sz="2800" dirty="0"/>
              </a:p>
            </p:txBody>
          </p:sp>
        </mc:Choice>
        <mc:Fallback>
          <p:sp>
            <p:nvSpPr>
              <p:cNvPr id="10245" name="Object 5"/>
              <p:cNvSpPr txBox="1">
                <a:spLocks noRot="1" noChangeAspect="1" noMove="1" noResize="1" noEditPoints="1" noAdjustHandles="1" noChangeArrowheads="1" noChangeShapeType="1" noTextEdit="1"/>
              </p:cNvSpPr>
              <p:nvPr/>
            </p:nvSpPr>
            <p:spPr bwMode="auto">
              <a:xfrm>
                <a:off x="2538413" y="1097656"/>
                <a:ext cx="4110962" cy="892867"/>
              </a:xfrm>
              <a:prstGeom prst="rect">
                <a:avLst/>
              </a:prstGeom>
              <a:blipFill rotWithShape="1">
                <a:blip r:embed="rId2"/>
                <a:stretch>
                  <a:fillRect l="-8" t="-42" r="7" b="48"/>
                </a:stretch>
              </a:blipFill>
              <a:ln>
                <a:noFill/>
              </a:ln>
              <a:effectLst/>
            </p:spPr>
            <p:txBody>
              <a:bodyPr/>
              <a:lstStyle/>
              <a:p>
                <a:r>
                  <a:rPr lang="zh-CN" altLang="en-US">
                    <a:noFill/>
                  </a:rPr>
                  <a:t> </a:t>
                </a:r>
              </a:p>
            </p:txBody>
          </p:sp>
        </mc:Fallback>
      </mc:AlternateContent>
      <p:sp>
        <p:nvSpPr>
          <p:cNvPr id="10248" name="Rectangle 8"/>
          <p:cNvSpPr>
            <a:spLocks noChangeArrowheads="1"/>
          </p:cNvSpPr>
          <p:nvPr/>
        </p:nvSpPr>
        <p:spPr bwMode="auto">
          <a:xfrm>
            <a:off x="6528899" y="1234228"/>
            <a:ext cx="3124688"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r>
              <a:rPr lang="zh-CN" altLang="en-US" sz="2800" dirty="0">
                <a:solidFill>
                  <a:srgbClr val="04926A"/>
                </a:solidFill>
                <a:latin typeface="黑体" panose="02010609060101010101" pitchFamily="49" charset="-122"/>
                <a:ea typeface="黑体" panose="02010609060101010101" pitchFamily="49" charset="-122"/>
              </a:rPr>
              <a:t>直线的对称式方程</a:t>
            </a:r>
            <a:endParaRPr lang="zh-CN" altLang="en-US" sz="2800" dirty="0">
              <a:solidFill>
                <a:srgbClr val="04926A"/>
              </a:solidFill>
              <a:latin typeface="黑体" panose="02010609060101010101" pitchFamily="49" charset="-122"/>
              <a:ea typeface="黑体" panose="02010609060101010101" pitchFamily="49" charset="-122"/>
            </a:endParaRPr>
          </a:p>
        </p:txBody>
      </p:sp>
      <p:grpSp>
        <p:nvGrpSpPr>
          <p:cNvPr id="10251" name="Group 11"/>
          <p:cNvGrpSpPr/>
          <p:nvPr/>
        </p:nvGrpSpPr>
        <p:grpSpPr bwMode="auto">
          <a:xfrm>
            <a:off x="1830913" y="2198270"/>
            <a:ext cx="5350668" cy="915551"/>
            <a:chOff x="1033" y="1920"/>
            <a:chExt cx="2889" cy="437"/>
          </a:xfrm>
        </p:grpSpPr>
        <mc:AlternateContent xmlns:mc="http://schemas.openxmlformats.org/markup-compatibility/2006">
          <mc:Choice xmlns:a14="http://schemas.microsoft.com/office/drawing/2010/main" Requires="a14">
            <p:sp>
              <p:nvSpPr>
                <p:cNvPr id="10249" name="Object 9"/>
                <p:cNvSpPr txBox="1"/>
                <p:nvPr/>
              </p:nvSpPr>
              <p:spPr bwMode="auto">
                <a:xfrm>
                  <a:off x="1392" y="1920"/>
                  <a:ext cx="2530" cy="437"/>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f>
                          <m:fPr>
                            <m:ctrlPr>
                              <a:rPr lang="zh-CN" altLang="en-US" sz="2800" i="1">
                                <a:solidFill>
                                  <a:srgbClr val="000000"/>
                                </a:solidFill>
                                <a:latin typeface="Cambria Math" panose="02040503050406030204" charset="0"/>
                              </a:rPr>
                            </m:ctrlPr>
                          </m:fPr>
                          <m:num>
                            <m:r>
                              <a:rPr lang="zh-CN" altLang="en-US" sz="2800" i="1">
                                <a:solidFill>
                                  <a:srgbClr val="000000"/>
                                </a:solidFill>
                                <a:latin typeface="Cambria Math" panose="02040503050406030204" charset="0"/>
                              </a:rPr>
                              <m:t>𝑥</m:t>
                            </m:r>
                            <m:r>
                              <a:rPr lang="zh-CN" altLang="en-US" sz="2800" i="1">
                                <a:solidFill>
                                  <a:srgbClr val="000000"/>
                                </a:solidFill>
                                <a:latin typeface="Cambria Math" panose="02040503050406030204" charset="0"/>
                              </a:rPr>
                              <m:t>−</m:t>
                            </m:r>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𝑥</m:t>
                                </m:r>
                              </m:e>
                              <m:sub>
                                <m:r>
                                  <a:rPr lang="zh-CN" altLang="en-US" sz="2800" i="1">
                                    <a:solidFill>
                                      <a:srgbClr val="000000"/>
                                    </a:solidFill>
                                    <a:latin typeface="Cambria Math" panose="02040503050406030204" charset="0"/>
                                  </a:rPr>
                                  <m:t>0</m:t>
                                </m:r>
                              </m:sub>
                            </m:sSub>
                          </m:num>
                          <m:den>
                            <m:r>
                              <a:rPr lang="zh-CN" altLang="en-US" sz="2800" i="1">
                                <a:solidFill>
                                  <a:srgbClr val="000000"/>
                                </a:solidFill>
                                <a:latin typeface="Cambria Math" panose="02040503050406030204" charset="0"/>
                              </a:rPr>
                              <m:t>𝑚</m:t>
                            </m:r>
                          </m:den>
                        </m:f>
                        <m:r>
                          <a:rPr lang="zh-CN" altLang="en-US" sz="2800" i="1">
                            <a:solidFill>
                              <a:srgbClr val="000000"/>
                            </a:solidFill>
                            <a:latin typeface="Cambria Math" panose="02040503050406030204" charset="0"/>
                          </a:rPr>
                          <m:t>=</m:t>
                        </m:r>
                        <m:f>
                          <m:fPr>
                            <m:ctrlPr>
                              <a:rPr lang="zh-CN" altLang="en-US" sz="2800" i="1">
                                <a:solidFill>
                                  <a:srgbClr val="000000"/>
                                </a:solidFill>
                                <a:latin typeface="Cambria Math" panose="02040503050406030204" charset="0"/>
                              </a:rPr>
                            </m:ctrlPr>
                          </m:fPr>
                          <m:num>
                            <m:r>
                              <a:rPr lang="zh-CN" altLang="en-US" sz="2800" i="1">
                                <a:solidFill>
                                  <a:srgbClr val="000000"/>
                                </a:solidFill>
                                <a:latin typeface="Cambria Math" panose="02040503050406030204" charset="0"/>
                              </a:rPr>
                              <m:t>𝑦</m:t>
                            </m:r>
                            <m:r>
                              <a:rPr lang="zh-CN" altLang="en-US" sz="2800" i="1">
                                <a:solidFill>
                                  <a:srgbClr val="000000"/>
                                </a:solidFill>
                                <a:latin typeface="Cambria Math" panose="02040503050406030204" charset="0"/>
                              </a:rPr>
                              <m:t>−</m:t>
                            </m:r>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𝑦</m:t>
                                </m:r>
                              </m:e>
                              <m:sub>
                                <m:r>
                                  <a:rPr lang="zh-CN" altLang="en-US" sz="2800" i="1">
                                    <a:solidFill>
                                      <a:srgbClr val="000000"/>
                                    </a:solidFill>
                                    <a:latin typeface="Cambria Math" panose="02040503050406030204" charset="0"/>
                                  </a:rPr>
                                  <m:t>0</m:t>
                                </m:r>
                              </m:sub>
                            </m:sSub>
                          </m:num>
                          <m:den>
                            <m:r>
                              <a:rPr lang="zh-CN" altLang="en-US" sz="2800" i="1">
                                <a:solidFill>
                                  <a:srgbClr val="000000"/>
                                </a:solidFill>
                                <a:latin typeface="Cambria Math" panose="02040503050406030204" charset="0"/>
                              </a:rPr>
                              <m:t>𝑛</m:t>
                            </m:r>
                          </m:den>
                        </m:f>
                        <m:r>
                          <a:rPr lang="zh-CN" altLang="en-US" sz="2800" i="1">
                            <a:solidFill>
                              <a:srgbClr val="000000"/>
                            </a:solidFill>
                            <a:latin typeface="Cambria Math" panose="02040503050406030204" charset="0"/>
                          </a:rPr>
                          <m:t>=</m:t>
                        </m:r>
                        <m:f>
                          <m:fPr>
                            <m:ctrlPr>
                              <a:rPr lang="zh-CN" altLang="en-US" sz="2800" i="1">
                                <a:solidFill>
                                  <a:srgbClr val="000000"/>
                                </a:solidFill>
                                <a:latin typeface="Cambria Math" panose="02040503050406030204" charset="0"/>
                              </a:rPr>
                            </m:ctrlPr>
                          </m:fPr>
                          <m:num>
                            <m:r>
                              <a:rPr lang="zh-CN" altLang="en-US" sz="2800" i="1">
                                <a:solidFill>
                                  <a:srgbClr val="000000"/>
                                </a:solidFill>
                                <a:latin typeface="Cambria Math" panose="02040503050406030204" charset="0"/>
                              </a:rPr>
                              <m:t>𝑧</m:t>
                            </m:r>
                            <m:r>
                              <a:rPr lang="zh-CN" altLang="en-US" sz="2800" i="1">
                                <a:solidFill>
                                  <a:srgbClr val="000000"/>
                                </a:solidFill>
                                <a:latin typeface="Cambria Math" panose="02040503050406030204" charset="0"/>
                              </a:rPr>
                              <m:t>−</m:t>
                            </m:r>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𝑧</m:t>
                                </m:r>
                              </m:e>
                              <m:sub>
                                <m:r>
                                  <a:rPr lang="zh-CN" altLang="en-US" sz="2800" i="1">
                                    <a:solidFill>
                                      <a:srgbClr val="000000"/>
                                    </a:solidFill>
                                    <a:latin typeface="Cambria Math" panose="02040503050406030204" charset="0"/>
                                  </a:rPr>
                                  <m:t>0</m:t>
                                </m:r>
                              </m:sub>
                            </m:sSub>
                          </m:num>
                          <m:den>
                            <m:r>
                              <a:rPr lang="zh-CN" altLang="en-US" sz="2800" i="1">
                                <a:solidFill>
                                  <a:srgbClr val="000000"/>
                                </a:solidFill>
                                <a:latin typeface="Cambria Math" panose="02040503050406030204" charset="0"/>
                              </a:rPr>
                              <m:t>𝑝</m:t>
                            </m:r>
                          </m:den>
                        </m:f>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𝑡</m:t>
                        </m:r>
                      </m:oMath>
                    </m:oMathPara>
                  </a14:m>
                  <a:endParaRPr lang="zh-CN" altLang="en-US" sz="2800" dirty="0"/>
                </a:p>
              </p:txBody>
            </p:sp>
          </mc:Choice>
          <mc:Fallback>
            <p:sp>
              <p:nvSpPr>
                <p:cNvPr id="10249" name="Object 9"/>
                <p:cNvSpPr txBox="1">
                  <a:spLocks noRot="1" noChangeAspect="1" noMove="1" noResize="1" noEditPoints="1" noAdjustHandles="1" noChangeArrowheads="1" noChangeShapeType="1" noTextEdit="1"/>
                </p:cNvSpPr>
                <p:nvPr/>
              </p:nvSpPr>
              <p:spPr bwMode="auto">
                <a:xfrm>
                  <a:off x="1392" y="1920"/>
                  <a:ext cx="2530" cy="437"/>
                </a:xfrm>
                <a:prstGeom prst="rect">
                  <a:avLst/>
                </a:prstGeom>
                <a:blipFill rotWithShape="1">
                  <a:blip r:embed="rId3"/>
                </a:blipFill>
                <a:ln>
                  <a:noFill/>
                </a:ln>
                <a:effectLst/>
              </p:spPr>
              <p:txBody>
                <a:bodyPr/>
                <a:lstStyle/>
                <a:p>
                  <a:r>
                    <a:rPr lang="zh-CN" altLang="en-US">
                      <a:noFill/>
                    </a:rPr>
                    <a:t> </a:t>
                  </a:r>
                </a:p>
              </p:txBody>
            </p:sp>
          </mc:Fallback>
        </mc:AlternateContent>
        <p:sp>
          <p:nvSpPr>
            <p:cNvPr id="10250" name="Text Box 10"/>
            <p:cNvSpPr txBox="1">
              <a:spLocks noChangeArrowheads="1"/>
            </p:cNvSpPr>
            <p:nvPr/>
          </p:nvSpPr>
          <p:spPr bwMode="auto">
            <a:xfrm>
              <a:off x="1033" y="1960"/>
              <a:ext cx="528"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lang="zh-CN" altLang="en-US" sz="2800" dirty="0"/>
                <a:t>令</a:t>
              </a:r>
              <a:endParaRPr lang="zh-CN" altLang="en-US" sz="2800" dirty="0"/>
            </a:p>
          </p:txBody>
        </p:sp>
      </p:grpSp>
      <mc:AlternateContent xmlns:mc="http://schemas.openxmlformats.org/markup-compatibility/2006">
        <mc:Choice xmlns:a14="http://schemas.microsoft.com/office/drawing/2010/main" Requires="a14">
          <p:sp>
            <p:nvSpPr>
              <p:cNvPr id="10252" name="Object 12"/>
              <p:cNvSpPr txBox="1"/>
              <p:nvPr/>
            </p:nvSpPr>
            <p:spPr bwMode="auto">
              <a:xfrm>
                <a:off x="2449680" y="3424298"/>
                <a:ext cx="2385483" cy="1653579"/>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d>
                        <m:dPr>
                          <m:begChr m:val="{"/>
                          <m:endChr m:val=""/>
                          <m:ctrlPr>
                            <a:rPr lang="zh-CN" altLang="en-US" sz="2800" i="1">
                              <a:solidFill>
                                <a:srgbClr val="000000"/>
                              </a:solidFill>
                              <a:latin typeface="Cambria Math" panose="02040503050406030204" charset="0"/>
                            </a:rPr>
                          </m:ctrlPr>
                        </m:dPr>
                        <m:e>
                          <m:eqArr>
                            <m:eqArrPr>
                              <m:ctrlPr>
                                <a:rPr lang="zh-CN" altLang="en-US" sz="2800" i="1">
                                  <a:solidFill>
                                    <a:srgbClr val="000000"/>
                                  </a:solidFill>
                                  <a:latin typeface="Cambria Math" panose="02040503050406030204" charset="0"/>
                                </a:rPr>
                              </m:ctrlPr>
                            </m:eqArrPr>
                            <m:e>
                              <m:r>
                                <a:rPr lang="zh-CN" altLang="en-US" sz="2800" i="1">
                                  <a:solidFill>
                                    <a:srgbClr val="000000"/>
                                  </a:solidFill>
                                  <a:latin typeface="Cambria Math" panose="02040503050406030204" charset="0"/>
                                </a:rPr>
                                <m:t>&amp;</m:t>
                              </m:r>
                              <m:r>
                                <a:rPr lang="zh-CN" altLang="en-US" sz="2800" i="1">
                                  <a:solidFill>
                                    <a:srgbClr val="000000"/>
                                  </a:solidFill>
                                  <a:latin typeface="Cambria Math" panose="02040503050406030204" charset="0"/>
                                </a:rPr>
                                <m:t>𝑥</m:t>
                              </m:r>
                              <m:r>
                                <a:rPr lang="zh-CN" altLang="en-US" sz="2800" i="1">
                                  <a:solidFill>
                                    <a:srgbClr val="000000"/>
                                  </a:solidFill>
                                  <a:latin typeface="Cambria Math" panose="02040503050406030204" charset="0"/>
                                </a:rPr>
                                <m:t>=</m:t>
                              </m:r>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𝑥</m:t>
                                  </m:r>
                                </m:e>
                                <m:sub>
                                  <m:r>
                                    <a:rPr lang="zh-CN" altLang="en-US" sz="2800" i="1">
                                      <a:solidFill>
                                        <a:srgbClr val="000000"/>
                                      </a:solidFill>
                                      <a:latin typeface="Cambria Math" panose="02040503050406030204" charset="0"/>
                                    </a:rPr>
                                    <m:t>0</m:t>
                                  </m:r>
                                </m:sub>
                              </m:sSub>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𝑚𝑡</m:t>
                              </m:r>
                            </m:e>
                            <m:e>
                              <m:r>
                                <a:rPr lang="zh-CN" altLang="en-US" sz="2800" i="1">
                                  <a:solidFill>
                                    <a:srgbClr val="000000"/>
                                  </a:solidFill>
                                  <a:latin typeface="Cambria Math" panose="02040503050406030204" charset="0"/>
                                </a:rPr>
                                <m:t>&amp;</m:t>
                              </m:r>
                              <m:r>
                                <a:rPr lang="zh-CN" altLang="en-US" sz="2800" i="1">
                                  <a:solidFill>
                                    <a:srgbClr val="000000"/>
                                  </a:solidFill>
                                  <a:latin typeface="Cambria Math" panose="02040503050406030204" charset="0"/>
                                </a:rPr>
                                <m:t>𝑦</m:t>
                              </m:r>
                              <m:r>
                                <a:rPr lang="zh-CN" altLang="en-US" sz="2800" i="1">
                                  <a:solidFill>
                                    <a:srgbClr val="000000"/>
                                  </a:solidFill>
                                  <a:latin typeface="Cambria Math" panose="02040503050406030204" charset="0"/>
                                </a:rPr>
                                <m:t>=</m:t>
                              </m:r>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𝑦</m:t>
                                  </m:r>
                                </m:e>
                                <m:sub>
                                  <m:r>
                                    <a:rPr lang="zh-CN" altLang="en-US" sz="2800" i="1">
                                      <a:solidFill>
                                        <a:srgbClr val="000000"/>
                                      </a:solidFill>
                                      <a:latin typeface="Cambria Math" panose="02040503050406030204" charset="0"/>
                                    </a:rPr>
                                    <m:t>0</m:t>
                                  </m:r>
                                </m:sub>
                              </m:sSub>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𝑛𝑡</m:t>
                              </m:r>
                            </m:e>
                            <m:e>
                              <m:r>
                                <a:rPr lang="zh-CN" altLang="en-US" sz="2800" i="1">
                                  <a:solidFill>
                                    <a:srgbClr val="000000"/>
                                  </a:solidFill>
                                  <a:latin typeface="Cambria Math" panose="02040503050406030204" charset="0"/>
                                </a:rPr>
                                <m:t>&amp;</m:t>
                              </m:r>
                              <m:r>
                                <a:rPr lang="zh-CN" altLang="en-US" sz="2800" i="1">
                                  <a:solidFill>
                                    <a:srgbClr val="000000"/>
                                  </a:solidFill>
                                  <a:latin typeface="Cambria Math" panose="02040503050406030204" charset="0"/>
                                </a:rPr>
                                <m:t>𝑧</m:t>
                              </m:r>
                              <m:r>
                                <a:rPr lang="zh-CN" altLang="en-US" sz="2800" i="1">
                                  <a:solidFill>
                                    <a:srgbClr val="000000"/>
                                  </a:solidFill>
                                  <a:latin typeface="Cambria Math" panose="02040503050406030204" charset="0"/>
                                </a:rPr>
                                <m:t>=</m:t>
                              </m:r>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𝑧</m:t>
                                  </m:r>
                                </m:e>
                                <m:sub>
                                  <m:r>
                                    <a:rPr lang="zh-CN" altLang="en-US" sz="2800" i="1">
                                      <a:solidFill>
                                        <a:srgbClr val="000000"/>
                                      </a:solidFill>
                                      <a:latin typeface="Cambria Math" panose="02040503050406030204" charset="0"/>
                                    </a:rPr>
                                    <m:t>0</m:t>
                                  </m:r>
                                </m:sub>
                              </m:sSub>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𝑝𝑡</m:t>
                              </m:r>
                            </m:e>
                          </m:eqArr>
                        </m:e>
                      </m:d>
                    </m:oMath>
                  </m:oMathPara>
                </a14:m>
                <a:endParaRPr lang="zh-CN" altLang="en-US" sz="2800" dirty="0"/>
              </a:p>
            </p:txBody>
          </p:sp>
        </mc:Choice>
        <mc:Fallback>
          <p:sp>
            <p:nvSpPr>
              <p:cNvPr id="10252" name="Object 12"/>
              <p:cNvSpPr txBox="1">
                <a:spLocks noRot="1" noChangeAspect="1" noMove="1" noResize="1" noEditPoints="1" noAdjustHandles="1" noChangeArrowheads="1" noChangeShapeType="1" noTextEdit="1"/>
              </p:cNvSpPr>
              <p:nvPr/>
            </p:nvSpPr>
            <p:spPr bwMode="auto">
              <a:xfrm>
                <a:off x="2449680" y="3424298"/>
                <a:ext cx="2385483" cy="1653579"/>
              </a:xfrm>
              <a:prstGeom prst="rect">
                <a:avLst/>
              </a:prstGeom>
              <a:blipFill rotWithShape="1">
                <a:blip r:embed="rId4"/>
                <a:stretch>
                  <a:fillRect l="-20" t="-23" r="11" b="25"/>
                </a:stretch>
              </a:blipFill>
              <a:ln>
                <a:noFill/>
              </a:ln>
              <a:effectLst/>
            </p:spPr>
            <p:txBody>
              <a:bodyPr/>
              <a:lstStyle/>
              <a:p>
                <a:r>
                  <a:rPr lang="zh-CN" altLang="en-US">
                    <a:noFill/>
                  </a:rPr>
                  <a:t> </a:t>
                </a:r>
              </a:p>
            </p:txBody>
          </p:sp>
        </mc:Fallback>
      </mc:AlternateContent>
      <p:grpSp>
        <p:nvGrpSpPr>
          <p:cNvPr id="10260" name="Group 20"/>
          <p:cNvGrpSpPr/>
          <p:nvPr/>
        </p:nvGrpSpPr>
        <p:grpSpPr bwMode="auto">
          <a:xfrm>
            <a:off x="3298243" y="3092448"/>
            <a:ext cx="5856288" cy="990600"/>
            <a:chOff x="1536" y="1920"/>
            <a:chExt cx="3689" cy="624"/>
          </a:xfrm>
        </p:grpSpPr>
        <p:sp>
          <p:nvSpPr>
            <p:cNvPr id="10255" name="Text Box 15"/>
            <p:cNvSpPr txBox="1">
              <a:spLocks noChangeArrowheads="1"/>
            </p:cNvSpPr>
            <p:nvPr/>
          </p:nvSpPr>
          <p:spPr bwMode="auto">
            <a:xfrm>
              <a:off x="2921" y="2217"/>
              <a:ext cx="2304"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lang="zh-CN" altLang="en-US" sz="2800" dirty="0"/>
                <a:t>直线的一组</a:t>
              </a:r>
              <a:r>
                <a:rPr lang="zh-CN" altLang="en-US" sz="2800" dirty="0">
                  <a:solidFill>
                    <a:srgbClr val="04926A"/>
                  </a:solidFill>
                  <a:latin typeface="黑体" panose="02010609060101010101" pitchFamily="49" charset="-122"/>
                  <a:ea typeface="黑体" panose="02010609060101010101" pitchFamily="49" charset="-122"/>
                </a:rPr>
                <a:t>方向数</a:t>
              </a:r>
              <a:endParaRPr lang="zh-CN" altLang="en-US" sz="2800" dirty="0">
                <a:solidFill>
                  <a:srgbClr val="04926A"/>
                </a:solidFill>
                <a:latin typeface="黑体" panose="02010609060101010101" pitchFamily="49" charset="-122"/>
                <a:ea typeface="黑体" panose="02010609060101010101" pitchFamily="49" charset="-122"/>
              </a:endParaRPr>
            </a:p>
          </p:txBody>
        </p:sp>
        <p:sp>
          <p:nvSpPr>
            <p:cNvPr id="10257" name="Line 17"/>
            <p:cNvSpPr>
              <a:spLocks noChangeShapeType="1"/>
            </p:cNvSpPr>
            <p:nvPr/>
          </p:nvSpPr>
          <p:spPr bwMode="auto">
            <a:xfrm flipH="1" flipV="1">
              <a:off x="1536" y="1920"/>
              <a:ext cx="2688" cy="336"/>
            </a:xfrm>
            <a:prstGeom prst="line">
              <a:avLst/>
            </a:prstGeom>
            <a:noFill/>
            <a:ln w="19050">
              <a:solidFill>
                <a:srgbClr val="4B7BA8"/>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58" name="Line 18"/>
            <p:cNvSpPr>
              <a:spLocks noChangeShapeType="1"/>
            </p:cNvSpPr>
            <p:nvPr/>
          </p:nvSpPr>
          <p:spPr bwMode="auto">
            <a:xfrm flipH="1" flipV="1">
              <a:off x="2400" y="1920"/>
              <a:ext cx="1824" cy="336"/>
            </a:xfrm>
            <a:prstGeom prst="line">
              <a:avLst/>
            </a:prstGeom>
            <a:noFill/>
            <a:ln w="19050">
              <a:solidFill>
                <a:srgbClr val="4B7BA8"/>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59" name="Line 19"/>
            <p:cNvSpPr>
              <a:spLocks noChangeShapeType="1"/>
            </p:cNvSpPr>
            <p:nvPr/>
          </p:nvSpPr>
          <p:spPr bwMode="auto">
            <a:xfrm flipH="1" flipV="1">
              <a:off x="3216" y="1920"/>
              <a:ext cx="1008" cy="336"/>
            </a:xfrm>
            <a:prstGeom prst="line">
              <a:avLst/>
            </a:prstGeom>
            <a:noFill/>
            <a:ln w="19050">
              <a:solidFill>
                <a:srgbClr val="4B7BA8"/>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mc:AlternateContent xmlns:mc="http://schemas.openxmlformats.org/markup-compatibility/2006">
        <mc:Choice xmlns:a14="http://schemas.microsoft.com/office/drawing/2010/main" Requires="a14">
          <p:sp>
            <p:nvSpPr>
              <p:cNvPr id="10261" name="Text Box 21"/>
              <p:cNvSpPr txBox="1">
                <a:spLocks noChangeArrowheads="1"/>
              </p:cNvSpPr>
              <p:nvPr/>
            </p:nvSpPr>
            <p:spPr bwMode="auto">
              <a:xfrm>
                <a:off x="5496931" y="4075071"/>
                <a:ext cx="3460638" cy="10577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nSpc>
                    <a:spcPct val="120000"/>
                  </a:lnSpc>
                  <a:spcBef>
                    <a:spcPct val="50000"/>
                  </a:spcBef>
                </a:pPr>
                <a:r>
                  <a:rPr lang="zh-CN" altLang="en-US" sz="2800" dirty="0"/>
                  <a:t>向量</a:t>
                </a:r>
                <a14:m>
                  <m:oMath xmlns:m="http://schemas.openxmlformats.org/officeDocument/2006/math">
                    <m:r>
                      <a:rPr lang="zh-CN" altLang="en-US" sz="2800" b="1" i="1">
                        <a:solidFill>
                          <a:srgbClr val="000000"/>
                        </a:solidFill>
                        <a:latin typeface="Cambria Math" panose="02040503050406030204" charset="0"/>
                      </a:rPr>
                      <m:t>𝒔</m:t>
                    </m:r>
                  </m:oMath>
                </a14:m>
                <a:r>
                  <a:rPr lang="zh-CN" altLang="en-US" sz="2800" dirty="0"/>
                  <a:t>的方向余弦称为直线的</a:t>
                </a:r>
                <a:r>
                  <a:rPr lang="zh-CN" altLang="en-US" sz="2800" dirty="0">
                    <a:solidFill>
                      <a:srgbClr val="04926A"/>
                    </a:solidFill>
                    <a:latin typeface="黑体" panose="02010609060101010101" pitchFamily="49" charset="-122"/>
                    <a:ea typeface="黑体" panose="02010609060101010101" pitchFamily="49" charset="-122"/>
                  </a:rPr>
                  <a:t>方向余弦</a:t>
                </a:r>
                <a:r>
                  <a:rPr lang="en-US" altLang="zh-CN" sz="2800" dirty="0">
                    <a:solidFill>
                      <a:srgbClr val="04926A"/>
                    </a:solidFill>
                    <a:latin typeface="黑体" panose="02010609060101010101" pitchFamily="49" charset="-122"/>
                    <a:ea typeface="黑体" panose="02010609060101010101" pitchFamily="49" charset="-122"/>
                  </a:rPr>
                  <a:t>.</a:t>
                </a:r>
                <a:endParaRPr lang="en-US" altLang="zh-CN" sz="2800" dirty="0">
                  <a:solidFill>
                    <a:srgbClr val="04926A"/>
                  </a:solidFill>
                  <a:latin typeface="黑体" panose="02010609060101010101" pitchFamily="49" charset="-122"/>
                  <a:ea typeface="黑体" panose="02010609060101010101" pitchFamily="49" charset="-122"/>
                </a:endParaRPr>
              </a:p>
            </p:txBody>
          </p:sp>
        </mc:Choice>
        <mc:Fallback>
          <p:sp>
            <p:nvSpPr>
              <p:cNvPr id="10261" name="Text Box 21"/>
              <p:cNvSpPr txBox="1">
                <a:spLocks noRot="1" noChangeAspect="1" noMove="1" noResize="1" noEditPoints="1" noAdjustHandles="1" noChangeArrowheads="1" noChangeShapeType="1" noTextEdit="1"/>
              </p:cNvSpPr>
              <p:nvPr/>
            </p:nvSpPr>
            <p:spPr bwMode="auto">
              <a:xfrm>
                <a:off x="5496931" y="4075071"/>
                <a:ext cx="3460638" cy="1057790"/>
              </a:xfrm>
              <a:prstGeom prst="rect">
                <a:avLst/>
              </a:prstGeom>
              <a:blipFill rotWithShape="1">
                <a:blip r:embed="rId5"/>
                <a:stretch>
                  <a:fillRect l="-11" t="-26" r="7" b="-1066"/>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p:sp>
        <p:nvSpPr>
          <p:cNvPr id="10262" name="Rectangle 22"/>
          <p:cNvSpPr>
            <a:spLocks noChangeArrowheads="1"/>
          </p:cNvSpPr>
          <p:nvPr/>
        </p:nvSpPr>
        <p:spPr bwMode="auto">
          <a:xfrm>
            <a:off x="2449680" y="5015573"/>
            <a:ext cx="2797023"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0000"/>
                </a:solidFill>
                <a:miter lim="800000"/>
                <a:headEnd/>
                <a:tailEnd/>
              </a14:hiddenLine>
            </a:ext>
          </a:extLst>
        </p:spPr>
        <p:txBody>
          <a:bodyPr wrap="square">
            <a:spAutoFit/>
          </a:bodyPr>
          <a:lstStyle/>
          <a:p>
            <a:pPr eaLnBrk="1" hangingPunct="1"/>
            <a:r>
              <a:rPr lang="zh-CN" altLang="en-US" sz="2800" dirty="0">
                <a:solidFill>
                  <a:srgbClr val="04926A"/>
                </a:solidFill>
                <a:latin typeface="黑体" panose="02010609060101010101" pitchFamily="49" charset="-122"/>
                <a:ea typeface="黑体" panose="02010609060101010101" pitchFamily="49" charset="-122"/>
              </a:rPr>
              <a:t>直线的参数方程</a:t>
            </a:r>
            <a:endParaRPr lang="zh-CN" altLang="en-US" sz="2800" dirty="0">
              <a:solidFill>
                <a:srgbClr val="04926A"/>
              </a:solidFill>
              <a:latin typeface="黑体" panose="02010609060101010101" pitchFamily="49" charset="-122"/>
              <a:ea typeface="黑体" panose="02010609060101010101" pitchFamily="49" charset="-122"/>
            </a:endParaRP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5"/>
                                        </p:tgtEl>
                                        <p:attrNameLst>
                                          <p:attrName>style.visibility</p:attrName>
                                        </p:attrNameLst>
                                      </p:cBhvr>
                                      <p:to>
                                        <p:strVal val="visible"/>
                                      </p:to>
                                    </p:set>
                                    <p:animEffect transition="in" filter="wipe(left)">
                                      <p:cBhvr>
                                        <p:cTn id="7" dur="500"/>
                                        <p:tgtEl>
                                          <p:spTgt spid="1024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0248"/>
                                        </p:tgtEl>
                                        <p:attrNameLst>
                                          <p:attrName>style.visibility</p:attrName>
                                        </p:attrNameLst>
                                      </p:cBhvr>
                                      <p:to>
                                        <p:strVal val="visible"/>
                                      </p:to>
                                    </p:set>
                                    <p:animEffect transition="in" filter="wipe(left)">
                                      <p:cBhvr>
                                        <p:cTn id="12" dur="300"/>
                                        <p:tgtEl>
                                          <p:spTgt spid="1024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251"/>
                                        </p:tgtEl>
                                        <p:attrNameLst>
                                          <p:attrName>style.visibility</p:attrName>
                                        </p:attrNameLst>
                                      </p:cBhvr>
                                      <p:to>
                                        <p:strVal val="visible"/>
                                      </p:to>
                                    </p:set>
                                    <p:animEffect transition="in" filter="wipe(left)">
                                      <p:cBhvr>
                                        <p:cTn id="17" dur="500"/>
                                        <p:tgtEl>
                                          <p:spTgt spid="10251"/>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10252"/>
                                        </p:tgtEl>
                                        <p:attrNameLst>
                                          <p:attrName>style.visibility</p:attrName>
                                        </p:attrNameLst>
                                      </p:cBhvr>
                                      <p:to>
                                        <p:strVal val="visible"/>
                                      </p:to>
                                    </p:set>
                                    <p:animEffect transition="in" filter="wipe(left)">
                                      <p:cBhvr>
                                        <p:cTn id="21" dur="500"/>
                                        <p:tgtEl>
                                          <p:spTgt spid="1025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iterate type="lt">
                                    <p:tmPct val="100000"/>
                                  </p:iterate>
                                  <p:childTnLst>
                                    <p:set>
                                      <p:cBhvr>
                                        <p:cTn id="25" dur="1" fill="hold">
                                          <p:stCondLst>
                                            <p:cond delay="0"/>
                                          </p:stCondLst>
                                        </p:cTn>
                                        <p:tgtEl>
                                          <p:spTgt spid="10262"/>
                                        </p:tgtEl>
                                        <p:attrNameLst>
                                          <p:attrName>style.visibility</p:attrName>
                                        </p:attrNameLst>
                                      </p:cBhvr>
                                      <p:to>
                                        <p:strVal val="visible"/>
                                      </p:to>
                                    </p:set>
                                    <p:animEffect transition="in" filter="wipe(left)">
                                      <p:cBhvr>
                                        <p:cTn id="26" dur="75"/>
                                        <p:tgtEl>
                                          <p:spTgt spid="1026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10260"/>
                                        </p:tgtEl>
                                        <p:attrNameLst>
                                          <p:attrName>style.visibility</p:attrName>
                                        </p:attrNameLst>
                                      </p:cBhvr>
                                      <p:to>
                                        <p:strVal val="visible"/>
                                      </p:to>
                                    </p:set>
                                    <p:animEffect transition="in" filter="wipe(down)">
                                      <p:cBhvr>
                                        <p:cTn id="31" dur="500"/>
                                        <p:tgtEl>
                                          <p:spTgt spid="1026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0261"/>
                                        </p:tgtEl>
                                        <p:attrNameLst>
                                          <p:attrName>style.visibility</p:attrName>
                                        </p:attrNameLst>
                                      </p:cBhvr>
                                      <p:to>
                                        <p:strVal val="visible"/>
                                      </p:to>
                                    </p:set>
                                    <p:animEffect transition="in" filter="wipe(left)">
                                      <p:cBhvr>
                                        <p:cTn id="36" dur="500"/>
                                        <p:tgtEl>
                                          <p:spTgt spid="102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5" grpId="0" bldLvl="0" animBg="1"/>
      <p:bldP spid="10248" grpId="0" autoUpdateAnimBg="0"/>
      <p:bldP spid="10252" grpId="0" bldLvl="0" animBg="1"/>
      <p:bldP spid="10261" grpId="0" autoUpdateAnimBg="0"/>
      <p:bldP spid="10262"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p:nvPr/>
        </p:nvSpPr>
        <p:spPr>
          <a:xfrm>
            <a:off x="1214807" y="1356654"/>
            <a:ext cx="9762385" cy="1231432"/>
          </a:xfrm>
          <a:prstGeom prst="rect">
            <a:avLst/>
          </a:prstGeom>
          <a:solidFill>
            <a:srgbClr val="04926A">
              <a:alpha val="2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4" name="PA-102231"/>
          <p:cNvSpPr/>
          <p:nvPr>
            <p:custDataLst>
              <p:tags r:id="rId1"/>
            </p:custDataLst>
          </p:nvPr>
        </p:nvSpPr>
        <p:spPr>
          <a:xfrm>
            <a:off x="822896" y="1599861"/>
            <a:ext cx="990600" cy="702083"/>
          </a:xfrm>
          <a:prstGeom prst="rect">
            <a:avLst/>
          </a:prstGeom>
          <a:solidFill>
            <a:schemeClr val="bg1"/>
          </a:solidFill>
          <a:ln w="19050">
            <a:gradFill>
              <a:gsLst>
                <a:gs pos="5000">
                  <a:srgbClr val="17A45E"/>
                </a:gs>
                <a:gs pos="56000">
                  <a:srgbClr val="039267"/>
                </a:gs>
                <a:gs pos="100000">
                  <a:srgbClr val="068983"/>
                </a:gs>
              </a:gsLst>
              <a:lin ang="10800000" scaled="0"/>
            </a:gradFill>
          </a:ln>
          <a:effectLst>
            <a:outerShdw blurRad="203200" dist="63500" dir="3000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n>
                <a:solidFill>
                  <a:schemeClr val="bg1">
                    <a:lumMod val="95000"/>
                  </a:schemeClr>
                </a:solidFill>
              </a:ln>
              <a:cs typeface="+mn-ea"/>
              <a:sym typeface="+mn-lt"/>
            </a:endParaRPr>
          </a:p>
        </p:txBody>
      </p:sp>
      <p:sp>
        <p:nvSpPr>
          <p:cNvPr id="5" name="Text Box 3"/>
          <p:cNvSpPr txBox="1">
            <a:spLocks noChangeArrowheads="1"/>
          </p:cNvSpPr>
          <p:nvPr/>
        </p:nvSpPr>
        <p:spPr bwMode="auto">
          <a:xfrm>
            <a:off x="878647" y="1716227"/>
            <a:ext cx="990600" cy="519113"/>
          </a:xfrm>
          <a:prstGeom prst="rect">
            <a:avLst/>
          </a:prstGeom>
          <a:noFill/>
          <a:ln>
            <a:noFill/>
          </a:ln>
          <a:extLst>
            <a:ext uri="{909E8E84-426E-40DD-AFC4-6F175D3DCCD1}">
              <a14:hiddenFill xmlns:a14="http://schemas.microsoft.com/office/drawing/2010/main">
                <a:solidFill>
                  <a:srgbClr val="C9FFFF"/>
                </a:solidFill>
              </a14:hiddenFill>
            </a:ext>
            <a:ext uri="{91240B29-F687-4F45-9708-019B960494DF}">
              <a14:hiddenLine xmlns:a14="http://schemas.microsoft.com/office/drawing/2010/main" w="9525">
                <a:solidFill>
                  <a:schemeClr val="accent2"/>
                </a:solidFill>
                <a:miter lim="800000"/>
                <a:headEnd/>
                <a:tailEnd/>
              </a14:hiddenLine>
            </a:ext>
          </a:extLst>
        </p:spPr>
        <p:txBody>
          <a:bodyPr>
            <a:spAutoFit/>
          </a:bodyPr>
          <a:lstStyle/>
          <a:p>
            <a:pPr eaLnBrk="0" fontAlgn="base" hangingPunct="0">
              <a:spcBef>
                <a:spcPct val="0"/>
              </a:spcBef>
              <a:spcAft>
                <a:spcPct val="0"/>
              </a:spcAft>
              <a:defRPr/>
            </a:pPr>
            <a:r>
              <a:rPr kumimoji="1" lang="zh-CN" altLang="en-US" sz="2800" b="1" dirty="0">
                <a:solidFill>
                  <a:srgbClr val="04926A"/>
                </a:solidFill>
                <a:latin typeface="微软雅黑" panose="020B0503020204020204" charset="-122"/>
                <a:ea typeface="微软雅黑" panose="020B0503020204020204" charset="-122"/>
              </a:rPr>
              <a:t>定义</a:t>
            </a:r>
            <a:endParaRPr kumimoji="1" lang="zh-CN" altLang="en-US" sz="2800" b="1" dirty="0">
              <a:solidFill>
                <a:srgbClr val="04926A"/>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20564" name="Text Box 84"/>
              <p:cNvSpPr txBox="1">
                <a:spLocks noChangeArrowheads="1"/>
              </p:cNvSpPr>
              <p:nvPr/>
            </p:nvSpPr>
            <p:spPr bwMode="auto">
              <a:xfrm>
                <a:off x="1785989" y="3868726"/>
                <a:ext cx="3340928"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spcBef>
                    <a:spcPct val="50000"/>
                  </a:spcBef>
                </a:pPr>
                <a:r>
                  <a:rPr kumimoji="1" lang="zh-CN" altLang="en-US" sz="2800" dirty="0">
                    <a:latin typeface="Times New Roman" panose="02020603050405020304" pitchFamily="18" charset="0"/>
                    <a:cs typeface="Times New Roman" panose="02020603050405020304" pitchFamily="18" charset="0"/>
                  </a:rPr>
                  <a:t>则两直线夹角</a:t>
                </a:r>
                <a14:m>
                  <m:oMath xmlns:m="http://schemas.openxmlformats.org/officeDocument/2006/math">
                    <m:r>
                      <a:rPr lang="en-US" altLang="zh-CN" sz="2800">
                        <a:latin typeface="Cambria Math" panose="02040503050406030204" charset="0"/>
                        <a:ea typeface="MS Mincho" panose="02020609040205080304" charset="-128"/>
                        <a:cs typeface="Cambria Math" panose="02040503050406030204" charset="0"/>
                      </a:rPr>
                      <m:t>𝜑</m:t>
                    </m:r>
                  </m:oMath>
                </a14:m>
                <a:r>
                  <a:rPr kumimoji="1" lang="zh-CN" altLang="en-US" sz="2800" dirty="0">
                    <a:latin typeface="Times New Roman" panose="02020603050405020304" pitchFamily="18" charset="0"/>
                    <a:cs typeface="Times New Roman" panose="02020603050405020304" pitchFamily="18" charset="0"/>
                    <a:sym typeface="Symbol" panose="05050102010706020507" pitchFamily="18" charset="2"/>
                  </a:rPr>
                  <a:t>满足</a:t>
                </a:r>
                <a:endParaRPr kumimoji="1" lang="zh-CN" altLang="en-US" sz="2800" dirty="0">
                  <a:latin typeface="Times New Roman" panose="02020603050405020304" pitchFamily="18" charset="0"/>
                  <a:cs typeface="Times New Roman" panose="02020603050405020304" pitchFamily="18" charset="0"/>
                </a:endParaRPr>
              </a:p>
            </p:txBody>
          </p:sp>
        </mc:Choice>
        <mc:Fallback>
          <p:sp>
            <p:nvSpPr>
              <p:cNvPr id="20564" name="Text Box 84"/>
              <p:cNvSpPr txBox="1">
                <a:spLocks noRot="1" noChangeAspect="1" noMove="1" noResize="1" noEditPoints="1" noAdjustHandles="1" noChangeArrowheads="1" noChangeShapeType="1" noTextEdit="1"/>
              </p:cNvSpPr>
              <p:nvPr/>
            </p:nvSpPr>
            <p:spPr bwMode="auto">
              <a:xfrm>
                <a:off x="1785989" y="3868726"/>
                <a:ext cx="3340928" cy="523220"/>
              </a:xfrm>
              <a:prstGeom prst="rect">
                <a:avLst/>
              </a:prstGeom>
              <a:blipFill rotWithShape="1">
                <a:blip r:embed="rId2"/>
                <a:stretch>
                  <a:fillRect l="-11" t="-58" r="17" b="55"/>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565" name="Text Box 85"/>
              <p:cNvSpPr txBox="1">
                <a:spLocks noChangeArrowheads="1"/>
              </p:cNvSpPr>
              <p:nvPr/>
            </p:nvSpPr>
            <p:spPr bwMode="auto">
              <a:xfrm>
                <a:off x="1772184" y="2651118"/>
                <a:ext cx="5257800" cy="5598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nSpc>
                    <a:spcPct val="120000"/>
                  </a:lnSpc>
                  <a:spcBef>
                    <a:spcPct val="50000"/>
                  </a:spcBef>
                </a:pPr>
                <a:r>
                  <a:rPr kumimoji="1" lang="zh-CN" altLang="en-US" sz="2800" dirty="0">
                    <a:latin typeface="Times New Roman" panose="02020603050405020304" pitchFamily="18" charset="0"/>
                    <a:cs typeface="Times New Roman" panose="02020603050405020304" pitchFamily="18" charset="0"/>
                  </a:rPr>
                  <a:t>设直线 </a:t>
                </a:r>
                <a14:m>
                  <m:oMath xmlns:m="http://schemas.openxmlformats.org/officeDocument/2006/math">
                    <m:sSub>
                      <m:sSubPr>
                        <m:ctrlPr>
                          <a:rPr lang="zh-CN" altLang="en-US" sz="2800" i="1">
                            <a:latin typeface="Cambria Math" panose="02040503050406030204" charset="0"/>
                          </a:rPr>
                        </m:ctrlPr>
                      </m:sSubPr>
                      <m:e>
                        <m:r>
                          <a:rPr lang="en-US" altLang="zh-CN" sz="2800" b="0" i="1" smtClean="0">
                            <a:latin typeface="Cambria Math" panose="02040503050406030204" charset="0"/>
                          </a:rPr>
                          <m:t>𝐿</m:t>
                        </m:r>
                      </m:e>
                      <m:sub>
                        <m:r>
                          <a:rPr lang="en-US" altLang="zh-CN" sz="2800" b="0" i="1" smtClean="0">
                            <a:latin typeface="Cambria Math" panose="02040503050406030204" charset="0"/>
                          </a:rPr>
                          <m:t>1</m:t>
                        </m:r>
                      </m:sub>
                    </m:sSub>
                    <m:r>
                      <a:rPr lang="en-US" altLang="zh-CN" sz="2800" b="0" i="0" smtClean="0">
                        <a:latin typeface="Cambria Math" panose="02040503050406030204" charset="0"/>
                      </a:rPr>
                      <m:t>,</m:t>
                    </m:r>
                    <m:sSub>
                      <m:sSubPr>
                        <m:ctrlPr>
                          <a:rPr lang="zh-CN" altLang="en-US" sz="2800" i="1">
                            <a:latin typeface="Cambria Math" panose="02040503050406030204" charset="0"/>
                          </a:rPr>
                        </m:ctrlPr>
                      </m:sSubPr>
                      <m:e>
                        <m:r>
                          <a:rPr lang="en-US" altLang="zh-CN" sz="2800" i="1">
                            <a:latin typeface="Cambria Math" panose="02040503050406030204" charset="0"/>
                          </a:rPr>
                          <m:t>𝐿</m:t>
                        </m:r>
                      </m:e>
                      <m:sub>
                        <m:r>
                          <a:rPr lang="zh-CN" altLang="en-US" sz="2800" i="1">
                            <a:latin typeface="Cambria Math" panose="02040503050406030204" charset="0"/>
                          </a:rPr>
                          <m:t>2</m:t>
                        </m:r>
                      </m:sub>
                    </m:sSub>
                  </m:oMath>
                </a14:m>
                <a:r>
                  <a:rPr kumimoji="1" lang="zh-CN" altLang="en-US" sz="2800" dirty="0">
                    <a:latin typeface="Times New Roman" panose="02020603050405020304" pitchFamily="18" charset="0"/>
                    <a:cs typeface="Times New Roman" panose="02020603050405020304" pitchFamily="18" charset="0"/>
                  </a:rPr>
                  <a:t>的方向向量分别为 </a:t>
                </a:r>
                <a:endParaRPr kumimoji="1" lang="zh-CN" altLang="en-US" sz="2800" dirty="0">
                  <a:latin typeface="Times New Roman" panose="02020603050405020304" pitchFamily="18" charset="0"/>
                  <a:cs typeface="Times New Roman" panose="02020603050405020304" pitchFamily="18" charset="0"/>
                </a:endParaRPr>
              </a:p>
            </p:txBody>
          </p:sp>
        </mc:Choice>
        <mc:Fallback>
          <p:sp>
            <p:nvSpPr>
              <p:cNvPr id="20565" name="Text Box 85"/>
              <p:cNvSpPr txBox="1">
                <a:spLocks noRot="1" noChangeAspect="1" noMove="1" noResize="1" noEditPoints="1" noAdjustHandles="1" noChangeArrowheads="1" noChangeShapeType="1" noTextEdit="1"/>
              </p:cNvSpPr>
              <p:nvPr/>
            </p:nvSpPr>
            <p:spPr bwMode="auto">
              <a:xfrm>
                <a:off x="1772184" y="2651118"/>
                <a:ext cx="5257800" cy="559897"/>
              </a:xfrm>
              <a:prstGeom prst="rect">
                <a:avLst/>
              </a:prstGeom>
              <a:blipFill rotWithShape="1">
                <a:blip r:embed="rId3"/>
                <a:stretch>
                  <a:fillRect l="-10" t="-112" r="10" b="81"/>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p:sp>
        <p:nvSpPr>
          <p:cNvPr id="20567" name="Text Box 87"/>
          <p:cNvSpPr txBox="1">
            <a:spLocks noChangeArrowheads="1"/>
          </p:cNvSpPr>
          <p:nvPr/>
        </p:nvSpPr>
        <p:spPr bwMode="auto">
          <a:xfrm>
            <a:off x="1869247" y="1706638"/>
            <a:ext cx="830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kumimoji="1" lang="zh-CN" altLang="en-US" sz="2800" dirty="0">
                <a:latin typeface="Times New Roman" panose="02020603050405020304" pitchFamily="18" charset="0"/>
                <a:cs typeface="Times New Roman" panose="02020603050405020304" pitchFamily="18" charset="0"/>
              </a:rPr>
              <a:t>两直线的夹角指其方向向量间的</a:t>
            </a:r>
            <a:r>
              <a:rPr kumimoji="1" lang="zh-CN" altLang="en-US" sz="2800" dirty="0">
                <a:solidFill>
                  <a:srgbClr val="04926A"/>
                </a:solidFill>
                <a:latin typeface="Times New Roman" panose="02020603050405020304" pitchFamily="18" charset="0"/>
                <a:cs typeface="Times New Roman" panose="02020603050405020304" pitchFamily="18" charset="0"/>
              </a:rPr>
              <a:t>夹角</a:t>
            </a:r>
            <a:r>
              <a:rPr kumimoji="1" lang="en-US" altLang="zh-CN" sz="2800" dirty="0">
                <a:latin typeface="Times New Roman" panose="02020603050405020304" pitchFamily="18" charset="0"/>
                <a:cs typeface="Times New Roman" panose="02020603050405020304" pitchFamily="18" charset="0"/>
              </a:rPr>
              <a:t>(</a:t>
            </a:r>
            <a:r>
              <a:rPr kumimoji="1" lang="zh-CN" altLang="en-US" sz="2800" dirty="0">
                <a:latin typeface="Times New Roman" panose="02020603050405020304" pitchFamily="18" charset="0"/>
                <a:cs typeface="Times New Roman" panose="02020603050405020304" pitchFamily="18" charset="0"/>
              </a:rPr>
              <a:t>通常取</a:t>
            </a:r>
            <a:r>
              <a:rPr kumimoji="1" lang="zh-CN" altLang="en-US" sz="2800" dirty="0">
                <a:solidFill>
                  <a:srgbClr val="04926A"/>
                </a:solidFill>
                <a:latin typeface="Times New Roman" panose="02020603050405020304" pitchFamily="18" charset="0"/>
                <a:cs typeface="Times New Roman" panose="02020603050405020304" pitchFamily="18" charset="0"/>
              </a:rPr>
              <a:t>锐角</a:t>
            </a:r>
            <a:r>
              <a:rPr kumimoji="1" lang="en-US" altLang="zh-CN" sz="2800" dirty="0">
                <a:latin typeface="Times New Roman" panose="02020603050405020304" pitchFamily="18" charset="0"/>
                <a:cs typeface="Times New Roman" panose="02020603050405020304" pitchFamily="18" charset="0"/>
              </a:rPr>
              <a:t>).</a:t>
            </a:r>
            <a:endParaRPr kumimoji="1" lang="en-US" altLang="zh-CN" sz="28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0566" name="Object 86"/>
              <p:cNvSpPr txBox="1"/>
              <p:nvPr/>
            </p:nvSpPr>
            <p:spPr bwMode="auto">
              <a:xfrm>
                <a:off x="4265303" y="4783977"/>
                <a:ext cx="5603455" cy="750990"/>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lang="zh-CN" altLang="en-US" sz="2800" i="1">
                          <a:latin typeface="Cambria Math" panose="02040503050406030204" charset="0"/>
                        </a:rPr>
                        <m:t>=</m:t>
                      </m:r>
                      <m:f>
                        <m:fPr>
                          <m:ctrlPr>
                            <a:rPr lang="zh-CN" altLang="en-US" sz="2800" i="1">
                              <a:latin typeface="Cambria Math" panose="02040503050406030204" charset="0"/>
                            </a:rPr>
                          </m:ctrlPr>
                        </m:fPr>
                        <m:num>
                          <m:r>
                            <m:rPr>
                              <m:nor/>
                            </m:rPr>
                            <a:rPr lang="zh-CN" altLang="en-US" sz="2800" i="1">
                              <a:latin typeface="Cambria Math" panose="02040503050406030204" charset="0"/>
                            </a:rPr>
                            <m:t>                  </m:t>
                          </m:r>
                          <m:r>
                            <m:rPr>
                              <m:nor/>
                            </m:rPr>
                            <a:rPr lang="en-US" altLang="zh-CN" sz="2800" b="0" i="1" smtClean="0">
                              <a:latin typeface="Cambria Math" panose="02040503050406030204" charset="0"/>
                            </a:rPr>
                            <m:t>    </m:t>
                          </m:r>
                          <m:r>
                            <m:rPr>
                              <m:nor/>
                            </m:rPr>
                            <a:rPr lang="zh-CN" altLang="en-US" sz="2800" i="1">
                              <a:latin typeface="Cambria Math" panose="02040503050406030204" charset="0"/>
                            </a:rPr>
                            <m:t>                                      </m:t>
                          </m:r>
                        </m:num>
                        <m:den>
                          <m:r>
                            <a:rPr lang="en-US" altLang="zh-CN" sz="2800" i="1">
                              <a:latin typeface="Cambria Math" panose="02040503050406030204" charset="0"/>
                            </a:rPr>
                            <m:t> </m:t>
                          </m:r>
                        </m:den>
                      </m:f>
                      <m:r>
                        <a:rPr lang="zh-CN" altLang="en-US" sz="2800" i="1">
                          <a:latin typeface="Cambria Math" panose="02040503050406030204" charset="0"/>
                        </a:rPr>
                        <m:t>.</m:t>
                      </m:r>
                    </m:oMath>
                  </m:oMathPara>
                </a14:m>
                <a:endParaRPr lang="zh-CN" altLang="en-US" sz="2800" i="1" dirty="0">
                  <a:latin typeface="Cambria Math" panose="02040503050406030204" charset="0"/>
                </a:endParaRPr>
              </a:p>
            </p:txBody>
          </p:sp>
        </mc:Choice>
        <mc:Fallback>
          <p:sp>
            <p:nvSpPr>
              <p:cNvPr id="20566" name="Object 86"/>
              <p:cNvSpPr txBox="1">
                <a:spLocks noRot="1" noChangeAspect="1" noMove="1" noResize="1" noEditPoints="1" noAdjustHandles="1" noChangeArrowheads="1" noChangeShapeType="1" noTextEdit="1"/>
              </p:cNvSpPr>
              <p:nvPr/>
            </p:nvSpPr>
            <p:spPr bwMode="auto">
              <a:xfrm>
                <a:off x="4265303" y="4783977"/>
                <a:ext cx="5603455" cy="750990"/>
              </a:xfrm>
              <a:prstGeom prst="rect">
                <a:avLst/>
              </a:prstGeom>
              <a:blipFill rotWithShape="1">
                <a:blip r:embed="rId4"/>
                <a:stretch>
                  <a:fillRect t="-70" r="4" b="-11459"/>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568" name="Object 88"/>
              <p:cNvSpPr txBox="1"/>
              <p:nvPr/>
            </p:nvSpPr>
            <p:spPr bwMode="auto">
              <a:xfrm>
                <a:off x="5014595" y="4406265"/>
                <a:ext cx="5071745" cy="591820"/>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d>
                        <m:dPr>
                          <m:begChr m:val="|"/>
                          <m:endChr m:val="|"/>
                          <m:ctrlPr>
                            <a:rPr lang="zh-CN" altLang="en-US" sz="2800" i="1">
                              <a:latin typeface="Cambria Math" panose="02040503050406030204" charset="0"/>
                            </a:rPr>
                          </m:ctrlPr>
                        </m:dPr>
                        <m:e>
                          <m:sSub>
                            <m:sSubPr>
                              <m:ctrlPr>
                                <a:rPr lang="zh-CN" altLang="en-US" sz="2800" i="1">
                                  <a:latin typeface="Cambria Math" panose="02040503050406030204" charset="0"/>
                                </a:rPr>
                              </m:ctrlPr>
                            </m:sSubPr>
                            <m:e>
                              <m:r>
                                <a:rPr lang="zh-CN" altLang="en-US" sz="2800" i="1">
                                  <a:latin typeface="Cambria Math" panose="02040503050406030204" charset="0"/>
                                </a:rPr>
                                <m:t>𝑚</m:t>
                              </m:r>
                            </m:e>
                            <m:sub>
                              <m:r>
                                <a:rPr lang="zh-CN" altLang="en-US" sz="2800" i="1">
                                  <a:latin typeface="Cambria Math" panose="02040503050406030204" charset="0"/>
                                </a:rPr>
                                <m:t>1</m:t>
                              </m:r>
                            </m:sub>
                          </m:sSub>
                          <m:sSub>
                            <m:sSubPr>
                              <m:ctrlPr>
                                <a:rPr lang="zh-CN" altLang="en-US" sz="2800" i="1">
                                  <a:latin typeface="Cambria Math" panose="02040503050406030204" charset="0"/>
                                </a:rPr>
                              </m:ctrlPr>
                            </m:sSubPr>
                            <m:e>
                              <m:r>
                                <a:rPr lang="zh-CN" altLang="en-US" sz="2800" i="1">
                                  <a:latin typeface="Cambria Math" panose="02040503050406030204" charset="0"/>
                                </a:rPr>
                                <m:t>𝑚</m:t>
                              </m:r>
                            </m:e>
                            <m:sub>
                              <m:r>
                                <a:rPr lang="zh-CN" altLang="en-US" sz="2800" i="1">
                                  <a:latin typeface="Cambria Math" panose="02040503050406030204" charset="0"/>
                                </a:rPr>
                                <m:t>2</m:t>
                              </m:r>
                            </m:sub>
                          </m:sSub>
                          <m:r>
                            <a:rPr lang="zh-CN" altLang="en-US" sz="2800" i="1">
                              <a:latin typeface="Cambria Math" panose="02040503050406030204" charset="0"/>
                            </a:rPr>
                            <m:t>+</m:t>
                          </m:r>
                          <m:sSub>
                            <m:sSubPr>
                              <m:ctrlPr>
                                <a:rPr lang="zh-CN" altLang="en-US" sz="2800" i="1">
                                  <a:latin typeface="Cambria Math" panose="02040503050406030204" charset="0"/>
                                </a:rPr>
                              </m:ctrlPr>
                            </m:sSubPr>
                            <m:e>
                              <m:r>
                                <a:rPr lang="zh-CN" altLang="en-US" sz="2800" i="1">
                                  <a:latin typeface="Cambria Math" panose="02040503050406030204" charset="0"/>
                                </a:rPr>
                                <m:t>𝑛</m:t>
                              </m:r>
                            </m:e>
                            <m:sub>
                              <m:r>
                                <a:rPr lang="zh-CN" altLang="en-US" sz="2800" i="1">
                                  <a:latin typeface="Cambria Math" panose="02040503050406030204" charset="0"/>
                                </a:rPr>
                                <m:t>1</m:t>
                              </m:r>
                            </m:sub>
                          </m:sSub>
                          <m:sSub>
                            <m:sSubPr>
                              <m:ctrlPr>
                                <a:rPr lang="zh-CN" altLang="en-US" sz="2800" i="1">
                                  <a:latin typeface="Cambria Math" panose="02040503050406030204" charset="0"/>
                                </a:rPr>
                              </m:ctrlPr>
                            </m:sSubPr>
                            <m:e>
                              <m:r>
                                <a:rPr lang="zh-CN" altLang="en-US" sz="2800" i="1">
                                  <a:latin typeface="Cambria Math" panose="02040503050406030204" charset="0"/>
                                </a:rPr>
                                <m:t>𝑛</m:t>
                              </m:r>
                            </m:e>
                            <m:sub>
                              <m:r>
                                <a:rPr lang="zh-CN" altLang="en-US" sz="2800" i="1">
                                  <a:latin typeface="Cambria Math" panose="02040503050406030204" charset="0"/>
                                </a:rPr>
                                <m:t>2</m:t>
                              </m:r>
                            </m:sub>
                          </m:sSub>
                          <m:r>
                            <a:rPr lang="zh-CN" altLang="en-US" sz="2800" i="1">
                              <a:latin typeface="Cambria Math" panose="02040503050406030204" charset="0"/>
                            </a:rPr>
                            <m:t>+</m:t>
                          </m:r>
                          <m:sSub>
                            <m:sSubPr>
                              <m:ctrlPr>
                                <a:rPr lang="zh-CN" altLang="en-US" sz="2800" i="1">
                                  <a:latin typeface="Cambria Math" panose="02040503050406030204" charset="0"/>
                                </a:rPr>
                              </m:ctrlPr>
                            </m:sSubPr>
                            <m:e>
                              <m:r>
                                <a:rPr lang="zh-CN" altLang="en-US" sz="2800" i="1">
                                  <a:latin typeface="Cambria Math" panose="02040503050406030204" charset="0"/>
                                </a:rPr>
                                <m:t>𝑝</m:t>
                              </m:r>
                            </m:e>
                            <m:sub>
                              <m:r>
                                <a:rPr lang="zh-CN" altLang="en-US" sz="2800" i="1">
                                  <a:latin typeface="Cambria Math" panose="02040503050406030204" charset="0"/>
                                </a:rPr>
                                <m:t>1</m:t>
                              </m:r>
                            </m:sub>
                          </m:sSub>
                          <m:sSub>
                            <m:sSubPr>
                              <m:ctrlPr>
                                <a:rPr lang="zh-CN" altLang="en-US" sz="2800" i="1">
                                  <a:latin typeface="Cambria Math" panose="02040503050406030204" charset="0"/>
                                </a:rPr>
                              </m:ctrlPr>
                            </m:sSubPr>
                            <m:e>
                              <m:r>
                                <a:rPr lang="zh-CN" altLang="en-US" sz="2800" i="1">
                                  <a:latin typeface="Cambria Math" panose="02040503050406030204" charset="0"/>
                                </a:rPr>
                                <m:t>𝑝</m:t>
                              </m:r>
                            </m:e>
                            <m:sub>
                              <m:r>
                                <a:rPr lang="zh-CN" altLang="en-US" sz="2800" i="1">
                                  <a:latin typeface="Cambria Math" panose="02040503050406030204" charset="0"/>
                                </a:rPr>
                                <m:t>2</m:t>
                              </m:r>
                            </m:sub>
                          </m:sSub>
                        </m:e>
                      </m:d>
                    </m:oMath>
                  </m:oMathPara>
                </a14:m>
                <a:endParaRPr lang="zh-CN" altLang="en-US" sz="2800" i="1" dirty="0">
                  <a:latin typeface="Cambria Math" panose="02040503050406030204" charset="0"/>
                </a:endParaRPr>
              </a:p>
            </p:txBody>
          </p:sp>
        </mc:Choice>
        <mc:Fallback>
          <p:sp>
            <p:nvSpPr>
              <p:cNvPr id="20568" name="Object 88"/>
              <p:cNvSpPr txBox="1">
                <a:spLocks noRot="1" noChangeAspect="1" noMove="1" noResize="1" noEditPoints="1" noAdjustHandles="1" noChangeArrowheads="1" noChangeShapeType="1" noTextEdit="1"/>
              </p:cNvSpPr>
              <p:nvPr/>
            </p:nvSpPr>
            <p:spPr bwMode="auto">
              <a:xfrm>
                <a:off x="5014595" y="4406265"/>
                <a:ext cx="5071745" cy="591820"/>
              </a:xfrm>
              <a:prstGeom prst="rect">
                <a:avLst/>
              </a:prstGeom>
              <a:blipFill rotWithShape="1">
                <a:blip r:embed="rId5"/>
                <a:stretch>
                  <a:fillRect/>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569" name="Object 89"/>
              <p:cNvSpPr txBox="1"/>
              <p:nvPr/>
            </p:nvSpPr>
            <p:spPr bwMode="auto">
              <a:xfrm>
                <a:off x="4564416" y="5147661"/>
                <a:ext cx="2961295" cy="1037832"/>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ad>
                        <m:radPr>
                          <m:degHide m:val="on"/>
                          <m:ctrlPr>
                            <a:rPr lang="zh-CN" altLang="en-US" sz="2800" i="1" smtClean="0">
                              <a:latin typeface="Cambria Math" panose="02040503050406030204" charset="0"/>
                            </a:rPr>
                          </m:ctrlPr>
                        </m:radPr>
                        <m:deg/>
                        <m:e>
                          <m:sSubSup>
                            <m:sSubSupPr>
                              <m:ctrlPr>
                                <a:rPr lang="en-US" altLang="zh-CN" sz="2800" i="1">
                                  <a:latin typeface="Cambria Math" panose="02040503050406030204" charset="0"/>
                                  <a:ea typeface="黑体" panose="02010609060101010101" pitchFamily="49" charset="-122"/>
                                </a:rPr>
                              </m:ctrlPr>
                            </m:sSubSupPr>
                            <m:e>
                              <m:r>
                                <a:rPr lang="en-US" altLang="zh-CN" sz="2800" i="1">
                                  <a:latin typeface="Cambria Math" panose="02040503050406030204" charset="0"/>
                                  <a:ea typeface="黑体" panose="02010609060101010101" pitchFamily="49" charset="-122"/>
                                </a:rPr>
                                <m:t>𝑚</m:t>
                              </m:r>
                            </m:e>
                            <m:sub>
                              <m:r>
                                <a:rPr lang="en-US" altLang="zh-CN" sz="2800" i="1">
                                  <a:latin typeface="Cambria Math" panose="02040503050406030204" charset="0"/>
                                  <a:ea typeface="黑体" panose="02010609060101010101" pitchFamily="49" charset="-122"/>
                                </a:rPr>
                                <m:t>1</m:t>
                              </m:r>
                            </m:sub>
                            <m:sup>
                              <m:r>
                                <a:rPr lang="en-US" altLang="zh-CN" sz="2800" i="1">
                                  <a:latin typeface="Cambria Math" panose="02040503050406030204" charset="0"/>
                                  <a:ea typeface="黑体" panose="02010609060101010101" pitchFamily="49" charset="-122"/>
                                </a:rPr>
                                <m:t>2</m:t>
                              </m:r>
                            </m:sup>
                          </m:sSubSup>
                          <m:r>
                            <a:rPr lang="en-US" altLang="zh-CN" sz="2800" b="0" i="1" smtClean="0">
                              <a:latin typeface="Cambria Math" panose="02040503050406030204" charset="0"/>
                              <a:ea typeface="黑体" panose="02010609060101010101" pitchFamily="49" charset="-122"/>
                            </a:rPr>
                            <m:t>+</m:t>
                          </m:r>
                          <m:sSubSup>
                            <m:sSubSupPr>
                              <m:ctrlPr>
                                <a:rPr lang="en-US" altLang="zh-CN" sz="2800" i="1">
                                  <a:latin typeface="Cambria Math" panose="02040503050406030204" charset="0"/>
                                  <a:ea typeface="黑体" panose="02010609060101010101" pitchFamily="49" charset="-122"/>
                                </a:rPr>
                              </m:ctrlPr>
                            </m:sSubSupPr>
                            <m:e>
                              <m:r>
                                <a:rPr lang="en-US" altLang="zh-CN" sz="2800" b="0" i="1" smtClean="0">
                                  <a:latin typeface="Cambria Math" panose="02040503050406030204" charset="0"/>
                                  <a:ea typeface="黑体" panose="02010609060101010101" pitchFamily="49" charset="-122"/>
                                </a:rPr>
                                <m:t>𝑛</m:t>
                              </m:r>
                            </m:e>
                            <m:sub>
                              <m:r>
                                <a:rPr lang="en-US" altLang="zh-CN" sz="2800" i="1">
                                  <a:latin typeface="Cambria Math" panose="02040503050406030204" charset="0"/>
                                  <a:ea typeface="黑体" panose="02010609060101010101" pitchFamily="49" charset="-122"/>
                                </a:rPr>
                                <m:t>1</m:t>
                              </m:r>
                            </m:sub>
                            <m:sup>
                              <m:r>
                                <a:rPr lang="en-US" altLang="zh-CN" sz="2800" i="1">
                                  <a:latin typeface="Cambria Math" panose="02040503050406030204" charset="0"/>
                                  <a:ea typeface="黑体" panose="02010609060101010101" pitchFamily="49" charset="-122"/>
                                </a:rPr>
                                <m:t>2</m:t>
                              </m:r>
                            </m:sup>
                          </m:sSubSup>
                          <m:r>
                            <a:rPr lang="en-US" altLang="zh-CN" sz="2800" b="0" i="1" smtClean="0">
                              <a:latin typeface="Cambria Math" panose="02040503050406030204" charset="0"/>
                              <a:ea typeface="黑体" panose="02010609060101010101" pitchFamily="49" charset="-122"/>
                            </a:rPr>
                            <m:t>+</m:t>
                          </m:r>
                          <m:sSubSup>
                            <m:sSubSupPr>
                              <m:ctrlPr>
                                <a:rPr lang="en-US" altLang="zh-CN" sz="2800" i="1">
                                  <a:latin typeface="Cambria Math" panose="02040503050406030204" charset="0"/>
                                  <a:ea typeface="黑体" panose="02010609060101010101" pitchFamily="49" charset="-122"/>
                                </a:rPr>
                              </m:ctrlPr>
                            </m:sSubSupPr>
                            <m:e>
                              <m:r>
                                <a:rPr lang="en-US" altLang="zh-CN" sz="2800" b="0" i="1" smtClean="0">
                                  <a:latin typeface="Cambria Math" panose="02040503050406030204" charset="0"/>
                                  <a:ea typeface="黑体" panose="02010609060101010101" pitchFamily="49" charset="-122"/>
                                </a:rPr>
                                <m:t>𝑝</m:t>
                              </m:r>
                            </m:e>
                            <m:sub>
                              <m:r>
                                <a:rPr lang="en-US" altLang="zh-CN" sz="2800" i="1">
                                  <a:latin typeface="Cambria Math" panose="02040503050406030204" charset="0"/>
                                  <a:ea typeface="黑体" panose="02010609060101010101" pitchFamily="49" charset="-122"/>
                                </a:rPr>
                                <m:t>1</m:t>
                              </m:r>
                            </m:sub>
                            <m:sup>
                              <m:r>
                                <a:rPr lang="en-US" altLang="zh-CN" sz="2800" i="1">
                                  <a:latin typeface="Cambria Math" panose="02040503050406030204" charset="0"/>
                                  <a:ea typeface="黑体" panose="02010609060101010101" pitchFamily="49" charset="-122"/>
                                </a:rPr>
                                <m:t>2</m:t>
                              </m:r>
                            </m:sup>
                          </m:sSubSup>
                        </m:e>
                      </m:rad>
                    </m:oMath>
                  </m:oMathPara>
                </a14:m>
                <a:endParaRPr lang="zh-CN" altLang="en-US" sz="2800" i="1" dirty="0">
                  <a:latin typeface="Cambria Math" panose="02040503050406030204" charset="0"/>
                </a:endParaRPr>
              </a:p>
            </p:txBody>
          </p:sp>
        </mc:Choice>
        <mc:Fallback>
          <p:sp>
            <p:nvSpPr>
              <p:cNvPr id="20569" name="Object 89"/>
              <p:cNvSpPr txBox="1">
                <a:spLocks noRot="1" noChangeAspect="1" noMove="1" noResize="1" noEditPoints="1" noAdjustHandles="1" noChangeArrowheads="1" noChangeShapeType="1" noTextEdit="1"/>
              </p:cNvSpPr>
              <p:nvPr/>
            </p:nvSpPr>
            <p:spPr bwMode="auto">
              <a:xfrm>
                <a:off x="4564416" y="5147661"/>
                <a:ext cx="2961295" cy="1037832"/>
              </a:xfrm>
              <a:prstGeom prst="rect">
                <a:avLst/>
              </a:prstGeom>
              <a:blipFill rotWithShape="1">
                <a:blip r:embed="rId6"/>
                <a:stretch>
                  <a:fillRect l="-1" t="-34" r="11" b="57"/>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570" name="Object 90"/>
              <p:cNvSpPr txBox="1"/>
              <p:nvPr/>
            </p:nvSpPr>
            <p:spPr bwMode="auto">
              <a:xfrm>
                <a:off x="6987277" y="5147661"/>
                <a:ext cx="2732061" cy="1076927"/>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ad>
                        <m:radPr>
                          <m:degHide m:val="on"/>
                          <m:ctrlPr>
                            <a:rPr lang="zh-CN" altLang="en-US" sz="2800" i="1" smtClean="0">
                              <a:latin typeface="Cambria Math" panose="02040503050406030204" charset="0"/>
                            </a:rPr>
                          </m:ctrlPr>
                        </m:radPr>
                        <m:deg/>
                        <m:e>
                          <m:sSubSup>
                            <m:sSubSupPr>
                              <m:ctrlPr>
                                <a:rPr lang="en-US" altLang="zh-CN" sz="2800" i="1">
                                  <a:latin typeface="Cambria Math" panose="02040503050406030204" charset="0"/>
                                  <a:ea typeface="黑体" panose="02010609060101010101" pitchFamily="49" charset="-122"/>
                                </a:rPr>
                              </m:ctrlPr>
                            </m:sSubSupPr>
                            <m:e>
                              <m:r>
                                <a:rPr lang="en-US" altLang="zh-CN" sz="2800" i="1">
                                  <a:latin typeface="Cambria Math" panose="02040503050406030204" charset="0"/>
                                  <a:ea typeface="黑体" panose="02010609060101010101" pitchFamily="49" charset="-122"/>
                                </a:rPr>
                                <m:t>𝑚</m:t>
                              </m:r>
                            </m:e>
                            <m:sub>
                              <m:r>
                                <a:rPr lang="en-US" altLang="zh-CN" sz="2800" b="0" i="1" smtClean="0">
                                  <a:latin typeface="Cambria Math" panose="02040503050406030204" charset="0"/>
                                  <a:ea typeface="黑体" panose="02010609060101010101" pitchFamily="49" charset="-122"/>
                                </a:rPr>
                                <m:t>2</m:t>
                              </m:r>
                            </m:sub>
                            <m:sup>
                              <m:r>
                                <a:rPr lang="en-US" altLang="zh-CN" sz="2800" i="1">
                                  <a:latin typeface="Cambria Math" panose="02040503050406030204" charset="0"/>
                                  <a:ea typeface="黑体" panose="02010609060101010101" pitchFamily="49" charset="-122"/>
                                </a:rPr>
                                <m:t>2</m:t>
                              </m:r>
                            </m:sup>
                          </m:sSubSup>
                          <m:r>
                            <a:rPr lang="en-US" altLang="zh-CN" sz="2800" i="1">
                              <a:latin typeface="Cambria Math" panose="02040503050406030204" charset="0"/>
                              <a:ea typeface="黑体" panose="02010609060101010101" pitchFamily="49" charset="-122"/>
                            </a:rPr>
                            <m:t>+</m:t>
                          </m:r>
                          <m:sSubSup>
                            <m:sSubSupPr>
                              <m:ctrlPr>
                                <a:rPr lang="en-US" altLang="zh-CN" sz="2800" i="1">
                                  <a:latin typeface="Cambria Math" panose="02040503050406030204" charset="0"/>
                                  <a:ea typeface="黑体" panose="02010609060101010101" pitchFamily="49" charset="-122"/>
                                </a:rPr>
                              </m:ctrlPr>
                            </m:sSubSupPr>
                            <m:e>
                              <m:r>
                                <a:rPr lang="en-US" altLang="zh-CN" sz="2800" i="1">
                                  <a:latin typeface="Cambria Math" panose="02040503050406030204" charset="0"/>
                                  <a:ea typeface="黑体" panose="02010609060101010101" pitchFamily="49" charset="-122"/>
                                </a:rPr>
                                <m:t>𝑛</m:t>
                              </m:r>
                            </m:e>
                            <m:sub>
                              <m:r>
                                <a:rPr lang="en-US" altLang="zh-CN" sz="2800" b="0" i="1" smtClean="0">
                                  <a:latin typeface="Cambria Math" panose="02040503050406030204" charset="0"/>
                                  <a:ea typeface="黑体" panose="02010609060101010101" pitchFamily="49" charset="-122"/>
                                </a:rPr>
                                <m:t>2</m:t>
                              </m:r>
                            </m:sub>
                            <m:sup>
                              <m:r>
                                <a:rPr lang="en-US" altLang="zh-CN" sz="2800" i="1">
                                  <a:latin typeface="Cambria Math" panose="02040503050406030204" charset="0"/>
                                  <a:ea typeface="黑体" panose="02010609060101010101" pitchFamily="49" charset="-122"/>
                                </a:rPr>
                                <m:t>2</m:t>
                              </m:r>
                            </m:sup>
                          </m:sSubSup>
                          <m:r>
                            <a:rPr lang="en-US" altLang="zh-CN" sz="2800" i="1">
                              <a:latin typeface="Cambria Math" panose="02040503050406030204" charset="0"/>
                              <a:ea typeface="黑体" panose="02010609060101010101" pitchFamily="49" charset="-122"/>
                            </a:rPr>
                            <m:t>+</m:t>
                          </m:r>
                          <m:sSubSup>
                            <m:sSubSupPr>
                              <m:ctrlPr>
                                <a:rPr lang="en-US" altLang="zh-CN" sz="2800" i="1">
                                  <a:latin typeface="Cambria Math" panose="02040503050406030204" charset="0"/>
                                  <a:ea typeface="黑体" panose="02010609060101010101" pitchFamily="49" charset="-122"/>
                                </a:rPr>
                              </m:ctrlPr>
                            </m:sSubSupPr>
                            <m:e>
                              <m:r>
                                <a:rPr lang="en-US" altLang="zh-CN" sz="2800" i="1">
                                  <a:latin typeface="Cambria Math" panose="02040503050406030204" charset="0"/>
                                  <a:ea typeface="黑体" panose="02010609060101010101" pitchFamily="49" charset="-122"/>
                                </a:rPr>
                                <m:t>𝑝</m:t>
                              </m:r>
                            </m:e>
                            <m:sub>
                              <m:r>
                                <a:rPr lang="en-US" altLang="zh-CN" sz="2800" b="0" i="1" smtClean="0">
                                  <a:latin typeface="Cambria Math" panose="02040503050406030204" charset="0"/>
                                  <a:ea typeface="黑体" panose="02010609060101010101" pitchFamily="49" charset="-122"/>
                                </a:rPr>
                                <m:t>2</m:t>
                              </m:r>
                            </m:sub>
                            <m:sup>
                              <m:r>
                                <a:rPr lang="en-US" altLang="zh-CN" sz="2800" i="1">
                                  <a:latin typeface="Cambria Math" panose="02040503050406030204" charset="0"/>
                                  <a:ea typeface="黑体" panose="02010609060101010101" pitchFamily="49" charset="-122"/>
                                </a:rPr>
                                <m:t>2</m:t>
                              </m:r>
                            </m:sup>
                          </m:sSubSup>
                        </m:e>
                      </m:rad>
                    </m:oMath>
                  </m:oMathPara>
                </a14:m>
                <a:endParaRPr lang="zh-CN" altLang="en-US" sz="2800" i="1" dirty="0">
                  <a:latin typeface="Cambria Math" panose="02040503050406030204" charset="0"/>
                </a:endParaRPr>
              </a:p>
            </p:txBody>
          </p:sp>
        </mc:Choice>
        <mc:Fallback>
          <p:sp>
            <p:nvSpPr>
              <p:cNvPr id="20570" name="Object 90"/>
              <p:cNvSpPr txBox="1">
                <a:spLocks noRot="1" noChangeAspect="1" noMove="1" noResize="1" noEditPoints="1" noAdjustHandles="1" noChangeArrowheads="1" noChangeShapeType="1" noTextEdit="1"/>
              </p:cNvSpPr>
              <p:nvPr/>
            </p:nvSpPr>
            <p:spPr bwMode="auto">
              <a:xfrm>
                <a:off x="6987277" y="5147661"/>
                <a:ext cx="2732061" cy="1076927"/>
              </a:xfrm>
              <a:prstGeom prst="rect">
                <a:avLst/>
              </a:prstGeom>
              <a:blipFill rotWithShape="1">
                <a:blip r:embed="rId7"/>
                <a:stretch>
                  <a:fillRect l="-14" t="-33" r="1" b="30"/>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572" name="Object 92"/>
              <p:cNvSpPr txBox="1"/>
              <p:nvPr/>
            </p:nvSpPr>
            <p:spPr bwMode="auto">
              <a:xfrm>
                <a:off x="1775634" y="3222946"/>
                <a:ext cx="5737362" cy="591647"/>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sSub>
                        <m:sSubPr>
                          <m:ctrlPr>
                            <a:rPr lang="zh-CN" altLang="en-US" sz="2800" i="1">
                              <a:latin typeface="Cambria Math" panose="02040503050406030204" charset="0"/>
                            </a:rPr>
                          </m:ctrlPr>
                        </m:sSubPr>
                        <m:e>
                          <m:r>
                            <a:rPr lang="zh-CN" altLang="en-US" sz="2800" b="1" i="1">
                              <a:latin typeface="Cambria Math" panose="02040503050406030204" charset="0"/>
                            </a:rPr>
                            <m:t>𝒔</m:t>
                          </m:r>
                        </m:e>
                        <m:sub>
                          <m:r>
                            <a:rPr lang="zh-CN" altLang="en-US" sz="2800" i="1" smtClean="0">
                              <a:latin typeface="Cambria Math" panose="02040503050406030204" charset="0"/>
                            </a:rPr>
                            <m:t>1</m:t>
                          </m:r>
                        </m:sub>
                      </m:sSub>
                      <m:r>
                        <a:rPr lang="zh-CN" altLang="en-US" sz="2800" i="1">
                          <a:latin typeface="Cambria Math" panose="02040503050406030204" charset="0"/>
                        </a:rPr>
                        <m:t>=(</m:t>
                      </m:r>
                      <m:sSub>
                        <m:sSubPr>
                          <m:ctrlPr>
                            <a:rPr lang="zh-CN" altLang="en-US" sz="2800" i="1">
                              <a:latin typeface="Cambria Math" panose="02040503050406030204" charset="0"/>
                            </a:rPr>
                          </m:ctrlPr>
                        </m:sSubPr>
                        <m:e>
                          <m:r>
                            <a:rPr lang="zh-CN" altLang="en-US" sz="2800" i="1">
                              <a:latin typeface="Cambria Math" panose="02040503050406030204" charset="0"/>
                            </a:rPr>
                            <m:t>𝑚</m:t>
                          </m:r>
                        </m:e>
                        <m:sub>
                          <m:r>
                            <a:rPr lang="zh-CN" altLang="en-US" sz="2800" i="1">
                              <a:latin typeface="Cambria Math" panose="02040503050406030204" charset="0"/>
                            </a:rPr>
                            <m:t>1</m:t>
                          </m:r>
                        </m:sub>
                      </m:sSub>
                      <m:r>
                        <a:rPr lang="zh-CN" altLang="en-US" sz="2800" i="1">
                          <a:latin typeface="Cambria Math" panose="02040503050406030204" charset="0"/>
                        </a:rPr>
                        <m:t>,</m:t>
                      </m:r>
                      <m:sSub>
                        <m:sSubPr>
                          <m:ctrlPr>
                            <a:rPr lang="zh-CN" altLang="en-US" sz="2800" i="1">
                              <a:latin typeface="Cambria Math" panose="02040503050406030204" charset="0"/>
                            </a:rPr>
                          </m:ctrlPr>
                        </m:sSubPr>
                        <m:e>
                          <m:r>
                            <a:rPr lang="zh-CN" altLang="en-US" sz="2800" i="1">
                              <a:latin typeface="Cambria Math" panose="02040503050406030204" charset="0"/>
                            </a:rPr>
                            <m:t>𝑛</m:t>
                          </m:r>
                        </m:e>
                        <m:sub>
                          <m:r>
                            <a:rPr lang="zh-CN" altLang="en-US" sz="2800" i="1">
                              <a:latin typeface="Cambria Math" panose="02040503050406030204" charset="0"/>
                            </a:rPr>
                            <m:t>1</m:t>
                          </m:r>
                        </m:sub>
                      </m:sSub>
                      <m:r>
                        <a:rPr lang="zh-CN" altLang="en-US" sz="2800" i="1">
                          <a:latin typeface="Cambria Math" panose="02040503050406030204" charset="0"/>
                        </a:rPr>
                        <m:t>,</m:t>
                      </m:r>
                      <m:sSub>
                        <m:sSubPr>
                          <m:ctrlPr>
                            <a:rPr lang="zh-CN" altLang="en-US" sz="2800" i="1">
                              <a:latin typeface="Cambria Math" panose="02040503050406030204" charset="0"/>
                            </a:rPr>
                          </m:ctrlPr>
                        </m:sSubPr>
                        <m:e>
                          <m:r>
                            <a:rPr lang="zh-CN" altLang="en-US" sz="2800" i="1">
                              <a:latin typeface="Cambria Math" panose="02040503050406030204" charset="0"/>
                            </a:rPr>
                            <m:t>𝑝</m:t>
                          </m:r>
                        </m:e>
                        <m:sub>
                          <m:r>
                            <a:rPr lang="zh-CN" altLang="en-US" sz="2800" i="1">
                              <a:latin typeface="Cambria Math" panose="02040503050406030204" charset="0"/>
                            </a:rPr>
                            <m:t>1</m:t>
                          </m:r>
                        </m:sub>
                      </m:sSub>
                      <m:r>
                        <a:rPr lang="zh-CN" altLang="en-US" sz="2800" i="1">
                          <a:latin typeface="Cambria Math" panose="02040503050406030204" charset="0"/>
                        </a:rPr>
                        <m:t>), </m:t>
                      </m:r>
                      <m:sSub>
                        <m:sSubPr>
                          <m:ctrlPr>
                            <a:rPr lang="zh-CN" altLang="en-US" sz="2800" i="1">
                              <a:latin typeface="Cambria Math" panose="02040503050406030204" charset="0"/>
                            </a:rPr>
                          </m:ctrlPr>
                        </m:sSubPr>
                        <m:e>
                          <m:r>
                            <a:rPr lang="zh-CN" altLang="en-US" sz="2800" b="1" i="1">
                              <a:latin typeface="Cambria Math" panose="02040503050406030204" charset="0"/>
                            </a:rPr>
                            <m:t>𝒔</m:t>
                          </m:r>
                        </m:e>
                        <m:sub>
                          <m:r>
                            <a:rPr lang="zh-CN" altLang="en-US" sz="2800" i="1">
                              <a:latin typeface="Cambria Math" panose="02040503050406030204" charset="0"/>
                            </a:rPr>
                            <m:t>2</m:t>
                          </m:r>
                        </m:sub>
                      </m:sSub>
                      <m:r>
                        <a:rPr lang="zh-CN" altLang="en-US" sz="2800" i="1">
                          <a:latin typeface="Cambria Math" panose="02040503050406030204" charset="0"/>
                        </a:rPr>
                        <m:t>=(</m:t>
                      </m:r>
                      <m:sSub>
                        <m:sSubPr>
                          <m:ctrlPr>
                            <a:rPr lang="zh-CN" altLang="en-US" sz="2800" i="1">
                              <a:latin typeface="Cambria Math" panose="02040503050406030204" charset="0"/>
                            </a:rPr>
                          </m:ctrlPr>
                        </m:sSubPr>
                        <m:e>
                          <m:r>
                            <a:rPr lang="zh-CN" altLang="en-US" sz="2800" i="1">
                              <a:latin typeface="Cambria Math" panose="02040503050406030204" charset="0"/>
                            </a:rPr>
                            <m:t>𝑚</m:t>
                          </m:r>
                        </m:e>
                        <m:sub>
                          <m:r>
                            <a:rPr lang="zh-CN" altLang="en-US" sz="2800" i="1">
                              <a:latin typeface="Cambria Math" panose="02040503050406030204" charset="0"/>
                            </a:rPr>
                            <m:t>2</m:t>
                          </m:r>
                        </m:sub>
                      </m:sSub>
                      <m:r>
                        <a:rPr lang="zh-CN" altLang="en-US" sz="2800" i="1">
                          <a:latin typeface="Cambria Math" panose="02040503050406030204" charset="0"/>
                        </a:rPr>
                        <m:t>,</m:t>
                      </m:r>
                      <m:sSub>
                        <m:sSubPr>
                          <m:ctrlPr>
                            <a:rPr lang="zh-CN" altLang="en-US" sz="2800" i="1">
                              <a:latin typeface="Cambria Math" panose="02040503050406030204" charset="0"/>
                            </a:rPr>
                          </m:ctrlPr>
                        </m:sSubPr>
                        <m:e>
                          <m:r>
                            <a:rPr lang="zh-CN" altLang="en-US" sz="2800" i="1">
                              <a:latin typeface="Cambria Math" panose="02040503050406030204" charset="0"/>
                            </a:rPr>
                            <m:t>𝑛</m:t>
                          </m:r>
                        </m:e>
                        <m:sub>
                          <m:r>
                            <a:rPr lang="zh-CN" altLang="en-US" sz="2800" i="1">
                              <a:latin typeface="Cambria Math" panose="02040503050406030204" charset="0"/>
                            </a:rPr>
                            <m:t>2</m:t>
                          </m:r>
                        </m:sub>
                      </m:sSub>
                      <m:r>
                        <a:rPr lang="zh-CN" altLang="en-US" sz="2800" i="1">
                          <a:latin typeface="Cambria Math" panose="02040503050406030204" charset="0"/>
                        </a:rPr>
                        <m:t>,</m:t>
                      </m:r>
                      <m:sSub>
                        <m:sSubPr>
                          <m:ctrlPr>
                            <a:rPr lang="zh-CN" altLang="en-US" sz="2800" i="1">
                              <a:latin typeface="Cambria Math" panose="02040503050406030204" charset="0"/>
                            </a:rPr>
                          </m:ctrlPr>
                        </m:sSubPr>
                        <m:e>
                          <m:r>
                            <a:rPr lang="zh-CN" altLang="en-US" sz="2800" i="1">
                              <a:latin typeface="Cambria Math" panose="02040503050406030204" charset="0"/>
                            </a:rPr>
                            <m:t>𝑝</m:t>
                          </m:r>
                        </m:e>
                        <m:sub>
                          <m:r>
                            <a:rPr lang="zh-CN" altLang="en-US" sz="2800" i="1">
                              <a:latin typeface="Cambria Math" panose="02040503050406030204" charset="0"/>
                            </a:rPr>
                            <m:t>2</m:t>
                          </m:r>
                        </m:sub>
                      </m:sSub>
                      <m:r>
                        <a:rPr lang="zh-CN" altLang="en-US" sz="2800" i="1">
                          <a:latin typeface="Cambria Math" panose="02040503050406030204" charset="0"/>
                        </a:rPr>
                        <m:t>).</m:t>
                      </m:r>
                    </m:oMath>
                  </m:oMathPara>
                </a14:m>
                <a:endParaRPr lang="zh-CN" altLang="en-US" sz="2800" i="1" dirty="0">
                  <a:latin typeface="Cambria Math" panose="02040503050406030204" charset="0"/>
                </a:endParaRPr>
              </a:p>
            </p:txBody>
          </p:sp>
        </mc:Choice>
        <mc:Fallback>
          <p:sp>
            <p:nvSpPr>
              <p:cNvPr id="20572" name="Object 92"/>
              <p:cNvSpPr txBox="1">
                <a:spLocks noRot="1" noChangeAspect="1" noMove="1" noResize="1" noEditPoints="1" noAdjustHandles="1" noChangeArrowheads="1" noChangeShapeType="1" noTextEdit="1"/>
              </p:cNvSpPr>
              <p:nvPr/>
            </p:nvSpPr>
            <p:spPr bwMode="auto">
              <a:xfrm>
                <a:off x="1775634" y="3222946"/>
                <a:ext cx="5737362" cy="591647"/>
              </a:xfrm>
              <a:prstGeom prst="rect">
                <a:avLst/>
              </a:prstGeom>
              <a:blipFill rotWithShape="1">
                <a:blip r:embed="rId8"/>
                <a:stretch>
                  <a:fillRect l="-3" t="-54" r="5" b="25"/>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576" name="Object 96"/>
              <p:cNvSpPr txBox="1"/>
              <p:nvPr/>
            </p:nvSpPr>
            <p:spPr bwMode="auto">
              <a:xfrm>
                <a:off x="1705729" y="4541822"/>
                <a:ext cx="3340927" cy="1181413"/>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func>
                        <m:funcPr>
                          <m:ctrlPr>
                            <a:rPr lang="zh-CN" altLang="en-US" sz="2800" i="1" smtClean="0">
                              <a:latin typeface="Cambria Math" panose="02040503050406030204" charset="0"/>
                            </a:rPr>
                          </m:ctrlPr>
                        </m:funcPr>
                        <m:fName>
                          <m:r>
                            <m:rPr>
                              <m:sty m:val="p"/>
                            </m:rPr>
                            <a:rPr lang="zh-CN" altLang="en-US" sz="2800" i="1">
                              <a:latin typeface="Cambria Math" panose="02040503050406030204" charset="0"/>
                            </a:rPr>
                            <m:t>cos</m:t>
                          </m:r>
                        </m:fName>
                        <m:e>
                          <m:r>
                            <a:rPr lang="en-US" altLang="zh-CN" sz="2800">
                              <a:latin typeface="Cambria Math" panose="02040503050406030204" charset="0"/>
                              <a:ea typeface="MS Mincho" panose="02020609040205080304" charset="-128"/>
                              <a:cs typeface="Cambria Math" panose="02040503050406030204" charset="0"/>
                            </a:rPr>
                            <m:t>𝜑</m:t>
                          </m:r>
                        </m:e>
                      </m:func>
                      <m:r>
                        <a:rPr lang="zh-CN" altLang="en-US" sz="2800" i="1">
                          <a:latin typeface="Cambria Math" panose="02040503050406030204" charset="0"/>
                        </a:rPr>
                        <m:t>=</m:t>
                      </m:r>
                      <m:f>
                        <m:fPr>
                          <m:ctrlPr>
                            <a:rPr lang="zh-CN" altLang="en-US" sz="2800" i="1">
                              <a:latin typeface="Cambria Math" panose="02040503050406030204" charset="0"/>
                            </a:rPr>
                          </m:ctrlPr>
                        </m:fPr>
                        <m:num>
                          <m:d>
                            <m:dPr>
                              <m:begChr m:val="|"/>
                              <m:endChr m:val="|"/>
                              <m:ctrlPr>
                                <a:rPr lang="zh-CN" altLang="en-US" sz="2800" i="1">
                                  <a:latin typeface="Cambria Math" panose="02040503050406030204" charset="0"/>
                                </a:rPr>
                              </m:ctrlPr>
                            </m:dPr>
                            <m:e>
                              <m:sSub>
                                <m:sSubPr>
                                  <m:ctrlPr>
                                    <a:rPr lang="zh-CN" altLang="en-US" sz="2800" i="1">
                                      <a:latin typeface="Cambria Math" panose="02040503050406030204" charset="0"/>
                                    </a:rPr>
                                  </m:ctrlPr>
                                </m:sSubPr>
                                <m:e>
                                  <m:r>
                                    <a:rPr lang="zh-CN" altLang="en-US" sz="2800" b="1" i="1">
                                      <a:latin typeface="Cambria Math" panose="02040503050406030204" charset="0"/>
                                    </a:rPr>
                                    <m:t>𝒔</m:t>
                                  </m:r>
                                </m:e>
                                <m:sub>
                                  <m:r>
                                    <a:rPr lang="zh-CN" altLang="en-US" sz="2800" b="0" i="1">
                                      <a:latin typeface="Cambria Math" panose="02040503050406030204" charset="0"/>
                                    </a:rPr>
                                    <m:t>1</m:t>
                                  </m:r>
                                </m:sub>
                              </m:sSub>
                              <m:r>
                                <a:rPr lang="zh-CN" altLang="en-US" sz="2800" b="0" i="1">
                                  <a:latin typeface="Cambria Math" panose="02040503050406030204" charset="0"/>
                                </a:rPr>
                                <m:t>⋅</m:t>
                              </m:r>
                              <m:sSub>
                                <m:sSubPr>
                                  <m:ctrlPr>
                                    <a:rPr lang="zh-CN" altLang="en-US" sz="2800" i="1">
                                      <a:latin typeface="Cambria Math" panose="02040503050406030204" charset="0"/>
                                    </a:rPr>
                                  </m:ctrlPr>
                                </m:sSubPr>
                                <m:e>
                                  <m:r>
                                    <a:rPr lang="zh-CN" altLang="en-US" sz="2800" b="1" i="1">
                                      <a:latin typeface="Cambria Math" panose="02040503050406030204" charset="0"/>
                                    </a:rPr>
                                    <m:t>𝒔</m:t>
                                  </m:r>
                                </m:e>
                                <m:sub>
                                  <m:r>
                                    <a:rPr lang="zh-CN" altLang="en-US" sz="2800" b="0" i="1">
                                      <a:latin typeface="Cambria Math" panose="02040503050406030204" charset="0"/>
                                    </a:rPr>
                                    <m:t>2</m:t>
                                  </m:r>
                                </m:sub>
                              </m:sSub>
                            </m:e>
                          </m:d>
                        </m:num>
                        <m:den>
                          <m:d>
                            <m:dPr>
                              <m:begChr m:val="|"/>
                              <m:endChr m:val="|"/>
                              <m:ctrlPr>
                                <a:rPr lang="zh-CN" altLang="en-US" sz="2800" i="1">
                                  <a:latin typeface="Cambria Math" panose="02040503050406030204" charset="0"/>
                                </a:rPr>
                              </m:ctrlPr>
                            </m:dPr>
                            <m:e>
                              <m:sSub>
                                <m:sSubPr>
                                  <m:ctrlPr>
                                    <a:rPr lang="zh-CN" altLang="en-US" sz="2800" i="1">
                                      <a:latin typeface="Cambria Math" panose="02040503050406030204" charset="0"/>
                                    </a:rPr>
                                  </m:ctrlPr>
                                </m:sSubPr>
                                <m:e>
                                  <m:r>
                                    <a:rPr lang="zh-CN" altLang="en-US" sz="2800" b="1" i="1">
                                      <a:latin typeface="Cambria Math" panose="02040503050406030204" charset="0"/>
                                    </a:rPr>
                                    <m:t>𝒔</m:t>
                                  </m:r>
                                </m:e>
                                <m:sub>
                                  <m:r>
                                    <a:rPr lang="zh-CN" altLang="en-US" sz="2800" b="0" i="1">
                                      <a:latin typeface="Cambria Math" panose="02040503050406030204" charset="0"/>
                                    </a:rPr>
                                    <m:t>1</m:t>
                                  </m:r>
                                </m:sub>
                              </m:sSub>
                            </m:e>
                          </m:d>
                          <m:d>
                            <m:dPr>
                              <m:begChr m:val="|"/>
                              <m:endChr m:val="|"/>
                              <m:ctrlPr>
                                <a:rPr lang="zh-CN" altLang="en-US" sz="2800" i="1">
                                  <a:latin typeface="Cambria Math" panose="02040503050406030204" charset="0"/>
                                </a:rPr>
                              </m:ctrlPr>
                            </m:dPr>
                            <m:e>
                              <m:sSub>
                                <m:sSubPr>
                                  <m:ctrlPr>
                                    <a:rPr lang="zh-CN" altLang="en-US" sz="2800" i="1">
                                      <a:latin typeface="Cambria Math" panose="02040503050406030204" charset="0"/>
                                    </a:rPr>
                                  </m:ctrlPr>
                                </m:sSubPr>
                                <m:e>
                                  <m:r>
                                    <a:rPr lang="zh-CN" altLang="en-US" sz="2800" b="1" i="1">
                                      <a:latin typeface="Cambria Math" panose="02040503050406030204" charset="0"/>
                                    </a:rPr>
                                    <m:t>𝒔</m:t>
                                  </m:r>
                                </m:e>
                                <m:sub>
                                  <m:r>
                                    <a:rPr lang="zh-CN" altLang="en-US" sz="2800" b="0" i="1">
                                      <a:latin typeface="Cambria Math" panose="02040503050406030204" charset="0"/>
                                    </a:rPr>
                                    <m:t>2</m:t>
                                  </m:r>
                                </m:sub>
                              </m:sSub>
                            </m:e>
                          </m:d>
                        </m:den>
                      </m:f>
                    </m:oMath>
                  </m:oMathPara>
                </a14:m>
                <a:endParaRPr lang="zh-CN" altLang="en-US" sz="2800" i="1" dirty="0">
                  <a:latin typeface="Cambria Math" panose="02040503050406030204" charset="0"/>
                </a:endParaRPr>
              </a:p>
            </p:txBody>
          </p:sp>
        </mc:Choice>
        <mc:Fallback>
          <p:sp>
            <p:nvSpPr>
              <p:cNvPr id="20576" name="Object 96"/>
              <p:cNvSpPr txBox="1">
                <a:spLocks noRot="1" noChangeAspect="1" noMove="1" noResize="1" noEditPoints="1" noAdjustHandles="1" noChangeArrowheads="1" noChangeShapeType="1" noTextEdit="1"/>
              </p:cNvSpPr>
              <p:nvPr/>
            </p:nvSpPr>
            <p:spPr bwMode="auto">
              <a:xfrm>
                <a:off x="1705729" y="4541822"/>
                <a:ext cx="3340927" cy="1181413"/>
              </a:xfrm>
              <a:prstGeom prst="rect">
                <a:avLst/>
              </a:prstGeom>
              <a:blipFill rotWithShape="1">
                <a:blip r:embed="rId9"/>
                <a:stretch>
                  <a:fillRect l="-4" t="-26" r="9" b="52"/>
                </a:stretch>
              </a:blipFill>
              <a:ln>
                <a:noFill/>
              </a:ln>
              <a:effectLst/>
            </p:spPr>
            <p:txBody>
              <a:bodyPr/>
              <a:lstStyle/>
              <a:p>
                <a:r>
                  <a:rPr lang="zh-CN" altLang="en-US">
                    <a:noFill/>
                  </a:rPr>
                  <a:t> </a:t>
                </a:r>
              </a:p>
            </p:txBody>
          </p:sp>
        </mc:Fallback>
      </mc:AlternateContent>
      <p:sp>
        <p:nvSpPr>
          <p:cNvPr id="26" name="Rectangle 19"/>
          <p:cNvSpPr>
            <a:spLocks noGrp="1" noChangeArrowheads="1"/>
          </p:cNvSpPr>
          <p:nvPr>
            <p:ph type="title"/>
          </p:nvPr>
        </p:nvSpPr>
        <p:spPr>
          <a:xfrm>
            <a:off x="1166446" y="672119"/>
            <a:ext cx="3521795" cy="598094"/>
          </a:xfrm>
        </p:spPr>
        <p:txBody>
          <a:bodyPr>
            <a:normAutofit/>
          </a:bodyPr>
          <a:lstStyle/>
          <a:p>
            <a:r>
              <a:rPr kumimoji="1" lang="zh-CN" altLang="en-US" sz="3200" dirty="0">
                <a:ln w="22225">
                  <a:solidFill>
                    <a:schemeClr val="accent2"/>
                  </a:solidFill>
                  <a:prstDash val="solid"/>
                </a:ln>
                <a:solidFill>
                  <a:schemeClr val="accent2">
                    <a:lumMod val="40000"/>
                    <a:lumOff val="60000"/>
                  </a:schemeClr>
                </a:solidFill>
                <a:effectLst/>
                <a:latin typeface="微软雅黑" panose="020B0503020204020204" charset="-122"/>
                <a:ea typeface="微软雅黑" panose="020B0503020204020204" charset="-122"/>
                <a:cs typeface="+mn-cs"/>
              </a:rPr>
              <a:t>两直线的夹角</a:t>
            </a:r>
            <a:endParaRPr kumimoji="1" lang="zh-CN" altLang="en-US" sz="3200" dirty="0">
              <a:ln w="22225">
                <a:solidFill>
                  <a:schemeClr val="accent2"/>
                </a:solidFill>
                <a:prstDash val="solid"/>
              </a:ln>
              <a:solidFill>
                <a:schemeClr val="accent2">
                  <a:lumMod val="40000"/>
                  <a:lumOff val="60000"/>
                </a:schemeClr>
              </a:solidFill>
              <a:effectLst/>
              <a:latin typeface="微软雅黑" panose="020B0503020204020204" charset="-122"/>
              <a:ea typeface="微软雅黑" panose="020B050302020402020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left)">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0567"/>
                                        </p:tgtEl>
                                        <p:attrNameLst>
                                          <p:attrName>style.visibility</p:attrName>
                                        </p:attrNameLst>
                                      </p:cBhvr>
                                      <p:to>
                                        <p:strVal val="visible"/>
                                      </p:to>
                                    </p:set>
                                    <p:animEffect transition="in" filter="wipe(left)">
                                      <p:cBhvr>
                                        <p:cTn id="23" dur="500"/>
                                        <p:tgtEl>
                                          <p:spTgt spid="2056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0565"/>
                                        </p:tgtEl>
                                        <p:attrNameLst>
                                          <p:attrName>style.visibility</p:attrName>
                                        </p:attrNameLst>
                                      </p:cBhvr>
                                      <p:to>
                                        <p:strVal val="visible"/>
                                      </p:to>
                                    </p:set>
                                    <p:animEffect transition="in" filter="wipe(left)">
                                      <p:cBhvr>
                                        <p:cTn id="28" dur="500"/>
                                        <p:tgtEl>
                                          <p:spTgt spid="2056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0572"/>
                                        </p:tgtEl>
                                        <p:attrNameLst>
                                          <p:attrName>style.visibility</p:attrName>
                                        </p:attrNameLst>
                                      </p:cBhvr>
                                      <p:to>
                                        <p:strVal val="visible"/>
                                      </p:to>
                                    </p:set>
                                    <p:animEffect transition="in" filter="wipe(left)">
                                      <p:cBhvr>
                                        <p:cTn id="33" dur="500"/>
                                        <p:tgtEl>
                                          <p:spTgt spid="2057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0564"/>
                                        </p:tgtEl>
                                        <p:attrNameLst>
                                          <p:attrName>style.visibility</p:attrName>
                                        </p:attrNameLst>
                                      </p:cBhvr>
                                      <p:to>
                                        <p:strVal val="visible"/>
                                      </p:to>
                                    </p:set>
                                    <p:animEffect transition="in" filter="wipe(left)">
                                      <p:cBhvr>
                                        <p:cTn id="38" dur="500"/>
                                        <p:tgtEl>
                                          <p:spTgt spid="2056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0576"/>
                                        </p:tgtEl>
                                        <p:attrNameLst>
                                          <p:attrName>style.visibility</p:attrName>
                                        </p:attrNameLst>
                                      </p:cBhvr>
                                      <p:to>
                                        <p:strVal val="visible"/>
                                      </p:to>
                                    </p:set>
                                    <p:animEffect transition="in" filter="wipe(left)">
                                      <p:cBhvr>
                                        <p:cTn id="43" dur="500"/>
                                        <p:tgtEl>
                                          <p:spTgt spid="2057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0566"/>
                                        </p:tgtEl>
                                        <p:attrNameLst>
                                          <p:attrName>style.visibility</p:attrName>
                                        </p:attrNameLst>
                                      </p:cBhvr>
                                      <p:to>
                                        <p:strVal val="visible"/>
                                      </p:to>
                                    </p:set>
                                    <p:animEffect transition="in" filter="wipe(left)">
                                      <p:cBhvr>
                                        <p:cTn id="48" dur="500"/>
                                        <p:tgtEl>
                                          <p:spTgt spid="20566"/>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0568"/>
                                        </p:tgtEl>
                                        <p:attrNameLst>
                                          <p:attrName>style.visibility</p:attrName>
                                        </p:attrNameLst>
                                      </p:cBhvr>
                                      <p:to>
                                        <p:strVal val="visible"/>
                                      </p:to>
                                    </p:set>
                                    <p:animEffect transition="in" filter="wipe(left)">
                                      <p:cBhvr>
                                        <p:cTn id="53" dur="500"/>
                                        <p:tgtEl>
                                          <p:spTgt spid="20568"/>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20569"/>
                                        </p:tgtEl>
                                        <p:attrNameLst>
                                          <p:attrName>style.visibility</p:attrName>
                                        </p:attrNameLst>
                                      </p:cBhvr>
                                      <p:to>
                                        <p:strVal val="visible"/>
                                      </p:to>
                                    </p:set>
                                    <p:animEffect transition="in" filter="wipe(left)">
                                      <p:cBhvr>
                                        <p:cTn id="58" dur="500"/>
                                        <p:tgtEl>
                                          <p:spTgt spid="20569"/>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0570"/>
                                        </p:tgtEl>
                                        <p:attrNameLst>
                                          <p:attrName>style.visibility</p:attrName>
                                        </p:attrNameLst>
                                      </p:cBhvr>
                                      <p:to>
                                        <p:strVal val="visible"/>
                                      </p:to>
                                    </p:set>
                                    <p:animEffect transition="in" filter="wipe(left)">
                                      <p:cBhvr>
                                        <p:cTn id="63" dur="500"/>
                                        <p:tgtEl>
                                          <p:spTgt spid="205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P spid="4" grpId="0" bldLvl="0" animBg="1"/>
      <p:bldP spid="4" grpId="1" animBg="1"/>
      <p:bldP spid="5" grpId="0" autoUpdateAnimBg="0"/>
      <p:bldP spid="20564" grpId="0"/>
      <p:bldP spid="20565" grpId="0"/>
      <p:bldP spid="20567" grpId="0" bldLvl="0" animBg="1"/>
      <p:bldP spid="20566" grpId="0" bldLvl="0" animBg="1"/>
      <p:bldP spid="20568" grpId="0" bldLvl="0" animBg="1"/>
      <p:bldP spid="20569" grpId="0" bldLvl="0" animBg="1"/>
      <p:bldP spid="20570" grpId="0" bldLvl="0" animBg="1"/>
      <p:bldP spid="20572" grpId="0" bldLvl="0" animBg="1"/>
      <p:bldP spid="20576" grpId="0" bldLvl="0" animBg="1"/>
      <p:bldP spid="2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10540" y="494665"/>
            <a:ext cx="11149330" cy="5612765"/>
            <a:chOff x="838" y="906"/>
            <a:chExt cx="17558" cy="8839"/>
          </a:xfrm>
        </p:grpSpPr>
        <p:sp>
          <p:nvSpPr>
            <p:cNvPr id="11" name="PA-102232"/>
            <p:cNvSpPr/>
            <p:nvPr>
              <p:custDataLst>
                <p:tags r:id="rId1"/>
              </p:custDataLst>
            </p:nvPr>
          </p:nvSpPr>
          <p:spPr>
            <a:xfrm>
              <a:off x="872" y="906"/>
              <a:ext cx="17524" cy="8826"/>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6BB6"/>
                </a:solidFill>
                <a:cs typeface="+mn-ea"/>
                <a:sym typeface="+mn-lt"/>
              </a:endParaRPr>
            </a:p>
          </p:txBody>
        </p:sp>
        <p:grpSp>
          <p:nvGrpSpPr>
            <p:cNvPr id="12" name="组合 11"/>
            <p:cNvGrpSpPr/>
            <p:nvPr/>
          </p:nvGrpSpPr>
          <p:grpSpPr>
            <a:xfrm>
              <a:off x="838" y="9635"/>
              <a:ext cx="17558" cy="110"/>
              <a:chOff x="838" y="9635"/>
              <a:chExt cx="17558" cy="110"/>
            </a:xfrm>
          </p:grpSpPr>
          <p:sp>
            <p:nvSpPr>
              <p:cNvPr id="13" name="Rectangle 1"/>
              <p:cNvSpPr/>
              <p:nvPr/>
            </p:nvSpPr>
            <p:spPr>
              <a:xfrm>
                <a:off x="5321" y="9650"/>
                <a:ext cx="4286" cy="83"/>
              </a:xfrm>
              <a:prstGeom prst="rect">
                <a:avLst/>
              </a:prstGeom>
              <a:solidFill>
                <a:schemeClr val="bg1"/>
              </a:solidFill>
              <a:ln w="3175" cap="flat" cmpd="sng" algn="ctr">
                <a:solidFill>
                  <a:srgbClr val="0492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4" name="Rectangle 1"/>
              <p:cNvSpPr/>
              <p:nvPr/>
            </p:nvSpPr>
            <p:spPr>
              <a:xfrm>
                <a:off x="838" y="9650"/>
                <a:ext cx="4483" cy="83"/>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5" name="Rectangle 1"/>
              <p:cNvSpPr/>
              <p:nvPr/>
            </p:nvSpPr>
            <p:spPr>
              <a:xfrm>
                <a:off x="9602" y="9635"/>
                <a:ext cx="8794" cy="111"/>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mc:AlternateContent xmlns:mc="http://schemas.openxmlformats.org/markup-compatibility/2006">
        <mc:Choice xmlns:a14="http://schemas.microsoft.com/office/drawing/2010/main" Requires="a14">
          <p:sp>
            <p:nvSpPr>
              <p:cNvPr id="15367" name="Object 7"/>
              <p:cNvSpPr txBox="1"/>
              <p:nvPr/>
            </p:nvSpPr>
            <p:spPr bwMode="auto">
              <a:xfrm>
                <a:off x="4493377" y="1525941"/>
                <a:ext cx="4698248" cy="633456"/>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lang="en-US" altLang="zh-CN" sz="2800" i="1">
                          <a:latin typeface="Cambria Math" panose="02040503050406030204" charset="0"/>
                          <a:ea typeface="Cambria Math" panose="02040503050406030204" charset="0"/>
                        </a:rPr>
                        <m:t>⇔</m:t>
                      </m:r>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𝑚</m:t>
                          </m:r>
                        </m:e>
                        <m:sub>
                          <m:r>
                            <a:rPr lang="zh-CN" altLang="en-US" sz="2800" i="1">
                              <a:solidFill>
                                <a:srgbClr val="000000"/>
                              </a:solidFill>
                              <a:latin typeface="Cambria Math" panose="02040503050406030204" charset="0"/>
                            </a:rPr>
                            <m:t>1</m:t>
                          </m:r>
                        </m:sub>
                      </m:sSub>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𝑚</m:t>
                          </m:r>
                        </m:e>
                        <m:sub>
                          <m:r>
                            <a:rPr lang="zh-CN" altLang="en-US" sz="2800" i="1">
                              <a:solidFill>
                                <a:srgbClr val="000000"/>
                              </a:solidFill>
                              <a:latin typeface="Cambria Math" panose="02040503050406030204" charset="0"/>
                            </a:rPr>
                            <m:t>2</m:t>
                          </m:r>
                        </m:sub>
                      </m:sSub>
                      <m:r>
                        <a:rPr lang="zh-CN" altLang="en-US" sz="2800" i="1">
                          <a:solidFill>
                            <a:srgbClr val="000000"/>
                          </a:solidFill>
                          <a:latin typeface="Cambria Math" panose="02040503050406030204" charset="0"/>
                        </a:rPr>
                        <m:t>+</m:t>
                      </m:r>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𝑛</m:t>
                          </m:r>
                        </m:e>
                        <m:sub>
                          <m:r>
                            <a:rPr lang="zh-CN" altLang="en-US" sz="2800" i="1">
                              <a:solidFill>
                                <a:srgbClr val="000000"/>
                              </a:solidFill>
                              <a:latin typeface="Cambria Math" panose="02040503050406030204" charset="0"/>
                            </a:rPr>
                            <m:t>1</m:t>
                          </m:r>
                        </m:sub>
                      </m:sSub>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𝑛</m:t>
                          </m:r>
                        </m:e>
                        <m:sub>
                          <m:r>
                            <a:rPr lang="zh-CN" altLang="en-US" sz="2800" i="1">
                              <a:solidFill>
                                <a:srgbClr val="000000"/>
                              </a:solidFill>
                              <a:latin typeface="Cambria Math" panose="02040503050406030204" charset="0"/>
                            </a:rPr>
                            <m:t>2</m:t>
                          </m:r>
                        </m:sub>
                      </m:sSub>
                      <m:r>
                        <a:rPr lang="zh-CN" altLang="en-US" sz="2800" i="1">
                          <a:solidFill>
                            <a:srgbClr val="000000"/>
                          </a:solidFill>
                          <a:latin typeface="Cambria Math" panose="02040503050406030204" charset="0"/>
                        </a:rPr>
                        <m:t>+</m:t>
                      </m:r>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𝑝</m:t>
                          </m:r>
                        </m:e>
                        <m:sub>
                          <m:r>
                            <a:rPr lang="zh-CN" altLang="en-US" sz="2800" i="1">
                              <a:solidFill>
                                <a:srgbClr val="000000"/>
                              </a:solidFill>
                              <a:latin typeface="Cambria Math" panose="02040503050406030204" charset="0"/>
                            </a:rPr>
                            <m:t>1</m:t>
                          </m:r>
                        </m:sub>
                      </m:sSub>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𝑝</m:t>
                          </m:r>
                        </m:e>
                        <m:sub>
                          <m:r>
                            <a:rPr lang="zh-CN" altLang="en-US" sz="2800" i="1">
                              <a:solidFill>
                                <a:srgbClr val="000000"/>
                              </a:solidFill>
                              <a:latin typeface="Cambria Math" panose="02040503050406030204" charset="0"/>
                            </a:rPr>
                            <m:t>2</m:t>
                          </m:r>
                        </m:sub>
                      </m:sSub>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0</m:t>
                      </m:r>
                      <m:r>
                        <a:rPr lang="zh-CN" altLang="en-US" sz="2800" i="1">
                          <a:solidFill>
                            <a:srgbClr val="000000"/>
                          </a:solidFill>
                          <a:latin typeface="Cambria Math" panose="02040503050406030204" charset="0"/>
                        </a:rPr>
                        <m:t>,</m:t>
                      </m:r>
                    </m:oMath>
                  </m:oMathPara>
                </a14:m>
                <a:endParaRPr lang="zh-CN" altLang="en-US" sz="2800" dirty="0"/>
              </a:p>
            </p:txBody>
          </p:sp>
        </mc:Choice>
        <mc:Fallback>
          <p:sp>
            <p:nvSpPr>
              <p:cNvPr id="15367" name="Object 7"/>
              <p:cNvSpPr txBox="1">
                <a:spLocks noRot="1" noChangeAspect="1" noMove="1" noResize="1" noEditPoints="1" noAdjustHandles="1" noChangeArrowheads="1" noChangeShapeType="1" noTextEdit="1"/>
              </p:cNvSpPr>
              <p:nvPr/>
            </p:nvSpPr>
            <p:spPr bwMode="auto">
              <a:xfrm>
                <a:off x="4493377" y="1525941"/>
                <a:ext cx="4698248" cy="633456"/>
              </a:xfrm>
              <a:prstGeom prst="rect">
                <a:avLst/>
              </a:prstGeom>
              <a:blipFill rotWithShape="1">
                <a:blip r:embed="rId2"/>
                <a:stretch>
                  <a:fillRect l="-2" t="-6" b="63"/>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371" name="Object 11"/>
              <p:cNvSpPr txBox="1"/>
              <p:nvPr/>
            </p:nvSpPr>
            <p:spPr bwMode="auto">
              <a:xfrm>
                <a:off x="4483853" y="2225445"/>
                <a:ext cx="3021848" cy="1035802"/>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lang="en-US" altLang="zh-CN" sz="2800" i="1">
                          <a:latin typeface="Cambria Math" panose="02040503050406030204" charset="0"/>
                          <a:ea typeface="Cambria Math" panose="02040503050406030204" charset="0"/>
                        </a:rPr>
                        <m:t>⇔</m:t>
                      </m:r>
                      <m:f>
                        <m:fPr>
                          <m:ctrlPr>
                            <a:rPr lang="zh-CN" altLang="en-US" sz="2800" i="1">
                              <a:solidFill>
                                <a:srgbClr val="000000"/>
                              </a:solidFill>
                              <a:latin typeface="Cambria Math" panose="02040503050406030204" charset="0"/>
                            </a:rPr>
                          </m:ctrlPr>
                        </m:fPr>
                        <m:num>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𝑚</m:t>
                              </m:r>
                            </m:e>
                            <m:sub>
                              <m:r>
                                <a:rPr lang="zh-CN" altLang="en-US" sz="2800" i="1">
                                  <a:solidFill>
                                    <a:srgbClr val="000000"/>
                                  </a:solidFill>
                                  <a:latin typeface="Cambria Math" panose="02040503050406030204" charset="0"/>
                                </a:rPr>
                                <m:t>1</m:t>
                              </m:r>
                            </m:sub>
                          </m:sSub>
                        </m:num>
                        <m:den>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𝑚</m:t>
                              </m:r>
                            </m:e>
                            <m:sub>
                              <m:r>
                                <a:rPr lang="zh-CN" altLang="en-US" sz="2800" i="1">
                                  <a:solidFill>
                                    <a:srgbClr val="000000"/>
                                  </a:solidFill>
                                  <a:latin typeface="Cambria Math" panose="02040503050406030204" charset="0"/>
                                </a:rPr>
                                <m:t>2</m:t>
                              </m:r>
                            </m:sub>
                          </m:sSub>
                        </m:den>
                      </m:f>
                      <m:r>
                        <a:rPr lang="zh-CN" altLang="en-US" sz="2800" i="1">
                          <a:solidFill>
                            <a:srgbClr val="000000"/>
                          </a:solidFill>
                          <a:latin typeface="Cambria Math" panose="02040503050406030204" charset="0"/>
                        </a:rPr>
                        <m:t>=</m:t>
                      </m:r>
                      <m:f>
                        <m:fPr>
                          <m:ctrlPr>
                            <a:rPr lang="zh-CN" altLang="en-US" sz="2800" i="1">
                              <a:solidFill>
                                <a:srgbClr val="000000"/>
                              </a:solidFill>
                              <a:latin typeface="Cambria Math" panose="02040503050406030204" charset="0"/>
                            </a:rPr>
                          </m:ctrlPr>
                        </m:fPr>
                        <m:num>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𝑛</m:t>
                              </m:r>
                            </m:e>
                            <m:sub>
                              <m:r>
                                <a:rPr lang="zh-CN" altLang="en-US" sz="2800" i="1">
                                  <a:solidFill>
                                    <a:srgbClr val="000000"/>
                                  </a:solidFill>
                                  <a:latin typeface="Cambria Math" panose="02040503050406030204" charset="0"/>
                                </a:rPr>
                                <m:t>1</m:t>
                              </m:r>
                            </m:sub>
                          </m:sSub>
                        </m:num>
                        <m:den>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𝑛</m:t>
                              </m:r>
                            </m:e>
                            <m:sub>
                              <m:r>
                                <a:rPr lang="zh-CN" altLang="en-US" sz="2800" i="1">
                                  <a:solidFill>
                                    <a:srgbClr val="000000"/>
                                  </a:solidFill>
                                  <a:latin typeface="Cambria Math" panose="02040503050406030204" charset="0"/>
                                </a:rPr>
                                <m:t>2</m:t>
                              </m:r>
                            </m:sub>
                          </m:sSub>
                        </m:den>
                      </m:f>
                      <m:r>
                        <a:rPr lang="zh-CN" altLang="en-US" sz="2800" i="1">
                          <a:solidFill>
                            <a:srgbClr val="000000"/>
                          </a:solidFill>
                          <a:latin typeface="Cambria Math" panose="02040503050406030204" charset="0"/>
                        </a:rPr>
                        <m:t>=</m:t>
                      </m:r>
                      <m:f>
                        <m:fPr>
                          <m:ctrlPr>
                            <a:rPr lang="zh-CN" altLang="en-US" sz="2800" i="1">
                              <a:solidFill>
                                <a:srgbClr val="000000"/>
                              </a:solidFill>
                              <a:latin typeface="Cambria Math" panose="02040503050406030204" charset="0"/>
                            </a:rPr>
                          </m:ctrlPr>
                        </m:fPr>
                        <m:num>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𝑝</m:t>
                              </m:r>
                            </m:e>
                            <m:sub>
                              <m:r>
                                <a:rPr lang="zh-CN" altLang="en-US" sz="2800" i="1">
                                  <a:solidFill>
                                    <a:srgbClr val="000000"/>
                                  </a:solidFill>
                                  <a:latin typeface="Cambria Math" panose="02040503050406030204" charset="0"/>
                                </a:rPr>
                                <m:t>1</m:t>
                              </m:r>
                            </m:sub>
                          </m:sSub>
                        </m:num>
                        <m:den>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𝑝</m:t>
                              </m:r>
                            </m:e>
                            <m:sub>
                              <m:r>
                                <a:rPr lang="zh-CN" altLang="en-US" sz="2800" i="1">
                                  <a:solidFill>
                                    <a:srgbClr val="000000"/>
                                  </a:solidFill>
                                  <a:latin typeface="Cambria Math" panose="02040503050406030204" charset="0"/>
                                </a:rPr>
                                <m:t>2</m:t>
                              </m:r>
                            </m:sub>
                          </m:sSub>
                        </m:den>
                      </m:f>
                      <m:r>
                        <a:rPr lang="zh-CN" altLang="en-US" sz="2800" i="1">
                          <a:solidFill>
                            <a:srgbClr val="000000"/>
                          </a:solidFill>
                          <a:latin typeface="Cambria Math" panose="02040503050406030204" charset="0"/>
                        </a:rPr>
                        <m:t>,</m:t>
                      </m:r>
                    </m:oMath>
                  </m:oMathPara>
                </a14:m>
                <a:endParaRPr lang="zh-CN" altLang="en-US" sz="2800" dirty="0"/>
              </a:p>
            </p:txBody>
          </p:sp>
        </mc:Choice>
        <mc:Fallback>
          <p:sp>
            <p:nvSpPr>
              <p:cNvPr id="15371" name="Object 11"/>
              <p:cNvSpPr txBox="1">
                <a:spLocks noRot="1" noChangeAspect="1" noMove="1" noResize="1" noEditPoints="1" noAdjustHandles="1" noChangeArrowheads="1" noChangeShapeType="1" noTextEdit="1"/>
              </p:cNvSpPr>
              <p:nvPr/>
            </p:nvSpPr>
            <p:spPr bwMode="auto">
              <a:xfrm>
                <a:off x="4483853" y="2225445"/>
                <a:ext cx="3021848" cy="1035802"/>
              </a:xfrm>
              <a:prstGeom prst="rect">
                <a:avLst/>
              </a:prstGeom>
              <a:blipFill rotWithShape="1">
                <a:blip r:embed="rId3"/>
                <a:stretch>
                  <a:fillRect l="-4" t="-39" b="50"/>
                </a:stretch>
              </a:blipFill>
              <a:ln>
                <a:noFill/>
              </a:ln>
              <a:effectLst/>
            </p:spPr>
            <p:txBody>
              <a:bodyPr/>
              <a:lstStyle/>
              <a:p>
                <a:r>
                  <a:rPr lang="zh-CN" altLang="en-US">
                    <a:noFill/>
                  </a:rPr>
                  <a:t> </a:t>
                </a:r>
              </a:p>
            </p:txBody>
          </p:sp>
        </mc:Fallback>
      </mc:AlternateContent>
      <p:grpSp>
        <p:nvGrpSpPr>
          <p:cNvPr id="15373" name="Group 13"/>
          <p:cNvGrpSpPr/>
          <p:nvPr/>
        </p:nvGrpSpPr>
        <p:grpSpPr bwMode="auto">
          <a:xfrm>
            <a:off x="3001163" y="3538628"/>
            <a:ext cx="1475033" cy="593606"/>
            <a:chOff x="768" y="1776"/>
            <a:chExt cx="816" cy="327"/>
          </a:xfrm>
        </p:grpSpPr>
        <p:sp>
          <p:nvSpPr>
            <p:cNvPr id="15374" name="Text Box 14"/>
            <p:cNvSpPr txBox="1">
              <a:spLocks noChangeArrowheads="1"/>
            </p:cNvSpPr>
            <p:nvPr/>
          </p:nvSpPr>
          <p:spPr bwMode="auto">
            <a:xfrm>
              <a:off x="768" y="1776"/>
              <a:ext cx="816"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lang="zh-CN" altLang="en-US" sz="2800" dirty="0"/>
                <a:t>直线</a:t>
              </a:r>
              <a:endParaRPr lang="zh-CN" altLang="en-US" sz="2800" dirty="0"/>
            </a:p>
          </p:txBody>
        </p:sp>
        <mc:AlternateContent xmlns:mc="http://schemas.openxmlformats.org/markup-compatibility/2006">
          <mc:Choice xmlns:a14="http://schemas.microsoft.com/office/drawing/2010/main" Requires="a14">
            <p:sp>
              <p:nvSpPr>
                <p:cNvPr id="15375" name="Object 15"/>
                <p:cNvSpPr txBox="1"/>
                <p:nvPr/>
              </p:nvSpPr>
              <p:spPr bwMode="auto">
                <a:xfrm>
                  <a:off x="1232" y="1779"/>
                  <a:ext cx="352" cy="288"/>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charset="0"/>
                              </a:rPr>
                            </m:ctrlPr>
                          </m:sSubPr>
                          <m:e>
                            <m:r>
                              <a:rPr lang="zh-CN" altLang="en-US" sz="2800" b="0" i="1">
                                <a:solidFill>
                                  <a:srgbClr val="000000"/>
                                </a:solidFill>
                                <a:latin typeface="Cambria Math" panose="02040503050406030204" charset="0"/>
                              </a:rPr>
                              <m:t>𝐿</m:t>
                            </m:r>
                          </m:e>
                          <m:sub>
                            <m:r>
                              <a:rPr lang="zh-CN" altLang="en-US" sz="2800" b="0" i="1">
                                <a:solidFill>
                                  <a:srgbClr val="000000"/>
                                </a:solidFill>
                                <a:latin typeface="Cambria Math" panose="02040503050406030204" charset="0"/>
                              </a:rPr>
                              <m:t>1</m:t>
                            </m:r>
                          </m:sub>
                        </m:sSub>
                        <m:r>
                          <a:rPr lang="zh-CN" altLang="en-US" sz="2800" b="0" i="1">
                            <a:solidFill>
                              <a:srgbClr val="000000"/>
                            </a:solidFill>
                            <a:latin typeface="Cambria Math" panose="02040503050406030204" charset="0"/>
                          </a:rPr>
                          <m:t>:</m:t>
                        </m:r>
                      </m:oMath>
                    </m:oMathPara>
                  </a14:m>
                  <a:endParaRPr lang="zh-CN" altLang="en-US" sz="2800" dirty="0"/>
                </a:p>
              </p:txBody>
            </p:sp>
          </mc:Choice>
          <mc:Fallback>
            <p:sp>
              <p:nvSpPr>
                <p:cNvPr id="15375" name="Object 15"/>
                <p:cNvSpPr txBox="1">
                  <a:spLocks noRot="1" noChangeAspect="1" noMove="1" noResize="1" noEditPoints="1" noAdjustHandles="1" noChangeArrowheads="1" noChangeShapeType="1" noTextEdit="1"/>
                </p:cNvSpPr>
                <p:nvPr/>
              </p:nvSpPr>
              <p:spPr bwMode="auto">
                <a:xfrm>
                  <a:off x="1232" y="1779"/>
                  <a:ext cx="352" cy="288"/>
                </a:xfrm>
                <a:prstGeom prst="rect">
                  <a:avLst/>
                </a:prstGeom>
                <a:blipFill rotWithShape="1">
                  <a:blip r:embed="rId4"/>
                </a:blipFill>
                <a:ln>
                  <a:noFill/>
                </a:ln>
                <a:effectLst/>
              </p:spPr>
              <p:txBody>
                <a:bodyPr/>
                <a:lstStyle/>
                <a:p>
                  <a:r>
                    <a:rPr lang="zh-CN" altLang="en-US">
                      <a:noFill/>
                    </a:rPr>
                    <a:t> </a:t>
                  </a:r>
                </a:p>
              </p:txBody>
            </p:sp>
          </mc:Fallback>
        </mc:AlternateContent>
      </p:grpSp>
      <p:grpSp>
        <p:nvGrpSpPr>
          <p:cNvPr id="15377" name="Group 17"/>
          <p:cNvGrpSpPr/>
          <p:nvPr/>
        </p:nvGrpSpPr>
        <p:grpSpPr bwMode="auto">
          <a:xfrm>
            <a:off x="3046701" y="4284036"/>
            <a:ext cx="1428750" cy="635000"/>
            <a:chOff x="556" y="2374"/>
            <a:chExt cx="900" cy="400"/>
          </a:xfrm>
        </p:grpSpPr>
        <p:sp>
          <p:nvSpPr>
            <p:cNvPr id="15378" name="Text Box 18"/>
            <p:cNvSpPr txBox="1">
              <a:spLocks noChangeArrowheads="1"/>
            </p:cNvSpPr>
            <p:nvPr/>
          </p:nvSpPr>
          <p:spPr bwMode="auto">
            <a:xfrm>
              <a:off x="556" y="2374"/>
              <a:ext cx="816"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lang="zh-CN" altLang="en-US" sz="2800" dirty="0"/>
                <a:t>直线</a:t>
              </a:r>
              <a:endParaRPr lang="zh-CN" altLang="en-US" sz="2800" dirty="0"/>
            </a:p>
          </p:txBody>
        </p:sp>
        <mc:AlternateContent xmlns:mc="http://schemas.openxmlformats.org/markup-compatibility/2006">
          <mc:Choice xmlns:a14="http://schemas.microsoft.com/office/drawing/2010/main" Requires="a14">
            <p:sp>
              <p:nvSpPr>
                <p:cNvPr id="15379" name="Object 19"/>
                <p:cNvSpPr txBox="1"/>
                <p:nvPr/>
              </p:nvSpPr>
              <p:spPr bwMode="auto">
                <a:xfrm>
                  <a:off x="1048" y="2388"/>
                  <a:ext cx="408" cy="386"/>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charset="0"/>
                              </a:rPr>
                            </m:ctrlPr>
                          </m:sSubPr>
                          <m:e>
                            <m:r>
                              <a:rPr lang="zh-CN" altLang="en-US" sz="2800" b="0" i="1">
                                <a:solidFill>
                                  <a:srgbClr val="000000"/>
                                </a:solidFill>
                                <a:latin typeface="Cambria Math" panose="02040503050406030204" charset="0"/>
                              </a:rPr>
                              <m:t>𝐿</m:t>
                            </m:r>
                          </m:e>
                          <m:sub>
                            <m:r>
                              <a:rPr lang="zh-CN" altLang="en-US" sz="2800" b="0" i="1">
                                <a:solidFill>
                                  <a:srgbClr val="000000"/>
                                </a:solidFill>
                                <a:latin typeface="Cambria Math" panose="02040503050406030204" charset="0"/>
                              </a:rPr>
                              <m:t>2</m:t>
                            </m:r>
                          </m:sub>
                        </m:sSub>
                        <m:r>
                          <a:rPr lang="zh-CN" altLang="en-US" sz="2800" b="0" i="1">
                            <a:solidFill>
                              <a:srgbClr val="000000"/>
                            </a:solidFill>
                            <a:latin typeface="Cambria Math" panose="02040503050406030204" charset="0"/>
                          </a:rPr>
                          <m:t>:</m:t>
                        </m:r>
                      </m:oMath>
                    </m:oMathPara>
                  </a14:m>
                  <a:endParaRPr lang="zh-CN" altLang="en-US" sz="2800" dirty="0"/>
                </a:p>
              </p:txBody>
            </p:sp>
          </mc:Choice>
          <mc:Fallback>
            <p:sp>
              <p:nvSpPr>
                <p:cNvPr id="15379" name="Object 19"/>
                <p:cNvSpPr txBox="1">
                  <a:spLocks noRot="1" noChangeAspect="1" noMove="1" noResize="1" noEditPoints="1" noAdjustHandles="1" noChangeArrowheads="1" noChangeShapeType="1" noTextEdit="1"/>
                </p:cNvSpPr>
                <p:nvPr/>
              </p:nvSpPr>
              <p:spPr bwMode="auto">
                <a:xfrm>
                  <a:off x="1048" y="2388"/>
                  <a:ext cx="408" cy="386"/>
                </a:xfrm>
                <a:prstGeom prst="rect">
                  <a:avLst/>
                </a:prstGeom>
                <a:blipFill rotWithShape="1">
                  <a:blip r:embed="rId5"/>
                </a:blipFill>
                <a:ln>
                  <a:noFill/>
                </a:ln>
                <a:effectLst/>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15381" name="Object 21"/>
              <p:cNvSpPr txBox="1"/>
              <p:nvPr/>
            </p:nvSpPr>
            <p:spPr bwMode="auto">
              <a:xfrm>
                <a:off x="4342130" y="3566795"/>
                <a:ext cx="4114800" cy="59817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charset="0"/>
                            </a:rPr>
                          </m:ctrlPr>
                        </m:sSubPr>
                        <m:e>
                          <m:r>
                            <a:rPr lang="zh-CN" altLang="en-US" sz="2800" b="1" i="1">
                              <a:solidFill>
                                <a:srgbClr val="000000"/>
                              </a:solidFill>
                              <a:latin typeface="Cambria Math" panose="02040503050406030204" charset="0"/>
                            </a:rPr>
                            <m:t>𝒔</m:t>
                          </m:r>
                        </m:e>
                        <m:sub>
                          <m:r>
                            <a:rPr lang="zh-CN" altLang="en-US" sz="2800" i="1">
                              <a:solidFill>
                                <a:srgbClr val="000000"/>
                              </a:solidFill>
                              <a:latin typeface="Cambria Math" panose="02040503050406030204" charset="0"/>
                            </a:rPr>
                            <m:t>1</m:t>
                          </m:r>
                        </m:sub>
                      </m:sSub>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1</m:t>
                      </m:r>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4</m:t>
                      </m:r>
                      <m:r>
                        <a:rPr lang="zh-CN" altLang="en-US" sz="2800" i="1">
                          <a:solidFill>
                            <a:srgbClr val="000000"/>
                          </a:solidFill>
                          <a:latin typeface="Cambria Math" panose="02040503050406030204" charset="0"/>
                        </a:rPr>
                        <m:t>, </m:t>
                      </m:r>
                      <m:r>
                        <a:rPr lang="zh-CN" altLang="en-US" sz="2800" i="1">
                          <a:solidFill>
                            <a:srgbClr val="000000"/>
                          </a:solidFill>
                          <a:latin typeface="Cambria Math" panose="02040503050406030204" charset="0"/>
                        </a:rPr>
                        <m:t>0</m:t>
                      </m:r>
                      <m:r>
                        <a:rPr lang="zh-CN" altLang="en-US" sz="2800" i="1">
                          <a:solidFill>
                            <a:srgbClr val="000000"/>
                          </a:solidFill>
                          <a:latin typeface="Cambria Math" panose="02040503050406030204" charset="0"/>
                        </a:rPr>
                        <m:t>},</m:t>
                      </m:r>
                    </m:oMath>
                  </m:oMathPara>
                </a14:m>
                <a:endParaRPr lang="zh-CN" altLang="en-US" sz="2800" dirty="0"/>
              </a:p>
            </p:txBody>
          </p:sp>
        </mc:Choice>
        <mc:Fallback>
          <p:sp>
            <p:nvSpPr>
              <p:cNvPr id="15381" name="Object 21"/>
              <p:cNvSpPr txBox="1">
                <a:spLocks noRot="1" noChangeAspect="1" noMove="1" noResize="1" noEditPoints="1" noAdjustHandles="1" noChangeArrowheads="1" noChangeShapeType="1" noTextEdit="1"/>
              </p:cNvSpPr>
              <p:nvPr/>
            </p:nvSpPr>
            <p:spPr bwMode="auto">
              <a:xfrm>
                <a:off x="4342130" y="3566795"/>
                <a:ext cx="4114800" cy="598170"/>
              </a:xfrm>
              <a:prstGeom prst="rect">
                <a:avLst/>
              </a:prstGeom>
              <a:blipFill rotWithShape="1">
                <a:blip r:embed="rId6"/>
                <a:stretch>
                  <a:fillRect/>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382" name="Object 22"/>
              <p:cNvSpPr txBox="1"/>
              <p:nvPr/>
            </p:nvSpPr>
            <p:spPr bwMode="auto">
              <a:xfrm>
                <a:off x="4331277" y="4260759"/>
                <a:ext cx="2145723" cy="598264"/>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charset="0"/>
                            </a:rPr>
                          </m:ctrlPr>
                        </m:sSubPr>
                        <m:e>
                          <m:r>
                            <a:rPr lang="zh-CN" altLang="en-US" sz="2800" b="1" i="1">
                              <a:solidFill>
                                <a:srgbClr val="000000"/>
                              </a:solidFill>
                              <a:latin typeface="Cambria Math" panose="02040503050406030204" charset="0"/>
                            </a:rPr>
                            <m:t>𝒔</m:t>
                          </m:r>
                        </m:e>
                        <m:sub>
                          <m:r>
                            <a:rPr lang="zh-CN" altLang="en-US" sz="2800" i="1">
                              <a:solidFill>
                                <a:srgbClr val="000000"/>
                              </a:solidFill>
                              <a:latin typeface="Cambria Math" panose="02040503050406030204" charset="0"/>
                            </a:rPr>
                            <m:t>2</m:t>
                          </m:r>
                        </m:sub>
                      </m:sSub>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0</m:t>
                      </m:r>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0</m:t>
                      </m:r>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1</m:t>
                      </m:r>
                      <m:r>
                        <a:rPr lang="zh-CN" altLang="en-US" sz="2800" i="1">
                          <a:solidFill>
                            <a:srgbClr val="000000"/>
                          </a:solidFill>
                          <a:latin typeface="Cambria Math" panose="02040503050406030204" charset="0"/>
                        </a:rPr>
                        <m:t>},</m:t>
                      </m:r>
                    </m:oMath>
                  </m:oMathPara>
                </a14:m>
                <a:endParaRPr lang="zh-CN" altLang="en-US" sz="2800" dirty="0"/>
              </a:p>
            </p:txBody>
          </p:sp>
        </mc:Choice>
        <mc:Fallback>
          <p:sp>
            <p:nvSpPr>
              <p:cNvPr id="15382" name="Object 22"/>
              <p:cNvSpPr txBox="1">
                <a:spLocks noRot="1" noChangeAspect="1" noMove="1" noResize="1" noEditPoints="1" noAdjustHandles="1" noChangeArrowheads="1" noChangeShapeType="1" noTextEdit="1"/>
              </p:cNvSpPr>
              <p:nvPr/>
            </p:nvSpPr>
            <p:spPr bwMode="auto">
              <a:xfrm>
                <a:off x="4331277" y="4260759"/>
                <a:ext cx="2145723" cy="598264"/>
              </a:xfrm>
              <a:prstGeom prst="rect">
                <a:avLst/>
              </a:prstGeom>
              <a:blipFill rotWithShape="1">
                <a:blip r:embed="rId7"/>
                <a:stretch>
                  <a:fillRect l="-27" t="-91" b="1"/>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383" name="Object 23"/>
              <p:cNvSpPr txBox="1"/>
              <p:nvPr/>
            </p:nvSpPr>
            <p:spPr bwMode="auto">
              <a:xfrm>
                <a:off x="3090379" y="5065102"/>
                <a:ext cx="2157740" cy="598264"/>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charset="0"/>
                        </a:rPr>
                        <m:t>∵</m:t>
                      </m:r>
                      <m:sSub>
                        <m:sSubPr>
                          <m:ctrlPr>
                            <a:rPr lang="zh-CN" altLang="en-US" sz="2800" i="1">
                              <a:solidFill>
                                <a:srgbClr val="000000"/>
                              </a:solidFill>
                              <a:latin typeface="Cambria Math" panose="02040503050406030204" charset="0"/>
                            </a:rPr>
                          </m:ctrlPr>
                        </m:sSubPr>
                        <m:e>
                          <m:r>
                            <a:rPr lang="zh-CN" altLang="en-US" sz="2800" b="1" i="1">
                              <a:solidFill>
                                <a:srgbClr val="000000"/>
                              </a:solidFill>
                              <a:latin typeface="Cambria Math" panose="02040503050406030204" charset="0"/>
                            </a:rPr>
                            <m:t>𝒔</m:t>
                          </m:r>
                        </m:e>
                        <m:sub>
                          <m:r>
                            <a:rPr lang="zh-CN" altLang="en-US" sz="2800" i="1">
                              <a:solidFill>
                                <a:srgbClr val="000000"/>
                              </a:solidFill>
                              <a:latin typeface="Cambria Math" panose="02040503050406030204" charset="0"/>
                            </a:rPr>
                            <m:t>1</m:t>
                          </m:r>
                        </m:sub>
                      </m:sSub>
                      <m:r>
                        <a:rPr lang="zh-CN" altLang="en-US" sz="2800" i="1">
                          <a:solidFill>
                            <a:srgbClr val="000000"/>
                          </a:solidFill>
                          <a:latin typeface="Cambria Math" panose="02040503050406030204" charset="0"/>
                        </a:rPr>
                        <m:t>⋅</m:t>
                      </m:r>
                      <m:sSub>
                        <m:sSubPr>
                          <m:ctrlPr>
                            <a:rPr lang="zh-CN" altLang="en-US" sz="2800" i="1">
                              <a:solidFill>
                                <a:srgbClr val="000000"/>
                              </a:solidFill>
                              <a:latin typeface="Cambria Math" panose="02040503050406030204" charset="0"/>
                            </a:rPr>
                          </m:ctrlPr>
                        </m:sSubPr>
                        <m:e>
                          <m:r>
                            <a:rPr lang="zh-CN" altLang="en-US" sz="2800" b="1" i="1">
                              <a:solidFill>
                                <a:srgbClr val="000000"/>
                              </a:solidFill>
                              <a:latin typeface="Cambria Math" panose="02040503050406030204" charset="0"/>
                            </a:rPr>
                            <m:t>𝒔</m:t>
                          </m:r>
                        </m:e>
                        <m:sub>
                          <m:r>
                            <a:rPr lang="zh-CN" altLang="en-US" sz="2800" i="1">
                              <a:solidFill>
                                <a:srgbClr val="000000"/>
                              </a:solidFill>
                              <a:latin typeface="Cambria Math" panose="02040503050406030204" charset="0"/>
                            </a:rPr>
                            <m:t>2</m:t>
                          </m:r>
                        </m:sub>
                      </m:sSub>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0</m:t>
                      </m:r>
                      <m:r>
                        <a:rPr lang="zh-CN" altLang="en-US" sz="2800" i="1">
                          <a:solidFill>
                            <a:srgbClr val="000000"/>
                          </a:solidFill>
                          <a:latin typeface="Cambria Math" panose="02040503050406030204" charset="0"/>
                        </a:rPr>
                        <m:t>,</m:t>
                      </m:r>
                    </m:oMath>
                  </m:oMathPara>
                </a14:m>
                <a:endParaRPr lang="zh-CN" altLang="en-US" sz="2800" dirty="0"/>
              </a:p>
            </p:txBody>
          </p:sp>
        </mc:Choice>
        <mc:Fallback>
          <p:sp>
            <p:nvSpPr>
              <p:cNvPr id="15383" name="Object 23"/>
              <p:cNvSpPr txBox="1">
                <a:spLocks noRot="1" noChangeAspect="1" noMove="1" noResize="1" noEditPoints="1" noAdjustHandles="1" noChangeArrowheads="1" noChangeShapeType="1" noTextEdit="1"/>
              </p:cNvSpPr>
              <p:nvPr/>
            </p:nvSpPr>
            <p:spPr bwMode="auto">
              <a:xfrm>
                <a:off x="3090379" y="5065102"/>
                <a:ext cx="2157740" cy="598264"/>
              </a:xfrm>
              <a:prstGeom prst="rect">
                <a:avLst/>
              </a:prstGeom>
              <a:blipFill rotWithShape="1">
                <a:blip r:embed="rId8"/>
                <a:stretch>
                  <a:fillRect l="-22" t="-57" r="22" b="73"/>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384" name="Object 24"/>
              <p:cNvSpPr txBox="1"/>
              <p:nvPr/>
            </p:nvSpPr>
            <p:spPr bwMode="auto">
              <a:xfrm>
                <a:off x="5305269" y="5043374"/>
                <a:ext cx="1857532" cy="613662"/>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charset="0"/>
                        </a:rPr>
                        <m:t>∴</m:t>
                      </m:r>
                      <m:sSub>
                        <m:sSubPr>
                          <m:ctrlPr>
                            <a:rPr lang="zh-CN" altLang="en-US" sz="2800" i="1">
                              <a:solidFill>
                                <a:srgbClr val="000000"/>
                              </a:solidFill>
                              <a:latin typeface="Cambria Math" panose="02040503050406030204" charset="0"/>
                            </a:rPr>
                          </m:ctrlPr>
                        </m:sSubPr>
                        <m:e>
                          <m:r>
                            <a:rPr lang="zh-CN" altLang="en-US" sz="2800" b="1" i="1">
                              <a:solidFill>
                                <a:srgbClr val="000000"/>
                              </a:solidFill>
                              <a:latin typeface="Cambria Math" panose="02040503050406030204" charset="0"/>
                            </a:rPr>
                            <m:t>𝒔</m:t>
                          </m:r>
                        </m:e>
                        <m:sub>
                          <m:r>
                            <a:rPr lang="zh-CN" altLang="en-US" sz="2800" i="1">
                              <a:solidFill>
                                <a:srgbClr val="000000"/>
                              </a:solidFill>
                              <a:latin typeface="Cambria Math" panose="02040503050406030204" charset="0"/>
                            </a:rPr>
                            <m:t>1</m:t>
                          </m:r>
                        </m:sub>
                      </m:sSub>
                      <m:r>
                        <a:rPr lang="zh-CN" altLang="en-US" sz="2800" i="1">
                          <a:solidFill>
                            <a:srgbClr val="000000"/>
                          </a:solidFill>
                          <a:latin typeface="Cambria Math" panose="02040503050406030204" charset="0"/>
                        </a:rPr>
                        <m:t>⊥</m:t>
                      </m:r>
                      <m:sSub>
                        <m:sSubPr>
                          <m:ctrlPr>
                            <a:rPr lang="zh-CN" altLang="en-US" sz="2800" i="1">
                              <a:solidFill>
                                <a:srgbClr val="000000"/>
                              </a:solidFill>
                              <a:latin typeface="Cambria Math" panose="02040503050406030204" charset="0"/>
                            </a:rPr>
                          </m:ctrlPr>
                        </m:sSubPr>
                        <m:e>
                          <m:r>
                            <a:rPr lang="zh-CN" altLang="en-US" sz="2800" b="1" i="1">
                              <a:solidFill>
                                <a:srgbClr val="000000"/>
                              </a:solidFill>
                              <a:latin typeface="Cambria Math" panose="02040503050406030204" charset="0"/>
                            </a:rPr>
                            <m:t>𝒔</m:t>
                          </m:r>
                        </m:e>
                        <m:sub>
                          <m:r>
                            <a:rPr lang="zh-CN" altLang="en-US" sz="2800" i="1">
                              <a:solidFill>
                                <a:srgbClr val="000000"/>
                              </a:solidFill>
                              <a:latin typeface="Cambria Math" panose="02040503050406030204" charset="0"/>
                            </a:rPr>
                            <m:t>2</m:t>
                          </m:r>
                        </m:sub>
                      </m:sSub>
                      <m:r>
                        <a:rPr lang="zh-CN" altLang="en-US" sz="2800" i="1">
                          <a:solidFill>
                            <a:srgbClr val="000000"/>
                          </a:solidFill>
                          <a:latin typeface="Cambria Math" panose="02040503050406030204" charset="0"/>
                        </a:rPr>
                        <m:t>,</m:t>
                      </m:r>
                    </m:oMath>
                  </m:oMathPara>
                </a14:m>
                <a:endParaRPr lang="zh-CN" altLang="en-US" sz="2800" dirty="0"/>
              </a:p>
            </p:txBody>
          </p:sp>
        </mc:Choice>
        <mc:Fallback>
          <p:sp>
            <p:nvSpPr>
              <p:cNvPr id="15384" name="Object 24"/>
              <p:cNvSpPr txBox="1">
                <a:spLocks noRot="1" noChangeAspect="1" noMove="1" noResize="1" noEditPoints="1" noAdjustHandles="1" noChangeArrowheads="1" noChangeShapeType="1" noTextEdit="1"/>
              </p:cNvSpPr>
              <p:nvPr/>
            </p:nvSpPr>
            <p:spPr bwMode="auto">
              <a:xfrm>
                <a:off x="5305269" y="5043374"/>
                <a:ext cx="1857532" cy="613662"/>
              </a:xfrm>
              <a:prstGeom prst="rect">
                <a:avLst/>
              </a:prstGeom>
              <a:blipFill rotWithShape="1">
                <a:blip r:embed="rId9"/>
                <a:stretch>
                  <a:fillRect l="-26" t="-33" b="74"/>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386" name="Object 26"/>
              <p:cNvSpPr txBox="1"/>
              <p:nvPr/>
            </p:nvSpPr>
            <p:spPr bwMode="auto">
              <a:xfrm>
                <a:off x="6936600" y="5100519"/>
                <a:ext cx="2064526" cy="613661"/>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charset="0"/>
                        </a:rPr>
                        <m:t>即</m:t>
                      </m:r>
                      <m:r>
                        <a:rPr lang="zh-CN" altLang="en-US" sz="2800" i="1">
                          <a:solidFill>
                            <a:srgbClr val="000000"/>
                          </a:solidFill>
                          <a:latin typeface="Cambria Math" panose="02040503050406030204" charset="0"/>
                        </a:rPr>
                        <m:t> </m:t>
                      </m:r>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𝐿</m:t>
                          </m:r>
                        </m:e>
                        <m:sub>
                          <m:r>
                            <a:rPr lang="zh-CN" altLang="en-US" sz="2800" i="1">
                              <a:solidFill>
                                <a:srgbClr val="000000"/>
                              </a:solidFill>
                              <a:latin typeface="Cambria Math" panose="02040503050406030204" charset="0"/>
                            </a:rPr>
                            <m:t>1</m:t>
                          </m:r>
                        </m:sub>
                      </m:sSub>
                      <m:r>
                        <a:rPr lang="zh-CN" altLang="en-US" sz="2800" i="1">
                          <a:solidFill>
                            <a:srgbClr val="000000"/>
                          </a:solidFill>
                          <a:latin typeface="Cambria Math" panose="02040503050406030204" charset="0"/>
                        </a:rPr>
                        <m:t>⊥</m:t>
                      </m:r>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𝐿</m:t>
                          </m:r>
                        </m:e>
                        <m:sub>
                          <m:r>
                            <a:rPr lang="zh-CN" altLang="en-US" sz="2800" i="1">
                              <a:solidFill>
                                <a:srgbClr val="000000"/>
                              </a:solidFill>
                              <a:latin typeface="Cambria Math" panose="02040503050406030204" charset="0"/>
                            </a:rPr>
                            <m:t>2</m:t>
                          </m:r>
                        </m:sub>
                      </m:sSub>
                      <m:r>
                        <a:rPr lang="zh-CN" altLang="en-US" sz="2800" i="1">
                          <a:solidFill>
                            <a:srgbClr val="000000"/>
                          </a:solidFill>
                          <a:latin typeface="Cambria Math" panose="02040503050406030204" charset="0"/>
                        </a:rPr>
                        <m:t>.</m:t>
                      </m:r>
                    </m:oMath>
                  </m:oMathPara>
                </a14:m>
                <a:endParaRPr lang="zh-CN" altLang="en-US" sz="2800" dirty="0"/>
              </a:p>
            </p:txBody>
          </p:sp>
        </mc:Choice>
        <mc:Fallback>
          <p:sp>
            <p:nvSpPr>
              <p:cNvPr id="15386" name="Object 26"/>
              <p:cNvSpPr txBox="1">
                <a:spLocks noRot="1" noChangeAspect="1" noMove="1" noResize="1" noEditPoints="1" noAdjustHandles="1" noChangeArrowheads="1" noChangeShapeType="1" noTextEdit="1"/>
              </p:cNvSpPr>
              <p:nvPr/>
            </p:nvSpPr>
            <p:spPr bwMode="auto">
              <a:xfrm>
                <a:off x="6936600" y="5100519"/>
                <a:ext cx="2064526" cy="613661"/>
              </a:xfrm>
              <a:prstGeom prst="rect">
                <a:avLst/>
              </a:prstGeom>
              <a:blipFill rotWithShape="1">
                <a:blip r:embed="rId10"/>
                <a:stretch>
                  <a:fillRect l="-24" t="-32" b="-2617"/>
                </a:stretch>
              </a:blipFill>
              <a:ln>
                <a:noFill/>
              </a:ln>
              <a:effectLst/>
            </p:spPr>
            <p:txBody>
              <a:bodyPr/>
              <a:lstStyle/>
              <a:p>
                <a:r>
                  <a:rPr lang="zh-CN" altLang="en-US">
                    <a:noFill/>
                  </a:rPr>
                  <a:t> </a:t>
                </a:r>
              </a:p>
            </p:txBody>
          </p:sp>
        </mc:Fallback>
      </mc:AlternateContent>
      <p:sp>
        <p:nvSpPr>
          <p:cNvPr id="21" name="Text Box 2"/>
          <p:cNvSpPr txBox="1">
            <a:spLocks noChangeArrowheads="1"/>
          </p:cNvSpPr>
          <p:nvPr/>
        </p:nvSpPr>
        <p:spPr bwMode="auto">
          <a:xfrm>
            <a:off x="1965219" y="817906"/>
            <a:ext cx="4191000"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lang="zh-CN" altLang="en-US" sz="2800" b="1" dirty="0">
                <a:solidFill>
                  <a:srgbClr val="04926A"/>
                </a:solidFill>
                <a:latin typeface="黑体" panose="02010609060101010101" pitchFamily="49" charset="-122"/>
                <a:ea typeface="黑体" panose="02010609060101010101" pitchFamily="49" charset="-122"/>
              </a:rPr>
              <a:t>两直线的位置关系：</a:t>
            </a:r>
            <a:endParaRPr lang="zh-CN" altLang="en-US" sz="2800" b="1" dirty="0">
              <a:solidFill>
                <a:srgbClr val="04926A"/>
              </a:solidFill>
              <a:latin typeface="黑体" panose="02010609060101010101" pitchFamily="49" charset="-122"/>
              <a:ea typeface="黑体" panose="02010609060101010101" pitchFamily="49" charset="-122"/>
            </a:endParaRPr>
          </a:p>
        </p:txBody>
      </p:sp>
      <mc:AlternateContent xmlns:mc="http://schemas.openxmlformats.org/markup-compatibility/2006">
        <mc:Choice xmlns:a14="http://schemas.microsoft.com/office/drawing/2010/main" Requires="a14">
          <p:sp>
            <p:nvSpPr>
              <p:cNvPr id="2" name="对象 1"/>
              <p:cNvSpPr txBox="1"/>
              <p:nvPr/>
            </p:nvSpPr>
            <p:spPr>
              <a:xfrm>
                <a:off x="2665654" y="1520518"/>
                <a:ext cx="2057447" cy="615860"/>
              </a:xfrm>
              <a:prstGeom prst="rect">
                <a:avLst/>
              </a:prstGeom>
            </p:spPr>
            <p:txBody>
              <a:bodyPr>
                <a:noAutofit/>
              </a:bodyPr>
              <a:lstStyle/>
              <a:p>
                <a14:m>
                  <m:oMathPara xmlns:m="http://schemas.openxmlformats.org/officeDocument/2006/math">
                    <m:oMathParaPr>
                      <m:jc m:val="left"/>
                    </m:oMathParaPr>
                    <m:oMath xmlns:m="http://schemas.openxmlformats.org/officeDocument/2006/math">
                      <m:r>
                        <a:rPr lang="en-US" altLang="zh-CN" sz="2800" b="0" i="1" smtClean="0">
                          <a:solidFill>
                            <a:srgbClr val="000000"/>
                          </a:solidFill>
                          <a:latin typeface="Cambria Math" panose="02040503050406030204" charset="0"/>
                        </a:rPr>
                        <m:t>(</m:t>
                      </m:r>
                      <m:r>
                        <a:rPr lang="zh-CN" altLang="en-US" sz="2800" i="1">
                          <a:solidFill>
                            <a:srgbClr val="000000"/>
                          </a:solidFill>
                          <a:latin typeface="Cambria Math" panose="02040503050406030204" charset="0"/>
                        </a:rPr>
                        <m:t>1</m:t>
                      </m:r>
                      <m:r>
                        <a:rPr lang="en-US" altLang="zh-CN" sz="2800" b="0" i="1" smtClean="0">
                          <a:solidFill>
                            <a:srgbClr val="000000"/>
                          </a:solidFill>
                          <a:latin typeface="Cambria Math" panose="02040503050406030204" charset="0"/>
                        </a:rPr>
                        <m:t>)</m:t>
                      </m:r>
                      <m:r>
                        <a:rPr lang="zh-CN" altLang="en-US" sz="2800" i="1">
                          <a:solidFill>
                            <a:srgbClr val="000000"/>
                          </a:solidFill>
                          <a:highlight>
                            <a:srgbClr val="FFFF00"/>
                          </a:highlight>
                          <a:latin typeface="Cambria Math" panose="02040503050406030204" charset="0"/>
                        </a:rPr>
                        <m:t> </m:t>
                      </m:r>
                      <m:sSub>
                        <m:sSubPr>
                          <m:ctrlPr>
                            <a:rPr lang="zh-CN" altLang="en-US" sz="2800" i="1">
                              <a:solidFill>
                                <a:srgbClr val="000000"/>
                              </a:solidFill>
                              <a:highlight>
                                <a:srgbClr val="FFFF00"/>
                              </a:highlight>
                              <a:latin typeface="Cambria Math" panose="02040503050406030204" charset="0"/>
                            </a:rPr>
                          </m:ctrlPr>
                        </m:sSubPr>
                        <m:e>
                          <m:r>
                            <a:rPr lang="zh-CN" altLang="en-US" sz="2800" i="1">
                              <a:solidFill>
                                <a:srgbClr val="000000"/>
                              </a:solidFill>
                              <a:highlight>
                                <a:srgbClr val="FFFF00"/>
                              </a:highlight>
                              <a:latin typeface="Cambria Math" panose="02040503050406030204" charset="0"/>
                            </a:rPr>
                            <m:t>𝐿</m:t>
                          </m:r>
                        </m:e>
                        <m:sub>
                          <m:r>
                            <a:rPr lang="zh-CN" altLang="en-US" sz="2800" i="1">
                              <a:solidFill>
                                <a:srgbClr val="000000"/>
                              </a:solidFill>
                              <a:highlight>
                                <a:srgbClr val="FFFF00"/>
                              </a:highlight>
                              <a:latin typeface="Cambria Math" panose="02040503050406030204" charset="0"/>
                            </a:rPr>
                            <m:t>1</m:t>
                          </m:r>
                        </m:sub>
                      </m:sSub>
                      <m:r>
                        <a:rPr lang="zh-CN" altLang="en-US" sz="2800" i="1">
                          <a:solidFill>
                            <a:srgbClr val="000000"/>
                          </a:solidFill>
                          <a:highlight>
                            <a:srgbClr val="FFFF00"/>
                          </a:highlight>
                          <a:latin typeface="Cambria Math" panose="02040503050406030204" charset="0"/>
                        </a:rPr>
                        <m:t>⊥</m:t>
                      </m:r>
                      <m:sSub>
                        <m:sSubPr>
                          <m:ctrlPr>
                            <a:rPr lang="zh-CN" altLang="en-US" sz="2800" i="1">
                              <a:solidFill>
                                <a:srgbClr val="000000"/>
                              </a:solidFill>
                              <a:highlight>
                                <a:srgbClr val="FFFF00"/>
                              </a:highlight>
                              <a:latin typeface="Cambria Math" panose="02040503050406030204" charset="0"/>
                            </a:rPr>
                          </m:ctrlPr>
                        </m:sSubPr>
                        <m:e>
                          <m:r>
                            <a:rPr lang="zh-CN" altLang="en-US" sz="2800" i="1">
                              <a:solidFill>
                                <a:srgbClr val="000000"/>
                              </a:solidFill>
                              <a:highlight>
                                <a:srgbClr val="FFFF00"/>
                              </a:highlight>
                              <a:latin typeface="Cambria Math" panose="02040503050406030204" charset="0"/>
                            </a:rPr>
                            <m:t>𝐿</m:t>
                          </m:r>
                        </m:e>
                        <m:sub>
                          <m:r>
                            <a:rPr lang="zh-CN" altLang="en-US" sz="2800" i="1">
                              <a:solidFill>
                                <a:srgbClr val="000000"/>
                              </a:solidFill>
                              <a:highlight>
                                <a:srgbClr val="FFFF00"/>
                              </a:highlight>
                              <a:latin typeface="Cambria Math" panose="02040503050406030204" charset="0"/>
                            </a:rPr>
                            <m:t>2</m:t>
                          </m:r>
                        </m:sub>
                      </m:sSub>
                    </m:oMath>
                  </m:oMathPara>
                </a14:m>
                <a:endParaRPr lang="zh-CN" altLang="en-US" sz="2800" i="1" dirty="0">
                  <a:solidFill>
                    <a:srgbClr val="000000"/>
                  </a:solidFill>
                  <a:highlight>
                    <a:srgbClr val="FFFF00"/>
                  </a:highlight>
                  <a:latin typeface="Cambria Math" panose="02040503050406030204" charset="0"/>
                </a:endParaRPr>
              </a:p>
            </p:txBody>
          </p:sp>
        </mc:Choice>
        <mc:Fallback>
          <p:sp>
            <p:nvSpPr>
              <p:cNvPr id="2" name="对象 1"/>
              <p:cNvSpPr txBox="1">
                <a:spLocks noRot="1" noChangeAspect="1" noMove="1" noResize="1" noEditPoints="1" noAdjustHandles="1" noChangeArrowheads="1" noChangeShapeType="1" noTextEdit="1"/>
              </p:cNvSpPr>
              <p:nvPr/>
            </p:nvSpPr>
            <p:spPr>
              <a:xfrm>
                <a:off x="2665654" y="1520518"/>
                <a:ext cx="2057447" cy="615860"/>
              </a:xfrm>
              <a:prstGeom prst="rect">
                <a:avLst/>
              </a:prstGeom>
              <a:blipFill rotWithShape="1">
                <a:blip r:embed="rId11"/>
                <a:stretch>
                  <a:fillRect l="-27" t="-53" r="29" b="3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对象 2"/>
              <p:cNvSpPr txBox="1"/>
              <p:nvPr/>
            </p:nvSpPr>
            <p:spPr>
              <a:xfrm>
                <a:off x="2665654" y="2320298"/>
                <a:ext cx="2057447" cy="615860"/>
              </a:xfrm>
              <a:prstGeom prst="rect">
                <a:avLst/>
              </a:prstGeom>
            </p:spPr>
            <p:txBody>
              <a:bodyPr>
                <a:noAutofit/>
              </a:bodyPr>
              <a:lstStyle/>
              <a:p>
                <a14:m>
                  <m:oMathPara xmlns:m="http://schemas.openxmlformats.org/officeDocument/2006/math">
                    <m:oMathParaPr>
                      <m:jc m:val="left"/>
                    </m:oMathParaPr>
                    <m:oMath xmlns:m="http://schemas.openxmlformats.org/officeDocument/2006/math">
                      <m:d>
                        <m:dPr>
                          <m:ctrlPr>
                            <a:rPr lang="en-US" altLang="zh-CN" sz="2800" b="0" i="1" smtClean="0">
                              <a:solidFill>
                                <a:srgbClr val="000000"/>
                              </a:solidFill>
                              <a:latin typeface="Cambria Math" panose="02040503050406030204" charset="0"/>
                            </a:rPr>
                          </m:ctrlPr>
                        </m:dPr>
                        <m:e>
                          <m:r>
                            <a:rPr lang="zh-CN" altLang="en-US" sz="2800" i="1">
                              <a:solidFill>
                                <a:srgbClr val="000000"/>
                              </a:solidFill>
                              <a:latin typeface="Cambria Math" panose="02040503050406030204" charset="0"/>
                            </a:rPr>
                            <m:t>2</m:t>
                          </m:r>
                        </m:e>
                      </m:d>
                      <m:r>
                        <a:rPr lang="zh-CN" altLang="en-US" sz="2800" i="1">
                          <a:solidFill>
                            <a:srgbClr val="000000"/>
                          </a:solidFill>
                          <a:latin typeface="Cambria Math" panose="02040503050406030204" charset="0"/>
                        </a:rPr>
                        <m:t> </m:t>
                      </m:r>
                      <m:sSub>
                        <m:sSubPr>
                          <m:ctrlPr>
                            <a:rPr lang="zh-CN" altLang="en-US" sz="2800" i="1">
                              <a:solidFill>
                                <a:srgbClr val="000000"/>
                              </a:solidFill>
                              <a:highlight>
                                <a:srgbClr val="FFFF00"/>
                              </a:highlight>
                              <a:latin typeface="Cambria Math" panose="02040503050406030204" charset="0"/>
                            </a:rPr>
                          </m:ctrlPr>
                        </m:sSubPr>
                        <m:e>
                          <m:r>
                            <a:rPr lang="zh-CN" altLang="en-US" sz="2800" i="1">
                              <a:solidFill>
                                <a:srgbClr val="000000"/>
                              </a:solidFill>
                              <a:highlight>
                                <a:srgbClr val="FFFF00"/>
                              </a:highlight>
                              <a:latin typeface="Cambria Math" panose="02040503050406030204" charset="0"/>
                            </a:rPr>
                            <m:t>𝐿</m:t>
                          </m:r>
                        </m:e>
                        <m:sub>
                          <m:r>
                            <a:rPr lang="zh-CN" altLang="en-US" sz="2800" i="1">
                              <a:solidFill>
                                <a:srgbClr val="000000"/>
                              </a:solidFill>
                              <a:highlight>
                                <a:srgbClr val="FFFF00"/>
                              </a:highlight>
                              <a:latin typeface="Cambria Math" panose="02040503050406030204" charset="0"/>
                            </a:rPr>
                            <m:t>1</m:t>
                          </m:r>
                        </m:sub>
                      </m:sSub>
                      <m:r>
                        <m:rPr>
                          <m:nor/>
                        </m:rPr>
                        <a:rPr lang="en-US" altLang="zh-CN" sz="2800" b="0" i="1" smtClean="0">
                          <a:solidFill>
                            <a:srgbClr val="000000"/>
                          </a:solidFill>
                          <a:highlight>
                            <a:srgbClr val="FFFF00"/>
                          </a:highlight>
                          <a:latin typeface="Cambria Math" panose="02040503050406030204" charset="0"/>
                        </a:rPr>
                        <m:t> </m:t>
                      </m:r>
                      <m:r>
                        <m:rPr>
                          <m:nor/>
                        </m:rPr>
                        <a:rPr lang="en-US" altLang="zh-CN" sz="2800" i="1" dirty="0">
                          <a:highlight>
                            <a:srgbClr val="FFFF00"/>
                          </a:highlight>
                          <a:latin typeface="Cambria Math" panose="02040503050406030204" charset="0"/>
                          <a:sym typeface="Symbol" panose="05050102010706020507" pitchFamily="18" charset="2"/>
                        </a:rPr>
                        <m:t>∥</m:t>
                      </m:r>
                      <m:r>
                        <a:rPr lang="en-US" altLang="zh-CN" sz="2800" b="0" i="1" dirty="0" smtClean="0">
                          <a:highlight>
                            <a:srgbClr val="FFFF00"/>
                          </a:highlight>
                          <a:latin typeface="Cambria Math" panose="02040503050406030204" charset="0"/>
                          <a:sym typeface="Symbol" panose="05050102010706020507" pitchFamily="18" charset="2"/>
                        </a:rPr>
                        <m:t>  </m:t>
                      </m:r>
                      <m:sSub>
                        <m:sSubPr>
                          <m:ctrlPr>
                            <a:rPr lang="zh-CN" altLang="en-US" sz="2800" i="1">
                              <a:solidFill>
                                <a:srgbClr val="000000"/>
                              </a:solidFill>
                              <a:highlight>
                                <a:srgbClr val="FFFF00"/>
                              </a:highlight>
                              <a:latin typeface="Cambria Math" panose="02040503050406030204" charset="0"/>
                            </a:rPr>
                          </m:ctrlPr>
                        </m:sSubPr>
                        <m:e>
                          <m:r>
                            <a:rPr lang="zh-CN" altLang="en-US" sz="2800" i="1">
                              <a:solidFill>
                                <a:srgbClr val="000000"/>
                              </a:solidFill>
                              <a:highlight>
                                <a:srgbClr val="FFFF00"/>
                              </a:highlight>
                              <a:latin typeface="Cambria Math" panose="02040503050406030204" charset="0"/>
                            </a:rPr>
                            <m:t>𝐿</m:t>
                          </m:r>
                        </m:e>
                        <m:sub>
                          <m:r>
                            <a:rPr lang="zh-CN" altLang="en-US" sz="2800" i="1">
                              <a:solidFill>
                                <a:srgbClr val="000000"/>
                              </a:solidFill>
                              <a:highlight>
                                <a:srgbClr val="FFFF00"/>
                              </a:highlight>
                              <a:latin typeface="Cambria Math" panose="02040503050406030204" charset="0"/>
                            </a:rPr>
                            <m:t>2</m:t>
                          </m:r>
                        </m:sub>
                      </m:sSub>
                    </m:oMath>
                  </m:oMathPara>
                </a14:m>
                <a:endParaRPr lang="zh-CN" altLang="en-US" sz="2800" i="1" dirty="0">
                  <a:solidFill>
                    <a:srgbClr val="000000"/>
                  </a:solidFill>
                  <a:highlight>
                    <a:srgbClr val="FFFF00"/>
                  </a:highlight>
                  <a:latin typeface="Cambria Math" panose="02040503050406030204" charset="0"/>
                </a:endParaRPr>
              </a:p>
            </p:txBody>
          </p:sp>
        </mc:Choice>
        <mc:Fallback>
          <p:sp>
            <p:nvSpPr>
              <p:cNvPr id="3" name="对象 2"/>
              <p:cNvSpPr txBox="1">
                <a:spLocks noRot="1" noChangeAspect="1" noMove="1" noResize="1" noEditPoints="1" noAdjustHandles="1" noChangeArrowheads="1" noChangeShapeType="1" noTextEdit="1"/>
              </p:cNvSpPr>
              <p:nvPr/>
            </p:nvSpPr>
            <p:spPr>
              <a:xfrm>
                <a:off x="2665654" y="2320298"/>
                <a:ext cx="2057447" cy="615860"/>
              </a:xfrm>
              <a:prstGeom prst="rect">
                <a:avLst/>
              </a:prstGeom>
              <a:blipFill rotWithShape="1">
                <a:blip r:embed="rId12"/>
                <a:stretch>
                  <a:fillRect l="-27" t="-1" r="29" b="90"/>
                </a:stretch>
              </a:blipFill>
            </p:spPr>
            <p:txBody>
              <a:bodyPr/>
              <a:lstStyle/>
              <a:p>
                <a:r>
                  <a:rPr lang="zh-CN" altLang="en-US">
                    <a:noFill/>
                  </a:rPr>
                  <a:t> </a:t>
                </a:r>
              </a:p>
            </p:txBody>
          </p:sp>
        </mc:Fallback>
      </mc:AlternateContent>
      <p:grpSp>
        <p:nvGrpSpPr>
          <p:cNvPr id="16" name="组合 15"/>
          <p:cNvGrpSpPr/>
          <p:nvPr/>
        </p:nvGrpSpPr>
        <p:grpSpPr>
          <a:xfrm>
            <a:off x="2050150" y="3581005"/>
            <a:ext cx="962025" cy="448945"/>
            <a:chOff x="1553" y="3803"/>
            <a:chExt cx="1515" cy="707"/>
          </a:xfrm>
        </p:grpSpPr>
        <p:sp>
          <p:nvSpPr>
            <p:cNvPr id="17" name="圆角矩形 57"/>
            <p:cNvSpPr/>
            <p:nvPr/>
          </p:nvSpPr>
          <p:spPr>
            <a:xfrm>
              <a:off x="1553" y="3803"/>
              <a:ext cx="1417" cy="707"/>
            </a:xfrm>
            <a:prstGeom prst="roundRect">
              <a:avLst/>
            </a:prstGeom>
            <a:solidFill>
              <a:srgbClr val="049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8" name="Text Box 28"/>
            <p:cNvSpPr txBox="1">
              <a:spLocks noChangeArrowheads="1"/>
            </p:cNvSpPr>
            <p:nvPr/>
          </p:nvSpPr>
          <p:spPr bwMode="auto">
            <a:xfrm>
              <a:off x="1630" y="3804"/>
              <a:ext cx="1438" cy="6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bIns="0">
              <a:spAutoFit/>
            </a:bodyPr>
            <a:lstStyle>
              <a:lvl1pPr>
                <a:lnSpc>
                  <a:spcPct val="85000"/>
                </a:lnSpc>
                <a:defRPr kumimoji="1" sz="2800" b="1">
                  <a:solidFill>
                    <a:schemeClr val="tx2"/>
                  </a:solidFill>
                  <a:latin typeface="Times New Roman" panose="02020603050405020304" pitchFamily="18" charset="0"/>
                  <a:ea typeface="楷体_GB2312" pitchFamily="49" charset="-122"/>
                </a:defRPr>
              </a:lvl1pPr>
              <a:lvl2pPr marL="742950" indent="-285750">
                <a:lnSpc>
                  <a:spcPct val="85000"/>
                </a:lnSpc>
                <a:defRPr kumimoji="1" sz="2800" b="1">
                  <a:solidFill>
                    <a:schemeClr val="tx2"/>
                  </a:solidFill>
                  <a:latin typeface="Times New Roman" panose="02020603050405020304" pitchFamily="18" charset="0"/>
                  <a:ea typeface="楷体_GB2312" pitchFamily="49" charset="-122"/>
                </a:defRPr>
              </a:lvl2pPr>
              <a:lvl3pPr marL="1143000" indent="-228600">
                <a:lnSpc>
                  <a:spcPct val="85000"/>
                </a:lnSpc>
                <a:defRPr kumimoji="1" sz="2800" b="1">
                  <a:solidFill>
                    <a:schemeClr val="tx2"/>
                  </a:solidFill>
                  <a:latin typeface="Times New Roman" panose="02020603050405020304" pitchFamily="18" charset="0"/>
                  <a:ea typeface="楷体_GB2312" pitchFamily="49" charset="-122"/>
                </a:defRPr>
              </a:lvl3pPr>
              <a:lvl4pPr marL="1600200" indent="-228600">
                <a:lnSpc>
                  <a:spcPct val="85000"/>
                </a:lnSpc>
                <a:defRPr kumimoji="1" sz="2800" b="1">
                  <a:solidFill>
                    <a:schemeClr val="tx2"/>
                  </a:solidFill>
                  <a:latin typeface="Times New Roman" panose="02020603050405020304" pitchFamily="18" charset="0"/>
                  <a:ea typeface="楷体_GB2312" pitchFamily="49" charset="-122"/>
                </a:defRPr>
              </a:lvl4pPr>
              <a:lvl5pPr marL="2057400" indent="-228600">
                <a:lnSpc>
                  <a:spcPct val="85000"/>
                </a:lnSpc>
                <a:defRPr kumimoji="1" sz="2800" b="1">
                  <a:solidFill>
                    <a:schemeClr val="tx2"/>
                  </a:solidFill>
                  <a:latin typeface="Times New Roman" panose="02020603050405020304" pitchFamily="18" charset="0"/>
                  <a:ea typeface="楷体_GB2312" pitchFamily="49" charset="-122"/>
                </a:defRPr>
              </a:lvl5pPr>
              <a:lvl6pPr marL="25146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6pPr>
              <a:lvl7pPr marL="29718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7pPr>
              <a:lvl8pPr marL="34290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8pPr>
              <a:lvl9pPr marL="38862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50000"/>
                </a:spcBef>
                <a:spcAft>
                  <a:spcPct val="0"/>
                </a:spcAft>
                <a:buClrTx/>
                <a:buSzTx/>
                <a:defRPr/>
              </a:pPr>
              <a:r>
                <a:rPr kumimoji="1" lang="zh-CN" altLang="en-US"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例如</a:t>
              </a:r>
              <a:r>
                <a:rPr lang="en-US" altLang="zh-CN" kern="0" dirty="0">
                  <a:solidFill>
                    <a:schemeClr val="bg1"/>
                  </a:solidFill>
                  <a:latin typeface="微软雅黑" panose="020B0503020204020204" charset="-122"/>
                  <a:ea typeface="微软雅黑" panose="020B0503020204020204" charset="-122"/>
                  <a:cs typeface="微软雅黑" panose="020B0503020204020204" charset="-122"/>
                </a:rPr>
                <a:t>,</a:t>
              </a:r>
              <a:endParaRPr kumimoji="1" lang="zh-CN" altLang="en-US"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367"/>
                                        </p:tgtEl>
                                        <p:attrNameLst>
                                          <p:attrName>style.visibility</p:attrName>
                                        </p:attrNameLst>
                                      </p:cBhvr>
                                      <p:to>
                                        <p:strVal val="visible"/>
                                      </p:to>
                                    </p:set>
                                    <p:animEffect transition="in" filter="wipe(left)">
                                      <p:cBhvr>
                                        <p:cTn id="17" dur="500"/>
                                        <p:tgtEl>
                                          <p:spTgt spid="1536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371"/>
                                        </p:tgtEl>
                                        <p:attrNameLst>
                                          <p:attrName>style.visibility</p:attrName>
                                        </p:attrNameLst>
                                      </p:cBhvr>
                                      <p:to>
                                        <p:strVal val="visible"/>
                                      </p:to>
                                    </p:set>
                                    <p:animEffect transition="in" filter="wipe(left)">
                                      <p:cBhvr>
                                        <p:cTn id="27" dur="500"/>
                                        <p:tgtEl>
                                          <p:spTgt spid="1537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left)">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5373"/>
                                        </p:tgtEl>
                                        <p:attrNameLst>
                                          <p:attrName>style.visibility</p:attrName>
                                        </p:attrNameLst>
                                      </p:cBhvr>
                                      <p:to>
                                        <p:strVal val="visible"/>
                                      </p:to>
                                    </p:set>
                                    <p:animEffect transition="in" filter="wipe(left)">
                                      <p:cBhvr>
                                        <p:cTn id="37" dur="500"/>
                                        <p:tgtEl>
                                          <p:spTgt spid="15373"/>
                                        </p:tgtEl>
                                      </p:cBhvr>
                                    </p:animEffect>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15381"/>
                                        </p:tgtEl>
                                        <p:attrNameLst>
                                          <p:attrName>style.visibility</p:attrName>
                                        </p:attrNameLst>
                                      </p:cBhvr>
                                      <p:to>
                                        <p:strVal val="visible"/>
                                      </p:to>
                                    </p:set>
                                    <p:animEffect transition="in" filter="wipe(left)">
                                      <p:cBhvr>
                                        <p:cTn id="41" dur="500"/>
                                        <p:tgtEl>
                                          <p:spTgt spid="1538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5377"/>
                                        </p:tgtEl>
                                        <p:attrNameLst>
                                          <p:attrName>style.visibility</p:attrName>
                                        </p:attrNameLst>
                                      </p:cBhvr>
                                      <p:to>
                                        <p:strVal val="visible"/>
                                      </p:to>
                                    </p:set>
                                    <p:animEffect transition="in" filter="wipe(left)">
                                      <p:cBhvr>
                                        <p:cTn id="46" dur="500"/>
                                        <p:tgtEl>
                                          <p:spTgt spid="15377"/>
                                        </p:tgtEl>
                                      </p:cBhvr>
                                    </p:animEffect>
                                  </p:childTnLst>
                                </p:cTn>
                              </p:par>
                            </p:childTnLst>
                          </p:cTn>
                        </p:par>
                        <p:par>
                          <p:cTn id="47" fill="hold">
                            <p:stCondLst>
                              <p:cond delay="500"/>
                            </p:stCondLst>
                            <p:childTnLst>
                              <p:par>
                                <p:cTn id="48" presetID="22" presetClass="entr" presetSubtype="8" fill="hold" grpId="0" nodeType="afterEffect">
                                  <p:stCondLst>
                                    <p:cond delay="0"/>
                                  </p:stCondLst>
                                  <p:childTnLst>
                                    <p:set>
                                      <p:cBhvr>
                                        <p:cTn id="49" dur="1" fill="hold">
                                          <p:stCondLst>
                                            <p:cond delay="0"/>
                                          </p:stCondLst>
                                        </p:cTn>
                                        <p:tgtEl>
                                          <p:spTgt spid="15382"/>
                                        </p:tgtEl>
                                        <p:attrNameLst>
                                          <p:attrName>style.visibility</p:attrName>
                                        </p:attrNameLst>
                                      </p:cBhvr>
                                      <p:to>
                                        <p:strVal val="visible"/>
                                      </p:to>
                                    </p:set>
                                    <p:animEffect transition="in" filter="wipe(left)">
                                      <p:cBhvr>
                                        <p:cTn id="50" dur="500"/>
                                        <p:tgtEl>
                                          <p:spTgt spid="15382"/>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5383"/>
                                        </p:tgtEl>
                                        <p:attrNameLst>
                                          <p:attrName>style.visibility</p:attrName>
                                        </p:attrNameLst>
                                      </p:cBhvr>
                                      <p:to>
                                        <p:strVal val="visible"/>
                                      </p:to>
                                    </p:set>
                                    <p:animEffect transition="in" filter="wipe(left)">
                                      <p:cBhvr>
                                        <p:cTn id="55" dur="500"/>
                                        <p:tgtEl>
                                          <p:spTgt spid="15383"/>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5384"/>
                                        </p:tgtEl>
                                        <p:attrNameLst>
                                          <p:attrName>style.visibility</p:attrName>
                                        </p:attrNameLst>
                                      </p:cBhvr>
                                      <p:to>
                                        <p:strVal val="visible"/>
                                      </p:to>
                                    </p:set>
                                    <p:animEffect transition="in" filter="wipe(left)">
                                      <p:cBhvr>
                                        <p:cTn id="60" dur="500"/>
                                        <p:tgtEl>
                                          <p:spTgt spid="15384"/>
                                        </p:tgtEl>
                                      </p:cBhvr>
                                    </p:animEffect>
                                  </p:childTnLst>
                                </p:cTn>
                              </p:par>
                            </p:childTnLst>
                          </p:cTn>
                        </p:par>
                        <p:par>
                          <p:cTn id="61" fill="hold">
                            <p:stCondLst>
                              <p:cond delay="500"/>
                            </p:stCondLst>
                            <p:childTnLst>
                              <p:par>
                                <p:cTn id="62" presetID="22" presetClass="entr" presetSubtype="8" fill="hold" grpId="0" nodeType="afterEffect">
                                  <p:stCondLst>
                                    <p:cond delay="0"/>
                                  </p:stCondLst>
                                  <p:childTnLst>
                                    <p:set>
                                      <p:cBhvr>
                                        <p:cTn id="63" dur="1" fill="hold">
                                          <p:stCondLst>
                                            <p:cond delay="0"/>
                                          </p:stCondLst>
                                        </p:cTn>
                                        <p:tgtEl>
                                          <p:spTgt spid="15386"/>
                                        </p:tgtEl>
                                        <p:attrNameLst>
                                          <p:attrName>style.visibility</p:attrName>
                                        </p:attrNameLst>
                                      </p:cBhvr>
                                      <p:to>
                                        <p:strVal val="visible"/>
                                      </p:to>
                                    </p:set>
                                    <p:animEffect transition="in" filter="wipe(left)">
                                      <p:cBhvr>
                                        <p:cTn id="64" dur="500"/>
                                        <p:tgtEl>
                                          <p:spTgt spid="153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7" grpId="0" bldLvl="0" animBg="1"/>
      <p:bldP spid="15371" grpId="0" bldLvl="0" animBg="1"/>
      <p:bldP spid="15381" grpId="0" bldLvl="0" animBg="1"/>
      <p:bldP spid="15382" grpId="0" bldLvl="0" animBg="1"/>
      <p:bldP spid="15383" grpId="0" bldLvl="0" animBg="1"/>
      <p:bldP spid="15384" grpId="0" bldLvl="0" animBg="1"/>
      <p:bldP spid="15386" grpId="0" bldLvl="0" animBg="1"/>
      <p:bldP spid="21" grpId="0"/>
      <p:bldP spid="2" grpId="0"/>
      <p:bldP spid="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highlight>
                  <a:srgbClr val="FFFF00"/>
                </a:highlight>
              </a:rPr>
              <a:t>曲面及其方程</a:t>
            </a:r>
            <a:endParaRPr lang="zh-CN" altLang="en-US">
              <a:highlight>
                <a:srgbClr val="FFFF00"/>
              </a:highlight>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40664" y="1899616"/>
            <a:ext cx="3810000" cy="3724275"/>
          </a:xfrm>
          <a:prstGeom prst="rect">
            <a:avLst/>
          </a:prstGeom>
          <a:noFill/>
          <a:ln w="317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grpSp>
        <p:nvGrpSpPr>
          <p:cNvPr id="41988" name="Group 4"/>
          <p:cNvGrpSpPr/>
          <p:nvPr/>
        </p:nvGrpSpPr>
        <p:grpSpPr bwMode="auto">
          <a:xfrm>
            <a:off x="6245414" y="1747216"/>
            <a:ext cx="4210050" cy="3886200"/>
            <a:chOff x="2160" y="912"/>
            <a:chExt cx="2652" cy="2448"/>
          </a:xfrm>
        </p:grpSpPr>
        <p:sp>
          <p:nvSpPr>
            <p:cNvPr id="41989" name="Rectangle 5"/>
            <p:cNvSpPr>
              <a:spLocks noChangeArrowheads="1"/>
            </p:cNvSpPr>
            <p:nvPr/>
          </p:nvSpPr>
          <p:spPr bwMode="auto">
            <a:xfrm>
              <a:off x="2160" y="912"/>
              <a:ext cx="229" cy="2436"/>
            </a:xfrm>
            <a:prstGeom prst="rect">
              <a:avLst/>
            </a:prstGeom>
            <a:solidFill>
              <a:srgbClr val="04926A"/>
            </a:solidFill>
            <a:ln w="9525">
              <a:solidFill>
                <a:srgbClr val="04926A"/>
              </a:solidFill>
              <a:miter lim="800000"/>
            </a:ln>
          </p:spPr>
          <p:txBody>
            <a:bodyPr wrap="none" anchor="ctr"/>
            <a:lstStyle/>
            <a:p>
              <a:endParaRPr lang="zh-CN" altLang="en-US"/>
            </a:p>
          </p:txBody>
        </p:sp>
        <p:sp>
          <p:nvSpPr>
            <p:cNvPr id="41990" name="Rectangle 6"/>
            <p:cNvSpPr>
              <a:spLocks noChangeArrowheads="1"/>
            </p:cNvSpPr>
            <p:nvPr/>
          </p:nvSpPr>
          <p:spPr bwMode="auto">
            <a:xfrm>
              <a:off x="4572" y="912"/>
              <a:ext cx="240" cy="2436"/>
            </a:xfrm>
            <a:prstGeom prst="rect">
              <a:avLst/>
            </a:prstGeom>
            <a:solidFill>
              <a:srgbClr val="04926A"/>
            </a:solidFill>
            <a:ln w="9525">
              <a:solidFill>
                <a:srgbClr val="04926A"/>
              </a:solidFill>
              <a:miter lim="800000"/>
            </a:ln>
          </p:spPr>
          <p:txBody>
            <a:bodyPr wrap="none" anchor="ctr"/>
            <a:lstStyle/>
            <a:p>
              <a:endParaRPr lang="zh-CN" altLang="en-US"/>
            </a:p>
          </p:txBody>
        </p:sp>
        <p:sp>
          <p:nvSpPr>
            <p:cNvPr id="41991" name="Rectangle 7"/>
            <p:cNvSpPr>
              <a:spLocks noChangeArrowheads="1"/>
            </p:cNvSpPr>
            <p:nvPr/>
          </p:nvSpPr>
          <p:spPr bwMode="auto">
            <a:xfrm>
              <a:off x="2160" y="912"/>
              <a:ext cx="2651" cy="240"/>
            </a:xfrm>
            <a:prstGeom prst="rect">
              <a:avLst/>
            </a:prstGeom>
            <a:solidFill>
              <a:srgbClr val="04926A"/>
            </a:solidFill>
            <a:ln w="9525">
              <a:solidFill>
                <a:srgbClr val="04926A"/>
              </a:solidFill>
              <a:miter lim="800000"/>
            </a:ln>
          </p:spPr>
          <p:txBody>
            <a:bodyPr wrap="none" anchor="ctr"/>
            <a:lstStyle/>
            <a:p>
              <a:endParaRPr lang="zh-CN" altLang="en-US"/>
            </a:p>
          </p:txBody>
        </p:sp>
        <p:sp>
          <p:nvSpPr>
            <p:cNvPr id="41992" name="Rectangle 8"/>
            <p:cNvSpPr>
              <a:spLocks noChangeArrowheads="1"/>
            </p:cNvSpPr>
            <p:nvPr/>
          </p:nvSpPr>
          <p:spPr bwMode="auto">
            <a:xfrm>
              <a:off x="2160" y="3120"/>
              <a:ext cx="2651" cy="240"/>
            </a:xfrm>
            <a:prstGeom prst="rect">
              <a:avLst/>
            </a:prstGeom>
            <a:solidFill>
              <a:srgbClr val="04926A"/>
            </a:solidFill>
            <a:ln w="9525">
              <a:solidFill>
                <a:srgbClr val="04926A"/>
              </a:solidFill>
              <a:miter lim="800000"/>
            </a:ln>
          </p:spPr>
          <p:txBody>
            <a:bodyPr wrap="none" anchor="ctr"/>
            <a:lstStyle/>
            <a:p>
              <a:endParaRPr lang="zh-CN" altLang="en-US" dirty="0"/>
            </a:p>
          </p:txBody>
        </p:sp>
        <p:sp>
          <p:nvSpPr>
            <p:cNvPr id="41993" name="Rectangle 9"/>
            <p:cNvSpPr>
              <a:spLocks noChangeArrowheads="1"/>
            </p:cNvSpPr>
            <p:nvPr/>
          </p:nvSpPr>
          <p:spPr bwMode="auto">
            <a:xfrm>
              <a:off x="2400" y="1152"/>
              <a:ext cx="2160" cy="1968"/>
            </a:xfrm>
            <a:prstGeom prst="rect">
              <a:avLst/>
            </a:prstGeom>
            <a:noFill/>
            <a:ln w="3175">
              <a:solidFill>
                <a:schemeClr val="accent2"/>
              </a:solidFill>
              <a:miter lim="800000"/>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sp>
        <p:nvSpPr>
          <p:cNvPr id="42004" name="Line 20"/>
          <p:cNvSpPr>
            <a:spLocks noChangeShapeType="1"/>
          </p:cNvSpPr>
          <p:nvPr/>
        </p:nvSpPr>
        <p:spPr bwMode="auto">
          <a:xfrm>
            <a:off x="8340914" y="2661615"/>
            <a:ext cx="0" cy="1905000"/>
          </a:xfrm>
          <a:prstGeom prst="line">
            <a:avLst/>
          </a:prstGeom>
          <a:noFill/>
          <a:ln w="57150">
            <a:solidFill>
              <a:srgbClr val="04926A"/>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Rectangle 1"/>
          <p:cNvSpPr/>
          <p:nvPr/>
        </p:nvSpPr>
        <p:spPr>
          <a:xfrm>
            <a:off x="2052248" y="1736232"/>
            <a:ext cx="3950479" cy="3934634"/>
          </a:xfrm>
          <a:prstGeom prst="rect">
            <a:avLst/>
          </a:prstGeom>
          <a:solidFill>
            <a:srgbClr val="04926A">
              <a:alpha val="2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7" name="PA-102231"/>
          <p:cNvSpPr/>
          <p:nvPr>
            <p:custDataLst>
              <p:tags r:id="rId2"/>
            </p:custDataLst>
          </p:nvPr>
        </p:nvSpPr>
        <p:spPr>
          <a:xfrm>
            <a:off x="1597933" y="3244222"/>
            <a:ext cx="930521" cy="900000"/>
          </a:xfrm>
          <a:prstGeom prst="rect">
            <a:avLst/>
          </a:prstGeom>
          <a:solidFill>
            <a:schemeClr val="bg1"/>
          </a:solidFill>
          <a:ln w="19050">
            <a:gradFill>
              <a:gsLst>
                <a:gs pos="5000">
                  <a:srgbClr val="17A45E"/>
                </a:gs>
                <a:gs pos="56000">
                  <a:srgbClr val="039267"/>
                </a:gs>
                <a:gs pos="100000">
                  <a:srgbClr val="068983"/>
                </a:gs>
              </a:gsLst>
              <a:lin ang="10800000" scaled="0"/>
            </a:gradFill>
          </a:ln>
          <a:effectLst>
            <a:outerShdw blurRad="203200" dist="63500" dir="3000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n>
                <a:solidFill>
                  <a:schemeClr val="bg1">
                    <a:lumMod val="95000"/>
                  </a:schemeClr>
                </a:solidFill>
              </a:ln>
              <a:cs typeface="+mn-ea"/>
              <a:sym typeface="+mn-lt"/>
            </a:endParaRPr>
          </a:p>
        </p:txBody>
      </p:sp>
      <p:sp>
        <p:nvSpPr>
          <p:cNvPr id="8" name="Rectangle 2"/>
          <p:cNvSpPr txBox="1">
            <a:spLocks noChangeArrowheads="1"/>
          </p:cNvSpPr>
          <p:nvPr/>
        </p:nvSpPr>
        <p:spPr>
          <a:xfrm>
            <a:off x="1593150" y="3443868"/>
            <a:ext cx="933819" cy="526262"/>
          </a:xfrm>
          <a:noFill/>
          <a:ln>
            <a:noFill/>
          </a:ln>
        </p:spPr>
        <p:txBody>
          <a:bodyPr>
            <a:no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pPr>
              <a:lnSpc>
                <a:spcPct val="100000"/>
              </a:lnSpc>
            </a:pPr>
            <a:r>
              <a:rPr kumimoji="1" lang="zh-CN" altLang="en-US" sz="2800" dirty="0">
                <a:solidFill>
                  <a:srgbClr val="04926A"/>
                </a:solidFill>
                <a:latin typeface="微软雅黑" panose="020B0503020204020204" charset="-122"/>
                <a:ea typeface="微软雅黑" panose="020B0503020204020204" charset="-122"/>
                <a:cs typeface="+mn-cs"/>
              </a:rPr>
              <a:t>定义</a:t>
            </a:r>
            <a:endParaRPr kumimoji="1" lang="en-US" altLang="zh-CN" sz="2800" dirty="0">
              <a:solidFill>
                <a:srgbClr val="04926A"/>
              </a:solidFill>
              <a:latin typeface="微软雅黑" panose="020B0503020204020204" charset="-122"/>
              <a:ea typeface="微软雅黑" panose="020B0503020204020204" charset="-122"/>
              <a:cs typeface="+mn-cs"/>
            </a:endParaRPr>
          </a:p>
        </p:txBody>
      </p:sp>
      <p:sp>
        <p:nvSpPr>
          <p:cNvPr id="9" name="Text Box 2"/>
          <p:cNvSpPr txBox="1">
            <a:spLocks noChangeArrowheads="1"/>
          </p:cNvSpPr>
          <p:nvPr/>
        </p:nvSpPr>
        <p:spPr bwMode="auto">
          <a:xfrm>
            <a:off x="1198323" y="656934"/>
            <a:ext cx="2657292" cy="584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spcBef>
                <a:spcPct val="50000"/>
              </a:spcBef>
            </a:pPr>
            <a:r>
              <a:rPr lang="zh-CN" altLang="en-US" sz="3200" b="1" dirty="0">
                <a:latin typeface="微软雅黑" panose="020B0503020204020204" charset="-122"/>
                <a:ea typeface="微软雅黑" panose="020B0503020204020204" charset="-122"/>
              </a:rPr>
              <a:t>二、旋转曲面</a:t>
            </a:r>
            <a:endParaRPr lang="zh-CN" altLang="en-US" sz="3200" b="1" dirty="0">
              <a:latin typeface="微软雅黑" panose="020B0503020204020204" charset="-122"/>
              <a:ea typeface="微软雅黑" panose="020B0503020204020204" charset="-122"/>
            </a:endParaRPr>
          </a:p>
        </p:txBody>
      </p:sp>
      <p:sp>
        <p:nvSpPr>
          <p:cNvPr id="10" name="Text Box 18"/>
          <p:cNvSpPr txBox="1">
            <a:spLocks noChangeArrowheads="1"/>
          </p:cNvSpPr>
          <p:nvPr/>
        </p:nvSpPr>
        <p:spPr bwMode="auto">
          <a:xfrm>
            <a:off x="2683558" y="1878025"/>
            <a:ext cx="3090530" cy="22535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lnSpc>
                <a:spcPct val="130000"/>
              </a:lnSpc>
              <a:spcBef>
                <a:spcPct val="50000"/>
              </a:spcBef>
            </a:pPr>
            <a:r>
              <a:rPr lang="zh-CN" altLang="en-US" sz="2800" dirty="0">
                <a:latin typeface="黑体" panose="02010609060101010101" pitchFamily="49" charset="-122"/>
                <a:ea typeface="黑体" panose="02010609060101010101" pitchFamily="49" charset="-122"/>
              </a:rPr>
              <a:t>以一条平面曲线绕其平面上的一条直线旋转一周所成的曲面称为</a:t>
            </a:r>
            <a:r>
              <a:rPr lang="zh-CN" altLang="en-US" sz="2800" dirty="0">
                <a:solidFill>
                  <a:srgbClr val="04926A"/>
                </a:solidFill>
                <a:latin typeface="黑体" panose="02010609060101010101" pitchFamily="49" charset="-122"/>
                <a:ea typeface="黑体" panose="02010609060101010101" pitchFamily="49" charset="-122"/>
              </a:rPr>
              <a:t>旋转曲面</a:t>
            </a:r>
            <a:r>
              <a:rPr lang="en-US" altLang="zh-CN" sz="2800" dirty="0">
                <a:solidFill>
                  <a:srgbClr val="04926A"/>
                </a:solidFill>
                <a:latin typeface="黑体" panose="02010609060101010101" pitchFamily="49" charset="-122"/>
                <a:ea typeface="黑体" panose="02010609060101010101" pitchFamily="49" charset="-122"/>
              </a:rPr>
              <a:t>.</a:t>
            </a:r>
            <a:endParaRPr lang="en-US" altLang="zh-CN" sz="2800" dirty="0">
              <a:solidFill>
                <a:srgbClr val="04926A"/>
              </a:solidFill>
              <a:latin typeface="黑体" panose="02010609060101010101" pitchFamily="49" charset="-122"/>
              <a:ea typeface="黑体" panose="02010609060101010101" pitchFamily="49" charset="-122"/>
            </a:endParaRPr>
          </a:p>
        </p:txBody>
      </p:sp>
      <p:sp>
        <p:nvSpPr>
          <p:cNvPr id="11" name="文本框 10"/>
          <p:cNvSpPr txBox="1"/>
          <p:nvPr/>
        </p:nvSpPr>
        <p:spPr bwMode="auto">
          <a:xfrm>
            <a:off x="2683936" y="4336717"/>
            <a:ext cx="3090152" cy="11331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nSpc>
                <a:spcPct val="130000"/>
              </a:lnSpc>
            </a:pPr>
            <a:r>
              <a:rPr lang="zh-CN" altLang="en-US" sz="2800" dirty="0">
                <a:latin typeface="黑体" panose="02010609060101010101" pitchFamily="49" charset="-122"/>
                <a:ea typeface="黑体" panose="02010609060101010101" pitchFamily="49" charset="-122"/>
              </a:rPr>
              <a:t>这条定直线叫旋转</a:t>
            </a:r>
            <a:endParaRPr lang="en-US" altLang="zh-CN" sz="2800" dirty="0">
              <a:latin typeface="黑体" panose="02010609060101010101" pitchFamily="49" charset="-122"/>
              <a:ea typeface="黑体" panose="02010609060101010101" pitchFamily="49" charset="-122"/>
            </a:endParaRPr>
          </a:p>
          <a:p>
            <a:pPr>
              <a:lnSpc>
                <a:spcPct val="130000"/>
              </a:lnSpc>
            </a:pPr>
            <a:r>
              <a:rPr lang="zh-CN" altLang="en-US" sz="2800" dirty="0">
                <a:latin typeface="黑体" panose="02010609060101010101" pitchFamily="49" charset="-122"/>
                <a:ea typeface="黑体" panose="02010609060101010101" pitchFamily="49" charset="-122"/>
              </a:rPr>
              <a:t>曲面的</a:t>
            </a:r>
            <a:r>
              <a:rPr lang="zh-CN" altLang="en-US" sz="2800" dirty="0">
                <a:solidFill>
                  <a:srgbClr val="04926A"/>
                </a:solidFill>
                <a:latin typeface="黑体" panose="02010609060101010101" pitchFamily="49" charset="-122"/>
                <a:ea typeface="黑体" panose="02010609060101010101" pitchFamily="49" charset="-122"/>
              </a:rPr>
              <a:t>轴</a:t>
            </a:r>
            <a:r>
              <a:rPr lang="en-US" altLang="zh-CN" sz="2800" dirty="0">
                <a:solidFill>
                  <a:srgbClr val="04926A"/>
                </a:solidFill>
                <a:latin typeface="黑体" panose="02010609060101010101" pitchFamily="49" charset="-122"/>
                <a:ea typeface="黑体" panose="02010609060101010101" pitchFamily="49" charset="-122"/>
              </a:rPr>
              <a:t>.</a:t>
            </a:r>
            <a:endParaRPr lang="zh-CN" altLang="en-US" sz="2800" dirty="0">
              <a:solidFill>
                <a:srgbClr val="04926A"/>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47698" y="1959584"/>
            <a:ext cx="3810000" cy="3724275"/>
          </a:xfrm>
          <a:prstGeom prst="rect">
            <a:avLst/>
          </a:prstGeom>
          <a:noFill/>
          <a:ln w="31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grpSp>
        <p:nvGrpSpPr>
          <p:cNvPr id="43012" name="Group 4"/>
          <p:cNvGrpSpPr/>
          <p:nvPr/>
        </p:nvGrpSpPr>
        <p:grpSpPr bwMode="auto">
          <a:xfrm>
            <a:off x="6252448" y="1764321"/>
            <a:ext cx="4210050" cy="3886200"/>
            <a:chOff x="2160" y="912"/>
            <a:chExt cx="2652" cy="2448"/>
          </a:xfrm>
        </p:grpSpPr>
        <p:sp>
          <p:nvSpPr>
            <p:cNvPr id="43013" name="Rectangle 5"/>
            <p:cNvSpPr>
              <a:spLocks noChangeArrowheads="1"/>
            </p:cNvSpPr>
            <p:nvPr/>
          </p:nvSpPr>
          <p:spPr bwMode="auto">
            <a:xfrm>
              <a:off x="2160" y="912"/>
              <a:ext cx="229" cy="2436"/>
            </a:xfrm>
            <a:prstGeom prst="rect">
              <a:avLst/>
            </a:prstGeom>
            <a:solidFill>
              <a:srgbClr val="04926A"/>
            </a:solidFill>
            <a:ln w="9525">
              <a:solidFill>
                <a:srgbClr val="04926A"/>
              </a:solidFill>
              <a:miter lim="800000"/>
            </a:ln>
          </p:spPr>
          <p:txBody>
            <a:bodyPr wrap="none" anchor="ctr"/>
            <a:lstStyle/>
            <a:p>
              <a:endParaRPr lang="zh-CN" altLang="en-US"/>
            </a:p>
          </p:txBody>
        </p:sp>
        <p:sp>
          <p:nvSpPr>
            <p:cNvPr id="43014" name="Rectangle 6"/>
            <p:cNvSpPr>
              <a:spLocks noChangeArrowheads="1"/>
            </p:cNvSpPr>
            <p:nvPr/>
          </p:nvSpPr>
          <p:spPr bwMode="auto">
            <a:xfrm>
              <a:off x="4572" y="912"/>
              <a:ext cx="240" cy="2436"/>
            </a:xfrm>
            <a:prstGeom prst="rect">
              <a:avLst/>
            </a:prstGeom>
            <a:solidFill>
              <a:srgbClr val="04926A"/>
            </a:solidFill>
            <a:ln w="9525">
              <a:solidFill>
                <a:srgbClr val="04926A"/>
              </a:solidFill>
              <a:miter lim="800000"/>
            </a:ln>
          </p:spPr>
          <p:txBody>
            <a:bodyPr wrap="none" anchor="ctr"/>
            <a:lstStyle/>
            <a:p>
              <a:endParaRPr lang="zh-CN" altLang="en-US"/>
            </a:p>
          </p:txBody>
        </p:sp>
        <p:sp>
          <p:nvSpPr>
            <p:cNvPr id="43015" name="Rectangle 7"/>
            <p:cNvSpPr>
              <a:spLocks noChangeArrowheads="1"/>
            </p:cNvSpPr>
            <p:nvPr/>
          </p:nvSpPr>
          <p:spPr bwMode="auto">
            <a:xfrm>
              <a:off x="2160" y="912"/>
              <a:ext cx="2651" cy="240"/>
            </a:xfrm>
            <a:prstGeom prst="rect">
              <a:avLst/>
            </a:prstGeom>
            <a:solidFill>
              <a:srgbClr val="04926A"/>
            </a:solidFill>
            <a:ln w="9525">
              <a:solidFill>
                <a:srgbClr val="04926A"/>
              </a:solidFill>
              <a:miter lim="800000"/>
            </a:ln>
          </p:spPr>
          <p:txBody>
            <a:bodyPr wrap="none" anchor="ctr"/>
            <a:lstStyle/>
            <a:p>
              <a:endParaRPr lang="zh-CN" altLang="en-US"/>
            </a:p>
          </p:txBody>
        </p:sp>
        <p:sp>
          <p:nvSpPr>
            <p:cNvPr id="43016" name="Rectangle 8"/>
            <p:cNvSpPr>
              <a:spLocks noChangeArrowheads="1"/>
            </p:cNvSpPr>
            <p:nvPr/>
          </p:nvSpPr>
          <p:spPr bwMode="auto">
            <a:xfrm>
              <a:off x="2160" y="3120"/>
              <a:ext cx="2651" cy="240"/>
            </a:xfrm>
            <a:prstGeom prst="rect">
              <a:avLst/>
            </a:prstGeom>
            <a:solidFill>
              <a:srgbClr val="04926A"/>
            </a:solidFill>
            <a:ln w="9525">
              <a:solidFill>
                <a:srgbClr val="04926A"/>
              </a:solidFill>
              <a:miter lim="800000"/>
            </a:ln>
          </p:spPr>
          <p:txBody>
            <a:bodyPr wrap="none" anchor="ctr"/>
            <a:lstStyle/>
            <a:p>
              <a:endParaRPr lang="zh-CN" altLang="en-US"/>
            </a:p>
          </p:txBody>
        </p:sp>
        <p:sp>
          <p:nvSpPr>
            <p:cNvPr id="43017" name="Rectangle 9"/>
            <p:cNvSpPr>
              <a:spLocks noChangeArrowheads="1"/>
            </p:cNvSpPr>
            <p:nvPr/>
          </p:nvSpPr>
          <p:spPr bwMode="auto">
            <a:xfrm>
              <a:off x="2400" y="1152"/>
              <a:ext cx="2160" cy="1968"/>
            </a:xfrm>
            <a:prstGeom prst="rect">
              <a:avLst/>
            </a:prstGeom>
            <a:noFill/>
            <a:ln w="3175">
              <a:solidFill>
                <a:schemeClr val="accent2"/>
              </a:solidFill>
              <a:miter lim="800000"/>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sp>
        <p:nvSpPr>
          <p:cNvPr id="43028" name="Line 20"/>
          <p:cNvSpPr>
            <a:spLocks noChangeShapeType="1"/>
          </p:cNvSpPr>
          <p:nvPr/>
        </p:nvSpPr>
        <p:spPr bwMode="auto">
          <a:xfrm>
            <a:off x="8347946" y="2759610"/>
            <a:ext cx="0" cy="1905000"/>
          </a:xfrm>
          <a:prstGeom prst="line">
            <a:avLst/>
          </a:prstGeom>
          <a:noFill/>
          <a:ln w="57150">
            <a:solidFill>
              <a:srgbClr val="04926A"/>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 name="Rectangle 1"/>
          <p:cNvSpPr/>
          <p:nvPr/>
        </p:nvSpPr>
        <p:spPr>
          <a:xfrm>
            <a:off x="2052248" y="1736232"/>
            <a:ext cx="3950479" cy="3934634"/>
          </a:xfrm>
          <a:prstGeom prst="rect">
            <a:avLst/>
          </a:prstGeom>
          <a:solidFill>
            <a:srgbClr val="04926A">
              <a:alpha val="2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7" name="PA-102231"/>
          <p:cNvSpPr/>
          <p:nvPr>
            <p:custDataLst>
              <p:tags r:id="rId2"/>
            </p:custDataLst>
          </p:nvPr>
        </p:nvSpPr>
        <p:spPr>
          <a:xfrm>
            <a:off x="1597933" y="3244222"/>
            <a:ext cx="930521" cy="900000"/>
          </a:xfrm>
          <a:prstGeom prst="rect">
            <a:avLst/>
          </a:prstGeom>
          <a:solidFill>
            <a:schemeClr val="bg1"/>
          </a:solidFill>
          <a:ln w="19050">
            <a:gradFill>
              <a:gsLst>
                <a:gs pos="5000">
                  <a:srgbClr val="17A45E"/>
                </a:gs>
                <a:gs pos="56000">
                  <a:srgbClr val="039267"/>
                </a:gs>
                <a:gs pos="100000">
                  <a:srgbClr val="068983"/>
                </a:gs>
              </a:gsLst>
              <a:lin ang="10800000" scaled="0"/>
            </a:gradFill>
          </a:ln>
          <a:effectLst>
            <a:outerShdw blurRad="203200" dist="63500" dir="3000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n>
                <a:solidFill>
                  <a:schemeClr val="bg1">
                    <a:lumMod val="95000"/>
                  </a:schemeClr>
                </a:solidFill>
              </a:ln>
              <a:cs typeface="+mn-ea"/>
              <a:sym typeface="+mn-lt"/>
            </a:endParaRPr>
          </a:p>
        </p:txBody>
      </p:sp>
      <p:sp>
        <p:nvSpPr>
          <p:cNvPr id="8" name="Rectangle 2"/>
          <p:cNvSpPr txBox="1">
            <a:spLocks noChangeArrowheads="1"/>
          </p:cNvSpPr>
          <p:nvPr/>
        </p:nvSpPr>
        <p:spPr>
          <a:xfrm>
            <a:off x="1593150" y="3443868"/>
            <a:ext cx="933819" cy="526262"/>
          </a:xfrm>
          <a:noFill/>
          <a:ln>
            <a:noFill/>
          </a:ln>
        </p:spPr>
        <p:txBody>
          <a:bodyPr>
            <a:no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pPr>
              <a:lnSpc>
                <a:spcPct val="100000"/>
              </a:lnSpc>
            </a:pPr>
            <a:r>
              <a:rPr kumimoji="1" lang="zh-CN" altLang="en-US" sz="2800" dirty="0">
                <a:solidFill>
                  <a:srgbClr val="04926A"/>
                </a:solidFill>
                <a:latin typeface="微软雅黑" panose="020B0503020204020204" charset="-122"/>
                <a:ea typeface="微软雅黑" panose="020B0503020204020204" charset="-122"/>
                <a:cs typeface="+mn-cs"/>
              </a:rPr>
              <a:t>定义</a:t>
            </a:r>
            <a:endParaRPr kumimoji="1" lang="en-US" altLang="zh-CN" sz="2800" dirty="0">
              <a:solidFill>
                <a:srgbClr val="04926A"/>
              </a:solidFill>
              <a:latin typeface="微软雅黑" panose="020B0503020204020204" charset="-122"/>
              <a:ea typeface="微软雅黑" panose="020B0503020204020204" charset="-122"/>
              <a:cs typeface="+mn-cs"/>
            </a:endParaRPr>
          </a:p>
        </p:txBody>
      </p:sp>
      <p:sp>
        <p:nvSpPr>
          <p:cNvPr id="9" name="Text Box 2"/>
          <p:cNvSpPr txBox="1">
            <a:spLocks noChangeArrowheads="1"/>
          </p:cNvSpPr>
          <p:nvPr/>
        </p:nvSpPr>
        <p:spPr bwMode="auto">
          <a:xfrm>
            <a:off x="1198323" y="656934"/>
            <a:ext cx="2657292" cy="584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spcBef>
                <a:spcPct val="50000"/>
              </a:spcBef>
            </a:pPr>
            <a:r>
              <a:rPr lang="zh-CN" altLang="en-US" sz="3200" b="1" dirty="0">
                <a:latin typeface="微软雅黑" panose="020B0503020204020204" charset="-122"/>
                <a:ea typeface="微软雅黑" panose="020B0503020204020204" charset="-122"/>
              </a:rPr>
              <a:t>二、旋转曲面</a:t>
            </a:r>
            <a:endParaRPr lang="zh-CN" altLang="en-US" sz="3200" b="1" dirty="0">
              <a:latin typeface="微软雅黑" panose="020B0503020204020204" charset="-122"/>
              <a:ea typeface="微软雅黑" panose="020B0503020204020204" charset="-122"/>
            </a:endParaRPr>
          </a:p>
        </p:txBody>
      </p:sp>
      <p:sp>
        <p:nvSpPr>
          <p:cNvPr id="10" name="Text Box 18"/>
          <p:cNvSpPr txBox="1">
            <a:spLocks noChangeArrowheads="1"/>
          </p:cNvSpPr>
          <p:nvPr/>
        </p:nvSpPr>
        <p:spPr bwMode="auto">
          <a:xfrm>
            <a:off x="2683558" y="1878025"/>
            <a:ext cx="3090530" cy="22535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lnSpc>
                <a:spcPct val="130000"/>
              </a:lnSpc>
              <a:spcBef>
                <a:spcPct val="50000"/>
              </a:spcBef>
            </a:pPr>
            <a:r>
              <a:rPr lang="zh-CN" altLang="en-US" sz="2800" dirty="0">
                <a:latin typeface="黑体" panose="02010609060101010101" pitchFamily="49" charset="-122"/>
                <a:ea typeface="黑体" panose="02010609060101010101" pitchFamily="49" charset="-122"/>
              </a:rPr>
              <a:t>以一条平面曲线绕其平面上的一条直线旋转一周所成的曲面称为</a:t>
            </a:r>
            <a:r>
              <a:rPr lang="zh-CN" altLang="en-US" sz="2800" dirty="0">
                <a:solidFill>
                  <a:srgbClr val="04926A"/>
                </a:solidFill>
                <a:latin typeface="黑体" panose="02010609060101010101" pitchFamily="49" charset="-122"/>
                <a:ea typeface="黑体" panose="02010609060101010101" pitchFamily="49" charset="-122"/>
              </a:rPr>
              <a:t>旋转曲面</a:t>
            </a:r>
            <a:r>
              <a:rPr lang="en-US" altLang="zh-CN" sz="2800" dirty="0">
                <a:solidFill>
                  <a:srgbClr val="04926A"/>
                </a:solidFill>
                <a:latin typeface="黑体" panose="02010609060101010101" pitchFamily="49" charset="-122"/>
                <a:ea typeface="黑体" panose="02010609060101010101" pitchFamily="49" charset="-122"/>
              </a:rPr>
              <a:t>.</a:t>
            </a:r>
            <a:endParaRPr lang="en-US" altLang="zh-CN" sz="2800" dirty="0">
              <a:solidFill>
                <a:srgbClr val="04926A"/>
              </a:solidFill>
              <a:latin typeface="黑体" panose="02010609060101010101" pitchFamily="49" charset="-122"/>
              <a:ea typeface="黑体" panose="02010609060101010101" pitchFamily="49" charset="-122"/>
            </a:endParaRPr>
          </a:p>
        </p:txBody>
      </p:sp>
      <p:sp>
        <p:nvSpPr>
          <p:cNvPr id="11" name="文本框 10"/>
          <p:cNvSpPr txBox="1"/>
          <p:nvPr/>
        </p:nvSpPr>
        <p:spPr bwMode="auto">
          <a:xfrm>
            <a:off x="2683936" y="4336717"/>
            <a:ext cx="3090152" cy="11331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nSpc>
                <a:spcPct val="130000"/>
              </a:lnSpc>
            </a:pPr>
            <a:r>
              <a:rPr lang="zh-CN" altLang="en-US" sz="2800" dirty="0">
                <a:latin typeface="黑体" panose="02010609060101010101" pitchFamily="49" charset="-122"/>
                <a:ea typeface="黑体" panose="02010609060101010101" pitchFamily="49" charset="-122"/>
              </a:rPr>
              <a:t>这条定直线叫旋转</a:t>
            </a:r>
            <a:endParaRPr lang="en-US" altLang="zh-CN" sz="2800" dirty="0">
              <a:latin typeface="黑体" panose="02010609060101010101" pitchFamily="49" charset="-122"/>
              <a:ea typeface="黑体" panose="02010609060101010101" pitchFamily="49" charset="-122"/>
            </a:endParaRPr>
          </a:p>
          <a:p>
            <a:pPr>
              <a:lnSpc>
                <a:spcPct val="130000"/>
              </a:lnSpc>
            </a:pPr>
            <a:r>
              <a:rPr lang="zh-CN" altLang="en-US" sz="2800" dirty="0">
                <a:latin typeface="黑体" panose="02010609060101010101" pitchFamily="49" charset="-122"/>
                <a:ea typeface="黑体" panose="02010609060101010101" pitchFamily="49" charset="-122"/>
              </a:rPr>
              <a:t>曲面的</a:t>
            </a:r>
            <a:r>
              <a:rPr lang="zh-CN" altLang="en-US" sz="2800" dirty="0">
                <a:solidFill>
                  <a:srgbClr val="04926A"/>
                </a:solidFill>
                <a:latin typeface="黑体" panose="02010609060101010101" pitchFamily="49" charset="-122"/>
                <a:ea typeface="黑体" panose="02010609060101010101" pitchFamily="49" charset="-122"/>
              </a:rPr>
              <a:t>轴</a:t>
            </a:r>
            <a:r>
              <a:rPr lang="en-US" altLang="zh-CN" sz="2800" dirty="0">
                <a:solidFill>
                  <a:srgbClr val="04926A"/>
                </a:solidFill>
                <a:latin typeface="黑体" panose="02010609060101010101" pitchFamily="49" charset="-122"/>
                <a:ea typeface="黑体" panose="02010609060101010101" pitchFamily="49" charset="-122"/>
              </a:rPr>
              <a:t>.</a:t>
            </a:r>
            <a:endParaRPr lang="zh-CN" altLang="en-US" sz="2800" dirty="0">
              <a:solidFill>
                <a:srgbClr val="04926A"/>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47699" y="1917380"/>
            <a:ext cx="3810000" cy="3724275"/>
          </a:xfrm>
          <a:prstGeom prst="rect">
            <a:avLst/>
          </a:prstGeom>
          <a:noFill/>
          <a:ln w="31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grpSp>
        <p:nvGrpSpPr>
          <p:cNvPr id="44036" name="Group 4"/>
          <p:cNvGrpSpPr/>
          <p:nvPr/>
        </p:nvGrpSpPr>
        <p:grpSpPr bwMode="auto">
          <a:xfrm>
            <a:off x="6252449" y="1722117"/>
            <a:ext cx="4210050" cy="3886200"/>
            <a:chOff x="2160" y="912"/>
            <a:chExt cx="2652" cy="2448"/>
          </a:xfrm>
        </p:grpSpPr>
        <p:sp>
          <p:nvSpPr>
            <p:cNvPr id="44037" name="Rectangle 5"/>
            <p:cNvSpPr>
              <a:spLocks noChangeArrowheads="1"/>
            </p:cNvSpPr>
            <p:nvPr/>
          </p:nvSpPr>
          <p:spPr bwMode="auto">
            <a:xfrm>
              <a:off x="2160" y="912"/>
              <a:ext cx="229" cy="2436"/>
            </a:xfrm>
            <a:prstGeom prst="rect">
              <a:avLst/>
            </a:prstGeom>
            <a:solidFill>
              <a:srgbClr val="04926A"/>
            </a:solidFill>
            <a:ln w="9525">
              <a:solidFill>
                <a:srgbClr val="04926A"/>
              </a:solidFill>
              <a:miter lim="800000"/>
            </a:ln>
          </p:spPr>
          <p:txBody>
            <a:bodyPr wrap="none" anchor="ctr"/>
            <a:lstStyle/>
            <a:p>
              <a:endParaRPr lang="zh-CN" altLang="en-US"/>
            </a:p>
          </p:txBody>
        </p:sp>
        <p:sp>
          <p:nvSpPr>
            <p:cNvPr id="44038" name="Rectangle 6"/>
            <p:cNvSpPr>
              <a:spLocks noChangeArrowheads="1"/>
            </p:cNvSpPr>
            <p:nvPr/>
          </p:nvSpPr>
          <p:spPr bwMode="auto">
            <a:xfrm>
              <a:off x="4572" y="912"/>
              <a:ext cx="240" cy="2436"/>
            </a:xfrm>
            <a:prstGeom prst="rect">
              <a:avLst/>
            </a:prstGeom>
            <a:solidFill>
              <a:srgbClr val="04926A"/>
            </a:solidFill>
            <a:ln w="9525">
              <a:solidFill>
                <a:srgbClr val="04926A"/>
              </a:solidFill>
              <a:miter lim="800000"/>
            </a:ln>
          </p:spPr>
          <p:txBody>
            <a:bodyPr wrap="none" anchor="ctr"/>
            <a:lstStyle/>
            <a:p>
              <a:endParaRPr lang="zh-CN" altLang="en-US"/>
            </a:p>
          </p:txBody>
        </p:sp>
        <p:sp>
          <p:nvSpPr>
            <p:cNvPr id="44039" name="Rectangle 7"/>
            <p:cNvSpPr>
              <a:spLocks noChangeArrowheads="1"/>
            </p:cNvSpPr>
            <p:nvPr/>
          </p:nvSpPr>
          <p:spPr bwMode="auto">
            <a:xfrm>
              <a:off x="2160" y="912"/>
              <a:ext cx="2651" cy="240"/>
            </a:xfrm>
            <a:prstGeom prst="rect">
              <a:avLst/>
            </a:prstGeom>
            <a:solidFill>
              <a:srgbClr val="04926A"/>
            </a:solidFill>
            <a:ln w="9525">
              <a:solidFill>
                <a:srgbClr val="04926A"/>
              </a:solidFill>
              <a:miter lim="800000"/>
            </a:ln>
          </p:spPr>
          <p:txBody>
            <a:bodyPr wrap="none" anchor="ctr"/>
            <a:lstStyle/>
            <a:p>
              <a:endParaRPr lang="zh-CN" altLang="en-US"/>
            </a:p>
          </p:txBody>
        </p:sp>
        <p:sp>
          <p:nvSpPr>
            <p:cNvPr id="44040" name="Rectangle 8"/>
            <p:cNvSpPr>
              <a:spLocks noChangeArrowheads="1"/>
            </p:cNvSpPr>
            <p:nvPr/>
          </p:nvSpPr>
          <p:spPr bwMode="auto">
            <a:xfrm>
              <a:off x="2160" y="3120"/>
              <a:ext cx="2651" cy="240"/>
            </a:xfrm>
            <a:prstGeom prst="rect">
              <a:avLst/>
            </a:prstGeom>
            <a:solidFill>
              <a:srgbClr val="04926A"/>
            </a:solidFill>
            <a:ln w="9525">
              <a:solidFill>
                <a:srgbClr val="04926A"/>
              </a:solidFill>
              <a:miter lim="800000"/>
            </a:ln>
          </p:spPr>
          <p:txBody>
            <a:bodyPr wrap="none" anchor="ctr"/>
            <a:lstStyle/>
            <a:p>
              <a:endParaRPr lang="zh-CN" altLang="en-US"/>
            </a:p>
          </p:txBody>
        </p:sp>
        <p:sp>
          <p:nvSpPr>
            <p:cNvPr id="44041" name="Rectangle 9"/>
            <p:cNvSpPr>
              <a:spLocks noChangeArrowheads="1"/>
            </p:cNvSpPr>
            <p:nvPr/>
          </p:nvSpPr>
          <p:spPr bwMode="auto">
            <a:xfrm>
              <a:off x="2400" y="1152"/>
              <a:ext cx="2160" cy="1968"/>
            </a:xfrm>
            <a:prstGeom prst="rect">
              <a:avLst/>
            </a:prstGeom>
            <a:noFill/>
            <a:ln w="3175">
              <a:solidFill>
                <a:schemeClr val="accent2"/>
              </a:solidFill>
              <a:miter lim="800000"/>
            </a:ln>
            <a:extLst>
              <a:ext uri="{909E8E84-426E-40DD-AFC4-6F175D3DCCD1}">
                <a14:hiddenFill xmlns:a14="http://schemas.microsoft.com/office/drawing/2010/main">
                  <a:solidFill>
                    <a:schemeClr val="accent1"/>
                  </a:solidFill>
                </a14:hiddenFill>
              </a:ext>
            </a:extLst>
          </p:spPr>
          <p:txBody>
            <a:bodyPr wrap="none" anchor="ctr"/>
            <a:lstStyle/>
            <a:p>
              <a:endParaRPr lang="zh-CN" altLang="en-US" dirty="0"/>
            </a:p>
          </p:txBody>
        </p:sp>
      </p:grpSp>
      <p:sp>
        <p:nvSpPr>
          <p:cNvPr id="44052" name="Line 20"/>
          <p:cNvSpPr>
            <a:spLocks noChangeShapeType="1"/>
          </p:cNvSpPr>
          <p:nvPr/>
        </p:nvSpPr>
        <p:spPr bwMode="auto">
          <a:xfrm>
            <a:off x="8347949" y="2636516"/>
            <a:ext cx="0" cy="1905000"/>
          </a:xfrm>
          <a:prstGeom prst="line">
            <a:avLst/>
          </a:prstGeom>
          <a:noFill/>
          <a:ln w="57150">
            <a:solidFill>
              <a:srgbClr val="04926A"/>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Rectangle 1"/>
          <p:cNvSpPr/>
          <p:nvPr/>
        </p:nvSpPr>
        <p:spPr>
          <a:xfrm>
            <a:off x="2052248" y="1736232"/>
            <a:ext cx="3950479" cy="3934634"/>
          </a:xfrm>
          <a:prstGeom prst="rect">
            <a:avLst/>
          </a:prstGeom>
          <a:solidFill>
            <a:srgbClr val="04926A">
              <a:alpha val="2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9" name="PA-102231"/>
          <p:cNvSpPr/>
          <p:nvPr>
            <p:custDataLst>
              <p:tags r:id="rId2"/>
            </p:custDataLst>
          </p:nvPr>
        </p:nvSpPr>
        <p:spPr>
          <a:xfrm>
            <a:off x="1597933" y="3244222"/>
            <a:ext cx="930521" cy="900000"/>
          </a:xfrm>
          <a:prstGeom prst="rect">
            <a:avLst/>
          </a:prstGeom>
          <a:solidFill>
            <a:schemeClr val="bg1"/>
          </a:solidFill>
          <a:ln w="19050">
            <a:gradFill>
              <a:gsLst>
                <a:gs pos="5000">
                  <a:srgbClr val="17A45E"/>
                </a:gs>
                <a:gs pos="56000">
                  <a:srgbClr val="039267"/>
                </a:gs>
                <a:gs pos="100000">
                  <a:srgbClr val="068983"/>
                </a:gs>
              </a:gsLst>
              <a:lin ang="10800000" scaled="0"/>
            </a:gradFill>
          </a:ln>
          <a:effectLst>
            <a:outerShdw blurRad="203200" dist="63500" dir="3000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n>
                <a:solidFill>
                  <a:schemeClr val="bg1">
                    <a:lumMod val="95000"/>
                  </a:schemeClr>
                </a:solidFill>
              </a:ln>
              <a:cs typeface="+mn-ea"/>
              <a:sym typeface="+mn-lt"/>
            </a:endParaRPr>
          </a:p>
        </p:txBody>
      </p:sp>
      <p:sp>
        <p:nvSpPr>
          <p:cNvPr id="10" name="Rectangle 2"/>
          <p:cNvSpPr txBox="1">
            <a:spLocks noChangeArrowheads="1"/>
          </p:cNvSpPr>
          <p:nvPr/>
        </p:nvSpPr>
        <p:spPr>
          <a:xfrm>
            <a:off x="1593150" y="3443868"/>
            <a:ext cx="933819" cy="526262"/>
          </a:xfrm>
          <a:noFill/>
          <a:ln>
            <a:noFill/>
          </a:ln>
        </p:spPr>
        <p:txBody>
          <a:bodyPr>
            <a:no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pPr>
              <a:lnSpc>
                <a:spcPct val="100000"/>
              </a:lnSpc>
            </a:pPr>
            <a:r>
              <a:rPr kumimoji="1" lang="zh-CN" altLang="en-US" sz="2800" dirty="0">
                <a:solidFill>
                  <a:srgbClr val="04926A"/>
                </a:solidFill>
                <a:latin typeface="微软雅黑" panose="020B0503020204020204" charset="-122"/>
                <a:ea typeface="微软雅黑" panose="020B0503020204020204" charset="-122"/>
                <a:cs typeface="+mn-cs"/>
              </a:rPr>
              <a:t>定义</a:t>
            </a:r>
            <a:endParaRPr kumimoji="1" lang="en-US" altLang="zh-CN" sz="2800" dirty="0">
              <a:solidFill>
                <a:srgbClr val="04926A"/>
              </a:solidFill>
              <a:latin typeface="微软雅黑" panose="020B0503020204020204" charset="-122"/>
              <a:ea typeface="微软雅黑" panose="020B0503020204020204" charset="-122"/>
              <a:cs typeface="+mn-cs"/>
            </a:endParaRPr>
          </a:p>
        </p:txBody>
      </p:sp>
      <p:sp>
        <p:nvSpPr>
          <p:cNvPr id="11" name="Text Box 2"/>
          <p:cNvSpPr txBox="1">
            <a:spLocks noChangeArrowheads="1"/>
          </p:cNvSpPr>
          <p:nvPr/>
        </p:nvSpPr>
        <p:spPr bwMode="auto">
          <a:xfrm>
            <a:off x="1198323" y="656934"/>
            <a:ext cx="2657292" cy="584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spcBef>
                <a:spcPct val="50000"/>
              </a:spcBef>
            </a:pPr>
            <a:r>
              <a:rPr lang="zh-CN" altLang="en-US" sz="3200" b="1" dirty="0">
                <a:latin typeface="微软雅黑" panose="020B0503020204020204" charset="-122"/>
                <a:ea typeface="微软雅黑" panose="020B0503020204020204" charset="-122"/>
              </a:rPr>
              <a:t>二、旋转曲面</a:t>
            </a:r>
            <a:endParaRPr lang="zh-CN" altLang="en-US" sz="3200" b="1" dirty="0">
              <a:latin typeface="微软雅黑" panose="020B0503020204020204" charset="-122"/>
              <a:ea typeface="微软雅黑" panose="020B0503020204020204" charset="-122"/>
            </a:endParaRPr>
          </a:p>
        </p:txBody>
      </p:sp>
      <p:sp>
        <p:nvSpPr>
          <p:cNvPr id="12" name="Text Box 18"/>
          <p:cNvSpPr txBox="1">
            <a:spLocks noChangeArrowheads="1"/>
          </p:cNvSpPr>
          <p:nvPr/>
        </p:nvSpPr>
        <p:spPr bwMode="auto">
          <a:xfrm>
            <a:off x="2683558" y="1878025"/>
            <a:ext cx="3090530" cy="22535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lnSpc>
                <a:spcPct val="130000"/>
              </a:lnSpc>
              <a:spcBef>
                <a:spcPct val="50000"/>
              </a:spcBef>
            </a:pPr>
            <a:r>
              <a:rPr lang="zh-CN" altLang="en-US" sz="2800" dirty="0">
                <a:latin typeface="黑体" panose="02010609060101010101" pitchFamily="49" charset="-122"/>
                <a:ea typeface="黑体" panose="02010609060101010101" pitchFamily="49" charset="-122"/>
              </a:rPr>
              <a:t>以一条平面曲线绕其平面上的一条直线旋转一周所成的曲面称为</a:t>
            </a:r>
            <a:r>
              <a:rPr lang="zh-CN" altLang="en-US" sz="2800" dirty="0">
                <a:solidFill>
                  <a:srgbClr val="04926A"/>
                </a:solidFill>
                <a:latin typeface="黑体" panose="02010609060101010101" pitchFamily="49" charset="-122"/>
                <a:ea typeface="黑体" panose="02010609060101010101" pitchFamily="49" charset="-122"/>
              </a:rPr>
              <a:t>旋转曲面</a:t>
            </a:r>
            <a:r>
              <a:rPr lang="en-US" altLang="zh-CN" sz="2800" dirty="0">
                <a:solidFill>
                  <a:srgbClr val="04926A"/>
                </a:solidFill>
                <a:latin typeface="黑体" panose="02010609060101010101" pitchFamily="49" charset="-122"/>
                <a:ea typeface="黑体" panose="02010609060101010101" pitchFamily="49" charset="-122"/>
              </a:rPr>
              <a:t>.</a:t>
            </a:r>
            <a:endParaRPr lang="en-US" altLang="zh-CN" sz="2800" dirty="0">
              <a:solidFill>
                <a:srgbClr val="04926A"/>
              </a:solidFill>
              <a:latin typeface="黑体" panose="02010609060101010101" pitchFamily="49" charset="-122"/>
              <a:ea typeface="黑体" panose="02010609060101010101" pitchFamily="49" charset="-122"/>
            </a:endParaRPr>
          </a:p>
        </p:txBody>
      </p:sp>
      <p:sp>
        <p:nvSpPr>
          <p:cNvPr id="13" name="文本框 12"/>
          <p:cNvSpPr txBox="1"/>
          <p:nvPr/>
        </p:nvSpPr>
        <p:spPr bwMode="auto">
          <a:xfrm>
            <a:off x="2683936" y="4336717"/>
            <a:ext cx="3090152" cy="11331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nSpc>
                <a:spcPct val="130000"/>
              </a:lnSpc>
            </a:pPr>
            <a:r>
              <a:rPr lang="zh-CN" altLang="en-US" sz="2800" dirty="0">
                <a:latin typeface="黑体" panose="02010609060101010101" pitchFamily="49" charset="-122"/>
                <a:ea typeface="黑体" panose="02010609060101010101" pitchFamily="49" charset="-122"/>
              </a:rPr>
              <a:t>这条定直线叫旋转</a:t>
            </a:r>
            <a:endParaRPr lang="en-US" altLang="zh-CN" sz="2800" dirty="0">
              <a:latin typeface="黑体" panose="02010609060101010101" pitchFamily="49" charset="-122"/>
              <a:ea typeface="黑体" panose="02010609060101010101" pitchFamily="49" charset="-122"/>
            </a:endParaRPr>
          </a:p>
          <a:p>
            <a:pPr>
              <a:lnSpc>
                <a:spcPct val="130000"/>
              </a:lnSpc>
            </a:pPr>
            <a:r>
              <a:rPr lang="zh-CN" altLang="en-US" sz="2800" dirty="0">
                <a:latin typeface="黑体" panose="02010609060101010101" pitchFamily="49" charset="-122"/>
                <a:ea typeface="黑体" panose="02010609060101010101" pitchFamily="49" charset="-122"/>
              </a:rPr>
              <a:t>曲面的</a:t>
            </a:r>
            <a:r>
              <a:rPr lang="zh-CN" altLang="en-US" sz="2800" dirty="0">
                <a:solidFill>
                  <a:srgbClr val="04926A"/>
                </a:solidFill>
                <a:latin typeface="黑体" panose="02010609060101010101" pitchFamily="49" charset="-122"/>
                <a:ea typeface="黑体" panose="02010609060101010101" pitchFamily="49" charset="-122"/>
              </a:rPr>
              <a:t>轴</a:t>
            </a:r>
            <a:r>
              <a:rPr lang="en-US" altLang="zh-CN" sz="2800" dirty="0">
                <a:solidFill>
                  <a:srgbClr val="04926A"/>
                </a:solidFill>
                <a:latin typeface="黑体" panose="02010609060101010101" pitchFamily="49" charset="-122"/>
                <a:ea typeface="黑体" panose="02010609060101010101" pitchFamily="49" charset="-122"/>
              </a:rPr>
              <a:t>.</a:t>
            </a:r>
            <a:endParaRPr lang="zh-CN" altLang="en-US" sz="2800" dirty="0">
              <a:solidFill>
                <a:srgbClr val="04926A"/>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61774" y="1959584"/>
            <a:ext cx="3810000" cy="3724275"/>
          </a:xfrm>
          <a:prstGeom prst="rect">
            <a:avLst/>
          </a:prstGeom>
          <a:noFill/>
          <a:ln w="31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grpSp>
        <p:nvGrpSpPr>
          <p:cNvPr id="45060" name="Group 4"/>
          <p:cNvGrpSpPr/>
          <p:nvPr/>
        </p:nvGrpSpPr>
        <p:grpSpPr bwMode="auto">
          <a:xfrm>
            <a:off x="6266525" y="1764320"/>
            <a:ext cx="4210050" cy="3886200"/>
            <a:chOff x="2160" y="912"/>
            <a:chExt cx="2652" cy="2448"/>
          </a:xfrm>
        </p:grpSpPr>
        <p:sp>
          <p:nvSpPr>
            <p:cNvPr id="45061" name="Rectangle 5"/>
            <p:cNvSpPr>
              <a:spLocks noChangeArrowheads="1"/>
            </p:cNvSpPr>
            <p:nvPr/>
          </p:nvSpPr>
          <p:spPr bwMode="auto">
            <a:xfrm>
              <a:off x="2160" y="912"/>
              <a:ext cx="229" cy="2436"/>
            </a:xfrm>
            <a:prstGeom prst="rect">
              <a:avLst/>
            </a:prstGeom>
            <a:solidFill>
              <a:srgbClr val="04926A"/>
            </a:solidFill>
            <a:ln w="9525">
              <a:solidFill>
                <a:srgbClr val="04926A"/>
              </a:solidFill>
              <a:miter lim="800000"/>
            </a:ln>
          </p:spPr>
          <p:txBody>
            <a:bodyPr wrap="none" anchor="ctr"/>
            <a:lstStyle/>
            <a:p>
              <a:endParaRPr lang="zh-CN" altLang="en-US"/>
            </a:p>
          </p:txBody>
        </p:sp>
        <p:sp>
          <p:nvSpPr>
            <p:cNvPr id="45062" name="Rectangle 6"/>
            <p:cNvSpPr>
              <a:spLocks noChangeArrowheads="1"/>
            </p:cNvSpPr>
            <p:nvPr/>
          </p:nvSpPr>
          <p:spPr bwMode="auto">
            <a:xfrm>
              <a:off x="4572" y="912"/>
              <a:ext cx="240" cy="2436"/>
            </a:xfrm>
            <a:prstGeom prst="rect">
              <a:avLst/>
            </a:prstGeom>
            <a:solidFill>
              <a:srgbClr val="04926A"/>
            </a:solidFill>
            <a:ln w="9525">
              <a:solidFill>
                <a:srgbClr val="04926A"/>
              </a:solidFill>
              <a:miter lim="800000"/>
            </a:ln>
          </p:spPr>
          <p:txBody>
            <a:bodyPr wrap="none" anchor="ctr"/>
            <a:lstStyle/>
            <a:p>
              <a:endParaRPr lang="zh-CN" altLang="en-US"/>
            </a:p>
          </p:txBody>
        </p:sp>
        <p:sp>
          <p:nvSpPr>
            <p:cNvPr id="45063" name="Rectangle 7"/>
            <p:cNvSpPr>
              <a:spLocks noChangeArrowheads="1"/>
            </p:cNvSpPr>
            <p:nvPr/>
          </p:nvSpPr>
          <p:spPr bwMode="auto">
            <a:xfrm>
              <a:off x="2160" y="912"/>
              <a:ext cx="2651" cy="240"/>
            </a:xfrm>
            <a:prstGeom prst="rect">
              <a:avLst/>
            </a:prstGeom>
            <a:solidFill>
              <a:srgbClr val="04926A"/>
            </a:solidFill>
            <a:ln w="9525">
              <a:solidFill>
                <a:srgbClr val="04926A"/>
              </a:solidFill>
              <a:miter lim="800000"/>
            </a:ln>
          </p:spPr>
          <p:txBody>
            <a:bodyPr wrap="none" anchor="ctr"/>
            <a:lstStyle/>
            <a:p>
              <a:endParaRPr lang="zh-CN" altLang="en-US"/>
            </a:p>
          </p:txBody>
        </p:sp>
        <p:sp>
          <p:nvSpPr>
            <p:cNvPr id="45064" name="Rectangle 8"/>
            <p:cNvSpPr>
              <a:spLocks noChangeArrowheads="1"/>
            </p:cNvSpPr>
            <p:nvPr/>
          </p:nvSpPr>
          <p:spPr bwMode="auto">
            <a:xfrm>
              <a:off x="2160" y="3120"/>
              <a:ext cx="2651" cy="240"/>
            </a:xfrm>
            <a:prstGeom prst="rect">
              <a:avLst/>
            </a:prstGeom>
            <a:solidFill>
              <a:srgbClr val="04926A"/>
            </a:solidFill>
            <a:ln w="9525">
              <a:solidFill>
                <a:srgbClr val="04926A"/>
              </a:solidFill>
              <a:miter lim="800000"/>
            </a:ln>
          </p:spPr>
          <p:txBody>
            <a:bodyPr wrap="none" anchor="ctr"/>
            <a:lstStyle/>
            <a:p>
              <a:endParaRPr lang="zh-CN" altLang="en-US"/>
            </a:p>
          </p:txBody>
        </p:sp>
        <p:sp>
          <p:nvSpPr>
            <p:cNvPr id="45065" name="Rectangle 9"/>
            <p:cNvSpPr>
              <a:spLocks noChangeArrowheads="1"/>
            </p:cNvSpPr>
            <p:nvPr/>
          </p:nvSpPr>
          <p:spPr bwMode="auto">
            <a:xfrm>
              <a:off x="2400" y="1152"/>
              <a:ext cx="2160" cy="1968"/>
            </a:xfrm>
            <a:prstGeom prst="rect">
              <a:avLst/>
            </a:prstGeom>
            <a:noFill/>
            <a:ln w="3175">
              <a:solidFill>
                <a:schemeClr val="accent2"/>
              </a:solidFill>
              <a:miter lim="800000"/>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sp>
        <p:nvSpPr>
          <p:cNvPr id="45076" name="Line 20"/>
          <p:cNvSpPr>
            <a:spLocks noChangeShapeType="1"/>
          </p:cNvSpPr>
          <p:nvPr/>
        </p:nvSpPr>
        <p:spPr bwMode="auto">
          <a:xfrm>
            <a:off x="8362024" y="2678720"/>
            <a:ext cx="0" cy="1905000"/>
          </a:xfrm>
          <a:prstGeom prst="line">
            <a:avLst/>
          </a:prstGeom>
          <a:noFill/>
          <a:ln w="57150">
            <a:solidFill>
              <a:srgbClr val="04926A"/>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Rectangle 1"/>
          <p:cNvSpPr/>
          <p:nvPr/>
        </p:nvSpPr>
        <p:spPr>
          <a:xfrm>
            <a:off x="2052248" y="1736232"/>
            <a:ext cx="3950479" cy="3934634"/>
          </a:xfrm>
          <a:prstGeom prst="rect">
            <a:avLst/>
          </a:prstGeom>
          <a:solidFill>
            <a:srgbClr val="04926A">
              <a:alpha val="2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9" name="PA-102231"/>
          <p:cNvSpPr/>
          <p:nvPr>
            <p:custDataLst>
              <p:tags r:id="rId2"/>
            </p:custDataLst>
          </p:nvPr>
        </p:nvSpPr>
        <p:spPr>
          <a:xfrm>
            <a:off x="1597933" y="3244222"/>
            <a:ext cx="930521" cy="900000"/>
          </a:xfrm>
          <a:prstGeom prst="rect">
            <a:avLst/>
          </a:prstGeom>
          <a:solidFill>
            <a:schemeClr val="bg1"/>
          </a:solidFill>
          <a:ln w="19050">
            <a:gradFill>
              <a:gsLst>
                <a:gs pos="5000">
                  <a:srgbClr val="17A45E"/>
                </a:gs>
                <a:gs pos="56000">
                  <a:srgbClr val="039267"/>
                </a:gs>
                <a:gs pos="100000">
                  <a:srgbClr val="068983"/>
                </a:gs>
              </a:gsLst>
              <a:lin ang="10800000" scaled="0"/>
            </a:gradFill>
          </a:ln>
          <a:effectLst>
            <a:outerShdw blurRad="203200" dist="63500" dir="3000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n>
                <a:solidFill>
                  <a:schemeClr val="bg1">
                    <a:lumMod val="95000"/>
                  </a:schemeClr>
                </a:solidFill>
              </a:ln>
              <a:cs typeface="+mn-ea"/>
              <a:sym typeface="+mn-lt"/>
            </a:endParaRPr>
          </a:p>
        </p:txBody>
      </p:sp>
      <p:sp>
        <p:nvSpPr>
          <p:cNvPr id="10" name="Rectangle 2"/>
          <p:cNvSpPr txBox="1">
            <a:spLocks noChangeArrowheads="1"/>
          </p:cNvSpPr>
          <p:nvPr/>
        </p:nvSpPr>
        <p:spPr>
          <a:xfrm>
            <a:off x="1593150" y="3443868"/>
            <a:ext cx="933819" cy="526262"/>
          </a:xfrm>
          <a:noFill/>
          <a:ln>
            <a:noFill/>
          </a:ln>
        </p:spPr>
        <p:txBody>
          <a:bodyPr>
            <a:no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pPr>
              <a:lnSpc>
                <a:spcPct val="100000"/>
              </a:lnSpc>
            </a:pPr>
            <a:r>
              <a:rPr kumimoji="1" lang="zh-CN" altLang="en-US" sz="2800" dirty="0">
                <a:solidFill>
                  <a:srgbClr val="04926A"/>
                </a:solidFill>
                <a:latin typeface="微软雅黑" panose="020B0503020204020204" charset="-122"/>
                <a:ea typeface="微软雅黑" panose="020B0503020204020204" charset="-122"/>
                <a:cs typeface="+mn-cs"/>
              </a:rPr>
              <a:t>定义</a:t>
            </a:r>
            <a:endParaRPr kumimoji="1" lang="en-US" altLang="zh-CN" sz="2800" dirty="0">
              <a:solidFill>
                <a:srgbClr val="04926A"/>
              </a:solidFill>
              <a:latin typeface="微软雅黑" panose="020B0503020204020204" charset="-122"/>
              <a:ea typeface="微软雅黑" panose="020B0503020204020204" charset="-122"/>
              <a:cs typeface="+mn-cs"/>
            </a:endParaRPr>
          </a:p>
        </p:txBody>
      </p:sp>
      <p:sp>
        <p:nvSpPr>
          <p:cNvPr id="11" name="Text Box 2"/>
          <p:cNvSpPr txBox="1">
            <a:spLocks noChangeArrowheads="1"/>
          </p:cNvSpPr>
          <p:nvPr/>
        </p:nvSpPr>
        <p:spPr bwMode="auto">
          <a:xfrm>
            <a:off x="1198323" y="656934"/>
            <a:ext cx="2657292" cy="584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spcBef>
                <a:spcPct val="50000"/>
              </a:spcBef>
            </a:pPr>
            <a:r>
              <a:rPr lang="zh-CN" altLang="en-US" sz="3200" b="1" dirty="0">
                <a:latin typeface="微软雅黑" panose="020B0503020204020204" charset="-122"/>
                <a:ea typeface="微软雅黑" panose="020B0503020204020204" charset="-122"/>
              </a:rPr>
              <a:t>二、旋转曲面</a:t>
            </a:r>
            <a:endParaRPr lang="zh-CN" altLang="en-US" sz="3200" b="1" dirty="0">
              <a:latin typeface="微软雅黑" panose="020B0503020204020204" charset="-122"/>
              <a:ea typeface="微软雅黑" panose="020B0503020204020204" charset="-122"/>
            </a:endParaRPr>
          </a:p>
        </p:txBody>
      </p:sp>
      <p:sp>
        <p:nvSpPr>
          <p:cNvPr id="12" name="Text Box 18"/>
          <p:cNvSpPr txBox="1">
            <a:spLocks noChangeArrowheads="1"/>
          </p:cNvSpPr>
          <p:nvPr/>
        </p:nvSpPr>
        <p:spPr bwMode="auto">
          <a:xfrm>
            <a:off x="2683558" y="1878025"/>
            <a:ext cx="3090530" cy="22535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lnSpc>
                <a:spcPct val="130000"/>
              </a:lnSpc>
              <a:spcBef>
                <a:spcPct val="50000"/>
              </a:spcBef>
            </a:pPr>
            <a:r>
              <a:rPr lang="zh-CN" altLang="en-US" sz="2800" dirty="0">
                <a:latin typeface="黑体" panose="02010609060101010101" pitchFamily="49" charset="-122"/>
                <a:ea typeface="黑体" panose="02010609060101010101" pitchFamily="49" charset="-122"/>
              </a:rPr>
              <a:t>以一条平面曲线绕其平面上的一条直线旋转一周所成的曲面称为</a:t>
            </a:r>
            <a:r>
              <a:rPr lang="zh-CN" altLang="en-US" sz="2800" dirty="0">
                <a:solidFill>
                  <a:srgbClr val="04926A"/>
                </a:solidFill>
                <a:latin typeface="黑体" panose="02010609060101010101" pitchFamily="49" charset="-122"/>
                <a:ea typeface="黑体" panose="02010609060101010101" pitchFamily="49" charset="-122"/>
              </a:rPr>
              <a:t>旋转曲面</a:t>
            </a:r>
            <a:r>
              <a:rPr lang="en-US" altLang="zh-CN" sz="2800" dirty="0">
                <a:solidFill>
                  <a:srgbClr val="04926A"/>
                </a:solidFill>
                <a:latin typeface="黑体" panose="02010609060101010101" pitchFamily="49" charset="-122"/>
                <a:ea typeface="黑体" panose="02010609060101010101" pitchFamily="49" charset="-122"/>
              </a:rPr>
              <a:t>.</a:t>
            </a:r>
            <a:endParaRPr lang="en-US" altLang="zh-CN" sz="2800" dirty="0">
              <a:solidFill>
                <a:srgbClr val="04926A"/>
              </a:solidFill>
              <a:latin typeface="黑体" panose="02010609060101010101" pitchFamily="49" charset="-122"/>
              <a:ea typeface="黑体" panose="02010609060101010101" pitchFamily="49" charset="-122"/>
            </a:endParaRPr>
          </a:p>
        </p:txBody>
      </p:sp>
      <p:sp>
        <p:nvSpPr>
          <p:cNvPr id="13" name="文本框 12"/>
          <p:cNvSpPr txBox="1"/>
          <p:nvPr/>
        </p:nvSpPr>
        <p:spPr bwMode="auto">
          <a:xfrm>
            <a:off x="2683936" y="4336717"/>
            <a:ext cx="3090152" cy="11331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nSpc>
                <a:spcPct val="130000"/>
              </a:lnSpc>
            </a:pPr>
            <a:r>
              <a:rPr lang="zh-CN" altLang="en-US" sz="2800" dirty="0">
                <a:latin typeface="黑体" panose="02010609060101010101" pitchFamily="49" charset="-122"/>
                <a:ea typeface="黑体" panose="02010609060101010101" pitchFamily="49" charset="-122"/>
              </a:rPr>
              <a:t>这条定直线叫旋转</a:t>
            </a:r>
            <a:endParaRPr lang="en-US" altLang="zh-CN" sz="2800" dirty="0">
              <a:latin typeface="黑体" panose="02010609060101010101" pitchFamily="49" charset="-122"/>
              <a:ea typeface="黑体" panose="02010609060101010101" pitchFamily="49" charset="-122"/>
            </a:endParaRPr>
          </a:p>
          <a:p>
            <a:pPr>
              <a:lnSpc>
                <a:spcPct val="130000"/>
              </a:lnSpc>
            </a:pPr>
            <a:r>
              <a:rPr lang="zh-CN" altLang="en-US" sz="2800" dirty="0">
                <a:latin typeface="黑体" panose="02010609060101010101" pitchFamily="49" charset="-122"/>
                <a:ea typeface="黑体" panose="02010609060101010101" pitchFamily="49" charset="-122"/>
              </a:rPr>
              <a:t>曲面的</a:t>
            </a:r>
            <a:r>
              <a:rPr lang="zh-CN" altLang="en-US" sz="2800" dirty="0">
                <a:solidFill>
                  <a:srgbClr val="04926A"/>
                </a:solidFill>
                <a:latin typeface="黑体" panose="02010609060101010101" pitchFamily="49" charset="-122"/>
                <a:ea typeface="黑体" panose="02010609060101010101" pitchFamily="49" charset="-122"/>
              </a:rPr>
              <a:t>轴</a:t>
            </a:r>
            <a:r>
              <a:rPr lang="en-US" altLang="zh-CN" sz="2800" dirty="0">
                <a:solidFill>
                  <a:srgbClr val="04926A"/>
                </a:solidFill>
                <a:latin typeface="黑体" panose="02010609060101010101" pitchFamily="49" charset="-122"/>
                <a:ea typeface="黑体" panose="02010609060101010101" pitchFamily="49" charset="-122"/>
              </a:rPr>
              <a:t>.</a:t>
            </a:r>
            <a:endParaRPr lang="zh-CN" altLang="en-US" sz="2800" dirty="0">
              <a:solidFill>
                <a:srgbClr val="04926A"/>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61767" y="1945516"/>
            <a:ext cx="3810000" cy="3724275"/>
          </a:xfrm>
          <a:prstGeom prst="rect">
            <a:avLst/>
          </a:prstGeom>
          <a:noFill/>
          <a:ln w="31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grpSp>
        <p:nvGrpSpPr>
          <p:cNvPr id="46084" name="Group 4"/>
          <p:cNvGrpSpPr/>
          <p:nvPr/>
        </p:nvGrpSpPr>
        <p:grpSpPr bwMode="auto">
          <a:xfrm>
            <a:off x="6266517" y="1750253"/>
            <a:ext cx="4210050" cy="3886200"/>
            <a:chOff x="2160" y="912"/>
            <a:chExt cx="2652" cy="2448"/>
          </a:xfrm>
        </p:grpSpPr>
        <p:sp>
          <p:nvSpPr>
            <p:cNvPr id="46085" name="Rectangle 5"/>
            <p:cNvSpPr>
              <a:spLocks noChangeArrowheads="1"/>
            </p:cNvSpPr>
            <p:nvPr/>
          </p:nvSpPr>
          <p:spPr bwMode="auto">
            <a:xfrm>
              <a:off x="2160" y="912"/>
              <a:ext cx="229" cy="2436"/>
            </a:xfrm>
            <a:prstGeom prst="rect">
              <a:avLst/>
            </a:prstGeom>
            <a:solidFill>
              <a:srgbClr val="04926A"/>
            </a:solidFill>
            <a:ln w="9525">
              <a:solidFill>
                <a:srgbClr val="04926A"/>
              </a:solidFill>
              <a:miter lim="800000"/>
            </a:ln>
          </p:spPr>
          <p:txBody>
            <a:bodyPr wrap="none" anchor="ctr"/>
            <a:lstStyle/>
            <a:p>
              <a:endParaRPr lang="zh-CN" altLang="en-US"/>
            </a:p>
          </p:txBody>
        </p:sp>
        <p:sp>
          <p:nvSpPr>
            <p:cNvPr id="46086" name="Rectangle 6"/>
            <p:cNvSpPr>
              <a:spLocks noChangeArrowheads="1"/>
            </p:cNvSpPr>
            <p:nvPr/>
          </p:nvSpPr>
          <p:spPr bwMode="auto">
            <a:xfrm>
              <a:off x="4572" y="912"/>
              <a:ext cx="240" cy="2436"/>
            </a:xfrm>
            <a:prstGeom prst="rect">
              <a:avLst/>
            </a:prstGeom>
            <a:solidFill>
              <a:srgbClr val="04926A"/>
            </a:solidFill>
            <a:ln w="9525">
              <a:solidFill>
                <a:srgbClr val="04926A"/>
              </a:solidFill>
              <a:miter lim="800000"/>
            </a:ln>
          </p:spPr>
          <p:txBody>
            <a:bodyPr wrap="none" anchor="ctr"/>
            <a:lstStyle/>
            <a:p>
              <a:endParaRPr lang="zh-CN" altLang="en-US"/>
            </a:p>
          </p:txBody>
        </p:sp>
        <p:sp>
          <p:nvSpPr>
            <p:cNvPr id="46087" name="Rectangle 7"/>
            <p:cNvSpPr>
              <a:spLocks noChangeArrowheads="1"/>
            </p:cNvSpPr>
            <p:nvPr/>
          </p:nvSpPr>
          <p:spPr bwMode="auto">
            <a:xfrm>
              <a:off x="2160" y="912"/>
              <a:ext cx="2651" cy="240"/>
            </a:xfrm>
            <a:prstGeom prst="rect">
              <a:avLst/>
            </a:prstGeom>
            <a:solidFill>
              <a:srgbClr val="04926A"/>
            </a:solidFill>
            <a:ln w="9525">
              <a:solidFill>
                <a:srgbClr val="04926A"/>
              </a:solidFill>
              <a:miter lim="800000"/>
            </a:ln>
          </p:spPr>
          <p:txBody>
            <a:bodyPr wrap="none" anchor="ctr"/>
            <a:lstStyle/>
            <a:p>
              <a:endParaRPr lang="zh-CN" altLang="en-US"/>
            </a:p>
          </p:txBody>
        </p:sp>
        <p:sp>
          <p:nvSpPr>
            <p:cNvPr id="46088" name="Rectangle 8"/>
            <p:cNvSpPr>
              <a:spLocks noChangeArrowheads="1"/>
            </p:cNvSpPr>
            <p:nvPr/>
          </p:nvSpPr>
          <p:spPr bwMode="auto">
            <a:xfrm>
              <a:off x="2160" y="3120"/>
              <a:ext cx="2651" cy="240"/>
            </a:xfrm>
            <a:prstGeom prst="rect">
              <a:avLst/>
            </a:prstGeom>
            <a:solidFill>
              <a:srgbClr val="04926A"/>
            </a:solidFill>
            <a:ln w="9525">
              <a:solidFill>
                <a:srgbClr val="04926A"/>
              </a:solidFill>
              <a:miter lim="800000"/>
            </a:ln>
          </p:spPr>
          <p:txBody>
            <a:bodyPr wrap="none" anchor="ctr"/>
            <a:lstStyle/>
            <a:p>
              <a:endParaRPr lang="zh-CN" altLang="en-US"/>
            </a:p>
          </p:txBody>
        </p:sp>
        <p:sp>
          <p:nvSpPr>
            <p:cNvPr id="46089" name="Rectangle 9"/>
            <p:cNvSpPr>
              <a:spLocks noChangeArrowheads="1"/>
            </p:cNvSpPr>
            <p:nvPr/>
          </p:nvSpPr>
          <p:spPr bwMode="auto">
            <a:xfrm>
              <a:off x="2400" y="1152"/>
              <a:ext cx="2160" cy="1968"/>
            </a:xfrm>
            <a:prstGeom prst="rect">
              <a:avLst/>
            </a:prstGeom>
            <a:noFill/>
            <a:ln w="3175">
              <a:solidFill>
                <a:schemeClr val="accent2"/>
              </a:solidFill>
              <a:miter lim="800000"/>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sp>
        <p:nvSpPr>
          <p:cNvPr id="46100" name="Line 20"/>
          <p:cNvSpPr>
            <a:spLocks noChangeShapeType="1"/>
          </p:cNvSpPr>
          <p:nvPr/>
        </p:nvSpPr>
        <p:spPr bwMode="auto">
          <a:xfrm>
            <a:off x="8362017" y="2664652"/>
            <a:ext cx="0" cy="1905000"/>
          </a:xfrm>
          <a:prstGeom prst="line">
            <a:avLst/>
          </a:prstGeom>
          <a:noFill/>
          <a:ln w="57150">
            <a:solidFill>
              <a:srgbClr val="04926A"/>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Rectangle 1"/>
          <p:cNvSpPr/>
          <p:nvPr/>
        </p:nvSpPr>
        <p:spPr>
          <a:xfrm>
            <a:off x="2052248" y="1736232"/>
            <a:ext cx="3950479" cy="3934634"/>
          </a:xfrm>
          <a:prstGeom prst="rect">
            <a:avLst/>
          </a:prstGeom>
          <a:solidFill>
            <a:srgbClr val="04926A">
              <a:alpha val="2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5" name="PA-102231"/>
          <p:cNvSpPr/>
          <p:nvPr>
            <p:custDataLst>
              <p:tags r:id="rId2"/>
            </p:custDataLst>
          </p:nvPr>
        </p:nvSpPr>
        <p:spPr>
          <a:xfrm>
            <a:off x="1597933" y="3244222"/>
            <a:ext cx="930521" cy="900000"/>
          </a:xfrm>
          <a:prstGeom prst="rect">
            <a:avLst/>
          </a:prstGeom>
          <a:solidFill>
            <a:schemeClr val="bg1"/>
          </a:solidFill>
          <a:ln w="19050">
            <a:gradFill>
              <a:gsLst>
                <a:gs pos="5000">
                  <a:srgbClr val="17A45E"/>
                </a:gs>
                <a:gs pos="56000">
                  <a:srgbClr val="039267"/>
                </a:gs>
                <a:gs pos="100000">
                  <a:srgbClr val="068983"/>
                </a:gs>
              </a:gsLst>
              <a:lin ang="10800000" scaled="0"/>
            </a:gradFill>
          </a:ln>
          <a:effectLst>
            <a:outerShdw blurRad="203200" dist="63500" dir="3000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n>
                <a:solidFill>
                  <a:schemeClr val="bg1">
                    <a:lumMod val="95000"/>
                  </a:schemeClr>
                </a:solidFill>
              </a:ln>
              <a:cs typeface="+mn-ea"/>
              <a:sym typeface="+mn-lt"/>
            </a:endParaRPr>
          </a:p>
        </p:txBody>
      </p:sp>
      <p:sp>
        <p:nvSpPr>
          <p:cNvPr id="16" name="Rectangle 2"/>
          <p:cNvSpPr txBox="1">
            <a:spLocks noChangeArrowheads="1"/>
          </p:cNvSpPr>
          <p:nvPr/>
        </p:nvSpPr>
        <p:spPr>
          <a:xfrm>
            <a:off x="1593150" y="3443868"/>
            <a:ext cx="933819" cy="526262"/>
          </a:xfrm>
          <a:noFill/>
          <a:ln>
            <a:noFill/>
          </a:ln>
        </p:spPr>
        <p:txBody>
          <a:bodyPr>
            <a:no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pPr>
              <a:lnSpc>
                <a:spcPct val="100000"/>
              </a:lnSpc>
            </a:pPr>
            <a:r>
              <a:rPr kumimoji="1" lang="zh-CN" altLang="en-US" sz="2800" dirty="0">
                <a:solidFill>
                  <a:srgbClr val="04926A"/>
                </a:solidFill>
                <a:latin typeface="微软雅黑" panose="020B0503020204020204" charset="-122"/>
                <a:ea typeface="微软雅黑" panose="020B0503020204020204" charset="-122"/>
                <a:cs typeface="+mn-cs"/>
              </a:rPr>
              <a:t>定义</a:t>
            </a:r>
            <a:endParaRPr kumimoji="1" lang="en-US" altLang="zh-CN" sz="2800" dirty="0">
              <a:solidFill>
                <a:srgbClr val="04926A"/>
              </a:solidFill>
              <a:latin typeface="微软雅黑" panose="020B0503020204020204" charset="-122"/>
              <a:ea typeface="微软雅黑" panose="020B0503020204020204" charset="-122"/>
              <a:cs typeface="+mn-cs"/>
            </a:endParaRPr>
          </a:p>
        </p:txBody>
      </p:sp>
      <p:sp>
        <p:nvSpPr>
          <p:cNvPr id="17" name="Text Box 2"/>
          <p:cNvSpPr txBox="1">
            <a:spLocks noChangeArrowheads="1"/>
          </p:cNvSpPr>
          <p:nvPr/>
        </p:nvSpPr>
        <p:spPr bwMode="auto">
          <a:xfrm>
            <a:off x="1198323" y="656934"/>
            <a:ext cx="2657292" cy="584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spcBef>
                <a:spcPct val="50000"/>
              </a:spcBef>
            </a:pPr>
            <a:r>
              <a:rPr lang="zh-CN" altLang="en-US" sz="3200" b="1" dirty="0">
                <a:latin typeface="微软雅黑" panose="020B0503020204020204" charset="-122"/>
                <a:ea typeface="微软雅黑" panose="020B0503020204020204" charset="-122"/>
              </a:rPr>
              <a:t>二、旋转曲面</a:t>
            </a:r>
            <a:endParaRPr lang="zh-CN" altLang="en-US" sz="3200" b="1" dirty="0">
              <a:latin typeface="微软雅黑" panose="020B0503020204020204" charset="-122"/>
              <a:ea typeface="微软雅黑" panose="020B0503020204020204" charset="-122"/>
            </a:endParaRPr>
          </a:p>
        </p:txBody>
      </p:sp>
      <p:sp>
        <p:nvSpPr>
          <p:cNvPr id="18" name="Text Box 18"/>
          <p:cNvSpPr txBox="1">
            <a:spLocks noChangeArrowheads="1"/>
          </p:cNvSpPr>
          <p:nvPr/>
        </p:nvSpPr>
        <p:spPr bwMode="auto">
          <a:xfrm>
            <a:off x="2683558" y="1878025"/>
            <a:ext cx="3090530" cy="22535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lnSpc>
                <a:spcPct val="130000"/>
              </a:lnSpc>
              <a:spcBef>
                <a:spcPct val="50000"/>
              </a:spcBef>
            </a:pPr>
            <a:r>
              <a:rPr lang="zh-CN" altLang="en-US" sz="2800" dirty="0">
                <a:latin typeface="黑体" panose="02010609060101010101" pitchFamily="49" charset="-122"/>
                <a:ea typeface="黑体" panose="02010609060101010101" pitchFamily="49" charset="-122"/>
              </a:rPr>
              <a:t>以一条平面曲线绕其平面上的一条直线旋转一周所成的曲面称为</a:t>
            </a:r>
            <a:r>
              <a:rPr lang="zh-CN" altLang="en-US" sz="2800" dirty="0">
                <a:solidFill>
                  <a:srgbClr val="04926A"/>
                </a:solidFill>
                <a:latin typeface="黑体" panose="02010609060101010101" pitchFamily="49" charset="-122"/>
                <a:ea typeface="黑体" panose="02010609060101010101" pitchFamily="49" charset="-122"/>
              </a:rPr>
              <a:t>旋转曲面</a:t>
            </a:r>
            <a:r>
              <a:rPr lang="en-US" altLang="zh-CN" sz="2800" dirty="0">
                <a:solidFill>
                  <a:srgbClr val="04926A"/>
                </a:solidFill>
                <a:latin typeface="黑体" panose="02010609060101010101" pitchFamily="49" charset="-122"/>
                <a:ea typeface="黑体" panose="02010609060101010101" pitchFamily="49" charset="-122"/>
              </a:rPr>
              <a:t>.</a:t>
            </a:r>
            <a:endParaRPr lang="en-US" altLang="zh-CN" sz="2800" dirty="0">
              <a:solidFill>
                <a:srgbClr val="04926A"/>
              </a:solidFill>
              <a:latin typeface="黑体" panose="02010609060101010101" pitchFamily="49" charset="-122"/>
              <a:ea typeface="黑体" panose="02010609060101010101" pitchFamily="49" charset="-122"/>
            </a:endParaRPr>
          </a:p>
        </p:txBody>
      </p:sp>
      <p:sp>
        <p:nvSpPr>
          <p:cNvPr id="19" name="文本框 18"/>
          <p:cNvSpPr txBox="1"/>
          <p:nvPr/>
        </p:nvSpPr>
        <p:spPr bwMode="auto">
          <a:xfrm>
            <a:off x="2683936" y="4336717"/>
            <a:ext cx="3090152" cy="11331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nSpc>
                <a:spcPct val="130000"/>
              </a:lnSpc>
            </a:pPr>
            <a:r>
              <a:rPr lang="zh-CN" altLang="en-US" sz="2800" dirty="0">
                <a:latin typeface="黑体" panose="02010609060101010101" pitchFamily="49" charset="-122"/>
                <a:ea typeface="黑体" panose="02010609060101010101" pitchFamily="49" charset="-122"/>
              </a:rPr>
              <a:t>这条定直线叫旋转</a:t>
            </a:r>
            <a:endParaRPr lang="en-US" altLang="zh-CN" sz="2800" dirty="0">
              <a:latin typeface="黑体" panose="02010609060101010101" pitchFamily="49" charset="-122"/>
              <a:ea typeface="黑体" panose="02010609060101010101" pitchFamily="49" charset="-122"/>
            </a:endParaRPr>
          </a:p>
          <a:p>
            <a:pPr>
              <a:lnSpc>
                <a:spcPct val="130000"/>
              </a:lnSpc>
            </a:pPr>
            <a:r>
              <a:rPr lang="zh-CN" altLang="en-US" sz="2800" dirty="0">
                <a:latin typeface="黑体" panose="02010609060101010101" pitchFamily="49" charset="-122"/>
                <a:ea typeface="黑体" panose="02010609060101010101" pitchFamily="49" charset="-122"/>
              </a:rPr>
              <a:t>曲面的</a:t>
            </a:r>
            <a:r>
              <a:rPr lang="zh-CN" altLang="en-US" sz="2800" dirty="0">
                <a:solidFill>
                  <a:srgbClr val="04926A"/>
                </a:solidFill>
                <a:latin typeface="黑体" panose="02010609060101010101" pitchFamily="49" charset="-122"/>
                <a:ea typeface="黑体" panose="02010609060101010101" pitchFamily="49" charset="-122"/>
              </a:rPr>
              <a:t>轴</a:t>
            </a:r>
            <a:r>
              <a:rPr lang="en-US" altLang="zh-CN" sz="2800" dirty="0">
                <a:solidFill>
                  <a:srgbClr val="04926A"/>
                </a:solidFill>
                <a:latin typeface="黑体" panose="02010609060101010101" pitchFamily="49" charset="-122"/>
                <a:ea typeface="黑体" panose="02010609060101010101" pitchFamily="49" charset="-122"/>
              </a:rPr>
              <a:t>.</a:t>
            </a:r>
            <a:endParaRPr lang="zh-CN" altLang="en-US" sz="2800" dirty="0">
              <a:solidFill>
                <a:srgbClr val="04926A"/>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47695" y="1973652"/>
            <a:ext cx="3810000" cy="3724275"/>
          </a:xfrm>
          <a:prstGeom prst="rect">
            <a:avLst/>
          </a:prstGeom>
          <a:noFill/>
          <a:ln w="31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grpSp>
        <p:nvGrpSpPr>
          <p:cNvPr id="47108" name="Group 4"/>
          <p:cNvGrpSpPr/>
          <p:nvPr/>
        </p:nvGrpSpPr>
        <p:grpSpPr bwMode="auto">
          <a:xfrm>
            <a:off x="6252445" y="1778389"/>
            <a:ext cx="4210050" cy="3886200"/>
            <a:chOff x="2160" y="912"/>
            <a:chExt cx="2652" cy="2448"/>
          </a:xfrm>
        </p:grpSpPr>
        <p:sp>
          <p:nvSpPr>
            <p:cNvPr id="47109" name="Rectangle 5"/>
            <p:cNvSpPr>
              <a:spLocks noChangeArrowheads="1"/>
            </p:cNvSpPr>
            <p:nvPr/>
          </p:nvSpPr>
          <p:spPr bwMode="auto">
            <a:xfrm>
              <a:off x="2160" y="912"/>
              <a:ext cx="229" cy="2436"/>
            </a:xfrm>
            <a:prstGeom prst="rect">
              <a:avLst/>
            </a:prstGeom>
            <a:solidFill>
              <a:srgbClr val="04926A"/>
            </a:solidFill>
            <a:ln w="9525">
              <a:solidFill>
                <a:srgbClr val="04926A"/>
              </a:solidFill>
              <a:miter lim="800000"/>
            </a:ln>
          </p:spPr>
          <p:txBody>
            <a:bodyPr wrap="none" anchor="ctr"/>
            <a:lstStyle/>
            <a:p>
              <a:endParaRPr lang="zh-CN" altLang="en-US"/>
            </a:p>
          </p:txBody>
        </p:sp>
        <p:sp>
          <p:nvSpPr>
            <p:cNvPr id="47110" name="Rectangle 6"/>
            <p:cNvSpPr>
              <a:spLocks noChangeArrowheads="1"/>
            </p:cNvSpPr>
            <p:nvPr/>
          </p:nvSpPr>
          <p:spPr bwMode="auto">
            <a:xfrm>
              <a:off x="4572" y="912"/>
              <a:ext cx="240" cy="2436"/>
            </a:xfrm>
            <a:prstGeom prst="rect">
              <a:avLst/>
            </a:prstGeom>
            <a:solidFill>
              <a:srgbClr val="04926A"/>
            </a:solidFill>
            <a:ln w="9525">
              <a:solidFill>
                <a:srgbClr val="04926A"/>
              </a:solidFill>
              <a:miter lim="800000"/>
            </a:ln>
          </p:spPr>
          <p:txBody>
            <a:bodyPr wrap="none" anchor="ctr"/>
            <a:lstStyle/>
            <a:p>
              <a:endParaRPr lang="zh-CN" altLang="en-US"/>
            </a:p>
          </p:txBody>
        </p:sp>
        <p:sp>
          <p:nvSpPr>
            <p:cNvPr id="47111" name="Rectangle 7"/>
            <p:cNvSpPr>
              <a:spLocks noChangeArrowheads="1"/>
            </p:cNvSpPr>
            <p:nvPr/>
          </p:nvSpPr>
          <p:spPr bwMode="auto">
            <a:xfrm>
              <a:off x="2160" y="912"/>
              <a:ext cx="2651" cy="240"/>
            </a:xfrm>
            <a:prstGeom prst="rect">
              <a:avLst/>
            </a:prstGeom>
            <a:solidFill>
              <a:srgbClr val="04926A"/>
            </a:solidFill>
            <a:ln w="9525">
              <a:solidFill>
                <a:srgbClr val="04926A"/>
              </a:solidFill>
              <a:miter lim="800000"/>
            </a:ln>
          </p:spPr>
          <p:txBody>
            <a:bodyPr wrap="none" anchor="ctr"/>
            <a:lstStyle/>
            <a:p>
              <a:endParaRPr lang="zh-CN" altLang="en-US"/>
            </a:p>
          </p:txBody>
        </p:sp>
        <p:sp>
          <p:nvSpPr>
            <p:cNvPr id="47112" name="Rectangle 8"/>
            <p:cNvSpPr>
              <a:spLocks noChangeArrowheads="1"/>
            </p:cNvSpPr>
            <p:nvPr/>
          </p:nvSpPr>
          <p:spPr bwMode="auto">
            <a:xfrm>
              <a:off x="2160" y="3120"/>
              <a:ext cx="2651" cy="240"/>
            </a:xfrm>
            <a:prstGeom prst="rect">
              <a:avLst/>
            </a:prstGeom>
            <a:solidFill>
              <a:srgbClr val="04926A"/>
            </a:solidFill>
            <a:ln w="9525">
              <a:solidFill>
                <a:srgbClr val="04926A"/>
              </a:solidFill>
              <a:miter lim="800000"/>
            </a:ln>
          </p:spPr>
          <p:txBody>
            <a:bodyPr wrap="none" anchor="ctr"/>
            <a:lstStyle/>
            <a:p>
              <a:endParaRPr lang="zh-CN" altLang="en-US" dirty="0"/>
            </a:p>
          </p:txBody>
        </p:sp>
        <p:sp>
          <p:nvSpPr>
            <p:cNvPr id="47113" name="Rectangle 9"/>
            <p:cNvSpPr>
              <a:spLocks noChangeArrowheads="1"/>
            </p:cNvSpPr>
            <p:nvPr/>
          </p:nvSpPr>
          <p:spPr bwMode="auto">
            <a:xfrm>
              <a:off x="2400" y="1152"/>
              <a:ext cx="2160" cy="1968"/>
            </a:xfrm>
            <a:prstGeom prst="rect">
              <a:avLst/>
            </a:prstGeom>
            <a:noFill/>
            <a:ln w="3175">
              <a:solidFill>
                <a:schemeClr val="accent2"/>
              </a:solidFill>
              <a:miter lim="800000"/>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sp>
        <p:nvSpPr>
          <p:cNvPr id="47124" name="Line 20"/>
          <p:cNvSpPr>
            <a:spLocks noChangeShapeType="1"/>
          </p:cNvSpPr>
          <p:nvPr/>
        </p:nvSpPr>
        <p:spPr bwMode="auto">
          <a:xfrm>
            <a:off x="8347945" y="2692788"/>
            <a:ext cx="0" cy="1905000"/>
          </a:xfrm>
          <a:prstGeom prst="line">
            <a:avLst/>
          </a:prstGeom>
          <a:noFill/>
          <a:ln w="57150">
            <a:solidFill>
              <a:srgbClr val="04926A"/>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Rectangle 1"/>
          <p:cNvSpPr/>
          <p:nvPr/>
        </p:nvSpPr>
        <p:spPr>
          <a:xfrm>
            <a:off x="2052248" y="1736232"/>
            <a:ext cx="3950479" cy="3934634"/>
          </a:xfrm>
          <a:prstGeom prst="rect">
            <a:avLst/>
          </a:prstGeom>
          <a:solidFill>
            <a:srgbClr val="04926A">
              <a:alpha val="2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9" name="PA-102231"/>
          <p:cNvSpPr/>
          <p:nvPr>
            <p:custDataLst>
              <p:tags r:id="rId2"/>
            </p:custDataLst>
          </p:nvPr>
        </p:nvSpPr>
        <p:spPr>
          <a:xfrm>
            <a:off x="1597933" y="3244222"/>
            <a:ext cx="930521" cy="900000"/>
          </a:xfrm>
          <a:prstGeom prst="rect">
            <a:avLst/>
          </a:prstGeom>
          <a:solidFill>
            <a:schemeClr val="bg1"/>
          </a:solidFill>
          <a:ln w="19050">
            <a:gradFill>
              <a:gsLst>
                <a:gs pos="5000">
                  <a:srgbClr val="17A45E"/>
                </a:gs>
                <a:gs pos="56000">
                  <a:srgbClr val="039267"/>
                </a:gs>
                <a:gs pos="100000">
                  <a:srgbClr val="068983"/>
                </a:gs>
              </a:gsLst>
              <a:lin ang="10800000" scaled="0"/>
            </a:gradFill>
          </a:ln>
          <a:effectLst>
            <a:outerShdw blurRad="203200" dist="63500" dir="3000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n>
                <a:solidFill>
                  <a:schemeClr val="bg1">
                    <a:lumMod val="95000"/>
                  </a:schemeClr>
                </a:solidFill>
              </a:ln>
              <a:cs typeface="+mn-ea"/>
              <a:sym typeface="+mn-lt"/>
            </a:endParaRPr>
          </a:p>
        </p:txBody>
      </p:sp>
      <p:sp>
        <p:nvSpPr>
          <p:cNvPr id="10" name="Rectangle 2"/>
          <p:cNvSpPr txBox="1">
            <a:spLocks noChangeArrowheads="1"/>
          </p:cNvSpPr>
          <p:nvPr/>
        </p:nvSpPr>
        <p:spPr>
          <a:xfrm>
            <a:off x="1593150" y="3443868"/>
            <a:ext cx="933819" cy="526262"/>
          </a:xfrm>
          <a:noFill/>
          <a:ln>
            <a:noFill/>
          </a:ln>
        </p:spPr>
        <p:txBody>
          <a:bodyPr>
            <a:no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pPr>
              <a:lnSpc>
                <a:spcPct val="100000"/>
              </a:lnSpc>
            </a:pPr>
            <a:r>
              <a:rPr kumimoji="1" lang="zh-CN" altLang="en-US" sz="2800" dirty="0">
                <a:solidFill>
                  <a:srgbClr val="04926A"/>
                </a:solidFill>
                <a:latin typeface="微软雅黑" panose="020B0503020204020204" charset="-122"/>
                <a:ea typeface="微软雅黑" panose="020B0503020204020204" charset="-122"/>
                <a:cs typeface="+mn-cs"/>
              </a:rPr>
              <a:t>定义</a:t>
            </a:r>
            <a:endParaRPr kumimoji="1" lang="en-US" altLang="zh-CN" sz="2800" dirty="0">
              <a:solidFill>
                <a:srgbClr val="04926A"/>
              </a:solidFill>
              <a:latin typeface="微软雅黑" panose="020B0503020204020204" charset="-122"/>
              <a:ea typeface="微软雅黑" panose="020B0503020204020204" charset="-122"/>
              <a:cs typeface="+mn-cs"/>
            </a:endParaRPr>
          </a:p>
        </p:txBody>
      </p:sp>
      <p:sp>
        <p:nvSpPr>
          <p:cNvPr id="11" name="Text Box 2"/>
          <p:cNvSpPr txBox="1">
            <a:spLocks noChangeArrowheads="1"/>
          </p:cNvSpPr>
          <p:nvPr/>
        </p:nvSpPr>
        <p:spPr bwMode="auto">
          <a:xfrm>
            <a:off x="1198323" y="656934"/>
            <a:ext cx="2657292" cy="584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spcBef>
                <a:spcPct val="50000"/>
              </a:spcBef>
            </a:pPr>
            <a:r>
              <a:rPr lang="zh-CN" altLang="en-US" sz="3200" b="1" dirty="0">
                <a:latin typeface="微软雅黑" panose="020B0503020204020204" charset="-122"/>
                <a:ea typeface="微软雅黑" panose="020B0503020204020204" charset="-122"/>
              </a:rPr>
              <a:t>二、旋转曲面</a:t>
            </a:r>
            <a:endParaRPr lang="zh-CN" altLang="en-US" sz="3200" b="1" dirty="0">
              <a:latin typeface="微软雅黑" panose="020B0503020204020204" charset="-122"/>
              <a:ea typeface="微软雅黑" panose="020B0503020204020204" charset="-122"/>
            </a:endParaRPr>
          </a:p>
        </p:txBody>
      </p:sp>
      <p:sp>
        <p:nvSpPr>
          <p:cNvPr id="12" name="Text Box 18"/>
          <p:cNvSpPr txBox="1">
            <a:spLocks noChangeArrowheads="1"/>
          </p:cNvSpPr>
          <p:nvPr/>
        </p:nvSpPr>
        <p:spPr bwMode="auto">
          <a:xfrm>
            <a:off x="2683558" y="1878025"/>
            <a:ext cx="3090530" cy="22535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lnSpc>
                <a:spcPct val="130000"/>
              </a:lnSpc>
              <a:spcBef>
                <a:spcPct val="50000"/>
              </a:spcBef>
            </a:pPr>
            <a:r>
              <a:rPr lang="zh-CN" altLang="en-US" sz="2800" dirty="0">
                <a:latin typeface="黑体" panose="02010609060101010101" pitchFamily="49" charset="-122"/>
                <a:ea typeface="黑体" panose="02010609060101010101" pitchFamily="49" charset="-122"/>
              </a:rPr>
              <a:t>以一条平面曲线绕其平面上的一条直线旋转一周所成的曲面称为</a:t>
            </a:r>
            <a:r>
              <a:rPr lang="zh-CN" altLang="en-US" sz="2800" dirty="0">
                <a:solidFill>
                  <a:srgbClr val="04926A"/>
                </a:solidFill>
                <a:latin typeface="黑体" panose="02010609060101010101" pitchFamily="49" charset="-122"/>
                <a:ea typeface="黑体" panose="02010609060101010101" pitchFamily="49" charset="-122"/>
              </a:rPr>
              <a:t>旋转曲面</a:t>
            </a:r>
            <a:r>
              <a:rPr lang="en-US" altLang="zh-CN" sz="2800" dirty="0">
                <a:solidFill>
                  <a:srgbClr val="04926A"/>
                </a:solidFill>
                <a:latin typeface="黑体" panose="02010609060101010101" pitchFamily="49" charset="-122"/>
                <a:ea typeface="黑体" panose="02010609060101010101" pitchFamily="49" charset="-122"/>
              </a:rPr>
              <a:t>.</a:t>
            </a:r>
            <a:endParaRPr lang="en-US" altLang="zh-CN" sz="2800" dirty="0">
              <a:solidFill>
                <a:srgbClr val="04926A"/>
              </a:solidFill>
              <a:latin typeface="黑体" panose="02010609060101010101" pitchFamily="49" charset="-122"/>
              <a:ea typeface="黑体" panose="02010609060101010101" pitchFamily="49" charset="-122"/>
            </a:endParaRPr>
          </a:p>
        </p:txBody>
      </p:sp>
      <p:sp>
        <p:nvSpPr>
          <p:cNvPr id="13" name="文本框 12"/>
          <p:cNvSpPr txBox="1"/>
          <p:nvPr/>
        </p:nvSpPr>
        <p:spPr bwMode="auto">
          <a:xfrm>
            <a:off x="2683936" y="4336717"/>
            <a:ext cx="3090152" cy="11331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nSpc>
                <a:spcPct val="130000"/>
              </a:lnSpc>
            </a:pPr>
            <a:r>
              <a:rPr lang="zh-CN" altLang="en-US" sz="2800" dirty="0">
                <a:latin typeface="黑体" panose="02010609060101010101" pitchFamily="49" charset="-122"/>
                <a:ea typeface="黑体" panose="02010609060101010101" pitchFamily="49" charset="-122"/>
              </a:rPr>
              <a:t>这条定直线叫旋转</a:t>
            </a:r>
            <a:endParaRPr lang="en-US" altLang="zh-CN" sz="2800" dirty="0">
              <a:latin typeface="黑体" panose="02010609060101010101" pitchFamily="49" charset="-122"/>
              <a:ea typeface="黑体" panose="02010609060101010101" pitchFamily="49" charset="-122"/>
            </a:endParaRPr>
          </a:p>
          <a:p>
            <a:pPr>
              <a:lnSpc>
                <a:spcPct val="130000"/>
              </a:lnSpc>
            </a:pPr>
            <a:r>
              <a:rPr lang="zh-CN" altLang="en-US" sz="2800" dirty="0">
                <a:latin typeface="黑体" panose="02010609060101010101" pitchFamily="49" charset="-122"/>
                <a:ea typeface="黑体" panose="02010609060101010101" pitchFamily="49" charset="-122"/>
              </a:rPr>
              <a:t>曲面的</a:t>
            </a:r>
            <a:r>
              <a:rPr lang="zh-CN" altLang="en-US" sz="2800" dirty="0">
                <a:solidFill>
                  <a:srgbClr val="04926A"/>
                </a:solidFill>
                <a:latin typeface="黑体" panose="02010609060101010101" pitchFamily="49" charset="-122"/>
                <a:ea typeface="黑体" panose="02010609060101010101" pitchFamily="49" charset="-122"/>
              </a:rPr>
              <a:t>轴</a:t>
            </a:r>
            <a:r>
              <a:rPr lang="en-US" altLang="zh-CN" sz="2800" dirty="0">
                <a:solidFill>
                  <a:srgbClr val="04926A"/>
                </a:solidFill>
                <a:latin typeface="黑体" panose="02010609060101010101" pitchFamily="49" charset="-122"/>
                <a:ea typeface="黑体" panose="02010609060101010101" pitchFamily="49" charset="-122"/>
              </a:rPr>
              <a:t>.</a:t>
            </a:r>
            <a:endParaRPr lang="zh-CN" altLang="en-US" sz="2800" dirty="0">
              <a:solidFill>
                <a:srgbClr val="04926A"/>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47700" y="1959584"/>
            <a:ext cx="3810000" cy="3724275"/>
          </a:xfrm>
          <a:prstGeom prst="rect">
            <a:avLst/>
          </a:prstGeom>
          <a:noFill/>
          <a:ln w="31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grpSp>
        <p:nvGrpSpPr>
          <p:cNvPr id="48132" name="Group 4"/>
          <p:cNvGrpSpPr/>
          <p:nvPr/>
        </p:nvGrpSpPr>
        <p:grpSpPr bwMode="auto">
          <a:xfrm>
            <a:off x="6252450" y="1764321"/>
            <a:ext cx="4210050" cy="3886200"/>
            <a:chOff x="2160" y="912"/>
            <a:chExt cx="2652" cy="2448"/>
          </a:xfrm>
        </p:grpSpPr>
        <p:sp>
          <p:nvSpPr>
            <p:cNvPr id="48133" name="Rectangle 5"/>
            <p:cNvSpPr>
              <a:spLocks noChangeArrowheads="1"/>
            </p:cNvSpPr>
            <p:nvPr/>
          </p:nvSpPr>
          <p:spPr bwMode="auto">
            <a:xfrm>
              <a:off x="2160" y="912"/>
              <a:ext cx="229" cy="2436"/>
            </a:xfrm>
            <a:prstGeom prst="rect">
              <a:avLst/>
            </a:prstGeom>
            <a:solidFill>
              <a:srgbClr val="04926A"/>
            </a:solidFill>
            <a:ln w="9525">
              <a:solidFill>
                <a:srgbClr val="04926A"/>
              </a:solidFill>
              <a:miter lim="800000"/>
            </a:ln>
          </p:spPr>
          <p:txBody>
            <a:bodyPr wrap="none" anchor="ctr"/>
            <a:lstStyle/>
            <a:p>
              <a:endParaRPr lang="zh-CN" altLang="en-US"/>
            </a:p>
          </p:txBody>
        </p:sp>
        <p:sp>
          <p:nvSpPr>
            <p:cNvPr id="48134" name="Rectangle 6"/>
            <p:cNvSpPr>
              <a:spLocks noChangeArrowheads="1"/>
            </p:cNvSpPr>
            <p:nvPr/>
          </p:nvSpPr>
          <p:spPr bwMode="auto">
            <a:xfrm>
              <a:off x="4572" y="912"/>
              <a:ext cx="240" cy="2436"/>
            </a:xfrm>
            <a:prstGeom prst="rect">
              <a:avLst/>
            </a:prstGeom>
            <a:solidFill>
              <a:srgbClr val="04926A"/>
            </a:solidFill>
            <a:ln w="9525">
              <a:solidFill>
                <a:srgbClr val="04926A"/>
              </a:solidFill>
              <a:miter lim="800000"/>
            </a:ln>
          </p:spPr>
          <p:txBody>
            <a:bodyPr wrap="none" anchor="ctr"/>
            <a:lstStyle/>
            <a:p>
              <a:endParaRPr lang="zh-CN" altLang="en-US"/>
            </a:p>
          </p:txBody>
        </p:sp>
        <p:sp>
          <p:nvSpPr>
            <p:cNvPr id="48135" name="Rectangle 7"/>
            <p:cNvSpPr>
              <a:spLocks noChangeArrowheads="1"/>
            </p:cNvSpPr>
            <p:nvPr/>
          </p:nvSpPr>
          <p:spPr bwMode="auto">
            <a:xfrm>
              <a:off x="2160" y="912"/>
              <a:ext cx="2651" cy="240"/>
            </a:xfrm>
            <a:prstGeom prst="rect">
              <a:avLst/>
            </a:prstGeom>
            <a:solidFill>
              <a:srgbClr val="04926A"/>
            </a:solidFill>
            <a:ln w="9525">
              <a:solidFill>
                <a:srgbClr val="04926A"/>
              </a:solidFill>
              <a:miter lim="800000"/>
            </a:ln>
          </p:spPr>
          <p:txBody>
            <a:bodyPr wrap="none" anchor="ctr"/>
            <a:lstStyle/>
            <a:p>
              <a:endParaRPr lang="zh-CN" altLang="en-US"/>
            </a:p>
          </p:txBody>
        </p:sp>
        <p:sp>
          <p:nvSpPr>
            <p:cNvPr id="48136" name="Rectangle 8"/>
            <p:cNvSpPr>
              <a:spLocks noChangeArrowheads="1"/>
            </p:cNvSpPr>
            <p:nvPr/>
          </p:nvSpPr>
          <p:spPr bwMode="auto">
            <a:xfrm>
              <a:off x="2160" y="3120"/>
              <a:ext cx="2651" cy="240"/>
            </a:xfrm>
            <a:prstGeom prst="rect">
              <a:avLst/>
            </a:prstGeom>
            <a:solidFill>
              <a:srgbClr val="04926A"/>
            </a:solidFill>
            <a:ln w="9525">
              <a:solidFill>
                <a:srgbClr val="04926A"/>
              </a:solidFill>
              <a:miter lim="800000"/>
            </a:ln>
          </p:spPr>
          <p:txBody>
            <a:bodyPr wrap="none" anchor="ctr"/>
            <a:lstStyle/>
            <a:p>
              <a:endParaRPr lang="zh-CN" altLang="en-US"/>
            </a:p>
          </p:txBody>
        </p:sp>
        <p:sp>
          <p:nvSpPr>
            <p:cNvPr id="48137" name="Rectangle 9"/>
            <p:cNvSpPr>
              <a:spLocks noChangeArrowheads="1"/>
            </p:cNvSpPr>
            <p:nvPr/>
          </p:nvSpPr>
          <p:spPr bwMode="auto">
            <a:xfrm>
              <a:off x="2400" y="1152"/>
              <a:ext cx="2160" cy="1968"/>
            </a:xfrm>
            <a:prstGeom prst="rect">
              <a:avLst/>
            </a:prstGeom>
            <a:noFill/>
            <a:ln w="3175">
              <a:solidFill>
                <a:schemeClr val="accent2"/>
              </a:solidFill>
              <a:miter lim="800000"/>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sp>
        <p:nvSpPr>
          <p:cNvPr id="48148" name="Line 20"/>
          <p:cNvSpPr>
            <a:spLocks noChangeShapeType="1"/>
          </p:cNvSpPr>
          <p:nvPr/>
        </p:nvSpPr>
        <p:spPr bwMode="auto">
          <a:xfrm>
            <a:off x="8347950" y="2678720"/>
            <a:ext cx="0" cy="1905000"/>
          </a:xfrm>
          <a:prstGeom prst="line">
            <a:avLst/>
          </a:prstGeom>
          <a:noFill/>
          <a:ln w="57150">
            <a:solidFill>
              <a:srgbClr val="04926A"/>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Rectangle 1"/>
          <p:cNvSpPr/>
          <p:nvPr/>
        </p:nvSpPr>
        <p:spPr>
          <a:xfrm>
            <a:off x="2052248" y="1736232"/>
            <a:ext cx="3950479" cy="3934634"/>
          </a:xfrm>
          <a:prstGeom prst="rect">
            <a:avLst/>
          </a:prstGeom>
          <a:solidFill>
            <a:srgbClr val="04926A">
              <a:alpha val="2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9" name="PA-102231"/>
          <p:cNvSpPr/>
          <p:nvPr>
            <p:custDataLst>
              <p:tags r:id="rId2"/>
            </p:custDataLst>
          </p:nvPr>
        </p:nvSpPr>
        <p:spPr>
          <a:xfrm>
            <a:off x="1597933" y="3244222"/>
            <a:ext cx="930521" cy="900000"/>
          </a:xfrm>
          <a:prstGeom prst="rect">
            <a:avLst/>
          </a:prstGeom>
          <a:solidFill>
            <a:schemeClr val="bg1"/>
          </a:solidFill>
          <a:ln w="19050">
            <a:gradFill>
              <a:gsLst>
                <a:gs pos="5000">
                  <a:srgbClr val="17A45E"/>
                </a:gs>
                <a:gs pos="56000">
                  <a:srgbClr val="039267"/>
                </a:gs>
                <a:gs pos="100000">
                  <a:srgbClr val="068983"/>
                </a:gs>
              </a:gsLst>
              <a:lin ang="10800000" scaled="0"/>
            </a:gradFill>
          </a:ln>
          <a:effectLst>
            <a:outerShdw blurRad="203200" dist="63500" dir="3000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n>
                <a:solidFill>
                  <a:schemeClr val="bg1">
                    <a:lumMod val="95000"/>
                  </a:schemeClr>
                </a:solidFill>
              </a:ln>
              <a:cs typeface="+mn-ea"/>
              <a:sym typeface="+mn-lt"/>
            </a:endParaRPr>
          </a:p>
        </p:txBody>
      </p:sp>
      <p:sp>
        <p:nvSpPr>
          <p:cNvPr id="10" name="Rectangle 2"/>
          <p:cNvSpPr txBox="1">
            <a:spLocks noChangeArrowheads="1"/>
          </p:cNvSpPr>
          <p:nvPr/>
        </p:nvSpPr>
        <p:spPr>
          <a:xfrm>
            <a:off x="1593150" y="3443868"/>
            <a:ext cx="933819" cy="526262"/>
          </a:xfrm>
          <a:noFill/>
          <a:ln>
            <a:noFill/>
          </a:ln>
        </p:spPr>
        <p:txBody>
          <a:bodyPr>
            <a:no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pPr>
              <a:lnSpc>
                <a:spcPct val="100000"/>
              </a:lnSpc>
            </a:pPr>
            <a:r>
              <a:rPr kumimoji="1" lang="zh-CN" altLang="en-US" sz="2800" dirty="0">
                <a:solidFill>
                  <a:srgbClr val="04926A"/>
                </a:solidFill>
                <a:latin typeface="微软雅黑" panose="020B0503020204020204" charset="-122"/>
                <a:ea typeface="微软雅黑" panose="020B0503020204020204" charset="-122"/>
                <a:cs typeface="+mn-cs"/>
              </a:rPr>
              <a:t>定义</a:t>
            </a:r>
            <a:endParaRPr kumimoji="1" lang="en-US" altLang="zh-CN" sz="2800" dirty="0">
              <a:solidFill>
                <a:srgbClr val="04926A"/>
              </a:solidFill>
              <a:latin typeface="微软雅黑" panose="020B0503020204020204" charset="-122"/>
              <a:ea typeface="微软雅黑" panose="020B0503020204020204" charset="-122"/>
              <a:cs typeface="+mn-cs"/>
            </a:endParaRPr>
          </a:p>
        </p:txBody>
      </p:sp>
      <p:sp>
        <p:nvSpPr>
          <p:cNvPr id="11" name="Text Box 2"/>
          <p:cNvSpPr txBox="1">
            <a:spLocks noChangeArrowheads="1"/>
          </p:cNvSpPr>
          <p:nvPr/>
        </p:nvSpPr>
        <p:spPr bwMode="auto">
          <a:xfrm>
            <a:off x="1198323" y="656934"/>
            <a:ext cx="2657292" cy="584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spcBef>
                <a:spcPct val="50000"/>
              </a:spcBef>
            </a:pPr>
            <a:r>
              <a:rPr lang="zh-CN" altLang="en-US" sz="3200" b="1" dirty="0">
                <a:latin typeface="微软雅黑" panose="020B0503020204020204" charset="-122"/>
                <a:ea typeface="微软雅黑" panose="020B0503020204020204" charset="-122"/>
              </a:rPr>
              <a:t>二、旋转曲面</a:t>
            </a:r>
            <a:endParaRPr lang="zh-CN" altLang="en-US" sz="3200" b="1" dirty="0">
              <a:latin typeface="微软雅黑" panose="020B0503020204020204" charset="-122"/>
              <a:ea typeface="微软雅黑" panose="020B0503020204020204" charset="-122"/>
            </a:endParaRPr>
          </a:p>
        </p:txBody>
      </p:sp>
      <p:sp>
        <p:nvSpPr>
          <p:cNvPr id="12" name="Text Box 18"/>
          <p:cNvSpPr txBox="1">
            <a:spLocks noChangeArrowheads="1"/>
          </p:cNvSpPr>
          <p:nvPr/>
        </p:nvSpPr>
        <p:spPr bwMode="auto">
          <a:xfrm>
            <a:off x="2683558" y="1878025"/>
            <a:ext cx="3090530" cy="22535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lnSpc>
                <a:spcPct val="130000"/>
              </a:lnSpc>
              <a:spcBef>
                <a:spcPct val="50000"/>
              </a:spcBef>
            </a:pPr>
            <a:r>
              <a:rPr lang="zh-CN" altLang="en-US" sz="2800" dirty="0">
                <a:latin typeface="黑体" panose="02010609060101010101" pitchFamily="49" charset="-122"/>
                <a:ea typeface="黑体" panose="02010609060101010101" pitchFamily="49" charset="-122"/>
              </a:rPr>
              <a:t>以一条平面曲线绕其平面上的一条直线旋转一周所成的曲面称为</a:t>
            </a:r>
            <a:r>
              <a:rPr lang="zh-CN" altLang="en-US" sz="2800" dirty="0">
                <a:solidFill>
                  <a:srgbClr val="04926A"/>
                </a:solidFill>
                <a:latin typeface="黑体" panose="02010609060101010101" pitchFamily="49" charset="-122"/>
                <a:ea typeface="黑体" panose="02010609060101010101" pitchFamily="49" charset="-122"/>
              </a:rPr>
              <a:t>旋转曲面</a:t>
            </a:r>
            <a:r>
              <a:rPr lang="en-US" altLang="zh-CN" sz="2800" dirty="0">
                <a:solidFill>
                  <a:srgbClr val="04926A"/>
                </a:solidFill>
                <a:latin typeface="黑体" panose="02010609060101010101" pitchFamily="49" charset="-122"/>
                <a:ea typeface="黑体" panose="02010609060101010101" pitchFamily="49" charset="-122"/>
              </a:rPr>
              <a:t>.</a:t>
            </a:r>
            <a:endParaRPr lang="en-US" altLang="zh-CN" sz="2800" dirty="0">
              <a:solidFill>
                <a:srgbClr val="04926A"/>
              </a:solidFill>
              <a:latin typeface="黑体" panose="02010609060101010101" pitchFamily="49" charset="-122"/>
              <a:ea typeface="黑体" panose="02010609060101010101" pitchFamily="49" charset="-122"/>
            </a:endParaRPr>
          </a:p>
        </p:txBody>
      </p:sp>
      <p:sp>
        <p:nvSpPr>
          <p:cNvPr id="13" name="文本框 12"/>
          <p:cNvSpPr txBox="1"/>
          <p:nvPr/>
        </p:nvSpPr>
        <p:spPr bwMode="auto">
          <a:xfrm>
            <a:off x="2683936" y="4336717"/>
            <a:ext cx="3090152" cy="11331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nSpc>
                <a:spcPct val="130000"/>
              </a:lnSpc>
            </a:pPr>
            <a:r>
              <a:rPr lang="zh-CN" altLang="en-US" sz="2800" dirty="0">
                <a:latin typeface="黑体" panose="02010609060101010101" pitchFamily="49" charset="-122"/>
                <a:ea typeface="黑体" panose="02010609060101010101" pitchFamily="49" charset="-122"/>
              </a:rPr>
              <a:t>这条定直线叫旋转</a:t>
            </a:r>
            <a:endParaRPr lang="en-US" altLang="zh-CN" sz="2800" dirty="0">
              <a:latin typeface="黑体" panose="02010609060101010101" pitchFamily="49" charset="-122"/>
              <a:ea typeface="黑体" panose="02010609060101010101" pitchFamily="49" charset="-122"/>
            </a:endParaRPr>
          </a:p>
          <a:p>
            <a:pPr>
              <a:lnSpc>
                <a:spcPct val="130000"/>
              </a:lnSpc>
            </a:pPr>
            <a:r>
              <a:rPr lang="zh-CN" altLang="en-US" sz="2800" dirty="0">
                <a:latin typeface="黑体" panose="02010609060101010101" pitchFamily="49" charset="-122"/>
                <a:ea typeface="黑体" panose="02010609060101010101" pitchFamily="49" charset="-122"/>
              </a:rPr>
              <a:t>曲面的</a:t>
            </a:r>
            <a:r>
              <a:rPr lang="zh-CN" altLang="en-US" sz="2800" dirty="0">
                <a:solidFill>
                  <a:srgbClr val="04926A"/>
                </a:solidFill>
                <a:latin typeface="黑体" panose="02010609060101010101" pitchFamily="49" charset="-122"/>
                <a:ea typeface="黑体" panose="02010609060101010101" pitchFamily="49" charset="-122"/>
              </a:rPr>
              <a:t>轴</a:t>
            </a:r>
            <a:r>
              <a:rPr lang="en-US" altLang="zh-CN" sz="2800" dirty="0">
                <a:solidFill>
                  <a:srgbClr val="04926A"/>
                </a:solidFill>
                <a:latin typeface="黑体" panose="02010609060101010101" pitchFamily="49" charset="-122"/>
                <a:ea typeface="黑体" panose="02010609060101010101" pitchFamily="49" charset="-122"/>
              </a:rPr>
              <a:t>.</a:t>
            </a:r>
            <a:endParaRPr lang="zh-CN" altLang="en-US" sz="2800" dirty="0">
              <a:solidFill>
                <a:srgbClr val="04926A"/>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47699" y="1945516"/>
            <a:ext cx="3810000" cy="3724275"/>
          </a:xfrm>
          <a:prstGeom prst="rect">
            <a:avLst/>
          </a:prstGeom>
          <a:noFill/>
          <a:ln w="31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grpSp>
        <p:nvGrpSpPr>
          <p:cNvPr id="49156" name="Group 4"/>
          <p:cNvGrpSpPr/>
          <p:nvPr/>
        </p:nvGrpSpPr>
        <p:grpSpPr bwMode="auto">
          <a:xfrm>
            <a:off x="6252449" y="1750253"/>
            <a:ext cx="4210050" cy="3886200"/>
            <a:chOff x="2160" y="912"/>
            <a:chExt cx="2652" cy="2448"/>
          </a:xfrm>
        </p:grpSpPr>
        <p:sp>
          <p:nvSpPr>
            <p:cNvPr id="49157" name="Rectangle 5"/>
            <p:cNvSpPr>
              <a:spLocks noChangeArrowheads="1"/>
            </p:cNvSpPr>
            <p:nvPr/>
          </p:nvSpPr>
          <p:spPr bwMode="auto">
            <a:xfrm>
              <a:off x="2160" y="912"/>
              <a:ext cx="229" cy="2436"/>
            </a:xfrm>
            <a:prstGeom prst="rect">
              <a:avLst/>
            </a:prstGeom>
            <a:solidFill>
              <a:srgbClr val="04926A"/>
            </a:solidFill>
            <a:ln w="9525">
              <a:solidFill>
                <a:srgbClr val="04926A"/>
              </a:solidFill>
              <a:miter lim="800000"/>
            </a:ln>
          </p:spPr>
          <p:txBody>
            <a:bodyPr wrap="none" anchor="ctr"/>
            <a:lstStyle/>
            <a:p>
              <a:endParaRPr lang="zh-CN" altLang="en-US"/>
            </a:p>
          </p:txBody>
        </p:sp>
        <p:sp>
          <p:nvSpPr>
            <p:cNvPr id="49158" name="Rectangle 6"/>
            <p:cNvSpPr>
              <a:spLocks noChangeArrowheads="1"/>
            </p:cNvSpPr>
            <p:nvPr/>
          </p:nvSpPr>
          <p:spPr bwMode="auto">
            <a:xfrm>
              <a:off x="4572" y="912"/>
              <a:ext cx="240" cy="2436"/>
            </a:xfrm>
            <a:prstGeom prst="rect">
              <a:avLst/>
            </a:prstGeom>
            <a:solidFill>
              <a:srgbClr val="04926A"/>
            </a:solidFill>
            <a:ln w="9525">
              <a:solidFill>
                <a:srgbClr val="04926A"/>
              </a:solidFill>
              <a:miter lim="800000"/>
            </a:ln>
          </p:spPr>
          <p:txBody>
            <a:bodyPr wrap="none" anchor="ctr"/>
            <a:lstStyle/>
            <a:p>
              <a:endParaRPr lang="zh-CN" altLang="en-US"/>
            </a:p>
          </p:txBody>
        </p:sp>
        <p:sp>
          <p:nvSpPr>
            <p:cNvPr id="49159" name="Rectangle 7"/>
            <p:cNvSpPr>
              <a:spLocks noChangeArrowheads="1"/>
            </p:cNvSpPr>
            <p:nvPr/>
          </p:nvSpPr>
          <p:spPr bwMode="auto">
            <a:xfrm>
              <a:off x="2160" y="912"/>
              <a:ext cx="2651" cy="240"/>
            </a:xfrm>
            <a:prstGeom prst="rect">
              <a:avLst/>
            </a:prstGeom>
            <a:solidFill>
              <a:srgbClr val="04926A"/>
            </a:solidFill>
            <a:ln w="9525">
              <a:solidFill>
                <a:srgbClr val="04926A"/>
              </a:solidFill>
              <a:miter lim="800000"/>
            </a:ln>
          </p:spPr>
          <p:txBody>
            <a:bodyPr wrap="none" anchor="ctr"/>
            <a:lstStyle/>
            <a:p>
              <a:endParaRPr lang="zh-CN" altLang="en-US"/>
            </a:p>
          </p:txBody>
        </p:sp>
        <p:sp>
          <p:nvSpPr>
            <p:cNvPr id="49160" name="Rectangle 8"/>
            <p:cNvSpPr>
              <a:spLocks noChangeArrowheads="1"/>
            </p:cNvSpPr>
            <p:nvPr/>
          </p:nvSpPr>
          <p:spPr bwMode="auto">
            <a:xfrm>
              <a:off x="2160" y="3120"/>
              <a:ext cx="2651" cy="240"/>
            </a:xfrm>
            <a:prstGeom prst="rect">
              <a:avLst/>
            </a:prstGeom>
            <a:solidFill>
              <a:srgbClr val="04926A"/>
            </a:solidFill>
            <a:ln w="9525">
              <a:solidFill>
                <a:srgbClr val="04926A"/>
              </a:solidFill>
              <a:miter lim="800000"/>
            </a:ln>
          </p:spPr>
          <p:txBody>
            <a:bodyPr wrap="none" anchor="ctr"/>
            <a:lstStyle/>
            <a:p>
              <a:endParaRPr lang="zh-CN" altLang="en-US"/>
            </a:p>
          </p:txBody>
        </p:sp>
        <p:sp>
          <p:nvSpPr>
            <p:cNvPr id="49161" name="Rectangle 9"/>
            <p:cNvSpPr>
              <a:spLocks noChangeArrowheads="1"/>
            </p:cNvSpPr>
            <p:nvPr/>
          </p:nvSpPr>
          <p:spPr bwMode="auto">
            <a:xfrm>
              <a:off x="2400" y="1152"/>
              <a:ext cx="2160" cy="1968"/>
            </a:xfrm>
            <a:prstGeom prst="rect">
              <a:avLst/>
            </a:prstGeom>
            <a:noFill/>
            <a:ln w="3175">
              <a:solidFill>
                <a:schemeClr val="accent2"/>
              </a:solidFill>
              <a:miter lim="800000"/>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sp>
        <p:nvSpPr>
          <p:cNvPr id="49172" name="Line 20"/>
          <p:cNvSpPr>
            <a:spLocks noChangeShapeType="1"/>
          </p:cNvSpPr>
          <p:nvPr/>
        </p:nvSpPr>
        <p:spPr bwMode="auto">
          <a:xfrm>
            <a:off x="8347949" y="2664652"/>
            <a:ext cx="0" cy="1905000"/>
          </a:xfrm>
          <a:prstGeom prst="line">
            <a:avLst/>
          </a:prstGeom>
          <a:noFill/>
          <a:ln w="57150">
            <a:solidFill>
              <a:srgbClr val="04926A"/>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Rectangle 1"/>
          <p:cNvSpPr/>
          <p:nvPr/>
        </p:nvSpPr>
        <p:spPr>
          <a:xfrm>
            <a:off x="2052248" y="1736232"/>
            <a:ext cx="3950479" cy="3934634"/>
          </a:xfrm>
          <a:prstGeom prst="rect">
            <a:avLst/>
          </a:prstGeom>
          <a:solidFill>
            <a:srgbClr val="04926A">
              <a:alpha val="2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9" name="PA-102231"/>
          <p:cNvSpPr/>
          <p:nvPr>
            <p:custDataLst>
              <p:tags r:id="rId2"/>
            </p:custDataLst>
          </p:nvPr>
        </p:nvSpPr>
        <p:spPr>
          <a:xfrm>
            <a:off x="1597933" y="3244222"/>
            <a:ext cx="930521" cy="900000"/>
          </a:xfrm>
          <a:prstGeom prst="rect">
            <a:avLst/>
          </a:prstGeom>
          <a:solidFill>
            <a:schemeClr val="bg1"/>
          </a:solidFill>
          <a:ln w="19050">
            <a:gradFill>
              <a:gsLst>
                <a:gs pos="5000">
                  <a:srgbClr val="17A45E"/>
                </a:gs>
                <a:gs pos="56000">
                  <a:srgbClr val="039267"/>
                </a:gs>
                <a:gs pos="100000">
                  <a:srgbClr val="068983"/>
                </a:gs>
              </a:gsLst>
              <a:lin ang="10800000" scaled="0"/>
            </a:gradFill>
          </a:ln>
          <a:effectLst>
            <a:outerShdw blurRad="203200" dist="63500" dir="3000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n>
                <a:solidFill>
                  <a:schemeClr val="bg1">
                    <a:lumMod val="95000"/>
                  </a:schemeClr>
                </a:solidFill>
              </a:ln>
              <a:cs typeface="+mn-ea"/>
              <a:sym typeface="+mn-lt"/>
            </a:endParaRPr>
          </a:p>
        </p:txBody>
      </p:sp>
      <p:sp>
        <p:nvSpPr>
          <p:cNvPr id="10" name="Rectangle 2"/>
          <p:cNvSpPr txBox="1">
            <a:spLocks noChangeArrowheads="1"/>
          </p:cNvSpPr>
          <p:nvPr/>
        </p:nvSpPr>
        <p:spPr>
          <a:xfrm>
            <a:off x="1593150" y="3443868"/>
            <a:ext cx="933819" cy="526262"/>
          </a:xfrm>
          <a:noFill/>
          <a:ln>
            <a:noFill/>
          </a:ln>
        </p:spPr>
        <p:txBody>
          <a:bodyPr>
            <a:no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pPr>
              <a:lnSpc>
                <a:spcPct val="100000"/>
              </a:lnSpc>
            </a:pPr>
            <a:r>
              <a:rPr kumimoji="1" lang="zh-CN" altLang="en-US" sz="2800" dirty="0">
                <a:solidFill>
                  <a:srgbClr val="04926A"/>
                </a:solidFill>
                <a:latin typeface="微软雅黑" panose="020B0503020204020204" charset="-122"/>
                <a:ea typeface="微软雅黑" panose="020B0503020204020204" charset="-122"/>
                <a:cs typeface="+mn-cs"/>
              </a:rPr>
              <a:t>定义</a:t>
            </a:r>
            <a:endParaRPr kumimoji="1" lang="en-US" altLang="zh-CN" sz="2800" dirty="0">
              <a:solidFill>
                <a:srgbClr val="04926A"/>
              </a:solidFill>
              <a:latin typeface="微软雅黑" panose="020B0503020204020204" charset="-122"/>
              <a:ea typeface="微软雅黑" panose="020B0503020204020204" charset="-122"/>
              <a:cs typeface="+mn-cs"/>
            </a:endParaRPr>
          </a:p>
        </p:txBody>
      </p:sp>
      <p:sp>
        <p:nvSpPr>
          <p:cNvPr id="11" name="Text Box 2"/>
          <p:cNvSpPr txBox="1">
            <a:spLocks noChangeArrowheads="1"/>
          </p:cNvSpPr>
          <p:nvPr/>
        </p:nvSpPr>
        <p:spPr bwMode="auto">
          <a:xfrm>
            <a:off x="1198323" y="656934"/>
            <a:ext cx="2657292" cy="584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spcBef>
                <a:spcPct val="50000"/>
              </a:spcBef>
            </a:pPr>
            <a:r>
              <a:rPr lang="zh-CN" altLang="en-US" sz="3200" b="1" dirty="0">
                <a:latin typeface="微软雅黑" panose="020B0503020204020204" charset="-122"/>
                <a:ea typeface="微软雅黑" panose="020B0503020204020204" charset="-122"/>
              </a:rPr>
              <a:t>二、旋转曲面</a:t>
            </a:r>
            <a:endParaRPr lang="zh-CN" altLang="en-US" sz="3200" b="1" dirty="0">
              <a:latin typeface="微软雅黑" panose="020B0503020204020204" charset="-122"/>
              <a:ea typeface="微软雅黑" panose="020B0503020204020204" charset="-122"/>
            </a:endParaRPr>
          </a:p>
        </p:txBody>
      </p:sp>
      <p:sp>
        <p:nvSpPr>
          <p:cNvPr id="12" name="Text Box 18"/>
          <p:cNvSpPr txBox="1">
            <a:spLocks noChangeArrowheads="1"/>
          </p:cNvSpPr>
          <p:nvPr/>
        </p:nvSpPr>
        <p:spPr bwMode="auto">
          <a:xfrm>
            <a:off x="2683558" y="1878025"/>
            <a:ext cx="3090530" cy="22535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lnSpc>
                <a:spcPct val="130000"/>
              </a:lnSpc>
              <a:spcBef>
                <a:spcPct val="50000"/>
              </a:spcBef>
            </a:pPr>
            <a:r>
              <a:rPr lang="zh-CN" altLang="en-US" sz="2800" dirty="0">
                <a:latin typeface="黑体" panose="02010609060101010101" pitchFamily="49" charset="-122"/>
                <a:ea typeface="黑体" panose="02010609060101010101" pitchFamily="49" charset="-122"/>
              </a:rPr>
              <a:t>以一条平面曲线绕其平面上的一条直线旋转一周所成的曲面称为</a:t>
            </a:r>
            <a:r>
              <a:rPr lang="zh-CN" altLang="en-US" sz="2800" dirty="0">
                <a:solidFill>
                  <a:srgbClr val="04926A"/>
                </a:solidFill>
                <a:latin typeface="黑体" panose="02010609060101010101" pitchFamily="49" charset="-122"/>
                <a:ea typeface="黑体" panose="02010609060101010101" pitchFamily="49" charset="-122"/>
              </a:rPr>
              <a:t>旋转曲面</a:t>
            </a:r>
            <a:r>
              <a:rPr lang="en-US" altLang="zh-CN" sz="2800" dirty="0">
                <a:solidFill>
                  <a:srgbClr val="04926A"/>
                </a:solidFill>
                <a:latin typeface="黑体" panose="02010609060101010101" pitchFamily="49" charset="-122"/>
                <a:ea typeface="黑体" panose="02010609060101010101" pitchFamily="49" charset="-122"/>
              </a:rPr>
              <a:t>.</a:t>
            </a:r>
            <a:endParaRPr lang="en-US" altLang="zh-CN" sz="2800" dirty="0">
              <a:solidFill>
                <a:srgbClr val="04926A"/>
              </a:solidFill>
              <a:latin typeface="黑体" panose="02010609060101010101" pitchFamily="49" charset="-122"/>
              <a:ea typeface="黑体" panose="02010609060101010101" pitchFamily="49" charset="-122"/>
            </a:endParaRPr>
          </a:p>
        </p:txBody>
      </p:sp>
      <p:sp>
        <p:nvSpPr>
          <p:cNvPr id="13" name="文本框 12"/>
          <p:cNvSpPr txBox="1"/>
          <p:nvPr/>
        </p:nvSpPr>
        <p:spPr bwMode="auto">
          <a:xfrm>
            <a:off x="2683936" y="4336717"/>
            <a:ext cx="3090152" cy="11331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nSpc>
                <a:spcPct val="130000"/>
              </a:lnSpc>
            </a:pPr>
            <a:r>
              <a:rPr lang="zh-CN" altLang="en-US" sz="2800" dirty="0">
                <a:latin typeface="黑体" panose="02010609060101010101" pitchFamily="49" charset="-122"/>
                <a:ea typeface="黑体" panose="02010609060101010101" pitchFamily="49" charset="-122"/>
              </a:rPr>
              <a:t>这条定直线叫旋转</a:t>
            </a:r>
            <a:endParaRPr lang="en-US" altLang="zh-CN" sz="2800" dirty="0">
              <a:latin typeface="黑体" panose="02010609060101010101" pitchFamily="49" charset="-122"/>
              <a:ea typeface="黑体" panose="02010609060101010101" pitchFamily="49" charset="-122"/>
            </a:endParaRPr>
          </a:p>
          <a:p>
            <a:pPr>
              <a:lnSpc>
                <a:spcPct val="130000"/>
              </a:lnSpc>
            </a:pPr>
            <a:r>
              <a:rPr lang="zh-CN" altLang="en-US" sz="2800" dirty="0">
                <a:latin typeface="黑体" panose="02010609060101010101" pitchFamily="49" charset="-122"/>
                <a:ea typeface="黑体" panose="02010609060101010101" pitchFamily="49" charset="-122"/>
              </a:rPr>
              <a:t>曲面的</a:t>
            </a:r>
            <a:r>
              <a:rPr lang="zh-CN" altLang="en-US" sz="2800" dirty="0">
                <a:solidFill>
                  <a:srgbClr val="04926A"/>
                </a:solidFill>
                <a:latin typeface="黑体" panose="02010609060101010101" pitchFamily="49" charset="-122"/>
                <a:ea typeface="黑体" panose="02010609060101010101" pitchFamily="49" charset="-122"/>
              </a:rPr>
              <a:t>轴</a:t>
            </a:r>
            <a:r>
              <a:rPr lang="en-US" altLang="zh-CN" sz="2800" dirty="0">
                <a:solidFill>
                  <a:srgbClr val="04926A"/>
                </a:solidFill>
                <a:latin typeface="黑体" panose="02010609060101010101" pitchFamily="49" charset="-122"/>
                <a:ea typeface="黑体" panose="02010609060101010101" pitchFamily="49" charset="-122"/>
              </a:rPr>
              <a:t>.</a:t>
            </a:r>
            <a:endParaRPr lang="zh-CN" altLang="en-US" sz="2800" dirty="0">
              <a:solidFill>
                <a:srgbClr val="04926A"/>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47698" y="1959584"/>
            <a:ext cx="3810000" cy="3724275"/>
          </a:xfrm>
          <a:prstGeom prst="rect">
            <a:avLst/>
          </a:prstGeom>
          <a:noFill/>
          <a:ln w="31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grpSp>
        <p:nvGrpSpPr>
          <p:cNvPr id="50180" name="Group 4"/>
          <p:cNvGrpSpPr/>
          <p:nvPr/>
        </p:nvGrpSpPr>
        <p:grpSpPr bwMode="auto">
          <a:xfrm>
            <a:off x="6252448" y="1764321"/>
            <a:ext cx="4210050" cy="3886200"/>
            <a:chOff x="2160" y="912"/>
            <a:chExt cx="2652" cy="2448"/>
          </a:xfrm>
        </p:grpSpPr>
        <p:sp>
          <p:nvSpPr>
            <p:cNvPr id="50181" name="Rectangle 5"/>
            <p:cNvSpPr>
              <a:spLocks noChangeArrowheads="1"/>
            </p:cNvSpPr>
            <p:nvPr/>
          </p:nvSpPr>
          <p:spPr bwMode="auto">
            <a:xfrm>
              <a:off x="2160" y="912"/>
              <a:ext cx="229" cy="2436"/>
            </a:xfrm>
            <a:prstGeom prst="rect">
              <a:avLst/>
            </a:prstGeom>
            <a:solidFill>
              <a:srgbClr val="04926A"/>
            </a:solidFill>
            <a:ln w="9525">
              <a:solidFill>
                <a:srgbClr val="04926A"/>
              </a:solidFill>
              <a:miter lim="800000"/>
            </a:ln>
          </p:spPr>
          <p:txBody>
            <a:bodyPr wrap="none" anchor="ctr"/>
            <a:lstStyle/>
            <a:p>
              <a:endParaRPr lang="zh-CN" altLang="en-US"/>
            </a:p>
          </p:txBody>
        </p:sp>
        <p:sp>
          <p:nvSpPr>
            <p:cNvPr id="50182" name="Rectangle 6"/>
            <p:cNvSpPr>
              <a:spLocks noChangeArrowheads="1"/>
            </p:cNvSpPr>
            <p:nvPr/>
          </p:nvSpPr>
          <p:spPr bwMode="auto">
            <a:xfrm>
              <a:off x="4572" y="912"/>
              <a:ext cx="240" cy="2436"/>
            </a:xfrm>
            <a:prstGeom prst="rect">
              <a:avLst/>
            </a:prstGeom>
            <a:solidFill>
              <a:srgbClr val="04926A"/>
            </a:solidFill>
            <a:ln w="9525">
              <a:solidFill>
                <a:srgbClr val="04926A"/>
              </a:solidFill>
              <a:miter lim="800000"/>
            </a:ln>
          </p:spPr>
          <p:txBody>
            <a:bodyPr wrap="none" anchor="ctr"/>
            <a:lstStyle/>
            <a:p>
              <a:endParaRPr lang="zh-CN" altLang="en-US"/>
            </a:p>
          </p:txBody>
        </p:sp>
        <p:sp>
          <p:nvSpPr>
            <p:cNvPr id="50183" name="Rectangle 7"/>
            <p:cNvSpPr>
              <a:spLocks noChangeArrowheads="1"/>
            </p:cNvSpPr>
            <p:nvPr/>
          </p:nvSpPr>
          <p:spPr bwMode="auto">
            <a:xfrm>
              <a:off x="2160" y="912"/>
              <a:ext cx="2651" cy="240"/>
            </a:xfrm>
            <a:prstGeom prst="rect">
              <a:avLst/>
            </a:prstGeom>
            <a:solidFill>
              <a:srgbClr val="04926A"/>
            </a:solidFill>
            <a:ln w="9525">
              <a:solidFill>
                <a:srgbClr val="04926A"/>
              </a:solidFill>
              <a:miter lim="800000"/>
            </a:ln>
          </p:spPr>
          <p:txBody>
            <a:bodyPr wrap="none" anchor="ctr"/>
            <a:lstStyle/>
            <a:p>
              <a:endParaRPr lang="zh-CN" altLang="en-US"/>
            </a:p>
          </p:txBody>
        </p:sp>
        <p:sp>
          <p:nvSpPr>
            <p:cNvPr id="50184" name="Rectangle 8"/>
            <p:cNvSpPr>
              <a:spLocks noChangeArrowheads="1"/>
            </p:cNvSpPr>
            <p:nvPr/>
          </p:nvSpPr>
          <p:spPr bwMode="auto">
            <a:xfrm>
              <a:off x="2160" y="3120"/>
              <a:ext cx="2651" cy="240"/>
            </a:xfrm>
            <a:prstGeom prst="rect">
              <a:avLst/>
            </a:prstGeom>
            <a:solidFill>
              <a:srgbClr val="04926A"/>
            </a:solidFill>
            <a:ln w="9525">
              <a:solidFill>
                <a:srgbClr val="04926A"/>
              </a:solidFill>
              <a:miter lim="800000"/>
            </a:ln>
          </p:spPr>
          <p:txBody>
            <a:bodyPr wrap="none" anchor="ctr"/>
            <a:lstStyle/>
            <a:p>
              <a:endParaRPr lang="zh-CN" altLang="en-US"/>
            </a:p>
          </p:txBody>
        </p:sp>
        <p:sp>
          <p:nvSpPr>
            <p:cNvPr id="50185" name="Rectangle 9"/>
            <p:cNvSpPr>
              <a:spLocks noChangeArrowheads="1"/>
            </p:cNvSpPr>
            <p:nvPr/>
          </p:nvSpPr>
          <p:spPr bwMode="auto">
            <a:xfrm>
              <a:off x="2400" y="1152"/>
              <a:ext cx="2160" cy="1968"/>
            </a:xfrm>
            <a:prstGeom prst="rect">
              <a:avLst/>
            </a:prstGeom>
            <a:noFill/>
            <a:ln w="3175">
              <a:solidFill>
                <a:schemeClr val="accent2"/>
              </a:solidFill>
              <a:miter lim="800000"/>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sp>
        <p:nvSpPr>
          <p:cNvPr id="50196" name="Line 20"/>
          <p:cNvSpPr>
            <a:spLocks noChangeShapeType="1"/>
          </p:cNvSpPr>
          <p:nvPr/>
        </p:nvSpPr>
        <p:spPr bwMode="auto">
          <a:xfrm>
            <a:off x="8347948" y="2602520"/>
            <a:ext cx="0" cy="1066800"/>
          </a:xfrm>
          <a:prstGeom prst="line">
            <a:avLst/>
          </a:prstGeom>
          <a:noFill/>
          <a:ln w="57150">
            <a:solidFill>
              <a:srgbClr val="04926A"/>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Rectangle 1"/>
          <p:cNvSpPr/>
          <p:nvPr/>
        </p:nvSpPr>
        <p:spPr>
          <a:xfrm>
            <a:off x="2052248" y="1736232"/>
            <a:ext cx="3950479" cy="3934634"/>
          </a:xfrm>
          <a:prstGeom prst="rect">
            <a:avLst/>
          </a:prstGeom>
          <a:solidFill>
            <a:srgbClr val="04926A">
              <a:alpha val="2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9" name="PA-102231"/>
          <p:cNvSpPr/>
          <p:nvPr>
            <p:custDataLst>
              <p:tags r:id="rId2"/>
            </p:custDataLst>
          </p:nvPr>
        </p:nvSpPr>
        <p:spPr>
          <a:xfrm>
            <a:off x="1597933" y="3244222"/>
            <a:ext cx="930521" cy="900000"/>
          </a:xfrm>
          <a:prstGeom prst="rect">
            <a:avLst/>
          </a:prstGeom>
          <a:solidFill>
            <a:schemeClr val="bg1"/>
          </a:solidFill>
          <a:ln w="19050">
            <a:gradFill>
              <a:gsLst>
                <a:gs pos="5000">
                  <a:srgbClr val="17A45E"/>
                </a:gs>
                <a:gs pos="56000">
                  <a:srgbClr val="039267"/>
                </a:gs>
                <a:gs pos="100000">
                  <a:srgbClr val="068983"/>
                </a:gs>
              </a:gsLst>
              <a:lin ang="10800000" scaled="0"/>
            </a:gradFill>
          </a:ln>
          <a:effectLst>
            <a:outerShdw blurRad="203200" dist="63500" dir="3000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n>
                <a:solidFill>
                  <a:schemeClr val="bg1">
                    <a:lumMod val="95000"/>
                  </a:schemeClr>
                </a:solidFill>
              </a:ln>
              <a:cs typeface="+mn-ea"/>
              <a:sym typeface="+mn-lt"/>
            </a:endParaRPr>
          </a:p>
        </p:txBody>
      </p:sp>
      <p:sp>
        <p:nvSpPr>
          <p:cNvPr id="10" name="Rectangle 2"/>
          <p:cNvSpPr txBox="1">
            <a:spLocks noChangeArrowheads="1"/>
          </p:cNvSpPr>
          <p:nvPr/>
        </p:nvSpPr>
        <p:spPr>
          <a:xfrm>
            <a:off x="1593150" y="3443868"/>
            <a:ext cx="933819" cy="526262"/>
          </a:xfrm>
          <a:noFill/>
          <a:ln>
            <a:noFill/>
          </a:ln>
        </p:spPr>
        <p:txBody>
          <a:bodyPr>
            <a:no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pPr>
              <a:lnSpc>
                <a:spcPct val="100000"/>
              </a:lnSpc>
            </a:pPr>
            <a:r>
              <a:rPr kumimoji="1" lang="zh-CN" altLang="en-US" sz="2800" dirty="0">
                <a:solidFill>
                  <a:srgbClr val="04926A"/>
                </a:solidFill>
                <a:latin typeface="微软雅黑" panose="020B0503020204020204" charset="-122"/>
                <a:ea typeface="微软雅黑" panose="020B0503020204020204" charset="-122"/>
                <a:cs typeface="+mn-cs"/>
              </a:rPr>
              <a:t>定义</a:t>
            </a:r>
            <a:endParaRPr kumimoji="1" lang="en-US" altLang="zh-CN" sz="2800" dirty="0">
              <a:solidFill>
                <a:srgbClr val="04926A"/>
              </a:solidFill>
              <a:latin typeface="微软雅黑" panose="020B0503020204020204" charset="-122"/>
              <a:ea typeface="微软雅黑" panose="020B0503020204020204" charset="-122"/>
              <a:cs typeface="+mn-cs"/>
            </a:endParaRPr>
          </a:p>
        </p:txBody>
      </p:sp>
      <p:sp>
        <p:nvSpPr>
          <p:cNvPr id="11" name="Text Box 2"/>
          <p:cNvSpPr txBox="1">
            <a:spLocks noChangeArrowheads="1"/>
          </p:cNvSpPr>
          <p:nvPr/>
        </p:nvSpPr>
        <p:spPr bwMode="auto">
          <a:xfrm>
            <a:off x="1198323" y="656934"/>
            <a:ext cx="2657292" cy="584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spcBef>
                <a:spcPct val="50000"/>
              </a:spcBef>
            </a:pPr>
            <a:r>
              <a:rPr lang="zh-CN" altLang="en-US" sz="3200" b="1" dirty="0">
                <a:latin typeface="微软雅黑" panose="020B0503020204020204" charset="-122"/>
                <a:ea typeface="微软雅黑" panose="020B0503020204020204" charset="-122"/>
              </a:rPr>
              <a:t>二、旋转曲面</a:t>
            </a:r>
            <a:endParaRPr lang="zh-CN" altLang="en-US" sz="3200" b="1" dirty="0">
              <a:latin typeface="微软雅黑" panose="020B0503020204020204" charset="-122"/>
              <a:ea typeface="微软雅黑" panose="020B0503020204020204" charset="-122"/>
            </a:endParaRPr>
          </a:p>
        </p:txBody>
      </p:sp>
      <p:sp>
        <p:nvSpPr>
          <p:cNvPr id="12" name="Text Box 18"/>
          <p:cNvSpPr txBox="1">
            <a:spLocks noChangeArrowheads="1"/>
          </p:cNvSpPr>
          <p:nvPr/>
        </p:nvSpPr>
        <p:spPr bwMode="auto">
          <a:xfrm>
            <a:off x="2683558" y="1878025"/>
            <a:ext cx="3090530" cy="22535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lnSpc>
                <a:spcPct val="130000"/>
              </a:lnSpc>
              <a:spcBef>
                <a:spcPct val="50000"/>
              </a:spcBef>
            </a:pPr>
            <a:r>
              <a:rPr lang="zh-CN" altLang="en-US" sz="2800" dirty="0">
                <a:latin typeface="黑体" panose="02010609060101010101" pitchFamily="49" charset="-122"/>
                <a:ea typeface="黑体" panose="02010609060101010101" pitchFamily="49" charset="-122"/>
              </a:rPr>
              <a:t>以一条平面曲线绕其平面上的一条直线旋转一周所成的曲面称为</a:t>
            </a:r>
            <a:r>
              <a:rPr lang="zh-CN" altLang="en-US" sz="2800" dirty="0">
                <a:solidFill>
                  <a:srgbClr val="04926A"/>
                </a:solidFill>
                <a:latin typeface="黑体" panose="02010609060101010101" pitchFamily="49" charset="-122"/>
                <a:ea typeface="黑体" panose="02010609060101010101" pitchFamily="49" charset="-122"/>
              </a:rPr>
              <a:t>旋转曲面</a:t>
            </a:r>
            <a:r>
              <a:rPr lang="en-US" altLang="zh-CN" sz="2800" dirty="0">
                <a:solidFill>
                  <a:srgbClr val="04926A"/>
                </a:solidFill>
                <a:latin typeface="黑体" panose="02010609060101010101" pitchFamily="49" charset="-122"/>
                <a:ea typeface="黑体" panose="02010609060101010101" pitchFamily="49" charset="-122"/>
              </a:rPr>
              <a:t>.</a:t>
            </a:r>
            <a:endParaRPr lang="en-US" altLang="zh-CN" sz="2800" dirty="0">
              <a:solidFill>
                <a:srgbClr val="04926A"/>
              </a:solidFill>
              <a:latin typeface="黑体" panose="02010609060101010101" pitchFamily="49" charset="-122"/>
              <a:ea typeface="黑体" panose="02010609060101010101" pitchFamily="49" charset="-122"/>
            </a:endParaRPr>
          </a:p>
        </p:txBody>
      </p:sp>
      <p:sp>
        <p:nvSpPr>
          <p:cNvPr id="13" name="文本框 12"/>
          <p:cNvSpPr txBox="1"/>
          <p:nvPr/>
        </p:nvSpPr>
        <p:spPr bwMode="auto">
          <a:xfrm>
            <a:off x="2683936" y="4336717"/>
            <a:ext cx="3090152" cy="11331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nSpc>
                <a:spcPct val="130000"/>
              </a:lnSpc>
            </a:pPr>
            <a:r>
              <a:rPr lang="zh-CN" altLang="en-US" sz="2800" dirty="0">
                <a:latin typeface="黑体" panose="02010609060101010101" pitchFamily="49" charset="-122"/>
                <a:ea typeface="黑体" panose="02010609060101010101" pitchFamily="49" charset="-122"/>
              </a:rPr>
              <a:t>这条定直线叫旋转</a:t>
            </a:r>
            <a:endParaRPr lang="en-US" altLang="zh-CN" sz="2800" dirty="0">
              <a:latin typeface="黑体" panose="02010609060101010101" pitchFamily="49" charset="-122"/>
              <a:ea typeface="黑体" panose="02010609060101010101" pitchFamily="49" charset="-122"/>
            </a:endParaRPr>
          </a:p>
          <a:p>
            <a:pPr>
              <a:lnSpc>
                <a:spcPct val="130000"/>
              </a:lnSpc>
            </a:pPr>
            <a:r>
              <a:rPr lang="zh-CN" altLang="en-US" sz="2800" dirty="0">
                <a:latin typeface="黑体" panose="02010609060101010101" pitchFamily="49" charset="-122"/>
                <a:ea typeface="黑体" panose="02010609060101010101" pitchFamily="49" charset="-122"/>
              </a:rPr>
              <a:t>曲面的</a:t>
            </a:r>
            <a:r>
              <a:rPr lang="zh-CN" altLang="en-US" sz="2800" dirty="0">
                <a:solidFill>
                  <a:srgbClr val="04926A"/>
                </a:solidFill>
                <a:latin typeface="黑体" panose="02010609060101010101" pitchFamily="49" charset="-122"/>
                <a:ea typeface="黑体" panose="02010609060101010101" pitchFamily="49" charset="-122"/>
              </a:rPr>
              <a:t>轴</a:t>
            </a:r>
            <a:r>
              <a:rPr lang="en-US" altLang="zh-CN" sz="2800" dirty="0">
                <a:solidFill>
                  <a:srgbClr val="04926A"/>
                </a:solidFill>
                <a:latin typeface="黑体" panose="02010609060101010101" pitchFamily="49" charset="-122"/>
                <a:ea typeface="黑体" panose="02010609060101010101" pitchFamily="49" charset="-122"/>
              </a:rPr>
              <a:t>.</a:t>
            </a:r>
            <a:endParaRPr lang="zh-CN" altLang="en-US" sz="2800" dirty="0">
              <a:solidFill>
                <a:srgbClr val="04926A"/>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47703" y="1973653"/>
            <a:ext cx="3810000" cy="3724275"/>
          </a:xfrm>
          <a:prstGeom prst="rect">
            <a:avLst/>
          </a:prstGeom>
          <a:noFill/>
          <a:ln w="31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grpSp>
        <p:nvGrpSpPr>
          <p:cNvPr id="51204" name="Group 4"/>
          <p:cNvGrpSpPr/>
          <p:nvPr/>
        </p:nvGrpSpPr>
        <p:grpSpPr bwMode="auto">
          <a:xfrm>
            <a:off x="6252453" y="1778390"/>
            <a:ext cx="4210050" cy="3886200"/>
            <a:chOff x="2160" y="912"/>
            <a:chExt cx="2652" cy="2448"/>
          </a:xfrm>
        </p:grpSpPr>
        <p:sp>
          <p:nvSpPr>
            <p:cNvPr id="51205" name="Rectangle 5"/>
            <p:cNvSpPr>
              <a:spLocks noChangeArrowheads="1"/>
            </p:cNvSpPr>
            <p:nvPr/>
          </p:nvSpPr>
          <p:spPr bwMode="auto">
            <a:xfrm>
              <a:off x="2160" y="912"/>
              <a:ext cx="229" cy="2436"/>
            </a:xfrm>
            <a:prstGeom prst="rect">
              <a:avLst/>
            </a:prstGeom>
            <a:solidFill>
              <a:srgbClr val="04926A"/>
            </a:solidFill>
            <a:ln w="9525">
              <a:solidFill>
                <a:srgbClr val="04926A"/>
              </a:solidFill>
              <a:miter lim="800000"/>
            </a:ln>
          </p:spPr>
          <p:txBody>
            <a:bodyPr wrap="none" anchor="ctr"/>
            <a:lstStyle/>
            <a:p>
              <a:endParaRPr lang="zh-CN" altLang="en-US"/>
            </a:p>
          </p:txBody>
        </p:sp>
        <p:sp>
          <p:nvSpPr>
            <p:cNvPr id="51206" name="Rectangle 6"/>
            <p:cNvSpPr>
              <a:spLocks noChangeArrowheads="1"/>
            </p:cNvSpPr>
            <p:nvPr/>
          </p:nvSpPr>
          <p:spPr bwMode="auto">
            <a:xfrm>
              <a:off x="4572" y="912"/>
              <a:ext cx="240" cy="2436"/>
            </a:xfrm>
            <a:prstGeom prst="rect">
              <a:avLst/>
            </a:prstGeom>
            <a:solidFill>
              <a:srgbClr val="04926A"/>
            </a:solidFill>
            <a:ln w="9525">
              <a:solidFill>
                <a:srgbClr val="04926A"/>
              </a:solidFill>
              <a:miter lim="800000"/>
            </a:ln>
          </p:spPr>
          <p:txBody>
            <a:bodyPr wrap="none" anchor="ctr"/>
            <a:lstStyle/>
            <a:p>
              <a:endParaRPr lang="zh-CN" altLang="en-US"/>
            </a:p>
          </p:txBody>
        </p:sp>
        <p:sp>
          <p:nvSpPr>
            <p:cNvPr id="51207" name="Rectangle 7"/>
            <p:cNvSpPr>
              <a:spLocks noChangeArrowheads="1"/>
            </p:cNvSpPr>
            <p:nvPr/>
          </p:nvSpPr>
          <p:spPr bwMode="auto">
            <a:xfrm>
              <a:off x="2160" y="912"/>
              <a:ext cx="2651" cy="240"/>
            </a:xfrm>
            <a:prstGeom prst="rect">
              <a:avLst/>
            </a:prstGeom>
            <a:solidFill>
              <a:srgbClr val="04926A"/>
            </a:solidFill>
            <a:ln w="9525">
              <a:solidFill>
                <a:srgbClr val="04926A"/>
              </a:solidFill>
              <a:miter lim="800000"/>
            </a:ln>
          </p:spPr>
          <p:txBody>
            <a:bodyPr wrap="none" anchor="ctr"/>
            <a:lstStyle/>
            <a:p>
              <a:endParaRPr lang="zh-CN" altLang="en-US"/>
            </a:p>
          </p:txBody>
        </p:sp>
        <p:sp>
          <p:nvSpPr>
            <p:cNvPr id="51208" name="Rectangle 8"/>
            <p:cNvSpPr>
              <a:spLocks noChangeArrowheads="1"/>
            </p:cNvSpPr>
            <p:nvPr/>
          </p:nvSpPr>
          <p:spPr bwMode="auto">
            <a:xfrm>
              <a:off x="2160" y="3120"/>
              <a:ext cx="2651" cy="240"/>
            </a:xfrm>
            <a:prstGeom prst="rect">
              <a:avLst/>
            </a:prstGeom>
            <a:solidFill>
              <a:srgbClr val="04926A"/>
            </a:solidFill>
            <a:ln w="9525">
              <a:solidFill>
                <a:srgbClr val="04926A"/>
              </a:solidFill>
              <a:miter lim="800000"/>
            </a:ln>
          </p:spPr>
          <p:txBody>
            <a:bodyPr wrap="none" anchor="ctr"/>
            <a:lstStyle/>
            <a:p>
              <a:endParaRPr lang="zh-CN" altLang="en-US"/>
            </a:p>
          </p:txBody>
        </p:sp>
        <p:sp>
          <p:nvSpPr>
            <p:cNvPr id="51209" name="Rectangle 9"/>
            <p:cNvSpPr>
              <a:spLocks noChangeArrowheads="1"/>
            </p:cNvSpPr>
            <p:nvPr/>
          </p:nvSpPr>
          <p:spPr bwMode="auto">
            <a:xfrm>
              <a:off x="2400" y="1152"/>
              <a:ext cx="2160" cy="1968"/>
            </a:xfrm>
            <a:prstGeom prst="rect">
              <a:avLst/>
            </a:prstGeom>
            <a:noFill/>
            <a:ln w="3175">
              <a:solidFill>
                <a:schemeClr val="accent2"/>
              </a:solidFill>
              <a:miter lim="800000"/>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sp>
        <p:nvSpPr>
          <p:cNvPr id="51220" name="Line 20"/>
          <p:cNvSpPr>
            <a:spLocks noChangeShapeType="1"/>
          </p:cNvSpPr>
          <p:nvPr/>
        </p:nvSpPr>
        <p:spPr bwMode="auto">
          <a:xfrm>
            <a:off x="8347953" y="2616589"/>
            <a:ext cx="0" cy="1066800"/>
          </a:xfrm>
          <a:prstGeom prst="line">
            <a:avLst/>
          </a:prstGeom>
          <a:noFill/>
          <a:ln w="57150">
            <a:solidFill>
              <a:srgbClr val="04926A"/>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Rectangle 1"/>
          <p:cNvSpPr/>
          <p:nvPr/>
        </p:nvSpPr>
        <p:spPr>
          <a:xfrm>
            <a:off x="2052248" y="1736232"/>
            <a:ext cx="3950479" cy="3934634"/>
          </a:xfrm>
          <a:prstGeom prst="rect">
            <a:avLst/>
          </a:prstGeom>
          <a:solidFill>
            <a:srgbClr val="04926A">
              <a:alpha val="2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9" name="PA-102231"/>
          <p:cNvSpPr/>
          <p:nvPr>
            <p:custDataLst>
              <p:tags r:id="rId2"/>
            </p:custDataLst>
          </p:nvPr>
        </p:nvSpPr>
        <p:spPr>
          <a:xfrm>
            <a:off x="1597933" y="3244222"/>
            <a:ext cx="930521" cy="900000"/>
          </a:xfrm>
          <a:prstGeom prst="rect">
            <a:avLst/>
          </a:prstGeom>
          <a:solidFill>
            <a:schemeClr val="bg1"/>
          </a:solidFill>
          <a:ln w="19050">
            <a:gradFill>
              <a:gsLst>
                <a:gs pos="5000">
                  <a:srgbClr val="17A45E"/>
                </a:gs>
                <a:gs pos="56000">
                  <a:srgbClr val="039267"/>
                </a:gs>
                <a:gs pos="100000">
                  <a:srgbClr val="068983"/>
                </a:gs>
              </a:gsLst>
              <a:lin ang="10800000" scaled="0"/>
            </a:gradFill>
          </a:ln>
          <a:effectLst>
            <a:outerShdw blurRad="203200" dist="63500" dir="3000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n>
                <a:solidFill>
                  <a:schemeClr val="bg1">
                    <a:lumMod val="95000"/>
                  </a:schemeClr>
                </a:solidFill>
              </a:ln>
              <a:cs typeface="+mn-ea"/>
              <a:sym typeface="+mn-lt"/>
            </a:endParaRPr>
          </a:p>
        </p:txBody>
      </p:sp>
      <p:sp>
        <p:nvSpPr>
          <p:cNvPr id="10" name="Rectangle 2"/>
          <p:cNvSpPr txBox="1">
            <a:spLocks noChangeArrowheads="1"/>
          </p:cNvSpPr>
          <p:nvPr/>
        </p:nvSpPr>
        <p:spPr>
          <a:xfrm>
            <a:off x="1593150" y="3443868"/>
            <a:ext cx="933819" cy="526262"/>
          </a:xfrm>
          <a:noFill/>
          <a:ln>
            <a:noFill/>
          </a:ln>
        </p:spPr>
        <p:txBody>
          <a:bodyPr>
            <a:no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pPr>
              <a:lnSpc>
                <a:spcPct val="100000"/>
              </a:lnSpc>
            </a:pPr>
            <a:r>
              <a:rPr kumimoji="1" lang="zh-CN" altLang="en-US" sz="2800" dirty="0">
                <a:solidFill>
                  <a:srgbClr val="04926A"/>
                </a:solidFill>
                <a:latin typeface="微软雅黑" panose="020B0503020204020204" charset="-122"/>
                <a:ea typeface="微软雅黑" panose="020B0503020204020204" charset="-122"/>
                <a:cs typeface="+mn-cs"/>
              </a:rPr>
              <a:t>定义</a:t>
            </a:r>
            <a:endParaRPr kumimoji="1" lang="en-US" altLang="zh-CN" sz="2800" dirty="0">
              <a:solidFill>
                <a:srgbClr val="04926A"/>
              </a:solidFill>
              <a:latin typeface="微软雅黑" panose="020B0503020204020204" charset="-122"/>
              <a:ea typeface="微软雅黑" panose="020B0503020204020204" charset="-122"/>
              <a:cs typeface="+mn-cs"/>
            </a:endParaRPr>
          </a:p>
        </p:txBody>
      </p:sp>
      <p:sp>
        <p:nvSpPr>
          <p:cNvPr id="11" name="Text Box 2"/>
          <p:cNvSpPr txBox="1">
            <a:spLocks noChangeArrowheads="1"/>
          </p:cNvSpPr>
          <p:nvPr/>
        </p:nvSpPr>
        <p:spPr bwMode="auto">
          <a:xfrm>
            <a:off x="1198323" y="656934"/>
            <a:ext cx="2657292" cy="584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spcBef>
                <a:spcPct val="50000"/>
              </a:spcBef>
            </a:pPr>
            <a:r>
              <a:rPr lang="zh-CN" altLang="en-US" sz="3200" b="1" dirty="0">
                <a:latin typeface="微软雅黑" panose="020B0503020204020204" charset="-122"/>
                <a:ea typeface="微软雅黑" panose="020B0503020204020204" charset="-122"/>
              </a:rPr>
              <a:t>二、旋转曲面</a:t>
            </a:r>
            <a:endParaRPr lang="zh-CN" altLang="en-US" sz="3200" b="1" dirty="0">
              <a:latin typeface="微软雅黑" panose="020B0503020204020204" charset="-122"/>
              <a:ea typeface="微软雅黑" panose="020B0503020204020204" charset="-122"/>
            </a:endParaRPr>
          </a:p>
        </p:txBody>
      </p:sp>
      <p:sp>
        <p:nvSpPr>
          <p:cNvPr id="12" name="Text Box 18"/>
          <p:cNvSpPr txBox="1">
            <a:spLocks noChangeArrowheads="1"/>
          </p:cNvSpPr>
          <p:nvPr/>
        </p:nvSpPr>
        <p:spPr bwMode="auto">
          <a:xfrm>
            <a:off x="2683558" y="1878025"/>
            <a:ext cx="3090530" cy="22535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lnSpc>
                <a:spcPct val="130000"/>
              </a:lnSpc>
              <a:spcBef>
                <a:spcPct val="50000"/>
              </a:spcBef>
            </a:pPr>
            <a:r>
              <a:rPr lang="zh-CN" altLang="en-US" sz="2800" dirty="0">
                <a:latin typeface="黑体" panose="02010609060101010101" pitchFamily="49" charset="-122"/>
                <a:ea typeface="黑体" panose="02010609060101010101" pitchFamily="49" charset="-122"/>
              </a:rPr>
              <a:t>以一条平面曲线绕其平面上的一条直线旋转一周所成的曲面称为</a:t>
            </a:r>
            <a:r>
              <a:rPr lang="zh-CN" altLang="en-US" sz="2800" dirty="0">
                <a:solidFill>
                  <a:srgbClr val="04926A"/>
                </a:solidFill>
                <a:highlight>
                  <a:srgbClr val="FFFF00"/>
                </a:highlight>
                <a:latin typeface="黑体" panose="02010609060101010101" pitchFamily="49" charset="-122"/>
                <a:ea typeface="黑体" panose="02010609060101010101" pitchFamily="49" charset="-122"/>
              </a:rPr>
              <a:t>旋转曲面</a:t>
            </a:r>
            <a:r>
              <a:rPr lang="en-US" altLang="zh-CN" sz="2800" dirty="0">
                <a:solidFill>
                  <a:srgbClr val="04926A"/>
                </a:solidFill>
                <a:latin typeface="黑体" panose="02010609060101010101" pitchFamily="49" charset="-122"/>
                <a:ea typeface="黑体" panose="02010609060101010101" pitchFamily="49" charset="-122"/>
              </a:rPr>
              <a:t>.</a:t>
            </a:r>
            <a:endParaRPr lang="en-US" altLang="zh-CN" sz="2800" dirty="0">
              <a:solidFill>
                <a:srgbClr val="04926A"/>
              </a:solidFill>
              <a:latin typeface="黑体" panose="02010609060101010101" pitchFamily="49" charset="-122"/>
              <a:ea typeface="黑体" panose="02010609060101010101" pitchFamily="49" charset="-122"/>
            </a:endParaRPr>
          </a:p>
        </p:txBody>
      </p:sp>
      <p:sp>
        <p:nvSpPr>
          <p:cNvPr id="13" name="文本框 12"/>
          <p:cNvSpPr txBox="1"/>
          <p:nvPr/>
        </p:nvSpPr>
        <p:spPr bwMode="auto">
          <a:xfrm>
            <a:off x="2683936" y="4336717"/>
            <a:ext cx="3090152" cy="11331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nSpc>
                <a:spcPct val="130000"/>
              </a:lnSpc>
            </a:pPr>
            <a:r>
              <a:rPr lang="zh-CN" altLang="en-US" sz="2800" dirty="0">
                <a:latin typeface="黑体" panose="02010609060101010101" pitchFamily="49" charset="-122"/>
                <a:ea typeface="黑体" panose="02010609060101010101" pitchFamily="49" charset="-122"/>
              </a:rPr>
              <a:t>这条定直线叫旋转</a:t>
            </a:r>
            <a:endParaRPr lang="en-US" altLang="zh-CN" sz="2800" dirty="0">
              <a:latin typeface="黑体" panose="02010609060101010101" pitchFamily="49" charset="-122"/>
              <a:ea typeface="黑体" panose="02010609060101010101" pitchFamily="49" charset="-122"/>
            </a:endParaRPr>
          </a:p>
          <a:p>
            <a:pPr>
              <a:lnSpc>
                <a:spcPct val="130000"/>
              </a:lnSpc>
            </a:pPr>
            <a:r>
              <a:rPr lang="zh-CN" altLang="en-US" sz="2800" dirty="0">
                <a:latin typeface="黑体" panose="02010609060101010101" pitchFamily="49" charset="-122"/>
                <a:ea typeface="黑体" panose="02010609060101010101" pitchFamily="49" charset="-122"/>
              </a:rPr>
              <a:t>曲面的</a:t>
            </a:r>
            <a:r>
              <a:rPr lang="zh-CN" altLang="en-US" sz="2800" dirty="0">
                <a:solidFill>
                  <a:srgbClr val="04926A"/>
                </a:solidFill>
                <a:highlight>
                  <a:srgbClr val="FFFF00"/>
                </a:highlight>
                <a:latin typeface="黑体" panose="02010609060101010101" pitchFamily="49" charset="-122"/>
                <a:ea typeface="黑体" panose="02010609060101010101" pitchFamily="49" charset="-122"/>
              </a:rPr>
              <a:t>轴</a:t>
            </a:r>
            <a:r>
              <a:rPr lang="en-US" altLang="zh-CN" sz="2800" dirty="0">
                <a:solidFill>
                  <a:srgbClr val="04926A"/>
                </a:solidFill>
                <a:latin typeface="黑体" panose="02010609060101010101" pitchFamily="49" charset="-122"/>
                <a:ea typeface="黑体" panose="02010609060101010101" pitchFamily="49" charset="-122"/>
              </a:rPr>
              <a:t>.</a:t>
            </a:r>
            <a:endParaRPr lang="zh-CN" altLang="en-US" sz="2800" dirty="0">
              <a:solidFill>
                <a:srgbClr val="04926A"/>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47699" y="1973652"/>
            <a:ext cx="3810000" cy="3724275"/>
          </a:xfrm>
          <a:prstGeom prst="rect">
            <a:avLst/>
          </a:prstGeom>
          <a:noFill/>
          <a:ln w="31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grpSp>
        <p:nvGrpSpPr>
          <p:cNvPr id="52228" name="Group 4"/>
          <p:cNvGrpSpPr/>
          <p:nvPr/>
        </p:nvGrpSpPr>
        <p:grpSpPr bwMode="auto">
          <a:xfrm>
            <a:off x="6252449" y="1778389"/>
            <a:ext cx="4210050" cy="3886200"/>
            <a:chOff x="2160" y="912"/>
            <a:chExt cx="2652" cy="2448"/>
          </a:xfrm>
        </p:grpSpPr>
        <p:sp>
          <p:nvSpPr>
            <p:cNvPr id="52229" name="Rectangle 5"/>
            <p:cNvSpPr>
              <a:spLocks noChangeArrowheads="1"/>
            </p:cNvSpPr>
            <p:nvPr/>
          </p:nvSpPr>
          <p:spPr bwMode="auto">
            <a:xfrm>
              <a:off x="2160" y="912"/>
              <a:ext cx="229" cy="2436"/>
            </a:xfrm>
            <a:prstGeom prst="rect">
              <a:avLst/>
            </a:prstGeom>
            <a:solidFill>
              <a:srgbClr val="04926A"/>
            </a:solidFill>
            <a:ln w="9525">
              <a:solidFill>
                <a:srgbClr val="04926A"/>
              </a:solidFill>
              <a:miter lim="800000"/>
            </a:ln>
          </p:spPr>
          <p:txBody>
            <a:bodyPr wrap="none" anchor="ctr"/>
            <a:lstStyle/>
            <a:p>
              <a:endParaRPr lang="zh-CN" altLang="en-US"/>
            </a:p>
          </p:txBody>
        </p:sp>
        <p:sp>
          <p:nvSpPr>
            <p:cNvPr id="52230" name="Rectangle 6"/>
            <p:cNvSpPr>
              <a:spLocks noChangeArrowheads="1"/>
            </p:cNvSpPr>
            <p:nvPr/>
          </p:nvSpPr>
          <p:spPr bwMode="auto">
            <a:xfrm>
              <a:off x="4572" y="912"/>
              <a:ext cx="240" cy="2436"/>
            </a:xfrm>
            <a:prstGeom prst="rect">
              <a:avLst/>
            </a:prstGeom>
            <a:solidFill>
              <a:srgbClr val="04926A"/>
            </a:solidFill>
            <a:ln w="9525">
              <a:solidFill>
                <a:srgbClr val="04926A"/>
              </a:solidFill>
              <a:miter lim="800000"/>
            </a:ln>
          </p:spPr>
          <p:txBody>
            <a:bodyPr wrap="none" anchor="ctr"/>
            <a:lstStyle/>
            <a:p>
              <a:endParaRPr lang="zh-CN" altLang="en-US"/>
            </a:p>
          </p:txBody>
        </p:sp>
        <p:sp>
          <p:nvSpPr>
            <p:cNvPr id="52231" name="Rectangle 7"/>
            <p:cNvSpPr>
              <a:spLocks noChangeArrowheads="1"/>
            </p:cNvSpPr>
            <p:nvPr/>
          </p:nvSpPr>
          <p:spPr bwMode="auto">
            <a:xfrm>
              <a:off x="2160" y="912"/>
              <a:ext cx="2651" cy="240"/>
            </a:xfrm>
            <a:prstGeom prst="rect">
              <a:avLst/>
            </a:prstGeom>
            <a:solidFill>
              <a:srgbClr val="04926A"/>
            </a:solidFill>
            <a:ln w="9525">
              <a:solidFill>
                <a:srgbClr val="04926A"/>
              </a:solidFill>
              <a:miter lim="800000"/>
            </a:ln>
          </p:spPr>
          <p:txBody>
            <a:bodyPr wrap="none" anchor="ctr"/>
            <a:lstStyle/>
            <a:p>
              <a:endParaRPr lang="zh-CN" altLang="en-US"/>
            </a:p>
          </p:txBody>
        </p:sp>
        <p:sp>
          <p:nvSpPr>
            <p:cNvPr id="52232" name="Rectangle 8"/>
            <p:cNvSpPr>
              <a:spLocks noChangeArrowheads="1"/>
            </p:cNvSpPr>
            <p:nvPr/>
          </p:nvSpPr>
          <p:spPr bwMode="auto">
            <a:xfrm>
              <a:off x="2160" y="3120"/>
              <a:ext cx="2651" cy="240"/>
            </a:xfrm>
            <a:prstGeom prst="rect">
              <a:avLst/>
            </a:prstGeom>
            <a:solidFill>
              <a:srgbClr val="04926A"/>
            </a:solidFill>
            <a:ln w="9525">
              <a:solidFill>
                <a:srgbClr val="04926A"/>
              </a:solidFill>
              <a:miter lim="800000"/>
            </a:ln>
          </p:spPr>
          <p:txBody>
            <a:bodyPr wrap="none" anchor="ctr"/>
            <a:lstStyle/>
            <a:p>
              <a:endParaRPr lang="zh-CN" altLang="en-US"/>
            </a:p>
          </p:txBody>
        </p:sp>
        <p:sp>
          <p:nvSpPr>
            <p:cNvPr id="52233" name="Rectangle 9"/>
            <p:cNvSpPr>
              <a:spLocks noChangeArrowheads="1"/>
            </p:cNvSpPr>
            <p:nvPr/>
          </p:nvSpPr>
          <p:spPr bwMode="auto">
            <a:xfrm>
              <a:off x="2400" y="1152"/>
              <a:ext cx="2160" cy="1968"/>
            </a:xfrm>
            <a:prstGeom prst="rect">
              <a:avLst/>
            </a:prstGeom>
            <a:noFill/>
            <a:ln w="3175">
              <a:solidFill>
                <a:schemeClr val="accent2"/>
              </a:solidFill>
              <a:miter lim="800000"/>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sp>
        <p:nvSpPr>
          <p:cNvPr id="52244" name="Line 20"/>
          <p:cNvSpPr>
            <a:spLocks noChangeShapeType="1"/>
          </p:cNvSpPr>
          <p:nvPr/>
        </p:nvSpPr>
        <p:spPr bwMode="auto">
          <a:xfrm>
            <a:off x="8347949" y="2616588"/>
            <a:ext cx="0" cy="1066800"/>
          </a:xfrm>
          <a:prstGeom prst="line">
            <a:avLst/>
          </a:prstGeom>
          <a:noFill/>
          <a:ln w="57150">
            <a:solidFill>
              <a:srgbClr val="04926A"/>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Rectangle 1"/>
          <p:cNvSpPr/>
          <p:nvPr/>
        </p:nvSpPr>
        <p:spPr>
          <a:xfrm>
            <a:off x="2052248" y="1736232"/>
            <a:ext cx="3950479" cy="3934634"/>
          </a:xfrm>
          <a:prstGeom prst="rect">
            <a:avLst/>
          </a:prstGeom>
          <a:solidFill>
            <a:srgbClr val="04926A">
              <a:alpha val="2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9" name="PA-102231"/>
          <p:cNvSpPr/>
          <p:nvPr>
            <p:custDataLst>
              <p:tags r:id="rId2"/>
            </p:custDataLst>
          </p:nvPr>
        </p:nvSpPr>
        <p:spPr>
          <a:xfrm>
            <a:off x="1597933" y="3244222"/>
            <a:ext cx="930521" cy="900000"/>
          </a:xfrm>
          <a:prstGeom prst="rect">
            <a:avLst/>
          </a:prstGeom>
          <a:solidFill>
            <a:schemeClr val="bg1"/>
          </a:solidFill>
          <a:ln w="19050">
            <a:gradFill>
              <a:gsLst>
                <a:gs pos="5000">
                  <a:srgbClr val="17A45E"/>
                </a:gs>
                <a:gs pos="56000">
                  <a:srgbClr val="039267"/>
                </a:gs>
                <a:gs pos="100000">
                  <a:srgbClr val="068983"/>
                </a:gs>
              </a:gsLst>
              <a:lin ang="10800000" scaled="0"/>
            </a:gradFill>
          </a:ln>
          <a:effectLst>
            <a:outerShdw blurRad="203200" dist="63500" dir="3000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n>
                <a:solidFill>
                  <a:schemeClr val="bg1">
                    <a:lumMod val="95000"/>
                  </a:schemeClr>
                </a:solidFill>
              </a:ln>
              <a:cs typeface="+mn-ea"/>
              <a:sym typeface="+mn-lt"/>
            </a:endParaRPr>
          </a:p>
        </p:txBody>
      </p:sp>
      <p:sp>
        <p:nvSpPr>
          <p:cNvPr id="10" name="Rectangle 2"/>
          <p:cNvSpPr txBox="1">
            <a:spLocks noChangeArrowheads="1"/>
          </p:cNvSpPr>
          <p:nvPr/>
        </p:nvSpPr>
        <p:spPr>
          <a:xfrm>
            <a:off x="1593150" y="3443868"/>
            <a:ext cx="933819" cy="526262"/>
          </a:xfrm>
          <a:noFill/>
          <a:ln>
            <a:noFill/>
          </a:ln>
        </p:spPr>
        <p:txBody>
          <a:bodyPr>
            <a:no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pPr>
              <a:lnSpc>
                <a:spcPct val="100000"/>
              </a:lnSpc>
            </a:pPr>
            <a:r>
              <a:rPr kumimoji="1" lang="zh-CN" altLang="en-US" sz="2800" dirty="0">
                <a:solidFill>
                  <a:srgbClr val="04926A"/>
                </a:solidFill>
                <a:latin typeface="微软雅黑" panose="020B0503020204020204" charset="-122"/>
                <a:ea typeface="微软雅黑" panose="020B0503020204020204" charset="-122"/>
                <a:cs typeface="+mn-cs"/>
              </a:rPr>
              <a:t>定义</a:t>
            </a:r>
            <a:endParaRPr kumimoji="1" lang="en-US" altLang="zh-CN" sz="2800" dirty="0">
              <a:solidFill>
                <a:srgbClr val="04926A"/>
              </a:solidFill>
              <a:latin typeface="微软雅黑" panose="020B0503020204020204" charset="-122"/>
              <a:ea typeface="微软雅黑" panose="020B0503020204020204" charset="-122"/>
              <a:cs typeface="+mn-cs"/>
            </a:endParaRPr>
          </a:p>
        </p:txBody>
      </p:sp>
      <p:sp>
        <p:nvSpPr>
          <p:cNvPr id="11" name="Text Box 2"/>
          <p:cNvSpPr txBox="1">
            <a:spLocks noChangeArrowheads="1"/>
          </p:cNvSpPr>
          <p:nvPr/>
        </p:nvSpPr>
        <p:spPr bwMode="auto">
          <a:xfrm>
            <a:off x="1198323" y="656934"/>
            <a:ext cx="2657292" cy="584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spcBef>
                <a:spcPct val="50000"/>
              </a:spcBef>
            </a:pPr>
            <a:r>
              <a:rPr lang="zh-CN" altLang="en-US" sz="3200" b="1" dirty="0">
                <a:latin typeface="微软雅黑" panose="020B0503020204020204" charset="-122"/>
                <a:ea typeface="微软雅黑" panose="020B0503020204020204" charset="-122"/>
              </a:rPr>
              <a:t>二、旋转曲面</a:t>
            </a:r>
            <a:endParaRPr lang="zh-CN" altLang="en-US" sz="3200" b="1" dirty="0">
              <a:latin typeface="微软雅黑" panose="020B0503020204020204" charset="-122"/>
              <a:ea typeface="微软雅黑" panose="020B0503020204020204" charset="-122"/>
            </a:endParaRPr>
          </a:p>
        </p:txBody>
      </p:sp>
      <p:sp>
        <p:nvSpPr>
          <p:cNvPr id="12" name="Text Box 18"/>
          <p:cNvSpPr txBox="1">
            <a:spLocks noChangeArrowheads="1"/>
          </p:cNvSpPr>
          <p:nvPr/>
        </p:nvSpPr>
        <p:spPr bwMode="auto">
          <a:xfrm>
            <a:off x="2683558" y="1878025"/>
            <a:ext cx="3090530" cy="22535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lnSpc>
                <a:spcPct val="130000"/>
              </a:lnSpc>
              <a:spcBef>
                <a:spcPct val="50000"/>
              </a:spcBef>
            </a:pPr>
            <a:r>
              <a:rPr lang="zh-CN" altLang="en-US" sz="2800" dirty="0">
                <a:latin typeface="黑体" panose="02010609060101010101" pitchFamily="49" charset="-122"/>
                <a:ea typeface="黑体" panose="02010609060101010101" pitchFamily="49" charset="-122"/>
              </a:rPr>
              <a:t>以一条平面曲线绕其平面上的一条直线旋转一周所成的曲面称为</a:t>
            </a:r>
            <a:r>
              <a:rPr lang="zh-CN" altLang="en-US" sz="2800" dirty="0">
                <a:solidFill>
                  <a:srgbClr val="04926A"/>
                </a:solidFill>
                <a:latin typeface="黑体" panose="02010609060101010101" pitchFamily="49" charset="-122"/>
                <a:ea typeface="黑体" panose="02010609060101010101" pitchFamily="49" charset="-122"/>
              </a:rPr>
              <a:t>旋转曲面</a:t>
            </a:r>
            <a:r>
              <a:rPr lang="en-US" altLang="zh-CN" sz="2800" dirty="0">
                <a:solidFill>
                  <a:srgbClr val="04926A"/>
                </a:solidFill>
                <a:latin typeface="黑体" panose="02010609060101010101" pitchFamily="49" charset="-122"/>
                <a:ea typeface="黑体" panose="02010609060101010101" pitchFamily="49" charset="-122"/>
              </a:rPr>
              <a:t>.</a:t>
            </a:r>
            <a:endParaRPr lang="en-US" altLang="zh-CN" sz="2800" dirty="0">
              <a:solidFill>
                <a:srgbClr val="04926A"/>
              </a:solidFill>
              <a:latin typeface="黑体" panose="02010609060101010101" pitchFamily="49" charset="-122"/>
              <a:ea typeface="黑体" panose="02010609060101010101" pitchFamily="49" charset="-122"/>
            </a:endParaRPr>
          </a:p>
        </p:txBody>
      </p:sp>
      <p:sp>
        <p:nvSpPr>
          <p:cNvPr id="13" name="文本框 12"/>
          <p:cNvSpPr txBox="1"/>
          <p:nvPr/>
        </p:nvSpPr>
        <p:spPr bwMode="auto">
          <a:xfrm>
            <a:off x="2683936" y="4336717"/>
            <a:ext cx="3090152" cy="11331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nSpc>
                <a:spcPct val="130000"/>
              </a:lnSpc>
            </a:pPr>
            <a:r>
              <a:rPr lang="zh-CN" altLang="en-US" sz="2800" dirty="0">
                <a:latin typeface="黑体" panose="02010609060101010101" pitchFamily="49" charset="-122"/>
                <a:ea typeface="黑体" panose="02010609060101010101" pitchFamily="49" charset="-122"/>
              </a:rPr>
              <a:t>这条定直线叫旋转</a:t>
            </a:r>
            <a:endParaRPr lang="en-US" altLang="zh-CN" sz="2800" dirty="0">
              <a:latin typeface="黑体" panose="02010609060101010101" pitchFamily="49" charset="-122"/>
              <a:ea typeface="黑体" panose="02010609060101010101" pitchFamily="49" charset="-122"/>
            </a:endParaRPr>
          </a:p>
          <a:p>
            <a:pPr>
              <a:lnSpc>
                <a:spcPct val="130000"/>
              </a:lnSpc>
            </a:pPr>
            <a:r>
              <a:rPr lang="zh-CN" altLang="en-US" sz="2800" dirty="0">
                <a:latin typeface="黑体" panose="02010609060101010101" pitchFamily="49" charset="-122"/>
                <a:ea typeface="黑体" panose="02010609060101010101" pitchFamily="49" charset="-122"/>
              </a:rPr>
              <a:t>曲面的</a:t>
            </a:r>
            <a:r>
              <a:rPr lang="zh-CN" altLang="en-US" sz="2800" dirty="0">
                <a:solidFill>
                  <a:srgbClr val="04926A"/>
                </a:solidFill>
                <a:latin typeface="黑体" panose="02010609060101010101" pitchFamily="49" charset="-122"/>
                <a:ea typeface="黑体" panose="02010609060101010101" pitchFamily="49" charset="-122"/>
              </a:rPr>
              <a:t>轴</a:t>
            </a:r>
            <a:r>
              <a:rPr lang="en-US" altLang="zh-CN" sz="2800" dirty="0">
                <a:solidFill>
                  <a:srgbClr val="04926A"/>
                </a:solidFill>
                <a:latin typeface="黑体" panose="02010609060101010101" pitchFamily="49" charset="-122"/>
                <a:ea typeface="黑体" panose="02010609060101010101" pitchFamily="49" charset="-122"/>
              </a:rPr>
              <a:t>.</a:t>
            </a:r>
            <a:endParaRPr lang="zh-CN" altLang="en-US" sz="2800" dirty="0">
              <a:solidFill>
                <a:srgbClr val="04926A"/>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510540" y="494665"/>
            <a:ext cx="11149330" cy="5612765"/>
            <a:chOff x="838" y="906"/>
            <a:chExt cx="17558" cy="8839"/>
          </a:xfrm>
        </p:grpSpPr>
        <p:sp>
          <p:nvSpPr>
            <p:cNvPr id="7" name="PA-102232"/>
            <p:cNvSpPr/>
            <p:nvPr>
              <p:custDataLst>
                <p:tags r:id="rId1"/>
              </p:custDataLst>
            </p:nvPr>
          </p:nvSpPr>
          <p:spPr>
            <a:xfrm>
              <a:off x="872" y="906"/>
              <a:ext cx="17524" cy="8826"/>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6BB6"/>
                </a:solidFill>
                <a:cs typeface="+mn-ea"/>
                <a:sym typeface="+mn-lt"/>
              </a:endParaRPr>
            </a:p>
          </p:txBody>
        </p:sp>
        <p:grpSp>
          <p:nvGrpSpPr>
            <p:cNvPr id="8" name="组合 7"/>
            <p:cNvGrpSpPr/>
            <p:nvPr/>
          </p:nvGrpSpPr>
          <p:grpSpPr>
            <a:xfrm>
              <a:off x="838" y="9635"/>
              <a:ext cx="17558" cy="110"/>
              <a:chOff x="838" y="9635"/>
              <a:chExt cx="17558" cy="110"/>
            </a:xfrm>
          </p:grpSpPr>
          <p:sp>
            <p:nvSpPr>
              <p:cNvPr id="9" name="Rectangle 1"/>
              <p:cNvSpPr/>
              <p:nvPr/>
            </p:nvSpPr>
            <p:spPr>
              <a:xfrm>
                <a:off x="5321" y="9650"/>
                <a:ext cx="4286" cy="83"/>
              </a:xfrm>
              <a:prstGeom prst="rect">
                <a:avLst/>
              </a:prstGeom>
              <a:solidFill>
                <a:schemeClr val="bg1"/>
              </a:solidFill>
              <a:ln w="3175" cap="flat" cmpd="sng" algn="ctr">
                <a:solidFill>
                  <a:srgbClr val="0492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0" name="Rectangle 1"/>
              <p:cNvSpPr/>
              <p:nvPr/>
            </p:nvSpPr>
            <p:spPr>
              <a:xfrm>
                <a:off x="838" y="9650"/>
                <a:ext cx="4483" cy="83"/>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1" name="Rectangle 1"/>
              <p:cNvSpPr/>
              <p:nvPr/>
            </p:nvSpPr>
            <p:spPr>
              <a:xfrm>
                <a:off x="9602" y="9635"/>
                <a:ext cx="8794" cy="111"/>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sp>
        <p:nvSpPr>
          <p:cNvPr id="15402" name="Text Box 42"/>
          <p:cNvSpPr txBox="1">
            <a:spLocks noChangeArrowheads="1"/>
          </p:cNvSpPr>
          <p:nvPr/>
        </p:nvSpPr>
        <p:spPr bwMode="auto">
          <a:xfrm>
            <a:off x="1326051" y="5266847"/>
            <a:ext cx="307582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800" dirty="0">
                <a:latin typeface="Times New Roman" panose="02020603050405020304" pitchFamily="18" charset="0"/>
                <a:cs typeface="Times New Roman" panose="02020603050405020304" pitchFamily="18" charset="0"/>
              </a:rPr>
              <a:t>故旋转曲面方程为</a:t>
            </a:r>
            <a:endParaRPr kumimoji="1" lang="zh-CN" altLang="en-US" sz="28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5403" name="Object 43"/>
              <p:cNvSpPr txBox="1"/>
              <p:nvPr/>
            </p:nvSpPr>
            <p:spPr bwMode="auto">
              <a:xfrm>
                <a:off x="1326051" y="4113807"/>
                <a:ext cx="1856491" cy="562038"/>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charset="0"/>
                        </a:rPr>
                        <m:t>𝑀</m:t>
                      </m:r>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𝑥</m:t>
                      </m:r>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𝑦</m:t>
                      </m:r>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𝑧</m:t>
                      </m:r>
                      <m:r>
                        <a:rPr lang="zh-CN" altLang="en-US" sz="2800" i="1">
                          <a:solidFill>
                            <a:srgbClr val="000000"/>
                          </a:solidFill>
                          <a:latin typeface="Cambria Math" panose="02040503050406030204" charset="0"/>
                        </a:rPr>
                        <m:t>),</m:t>
                      </m:r>
                    </m:oMath>
                  </m:oMathPara>
                </a14:m>
                <a:endParaRPr lang="zh-CN" altLang="en-US" sz="2800" dirty="0"/>
              </a:p>
            </p:txBody>
          </p:sp>
        </mc:Choice>
        <mc:Fallback>
          <p:sp>
            <p:nvSpPr>
              <p:cNvPr id="15403" name="Object 43"/>
              <p:cNvSpPr txBox="1">
                <a:spLocks noRot="1" noChangeAspect="1" noMove="1" noResize="1" noEditPoints="1" noAdjustHandles="1" noChangeArrowheads="1" noChangeShapeType="1" noTextEdit="1"/>
              </p:cNvSpPr>
              <p:nvPr/>
            </p:nvSpPr>
            <p:spPr bwMode="auto">
              <a:xfrm>
                <a:off x="1326051" y="4113807"/>
                <a:ext cx="1856491" cy="562038"/>
              </a:xfrm>
              <a:prstGeom prst="rect">
                <a:avLst/>
              </a:prstGeom>
              <a:blipFill rotWithShape="1">
                <a:blip r:embed="rId2"/>
                <a:stretch>
                  <a:fillRect l="-9" t="-49" r="30" b="60"/>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404" name="Text Box 44"/>
              <p:cNvSpPr txBox="1">
                <a:spLocks noChangeArrowheads="1"/>
              </p:cNvSpPr>
              <p:nvPr/>
            </p:nvSpPr>
            <p:spPr bwMode="auto">
              <a:xfrm>
                <a:off x="1326051" y="3153931"/>
                <a:ext cx="293819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800" dirty="0">
                    <a:latin typeface="Times New Roman" panose="02020603050405020304" pitchFamily="18" charset="0"/>
                    <a:cs typeface="Times New Roman" panose="02020603050405020304" pitchFamily="18" charset="0"/>
                  </a:rPr>
                  <a:t>当绕</a:t>
                </a:r>
                <a14:m>
                  <m:oMath xmlns:m="http://schemas.openxmlformats.org/officeDocument/2006/math">
                    <m:r>
                      <a:rPr lang="en-US" altLang="zh-CN" sz="2800" i="1">
                        <a:latin typeface="Cambria Math" panose="02040503050406030204" charset="0"/>
                      </a:rPr>
                      <m:t>𝑧</m:t>
                    </m:r>
                  </m:oMath>
                </a14:m>
                <a:r>
                  <a:rPr kumimoji="1" lang="zh-CN" altLang="en-US" sz="2800" dirty="0">
                    <a:latin typeface="Times New Roman" panose="02020603050405020304" pitchFamily="18" charset="0"/>
                    <a:cs typeface="Times New Roman" panose="02020603050405020304" pitchFamily="18" charset="0"/>
                  </a:rPr>
                  <a:t>轴旋转时，</a:t>
                </a:r>
                <a:endParaRPr kumimoji="1" lang="en-US" altLang="zh-CN" sz="2800" dirty="0">
                  <a:latin typeface="Times New Roman" panose="02020603050405020304" pitchFamily="18" charset="0"/>
                  <a:cs typeface="Times New Roman" panose="02020603050405020304" pitchFamily="18" charset="0"/>
                </a:endParaRPr>
              </a:p>
            </p:txBody>
          </p:sp>
        </mc:Choice>
        <mc:Fallback>
          <p:sp>
            <p:nvSpPr>
              <p:cNvPr id="15404" name="Text Box 44"/>
              <p:cNvSpPr txBox="1">
                <a:spLocks noRot="1" noChangeAspect="1" noMove="1" noResize="1" noEditPoints="1" noAdjustHandles="1" noChangeArrowheads="1" noChangeShapeType="1" noTextEdit="1"/>
              </p:cNvSpPr>
              <p:nvPr/>
            </p:nvSpPr>
            <p:spPr bwMode="auto">
              <a:xfrm>
                <a:off x="1326051" y="3153931"/>
                <a:ext cx="2938192" cy="523220"/>
              </a:xfrm>
              <a:prstGeom prst="rect">
                <a:avLst/>
              </a:prstGeom>
              <a:blipFill rotWithShape="1">
                <a:blip r:embed="rId3"/>
                <a:stretch>
                  <a:fillRect l="-6" t="-100" r="7" b="9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405" name="Object 45"/>
              <p:cNvSpPr txBox="1"/>
              <p:nvPr/>
            </p:nvSpPr>
            <p:spPr bwMode="auto">
              <a:xfrm>
                <a:off x="2416475" y="2503309"/>
                <a:ext cx="2298533" cy="590912"/>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charset="0"/>
                        </a:rPr>
                        <m:t>𝑓</m:t>
                      </m:r>
                      <m:r>
                        <a:rPr lang="zh-CN" altLang="en-US" sz="2800" i="1">
                          <a:solidFill>
                            <a:srgbClr val="000000"/>
                          </a:solidFill>
                          <a:latin typeface="Cambria Math" panose="02040503050406030204" charset="0"/>
                        </a:rPr>
                        <m:t>(</m:t>
                      </m:r>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𝑦</m:t>
                          </m:r>
                        </m:e>
                        <m:sub>
                          <m:r>
                            <a:rPr lang="zh-CN" altLang="en-US" sz="2800" i="1">
                              <a:solidFill>
                                <a:srgbClr val="000000"/>
                              </a:solidFill>
                              <a:latin typeface="Cambria Math" panose="02040503050406030204" charset="0"/>
                            </a:rPr>
                            <m:t>1</m:t>
                          </m:r>
                        </m:sub>
                      </m:sSub>
                      <m:r>
                        <a:rPr lang="zh-CN" altLang="en-US" sz="2800" i="1">
                          <a:solidFill>
                            <a:srgbClr val="000000"/>
                          </a:solidFill>
                          <a:latin typeface="Cambria Math" panose="02040503050406030204" charset="0"/>
                        </a:rPr>
                        <m:t>,</m:t>
                      </m:r>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𝑧</m:t>
                          </m:r>
                        </m:e>
                        <m:sub>
                          <m:r>
                            <a:rPr lang="zh-CN" altLang="en-US" sz="2800" i="1">
                              <a:solidFill>
                                <a:srgbClr val="000000"/>
                              </a:solidFill>
                              <a:latin typeface="Cambria Math" panose="02040503050406030204" charset="0"/>
                            </a:rPr>
                            <m:t>1</m:t>
                          </m:r>
                        </m:sub>
                      </m:sSub>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0</m:t>
                      </m:r>
                      <m:r>
                        <a:rPr lang="zh-CN" altLang="en-US" sz="2800" i="1">
                          <a:solidFill>
                            <a:srgbClr val="000000"/>
                          </a:solidFill>
                          <a:latin typeface="Cambria Math" panose="02040503050406030204" charset="0"/>
                        </a:rPr>
                        <m:t>.</m:t>
                      </m:r>
                    </m:oMath>
                  </m:oMathPara>
                </a14:m>
                <a:endParaRPr lang="zh-CN" altLang="en-US" sz="2800" dirty="0"/>
              </a:p>
            </p:txBody>
          </p:sp>
        </mc:Choice>
        <mc:Fallback>
          <p:sp>
            <p:nvSpPr>
              <p:cNvPr id="15405" name="Object 45"/>
              <p:cNvSpPr txBox="1">
                <a:spLocks noRot="1" noChangeAspect="1" noMove="1" noResize="1" noEditPoints="1" noAdjustHandles="1" noChangeArrowheads="1" noChangeShapeType="1" noTextEdit="1"/>
              </p:cNvSpPr>
              <p:nvPr/>
            </p:nvSpPr>
            <p:spPr bwMode="auto">
              <a:xfrm>
                <a:off x="2416475" y="2503309"/>
                <a:ext cx="2298533" cy="590912"/>
              </a:xfrm>
              <a:prstGeom prst="rect">
                <a:avLst/>
              </a:prstGeom>
              <a:blipFill rotWithShape="1">
                <a:blip r:embed="rId4"/>
                <a:stretch>
                  <a:fillRect l="-13" t="-24" r="6" b="85"/>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406" name="Object 46"/>
              <p:cNvSpPr txBox="1"/>
              <p:nvPr/>
            </p:nvSpPr>
            <p:spPr bwMode="auto">
              <a:xfrm>
                <a:off x="2083583" y="1892763"/>
                <a:ext cx="2815006" cy="558364"/>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𝑀</m:t>
                          </m:r>
                        </m:e>
                        <m:sub>
                          <m:r>
                            <a:rPr lang="zh-CN" altLang="en-US" sz="2800" i="1">
                              <a:solidFill>
                                <a:srgbClr val="000000"/>
                              </a:solidFill>
                              <a:latin typeface="Cambria Math" panose="02040503050406030204" charset="0"/>
                            </a:rPr>
                            <m:t>1</m:t>
                          </m:r>
                        </m:sub>
                      </m:sSub>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0</m:t>
                      </m:r>
                      <m:r>
                        <a:rPr lang="zh-CN" altLang="en-US" sz="2800" i="1">
                          <a:solidFill>
                            <a:srgbClr val="000000"/>
                          </a:solidFill>
                          <a:latin typeface="Cambria Math" panose="02040503050406030204" charset="0"/>
                        </a:rPr>
                        <m:t>,</m:t>
                      </m:r>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𝑦</m:t>
                          </m:r>
                        </m:e>
                        <m:sub>
                          <m:r>
                            <a:rPr lang="zh-CN" altLang="en-US" sz="2800" i="1">
                              <a:solidFill>
                                <a:srgbClr val="000000"/>
                              </a:solidFill>
                              <a:latin typeface="Cambria Math" panose="02040503050406030204" charset="0"/>
                            </a:rPr>
                            <m:t>1</m:t>
                          </m:r>
                        </m:sub>
                      </m:sSub>
                      <m:r>
                        <a:rPr lang="zh-CN" altLang="en-US" sz="2800" i="1">
                          <a:solidFill>
                            <a:srgbClr val="000000"/>
                          </a:solidFill>
                          <a:latin typeface="Cambria Math" panose="02040503050406030204" charset="0"/>
                        </a:rPr>
                        <m:t>,</m:t>
                      </m:r>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𝑧</m:t>
                          </m:r>
                        </m:e>
                        <m:sub>
                          <m:r>
                            <a:rPr lang="zh-CN" altLang="en-US" sz="2800" i="1">
                              <a:solidFill>
                                <a:srgbClr val="000000"/>
                              </a:solidFill>
                              <a:latin typeface="Cambria Math" panose="02040503050406030204" charset="0"/>
                            </a:rPr>
                            <m:t>1</m:t>
                          </m:r>
                        </m:sub>
                      </m:sSub>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𝐶</m:t>
                      </m:r>
                      <m:r>
                        <a:rPr lang="zh-CN" altLang="en-US" sz="2800" i="1">
                          <a:solidFill>
                            <a:srgbClr val="000000"/>
                          </a:solidFill>
                          <a:latin typeface="Cambria Math" panose="02040503050406030204" charset="0"/>
                        </a:rPr>
                        <m:t>,</m:t>
                      </m:r>
                    </m:oMath>
                  </m:oMathPara>
                </a14:m>
                <a:endParaRPr lang="zh-CN" altLang="en-US" sz="2800" dirty="0"/>
              </a:p>
            </p:txBody>
          </p:sp>
        </mc:Choice>
        <mc:Fallback>
          <p:sp>
            <p:nvSpPr>
              <p:cNvPr id="15406" name="Object 46"/>
              <p:cNvSpPr txBox="1">
                <a:spLocks noRot="1" noChangeAspect="1" noMove="1" noResize="1" noEditPoints="1" noAdjustHandles="1" noChangeArrowheads="1" noChangeShapeType="1" noTextEdit="1"/>
              </p:cNvSpPr>
              <p:nvPr/>
            </p:nvSpPr>
            <p:spPr bwMode="auto">
              <a:xfrm>
                <a:off x="2083583" y="1892763"/>
                <a:ext cx="2815006" cy="558364"/>
              </a:xfrm>
              <a:prstGeom prst="rect">
                <a:avLst/>
              </a:prstGeom>
              <a:blipFill rotWithShape="1">
                <a:blip r:embed="rId5"/>
                <a:stretch>
                  <a:fillRect l="-5" t="-83" r="7" b="5"/>
                </a:stretch>
              </a:blipFill>
              <a:ln>
                <a:noFill/>
              </a:ln>
              <a:effectLst/>
            </p:spPr>
            <p:txBody>
              <a:bodyPr/>
              <a:lstStyle/>
              <a:p>
                <a:r>
                  <a:rPr lang="zh-CN" altLang="en-US">
                    <a:noFill/>
                  </a:rPr>
                  <a:t> </a:t>
                </a:r>
              </a:p>
            </p:txBody>
          </p:sp>
        </mc:Fallback>
      </mc:AlternateContent>
      <p:sp>
        <p:nvSpPr>
          <p:cNvPr id="15407" name="Text Box 47"/>
          <p:cNvSpPr txBox="1">
            <a:spLocks noChangeArrowheads="1"/>
          </p:cNvSpPr>
          <p:nvPr/>
        </p:nvSpPr>
        <p:spPr bwMode="auto">
          <a:xfrm>
            <a:off x="1326051" y="1889002"/>
            <a:ext cx="1219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dirty="0">
                <a:latin typeface="Times New Roman" panose="02020603050405020304" pitchFamily="18" charset="0"/>
                <a:cs typeface="Times New Roman" panose="02020603050405020304" pitchFamily="18" charset="0"/>
              </a:rPr>
              <a:t>若点</a:t>
            </a:r>
            <a:endParaRPr kumimoji="1" lang="zh-CN" altLang="en-US" sz="28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5408" name="Text Box 48"/>
              <p:cNvSpPr txBox="1">
                <a:spLocks noChangeArrowheads="1"/>
              </p:cNvSpPr>
              <p:nvPr/>
            </p:nvSpPr>
            <p:spPr bwMode="auto">
              <a:xfrm>
                <a:off x="1326051" y="634835"/>
                <a:ext cx="357253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800" dirty="0">
                    <a:latin typeface="Times New Roman" panose="02020603050405020304" pitchFamily="18" charset="0"/>
                    <a:cs typeface="Times New Roman" panose="02020603050405020304" pitchFamily="18" charset="0"/>
                  </a:rPr>
                  <a:t>给定</a:t>
                </a:r>
                <a14:m>
                  <m:oMath xmlns:m="http://schemas.openxmlformats.org/officeDocument/2006/math">
                    <m:r>
                      <a:rPr lang="zh-CN" altLang="en-US" sz="2800" i="1">
                        <a:solidFill>
                          <a:srgbClr val="000000"/>
                        </a:solidFill>
                        <a:latin typeface="Cambria Math" panose="02040503050406030204" charset="0"/>
                      </a:rPr>
                      <m:t>𝑦</m:t>
                    </m:r>
                    <m:r>
                      <a:rPr lang="en-US" altLang="zh-CN" sz="2800" i="1">
                        <a:latin typeface="Cambria Math" panose="02040503050406030204" charset="0"/>
                      </a:rPr>
                      <m:t>𝑂𝑧</m:t>
                    </m:r>
                  </m:oMath>
                </a14:m>
                <a:r>
                  <a:rPr kumimoji="1" lang="en-US" altLang="zh-CN" sz="2800" dirty="0">
                    <a:latin typeface="Times New Roman" panose="02020603050405020304" pitchFamily="18" charset="0"/>
                    <a:cs typeface="Times New Roman" panose="02020603050405020304" pitchFamily="18" charset="0"/>
                  </a:rPr>
                  <a:t> </a:t>
                </a:r>
                <a:r>
                  <a:rPr kumimoji="1" lang="zh-CN" altLang="en-US" sz="2800" dirty="0">
                    <a:latin typeface="Times New Roman" panose="02020603050405020304" pitchFamily="18" charset="0"/>
                    <a:cs typeface="Times New Roman" panose="02020603050405020304" pitchFamily="18" charset="0"/>
                  </a:rPr>
                  <a:t>面上曲线</a:t>
                </a:r>
                <a14:m>
                  <m:oMath xmlns:m="http://schemas.openxmlformats.org/officeDocument/2006/math">
                    <m:r>
                      <a:rPr lang="en-US" altLang="zh-CN" sz="2800" i="1">
                        <a:latin typeface="Cambria Math" panose="02040503050406030204" charset="0"/>
                      </a:rPr>
                      <m:t>𝐶</m:t>
                    </m:r>
                  </m:oMath>
                </a14:m>
                <a:r>
                  <a:rPr kumimoji="1" lang="en-US" altLang="zh-CN" sz="2800" dirty="0">
                    <a:latin typeface="Times New Roman" panose="02020603050405020304" pitchFamily="18" charset="0"/>
                    <a:cs typeface="Times New Roman" panose="02020603050405020304" pitchFamily="18" charset="0"/>
                  </a:rPr>
                  <a:t>: </a:t>
                </a:r>
                <a:endParaRPr kumimoji="1" lang="en-US" altLang="zh-CN" sz="2800" dirty="0">
                  <a:latin typeface="Times New Roman" panose="02020603050405020304" pitchFamily="18" charset="0"/>
                  <a:cs typeface="Times New Roman" panose="02020603050405020304" pitchFamily="18" charset="0"/>
                </a:endParaRPr>
              </a:p>
            </p:txBody>
          </p:sp>
        </mc:Choice>
        <mc:Fallback>
          <p:sp>
            <p:nvSpPr>
              <p:cNvPr id="15408" name="Text Box 48"/>
              <p:cNvSpPr txBox="1">
                <a:spLocks noRot="1" noChangeAspect="1" noMove="1" noResize="1" noEditPoints="1" noAdjustHandles="1" noChangeArrowheads="1" noChangeShapeType="1" noTextEdit="1"/>
              </p:cNvSpPr>
              <p:nvPr/>
            </p:nvSpPr>
            <p:spPr bwMode="auto">
              <a:xfrm>
                <a:off x="1326051" y="634835"/>
                <a:ext cx="3572538" cy="523220"/>
              </a:xfrm>
              <a:prstGeom prst="rect">
                <a:avLst/>
              </a:prstGeom>
              <a:blipFill rotWithShape="1">
                <a:blip r:embed="rId6"/>
                <a:stretch>
                  <a:fillRect l="-5" t="-90" r="6" b="8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5410" name="Text Box 50"/>
          <p:cNvSpPr txBox="1">
            <a:spLocks noChangeArrowheads="1"/>
          </p:cNvSpPr>
          <p:nvPr/>
        </p:nvSpPr>
        <p:spPr bwMode="auto">
          <a:xfrm>
            <a:off x="3036546" y="4133216"/>
            <a:ext cx="101445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800" dirty="0">
                <a:latin typeface="Times New Roman" panose="02020603050405020304" pitchFamily="18" charset="0"/>
                <a:cs typeface="Times New Roman" panose="02020603050405020304" pitchFamily="18" charset="0"/>
              </a:rPr>
              <a:t>则有</a:t>
            </a:r>
            <a:endParaRPr kumimoji="1" lang="zh-CN" altLang="en-US" sz="28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5411" name="Object 51"/>
              <p:cNvSpPr txBox="1"/>
              <p:nvPr/>
            </p:nvSpPr>
            <p:spPr bwMode="auto">
              <a:xfrm>
                <a:off x="4293946" y="5159695"/>
                <a:ext cx="3440200" cy="699732"/>
              </a:xfrm>
              <a:prstGeom prst="rect">
                <a:avLst/>
              </a:prstGeom>
              <a:solidFill>
                <a:srgbClr val="04926A">
                  <a:alpha val="42000"/>
                </a:srgbClr>
              </a:solidFill>
              <a:ln w="9525">
                <a:noFill/>
                <a:miter lim="800000"/>
              </a:ln>
              <a:effectLst/>
            </p:spPr>
            <p:txBody>
              <a:bodyPr>
                <a:noAutofit/>
              </a:bodyPr>
              <a:lstStyle/>
              <a:p>
                <a14:m>
                  <m:oMathPara xmlns:m="http://schemas.openxmlformats.org/officeDocument/2006/math">
                    <m:oMathParaPr>
                      <m:jc m:val="left"/>
                    </m:oMathParaPr>
                    <m:oMath xmlns:m="http://schemas.openxmlformats.org/officeDocument/2006/math">
                      <m:r>
                        <a:rPr lang="zh-CN" altLang="en-US" sz="2800" i="1">
                          <a:solidFill>
                            <a:srgbClr val="000000"/>
                          </a:solidFill>
                          <a:highlight>
                            <a:srgbClr val="FFFF00"/>
                          </a:highlight>
                          <a:latin typeface="Cambria Math" panose="02040503050406030204" charset="0"/>
                        </a:rPr>
                        <m:t>𝑓</m:t>
                      </m:r>
                      <m:r>
                        <a:rPr lang="zh-CN" altLang="en-US" sz="2800" i="1">
                          <a:solidFill>
                            <a:srgbClr val="000000"/>
                          </a:solidFill>
                          <a:highlight>
                            <a:srgbClr val="FFFF00"/>
                          </a:highlight>
                          <a:latin typeface="Cambria Math" panose="02040503050406030204" charset="0"/>
                        </a:rPr>
                        <m:t>(±</m:t>
                      </m:r>
                      <m:rad>
                        <m:radPr>
                          <m:degHide m:val="on"/>
                          <m:ctrlPr>
                            <a:rPr lang="zh-CN" altLang="en-US" sz="2800" i="1">
                              <a:solidFill>
                                <a:srgbClr val="000000"/>
                              </a:solidFill>
                              <a:highlight>
                                <a:srgbClr val="FFFF00"/>
                              </a:highlight>
                              <a:latin typeface="Cambria Math" panose="02040503050406030204" charset="0"/>
                            </a:rPr>
                          </m:ctrlPr>
                        </m:radPr>
                        <m:deg/>
                        <m:e>
                          <m:sSup>
                            <m:sSupPr>
                              <m:ctrlPr>
                                <a:rPr lang="zh-CN" altLang="en-US" sz="2800" i="1">
                                  <a:solidFill>
                                    <a:srgbClr val="000000"/>
                                  </a:solidFill>
                                  <a:highlight>
                                    <a:srgbClr val="FFFF00"/>
                                  </a:highlight>
                                  <a:latin typeface="Cambria Math" panose="02040503050406030204" charset="0"/>
                                </a:rPr>
                              </m:ctrlPr>
                            </m:sSupPr>
                            <m:e>
                              <m:r>
                                <a:rPr lang="zh-CN" altLang="en-US" sz="2800" i="1">
                                  <a:solidFill>
                                    <a:srgbClr val="000000"/>
                                  </a:solidFill>
                                  <a:highlight>
                                    <a:srgbClr val="FFFF00"/>
                                  </a:highlight>
                                  <a:latin typeface="Cambria Math" panose="02040503050406030204" charset="0"/>
                                </a:rPr>
                                <m:t>𝑥</m:t>
                              </m:r>
                            </m:e>
                            <m:sup>
                              <m:r>
                                <a:rPr lang="zh-CN" altLang="en-US" sz="2800" i="1">
                                  <a:solidFill>
                                    <a:srgbClr val="000000"/>
                                  </a:solidFill>
                                  <a:highlight>
                                    <a:srgbClr val="FFFF00"/>
                                  </a:highlight>
                                  <a:latin typeface="Cambria Math" panose="02040503050406030204" charset="0"/>
                                </a:rPr>
                                <m:t>2</m:t>
                              </m:r>
                            </m:sup>
                          </m:sSup>
                          <m:r>
                            <a:rPr lang="zh-CN" altLang="en-US" sz="2800" i="1">
                              <a:solidFill>
                                <a:srgbClr val="000000"/>
                              </a:solidFill>
                              <a:highlight>
                                <a:srgbClr val="FFFF00"/>
                              </a:highlight>
                              <a:latin typeface="Cambria Math" panose="02040503050406030204" charset="0"/>
                            </a:rPr>
                            <m:t>+</m:t>
                          </m:r>
                          <m:sSup>
                            <m:sSupPr>
                              <m:ctrlPr>
                                <a:rPr lang="zh-CN" altLang="en-US" sz="2800" i="1">
                                  <a:solidFill>
                                    <a:srgbClr val="000000"/>
                                  </a:solidFill>
                                  <a:highlight>
                                    <a:srgbClr val="FFFF00"/>
                                  </a:highlight>
                                  <a:latin typeface="Cambria Math" panose="02040503050406030204" charset="0"/>
                                </a:rPr>
                              </m:ctrlPr>
                            </m:sSupPr>
                            <m:e>
                              <m:r>
                                <a:rPr lang="zh-CN" altLang="en-US" sz="2800" i="1">
                                  <a:solidFill>
                                    <a:srgbClr val="000000"/>
                                  </a:solidFill>
                                  <a:highlight>
                                    <a:srgbClr val="FFFF00"/>
                                  </a:highlight>
                                  <a:latin typeface="Cambria Math" panose="02040503050406030204" charset="0"/>
                                </a:rPr>
                                <m:t>𝑦</m:t>
                              </m:r>
                            </m:e>
                            <m:sup>
                              <m:r>
                                <a:rPr lang="zh-CN" altLang="en-US" sz="2800" i="1">
                                  <a:solidFill>
                                    <a:srgbClr val="000000"/>
                                  </a:solidFill>
                                  <a:highlight>
                                    <a:srgbClr val="FFFF00"/>
                                  </a:highlight>
                                  <a:latin typeface="Cambria Math" panose="02040503050406030204" charset="0"/>
                                </a:rPr>
                                <m:t>2</m:t>
                              </m:r>
                            </m:sup>
                          </m:sSup>
                        </m:e>
                      </m:rad>
                      <m:r>
                        <a:rPr lang="zh-CN" altLang="en-US" sz="2800" i="1">
                          <a:solidFill>
                            <a:srgbClr val="000000"/>
                          </a:solidFill>
                          <a:highlight>
                            <a:srgbClr val="FFFF00"/>
                          </a:highlight>
                          <a:latin typeface="Cambria Math" panose="02040503050406030204" charset="0"/>
                        </a:rPr>
                        <m:t>,</m:t>
                      </m:r>
                      <m:r>
                        <a:rPr lang="zh-CN" altLang="en-US" sz="2800" i="1">
                          <a:solidFill>
                            <a:srgbClr val="000000"/>
                          </a:solidFill>
                          <a:highlight>
                            <a:srgbClr val="FFFF00"/>
                          </a:highlight>
                          <a:latin typeface="Cambria Math" panose="02040503050406030204" charset="0"/>
                        </a:rPr>
                        <m:t>𝑧</m:t>
                      </m:r>
                      <m:r>
                        <a:rPr lang="zh-CN" altLang="en-US" sz="2800" i="1">
                          <a:solidFill>
                            <a:srgbClr val="000000"/>
                          </a:solidFill>
                          <a:highlight>
                            <a:srgbClr val="FFFF00"/>
                          </a:highlight>
                          <a:latin typeface="Cambria Math" panose="02040503050406030204" charset="0"/>
                        </a:rPr>
                        <m:t>)=</m:t>
                      </m:r>
                      <m:r>
                        <a:rPr lang="zh-CN" altLang="en-US" sz="2800" i="1">
                          <a:solidFill>
                            <a:srgbClr val="000000"/>
                          </a:solidFill>
                          <a:highlight>
                            <a:srgbClr val="FFFF00"/>
                          </a:highlight>
                          <a:latin typeface="Cambria Math" panose="02040503050406030204" charset="0"/>
                        </a:rPr>
                        <m:t>0</m:t>
                      </m:r>
                      <m:r>
                        <a:rPr lang="zh-CN" altLang="en-US" sz="2800" i="1">
                          <a:solidFill>
                            <a:srgbClr val="000000"/>
                          </a:solidFill>
                          <a:highlight>
                            <a:srgbClr val="FFFF00"/>
                          </a:highlight>
                          <a:latin typeface="Cambria Math" panose="02040503050406030204" charset="0"/>
                          <a:ea typeface="MS Mincho" panose="02020609040205080304" charset="-128"/>
                          <a:cs typeface="Cambria Math" panose="02040503050406030204" charset="0"/>
                        </a:rPr>
                        <m:t>.</m:t>
                      </m:r>
                    </m:oMath>
                  </m:oMathPara>
                </a14:m>
                <a:endParaRPr lang="zh-CN" altLang="en-US" sz="2800" i="1" dirty="0">
                  <a:solidFill>
                    <a:srgbClr val="000000"/>
                  </a:solidFill>
                  <a:highlight>
                    <a:srgbClr val="FFFF00"/>
                  </a:highlight>
                  <a:latin typeface="Cambria Math" panose="02040503050406030204" charset="0"/>
                </a:endParaRPr>
              </a:p>
            </p:txBody>
          </p:sp>
        </mc:Choice>
        <mc:Fallback>
          <p:sp>
            <p:nvSpPr>
              <p:cNvPr id="15411" name="Object 51"/>
              <p:cNvSpPr txBox="1">
                <a:spLocks noRot="1" noChangeAspect="1" noMove="1" noResize="1" noEditPoints="1" noAdjustHandles="1" noChangeArrowheads="1" noChangeShapeType="1" noTextEdit="1"/>
              </p:cNvSpPr>
              <p:nvPr/>
            </p:nvSpPr>
            <p:spPr bwMode="auto">
              <a:xfrm>
                <a:off x="4293946" y="5159695"/>
                <a:ext cx="3440200" cy="699732"/>
              </a:xfrm>
              <a:prstGeom prst="rect">
                <a:avLst/>
              </a:prstGeom>
              <a:blipFill rotWithShape="1">
                <a:blip r:embed="rId7"/>
                <a:stretch>
                  <a:fillRect l="-2" t="-46" r="14" b="40"/>
                </a:stretch>
              </a:blipFill>
              <a:ln w="9525">
                <a:noFill/>
                <a:miter lim="800000"/>
              </a:ln>
              <a:effectLst/>
            </p:spPr>
            <p:txBody>
              <a:bodyPr/>
              <a:lstStyle/>
              <a:p>
                <a:r>
                  <a:rPr lang="zh-CN" altLang="en-US">
                    <a:noFill/>
                  </a:rPr>
                  <a:t> </a:t>
                </a:r>
              </a:p>
            </p:txBody>
          </p:sp>
        </mc:Fallback>
      </mc:AlternateContent>
      <p:sp>
        <p:nvSpPr>
          <p:cNvPr id="15412" name="Text Box 52"/>
          <p:cNvSpPr txBox="1">
            <a:spLocks noChangeArrowheads="1"/>
          </p:cNvSpPr>
          <p:nvPr/>
        </p:nvSpPr>
        <p:spPr bwMode="auto">
          <a:xfrm>
            <a:off x="4744536" y="1927907"/>
            <a:ext cx="100081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800" dirty="0">
                <a:latin typeface="Times New Roman" panose="02020603050405020304" pitchFamily="18" charset="0"/>
                <a:cs typeface="Times New Roman" panose="02020603050405020304" pitchFamily="18" charset="0"/>
              </a:rPr>
              <a:t>则有</a:t>
            </a:r>
            <a:endParaRPr kumimoji="1" lang="zh-CN" altLang="en-US" sz="2800" dirty="0">
              <a:latin typeface="Times New Roman" panose="02020603050405020304" pitchFamily="18" charset="0"/>
              <a:cs typeface="Times New Roman" panose="02020603050405020304" pitchFamily="18" charset="0"/>
            </a:endParaRPr>
          </a:p>
        </p:txBody>
      </p:sp>
      <p:sp>
        <p:nvSpPr>
          <p:cNvPr id="15413" name="Text Box 53"/>
          <p:cNvSpPr txBox="1">
            <a:spLocks noChangeArrowheads="1"/>
          </p:cNvSpPr>
          <p:nvPr/>
        </p:nvSpPr>
        <p:spPr bwMode="auto">
          <a:xfrm>
            <a:off x="3959452" y="3163581"/>
            <a:ext cx="1981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dirty="0">
                <a:latin typeface="Times New Roman" panose="02020603050405020304" pitchFamily="18" charset="0"/>
                <a:cs typeface="Times New Roman" panose="02020603050405020304" pitchFamily="18" charset="0"/>
              </a:rPr>
              <a:t>该点转到</a:t>
            </a:r>
            <a:endParaRPr kumimoji="1" lang="zh-CN" altLang="en-US" sz="28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5415" name="Object 55"/>
              <p:cNvSpPr txBox="1">
                <a:spLocks noGrp="1"/>
              </p:cNvSpPr>
              <p:nvPr>
                <p:ph/>
              </p:nvPr>
            </p:nvSpPr>
            <p:spPr bwMode="auto">
              <a:xfrm>
                <a:off x="2191829" y="1257210"/>
                <a:ext cx="2102118" cy="529723"/>
              </a:xfrm>
              <a:prstGeom prst="rect">
                <a:avLst/>
              </a:prstGeom>
              <a:noFill/>
              <a:ln>
                <a:noFill/>
              </a:ln>
              <a:effectLst/>
            </p:spPr>
            <p:txBody>
              <a:bodyPr>
                <a:normAutofit/>
              </a:bodyPr>
              <a:lstStyle/>
              <a:p>
                <a:pPr>
                  <a:buNone/>
                </a:pPr>
                <a14:m>
                  <m:oMathPara xmlns:m="http://schemas.openxmlformats.org/officeDocument/2006/math">
                    <m:oMathParaPr>
                      <m:jc m:val="left"/>
                    </m:oMathParaPr>
                    <m:oMath xmlns:m="http://schemas.openxmlformats.org/officeDocument/2006/math">
                      <m:r>
                        <a:rPr lang="zh-CN" altLang="en-US" i="1" smtClean="0">
                          <a:solidFill>
                            <a:srgbClr val="000000"/>
                          </a:solidFill>
                          <a:latin typeface="Cambria Math" panose="02040503050406030204" charset="0"/>
                        </a:rPr>
                        <m:t>𝑓</m:t>
                      </m:r>
                      <m:r>
                        <a:rPr lang="zh-CN" altLang="en-US" i="1" smtClean="0">
                          <a:solidFill>
                            <a:srgbClr val="000000"/>
                          </a:solidFill>
                          <a:latin typeface="Cambria Math" panose="02040503050406030204" charset="0"/>
                        </a:rPr>
                        <m:t>(</m:t>
                      </m:r>
                      <m:r>
                        <a:rPr lang="en-US" altLang="zh-CN" b="1" i="1" smtClean="0">
                          <a:solidFill>
                            <a:srgbClr val="000000"/>
                          </a:solidFill>
                          <a:latin typeface="Cambria Math" panose="02040503050406030204" charset="0"/>
                        </a:rPr>
                        <m:t> </m:t>
                      </m:r>
                      <m:r>
                        <a:rPr lang="zh-CN" altLang="en-US" i="1">
                          <a:solidFill>
                            <a:srgbClr val="000000"/>
                          </a:solidFill>
                          <a:latin typeface="Cambria Math" panose="02040503050406030204" charset="0"/>
                        </a:rPr>
                        <m:t>𝑦</m:t>
                      </m:r>
                      <m:r>
                        <a:rPr lang="zh-CN" altLang="en-US" i="1">
                          <a:solidFill>
                            <a:srgbClr val="000000"/>
                          </a:solidFill>
                          <a:latin typeface="Cambria Math" panose="02040503050406030204" charset="0"/>
                        </a:rPr>
                        <m:t>,</m:t>
                      </m:r>
                      <m:r>
                        <a:rPr lang="zh-CN" altLang="en-US" i="1">
                          <a:solidFill>
                            <a:srgbClr val="000000"/>
                          </a:solidFill>
                          <a:latin typeface="Cambria Math" panose="02040503050406030204" charset="0"/>
                        </a:rPr>
                        <m:t>𝑧</m:t>
                      </m:r>
                      <m:r>
                        <a:rPr lang="en-US" altLang="zh-CN" b="1" i="1" smtClean="0">
                          <a:solidFill>
                            <a:srgbClr val="000000"/>
                          </a:solidFill>
                          <a:latin typeface="Cambria Math" panose="02040503050406030204" charset="0"/>
                        </a:rPr>
                        <m:t> </m:t>
                      </m:r>
                      <m:r>
                        <a:rPr lang="zh-CN" altLang="en-US" i="1">
                          <a:solidFill>
                            <a:srgbClr val="000000"/>
                          </a:solidFill>
                          <a:latin typeface="Cambria Math" panose="02040503050406030204" charset="0"/>
                        </a:rPr>
                        <m:t>)=</m:t>
                      </m:r>
                      <m:r>
                        <a:rPr lang="zh-CN" altLang="en-US" i="1">
                          <a:solidFill>
                            <a:srgbClr val="000000"/>
                          </a:solidFill>
                          <a:latin typeface="Cambria Math" panose="02040503050406030204" charset="0"/>
                        </a:rPr>
                        <m:t>0</m:t>
                      </m:r>
                      <m:r>
                        <a:rPr lang="zh-CN" altLang="en-US" i="1">
                          <a:solidFill>
                            <a:srgbClr val="000000"/>
                          </a:solidFill>
                          <a:latin typeface="Cambria Math" panose="02040503050406030204" charset="0"/>
                        </a:rPr>
                        <m:t>.</m:t>
                      </m:r>
                    </m:oMath>
                  </m:oMathPara>
                </a14:m>
                <a:endParaRPr lang="zh-CN" altLang="en-US" dirty="0"/>
              </a:p>
            </p:txBody>
          </p:sp>
        </mc:Choice>
        <mc:Fallback>
          <p:sp>
            <p:nvSpPr>
              <p:cNvPr id="15415" name="Object 55"/>
              <p:cNvSpPr txBox="1">
                <a:spLocks noRot="1" noChangeAspect="1" noMove="1" noResize="1" noEditPoints="1" noAdjustHandles="1" noChangeArrowheads="1" noChangeShapeType="1" noTextEdit="1"/>
              </p:cNvSpPr>
              <p:nvPr>
                <p:ph/>
              </p:nvPr>
            </p:nvSpPr>
            <p:spPr bwMode="auto">
              <a:xfrm>
                <a:off x="2191829" y="1257210"/>
                <a:ext cx="2102118" cy="529723"/>
              </a:xfrm>
              <a:prstGeom prst="rect">
                <a:avLst/>
              </a:prstGeom>
              <a:blipFill rotWithShape="1">
                <a:blip r:embed="rId8"/>
                <a:stretch>
                  <a:fillRect l="-21" t="-103" r="4" b="8"/>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对象 1"/>
              <p:cNvSpPr txBox="1"/>
              <p:nvPr/>
            </p:nvSpPr>
            <p:spPr>
              <a:xfrm>
                <a:off x="3862052" y="3812074"/>
                <a:ext cx="3219232" cy="1165505"/>
              </a:xfrm>
              <a:prstGeom prst="rect">
                <a:avLst/>
              </a:prstGeom>
            </p:spPr>
            <p:txBody>
              <a:bodyPr>
                <a:normAutofit/>
              </a:bodyPr>
              <a:lstStyle/>
              <a:p>
                <a14:m>
                  <m:oMathPara xmlns:m="http://schemas.openxmlformats.org/officeDocument/2006/math">
                    <m:oMathParaPr>
                      <m:jc m:val="left"/>
                    </m:oMathParaPr>
                    <m:oMath xmlns:m="http://schemas.openxmlformats.org/officeDocument/2006/math">
                      <m:d>
                        <m:dPr>
                          <m:begChr m:val="{"/>
                          <m:endChr m:val=""/>
                          <m:ctrlPr>
                            <a:rPr lang="zh-CN" altLang="en-US" sz="2800" i="1">
                              <a:solidFill>
                                <a:srgbClr val="000000"/>
                              </a:solidFill>
                              <a:latin typeface="Cambria Math" panose="02040503050406030204" charset="0"/>
                            </a:rPr>
                          </m:ctrlPr>
                        </m:dPr>
                        <m:e>
                          <m:eqArr>
                            <m:eqArrPr>
                              <m:ctrlPr>
                                <a:rPr lang="zh-CN" altLang="en-US" sz="2800" i="1">
                                  <a:solidFill>
                                    <a:srgbClr val="000000"/>
                                  </a:solidFill>
                                  <a:latin typeface="Cambria Math" panose="02040503050406030204" charset="0"/>
                                </a:rPr>
                              </m:ctrlPr>
                            </m:eqArrPr>
                            <m:e>
                              <m:r>
                                <a:rPr lang="zh-CN" altLang="en-US" sz="2800" i="1">
                                  <a:solidFill>
                                    <a:srgbClr val="000000"/>
                                  </a:solidFill>
                                  <a:latin typeface="Cambria Math" panose="02040503050406030204" charset="0"/>
                                </a:rPr>
                                <m:t>&amp;</m:t>
                              </m:r>
                              <m:r>
                                <a:rPr lang="zh-CN" altLang="en-US" sz="2800" i="1">
                                  <a:solidFill>
                                    <a:srgbClr val="000000"/>
                                  </a:solidFill>
                                  <a:latin typeface="Cambria Math" panose="02040503050406030204" charset="0"/>
                                </a:rPr>
                                <m:t>𝑧</m:t>
                              </m:r>
                              <m:r>
                                <a:rPr lang="zh-CN" altLang="en-US" sz="2800" i="1">
                                  <a:solidFill>
                                    <a:srgbClr val="000000"/>
                                  </a:solidFill>
                                  <a:latin typeface="Cambria Math" panose="02040503050406030204" charset="0"/>
                                </a:rPr>
                                <m:t>=</m:t>
                              </m:r>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𝑧</m:t>
                                  </m:r>
                                </m:e>
                                <m:sub>
                                  <m:r>
                                    <a:rPr lang="zh-CN" altLang="en-US" sz="2800" i="1">
                                      <a:solidFill>
                                        <a:srgbClr val="000000"/>
                                      </a:solidFill>
                                      <a:latin typeface="Cambria Math" panose="02040503050406030204" charset="0"/>
                                    </a:rPr>
                                    <m:t>1</m:t>
                                  </m:r>
                                </m:sub>
                              </m:sSub>
                              <m:r>
                                <a:rPr lang="zh-CN" altLang="en-US" sz="2800" i="1">
                                  <a:solidFill>
                                    <a:srgbClr val="000000"/>
                                  </a:solidFill>
                                  <a:latin typeface="Cambria Math" panose="02040503050406030204" charset="0"/>
                                </a:rPr>
                                <m:t>,</m:t>
                              </m:r>
                            </m:e>
                            <m:e>
                              <m:r>
                                <a:rPr lang="zh-CN" altLang="en-US" sz="2800" i="1">
                                  <a:solidFill>
                                    <a:srgbClr val="000000"/>
                                  </a:solidFill>
                                  <a:latin typeface="Cambria Math" panose="02040503050406030204" charset="0"/>
                                </a:rPr>
                                <m:t>&amp;</m:t>
                              </m:r>
                              <m:rad>
                                <m:radPr>
                                  <m:degHide m:val="on"/>
                                  <m:ctrlPr>
                                    <a:rPr lang="zh-CN" altLang="en-US" sz="2800" i="1">
                                      <a:solidFill>
                                        <a:srgbClr val="000000"/>
                                      </a:solidFill>
                                      <a:latin typeface="Cambria Math" panose="02040503050406030204" charset="0"/>
                                    </a:rPr>
                                  </m:ctrlPr>
                                </m:radPr>
                                <m:deg/>
                                <m:e>
                                  <m:sSup>
                                    <m:sSupPr>
                                      <m:ctrlPr>
                                        <a:rPr lang="zh-CN" altLang="en-US" sz="2800" i="1">
                                          <a:solidFill>
                                            <a:srgbClr val="000000"/>
                                          </a:solidFill>
                                          <a:latin typeface="Cambria Math" panose="02040503050406030204" charset="0"/>
                                        </a:rPr>
                                      </m:ctrlPr>
                                    </m:sSupPr>
                                    <m:e>
                                      <m:r>
                                        <a:rPr lang="zh-CN" altLang="en-US" sz="2800" i="1">
                                          <a:solidFill>
                                            <a:srgbClr val="000000"/>
                                          </a:solidFill>
                                          <a:latin typeface="Cambria Math" panose="02040503050406030204" charset="0"/>
                                        </a:rPr>
                                        <m:t>𝑥</m:t>
                                      </m:r>
                                    </m:e>
                                    <m:sup>
                                      <m:r>
                                        <a:rPr lang="zh-CN" altLang="en-US" sz="2800" i="1">
                                          <a:solidFill>
                                            <a:srgbClr val="000000"/>
                                          </a:solidFill>
                                          <a:latin typeface="Cambria Math" panose="02040503050406030204" charset="0"/>
                                        </a:rPr>
                                        <m:t>2</m:t>
                                      </m:r>
                                    </m:sup>
                                  </m:sSup>
                                  <m:r>
                                    <a:rPr lang="zh-CN" altLang="en-US" sz="2800" i="1">
                                      <a:solidFill>
                                        <a:srgbClr val="000000"/>
                                      </a:solidFill>
                                      <a:latin typeface="Cambria Math" panose="02040503050406030204" charset="0"/>
                                    </a:rPr>
                                    <m:t>+</m:t>
                                  </m:r>
                                  <m:sSup>
                                    <m:sSupPr>
                                      <m:ctrlPr>
                                        <a:rPr lang="zh-CN" altLang="en-US" sz="2800" i="1">
                                          <a:solidFill>
                                            <a:srgbClr val="000000"/>
                                          </a:solidFill>
                                          <a:latin typeface="Cambria Math" panose="02040503050406030204" charset="0"/>
                                        </a:rPr>
                                      </m:ctrlPr>
                                    </m:sSupPr>
                                    <m:e>
                                      <m:r>
                                        <a:rPr lang="zh-CN" altLang="en-US" sz="2800" i="1">
                                          <a:solidFill>
                                            <a:srgbClr val="000000"/>
                                          </a:solidFill>
                                          <a:latin typeface="Cambria Math" panose="02040503050406030204" charset="0"/>
                                        </a:rPr>
                                        <m:t>𝑦</m:t>
                                      </m:r>
                                    </m:e>
                                    <m:sup>
                                      <m:r>
                                        <a:rPr lang="zh-CN" altLang="en-US" sz="2800" i="1">
                                          <a:solidFill>
                                            <a:srgbClr val="000000"/>
                                          </a:solidFill>
                                          <a:latin typeface="Cambria Math" panose="02040503050406030204" charset="0"/>
                                        </a:rPr>
                                        <m:t>2</m:t>
                                      </m:r>
                                    </m:sup>
                                  </m:sSup>
                                </m:e>
                              </m:rad>
                              <m:r>
                                <a:rPr lang="zh-CN" altLang="en-US" sz="2800" i="1">
                                  <a:solidFill>
                                    <a:srgbClr val="000000"/>
                                  </a:solidFill>
                                  <a:latin typeface="Cambria Math" panose="02040503050406030204" charset="0"/>
                                </a:rPr>
                                <m:t>=</m:t>
                              </m:r>
                              <m:d>
                                <m:dPr>
                                  <m:begChr m:val="|"/>
                                  <m:endChr m:val="|"/>
                                  <m:ctrlPr>
                                    <a:rPr lang="zh-CN" altLang="en-US" sz="2800" i="1">
                                      <a:solidFill>
                                        <a:srgbClr val="000000"/>
                                      </a:solidFill>
                                      <a:latin typeface="Cambria Math" panose="02040503050406030204" charset="0"/>
                                    </a:rPr>
                                  </m:ctrlPr>
                                </m:dPr>
                                <m:e>
                                  <m:sSub>
                                    <m:sSubPr>
                                      <m:ctrlPr>
                                        <a:rPr lang="zh-CN" altLang="en-US" sz="2800" i="1">
                                          <a:solidFill>
                                            <a:srgbClr val="000000"/>
                                          </a:solidFill>
                                          <a:latin typeface="Cambria Math" panose="02040503050406030204" charset="0"/>
                                        </a:rPr>
                                      </m:ctrlPr>
                                    </m:sSubPr>
                                    <m:e>
                                      <m:r>
                                        <a:rPr lang="zh-CN" altLang="en-US" sz="2800" i="1">
                                          <a:solidFill>
                                            <a:srgbClr val="000000"/>
                                          </a:solidFill>
                                          <a:latin typeface="Cambria Math" panose="02040503050406030204" charset="0"/>
                                        </a:rPr>
                                        <m:t>𝑦</m:t>
                                      </m:r>
                                    </m:e>
                                    <m:sub>
                                      <m:r>
                                        <a:rPr lang="zh-CN" altLang="en-US" sz="2800" i="1">
                                          <a:solidFill>
                                            <a:srgbClr val="000000"/>
                                          </a:solidFill>
                                          <a:latin typeface="Cambria Math" panose="02040503050406030204" charset="0"/>
                                        </a:rPr>
                                        <m:t>1</m:t>
                                      </m:r>
                                    </m:sub>
                                  </m:sSub>
                                </m:e>
                              </m:d>
                              <m:r>
                                <a:rPr lang="zh-CN" altLang="en-US" sz="2800" i="1">
                                  <a:solidFill>
                                    <a:srgbClr val="000000"/>
                                  </a:solidFill>
                                  <a:latin typeface="Cambria Math" panose="02040503050406030204" charset="0"/>
                                </a:rPr>
                                <m:t>.</m:t>
                              </m:r>
                            </m:e>
                          </m:eqArr>
                        </m:e>
                      </m:d>
                    </m:oMath>
                  </m:oMathPara>
                </a14:m>
                <a:endParaRPr lang="zh-CN" altLang="en-US" sz="2800" dirty="0"/>
              </a:p>
            </p:txBody>
          </p:sp>
        </mc:Choice>
        <mc:Fallback>
          <p:sp>
            <p:nvSpPr>
              <p:cNvPr id="2" name="对象 1"/>
              <p:cNvSpPr txBox="1">
                <a:spLocks noRot="1" noChangeAspect="1" noMove="1" noResize="1" noEditPoints="1" noAdjustHandles="1" noChangeArrowheads="1" noChangeShapeType="1" noTextEdit="1"/>
              </p:cNvSpPr>
              <p:nvPr/>
            </p:nvSpPr>
            <p:spPr>
              <a:xfrm>
                <a:off x="3862052" y="3812074"/>
                <a:ext cx="3219232" cy="1165505"/>
              </a:xfrm>
              <a:prstGeom prst="rect">
                <a:avLst/>
              </a:prstGeom>
              <a:blipFill rotWithShape="1">
                <a:blip r:embed="rId9"/>
                <a:stretch>
                  <a:fillRect l="-19" t="-15" r="12" b="39"/>
                </a:stretch>
              </a:blipFill>
            </p:spPr>
            <p:txBody>
              <a:bodyPr/>
              <a:lstStyle/>
              <a:p>
                <a:r>
                  <a:rPr lang="zh-CN" altLang="en-US">
                    <a:noFill/>
                  </a:rPr>
                  <a:t> </a:t>
                </a:r>
              </a:p>
            </p:txBody>
          </p:sp>
        </mc:Fallback>
      </mc:AlternateContent>
      <p:pic>
        <p:nvPicPr>
          <p:cNvPr id="5" name="图片 4" descr="图示&#10;&#10;描述已自动生成"/>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504286" y="1257210"/>
            <a:ext cx="2560917" cy="2953467"/>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408">
                                            <p:txEl>
                                              <p:pRg st="4294967295" end="4294967295"/>
                                            </p:txEl>
                                          </p:spTgt>
                                        </p:tgtEl>
                                        <p:attrNameLst>
                                          <p:attrName>style.visibility</p:attrName>
                                        </p:attrNameLst>
                                      </p:cBhvr>
                                      <p:to>
                                        <p:strVal val="visible"/>
                                      </p:to>
                                    </p:set>
                                    <p:animEffect transition="in" filter="wipe(left)">
                                      <p:cBhvr>
                                        <p:cTn id="12" dur="500"/>
                                        <p:tgtEl>
                                          <p:spTgt spid="15408">
                                            <p:txEl>
                                              <p:pRg st="4294967295" end="429496729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408">
                                            <p:txEl>
                                              <p:pRg st="0" end="0"/>
                                            </p:txEl>
                                          </p:spTgt>
                                        </p:tgtEl>
                                        <p:attrNameLst>
                                          <p:attrName>style.visibility</p:attrName>
                                        </p:attrNameLst>
                                      </p:cBhvr>
                                      <p:to>
                                        <p:strVal val="visible"/>
                                      </p:to>
                                    </p:set>
                                    <p:animEffect transition="in" filter="wipe(left)">
                                      <p:cBhvr>
                                        <p:cTn id="17" dur="500"/>
                                        <p:tgtEl>
                                          <p:spTgt spid="1540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415">
                                            <p:txEl>
                                              <p:pRg st="4294967295" end="4294967295"/>
                                            </p:txEl>
                                          </p:spTgt>
                                        </p:tgtEl>
                                        <p:attrNameLst>
                                          <p:attrName>style.visibility</p:attrName>
                                        </p:attrNameLst>
                                      </p:cBhvr>
                                      <p:to>
                                        <p:strVal val="visible"/>
                                      </p:to>
                                    </p:set>
                                    <p:animEffect transition="in" filter="wipe(left)">
                                      <p:cBhvr>
                                        <p:cTn id="22" dur="500"/>
                                        <p:tgtEl>
                                          <p:spTgt spid="15415">
                                            <p:txEl>
                                              <p:pRg st="4294967295" end="429496729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415">
                                            <p:txEl>
                                              <p:pRg st="0" end="0"/>
                                            </p:txEl>
                                          </p:spTgt>
                                        </p:tgtEl>
                                        <p:attrNameLst>
                                          <p:attrName>style.visibility</p:attrName>
                                        </p:attrNameLst>
                                      </p:cBhvr>
                                      <p:to>
                                        <p:strVal val="visible"/>
                                      </p:to>
                                    </p:set>
                                    <p:animEffect transition="in" filter="wipe(left)">
                                      <p:cBhvr>
                                        <p:cTn id="27" dur="500"/>
                                        <p:tgtEl>
                                          <p:spTgt spid="15415">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407"/>
                                        </p:tgtEl>
                                        <p:attrNameLst>
                                          <p:attrName>style.visibility</p:attrName>
                                        </p:attrNameLst>
                                      </p:cBhvr>
                                      <p:to>
                                        <p:strVal val="visible"/>
                                      </p:to>
                                    </p:set>
                                    <p:animEffect transition="in" filter="wipe(left)">
                                      <p:cBhvr>
                                        <p:cTn id="32" dur="500"/>
                                        <p:tgtEl>
                                          <p:spTgt spid="15407"/>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15406"/>
                                        </p:tgtEl>
                                        <p:attrNameLst>
                                          <p:attrName>style.visibility</p:attrName>
                                        </p:attrNameLst>
                                      </p:cBhvr>
                                      <p:to>
                                        <p:strVal val="visible"/>
                                      </p:to>
                                    </p:set>
                                    <p:animEffect transition="in" filter="wipe(left)">
                                      <p:cBhvr>
                                        <p:cTn id="36" dur="500"/>
                                        <p:tgtEl>
                                          <p:spTgt spid="1540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5412"/>
                                        </p:tgtEl>
                                        <p:attrNameLst>
                                          <p:attrName>style.visibility</p:attrName>
                                        </p:attrNameLst>
                                      </p:cBhvr>
                                      <p:to>
                                        <p:strVal val="visible"/>
                                      </p:to>
                                    </p:set>
                                    <p:animEffect transition="in" filter="wipe(left)">
                                      <p:cBhvr>
                                        <p:cTn id="41" dur="500"/>
                                        <p:tgtEl>
                                          <p:spTgt spid="15412"/>
                                        </p:tgtEl>
                                      </p:cBhvr>
                                    </p:animEffect>
                                  </p:childTnLst>
                                </p:cTn>
                              </p:par>
                            </p:childTnLst>
                          </p:cTn>
                        </p:par>
                        <p:par>
                          <p:cTn id="42" fill="hold">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15405"/>
                                        </p:tgtEl>
                                        <p:attrNameLst>
                                          <p:attrName>style.visibility</p:attrName>
                                        </p:attrNameLst>
                                      </p:cBhvr>
                                      <p:to>
                                        <p:strVal val="visible"/>
                                      </p:to>
                                    </p:set>
                                    <p:animEffect transition="in" filter="wipe(left)">
                                      <p:cBhvr>
                                        <p:cTn id="45" dur="500"/>
                                        <p:tgtEl>
                                          <p:spTgt spid="1540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5404"/>
                                        </p:tgtEl>
                                        <p:attrNameLst>
                                          <p:attrName>style.visibility</p:attrName>
                                        </p:attrNameLst>
                                      </p:cBhvr>
                                      <p:to>
                                        <p:strVal val="visible"/>
                                      </p:to>
                                    </p:set>
                                    <p:animEffect transition="in" filter="wipe(left)">
                                      <p:cBhvr>
                                        <p:cTn id="50" dur="500"/>
                                        <p:tgtEl>
                                          <p:spTgt spid="15404"/>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5413"/>
                                        </p:tgtEl>
                                        <p:attrNameLst>
                                          <p:attrName>style.visibility</p:attrName>
                                        </p:attrNameLst>
                                      </p:cBhvr>
                                      <p:to>
                                        <p:strVal val="visible"/>
                                      </p:to>
                                    </p:set>
                                    <p:animEffect transition="in" filter="wipe(left)">
                                      <p:cBhvr>
                                        <p:cTn id="55" dur="500"/>
                                        <p:tgtEl>
                                          <p:spTgt spid="15413"/>
                                        </p:tgtEl>
                                      </p:cBhvr>
                                    </p:animEffect>
                                  </p:childTnLst>
                                </p:cTn>
                              </p:par>
                            </p:childTnLst>
                          </p:cTn>
                        </p:par>
                        <p:par>
                          <p:cTn id="56" fill="hold">
                            <p:stCondLst>
                              <p:cond delay="500"/>
                            </p:stCondLst>
                            <p:childTnLst>
                              <p:par>
                                <p:cTn id="57" presetID="22" presetClass="entr" presetSubtype="8" fill="hold" grpId="0" nodeType="afterEffect">
                                  <p:stCondLst>
                                    <p:cond delay="0"/>
                                  </p:stCondLst>
                                  <p:childTnLst>
                                    <p:set>
                                      <p:cBhvr>
                                        <p:cTn id="58" dur="1" fill="hold">
                                          <p:stCondLst>
                                            <p:cond delay="0"/>
                                          </p:stCondLst>
                                        </p:cTn>
                                        <p:tgtEl>
                                          <p:spTgt spid="15403"/>
                                        </p:tgtEl>
                                        <p:attrNameLst>
                                          <p:attrName>style.visibility</p:attrName>
                                        </p:attrNameLst>
                                      </p:cBhvr>
                                      <p:to>
                                        <p:strVal val="visible"/>
                                      </p:to>
                                    </p:set>
                                    <p:animEffect transition="in" filter="wipe(left)">
                                      <p:cBhvr>
                                        <p:cTn id="59" dur="500"/>
                                        <p:tgtEl>
                                          <p:spTgt spid="15403"/>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5410"/>
                                        </p:tgtEl>
                                        <p:attrNameLst>
                                          <p:attrName>style.visibility</p:attrName>
                                        </p:attrNameLst>
                                      </p:cBhvr>
                                      <p:to>
                                        <p:strVal val="visible"/>
                                      </p:to>
                                    </p:set>
                                    <p:animEffect transition="in" filter="wipe(left)">
                                      <p:cBhvr>
                                        <p:cTn id="64" dur="500"/>
                                        <p:tgtEl>
                                          <p:spTgt spid="15410"/>
                                        </p:tgtEl>
                                      </p:cBhvr>
                                    </p:animEffect>
                                  </p:childTnLst>
                                </p:cTn>
                              </p:par>
                            </p:childTnLst>
                          </p:cTn>
                        </p:par>
                        <p:par>
                          <p:cTn id="65" fill="hold">
                            <p:stCondLst>
                              <p:cond delay="500"/>
                            </p:stCondLst>
                            <p:childTnLst>
                              <p:par>
                                <p:cTn id="66" presetID="22" presetClass="entr" presetSubtype="8" fill="hold" grpId="0" nodeType="afterEffect">
                                  <p:stCondLst>
                                    <p:cond delay="0"/>
                                  </p:stCondLst>
                                  <p:childTnLst>
                                    <p:set>
                                      <p:cBhvr>
                                        <p:cTn id="67" dur="1" fill="hold">
                                          <p:stCondLst>
                                            <p:cond delay="0"/>
                                          </p:stCondLst>
                                        </p:cTn>
                                        <p:tgtEl>
                                          <p:spTgt spid="2"/>
                                        </p:tgtEl>
                                        <p:attrNameLst>
                                          <p:attrName>style.visibility</p:attrName>
                                        </p:attrNameLst>
                                      </p:cBhvr>
                                      <p:to>
                                        <p:strVal val="visible"/>
                                      </p:to>
                                    </p:set>
                                    <p:animEffect transition="in" filter="wipe(left)">
                                      <p:cBhvr>
                                        <p:cTn id="68" dur="500"/>
                                        <p:tgtEl>
                                          <p:spTgt spid="2"/>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15402"/>
                                        </p:tgtEl>
                                        <p:attrNameLst>
                                          <p:attrName>style.visibility</p:attrName>
                                        </p:attrNameLst>
                                      </p:cBhvr>
                                      <p:to>
                                        <p:strVal val="visible"/>
                                      </p:to>
                                    </p:set>
                                    <p:animEffect transition="in" filter="wipe(left)">
                                      <p:cBhvr>
                                        <p:cTn id="73" dur="500"/>
                                        <p:tgtEl>
                                          <p:spTgt spid="15402"/>
                                        </p:tgtEl>
                                      </p:cBhvr>
                                    </p:animEffect>
                                  </p:childTnLst>
                                </p:cTn>
                              </p:par>
                            </p:childTnLst>
                          </p:cTn>
                        </p:par>
                        <p:par>
                          <p:cTn id="74" fill="hold">
                            <p:stCondLst>
                              <p:cond delay="500"/>
                            </p:stCondLst>
                            <p:childTnLst>
                              <p:par>
                                <p:cTn id="75" presetID="22" presetClass="entr" presetSubtype="8" fill="hold" grpId="0" nodeType="afterEffect">
                                  <p:stCondLst>
                                    <p:cond delay="0"/>
                                  </p:stCondLst>
                                  <p:childTnLst>
                                    <p:set>
                                      <p:cBhvr>
                                        <p:cTn id="76" dur="1" fill="hold">
                                          <p:stCondLst>
                                            <p:cond delay="0"/>
                                          </p:stCondLst>
                                        </p:cTn>
                                        <p:tgtEl>
                                          <p:spTgt spid="15411"/>
                                        </p:tgtEl>
                                        <p:attrNameLst>
                                          <p:attrName>style.visibility</p:attrName>
                                        </p:attrNameLst>
                                      </p:cBhvr>
                                      <p:to>
                                        <p:strVal val="visible"/>
                                      </p:to>
                                    </p:set>
                                    <p:animEffect transition="in" filter="wipe(left)">
                                      <p:cBhvr>
                                        <p:cTn id="77" dur="500"/>
                                        <p:tgtEl>
                                          <p:spTgt spid="15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02" grpId="0" bldLvl="0" animBg="1" autoUpdateAnimBg="0"/>
      <p:bldP spid="15403" grpId="0" bldLvl="0" animBg="1"/>
      <p:bldP spid="15404" grpId="0" bldLvl="0" animBg="1" autoUpdateAnimBg="0"/>
      <p:bldP spid="15405" grpId="0" bldLvl="0" animBg="1"/>
      <p:bldP spid="15406" grpId="0" bldLvl="0" animBg="1"/>
      <p:bldP spid="15407" grpId="0" bldLvl="0" animBg="1" autoUpdateAnimBg="0"/>
      <p:bldP spid="15408" grpId="0" autoUpdateAnimBg="0" build="p"/>
      <p:bldP spid="15410" grpId="0" bldLvl="0" animBg="1" autoUpdateAnimBg="0"/>
      <p:bldP spid="15411" grpId="0" bldLvl="0" animBg="1"/>
      <p:bldP spid="15412" grpId="0" bldLvl="0" animBg="1" autoUpdateAnimBg="0"/>
      <p:bldP spid="15413" grpId="0" bldLvl="0" animBg="1" autoUpdateAnimBg="0"/>
      <p:bldP spid="15415" grpId="0" build="p"/>
      <p:bldP spid="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10540" y="494665"/>
            <a:ext cx="11149330" cy="5612765"/>
            <a:chOff x="838" y="906"/>
            <a:chExt cx="17558" cy="8839"/>
          </a:xfrm>
        </p:grpSpPr>
        <p:sp>
          <p:nvSpPr>
            <p:cNvPr id="5" name="PA-102232"/>
            <p:cNvSpPr/>
            <p:nvPr>
              <p:custDataLst>
                <p:tags r:id="rId1"/>
              </p:custDataLst>
            </p:nvPr>
          </p:nvSpPr>
          <p:spPr>
            <a:xfrm>
              <a:off x="872" y="906"/>
              <a:ext cx="17524" cy="8826"/>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6BB6"/>
                </a:solidFill>
                <a:cs typeface="+mn-ea"/>
                <a:sym typeface="+mn-lt"/>
              </a:endParaRPr>
            </a:p>
          </p:txBody>
        </p:sp>
        <p:grpSp>
          <p:nvGrpSpPr>
            <p:cNvPr id="6" name="组合 5"/>
            <p:cNvGrpSpPr/>
            <p:nvPr/>
          </p:nvGrpSpPr>
          <p:grpSpPr>
            <a:xfrm>
              <a:off x="838" y="9635"/>
              <a:ext cx="17558" cy="110"/>
              <a:chOff x="838" y="9635"/>
              <a:chExt cx="17558" cy="110"/>
            </a:xfrm>
          </p:grpSpPr>
          <p:sp>
            <p:nvSpPr>
              <p:cNvPr id="7" name="Rectangle 1"/>
              <p:cNvSpPr/>
              <p:nvPr/>
            </p:nvSpPr>
            <p:spPr>
              <a:xfrm>
                <a:off x="5321" y="9650"/>
                <a:ext cx="4286" cy="83"/>
              </a:xfrm>
              <a:prstGeom prst="rect">
                <a:avLst/>
              </a:prstGeom>
              <a:solidFill>
                <a:schemeClr val="bg1"/>
              </a:solidFill>
              <a:ln w="3175" cap="flat" cmpd="sng" algn="ctr">
                <a:solidFill>
                  <a:srgbClr val="0492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8" name="Rectangle 1"/>
              <p:cNvSpPr/>
              <p:nvPr/>
            </p:nvSpPr>
            <p:spPr>
              <a:xfrm>
                <a:off x="838" y="9650"/>
                <a:ext cx="4483" cy="83"/>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9" name="Rectangle 1"/>
              <p:cNvSpPr/>
              <p:nvPr/>
            </p:nvSpPr>
            <p:spPr>
              <a:xfrm>
                <a:off x="9602" y="9635"/>
                <a:ext cx="8794" cy="111"/>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mc:AlternateContent xmlns:mc="http://schemas.openxmlformats.org/markup-compatibility/2006">
        <mc:Choice xmlns:a14="http://schemas.microsoft.com/office/drawing/2010/main" Requires="a14">
          <p:sp>
            <p:nvSpPr>
              <p:cNvPr id="16440" name="Rectangle 56"/>
              <p:cNvSpPr>
                <a:spLocks noChangeArrowheads="1"/>
              </p:cNvSpPr>
              <p:nvPr/>
            </p:nvSpPr>
            <p:spPr bwMode="auto">
              <a:xfrm>
                <a:off x="1726826" y="1189193"/>
                <a:ext cx="857612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14:m>
                  <m:oMath xmlns:m="http://schemas.openxmlformats.org/officeDocument/2006/math">
                    <m:r>
                      <a:rPr lang="zh-CN" altLang="en-US" sz="2800" i="1" smtClean="0">
                        <a:solidFill>
                          <a:srgbClr val="000000"/>
                        </a:solidFill>
                        <a:latin typeface="Cambria Math" panose="02040503050406030204" charset="0"/>
                      </a:rPr>
                      <m:t>𝑦</m:t>
                    </m:r>
                    <m:r>
                      <a:rPr lang="en-US" altLang="zh-CN" sz="2800" i="1">
                        <a:latin typeface="Cambria Math" panose="02040503050406030204" charset="0"/>
                      </a:rPr>
                      <m:t>𝑂𝑧</m:t>
                    </m:r>
                  </m:oMath>
                </a14:m>
                <a:r>
                  <a:rPr kumimoji="1" lang="zh-CN" altLang="en-US" sz="2800" dirty="0">
                    <a:latin typeface="Times New Roman" panose="02020603050405020304" pitchFamily="18" charset="0"/>
                    <a:cs typeface="Times New Roman" panose="02020603050405020304" pitchFamily="18" charset="0"/>
                  </a:rPr>
                  <a:t>面上曲线 </a:t>
                </a:r>
                <a14:m>
                  <m:oMath xmlns:m="http://schemas.openxmlformats.org/officeDocument/2006/math">
                    <m:r>
                      <a:rPr lang="en-US" altLang="zh-CN" sz="2800" i="1">
                        <a:latin typeface="Cambria Math" panose="02040503050406030204" charset="0"/>
                      </a:rPr>
                      <m:t>𝐶</m:t>
                    </m:r>
                    <m:r>
                      <a:rPr lang="en-US" altLang="zh-CN" sz="2800" b="0" i="1" smtClean="0">
                        <a:latin typeface="Cambria Math" panose="02040503050406030204" charset="0"/>
                      </a:rPr>
                      <m:t>:</m:t>
                    </m:r>
                    <m:r>
                      <a:rPr lang="zh-CN" altLang="en-US" sz="2800" i="1">
                        <a:solidFill>
                          <a:srgbClr val="000000"/>
                        </a:solidFill>
                        <a:latin typeface="Cambria Math" panose="02040503050406030204" charset="0"/>
                      </a:rPr>
                      <m:t>𝑓</m:t>
                    </m:r>
                    <m:d>
                      <m:dPr>
                        <m:ctrlPr>
                          <a:rPr lang="en-US" altLang="zh-CN" sz="2800" b="0" i="1" smtClean="0">
                            <a:solidFill>
                              <a:srgbClr val="000000"/>
                            </a:solidFill>
                            <a:latin typeface="Cambria Math" panose="02040503050406030204" charset="0"/>
                          </a:rPr>
                        </m:ctrlPr>
                      </m:dPr>
                      <m:e>
                        <m:r>
                          <a:rPr lang="zh-CN" altLang="en-US" sz="2800" i="1">
                            <a:solidFill>
                              <a:srgbClr val="000000"/>
                            </a:solidFill>
                            <a:latin typeface="Cambria Math" panose="02040503050406030204" charset="0"/>
                          </a:rPr>
                          <m:t>𝑦</m:t>
                        </m:r>
                        <m:r>
                          <a:rPr lang="en-US" altLang="zh-CN" sz="2800" b="0" i="1" smtClean="0">
                            <a:solidFill>
                              <a:srgbClr val="000000"/>
                            </a:solidFill>
                            <a:latin typeface="Cambria Math" panose="02040503050406030204" charset="0"/>
                          </a:rPr>
                          <m:t>,</m:t>
                        </m:r>
                        <m:r>
                          <a:rPr lang="en-US" altLang="zh-CN" sz="2800" b="0" i="1" smtClean="0">
                            <a:solidFill>
                              <a:srgbClr val="000000"/>
                            </a:solidFill>
                            <a:latin typeface="Cambria Math" panose="02040503050406030204" charset="0"/>
                          </a:rPr>
                          <m:t>𝑧</m:t>
                        </m:r>
                      </m:e>
                    </m:d>
                    <m:r>
                      <a:rPr lang="en-US" altLang="zh-CN" sz="2800" b="0" i="1" smtClean="0">
                        <a:solidFill>
                          <a:srgbClr val="000000"/>
                        </a:solidFill>
                        <a:latin typeface="Cambria Math" panose="02040503050406030204" charset="0"/>
                      </a:rPr>
                      <m:t>=</m:t>
                    </m:r>
                    <m:r>
                      <a:rPr lang="en-US" altLang="zh-CN" sz="2800" b="0" i="1" smtClean="0">
                        <a:solidFill>
                          <a:srgbClr val="000000"/>
                        </a:solidFill>
                        <a:latin typeface="Cambria Math" panose="02040503050406030204" charset="0"/>
                      </a:rPr>
                      <m:t>0</m:t>
                    </m:r>
                  </m:oMath>
                </a14:m>
                <a:r>
                  <a:rPr lang="en-US" altLang="zh-CN" sz="2800" dirty="0">
                    <a:latin typeface="Cambria Math" panose="02040503050406030204" charset="0"/>
                  </a:rPr>
                  <a:t>, </a:t>
                </a:r>
                <a:r>
                  <a:rPr kumimoji="1" lang="zh-CN" altLang="en-US" sz="2800" dirty="0">
                    <a:latin typeface="Times New Roman" panose="02020603050405020304" pitchFamily="18" charset="0"/>
                    <a:cs typeface="Times New Roman" panose="02020603050405020304" pitchFamily="18" charset="0"/>
                  </a:rPr>
                  <a:t>绕</a:t>
                </a:r>
                <a14:m>
                  <m:oMath xmlns:m="http://schemas.openxmlformats.org/officeDocument/2006/math">
                    <m:r>
                      <a:rPr lang="en-US" altLang="zh-CN" sz="2800" b="0" i="0" smtClean="0">
                        <a:solidFill>
                          <a:srgbClr val="000000"/>
                        </a:solidFill>
                        <a:latin typeface="Cambria Math" panose="02040503050406030204" charset="0"/>
                      </a:rPr>
                      <m:t> </m:t>
                    </m:r>
                    <m:r>
                      <a:rPr lang="zh-CN" altLang="en-US" sz="2800" i="1">
                        <a:solidFill>
                          <a:srgbClr val="000000"/>
                        </a:solidFill>
                        <a:latin typeface="Cambria Math" panose="02040503050406030204" charset="0"/>
                      </a:rPr>
                      <m:t>𝑦</m:t>
                    </m:r>
                    <m:r>
                      <a:rPr lang="en-US" altLang="zh-CN" sz="2800" b="0" i="1" smtClean="0">
                        <a:solidFill>
                          <a:srgbClr val="000000"/>
                        </a:solidFill>
                        <a:latin typeface="Cambria Math" panose="02040503050406030204" charset="0"/>
                      </a:rPr>
                      <m:t> </m:t>
                    </m:r>
                  </m:oMath>
                </a14:m>
                <a:r>
                  <a:rPr kumimoji="1" lang="zh-CN" altLang="en-US" sz="2800" dirty="0">
                    <a:latin typeface="Times New Roman" panose="02020603050405020304" pitchFamily="18" charset="0"/>
                    <a:cs typeface="Times New Roman" panose="02020603050405020304" pitchFamily="18" charset="0"/>
                  </a:rPr>
                  <a:t>轴旋转所得旋转曲面</a:t>
                </a:r>
                <a:endParaRPr kumimoji="1" lang="zh-CN" altLang="en-US" sz="2800" dirty="0">
                  <a:latin typeface="Times New Roman" panose="02020603050405020304" pitchFamily="18" charset="0"/>
                  <a:cs typeface="Times New Roman" panose="02020603050405020304" pitchFamily="18" charset="0"/>
                </a:endParaRPr>
              </a:p>
            </p:txBody>
          </p:sp>
        </mc:Choice>
        <mc:Fallback>
          <p:sp>
            <p:nvSpPr>
              <p:cNvPr id="16440" name="Rectangle 56"/>
              <p:cNvSpPr>
                <a:spLocks noRot="1" noChangeAspect="1" noMove="1" noResize="1" noEditPoints="1" noAdjustHandles="1" noChangeArrowheads="1" noChangeShapeType="1" noTextEdit="1"/>
              </p:cNvSpPr>
              <p:nvPr/>
            </p:nvSpPr>
            <p:spPr bwMode="auto">
              <a:xfrm>
                <a:off x="1726826" y="1189193"/>
                <a:ext cx="8576124" cy="523220"/>
              </a:xfrm>
              <a:prstGeom prst="rect">
                <a:avLst/>
              </a:prstGeom>
              <a:blipFill rotWithShape="1">
                <a:blip r:embed="rId2"/>
                <a:stretch>
                  <a:fillRect l="-3" t="-90" r="1" b="8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6441" name="Text Box 57"/>
          <p:cNvSpPr txBox="1">
            <a:spLocks noChangeArrowheads="1"/>
          </p:cNvSpPr>
          <p:nvPr/>
        </p:nvSpPr>
        <p:spPr bwMode="auto">
          <a:xfrm>
            <a:off x="1726825" y="632635"/>
            <a:ext cx="274948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类似地，可求得</a:t>
            </a:r>
            <a:endParaRPr lang="zh-CN" altLang="en-US" sz="2800" dirty="0">
              <a:latin typeface="Times New Roman" panose="02020603050405020304" pitchFamily="18" charset="0"/>
              <a:cs typeface="Times New Roman" panose="02020603050405020304" pitchFamily="18" charset="0"/>
            </a:endParaRPr>
          </a:p>
        </p:txBody>
      </p:sp>
      <p:sp>
        <p:nvSpPr>
          <p:cNvPr id="16443" name="Text Box 59"/>
          <p:cNvSpPr txBox="1">
            <a:spLocks noChangeArrowheads="1"/>
          </p:cNvSpPr>
          <p:nvPr/>
        </p:nvSpPr>
        <p:spPr bwMode="auto">
          <a:xfrm>
            <a:off x="1726825" y="1843983"/>
            <a:ext cx="166077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的方程为</a:t>
            </a:r>
            <a:endParaRPr lang="zh-CN" altLang="en-US" sz="28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6444" name="Object 60"/>
              <p:cNvSpPr txBox="1">
                <a:spLocks noGrp="1"/>
              </p:cNvSpPr>
              <p:nvPr>
                <p:ph/>
              </p:nvPr>
            </p:nvSpPr>
            <p:spPr bwMode="auto">
              <a:xfrm>
                <a:off x="3357245" y="1835093"/>
                <a:ext cx="3557700" cy="586238"/>
              </a:xfrm>
              <a:prstGeom prst="rect">
                <a:avLst/>
              </a:prstGeom>
              <a:solidFill>
                <a:srgbClr val="04926A">
                  <a:alpha val="42000"/>
                </a:srgbClr>
              </a:solidFill>
              <a:ln w="9525">
                <a:noFill/>
                <a:miter lim="800000"/>
              </a:ln>
              <a:effectLst/>
            </p:spPr>
            <p:txBody>
              <a:bodyPr>
                <a:noAutofit/>
              </a:bodyPr>
              <a:lstStyle/>
              <a:p>
                <a:pPr>
                  <a:buNone/>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charset="0"/>
                        </a:rPr>
                        <m:t>𝑓</m:t>
                      </m:r>
                      <m:r>
                        <a:rPr lang="zh-CN" altLang="en-US" i="1">
                          <a:solidFill>
                            <a:srgbClr val="000000"/>
                          </a:solidFill>
                          <a:latin typeface="Cambria Math" panose="02040503050406030204" charset="0"/>
                        </a:rPr>
                        <m:t>(</m:t>
                      </m:r>
                      <m:r>
                        <a:rPr lang="zh-CN" altLang="en-US" i="1">
                          <a:solidFill>
                            <a:srgbClr val="000000"/>
                          </a:solidFill>
                          <a:latin typeface="Cambria Math" panose="02040503050406030204" charset="0"/>
                        </a:rPr>
                        <m:t>𝑦</m:t>
                      </m:r>
                      <m:r>
                        <a:rPr lang="zh-CN" altLang="en-US" i="1">
                          <a:solidFill>
                            <a:srgbClr val="000000"/>
                          </a:solidFill>
                          <a:latin typeface="Cambria Math" panose="02040503050406030204" charset="0"/>
                        </a:rPr>
                        <m:t>,±</m:t>
                      </m:r>
                      <m:rad>
                        <m:radPr>
                          <m:degHide m:val="on"/>
                          <m:ctrlPr>
                            <a:rPr lang="zh-CN" altLang="en-US" i="1">
                              <a:solidFill>
                                <a:srgbClr val="000000"/>
                              </a:solidFill>
                              <a:latin typeface="Cambria Math" panose="02040503050406030204" charset="0"/>
                            </a:rPr>
                          </m:ctrlPr>
                        </m:radPr>
                        <m:deg/>
                        <m:e>
                          <m:sSup>
                            <m:sSupPr>
                              <m:ctrlPr>
                                <a:rPr lang="zh-CN" altLang="en-US" i="1">
                                  <a:solidFill>
                                    <a:srgbClr val="000000"/>
                                  </a:solidFill>
                                  <a:latin typeface="Cambria Math" panose="02040503050406030204" charset="0"/>
                                </a:rPr>
                              </m:ctrlPr>
                            </m:sSupPr>
                            <m:e>
                              <m:r>
                                <a:rPr lang="zh-CN" altLang="en-US" i="1">
                                  <a:solidFill>
                                    <a:srgbClr val="000000"/>
                                  </a:solidFill>
                                  <a:latin typeface="Cambria Math" panose="02040503050406030204" charset="0"/>
                                </a:rPr>
                                <m:t>𝑥</m:t>
                              </m:r>
                            </m:e>
                            <m:sup>
                              <m:r>
                                <a:rPr lang="zh-CN" altLang="en-US" i="1">
                                  <a:solidFill>
                                    <a:srgbClr val="000000"/>
                                  </a:solidFill>
                                  <a:latin typeface="Cambria Math" panose="02040503050406030204" charset="0"/>
                                </a:rPr>
                                <m:t>2</m:t>
                              </m:r>
                            </m:sup>
                          </m:sSup>
                          <m:r>
                            <a:rPr lang="zh-CN" altLang="en-US" i="1">
                              <a:solidFill>
                                <a:srgbClr val="000000"/>
                              </a:solidFill>
                              <a:latin typeface="Cambria Math" panose="02040503050406030204" charset="0"/>
                            </a:rPr>
                            <m:t>+</m:t>
                          </m:r>
                          <m:sSup>
                            <m:sSupPr>
                              <m:ctrlPr>
                                <a:rPr lang="zh-CN" altLang="en-US" i="1">
                                  <a:solidFill>
                                    <a:srgbClr val="000000"/>
                                  </a:solidFill>
                                  <a:latin typeface="Cambria Math" panose="02040503050406030204" charset="0"/>
                                </a:rPr>
                              </m:ctrlPr>
                            </m:sSupPr>
                            <m:e>
                              <m:r>
                                <a:rPr lang="zh-CN" altLang="en-US" i="1">
                                  <a:solidFill>
                                    <a:srgbClr val="000000"/>
                                  </a:solidFill>
                                  <a:latin typeface="Cambria Math" panose="02040503050406030204" charset="0"/>
                                </a:rPr>
                                <m:t>𝑧</m:t>
                              </m:r>
                            </m:e>
                            <m:sup>
                              <m:r>
                                <a:rPr lang="zh-CN" altLang="en-US" i="1">
                                  <a:solidFill>
                                    <a:srgbClr val="000000"/>
                                  </a:solidFill>
                                  <a:latin typeface="Cambria Math" panose="02040503050406030204" charset="0"/>
                                </a:rPr>
                                <m:t>2</m:t>
                              </m:r>
                            </m:sup>
                          </m:sSup>
                        </m:e>
                      </m:rad>
                      <m:r>
                        <a:rPr lang="zh-CN" altLang="en-US" i="1">
                          <a:solidFill>
                            <a:srgbClr val="000000"/>
                          </a:solidFill>
                          <a:latin typeface="Cambria Math" panose="02040503050406030204" charset="0"/>
                        </a:rPr>
                        <m:t>)=</m:t>
                      </m:r>
                      <m:r>
                        <a:rPr lang="zh-CN" altLang="en-US" i="1">
                          <a:solidFill>
                            <a:srgbClr val="000000"/>
                          </a:solidFill>
                          <a:latin typeface="Cambria Math" panose="02040503050406030204" charset="0"/>
                        </a:rPr>
                        <m:t>0</m:t>
                      </m:r>
                      <m:r>
                        <a:rPr lang="zh-CN" altLang="en-US" i="1">
                          <a:solidFill>
                            <a:srgbClr val="000000"/>
                          </a:solidFill>
                          <a:latin typeface="Cambria Math" panose="02040503050406030204" charset="0"/>
                        </a:rPr>
                        <m:t>.</m:t>
                      </m:r>
                    </m:oMath>
                  </m:oMathPara>
                </a14:m>
                <a:endParaRPr lang="zh-CN" altLang="en-US" dirty="0"/>
              </a:p>
            </p:txBody>
          </p:sp>
        </mc:Choice>
        <mc:Fallback>
          <p:sp>
            <p:nvSpPr>
              <p:cNvPr id="16444" name="Object 60"/>
              <p:cNvSpPr txBox="1">
                <a:spLocks noRot="1" noChangeAspect="1" noMove="1" noResize="1" noEditPoints="1" noAdjustHandles="1" noChangeArrowheads="1" noChangeShapeType="1" noTextEdit="1"/>
              </p:cNvSpPr>
              <p:nvPr>
                <p:ph/>
              </p:nvPr>
            </p:nvSpPr>
            <p:spPr bwMode="auto">
              <a:xfrm>
                <a:off x="3357245" y="1835093"/>
                <a:ext cx="3557700" cy="586238"/>
              </a:xfrm>
              <a:prstGeom prst="rect">
                <a:avLst/>
              </a:prstGeom>
              <a:blipFill rotWithShape="1">
                <a:blip r:embed="rId3"/>
                <a:stretch>
                  <a:fillRect t="-99" r="12" b="13"/>
                </a:stretch>
              </a:blipFill>
              <a:ln w="9525">
                <a:noFill/>
                <a:miter lim="800000"/>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446" name="Rectangle 62"/>
              <p:cNvSpPr>
                <a:spLocks noChangeArrowheads="1"/>
              </p:cNvSpPr>
              <p:nvPr/>
            </p:nvSpPr>
            <p:spPr bwMode="auto">
              <a:xfrm>
                <a:off x="1726825" y="3200412"/>
                <a:ext cx="122796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dirty="0">
                    <a:latin typeface="Times New Roman" panose="02020603050405020304" pitchFamily="18" charset="0"/>
                    <a:cs typeface="Times New Roman" panose="02020603050405020304" pitchFamily="18" charset="0"/>
                  </a:rPr>
                  <a:t>曲线</a:t>
                </a:r>
                <a14:m>
                  <m:oMath xmlns:m="http://schemas.openxmlformats.org/officeDocument/2006/math">
                    <m:r>
                      <a:rPr lang="en-US" altLang="zh-CN" sz="2800" i="1">
                        <a:latin typeface="Cambria Math" panose="02040503050406030204" charset="0"/>
                      </a:rPr>
                      <m:t>𝐶</m:t>
                    </m:r>
                    <m:r>
                      <a:rPr lang="en-US" altLang="zh-CN" sz="2800" b="0" i="0" smtClean="0">
                        <a:latin typeface="Cambria Math" panose="02040503050406030204" charset="0"/>
                      </a:rPr>
                      <m:t>:</m:t>
                    </m:r>
                  </m:oMath>
                </a14:m>
                <a:endParaRPr kumimoji="1" lang="zh-CN" altLang="en-US" sz="2800" dirty="0">
                  <a:latin typeface="Times New Roman" panose="02020603050405020304" pitchFamily="18" charset="0"/>
                  <a:cs typeface="Times New Roman" panose="02020603050405020304" pitchFamily="18" charset="0"/>
                </a:endParaRPr>
              </a:p>
            </p:txBody>
          </p:sp>
        </mc:Choice>
        <mc:Fallback>
          <p:sp>
            <p:nvSpPr>
              <p:cNvPr id="16446" name="Rectangle 62"/>
              <p:cNvSpPr>
                <a:spLocks noRot="1" noChangeAspect="1" noMove="1" noResize="1" noEditPoints="1" noAdjustHandles="1" noChangeArrowheads="1" noChangeShapeType="1" noTextEdit="1"/>
              </p:cNvSpPr>
              <p:nvPr/>
            </p:nvSpPr>
            <p:spPr bwMode="auto">
              <a:xfrm>
                <a:off x="1726825" y="3200412"/>
                <a:ext cx="1227965" cy="523220"/>
              </a:xfrm>
              <a:prstGeom prst="rect">
                <a:avLst/>
              </a:prstGeom>
              <a:blipFill rotWithShape="1">
                <a:blip r:embed="rId4"/>
                <a:stretch>
                  <a:fillRect l="-21" t="-2" r="11" b="12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451" name="Object 67"/>
              <p:cNvSpPr txBox="1"/>
              <p:nvPr/>
            </p:nvSpPr>
            <p:spPr bwMode="auto">
              <a:xfrm>
                <a:off x="2850805" y="2950997"/>
                <a:ext cx="2322420" cy="998244"/>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d>
                        <m:dPr>
                          <m:begChr m:val="{"/>
                          <m:endChr m:val=""/>
                          <m:ctrlPr>
                            <a:rPr lang="zh-CN" altLang="en-US" sz="2800" i="1">
                              <a:solidFill>
                                <a:srgbClr val="000000"/>
                              </a:solidFill>
                              <a:latin typeface="Cambria Math" panose="02040503050406030204" charset="0"/>
                            </a:rPr>
                          </m:ctrlPr>
                        </m:dPr>
                        <m:e>
                          <m:m>
                            <m:mPr>
                              <m:mcs>
                                <m:mc>
                                  <m:mcPr>
                                    <m:count m:val="1"/>
                                    <m:mcJc m:val="center"/>
                                  </m:mcPr>
                                </m:mc>
                              </m:mcs>
                              <m:plcHide m:val="on"/>
                              <m:ctrlPr>
                                <a:rPr lang="zh-CN" altLang="en-US" sz="2800" i="1">
                                  <a:solidFill>
                                    <a:srgbClr val="000000"/>
                                  </a:solidFill>
                                  <a:latin typeface="Cambria Math" panose="02040503050406030204" charset="0"/>
                                </a:rPr>
                              </m:ctrlPr>
                            </m:mPr>
                            <m:mr>
                              <m:e>
                                <m:r>
                                  <a:rPr lang="zh-CN" altLang="en-US" sz="2800" i="1">
                                    <a:solidFill>
                                      <a:srgbClr val="000000"/>
                                    </a:solidFill>
                                    <a:latin typeface="Cambria Math" panose="02040503050406030204" charset="0"/>
                                  </a:rPr>
                                  <m:t>𝑓</m:t>
                                </m:r>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𝑥</m:t>
                                </m:r>
                                <m:r>
                                  <a:rPr lang="zh-CN" altLang="en-US" sz="2800" i="1">
                                    <a:solidFill>
                                      <a:srgbClr val="000000"/>
                                    </a:solidFill>
                                    <a:latin typeface="Cambria Math" panose="02040503050406030204" charset="0"/>
                                  </a:rPr>
                                  <m:t>, </m:t>
                                </m:r>
                                <m:r>
                                  <a:rPr lang="zh-CN" altLang="en-US" sz="2800" i="1">
                                    <a:solidFill>
                                      <a:srgbClr val="000000"/>
                                    </a:solidFill>
                                    <a:latin typeface="Cambria Math" panose="02040503050406030204" charset="0"/>
                                  </a:rPr>
                                  <m:t>𝑦</m:t>
                                </m:r>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0</m:t>
                                </m:r>
                                <m:r>
                                  <a:rPr lang="zh-CN" altLang="en-US" sz="2800" i="1">
                                    <a:solidFill>
                                      <a:srgbClr val="000000"/>
                                    </a:solidFill>
                                    <a:latin typeface="Cambria Math" panose="02040503050406030204" charset="0"/>
                                  </a:rPr>
                                  <m:t>,</m:t>
                                </m:r>
                              </m:e>
                            </m:mr>
                            <m:mr>
                              <m:e>
                                <m:r>
                                  <a:rPr lang="zh-CN" altLang="en-US" sz="2800" i="1">
                                    <a:solidFill>
                                      <a:srgbClr val="000000"/>
                                    </a:solidFill>
                                    <a:latin typeface="Cambria Math" panose="02040503050406030204" charset="0"/>
                                  </a:rPr>
                                  <m:t>𝑧</m:t>
                                </m:r>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0</m:t>
                                </m:r>
                                <m:r>
                                  <a:rPr lang="zh-CN" altLang="en-US" sz="2800" i="1">
                                    <a:solidFill>
                                      <a:srgbClr val="000000"/>
                                    </a:solidFill>
                                    <a:latin typeface="Cambria Math" panose="02040503050406030204" charset="0"/>
                                  </a:rPr>
                                  <m:t>,        </m:t>
                                </m:r>
                              </m:e>
                            </m:mr>
                          </m:m>
                        </m:e>
                      </m:d>
                    </m:oMath>
                  </m:oMathPara>
                </a14:m>
                <a:endParaRPr lang="zh-CN" altLang="en-US" sz="2800" dirty="0"/>
              </a:p>
            </p:txBody>
          </p:sp>
        </mc:Choice>
        <mc:Fallback>
          <p:sp>
            <p:nvSpPr>
              <p:cNvPr id="16451" name="Object 67"/>
              <p:cNvSpPr txBox="1">
                <a:spLocks noRot="1" noChangeAspect="1" noMove="1" noResize="1" noEditPoints="1" noAdjustHandles="1" noChangeArrowheads="1" noChangeShapeType="1" noTextEdit="1"/>
              </p:cNvSpPr>
              <p:nvPr/>
            </p:nvSpPr>
            <p:spPr bwMode="auto">
              <a:xfrm>
                <a:off x="2850805" y="2950997"/>
                <a:ext cx="2322420" cy="998244"/>
              </a:xfrm>
              <a:prstGeom prst="rect">
                <a:avLst/>
              </a:prstGeom>
              <a:blipFill rotWithShape="1">
                <a:blip r:embed="rId5"/>
                <a:stretch>
                  <a:fillRect l="-12" t="-15" r="22" b="18"/>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453" name="Rectangle 69"/>
              <p:cNvSpPr>
                <a:spLocks noChangeArrowheads="1"/>
              </p:cNvSpPr>
              <p:nvPr/>
            </p:nvSpPr>
            <p:spPr bwMode="auto">
              <a:xfrm>
                <a:off x="5173225" y="2799180"/>
                <a:ext cx="128111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800" dirty="0">
                    <a:latin typeface="Times New Roman" panose="02020603050405020304" pitchFamily="18" charset="0"/>
                    <a:cs typeface="Times New Roman" panose="02020603050405020304" pitchFamily="18" charset="0"/>
                  </a:rPr>
                  <a:t>绕</a:t>
                </a:r>
                <a14:m>
                  <m:oMath xmlns:m="http://schemas.openxmlformats.org/officeDocument/2006/math">
                    <m:r>
                      <a:rPr lang="en-US" altLang="zh-CN" sz="2800" i="1">
                        <a:latin typeface="Cambria Math" panose="02040503050406030204" charset="0"/>
                      </a:rPr>
                      <m:t>𝑥</m:t>
                    </m:r>
                  </m:oMath>
                </a14:m>
                <a:r>
                  <a:rPr kumimoji="1" lang="zh-CN" altLang="en-US" sz="2800" dirty="0">
                    <a:latin typeface="Times New Roman" panose="02020603050405020304" pitchFamily="18" charset="0"/>
                    <a:cs typeface="Times New Roman" panose="02020603050405020304" pitchFamily="18" charset="0"/>
                  </a:rPr>
                  <a:t>轴</a:t>
                </a:r>
                <a:endParaRPr kumimoji="1" lang="zh-CN" altLang="en-US" sz="2800" dirty="0">
                  <a:latin typeface="Times New Roman" panose="02020603050405020304" pitchFamily="18" charset="0"/>
                  <a:cs typeface="Times New Roman" panose="02020603050405020304" pitchFamily="18" charset="0"/>
                </a:endParaRPr>
              </a:p>
            </p:txBody>
          </p:sp>
        </mc:Choice>
        <mc:Fallback>
          <p:sp>
            <p:nvSpPr>
              <p:cNvPr id="16453" name="Rectangle 69"/>
              <p:cNvSpPr>
                <a:spLocks noRot="1" noChangeAspect="1" noMove="1" noResize="1" noEditPoints="1" noAdjustHandles="1" noChangeArrowheads="1" noChangeShapeType="1" noTextEdit="1"/>
              </p:cNvSpPr>
              <p:nvPr/>
            </p:nvSpPr>
            <p:spPr bwMode="auto">
              <a:xfrm>
                <a:off x="5173225" y="2799180"/>
                <a:ext cx="1281112" cy="523220"/>
              </a:xfrm>
              <a:prstGeom prst="rect">
                <a:avLst/>
              </a:prstGeom>
              <a:blipFill rotWithShape="1">
                <a:blip r:embed="rId6"/>
                <a:stretch>
                  <a:fillRect l="-40" t="-19" r="15" b="1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454" name="Object 70"/>
              <p:cNvSpPr txBox="1"/>
              <p:nvPr/>
            </p:nvSpPr>
            <p:spPr bwMode="auto">
              <a:xfrm>
                <a:off x="6513622" y="2676682"/>
                <a:ext cx="3605536" cy="654785"/>
              </a:xfrm>
              <a:prstGeom prst="rect">
                <a:avLst/>
              </a:prstGeom>
              <a:solidFill>
                <a:srgbClr val="04926A">
                  <a:alpha val="42000"/>
                </a:srgbClr>
              </a:solidFill>
              <a:ln w="9525">
                <a:noFill/>
                <a:miter lim="800000"/>
              </a:ln>
              <a:effectLst/>
            </p:spPr>
            <p:txBody>
              <a:bodyPr>
                <a:noAutofit/>
              </a:bodyPr>
              <a:lstStyle/>
              <a:p>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charset="0"/>
                        </a:rPr>
                        <m:t>𝑓</m:t>
                      </m:r>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𝑥</m:t>
                      </m:r>
                      <m:r>
                        <a:rPr lang="zh-CN" altLang="en-US" sz="2800" i="1">
                          <a:solidFill>
                            <a:srgbClr val="000000"/>
                          </a:solidFill>
                          <a:latin typeface="Cambria Math" panose="02040503050406030204" charset="0"/>
                        </a:rPr>
                        <m:t>,±</m:t>
                      </m:r>
                      <m:rad>
                        <m:radPr>
                          <m:degHide m:val="on"/>
                          <m:ctrlPr>
                            <a:rPr lang="zh-CN" altLang="en-US" sz="2800" i="1">
                              <a:solidFill>
                                <a:srgbClr val="000000"/>
                              </a:solidFill>
                              <a:latin typeface="Cambria Math" panose="02040503050406030204" charset="0"/>
                            </a:rPr>
                          </m:ctrlPr>
                        </m:radPr>
                        <m:deg/>
                        <m:e>
                          <m:sSup>
                            <m:sSupPr>
                              <m:ctrlPr>
                                <a:rPr lang="zh-CN" altLang="en-US" sz="2800" i="1">
                                  <a:solidFill>
                                    <a:srgbClr val="000000"/>
                                  </a:solidFill>
                                  <a:latin typeface="Cambria Math" panose="02040503050406030204" charset="0"/>
                                </a:rPr>
                              </m:ctrlPr>
                            </m:sSupPr>
                            <m:e>
                              <m:r>
                                <a:rPr lang="zh-CN" altLang="en-US" sz="2800" i="1">
                                  <a:solidFill>
                                    <a:srgbClr val="000000"/>
                                  </a:solidFill>
                                  <a:latin typeface="Cambria Math" panose="02040503050406030204" charset="0"/>
                                </a:rPr>
                                <m:t>𝑦</m:t>
                              </m:r>
                            </m:e>
                            <m:sup>
                              <m:r>
                                <a:rPr lang="zh-CN" altLang="en-US" sz="2800" i="1">
                                  <a:solidFill>
                                    <a:srgbClr val="000000"/>
                                  </a:solidFill>
                                  <a:latin typeface="Cambria Math" panose="02040503050406030204" charset="0"/>
                                </a:rPr>
                                <m:t>2</m:t>
                              </m:r>
                            </m:sup>
                          </m:sSup>
                          <m:r>
                            <a:rPr lang="zh-CN" altLang="en-US" sz="2800" i="1">
                              <a:solidFill>
                                <a:srgbClr val="000000"/>
                              </a:solidFill>
                              <a:latin typeface="Cambria Math" panose="02040503050406030204" charset="0"/>
                            </a:rPr>
                            <m:t>+</m:t>
                          </m:r>
                          <m:sSup>
                            <m:sSupPr>
                              <m:ctrlPr>
                                <a:rPr lang="zh-CN" altLang="en-US" sz="2800" i="1">
                                  <a:solidFill>
                                    <a:srgbClr val="000000"/>
                                  </a:solidFill>
                                  <a:latin typeface="Cambria Math" panose="02040503050406030204" charset="0"/>
                                </a:rPr>
                              </m:ctrlPr>
                            </m:sSupPr>
                            <m:e>
                              <m:r>
                                <a:rPr lang="zh-CN" altLang="en-US" sz="2800" i="1">
                                  <a:solidFill>
                                    <a:srgbClr val="000000"/>
                                  </a:solidFill>
                                  <a:latin typeface="Cambria Math" panose="02040503050406030204" charset="0"/>
                                </a:rPr>
                                <m:t>𝑧</m:t>
                              </m:r>
                            </m:e>
                            <m:sup>
                              <m:r>
                                <a:rPr lang="zh-CN" altLang="en-US" sz="2800" i="1">
                                  <a:solidFill>
                                    <a:srgbClr val="000000"/>
                                  </a:solidFill>
                                  <a:latin typeface="Cambria Math" panose="02040503050406030204" charset="0"/>
                                </a:rPr>
                                <m:t>2</m:t>
                              </m:r>
                            </m:sup>
                          </m:sSup>
                        </m:e>
                      </m:rad>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0</m:t>
                      </m:r>
                      <m:r>
                        <a:rPr lang="zh-CN" altLang="en-US" sz="2800" i="1">
                          <a:solidFill>
                            <a:srgbClr val="000000"/>
                          </a:solidFill>
                          <a:latin typeface="Cambria Math" panose="02040503050406030204" charset="0"/>
                        </a:rPr>
                        <m:t>,</m:t>
                      </m:r>
                    </m:oMath>
                  </m:oMathPara>
                </a14:m>
                <a:endParaRPr lang="zh-CN" altLang="en-US" sz="2800" dirty="0"/>
              </a:p>
            </p:txBody>
          </p:sp>
        </mc:Choice>
        <mc:Fallback>
          <p:sp>
            <p:nvSpPr>
              <p:cNvPr id="16454" name="Object 70"/>
              <p:cNvSpPr txBox="1">
                <a:spLocks noRot="1" noChangeAspect="1" noMove="1" noResize="1" noEditPoints="1" noAdjustHandles="1" noChangeArrowheads="1" noChangeShapeType="1" noTextEdit="1"/>
              </p:cNvSpPr>
              <p:nvPr/>
            </p:nvSpPr>
            <p:spPr bwMode="auto">
              <a:xfrm>
                <a:off x="6513622" y="2676682"/>
                <a:ext cx="3605536" cy="654785"/>
              </a:xfrm>
              <a:prstGeom prst="rect">
                <a:avLst/>
              </a:prstGeom>
              <a:blipFill rotWithShape="1">
                <a:blip r:embed="rId7"/>
                <a:stretch>
                  <a:fillRect l="-12" t="-24" r="12" b="39"/>
                </a:stretch>
              </a:blipFill>
              <a:ln w="9525">
                <a:noFill/>
                <a:miter lim="800000"/>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455" name="Rectangle 71"/>
              <p:cNvSpPr>
                <a:spLocks noChangeArrowheads="1"/>
              </p:cNvSpPr>
              <p:nvPr/>
            </p:nvSpPr>
            <p:spPr bwMode="auto">
              <a:xfrm>
                <a:off x="5173225" y="3491330"/>
                <a:ext cx="128111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800" dirty="0">
                    <a:latin typeface="Times New Roman" panose="02020603050405020304" pitchFamily="18" charset="0"/>
                    <a:cs typeface="Times New Roman" panose="02020603050405020304" pitchFamily="18" charset="0"/>
                  </a:rPr>
                  <a:t>绕</a:t>
                </a:r>
                <a14:m>
                  <m:oMath xmlns:m="http://schemas.openxmlformats.org/officeDocument/2006/math">
                    <m:r>
                      <a:rPr lang="zh-CN" altLang="en-US" sz="2800" i="1">
                        <a:solidFill>
                          <a:srgbClr val="000000"/>
                        </a:solidFill>
                        <a:latin typeface="Cambria Math" panose="02040503050406030204" charset="0"/>
                      </a:rPr>
                      <m:t>𝑦</m:t>
                    </m:r>
                  </m:oMath>
                </a14:m>
                <a:r>
                  <a:rPr kumimoji="1" lang="zh-CN" altLang="en-US" sz="2800" dirty="0">
                    <a:latin typeface="Times New Roman" panose="02020603050405020304" pitchFamily="18" charset="0"/>
                    <a:cs typeface="Times New Roman" panose="02020603050405020304" pitchFamily="18" charset="0"/>
                  </a:rPr>
                  <a:t>轴</a:t>
                </a:r>
                <a:endParaRPr kumimoji="1" lang="zh-CN" altLang="en-US" sz="2800" dirty="0">
                  <a:latin typeface="Times New Roman" panose="02020603050405020304" pitchFamily="18" charset="0"/>
                  <a:cs typeface="Times New Roman" panose="02020603050405020304" pitchFamily="18" charset="0"/>
                </a:endParaRPr>
              </a:p>
            </p:txBody>
          </p:sp>
        </mc:Choice>
        <mc:Fallback>
          <p:sp>
            <p:nvSpPr>
              <p:cNvPr id="16455" name="Rectangle 71"/>
              <p:cNvSpPr>
                <a:spLocks noRot="1" noChangeAspect="1" noMove="1" noResize="1" noEditPoints="1" noAdjustHandles="1" noChangeArrowheads="1" noChangeShapeType="1" noTextEdit="1"/>
              </p:cNvSpPr>
              <p:nvPr/>
            </p:nvSpPr>
            <p:spPr bwMode="auto">
              <a:xfrm>
                <a:off x="5173225" y="3491330"/>
                <a:ext cx="1281112" cy="523220"/>
              </a:xfrm>
              <a:prstGeom prst="rect">
                <a:avLst/>
              </a:prstGeom>
              <a:blipFill rotWithShape="1">
                <a:blip r:embed="rId8"/>
                <a:stretch>
                  <a:fillRect l="-40" t="-19" r="15" b="1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456" name="Object 72"/>
              <p:cNvSpPr txBox="1"/>
              <p:nvPr/>
            </p:nvSpPr>
            <p:spPr bwMode="auto">
              <a:xfrm>
                <a:off x="6513622" y="3433565"/>
                <a:ext cx="3621093" cy="654786"/>
              </a:xfrm>
              <a:prstGeom prst="rect">
                <a:avLst/>
              </a:prstGeom>
              <a:solidFill>
                <a:srgbClr val="04926A">
                  <a:alpha val="42000"/>
                </a:srgbClr>
              </a:solidFill>
              <a:ln w="9525">
                <a:noFill/>
                <a:miter lim="800000"/>
              </a:ln>
              <a:effectLst/>
            </p:spPr>
            <p:txBody>
              <a:bodyPr>
                <a:noAutofit/>
              </a:bodyPr>
              <a:lstStyle/>
              <a:p>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charset="0"/>
                        </a:rPr>
                        <m:t>𝑓</m:t>
                      </m:r>
                      <m:r>
                        <a:rPr lang="zh-CN" altLang="en-US" sz="2800" i="1">
                          <a:solidFill>
                            <a:srgbClr val="000000"/>
                          </a:solidFill>
                          <a:latin typeface="Cambria Math" panose="02040503050406030204" charset="0"/>
                        </a:rPr>
                        <m:t>(±</m:t>
                      </m:r>
                      <m:rad>
                        <m:radPr>
                          <m:degHide m:val="on"/>
                          <m:ctrlPr>
                            <a:rPr lang="zh-CN" altLang="en-US" sz="2800" i="1">
                              <a:solidFill>
                                <a:srgbClr val="000000"/>
                              </a:solidFill>
                              <a:latin typeface="Cambria Math" panose="02040503050406030204" charset="0"/>
                            </a:rPr>
                          </m:ctrlPr>
                        </m:radPr>
                        <m:deg/>
                        <m:e>
                          <m:sSup>
                            <m:sSupPr>
                              <m:ctrlPr>
                                <a:rPr lang="zh-CN" altLang="en-US" sz="2800" i="1">
                                  <a:solidFill>
                                    <a:srgbClr val="000000"/>
                                  </a:solidFill>
                                  <a:latin typeface="Cambria Math" panose="02040503050406030204" charset="0"/>
                                </a:rPr>
                              </m:ctrlPr>
                            </m:sSupPr>
                            <m:e>
                              <m:r>
                                <a:rPr lang="zh-CN" altLang="en-US" sz="2800" i="1">
                                  <a:solidFill>
                                    <a:srgbClr val="000000"/>
                                  </a:solidFill>
                                  <a:latin typeface="Cambria Math" panose="02040503050406030204" charset="0"/>
                                </a:rPr>
                                <m:t>𝑥</m:t>
                              </m:r>
                            </m:e>
                            <m:sup>
                              <m:r>
                                <a:rPr lang="zh-CN" altLang="en-US" sz="2800" i="1">
                                  <a:solidFill>
                                    <a:srgbClr val="000000"/>
                                  </a:solidFill>
                                  <a:latin typeface="Cambria Math" panose="02040503050406030204" charset="0"/>
                                </a:rPr>
                                <m:t>2</m:t>
                              </m:r>
                            </m:sup>
                          </m:sSup>
                          <m:r>
                            <a:rPr lang="zh-CN" altLang="en-US" sz="2800" i="1">
                              <a:solidFill>
                                <a:srgbClr val="000000"/>
                              </a:solidFill>
                              <a:latin typeface="Cambria Math" panose="02040503050406030204" charset="0"/>
                            </a:rPr>
                            <m:t>+</m:t>
                          </m:r>
                          <m:sSup>
                            <m:sSupPr>
                              <m:ctrlPr>
                                <a:rPr lang="zh-CN" altLang="en-US" sz="2800" i="1">
                                  <a:solidFill>
                                    <a:srgbClr val="000000"/>
                                  </a:solidFill>
                                  <a:latin typeface="Cambria Math" panose="02040503050406030204" charset="0"/>
                                </a:rPr>
                              </m:ctrlPr>
                            </m:sSupPr>
                            <m:e>
                              <m:r>
                                <a:rPr lang="zh-CN" altLang="en-US" sz="2800" i="1">
                                  <a:solidFill>
                                    <a:srgbClr val="000000"/>
                                  </a:solidFill>
                                  <a:latin typeface="Cambria Math" panose="02040503050406030204" charset="0"/>
                                </a:rPr>
                                <m:t>𝑧</m:t>
                              </m:r>
                            </m:e>
                            <m:sup>
                              <m:r>
                                <a:rPr lang="zh-CN" altLang="en-US" sz="2800" i="1">
                                  <a:solidFill>
                                    <a:srgbClr val="000000"/>
                                  </a:solidFill>
                                  <a:latin typeface="Cambria Math" panose="02040503050406030204" charset="0"/>
                                </a:rPr>
                                <m:t>2</m:t>
                              </m:r>
                            </m:sup>
                          </m:sSup>
                        </m:e>
                      </m:rad>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𝑦</m:t>
                      </m:r>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0</m:t>
                      </m:r>
                      <m:r>
                        <a:rPr lang="zh-CN" altLang="en-US" sz="2800" i="1">
                          <a:solidFill>
                            <a:srgbClr val="000000"/>
                          </a:solidFill>
                          <a:latin typeface="Cambria Math" panose="02040503050406030204" charset="0"/>
                        </a:rPr>
                        <m:t>,</m:t>
                      </m:r>
                    </m:oMath>
                  </m:oMathPara>
                </a14:m>
                <a:endParaRPr lang="zh-CN" altLang="en-US" sz="2800" dirty="0"/>
              </a:p>
            </p:txBody>
          </p:sp>
        </mc:Choice>
        <mc:Fallback>
          <p:sp>
            <p:nvSpPr>
              <p:cNvPr id="16456" name="Object 72"/>
              <p:cNvSpPr txBox="1">
                <a:spLocks noRot="1" noChangeAspect="1" noMove="1" noResize="1" noEditPoints="1" noAdjustHandles="1" noChangeArrowheads="1" noChangeShapeType="1" noTextEdit="1"/>
              </p:cNvSpPr>
              <p:nvPr/>
            </p:nvSpPr>
            <p:spPr bwMode="auto">
              <a:xfrm>
                <a:off x="6513622" y="3433565"/>
                <a:ext cx="3621093" cy="654786"/>
              </a:xfrm>
              <a:prstGeom prst="rect">
                <a:avLst/>
              </a:prstGeom>
              <a:blipFill rotWithShape="1">
                <a:blip r:embed="rId9"/>
                <a:stretch>
                  <a:fillRect l="-12" t="-18" r="3" b="34"/>
                </a:stretch>
              </a:blipFill>
              <a:ln w="9525">
                <a:noFill/>
                <a:miter lim="800000"/>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458" name="Rectangle 74"/>
              <p:cNvSpPr>
                <a:spLocks noChangeArrowheads="1"/>
              </p:cNvSpPr>
              <p:nvPr/>
            </p:nvSpPr>
            <p:spPr bwMode="auto">
              <a:xfrm>
                <a:off x="1726825" y="4755015"/>
                <a:ext cx="122796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dirty="0">
                    <a:latin typeface="Times New Roman" panose="02020603050405020304" pitchFamily="18" charset="0"/>
                    <a:cs typeface="Times New Roman" panose="02020603050405020304" pitchFamily="18" charset="0"/>
                  </a:rPr>
                  <a:t>曲线</a:t>
                </a:r>
                <a14:m>
                  <m:oMath xmlns:m="http://schemas.openxmlformats.org/officeDocument/2006/math">
                    <m:r>
                      <a:rPr lang="en-US" altLang="zh-CN" sz="2800" i="1">
                        <a:latin typeface="Cambria Math" panose="02040503050406030204" charset="0"/>
                      </a:rPr>
                      <m:t>𝐶</m:t>
                    </m:r>
                    <m:r>
                      <a:rPr lang="en-US" altLang="zh-CN" sz="2800" b="0" i="1" smtClean="0">
                        <a:latin typeface="Cambria Math" panose="02040503050406030204" charset="0"/>
                      </a:rPr>
                      <m:t>:</m:t>
                    </m:r>
                  </m:oMath>
                </a14:m>
                <a:endParaRPr kumimoji="1" lang="zh-CN" altLang="en-US" sz="2800" dirty="0">
                  <a:latin typeface="Times New Roman" panose="02020603050405020304" pitchFamily="18" charset="0"/>
                  <a:cs typeface="Times New Roman" panose="02020603050405020304" pitchFamily="18" charset="0"/>
                </a:endParaRPr>
              </a:p>
            </p:txBody>
          </p:sp>
        </mc:Choice>
        <mc:Fallback>
          <p:sp>
            <p:nvSpPr>
              <p:cNvPr id="16458" name="Rectangle 74"/>
              <p:cNvSpPr>
                <a:spLocks noRot="1" noChangeAspect="1" noMove="1" noResize="1" noEditPoints="1" noAdjustHandles="1" noChangeArrowheads="1" noChangeShapeType="1" noTextEdit="1"/>
              </p:cNvSpPr>
              <p:nvPr/>
            </p:nvSpPr>
            <p:spPr bwMode="auto">
              <a:xfrm>
                <a:off x="1726825" y="4755015"/>
                <a:ext cx="1227965" cy="523220"/>
              </a:xfrm>
              <a:prstGeom prst="rect">
                <a:avLst/>
              </a:prstGeom>
              <a:blipFill rotWithShape="1">
                <a:blip r:embed="rId4"/>
                <a:stretch>
                  <a:fillRect l="-21" t="-26" r="11" b="2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459" name="Object 75"/>
              <p:cNvSpPr txBox="1"/>
              <p:nvPr/>
            </p:nvSpPr>
            <p:spPr bwMode="auto">
              <a:xfrm>
                <a:off x="2850806" y="4536682"/>
                <a:ext cx="2322419" cy="998244"/>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d>
                        <m:dPr>
                          <m:begChr m:val="{"/>
                          <m:endChr m:val=""/>
                          <m:ctrlPr>
                            <a:rPr lang="zh-CN" altLang="en-US" sz="2800" i="1">
                              <a:solidFill>
                                <a:srgbClr val="000000"/>
                              </a:solidFill>
                              <a:latin typeface="Cambria Math" panose="02040503050406030204" charset="0"/>
                            </a:rPr>
                          </m:ctrlPr>
                        </m:dPr>
                        <m:e>
                          <m:m>
                            <m:mPr>
                              <m:mcs>
                                <m:mc>
                                  <m:mcPr>
                                    <m:count m:val="1"/>
                                    <m:mcJc m:val="center"/>
                                  </m:mcPr>
                                </m:mc>
                              </m:mcs>
                              <m:plcHide m:val="on"/>
                              <m:ctrlPr>
                                <a:rPr lang="zh-CN" altLang="en-US" sz="2800" i="1">
                                  <a:solidFill>
                                    <a:srgbClr val="000000"/>
                                  </a:solidFill>
                                  <a:latin typeface="Cambria Math" panose="02040503050406030204" charset="0"/>
                                </a:rPr>
                              </m:ctrlPr>
                            </m:mPr>
                            <m:mr>
                              <m:e>
                                <m:r>
                                  <a:rPr lang="zh-CN" altLang="en-US" sz="2800" i="1">
                                    <a:solidFill>
                                      <a:srgbClr val="000000"/>
                                    </a:solidFill>
                                    <a:latin typeface="Cambria Math" panose="02040503050406030204" charset="0"/>
                                  </a:rPr>
                                  <m:t>𝑓</m:t>
                                </m:r>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𝑥</m:t>
                                </m:r>
                                <m:r>
                                  <a:rPr lang="zh-CN" altLang="en-US" sz="2800" i="1">
                                    <a:solidFill>
                                      <a:srgbClr val="000000"/>
                                    </a:solidFill>
                                    <a:latin typeface="Cambria Math" panose="02040503050406030204" charset="0"/>
                                  </a:rPr>
                                  <m:t>, </m:t>
                                </m:r>
                                <m:r>
                                  <a:rPr lang="zh-CN" altLang="en-US" sz="2800" i="1">
                                    <a:solidFill>
                                      <a:srgbClr val="000000"/>
                                    </a:solidFill>
                                    <a:latin typeface="Cambria Math" panose="02040503050406030204" charset="0"/>
                                  </a:rPr>
                                  <m:t>𝑧</m:t>
                                </m:r>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0</m:t>
                                </m:r>
                                <m:r>
                                  <a:rPr lang="zh-CN" altLang="en-US" sz="2800" i="1">
                                    <a:solidFill>
                                      <a:srgbClr val="000000"/>
                                    </a:solidFill>
                                    <a:latin typeface="Cambria Math" panose="02040503050406030204" charset="0"/>
                                  </a:rPr>
                                  <m:t>,</m:t>
                                </m:r>
                              </m:e>
                            </m:mr>
                            <m:mr>
                              <m:e>
                                <m:r>
                                  <a:rPr lang="zh-CN" altLang="en-US" sz="2800" i="1">
                                    <a:solidFill>
                                      <a:srgbClr val="000000"/>
                                    </a:solidFill>
                                    <a:latin typeface="Cambria Math" panose="02040503050406030204" charset="0"/>
                                  </a:rPr>
                                  <m:t>𝑦</m:t>
                                </m:r>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0</m:t>
                                </m:r>
                                <m:r>
                                  <a:rPr lang="zh-CN" altLang="en-US" sz="2800" i="1">
                                    <a:solidFill>
                                      <a:srgbClr val="000000"/>
                                    </a:solidFill>
                                    <a:latin typeface="Cambria Math" panose="02040503050406030204" charset="0"/>
                                  </a:rPr>
                                  <m:t>,        </m:t>
                                </m:r>
                              </m:e>
                            </m:mr>
                          </m:m>
                        </m:e>
                      </m:d>
                    </m:oMath>
                  </m:oMathPara>
                </a14:m>
                <a:endParaRPr lang="zh-CN" altLang="en-US" sz="2800" dirty="0"/>
              </a:p>
            </p:txBody>
          </p:sp>
        </mc:Choice>
        <mc:Fallback>
          <p:sp>
            <p:nvSpPr>
              <p:cNvPr id="16459" name="Object 75"/>
              <p:cNvSpPr txBox="1">
                <a:spLocks noRot="1" noChangeAspect="1" noMove="1" noResize="1" noEditPoints="1" noAdjustHandles="1" noChangeArrowheads="1" noChangeShapeType="1" noTextEdit="1"/>
              </p:cNvSpPr>
              <p:nvPr/>
            </p:nvSpPr>
            <p:spPr bwMode="auto">
              <a:xfrm>
                <a:off x="2850806" y="4536682"/>
                <a:ext cx="2322419" cy="998244"/>
              </a:xfrm>
              <a:prstGeom prst="rect">
                <a:avLst/>
              </a:prstGeom>
              <a:blipFill rotWithShape="1">
                <a:blip r:embed="rId10"/>
                <a:stretch>
                  <a:fillRect l="-13" t="-24" r="22" b="27"/>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460" name="Rectangle 76"/>
              <p:cNvSpPr>
                <a:spLocks noChangeArrowheads="1"/>
              </p:cNvSpPr>
              <p:nvPr/>
            </p:nvSpPr>
            <p:spPr bwMode="auto">
              <a:xfrm>
                <a:off x="5173225" y="4431178"/>
                <a:ext cx="111510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800" dirty="0">
                    <a:latin typeface="Times New Roman" panose="02020603050405020304" pitchFamily="18" charset="0"/>
                    <a:cs typeface="Times New Roman" panose="02020603050405020304" pitchFamily="18" charset="0"/>
                  </a:rPr>
                  <a:t>绕</a:t>
                </a:r>
                <a14:m>
                  <m:oMath xmlns:m="http://schemas.openxmlformats.org/officeDocument/2006/math">
                    <m:r>
                      <a:rPr lang="en-US" altLang="zh-CN" sz="2800" i="1">
                        <a:latin typeface="Cambria Math" panose="02040503050406030204" charset="0"/>
                      </a:rPr>
                      <m:t>𝑥</m:t>
                    </m:r>
                  </m:oMath>
                </a14:m>
                <a:r>
                  <a:rPr kumimoji="1" lang="zh-CN" altLang="en-US" sz="2800" dirty="0">
                    <a:latin typeface="Times New Roman" panose="02020603050405020304" pitchFamily="18" charset="0"/>
                    <a:cs typeface="Times New Roman" panose="02020603050405020304" pitchFamily="18" charset="0"/>
                  </a:rPr>
                  <a:t>轴</a:t>
                </a:r>
                <a:endParaRPr kumimoji="1" lang="zh-CN" altLang="en-US" sz="2800" dirty="0">
                  <a:latin typeface="Times New Roman" panose="02020603050405020304" pitchFamily="18" charset="0"/>
                  <a:cs typeface="Times New Roman" panose="02020603050405020304" pitchFamily="18" charset="0"/>
                </a:endParaRPr>
              </a:p>
            </p:txBody>
          </p:sp>
        </mc:Choice>
        <mc:Fallback>
          <p:sp>
            <p:nvSpPr>
              <p:cNvPr id="16460" name="Rectangle 76"/>
              <p:cNvSpPr>
                <a:spLocks noRot="1" noChangeAspect="1" noMove="1" noResize="1" noEditPoints="1" noAdjustHandles="1" noChangeArrowheads="1" noChangeShapeType="1" noTextEdit="1"/>
              </p:cNvSpPr>
              <p:nvPr/>
            </p:nvSpPr>
            <p:spPr bwMode="auto">
              <a:xfrm>
                <a:off x="5173225" y="4431178"/>
                <a:ext cx="1115109" cy="523220"/>
              </a:xfrm>
              <a:prstGeom prst="rect">
                <a:avLst/>
              </a:prstGeom>
              <a:blipFill rotWithShape="1">
                <a:blip r:embed="rId11"/>
                <a:stretch>
                  <a:fillRect l="-46" t="-28" r="51" b="2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461" name="Object 77"/>
              <p:cNvSpPr txBox="1"/>
              <p:nvPr/>
            </p:nvSpPr>
            <p:spPr bwMode="auto">
              <a:xfrm>
                <a:off x="6513622" y="4317909"/>
                <a:ext cx="3601609" cy="702183"/>
              </a:xfrm>
              <a:prstGeom prst="rect">
                <a:avLst/>
              </a:prstGeom>
              <a:solidFill>
                <a:srgbClr val="04926A">
                  <a:alpha val="42000"/>
                </a:srgbClr>
              </a:solidFill>
              <a:ln w="9525">
                <a:noFill/>
                <a:miter lim="800000"/>
              </a:ln>
              <a:effectLst/>
            </p:spPr>
            <p:txBody>
              <a:bodyPr>
                <a:noAutofit/>
              </a:bodyPr>
              <a:lstStyle/>
              <a:p>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charset="0"/>
                        </a:rPr>
                        <m:t>𝑓</m:t>
                      </m:r>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𝑥</m:t>
                      </m:r>
                      <m:r>
                        <a:rPr lang="zh-CN" altLang="en-US" sz="2800" i="1">
                          <a:solidFill>
                            <a:srgbClr val="000000"/>
                          </a:solidFill>
                          <a:latin typeface="Cambria Math" panose="02040503050406030204" charset="0"/>
                        </a:rPr>
                        <m:t>,±</m:t>
                      </m:r>
                      <m:rad>
                        <m:radPr>
                          <m:degHide m:val="on"/>
                          <m:ctrlPr>
                            <a:rPr lang="zh-CN" altLang="en-US" sz="2800" i="1">
                              <a:solidFill>
                                <a:srgbClr val="000000"/>
                              </a:solidFill>
                              <a:latin typeface="Cambria Math" panose="02040503050406030204" charset="0"/>
                            </a:rPr>
                          </m:ctrlPr>
                        </m:radPr>
                        <m:deg/>
                        <m:e>
                          <m:sSup>
                            <m:sSupPr>
                              <m:ctrlPr>
                                <a:rPr lang="zh-CN" altLang="en-US" sz="2800" i="1">
                                  <a:solidFill>
                                    <a:srgbClr val="000000"/>
                                  </a:solidFill>
                                  <a:latin typeface="Cambria Math" panose="02040503050406030204" charset="0"/>
                                </a:rPr>
                              </m:ctrlPr>
                            </m:sSupPr>
                            <m:e>
                              <m:r>
                                <a:rPr lang="zh-CN" altLang="en-US" sz="2800" i="1">
                                  <a:solidFill>
                                    <a:srgbClr val="000000"/>
                                  </a:solidFill>
                                  <a:latin typeface="Cambria Math" panose="02040503050406030204" charset="0"/>
                                </a:rPr>
                                <m:t>𝑦</m:t>
                              </m:r>
                            </m:e>
                            <m:sup>
                              <m:r>
                                <a:rPr lang="zh-CN" altLang="en-US" sz="2800" i="1">
                                  <a:solidFill>
                                    <a:srgbClr val="000000"/>
                                  </a:solidFill>
                                  <a:latin typeface="Cambria Math" panose="02040503050406030204" charset="0"/>
                                </a:rPr>
                                <m:t>2</m:t>
                              </m:r>
                            </m:sup>
                          </m:sSup>
                          <m:r>
                            <a:rPr lang="zh-CN" altLang="en-US" sz="2800" i="1">
                              <a:solidFill>
                                <a:srgbClr val="000000"/>
                              </a:solidFill>
                              <a:latin typeface="Cambria Math" panose="02040503050406030204" charset="0"/>
                            </a:rPr>
                            <m:t>+</m:t>
                          </m:r>
                          <m:sSup>
                            <m:sSupPr>
                              <m:ctrlPr>
                                <a:rPr lang="zh-CN" altLang="en-US" sz="2800" i="1">
                                  <a:solidFill>
                                    <a:srgbClr val="000000"/>
                                  </a:solidFill>
                                  <a:latin typeface="Cambria Math" panose="02040503050406030204" charset="0"/>
                                </a:rPr>
                              </m:ctrlPr>
                            </m:sSupPr>
                            <m:e>
                              <m:r>
                                <a:rPr lang="zh-CN" altLang="en-US" sz="2800" i="1">
                                  <a:solidFill>
                                    <a:srgbClr val="000000"/>
                                  </a:solidFill>
                                  <a:latin typeface="Cambria Math" panose="02040503050406030204" charset="0"/>
                                </a:rPr>
                                <m:t>𝑧</m:t>
                              </m:r>
                            </m:e>
                            <m:sup>
                              <m:r>
                                <a:rPr lang="zh-CN" altLang="en-US" sz="2800" i="1">
                                  <a:solidFill>
                                    <a:srgbClr val="000000"/>
                                  </a:solidFill>
                                  <a:latin typeface="Cambria Math" panose="02040503050406030204" charset="0"/>
                                </a:rPr>
                                <m:t>2</m:t>
                              </m:r>
                            </m:sup>
                          </m:sSup>
                        </m:e>
                      </m:rad>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0</m:t>
                      </m:r>
                      <m:r>
                        <a:rPr lang="zh-CN" altLang="en-US" sz="2800" i="1">
                          <a:solidFill>
                            <a:srgbClr val="000000"/>
                          </a:solidFill>
                          <a:latin typeface="Cambria Math" panose="02040503050406030204" charset="0"/>
                        </a:rPr>
                        <m:t>,</m:t>
                      </m:r>
                    </m:oMath>
                  </m:oMathPara>
                </a14:m>
                <a:endParaRPr lang="zh-CN" altLang="en-US" sz="2800" dirty="0"/>
              </a:p>
            </p:txBody>
          </p:sp>
        </mc:Choice>
        <mc:Fallback>
          <p:sp>
            <p:nvSpPr>
              <p:cNvPr id="16461" name="Object 77"/>
              <p:cNvSpPr txBox="1">
                <a:spLocks noRot="1" noChangeAspect="1" noMove="1" noResize="1" noEditPoints="1" noAdjustHandles="1" noChangeArrowheads="1" noChangeShapeType="1" noTextEdit="1"/>
              </p:cNvSpPr>
              <p:nvPr/>
            </p:nvSpPr>
            <p:spPr bwMode="auto">
              <a:xfrm>
                <a:off x="6513622" y="4317909"/>
                <a:ext cx="3601609" cy="702183"/>
              </a:xfrm>
              <a:prstGeom prst="rect">
                <a:avLst/>
              </a:prstGeom>
              <a:blipFill rotWithShape="1">
                <a:blip r:embed="rId12"/>
                <a:stretch>
                  <a:fillRect l="-12" t="-77" r="9" b="59"/>
                </a:stretch>
              </a:blipFill>
              <a:ln w="9525">
                <a:noFill/>
                <a:miter lim="800000"/>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462" name="Rectangle 78"/>
              <p:cNvSpPr>
                <a:spLocks noChangeArrowheads="1"/>
              </p:cNvSpPr>
              <p:nvPr/>
            </p:nvSpPr>
            <p:spPr bwMode="auto">
              <a:xfrm>
                <a:off x="5173225" y="5123328"/>
                <a:ext cx="111510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800" dirty="0">
                    <a:latin typeface="Times New Roman" panose="02020603050405020304" pitchFamily="18" charset="0"/>
                    <a:cs typeface="Times New Roman" panose="02020603050405020304" pitchFamily="18" charset="0"/>
                  </a:rPr>
                  <a:t>绕</a:t>
                </a:r>
                <a14:m>
                  <m:oMath xmlns:m="http://schemas.openxmlformats.org/officeDocument/2006/math">
                    <m:r>
                      <a:rPr lang="en-US" altLang="zh-CN" sz="2800" i="1">
                        <a:latin typeface="Cambria Math" panose="02040503050406030204" charset="0"/>
                      </a:rPr>
                      <m:t>𝑧</m:t>
                    </m:r>
                  </m:oMath>
                </a14:m>
                <a:r>
                  <a:rPr kumimoji="1" lang="zh-CN" altLang="en-US" sz="2800" dirty="0">
                    <a:latin typeface="Times New Roman" panose="02020603050405020304" pitchFamily="18" charset="0"/>
                    <a:cs typeface="Times New Roman" panose="02020603050405020304" pitchFamily="18" charset="0"/>
                  </a:rPr>
                  <a:t>轴</a:t>
                </a:r>
                <a:endParaRPr kumimoji="1" lang="zh-CN" altLang="en-US" sz="2800" dirty="0">
                  <a:latin typeface="Times New Roman" panose="02020603050405020304" pitchFamily="18" charset="0"/>
                  <a:cs typeface="Times New Roman" panose="02020603050405020304" pitchFamily="18" charset="0"/>
                </a:endParaRPr>
              </a:p>
            </p:txBody>
          </p:sp>
        </mc:Choice>
        <mc:Fallback>
          <p:sp>
            <p:nvSpPr>
              <p:cNvPr id="16462" name="Rectangle 78"/>
              <p:cNvSpPr>
                <a:spLocks noRot="1" noChangeAspect="1" noMove="1" noResize="1" noEditPoints="1" noAdjustHandles="1" noChangeArrowheads="1" noChangeShapeType="1" noTextEdit="1"/>
              </p:cNvSpPr>
              <p:nvPr/>
            </p:nvSpPr>
            <p:spPr bwMode="auto">
              <a:xfrm>
                <a:off x="5173225" y="5123328"/>
                <a:ext cx="1115109" cy="523220"/>
              </a:xfrm>
              <a:prstGeom prst="rect">
                <a:avLst/>
              </a:prstGeom>
              <a:blipFill rotWithShape="1">
                <a:blip r:embed="rId13"/>
                <a:stretch>
                  <a:fillRect l="-46" t="-28" r="51" b="2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463" name="Object 79"/>
              <p:cNvSpPr txBox="1"/>
              <p:nvPr/>
            </p:nvSpPr>
            <p:spPr bwMode="auto">
              <a:xfrm>
                <a:off x="6513622" y="5101686"/>
                <a:ext cx="3590085" cy="702183"/>
              </a:xfrm>
              <a:prstGeom prst="rect">
                <a:avLst/>
              </a:prstGeom>
              <a:solidFill>
                <a:srgbClr val="04926A">
                  <a:alpha val="42000"/>
                </a:srgbClr>
              </a:solidFill>
              <a:ln w="9525">
                <a:noFill/>
                <a:miter lim="800000"/>
              </a:ln>
              <a:effectLst/>
            </p:spPr>
            <p:txBody>
              <a:bodyPr>
                <a:noAutofit/>
              </a:bodyPr>
              <a:lstStyle/>
              <a:p>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charset="0"/>
                        </a:rPr>
                        <m:t>𝑓</m:t>
                      </m:r>
                      <m:r>
                        <a:rPr lang="zh-CN" altLang="en-US" sz="2800" i="1">
                          <a:solidFill>
                            <a:srgbClr val="000000"/>
                          </a:solidFill>
                          <a:latin typeface="Cambria Math" panose="02040503050406030204" charset="0"/>
                        </a:rPr>
                        <m:t>(±</m:t>
                      </m:r>
                      <m:rad>
                        <m:radPr>
                          <m:degHide m:val="on"/>
                          <m:ctrlPr>
                            <a:rPr lang="zh-CN" altLang="en-US" sz="2800" i="1">
                              <a:solidFill>
                                <a:srgbClr val="000000"/>
                              </a:solidFill>
                              <a:latin typeface="Cambria Math" panose="02040503050406030204" charset="0"/>
                            </a:rPr>
                          </m:ctrlPr>
                        </m:radPr>
                        <m:deg/>
                        <m:e>
                          <m:sSup>
                            <m:sSupPr>
                              <m:ctrlPr>
                                <a:rPr lang="zh-CN" altLang="en-US" sz="2800" i="1">
                                  <a:solidFill>
                                    <a:srgbClr val="000000"/>
                                  </a:solidFill>
                                  <a:latin typeface="Cambria Math" panose="02040503050406030204" charset="0"/>
                                </a:rPr>
                              </m:ctrlPr>
                            </m:sSupPr>
                            <m:e>
                              <m:r>
                                <a:rPr lang="zh-CN" altLang="en-US" sz="2800" i="1">
                                  <a:solidFill>
                                    <a:srgbClr val="000000"/>
                                  </a:solidFill>
                                  <a:latin typeface="Cambria Math" panose="02040503050406030204" charset="0"/>
                                </a:rPr>
                                <m:t>𝑥</m:t>
                              </m:r>
                            </m:e>
                            <m:sup>
                              <m:r>
                                <a:rPr lang="zh-CN" altLang="en-US" sz="2800" i="1">
                                  <a:solidFill>
                                    <a:srgbClr val="000000"/>
                                  </a:solidFill>
                                  <a:latin typeface="Cambria Math" panose="02040503050406030204" charset="0"/>
                                </a:rPr>
                                <m:t>2</m:t>
                              </m:r>
                            </m:sup>
                          </m:sSup>
                          <m:r>
                            <a:rPr lang="zh-CN" altLang="en-US" sz="2800" i="1">
                              <a:solidFill>
                                <a:srgbClr val="000000"/>
                              </a:solidFill>
                              <a:latin typeface="Cambria Math" panose="02040503050406030204" charset="0"/>
                            </a:rPr>
                            <m:t>+</m:t>
                          </m:r>
                          <m:sSup>
                            <m:sSupPr>
                              <m:ctrlPr>
                                <a:rPr lang="zh-CN" altLang="en-US" sz="2800" i="1">
                                  <a:solidFill>
                                    <a:srgbClr val="000000"/>
                                  </a:solidFill>
                                  <a:latin typeface="Cambria Math" panose="02040503050406030204" charset="0"/>
                                </a:rPr>
                              </m:ctrlPr>
                            </m:sSupPr>
                            <m:e>
                              <m:r>
                                <a:rPr lang="zh-CN" altLang="en-US" sz="2800" i="1">
                                  <a:solidFill>
                                    <a:srgbClr val="000000"/>
                                  </a:solidFill>
                                  <a:latin typeface="Cambria Math" panose="02040503050406030204" charset="0"/>
                                </a:rPr>
                                <m:t>𝑦</m:t>
                              </m:r>
                            </m:e>
                            <m:sup>
                              <m:r>
                                <a:rPr lang="zh-CN" altLang="en-US" sz="2800" i="1">
                                  <a:solidFill>
                                    <a:srgbClr val="000000"/>
                                  </a:solidFill>
                                  <a:latin typeface="Cambria Math" panose="02040503050406030204" charset="0"/>
                                </a:rPr>
                                <m:t>2</m:t>
                              </m:r>
                            </m:sup>
                          </m:sSup>
                        </m:e>
                      </m:rad>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𝑧</m:t>
                      </m:r>
                      <m:r>
                        <a:rPr lang="zh-CN" altLang="en-US" sz="2800" i="1">
                          <a:solidFill>
                            <a:srgbClr val="000000"/>
                          </a:solidFill>
                          <a:latin typeface="Cambria Math" panose="02040503050406030204" charset="0"/>
                        </a:rPr>
                        <m:t>)=</m:t>
                      </m:r>
                      <m:r>
                        <a:rPr lang="zh-CN" altLang="en-US" sz="2800" i="1">
                          <a:solidFill>
                            <a:srgbClr val="000000"/>
                          </a:solidFill>
                          <a:latin typeface="Cambria Math" panose="02040503050406030204" charset="0"/>
                        </a:rPr>
                        <m:t>0</m:t>
                      </m:r>
                      <m:r>
                        <a:rPr lang="zh-CN" altLang="en-US" sz="2800" i="1">
                          <a:solidFill>
                            <a:srgbClr val="000000"/>
                          </a:solidFill>
                          <a:latin typeface="Cambria Math" panose="02040503050406030204" charset="0"/>
                        </a:rPr>
                        <m:t>.</m:t>
                      </m:r>
                    </m:oMath>
                  </m:oMathPara>
                </a14:m>
                <a:endParaRPr lang="zh-CN" altLang="en-US" sz="2800" dirty="0"/>
              </a:p>
            </p:txBody>
          </p:sp>
        </mc:Choice>
        <mc:Fallback>
          <p:sp>
            <p:nvSpPr>
              <p:cNvPr id="16463" name="Object 79"/>
              <p:cNvSpPr txBox="1">
                <a:spLocks noRot="1" noChangeAspect="1" noMove="1" noResize="1" noEditPoints="1" noAdjustHandles="1" noChangeArrowheads="1" noChangeShapeType="1" noTextEdit="1"/>
              </p:cNvSpPr>
              <p:nvPr/>
            </p:nvSpPr>
            <p:spPr bwMode="auto">
              <a:xfrm>
                <a:off x="6513622" y="5101686"/>
                <a:ext cx="3590085" cy="702183"/>
              </a:xfrm>
              <a:prstGeom prst="rect">
                <a:avLst/>
              </a:prstGeom>
              <a:blipFill rotWithShape="1">
                <a:blip r:embed="rId14"/>
                <a:stretch>
                  <a:fillRect l="-12" t="-14" r="6" b="86"/>
                </a:stretch>
              </a:blipFill>
              <a:ln w="9525">
                <a:noFill/>
                <a:miter lim="800000"/>
              </a:ln>
              <a:effectLst/>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441"/>
                                        </p:tgtEl>
                                        <p:attrNameLst>
                                          <p:attrName>style.visibility</p:attrName>
                                        </p:attrNameLst>
                                      </p:cBhvr>
                                      <p:to>
                                        <p:strVal val="visible"/>
                                      </p:to>
                                    </p:set>
                                    <p:animEffect transition="in" filter="wipe(left)">
                                      <p:cBhvr>
                                        <p:cTn id="7" dur="500"/>
                                        <p:tgtEl>
                                          <p:spTgt spid="164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440"/>
                                        </p:tgtEl>
                                        <p:attrNameLst>
                                          <p:attrName>style.visibility</p:attrName>
                                        </p:attrNameLst>
                                      </p:cBhvr>
                                      <p:to>
                                        <p:strVal val="visible"/>
                                      </p:to>
                                    </p:set>
                                    <p:animEffect transition="in" filter="wipe(left)">
                                      <p:cBhvr>
                                        <p:cTn id="12" dur="500"/>
                                        <p:tgtEl>
                                          <p:spTgt spid="16440"/>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6443"/>
                                        </p:tgtEl>
                                        <p:attrNameLst>
                                          <p:attrName>style.visibility</p:attrName>
                                        </p:attrNameLst>
                                      </p:cBhvr>
                                      <p:to>
                                        <p:strVal val="visible"/>
                                      </p:to>
                                    </p:set>
                                    <p:animEffect transition="in" filter="wipe(left)">
                                      <p:cBhvr>
                                        <p:cTn id="16" dur="500"/>
                                        <p:tgtEl>
                                          <p:spTgt spid="16443"/>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6444">
                                            <p:bg/>
                                          </p:spTgt>
                                        </p:tgtEl>
                                        <p:attrNameLst>
                                          <p:attrName>style.visibility</p:attrName>
                                        </p:attrNameLst>
                                      </p:cBhvr>
                                      <p:to>
                                        <p:strVal val="visible"/>
                                      </p:to>
                                    </p:set>
                                    <p:animEffect transition="in" filter="wipe(left)">
                                      <p:cBhvr>
                                        <p:cTn id="19" dur="500"/>
                                        <p:tgtEl>
                                          <p:spTgt spid="16444">
                                            <p:bg/>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6444">
                                            <p:txEl>
                                              <p:pRg st="0" end="0"/>
                                            </p:txEl>
                                          </p:spTgt>
                                        </p:tgtEl>
                                        <p:attrNameLst>
                                          <p:attrName>style.visibility</p:attrName>
                                        </p:attrNameLst>
                                      </p:cBhvr>
                                      <p:to>
                                        <p:strVal val="visible"/>
                                      </p:to>
                                    </p:set>
                                    <p:animEffect transition="in" filter="wipe(left)">
                                      <p:cBhvr>
                                        <p:cTn id="22" dur="500"/>
                                        <p:tgtEl>
                                          <p:spTgt spid="1644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446"/>
                                        </p:tgtEl>
                                        <p:attrNameLst>
                                          <p:attrName>style.visibility</p:attrName>
                                        </p:attrNameLst>
                                      </p:cBhvr>
                                      <p:to>
                                        <p:strVal val="visible"/>
                                      </p:to>
                                    </p:set>
                                    <p:animEffect transition="in" filter="wipe(left)">
                                      <p:cBhvr>
                                        <p:cTn id="27" dur="500"/>
                                        <p:tgtEl>
                                          <p:spTgt spid="1644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451"/>
                                        </p:tgtEl>
                                        <p:attrNameLst>
                                          <p:attrName>style.visibility</p:attrName>
                                        </p:attrNameLst>
                                      </p:cBhvr>
                                      <p:to>
                                        <p:strVal val="visible"/>
                                      </p:to>
                                    </p:set>
                                    <p:animEffect transition="in" filter="wipe(left)">
                                      <p:cBhvr>
                                        <p:cTn id="32" dur="500"/>
                                        <p:tgtEl>
                                          <p:spTgt spid="1645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6453"/>
                                        </p:tgtEl>
                                        <p:attrNameLst>
                                          <p:attrName>style.visibility</p:attrName>
                                        </p:attrNameLst>
                                      </p:cBhvr>
                                      <p:to>
                                        <p:strVal val="visible"/>
                                      </p:to>
                                    </p:set>
                                    <p:animEffect transition="in" filter="wipe(left)">
                                      <p:cBhvr>
                                        <p:cTn id="37" dur="500"/>
                                        <p:tgtEl>
                                          <p:spTgt spid="1645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6454"/>
                                        </p:tgtEl>
                                        <p:attrNameLst>
                                          <p:attrName>style.visibility</p:attrName>
                                        </p:attrNameLst>
                                      </p:cBhvr>
                                      <p:to>
                                        <p:strVal val="visible"/>
                                      </p:to>
                                    </p:set>
                                    <p:animEffect transition="in" filter="wipe(left)">
                                      <p:cBhvr>
                                        <p:cTn id="42" dur="500"/>
                                        <p:tgtEl>
                                          <p:spTgt spid="1645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6455"/>
                                        </p:tgtEl>
                                        <p:attrNameLst>
                                          <p:attrName>style.visibility</p:attrName>
                                        </p:attrNameLst>
                                      </p:cBhvr>
                                      <p:to>
                                        <p:strVal val="visible"/>
                                      </p:to>
                                    </p:set>
                                    <p:animEffect transition="in" filter="wipe(left)">
                                      <p:cBhvr>
                                        <p:cTn id="47" dur="500"/>
                                        <p:tgtEl>
                                          <p:spTgt spid="1645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6456"/>
                                        </p:tgtEl>
                                        <p:attrNameLst>
                                          <p:attrName>style.visibility</p:attrName>
                                        </p:attrNameLst>
                                      </p:cBhvr>
                                      <p:to>
                                        <p:strVal val="visible"/>
                                      </p:to>
                                    </p:set>
                                    <p:animEffect transition="in" filter="wipe(left)">
                                      <p:cBhvr>
                                        <p:cTn id="52" dur="500"/>
                                        <p:tgtEl>
                                          <p:spTgt spid="1645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6458"/>
                                        </p:tgtEl>
                                        <p:attrNameLst>
                                          <p:attrName>style.visibility</p:attrName>
                                        </p:attrNameLst>
                                      </p:cBhvr>
                                      <p:to>
                                        <p:strVal val="visible"/>
                                      </p:to>
                                    </p:set>
                                    <p:animEffect transition="in" filter="wipe(left)">
                                      <p:cBhvr>
                                        <p:cTn id="57" dur="500"/>
                                        <p:tgtEl>
                                          <p:spTgt spid="1645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6459"/>
                                        </p:tgtEl>
                                        <p:attrNameLst>
                                          <p:attrName>style.visibility</p:attrName>
                                        </p:attrNameLst>
                                      </p:cBhvr>
                                      <p:to>
                                        <p:strVal val="visible"/>
                                      </p:to>
                                    </p:set>
                                    <p:animEffect transition="in" filter="wipe(left)">
                                      <p:cBhvr>
                                        <p:cTn id="62" dur="500"/>
                                        <p:tgtEl>
                                          <p:spTgt spid="1645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6460"/>
                                        </p:tgtEl>
                                        <p:attrNameLst>
                                          <p:attrName>style.visibility</p:attrName>
                                        </p:attrNameLst>
                                      </p:cBhvr>
                                      <p:to>
                                        <p:strVal val="visible"/>
                                      </p:to>
                                    </p:set>
                                    <p:animEffect transition="in" filter="wipe(left)">
                                      <p:cBhvr>
                                        <p:cTn id="67" dur="500"/>
                                        <p:tgtEl>
                                          <p:spTgt spid="16460"/>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6461"/>
                                        </p:tgtEl>
                                        <p:attrNameLst>
                                          <p:attrName>style.visibility</p:attrName>
                                        </p:attrNameLst>
                                      </p:cBhvr>
                                      <p:to>
                                        <p:strVal val="visible"/>
                                      </p:to>
                                    </p:set>
                                    <p:animEffect transition="in" filter="wipe(left)">
                                      <p:cBhvr>
                                        <p:cTn id="72" dur="500"/>
                                        <p:tgtEl>
                                          <p:spTgt spid="16461"/>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6462"/>
                                        </p:tgtEl>
                                        <p:attrNameLst>
                                          <p:attrName>style.visibility</p:attrName>
                                        </p:attrNameLst>
                                      </p:cBhvr>
                                      <p:to>
                                        <p:strVal val="visible"/>
                                      </p:to>
                                    </p:set>
                                    <p:animEffect transition="in" filter="wipe(left)">
                                      <p:cBhvr>
                                        <p:cTn id="77" dur="500"/>
                                        <p:tgtEl>
                                          <p:spTgt spid="16462"/>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6463"/>
                                        </p:tgtEl>
                                        <p:attrNameLst>
                                          <p:attrName>style.visibility</p:attrName>
                                        </p:attrNameLst>
                                      </p:cBhvr>
                                      <p:to>
                                        <p:strVal val="visible"/>
                                      </p:to>
                                    </p:set>
                                    <p:animEffect transition="in" filter="wipe(left)">
                                      <p:cBhvr>
                                        <p:cTn id="82" dur="500"/>
                                        <p:tgtEl>
                                          <p:spTgt spid="164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40" grpId="0" bldLvl="0" animBg="1"/>
      <p:bldP spid="16441" grpId="0" bldLvl="0" animBg="1"/>
      <p:bldP spid="16443" grpId="0" bldLvl="0" animBg="1"/>
      <p:bldP spid="16444" grpId="0" animBg="1" uiExpand="1" build="p"/>
      <p:bldP spid="16446" grpId="0" bldLvl="0" animBg="1"/>
      <p:bldP spid="16451" grpId="0" bldLvl="0" animBg="1"/>
      <p:bldP spid="16453" grpId="0" bldLvl="0" animBg="1"/>
      <p:bldP spid="16454" grpId="0" bldLvl="0" animBg="1"/>
      <p:bldP spid="16455" grpId="0" bldLvl="0" animBg="1"/>
      <p:bldP spid="16456" grpId="0" bldLvl="0" animBg="1"/>
      <p:bldP spid="16458" grpId="0" bldLvl="0" animBg="1"/>
      <p:bldP spid="16459" grpId="0" bldLvl="0" animBg="1"/>
      <p:bldP spid="16460" grpId="0" bldLvl="0" animBg="1"/>
      <p:bldP spid="16461" grpId="0" bldLvl="0" animBg="1"/>
      <p:bldP spid="16462" grpId="0" bldLvl="0" animBg="1"/>
      <p:bldP spid="16463" grpId="0" bldLvl="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147482609" name="对象 -2147482610"/>
          <p:cNvGraphicFramePr>
            <a:graphicFrameLocks noChangeAspect="1"/>
          </p:cNvGraphicFramePr>
          <p:nvPr/>
        </p:nvGraphicFramePr>
        <p:xfrm>
          <a:off x="124460" y="612775"/>
          <a:ext cx="11943715" cy="528320"/>
        </p:xfrm>
        <a:graphic>
          <a:graphicData uri="http://schemas.openxmlformats.org/presentationml/2006/ole">
            <mc:AlternateContent xmlns:mc="http://schemas.openxmlformats.org/markup-compatibility/2006">
              <mc:Choice xmlns:v="urn:schemas-microsoft-com:vml" Requires="v">
                <p:oleObj spid="_x0000_s3076" name="" r:id="rId1" imgW="4927600" imgH="215900" progId="Equation.KSEE3">
                  <p:embed/>
                </p:oleObj>
              </mc:Choice>
              <mc:Fallback>
                <p:oleObj name="" r:id="rId1" imgW="4927600" imgH="215900" progId="Equation.KSEE3">
                  <p:embed/>
                  <p:pic>
                    <p:nvPicPr>
                      <p:cNvPr id="0" name="图片 3075"/>
                      <p:cNvPicPr/>
                      <p:nvPr/>
                    </p:nvPicPr>
                    <p:blipFill>
                      <a:blip r:embed="rId2"/>
                      <a:stretch>
                        <a:fillRect/>
                      </a:stretch>
                    </p:blipFill>
                    <p:spPr>
                      <a:xfrm>
                        <a:off x="124460" y="612775"/>
                        <a:ext cx="11943715" cy="528320"/>
                      </a:xfrm>
                      <a:prstGeom prst="rect">
                        <a:avLst/>
                      </a:prstGeom>
                      <a:solidFill>
                        <a:schemeClr val="bg2"/>
                      </a:solidFill>
                      <a:ln w="38100">
                        <a:noFill/>
                        <a:miter/>
                      </a:ln>
                    </p:spPr>
                  </p:pic>
                </p:oleObj>
              </mc:Fallback>
            </mc:AlternateContent>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第</a:t>
            </a:r>
            <a:r>
              <a:rPr lang="en-US" altLang="zh-CN"/>
              <a:t>9</a:t>
            </a:r>
            <a:r>
              <a:rPr lang="zh-CN" altLang="en-US"/>
              <a:t>章</a:t>
            </a:r>
            <a:r>
              <a:rPr lang="en-US" altLang="zh-CN"/>
              <a:t> </a:t>
            </a:r>
            <a:r>
              <a:rPr lang="zh-CN" altLang="en-US"/>
              <a:t>多元函数</a:t>
            </a:r>
            <a:br>
              <a:rPr lang="zh-CN" altLang="en-US"/>
            </a:br>
            <a:endParaRPr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highlight>
                  <a:srgbClr val="FFFF00"/>
                </a:highlight>
              </a:rPr>
              <a:t>多元函数的极限</a:t>
            </a:r>
            <a:br>
              <a:rPr lang="zh-CN" altLang="en-US"/>
            </a:br>
            <a:endParaRPr lang="zh-CN" altLang="en-US"/>
          </a:p>
        </p:txBody>
      </p:sp>
      <p:pic>
        <p:nvPicPr>
          <p:cNvPr id="4" name="图片 3"/>
          <p:cNvPicPr>
            <a:picLocks noChangeAspect="1"/>
          </p:cNvPicPr>
          <p:nvPr/>
        </p:nvPicPr>
        <p:blipFill>
          <a:blip r:embed="rId1"/>
          <a:stretch>
            <a:fillRect/>
          </a:stretch>
        </p:blipFill>
        <p:spPr>
          <a:xfrm>
            <a:off x="838200" y="1284605"/>
            <a:ext cx="10340975" cy="535305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矩形 1"/>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p:sp>
            <p:nvSpPr>
              <p:cNvPr id="2" name="矩形 1"/>
              <p:cNvSpPr>
                <a:spLocks noRot="1" noChangeAspect="1" noMove="1" noResize="1" noEditPoints="1" noAdjustHandles="1" noChangeArrowheads="1" noChangeShapeType="1" noTextEdit="1"/>
              </p:cNvSpPr>
              <p:nvPr/>
            </p:nvSpPr>
            <p:spPr>
              <a:xfrm>
                <a:off x="687959" y="536260"/>
                <a:ext cx="10817352" cy="5799897"/>
              </a:xfrm>
              <a:prstGeom prst="rect">
                <a:avLst/>
              </a:prstGeom>
              <a:blipFill rotWithShape="1">
                <a:blip r:embed="rId1"/>
                <a:stretch>
                  <a:fillRect l="-1499" t="-1932" r="-1493" b="-1914"/>
                </a:stretch>
              </a:blip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3" name="半闭框 2"/>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 name="半闭框 3"/>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半闭框 5"/>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7" name="半闭框 6"/>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Rectangle 225"/>
          <p:cNvSpPr>
            <a:spLocks noChangeArrowheads="1"/>
          </p:cNvSpPr>
          <p:nvPr/>
        </p:nvSpPr>
        <p:spPr bwMode="auto">
          <a:xfrm>
            <a:off x="1782977" y="2419706"/>
            <a:ext cx="5437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50000"/>
              </a:spcBef>
              <a:defRPr/>
            </a:pPr>
            <a:r>
              <a:rPr lang="zh-CN" altLang="en-US" sz="2800" b="1" dirty="0">
                <a:solidFill>
                  <a:srgbClr val="04926A"/>
                </a:solidFill>
                <a:latin typeface="微软雅黑" panose="020B0503020204020204" charset="-122"/>
                <a:ea typeface="微软雅黑" panose="020B0503020204020204" charset="-122"/>
              </a:rPr>
              <a:t>解</a:t>
            </a:r>
            <a:endParaRPr lang="zh-CN" altLang="en-US" sz="2800" b="1" dirty="0">
              <a:solidFill>
                <a:srgbClr val="04926A"/>
              </a:solidFill>
              <a:latin typeface="微软雅黑" panose="020B0503020204020204" charset="-122"/>
              <a:ea typeface="微软雅黑" panose="020B0503020204020204" charset="-122"/>
            </a:endParaRPr>
          </a:p>
        </p:txBody>
      </p:sp>
      <p:sp>
        <p:nvSpPr>
          <p:cNvPr id="10" name="Rectangle 244"/>
          <p:cNvSpPr>
            <a:spLocks noChangeArrowheads="1"/>
          </p:cNvSpPr>
          <p:nvPr/>
        </p:nvSpPr>
        <p:spPr bwMode="auto">
          <a:xfrm>
            <a:off x="1753627" y="1329560"/>
            <a:ext cx="137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kumimoji="1" lang="zh-CN" altLang="en-US" sz="2800" b="1" dirty="0">
                <a:solidFill>
                  <a:srgbClr val="04926A"/>
                </a:solidFill>
                <a:latin typeface="微软雅黑" panose="020B0503020204020204" charset="-122"/>
                <a:ea typeface="微软雅黑" panose="020B0503020204020204" charset="-122"/>
              </a:rPr>
              <a:t>例</a:t>
            </a:r>
            <a:r>
              <a:rPr kumimoji="1" lang="en-US" altLang="zh-CN" sz="2800" b="1" dirty="0">
                <a:solidFill>
                  <a:srgbClr val="04926A"/>
                </a:solidFill>
                <a:latin typeface="微软雅黑" panose="020B0503020204020204" charset="-122"/>
                <a:ea typeface="微软雅黑" panose="020B0503020204020204" charset="-122"/>
              </a:rPr>
              <a:t>5 </a:t>
            </a:r>
            <a:endParaRPr kumimoji="1" lang="zh-CN" altLang="en-US" sz="2800" b="1" dirty="0">
              <a:solidFill>
                <a:srgbClr val="04926A"/>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24" name="对象 2"/>
              <p:cNvSpPr txBox="1"/>
              <p:nvPr/>
            </p:nvSpPr>
            <p:spPr>
              <a:xfrm>
                <a:off x="2590847" y="2270946"/>
                <a:ext cx="2292275" cy="866245"/>
              </a:xfrm>
              <a:prstGeom prst="rect">
                <a:avLst/>
              </a:prstGeom>
            </p:spPr>
            <p:txBody>
              <a:bodyPr>
                <a:normAutofit/>
              </a:bodyPr>
              <a:lstStyle/>
              <a:p>
                <a14:m>
                  <m:oMathPara xmlns:m="http://schemas.openxmlformats.org/officeDocument/2006/math">
                    <m:oMathParaPr>
                      <m:jc m:val="left"/>
                    </m:oMathParaPr>
                    <m:oMath xmlns:m="http://schemas.openxmlformats.org/officeDocument/2006/math">
                      <m:func>
                        <m:funcPr>
                          <m:ctrlPr>
                            <a:rPr kumimoji="1" lang="zh-CN" altLang="en-US" sz="2200" i="1">
                              <a:latin typeface="Cambria Math" panose="02040503050406030204" charset="0"/>
                              <a:ea typeface="黑体" panose="02010609060101010101" pitchFamily="49" charset="-122"/>
                            </a:rPr>
                          </m:ctrlPr>
                        </m:funcPr>
                        <m:fName>
                          <m:limLow>
                            <m:limLowPr>
                              <m:ctrlPr>
                                <a:rPr kumimoji="1" lang="zh-CN" altLang="en-US" sz="2200" i="1">
                                  <a:latin typeface="Cambria Math" panose="02040503050406030204" charset="0"/>
                                  <a:ea typeface="黑体" panose="02010609060101010101" pitchFamily="49" charset="-122"/>
                                </a:rPr>
                              </m:ctrlPr>
                            </m:limLowPr>
                            <m:e>
                              <m:r>
                                <m:rPr>
                                  <m:sty m:val="p"/>
                                </m:rPr>
                                <a:rPr kumimoji="1" lang="zh-CN" altLang="en-US" sz="2200" i="1">
                                  <a:latin typeface="Cambria Math" panose="02040503050406030204" charset="0"/>
                                  <a:ea typeface="黑体" panose="02010609060101010101" pitchFamily="49" charset="-122"/>
                                </a:rPr>
                                <m:t>lim</m:t>
                              </m:r>
                            </m:e>
                            <m:lim>
                              <m:r>
                                <a:rPr kumimoji="1" lang="zh-CN" altLang="en-US" sz="2200" i="1">
                                  <a:latin typeface="Cambria Math" panose="02040503050406030204" charset="0"/>
                                  <a:ea typeface="黑体" panose="02010609060101010101" pitchFamily="49" charset="-122"/>
                                </a:rPr>
                                <m:t>(</m:t>
                              </m:r>
                              <m:r>
                                <a:rPr kumimoji="1" lang="zh-CN" altLang="en-US" sz="2200" i="1">
                                  <a:latin typeface="Cambria Math" panose="02040503050406030204" charset="0"/>
                                  <a:ea typeface="黑体" panose="02010609060101010101" pitchFamily="49" charset="-122"/>
                                </a:rPr>
                                <m:t>𝑥</m:t>
                              </m:r>
                              <m:r>
                                <a:rPr kumimoji="1" lang="zh-CN" altLang="en-US" sz="2200" i="1">
                                  <a:latin typeface="Cambria Math" panose="02040503050406030204" charset="0"/>
                                  <a:ea typeface="黑体" panose="02010609060101010101" pitchFamily="49" charset="-122"/>
                                </a:rPr>
                                <m:t>,</m:t>
                              </m:r>
                              <m:r>
                                <a:rPr kumimoji="1" lang="zh-CN" altLang="en-US" sz="2200" i="1">
                                  <a:latin typeface="Cambria Math" panose="02040503050406030204" charset="0"/>
                                  <a:ea typeface="黑体" panose="02010609060101010101" pitchFamily="49" charset="-122"/>
                                </a:rPr>
                                <m:t>𝑦</m:t>
                              </m:r>
                              <m:r>
                                <a:rPr kumimoji="1" lang="zh-CN" altLang="en-US" sz="2200" i="1">
                                  <a:latin typeface="Cambria Math" panose="02040503050406030204" charset="0"/>
                                  <a:ea typeface="黑体" panose="02010609060101010101" pitchFamily="49" charset="-122"/>
                                </a:rPr>
                                <m:t>)→(</m:t>
                              </m:r>
                              <m:r>
                                <a:rPr kumimoji="1" lang="zh-CN" altLang="en-US" sz="2200" i="1">
                                  <a:latin typeface="Cambria Math" panose="02040503050406030204" charset="0"/>
                                  <a:ea typeface="黑体" panose="02010609060101010101" pitchFamily="49" charset="-122"/>
                                </a:rPr>
                                <m:t>0</m:t>
                              </m:r>
                              <m:r>
                                <a:rPr kumimoji="1" lang="zh-CN" altLang="en-US" sz="2200" i="1">
                                  <a:latin typeface="Cambria Math" panose="02040503050406030204" charset="0"/>
                                  <a:ea typeface="黑体" panose="02010609060101010101" pitchFamily="49" charset="-122"/>
                                </a:rPr>
                                <m:t>,</m:t>
                              </m:r>
                              <m:r>
                                <a:rPr kumimoji="1" lang="zh-CN" altLang="en-US" sz="2200" i="1">
                                  <a:latin typeface="Cambria Math" panose="02040503050406030204" charset="0"/>
                                  <a:ea typeface="黑体" panose="02010609060101010101" pitchFamily="49" charset="-122"/>
                                </a:rPr>
                                <m:t>2</m:t>
                              </m:r>
                              <m:r>
                                <a:rPr kumimoji="1" lang="zh-CN" altLang="en-US" sz="2200" i="1">
                                  <a:latin typeface="Cambria Math" panose="02040503050406030204" charset="0"/>
                                  <a:ea typeface="黑体" panose="02010609060101010101" pitchFamily="49" charset="-122"/>
                                </a:rPr>
                                <m:t>)</m:t>
                              </m:r>
                            </m:lim>
                          </m:limLow>
                        </m:fName>
                        <m:e>
                          <m:f>
                            <m:fPr>
                              <m:ctrlPr>
                                <a:rPr kumimoji="1" lang="zh-CN" altLang="en-US" sz="2200" i="1">
                                  <a:latin typeface="Cambria Math" panose="02040503050406030204" charset="0"/>
                                  <a:ea typeface="黑体" panose="02010609060101010101" pitchFamily="49" charset="-122"/>
                                </a:rPr>
                              </m:ctrlPr>
                            </m:fPr>
                            <m:num>
                              <m:r>
                                <m:rPr>
                                  <m:sty m:val="p"/>
                                </m:rPr>
                                <a:rPr kumimoji="1" lang="zh-CN" altLang="en-US" sz="2200" i="1">
                                  <a:latin typeface="Cambria Math" panose="02040503050406030204" charset="0"/>
                                  <a:ea typeface="黑体" panose="02010609060101010101" pitchFamily="49" charset="-122"/>
                                </a:rPr>
                                <m:t>sin</m:t>
                              </m:r>
                              <m:r>
                                <a:rPr kumimoji="1" lang="zh-CN" altLang="en-US" sz="2200" i="1">
                                  <a:latin typeface="Cambria Math" panose="02040503050406030204" charset="0"/>
                                  <a:ea typeface="黑体" panose="02010609060101010101" pitchFamily="49" charset="-122"/>
                                </a:rPr>
                                <m:t>(</m:t>
                              </m:r>
                              <m:r>
                                <a:rPr kumimoji="1" lang="zh-CN" altLang="en-US" sz="2200" i="1">
                                  <a:latin typeface="Cambria Math" panose="02040503050406030204" charset="0"/>
                                  <a:ea typeface="黑体" panose="02010609060101010101" pitchFamily="49" charset="-122"/>
                                </a:rPr>
                                <m:t>𝑥</m:t>
                              </m:r>
                              <m:r>
                                <a:rPr kumimoji="1" lang="zh-CN" altLang="en-US" sz="2200" i="1">
                                  <a:latin typeface="Cambria Math" panose="02040503050406030204" charset="0"/>
                                  <a:ea typeface="黑体" panose="02010609060101010101" pitchFamily="49" charset="-122"/>
                                </a:rPr>
                                <m:t>​</m:t>
                              </m:r>
                              <m:r>
                                <a:rPr kumimoji="1" lang="zh-CN" altLang="en-US" sz="2200" i="1">
                                  <a:latin typeface="Cambria Math" panose="02040503050406030204" charset="0"/>
                                  <a:ea typeface="黑体" panose="02010609060101010101" pitchFamily="49" charset="-122"/>
                                </a:rPr>
                                <m:t>𝑦</m:t>
                              </m:r>
                              <m:r>
                                <a:rPr kumimoji="1" lang="zh-CN" altLang="en-US" sz="2200" i="1">
                                  <a:latin typeface="Cambria Math" panose="02040503050406030204" charset="0"/>
                                  <a:ea typeface="黑体" panose="02010609060101010101" pitchFamily="49" charset="-122"/>
                                </a:rPr>
                                <m:t>)</m:t>
                              </m:r>
                            </m:num>
                            <m:den>
                              <m:r>
                                <a:rPr kumimoji="1" lang="zh-CN" altLang="en-US" sz="2200" i="1">
                                  <a:latin typeface="Cambria Math" panose="02040503050406030204" charset="0"/>
                                  <a:ea typeface="黑体" panose="02010609060101010101" pitchFamily="49" charset="-122"/>
                                </a:rPr>
                                <m:t>𝑥</m:t>
                              </m:r>
                            </m:den>
                          </m:f>
                        </m:e>
                      </m:func>
                      <m:r>
                        <a:rPr kumimoji="1" lang="zh-CN" altLang="en-US" sz="2200" i="1">
                          <a:latin typeface="Cambria Math" panose="02040503050406030204" charset="0"/>
                          <a:ea typeface="黑体" panose="02010609060101010101" pitchFamily="49" charset="-122"/>
                        </a:rPr>
                        <m:t> </m:t>
                      </m:r>
                    </m:oMath>
                  </m:oMathPara>
                </a14:m>
                <a:endParaRPr kumimoji="1" lang="zh-CN" altLang="en-US" sz="2200" i="1" dirty="0">
                  <a:latin typeface="Cambria Math" panose="02040503050406030204" charset="0"/>
                  <a:ea typeface="黑体" panose="02010609060101010101" pitchFamily="49" charset="-122"/>
                </a:endParaRPr>
              </a:p>
            </p:txBody>
          </p:sp>
        </mc:Choice>
        <mc:Fallback>
          <p:sp>
            <p:nvSpPr>
              <p:cNvPr id="24" name="对象 2"/>
              <p:cNvSpPr txBox="1">
                <a:spLocks noRot="1" noChangeAspect="1" noMove="1" noResize="1" noEditPoints="1" noAdjustHandles="1" noChangeArrowheads="1" noChangeShapeType="1" noTextEdit="1"/>
              </p:cNvSpPr>
              <p:nvPr/>
            </p:nvSpPr>
            <p:spPr>
              <a:xfrm>
                <a:off x="2590847" y="2270946"/>
                <a:ext cx="2292275" cy="866245"/>
              </a:xfrm>
              <a:prstGeom prst="rect">
                <a:avLst/>
              </a:prstGeom>
              <a:blipFill rotWithShape="1">
                <a:blip r:embed="rId2"/>
                <a:stretch>
                  <a:fillRect l="-2" t="-21" r="26" b="3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 name="对象 3"/>
              <p:cNvSpPr txBox="1"/>
              <p:nvPr/>
            </p:nvSpPr>
            <p:spPr>
              <a:xfrm>
                <a:off x="2590847" y="1067952"/>
                <a:ext cx="4134410" cy="988431"/>
              </a:xfrm>
              <a:prstGeom prst="rect">
                <a:avLst/>
              </a:prstGeom>
            </p:spPr>
            <p:txBody>
              <a:bodyPr>
                <a:noAutofit/>
              </a:bodyPr>
              <a:lstStyle/>
              <a:p>
                <a14:m>
                  <m:oMathPara xmlns:m="http://schemas.openxmlformats.org/officeDocument/2006/math">
                    <m:oMathParaPr>
                      <m:jc m:val="left"/>
                    </m:oMathParaPr>
                    <m:oMath xmlns:m="http://schemas.openxmlformats.org/officeDocument/2006/math">
                      <m:r>
                        <a:rPr kumimoji="1" lang="zh-CN" altLang="en-US" sz="2800" i="1">
                          <a:latin typeface="Cambria Math" panose="02040503050406030204" charset="0"/>
                          <a:ea typeface="黑体" panose="02010609060101010101" pitchFamily="49" charset="-122"/>
                          <a:cs typeface="Cambria Math" panose="02040503050406030204" charset="0"/>
                        </a:rPr>
                        <m:t>求</m:t>
                      </m:r>
                      <m:func>
                        <m:funcPr>
                          <m:ctrlPr>
                            <a:rPr kumimoji="1" lang="zh-CN" altLang="en-US" sz="2800" i="1">
                              <a:latin typeface="Cambria Math" panose="02040503050406030204" charset="0"/>
                              <a:ea typeface="黑体" panose="02010609060101010101" pitchFamily="49" charset="-122"/>
                              <a:cs typeface="Cambria Math" panose="02040503050406030204" charset="0"/>
                            </a:rPr>
                          </m:ctrlPr>
                        </m:funcPr>
                        <m:fName>
                          <m:limLow>
                            <m:limLowPr>
                              <m:ctrlPr>
                                <a:rPr kumimoji="1" lang="zh-CN" altLang="en-US" sz="2800" i="1">
                                  <a:latin typeface="Cambria Math" panose="02040503050406030204" charset="0"/>
                                  <a:ea typeface="黑体" panose="02010609060101010101" pitchFamily="49" charset="-122"/>
                                  <a:cs typeface="Cambria Math" panose="02040503050406030204" charset="0"/>
                                </a:rPr>
                              </m:ctrlPr>
                            </m:limLowPr>
                            <m:e>
                              <m:r>
                                <m:rPr>
                                  <m:sty m:val="p"/>
                                </m:rPr>
                                <a:rPr kumimoji="1" lang="zh-CN" altLang="en-US" sz="2800" i="1">
                                  <a:latin typeface="Cambria Math" panose="02040503050406030204" charset="0"/>
                                  <a:ea typeface="黑体" panose="02010609060101010101" pitchFamily="49" charset="-122"/>
                                  <a:cs typeface="Cambria Math" panose="02040503050406030204" charset="0"/>
                                </a:rPr>
                                <m:t>lim</m:t>
                              </m:r>
                            </m:e>
                            <m:lim>
                              <m:r>
                                <a:rPr kumimoji="1" lang="zh-CN" altLang="en-US" sz="2800" i="1">
                                  <a:latin typeface="Cambria Math" panose="02040503050406030204" charset="0"/>
                                  <a:ea typeface="黑体" panose="02010609060101010101" pitchFamily="49" charset="-122"/>
                                  <a:cs typeface="Cambria Math" panose="02040503050406030204" charset="0"/>
                                </a:rPr>
                                <m:t>(</m:t>
                              </m:r>
                              <m:r>
                                <a:rPr kumimoji="1" lang="zh-CN" altLang="en-US" sz="2800" i="1">
                                  <a:latin typeface="Cambria Math" panose="02040503050406030204" charset="0"/>
                                  <a:ea typeface="黑体" panose="02010609060101010101" pitchFamily="49" charset="-122"/>
                                  <a:cs typeface="Cambria Math" panose="02040503050406030204" charset="0"/>
                                </a:rPr>
                                <m:t>𝑥</m:t>
                              </m:r>
                              <m:r>
                                <a:rPr kumimoji="1" lang="zh-CN" altLang="en-US" sz="2800" i="1">
                                  <a:latin typeface="Cambria Math" panose="02040503050406030204" charset="0"/>
                                  <a:ea typeface="黑体" panose="02010609060101010101" pitchFamily="49" charset="-122"/>
                                  <a:cs typeface="Cambria Math" panose="02040503050406030204" charset="0"/>
                                </a:rPr>
                                <m:t>,</m:t>
                              </m:r>
                              <m:r>
                                <a:rPr kumimoji="1" lang="zh-CN" altLang="en-US" sz="2800" i="1">
                                  <a:latin typeface="Cambria Math" panose="02040503050406030204" charset="0"/>
                                  <a:ea typeface="黑体" panose="02010609060101010101" pitchFamily="49" charset="-122"/>
                                  <a:cs typeface="Cambria Math" panose="02040503050406030204" charset="0"/>
                                </a:rPr>
                                <m:t>𝑦</m:t>
                              </m:r>
                              <m:r>
                                <a:rPr kumimoji="1" lang="zh-CN" altLang="en-US" sz="2800" i="1">
                                  <a:latin typeface="Cambria Math" panose="02040503050406030204" charset="0"/>
                                  <a:ea typeface="黑体" panose="02010609060101010101" pitchFamily="49" charset="-122"/>
                                  <a:cs typeface="Cambria Math" panose="02040503050406030204" charset="0"/>
                                </a:rPr>
                                <m:t>)→(</m:t>
                              </m:r>
                              <m:r>
                                <a:rPr kumimoji="1" lang="zh-CN" altLang="en-US" sz="2800" i="1">
                                  <a:latin typeface="Cambria Math" panose="02040503050406030204" charset="0"/>
                                  <a:ea typeface="黑体" panose="02010609060101010101" pitchFamily="49" charset="-122"/>
                                  <a:cs typeface="Cambria Math" panose="02040503050406030204" charset="0"/>
                                </a:rPr>
                                <m:t>0</m:t>
                              </m:r>
                              <m:r>
                                <a:rPr kumimoji="1" lang="zh-CN" altLang="en-US" sz="2800" i="1">
                                  <a:latin typeface="Cambria Math" panose="02040503050406030204" charset="0"/>
                                  <a:ea typeface="黑体" panose="02010609060101010101" pitchFamily="49" charset="-122"/>
                                  <a:cs typeface="Cambria Math" panose="02040503050406030204" charset="0"/>
                                </a:rPr>
                                <m:t>,</m:t>
                              </m:r>
                              <m:r>
                                <a:rPr kumimoji="1" lang="zh-CN" altLang="en-US" sz="2800" i="1">
                                  <a:latin typeface="Cambria Math" panose="02040503050406030204" charset="0"/>
                                  <a:ea typeface="黑体" panose="02010609060101010101" pitchFamily="49" charset="-122"/>
                                  <a:cs typeface="Cambria Math" panose="02040503050406030204" charset="0"/>
                                </a:rPr>
                                <m:t>2</m:t>
                              </m:r>
                              <m:r>
                                <a:rPr kumimoji="1" lang="zh-CN" altLang="en-US" sz="2800" i="1">
                                  <a:latin typeface="Cambria Math" panose="02040503050406030204" charset="0"/>
                                  <a:ea typeface="黑体" panose="02010609060101010101" pitchFamily="49" charset="-122"/>
                                  <a:cs typeface="Cambria Math" panose="02040503050406030204" charset="0"/>
                                </a:rPr>
                                <m:t>)</m:t>
                              </m:r>
                            </m:lim>
                          </m:limLow>
                        </m:fName>
                        <m:e>
                          <m:f>
                            <m:fPr>
                              <m:ctrlPr>
                                <a:rPr kumimoji="1" lang="zh-CN" altLang="en-US" sz="2800" i="1">
                                  <a:latin typeface="Cambria Math" panose="02040503050406030204" charset="0"/>
                                  <a:ea typeface="黑体" panose="02010609060101010101" pitchFamily="49" charset="-122"/>
                                  <a:cs typeface="Cambria Math" panose="02040503050406030204" charset="0"/>
                                </a:rPr>
                              </m:ctrlPr>
                            </m:fPr>
                            <m:num>
                              <m:r>
                                <m:rPr>
                                  <m:sty m:val="p"/>
                                </m:rPr>
                                <a:rPr kumimoji="1" lang="zh-CN" altLang="en-US" sz="2800" i="1">
                                  <a:latin typeface="Cambria Math" panose="02040503050406030204" charset="0"/>
                                  <a:ea typeface="黑体" panose="02010609060101010101" pitchFamily="49" charset="-122"/>
                                  <a:cs typeface="Cambria Math" panose="02040503050406030204" charset="0"/>
                                </a:rPr>
                                <m:t>sin</m:t>
                              </m:r>
                              <m:r>
                                <a:rPr kumimoji="1" lang="zh-CN" altLang="en-US" sz="2800" i="1">
                                  <a:latin typeface="Cambria Math" panose="02040503050406030204" charset="0"/>
                                  <a:ea typeface="黑体" panose="02010609060101010101" pitchFamily="49" charset="-122"/>
                                  <a:cs typeface="Cambria Math" panose="02040503050406030204" charset="0"/>
                                </a:rPr>
                                <m:t>(</m:t>
                              </m:r>
                              <m:r>
                                <a:rPr kumimoji="1" lang="zh-CN" altLang="en-US" sz="2800" i="1">
                                  <a:latin typeface="Cambria Math" panose="02040503050406030204" charset="0"/>
                                  <a:ea typeface="黑体" panose="02010609060101010101" pitchFamily="49" charset="-122"/>
                                  <a:cs typeface="Cambria Math" panose="02040503050406030204" charset="0"/>
                                </a:rPr>
                                <m:t>𝑥</m:t>
                              </m:r>
                              <m:r>
                                <a:rPr kumimoji="1" lang="zh-CN" altLang="en-US" sz="2800" i="1">
                                  <a:latin typeface="Cambria Math" panose="02040503050406030204" charset="0"/>
                                  <a:ea typeface="黑体" panose="02010609060101010101" pitchFamily="49" charset="-122"/>
                                  <a:cs typeface="Cambria Math" panose="02040503050406030204" charset="0"/>
                                </a:rPr>
                                <m:t>​</m:t>
                              </m:r>
                              <m:r>
                                <a:rPr kumimoji="1" lang="zh-CN" altLang="en-US" sz="2800" i="1">
                                  <a:latin typeface="Cambria Math" panose="02040503050406030204" charset="0"/>
                                  <a:ea typeface="黑体" panose="02010609060101010101" pitchFamily="49" charset="-122"/>
                                  <a:cs typeface="Cambria Math" panose="02040503050406030204" charset="0"/>
                                </a:rPr>
                                <m:t>𝑦</m:t>
                              </m:r>
                              <m:r>
                                <a:rPr kumimoji="1" lang="zh-CN" altLang="en-US" sz="2800" i="1">
                                  <a:latin typeface="Cambria Math" panose="02040503050406030204" charset="0"/>
                                  <a:ea typeface="黑体" panose="02010609060101010101" pitchFamily="49" charset="-122"/>
                                  <a:cs typeface="Cambria Math" panose="02040503050406030204" charset="0"/>
                                </a:rPr>
                                <m:t>)</m:t>
                              </m:r>
                            </m:num>
                            <m:den>
                              <m:r>
                                <a:rPr kumimoji="1" lang="zh-CN" altLang="en-US" sz="2800" i="1">
                                  <a:latin typeface="Cambria Math" panose="02040503050406030204" charset="0"/>
                                  <a:ea typeface="黑体" panose="02010609060101010101" pitchFamily="49" charset="-122"/>
                                  <a:cs typeface="Cambria Math" panose="02040503050406030204" charset="0"/>
                                </a:rPr>
                                <m:t>𝑥</m:t>
                              </m:r>
                            </m:den>
                          </m:f>
                        </m:e>
                      </m:func>
                      <m:r>
                        <a:rPr kumimoji="1" lang="zh-CN" altLang="en-US" sz="2800" i="1">
                          <a:latin typeface="Cambria Math" panose="02040503050406030204" charset="0"/>
                          <a:ea typeface="黑体" panose="02010609060101010101" pitchFamily="49" charset="-122"/>
                          <a:cs typeface="Cambria Math" panose="02040503050406030204" charset="0"/>
                        </a:rPr>
                        <m:t>.</m:t>
                      </m:r>
                    </m:oMath>
                  </m:oMathPara>
                </a14:m>
                <a:endParaRPr kumimoji="1" lang="zh-CN" altLang="en-US" sz="2800" i="1" dirty="0">
                  <a:latin typeface="Cambria Math" panose="02040503050406030204" charset="0"/>
                  <a:ea typeface="黑体" panose="02010609060101010101" pitchFamily="49" charset="-122"/>
                  <a:cs typeface="Cambria Math" panose="02040503050406030204" charset="0"/>
                </a:endParaRPr>
              </a:p>
            </p:txBody>
          </p:sp>
        </mc:Choice>
        <mc:Fallback>
          <p:sp>
            <p:nvSpPr>
              <p:cNvPr id="28" name="对象 3"/>
              <p:cNvSpPr txBox="1">
                <a:spLocks noRot="1" noChangeAspect="1" noMove="1" noResize="1" noEditPoints="1" noAdjustHandles="1" noChangeArrowheads="1" noChangeShapeType="1" noTextEdit="1"/>
              </p:cNvSpPr>
              <p:nvPr/>
            </p:nvSpPr>
            <p:spPr>
              <a:xfrm>
                <a:off x="2590847" y="1067952"/>
                <a:ext cx="4134410" cy="988431"/>
              </a:xfrm>
              <a:prstGeom prst="rect">
                <a:avLst/>
              </a:prstGeom>
              <a:blipFill rotWithShape="1">
                <a:blip r:embed="rId3"/>
                <a:stretch>
                  <a:fillRect l="-1" t="-52" r="15" b="2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对象 16"/>
              <p:cNvSpPr txBox="1"/>
              <p:nvPr/>
            </p:nvSpPr>
            <p:spPr>
              <a:xfrm>
                <a:off x="2600093" y="3281137"/>
                <a:ext cx="3441700" cy="1016000"/>
              </a:xfrm>
              <a:prstGeom prst="rect">
                <a:avLst/>
              </a:prstGeom>
            </p:spPr>
            <p:txBody>
              <a:bodyPr>
                <a:normAutofit/>
              </a:bodyPr>
              <a:lstStyle/>
              <a:p>
                <a14:m>
                  <m:oMathPara xmlns:m="http://schemas.openxmlformats.org/officeDocument/2006/math">
                    <m:oMathParaPr>
                      <m:jc m:val="left"/>
                    </m:oMathParaPr>
                    <m:oMath xmlns:m="http://schemas.openxmlformats.org/officeDocument/2006/math">
                      <m:r>
                        <a:rPr kumimoji="1" lang="zh-CN" altLang="en-US" sz="2200" i="1">
                          <a:latin typeface="Cambria Math" panose="02040503050406030204" charset="0"/>
                          <a:ea typeface="黑体" panose="02010609060101010101" pitchFamily="49" charset="-122"/>
                        </a:rPr>
                        <m:t>=</m:t>
                      </m:r>
                      <m:func>
                        <m:funcPr>
                          <m:ctrlPr>
                            <a:rPr kumimoji="1" lang="zh-CN" altLang="en-US" sz="2200" i="1">
                              <a:latin typeface="Cambria Math" panose="02040503050406030204" charset="0"/>
                              <a:ea typeface="黑体" panose="02010609060101010101" pitchFamily="49" charset="-122"/>
                            </a:rPr>
                          </m:ctrlPr>
                        </m:funcPr>
                        <m:fName>
                          <m:limLow>
                            <m:limLowPr>
                              <m:ctrlPr>
                                <a:rPr kumimoji="1" lang="zh-CN" altLang="en-US" sz="2200" i="1">
                                  <a:latin typeface="Cambria Math" panose="02040503050406030204" charset="0"/>
                                  <a:ea typeface="黑体" panose="02010609060101010101" pitchFamily="49" charset="-122"/>
                                </a:rPr>
                              </m:ctrlPr>
                            </m:limLowPr>
                            <m:e>
                              <m:r>
                                <m:rPr>
                                  <m:sty m:val="p"/>
                                </m:rPr>
                                <a:rPr kumimoji="1" lang="zh-CN" altLang="en-US" sz="2200" i="1">
                                  <a:latin typeface="Cambria Math" panose="02040503050406030204" charset="0"/>
                                  <a:ea typeface="黑体" panose="02010609060101010101" pitchFamily="49" charset="-122"/>
                                </a:rPr>
                                <m:t>lim</m:t>
                              </m:r>
                            </m:e>
                            <m:lim>
                              <m:r>
                                <a:rPr kumimoji="1" lang="zh-CN" altLang="en-US" sz="2200" i="1">
                                  <a:latin typeface="Cambria Math" panose="02040503050406030204" charset="0"/>
                                  <a:ea typeface="黑体" panose="02010609060101010101" pitchFamily="49" charset="-122"/>
                                </a:rPr>
                                <m:t>(</m:t>
                              </m:r>
                              <m:r>
                                <a:rPr kumimoji="1" lang="zh-CN" altLang="en-US" sz="2200" i="1">
                                  <a:latin typeface="Cambria Math" panose="02040503050406030204" charset="0"/>
                                  <a:ea typeface="黑体" panose="02010609060101010101" pitchFamily="49" charset="-122"/>
                                </a:rPr>
                                <m:t>𝑥</m:t>
                              </m:r>
                              <m:r>
                                <a:rPr kumimoji="1" lang="zh-CN" altLang="en-US" sz="2200" i="1">
                                  <a:latin typeface="Cambria Math" panose="02040503050406030204" charset="0"/>
                                  <a:ea typeface="黑体" panose="02010609060101010101" pitchFamily="49" charset="-122"/>
                                </a:rPr>
                                <m:t>,</m:t>
                              </m:r>
                              <m:r>
                                <a:rPr kumimoji="1" lang="zh-CN" altLang="en-US" sz="2200" i="1">
                                  <a:latin typeface="Cambria Math" panose="02040503050406030204" charset="0"/>
                                  <a:ea typeface="黑体" panose="02010609060101010101" pitchFamily="49" charset="-122"/>
                                </a:rPr>
                                <m:t>𝑦</m:t>
                              </m:r>
                              <m:r>
                                <a:rPr kumimoji="1" lang="zh-CN" altLang="en-US" sz="2200" i="1">
                                  <a:latin typeface="Cambria Math" panose="02040503050406030204" charset="0"/>
                                  <a:ea typeface="黑体" panose="02010609060101010101" pitchFamily="49" charset="-122"/>
                                </a:rPr>
                                <m:t>)→(</m:t>
                              </m:r>
                              <m:r>
                                <a:rPr kumimoji="1" lang="zh-CN" altLang="en-US" sz="2200" i="1">
                                  <a:latin typeface="Cambria Math" panose="02040503050406030204" charset="0"/>
                                  <a:ea typeface="黑体" panose="02010609060101010101" pitchFamily="49" charset="-122"/>
                                </a:rPr>
                                <m:t>0</m:t>
                              </m:r>
                              <m:r>
                                <a:rPr kumimoji="1" lang="zh-CN" altLang="en-US" sz="2200" i="1">
                                  <a:latin typeface="Cambria Math" panose="02040503050406030204" charset="0"/>
                                  <a:ea typeface="黑体" panose="02010609060101010101" pitchFamily="49" charset="-122"/>
                                </a:rPr>
                                <m:t>,</m:t>
                              </m:r>
                              <m:r>
                                <a:rPr kumimoji="1" lang="zh-CN" altLang="en-US" sz="2200" i="1">
                                  <a:latin typeface="Cambria Math" panose="02040503050406030204" charset="0"/>
                                  <a:ea typeface="黑体" panose="02010609060101010101" pitchFamily="49" charset="-122"/>
                                </a:rPr>
                                <m:t>2</m:t>
                              </m:r>
                              <m:r>
                                <a:rPr kumimoji="1" lang="zh-CN" altLang="en-US" sz="2200" i="1">
                                  <a:latin typeface="Cambria Math" panose="02040503050406030204" charset="0"/>
                                  <a:ea typeface="黑体" panose="02010609060101010101" pitchFamily="49" charset="-122"/>
                                </a:rPr>
                                <m:t>)</m:t>
                              </m:r>
                            </m:lim>
                          </m:limLow>
                        </m:fName>
                        <m:e>
                          <m:d>
                            <m:dPr>
                              <m:begChr m:val="["/>
                              <m:endChr m:val="]"/>
                              <m:ctrlPr>
                                <a:rPr kumimoji="1" lang="zh-CN" altLang="en-US" sz="2200" i="1">
                                  <a:latin typeface="Cambria Math" panose="02040503050406030204" charset="0"/>
                                  <a:ea typeface="黑体" panose="02010609060101010101" pitchFamily="49" charset="-122"/>
                                </a:rPr>
                              </m:ctrlPr>
                            </m:dPr>
                            <m:e>
                              <m:f>
                                <m:fPr>
                                  <m:ctrlPr>
                                    <a:rPr kumimoji="1" lang="zh-CN" altLang="en-US" sz="2200" i="1">
                                      <a:latin typeface="Cambria Math" panose="02040503050406030204" charset="0"/>
                                      <a:ea typeface="黑体" panose="02010609060101010101" pitchFamily="49" charset="-122"/>
                                    </a:rPr>
                                  </m:ctrlPr>
                                </m:fPr>
                                <m:num>
                                  <m:r>
                                    <m:rPr>
                                      <m:sty m:val="p"/>
                                    </m:rPr>
                                    <a:rPr kumimoji="1" lang="zh-CN" altLang="en-US" sz="2200" i="1">
                                      <a:latin typeface="Cambria Math" panose="02040503050406030204" charset="0"/>
                                      <a:ea typeface="黑体" panose="02010609060101010101" pitchFamily="49" charset="-122"/>
                                    </a:rPr>
                                    <m:t>sin</m:t>
                                  </m:r>
                                  <m:r>
                                    <a:rPr kumimoji="1" lang="zh-CN" altLang="en-US" sz="2200" i="1">
                                      <a:latin typeface="Cambria Math" panose="02040503050406030204" charset="0"/>
                                      <a:ea typeface="黑体" panose="02010609060101010101" pitchFamily="49" charset="-122"/>
                                    </a:rPr>
                                    <m:t>(</m:t>
                                  </m:r>
                                  <m:r>
                                    <a:rPr kumimoji="1" lang="zh-CN" altLang="en-US" sz="2200" i="1">
                                      <a:latin typeface="Cambria Math" panose="02040503050406030204" charset="0"/>
                                      <a:ea typeface="黑体" panose="02010609060101010101" pitchFamily="49" charset="-122"/>
                                    </a:rPr>
                                    <m:t>𝑥</m:t>
                                  </m:r>
                                  <m:r>
                                    <a:rPr kumimoji="1" lang="zh-CN" altLang="en-US" sz="2200" i="1">
                                      <a:latin typeface="Cambria Math" panose="02040503050406030204" charset="0"/>
                                      <a:ea typeface="黑体" panose="02010609060101010101" pitchFamily="49" charset="-122"/>
                                    </a:rPr>
                                    <m:t>​</m:t>
                                  </m:r>
                                  <m:r>
                                    <a:rPr kumimoji="1" lang="zh-CN" altLang="en-US" sz="2200" i="1">
                                      <a:latin typeface="Cambria Math" panose="02040503050406030204" charset="0"/>
                                      <a:ea typeface="黑体" panose="02010609060101010101" pitchFamily="49" charset="-122"/>
                                    </a:rPr>
                                    <m:t>𝑦</m:t>
                                  </m:r>
                                  <m:r>
                                    <a:rPr kumimoji="1" lang="zh-CN" altLang="en-US" sz="2200" i="1">
                                      <a:latin typeface="Cambria Math" panose="02040503050406030204" charset="0"/>
                                      <a:ea typeface="黑体" panose="02010609060101010101" pitchFamily="49" charset="-122"/>
                                    </a:rPr>
                                    <m:t>)</m:t>
                                  </m:r>
                                </m:num>
                                <m:den>
                                  <m:r>
                                    <a:rPr kumimoji="1" lang="zh-CN" altLang="en-US" sz="2200" i="1">
                                      <a:latin typeface="Cambria Math" panose="02040503050406030204" charset="0"/>
                                      <a:ea typeface="黑体" panose="02010609060101010101" pitchFamily="49" charset="-122"/>
                                    </a:rPr>
                                    <m:t>𝑥𝑦</m:t>
                                  </m:r>
                                </m:den>
                              </m:f>
                              <m:r>
                                <a:rPr kumimoji="1" lang="zh-CN" altLang="en-US" sz="2200" i="1">
                                  <a:latin typeface="Cambria Math" panose="02040503050406030204" charset="0"/>
                                  <a:ea typeface="黑体" panose="02010609060101010101" pitchFamily="49" charset="-122"/>
                                </a:rPr>
                                <m:t>⋅</m:t>
                              </m:r>
                              <m:r>
                                <a:rPr kumimoji="1" lang="zh-CN" altLang="en-US" sz="2200" i="1">
                                  <a:latin typeface="Cambria Math" panose="02040503050406030204" charset="0"/>
                                  <a:ea typeface="黑体" panose="02010609060101010101" pitchFamily="49" charset="-122"/>
                                </a:rPr>
                                <m:t>𝑦</m:t>
                              </m:r>
                            </m:e>
                          </m:d>
                        </m:e>
                      </m:func>
                      <m:r>
                        <a:rPr kumimoji="1" lang="zh-CN" altLang="en-US" sz="2200" i="1">
                          <a:latin typeface="Cambria Math" panose="02040503050406030204" charset="0"/>
                          <a:ea typeface="黑体" panose="02010609060101010101" pitchFamily="49" charset="-122"/>
                        </a:rPr>
                        <m:t> </m:t>
                      </m:r>
                    </m:oMath>
                  </m:oMathPara>
                </a14:m>
                <a:endParaRPr kumimoji="1" lang="zh-CN" altLang="en-US" sz="2200" i="1" dirty="0">
                  <a:latin typeface="Cambria Math" panose="02040503050406030204" charset="0"/>
                  <a:ea typeface="黑体" panose="02010609060101010101" pitchFamily="49" charset="-122"/>
                </a:endParaRPr>
              </a:p>
            </p:txBody>
          </p:sp>
        </mc:Choice>
        <mc:Fallback>
          <p:sp>
            <p:nvSpPr>
              <p:cNvPr id="29" name="对象 16"/>
              <p:cNvSpPr txBox="1">
                <a:spLocks noRot="1" noChangeAspect="1" noMove="1" noResize="1" noEditPoints="1" noAdjustHandles="1" noChangeArrowheads="1" noChangeShapeType="1" noTextEdit="1"/>
              </p:cNvSpPr>
              <p:nvPr/>
            </p:nvSpPr>
            <p:spPr>
              <a:xfrm>
                <a:off x="2600093" y="3281137"/>
                <a:ext cx="3441700" cy="1016000"/>
              </a:xfrm>
              <a:prstGeom prst="rect">
                <a:avLst/>
              </a:prstGeom>
              <a:blipFill rotWithShape="1">
                <a:blip r:embed="rId4"/>
                <a:stretch>
                  <a:fillRect l="-12" t="-9" r="12" b="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 name="对象 17"/>
              <p:cNvSpPr txBox="1"/>
              <p:nvPr/>
            </p:nvSpPr>
            <p:spPr>
              <a:xfrm>
                <a:off x="2600093" y="4349238"/>
                <a:ext cx="3530600" cy="901700"/>
              </a:xfrm>
              <a:prstGeom prst="rect">
                <a:avLst/>
              </a:prstGeom>
            </p:spPr>
            <p:txBody>
              <a:bodyPr>
                <a:normAutofit/>
              </a:bodyPr>
              <a:lstStyle/>
              <a:p>
                <a14:m>
                  <m:oMathPara xmlns:m="http://schemas.openxmlformats.org/officeDocument/2006/math">
                    <m:oMathParaPr>
                      <m:jc m:val="left"/>
                    </m:oMathParaPr>
                    <m:oMath xmlns:m="http://schemas.openxmlformats.org/officeDocument/2006/math">
                      <m:r>
                        <a:rPr kumimoji="1" lang="zh-CN" altLang="en-US" sz="2200" i="1">
                          <a:latin typeface="Cambria Math" panose="02040503050406030204" charset="0"/>
                          <a:ea typeface="黑体" panose="02010609060101010101" pitchFamily="49" charset="-122"/>
                        </a:rPr>
                        <m:t>=</m:t>
                      </m:r>
                      <m:func>
                        <m:funcPr>
                          <m:ctrlPr>
                            <a:rPr kumimoji="1" lang="zh-CN" altLang="en-US" sz="2200" i="1">
                              <a:latin typeface="Cambria Math" panose="02040503050406030204" charset="0"/>
                              <a:ea typeface="黑体" panose="02010609060101010101" pitchFamily="49" charset="-122"/>
                            </a:rPr>
                          </m:ctrlPr>
                        </m:funcPr>
                        <m:fName>
                          <m:limLow>
                            <m:limLowPr>
                              <m:ctrlPr>
                                <a:rPr kumimoji="1" lang="zh-CN" altLang="en-US" sz="2200" i="1">
                                  <a:latin typeface="Cambria Math" panose="02040503050406030204" charset="0"/>
                                  <a:ea typeface="黑体" panose="02010609060101010101" pitchFamily="49" charset="-122"/>
                                </a:rPr>
                              </m:ctrlPr>
                            </m:limLowPr>
                            <m:e>
                              <m:r>
                                <m:rPr>
                                  <m:sty m:val="p"/>
                                </m:rPr>
                                <a:rPr kumimoji="1" lang="zh-CN" altLang="en-US" sz="2200" i="1">
                                  <a:latin typeface="Cambria Math" panose="02040503050406030204" charset="0"/>
                                  <a:ea typeface="黑体" panose="02010609060101010101" pitchFamily="49" charset="-122"/>
                                </a:rPr>
                                <m:t>lim</m:t>
                              </m:r>
                            </m:e>
                            <m:lim>
                              <m:r>
                                <a:rPr kumimoji="1" lang="zh-CN" altLang="en-US" sz="2200" i="1">
                                  <a:latin typeface="Cambria Math" panose="02040503050406030204" charset="0"/>
                                  <a:ea typeface="黑体" panose="02010609060101010101" pitchFamily="49" charset="-122"/>
                                </a:rPr>
                                <m:t>(</m:t>
                              </m:r>
                              <m:r>
                                <a:rPr kumimoji="1" lang="zh-CN" altLang="en-US" sz="2200" i="1">
                                  <a:latin typeface="Cambria Math" panose="02040503050406030204" charset="0"/>
                                  <a:ea typeface="黑体" panose="02010609060101010101" pitchFamily="49" charset="-122"/>
                                </a:rPr>
                                <m:t>𝑥</m:t>
                              </m:r>
                              <m:r>
                                <a:rPr kumimoji="1" lang="zh-CN" altLang="en-US" sz="2200" i="1">
                                  <a:latin typeface="Cambria Math" panose="02040503050406030204" charset="0"/>
                                  <a:ea typeface="黑体" panose="02010609060101010101" pitchFamily="49" charset="-122"/>
                                </a:rPr>
                                <m:t>,</m:t>
                              </m:r>
                              <m:r>
                                <a:rPr kumimoji="1" lang="zh-CN" altLang="en-US" sz="2200" i="1">
                                  <a:latin typeface="Cambria Math" panose="02040503050406030204" charset="0"/>
                                  <a:ea typeface="黑体" panose="02010609060101010101" pitchFamily="49" charset="-122"/>
                                </a:rPr>
                                <m:t>𝑦</m:t>
                              </m:r>
                              <m:r>
                                <a:rPr kumimoji="1" lang="zh-CN" altLang="en-US" sz="2200" i="1">
                                  <a:latin typeface="Cambria Math" panose="02040503050406030204" charset="0"/>
                                  <a:ea typeface="黑体" panose="02010609060101010101" pitchFamily="49" charset="-122"/>
                                </a:rPr>
                                <m:t>)→(</m:t>
                              </m:r>
                              <m:r>
                                <a:rPr kumimoji="1" lang="zh-CN" altLang="en-US" sz="2200" i="1">
                                  <a:latin typeface="Cambria Math" panose="02040503050406030204" charset="0"/>
                                  <a:ea typeface="黑体" panose="02010609060101010101" pitchFamily="49" charset="-122"/>
                                </a:rPr>
                                <m:t>0</m:t>
                              </m:r>
                              <m:r>
                                <a:rPr kumimoji="1" lang="zh-CN" altLang="en-US" sz="2200" i="1">
                                  <a:latin typeface="Cambria Math" panose="02040503050406030204" charset="0"/>
                                  <a:ea typeface="黑体" panose="02010609060101010101" pitchFamily="49" charset="-122"/>
                                </a:rPr>
                                <m:t>,</m:t>
                              </m:r>
                              <m:r>
                                <a:rPr kumimoji="1" lang="zh-CN" altLang="en-US" sz="2200" i="1">
                                  <a:latin typeface="Cambria Math" panose="02040503050406030204" charset="0"/>
                                  <a:ea typeface="黑体" panose="02010609060101010101" pitchFamily="49" charset="-122"/>
                                </a:rPr>
                                <m:t>2</m:t>
                              </m:r>
                              <m:r>
                                <a:rPr kumimoji="1" lang="zh-CN" altLang="en-US" sz="2200" i="1">
                                  <a:latin typeface="Cambria Math" panose="02040503050406030204" charset="0"/>
                                  <a:ea typeface="黑体" panose="02010609060101010101" pitchFamily="49" charset="-122"/>
                                </a:rPr>
                                <m:t>)</m:t>
                              </m:r>
                            </m:lim>
                          </m:limLow>
                        </m:fName>
                        <m:e>
                          <m:f>
                            <m:fPr>
                              <m:ctrlPr>
                                <a:rPr kumimoji="1" lang="zh-CN" altLang="en-US" sz="2200" i="1">
                                  <a:latin typeface="Cambria Math" panose="02040503050406030204" charset="0"/>
                                  <a:ea typeface="黑体" panose="02010609060101010101" pitchFamily="49" charset="-122"/>
                                </a:rPr>
                              </m:ctrlPr>
                            </m:fPr>
                            <m:num>
                              <m:r>
                                <m:rPr>
                                  <m:sty m:val="p"/>
                                </m:rPr>
                                <a:rPr kumimoji="1" lang="zh-CN" altLang="en-US" sz="2200" i="1">
                                  <a:latin typeface="Cambria Math" panose="02040503050406030204" charset="0"/>
                                  <a:ea typeface="黑体" panose="02010609060101010101" pitchFamily="49" charset="-122"/>
                                </a:rPr>
                                <m:t>sin</m:t>
                              </m:r>
                              <m:r>
                                <a:rPr kumimoji="1" lang="zh-CN" altLang="en-US" sz="2200" i="1">
                                  <a:latin typeface="Cambria Math" panose="02040503050406030204" charset="0"/>
                                  <a:ea typeface="黑体" panose="02010609060101010101" pitchFamily="49" charset="-122"/>
                                </a:rPr>
                                <m:t>(</m:t>
                              </m:r>
                              <m:r>
                                <a:rPr kumimoji="1" lang="zh-CN" altLang="en-US" sz="2200" i="1">
                                  <a:latin typeface="Cambria Math" panose="02040503050406030204" charset="0"/>
                                  <a:ea typeface="黑体" panose="02010609060101010101" pitchFamily="49" charset="-122"/>
                                </a:rPr>
                                <m:t>𝑥</m:t>
                              </m:r>
                              <m:r>
                                <a:rPr kumimoji="1" lang="zh-CN" altLang="en-US" sz="2200" i="1">
                                  <a:latin typeface="Cambria Math" panose="02040503050406030204" charset="0"/>
                                  <a:ea typeface="黑体" panose="02010609060101010101" pitchFamily="49" charset="-122"/>
                                </a:rPr>
                                <m:t>​</m:t>
                              </m:r>
                              <m:r>
                                <a:rPr kumimoji="1" lang="zh-CN" altLang="en-US" sz="2200" i="1">
                                  <a:latin typeface="Cambria Math" panose="02040503050406030204" charset="0"/>
                                  <a:ea typeface="黑体" panose="02010609060101010101" pitchFamily="49" charset="-122"/>
                                </a:rPr>
                                <m:t>𝑦</m:t>
                              </m:r>
                              <m:r>
                                <a:rPr kumimoji="1" lang="zh-CN" altLang="en-US" sz="2200" i="1">
                                  <a:latin typeface="Cambria Math" panose="02040503050406030204" charset="0"/>
                                  <a:ea typeface="黑体" panose="02010609060101010101" pitchFamily="49" charset="-122"/>
                                </a:rPr>
                                <m:t>)</m:t>
                              </m:r>
                            </m:num>
                            <m:den>
                              <m:r>
                                <a:rPr kumimoji="1" lang="zh-CN" altLang="en-US" sz="2200" i="1">
                                  <a:latin typeface="Cambria Math" panose="02040503050406030204" charset="0"/>
                                  <a:ea typeface="黑体" panose="02010609060101010101" pitchFamily="49" charset="-122"/>
                                </a:rPr>
                                <m:t>𝑥𝑦</m:t>
                              </m:r>
                            </m:den>
                          </m:f>
                        </m:e>
                      </m:func>
                      <m:r>
                        <a:rPr kumimoji="1" lang="zh-CN" altLang="en-US" sz="2200" i="1">
                          <a:latin typeface="Cambria Math" panose="02040503050406030204" charset="0"/>
                          <a:ea typeface="黑体" panose="02010609060101010101" pitchFamily="49" charset="-122"/>
                        </a:rPr>
                        <m:t>⋅</m:t>
                      </m:r>
                      <m:func>
                        <m:funcPr>
                          <m:ctrlPr>
                            <a:rPr kumimoji="1" lang="zh-CN" altLang="en-US" sz="2200" i="1">
                              <a:latin typeface="Cambria Math" panose="02040503050406030204" charset="0"/>
                              <a:ea typeface="黑体" panose="02010609060101010101" pitchFamily="49" charset="-122"/>
                            </a:rPr>
                          </m:ctrlPr>
                        </m:funcPr>
                        <m:fName>
                          <m:limLow>
                            <m:limLowPr>
                              <m:ctrlPr>
                                <a:rPr kumimoji="1" lang="zh-CN" altLang="en-US" sz="2200" i="1">
                                  <a:latin typeface="Cambria Math" panose="02040503050406030204" charset="0"/>
                                  <a:ea typeface="黑体" panose="02010609060101010101" pitchFamily="49" charset="-122"/>
                                </a:rPr>
                              </m:ctrlPr>
                            </m:limLowPr>
                            <m:e>
                              <m:r>
                                <m:rPr>
                                  <m:sty m:val="p"/>
                                </m:rPr>
                                <a:rPr kumimoji="1" lang="zh-CN" altLang="en-US" sz="2200" i="1">
                                  <a:latin typeface="Cambria Math" panose="02040503050406030204" charset="0"/>
                                  <a:ea typeface="黑体" panose="02010609060101010101" pitchFamily="49" charset="-122"/>
                                </a:rPr>
                                <m:t>lim</m:t>
                              </m:r>
                            </m:e>
                            <m:lim>
                              <m:r>
                                <a:rPr kumimoji="1" lang="zh-CN" altLang="en-US" sz="2200" i="1">
                                  <a:latin typeface="Cambria Math" panose="02040503050406030204" charset="0"/>
                                  <a:ea typeface="黑体" panose="02010609060101010101" pitchFamily="49" charset="-122"/>
                                </a:rPr>
                                <m:t>𝑦</m:t>
                              </m:r>
                              <m:r>
                                <a:rPr kumimoji="1" lang="zh-CN" altLang="en-US" sz="2200" i="1">
                                  <a:latin typeface="Cambria Math" panose="02040503050406030204" charset="0"/>
                                  <a:ea typeface="黑体" panose="02010609060101010101" pitchFamily="49" charset="-122"/>
                                </a:rPr>
                                <m:t>→</m:t>
                              </m:r>
                              <m:r>
                                <a:rPr kumimoji="1" lang="zh-CN" altLang="en-US" sz="2200" i="1">
                                  <a:latin typeface="Cambria Math" panose="02040503050406030204" charset="0"/>
                                  <a:ea typeface="黑体" panose="02010609060101010101" pitchFamily="49" charset="-122"/>
                                </a:rPr>
                                <m:t>2</m:t>
                              </m:r>
                            </m:lim>
                          </m:limLow>
                        </m:fName>
                        <m:e>
                          <m:r>
                            <a:rPr kumimoji="1" lang="zh-CN" altLang="en-US" sz="2200" i="1">
                              <a:latin typeface="Cambria Math" panose="02040503050406030204" charset="0"/>
                              <a:ea typeface="黑体" panose="02010609060101010101" pitchFamily="49" charset="-122"/>
                            </a:rPr>
                            <m:t>𝑦</m:t>
                          </m:r>
                        </m:e>
                      </m:func>
                    </m:oMath>
                  </m:oMathPara>
                </a14:m>
                <a:endParaRPr kumimoji="1" lang="zh-CN" altLang="en-US" sz="2200" i="1" dirty="0">
                  <a:latin typeface="Cambria Math" panose="02040503050406030204" charset="0"/>
                  <a:ea typeface="黑体" panose="02010609060101010101" pitchFamily="49" charset="-122"/>
                </a:endParaRPr>
              </a:p>
            </p:txBody>
          </p:sp>
        </mc:Choice>
        <mc:Fallback>
          <p:sp>
            <p:nvSpPr>
              <p:cNvPr id="30" name="对象 17"/>
              <p:cNvSpPr txBox="1">
                <a:spLocks noRot="1" noChangeAspect="1" noMove="1" noResize="1" noEditPoints="1" noAdjustHandles="1" noChangeArrowheads="1" noChangeShapeType="1" noTextEdit="1"/>
              </p:cNvSpPr>
              <p:nvPr/>
            </p:nvSpPr>
            <p:spPr>
              <a:xfrm>
                <a:off x="2600093" y="4349238"/>
                <a:ext cx="3530600" cy="901700"/>
              </a:xfrm>
              <a:prstGeom prst="rect">
                <a:avLst/>
              </a:prstGeom>
              <a:blipFill rotWithShape="1">
                <a:blip r:embed="rId5"/>
                <a:stretch>
                  <a:fillRect l="-11" t="-14" r="11" b="1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 name="对象 4"/>
              <p:cNvSpPr txBox="1"/>
              <p:nvPr/>
            </p:nvSpPr>
            <p:spPr>
              <a:xfrm>
                <a:off x="2600093" y="5400394"/>
                <a:ext cx="558800" cy="317500"/>
              </a:xfrm>
              <a:prstGeom prst="rect">
                <a:avLst/>
              </a:prstGeom>
            </p:spPr>
            <p:txBody>
              <a:bodyPr>
                <a:noAutofit/>
              </a:bodyPr>
              <a:lstStyle/>
              <a:p>
                <a14:m>
                  <m:oMathPara xmlns:m="http://schemas.openxmlformats.org/officeDocument/2006/math">
                    <m:oMathParaPr>
                      <m:jc m:val="left"/>
                    </m:oMathParaPr>
                    <m:oMath xmlns:m="http://schemas.openxmlformats.org/officeDocument/2006/math">
                      <m:r>
                        <a:rPr kumimoji="1" lang="zh-CN" altLang="en-US" sz="2200" i="1">
                          <a:latin typeface="Cambria Math" panose="02040503050406030204" charset="0"/>
                          <a:ea typeface="黑体" panose="02010609060101010101" pitchFamily="49" charset="-122"/>
                        </a:rPr>
                        <m:t>=</m:t>
                      </m:r>
                      <m:r>
                        <a:rPr kumimoji="1" lang="zh-CN" altLang="en-US" sz="2200" i="1">
                          <a:latin typeface="Cambria Math" panose="02040503050406030204" charset="0"/>
                          <a:ea typeface="黑体" panose="02010609060101010101" pitchFamily="49" charset="-122"/>
                        </a:rPr>
                        <m:t>2</m:t>
                      </m:r>
                      <m:r>
                        <a:rPr kumimoji="1" lang="zh-CN" altLang="en-US" sz="2200" i="1">
                          <a:latin typeface="Cambria Math" panose="02040503050406030204" charset="0"/>
                          <a:ea typeface="黑体" panose="02010609060101010101" pitchFamily="49" charset="-122"/>
                        </a:rPr>
                        <m:t>.</m:t>
                      </m:r>
                    </m:oMath>
                  </m:oMathPara>
                </a14:m>
                <a:endParaRPr kumimoji="1" lang="zh-CN" altLang="en-US" sz="2200" i="1" dirty="0">
                  <a:latin typeface="Cambria Math" panose="02040503050406030204" charset="0"/>
                  <a:ea typeface="黑体" panose="02010609060101010101" pitchFamily="49" charset="-122"/>
                </a:endParaRPr>
              </a:p>
            </p:txBody>
          </p:sp>
        </mc:Choice>
        <mc:Fallback>
          <p:sp>
            <p:nvSpPr>
              <p:cNvPr id="31" name="对象 4"/>
              <p:cNvSpPr txBox="1">
                <a:spLocks noRot="1" noChangeAspect="1" noMove="1" noResize="1" noEditPoints="1" noAdjustHandles="1" noChangeArrowheads="1" noChangeShapeType="1" noTextEdit="1"/>
              </p:cNvSpPr>
              <p:nvPr/>
            </p:nvSpPr>
            <p:spPr>
              <a:xfrm>
                <a:off x="2600093" y="5400394"/>
                <a:ext cx="558800" cy="317500"/>
              </a:xfrm>
              <a:prstGeom prst="rect">
                <a:avLst/>
              </a:prstGeom>
              <a:blipFill rotWithShape="1">
                <a:blip r:embed="rId6"/>
                <a:stretch>
                  <a:fillRect l="-72" t="-111" r="-5610" b="-19889"/>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wipe(left)">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left)">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wipe(left)">
                                      <p:cBhvr>
                                        <p:cTn id="27" dur="50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wipe(left)">
                                      <p:cBhvr>
                                        <p:cTn id="32" dur="500"/>
                                        <p:tgtEl>
                                          <p:spTgt spid="3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wipe(left)">
                                      <p:cBhvr>
                                        <p:cTn id="3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10" grpId="0" bldLvl="0" animBg="1"/>
      <p:bldP spid="24" grpId="0"/>
      <p:bldP spid="28" grpId="0"/>
      <p:bldP spid="29" grpId="0"/>
      <p:bldP spid="30" grpId="0"/>
      <p:bldP spid="31"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矩形 4"/>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p:sp>
            <p:nvSpPr>
              <p:cNvPr id="5" name="矩形 4"/>
              <p:cNvSpPr>
                <a:spLocks noRot="1" noChangeAspect="1" noMove="1" noResize="1" noEditPoints="1" noAdjustHandles="1" noChangeArrowheads="1" noChangeShapeType="1" noTextEdit="1"/>
              </p:cNvSpPr>
              <p:nvPr/>
            </p:nvSpPr>
            <p:spPr>
              <a:xfrm>
                <a:off x="687959" y="536260"/>
                <a:ext cx="10817352" cy="5799897"/>
              </a:xfrm>
              <a:prstGeom prst="rect">
                <a:avLst/>
              </a:prstGeom>
              <a:blipFill rotWithShape="1">
                <a:blip r:embed="rId1"/>
                <a:stretch>
                  <a:fillRect l="-1499" t="-1932" r="-1493" b="-1914"/>
                </a:stretch>
              </a:blip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10" name="半闭框 9"/>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半闭框 11"/>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半闭框 12"/>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14" name="半闭框 13"/>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2"/>
          <p:cNvSpPr txBox="1">
            <a:spLocks noChangeArrowheads="1"/>
          </p:cNvSpPr>
          <p:nvPr/>
        </p:nvSpPr>
        <p:spPr bwMode="auto">
          <a:xfrm>
            <a:off x="1636586" y="1743228"/>
            <a:ext cx="1095714"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spcBef>
                <a:spcPct val="50000"/>
              </a:spcBef>
            </a:pPr>
            <a:r>
              <a:rPr kumimoji="1" lang="zh-CN" altLang="en-US" sz="2800" b="1" dirty="0">
                <a:solidFill>
                  <a:srgbClr val="04926A"/>
                </a:solidFill>
                <a:latin typeface="微软雅黑" panose="020B0503020204020204" charset="-122"/>
                <a:ea typeface="微软雅黑" panose="020B0503020204020204" charset="-122"/>
              </a:rPr>
              <a:t>例</a:t>
            </a:r>
            <a:r>
              <a:rPr kumimoji="1" lang="en-US" altLang="zh-CN" sz="2800" b="1" dirty="0">
                <a:solidFill>
                  <a:srgbClr val="04926A"/>
                </a:solidFill>
                <a:latin typeface="微软雅黑" panose="020B0503020204020204" charset="-122"/>
                <a:ea typeface="微软雅黑" panose="020B0503020204020204" charset="-122"/>
              </a:rPr>
              <a:t>6 </a:t>
            </a:r>
            <a:r>
              <a:rPr lang="en-US" altLang="zh-CN" sz="2800" b="1" dirty="0"/>
              <a:t> </a:t>
            </a:r>
            <a:endParaRPr lang="zh-CN" altLang="en-US" sz="2800" b="1" dirty="0"/>
          </a:p>
        </p:txBody>
      </p:sp>
      <p:sp>
        <p:nvSpPr>
          <p:cNvPr id="4" name="Text Box 3"/>
          <p:cNvSpPr txBox="1">
            <a:spLocks noChangeArrowheads="1"/>
          </p:cNvSpPr>
          <p:nvPr/>
        </p:nvSpPr>
        <p:spPr bwMode="auto">
          <a:xfrm>
            <a:off x="1631922" y="2856261"/>
            <a:ext cx="685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kumimoji="1" lang="zh-CN" altLang="en-US" sz="2800" b="1" dirty="0">
                <a:solidFill>
                  <a:srgbClr val="04926A"/>
                </a:solidFill>
                <a:latin typeface="微软雅黑" panose="020B0503020204020204" charset="-122"/>
                <a:ea typeface="微软雅黑" panose="020B0503020204020204" charset="-122"/>
              </a:rPr>
              <a:t>证</a:t>
            </a:r>
            <a:endParaRPr kumimoji="1" lang="zh-CN" altLang="en-US" sz="2800" b="1" dirty="0">
              <a:solidFill>
                <a:srgbClr val="04926A"/>
              </a:solidFill>
              <a:latin typeface="微软雅黑" panose="020B0503020204020204" charset="-122"/>
              <a:ea typeface="微软雅黑" panose="020B0503020204020204" charset="-122"/>
            </a:endParaRPr>
          </a:p>
        </p:txBody>
      </p:sp>
      <p:sp>
        <p:nvSpPr>
          <p:cNvPr id="6" name="Text Box 6"/>
          <p:cNvSpPr txBox="1">
            <a:spLocks noChangeArrowheads="1"/>
          </p:cNvSpPr>
          <p:nvPr/>
        </p:nvSpPr>
        <p:spPr bwMode="auto">
          <a:xfrm>
            <a:off x="2376657" y="2904797"/>
            <a:ext cx="685800"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kumimoji="1" lang="zh-CN" altLang="en-US" sz="2200" dirty="0">
                <a:solidFill>
                  <a:schemeClr val="tx1">
                    <a:lumMod val="95000"/>
                    <a:lumOff val="5000"/>
                  </a:schemeClr>
                </a:solidFill>
                <a:latin typeface="Cambria Math" panose="02040503050406030204" charset="0"/>
                <a:ea typeface="黑体" panose="02010609060101010101" pitchFamily="49" charset="-122"/>
              </a:rPr>
              <a:t>取</a:t>
            </a:r>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AlternateContent xmlns:mc="http://schemas.openxmlformats.org/markup-compatibility/2006">
        <mc:Choice xmlns:a14="http://schemas.microsoft.com/office/drawing/2010/main" Requires="a14">
          <p:sp>
            <p:nvSpPr>
              <p:cNvPr id="7" name="Object 7"/>
              <p:cNvSpPr txBox="1"/>
              <p:nvPr/>
            </p:nvSpPr>
            <p:spPr bwMode="auto">
              <a:xfrm>
                <a:off x="2730656" y="2869892"/>
                <a:ext cx="1231900" cy="469900"/>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kumimoji="1" lang="zh-CN" altLang="en-US" sz="2200">
                          <a:latin typeface="Cambria Math" panose="02040503050406030204" charset="0"/>
                          <a:ea typeface="黑体" panose="02010609060101010101" pitchFamily="49" charset="-122"/>
                          <a:cs typeface="Cambria Math" panose="02040503050406030204" charset="0"/>
                        </a:rPr>
                        <m:t>𝑦</m:t>
                      </m:r>
                      <m:r>
                        <a:rPr kumimoji="1" lang="zh-CN" altLang="en-US" sz="2200">
                          <a:latin typeface="Cambria Math" panose="02040503050406030204" charset="0"/>
                          <a:ea typeface="黑体" panose="02010609060101010101" pitchFamily="49" charset="-122"/>
                          <a:cs typeface="Cambria Math" panose="02040503050406030204" charset="0"/>
                        </a:rPr>
                        <m:t>=</m:t>
                      </m:r>
                      <m:r>
                        <a:rPr kumimoji="1" lang="zh-CN" altLang="en-US" sz="2200">
                          <a:latin typeface="Cambria Math" panose="02040503050406030204" charset="0"/>
                          <a:ea typeface="黑体" panose="02010609060101010101" pitchFamily="49" charset="-122"/>
                          <a:cs typeface="Cambria Math" panose="02040503050406030204" charset="0"/>
                        </a:rPr>
                        <m:t>𝑘</m:t>
                      </m:r>
                      <m:sSup>
                        <m:sSupPr>
                          <m:ctrlPr>
                            <a:rPr kumimoji="1" lang="zh-CN" altLang="en-US" sz="2200" i="1">
                              <a:latin typeface="Cambria Math" panose="02040503050406030204" charset="0"/>
                              <a:ea typeface="黑体" panose="02010609060101010101" pitchFamily="49" charset="-122"/>
                              <a:cs typeface="Cambria Math" panose="02040503050406030204" charset="0"/>
                            </a:rPr>
                          </m:ctrlPr>
                        </m:sSupPr>
                        <m:e>
                          <m:r>
                            <a:rPr kumimoji="1" lang="zh-CN" altLang="en-US" sz="2200">
                              <a:latin typeface="Cambria Math" panose="02040503050406030204" charset="0"/>
                              <a:ea typeface="黑体" panose="02010609060101010101" pitchFamily="49" charset="-122"/>
                              <a:cs typeface="Cambria Math" panose="02040503050406030204" charset="0"/>
                            </a:rPr>
                            <m:t>𝑥</m:t>
                          </m:r>
                        </m:e>
                        <m:sup>
                          <m:r>
                            <a:rPr kumimoji="1" lang="zh-CN" altLang="en-US" sz="2200">
                              <a:latin typeface="Cambria Math" panose="02040503050406030204" charset="0"/>
                              <a:ea typeface="黑体" panose="02010609060101010101" pitchFamily="49" charset="-122"/>
                              <a:cs typeface="Cambria Math" panose="02040503050406030204" charset="0"/>
                            </a:rPr>
                            <m:t>3</m:t>
                          </m:r>
                        </m:sup>
                      </m:sSup>
                      <m:r>
                        <a:rPr kumimoji="1" lang="zh-CN" altLang="en-US" sz="2200">
                          <a:latin typeface="Cambria Math" panose="02040503050406030204" charset="0"/>
                          <a:ea typeface="黑体" panose="02010609060101010101" pitchFamily="49" charset="-122"/>
                          <a:cs typeface="Cambria Math" panose="02040503050406030204" charset="0"/>
                        </a:rPr>
                        <m:t>,</m:t>
                      </m:r>
                    </m:oMath>
                  </m:oMathPara>
                </a14:m>
                <a:endParaRPr kumimoji="1" lang="zh-CN" altLang="en-US" sz="2200" dirty="0">
                  <a:latin typeface="Cambria Math" panose="02040503050406030204" charset="0"/>
                  <a:ea typeface="黑体" panose="02010609060101010101" pitchFamily="49" charset="-122"/>
                  <a:cs typeface="Cambria Math" panose="02040503050406030204" charset="0"/>
                </a:endParaRPr>
              </a:p>
            </p:txBody>
          </p:sp>
        </mc:Choice>
        <mc:Fallback>
          <p:sp>
            <p:nvSpPr>
              <p:cNvPr id="7" name="Object 7"/>
              <p:cNvSpPr txBox="1">
                <a:spLocks noRot="1" noChangeAspect="1" noMove="1" noResize="1" noEditPoints="1" noAdjustHandles="1" noChangeArrowheads="1" noChangeShapeType="1" noTextEdit="1"/>
              </p:cNvSpPr>
              <p:nvPr/>
            </p:nvSpPr>
            <p:spPr bwMode="auto">
              <a:xfrm>
                <a:off x="2730656" y="2869892"/>
                <a:ext cx="1231900" cy="469900"/>
              </a:xfrm>
              <a:prstGeom prst="rect">
                <a:avLst/>
              </a:prstGeom>
              <a:blipFill rotWithShape="1">
                <a:blip r:embed="rId2"/>
                <a:stretch>
                  <a:fillRect l="-13" t="-70" r="13" b="70"/>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Object 8"/>
              <p:cNvSpPr txBox="1"/>
              <p:nvPr/>
            </p:nvSpPr>
            <p:spPr bwMode="auto">
              <a:xfrm>
                <a:off x="1631922" y="3500798"/>
                <a:ext cx="3187582" cy="1551060"/>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func>
                        <m:funcPr>
                          <m:ctrlPr>
                            <a:rPr kumimoji="1" lang="zh-CN" altLang="en-US" sz="2200" i="1" smtClean="0">
                              <a:latin typeface="Cambria Math" panose="02040503050406030204" charset="0"/>
                              <a:ea typeface="黑体" panose="02010609060101010101" pitchFamily="49" charset="-122"/>
                              <a:cs typeface="Cambria Math" panose="02040503050406030204" charset="0"/>
                            </a:rPr>
                          </m:ctrlPr>
                        </m:funcPr>
                        <m:fName>
                          <m:limLow>
                            <m:limLowPr>
                              <m:ctrlPr>
                                <a:rPr kumimoji="1" lang="zh-CN" altLang="en-US" sz="2400" i="1">
                                  <a:latin typeface="Cambria Math" panose="02040503050406030204" charset="0"/>
                                  <a:ea typeface="黑体" panose="02010609060101010101" pitchFamily="49" charset="-122"/>
                                  <a:cs typeface="Cambria Math" panose="02040503050406030204" charset="0"/>
                                </a:rPr>
                              </m:ctrlPr>
                            </m:limLowPr>
                            <m:e>
                              <m:r>
                                <m:rPr>
                                  <m:sty m:val="p"/>
                                </m:rPr>
                                <a:rPr kumimoji="1" lang="zh-CN" altLang="en-US" sz="2400" i="1">
                                  <a:latin typeface="Cambria Math" panose="02040503050406030204" charset="0"/>
                                  <a:ea typeface="黑体" panose="02010609060101010101" pitchFamily="49" charset="-122"/>
                                  <a:cs typeface="Cambria Math" panose="02040503050406030204" charset="0"/>
                                </a:rPr>
                                <m:t>lim</m:t>
                              </m:r>
                            </m:e>
                            <m:lim>
                              <m:r>
                                <a:rPr kumimoji="1" lang="zh-CN" altLang="en-US" sz="2400" i="1">
                                  <a:latin typeface="Cambria Math" panose="02040503050406030204" charset="0"/>
                                  <a:ea typeface="黑体" panose="02010609060101010101" pitchFamily="49" charset="-122"/>
                                  <a:cs typeface="Cambria Math" panose="02040503050406030204" charset="0"/>
                                </a:rPr>
                                <m:t>(</m:t>
                              </m:r>
                              <m:r>
                                <a:rPr kumimoji="1" lang="zh-CN" altLang="en-US" sz="2400" i="1">
                                  <a:latin typeface="Cambria Math" panose="02040503050406030204" charset="0"/>
                                  <a:ea typeface="黑体" panose="02010609060101010101" pitchFamily="49" charset="-122"/>
                                  <a:cs typeface="Cambria Math" panose="02040503050406030204" charset="0"/>
                                </a:rPr>
                                <m:t>𝑥</m:t>
                              </m:r>
                              <m:r>
                                <a:rPr kumimoji="1" lang="zh-CN" altLang="en-US" sz="2400" i="1">
                                  <a:latin typeface="Cambria Math" panose="02040503050406030204" charset="0"/>
                                  <a:ea typeface="黑体" panose="02010609060101010101" pitchFamily="49" charset="-122"/>
                                  <a:cs typeface="Cambria Math" panose="02040503050406030204" charset="0"/>
                                </a:rPr>
                                <m:t>,</m:t>
                              </m:r>
                              <m:r>
                                <a:rPr kumimoji="1" lang="zh-CN" altLang="en-US" sz="2400" i="1">
                                  <a:latin typeface="Cambria Math" panose="02040503050406030204" charset="0"/>
                                  <a:ea typeface="黑体" panose="02010609060101010101" pitchFamily="49" charset="-122"/>
                                  <a:cs typeface="Cambria Math" panose="02040503050406030204" charset="0"/>
                                </a:rPr>
                                <m:t>𝑦</m:t>
                              </m:r>
                              <m:r>
                                <a:rPr kumimoji="1" lang="zh-CN" altLang="en-US" sz="2400" i="1">
                                  <a:latin typeface="Cambria Math" panose="02040503050406030204" charset="0"/>
                                  <a:ea typeface="黑体" panose="02010609060101010101" pitchFamily="49" charset="-122"/>
                                  <a:cs typeface="Cambria Math" panose="02040503050406030204" charset="0"/>
                                </a:rPr>
                                <m:t>)→(</m:t>
                              </m:r>
                              <m:r>
                                <a:rPr kumimoji="1" lang="zh-CN" altLang="en-US" sz="2400" i="1">
                                  <a:latin typeface="Cambria Math" panose="02040503050406030204" charset="0"/>
                                  <a:ea typeface="黑体" panose="02010609060101010101" pitchFamily="49" charset="-122"/>
                                  <a:cs typeface="Cambria Math" panose="02040503050406030204" charset="0"/>
                                </a:rPr>
                                <m:t>0</m:t>
                              </m:r>
                              <m:r>
                                <a:rPr kumimoji="1" lang="zh-CN" altLang="en-US" sz="2400" i="1">
                                  <a:latin typeface="Cambria Math" panose="02040503050406030204" charset="0"/>
                                  <a:ea typeface="黑体" panose="02010609060101010101" pitchFamily="49" charset="-122"/>
                                  <a:cs typeface="Cambria Math" panose="02040503050406030204" charset="0"/>
                                </a:rPr>
                                <m:t>,</m:t>
                              </m:r>
                              <m:r>
                                <a:rPr kumimoji="1" lang="zh-CN" altLang="en-US" sz="2400" i="1">
                                  <a:latin typeface="Cambria Math" panose="02040503050406030204" charset="0"/>
                                  <a:ea typeface="黑体" panose="02010609060101010101" pitchFamily="49" charset="-122"/>
                                  <a:cs typeface="Cambria Math" panose="02040503050406030204" charset="0"/>
                                </a:rPr>
                                <m:t>0</m:t>
                              </m:r>
                              <m:r>
                                <a:rPr kumimoji="1" lang="zh-CN" altLang="en-US" sz="2400" i="1">
                                  <a:latin typeface="Cambria Math" panose="02040503050406030204" charset="0"/>
                                  <a:ea typeface="黑体" panose="02010609060101010101" pitchFamily="49" charset="-122"/>
                                  <a:cs typeface="Cambria Math" panose="02040503050406030204" charset="0"/>
                                </a:rPr>
                                <m:t>)</m:t>
                              </m:r>
                            </m:lim>
                          </m:limLow>
                        </m:fName>
                        <m:e>
                          <m:r>
                            <a:rPr kumimoji="1" lang="en-US" altLang="zh-CN" sz="2200" b="0" i="0" smtClean="0">
                              <a:latin typeface="Cambria Math" panose="02040503050406030204" charset="0"/>
                              <a:ea typeface="黑体" panose="02010609060101010101" pitchFamily="49" charset="-122"/>
                              <a:cs typeface="Cambria Math" panose="02040503050406030204" charset="0"/>
                            </a:rPr>
                            <m:t> </m:t>
                          </m:r>
                        </m:e>
                      </m:func>
                      <m:f>
                        <m:fPr>
                          <m:ctrlPr>
                            <a:rPr kumimoji="1" lang="zh-CN" altLang="en-US" sz="2200" i="1">
                              <a:latin typeface="Cambria Math" panose="02040503050406030204" charset="0"/>
                              <a:ea typeface="黑体" panose="02010609060101010101" pitchFamily="49" charset="-122"/>
                              <a:cs typeface="Cambria Math" panose="02040503050406030204" charset="0"/>
                            </a:rPr>
                          </m:ctrlPr>
                        </m:fPr>
                        <m:num>
                          <m:sSup>
                            <m:sSupPr>
                              <m:ctrlPr>
                                <a:rPr kumimoji="1" lang="zh-CN" altLang="en-US" sz="2200" i="1">
                                  <a:latin typeface="Cambria Math" panose="02040503050406030204" charset="0"/>
                                  <a:ea typeface="黑体" panose="02010609060101010101" pitchFamily="49" charset="-122"/>
                                  <a:cs typeface="Cambria Math" panose="02040503050406030204" charset="0"/>
                                </a:rPr>
                              </m:ctrlPr>
                            </m:sSupPr>
                            <m:e>
                              <m:r>
                                <a:rPr kumimoji="1" lang="zh-CN" altLang="en-US" sz="2200">
                                  <a:latin typeface="Cambria Math" panose="02040503050406030204" charset="0"/>
                                  <a:ea typeface="黑体" panose="02010609060101010101" pitchFamily="49" charset="-122"/>
                                  <a:cs typeface="Cambria Math" panose="02040503050406030204" charset="0"/>
                                </a:rPr>
                                <m:t>𝑥</m:t>
                              </m:r>
                            </m:e>
                            <m:sup>
                              <m:r>
                                <a:rPr kumimoji="1" lang="zh-CN" altLang="en-US" sz="2200">
                                  <a:latin typeface="Cambria Math" panose="02040503050406030204" charset="0"/>
                                  <a:ea typeface="黑体" panose="02010609060101010101" pitchFamily="49" charset="-122"/>
                                  <a:cs typeface="Cambria Math" panose="02040503050406030204" charset="0"/>
                                </a:rPr>
                                <m:t>3</m:t>
                              </m:r>
                            </m:sup>
                          </m:sSup>
                          <m:r>
                            <a:rPr kumimoji="1" lang="zh-CN" altLang="en-US" sz="2200">
                              <a:latin typeface="Cambria Math" panose="02040503050406030204" charset="0"/>
                              <a:ea typeface="黑体" panose="02010609060101010101" pitchFamily="49" charset="-122"/>
                              <a:cs typeface="Cambria Math" panose="02040503050406030204" charset="0"/>
                            </a:rPr>
                            <m:t>𝑦</m:t>
                          </m:r>
                        </m:num>
                        <m:den>
                          <m:sSup>
                            <m:sSupPr>
                              <m:ctrlPr>
                                <a:rPr kumimoji="1" lang="zh-CN" altLang="en-US" sz="2200" i="1">
                                  <a:latin typeface="Cambria Math" panose="02040503050406030204" charset="0"/>
                                  <a:ea typeface="黑体" panose="02010609060101010101" pitchFamily="49" charset="-122"/>
                                  <a:cs typeface="Cambria Math" panose="02040503050406030204" charset="0"/>
                                </a:rPr>
                              </m:ctrlPr>
                            </m:sSupPr>
                            <m:e>
                              <m:r>
                                <a:rPr kumimoji="1" lang="zh-CN" altLang="en-US" sz="2200">
                                  <a:latin typeface="Cambria Math" panose="02040503050406030204" charset="0"/>
                                  <a:ea typeface="黑体" panose="02010609060101010101" pitchFamily="49" charset="-122"/>
                                  <a:cs typeface="Cambria Math" panose="02040503050406030204" charset="0"/>
                                </a:rPr>
                                <m:t>𝑥</m:t>
                              </m:r>
                            </m:e>
                            <m:sup>
                              <m:r>
                                <a:rPr kumimoji="1" lang="zh-CN" altLang="en-US" sz="2200">
                                  <a:latin typeface="Cambria Math" panose="02040503050406030204" charset="0"/>
                                  <a:ea typeface="黑体" panose="02010609060101010101" pitchFamily="49" charset="-122"/>
                                  <a:cs typeface="Cambria Math" panose="02040503050406030204" charset="0"/>
                                </a:rPr>
                                <m:t>6</m:t>
                              </m:r>
                            </m:sup>
                          </m:sSup>
                          <m:r>
                            <a:rPr kumimoji="1" lang="zh-CN" altLang="en-US" sz="2200">
                              <a:latin typeface="Cambria Math" panose="02040503050406030204" charset="0"/>
                              <a:ea typeface="黑体" panose="02010609060101010101" pitchFamily="49" charset="-122"/>
                              <a:cs typeface="Cambria Math" panose="02040503050406030204" charset="0"/>
                            </a:rPr>
                            <m:t>+</m:t>
                          </m:r>
                          <m:sSup>
                            <m:sSupPr>
                              <m:ctrlPr>
                                <a:rPr kumimoji="1" lang="zh-CN" altLang="en-US" sz="2200" i="1">
                                  <a:latin typeface="Cambria Math" panose="02040503050406030204" charset="0"/>
                                  <a:ea typeface="黑体" panose="02010609060101010101" pitchFamily="49" charset="-122"/>
                                  <a:cs typeface="Cambria Math" panose="02040503050406030204" charset="0"/>
                                </a:rPr>
                              </m:ctrlPr>
                            </m:sSupPr>
                            <m:e>
                              <m:r>
                                <a:rPr kumimoji="1" lang="zh-CN" altLang="en-US" sz="2200">
                                  <a:latin typeface="Cambria Math" panose="02040503050406030204" charset="0"/>
                                  <a:ea typeface="黑体" panose="02010609060101010101" pitchFamily="49" charset="-122"/>
                                  <a:cs typeface="Cambria Math" panose="02040503050406030204" charset="0"/>
                                </a:rPr>
                                <m:t>𝑦</m:t>
                              </m:r>
                            </m:e>
                            <m:sup>
                              <m:r>
                                <a:rPr kumimoji="1" lang="zh-CN" altLang="en-US" sz="2200">
                                  <a:latin typeface="Cambria Math" panose="02040503050406030204" charset="0"/>
                                  <a:ea typeface="黑体" panose="02010609060101010101" pitchFamily="49" charset="-122"/>
                                  <a:cs typeface="Cambria Math" panose="02040503050406030204" charset="0"/>
                                </a:rPr>
                                <m:t>2</m:t>
                              </m:r>
                            </m:sup>
                          </m:sSup>
                        </m:den>
                      </m:f>
                    </m:oMath>
                  </m:oMathPara>
                </a14:m>
                <a:endParaRPr kumimoji="1" lang="zh-CN" altLang="en-US" sz="2200" dirty="0">
                  <a:latin typeface="Cambria Math" panose="02040503050406030204" charset="0"/>
                  <a:ea typeface="黑体" panose="02010609060101010101" pitchFamily="49" charset="-122"/>
                  <a:cs typeface="Cambria Math" panose="02040503050406030204" charset="0"/>
                </a:endParaRPr>
              </a:p>
            </p:txBody>
          </p:sp>
        </mc:Choice>
        <mc:Fallback>
          <p:sp>
            <p:nvSpPr>
              <p:cNvPr id="8" name="Object 8"/>
              <p:cNvSpPr txBox="1">
                <a:spLocks noRot="1" noChangeAspect="1" noMove="1" noResize="1" noEditPoints="1" noAdjustHandles="1" noChangeArrowheads="1" noChangeShapeType="1" noTextEdit="1"/>
              </p:cNvSpPr>
              <p:nvPr/>
            </p:nvSpPr>
            <p:spPr bwMode="auto">
              <a:xfrm>
                <a:off x="1631922" y="3500798"/>
                <a:ext cx="3187582" cy="1551060"/>
              </a:xfrm>
              <a:prstGeom prst="rect">
                <a:avLst/>
              </a:prstGeom>
              <a:blipFill rotWithShape="1">
                <a:blip r:embed="rId3"/>
                <a:stretch>
                  <a:fillRect l="-19" t="-3" r="15" b="28"/>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Object 9"/>
              <p:cNvSpPr txBox="1"/>
              <p:nvPr/>
            </p:nvSpPr>
            <p:spPr bwMode="auto">
              <a:xfrm>
                <a:off x="4015430" y="3498873"/>
                <a:ext cx="2599593" cy="1211895"/>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kumimoji="1" lang="zh-CN" altLang="en-US" sz="2200" i="1" smtClean="0">
                          <a:latin typeface="Cambria Math" panose="02040503050406030204" charset="0"/>
                          <a:ea typeface="黑体" panose="02010609060101010101" pitchFamily="49" charset="-122"/>
                          <a:cs typeface="Cambria Math" panose="02040503050406030204" charset="0"/>
                        </a:rPr>
                        <m:t>=</m:t>
                      </m:r>
                      <m:func>
                        <m:funcPr>
                          <m:ctrlPr>
                            <a:rPr kumimoji="1" lang="zh-CN" altLang="en-US" sz="2200" i="1">
                              <a:latin typeface="Cambria Math" panose="02040503050406030204" charset="0"/>
                              <a:ea typeface="黑体" panose="02010609060101010101" pitchFamily="49" charset="-122"/>
                              <a:cs typeface="Cambria Math" panose="02040503050406030204" charset="0"/>
                            </a:rPr>
                          </m:ctrlPr>
                        </m:funcPr>
                        <m:fName>
                          <m:limLow>
                            <m:limLowPr>
                              <m:ctrlPr>
                                <a:rPr kumimoji="1" lang="zh-CN" altLang="en-US" sz="2200" i="1">
                                  <a:latin typeface="Cambria Math" panose="02040503050406030204" charset="0"/>
                                  <a:ea typeface="黑体" panose="02010609060101010101" pitchFamily="49" charset="-122"/>
                                  <a:cs typeface="Cambria Math" panose="02040503050406030204" charset="0"/>
                                </a:rPr>
                              </m:ctrlPr>
                            </m:limLowPr>
                            <m:e>
                              <m:r>
                                <m:rPr>
                                  <m:sty m:val="p"/>
                                </m:rPr>
                                <a:rPr kumimoji="1" lang="zh-CN" altLang="en-US" sz="2200" i="1">
                                  <a:latin typeface="Cambria Math" panose="02040503050406030204" charset="0"/>
                                  <a:ea typeface="黑体" panose="02010609060101010101" pitchFamily="49" charset="-122"/>
                                  <a:cs typeface="Cambria Math" panose="02040503050406030204" charset="0"/>
                                </a:rPr>
                                <m:t>lim</m:t>
                              </m:r>
                            </m:e>
                            <m:lim>
                              <m:eqArr>
                                <m:eqArrPr>
                                  <m:ctrlPr>
                                    <a:rPr kumimoji="1" lang="zh-CN" altLang="en-US" sz="2200" i="1">
                                      <a:latin typeface="Cambria Math" panose="02040503050406030204" charset="0"/>
                                      <a:ea typeface="黑体" panose="02010609060101010101" pitchFamily="49" charset="-122"/>
                                      <a:cs typeface="Cambria Math" panose="02040503050406030204" charset="0"/>
                                    </a:rPr>
                                  </m:ctrlPr>
                                </m:eqArrPr>
                                <m:e>
                                  <m:r>
                                    <a:rPr kumimoji="1" lang="zh-CN" altLang="en-US" sz="2200" i="1">
                                      <a:latin typeface="Cambria Math" panose="02040503050406030204" charset="0"/>
                                      <a:ea typeface="黑体" panose="02010609060101010101" pitchFamily="49" charset="-122"/>
                                      <a:cs typeface="Cambria Math" panose="02040503050406030204" charset="0"/>
                                    </a:rPr>
                                    <m:t>&amp;</m:t>
                                  </m:r>
                                  <m:r>
                                    <a:rPr kumimoji="1" lang="en-US" altLang="zh-CN" sz="2200" b="0" i="1" smtClean="0">
                                      <a:latin typeface="Cambria Math" panose="02040503050406030204" charset="0"/>
                                      <a:ea typeface="黑体" panose="02010609060101010101" pitchFamily="49" charset="-122"/>
                                      <a:cs typeface="Cambria Math" panose="02040503050406030204" charset="0"/>
                                    </a:rPr>
                                    <m:t>  </m:t>
                                  </m:r>
                                  <m:r>
                                    <a:rPr kumimoji="1" lang="zh-CN" altLang="en-US" sz="2200" i="1">
                                      <a:latin typeface="Cambria Math" panose="02040503050406030204" charset="0"/>
                                      <a:ea typeface="黑体" panose="02010609060101010101" pitchFamily="49" charset="-122"/>
                                      <a:cs typeface="Cambria Math" panose="02040503050406030204" charset="0"/>
                                    </a:rPr>
                                    <m:t>𝑥</m:t>
                                  </m:r>
                                  <m:r>
                                    <a:rPr kumimoji="1" lang="zh-CN" altLang="en-US" sz="2200" i="1">
                                      <a:latin typeface="Cambria Math" panose="02040503050406030204" charset="0"/>
                                      <a:ea typeface="黑体" panose="02010609060101010101" pitchFamily="49" charset="-122"/>
                                      <a:cs typeface="Cambria Math" panose="02040503050406030204" charset="0"/>
                                    </a:rPr>
                                    <m:t>→</m:t>
                                  </m:r>
                                  <m:r>
                                    <a:rPr kumimoji="1" lang="zh-CN" altLang="en-US" sz="2200" i="1">
                                      <a:latin typeface="Cambria Math" panose="02040503050406030204" charset="0"/>
                                      <a:ea typeface="黑体" panose="02010609060101010101" pitchFamily="49" charset="-122"/>
                                      <a:cs typeface="Cambria Math" panose="02040503050406030204" charset="0"/>
                                    </a:rPr>
                                    <m:t>0</m:t>
                                  </m:r>
                                </m:e>
                                <m:e>
                                  <m:r>
                                    <a:rPr kumimoji="1" lang="zh-CN" altLang="en-US" sz="2200" i="1">
                                      <a:latin typeface="Cambria Math" panose="02040503050406030204" charset="0"/>
                                      <a:ea typeface="黑体" panose="02010609060101010101" pitchFamily="49" charset="-122"/>
                                      <a:cs typeface="Cambria Math" panose="02040503050406030204" charset="0"/>
                                    </a:rPr>
                                    <m:t>&amp;</m:t>
                                  </m:r>
                                  <m:r>
                                    <a:rPr kumimoji="1" lang="zh-CN" altLang="en-US" sz="2200" i="1">
                                      <a:latin typeface="Cambria Math" panose="02040503050406030204" charset="0"/>
                                      <a:ea typeface="黑体" panose="02010609060101010101" pitchFamily="49" charset="-122"/>
                                      <a:cs typeface="Cambria Math" panose="02040503050406030204" charset="0"/>
                                    </a:rPr>
                                    <m:t>𝑦</m:t>
                                  </m:r>
                                  <m:r>
                                    <a:rPr kumimoji="1" lang="zh-CN" altLang="en-US" sz="2200" i="1">
                                      <a:latin typeface="Cambria Math" panose="02040503050406030204" charset="0"/>
                                      <a:ea typeface="黑体" panose="02010609060101010101" pitchFamily="49" charset="-122"/>
                                      <a:cs typeface="Cambria Math" panose="02040503050406030204" charset="0"/>
                                    </a:rPr>
                                    <m:t>=</m:t>
                                  </m:r>
                                  <m:r>
                                    <a:rPr kumimoji="1" lang="zh-CN" altLang="en-US" sz="2200" i="1">
                                      <a:latin typeface="Cambria Math" panose="02040503050406030204" charset="0"/>
                                      <a:ea typeface="黑体" panose="02010609060101010101" pitchFamily="49" charset="-122"/>
                                      <a:cs typeface="Cambria Math" panose="02040503050406030204" charset="0"/>
                                    </a:rPr>
                                    <m:t>𝑘</m:t>
                                  </m:r>
                                  <m:sSup>
                                    <m:sSupPr>
                                      <m:ctrlPr>
                                        <a:rPr kumimoji="1" lang="zh-CN" altLang="en-US" sz="2200" i="1">
                                          <a:latin typeface="Cambria Math" panose="02040503050406030204" charset="0"/>
                                          <a:ea typeface="黑体" panose="02010609060101010101" pitchFamily="49" charset="-122"/>
                                          <a:cs typeface="Cambria Math" panose="02040503050406030204" charset="0"/>
                                        </a:rPr>
                                      </m:ctrlPr>
                                    </m:sSupPr>
                                    <m:e>
                                      <m:r>
                                        <a:rPr kumimoji="1" lang="zh-CN" altLang="en-US" sz="2200" i="1">
                                          <a:latin typeface="Cambria Math" panose="02040503050406030204" charset="0"/>
                                          <a:ea typeface="黑体" panose="02010609060101010101" pitchFamily="49" charset="-122"/>
                                          <a:cs typeface="Cambria Math" panose="02040503050406030204" charset="0"/>
                                        </a:rPr>
                                        <m:t>𝑥</m:t>
                                      </m:r>
                                    </m:e>
                                    <m:sup>
                                      <m:r>
                                        <a:rPr kumimoji="1" lang="zh-CN" altLang="en-US" sz="2200" i="1">
                                          <a:latin typeface="Cambria Math" panose="02040503050406030204" charset="0"/>
                                          <a:ea typeface="黑体" panose="02010609060101010101" pitchFamily="49" charset="-122"/>
                                          <a:cs typeface="Cambria Math" panose="02040503050406030204" charset="0"/>
                                        </a:rPr>
                                        <m:t>3</m:t>
                                      </m:r>
                                    </m:sup>
                                  </m:sSup>
                                </m:e>
                              </m:eqArr>
                            </m:lim>
                          </m:limLow>
                        </m:fName>
                        <m:e>
                          <m:f>
                            <m:fPr>
                              <m:ctrlPr>
                                <a:rPr kumimoji="1" lang="zh-CN" altLang="en-US" sz="2200" i="1">
                                  <a:latin typeface="Cambria Math" panose="02040503050406030204" charset="0"/>
                                  <a:ea typeface="黑体" panose="02010609060101010101" pitchFamily="49" charset="-122"/>
                                  <a:cs typeface="Cambria Math" panose="02040503050406030204" charset="0"/>
                                </a:rPr>
                              </m:ctrlPr>
                            </m:fPr>
                            <m:num>
                              <m:sSup>
                                <m:sSupPr>
                                  <m:ctrlPr>
                                    <a:rPr kumimoji="1" lang="zh-CN" altLang="en-US" sz="2200" i="1">
                                      <a:latin typeface="Cambria Math" panose="02040503050406030204" charset="0"/>
                                      <a:ea typeface="黑体" panose="02010609060101010101" pitchFamily="49" charset="-122"/>
                                      <a:cs typeface="Cambria Math" panose="02040503050406030204" charset="0"/>
                                    </a:rPr>
                                  </m:ctrlPr>
                                </m:sSupPr>
                                <m:e>
                                  <m:r>
                                    <a:rPr kumimoji="1" lang="zh-CN" altLang="en-US" sz="2200" i="1">
                                      <a:latin typeface="Cambria Math" panose="02040503050406030204" charset="0"/>
                                      <a:ea typeface="黑体" panose="02010609060101010101" pitchFamily="49" charset="-122"/>
                                      <a:cs typeface="Cambria Math" panose="02040503050406030204" charset="0"/>
                                    </a:rPr>
                                    <m:t>𝑥</m:t>
                                  </m:r>
                                </m:e>
                                <m:sup>
                                  <m:r>
                                    <a:rPr kumimoji="1" lang="zh-CN" altLang="en-US" sz="2200" i="1">
                                      <a:latin typeface="Cambria Math" panose="02040503050406030204" charset="0"/>
                                      <a:ea typeface="黑体" panose="02010609060101010101" pitchFamily="49" charset="-122"/>
                                      <a:cs typeface="Cambria Math" panose="02040503050406030204" charset="0"/>
                                    </a:rPr>
                                    <m:t>3</m:t>
                                  </m:r>
                                </m:sup>
                              </m:sSup>
                              <m:r>
                                <a:rPr kumimoji="1" lang="zh-CN" altLang="en-US" sz="2200" i="1">
                                  <a:latin typeface="Cambria Math" panose="02040503050406030204" charset="0"/>
                                  <a:ea typeface="黑体" panose="02010609060101010101" pitchFamily="49" charset="-122"/>
                                  <a:cs typeface="Cambria Math" panose="02040503050406030204" charset="0"/>
                                </a:rPr>
                                <m:t>⋅</m:t>
                              </m:r>
                              <m:r>
                                <a:rPr kumimoji="1" lang="zh-CN" altLang="en-US" sz="2200" i="1">
                                  <a:latin typeface="Cambria Math" panose="02040503050406030204" charset="0"/>
                                  <a:ea typeface="黑体" panose="02010609060101010101" pitchFamily="49" charset="-122"/>
                                  <a:cs typeface="Cambria Math" panose="02040503050406030204" charset="0"/>
                                </a:rPr>
                                <m:t>𝑘</m:t>
                              </m:r>
                              <m:sSup>
                                <m:sSupPr>
                                  <m:ctrlPr>
                                    <a:rPr kumimoji="1" lang="zh-CN" altLang="en-US" sz="2200" i="1">
                                      <a:latin typeface="Cambria Math" panose="02040503050406030204" charset="0"/>
                                      <a:ea typeface="黑体" panose="02010609060101010101" pitchFamily="49" charset="-122"/>
                                      <a:cs typeface="Cambria Math" panose="02040503050406030204" charset="0"/>
                                    </a:rPr>
                                  </m:ctrlPr>
                                </m:sSupPr>
                                <m:e>
                                  <m:r>
                                    <a:rPr kumimoji="1" lang="zh-CN" altLang="en-US" sz="2200" i="1">
                                      <a:latin typeface="Cambria Math" panose="02040503050406030204" charset="0"/>
                                      <a:ea typeface="黑体" panose="02010609060101010101" pitchFamily="49" charset="-122"/>
                                      <a:cs typeface="Cambria Math" panose="02040503050406030204" charset="0"/>
                                    </a:rPr>
                                    <m:t>𝑥</m:t>
                                  </m:r>
                                </m:e>
                                <m:sup>
                                  <m:r>
                                    <a:rPr kumimoji="1" lang="zh-CN" altLang="en-US" sz="2200" i="1">
                                      <a:latin typeface="Cambria Math" panose="02040503050406030204" charset="0"/>
                                      <a:ea typeface="黑体" panose="02010609060101010101" pitchFamily="49" charset="-122"/>
                                      <a:cs typeface="Cambria Math" panose="02040503050406030204" charset="0"/>
                                    </a:rPr>
                                    <m:t>3</m:t>
                                  </m:r>
                                </m:sup>
                              </m:sSup>
                            </m:num>
                            <m:den>
                              <m:sSup>
                                <m:sSupPr>
                                  <m:ctrlPr>
                                    <a:rPr kumimoji="1" lang="zh-CN" altLang="en-US" sz="2200" i="1">
                                      <a:latin typeface="Cambria Math" panose="02040503050406030204" charset="0"/>
                                      <a:ea typeface="黑体" panose="02010609060101010101" pitchFamily="49" charset="-122"/>
                                      <a:cs typeface="Cambria Math" panose="02040503050406030204" charset="0"/>
                                    </a:rPr>
                                  </m:ctrlPr>
                                </m:sSupPr>
                                <m:e>
                                  <m:r>
                                    <a:rPr kumimoji="1" lang="zh-CN" altLang="en-US" sz="2200" i="1">
                                      <a:latin typeface="Cambria Math" panose="02040503050406030204" charset="0"/>
                                      <a:ea typeface="黑体" panose="02010609060101010101" pitchFamily="49" charset="-122"/>
                                      <a:cs typeface="Cambria Math" panose="02040503050406030204" charset="0"/>
                                    </a:rPr>
                                    <m:t>𝑥</m:t>
                                  </m:r>
                                </m:e>
                                <m:sup>
                                  <m:r>
                                    <a:rPr kumimoji="1" lang="zh-CN" altLang="en-US" sz="2200" i="1">
                                      <a:latin typeface="Cambria Math" panose="02040503050406030204" charset="0"/>
                                      <a:ea typeface="黑体" panose="02010609060101010101" pitchFamily="49" charset="-122"/>
                                      <a:cs typeface="Cambria Math" panose="02040503050406030204" charset="0"/>
                                    </a:rPr>
                                    <m:t>6</m:t>
                                  </m:r>
                                </m:sup>
                              </m:sSup>
                              <m:r>
                                <a:rPr kumimoji="1" lang="zh-CN" altLang="en-US" sz="2200" i="1">
                                  <a:latin typeface="Cambria Math" panose="02040503050406030204" charset="0"/>
                                  <a:ea typeface="黑体" panose="02010609060101010101" pitchFamily="49" charset="-122"/>
                                  <a:cs typeface="Cambria Math" panose="02040503050406030204" charset="0"/>
                                </a:rPr>
                                <m:t>+</m:t>
                              </m:r>
                              <m:sSup>
                                <m:sSupPr>
                                  <m:ctrlPr>
                                    <a:rPr kumimoji="1" lang="zh-CN" altLang="en-US" sz="2200" i="1">
                                      <a:latin typeface="Cambria Math" panose="02040503050406030204" charset="0"/>
                                      <a:ea typeface="黑体" panose="02010609060101010101" pitchFamily="49" charset="-122"/>
                                      <a:cs typeface="Cambria Math" panose="02040503050406030204" charset="0"/>
                                    </a:rPr>
                                  </m:ctrlPr>
                                </m:sSupPr>
                                <m:e>
                                  <m:r>
                                    <a:rPr kumimoji="1" lang="zh-CN" altLang="en-US" sz="2200" i="1">
                                      <a:latin typeface="Cambria Math" panose="02040503050406030204" charset="0"/>
                                      <a:ea typeface="黑体" panose="02010609060101010101" pitchFamily="49" charset="-122"/>
                                      <a:cs typeface="Cambria Math" panose="02040503050406030204" charset="0"/>
                                    </a:rPr>
                                    <m:t>𝑘</m:t>
                                  </m:r>
                                </m:e>
                                <m:sup>
                                  <m:r>
                                    <a:rPr kumimoji="1" lang="zh-CN" altLang="en-US" sz="2200" i="1">
                                      <a:latin typeface="Cambria Math" panose="02040503050406030204" charset="0"/>
                                      <a:ea typeface="黑体" panose="02010609060101010101" pitchFamily="49" charset="-122"/>
                                      <a:cs typeface="Cambria Math" panose="02040503050406030204" charset="0"/>
                                    </a:rPr>
                                    <m:t>2</m:t>
                                  </m:r>
                                </m:sup>
                              </m:sSup>
                              <m:sSup>
                                <m:sSupPr>
                                  <m:ctrlPr>
                                    <a:rPr kumimoji="1" lang="zh-CN" altLang="en-US" sz="2200" i="1">
                                      <a:latin typeface="Cambria Math" panose="02040503050406030204" charset="0"/>
                                      <a:ea typeface="黑体" panose="02010609060101010101" pitchFamily="49" charset="-122"/>
                                      <a:cs typeface="Cambria Math" panose="02040503050406030204" charset="0"/>
                                    </a:rPr>
                                  </m:ctrlPr>
                                </m:sSupPr>
                                <m:e>
                                  <m:r>
                                    <a:rPr kumimoji="1" lang="zh-CN" altLang="en-US" sz="2200" i="1">
                                      <a:latin typeface="Cambria Math" panose="02040503050406030204" charset="0"/>
                                      <a:ea typeface="黑体" panose="02010609060101010101" pitchFamily="49" charset="-122"/>
                                      <a:cs typeface="Cambria Math" panose="02040503050406030204" charset="0"/>
                                    </a:rPr>
                                    <m:t>𝑥</m:t>
                                  </m:r>
                                </m:e>
                                <m:sup>
                                  <m:r>
                                    <a:rPr kumimoji="1" lang="zh-CN" altLang="en-US" sz="2200" i="1">
                                      <a:latin typeface="Cambria Math" panose="02040503050406030204" charset="0"/>
                                      <a:ea typeface="黑体" panose="02010609060101010101" pitchFamily="49" charset="-122"/>
                                      <a:cs typeface="Cambria Math" panose="02040503050406030204" charset="0"/>
                                    </a:rPr>
                                    <m:t>6</m:t>
                                  </m:r>
                                </m:sup>
                              </m:sSup>
                            </m:den>
                          </m:f>
                        </m:e>
                      </m:func>
                    </m:oMath>
                  </m:oMathPara>
                </a14:m>
                <a:endParaRPr kumimoji="1" lang="zh-CN" altLang="en-US" sz="2200" i="1" dirty="0">
                  <a:latin typeface="Cambria Math" panose="02040503050406030204" charset="0"/>
                  <a:ea typeface="黑体" panose="02010609060101010101" pitchFamily="49" charset="-122"/>
                  <a:cs typeface="Cambria Math" panose="02040503050406030204" charset="0"/>
                </a:endParaRPr>
              </a:p>
            </p:txBody>
          </p:sp>
        </mc:Choice>
        <mc:Fallback>
          <p:sp>
            <p:nvSpPr>
              <p:cNvPr id="9" name="Object 9"/>
              <p:cNvSpPr txBox="1">
                <a:spLocks noRot="1" noChangeAspect="1" noMove="1" noResize="1" noEditPoints="1" noAdjustHandles="1" noChangeArrowheads="1" noChangeShapeType="1" noTextEdit="1"/>
              </p:cNvSpPr>
              <p:nvPr/>
            </p:nvSpPr>
            <p:spPr bwMode="auto">
              <a:xfrm>
                <a:off x="4015430" y="3498873"/>
                <a:ext cx="2599593" cy="1211895"/>
              </a:xfrm>
              <a:prstGeom prst="rect">
                <a:avLst/>
              </a:prstGeom>
              <a:blipFill rotWithShape="1">
                <a:blip r:embed="rId4"/>
                <a:stretch>
                  <a:fillRect l="-13" t="-2" r="9" b="28"/>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Object 10"/>
              <p:cNvSpPr txBox="1"/>
              <p:nvPr/>
            </p:nvSpPr>
            <p:spPr bwMode="auto">
              <a:xfrm>
                <a:off x="6304506" y="3529563"/>
                <a:ext cx="1308100" cy="838200"/>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kumimoji="1" lang="zh-CN" altLang="en-US" sz="2200" i="1">
                          <a:latin typeface="Cambria Math" panose="02040503050406030204" charset="0"/>
                          <a:ea typeface="黑体" panose="02010609060101010101" pitchFamily="49" charset="-122"/>
                          <a:cs typeface="Cambria Math" panose="02040503050406030204" charset="0"/>
                        </a:rPr>
                        <m:t>=</m:t>
                      </m:r>
                      <m:f>
                        <m:fPr>
                          <m:ctrlPr>
                            <a:rPr kumimoji="1" lang="zh-CN" altLang="en-US" sz="2200" i="1">
                              <a:latin typeface="Cambria Math" panose="02040503050406030204" charset="0"/>
                              <a:ea typeface="黑体" panose="02010609060101010101" pitchFamily="49" charset="-122"/>
                              <a:cs typeface="Cambria Math" panose="02040503050406030204" charset="0"/>
                            </a:rPr>
                          </m:ctrlPr>
                        </m:fPr>
                        <m:num>
                          <m:r>
                            <a:rPr kumimoji="1" lang="zh-CN" altLang="en-US" sz="2200" i="1">
                              <a:latin typeface="Cambria Math" panose="02040503050406030204" charset="0"/>
                              <a:ea typeface="黑体" panose="02010609060101010101" pitchFamily="49" charset="-122"/>
                              <a:cs typeface="Cambria Math" panose="02040503050406030204" charset="0"/>
                            </a:rPr>
                            <m:t>𝑘</m:t>
                          </m:r>
                        </m:num>
                        <m:den>
                          <m:r>
                            <a:rPr kumimoji="1" lang="zh-CN" altLang="en-US" sz="2200" i="1">
                              <a:latin typeface="Cambria Math" panose="02040503050406030204" charset="0"/>
                              <a:ea typeface="黑体" panose="02010609060101010101" pitchFamily="49" charset="-122"/>
                              <a:cs typeface="Cambria Math" panose="02040503050406030204" charset="0"/>
                            </a:rPr>
                            <m:t>1</m:t>
                          </m:r>
                          <m:r>
                            <a:rPr kumimoji="1" lang="zh-CN" altLang="en-US" sz="2200" i="1">
                              <a:latin typeface="Cambria Math" panose="02040503050406030204" charset="0"/>
                              <a:ea typeface="黑体" panose="02010609060101010101" pitchFamily="49" charset="-122"/>
                              <a:cs typeface="Cambria Math" panose="02040503050406030204" charset="0"/>
                            </a:rPr>
                            <m:t>+</m:t>
                          </m:r>
                          <m:sSup>
                            <m:sSupPr>
                              <m:ctrlPr>
                                <a:rPr kumimoji="1" lang="zh-CN" altLang="en-US" sz="2200" i="1">
                                  <a:latin typeface="Cambria Math" panose="02040503050406030204" charset="0"/>
                                  <a:ea typeface="黑体" panose="02010609060101010101" pitchFamily="49" charset="-122"/>
                                  <a:cs typeface="Cambria Math" panose="02040503050406030204" charset="0"/>
                                </a:rPr>
                              </m:ctrlPr>
                            </m:sSupPr>
                            <m:e>
                              <m:r>
                                <a:rPr kumimoji="1" lang="zh-CN" altLang="en-US" sz="2200" i="1">
                                  <a:latin typeface="Cambria Math" panose="02040503050406030204" charset="0"/>
                                  <a:ea typeface="黑体" panose="02010609060101010101" pitchFamily="49" charset="-122"/>
                                  <a:cs typeface="Cambria Math" panose="02040503050406030204" charset="0"/>
                                </a:rPr>
                                <m:t>𝑘</m:t>
                              </m:r>
                            </m:e>
                            <m:sup>
                              <m:r>
                                <a:rPr kumimoji="1" lang="zh-CN" altLang="en-US" sz="2200" i="1">
                                  <a:latin typeface="Cambria Math" panose="02040503050406030204" charset="0"/>
                                  <a:ea typeface="黑体" panose="02010609060101010101" pitchFamily="49" charset="-122"/>
                                  <a:cs typeface="Cambria Math" panose="02040503050406030204" charset="0"/>
                                </a:rPr>
                                <m:t>2</m:t>
                              </m:r>
                            </m:sup>
                          </m:sSup>
                        </m:den>
                      </m:f>
                      <m:r>
                        <a:rPr kumimoji="1" lang="zh-CN" altLang="en-US" sz="2200" i="1">
                          <a:latin typeface="Cambria Math" panose="02040503050406030204" charset="0"/>
                          <a:ea typeface="黑体" panose="02010609060101010101" pitchFamily="49" charset="-122"/>
                          <a:cs typeface="Cambria Math" panose="02040503050406030204" charset="0"/>
                        </a:rPr>
                        <m:t>,</m:t>
                      </m:r>
                    </m:oMath>
                  </m:oMathPara>
                </a14:m>
                <a:endParaRPr kumimoji="1" lang="zh-CN" altLang="en-US" sz="2200" i="1" dirty="0">
                  <a:latin typeface="Cambria Math" panose="02040503050406030204" charset="0"/>
                  <a:ea typeface="黑体" panose="02010609060101010101" pitchFamily="49" charset="-122"/>
                  <a:cs typeface="Cambria Math" panose="02040503050406030204" charset="0"/>
                </a:endParaRPr>
              </a:p>
            </p:txBody>
          </p:sp>
        </mc:Choice>
        <mc:Fallback>
          <p:sp>
            <p:nvSpPr>
              <p:cNvPr id="11" name="Object 10"/>
              <p:cNvSpPr txBox="1">
                <a:spLocks noRot="1" noChangeAspect="1" noMove="1" noResize="1" noEditPoints="1" noAdjustHandles="1" noChangeArrowheads="1" noChangeShapeType="1" noTextEdit="1"/>
              </p:cNvSpPr>
              <p:nvPr/>
            </p:nvSpPr>
            <p:spPr bwMode="auto">
              <a:xfrm>
                <a:off x="6304506" y="3529563"/>
                <a:ext cx="1308100" cy="838200"/>
              </a:xfrm>
              <a:prstGeom prst="rect">
                <a:avLst/>
              </a:prstGeom>
              <a:blipFill rotWithShape="1">
                <a:blip r:embed="rId5"/>
                <a:stretch>
                  <a:fillRect l="-17" t="-28" r="17" b="28"/>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Text Box 11"/>
              <p:cNvSpPr txBox="1">
                <a:spLocks noChangeArrowheads="1"/>
              </p:cNvSpPr>
              <p:nvPr/>
            </p:nvSpPr>
            <p:spPr bwMode="auto">
              <a:xfrm>
                <a:off x="2376657" y="4804152"/>
                <a:ext cx="3067833"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spcBef>
                    <a:spcPct val="50000"/>
                  </a:spcBef>
                </a:pPr>
                <a:r>
                  <a:rPr kumimoji="1" lang="zh-CN" altLang="en-US" sz="2200" dirty="0">
                    <a:solidFill>
                      <a:schemeClr val="tx1">
                        <a:lumMod val="95000"/>
                        <a:lumOff val="5000"/>
                      </a:schemeClr>
                    </a:solidFill>
                    <a:latin typeface="Cambria Math" panose="02040503050406030204" charset="0"/>
                    <a:ea typeface="黑体" panose="02010609060101010101" pitchFamily="49" charset="-122"/>
                  </a:rPr>
                  <a:t>其值随</a:t>
                </a:r>
                <a14:m>
                  <m:oMath xmlns:m="http://schemas.openxmlformats.org/officeDocument/2006/math">
                    <m:r>
                      <a:rPr kumimoji="1" lang="en-US" altLang="zh-CN" sz="2200" i="1" dirty="0" smtClean="0">
                        <a:solidFill>
                          <a:schemeClr val="tx1">
                            <a:lumMod val="95000"/>
                            <a:lumOff val="5000"/>
                          </a:schemeClr>
                        </a:solidFill>
                        <a:latin typeface="Cambria Math" panose="02040503050406030204" charset="0"/>
                        <a:ea typeface="黑体" panose="02010609060101010101" pitchFamily="49" charset="-122"/>
                      </a:rPr>
                      <m:t>𝑘</m:t>
                    </m:r>
                  </m:oMath>
                </a14:m>
                <a:r>
                  <a:rPr kumimoji="1" lang="en-US" altLang="zh-CN" sz="2200" i="1" dirty="0">
                    <a:solidFill>
                      <a:schemeClr val="tx1">
                        <a:lumMod val="95000"/>
                        <a:lumOff val="5000"/>
                      </a:schemeClr>
                    </a:solidFill>
                    <a:latin typeface="Cambria Math" panose="02040503050406030204" charset="0"/>
                    <a:ea typeface="黑体" panose="02010609060101010101" pitchFamily="49" charset="-122"/>
                  </a:rPr>
                  <a:t> </a:t>
                </a:r>
                <a:r>
                  <a:rPr kumimoji="1" lang="zh-CN" altLang="en-US" sz="2200" dirty="0">
                    <a:solidFill>
                      <a:schemeClr val="tx1">
                        <a:lumMod val="95000"/>
                        <a:lumOff val="5000"/>
                      </a:schemeClr>
                    </a:solidFill>
                    <a:latin typeface="Cambria Math" panose="02040503050406030204" charset="0"/>
                    <a:ea typeface="黑体" panose="02010609060101010101" pitchFamily="49" charset="-122"/>
                  </a:rPr>
                  <a:t>的不同而变化</a:t>
                </a:r>
                <a14:m>
                  <m:oMath xmlns:m="http://schemas.openxmlformats.org/officeDocument/2006/math">
                    <m:r>
                      <a:rPr kumimoji="1" lang="zh-CN" altLang="en-US" sz="2200">
                        <a:latin typeface="Cambria Math" panose="02040503050406030204" charset="0"/>
                        <a:ea typeface="黑体" panose="02010609060101010101" pitchFamily="49" charset="-122"/>
                        <a:cs typeface="Cambria Math" panose="02040503050406030204" charset="0"/>
                      </a:rPr>
                      <m:t>,</m:t>
                    </m:r>
                  </m:oMath>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7" name="Text Box 11"/>
              <p:cNvSpPr txBox="1">
                <a:spLocks noRot="1" noChangeAspect="1" noMove="1" noResize="1" noEditPoints="1" noAdjustHandles="1" noChangeArrowheads="1" noChangeShapeType="1" noTextEdit="1"/>
              </p:cNvSpPr>
              <p:nvPr/>
            </p:nvSpPr>
            <p:spPr bwMode="auto">
              <a:xfrm>
                <a:off x="2376657" y="4804152"/>
                <a:ext cx="3067833" cy="430887"/>
              </a:xfrm>
              <a:prstGeom prst="rect">
                <a:avLst/>
              </a:prstGeom>
              <a:blipFill rotWithShape="1">
                <a:blip r:embed="rId6"/>
                <a:stretch>
                  <a:fillRect l="-16" t="-87" b="23"/>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Rectangle 12"/>
              <p:cNvSpPr>
                <a:spLocks noChangeArrowheads="1"/>
              </p:cNvSpPr>
              <p:nvPr/>
            </p:nvSpPr>
            <p:spPr bwMode="auto">
              <a:xfrm>
                <a:off x="5221522" y="4812415"/>
                <a:ext cx="1935145"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spcBef>
                    <a:spcPct val="50000"/>
                  </a:spcBef>
                </a:pPr>
                <a:r>
                  <a:rPr kumimoji="1" lang="zh-CN" altLang="en-US" sz="2200" dirty="0">
                    <a:solidFill>
                      <a:schemeClr val="tx1">
                        <a:lumMod val="95000"/>
                        <a:lumOff val="5000"/>
                      </a:schemeClr>
                    </a:solidFill>
                    <a:latin typeface="Cambria Math" panose="02040503050406030204" charset="0"/>
                    <a:ea typeface="黑体" panose="02010609060101010101" pitchFamily="49" charset="-122"/>
                  </a:rPr>
                  <a:t>故极限不存在</a:t>
                </a:r>
                <a14:m>
                  <m:oMath xmlns:m="http://schemas.openxmlformats.org/officeDocument/2006/math">
                    <m:r>
                      <a:rPr kumimoji="1" lang="zh-CN" altLang="en-US" sz="2200">
                        <a:latin typeface="Cambria Math" panose="02040503050406030204" charset="0"/>
                        <a:ea typeface="黑体" panose="02010609060101010101" pitchFamily="49" charset="-122"/>
                        <a:cs typeface="Cambria Math" panose="02040503050406030204" charset="0"/>
                      </a:rPr>
                      <m:t>.</m:t>
                    </m:r>
                  </m:oMath>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8" name="Rectangle 12"/>
              <p:cNvSpPr>
                <a:spLocks noRot="1" noChangeAspect="1" noMove="1" noResize="1" noEditPoints="1" noAdjustHandles="1" noChangeArrowheads="1" noChangeShapeType="1" noTextEdit="1"/>
              </p:cNvSpPr>
              <p:nvPr/>
            </p:nvSpPr>
            <p:spPr bwMode="auto">
              <a:xfrm>
                <a:off x="5221522" y="4812415"/>
                <a:ext cx="1935145" cy="430887"/>
              </a:xfrm>
              <a:prstGeom prst="rect">
                <a:avLst/>
              </a:prstGeom>
              <a:blipFill rotWithShape="1">
                <a:blip r:embed="rId7"/>
                <a:stretch>
                  <a:fillRect l="-29" t="-89" r="11" b="25"/>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对象 1"/>
              <p:cNvSpPr txBox="1"/>
              <p:nvPr/>
            </p:nvSpPr>
            <p:spPr>
              <a:xfrm>
                <a:off x="2370468" y="1468784"/>
                <a:ext cx="6083860" cy="1066800"/>
              </a:xfrm>
              <a:prstGeom prst="rect">
                <a:avLst/>
              </a:prstGeom>
            </p:spPr>
            <p:txBody>
              <a:bodyPr>
                <a:noAutofit/>
              </a:bodyPr>
              <a:lstStyle/>
              <a:p>
                <a14:m>
                  <m:oMathPara xmlns:m="http://schemas.openxmlformats.org/officeDocument/2006/math">
                    <m:oMathParaPr>
                      <m:jc m:val="left"/>
                    </m:oMathParaPr>
                    <m:oMath xmlns:m="http://schemas.openxmlformats.org/officeDocument/2006/math">
                      <m:r>
                        <a:rPr kumimoji="1" lang="zh-CN" altLang="en-US" sz="2800" smtClean="0">
                          <a:latin typeface="Cambria Math" panose="02040503050406030204" charset="0"/>
                          <a:ea typeface="黑体" panose="02010609060101010101" pitchFamily="49" charset="-122"/>
                          <a:cs typeface="Cambria Math" panose="02040503050406030204" charset="0"/>
                        </a:rPr>
                        <m:t>证明</m:t>
                      </m:r>
                      <m:func>
                        <m:funcPr>
                          <m:ctrlPr>
                            <a:rPr kumimoji="1" lang="zh-CN" altLang="en-US" sz="2800" i="1">
                              <a:latin typeface="Cambria Math" panose="02040503050406030204" charset="0"/>
                              <a:ea typeface="黑体" panose="02010609060101010101" pitchFamily="49" charset="-122"/>
                              <a:cs typeface="Cambria Math" panose="02040503050406030204" charset="0"/>
                            </a:rPr>
                          </m:ctrlPr>
                        </m:funcPr>
                        <m:fName>
                          <m:limLow>
                            <m:limLowPr>
                              <m:ctrlPr>
                                <a:rPr kumimoji="1" lang="zh-CN" altLang="en-US" sz="2800" i="1">
                                  <a:latin typeface="Cambria Math" panose="02040503050406030204" charset="0"/>
                                  <a:ea typeface="黑体" panose="02010609060101010101" pitchFamily="49" charset="-122"/>
                                  <a:cs typeface="Cambria Math" panose="02040503050406030204" charset="0"/>
                                </a:rPr>
                              </m:ctrlPr>
                            </m:limLowPr>
                            <m:e>
                              <m:r>
                                <m:rPr>
                                  <m:sty m:val="p"/>
                                </m:rPr>
                                <a:rPr kumimoji="1" lang="zh-CN" altLang="en-US" sz="2800" i="1">
                                  <a:latin typeface="Cambria Math" panose="02040503050406030204" charset="0"/>
                                  <a:ea typeface="黑体" panose="02010609060101010101" pitchFamily="49" charset="-122"/>
                                  <a:cs typeface="Cambria Math" panose="02040503050406030204" charset="0"/>
                                </a:rPr>
                                <m:t>lim</m:t>
                              </m:r>
                            </m:e>
                            <m:lim>
                              <m:r>
                                <a:rPr kumimoji="1" lang="zh-CN" altLang="en-US" sz="2800" i="1">
                                  <a:latin typeface="Cambria Math" panose="02040503050406030204" charset="0"/>
                                  <a:ea typeface="黑体" panose="02010609060101010101" pitchFamily="49" charset="-122"/>
                                  <a:cs typeface="Cambria Math" panose="02040503050406030204" charset="0"/>
                                </a:rPr>
                                <m:t>(</m:t>
                              </m:r>
                              <m:r>
                                <a:rPr kumimoji="1" lang="zh-CN" altLang="en-US" sz="2800" i="1">
                                  <a:latin typeface="Cambria Math" panose="02040503050406030204" charset="0"/>
                                  <a:ea typeface="黑体" panose="02010609060101010101" pitchFamily="49" charset="-122"/>
                                  <a:cs typeface="Cambria Math" panose="02040503050406030204" charset="0"/>
                                </a:rPr>
                                <m:t>𝑥</m:t>
                              </m:r>
                              <m:r>
                                <a:rPr kumimoji="1" lang="zh-CN" altLang="en-US" sz="2800" i="1">
                                  <a:latin typeface="Cambria Math" panose="02040503050406030204" charset="0"/>
                                  <a:ea typeface="黑体" panose="02010609060101010101" pitchFamily="49" charset="-122"/>
                                  <a:cs typeface="Cambria Math" panose="02040503050406030204" charset="0"/>
                                </a:rPr>
                                <m:t>,</m:t>
                              </m:r>
                              <m:r>
                                <a:rPr kumimoji="1" lang="zh-CN" altLang="en-US" sz="2800" i="1">
                                  <a:latin typeface="Cambria Math" panose="02040503050406030204" charset="0"/>
                                  <a:ea typeface="黑体" panose="02010609060101010101" pitchFamily="49" charset="-122"/>
                                  <a:cs typeface="Cambria Math" panose="02040503050406030204" charset="0"/>
                                </a:rPr>
                                <m:t>𝑦</m:t>
                              </m:r>
                              <m:r>
                                <a:rPr kumimoji="1" lang="zh-CN" altLang="en-US" sz="2800" i="1">
                                  <a:latin typeface="Cambria Math" panose="02040503050406030204" charset="0"/>
                                  <a:ea typeface="黑体" panose="02010609060101010101" pitchFamily="49" charset="-122"/>
                                  <a:cs typeface="Cambria Math" panose="02040503050406030204" charset="0"/>
                                </a:rPr>
                                <m:t>)→(</m:t>
                              </m:r>
                              <m:r>
                                <a:rPr kumimoji="1" lang="zh-CN" altLang="en-US" sz="2800" i="1">
                                  <a:latin typeface="Cambria Math" panose="02040503050406030204" charset="0"/>
                                  <a:ea typeface="黑体" panose="02010609060101010101" pitchFamily="49" charset="-122"/>
                                  <a:cs typeface="Cambria Math" panose="02040503050406030204" charset="0"/>
                                </a:rPr>
                                <m:t>0</m:t>
                              </m:r>
                              <m:r>
                                <a:rPr kumimoji="1" lang="zh-CN" altLang="en-US" sz="2800" i="1">
                                  <a:latin typeface="Cambria Math" panose="02040503050406030204" charset="0"/>
                                  <a:ea typeface="黑体" panose="02010609060101010101" pitchFamily="49" charset="-122"/>
                                  <a:cs typeface="Cambria Math" panose="02040503050406030204" charset="0"/>
                                </a:rPr>
                                <m:t>,</m:t>
                              </m:r>
                              <m:r>
                                <a:rPr kumimoji="1" lang="zh-CN" altLang="en-US" sz="2800" i="1">
                                  <a:latin typeface="Cambria Math" panose="02040503050406030204" charset="0"/>
                                  <a:ea typeface="黑体" panose="02010609060101010101" pitchFamily="49" charset="-122"/>
                                  <a:cs typeface="Cambria Math" panose="02040503050406030204" charset="0"/>
                                </a:rPr>
                                <m:t>0</m:t>
                              </m:r>
                              <m:r>
                                <a:rPr kumimoji="1" lang="zh-CN" altLang="en-US" sz="2800" i="1">
                                  <a:latin typeface="Cambria Math" panose="02040503050406030204" charset="0"/>
                                  <a:ea typeface="黑体" panose="02010609060101010101" pitchFamily="49" charset="-122"/>
                                  <a:cs typeface="Cambria Math" panose="02040503050406030204" charset="0"/>
                                </a:rPr>
                                <m:t>)</m:t>
                              </m:r>
                            </m:lim>
                          </m:limLow>
                        </m:fName>
                        <m:e>
                          <m:f>
                            <m:fPr>
                              <m:ctrlPr>
                                <a:rPr kumimoji="1" lang="zh-CN" altLang="en-US" sz="2800" i="1">
                                  <a:latin typeface="Cambria Math" panose="02040503050406030204" charset="0"/>
                                  <a:ea typeface="黑体" panose="02010609060101010101" pitchFamily="49" charset="-122"/>
                                  <a:cs typeface="Cambria Math" panose="02040503050406030204" charset="0"/>
                                </a:rPr>
                              </m:ctrlPr>
                            </m:fPr>
                            <m:num>
                              <m:sSup>
                                <m:sSupPr>
                                  <m:ctrlPr>
                                    <a:rPr kumimoji="1" lang="zh-CN" altLang="en-US" sz="2800" i="1">
                                      <a:latin typeface="Cambria Math" panose="02040503050406030204" charset="0"/>
                                      <a:ea typeface="黑体" panose="02010609060101010101" pitchFamily="49" charset="-122"/>
                                      <a:cs typeface="Cambria Math" panose="02040503050406030204" charset="0"/>
                                    </a:rPr>
                                  </m:ctrlPr>
                                </m:sSupPr>
                                <m:e>
                                  <m:r>
                                    <a:rPr kumimoji="1" lang="zh-CN" altLang="en-US" sz="2800">
                                      <a:latin typeface="Cambria Math" panose="02040503050406030204" charset="0"/>
                                      <a:ea typeface="黑体" panose="02010609060101010101" pitchFamily="49" charset="-122"/>
                                      <a:cs typeface="Cambria Math" panose="02040503050406030204" charset="0"/>
                                    </a:rPr>
                                    <m:t>𝑥</m:t>
                                  </m:r>
                                </m:e>
                                <m:sup>
                                  <m:r>
                                    <a:rPr kumimoji="1" lang="zh-CN" altLang="en-US" sz="2800">
                                      <a:latin typeface="Cambria Math" panose="02040503050406030204" charset="0"/>
                                      <a:ea typeface="黑体" panose="02010609060101010101" pitchFamily="49" charset="-122"/>
                                      <a:cs typeface="Cambria Math" panose="02040503050406030204" charset="0"/>
                                    </a:rPr>
                                    <m:t>3</m:t>
                                  </m:r>
                                </m:sup>
                              </m:sSup>
                              <m:r>
                                <a:rPr kumimoji="1" lang="zh-CN" altLang="en-US" sz="2800">
                                  <a:latin typeface="Cambria Math" panose="02040503050406030204" charset="0"/>
                                  <a:ea typeface="黑体" panose="02010609060101010101" pitchFamily="49" charset="-122"/>
                                  <a:cs typeface="Cambria Math" panose="02040503050406030204" charset="0"/>
                                </a:rPr>
                                <m:t>𝑦</m:t>
                              </m:r>
                            </m:num>
                            <m:den>
                              <m:sSup>
                                <m:sSupPr>
                                  <m:ctrlPr>
                                    <a:rPr kumimoji="1" lang="zh-CN" altLang="en-US" sz="2800" i="1">
                                      <a:latin typeface="Cambria Math" panose="02040503050406030204" charset="0"/>
                                      <a:ea typeface="黑体" panose="02010609060101010101" pitchFamily="49" charset="-122"/>
                                      <a:cs typeface="Cambria Math" panose="02040503050406030204" charset="0"/>
                                    </a:rPr>
                                  </m:ctrlPr>
                                </m:sSupPr>
                                <m:e>
                                  <m:r>
                                    <a:rPr kumimoji="1" lang="zh-CN" altLang="en-US" sz="2800">
                                      <a:latin typeface="Cambria Math" panose="02040503050406030204" charset="0"/>
                                      <a:ea typeface="黑体" panose="02010609060101010101" pitchFamily="49" charset="-122"/>
                                      <a:cs typeface="Cambria Math" panose="02040503050406030204" charset="0"/>
                                    </a:rPr>
                                    <m:t>𝑥</m:t>
                                  </m:r>
                                </m:e>
                                <m:sup>
                                  <m:r>
                                    <a:rPr kumimoji="1" lang="zh-CN" altLang="en-US" sz="2800">
                                      <a:latin typeface="Cambria Math" panose="02040503050406030204" charset="0"/>
                                      <a:ea typeface="黑体" panose="02010609060101010101" pitchFamily="49" charset="-122"/>
                                      <a:cs typeface="Cambria Math" panose="02040503050406030204" charset="0"/>
                                    </a:rPr>
                                    <m:t>6</m:t>
                                  </m:r>
                                </m:sup>
                              </m:sSup>
                              <m:r>
                                <a:rPr kumimoji="1" lang="zh-CN" altLang="en-US" sz="2800">
                                  <a:latin typeface="Cambria Math" panose="02040503050406030204" charset="0"/>
                                  <a:ea typeface="黑体" panose="02010609060101010101" pitchFamily="49" charset="-122"/>
                                  <a:cs typeface="Cambria Math" panose="02040503050406030204" charset="0"/>
                                </a:rPr>
                                <m:t>+</m:t>
                              </m:r>
                              <m:sSup>
                                <m:sSupPr>
                                  <m:ctrlPr>
                                    <a:rPr kumimoji="1" lang="zh-CN" altLang="en-US" sz="2800" i="1">
                                      <a:latin typeface="Cambria Math" panose="02040503050406030204" charset="0"/>
                                      <a:ea typeface="黑体" panose="02010609060101010101" pitchFamily="49" charset="-122"/>
                                      <a:cs typeface="Cambria Math" panose="02040503050406030204" charset="0"/>
                                    </a:rPr>
                                  </m:ctrlPr>
                                </m:sSupPr>
                                <m:e>
                                  <m:r>
                                    <a:rPr kumimoji="1" lang="zh-CN" altLang="en-US" sz="2800">
                                      <a:latin typeface="Cambria Math" panose="02040503050406030204" charset="0"/>
                                      <a:ea typeface="黑体" panose="02010609060101010101" pitchFamily="49" charset="-122"/>
                                      <a:cs typeface="Cambria Math" panose="02040503050406030204" charset="0"/>
                                    </a:rPr>
                                    <m:t>𝑦</m:t>
                                  </m:r>
                                </m:e>
                                <m:sup>
                                  <m:r>
                                    <a:rPr kumimoji="1" lang="zh-CN" altLang="en-US" sz="2800">
                                      <a:latin typeface="Cambria Math" panose="02040503050406030204" charset="0"/>
                                      <a:ea typeface="黑体" panose="02010609060101010101" pitchFamily="49" charset="-122"/>
                                      <a:cs typeface="Cambria Math" panose="02040503050406030204" charset="0"/>
                                    </a:rPr>
                                    <m:t>2</m:t>
                                  </m:r>
                                </m:sup>
                              </m:sSup>
                            </m:den>
                          </m:f>
                        </m:e>
                      </m:func>
                      <m:r>
                        <a:rPr kumimoji="1" lang="zh-CN" altLang="en-US" sz="2800">
                          <a:latin typeface="Cambria Math" panose="02040503050406030204" charset="0"/>
                          <a:ea typeface="黑体" panose="02010609060101010101" pitchFamily="49" charset="-122"/>
                          <a:cs typeface="Cambria Math" panose="02040503050406030204" charset="0"/>
                        </a:rPr>
                        <m:t>极限不存在</m:t>
                      </m:r>
                      <m:r>
                        <a:rPr kumimoji="1" lang="zh-CN" altLang="en-US" sz="2800">
                          <a:latin typeface="Cambria Math" panose="02040503050406030204" charset="0"/>
                          <a:ea typeface="黑体" panose="02010609060101010101" pitchFamily="49" charset="-122"/>
                          <a:cs typeface="Cambria Math" panose="02040503050406030204" charset="0"/>
                        </a:rPr>
                        <m:t>.</m:t>
                      </m:r>
                    </m:oMath>
                  </m:oMathPara>
                </a14:m>
                <a:endParaRPr kumimoji="1" lang="zh-CN" altLang="en-US" sz="2800" dirty="0">
                  <a:latin typeface="Cambria Math" panose="02040503050406030204" charset="0"/>
                  <a:ea typeface="黑体" panose="02010609060101010101" pitchFamily="49" charset="-122"/>
                  <a:cs typeface="Cambria Math" panose="02040503050406030204" charset="0"/>
                </a:endParaRPr>
              </a:p>
            </p:txBody>
          </p:sp>
        </mc:Choice>
        <mc:Fallback>
          <p:sp>
            <p:nvSpPr>
              <p:cNvPr id="19" name="对象 1"/>
              <p:cNvSpPr txBox="1">
                <a:spLocks noRot="1" noChangeAspect="1" noMove="1" noResize="1" noEditPoints="1" noAdjustHandles="1" noChangeArrowheads="1" noChangeShapeType="1" noTextEdit="1"/>
              </p:cNvSpPr>
              <p:nvPr/>
            </p:nvSpPr>
            <p:spPr>
              <a:xfrm>
                <a:off x="2370468" y="1468784"/>
                <a:ext cx="6083860" cy="1066800"/>
              </a:xfrm>
              <a:prstGeom prst="rect">
                <a:avLst/>
              </a:prstGeom>
              <a:blipFill rotWithShape="1">
                <a:blip r:embed="rId8"/>
                <a:stretch>
                  <a:fillRect t="-3" r="9" b="3"/>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left)">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left)">
                                      <p:cBhvr>
                                        <p:cTn id="35" dur="500"/>
                                        <p:tgtEl>
                                          <p:spTgt spid="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left)">
                                      <p:cBhvr>
                                        <p:cTn id="40"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left)">
                                      <p:cBhvr>
                                        <p:cTn id="45" dur="5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wipe(left)">
                                      <p:cBhvr>
                                        <p:cTn id="5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7" grpId="0" bldLvl="0" animBg="1"/>
      <p:bldP spid="8" grpId="0" bldLvl="0" animBg="1"/>
      <p:bldP spid="9" grpId="0" bldLvl="0" animBg="1"/>
      <p:bldP spid="11" grpId="0" bldLvl="0" animBg="1"/>
      <p:bldP spid="17" grpId="0" autoUpdateAnimBg="0"/>
      <p:bldP spid="18" grpId="0" autoUpdateAnimBg="0"/>
      <p:bldP spid="19"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矩形 1"/>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p:sp>
            <p:nvSpPr>
              <p:cNvPr id="2" name="矩形 1"/>
              <p:cNvSpPr>
                <a:spLocks noRot="1" noChangeAspect="1" noMove="1" noResize="1" noEditPoints="1" noAdjustHandles="1" noChangeArrowheads="1" noChangeShapeType="1" noTextEdit="1"/>
              </p:cNvSpPr>
              <p:nvPr/>
            </p:nvSpPr>
            <p:spPr>
              <a:xfrm>
                <a:off x="687959" y="536260"/>
                <a:ext cx="10817352" cy="5799897"/>
              </a:xfrm>
              <a:prstGeom prst="rect">
                <a:avLst/>
              </a:prstGeom>
              <a:blipFill rotWithShape="1">
                <a:blip r:embed="rId1"/>
                <a:stretch>
                  <a:fillRect l="-1499" t="-1932" r="-1493" b="-1914"/>
                </a:stretch>
              </a:blip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3" name="半闭框 2"/>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 name="半闭框 3"/>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半闭框 5"/>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7" name="半闭框 6"/>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Text Box 2"/>
          <p:cNvSpPr txBox="1">
            <a:spLocks noChangeArrowheads="1"/>
          </p:cNvSpPr>
          <p:nvPr/>
        </p:nvSpPr>
        <p:spPr bwMode="auto">
          <a:xfrm>
            <a:off x="1759241" y="1371311"/>
            <a:ext cx="2514600"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b="1" dirty="0">
                <a:solidFill>
                  <a:srgbClr val="04926A"/>
                </a:solidFill>
                <a:latin typeface="微软雅黑" panose="020B0503020204020204" charset="-122"/>
                <a:ea typeface="微软雅黑" panose="020B0503020204020204" charset="-122"/>
              </a:rPr>
              <a:t>例</a:t>
            </a:r>
            <a:r>
              <a:rPr kumimoji="1" lang="en-US" altLang="zh-CN" sz="2800" b="1" dirty="0">
                <a:solidFill>
                  <a:srgbClr val="04926A"/>
                </a:solidFill>
                <a:latin typeface="微软雅黑" panose="020B0503020204020204" charset="-122"/>
                <a:ea typeface="微软雅黑" panose="020B0503020204020204" charset="-122"/>
              </a:rPr>
              <a:t>7   </a:t>
            </a:r>
            <a:endParaRPr kumimoji="1" lang="zh-CN" altLang="en-US" sz="2800" b="1" dirty="0">
              <a:solidFill>
                <a:srgbClr val="04926A"/>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10" name="Rectangle 4"/>
              <p:cNvSpPr>
                <a:spLocks noChangeArrowheads="1"/>
              </p:cNvSpPr>
              <p:nvPr/>
            </p:nvSpPr>
            <p:spPr bwMode="auto">
              <a:xfrm>
                <a:off x="2545333" y="2455233"/>
                <a:ext cx="3192737"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spcBef>
                    <a:spcPct val="50000"/>
                  </a:spcBef>
                </a:pPr>
                <a:r>
                  <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rPr>
                  <a:t>在</a:t>
                </a:r>
                <a:r>
                  <a:rPr kumimoji="1" lang="en-US" altLang="zh-CN" sz="2800" dirty="0">
                    <a:solidFill>
                      <a:schemeClr val="tx1">
                        <a:lumMod val="95000"/>
                        <a:lumOff val="5000"/>
                      </a:schemeClr>
                    </a:solidFill>
                    <a:latin typeface="Cambria Math" panose="02040503050406030204" charset="0"/>
                    <a:ea typeface="黑体" panose="02010609060101010101" pitchFamily="49" charset="-122"/>
                  </a:rPr>
                  <a:t>(</a:t>
                </a:r>
                <a14:m>
                  <m:oMath xmlns:m="http://schemas.openxmlformats.org/officeDocument/2006/math">
                    <m:r>
                      <a:rPr kumimoji="1" lang="en-US" altLang="zh-CN" sz="2800" b="0" i="0" smtClean="0">
                        <a:solidFill>
                          <a:schemeClr val="tx1">
                            <a:lumMod val="95000"/>
                            <a:lumOff val="5000"/>
                          </a:schemeClr>
                        </a:solidFill>
                        <a:latin typeface="Cambria Math" panose="02040503050406030204" charset="0"/>
                        <a:ea typeface="黑体" panose="02010609060101010101" pitchFamily="49" charset="-122"/>
                      </a:rPr>
                      <m:t>0</m:t>
                    </m:r>
                    <m:r>
                      <a:rPr kumimoji="1" lang="zh-CN" altLang="en-US" sz="2800" i="1">
                        <a:solidFill>
                          <a:schemeClr val="tx1">
                            <a:lumMod val="95000"/>
                            <a:lumOff val="5000"/>
                          </a:schemeClr>
                        </a:solidFill>
                        <a:latin typeface="Cambria Math" panose="02040503050406030204" charset="0"/>
                        <a:ea typeface="黑体" panose="02010609060101010101" pitchFamily="49" charset="-122"/>
                      </a:rPr>
                      <m:t>, </m:t>
                    </m:r>
                    <m:r>
                      <a:rPr kumimoji="1" lang="en-US" altLang="zh-CN" sz="2800" b="0" i="0" smtClean="0">
                        <a:solidFill>
                          <a:schemeClr val="tx1">
                            <a:lumMod val="95000"/>
                            <a:lumOff val="5000"/>
                          </a:schemeClr>
                        </a:solidFill>
                        <a:latin typeface="Cambria Math" panose="02040503050406030204" charset="0"/>
                        <a:ea typeface="黑体" panose="02010609060101010101" pitchFamily="49" charset="-122"/>
                      </a:rPr>
                      <m:t>0</m:t>
                    </m:r>
                  </m:oMath>
                </a14:m>
                <a:r>
                  <a:rPr kumimoji="1" lang="en-US" altLang="zh-CN" sz="2800" dirty="0">
                    <a:solidFill>
                      <a:schemeClr val="tx1">
                        <a:lumMod val="95000"/>
                        <a:lumOff val="5000"/>
                      </a:schemeClr>
                    </a:solidFill>
                    <a:latin typeface="Cambria Math" panose="02040503050406030204" charset="0"/>
                    <a:ea typeface="黑体" panose="02010609060101010101" pitchFamily="49" charset="-122"/>
                  </a:rPr>
                  <a:t>)</a:t>
                </a:r>
                <a:r>
                  <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rPr>
                  <a:t>的连续性</a:t>
                </a:r>
                <a:r>
                  <a:rPr kumimoji="1" lang="en-US" altLang="zh-CN" sz="2800" dirty="0">
                    <a:solidFill>
                      <a:schemeClr val="tx1">
                        <a:lumMod val="95000"/>
                        <a:lumOff val="5000"/>
                      </a:schemeClr>
                    </a:solidFill>
                    <a:latin typeface="Cambria Math" panose="02040503050406030204" charset="0"/>
                    <a:ea typeface="黑体" panose="02010609060101010101" pitchFamily="49" charset="-122"/>
                  </a:rPr>
                  <a:t>.</a:t>
                </a:r>
                <a:endPar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p:sp>
            <p:nvSpPr>
              <p:cNvPr id="10" name="Rectangle 4"/>
              <p:cNvSpPr>
                <a:spLocks noRot="1" noChangeAspect="1" noMove="1" noResize="1" noEditPoints="1" noAdjustHandles="1" noChangeArrowheads="1" noChangeShapeType="1" noTextEdit="1"/>
              </p:cNvSpPr>
              <p:nvPr/>
            </p:nvSpPr>
            <p:spPr bwMode="auto">
              <a:xfrm>
                <a:off x="2545333" y="2455233"/>
                <a:ext cx="3192737" cy="523220"/>
              </a:xfrm>
              <a:prstGeom prst="rect">
                <a:avLst/>
              </a:prstGeom>
              <a:blipFill rotWithShape="1">
                <a:blip r:embed="rId2"/>
                <a:stretch>
                  <a:fillRect l="-8" t="-62" r="7" b="58"/>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p:sp>
        <p:nvSpPr>
          <p:cNvPr id="12" name="Text Box 6"/>
          <p:cNvSpPr txBox="1">
            <a:spLocks noChangeArrowheads="1"/>
          </p:cNvSpPr>
          <p:nvPr/>
        </p:nvSpPr>
        <p:spPr bwMode="auto">
          <a:xfrm>
            <a:off x="1759241" y="3278164"/>
            <a:ext cx="6096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b="1" dirty="0">
                <a:solidFill>
                  <a:srgbClr val="04926A"/>
                </a:solidFill>
                <a:latin typeface="微软雅黑" panose="020B0503020204020204" charset="-122"/>
                <a:ea typeface="微软雅黑" panose="020B0503020204020204" charset="-122"/>
              </a:rPr>
              <a:t>解</a:t>
            </a:r>
            <a:endParaRPr kumimoji="1" lang="zh-CN" altLang="en-US" sz="2800" b="1" dirty="0">
              <a:solidFill>
                <a:srgbClr val="04926A"/>
              </a:solidFill>
              <a:latin typeface="微软雅黑" panose="020B0503020204020204" charset="-122"/>
              <a:ea typeface="微软雅黑" panose="020B0503020204020204" charset="-122"/>
            </a:endParaRPr>
          </a:p>
        </p:txBody>
      </p:sp>
      <p:sp>
        <p:nvSpPr>
          <p:cNvPr id="13" name="Text Box 8"/>
          <p:cNvSpPr txBox="1">
            <a:spLocks noChangeArrowheads="1"/>
          </p:cNvSpPr>
          <p:nvPr/>
        </p:nvSpPr>
        <p:spPr bwMode="auto">
          <a:xfrm>
            <a:off x="2543930" y="3318552"/>
            <a:ext cx="685800"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kumimoji="1" lang="zh-CN" altLang="en-US" sz="2200" dirty="0">
                <a:solidFill>
                  <a:schemeClr val="tx1">
                    <a:lumMod val="95000"/>
                    <a:lumOff val="5000"/>
                  </a:schemeClr>
                </a:solidFill>
                <a:latin typeface="Cambria Math" panose="02040503050406030204" charset="0"/>
                <a:ea typeface="黑体" panose="02010609060101010101" pitchFamily="49" charset="-122"/>
              </a:rPr>
              <a:t>取</a:t>
            </a:r>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AlternateContent xmlns:mc="http://schemas.openxmlformats.org/markup-compatibility/2006">
        <mc:Choice xmlns:a14="http://schemas.microsoft.com/office/drawing/2010/main" Requires="a14">
          <p:sp>
            <p:nvSpPr>
              <p:cNvPr id="14" name="Object 9"/>
              <p:cNvSpPr txBox="1"/>
              <p:nvPr/>
            </p:nvSpPr>
            <p:spPr bwMode="auto">
              <a:xfrm>
                <a:off x="2912242" y="3291505"/>
                <a:ext cx="1479319" cy="404812"/>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smtClean="0">
                          <a:latin typeface="Cambria Math" panose="02040503050406030204" charset="0"/>
                          <a:ea typeface="黑体" panose="02010609060101010101" pitchFamily="49" charset="-122"/>
                          <a:cs typeface="Cambria Math" panose="02040503050406030204" charset="0"/>
                        </a:rPr>
                        <m:t>𝑦</m:t>
                      </m:r>
                      <m:r>
                        <a:rPr kumimoji="1" lang="zh-CN" altLang="en-US" sz="2200" smtClean="0">
                          <a:latin typeface="Cambria Math" panose="02040503050406030204" charset="0"/>
                          <a:ea typeface="黑体" panose="02010609060101010101" pitchFamily="49" charset="-122"/>
                          <a:cs typeface="Cambria Math" panose="02040503050406030204" charset="0"/>
                        </a:rPr>
                        <m:t>=</m:t>
                      </m:r>
                      <m:r>
                        <a:rPr kumimoji="1" lang="zh-CN" altLang="en-US" sz="2200" smtClean="0">
                          <a:latin typeface="Cambria Math" panose="02040503050406030204" charset="0"/>
                          <a:ea typeface="黑体" panose="02010609060101010101" pitchFamily="49" charset="-122"/>
                          <a:cs typeface="Cambria Math" panose="02040503050406030204" charset="0"/>
                        </a:rPr>
                        <m:t>𝑘𝑥</m:t>
                      </m:r>
                      <m:r>
                        <a:rPr kumimoji="1" lang="en-US" altLang="zh-CN" sz="2200" b="0" i="1" smtClean="0">
                          <a:latin typeface="Cambria Math" panose="02040503050406030204" charset="0"/>
                          <a:ea typeface="黑体" panose="02010609060101010101" pitchFamily="49" charset="-122"/>
                          <a:cs typeface="Cambria Math" panose="02040503050406030204" charset="0"/>
                        </a:rPr>
                        <m:t>,</m:t>
                      </m:r>
                    </m:oMath>
                  </m:oMathPara>
                </a14:m>
                <a:endParaRPr kumimoji="1" lang="zh-CN" altLang="en-US" sz="2200" dirty="0">
                  <a:latin typeface="Cambria Math" panose="02040503050406030204" charset="0"/>
                  <a:ea typeface="黑体" panose="02010609060101010101" pitchFamily="49" charset="-122"/>
                  <a:cs typeface="Cambria Math" panose="02040503050406030204" charset="0"/>
                </a:endParaRPr>
              </a:p>
            </p:txBody>
          </p:sp>
        </mc:Choice>
        <mc:Fallback>
          <p:sp>
            <p:nvSpPr>
              <p:cNvPr id="14" name="Object 9"/>
              <p:cNvSpPr txBox="1">
                <a:spLocks noRot="1" noChangeAspect="1" noMove="1" noResize="1" noEditPoints="1" noAdjustHandles="1" noChangeArrowheads="1" noChangeShapeType="1" noTextEdit="1"/>
              </p:cNvSpPr>
              <p:nvPr/>
            </p:nvSpPr>
            <p:spPr bwMode="auto">
              <a:xfrm>
                <a:off x="2912242" y="3291505"/>
                <a:ext cx="1479319" cy="404812"/>
              </a:xfrm>
              <a:prstGeom prst="rect">
                <a:avLst/>
              </a:prstGeom>
              <a:blipFill rotWithShape="1">
                <a:blip r:embed="rId3"/>
                <a:stretch>
                  <a:fillRect l="-9" t="-74" r="36" b="152"/>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Object 10"/>
              <p:cNvSpPr txBox="1"/>
              <p:nvPr/>
            </p:nvSpPr>
            <p:spPr bwMode="auto">
              <a:xfrm>
                <a:off x="2064041" y="3854049"/>
                <a:ext cx="2904646" cy="1350171"/>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func>
                        <m:funcPr>
                          <m:ctrlPr>
                            <a:rPr kumimoji="1" lang="zh-CN" altLang="en-US" sz="2200" i="1" smtClean="0">
                              <a:latin typeface="Cambria Math" panose="02040503050406030204" charset="0"/>
                              <a:ea typeface="黑体" panose="02010609060101010101" pitchFamily="49" charset="-122"/>
                              <a:cs typeface="Cambria Math" panose="02040503050406030204" charset="0"/>
                            </a:rPr>
                          </m:ctrlPr>
                        </m:funcPr>
                        <m:fName>
                          <m:limLow>
                            <m:limLowPr>
                              <m:ctrlPr>
                                <a:rPr kumimoji="1" lang="zh-CN" altLang="en-US" sz="2000" i="1">
                                  <a:latin typeface="Cambria Math" panose="02040503050406030204" charset="0"/>
                                  <a:ea typeface="黑体" panose="02010609060101010101" pitchFamily="49" charset="-122"/>
                                  <a:cs typeface="Cambria Math" panose="02040503050406030204" charset="0"/>
                                </a:rPr>
                              </m:ctrlPr>
                            </m:limLowPr>
                            <m:e>
                              <m:r>
                                <m:rPr>
                                  <m:sty m:val="p"/>
                                </m:rPr>
                                <a:rPr kumimoji="1" lang="zh-CN" altLang="en-US" sz="2000" i="1">
                                  <a:latin typeface="Cambria Math" panose="02040503050406030204" charset="0"/>
                                  <a:ea typeface="黑体" panose="02010609060101010101" pitchFamily="49" charset="-122"/>
                                  <a:cs typeface="Cambria Math" panose="02040503050406030204" charset="0"/>
                                </a:rPr>
                                <m:t>lim</m:t>
                              </m:r>
                            </m:e>
                            <m:lim>
                              <m:r>
                                <a:rPr kumimoji="1" lang="zh-CN" altLang="en-US" sz="2000" i="1">
                                  <a:latin typeface="Cambria Math" panose="02040503050406030204" charset="0"/>
                                  <a:ea typeface="黑体" panose="02010609060101010101" pitchFamily="49" charset="-122"/>
                                  <a:cs typeface="Cambria Math" panose="02040503050406030204" charset="0"/>
                                </a:rPr>
                                <m:t>(</m:t>
                              </m:r>
                              <m:r>
                                <a:rPr kumimoji="1" lang="zh-CN" altLang="en-US" sz="2000" i="1">
                                  <a:latin typeface="Cambria Math" panose="02040503050406030204" charset="0"/>
                                  <a:ea typeface="黑体" panose="02010609060101010101" pitchFamily="49" charset="-122"/>
                                  <a:cs typeface="Cambria Math" panose="02040503050406030204" charset="0"/>
                                </a:rPr>
                                <m:t>𝑥</m:t>
                              </m:r>
                              <m:r>
                                <a:rPr kumimoji="1" lang="zh-CN" altLang="en-US" sz="2000" i="1">
                                  <a:latin typeface="Cambria Math" panose="02040503050406030204" charset="0"/>
                                  <a:ea typeface="黑体" panose="02010609060101010101" pitchFamily="49" charset="-122"/>
                                  <a:cs typeface="Cambria Math" panose="02040503050406030204" charset="0"/>
                                </a:rPr>
                                <m:t>,</m:t>
                              </m:r>
                              <m:r>
                                <a:rPr kumimoji="1" lang="zh-CN" altLang="en-US" sz="2000" i="1">
                                  <a:latin typeface="Cambria Math" panose="02040503050406030204" charset="0"/>
                                  <a:ea typeface="黑体" panose="02010609060101010101" pitchFamily="49" charset="-122"/>
                                  <a:cs typeface="Cambria Math" panose="02040503050406030204" charset="0"/>
                                </a:rPr>
                                <m:t>𝑦</m:t>
                              </m:r>
                              <m:r>
                                <a:rPr kumimoji="1" lang="zh-CN" altLang="en-US" sz="2000" i="1">
                                  <a:latin typeface="Cambria Math" panose="02040503050406030204" charset="0"/>
                                  <a:ea typeface="黑体" panose="02010609060101010101" pitchFamily="49" charset="-122"/>
                                  <a:cs typeface="Cambria Math" panose="02040503050406030204" charset="0"/>
                                </a:rPr>
                                <m:t>)→(</m:t>
                              </m:r>
                              <m:r>
                                <a:rPr kumimoji="1" lang="zh-CN" altLang="en-US" sz="2000" i="1">
                                  <a:latin typeface="Cambria Math" panose="02040503050406030204" charset="0"/>
                                  <a:ea typeface="黑体" panose="02010609060101010101" pitchFamily="49" charset="-122"/>
                                  <a:cs typeface="Cambria Math" panose="02040503050406030204" charset="0"/>
                                </a:rPr>
                                <m:t>0</m:t>
                              </m:r>
                              <m:r>
                                <a:rPr kumimoji="1" lang="zh-CN" altLang="en-US" sz="2000" i="1">
                                  <a:latin typeface="Cambria Math" panose="02040503050406030204" charset="0"/>
                                  <a:ea typeface="黑体" panose="02010609060101010101" pitchFamily="49" charset="-122"/>
                                  <a:cs typeface="Cambria Math" panose="02040503050406030204" charset="0"/>
                                </a:rPr>
                                <m:t>,</m:t>
                              </m:r>
                              <m:r>
                                <a:rPr kumimoji="1" lang="zh-CN" altLang="en-US" sz="2000" i="1">
                                  <a:latin typeface="Cambria Math" panose="02040503050406030204" charset="0"/>
                                  <a:ea typeface="黑体" panose="02010609060101010101" pitchFamily="49" charset="-122"/>
                                  <a:cs typeface="Cambria Math" panose="02040503050406030204" charset="0"/>
                                </a:rPr>
                                <m:t>0</m:t>
                              </m:r>
                              <m:r>
                                <a:rPr kumimoji="1" lang="zh-CN" altLang="en-US" sz="2000" i="1">
                                  <a:latin typeface="Cambria Math" panose="02040503050406030204" charset="0"/>
                                  <a:ea typeface="黑体" panose="02010609060101010101" pitchFamily="49" charset="-122"/>
                                  <a:cs typeface="Cambria Math" panose="02040503050406030204" charset="0"/>
                                </a:rPr>
                                <m:t>)</m:t>
                              </m:r>
                            </m:lim>
                          </m:limLow>
                        </m:fName>
                        <m:e>
                          <m:f>
                            <m:fPr>
                              <m:ctrlPr>
                                <a:rPr kumimoji="1" lang="zh-CN" altLang="en-US" sz="2200" i="1">
                                  <a:latin typeface="Cambria Math" panose="02040503050406030204" charset="0"/>
                                  <a:ea typeface="黑体" panose="02010609060101010101" pitchFamily="49" charset="-122"/>
                                  <a:cs typeface="Cambria Math" panose="02040503050406030204" charset="0"/>
                                </a:rPr>
                              </m:ctrlPr>
                            </m:fPr>
                            <m:num>
                              <m:r>
                                <a:rPr kumimoji="1" lang="zh-CN" altLang="en-US" sz="2200">
                                  <a:latin typeface="Cambria Math" panose="02040503050406030204" charset="0"/>
                                  <a:ea typeface="黑体" panose="02010609060101010101" pitchFamily="49" charset="-122"/>
                                  <a:cs typeface="Cambria Math" panose="02040503050406030204" charset="0"/>
                                </a:rPr>
                                <m:t>𝑥𝑦</m:t>
                              </m:r>
                            </m:num>
                            <m:den>
                              <m:sSup>
                                <m:sSupPr>
                                  <m:ctrlPr>
                                    <a:rPr kumimoji="1" lang="zh-CN" altLang="en-US" sz="2200" i="1">
                                      <a:latin typeface="Cambria Math" panose="02040503050406030204" charset="0"/>
                                      <a:ea typeface="黑体" panose="02010609060101010101" pitchFamily="49" charset="-122"/>
                                      <a:cs typeface="Cambria Math" panose="02040503050406030204" charset="0"/>
                                    </a:rPr>
                                  </m:ctrlPr>
                                </m:sSupPr>
                                <m:e>
                                  <m:r>
                                    <a:rPr kumimoji="1" lang="zh-CN" altLang="en-US" sz="2200">
                                      <a:latin typeface="Cambria Math" panose="02040503050406030204" charset="0"/>
                                      <a:ea typeface="黑体" panose="02010609060101010101" pitchFamily="49" charset="-122"/>
                                      <a:cs typeface="Cambria Math" panose="02040503050406030204" charset="0"/>
                                    </a:rPr>
                                    <m:t>𝑥</m:t>
                                  </m:r>
                                </m:e>
                                <m:sup>
                                  <m:r>
                                    <a:rPr kumimoji="1" lang="zh-CN" altLang="en-US" sz="2200">
                                      <a:latin typeface="Cambria Math" panose="02040503050406030204" charset="0"/>
                                      <a:ea typeface="黑体" panose="02010609060101010101" pitchFamily="49" charset="-122"/>
                                      <a:cs typeface="Cambria Math" panose="02040503050406030204" charset="0"/>
                                    </a:rPr>
                                    <m:t>2</m:t>
                                  </m:r>
                                </m:sup>
                              </m:sSup>
                              <m:r>
                                <a:rPr kumimoji="1" lang="zh-CN" altLang="en-US" sz="2200">
                                  <a:latin typeface="Cambria Math" panose="02040503050406030204" charset="0"/>
                                  <a:ea typeface="黑体" panose="02010609060101010101" pitchFamily="49" charset="-122"/>
                                  <a:cs typeface="Cambria Math" panose="02040503050406030204" charset="0"/>
                                </a:rPr>
                                <m:t>+</m:t>
                              </m:r>
                              <m:sSup>
                                <m:sSupPr>
                                  <m:ctrlPr>
                                    <a:rPr kumimoji="1" lang="zh-CN" altLang="en-US" sz="2200" i="1">
                                      <a:latin typeface="Cambria Math" panose="02040503050406030204" charset="0"/>
                                      <a:ea typeface="黑体" panose="02010609060101010101" pitchFamily="49" charset="-122"/>
                                      <a:cs typeface="Cambria Math" panose="02040503050406030204" charset="0"/>
                                    </a:rPr>
                                  </m:ctrlPr>
                                </m:sSupPr>
                                <m:e>
                                  <m:r>
                                    <a:rPr kumimoji="1" lang="zh-CN" altLang="en-US" sz="2200">
                                      <a:latin typeface="Cambria Math" panose="02040503050406030204" charset="0"/>
                                      <a:ea typeface="黑体" panose="02010609060101010101" pitchFamily="49" charset="-122"/>
                                      <a:cs typeface="Cambria Math" panose="02040503050406030204" charset="0"/>
                                    </a:rPr>
                                    <m:t>𝑦</m:t>
                                  </m:r>
                                </m:e>
                                <m:sup>
                                  <m:r>
                                    <a:rPr kumimoji="1" lang="zh-CN" altLang="en-US" sz="2200">
                                      <a:latin typeface="Cambria Math" panose="02040503050406030204" charset="0"/>
                                      <a:ea typeface="黑体" panose="02010609060101010101" pitchFamily="49" charset="-122"/>
                                      <a:cs typeface="Cambria Math" panose="02040503050406030204" charset="0"/>
                                    </a:rPr>
                                    <m:t>2</m:t>
                                  </m:r>
                                </m:sup>
                              </m:sSup>
                            </m:den>
                          </m:f>
                        </m:e>
                      </m:func>
                    </m:oMath>
                  </m:oMathPara>
                </a14:m>
                <a:endParaRPr kumimoji="1" lang="zh-CN" altLang="en-US" sz="2200" dirty="0">
                  <a:latin typeface="Cambria Math" panose="02040503050406030204" charset="0"/>
                  <a:ea typeface="黑体" panose="02010609060101010101" pitchFamily="49" charset="-122"/>
                  <a:cs typeface="Cambria Math" panose="02040503050406030204" charset="0"/>
                </a:endParaRPr>
              </a:p>
            </p:txBody>
          </p:sp>
        </mc:Choice>
        <mc:Fallback>
          <p:sp>
            <p:nvSpPr>
              <p:cNvPr id="15" name="Object 10"/>
              <p:cNvSpPr txBox="1">
                <a:spLocks noRot="1" noChangeAspect="1" noMove="1" noResize="1" noEditPoints="1" noAdjustHandles="1" noChangeArrowheads="1" noChangeShapeType="1" noTextEdit="1"/>
              </p:cNvSpPr>
              <p:nvPr/>
            </p:nvSpPr>
            <p:spPr bwMode="auto">
              <a:xfrm>
                <a:off x="2064041" y="3854049"/>
                <a:ext cx="2904646" cy="1350171"/>
              </a:xfrm>
              <a:prstGeom prst="rect">
                <a:avLst/>
              </a:prstGeom>
              <a:blipFill rotWithShape="1">
                <a:blip r:embed="rId4"/>
                <a:stretch>
                  <a:fillRect l="-10" t="-17" r="15" b="29"/>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Object 11"/>
              <p:cNvSpPr txBox="1"/>
              <p:nvPr/>
            </p:nvSpPr>
            <p:spPr bwMode="auto">
              <a:xfrm>
                <a:off x="4115430" y="3746853"/>
                <a:ext cx="2311400" cy="1092200"/>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kumimoji="1" lang="zh-CN" altLang="en-US" sz="2200" smtClean="0">
                          <a:latin typeface="Cambria Math" panose="02040503050406030204" charset="0"/>
                          <a:ea typeface="黑体" panose="02010609060101010101" pitchFamily="49" charset="-122"/>
                          <a:cs typeface="Cambria Math" panose="02040503050406030204" charset="0"/>
                        </a:rPr>
                        <m:t>=</m:t>
                      </m:r>
                      <m:func>
                        <m:funcPr>
                          <m:ctrlPr>
                            <a:rPr kumimoji="1" lang="zh-CN" altLang="en-US" sz="2200" i="1">
                              <a:latin typeface="Cambria Math" panose="02040503050406030204" charset="0"/>
                              <a:ea typeface="黑体" panose="02010609060101010101" pitchFamily="49" charset="-122"/>
                              <a:cs typeface="Cambria Math" panose="02040503050406030204" charset="0"/>
                            </a:rPr>
                          </m:ctrlPr>
                        </m:funcPr>
                        <m:fName>
                          <m:limLow>
                            <m:limLowPr>
                              <m:ctrlPr>
                                <a:rPr kumimoji="1" lang="zh-CN" altLang="en-US" sz="2200" i="1">
                                  <a:latin typeface="Cambria Math" panose="02040503050406030204" charset="0"/>
                                  <a:ea typeface="黑体" panose="02010609060101010101" pitchFamily="49" charset="-122"/>
                                  <a:cs typeface="Cambria Math" panose="02040503050406030204" charset="0"/>
                                </a:rPr>
                              </m:ctrlPr>
                            </m:limLowPr>
                            <m:e>
                              <m:r>
                                <m:rPr>
                                  <m:sty m:val="p"/>
                                </m:rPr>
                                <a:rPr kumimoji="1" lang="zh-CN" altLang="en-US" sz="2200">
                                  <a:latin typeface="Cambria Math" panose="02040503050406030204" charset="0"/>
                                  <a:ea typeface="黑体" panose="02010609060101010101" pitchFamily="49" charset="-122"/>
                                  <a:cs typeface="Cambria Math" panose="02040503050406030204" charset="0"/>
                                </a:rPr>
                                <m:t>lim</m:t>
                              </m:r>
                            </m:e>
                            <m:lim>
                              <m:eqArr>
                                <m:eqArrPr>
                                  <m:ctrlPr>
                                    <a:rPr kumimoji="1" lang="zh-CN" altLang="en-US" sz="2200" i="1">
                                      <a:latin typeface="Cambria Math" panose="02040503050406030204" charset="0"/>
                                      <a:ea typeface="黑体" panose="02010609060101010101" pitchFamily="49" charset="-122"/>
                                      <a:cs typeface="Cambria Math" panose="02040503050406030204" charset="0"/>
                                    </a:rPr>
                                  </m:ctrlPr>
                                </m:eqArrPr>
                                <m:e>
                                  <m:r>
                                    <a:rPr kumimoji="1" lang="zh-CN" altLang="en-US" sz="2200">
                                      <a:latin typeface="Cambria Math" panose="02040503050406030204" charset="0"/>
                                      <a:ea typeface="黑体" panose="02010609060101010101" pitchFamily="49" charset="-122"/>
                                      <a:cs typeface="Cambria Math" panose="02040503050406030204" charset="0"/>
                                    </a:rPr>
                                    <m:t>&amp;</m:t>
                                  </m:r>
                                  <m:r>
                                    <a:rPr kumimoji="1" lang="en-US" altLang="zh-CN" sz="2200" b="0" i="0" smtClean="0">
                                      <a:latin typeface="Cambria Math" panose="02040503050406030204" charset="0"/>
                                      <a:ea typeface="黑体" panose="02010609060101010101" pitchFamily="49" charset="-122"/>
                                      <a:cs typeface="Cambria Math" panose="02040503050406030204" charset="0"/>
                                    </a:rPr>
                                    <m:t> </m:t>
                                  </m:r>
                                  <m:r>
                                    <a:rPr kumimoji="1" lang="zh-CN" altLang="en-US" sz="2200">
                                      <a:latin typeface="Cambria Math" panose="02040503050406030204" charset="0"/>
                                      <a:ea typeface="黑体" panose="02010609060101010101" pitchFamily="49" charset="-122"/>
                                      <a:cs typeface="Cambria Math" panose="02040503050406030204" charset="0"/>
                                    </a:rPr>
                                    <m:t>𝑥</m:t>
                                  </m:r>
                                  <m:r>
                                    <a:rPr kumimoji="1" lang="zh-CN" altLang="en-US" sz="2200">
                                      <a:latin typeface="Cambria Math" panose="02040503050406030204" charset="0"/>
                                      <a:ea typeface="黑体" panose="02010609060101010101" pitchFamily="49" charset="-122"/>
                                      <a:cs typeface="Cambria Math" panose="02040503050406030204" charset="0"/>
                                    </a:rPr>
                                    <m:t>→</m:t>
                                  </m:r>
                                  <m:r>
                                    <a:rPr kumimoji="1" lang="zh-CN" altLang="en-US" sz="2200">
                                      <a:latin typeface="Cambria Math" panose="02040503050406030204" charset="0"/>
                                      <a:ea typeface="黑体" panose="02010609060101010101" pitchFamily="49" charset="-122"/>
                                      <a:cs typeface="Cambria Math" panose="02040503050406030204" charset="0"/>
                                    </a:rPr>
                                    <m:t>0</m:t>
                                  </m:r>
                                </m:e>
                                <m:e>
                                  <m:r>
                                    <a:rPr kumimoji="1" lang="zh-CN" altLang="en-US" sz="2200">
                                      <a:latin typeface="Cambria Math" panose="02040503050406030204" charset="0"/>
                                      <a:ea typeface="黑体" panose="02010609060101010101" pitchFamily="49" charset="-122"/>
                                      <a:cs typeface="Cambria Math" panose="02040503050406030204" charset="0"/>
                                    </a:rPr>
                                    <m:t>&amp;</m:t>
                                  </m:r>
                                  <m:r>
                                    <a:rPr kumimoji="1" lang="zh-CN" altLang="en-US" sz="2200">
                                      <a:latin typeface="Cambria Math" panose="02040503050406030204" charset="0"/>
                                      <a:ea typeface="黑体" panose="02010609060101010101" pitchFamily="49" charset="-122"/>
                                      <a:cs typeface="Cambria Math" panose="02040503050406030204" charset="0"/>
                                    </a:rPr>
                                    <m:t>𝑦</m:t>
                                  </m:r>
                                  <m:r>
                                    <a:rPr kumimoji="1" lang="zh-CN" altLang="en-US" sz="2200">
                                      <a:latin typeface="Cambria Math" panose="02040503050406030204" charset="0"/>
                                      <a:ea typeface="黑体" panose="02010609060101010101" pitchFamily="49" charset="-122"/>
                                      <a:cs typeface="Cambria Math" panose="02040503050406030204" charset="0"/>
                                    </a:rPr>
                                    <m:t>=</m:t>
                                  </m:r>
                                  <m:r>
                                    <a:rPr kumimoji="1" lang="zh-CN" altLang="en-US" sz="2200">
                                      <a:latin typeface="Cambria Math" panose="02040503050406030204" charset="0"/>
                                      <a:ea typeface="黑体" panose="02010609060101010101" pitchFamily="49" charset="-122"/>
                                      <a:cs typeface="Cambria Math" panose="02040503050406030204" charset="0"/>
                                    </a:rPr>
                                    <m:t>𝑘𝑥</m:t>
                                  </m:r>
                                </m:e>
                              </m:eqArr>
                            </m:lim>
                          </m:limLow>
                        </m:fName>
                        <m:e>
                          <m:f>
                            <m:fPr>
                              <m:ctrlPr>
                                <a:rPr kumimoji="1" lang="zh-CN" altLang="en-US" sz="2200" i="1">
                                  <a:latin typeface="Cambria Math" panose="02040503050406030204" charset="0"/>
                                  <a:ea typeface="黑体" panose="02010609060101010101" pitchFamily="49" charset="-122"/>
                                  <a:cs typeface="Cambria Math" panose="02040503050406030204" charset="0"/>
                                </a:rPr>
                              </m:ctrlPr>
                            </m:fPr>
                            <m:num>
                              <m:r>
                                <a:rPr kumimoji="1" lang="zh-CN" altLang="en-US" sz="2200">
                                  <a:latin typeface="Cambria Math" panose="02040503050406030204" charset="0"/>
                                  <a:ea typeface="黑体" panose="02010609060101010101" pitchFamily="49" charset="-122"/>
                                  <a:cs typeface="Cambria Math" panose="02040503050406030204" charset="0"/>
                                </a:rPr>
                                <m:t>𝑘</m:t>
                              </m:r>
                              <m:sSup>
                                <m:sSupPr>
                                  <m:ctrlPr>
                                    <a:rPr kumimoji="1" lang="zh-CN" altLang="en-US" sz="2200" i="1">
                                      <a:latin typeface="Cambria Math" panose="02040503050406030204" charset="0"/>
                                      <a:ea typeface="黑体" panose="02010609060101010101" pitchFamily="49" charset="-122"/>
                                      <a:cs typeface="Cambria Math" panose="02040503050406030204" charset="0"/>
                                    </a:rPr>
                                  </m:ctrlPr>
                                </m:sSupPr>
                                <m:e>
                                  <m:r>
                                    <a:rPr kumimoji="1" lang="zh-CN" altLang="en-US" sz="2200">
                                      <a:latin typeface="Cambria Math" panose="02040503050406030204" charset="0"/>
                                      <a:ea typeface="黑体" panose="02010609060101010101" pitchFamily="49" charset="-122"/>
                                      <a:cs typeface="Cambria Math" panose="02040503050406030204" charset="0"/>
                                    </a:rPr>
                                    <m:t>𝑥</m:t>
                                  </m:r>
                                </m:e>
                                <m:sup>
                                  <m:r>
                                    <a:rPr kumimoji="1" lang="zh-CN" altLang="en-US" sz="2200">
                                      <a:latin typeface="Cambria Math" panose="02040503050406030204" charset="0"/>
                                      <a:ea typeface="黑体" panose="02010609060101010101" pitchFamily="49" charset="-122"/>
                                      <a:cs typeface="Cambria Math" panose="02040503050406030204" charset="0"/>
                                    </a:rPr>
                                    <m:t>2</m:t>
                                  </m:r>
                                </m:sup>
                              </m:sSup>
                            </m:num>
                            <m:den>
                              <m:sSup>
                                <m:sSupPr>
                                  <m:ctrlPr>
                                    <a:rPr kumimoji="1" lang="zh-CN" altLang="en-US" sz="2200" i="1">
                                      <a:latin typeface="Cambria Math" panose="02040503050406030204" charset="0"/>
                                      <a:ea typeface="黑体" panose="02010609060101010101" pitchFamily="49" charset="-122"/>
                                      <a:cs typeface="Cambria Math" panose="02040503050406030204" charset="0"/>
                                    </a:rPr>
                                  </m:ctrlPr>
                                </m:sSupPr>
                                <m:e>
                                  <m:r>
                                    <a:rPr kumimoji="1" lang="zh-CN" altLang="en-US" sz="2200">
                                      <a:latin typeface="Cambria Math" panose="02040503050406030204" charset="0"/>
                                      <a:ea typeface="黑体" panose="02010609060101010101" pitchFamily="49" charset="-122"/>
                                      <a:cs typeface="Cambria Math" panose="02040503050406030204" charset="0"/>
                                    </a:rPr>
                                    <m:t>𝑥</m:t>
                                  </m:r>
                                </m:e>
                                <m:sup>
                                  <m:r>
                                    <a:rPr kumimoji="1" lang="zh-CN" altLang="en-US" sz="2200">
                                      <a:latin typeface="Cambria Math" panose="02040503050406030204" charset="0"/>
                                      <a:ea typeface="黑体" panose="02010609060101010101" pitchFamily="49" charset="-122"/>
                                      <a:cs typeface="Cambria Math" panose="02040503050406030204" charset="0"/>
                                    </a:rPr>
                                    <m:t>2</m:t>
                                  </m:r>
                                </m:sup>
                              </m:sSup>
                              <m:r>
                                <a:rPr kumimoji="1" lang="zh-CN" altLang="en-US" sz="2200">
                                  <a:latin typeface="Cambria Math" panose="02040503050406030204" charset="0"/>
                                  <a:ea typeface="黑体" panose="02010609060101010101" pitchFamily="49" charset="-122"/>
                                  <a:cs typeface="Cambria Math" panose="02040503050406030204" charset="0"/>
                                </a:rPr>
                                <m:t>+</m:t>
                              </m:r>
                              <m:sSup>
                                <m:sSupPr>
                                  <m:ctrlPr>
                                    <a:rPr kumimoji="1" lang="zh-CN" altLang="en-US" sz="2200" i="1">
                                      <a:latin typeface="Cambria Math" panose="02040503050406030204" charset="0"/>
                                      <a:ea typeface="黑体" panose="02010609060101010101" pitchFamily="49" charset="-122"/>
                                      <a:cs typeface="Cambria Math" panose="02040503050406030204" charset="0"/>
                                    </a:rPr>
                                  </m:ctrlPr>
                                </m:sSupPr>
                                <m:e>
                                  <m:r>
                                    <a:rPr kumimoji="1" lang="zh-CN" altLang="en-US" sz="2200">
                                      <a:latin typeface="Cambria Math" panose="02040503050406030204" charset="0"/>
                                      <a:ea typeface="黑体" panose="02010609060101010101" pitchFamily="49" charset="-122"/>
                                      <a:cs typeface="Cambria Math" panose="02040503050406030204" charset="0"/>
                                    </a:rPr>
                                    <m:t>𝑘</m:t>
                                  </m:r>
                                </m:e>
                                <m:sup>
                                  <m:r>
                                    <a:rPr kumimoji="1" lang="zh-CN" altLang="en-US" sz="2200">
                                      <a:latin typeface="Cambria Math" panose="02040503050406030204" charset="0"/>
                                      <a:ea typeface="黑体" panose="02010609060101010101" pitchFamily="49" charset="-122"/>
                                      <a:cs typeface="Cambria Math" panose="02040503050406030204" charset="0"/>
                                    </a:rPr>
                                    <m:t>2</m:t>
                                  </m:r>
                                </m:sup>
                              </m:sSup>
                              <m:sSup>
                                <m:sSupPr>
                                  <m:ctrlPr>
                                    <a:rPr kumimoji="1" lang="zh-CN" altLang="en-US" sz="2200" i="1">
                                      <a:latin typeface="Cambria Math" panose="02040503050406030204" charset="0"/>
                                      <a:ea typeface="黑体" panose="02010609060101010101" pitchFamily="49" charset="-122"/>
                                      <a:cs typeface="Cambria Math" panose="02040503050406030204" charset="0"/>
                                    </a:rPr>
                                  </m:ctrlPr>
                                </m:sSupPr>
                                <m:e>
                                  <m:r>
                                    <a:rPr kumimoji="1" lang="zh-CN" altLang="en-US" sz="2200">
                                      <a:latin typeface="Cambria Math" panose="02040503050406030204" charset="0"/>
                                      <a:ea typeface="黑体" panose="02010609060101010101" pitchFamily="49" charset="-122"/>
                                      <a:cs typeface="Cambria Math" panose="02040503050406030204" charset="0"/>
                                    </a:rPr>
                                    <m:t>𝑥</m:t>
                                  </m:r>
                                </m:e>
                                <m:sup>
                                  <m:r>
                                    <a:rPr kumimoji="1" lang="zh-CN" altLang="en-US" sz="2200">
                                      <a:latin typeface="Cambria Math" panose="02040503050406030204" charset="0"/>
                                      <a:ea typeface="黑体" panose="02010609060101010101" pitchFamily="49" charset="-122"/>
                                      <a:cs typeface="Cambria Math" panose="02040503050406030204" charset="0"/>
                                    </a:rPr>
                                    <m:t>2</m:t>
                                  </m:r>
                                </m:sup>
                              </m:sSup>
                            </m:den>
                          </m:f>
                        </m:e>
                      </m:func>
                    </m:oMath>
                  </m:oMathPara>
                </a14:m>
                <a:endParaRPr kumimoji="1" lang="zh-CN" altLang="en-US" sz="2200" dirty="0">
                  <a:latin typeface="Cambria Math" panose="02040503050406030204" charset="0"/>
                  <a:ea typeface="黑体" panose="02010609060101010101" pitchFamily="49" charset="-122"/>
                  <a:cs typeface="Cambria Math" panose="02040503050406030204" charset="0"/>
                </a:endParaRPr>
              </a:p>
            </p:txBody>
          </p:sp>
        </mc:Choice>
        <mc:Fallback>
          <p:sp>
            <p:nvSpPr>
              <p:cNvPr id="16" name="Object 11"/>
              <p:cNvSpPr txBox="1">
                <a:spLocks noRot="1" noChangeAspect="1" noMove="1" noResize="1" noEditPoints="1" noAdjustHandles="1" noChangeArrowheads="1" noChangeShapeType="1" noTextEdit="1"/>
              </p:cNvSpPr>
              <p:nvPr/>
            </p:nvSpPr>
            <p:spPr bwMode="auto">
              <a:xfrm>
                <a:off x="4115430" y="3746853"/>
                <a:ext cx="2311400" cy="1092200"/>
              </a:xfrm>
              <a:prstGeom prst="rect">
                <a:avLst/>
              </a:prstGeom>
              <a:blipFill rotWithShape="1">
                <a:blip r:embed="rId5"/>
                <a:stretch>
                  <a:fillRect l="-27" t="-32" r="27" b="32"/>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Object 12"/>
              <p:cNvSpPr txBox="1"/>
              <p:nvPr/>
            </p:nvSpPr>
            <p:spPr bwMode="auto">
              <a:xfrm>
                <a:off x="6302010" y="3777282"/>
                <a:ext cx="1257300" cy="889000"/>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kumimoji="1" lang="zh-CN" altLang="en-US" sz="2200">
                          <a:latin typeface="Cambria Math" panose="02040503050406030204" charset="0"/>
                          <a:ea typeface="黑体" panose="02010609060101010101" pitchFamily="49" charset="-122"/>
                          <a:cs typeface="Cambria Math" panose="02040503050406030204" charset="0"/>
                        </a:rPr>
                        <m:t>=</m:t>
                      </m:r>
                      <m:f>
                        <m:fPr>
                          <m:ctrlPr>
                            <a:rPr kumimoji="1" lang="zh-CN" altLang="en-US" sz="2200" i="1">
                              <a:latin typeface="Cambria Math" panose="02040503050406030204" charset="0"/>
                              <a:ea typeface="黑体" panose="02010609060101010101" pitchFamily="49" charset="-122"/>
                              <a:cs typeface="Cambria Math" panose="02040503050406030204" charset="0"/>
                            </a:rPr>
                          </m:ctrlPr>
                        </m:fPr>
                        <m:num>
                          <m:r>
                            <a:rPr kumimoji="1" lang="zh-CN" altLang="en-US" sz="2200">
                              <a:latin typeface="Cambria Math" panose="02040503050406030204" charset="0"/>
                              <a:ea typeface="黑体" panose="02010609060101010101" pitchFamily="49" charset="-122"/>
                              <a:cs typeface="Cambria Math" panose="02040503050406030204" charset="0"/>
                            </a:rPr>
                            <m:t>𝑘</m:t>
                          </m:r>
                        </m:num>
                        <m:den>
                          <m:r>
                            <a:rPr kumimoji="1" lang="zh-CN" altLang="en-US" sz="2200">
                              <a:latin typeface="Cambria Math" panose="02040503050406030204" charset="0"/>
                              <a:ea typeface="黑体" panose="02010609060101010101" pitchFamily="49" charset="-122"/>
                              <a:cs typeface="Cambria Math" panose="02040503050406030204" charset="0"/>
                            </a:rPr>
                            <m:t>1</m:t>
                          </m:r>
                          <m:r>
                            <a:rPr kumimoji="1" lang="zh-CN" altLang="en-US" sz="2200">
                              <a:latin typeface="Cambria Math" panose="02040503050406030204" charset="0"/>
                              <a:ea typeface="黑体" panose="02010609060101010101" pitchFamily="49" charset="-122"/>
                              <a:cs typeface="Cambria Math" panose="02040503050406030204" charset="0"/>
                            </a:rPr>
                            <m:t>+</m:t>
                          </m:r>
                          <m:sSup>
                            <m:sSupPr>
                              <m:ctrlPr>
                                <a:rPr kumimoji="1" lang="zh-CN" altLang="en-US" sz="2200" i="1">
                                  <a:latin typeface="Cambria Math" panose="02040503050406030204" charset="0"/>
                                  <a:ea typeface="黑体" panose="02010609060101010101" pitchFamily="49" charset="-122"/>
                                  <a:cs typeface="Cambria Math" panose="02040503050406030204" charset="0"/>
                                </a:rPr>
                              </m:ctrlPr>
                            </m:sSupPr>
                            <m:e>
                              <m:r>
                                <a:rPr kumimoji="1" lang="zh-CN" altLang="en-US" sz="2200">
                                  <a:latin typeface="Cambria Math" panose="02040503050406030204" charset="0"/>
                                  <a:ea typeface="黑体" panose="02010609060101010101" pitchFamily="49" charset="-122"/>
                                  <a:cs typeface="Cambria Math" panose="02040503050406030204" charset="0"/>
                                </a:rPr>
                                <m:t>𝑘</m:t>
                              </m:r>
                            </m:e>
                            <m:sup>
                              <m:r>
                                <a:rPr kumimoji="1" lang="zh-CN" altLang="en-US" sz="2200">
                                  <a:latin typeface="Cambria Math" panose="02040503050406030204" charset="0"/>
                                  <a:ea typeface="黑体" panose="02010609060101010101" pitchFamily="49" charset="-122"/>
                                  <a:cs typeface="Cambria Math" panose="02040503050406030204" charset="0"/>
                                </a:rPr>
                                <m:t>2</m:t>
                              </m:r>
                            </m:sup>
                          </m:sSup>
                        </m:den>
                      </m:f>
                    </m:oMath>
                  </m:oMathPara>
                </a14:m>
                <a:endParaRPr kumimoji="1" lang="zh-CN" altLang="en-US" sz="2200" dirty="0">
                  <a:latin typeface="Cambria Math" panose="02040503050406030204" charset="0"/>
                  <a:ea typeface="黑体" panose="02010609060101010101" pitchFamily="49" charset="-122"/>
                  <a:cs typeface="Cambria Math" panose="02040503050406030204" charset="0"/>
                </a:endParaRPr>
              </a:p>
            </p:txBody>
          </p:sp>
        </mc:Choice>
        <mc:Fallback>
          <p:sp>
            <p:nvSpPr>
              <p:cNvPr id="20" name="Object 12"/>
              <p:cNvSpPr txBox="1">
                <a:spLocks noRot="1" noChangeAspect="1" noMove="1" noResize="1" noEditPoints="1" noAdjustHandles="1" noChangeArrowheads="1" noChangeShapeType="1" noTextEdit="1"/>
              </p:cNvSpPr>
              <p:nvPr/>
            </p:nvSpPr>
            <p:spPr bwMode="auto">
              <a:xfrm>
                <a:off x="6302010" y="3777282"/>
                <a:ext cx="1257300" cy="889000"/>
              </a:xfrm>
              <a:prstGeom prst="rect">
                <a:avLst/>
              </a:prstGeom>
              <a:blipFill rotWithShape="1">
                <a:blip r:embed="rId6"/>
                <a:stretch>
                  <a:fillRect l="-21" t="-34" r="21" b="34"/>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Text Box 13"/>
              <p:cNvSpPr txBox="1">
                <a:spLocks noChangeArrowheads="1"/>
              </p:cNvSpPr>
              <p:nvPr/>
            </p:nvSpPr>
            <p:spPr bwMode="auto">
              <a:xfrm>
                <a:off x="2623318" y="4932371"/>
                <a:ext cx="3481407"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spcBef>
                    <a:spcPct val="50000"/>
                  </a:spcBef>
                </a:pPr>
                <a:r>
                  <a:rPr kumimoji="1" lang="zh-CN" altLang="en-US" sz="2200" dirty="0">
                    <a:solidFill>
                      <a:schemeClr val="tx1">
                        <a:lumMod val="95000"/>
                        <a:lumOff val="5000"/>
                      </a:schemeClr>
                    </a:solidFill>
                    <a:latin typeface="Cambria Math" panose="02040503050406030204" charset="0"/>
                    <a:ea typeface="黑体" panose="02010609060101010101" pitchFamily="49" charset="-122"/>
                  </a:rPr>
                  <a:t>其值随</a:t>
                </a:r>
                <a14:m>
                  <m:oMath xmlns:m="http://schemas.openxmlformats.org/officeDocument/2006/math">
                    <m:r>
                      <a:rPr kumimoji="1" lang="zh-CN" altLang="en-US" sz="2200">
                        <a:latin typeface="Cambria Math" panose="02040503050406030204" charset="0"/>
                        <a:ea typeface="黑体" panose="02010609060101010101" pitchFamily="49" charset="-122"/>
                        <a:cs typeface="Cambria Math" panose="02040503050406030204" charset="0"/>
                      </a:rPr>
                      <m:t>𝑘</m:t>
                    </m:r>
                  </m:oMath>
                </a14:m>
                <a:r>
                  <a:rPr kumimoji="1" lang="zh-CN" altLang="en-US" sz="2200" dirty="0">
                    <a:solidFill>
                      <a:schemeClr val="tx1">
                        <a:lumMod val="95000"/>
                        <a:lumOff val="5000"/>
                      </a:schemeClr>
                    </a:solidFill>
                    <a:latin typeface="Cambria Math" panose="02040503050406030204" charset="0"/>
                    <a:ea typeface="黑体" panose="02010609060101010101" pitchFamily="49" charset="-122"/>
                  </a:rPr>
                  <a:t>的不同而变化</a:t>
                </a:r>
                <a14:m>
                  <m:oMath xmlns:m="http://schemas.openxmlformats.org/officeDocument/2006/math">
                    <m:r>
                      <a:rPr kumimoji="1" lang="zh-CN" altLang="en-US" sz="2400">
                        <a:solidFill>
                          <a:schemeClr val="tx1">
                            <a:lumMod val="95000"/>
                            <a:lumOff val="5000"/>
                          </a:schemeClr>
                        </a:solidFill>
                        <a:latin typeface="Cambria Math" panose="02040503050406030204" charset="0"/>
                        <a:ea typeface="黑体" panose="02010609060101010101" pitchFamily="49" charset="-122"/>
                      </a:rPr>
                      <m:t>,</m:t>
                    </m:r>
                  </m:oMath>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21" name="Text Box 13"/>
              <p:cNvSpPr txBox="1">
                <a:spLocks noRot="1" noChangeAspect="1" noMove="1" noResize="1" noEditPoints="1" noAdjustHandles="1" noChangeArrowheads="1" noChangeShapeType="1" noTextEdit="1"/>
              </p:cNvSpPr>
              <p:nvPr/>
            </p:nvSpPr>
            <p:spPr bwMode="auto">
              <a:xfrm>
                <a:off x="2623318" y="4932371"/>
                <a:ext cx="3481407" cy="461665"/>
              </a:xfrm>
              <a:prstGeom prst="rect">
                <a:avLst/>
              </a:prstGeom>
              <a:blipFill rotWithShape="1">
                <a:blip r:embed="rId7"/>
                <a:stretch>
                  <a:fillRect l="-4" t="-71" r="14" b="75"/>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p:sp>
        <p:nvSpPr>
          <p:cNvPr id="22" name="Rectangle 14"/>
          <p:cNvSpPr>
            <a:spLocks noChangeArrowheads="1"/>
          </p:cNvSpPr>
          <p:nvPr/>
        </p:nvSpPr>
        <p:spPr bwMode="auto">
          <a:xfrm>
            <a:off x="5445114" y="4932370"/>
            <a:ext cx="1657826"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spcBef>
                <a:spcPct val="50000"/>
              </a:spcBef>
            </a:pPr>
            <a:r>
              <a:rPr kumimoji="1" lang="zh-CN" altLang="en-US" sz="2200" dirty="0">
                <a:solidFill>
                  <a:schemeClr val="tx1">
                    <a:lumMod val="95000"/>
                    <a:lumOff val="5000"/>
                  </a:schemeClr>
                </a:solidFill>
                <a:latin typeface="Cambria Math" panose="02040503050406030204" charset="0"/>
                <a:ea typeface="黑体" panose="02010609060101010101" pitchFamily="49" charset="-122"/>
              </a:rPr>
              <a:t>极限不存在</a:t>
            </a:r>
            <a:r>
              <a:rPr kumimoji="1" lang="en-US" altLang="zh-CN" sz="2400" dirty="0">
                <a:solidFill>
                  <a:schemeClr val="tx1">
                    <a:lumMod val="95000"/>
                    <a:lumOff val="5000"/>
                  </a:schemeClr>
                </a:solidFill>
                <a:latin typeface="Cambria Math" panose="02040503050406030204" charset="0"/>
                <a:ea typeface="黑体" panose="02010609060101010101" pitchFamily="49" charset="-122"/>
              </a:rPr>
              <a:t>.</a:t>
            </a:r>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AlternateContent xmlns:mc="http://schemas.openxmlformats.org/markup-compatibility/2006">
        <mc:Choice xmlns:a14="http://schemas.microsoft.com/office/drawing/2010/main" Requires="a14">
          <p:sp>
            <p:nvSpPr>
              <p:cNvPr id="23" name="Rectangle 15"/>
              <p:cNvSpPr>
                <a:spLocks noChangeArrowheads="1"/>
              </p:cNvSpPr>
              <p:nvPr/>
            </p:nvSpPr>
            <p:spPr bwMode="auto">
              <a:xfrm>
                <a:off x="2623318" y="5551768"/>
                <a:ext cx="3383200"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spcBef>
                    <a:spcPct val="50000"/>
                  </a:spcBef>
                </a:pPr>
                <a:r>
                  <a:rPr kumimoji="1" lang="zh-CN" altLang="en-US" sz="2200" dirty="0">
                    <a:solidFill>
                      <a:schemeClr val="tx1">
                        <a:lumMod val="95000"/>
                        <a:lumOff val="5000"/>
                      </a:schemeClr>
                    </a:solidFill>
                    <a:latin typeface="Cambria Math" panose="02040503050406030204" charset="0"/>
                    <a:ea typeface="黑体" panose="02010609060101010101" pitchFamily="49" charset="-122"/>
                  </a:rPr>
                  <a:t>故函数在</a:t>
                </a:r>
                <a:r>
                  <a:rPr kumimoji="1" lang="en-US" altLang="zh-CN" sz="2200" dirty="0">
                    <a:solidFill>
                      <a:schemeClr val="tx1">
                        <a:lumMod val="95000"/>
                        <a:lumOff val="5000"/>
                      </a:schemeClr>
                    </a:solidFill>
                    <a:latin typeface="Cambria Math" panose="02040503050406030204" charset="0"/>
                    <a:ea typeface="黑体" panose="02010609060101010101" pitchFamily="49" charset="-122"/>
                  </a:rPr>
                  <a:t>(</a:t>
                </a:r>
                <a14:m>
                  <m:oMath xmlns:m="http://schemas.openxmlformats.org/officeDocument/2006/math">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 </m:t>
                    </m:r>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0</m:t>
                    </m:r>
                  </m:oMath>
                </a14:m>
                <a:r>
                  <a:rPr kumimoji="1" lang="en-US" altLang="zh-CN" sz="2200" dirty="0">
                    <a:solidFill>
                      <a:schemeClr val="tx1">
                        <a:lumMod val="95000"/>
                        <a:lumOff val="5000"/>
                      </a:schemeClr>
                    </a:solidFill>
                    <a:latin typeface="Cambria Math" panose="02040503050406030204" charset="0"/>
                    <a:ea typeface="黑体" panose="02010609060101010101" pitchFamily="49" charset="-122"/>
                  </a:rPr>
                  <a:t>)</a:t>
                </a:r>
                <a:r>
                  <a:rPr kumimoji="1" lang="zh-CN" altLang="en-US" sz="2200" dirty="0">
                    <a:solidFill>
                      <a:schemeClr val="tx1">
                        <a:lumMod val="95000"/>
                        <a:lumOff val="5000"/>
                      </a:schemeClr>
                    </a:solidFill>
                    <a:latin typeface="Cambria Math" panose="02040503050406030204" charset="0"/>
                    <a:ea typeface="黑体" panose="02010609060101010101" pitchFamily="49" charset="-122"/>
                  </a:rPr>
                  <a:t>处不连续</a:t>
                </a:r>
                <a:r>
                  <a:rPr kumimoji="1" lang="en-US" altLang="zh-CN" sz="2200" dirty="0">
                    <a:solidFill>
                      <a:schemeClr val="tx1">
                        <a:lumMod val="95000"/>
                        <a:lumOff val="5000"/>
                      </a:schemeClr>
                    </a:solidFill>
                    <a:latin typeface="Cambria Math" panose="02040503050406030204" charset="0"/>
                    <a:ea typeface="黑体" panose="02010609060101010101" pitchFamily="49" charset="-122"/>
                  </a:rPr>
                  <a:t>.</a:t>
                </a:r>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23" name="Rectangle 15"/>
              <p:cNvSpPr>
                <a:spLocks noRot="1" noChangeAspect="1" noMove="1" noResize="1" noEditPoints="1" noAdjustHandles="1" noChangeArrowheads="1" noChangeShapeType="1" noTextEdit="1"/>
              </p:cNvSpPr>
              <p:nvPr/>
            </p:nvSpPr>
            <p:spPr bwMode="auto">
              <a:xfrm>
                <a:off x="2623318" y="5551768"/>
                <a:ext cx="3383200" cy="430887"/>
              </a:xfrm>
              <a:prstGeom prst="rect">
                <a:avLst/>
              </a:prstGeom>
              <a:blipFill rotWithShape="1">
                <a:blip r:embed="rId8"/>
                <a:stretch>
                  <a:fillRect l="-4" t="-139" r="2" b="74"/>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 name="对象 2"/>
              <p:cNvSpPr txBox="1"/>
              <p:nvPr/>
            </p:nvSpPr>
            <p:spPr>
              <a:xfrm>
                <a:off x="2543930" y="799083"/>
                <a:ext cx="6843817" cy="1766151"/>
              </a:xfrm>
              <a:prstGeom prst="rect">
                <a:avLst/>
              </a:prstGeom>
            </p:spPr>
            <p:txBody>
              <a:bodyPr>
                <a:normAutofit/>
              </a:bodyPr>
              <a:lstStyle/>
              <a:p>
                <a14:m>
                  <m:oMathPara xmlns:m="http://schemas.openxmlformats.org/officeDocument/2006/math">
                    <m:oMathParaPr>
                      <m:jc m:val="left"/>
                    </m:oMathParaPr>
                    <m:oMath xmlns:m="http://schemas.openxmlformats.org/officeDocument/2006/math">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讨论函数</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dPr>
                        <m:e>
                          <m:m>
                            <m:mPr>
                              <m:mcs>
                                <m:mc>
                                  <m:mcPr>
                                    <m:count m:val="1"/>
                                    <m:mcJc m:val="center"/>
                                  </m:mcPr>
                                </m:mc>
                              </m:mcs>
                              <m:plcHide m:val="on"/>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mPr>
                            <m:mr>
                              <m:e>
                                <m:f>
                                  <m:f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𝑥𝑦</m:t>
                                    </m:r>
                                  </m:num>
                                  <m:den>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den>
                                </m:f>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i="1" smtClean="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0</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e>
                            </m:mr>
                            <m:mr>
                              <m:e>
                                <m:r>
                                  <a:rPr kumimoji="1" lang="zh-CN" altLang="en-US" sz="2800">
                                    <a:solidFill>
                                      <a:schemeClr val="tx1">
                                        <a:lumMod val="95000"/>
                                        <a:lumOff val="5000"/>
                                      </a:schemeClr>
                                    </a:solidFill>
                                    <a:latin typeface="Cambria Math" panose="02040503050406030204" charset="0"/>
                                    <a:ea typeface="黑体" panose="02010609060101010101" pitchFamily="49" charset="-122"/>
                                  </a:rPr>
                                  <m:t>0</m:t>
                                </m:r>
                                <m:r>
                                  <a:rPr kumimoji="1" lang="en-US" altLang="zh-CN" sz="28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charset="0"/>
                                    <a:ea typeface="黑体" panose="02010609060101010101" pitchFamily="49" charset="-122"/>
                                  </a:rPr>
                                  <m:t> </m:t>
                                </m:r>
                                <m:r>
                                  <a:rPr kumimoji="1" lang="en-US" altLang="zh-CN" sz="28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0</m:t>
                                </m:r>
                              </m:e>
                            </m:mr>
                          </m:m>
                        </m:e>
                      </m:d>
                    </m:oMath>
                  </m:oMathPara>
                </a14:m>
                <a:endPar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p:sp>
            <p:nvSpPr>
              <p:cNvPr id="25" name="对象 2"/>
              <p:cNvSpPr txBox="1">
                <a:spLocks noRot="1" noChangeAspect="1" noMove="1" noResize="1" noEditPoints="1" noAdjustHandles="1" noChangeArrowheads="1" noChangeShapeType="1" noTextEdit="1"/>
              </p:cNvSpPr>
              <p:nvPr/>
            </p:nvSpPr>
            <p:spPr>
              <a:xfrm>
                <a:off x="2543930" y="799083"/>
                <a:ext cx="6843817" cy="1766151"/>
              </a:xfrm>
              <a:prstGeom prst="rect">
                <a:avLst/>
              </a:prstGeom>
              <a:blipFill rotWithShape="1">
                <a:blip r:embed="rId9"/>
                <a:stretch>
                  <a:fillRect l="-2" t="-14" r="8" b="2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wipe(left)">
                                      <p:cBhvr>
                                        <p:cTn id="10" dur="500"/>
                                        <p:tgtEl>
                                          <p:spTgt spid="2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left)">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left)">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left)">
                                      <p:cBhvr>
                                        <p:cTn id="23" dur="500"/>
                                        <p:tgtEl>
                                          <p:spTgt spid="13"/>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left)">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left)">
                                      <p:cBhvr>
                                        <p:cTn id="31" dur="5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left)">
                                      <p:cBhvr>
                                        <p:cTn id="36" dur="5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wipe(left)">
                                      <p:cBhvr>
                                        <p:cTn id="41" dur="500"/>
                                        <p:tgtEl>
                                          <p:spTgt spid="20"/>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wipe(left)">
                                      <p:cBhvr>
                                        <p:cTn id="46" dur="500"/>
                                        <p:tgtEl>
                                          <p:spTgt spid="21"/>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wipe(left)">
                                      <p:cBhvr>
                                        <p:cTn id="51" dur="5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12" grpId="0"/>
      <p:bldP spid="13" grpId="0"/>
      <p:bldP spid="14" grpId="0" bldLvl="0" animBg="1"/>
      <p:bldP spid="15" grpId="0" bldLvl="0" animBg="1"/>
      <p:bldP spid="16" grpId="0" bldLvl="0" animBg="1"/>
      <p:bldP spid="20" grpId="0" bldLvl="0" animBg="1"/>
      <p:bldP spid="21" grpId="0" autoUpdateAnimBg="0"/>
      <p:bldP spid="22" grpId="0" autoUpdateAnimBg="0"/>
      <p:bldP spid="23" grpId="0" autoUpdateAnimBg="0"/>
      <p:bldP spid="25"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矩形 2"/>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p:sp>
            <p:nvSpPr>
              <p:cNvPr id="3" name="矩形 2"/>
              <p:cNvSpPr>
                <a:spLocks noRot="1" noChangeAspect="1" noMove="1" noResize="1" noEditPoints="1" noAdjustHandles="1" noChangeArrowheads="1" noChangeShapeType="1" noTextEdit="1"/>
              </p:cNvSpPr>
              <p:nvPr/>
            </p:nvSpPr>
            <p:spPr>
              <a:xfrm>
                <a:off x="687959" y="536260"/>
                <a:ext cx="10817352" cy="5799897"/>
              </a:xfrm>
              <a:prstGeom prst="rect">
                <a:avLst/>
              </a:prstGeom>
              <a:blipFill rotWithShape="1">
                <a:blip r:embed="rId1"/>
                <a:stretch>
                  <a:fillRect l="-1499" t="-1932" r="-1493" b="-1914"/>
                </a:stretch>
              </a:blip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4" name="半闭框 3"/>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半闭框 5"/>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半闭框 6"/>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8" name="半闭框 7"/>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mc:Choice xmlns:a14="http://schemas.microsoft.com/office/drawing/2010/main" Requires="a14">
          <p:sp>
            <p:nvSpPr>
              <p:cNvPr id="5" name="Object 257"/>
              <p:cNvSpPr txBox="1"/>
              <p:nvPr/>
            </p:nvSpPr>
            <p:spPr bwMode="auto">
              <a:xfrm>
                <a:off x="3779146" y="1227494"/>
                <a:ext cx="3220169" cy="1379539"/>
              </a:xfrm>
              <a:prstGeom prst="rect">
                <a:avLst/>
              </a:prstGeom>
              <a:noFill/>
              <a:ln>
                <a:noFill/>
              </a:ln>
              <a:effectLst/>
            </p:spPr>
            <p:txBody>
              <a:bodyPr>
                <a:normAutofit fontScale="85000" lnSpcReduction="10000"/>
              </a:bodyPr>
              <a:lstStyle/>
              <a:p>
                <a14:m>
                  <m:oMathPara xmlns:m="http://schemas.openxmlformats.org/officeDocument/2006/math">
                    <m:oMathParaPr>
                      <m:jc m:val="left"/>
                    </m:oMathParaPr>
                    <m:oMath xmlns:m="http://schemas.openxmlformats.org/officeDocument/2006/math">
                      <m:func>
                        <m:funcPr>
                          <m:ctrlPr>
                            <a:rPr kumimoji="1" lang="zh-CN" altLang="en-US" sz="2800" i="1">
                              <a:latin typeface="Cambria Math" panose="02040503050406030204" charset="0"/>
                              <a:ea typeface="黑体" panose="02010609060101010101" pitchFamily="49" charset="-122"/>
                              <a:cs typeface="Cambria Math" panose="02040503050406030204" charset="0"/>
                            </a:rPr>
                          </m:ctrlPr>
                        </m:funcPr>
                        <m:fName>
                          <m:limLow>
                            <m:limLowPr>
                              <m:ctrlPr>
                                <a:rPr kumimoji="1" lang="zh-CN" altLang="en-US" sz="2800" i="1">
                                  <a:latin typeface="Cambria Math" panose="02040503050406030204" charset="0"/>
                                  <a:ea typeface="黑体" panose="02010609060101010101" pitchFamily="49" charset="-122"/>
                                  <a:cs typeface="Cambria Math" panose="02040503050406030204" charset="0"/>
                                </a:rPr>
                              </m:ctrlPr>
                            </m:limLowPr>
                            <m:e>
                              <m:r>
                                <m:rPr>
                                  <m:sty m:val="p"/>
                                </m:rPr>
                                <a:rPr kumimoji="1" lang="zh-CN" altLang="en-US" sz="2800" i="1">
                                  <a:latin typeface="Cambria Math" panose="02040503050406030204" charset="0"/>
                                  <a:ea typeface="黑体" panose="02010609060101010101" pitchFamily="49" charset="-122"/>
                                  <a:cs typeface="Cambria Math" panose="02040503050406030204" charset="0"/>
                                </a:rPr>
                                <m:t>lim</m:t>
                              </m:r>
                            </m:e>
                            <m:lim>
                              <m:r>
                                <a:rPr kumimoji="1" lang="zh-CN" altLang="en-US" sz="2800" i="1">
                                  <a:latin typeface="Cambria Math" panose="02040503050406030204" charset="0"/>
                                  <a:ea typeface="黑体" panose="02010609060101010101" pitchFamily="49" charset="-122"/>
                                  <a:cs typeface="Cambria Math" panose="02040503050406030204" charset="0"/>
                                </a:rPr>
                                <m:t>(</m:t>
                              </m:r>
                              <m:r>
                                <a:rPr kumimoji="1" lang="zh-CN" altLang="en-US" sz="2800" i="1">
                                  <a:latin typeface="Cambria Math" panose="02040503050406030204" charset="0"/>
                                  <a:ea typeface="黑体" panose="02010609060101010101" pitchFamily="49" charset="-122"/>
                                  <a:cs typeface="Cambria Math" panose="02040503050406030204" charset="0"/>
                                </a:rPr>
                                <m:t>𝑥</m:t>
                              </m:r>
                              <m:r>
                                <a:rPr kumimoji="1" lang="zh-CN" altLang="en-US" sz="2800" i="1">
                                  <a:latin typeface="Cambria Math" panose="02040503050406030204" charset="0"/>
                                  <a:ea typeface="黑体" panose="02010609060101010101" pitchFamily="49" charset="-122"/>
                                  <a:cs typeface="Cambria Math" panose="02040503050406030204" charset="0"/>
                                </a:rPr>
                                <m:t>,</m:t>
                              </m:r>
                              <m:r>
                                <a:rPr kumimoji="1" lang="zh-CN" altLang="en-US" sz="2800" i="1">
                                  <a:latin typeface="Cambria Math" panose="02040503050406030204" charset="0"/>
                                  <a:ea typeface="黑体" panose="02010609060101010101" pitchFamily="49" charset="-122"/>
                                  <a:cs typeface="Cambria Math" panose="02040503050406030204" charset="0"/>
                                </a:rPr>
                                <m:t>𝑦</m:t>
                              </m:r>
                              <m:r>
                                <a:rPr kumimoji="1" lang="zh-CN" altLang="en-US" sz="2800" i="1">
                                  <a:latin typeface="Cambria Math" panose="02040503050406030204" charset="0"/>
                                  <a:ea typeface="黑体" panose="02010609060101010101" pitchFamily="49" charset="-122"/>
                                  <a:cs typeface="Cambria Math" panose="02040503050406030204" charset="0"/>
                                </a:rPr>
                                <m:t>)→(</m:t>
                              </m:r>
                              <m:r>
                                <a:rPr kumimoji="1" lang="zh-CN" altLang="en-US" sz="2800" i="1">
                                  <a:latin typeface="Cambria Math" panose="02040503050406030204" charset="0"/>
                                  <a:ea typeface="黑体" panose="02010609060101010101" pitchFamily="49" charset="-122"/>
                                  <a:cs typeface="Cambria Math" panose="02040503050406030204" charset="0"/>
                                </a:rPr>
                                <m:t>0</m:t>
                              </m:r>
                              <m:r>
                                <a:rPr kumimoji="1" lang="zh-CN" altLang="en-US" sz="2800" i="1">
                                  <a:latin typeface="Cambria Math" panose="02040503050406030204" charset="0"/>
                                  <a:ea typeface="黑体" panose="02010609060101010101" pitchFamily="49" charset="-122"/>
                                  <a:cs typeface="Cambria Math" panose="02040503050406030204" charset="0"/>
                                </a:rPr>
                                <m:t>,</m:t>
                              </m:r>
                              <m:r>
                                <a:rPr kumimoji="1" lang="zh-CN" altLang="en-US" sz="2800" i="1">
                                  <a:latin typeface="Cambria Math" panose="02040503050406030204" charset="0"/>
                                  <a:ea typeface="黑体" panose="02010609060101010101" pitchFamily="49" charset="-122"/>
                                  <a:cs typeface="Cambria Math" panose="02040503050406030204" charset="0"/>
                                </a:rPr>
                                <m:t>0</m:t>
                              </m:r>
                              <m:r>
                                <a:rPr kumimoji="1" lang="zh-CN" altLang="en-US" sz="2800" i="1">
                                  <a:latin typeface="Cambria Math" panose="02040503050406030204" charset="0"/>
                                  <a:ea typeface="黑体" panose="02010609060101010101" pitchFamily="49" charset="-122"/>
                                  <a:cs typeface="Cambria Math" panose="02040503050406030204" charset="0"/>
                                </a:rPr>
                                <m:t>)</m:t>
                              </m:r>
                            </m:lim>
                          </m:limLow>
                        </m:fName>
                        <m:e>
                          <m:f>
                            <m:fPr>
                              <m:ctrlPr>
                                <a:rPr kumimoji="1" lang="zh-CN" altLang="en-US" sz="2800" i="1">
                                  <a:latin typeface="Cambria Math" panose="02040503050406030204" charset="0"/>
                                  <a:ea typeface="黑体" panose="02010609060101010101" pitchFamily="49" charset="-122"/>
                                  <a:cs typeface="Cambria Math" panose="02040503050406030204" charset="0"/>
                                </a:rPr>
                              </m:ctrlPr>
                            </m:fPr>
                            <m:num>
                              <m:rad>
                                <m:radPr>
                                  <m:degHide m:val="on"/>
                                  <m:ctrlPr>
                                    <a:rPr kumimoji="1" lang="zh-CN" altLang="en-US" sz="2800" i="1">
                                      <a:latin typeface="Cambria Math" panose="02040503050406030204" charset="0"/>
                                      <a:ea typeface="黑体" panose="02010609060101010101" pitchFamily="49" charset="-122"/>
                                      <a:cs typeface="Cambria Math" panose="02040503050406030204" charset="0"/>
                                    </a:rPr>
                                  </m:ctrlPr>
                                </m:radPr>
                                <m:deg/>
                                <m:e>
                                  <m:r>
                                    <a:rPr kumimoji="1" lang="zh-CN" altLang="en-US" sz="2800">
                                      <a:latin typeface="Cambria Math" panose="02040503050406030204" charset="0"/>
                                      <a:ea typeface="黑体" panose="02010609060101010101" pitchFamily="49" charset="-122"/>
                                      <a:cs typeface="Cambria Math" panose="02040503050406030204" charset="0"/>
                                    </a:rPr>
                                    <m:t>𝑥𝑦</m:t>
                                  </m:r>
                                  <m:r>
                                    <a:rPr kumimoji="1" lang="zh-CN" altLang="en-US" sz="2800">
                                      <a:latin typeface="Cambria Math" panose="02040503050406030204" charset="0"/>
                                      <a:ea typeface="黑体" panose="02010609060101010101" pitchFamily="49" charset="-122"/>
                                      <a:cs typeface="Cambria Math" panose="02040503050406030204" charset="0"/>
                                    </a:rPr>
                                    <m:t>+</m:t>
                                  </m:r>
                                  <m:r>
                                    <a:rPr kumimoji="1" lang="zh-CN" altLang="en-US" sz="2800">
                                      <a:latin typeface="Cambria Math" panose="02040503050406030204" charset="0"/>
                                      <a:ea typeface="黑体" panose="02010609060101010101" pitchFamily="49" charset="-122"/>
                                      <a:cs typeface="Cambria Math" panose="02040503050406030204" charset="0"/>
                                    </a:rPr>
                                    <m:t>1</m:t>
                                  </m:r>
                                </m:e>
                              </m:rad>
                              <m:r>
                                <a:rPr kumimoji="1" lang="zh-CN" altLang="en-US" sz="2800">
                                  <a:latin typeface="Cambria Math" panose="02040503050406030204" charset="0"/>
                                  <a:ea typeface="黑体" panose="02010609060101010101" pitchFamily="49" charset="-122"/>
                                  <a:cs typeface="Cambria Math" panose="02040503050406030204" charset="0"/>
                                </a:rPr>
                                <m:t>−</m:t>
                              </m:r>
                              <m:r>
                                <a:rPr kumimoji="1" lang="zh-CN" altLang="en-US" sz="2800">
                                  <a:latin typeface="Cambria Math" panose="02040503050406030204" charset="0"/>
                                  <a:ea typeface="黑体" panose="02010609060101010101" pitchFamily="49" charset="-122"/>
                                  <a:cs typeface="Cambria Math" panose="02040503050406030204" charset="0"/>
                                </a:rPr>
                                <m:t>1</m:t>
                              </m:r>
                            </m:num>
                            <m:den>
                              <m:r>
                                <a:rPr kumimoji="1" lang="zh-CN" altLang="en-US" sz="2800">
                                  <a:latin typeface="Cambria Math" panose="02040503050406030204" charset="0"/>
                                  <a:ea typeface="黑体" panose="02010609060101010101" pitchFamily="49" charset="-122"/>
                                  <a:cs typeface="Cambria Math" panose="02040503050406030204" charset="0"/>
                                </a:rPr>
                                <m:t>𝑥𝑦</m:t>
                              </m:r>
                            </m:den>
                          </m:f>
                        </m:e>
                      </m:func>
                      <m:r>
                        <a:rPr kumimoji="1" lang="zh-CN" altLang="en-US" sz="2800">
                          <a:latin typeface="Cambria Math" panose="02040503050406030204" charset="0"/>
                          <a:ea typeface="黑体" panose="02010609060101010101" pitchFamily="49" charset="-122"/>
                          <a:cs typeface="Cambria Math" panose="02040503050406030204" charset="0"/>
                        </a:rPr>
                        <m:t>.</m:t>
                      </m:r>
                    </m:oMath>
                  </m:oMathPara>
                </a14:m>
                <a:endParaRPr kumimoji="1" lang="zh-CN" altLang="en-US" sz="2800" dirty="0">
                  <a:latin typeface="Cambria Math" panose="02040503050406030204" charset="0"/>
                  <a:ea typeface="黑体" panose="02010609060101010101" pitchFamily="49" charset="-122"/>
                  <a:cs typeface="Cambria Math" panose="02040503050406030204" charset="0"/>
                </a:endParaRPr>
              </a:p>
            </p:txBody>
          </p:sp>
        </mc:Choice>
        <mc:Fallback>
          <p:sp>
            <p:nvSpPr>
              <p:cNvPr id="5" name="Object 257"/>
              <p:cNvSpPr txBox="1">
                <a:spLocks noRot="1" noChangeAspect="1" noMove="1" noResize="1" noEditPoints="1" noAdjustHandles="1" noChangeArrowheads="1" noChangeShapeType="1" noTextEdit="1"/>
              </p:cNvSpPr>
              <p:nvPr/>
            </p:nvSpPr>
            <p:spPr bwMode="auto">
              <a:xfrm>
                <a:off x="3779146" y="1227494"/>
                <a:ext cx="3220169" cy="1379539"/>
              </a:xfrm>
              <a:prstGeom prst="rect">
                <a:avLst/>
              </a:prstGeom>
              <a:blipFill rotWithShape="1">
                <a:blip r:embed="rId2"/>
                <a:stretch>
                  <a:fillRect l="-8" t="-3" r="11" b="26"/>
                </a:stretch>
              </a:blipFill>
              <a:ln>
                <a:noFill/>
              </a:ln>
              <a:effectLst/>
            </p:spPr>
            <p:txBody>
              <a:bodyPr/>
              <a:lstStyle/>
              <a:p>
                <a:r>
                  <a:rPr lang="zh-CN" altLang="en-US">
                    <a:noFill/>
                  </a:rPr>
                  <a:t> </a:t>
                </a:r>
              </a:p>
            </p:txBody>
          </p:sp>
        </mc:Fallback>
      </mc:AlternateContent>
      <p:sp>
        <p:nvSpPr>
          <p:cNvPr id="10" name="Text Box 258"/>
          <p:cNvSpPr txBox="1">
            <a:spLocks noChangeArrowheads="1"/>
          </p:cNvSpPr>
          <p:nvPr/>
        </p:nvSpPr>
        <p:spPr bwMode="auto">
          <a:xfrm>
            <a:off x="2520505" y="2918861"/>
            <a:ext cx="609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a:solidFill>
                  <a:srgbClr val="04926A"/>
                </a:solidFill>
                <a:latin typeface="微软雅黑" panose="020B0503020204020204" charset="-122"/>
                <a:ea typeface="微软雅黑" panose="020B0503020204020204" charset="-122"/>
              </a:rPr>
              <a:t>解</a:t>
            </a:r>
            <a:endParaRPr kumimoji="1" lang="zh-CN" altLang="en-US" sz="2800" b="1" dirty="0">
              <a:solidFill>
                <a:srgbClr val="04926A"/>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12" name="Object 259"/>
              <p:cNvSpPr txBox="1"/>
              <p:nvPr/>
            </p:nvSpPr>
            <p:spPr bwMode="auto">
              <a:xfrm>
                <a:off x="3933857" y="2701419"/>
                <a:ext cx="3913358" cy="1219200"/>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kumimoji="1" lang="zh-CN" altLang="en-US" sz="2200">
                          <a:latin typeface="Cambria Math" panose="02040503050406030204" charset="0"/>
                          <a:ea typeface="黑体" panose="02010609060101010101" pitchFamily="49" charset="-122"/>
                          <a:cs typeface="Cambria Math" panose="02040503050406030204" charset="0"/>
                        </a:rPr>
                        <m:t>=</m:t>
                      </m:r>
                      <m:func>
                        <m:funcPr>
                          <m:ctrlPr>
                            <a:rPr kumimoji="1" lang="zh-CN" altLang="en-US" sz="2200" i="1">
                              <a:latin typeface="Cambria Math" panose="02040503050406030204" charset="0"/>
                              <a:ea typeface="黑体" panose="02010609060101010101" pitchFamily="49" charset="-122"/>
                              <a:cs typeface="Cambria Math" panose="02040503050406030204" charset="0"/>
                            </a:rPr>
                          </m:ctrlPr>
                        </m:funcPr>
                        <m:fName>
                          <m:limLow>
                            <m:limLowPr>
                              <m:ctrlPr>
                                <a:rPr kumimoji="1" lang="zh-CN" altLang="en-US" sz="2400" i="1">
                                  <a:latin typeface="Cambria Math" panose="02040503050406030204" charset="0"/>
                                  <a:ea typeface="黑体" panose="02010609060101010101" pitchFamily="49" charset="-122"/>
                                  <a:cs typeface="Cambria Math" panose="02040503050406030204" charset="0"/>
                                </a:rPr>
                              </m:ctrlPr>
                            </m:limLowPr>
                            <m:e>
                              <m:r>
                                <m:rPr>
                                  <m:sty m:val="p"/>
                                </m:rPr>
                                <a:rPr kumimoji="1" lang="zh-CN" altLang="en-US" sz="2400" i="1">
                                  <a:latin typeface="Cambria Math" panose="02040503050406030204" charset="0"/>
                                  <a:ea typeface="黑体" panose="02010609060101010101" pitchFamily="49" charset="-122"/>
                                  <a:cs typeface="Cambria Math" panose="02040503050406030204" charset="0"/>
                                </a:rPr>
                                <m:t>lim</m:t>
                              </m:r>
                            </m:e>
                            <m:lim>
                              <m:r>
                                <a:rPr kumimoji="1" lang="zh-CN" altLang="en-US" sz="2400" i="1">
                                  <a:latin typeface="Cambria Math" panose="02040503050406030204" charset="0"/>
                                  <a:ea typeface="黑体" panose="02010609060101010101" pitchFamily="49" charset="-122"/>
                                  <a:cs typeface="Cambria Math" panose="02040503050406030204" charset="0"/>
                                </a:rPr>
                                <m:t>(</m:t>
                              </m:r>
                              <m:r>
                                <a:rPr kumimoji="1" lang="zh-CN" altLang="en-US" sz="2400" i="1">
                                  <a:latin typeface="Cambria Math" panose="02040503050406030204" charset="0"/>
                                  <a:ea typeface="黑体" panose="02010609060101010101" pitchFamily="49" charset="-122"/>
                                  <a:cs typeface="Cambria Math" panose="02040503050406030204" charset="0"/>
                                </a:rPr>
                                <m:t>𝑥</m:t>
                              </m:r>
                              <m:r>
                                <a:rPr kumimoji="1" lang="zh-CN" altLang="en-US" sz="2400" i="1">
                                  <a:latin typeface="Cambria Math" panose="02040503050406030204" charset="0"/>
                                  <a:ea typeface="黑体" panose="02010609060101010101" pitchFamily="49" charset="-122"/>
                                  <a:cs typeface="Cambria Math" panose="02040503050406030204" charset="0"/>
                                </a:rPr>
                                <m:t>,</m:t>
                              </m:r>
                              <m:r>
                                <a:rPr kumimoji="1" lang="zh-CN" altLang="en-US" sz="2400" i="1">
                                  <a:latin typeface="Cambria Math" panose="02040503050406030204" charset="0"/>
                                  <a:ea typeface="黑体" panose="02010609060101010101" pitchFamily="49" charset="-122"/>
                                  <a:cs typeface="Cambria Math" panose="02040503050406030204" charset="0"/>
                                </a:rPr>
                                <m:t>𝑦</m:t>
                              </m:r>
                              <m:r>
                                <a:rPr kumimoji="1" lang="zh-CN" altLang="en-US" sz="2400" i="1">
                                  <a:latin typeface="Cambria Math" panose="02040503050406030204" charset="0"/>
                                  <a:ea typeface="黑体" panose="02010609060101010101" pitchFamily="49" charset="-122"/>
                                  <a:cs typeface="Cambria Math" panose="02040503050406030204" charset="0"/>
                                </a:rPr>
                                <m:t>)→(</m:t>
                              </m:r>
                              <m:r>
                                <a:rPr kumimoji="1" lang="zh-CN" altLang="en-US" sz="2400" i="1">
                                  <a:latin typeface="Cambria Math" panose="02040503050406030204" charset="0"/>
                                  <a:ea typeface="黑体" panose="02010609060101010101" pitchFamily="49" charset="-122"/>
                                  <a:cs typeface="Cambria Math" panose="02040503050406030204" charset="0"/>
                                </a:rPr>
                                <m:t>0</m:t>
                              </m:r>
                              <m:r>
                                <a:rPr kumimoji="1" lang="zh-CN" altLang="en-US" sz="2400" i="1">
                                  <a:latin typeface="Cambria Math" panose="02040503050406030204" charset="0"/>
                                  <a:ea typeface="黑体" panose="02010609060101010101" pitchFamily="49" charset="-122"/>
                                  <a:cs typeface="Cambria Math" panose="02040503050406030204" charset="0"/>
                                </a:rPr>
                                <m:t>,</m:t>
                              </m:r>
                              <m:r>
                                <a:rPr kumimoji="1" lang="zh-CN" altLang="en-US" sz="2400" i="1">
                                  <a:latin typeface="Cambria Math" panose="02040503050406030204" charset="0"/>
                                  <a:ea typeface="黑体" panose="02010609060101010101" pitchFamily="49" charset="-122"/>
                                  <a:cs typeface="Cambria Math" panose="02040503050406030204" charset="0"/>
                                </a:rPr>
                                <m:t>0</m:t>
                              </m:r>
                              <m:r>
                                <a:rPr kumimoji="1" lang="zh-CN" altLang="en-US" sz="2400" i="1">
                                  <a:latin typeface="Cambria Math" panose="02040503050406030204" charset="0"/>
                                  <a:ea typeface="黑体" panose="02010609060101010101" pitchFamily="49" charset="-122"/>
                                  <a:cs typeface="Cambria Math" panose="02040503050406030204" charset="0"/>
                                </a:rPr>
                                <m:t>)</m:t>
                              </m:r>
                            </m:lim>
                          </m:limLow>
                        </m:fName>
                        <m:e>
                          <m:f>
                            <m:fPr>
                              <m:ctrlPr>
                                <a:rPr kumimoji="1" lang="zh-CN" altLang="en-US" sz="2200" i="1">
                                  <a:latin typeface="Cambria Math" panose="02040503050406030204" charset="0"/>
                                  <a:ea typeface="黑体" panose="02010609060101010101" pitchFamily="49" charset="-122"/>
                                  <a:cs typeface="Cambria Math" panose="02040503050406030204" charset="0"/>
                                </a:rPr>
                              </m:ctrlPr>
                            </m:fPr>
                            <m:num>
                              <m:r>
                                <a:rPr kumimoji="1" lang="zh-CN" altLang="en-US" sz="2200">
                                  <a:latin typeface="Cambria Math" panose="02040503050406030204" charset="0"/>
                                  <a:ea typeface="黑体" panose="02010609060101010101" pitchFamily="49" charset="-122"/>
                                  <a:cs typeface="Cambria Math" panose="02040503050406030204" charset="0"/>
                                </a:rPr>
                                <m:t>(</m:t>
                              </m:r>
                              <m:rad>
                                <m:radPr>
                                  <m:degHide m:val="on"/>
                                  <m:ctrlPr>
                                    <a:rPr kumimoji="1" lang="zh-CN" altLang="en-US" sz="2200" i="1">
                                      <a:latin typeface="Cambria Math" panose="02040503050406030204" charset="0"/>
                                      <a:ea typeface="黑体" panose="02010609060101010101" pitchFamily="49" charset="-122"/>
                                      <a:cs typeface="Cambria Math" panose="02040503050406030204" charset="0"/>
                                    </a:rPr>
                                  </m:ctrlPr>
                                </m:radPr>
                                <m:deg/>
                                <m:e>
                                  <m:r>
                                    <a:rPr kumimoji="1" lang="zh-CN" altLang="en-US" sz="2200">
                                      <a:latin typeface="Cambria Math" panose="02040503050406030204" charset="0"/>
                                      <a:ea typeface="黑体" panose="02010609060101010101" pitchFamily="49" charset="-122"/>
                                      <a:cs typeface="Cambria Math" panose="02040503050406030204" charset="0"/>
                                    </a:rPr>
                                    <m:t>𝑥𝑦</m:t>
                                  </m:r>
                                  <m:r>
                                    <a:rPr kumimoji="1" lang="zh-CN" altLang="en-US" sz="2200">
                                      <a:latin typeface="Cambria Math" panose="02040503050406030204" charset="0"/>
                                      <a:ea typeface="黑体" panose="02010609060101010101" pitchFamily="49" charset="-122"/>
                                      <a:cs typeface="Cambria Math" panose="02040503050406030204" charset="0"/>
                                    </a:rPr>
                                    <m:t>+</m:t>
                                  </m:r>
                                  <m:r>
                                    <a:rPr kumimoji="1" lang="zh-CN" altLang="en-US" sz="2200">
                                      <a:latin typeface="Cambria Math" panose="02040503050406030204" charset="0"/>
                                      <a:ea typeface="黑体" panose="02010609060101010101" pitchFamily="49" charset="-122"/>
                                      <a:cs typeface="Cambria Math" panose="02040503050406030204" charset="0"/>
                                    </a:rPr>
                                    <m:t>1</m:t>
                                  </m:r>
                                </m:e>
                              </m:rad>
                              <m:sSup>
                                <m:sSupPr>
                                  <m:ctrlPr>
                                    <a:rPr kumimoji="1" lang="zh-CN" altLang="en-US" sz="2200" i="1">
                                      <a:latin typeface="Cambria Math" panose="02040503050406030204" charset="0"/>
                                      <a:ea typeface="黑体" panose="02010609060101010101" pitchFamily="49" charset="-122"/>
                                      <a:cs typeface="Cambria Math" panose="02040503050406030204" charset="0"/>
                                    </a:rPr>
                                  </m:ctrlPr>
                                </m:sSupPr>
                                <m:e>
                                  <m:r>
                                    <a:rPr kumimoji="1" lang="zh-CN" altLang="en-US" sz="2200">
                                      <a:latin typeface="Cambria Math" panose="02040503050406030204" charset="0"/>
                                      <a:ea typeface="黑体" panose="02010609060101010101" pitchFamily="49" charset="-122"/>
                                      <a:cs typeface="Cambria Math" panose="02040503050406030204" charset="0"/>
                                    </a:rPr>
                                    <m:t>)</m:t>
                                  </m:r>
                                </m:e>
                                <m:sup>
                                  <m:r>
                                    <a:rPr kumimoji="1" lang="zh-CN" altLang="en-US" sz="2200">
                                      <a:latin typeface="Cambria Math" panose="02040503050406030204" charset="0"/>
                                      <a:ea typeface="黑体" panose="02010609060101010101" pitchFamily="49" charset="-122"/>
                                      <a:cs typeface="Cambria Math" panose="02040503050406030204" charset="0"/>
                                    </a:rPr>
                                    <m:t>2</m:t>
                                  </m:r>
                                </m:sup>
                              </m:sSup>
                              <m:r>
                                <a:rPr kumimoji="1" lang="zh-CN" altLang="en-US" sz="2200">
                                  <a:latin typeface="Cambria Math" panose="02040503050406030204" charset="0"/>
                                  <a:ea typeface="黑体" panose="02010609060101010101" pitchFamily="49" charset="-122"/>
                                  <a:cs typeface="Cambria Math" panose="02040503050406030204" charset="0"/>
                                </a:rPr>
                                <m:t>−</m:t>
                              </m:r>
                              <m:r>
                                <a:rPr kumimoji="1" lang="zh-CN" altLang="en-US" sz="2200">
                                  <a:latin typeface="Cambria Math" panose="02040503050406030204" charset="0"/>
                                  <a:ea typeface="黑体" panose="02010609060101010101" pitchFamily="49" charset="-122"/>
                                  <a:cs typeface="Cambria Math" panose="02040503050406030204" charset="0"/>
                                </a:rPr>
                                <m:t>1</m:t>
                              </m:r>
                            </m:num>
                            <m:den>
                              <m:r>
                                <a:rPr kumimoji="1" lang="zh-CN" altLang="en-US" sz="2200">
                                  <a:latin typeface="Cambria Math" panose="02040503050406030204" charset="0"/>
                                  <a:ea typeface="黑体" panose="02010609060101010101" pitchFamily="49" charset="-122"/>
                                  <a:cs typeface="Cambria Math" panose="02040503050406030204" charset="0"/>
                                </a:rPr>
                                <m:t>𝑥𝑦</m:t>
                              </m:r>
                              <m:r>
                                <a:rPr kumimoji="1" lang="zh-CN" altLang="en-US" sz="2200">
                                  <a:latin typeface="Cambria Math" panose="02040503050406030204" charset="0"/>
                                  <a:ea typeface="黑体" panose="02010609060101010101" pitchFamily="49" charset="-122"/>
                                  <a:cs typeface="Cambria Math" panose="02040503050406030204" charset="0"/>
                                </a:rPr>
                                <m:t>(</m:t>
                              </m:r>
                              <m:rad>
                                <m:radPr>
                                  <m:degHide m:val="on"/>
                                  <m:ctrlPr>
                                    <a:rPr kumimoji="1" lang="zh-CN" altLang="en-US" sz="2200" i="1">
                                      <a:latin typeface="Cambria Math" panose="02040503050406030204" charset="0"/>
                                      <a:ea typeface="黑体" panose="02010609060101010101" pitchFamily="49" charset="-122"/>
                                      <a:cs typeface="Cambria Math" panose="02040503050406030204" charset="0"/>
                                    </a:rPr>
                                  </m:ctrlPr>
                                </m:radPr>
                                <m:deg/>
                                <m:e>
                                  <m:r>
                                    <a:rPr kumimoji="1" lang="zh-CN" altLang="en-US" sz="2200">
                                      <a:latin typeface="Cambria Math" panose="02040503050406030204" charset="0"/>
                                      <a:ea typeface="黑体" panose="02010609060101010101" pitchFamily="49" charset="-122"/>
                                      <a:cs typeface="Cambria Math" panose="02040503050406030204" charset="0"/>
                                    </a:rPr>
                                    <m:t>𝑥𝑦</m:t>
                                  </m:r>
                                  <m:r>
                                    <a:rPr kumimoji="1" lang="zh-CN" altLang="en-US" sz="2200">
                                      <a:latin typeface="Cambria Math" panose="02040503050406030204" charset="0"/>
                                      <a:ea typeface="黑体" panose="02010609060101010101" pitchFamily="49" charset="-122"/>
                                      <a:cs typeface="Cambria Math" panose="02040503050406030204" charset="0"/>
                                    </a:rPr>
                                    <m:t>+</m:t>
                                  </m:r>
                                  <m:r>
                                    <a:rPr kumimoji="1" lang="zh-CN" altLang="en-US" sz="2200">
                                      <a:latin typeface="Cambria Math" panose="02040503050406030204" charset="0"/>
                                      <a:ea typeface="黑体" panose="02010609060101010101" pitchFamily="49" charset="-122"/>
                                      <a:cs typeface="Cambria Math" panose="02040503050406030204" charset="0"/>
                                    </a:rPr>
                                    <m:t>1</m:t>
                                  </m:r>
                                </m:e>
                              </m:rad>
                              <m:r>
                                <a:rPr kumimoji="1" lang="zh-CN" altLang="en-US" sz="2200">
                                  <a:latin typeface="Cambria Math" panose="02040503050406030204" charset="0"/>
                                  <a:ea typeface="黑体" panose="02010609060101010101" pitchFamily="49" charset="-122"/>
                                  <a:cs typeface="Cambria Math" panose="02040503050406030204" charset="0"/>
                                </a:rPr>
                                <m:t>+</m:t>
                              </m:r>
                              <m:r>
                                <a:rPr kumimoji="1" lang="zh-CN" altLang="en-US" sz="2200">
                                  <a:latin typeface="Cambria Math" panose="02040503050406030204" charset="0"/>
                                  <a:ea typeface="黑体" panose="02010609060101010101" pitchFamily="49" charset="-122"/>
                                  <a:cs typeface="Cambria Math" panose="02040503050406030204" charset="0"/>
                                </a:rPr>
                                <m:t>1</m:t>
                              </m:r>
                              <m:r>
                                <a:rPr kumimoji="1" lang="zh-CN" altLang="en-US" sz="2200">
                                  <a:latin typeface="Cambria Math" panose="02040503050406030204" charset="0"/>
                                  <a:ea typeface="黑体" panose="02010609060101010101" pitchFamily="49" charset="-122"/>
                                  <a:cs typeface="Cambria Math" panose="02040503050406030204" charset="0"/>
                                </a:rPr>
                                <m:t>)</m:t>
                              </m:r>
                            </m:den>
                          </m:f>
                        </m:e>
                      </m:func>
                    </m:oMath>
                  </m:oMathPara>
                </a14:m>
                <a:endParaRPr kumimoji="1" lang="zh-CN" altLang="en-US" sz="2200" dirty="0">
                  <a:latin typeface="Cambria Math" panose="02040503050406030204" charset="0"/>
                  <a:ea typeface="黑体" panose="02010609060101010101" pitchFamily="49" charset="-122"/>
                  <a:cs typeface="Cambria Math" panose="02040503050406030204" charset="0"/>
                </a:endParaRPr>
              </a:p>
            </p:txBody>
          </p:sp>
        </mc:Choice>
        <mc:Fallback>
          <p:sp>
            <p:nvSpPr>
              <p:cNvPr id="12" name="Object 259"/>
              <p:cNvSpPr txBox="1">
                <a:spLocks noRot="1" noChangeAspect="1" noMove="1" noResize="1" noEditPoints="1" noAdjustHandles="1" noChangeArrowheads="1" noChangeShapeType="1" noTextEdit="1"/>
              </p:cNvSpPr>
              <p:nvPr/>
            </p:nvSpPr>
            <p:spPr bwMode="auto">
              <a:xfrm>
                <a:off x="3933857" y="2701419"/>
                <a:ext cx="3913358" cy="1219200"/>
              </a:xfrm>
              <a:prstGeom prst="rect">
                <a:avLst/>
              </a:prstGeom>
              <a:blipFill rotWithShape="1">
                <a:blip r:embed="rId3"/>
                <a:stretch>
                  <a:fillRect l="-1" t="-11" r="13" b="11"/>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Object 260"/>
              <p:cNvSpPr txBox="1"/>
              <p:nvPr/>
            </p:nvSpPr>
            <p:spPr bwMode="auto">
              <a:xfrm>
                <a:off x="3933857" y="5042039"/>
                <a:ext cx="755650" cy="936625"/>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kumimoji="1" lang="zh-CN" altLang="en-US" sz="2200">
                          <a:latin typeface="Cambria Math" panose="02040503050406030204" charset="0"/>
                          <a:ea typeface="黑体" panose="02010609060101010101" pitchFamily="49" charset="-122"/>
                          <a:cs typeface="Cambria Math" panose="02040503050406030204" charset="0"/>
                        </a:rPr>
                        <m:t>=</m:t>
                      </m:r>
                      <m:f>
                        <m:fPr>
                          <m:ctrlPr>
                            <a:rPr kumimoji="1" lang="zh-CN" altLang="en-US" sz="2200" i="1">
                              <a:latin typeface="Cambria Math" panose="02040503050406030204" charset="0"/>
                              <a:ea typeface="黑体" panose="02010609060101010101" pitchFamily="49" charset="-122"/>
                              <a:cs typeface="Cambria Math" panose="02040503050406030204" charset="0"/>
                            </a:rPr>
                          </m:ctrlPr>
                        </m:fPr>
                        <m:num>
                          <m:r>
                            <a:rPr kumimoji="1" lang="zh-CN" altLang="en-US" sz="2200">
                              <a:latin typeface="Cambria Math" panose="02040503050406030204" charset="0"/>
                              <a:ea typeface="黑体" panose="02010609060101010101" pitchFamily="49" charset="-122"/>
                              <a:cs typeface="Cambria Math" panose="02040503050406030204" charset="0"/>
                            </a:rPr>
                            <m:t>1</m:t>
                          </m:r>
                        </m:num>
                        <m:den>
                          <m:r>
                            <a:rPr kumimoji="1" lang="zh-CN" altLang="en-US" sz="2200">
                              <a:latin typeface="Cambria Math" panose="02040503050406030204" charset="0"/>
                              <a:ea typeface="黑体" panose="02010609060101010101" pitchFamily="49" charset="-122"/>
                              <a:cs typeface="Cambria Math" panose="02040503050406030204" charset="0"/>
                            </a:rPr>
                            <m:t>2</m:t>
                          </m:r>
                        </m:den>
                      </m:f>
                      <m:r>
                        <a:rPr kumimoji="1" lang="zh-CN" altLang="en-US" sz="2200">
                          <a:latin typeface="Cambria Math" panose="02040503050406030204" charset="0"/>
                          <a:ea typeface="黑体" panose="02010609060101010101" pitchFamily="49" charset="-122"/>
                          <a:cs typeface="Cambria Math" panose="02040503050406030204" charset="0"/>
                        </a:rPr>
                        <m:t>.</m:t>
                      </m:r>
                    </m:oMath>
                  </m:oMathPara>
                </a14:m>
                <a:endParaRPr kumimoji="1" lang="zh-CN" altLang="en-US" sz="2200" dirty="0">
                  <a:latin typeface="Cambria Math" panose="02040503050406030204" charset="0"/>
                  <a:ea typeface="黑体" panose="02010609060101010101" pitchFamily="49" charset="-122"/>
                  <a:cs typeface="Cambria Math" panose="02040503050406030204" charset="0"/>
                </a:endParaRPr>
              </a:p>
            </p:txBody>
          </p:sp>
        </mc:Choice>
        <mc:Fallback>
          <p:sp>
            <p:nvSpPr>
              <p:cNvPr id="13" name="Object 260"/>
              <p:cNvSpPr txBox="1">
                <a:spLocks noRot="1" noChangeAspect="1" noMove="1" noResize="1" noEditPoints="1" noAdjustHandles="1" noChangeArrowheads="1" noChangeShapeType="1" noTextEdit="1"/>
              </p:cNvSpPr>
              <p:nvPr/>
            </p:nvSpPr>
            <p:spPr bwMode="auto">
              <a:xfrm>
                <a:off x="3933857" y="5042039"/>
                <a:ext cx="755650" cy="936625"/>
              </a:xfrm>
              <a:prstGeom prst="rect">
                <a:avLst/>
              </a:prstGeom>
              <a:blipFill rotWithShape="1">
                <a:blip r:embed="rId4"/>
                <a:stretch>
                  <a:fillRect l="-4" t="-15" r="4" b="15"/>
                </a:stretch>
              </a:blipFill>
              <a:ln>
                <a:noFill/>
              </a:ln>
              <a:effectLst/>
            </p:spPr>
            <p:txBody>
              <a:bodyPr/>
              <a:lstStyle/>
              <a:p>
                <a:r>
                  <a:rPr lang="zh-CN" altLang="en-US">
                    <a:noFill/>
                  </a:rPr>
                  <a:t> </a:t>
                </a:r>
              </a:p>
            </p:txBody>
          </p:sp>
        </mc:Fallback>
      </mc:AlternateContent>
      <p:sp>
        <p:nvSpPr>
          <p:cNvPr id="14" name="Rectangle 261"/>
          <p:cNvSpPr>
            <a:spLocks noChangeArrowheads="1"/>
          </p:cNvSpPr>
          <p:nvPr/>
        </p:nvSpPr>
        <p:spPr bwMode="auto">
          <a:xfrm>
            <a:off x="2520505" y="1503586"/>
            <a:ext cx="16764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kumimoji="1" lang="zh-CN" altLang="en-US" sz="2800" b="1" dirty="0">
                <a:solidFill>
                  <a:srgbClr val="04926A"/>
                </a:solidFill>
                <a:latin typeface="微软雅黑" panose="020B0503020204020204" charset="-122"/>
                <a:ea typeface="微软雅黑" panose="020B0503020204020204" charset="-122"/>
              </a:rPr>
              <a:t>例</a:t>
            </a:r>
            <a:r>
              <a:rPr kumimoji="1" lang="en-US" altLang="zh-CN" sz="2800" b="1" dirty="0">
                <a:solidFill>
                  <a:srgbClr val="04926A"/>
                </a:solidFill>
                <a:latin typeface="微软雅黑" panose="020B0503020204020204" charset="-122"/>
                <a:ea typeface="微软雅黑" panose="020B0503020204020204" charset="-122"/>
              </a:rPr>
              <a:t>9  </a:t>
            </a:r>
            <a:r>
              <a:rPr kumimoji="1" lang="zh-CN" altLang="en-US" sz="2800" dirty="0">
                <a:solidFill>
                  <a:schemeClr val="tx1">
                    <a:lumMod val="95000"/>
                    <a:lumOff val="5000"/>
                  </a:schemeClr>
                </a:solidFill>
                <a:latin typeface="Cambria Math" panose="02040503050406030204" charset="0"/>
                <a:ea typeface="黑体" panose="02010609060101010101" pitchFamily="49" charset="-122"/>
              </a:rPr>
              <a:t>求</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AlternateContent xmlns:mc="http://schemas.openxmlformats.org/markup-compatibility/2006">
        <mc:Choice xmlns:a14="http://schemas.microsoft.com/office/drawing/2010/main" Requires="a14">
          <p:sp>
            <p:nvSpPr>
              <p:cNvPr id="15" name="Object 262"/>
              <p:cNvSpPr txBox="1"/>
              <p:nvPr/>
            </p:nvSpPr>
            <p:spPr bwMode="auto">
              <a:xfrm>
                <a:off x="3933856" y="3836510"/>
                <a:ext cx="3630725" cy="1130300"/>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kumimoji="1" lang="zh-CN" altLang="en-US" sz="2200">
                          <a:latin typeface="Cambria Math" panose="02040503050406030204" charset="0"/>
                          <a:ea typeface="黑体" panose="02010609060101010101" pitchFamily="49" charset="-122"/>
                          <a:cs typeface="Cambria Math" panose="02040503050406030204" charset="0"/>
                        </a:rPr>
                        <m:t>=</m:t>
                      </m:r>
                      <m:func>
                        <m:funcPr>
                          <m:ctrlPr>
                            <a:rPr kumimoji="1" lang="zh-CN" altLang="en-US" sz="2200" i="1">
                              <a:latin typeface="Cambria Math" panose="02040503050406030204" charset="0"/>
                              <a:ea typeface="黑体" panose="02010609060101010101" pitchFamily="49" charset="-122"/>
                              <a:cs typeface="Cambria Math" panose="02040503050406030204" charset="0"/>
                            </a:rPr>
                          </m:ctrlPr>
                        </m:funcPr>
                        <m:fName>
                          <m:limLow>
                            <m:limLowPr>
                              <m:ctrlPr>
                                <a:rPr kumimoji="1" lang="zh-CN" altLang="en-US" sz="2400" i="1">
                                  <a:latin typeface="Cambria Math" panose="02040503050406030204" charset="0"/>
                                  <a:ea typeface="黑体" panose="02010609060101010101" pitchFamily="49" charset="-122"/>
                                  <a:cs typeface="Cambria Math" panose="02040503050406030204" charset="0"/>
                                </a:rPr>
                              </m:ctrlPr>
                            </m:limLowPr>
                            <m:e>
                              <m:r>
                                <m:rPr>
                                  <m:sty m:val="p"/>
                                </m:rPr>
                                <a:rPr kumimoji="1" lang="zh-CN" altLang="en-US" sz="2400" i="1">
                                  <a:latin typeface="Cambria Math" panose="02040503050406030204" charset="0"/>
                                  <a:ea typeface="黑体" panose="02010609060101010101" pitchFamily="49" charset="-122"/>
                                  <a:cs typeface="Cambria Math" panose="02040503050406030204" charset="0"/>
                                </a:rPr>
                                <m:t>lim</m:t>
                              </m:r>
                            </m:e>
                            <m:lim>
                              <m:r>
                                <a:rPr kumimoji="1" lang="zh-CN" altLang="en-US" sz="2400" i="1">
                                  <a:latin typeface="Cambria Math" panose="02040503050406030204" charset="0"/>
                                  <a:ea typeface="黑体" panose="02010609060101010101" pitchFamily="49" charset="-122"/>
                                  <a:cs typeface="Cambria Math" panose="02040503050406030204" charset="0"/>
                                </a:rPr>
                                <m:t>(</m:t>
                              </m:r>
                              <m:r>
                                <a:rPr kumimoji="1" lang="zh-CN" altLang="en-US" sz="2400" i="1">
                                  <a:latin typeface="Cambria Math" panose="02040503050406030204" charset="0"/>
                                  <a:ea typeface="黑体" panose="02010609060101010101" pitchFamily="49" charset="-122"/>
                                  <a:cs typeface="Cambria Math" panose="02040503050406030204" charset="0"/>
                                </a:rPr>
                                <m:t>𝑥</m:t>
                              </m:r>
                              <m:r>
                                <a:rPr kumimoji="1" lang="zh-CN" altLang="en-US" sz="2400" i="1">
                                  <a:latin typeface="Cambria Math" panose="02040503050406030204" charset="0"/>
                                  <a:ea typeface="黑体" panose="02010609060101010101" pitchFamily="49" charset="-122"/>
                                  <a:cs typeface="Cambria Math" panose="02040503050406030204" charset="0"/>
                                </a:rPr>
                                <m:t>,</m:t>
                              </m:r>
                              <m:r>
                                <a:rPr kumimoji="1" lang="zh-CN" altLang="en-US" sz="2400" i="1">
                                  <a:latin typeface="Cambria Math" panose="02040503050406030204" charset="0"/>
                                  <a:ea typeface="黑体" panose="02010609060101010101" pitchFamily="49" charset="-122"/>
                                  <a:cs typeface="Cambria Math" panose="02040503050406030204" charset="0"/>
                                </a:rPr>
                                <m:t>𝑦</m:t>
                              </m:r>
                              <m:r>
                                <a:rPr kumimoji="1" lang="zh-CN" altLang="en-US" sz="2400" i="1">
                                  <a:latin typeface="Cambria Math" panose="02040503050406030204" charset="0"/>
                                  <a:ea typeface="黑体" panose="02010609060101010101" pitchFamily="49" charset="-122"/>
                                  <a:cs typeface="Cambria Math" panose="02040503050406030204" charset="0"/>
                                </a:rPr>
                                <m:t>)→(</m:t>
                              </m:r>
                              <m:r>
                                <a:rPr kumimoji="1" lang="zh-CN" altLang="en-US" sz="2400" i="1">
                                  <a:latin typeface="Cambria Math" panose="02040503050406030204" charset="0"/>
                                  <a:ea typeface="黑体" panose="02010609060101010101" pitchFamily="49" charset="-122"/>
                                  <a:cs typeface="Cambria Math" panose="02040503050406030204" charset="0"/>
                                </a:rPr>
                                <m:t>0</m:t>
                              </m:r>
                              <m:r>
                                <a:rPr kumimoji="1" lang="zh-CN" altLang="en-US" sz="2400" i="1">
                                  <a:latin typeface="Cambria Math" panose="02040503050406030204" charset="0"/>
                                  <a:ea typeface="黑体" panose="02010609060101010101" pitchFamily="49" charset="-122"/>
                                  <a:cs typeface="Cambria Math" panose="02040503050406030204" charset="0"/>
                                </a:rPr>
                                <m:t>,</m:t>
                              </m:r>
                              <m:r>
                                <a:rPr kumimoji="1" lang="zh-CN" altLang="en-US" sz="2400" i="1">
                                  <a:latin typeface="Cambria Math" panose="02040503050406030204" charset="0"/>
                                  <a:ea typeface="黑体" panose="02010609060101010101" pitchFamily="49" charset="-122"/>
                                  <a:cs typeface="Cambria Math" panose="02040503050406030204" charset="0"/>
                                </a:rPr>
                                <m:t>0</m:t>
                              </m:r>
                              <m:r>
                                <a:rPr kumimoji="1" lang="zh-CN" altLang="en-US" sz="2400" i="1">
                                  <a:latin typeface="Cambria Math" panose="02040503050406030204" charset="0"/>
                                  <a:ea typeface="黑体" panose="02010609060101010101" pitchFamily="49" charset="-122"/>
                                  <a:cs typeface="Cambria Math" panose="02040503050406030204" charset="0"/>
                                </a:rPr>
                                <m:t>)</m:t>
                              </m:r>
                            </m:lim>
                          </m:limLow>
                        </m:fName>
                        <m:e>
                          <m:f>
                            <m:fPr>
                              <m:ctrlPr>
                                <a:rPr kumimoji="1" lang="zh-CN" altLang="en-US" sz="2200" i="1">
                                  <a:latin typeface="Cambria Math" panose="02040503050406030204" charset="0"/>
                                  <a:ea typeface="黑体" panose="02010609060101010101" pitchFamily="49" charset="-122"/>
                                  <a:cs typeface="Cambria Math" panose="02040503050406030204" charset="0"/>
                                </a:rPr>
                              </m:ctrlPr>
                            </m:fPr>
                            <m:num>
                              <m:r>
                                <a:rPr kumimoji="1" lang="zh-CN" altLang="en-US" sz="2200">
                                  <a:latin typeface="Cambria Math" panose="02040503050406030204" charset="0"/>
                                  <a:ea typeface="黑体" panose="02010609060101010101" pitchFamily="49" charset="-122"/>
                                  <a:cs typeface="Cambria Math" panose="02040503050406030204" charset="0"/>
                                </a:rPr>
                                <m:t>1</m:t>
                              </m:r>
                            </m:num>
                            <m:den>
                              <m:rad>
                                <m:radPr>
                                  <m:degHide m:val="on"/>
                                  <m:ctrlPr>
                                    <a:rPr kumimoji="1" lang="zh-CN" altLang="en-US" sz="2200" i="1">
                                      <a:latin typeface="Cambria Math" panose="02040503050406030204" charset="0"/>
                                      <a:ea typeface="黑体" panose="02010609060101010101" pitchFamily="49" charset="-122"/>
                                      <a:cs typeface="Cambria Math" panose="02040503050406030204" charset="0"/>
                                    </a:rPr>
                                  </m:ctrlPr>
                                </m:radPr>
                                <m:deg/>
                                <m:e>
                                  <m:r>
                                    <a:rPr kumimoji="1" lang="zh-CN" altLang="en-US" sz="2200">
                                      <a:latin typeface="Cambria Math" panose="02040503050406030204" charset="0"/>
                                      <a:ea typeface="黑体" panose="02010609060101010101" pitchFamily="49" charset="-122"/>
                                      <a:cs typeface="Cambria Math" panose="02040503050406030204" charset="0"/>
                                    </a:rPr>
                                    <m:t>𝑥𝑦</m:t>
                                  </m:r>
                                  <m:r>
                                    <a:rPr kumimoji="1" lang="zh-CN" altLang="en-US" sz="2200">
                                      <a:latin typeface="Cambria Math" panose="02040503050406030204" charset="0"/>
                                      <a:ea typeface="黑体" panose="02010609060101010101" pitchFamily="49" charset="-122"/>
                                      <a:cs typeface="Cambria Math" panose="02040503050406030204" charset="0"/>
                                    </a:rPr>
                                    <m:t>+</m:t>
                                  </m:r>
                                  <m:r>
                                    <a:rPr kumimoji="1" lang="zh-CN" altLang="en-US" sz="2200">
                                      <a:latin typeface="Cambria Math" panose="02040503050406030204" charset="0"/>
                                      <a:ea typeface="黑体" panose="02010609060101010101" pitchFamily="49" charset="-122"/>
                                      <a:cs typeface="Cambria Math" panose="02040503050406030204" charset="0"/>
                                    </a:rPr>
                                    <m:t>1</m:t>
                                  </m:r>
                                </m:e>
                              </m:rad>
                              <m:r>
                                <a:rPr kumimoji="1" lang="zh-CN" altLang="en-US" sz="2200">
                                  <a:latin typeface="Cambria Math" panose="02040503050406030204" charset="0"/>
                                  <a:ea typeface="黑体" panose="02010609060101010101" pitchFamily="49" charset="-122"/>
                                  <a:cs typeface="Cambria Math" panose="02040503050406030204" charset="0"/>
                                </a:rPr>
                                <m:t>+</m:t>
                              </m:r>
                              <m:r>
                                <a:rPr kumimoji="1" lang="zh-CN" altLang="en-US" sz="2200">
                                  <a:latin typeface="Cambria Math" panose="02040503050406030204" charset="0"/>
                                  <a:ea typeface="黑体" panose="02010609060101010101" pitchFamily="49" charset="-122"/>
                                  <a:cs typeface="Cambria Math" panose="02040503050406030204" charset="0"/>
                                </a:rPr>
                                <m:t>1</m:t>
                              </m:r>
                            </m:den>
                          </m:f>
                        </m:e>
                      </m:func>
                    </m:oMath>
                  </m:oMathPara>
                </a14:m>
                <a:endParaRPr kumimoji="1" lang="zh-CN" altLang="en-US" sz="2200" dirty="0">
                  <a:latin typeface="Cambria Math" panose="02040503050406030204" charset="0"/>
                  <a:ea typeface="黑体" panose="02010609060101010101" pitchFamily="49" charset="-122"/>
                  <a:cs typeface="Cambria Math" panose="02040503050406030204" charset="0"/>
                </a:endParaRPr>
              </a:p>
            </p:txBody>
          </p:sp>
        </mc:Choice>
        <mc:Fallback>
          <p:sp>
            <p:nvSpPr>
              <p:cNvPr id="15" name="Object 262"/>
              <p:cNvSpPr txBox="1">
                <a:spLocks noRot="1" noChangeAspect="1" noMove="1" noResize="1" noEditPoints="1" noAdjustHandles="1" noChangeArrowheads="1" noChangeShapeType="1" noTextEdit="1"/>
              </p:cNvSpPr>
              <p:nvPr/>
            </p:nvSpPr>
            <p:spPr bwMode="auto">
              <a:xfrm>
                <a:off x="3933856" y="3836510"/>
                <a:ext cx="3630725" cy="1130300"/>
              </a:xfrm>
              <a:prstGeom prst="rect">
                <a:avLst/>
              </a:prstGeom>
              <a:blipFill rotWithShape="1">
                <a:blip r:embed="rId5"/>
                <a:stretch>
                  <a:fillRect l="-1" t="-42" r="13" b="42"/>
                </a:stretch>
              </a:blipFill>
              <a:ln>
                <a:noFill/>
              </a:ln>
              <a:effectLst/>
            </p:spPr>
            <p:txBody>
              <a:bodyPr/>
              <a:lstStyle/>
              <a:p>
                <a:r>
                  <a:rPr lang="zh-CN" altLang="en-US">
                    <a:noFill/>
                  </a:rPr>
                  <a:t> </a:t>
                </a:r>
              </a:p>
            </p:txBody>
          </p:sp>
        </mc:Fallback>
      </mc:AlternateContent>
      <p:sp>
        <p:nvSpPr>
          <p:cNvPr id="21" name="Rectangle 266"/>
          <p:cNvSpPr>
            <a:spLocks noChangeArrowheads="1"/>
          </p:cNvSpPr>
          <p:nvPr/>
        </p:nvSpPr>
        <p:spPr bwMode="auto">
          <a:xfrm>
            <a:off x="3301555" y="2974983"/>
            <a:ext cx="748923"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200" dirty="0">
                <a:latin typeface="Cambria Math" panose="02040503050406030204" charset="0"/>
                <a:ea typeface="黑体" panose="02010609060101010101" pitchFamily="49" charset="-122"/>
              </a:rPr>
              <a:t>原式</a:t>
            </a:r>
            <a:endParaRPr kumimoji="1" lang="zh-CN" altLang="en-US" sz="2200" dirty="0">
              <a:latin typeface="Cambria Math" panose="02040503050406030204" charset="0"/>
              <a:ea typeface="黑体" panose="02010609060101010101" pitchFamily="49" charset="-122"/>
            </a:endParaRPr>
          </a:p>
        </p:txBody>
      </p:sp>
      <mc:AlternateContent xmlns:mc="http://schemas.openxmlformats.org/markup-compatibility/2006">
        <mc:Choice xmlns:a14="http://schemas.microsoft.com/office/drawing/2010/main" Requires="a14">
          <p:sp>
            <p:nvSpPr>
              <p:cNvPr id="2" name="AutoShape 7"/>
              <p:cNvSpPr>
                <a:spLocks noChangeArrowheads="1"/>
              </p:cNvSpPr>
              <p:nvPr/>
            </p:nvSpPr>
            <p:spPr bwMode="auto">
              <a:xfrm>
                <a:off x="7167763" y="1125415"/>
                <a:ext cx="2242052" cy="1379539"/>
              </a:xfrm>
              <a:prstGeom prst="wedgeRectCallout">
                <a:avLst>
                  <a:gd name="adj1" fmla="val -72764"/>
                  <a:gd name="adj2" fmla="val -6143"/>
                </a:avLst>
              </a:prstGeom>
              <a:solidFill>
                <a:srgbClr val="04926A">
                  <a:alpha val="42000"/>
                </a:srgbClr>
              </a:solidFill>
              <a:ln w="12700">
                <a:noFill/>
                <a:miter lim="800000"/>
              </a:ln>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Para xmlns:m="http://schemas.openxmlformats.org/officeDocument/2006/math">
                    <m:oMathParaPr>
                      <m:jc m:val="left"/>
                    </m:oMathParaPr>
                    <m:oMath xmlns:m="http://schemas.openxmlformats.org/officeDocument/2006/math">
                      <m:f>
                        <m:fPr>
                          <m:ctrlPr>
                            <a:rPr kumimoji="1" lang="zh-CN" altLang="en-US" sz="2800" i="1">
                              <a:latin typeface="Cambria Math" panose="02040503050406030204" charset="0"/>
                              <a:ea typeface="黑体" panose="02010609060101010101" pitchFamily="49" charset="-122"/>
                              <a:cs typeface="黑体" panose="02010609060101010101" pitchFamily="49" charset="-122"/>
                            </a:rPr>
                          </m:ctrlPr>
                        </m:fPr>
                        <m:num>
                          <m:rad>
                            <m:radPr>
                              <m:degHide m:val="on"/>
                              <m:ctrlPr>
                                <a:rPr kumimoji="1" lang="zh-CN" altLang="en-US" sz="2800" i="1">
                                  <a:latin typeface="Cambria Math" panose="02040503050406030204" charset="0"/>
                                  <a:ea typeface="黑体" panose="02010609060101010101" pitchFamily="49" charset="-122"/>
                                  <a:cs typeface="黑体" panose="02010609060101010101" pitchFamily="49" charset="-122"/>
                                </a:rPr>
                              </m:ctrlPr>
                            </m:radPr>
                            <m:deg/>
                            <m:e>
                              <m:r>
                                <a:rPr kumimoji="1" lang="zh-CN" altLang="en-US" sz="2800" i="1">
                                  <a:latin typeface="Cambria Math" panose="02040503050406030204" charset="0"/>
                                  <a:ea typeface="黑体" panose="02010609060101010101" pitchFamily="49" charset="-122"/>
                                  <a:cs typeface="黑体" panose="02010609060101010101" pitchFamily="49" charset="-122"/>
                                </a:rPr>
                                <m:t>𝑥𝑦</m:t>
                              </m:r>
                              <m:r>
                                <a:rPr kumimoji="1" lang="zh-CN" altLang="en-US" sz="2800" i="1">
                                  <a:latin typeface="Cambria Math" panose="02040503050406030204" charset="0"/>
                                  <a:ea typeface="黑体" panose="02010609060101010101" pitchFamily="49" charset="-122"/>
                                  <a:cs typeface="黑体" panose="02010609060101010101" pitchFamily="49" charset="-122"/>
                                </a:rPr>
                                <m:t>+</m:t>
                              </m:r>
                              <m:r>
                                <a:rPr kumimoji="1" lang="zh-CN" altLang="en-US" sz="2800" i="1">
                                  <a:latin typeface="Cambria Math" panose="02040503050406030204" charset="0"/>
                                  <a:ea typeface="黑体" panose="02010609060101010101" pitchFamily="49" charset="-122"/>
                                  <a:cs typeface="黑体" panose="02010609060101010101" pitchFamily="49" charset="-122"/>
                                </a:rPr>
                                <m:t>1</m:t>
                              </m:r>
                            </m:e>
                          </m:rad>
                          <m:r>
                            <a:rPr kumimoji="1" lang="zh-CN" altLang="en-US" sz="2800" i="1">
                              <a:latin typeface="Cambria Math" panose="02040503050406030204" charset="0"/>
                              <a:ea typeface="黑体" panose="02010609060101010101" pitchFamily="49" charset="-122"/>
                              <a:cs typeface="黑体" panose="02010609060101010101" pitchFamily="49" charset="-122"/>
                            </a:rPr>
                            <m:t>+</m:t>
                          </m:r>
                          <m:r>
                            <a:rPr kumimoji="1" lang="en-US" altLang="zh-CN" sz="2800" b="0" i="1" smtClean="0">
                              <a:latin typeface="Cambria Math" panose="02040503050406030204" charset="0"/>
                              <a:ea typeface="黑体" panose="02010609060101010101" pitchFamily="49" charset="-122"/>
                              <a:cs typeface="黑体" panose="02010609060101010101" pitchFamily="49" charset="-122"/>
                            </a:rPr>
                            <m:t>1</m:t>
                          </m:r>
                        </m:num>
                        <m:den>
                          <m:rad>
                            <m:radPr>
                              <m:degHide m:val="on"/>
                              <m:ctrlPr>
                                <a:rPr kumimoji="1" lang="zh-CN" altLang="en-US" sz="2800" i="1">
                                  <a:latin typeface="Cambria Math" panose="02040503050406030204" charset="0"/>
                                  <a:ea typeface="黑体" panose="02010609060101010101" pitchFamily="49" charset="-122"/>
                                  <a:cs typeface="黑体" panose="02010609060101010101" pitchFamily="49" charset="-122"/>
                                </a:rPr>
                              </m:ctrlPr>
                            </m:radPr>
                            <m:deg/>
                            <m:e>
                              <m:r>
                                <a:rPr kumimoji="1" lang="zh-CN" altLang="en-US" sz="2800" i="1">
                                  <a:latin typeface="Cambria Math" panose="02040503050406030204" charset="0"/>
                                  <a:ea typeface="黑体" panose="02010609060101010101" pitchFamily="49" charset="-122"/>
                                  <a:cs typeface="黑体" panose="02010609060101010101" pitchFamily="49" charset="-122"/>
                                </a:rPr>
                                <m:t>𝑥𝑦</m:t>
                              </m:r>
                              <m:r>
                                <a:rPr kumimoji="1" lang="zh-CN" altLang="en-US" sz="2800" i="1">
                                  <a:latin typeface="Cambria Math" panose="02040503050406030204" charset="0"/>
                                  <a:ea typeface="黑体" panose="02010609060101010101" pitchFamily="49" charset="-122"/>
                                  <a:cs typeface="黑体" panose="02010609060101010101" pitchFamily="49" charset="-122"/>
                                </a:rPr>
                                <m:t>+</m:t>
                              </m:r>
                              <m:r>
                                <a:rPr kumimoji="1" lang="zh-CN" altLang="en-US" sz="2800" i="1">
                                  <a:latin typeface="Cambria Math" panose="02040503050406030204" charset="0"/>
                                  <a:ea typeface="黑体" panose="02010609060101010101" pitchFamily="49" charset="-122"/>
                                  <a:cs typeface="黑体" panose="02010609060101010101" pitchFamily="49" charset="-122"/>
                                </a:rPr>
                                <m:t>1</m:t>
                              </m:r>
                            </m:e>
                          </m:rad>
                          <m:r>
                            <a:rPr kumimoji="1" lang="zh-CN" altLang="en-US" sz="2800" i="1">
                              <a:latin typeface="Cambria Math" panose="02040503050406030204" charset="0"/>
                              <a:ea typeface="黑体" panose="02010609060101010101" pitchFamily="49" charset="-122"/>
                              <a:cs typeface="黑体" panose="02010609060101010101" pitchFamily="49" charset="-122"/>
                            </a:rPr>
                            <m:t>+</m:t>
                          </m:r>
                          <m:r>
                            <a:rPr kumimoji="1" lang="zh-CN" altLang="en-US" sz="2800" i="1">
                              <a:latin typeface="Cambria Math" panose="02040503050406030204" charset="0"/>
                              <a:ea typeface="黑体" panose="02010609060101010101" pitchFamily="49" charset="-122"/>
                              <a:cs typeface="黑体" panose="02010609060101010101" pitchFamily="49" charset="-122"/>
                            </a:rPr>
                            <m:t>1</m:t>
                          </m:r>
                        </m:den>
                      </m:f>
                    </m:oMath>
                  </m:oMathPara>
                </a14:m>
                <a:endParaRPr kumimoji="1" lang="zh-CN" altLang="en-US" sz="2800" i="1" dirty="0">
                  <a:latin typeface="Cambria Math" panose="02040503050406030204" charset="0"/>
                  <a:ea typeface="黑体" panose="02010609060101010101" pitchFamily="49" charset="-122"/>
                  <a:cs typeface="黑体" panose="02010609060101010101" pitchFamily="49" charset="-122"/>
                </a:endParaRPr>
              </a:p>
            </p:txBody>
          </p:sp>
        </mc:Choice>
        <mc:Fallback>
          <p:sp>
            <p:nvSpPr>
              <p:cNvPr id="2" name="AutoShape 7"/>
              <p:cNvSpPr>
                <a:spLocks noRot="1" noChangeAspect="1" noMove="1" noResize="1" noEditPoints="1" noAdjustHandles="1" noChangeArrowheads="1" noChangeShapeType="1" noTextEdit="1"/>
              </p:cNvSpPr>
              <p:nvPr/>
            </p:nvSpPr>
            <p:spPr bwMode="auto">
              <a:xfrm>
                <a:off x="7167763" y="1125415"/>
                <a:ext cx="2242052" cy="1379539"/>
              </a:xfrm>
              <a:prstGeom prst="wedgeRectCallout">
                <a:avLst>
                  <a:gd name="adj1" fmla="val -72764"/>
                  <a:gd name="adj2" fmla="val -6143"/>
                </a:avLst>
              </a:prstGeom>
              <a:blipFill rotWithShape="1">
                <a:blip r:embed="rId6"/>
                <a:stretch>
                  <a:fillRect l="-22766" t="-14" r="17" b="37"/>
                </a:stretch>
              </a:blipFill>
              <a:ln w="12700">
                <a:noFill/>
                <a:miter lim="800000"/>
              </a:ln>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left)">
                                      <p:cBhvr>
                                        <p:cTn id="20" dur="500"/>
                                        <p:tgtEl>
                                          <p:spTgt spid="10"/>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wipe(left)">
                                      <p:cBhvr>
                                        <p:cTn id="23" dur="500"/>
                                        <p:tgtEl>
                                          <p:spTgt spid="21"/>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left)">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left)">
                                      <p:cBhvr>
                                        <p:cTn id="31" dur="5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10" grpId="0" bldLvl="0" animBg="1"/>
      <p:bldP spid="12" grpId="0" bldLvl="0" animBg="1"/>
      <p:bldP spid="13" grpId="0" bldLvl="0" animBg="1"/>
      <p:bldP spid="14" grpId="0" bldLvl="0" animBg="1"/>
      <p:bldP spid="15" grpId="0" bldLvl="0" animBg="1"/>
      <p:bldP spid="21" grpId="0" bldLvl="0" animBg="1"/>
      <p:bldP spid="2" grpId="0" bldLvl="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70815" y="767715"/>
            <a:ext cx="12021185" cy="176403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10540" y="494665"/>
            <a:ext cx="11149330" cy="5612765"/>
            <a:chOff x="838" y="906"/>
            <a:chExt cx="17558" cy="8839"/>
          </a:xfrm>
        </p:grpSpPr>
        <p:sp>
          <p:nvSpPr>
            <p:cNvPr id="9" name="PA-102232"/>
            <p:cNvSpPr/>
            <p:nvPr>
              <p:custDataLst>
                <p:tags r:id="rId1"/>
              </p:custDataLst>
            </p:nvPr>
          </p:nvSpPr>
          <p:spPr>
            <a:xfrm>
              <a:off x="872" y="906"/>
              <a:ext cx="17524" cy="8826"/>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6BB6"/>
                </a:solidFill>
                <a:cs typeface="+mn-ea"/>
                <a:sym typeface="+mn-lt"/>
              </a:endParaRPr>
            </a:p>
          </p:txBody>
        </p:sp>
        <p:grpSp>
          <p:nvGrpSpPr>
            <p:cNvPr id="10" name="组合 9"/>
            <p:cNvGrpSpPr/>
            <p:nvPr/>
          </p:nvGrpSpPr>
          <p:grpSpPr>
            <a:xfrm>
              <a:off x="838" y="9635"/>
              <a:ext cx="17558" cy="110"/>
              <a:chOff x="838" y="9635"/>
              <a:chExt cx="17558" cy="110"/>
            </a:xfrm>
          </p:grpSpPr>
          <p:sp>
            <p:nvSpPr>
              <p:cNvPr id="11" name="Rectangle 1"/>
              <p:cNvSpPr/>
              <p:nvPr/>
            </p:nvSpPr>
            <p:spPr>
              <a:xfrm>
                <a:off x="5321" y="9650"/>
                <a:ext cx="4286" cy="83"/>
              </a:xfrm>
              <a:prstGeom prst="rect">
                <a:avLst/>
              </a:prstGeom>
              <a:solidFill>
                <a:schemeClr val="bg1"/>
              </a:solidFill>
              <a:ln w="3175" cap="flat" cmpd="sng" algn="ctr">
                <a:solidFill>
                  <a:srgbClr val="0492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2" name="Rectangle 1"/>
              <p:cNvSpPr/>
              <p:nvPr/>
            </p:nvSpPr>
            <p:spPr>
              <a:xfrm>
                <a:off x="838" y="9650"/>
                <a:ext cx="4483" cy="83"/>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3" name="Rectangle 1"/>
              <p:cNvSpPr/>
              <p:nvPr/>
            </p:nvSpPr>
            <p:spPr>
              <a:xfrm>
                <a:off x="9602" y="9635"/>
                <a:ext cx="8794" cy="111"/>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sp>
        <p:nvSpPr>
          <p:cNvPr id="2" name="Rectangle 2"/>
          <p:cNvSpPr txBox="1">
            <a:spLocks noChangeArrowheads="1"/>
          </p:cNvSpPr>
          <p:nvPr/>
        </p:nvSpPr>
        <p:spPr>
          <a:xfrm>
            <a:off x="946509" y="739140"/>
            <a:ext cx="3533978" cy="609600"/>
          </a:xfrm>
          <a:prstGeom prst="rect">
            <a:avLst/>
          </a:prstGeom>
          <a:ln w="28575">
            <a:noFill/>
            <a:prstDash val="dashDot"/>
          </a:ln>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eaLnBrk="0" fontAlgn="base" hangingPunct="0">
              <a:lnSpc>
                <a:spcPct val="100000"/>
              </a:lnSpc>
              <a:spcAft>
                <a:spcPct val="0"/>
              </a:spcAft>
              <a:defRPr/>
            </a:pPr>
            <a:r>
              <a:rPr kumimoji="1" lang="zh-CN" altLang="en-US" dirty="0">
                <a:solidFill>
                  <a:srgbClr val="04926A"/>
                </a:solidFill>
                <a:highlight>
                  <a:srgbClr val="FFFF00"/>
                </a:highlight>
                <a:latin typeface="微软雅黑" panose="020B0503020204020204" charset="-122"/>
                <a:ea typeface="微软雅黑" panose="020B0503020204020204" charset="-122"/>
                <a:cs typeface="+mn-cs"/>
              </a:rPr>
              <a:t>偏导数的计算</a:t>
            </a:r>
            <a:endParaRPr kumimoji="1" lang="zh-CN" altLang="en-US" dirty="0">
              <a:solidFill>
                <a:srgbClr val="04926A"/>
              </a:solidFill>
              <a:highlight>
                <a:srgbClr val="FFFF00"/>
              </a:highlight>
              <a:latin typeface="微软雅黑" panose="020B0503020204020204" charset="-122"/>
              <a:ea typeface="微软雅黑" panose="020B0503020204020204" charset="-122"/>
              <a:cs typeface="+mn-cs"/>
            </a:endParaRPr>
          </a:p>
        </p:txBody>
      </p:sp>
      <mc:AlternateContent xmlns:mc="http://schemas.openxmlformats.org/markup-compatibility/2006">
        <mc:Choice xmlns:a14="http://schemas.microsoft.com/office/drawing/2010/main" Requires="a14">
          <p:sp>
            <p:nvSpPr>
              <p:cNvPr id="3" name="Text Box 47"/>
              <p:cNvSpPr txBox="1">
                <a:spLocks noChangeArrowheads="1"/>
              </p:cNvSpPr>
              <p:nvPr/>
            </p:nvSpPr>
            <p:spPr bwMode="auto">
              <a:xfrm>
                <a:off x="1631039" y="4911799"/>
                <a:ext cx="674127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利用一元函数的求导法则</a:t>
                </a:r>
                <a14:m>
                  <m:oMath xmlns:m="http://schemas.openxmlformats.org/officeDocument/2006/math">
                    <m:r>
                      <a:rPr kumimoji="1" lang="zh-CN" altLang="en-US" sz="2800" i="1">
                        <a:latin typeface="Cambria Math" panose="02040503050406030204" charset="0"/>
                        <a:ea typeface="黑体" panose="02010609060101010101" pitchFamily="49" charset="-122"/>
                      </a:rPr>
                      <m:t>,</m:t>
                    </m:r>
                  </m:oMath>
                </a14:m>
                <a:r>
                  <a:rPr lang="zh-CN" altLang="en-US" sz="2800" dirty="0">
                    <a:latin typeface="Times New Roman" panose="02020603050405020304" pitchFamily="18" charset="0"/>
                    <a:cs typeface="Times New Roman" panose="02020603050405020304" pitchFamily="18" charset="0"/>
                  </a:rPr>
                  <a:t> 求其导数即可</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a14:m>
                <a:endParaRPr lang="zh-CN" altLang="en-US" sz="2800" dirty="0">
                  <a:latin typeface="Times New Roman" panose="02020603050405020304" pitchFamily="18" charset="0"/>
                  <a:cs typeface="Times New Roman" panose="02020603050405020304" pitchFamily="18" charset="0"/>
                </a:endParaRPr>
              </a:p>
            </p:txBody>
          </p:sp>
        </mc:Choice>
        <mc:Fallback>
          <p:sp>
            <p:nvSpPr>
              <p:cNvPr id="3" name="Text Box 47"/>
              <p:cNvSpPr txBox="1">
                <a:spLocks noRot="1" noChangeAspect="1" noMove="1" noResize="1" noEditPoints="1" noAdjustHandles="1" noChangeArrowheads="1" noChangeShapeType="1" noTextEdit="1"/>
              </p:cNvSpPr>
              <p:nvPr/>
            </p:nvSpPr>
            <p:spPr bwMode="auto">
              <a:xfrm>
                <a:off x="1631039" y="4911799"/>
                <a:ext cx="6741277" cy="523220"/>
              </a:xfrm>
              <a:prstGeom prst="rect">
                <a:avLst/>
              </a:prstGeom>
              <a:blipFill rotWithShape="1">
                <a:blip r:embed="rId2"/>
                <a:stretch>
                  <a:fillRect l="-5" t="-14" r="7" b="1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对象 1"/>
              <p:cNvSpPr txBox="1"/>
              <p:nvPr/>
            </p:nvSpPr>
            <p:spPr>
              <a:xfrm>
                <a:off x="1631039" y="3495971"/>
                <a:ext cx="7048505" cy="457200"/>
              </a:xfrm>
              <a:prstGeom prst="rect">
                <a:avLst/>
              </a:prstGeom>
            </p:spPr>
            <p:txBody>
              <a:bodyPr>
                <a:noAutofit/>
              </a:bodyPr>
              <a:lstStyle/>
              <a:p>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计算</m:t>
                      </m:r>
                      <m:sSub>
                        <m:sSubPr>
                          <m:ctrlPr>
                            <a:rPr kumimoji="1" lang="zh-CN" altLang="en-US" sz="2800" i="1">
                              <a:solidFill>
                                <a:schemeClr val="tx1">
                                  <a:lumMod val="95000"/>
                                  <a:lumOff val="5000"/>
                                </a:schemeClr>
                              </a:solidFill>
                              <a:highlight>
                                <a:srgbClr val="FFFF00"/>
                              </a:highlight>
                              <a:latin typeface="Cambria Math" panose="02040503050406030204" charset="0"/>
                              <a:ea typeface="黑体" panose="02010609060101010101" pitchFamily="49" charset="-122"/>
                            </a:rPr>
                          </m:ctrlPr>
                        </m:sSubPr>
                        <m:e>
                          <m:r>
                            <a:rPr kumimoji="1" lang="zh-CN" altLang="en-US" sz="2800">
                              <a:solidFill>
                                <a:schemeClr val="tx1">
                                  <a:lumMod val="95000"/>
                                  <a:lumOff val="5000"/>
                                </a:schemeClr>
                              </a:solidFill>
                              <a:highlight>
                                <a:srgbClr val="FFFF00"/>
                              </a:highlight>
                              <a:latin typeface="Cambria Math" panose="02040503050406030204" charset="0"/>
                              <a:ea typeface="黑体" panose="02010609060101010101" pitchFamily="49" charset="-122"/>
                            </a:rPr>
                            <m:t>𝑓</m:t>
                          </m:r>
                        </m:e>
                        <m:sub>
                          <m:r>
                            <a:rPr kumimoji="1" lang="zh-CN" altLang="en-US" sz="2800">
                              <a:solidFill>
                                <a:schemeClr val="tx1">
                                  <a:lumMod val="95000"/>
                                  <a:lumOff val="5000"/>
                                </a:schemeClr>
                              </a:solidFill>
                              <a:highlight>
                                <a:srgbClr val="FFFF00"/>
                              </a:highlight>
                              <a:latin typeface="Cambria Math" panose="02040503050406030204" charset="0"/>
                              <a:ea typeface="黑体" panose="02010609060101010101" pitchFamily="49" charset="-122"/>
                            </a:rPr>
                            <m:t>𝑥</m:t>
                          </m:r>
                        </m:sub>
                      </m:sSub>
                      <m:r>
                        <a:rPr kumimoji="1" lang="zh-CN" altLang="en-US" sz="2800">
                          <a:solidFill>
                            <a:schemeClr val="tx1">
                              <a:lumMod val="95000"/>
                              <a:lumOff val="5000"/>
                            </a:schemeClr>
                          </a:solidFill>
                          <a:highlight>
                            <a:srgbClr val="FFFF00"/>
                          </a:highlight>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highlight>
                            <a:srgbClr val="FFFF00"/>
                          </a:highlight>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highlight>
                            <a:srgbClr val="FFFF00"/>
                          </a:highlight>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highlight>
                            <a:srgbClr val="FFFF00"/>
                          </a:highlight>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highlight>
                            <a:srgbClr val="FFFF00"/>
                          </a:highlight>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时</m:t>
                      </m:r>
                      <m:r>
                        <a:rPr kumimoji="1" lang="zh-CN" altLang="en-US" sz="2800" i="1">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把</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中的</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看做常数</m:t>
                      </m:r>
                      <m:r>
                        <a:rPr kumimoji="1" lang="zh-CN" altLang="en-US" sz="2800" i="1">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4" name="对象 1"/>
              <p:cNvSpPr txBox="1">
                <a:spLocks noRot="1" noChangeAspect="1" noMove="1" noResize="1" noEditPoints="1" noAdjustHandles="1" noChangeArrowheads="1" noChangeShapeType="1" noTextEdit="1"/>
              </p:cNvSpPr>
              <p:nvPr/>
            </p:nvSpPr>
            <p:spPr>
              <a:xfrm>
                <a:off x="1631039" y="3495971"/>
                <a:ext cx="7048505" cy="457200"/>
              </a:xfrm>
              <a:prstGeom prst="rect">
                <a:avLst/>
              </a:prstGeom>
              <a:blipFill rotWithShape="1">
                <a:blip r:embed="rId3"/>
                <a:stretch>
                  <a:fillRect l="-5" t="-65" r="5" b="-13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对象 3"/>
              <p:cNvSpPr txBox="1"/>
              <p:nvPr/>
            </p:nvSpPr>
            <p:spPr>
              <a:xfrm>
                <a:off x="1631040" y="4215454"/>
                <a:ext cx="7048504" cy="508000"/>
              </a:xfrm>
              <a:prstGeom prst="rect">
                <a:avLst/>
              </a:prstGeom>
            </p:spPr>
            <p:txBody>
              <a:bodyPr>
                <a:noAutofit/>
              </a:bodyPr>
              <a:lstStyle/>
              <a:p>
                <a14:m>
                  <m:oMathPara xmlns:m="http://schemas.openxmlformats.org/officeDocument/2006/math">
                    <m:oMathParaPr>
                      <m:jc m:val="left"/>
                    </m:oMathParaPr>
                    <m:oMath xmlns:m="http://schemas.openxmlformats.org/officeDocument/2006/math">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计算</m:t>
                      </m:r>
                      <m:sSub>
                        <m:sSubPr>
                          <m:ctrlPr>
                            <a:rPr kumimoji="1" lang="zh-CN" altLang="en-US" sz="2800" i="1">
                              <a:solidFill>
                                <a:schemeClr val="tx1">
                                  <a:lumMod val="95000"/>
                                  <a:lumOff val="5000"/>
                                </a:schemeClr>
                              </a:solidFill>
                              <a:highlight>
                                <a:srgbClr val="FFFF00"/>
                              </a:highlight>
                              <a:latin typeface="Cambria Math" panose="02040503050406030204" charset="0"/>
                              <a:ea typeface="黑体" panose="02010609060101010101" pitchFamily="49" charset="-122"/>
                            </a:rPr>
                          </m:ctrlPr>
                        </m:sSubPr>
                        <m:e>
                          <m:r>
                            <a:rPr kumimoji="1" lang="zh-CN" altLang="en-US" sz="2800">
                              <a:solidFill>
                                <a:schemeClr val="tx1">
                                  <a:lumMod val="95000"/>
                                  <a:lumOff val="5000"/>
                                </a:schemeClr>
                              </a:solidFill>
                              <a:highlight>
                                <a:srgbClr val="FFFF00"/>
                              </a:highlight>
                              <a:latin typeface="Cambria Math" panose="02040503050406030204" charset="0"/>
                              <a:ea typeface="黑体" panose="02010609060101010101" pitchFamily="49" charset="-122"/>
                            </a:rPr>
                            <m:t>𝑓</m:t>
                          </m:r>
                        </m:e>
                        <m:sub>
                          <m:r>
                            <a:rPr kumimoji="1" lang="zh-CN" altLang="en-US" sz="2800">
                              <a:solidFill>
                                <a:schemeClr val="tx1">
                                  <a:lumMod val="95000"/>
                                  <a:lumOff val="5000"/>
                                </a:schemeClr>
                              </a:solidFill>
                              <a:highlight>
                                <a:srgbClr val="FFFF00"/>
                              </a:highlight>
                              <a:latin typeface="Cambria Math" panose="02040503050406030204" charset="0"/>
                              <a:ea typeface="黑体" panose="02010609060101010101" pitchFamily="49" charset="-122"/>
                            </a:rPr>
                            <m:t>𝑦</m:t>
                          </m:r>
                        </m:sub>
                      </m:sSub>
                      <m:d>
                        <m:dPr>
                          <m:ctrlPr>
                            <a:rPr kumimoji="1" lang="zh-CN" altLang="en-US" sz="2800" i="1">
                              <a:solidFill>
                                <a:schemeClr val="tx1">
                                  <a:lumMod val="95000"/>
                                  <a:lumOff val="5000"/>
                                </a:schemeClr>
                              </a:solidFill>
                              <a:highlight>
                                <a:srgbClr val="FFFF00"/>
                              </a:highlight>
                              <a:latin typeface="Cambria Math" panose="02040503050406030204" charset="0"/>
                              <a:ea typeface="黑体" panose="02010609060101010101" pitchFamily="49" charset="-122"/>
                            </a:rPr>
                          </m:ctrlPr>
                        </m:dPr>
                        <m:e>
                          <m:r>
                            <a:rPr kumimoji="1" lang="zh-CN" altLang="en-US" sz="2800">
                              <a:solidFill>
                                <a:schemeClr val="tx1">
                                  <a:lumMod val="95000"/>
                                  <a:lumOff val="5000"/>
                                </a:schemeClr>
                              </a:solidFill>
                              <a:highlight>
                                <a:srgbClr val="FFFF00"/>
                              </a:highlight>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highlight>
                                <a:srgbClr val="FFFF00"/>
                              </a:highlight>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highlight>
                                <a:srgbClr val="FFFF00"/>
                              </a:highlight>
                              <a:latin typeface="Cambria Math" panose="02040503050406030204" charset="0"/>
                              <a:ea typeface="黑体" panose="02010609060101010101" pitchFamily="49" charset="-122"/>
                            </a:rPr>
                            <m:t>𝑦</m:t>
                          </m:r>
                        </m:e>
                      </m:d>
                      <m:r>
                        <a:rPr kumimoji="1" lang="zh-CN" altLang="en-US" sz="2800">
                          <a:solidFill>
                            <a:schemeClr val="tx1">
                              <a:lumMod val="95000"/>
                              <a:lumOff val="5000"/>
                            </a:schemeClr>
                          </a:solidFill>
                          <a:latin typeface="Cambria Math" panose="02040503050406030204" charset="0"/>
                          <a:ea typeface="黑体" panose="02010609060101010101" pitchFamily="49" charset="-122"/>
                        </a:rPr>
                        <m:t>时</m:t>
                      </m:r>
                      <m:r>
                        <a:rPr kumimoji="1" lang="zh-CN" altLang="en-US" sz="2800" i="1">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把</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中的</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看做常数</m:t>
                      </m:r>
                      <m:r>
                        <a:rPr kumimoji="1" lang="zh-CN" altLang="en-US" sz="2800" i="1">
                          <a:latin typeface="Cambria Math" panose="02040503050406030204" charset="0"/>
                          <a:ea typeface="黑体" panose="02010609060101010101" pitchFamily="49" charset="-122"/>
                        </a:rPr>
                        <m:t>,</m:t>
                      </m:r>
                    </m:oMath>
                  </m:oMathPara>
                </a14:m>
                <a:endParaRPr kumimoji="1" lang="zh-CN" altLang="en-US" sz="2800" b="1"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5" name="对象 3"/>
              <p:cNvSpPr txBox="1">
                <a:spLocks noRot="1" noChangeAspect="1" noMove="1" noResize="1" noEditPoints="1" noAdjustHandles="1" noChangeArrowheads="1" noChangeShapeType="1" noTextEdit="1"/>
              </p:cNvSpPr>
              <p:nvPr/>
            </p:nvSpPr>
            <p:spPr>
              <a:xfrm>
                <a:off x="1631040" y="4215454"/>
                <a:ext cx="7048504" cy="508000"/>
              </a:xfrm>
              <a:prstGeom prst="rect">
                <a:avLst/>
              </a:prstGeom>
              <a:blipFill rotWithShape="1">
                <a:blip r:embed="rId4"/>
                <a:stretch>
                  <a:fillRect l="-5" t="-64" r="5" b="6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对象 4"/>
              <p:cNvSpPr txBox="1"/>
              <p:nvPr/>
            </p:nvSpPr>
            <p:spPr>
              <a:xfrm>
                <a:off x="1141095" y="1359535"/>
                <a:ext cx="9420225" cy="1238885"/>
              </a:xfrm>
              <a:prstGeom prst="rect">
                <a:avLst/>
              </a:prstGeom>
            </p:spPr>
            <p:txBody>
              <a:bodyPr>
                <a:noAutofit/>
              </a:bodyPr>
              <a:lstStyle/>
              <a:p>
                <a:pPr>
                  <a:lnSpc>
                    <a:spcPct val="150000"/>
                  </a:lnSpc>
                </a:pPr>
                <a14:m>
                  <m:oMathPara xmlns:m="http://schemas.openxmlformats.org/officeDocument/2006/math">
                    <m:oMathParaPr>
                      <m:jc m:val="left"/>
                    </m:oMathParaPr>
                    <m:oMath xmlns:m="http://schemas.openxmlformats.org/officeDocument/2006/math">
                      <m:d>
                        <m:dPr>
                          <m:ctrlPr>
                            <a:rPr kumimoji="1" lang="zh-CN" altLang="en-US" sz="2800" i="1" smtClean="0">
                              <a:solidFill>
                                <a:schemeClr val="tx1">
                                  <a:lumMod val="95000"/>
                                  <a:lumOff val="5000"/>
                                </a:schemeClr>
                              </a:solidFill>
                              <a:latin typeface="Cambria Math" panose="02040503050406030204" charset="0"/>
                              <a:ea typeface="黑体" panose="02010609060101010101" pitchFamily="49" charset="-122"/>
                            </a:rPr>
                          </m:ctrlPr>
                        </m:dPr>
                        <m:e>
                          <m:r>
                            <a:rPr kumimoji="1" lang="zh-CN" altLang="en-US" sz="2800">
                              <a:solidFill>
                                <a:schemeClr val="tx1">
                                  <a:lumMod val="95000"/>
                                  <a:lumOff val="5000"/>
                                </a:schemeClr>
                              </a:solidFill>
                              <a:latin typeface="Cambria Math" panose="02040503050406030204" charset="0"/>
                              <a:ea typeface="黑体" panose="02010609060101010101" pitchFamily="49" charset="-122"/>
                            </a:rPr>
                            <m:t>1</m:t>
                          </m:r>
                        </m:e>
                      </m:d>
                      <m:r>
                        <a:rPr kumimoji="1" lang="en-US" altLang="zh-CN" sz="28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charset="0"/>
                          <a:ea typeface="黑体" panose="02010609060101010101" pitchFamily="49" charset="-122"/>
                        </a:rPr>
                        <m:t>多元函数</m:t>
                      </m:r>
                      <m:r>
                        <a:rPr kumimoji="1" lang="zh-CN" altLang="en-US" sz="2800" i="1">
                          <a:latin typeface="Cambria Math" panose="02040503050406030204" charset="0"/>
                          <a:ea typeface="黑体" panose="02010609060101010101" pitchFamily="49" charset="-122"/>
                        </a:rPr>
                        <m:t>,</m:t>
                      </m:r>
                      <m:r>
                        <a:rPr kumimoji="1" lang="en-US" altLang="zh-CN" sz="2800" b="0" i="0" smtClean="0">
                          <a:latin typeface="Cambria Math" panose="02040503050406030204"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charset="0"/>
                          <a:ea typeface="黑体" panose="02010609060101010101" pitchFamily="49" charset="-122"/>
                        </a:rPr>
                        <m:t>对其中一个变量求偏导时</m:t>
                      </m:r>
                      <m:r>
                        <a:rPr kumimoji="1" lang="zh-CN" altLang="en-US" sz="2800" i="1">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只需把其余变量</m:t>
                      </m:r>
                    </m:oMath>
                    <m:oMath xmlns:m="http://schemas.openxmlformats.org/officeDocument/2006/math">
                      <m:d>
                        <m:dPr>
                          <m:ctrlPr>
                            <a:rPr kumimoji="1" lang="zh-CN" altLang="en-US" sz="2800" i="1" smtClean="0">
                              <a:solidFill>
                                <a:schemeClr val="bg1"/>
                              </a:solidFill>
                              <a:latin typeface="Cambria Math" panose="02040503050406030204" charset="0"/>
                              <a:ea typeface="黑体" panose="02010609060101010101" pitchFamily="49" charset="-122"/>
                            </a:rPr>
                          </m:ctrlPr>
                        </m:dPr>
                        <m:e>
                          <m:r>
                            <a:rPr kumimoji="1" lang="zh-CN" altLang="en-US" sz="2800">
                              <a:solidFill>
                                <a:schemeClr val="bg1"/>
                              </a:solidFill>
                              <a:latin typeface="Cambria Math" panose="02040503050406030204" charset="0"/>
                              <a:ea typeface="黑体" panose="02010609060101010101" pitchFamily="49" charset="-122"/>
                            </a:rPr>
                            <m:t>1</m:t>
                          </m:r>
                        </m:e>
                      </m:d>
                      <m:r>
                        <a:rPr kumimoji="1" lang="en-US" altLang="zh-CN" sz="2800" b="0" i="0" smtClean="0">
                          <a:solidFill>
                            <a:schemeClr val="bg1"/>
                          </a:solidFill>
                          <a:latin typeface="Cambria Math" panose="02040503050406030204"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charset="0"/>
                          <a:ea typeface="黑体" panose="02010609060101010101" pitchFamily="49" charset="-122"/>
                        </a:rPr>
                        <m:t>视为常数</m:t>
                      </m:r>
                      <m:r>
                        <a:rPr kumimoji="1" lang="zh-CN" altLang="en-US" sz="2800" i="1">
                          <a:latin typeface="Cambria Math" panose="02040503050406030204" charset="0"/>
                          <a:ea typeface="黑体" panose="02010609060101010101" pitchFamily="49" charset="-122"/>
                        </a:rPr>
                        <m:t>,</m:t>
                      </m:r>
                      <m:r>
                        <a:rPr kumimoji="1" lang="en-US" altLang="zh-CN" sz="2800" b="0" i="0" smtClean="0">
                          <a:latin typeface="Cambria Math" panose="02040503050406030204"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charset="0"/>
                          <a:ea typeface="黑体" panose="02010609060101010101" pitchFamily="49" charset="-122"/>
                        </a:rPr>
                        <m:t>按照一元函数的求导法则求导即可</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6" name="对象 4"/>
              <p:cNvSpPr txBox="1">
                <a:spLocks noRot="1" noChangeAspect="1" noMove="1" noResize="1" noEditPoints="1" noAdjustHandles="1" noChangeArrowheads="1" noChangeShapeType="1" noTextEdit="1"/>
              </p:cNvSpPr>
              <p:nvPr/>
            </p:nvSpPr>
            <p:spPr>
              <a:xfrm>
                <a:off x="1141095" y="1359535"/>
                <a:ext cx="9420225" cy="1238885"/>
              </a:xfrm>
              <a:prstGeom prst="rect">
                <a:avLst/>
              </a:prstGeom>
              <a:blipFill rotWithShape="1">
                <a:blip r:embed="rId5"/>
                <a:stretch>
                  <a:fillRect b="-1230"/>
                </a:stretch>
              </a:blipFill>
            </p:spPr>
            <p:txBody>
              <a:bodyPr/>
              <a:lstStyle/>
              <a:p>
                <a:r>
                  <a:rPr lang="zh-CN" altLang="en-US">
                    <a:noFill/>
                  </a:rPr>
                  <a:t> </a:t>
                </a:r>
              </a:p>
            </p:txBody>
          </p:sp>
        </mc:Fallback>
      </mc:AlternateContent>
      <p:grpSp>
        <p:nvGrpSpPr>
          <p:cNvPr id="14" name="组合 13"/>
          <p:cNvGrpSpPr/>
          <p:nvPr/>
        </p:nvGrpSpPr>
        <p:grpSpPr>
          <a:xfrm>
            <a:off x="668999" y="3401606"/>
            <a:ext cx="962025" cy="448945"/>
            <a:chOff x="1553" y="3803"/>
            <a:chExt cx="1515" cy="707"/>
          </a:xfrm>
        </p:grpSpPr>
        <p:sp>
          <p:nvSpPr>
            <p:cNvPr id="15" name="圆角矩形 57"/>
            <p:cNvSpPr/>
            <p:nvPr/>
          </p:nvSpPr>
          <p:spPr>
            <a:xfrm>
              <a:off x="1553" y="3803"/>
              <a:ext cx="1417" cy="707"/>
            </a:xfrm>
            <a:prstGeom prst="roundRect">
              <a:avLst/>
            </a:prstGeom>
            <a:solidFill>
              <a:srgbClr val="049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微软雅黑" panose="020B0503020204020204" charset="-122"/>
                <a:ea typeface="微软雅黑" panose="020B0503020204020204" charset="-122"/>
              </a:endParaRPr>
            </a:p>
          </p:txBody>
        </p:sp>
        <p:sp>
          <p:nvSpPr>
            <p:cNvPr id="16" name="Text Box 28"/>
            <p:cNvSpPr txBox="1">
              <a:spLocks noChangeArrowheads="1"/>
            </p:cNvSpPr>
            <p:nvPr/>
          </p:nvSpPr>
          <p:spPr bwMode="auto">
            <a:xfrm>
              <a:off x="1630" y="3804"/>
              <a:ext cx="1438" cy="6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bIns="0">
              <a:spAutoFit/>
            </a:bodyPr>
            <a:lstStyle>
              <a:lvl1pPr>
                <a:lnSpc>
                  <a:spcPct val="85000"/>
                </a:lnSpc>
                <a:defRPr kumimoji="1" sz="2800" b="1">
                  <a:solidFill>
                    <a:schemeClr val="tx2"/>
                  </a:solidFill>
                  <a:latin typeface="Times New Roman" panose="02020603050405020304" pitchFamily="18" charset="0"/>
                  <a:ea typeface="楷体_GB2312" pitchFamily="49" charset="-122"/>
                </a:defRPr>
              </a:lvl1pPr>
              <a:lvl2pPr marL="742950" indent="-285750">
                <a:lnSpc>
                  <a:spcPct val="85000"/>
                </a:lnSpc>
                <a:defRPr kumimoji="1" sz="2800" b="1">
                  <a:solidFill>
                    <a:schemeClr val="tx2"/>
                  </a:solidFill>
                  <a:latin typeface="Times New Roman" panose="02020603050405020304" pitchFamily="18" charset="0"/>
                  <a:ea typeface="楷体_GB2312" pitchFamily="49" charset="-122"/>
                </a:defRPr>
              </a:lvl2pPr>
              <a:lvl3pPr marL="1143000" indent="-228600">
                <a:lnSpc>
                  <a:spcPct val="85000"/>
                </a:lnSpc>
                <a:defRPr kumimoji="1" sz="2800" b="1">
                  <a:solidFill>
                    <a:schemeClr val="tx2"/>
                  </a:solidFill>
                  <a:latin typeface="Times New Roman" panose="02020603050405020304" pitchFamily="18" charset="0"/>
                  <a:ea typeface="楷体_GB2312" pitchFamily="49" charset="-122"/>
                </a:defRPr>
              </a:lvl3pPr>
              <a:lvl4pPr marL="1600200" indent="-228600">
                <a:lnSpc>
                  <a:spcPct val="85000"/>
                </a:lnSpc>
                <a:defRPr kumimoji="1" sz="2800" b="1">
                  <a:solidFill>
                    <a:schemeClr val="tx2"/>
                  </a:solidFill>
                  <a:latin typeface="Times New Roman" panose="02020603050405020304" pitchFamily="18" charset="0"/>
                  <a:ea typeface="楷体_GB2312" pitchFamily="49" charset="-122"/>
                </a:defRPr>
              </a:lvl4pPr>
              <a:lvl5pPr marL="2057400" indent="-228600">
                <a:lnSpc>
                  <a:spcPct val="85000"/>
                </a:lnSpc>
                <a:defRPr kumimoji="1" sz="2800" b="1">
                  <a:solidFill>
                    <a:schemeClr val="tx2"/>
                  </a:solidFill>
                  <a:latin typeface="Times New Roman" panose="02020603050405020304" pitchFamily="18" charset="0"/>
                  <a:ea typeface="楷体_GB2312" pitchFamily="49" charset="-122"/>
                </a:defRPr>
              </a:lvl5pPr>
              <a:lvl6pPr marL="25146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6pPr>
              <a:lvl7pPr marL="29718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7pPr>
              <a:lvl8pPr marL="34290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8pPr>
              <a:lvl9pPr marL="38862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50000"/>
                </a:spcBef>
                <a:spcAft>
                  <a:spcPct val="0"/>
                </a:spcAft>
                <a:buClrTx/>
                <a:buSzTx/>
                <a:defRPr/>
              </a:pPr>
              <a:r>
                <a:rPr kumimoji="1" lang="zh-CN" altLang="en-US"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例如</a:t>
              </a:r>
              <a:r>
                <a:rPr lang="en-US" altLang="zh-CN" kern="0" dirty="0">
                  <a:solidFill>
                    <a:schemeClr val="bg1"/>
                  </a:solidFill>
                  <a:latin typeface="微软雅黑" panose="020B0503020204020204" charset="-122"/>
                  <a:ea typeface="微软雅黑" panose="020B0503020204020204" charset="-122"/>
                  <a:cs typeface="微软雅黑" panose="020B0503020204020204" charset="-122"/>
                </a:rPr>
                <a:t>,</a:t>
              </a:r>
              <a:endParaRPr kumimoji="1" lang="zh-CN" altLang="en-US"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ldLvl="0" animBg="1"/>
      <p:bldP spid="4" grpId="0"/>
      <p:bldP spid="5" grpId="0"/>
      <p:bldP spid="6"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10540" y="494665"/>
            <a:ext cx="11149330" cy="5612765"/>
            <a:chOff x="838" y="906"/>
            <a:chExt cx="17558" cy="8839"/>
          </a:xfrm>
        </p:grpSpPr>
        <p:sp>
          <p:nvSpPr>
            <p:cNvPr id="9" name="PA-102232"/>
            <p:cNvSpPr/>
            <p:nvPr>
              <p:custDataLst>
                <p:tags r:id="rId1"/>
              </p:custDataLst>
            </p:nvPr>
          </p:nvSpPr>
          <p:spPr>
            <a:xfrm>
              <a:off x="872" y="906"/>
              <a:ext cx="17524" cy="8826"/>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006BB6"/>
                </a:solidFill>
                <a:cs typeface="+mn-ea"/>
                <a:sym typeface="+mn-lt"/>
              </a:endParaRPr>
            </a:p>
          </p:txBody>
        </p:sp>
        <p:grpSp>
          <p:nvGrpSpPr>
            <p:cNvPr id="10" name="组合 9"/>
            <p:cNvGrpSpPr/>
            <p:nvPr/>
          </p:nvGrpSpPr>
          <p:grpSpPr>
            <a:xfrm>
              <a:off x="838" y="9635"/>
              <a:ext cx="17558" cy="110"/>
              <a:chOff x="838" y="9635"/>
              <a:chExt cx="17558" cy="110"/>
            </a:xfrm>
          </p:grpSpPr>
          <p:sp>
            <p:nvSpPr>
              <p:cNvPr id="11" name="Rectangle 1"/>
              <p:cNvSpPr/>
              <p:nvPr/>
            </p:nvSpPr>
            <p:spPr>
              <a:xfrm>
                <a:off x="5321" y="9650"/>
                <a:ext cx="4286" cy="83"/>
              </a:xfrm>
              <a:prstGeom prst="rect">
                <a:avLst/>
              </a:prstGeom>
              <a:solidFill>
                <a:schemeClr val="bg1"/>
              </a:solidFill>
              <a:ln w="3175" cap="flat" cmpd="sng" algn="ctr">
                <a:solidFill>
                  <a:srgbClr val="0492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2" name="Rectangle 1"/>
              <p:cNvSpPr/>
              <p:nvPr/>
            </p:nvSpPr>
            <p:spPr>
              <a:xfrm>
                <a:off x="838" y="9650"/>
                <a:ext cx="4483" cy="83"/>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3" name="Rectangle 1"/>
              <p:cNvSpPr/>
              <p:nvPr/>
            </p:nvSpPr>
            <p:spPr>
              <a:xfrm>
                <a:off x="9602" y="9635"/>
                <a:ext cx="8794" cy="111"/>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mc:AlternateContent xmlns:mc="http://schemas.openxmlformats.org/markup-compatibility/2006">
        <mc:Choice xmlns:a14="http://schemas.microsoft.com/office/drawing/2010/main" Requires="a14">
          <p:sp>
            <p:nvSpPr>
              <p:cNvPr id="14" name="对象 8"/>
              <p:cNvSpPr txBox="1"/>
              <p:nvPr/>
            </p:nvSpPr>
            <p:spPr>
              <a:xfrm>
                <a:off x="2306418" y="2509393"/>
                <a:ext cx="7541396" cy="811293"/>
              </a:xfrm>
              <a:prstGeom prst="rect">
                <a:avLst/>
              </a:prstGeom>
            </p:spPr>
            <p:txBody>
              <a:bodyPr>
                <a:noAutofit/>
              </a:bodyPr>
              <a:lstStyle/>
              <a:p>
                <a14:m>
                  <m:oMathPara xmlns:m="http://schemas.openxmlformats.org/officeDocument/2006/math">
                    <m:oMathParaPr>
                      <m:jc m:val="left"/>
                    </m:oMathParaPr>
                    <m:oMath xmlns:m="http://schemas.openxmlformats.org/officeDocument/2006/math">
                      <m:r>
                        <a:rPr kumimoji="1" lang="zh-CN" altLang="en-US" sz="2800" i="1" smtClean="0">
                          <a:latin typeface="Cambria Math" panose="02040503050406030204" charset="0"/>
                          <a:ea typeface="黑体" panose="02010609060101010101" pitchFamily="49" charset="-122"/>
                          <a:cs typeface="Cambria Math" panose="02040503050406030204" charset="0"/>
                        </a:rPr>
                        <m:t>设</m:t>
                      </m:r>
                      <m:r>
                        <a:rPr kumimoji="1" lang="en-US" altLang="zh-CN" sz="2800" b="0" i="1" smtClean="0">
                          <a:latin typeface="Cambria Math" panose="02040503050406030204" charset="0"/>
                          <a:ea typeface="黑体" panose="02010609060101010101" pitchFamily="49" charset="-122"/>
                          <a:cs typeface="Cambria Math" panose="02040503050406030204" charset="0"/>
                        </a:rPr>
                        <m:t> </m:t>
                      </m:r>
                      <m:r>
                        <a:rPr kumimoji="1" lang="zh-CN" altLang="en-US" sz="2800" i="1" smtClean="0">
                          <a:latin typeface="Cambria Math" panose="02040503050406030204" charset="0"/>
                          <a:ea typeface="黑体" panose="02010609060101010101" pitchFamily="49" charset="-122"/>
                          <a:cs typeface="Cambria Math" panose="02040503050406030204" charset="0"/>
                        </a:rPr>
                        <m:t>𝑓</m:t>
                      </m:r>
                      <m:d>
                        <m:dPr>
                          <m:ctrlPr>
                            <a:rPr kumimoji="1" lang="zh-CN" altLang="en-US" sz="2800" i="1">
                              <a:latin typeface="Cambria Math" panose="02040503050406030204" charset="0"/>
                              <a:ea typeface="黑体" panose="02010609060101010101" pitchFamily="49" charset="-122"/>
                              <a:cs typeface="Cambria Math" panose="02040503050406030204" charset="0"/>
                            </a:rPr>
                          </m:ctrlPr>
                        </m:dPr>
                        <m:e>
                          <m:r>
                            <a:rPr kumimoji="1" lang="zh-CN" altLang="en-US" sz="2800" i="1">
                              <a:latin typeface="Cambria Math" panose="02040503050406030204" charset="0"/>
                              <a:ea typeface="黑体" panose="02010609060101010101" pitchFamily="49" charset="-122"/>
                              <a:cs typeface="Cambria Math" panose="02040503050406030204" charset="0"/>
                            </a:rPr>
                            <m:t>𝑥</m:t>
                          </m:r>
                          <m:r>
                            <a:rPr kumimoji="1" lang="zh-CN" altLang="en-US" sz="2800" i="1">
                              <a:latin typeface="Cambria Math" panose="02040503050406030204" charset="0"/>
                              <a:ea typeface="黑体" panose="02010609060101010101" pitchFamily="49" charset="-122"/>
                              <a:cs typeface="Cambria Math" panose="02040503050406030204" charset="0"/>
                            </a:rPr>
                            <m:t>, </m:t>
                          </m:r>
                          <m:r>
                            <a:rPr kumimoji="1" lang="zh-CN" altLang="en-US" sz="2800" i="1">
                              <a:latin typeface="Cambria Math" panose="02040503050406030204" charset="0"/>
                              <a:ea typeface="黑体" panose="02010609060101010101" pitchFamily="49" charset="-122"/>
                              <a:cs typeface="Cambria Math" panose="02040503050406030204" charset="0"/>
                            </a:rPr>
                            <m:t>𝑦</m:t>
                          </m:r>
                        </m:e>
                      </m:d>
                      <m:r>
                        <a:rPr kumimoji="1" lang="zh-CN" altLang="en-US" sz="2800" i="1">
                          <a:latin typeface="Cambria Math" panose="02040503050406030204" charset="0"/>
                          <a:ea typeface="黑体" panose="02010609060101010101" pitchFamily="49" charset="-122"/>
                          <a:cs typeface="Cambria Math" panose="02040503050406030204" charset="0"/>
                        </a:rPr>
                        <m:t>=</m:t>
                      </m:r>
                      <m:rad>
                        <m:radPr>
                          <m:degHide m:val="on"/>
                          <m:ctrlPr>
                            <a:rPr kumimoji="1" lang="zh-CN" altLang="en-US" sz="2800" i="1">
                              <a:latin typeface="Cambria Math" panose="02040503050406030204" charset="0"/>
                              <a:ea typeface="黑体" panose="02010609060101010101" pitchFamily="49" charset="-122"/>
                              <a:cs typeface="Cambria Math" panose="02040503050406030204" charset="0"/>
                            </a:rPr>
                          </m:ctrlPr>
                        </m:radPr>
                        <m:deg/>
                        <m:e>
                          <m:d>
                            <m:dPr>
                              <m:begChr m:val="|"/>
                              <m:endChr m:val="|"/>
                              <m:ctrlPr>
                                <a:rPr kumimoji="1" lang="zh-CN" altLang="en-US" sz="2800" i="1">
                                  <a:latin typeface="Cambria Math" panose="02040503050406030204" charset="0"/>
                                  <a:ea typeface="黑体" panose="02010609060101010101" pitchFamily="49" charset="-122"/>
                                  <a:cs typeface="Cambria Math" panose="02040503050406030204" charset="0"/>
                                </a:rPr>
                              </m:ctrlPr>
                            </m:dPr>
                            <m:e>
                              <m:r>
                                <a:rPr kumimoji="1" lang="zh-CN" altLang="en-US" sz="2800" i="1">
                                  <a:latin typeface="Cambria Math" panose="02040503050406030204" charset="0"/>
                                  <a:ea typeface="黑体" panose="02010609060101010101" pitchFamily="49" charset="-122"/>
                                  <a:cs typeface="Cambria Math" panose="02040503050406030204" charset="0"/>
                                </a:rPr>
                                <m:t>𝑥𝑦</m:t>
                              </m:r>
                            </m:e>
                          </m:d>
                        </m:e>
                      </m:rad>
                      <m:r>
                        <a:rPr kumimoji="1" lang="zh-CN" altLang="en-US" sz="2800" i="1">
                          <a:latin typeface="Cambria Math" panose="02040503050406030204" charset="0"/>
                          <a:ea typeface="黑体" panose="02010609060101010101" pitchFamily="49" charset="-122"/>
                          <a:cs typeface="Cambria Math" panose="02040503050406030204" charset="0"/>
                        </a:rPr>
                        <m:t>,</m:t>
                      </m:r>
                      <m:r>
                        <a:rPr kumimoji="1" lang="en-US" altLang="zh-CN" sz="2800" b="0" i="1" smtClean="0">
                          <a:latin typeface="Cambria Math" panose="02040503050406030204" charset="0"/>
                          <a:ea typeface="黑体" panose="02010609060101010101" pitchFamily="49" charset="-122"/>
                          <a:cs typeface="Cambria Math" panose="02040503050406030204" charset="0"/>
                        </a:rPr>
                        <m:t> </m:t>
                      </m:r>
                      <m:r>
                        <a:rPr kumimoji="1" lang="zh-CN" altLang="en-US" sz="2800" i="1">
                          <a:latin typeface="Cambria Math" panose="02040503050406030204" charset="0"/>
                          <a:ea typeface="黑体" panose="02010609060101010101" pitchFamily="49" charset="-122"/>
                          <a:cs typeface="Cambria Math" panose="02040503050406030204" charset="0"/>
                        </a:rPr>
                        <m:t>求</m:t>
                      </m:r>
                      <m:r>
                        <a:rPr kumimoji="1" lang="en-US" altLang="zh-CN" sz="2800" b="0" i="1" smtClean="0">
                          <a:latin typeface="Cambria Math" panose="02040503050406030204" charset="0"/>
                          <a:ea typeface="黑体" panose="02010609060101010101" pitchFamily="49" charset="-122"/>
                          <a:cs typeface="Cambria Math" panose="02040503050406030204" charset="0"/>
                        </a:rPr>
                        <m:t> </m:t>
                      </m:r>
                      <m:sSub>
                        <m:sSubPr>
                          <m:ctrlPr>
                            <a:rPr kumimoji="1" lang="zh-CN" altLang="en-US" sz="2800" i="1">
                              <a:latin typeface="Cambria Math" panose="02040503050406030204" charset="0"/>
                              <a:ea typeface="黑体" panose="02010609060101010101" pitchFamily="49" charset="-122"/>
                              <a:cs typeface="Cambria Math" panose="02040503050406030204" charset="0"/>
                            </a:rPr>
                          </m:ctrlPr>
                        </m:sSubPr>
                        <m:e>
                          <m:r>
                            <a:rPr kumimoji="1" lang="zh-CN" altLang="en-US" sz="2800" i="1">
                              <a:latin typeface="Cambria Math" panose="02040503050406030204" charset="0"/>
                              <a:ea typeface="黑体" panose="02010609060101010101" pitchFamily="49" charset="-122"/>
                              <a:cs typeface="Cambria Math" panose="02040503050406030204" charset="0"/>
                            </a:rPr>
                            <m:t>𝑓</m:t>
                          </m:r>
                        </m:e>
                        <m:sub>
                          <m:r>
                            <a:rPr kumimoji="1" lang="zh-CN" altLang="en-US" sz="2800" i="1">
                              <a:latin typeface="Cambria Math" panose="02040503050406030204" charset="0"/>
                              <a:ea typeface="黑体" panose="02010609060101010101" pitchFamily="49" charset="-122"/>
                              <a:cs typeface="Cambria Math" panose="02040503050406030204" charset="0"/>
                            </a:rPr>
                            <m:t>𝑥</m:t>
                          </m:r>
                        </m:sub>
                      </m:sSub>
                      <m:d>
                        <m:dPr>
                          <m:ctrlPr>
                            <a:rPr kumimoji="1" lang="zh-CN" altLang="en-US" sz="2800" i="1">
                              <a:latin typeface="Cambria Math" panose="02040503050406030204" charset="0"/>
                              <a:ea typeface="黑体" panose="02010609060101010101" pitchFamily="49" charset="-122"/>
                              <a:cs typeface="Cambria Math" panose="02040503050406030204" charset="0"/>
                            </a:rPr>
                          </m:ctrlPr>
                        </m:dPr>
                        <m:e>
                          <m:r>
                            <a:rPr kumimoji="1" lang="zh-CN" altLang="en-US" sz="2800" i="1">
                              <a:latin typeface="Cambria Math" panose="02040503050406030204" charset="0"/>
                              <a:ea typeface="黑体" panose="02010609060101010101" pitchFamily="49" charset="-122"/>
                              <a:cs typeface="Cambria Math" panose="02040503050406030204" charset="0"/>
                            </a:rPr>
                            <m:t>0</m:t>
                          </m:r>
                          <m:r>
                            <a:rPr kumimoji="1" lang="zh-CN" altLang="en-US" sz="2800" i="1">
                              <a:latin typeface="Cambria Math" panose="02040503050406030204" charset="0"/>
                              <a:ea typeface="黑体" panose="02010609060101010101" pitchFamily="49" charset="-122"/>
                              <a:cs typeface="Cambria Math" panose="02040503050406030204" charset="0"/>
                            </a:rPr>
                            <m:t>,</m:t>
                          </m:r>
                          <m:r>
                            <a:rPr kumimoji="1" lang="zh-CN" altLang="en-US" sz="2800" i="1">
                              <a:latin typeface="Cambria Math" panose="02040503050406030204" charset="0"/>
                              <a:ea typeface="黑体" panose="02010609060101010101" pitchFamily="49" charset="-122"/>
                              <a:cs typeface="Cambria Math" panose="02040503050406030204" charset="0"/>
                            </a:rPr>
                            <m:t>0</m:t>
                          </m:r>
                        </m:e>
                      </m:d>
                      <m:r>
                        <a:rPr kumimoji="1" lang="zh-CN" altLang="en-US" sz="2800" i="1">
                          <a:latin typeface="Cambria Math" panose="02040503050406030204" charset="0"/>
                          <a:ea typeface="黑体" panose="02010609060101010101" pitchFamily="49" charset="-122"/>
                          <a:cs typeface="Cambria Math" panose="02040503050406030204" charset="0"/>
                        </a:rPr>
                        <m:t>,</m:t>
                      </m:r>
                      <m:sSub>
                        <m:sSubPr>
                          <m:ctrlPr>
                            <a:rPr kumimoji="1" lang="zh-CN" altLang="en-US" sz="2800" i="1">
                              <a:latin typeface="Cambria Math" panose="02040503050406030204" charset="0"/>
                              <a:ea typeface="黑体" panose="02010609060101010101" pitchFamily="49" charset="-122"/>
                              <a:cs typeface="Cambria Math" panose="02040503050406030204" charset="0"/>
                            </a:rPr>
                          </m:ctrlPr>
                        </m:sSubPr>
                        <m:e>
                          <m:r>
                            <a:rPr kumimoji="1" lang="zh-CN" altLang="en-US" sz="2800" i="1">
                              <a:latin typeface="Cambria Math" panose="02040503050406030204" charset="0"/>
                              <a:ea typeface="黑体" panose="02010609060101010101" pitchFamily="49" charset="-122"/>
                              <a:cs typeface="Cambria Math" panose="02040503050406030204" charset="0"/>
                            </a:rPr>
                            <m:t>𝑓</m:t>
                          </m:r>
                        </m:e>
                        <m:sub>
                          <m:r>
                            <a:rPr kumimoji="1" lang="zh-CN" altLang="en-US" sz="2800" i="1">
                              <a:latin typeface="Cambria Math" panose="02040503050406030204" charset="0"/>
                              <a:ea typeface="黑体" panose="02010609060101010101" pitchFamily="49" charset="-122"/>
                              <a:cs typeface="Cambria Math" panose="02040503050406030204" charset="0"/>
                            </a:rPr>
                            <m:t>𝑦</m:t>
                          </m:r>
                        </m:sub>
                      </m:sSub>
                      <m:d>
                        <m:dPr>
                          <m:ctrlPr>
                            <a:rPr kumimoji="1" lang="zh-CN" altLang="en-US" sz="2800" i="1">
                              <a:latin typeface="Cambria Math" panose="02040503050406030204" charset="0"/>
                              <a:ea typeface="黑体" panose="02010609060101010101" pitchFamily="49" charset="-122"/>
                              <a:cs typeface="Cambria Math" panose="02040503050406030204" charset="0"/>
                            </a:rPr>
                          </m:ctrlPr>
                        </m:dPr>
                        <m:e>
                          <m:r>
                            <a:rPr kumimoji="1" lang="zh-CN" altLang="en-US" sz="2800" i="1">
                              <a:latin typeface="Cambria Math" panose="02040503050406030204" charset="0"/>
                              <a:ea typeface="黑体" panose="02010609060101010101" pitchFamily="49" charset="-122"/>
                              <a:cs typeface="Cambria Math" panose="02040503050406030204" charset="0"/>
                            </a:rPr>
                            <m:t>0</m:t>
                          </m:r>
                          <m:r>
                            <a:rPr kumimoji="1" lang="zh-CN" altLang="en-US" sz="2800" i="1">
                              <a:latin typeface="Cambria Math" panose="02040503050406030204" charset="0"/>
                              <a:ea typeface="黑体" panose="02010609060101010101" pitchFamily="49" charset="-122"/>
                              <a:cs typeface="Cambria Math" panose="02040503050406030204" charset="0"/>
                            </a:rPr>
                            <m:t>,</m:t>
                          </m:r>
                          <m:r>
                            <a:rPr kumimoji="1" lang="zh-CN" altLang="en-US" sz="2800" i="1" smtClean="0">
                              <a:latin typeface="Cambria Math" panose="02040503050406030204" charset="0"/>
                              <a:ea typeface="黑体" panose="02010609060101010101" pitchFamily="49" charset="-122"/>
                              <a:cs typeface="Cambria Math" panose="02040503050406030204" charset="0"/>
                            </a:rPr>
                            <m:t> </m:t>
                          </m:r>
                          <m:r>
                            <a:rPr kumimoji="1" lang="zh-CN" altLang="en-US" sz="2800" i="1">
                              <a:latin typeface="Cambria Math" panose="02040503050406030204" charset="0"/>
                              <a:ea typeface="黑体" panose="02010609060101010101" pitchFamily="49" charset="-122"/>
                              <a:cs typeface="Cambria Math" panose="02040503050406030204" charset="0"/>
                            </a:rPr>
                            <m:t>0</m:t>
                          </m:r>
                        </m:e>
                      </m:d>
                      <m:r>
                        <a:rPr kumimoji="1" lang="zh-CN" altLang="en-US" sz="2800" i="1">
                          <a:latin typeface="Cambria Math" panose="02040503050406030204" charset="0"/>
                          <a:ea typeface="黑体" panose="02010609060101010101" pitchFamily="49" charset="-122"/>
                          <a:cs typeface="Cambria Math" panose="02040503050406030204" charset="0"/>
                        </a:rPr>
                        <m:t>.</m:t>
                      </m:r>
                    </m:oMath>
                  </m:oMathPara>
                </a14:m>
                <a:endParaRPr kumimoji="1" lang="zh-CN" altLang="en-US" sz="2800" i="1" dirty="0">
                  <a:latin typeface="Cambria Math" panose="02040503050406030204" charset="0"/>
                  <a:ea typeface="黑体" panose="02010609060101010101" pitchFamily="49" charset="-122"/>
                  <a:cs typeface="Cambria Math" panose="02040503050406030204" charset="0"/>
                </a:endParaRPr>
              </a:p>
            </p:txBody>
          </p:sp>
        </mc:Choice>
        <mc:Fallback>
          <p:sp>
            <p:nvSpPr>
              <p:cNvPr id="14" name="对象 8"/>
              <p:cNvSpPr txBox="1">
                <a:spLocks noRot="1" noChangeAspect="1" noMove="1" noResize="1" noEditPoints="1" noAdjustHandles="1" noChangeArrowheads="1" noChangeShapeType="1" noTextEdit="1"/>
              </p:cNvSpPr>
              <p:nvPr/>
            </p:nvSpPr>
            <p:spPr>
              <a:xfrm>
                <a:off x="2306418" y="2509393"/>
                <a:ext cx="7541396" cy="811293"/>
              </a:xfrm>
              <a:prstGeom prst="rect">
                <a:avLst/>
              </a:prstGeom>
              <a:blipFill rotWithShape="1">
                <a:blip r:embed="rId2"/>
                <a:stretch>
                  <a:fillRect l="-1" t="-63" r="3" b="3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对象 10"/>
              <p:cNvSpPr txBox="1"/>
              <p:nvPr/>
            </p:nvSpPr>
            <p:spPr>
              <a:xfrm>
                <a:off x="2351515" y="3308505"/>
                <a:ext cx="4395815" cy="1166929"/>
              </a:xfrm>
              <a:prstGeom prst="rect">
                <a:avLst/>
              </a:prstGeom>
            </p:spPr>
            <p:txBody>
              <a:bodyPr>
                <a:normAutofit/>
              </a:bodyPr>
              <a:lstStyle/>
              <a:p>
                <a14:m>
                  <m:oMathPara xmlns:m="http://schemas.openxmlformats.org/officeDocument/2006/math">
                    <m:oMathParaPr>
                      <m:jc m:val="left"/>
                    </m:oMathParaPr>
                    <m:oMath xmlns:m="http://schemas.openxmlformats.org/officeDocument/2006/math">
                      <m:sSub>
                        <m:sSubPr>
                          <m:ctrlPr>
                            <a:rPr kumimoji="1" lang="zh-CN" altLang="en-US" sz="2800" i="1">
                              <a:latin typeface="Cambria Math" panose="02040503050406030204" charset="0"/>
                              <a:ea typeface="黑体" panose="02010609060101010101" pitchFamily="49" charset="-122"/>
                              <a:cs typeface="Cambria Math" panose="02040503050406030204" charset="0"/>
                            </a:rPr>
                          </m:ctrlPr>
                        </m:sSubPr>
                        <m:e>
                          <m:r>
                            <a:rPr kumimoji="1" lang="zh-CN" altLang="en-US" sz="2800" i="1">
                              <a:latin typeface="Cambria Math" panose="02040503050406030204" charset="0"/>
                              <a:ea typeface="黑体" panose="02010609060101010101" pitchFamily="49" charset="-122"/>
                              <a:cs typeface="Cambria Math" panose="02040503050406030204" charset="0"/>
                            </a:rPr>
                            <m:t>𝑓</m:t>
                          </m:r>
                        </m:e>
                        <m:sub>
                          <m:r>
                            <a:rPr kumimoji="1" lang="zh-CN" altLang="en-US" sz="2800" i="1">
                              <a:latin typeface="Cambria Math" panose="02040503050406030204" charset="0"/>
                              <a:ea typeface="黑体" panose="02010609060101010101" pitchFamily="49" charset="-122"/>
                              <a:cs typeface="Cambria Math" panose="02040503050406030204" charset="0"/>
                            </a:rPr>
                            <m:t>𝑥</m:t>
                          </m:r>
                        </m:sub>
                      </m:sSub>
                      <m:r>
                        <a:rPr kumimoji="1" lang="zh-CN" altLang="en-US" sz="2800" i="1">
                          <a:latin typeface="Cambria Math" panose="02040503050406030204" charset="0"/>
                          <a:ea typeface="黑体" panose="02010609060101010101" pitchFamily="49" charset="-122"/>
                          <a:cs typeface="Cambria Math" panose="02040503050406030204" charset="0"/>
                        </a:rPr>
                        <m:t>(</m:t>
                      </m:r>
                      <m:r>
                        <a:rPr kumimoji="1" lang="zh-CN" altLang="en-US" sz="2800" i="1">
                          <a:latin typeface="Cambria Math" panose="02040503050406030204" charset="0"/>
                          <a:ea typeface="黑体" panose="02010609060101010101" pitchFamily="49" charset="-122"/>
                          <a:cs typeface="Cambria Math" panose="02040503050406030204" charset="0"/>
                        </a:rPr>
                        <m:t>0</m:t>
                      </m:r>
                      <m:r>
                        <a:rPr kumimoji="1" lang="zh-CN" altLang="en-US" sz="2800" i="1">
                          <a:latin typeface="Cambria Math" panose="02040503050406030204" charset="0"/>
                          <a:ea typeface="黑体" panose="02010609060101010101" pitchFamily="49" charset="-122"/>
                          <a:cs typeface="Cambria Math" panose="02040503050406030204" charset="0"/>
                        </a:rPr>
                        <m:t>,</m:t>
                      </m:r>
                      <m:r>
                        <a:rPr kumimoji="1" lang="zh-CN" altLang="en-US" sz="2800" i="1">
                          <a:latin typeface="Cambria Math" panose="02040503050406030204" charset="0"/>
                          <a:ea typeface="黑体" panose="02010609060101010101" pitchFamily="49" charset="-122"/>
                          <a:cs typeface="Cambria Math" panose="02040503050406030204" charset="0"/>
                        </a:rPr>
                        <m:t>0</m:t>
                      </m:r>
                      <m:r>
                        <a:rPr kumimoji="1" lang="zh-CN" altLang="en-US" sz="2800" i="1">
                          <a:latin typeface="Cambria Math" panose="02040503050406030204" charset="0"/>
                          <a:ea typeface="黑体" panose="02010609060101010101" pitchFamily="49" charset="-122"/>
                          <a:cs typeface="Cambria Math" panose="02040503050406030204" charset="0"/>
                        </a:rPr>
                        <m:t>)=</m:t>
                      </m:r>
                      <m:func>
                        <m:funcPr>
                          <m:ctrlPr>
                            <a:rPr kumimoji="1" lang="zh-CN" altLang="en-US" sz="2800" i="1">
                              <a:latin typeface="Cambria Math" panose="02040503050406030204" charset="0"/>
                              <a:ea typeface="黑体" panose="02010609060101010101" pitchFamily="49" charset="-122"/>
                              <a:cs typeface="Cambria Math" panose="02040503050406030204" charset="0"/>
                            </a:rPr>
                          </m:ctrlPr>
                        </m:funcPr>
                        <m:fName>
                          <m:limLow>
                            <m:limLowPr>
                              <m:ctrlPr>
                                <a:rPr kumimoji="1" lang="zh-CN" altLang="en-US" sz="2800" i="1">
                                  <a:latin typeface="Cambria Math" panose="02040503050406030204" charset="0"/>
                                  <a:ea typeface="黑体" panose="02010609060101010101" pitchFamily="49" charset="-122"/>
                                  <a:cs typeface="Cambria Math" panose="02040503050406030204" charset="0"/>
                                </a:rPr>
                              </m:ctrlPr>
                            </m:limLowPr>
                            <m:e>
                              <m:r>
                                <m:rPr>
                                  <m:sty m:val="p"/>
                                </m:rPr>
                                <a:rPr kumimoji="1" lang="zh-CN" altLang="en-US" sz="2800" i="1">
                                  <a:latin typeface="Cambria Math" panose="02040503050406030204" charset="0"/>
                                  <a:ea typeface="黑体" panose="02010609060101010101" pitchFamily="49" charset="-122"/>
                                  <a:cs typeface="Cambria Math" panose="02040503050406030204" charset="0"/>
                                </a:rPr>
                                <m:t>lim</m:t>
                              </m:r>
                            </m:e>
                            <m:lim>
                              <m:r>
                                <a:rPr kumimoji="1" lang="zh-CN" altLang="en-US" sz="2800" i="1">
                                  <a:latin typeface="Cambria Math" panose="02040503050406030204" charset="0"/>
                                  <a:ea typeface="黑体" panose="02010609060101010101" pitchFamily="49" charset="-122"/>
                                  <a:cs typeface="Cambria Math" panose="02040503050406030204" charset="0"/>
                                </a:rPr>
                                <m:t>𝑥</m:t>
                              </m:r>
                              <m:r>
                                <a:rPr kumimoji="1" lang="zh-CN" altLang="en-US" sz="2800" i="1">
                                  <a:latin typeface="Cambria Math" panose="02040503050406030204" charset="0"/>
                                  <a:ea typeface="黑体" panose="02010609060101010101" pitchFamily="49" charset="-122"/>
                                  <a:cs typeface="Cambria Math" panose="02040503050406030204" charset="0"/>
                                </a:rPr>
                                <m:t>→</m:t>
                              </m:r>
                              <m:r>
                                <a:rPr kumimoji="1" lang="zh-CN" altLang="en-US" sz="2800" i="1">
                                  <a:latin typeface="Cambria Math" panose="02040503050406030204" charset="0"/>
                                  <a:ea typeface="黑体" panose="02010609060101010101" pitchFamily="49" charset="-122"/>
                                  <a:cs typeface="Cambria Math" panose="02040503050406030204" charset="0"/>
                                </a:rPr>
                                <m:t>0</m:t>
                              </m:r>
                            </m:lim>
                          </m:limLow>
                        </m:fName>
                        <m:e>
                          <m:f>
                            <m:fPr>
                              <m:ctrlPr>
                                <a:rPr kumimoji="1" lang="zh-CN" altLang="en-US" sz="2800" i="1">
                                  <a:latin typeface="Cambria Math" panose="02040503050406030204" charset="0"/>
                                  <a:ea typeface="黑体" panose="02010609060101010101" pitchFamily="49" charset="-122"/>
                                  <a:cs typeface="Cambria Math" panose="02040503050406030204" charset="0"/>
                                </a:rPr>
                              </m:ctrlPr>
                            </m:fPr>
                            <m:num>
                              <m:rad>
                                <m:radPr>
                                  <m:degHide m:val="on"/>
                                  <m:ctrlPr>
                                    <a:rPr kumimoji="1" lang="zh-CN" altLang="en-US" sz="2800" i="1">
                                      <a:latin typeface="Cambria Math" panose="02040503050406030204" charset="0"/>
                                      <a:ea typeface="黑体" panose="02010609060101010101" pitchFamily="49" charset="-122"/>
                                      <a:cs typeface="Cambria Math" panose="02040503050406030204" charset="0"/>
                                    </a:rPr>
                                  </m:ctrlPr>
                                </m:radPr>
                                <m:deg/>
                                <m:e>
                                  <m:r>
                                    <a:rPr kumimoji="1" lang="zh-CN" altLang="en-US" sz="2800" i="1">
                                      <a:latin typeface="Cambria Math" panose="02040503050406030204" charset="0"/>
                                      <a:ea typeface="黑体" panose="02010609060101010101" pitchFamily="49" charset="-122"/>
                                      <a:cs typeface="Cambria Math" panose="02040503050406030204" charset="0"/>
                                    </a:rPr>
                                    <m:t>|</m:t>
                                  </m:r>
                                  <m:r>
                                    <a:rPr kumimoji="1" lang="zh-CN" altLang="en-US" sz="2800" i="1">
                                      <a:latin typeface="Cambria Math" panose="02040503050406030204" charset="0"/>
                                      <a:ea typeface="黑体" panose="02010609060101010101" pitchFamily="49" charset="-122"/>
                                      <a:cs typeface="Cambria Math" panose="02040503050406030204" charset="0"/>
                                    </a:rPr>
                                    <m:t>𝑥</m:t>
                                  </m:r>
                                  <m:r>
                                    <a:rPr kumimoji="1" lang="zh-CN" altLang="en-US" sz="2800" i="1">
                                      <a:latin typeface="Cambria Math" panose="02040503050406030204" charset="0"/>
                                      <a:ea typeface="黑体" panose="02010609060101010101" pitchFamily="49" charset="-122"/>
                                      <a:cs typeface="Cambria Math" panose="02040503050406030204" charset="0"/>
                                    </a:rPr>
                                    <m:t>⋅</m:t>
                                  </m:r>
                                  <m:r>
                                    <a:rPr kumimoji="1" lang="zh-CN" altLang="en-US" sz="2800" i="1">
                                      <a:latin typeface="Cambria Math" panose="02040503050406030204" charset="0"/>
                                      <a:ea typeface="黑体" panose="02010609060101010101" pitchFamily="49" charset="-122"/>
                                      <a:cs typeface="Cambria Math" panose="02040503050406030204" charset="0"/>
                                    </a:rPr>
                                    <m:t>0</m:t>
                                  </m:r>
                                  <m:r>
                                    <a:rPr kumimoji="1" lang="zh-CN" altLang="en-US" sz="2800" i="1">
                                      <a:latin typeface="Cambria Math" panose="02040503050406030204" charset="0"/>
                                      <a:ea typeface="黑体" panose="02010609060101010101" pitchFamily="49" charset="-122"/>
                                      <a:cs typeface="Cambria Math" panose="02040503050406030204" charset="0"/>
                                    </a:rPr>
                                    <m:t>|</m:t>
                                  </m:r>
                                </m:e>
                              </m:rad>
                              <m:r>
                                <a:rPr kumimoji="1" lang="zh-CN" altLang="en-US" sz="2800" i="1">
                                  <a:latin typeface="Cambria Math" panose="02040503050406030204" charset="0"/>
                                  <a:ea typeface="黑体" panose="02010609060101010101" pitchFamily="49" charset="-122"/>
                                  <a:cs typeface="Cambria Math" panose="02040503050406030204" charset="0"/>
                                </a:rPr>
                                <m:t>−</m:t>
                              </m:r>
                              <m:r>
                                <a:rPr kumimoji="1" lang="zh-CN" altLang="en-US" sz="2800" i="1">
                                  <a:latin typeface="Cambria Math" panose="02040503050406030204" charset="0"/>
                                  <a:ea typeface="黑体" panose="02010609060101010101" pitchFamily="49" charset="-122"/>
                                  <a:cs typeface="Cambria Math" panose="02040503050406030204" charset="0"/>
                                </a:rPr>
                                <m:t>0</m:t>
                              </m:r>
                            </m:num>
                            <m:den>
                              <m:r>
                                <a:rPr kumimoji="1" lang="zh-CN" altLang="en-US" sz="2800" i="1">
                                  <a:latin typeface="Cambria Math" panose="02040503050406030204" charset="0"/>
                                  <a:ea typeface="黑体" panose="02010609060101010101" pitchFamily="49" charset="-122"/>
                                  <a:cs typeface="Cambria Math" panose="02040503050406030204" charset="0"/>
                                </a:rPr>
                                <m:t>𝑥</m:t>
                              </m:r>
                            </m:den>
                          </m:f>
                        </m:e>
                      </m:func>
                    </m:oMath>
                  </m:oMathPara>
                </a14:m>
                <a:endParaRPr kumimoji="1" lang="zh-CN" altLang="en-US" sz="2800" i="1" dirty="0">
                  <a:latin typeface="Cambria Math" panose="02040503050406030204" charset="0"/>
                  <a:ea typeface="黑体" panose="02010609060101010101" pitchFamily="49" charset="-122"/>
                  <a:cs typeface="Cambria Math" panose="02040503050406030204" charset="0"/>
                </a:endParaRPr>
              </a:p>
            </p:txBody>
          </p:sp>
        </mc:Choice>
        <mc:Fallback>
          <p:sp>
            <p:nvSpPr>
              <p:cNvPr id="16" name="对象 10"/>
              <p:cNvSpPr txBox="1">
                <a:spLocks noRot="1" noChangeAspect="1" noMove="1" noResize="1" noEditPoints="1" noAdjustHandles="1" noChangeArrowheads="1" noChangeShapeType="1" noTextEdit="1"/>
              </p:cNvSpPr>
              <p:nvPr/>
            </p:nvSpPr>
            <p:spPr>
              <a:xfrm>
                <a:off x="2351515" y="3308505"/>
                <a:ext cx="4395815" cy="1166929"/>
              </a:xfrm>
              <a:prstGeom prst="rect">
                <a:avLst/>
              </a:prstGeom>
              <a:blipFill rotWithShape="1">
                <a:blip r:embed="rId3"/>
                <a:stretch>
                  <a:fillRect l="-3" t="-13" r="10" b="5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对象 11"/>
              <p:cNvSpPr txBox="1"/>
              <p:nvPr/>
            </p:nvSpPr>
            <p:spPr>
              <a:xfrm>
                <a:off x="6325737" y="3597581"/>
                <a:ext cx="915294" cy="547347"/>
              </a:xfrm>
              <a:prstGeom prst="rect">
                <a:avLst/>
              </a:prstGeom>
            </p:spPr>
            <p:txBody>
              <a:bodyPr>
                <a:normAutofit/>
              </a:bodyPr>
              <a:lstStyle/>
              <a:p>
                <a14:m>
                  <m:oMathPara xmlns:m="http://schemas.openxmlformats.org/officeDocument/2006/math">
                    <m:oMathParaPr>
                      <m:jc m:val="left"/>
                    </m:oMathParaPr>
                    <m:oMath xmlns:m="http://schemas.openxmlformats.org/officeDocument/2006/math">
                      <m:r>
                        <a:rPr kumimoji="1" lang="zh-CN" altLang="en-US" sz="2800" i="1">
                          <a:latin typeface="Cambria Math" panose="02040503050406030204" charset="0"/>
                          <a:ea typeface="黑体" panose="02010609060101010101" pitchFamily="49" charset="-122"/>
                          <a:cs typeface="Cambria Math" panose="02040503050406030204" charset="0"/>
                        </a:rPr>
                        <m:t>=</m:t>
                      </m:r>
                      <m:r>
                        <a:rPr kumimoji="1" lang="zh-CN" altLang="en-US" sz="2800" i="1">
                          <a:latin typeface="Cambria Math" panose="02040503050406030204" charset="0"/>
                          <a:ea typeface="黑体" panose="02010609060101010101" pitchFamily="49" charset="-122"/>
                          <a:cs typeface="Cambria Math" panose="02040503050406030204" charset="0"/>
                        </a:rPr>
                        <m:t>0</m:t>
                      </m:r>
                      <m:r>
                        <a:rPr kumimoji="1" lang="zh-CN" altLang="en-US" sz="2800" i="1">
                          <a:latin typeface="Cambria Math" panose="02040503050406030204" charset="0"/>
                          <a:ea typeface="黑体" panose="02010609060101010101" pitchFamily="49" charset="-122"/>
                          <a:cs typeface="Cambria Math" panose="02040503050406030204" charset="0"/>
                        </a:rPr>
                        <m:t>,</m:t>
                      </m:r>
                    </m:oMath>
                  </m:oMathPara>
                </a14:m>
                <a:endParaRPr kumimoji="1" lang="zh-CN" altLang="en-US" sz="2800" i="1" dirty="0">
                  <a:latin typeface="Cambria Math" panose="02040503050406030204" charset="0"/>
                  <a:ea typeface="黑体" panose="02010609060101010101" pitchFamily="49" charset="-122"/>
                  <a:cs typeface="Cambria Math" panose="02040503050406030204" charset="0"/>
                </a:endParaRPr>
              </a:p>
            </p:txBody>
          </p:sp>
        </mc:Choice>
        <mc:Fallback>
          <p:sp>
            <p:nvSpPr>
              <p:cNvPr id="17" name="对象 11"/>
              <p:cNvSpPr txBox="1">
                <a:spLocks noRot="1" noChangeAspect="1" noMove="1" noResize="1" noEditPoints="1" noAdjustHandles="1" noChangeArrowheads="1" noChangeShapeType="1" noTextEdit="1"/>
              </p:cNvSpPr>
              <p:nvPr/>
            </p:nvSpPr>
            <p:spPr>
              <a:xfrm>
                <a:off x="6325737" y="3597581"/>
                <a:ext cx="915294" cy="547347"/>
              </a:xfrm>
              <a:prstGeom prst="rect">
                <a:avLst/>
              </a:prstGeom>
              <a:blipFill rotWithShape="1">
                <a:blip r:embed="rId4"/>
                <a:stretch>
                  <a:fillRect l="-55" t="-56" r="14" b="5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对象 13"/>
              <p:cNvSpPr txBox="1"/>
              <p:nvPr/>
            </p:nvSpPr>
            <p:spPr>
              <a:xfrm>
                <a:off x="2351515" y="4447580"/>
                <a:ext cx="4285940" cy="1477300"/>
              </a:xfrm>
              <a:prstGeom prst="rect">
                <a:avLst/>
              </a:prstGeom>
            </p:spPr>
            <p:txBody>
              <a:bodyPr>
                <a:normAutofit/>
              </a:bodyPr>
              <a:lstStyle/>
              <a:p>
                <a14:m>
                  <m:oMathPara xmlns:m="http://schemas.openxmlformats.org/officeDocument/2006/math">
                    <m:oMathParaPr>
                      <m:jc m:val="left"/>
                    </m:oMathParaPr>
                    <m:oMath xmlns:m="http://schemas.openxmlformats.org/officeDocument/2006/math">
                      <m:sSub>
                        <m:sSubPr>
                          <m:ctrlPr>
                            <a:rPr kumimoji="1" lang="zh-CN" altLang="en-US" sz="2800" i="1">
                              <a:latin typeface="Cambria Math" panose="02040503050406030204" charset="0"/>
                              <a:ea typeface="黑体" panose="02010609060101010101" pitchFamily="49" charset="-122"/>
                              <a:cs typeface="Cambria Math" panose="02040503050406030204" charset="0"/>
                            </a:rPr>
                          </m:ctrlPr>
                        </m:sSubPr>
                        <m:e>
                          <m:r>
                            <a:rPr kumimoji="1" lang="zh-CN" altLang="en-US" sz="2800" i="1">
                              <a:latin typeface="Cambria Math" panose="02040503050406030204" charset="0"/>
                              <a:ea typeface="黑体" panose="02010609060101010101" pitchFamily="49" charset="-122"/>
                              <a:cs typeface="Cambria Math" panose="02040503050406030204" charset="0"/>
                            </a:rPr>
                            <m:t>𝑓</m:t>
                          </m:r>
                        </m:e>
                        <m:sub>
                          <m:r>
                            <a:rPr kumimoji="1" lang="zh-CN" altLang="en-US" sz="2800" i="1">
                              <a:latin typeface="Cambria Math" panose="02040503050406030204" charset="0"/>
                              <a:ea typeface="黑体" panose="02010609060101010101" pitchFamily="49" charset="-122"/>
                              <a:cs typeface="Cambria Math" panose="02040503050406030204" charset="0"/>
                            </a:rPr>
                            <m:t>𝑦</m:t>
                          </m:r>
                        </m:sub>
                      </m:sSub>
                      <m:r>
                        <a:rPr kumimoji="1" lang="zh-CN" altLang="en-US" sz="2800" i="1">
                          <a:latin typeface="Cambria Math" panose="02040503050406030204" charset="0"/>
                          <a:ea typeface="黑体" panose="02010609060101010101" pitchFamily="49" charset="-122"/>
                          <a:cs typeface="Cambria Math" panose="02040503050406030204" charset="0"/>
                        </a:rPr>
                        <m:t>(</m:t>
                      </m:r>
                      <m:r>
                        <a:rPr kumimoji="1" lang="zh-CN" altLang="en-US" sz="2800" i="1">
                          <a:latin typeface="Cambria Math" panose="02040503050406030204" charset="0"/>
                          <a:ea typeface="黑体" panose="02010609060101010101" pitchFamily="49" charset="-122"/>
                          <a:cs typeface="Cambria Math" panose="02040503050406030204" charset="0"/>
                        </a:rPr>
                        <m:t>0</m:t>
                      </m:r>
                      <m:r>
                        <a:rPr kumimoji="1" lang="zh-CN" altLang="en-US" sz="2800" i="1">
                          <a:latin typeface="Cambria Math" panose="02040503050406030204" charset="0"/>
                          <a:ea typeface="黑体" panose="02010609060101010101" pitchFamily="49" charset="-122"/>
                          <a:cs typeface="Cambria Math" panose="02040503050406030204" charset="0"/>
                        </a:rPr>
                        <m:t>,</m:t>
                      </m:r>
                      <m:r>
                        <a:rPr kumimoji="1" lang="zh-CN" altLang="en-US" sz="2800" i="1">
                          <a:latin typeface="Cambria Math" panose="02040503050406030204" charset="0"/>
                          <a:ea typeface="黑体" panose="02010609060101010101" pitchFamily="49" charset="-122"/>
                          <a:cs typeface="Cambria Math" panose="02040503050406030204" charset="0"/>
                        </a:rPr>
                        <m:t>0</m:t>
                      </m:r>
                      <m:r>
                        <a:rPr kumimoji="1" lang="zh-CN" altLang="en-US" sz="2800" i="1">
                          <a:latin typeface="Cambria Math" panose="02040503050406030204" charset="0"/>
                          <a:ea typeface="黑体" panose="02010609060101010101" pitchFamily="49" charset="-122"/>
                          <a:cs typeface="Cambria Math" panose="02040503050406030204" charset="0"/>
                        </a:rPr>
                        <m:t>)=</m:t>
                      </m:r>
                      <m:func>
                        <m:funcPr>
                          <m:ctrlPr>
                            <a:rPr kumimoji="1" lang="zh-CN" altLang="en-US" sz="2800" i="1">
                              <a:latin typeface="Cambria Math" panose="02040503050406030204" charset="0"/>
                              <a:ea typeface="黑体" panose="02010609060101010101" pitchFamily="49" charset="-122"/>
                              <a:cs typeface="Cambria Math" panose="02040503050406030204" charset="0"/>
                            </a:rPr>
                          </m:ctrlPr>
                        </m:funcPr>
                        <m:fName>
                          <m:limLow>
                            <m:limLowPr>
                              <m:ctrlPr>
                                <a:rPr kumimoji="1" lang="zh-CN" altLang="en-US" sz="2800" i="1">
                                  <a:latin typeface="Cambria Math" panose="02040503050406030204" charset="0"/>
                                  <a:ea typeface="黑体" panose="02010609060101010101" pitchFamily="49" charset="-122"/>
                                  <a:cs typeface="Cambria Math" panose="02040503050406030204" charset="0"/>
                                </a:rPr>
                              </m:ctrlPr>
                            </m:limLowPr>
                            <m:e>
                              <m:r>
                                <m:rPr>
                                  <m:sty m:val="p"/>
                                </m:rPr>
                                <a:rPr kumimoji="1" lang="zh-CN" altLang="en-US" sz="2800" i="1">
                                  <a:latin typeface="Cambria Math" panose="02040503050406030204" charset="0"/>
                                  <a:ea typeface="黑体" panose="02010609060101010101" pitchFamily="49" charset="-122"/>
                                  <a:cs typeface="Cambria Math" panose="02040503050406030204" charset="0"/>
                                </a:rPr>
                                <m:t>lim</m:t>
                              </m:r>
                            </m:e>
                            <m:lim>
                              <m:r>
                                <a:rPr kumimoji="1" lang="zh-CN" altLang="en-US" sz="2800" i="1">
                                  <a:latin typeface="Cambria Math" panose="02040503050406030204" charset="0"/>
                                  <a:ea typeface="黑体" panose="02010609060101010101" pitchFamily="49" charset="-122"/>
                                  <a:cs typeface="Cambria Math" panose="02040503050406030204" charset="0"/>
                                </a:rPr>
                                <m:t>𝑦</m:t>
                              </m:r>
                              <m:r>
                                <a:rPr kumimoji="1" lang="zh-CN" altLang="en-US" sz="2800" i="1">
                                  <a:latin typeface="Cambria Math" panose="02040503050406030204" charset="0"/>
                                  <a:ea typeface="黑体" panose="02010609060101010101" pitchFamily="49" charset="-122"/>
                                  <a:cs typeface="Cambria Math" panose="02040503050406030204" charset="0"/>
                                </a:rPr>
                                <m:t>→</m:t>
                              </m:r>
                              <m:r>
                                <a:rPr kumimoji="1" lang="zh-CN" altLang="en-US" sz="2800" i="1">
                                  <a:latin typeface="Cambria Math" panose="02040503050406030204" charset="0"/>
                                  <a:ea typeface="黑体" panose="02010609060101010101" pitchFamily="49" charset="-122"/>
                                  <a:cs typeface="Cambria Math" panose="02040503050406030204" charset="0"/>
                                </a:rPr>
                                <m:t>0</m:t>
                              </m:r>
                            </m:lim>
                          </m:limLow>
                        </m:fName>
                        <m:e>
                          <m:f>
                            <m:fPr>
                              <m:ctrlPr>
                                <a:rPr kumimoji="1" lang="zh-CN" altLang="en-US" sz="2800" i="1">
                                  <a:latin typeface="Cambria Math" panose="02040503050406030204" charset="0"/>
                                  <a:ea typeface="黑体" panose="02010609060101010101" pitchFamily="49" charset="-122"/>
                                  <a:cs typeface="Cambria Math" panose="02040503050406030204" charset="0"/>
                                </a:rPr>
                              </m:ctrlPr>
                            </m:fPr>
                            <m:num>
                              <m:rad>
                                <m:radPr>
                                  <m:degHide m:val="on"/>
                                  <m:ctrlPr>
                                    <a:rPr kumimoji="1" lang="zh-CN" altLang="en-US" sz="2800" i="1">
                                      <a:latin typeface="Cambria Math" panose="02040503050406030204" charset="0"/>
                                      <a:ea typeface="黑体" panose="02010609060101010101" pitchFamily="49" charset="-122"/>
                                      <a:cs typeface="Cambria Math" panose="02040503050406030204" charset="0"/>
                                    </a:rPr>
                                  </m:ctrlPr>
                                </m:radPr>
                                <m:deg/>
                                <m:e>
                                  <m:r>
                                    <a:rPr kumimoji="1" lang="zh-CN" altLang="en-US" sz="2800" i="1">
                                      <a:latin typeface="Cambria Math" panose="02040503050406030204" charset="0"/>
                                      <a:ea typeface="黑体" panose="02010609060101010101" pitchFamily="49" charset="-122"/>
                                      <a:cs typeface="Cambria Math" panose="02040503050406030204" charset="0"/>
                                    </a:rPr>
                                    <m:t>|</m:t>
                                  </m:r>
                                  <m:r>
                                    <a:rPr kumimoji="1" lang="zh-CN" altLang="en-US" sz="2800" i="1">
                                      <a:latin typeface="Cambria Math" panose="02040503050406030204" charset="0"/>
                                      <a:ea typeface="黑体" panose="02010609060101010101" pitchFamily="49" charset="-122"/>
                                      <a:cs typeface="Cambria Math" panose="02040503050406030204" charset="0"/>
                                    </a:rPr>
                                    <m:t>0</m:t>
                                  </m:r>
                                  <m:r>
                                    <a:rPr kumimoji="1" lang="zh-CN" altLang="en-US" sz="2800" i="1">
                                      <a:latin typeface="Cambria Math" panose="02040503050406030204" charset="0"/>
                                      <a:ea typeface="黑体" panose="02010609060101010101" pitchFamily="49" charset="-122"/>
                                      <a:cs typeface="Cambria Math" panose="02040503050406030204" charset="0"/>
                                    </a:rPr>
                                    <m:t>⋅</m:t>
                                  </m:r>
                                  <m:r>
                                    <a:rPr kumimoji="1" lang="zh-CN" altLang="en-US" sz="2800" i="1">
                                      <a:latin typeface="Cambria Math" panose="02040503050406030204" charset="0"/>
                                      <a:ea typeface="黑体" panose="02010609060101010101" pitchFamily="49" charset="-122"/>
                                      <a:cs typeface="Cambria Math" panose="02040503050406030204" charset="0"/>
                                    </a:rPr>
                                    <m:t>𝑦</m:t>
                                  </m:r>
                                  <m:r>
                                    <a:rPr kumimoji="1" lang="zh-CN" altLang="en-US" sz="2800" i="1">
                                      <a:latin typeface="Cambria Math" panose="02040503050406030204" charset="0"/>
                                      <a:ea typeface="黑体" panose="02010609060101010101" pitchFamily="49" charset="-122"/>
                                      <a:cs typeface="Cambria Math" panose="02040503050406030204" charset="0"/>
                                    </a:rPr>
                                    <m:t>|</m:t>
                                  </m:r>
                                </m:e>
                              </m:rad>
                              <m:r>
                                <a:rPr kumimoji="1" lang="zh-CN" altLang="en-US" sz="2800" i="1">
                                  <a:latin typeface="Cambria Math" panose="02040503050406030204" charset="0"/>
                                  <a:ea typeface="黑体" panose="02010609060101010101" pitchFamily="49" charset="-122"/>
                                  <a:cs typeface="Cambria Math" panose="02040503050406030204" charset="0"/>
                                </a:rPr>
                                <m:t>−</m:t>
                              </m:r>
                              <m:r>
                                <a:rPr kumimoji="1" lang="zh-CN" altLang="en-US" sz="2800" i="1">
                                  <a:latin typeface="Cambria Math" panose="02040503050406030204" charset="0"/>
                                  <a:ea typeface="黑体" panose="02010609060101010101" pitchFamily="49" charset="-122"/>
                                  <a:cs typeface="Cambria Math" panose="02040503050406030204" charset="0"/>
                                </a:rPr>
                                <m:t>0</m:t>
                              </m:r>
                            </m:num>
                            <m:den>
                              <m:r>
                                <a:rPr kumimoji="1" lang="zh-CN" altLang="en-US" sz="2800" i="1">
                                  <a:latin typeface="Cambria Math" panose="02040503050406030204" charset="0"/>
                                  <a:ea typeface="黑体" panose="02010609060101010101" pitchFamily="49" charset="-122"/>
                                  <a:cs typeface="Cambria Math" panose="02040503050406030204" charset="0"/>
                                </a:rPr>
                                <m:t>𝑦</m:t>
                              </m:r>
                            </m:den>
                          </m:f>
                        </m:e>
                      </m:func>
                    </m:oMath>
                  </m:oMathPara>
                </a14:m>
                <a:endParaRPr kumimoji="1" lang="zh-CN" altLang="en-US" sz="2800" i="1" dirty="0">
                  <a:latin typeface="Cambria Math" panose="02040503050406030204" charset="0"/>
                  <a:ea typeface="黑体" panose="02010609060101010101" pitchFamily="49" charset="-122"/>
                  <a:cs typeface="Cambria Math" panose="02040503050406030204" charset="0"/>
                </a:endParaRPr>
              </a:p>
            </p:txBody>
          </p:sp>
        </mc:Choice>
        <mc:Fallback>
          <p:sp>
            <p:nvSpPr>
              <p:cNvPr id="18" name="对象 13"/>
              <p:cNvSpPr txBox="1">
                <a:spLocks noRot="1" noChangeAspect="1" noMove="1" noResize="1" noEditPoints="1" noAdjustHandles="1" noChangeArrowheads="1" noChangeShapeType="1" noTextEdit="1"/>
              </p:cNvSpPr>
              <p:nvPr/>
            </p:nvSpPr>
            <p:spPr>
              <a:xfrm>
                <a:off x="2351515" y="4447580"/>
                <a:ext cx="4285940" cy="1477300"/>
              </a:xfrm>
              <a:prstGeom prst="rect">
                <a:avLst/>
              </a:prstGeom>
              <a:blipFill rotWithShape="1">
                <a:blip r:embed="rId5"/>
                <a:stretch>
                  <a:fillRect l="-3" t="-3" r="10" b="2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对象 14"/>
              <p:cNvSpPr txBox="1"/>
              <p:nvPr/>
            </p:nvSpPr>
            <p:spPr>
              <a:xfrm>
                <a:off x="6325738" y="4780119"/>
                <a:ext cx="915293" cy="547346"/>
              </a:xfrm>
              <a:prstGeom prst="rect">
                <a:avLst/>
              </a:prstGeom>
            </p:spPr>
            <p:txBody>
              <a:bodyPr>
                <a:normAutofit/>
              </a:bodyPr>
              <a:lstStyle/>
              <a:p>
                <a14:m>
                  <m:oMathPara xmlns:m="http://schemas.openxmlformats.org/officeDocument/2006/math">
                    <m:oMathParaPr>
                      <m:jc m:val="left"/>
                    </m:oMathParaPr>
                    <m:oMath xmlns:m="http://schemas.openxmlformats.org/officeDocument/2006/math">
                      <m:r>
                        <a:rPr kumimoji="1" lang="zh-CN" altLang="en-US" sz="2800" i="1">
                          <a:latin typeface="Cambria Math" panose="02040503050406030204" charset="0"/>
                          <a:ea typeface="黑体" panose="02010609060101010101" pitchFamily="49" charset="-122"/>
                          <a:cs typeface="Cambria Math" panose="02040503050406030204" charset="0"/>
                        </a:rPr>
                        <m:t>=</m:t>
                      </m:r>
                      <m:r>
                        <a:rPr kumimoji="1" lang="zh-CN" altLang="en-US" sz="2800" i="1">
                          <a:latin typeface="Cambria Math" panose="02040503050406030204" charset="0"/>
                          <a:ea typeface="黑体" panose="02010609060101010101" pitchFamily="49" charset="-122"/>
                          <a:cs typeface="Cambria Math" panose="02040503050406030204" charset="0"/>
                        </a:rPr>
                        <m:t>0</m:t>
                      </m:r>
                      <m:r>
                        <a:rPr kumimoji="1" lang="zh-CN" altLang="en-US" sz="2800" i="1">
                          <a:latin typeface="Cambria Math" panose="02040503050406030204" charset="0"/>
                          <a:ea typeface="黑体" panose="02010609060101010101" pitchFamily="49" charset="-122"/>
                          <a:cs typeface="Cambria Math" panose="02040503050406030204" charset="0"/>
                        </a:rPr>
                        <m:t>.</m:t>
                      </m:r>
                    </m:oMath>
                  </m:oMathPara>
                </a14:m>
                <a:endParaRPr kumimoji="1" lang="zh-CN" altLang="en-US" sz="2800" i="1" dirty="0">
                  <a:latin typeface="Cambria Math" panose="02040503050406030204" charset="0"/>
                  <a:ea typeface="黑体" panose="02010609060101010101" pitchFamily="49" charset="-122"/>
                  <a:cs typeface="Cambria Math" panose="02040503050406030204" charset="0"/>
                </a:endParaRPr>
              </a:p>
            </p:txBody>
          </p:sp>
        </mc:Choice>
        <mc:Fallback>
          <p:sp>
            <p:nvSpPr>
              <p:cNvPr id="19" name="对象 14"/>
              <p:cNvSpPr txBox="1">
                <a:spLocks noRot="1" noChangeAspect="1" noMove="1" noResize="1" noEditPoints="1" noAdjustHandles="1" noChangeArrowheads="1" noChangeShapeType="1" noTextEdit="1"/>
              </p:cNvSpPr>
              <p:nvPr/>
            </p:nvSpPr>
            <p:spPr>
              <a:xfrm>
                <a:off x="6325738" y="4780119"/>
                <a:ext cx="915293" cy="547346"/>
              </a:xfrm>
              <a:prstGeom prst="rect">
                <a:avLst/>
              </a:prstGeom>
              <a:blipFill rotWithShape="1">
                <a:blip r:embed="rId6"/>
                <a:stretch>
                  <a:fillRect l="-55" t="-87" r="14" b="8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对象 16"/>
              <p:cNvSpPr txBox="1"/>
              <p:nvPr/>
            </p:nvSpPr>
            <p:spPr>
              <a:xfrm>
                <a:off x="2292034" y="1074421"/>
                <a:ext cx="7950971" cy="523219"/>
              </a:xfrm>
              <a:prstGeom prst="rect">
                <a:avLst/>
              </a:prstGeom>
            </p:spPr>
            <p:txBody>
              <a:bodyPr>
                <a:noAutofit/>
              </a:bodyPr>
              <a:lstStyle/>
              <a:p>
                <a14:m>
                  <m:oMathPara xmlns:m="http://schemas.openxmlformats.org/officeDocument/2006/math">
                    <m:oMathParaPr>
                      <m:jc m:val="left"/>
                    </m:oMathParaPr>
                    <m:oMath xmlns:m="http://schemas.openxmlformats.org/officeDocument/2006/math">
                      <m:d>
                        <m:dPr>
                          <m:ctrlPr>
                            <a:rPr kumimoji="1" lang="zh-CN" altLang="en-US" sz="2800" i="1" smtClean="0">
                              <a:solidFill>
                                <a:schemeClr val="tx1">
                                  <a:lumMod val="95000"/>
                                  <a:lumOff val="5000"/>
                                </a:schemeClr>
                              </a:solidFill>
                              <a:latin typeface="Cambria Math" panose="02040503050406030204" charset="0"/>
                              <a:ea typeface="黑体" panose="02010609060101010101" pitchFamily="49" charset="-122"/>
                            </a:rPr>
                          </m:ctrlPr>
                        </m:dPr>
                        <m:e>
                          <m:r>
                            <a:rPr kumimoji="1" lang="en-US" altLang="zh-CN" sz="2800" b="0" i="0" smtClean="0">
                              <a:solidFill>
                                <a:schemeClr val="tx1">
                                  <a:lumMod val="95000"/>
                                  <a:lumOff val="5000"/>
                                </a:schemeClr>
                              </a:solidFill>
                              <a:latin typeface="Cambria Math" panose="02040503050406030204" charset="0"/>
                              <a:ea typeface="黑体" panose="02010609060101010101" pitchFamily="49" charset="-122"/>
                            </a:rPr>
                            <m:t>2</m:t>
                          </m:r>
                        </m:e>
                      </m:d>
                      <m:r>
                        <a:rPr kumimoji="1" lang="en-US" altLang="zh-CN" sz="28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800">
                          <a:solidFill>
                            <a:schemeClr val="tx1">
                              <a:lumMod val="95000"/>
                              <a:lumOff val="5000"/>
                            </a:schemeClr>
                          </a:solidFill>
                          <a:highlight>
                            <a:srgbClr val="FFFF00"/>
                          </a:highlight>
                          <a:latin typeface="Cambria Math" panose="02040503050406030204" charset="0"/>
                          <a:ea typeface="黑体" panose="02010609060101010101" pitchFamily="49" charset="-122"/>
                        </a:rPr>
                        <m:t>求分界点、不连续点处的偏导数要用定义求</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20" name="对象 16"/>
              <p:cNvSpPr txBox="1">
                <a:spLocks noRot="1" noChangeAspect="1" noMove="1" noResize="1" noEditPoints="1" noAdjustHandles="1" noChangeArrowheads="1" noChangeShapeType="1" noTextEdit="1"/>
              </p:cNvSpPr>
              <p:nvPr/>
            </p:nvSpPr>
            <p:spPr>
              <a:xfrm>
                <a:off x="2292034" y="1074421"/>
                <a:ext cx="7950971" cy="523219"/>
              </a:xfrm>
              <a:prstGeom prst="rect">
                <a:avLst/>
              </a:prstGeom>
              <a:blipFill rotWithShape="1">
                <a:blip r:embed="rId7"/>
                <a:stretch>
                  <a:fillRect l="-4" r="6" b="118"/>
                </a:stretch>
              </a:blipFill>
            </p:spPr>
            <p:txBody>
              <a:bodyPr/>
              <a:lstStyle/>
              <a:p>
                <a:r>
                  <a:rPr lang="zh-CN" altLang="en-US">
                    <a:noFill/>
                  </a:rPr>
                  <a:t> </a:t>
                </a:r>
              </a:p>
            </p:txBody>
          </p:sp>
        </mc:Fallback>
      </mc:AlternateContent>
      <p:grpSp>
        <p:nvGrpSpPr>
          <p:cNvPr id="2" name="组合 1"/>
          <p:cNvGrpSpPr/>
          <p:nvPr/>
        </p:nvGrpSpPr>
        <p:grpSpPr>
          <a:xfrm>
            <a:off x="2420718" y="1851822"/>
            <a:ext cx="962025" cy="448945"/>
            <a:chOff x="1553" y="3803"/>
            <a:chExt cx="1515" cy="707"/>
          </a:xfrm>
        </p:grpSpPr>
        <p:sp>
          <p:nvSpPr>
            <p:cNvPr id="3" name="圆角矩形 57"/>
            <p:cNvSpPr/>
            <p:nvPr/>
          </p:nvSpPr>
          <p:spPr>
            <a:xfrm>
              <a:off x="1553" y="3803"/>
              <a:ext cx="1417" cy="707"/>
            </a:xfrm>
            <a:prstGeom prst="roundRect">
              <a:avLst/>
            </a:prstGeom>
            <a:solidFill>
              <a:srgbClr val="049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微软雅黑" panose="020B0503020204020204" charset="-122"/>
                <a:ea typeface="微软雅黑" panose="020B0503020204020204" charset="-122"/>
              </a:endParaRPr>
            </a:p>
          </p:txBody>
        </p:sp>
        <p:sp>
          <p:nvSpPr>
            <p:cNvPr id="4" name="Text Box 28"/>
            <p:cNvSpPr txBox="1">
              <a:spLocks noChangeArrowheads="1"/>
            </p:cNvSpPr>
            <p:nvPr/>
          </p:nvSpPr>
          <p:spPr bwMode="auto">
            <a:xfrm>
              <a:off x="1630" y="3804"/>
              <a:ext cx="1438" cy="6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bIns="0">
              <a:spAutoFit/>
            </a:bodyPr>
            <a:lstStyle>
              <a:lvl1pPr>
                <a:lnSpc>
                  <a:spcPct val="85000"/>
                </a:lnSpc>
                <a:defRPr kumimoji="1" sz="2800" b="1">
                  <a:solidFill>
                    <a:schemeClr val="tx2"/>
                  </a:solidFill>
                  <a:latin typeface="Times New Roman" panose="02020603050405020304" pitchFamily="18" charset="0"/>
                  <a:ea typeface="楷体_GB2312" pitchFamily="49" charset="-122"/>
                </a:defRPr>
              </a:lvl1pPr>
              <a:lvl2pPr marL="742950" indent="-285750">
                <a:lnSpc>
                  <a:spcPct val="85000"/>
                </a:lnSpc>
                <a:defRPr kumimoji="1" sz="2800" b="1">
                  <a:solidFill>
                    <a:schemeClr val="tx2"/>
                  </a:solidFill>
                  <a:latin typeface="Times New Roman" panose="02020603050405020304" pitchFamily="18" charset="0"/>
                  <a:ea typeface="楷体_GB2312" pitchFamily="49" charset="-122"/>
                </a:defRPr>
              </a:lvl2pPr>
              <a:lvl3pPr marL="1143000" indent="-228600">
                <a:lnSpc>
                  <a:spcPct val="85000"/>
                </a:lnSpc>
                <a:defRPr kumimoji="1" sz="2800" b="1">
                  <a:solidFill>
                    <a:schemeClr val="tx2"/>
                  </a:solidFill>
                  <a:latin typeface="Times New Roman" panose="02020603050405020304" pitchFamily="18" charset="0"/>
                  <a:ea typeface="楷体_GB2312" pitchFamily="49" charset="-122"/>
                </a:defRPr>
              </a:lvl3pPr>
              <a:lvl4pPr marL="1600200" indent="-228600">
                <a:lnSpc>
                  <a:spcPct val="85000"/>
                </a:lnSpc>
                <a:defRPr kumimoji="1" sz="2800" b="1">
                  <a:solidFill>
                    <a:schemeClr val="tx2"/>
                  </a:solidFill>
                  <a:latin typeface="Times New Roman" panose="02020603050405020304" pitchFamily="18" charset="0"/>
                  <a:ea typeface="楷体_GB2312" pitchFamily="49" charset="-122"/>
                </a:defRPr>
              </a:lvl4pPr>
              <a:lvl5pPr marL="2057400" indent="-228600">
                <a:lnSpc>
                  <a:spcPct val="85000"/>
                </a:lnSpc>
                <a:defRPr kumimoji="1" sz="2800" b="1">
                  <a:solidFill>
                    <a:schemeClr val="tx2"/>
                  </a:solidFill>
                  <a:latin typeface="Times New Roman" panose="02020603050405020304" pitchFamily="18" charset="0"/>
                  <a:ea typeface="楷体_GB2312" pitchFamily="49" charset="-122"/>
                </a:defRPr>
              </a:lvl5pPr>
              <a:lvl6pPr marL="25146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6pPr>
              <a:lvl7pPr marL="29718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7pPr>
              <a:lvl8pPr marL="34290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8pPr>
              <a:lvl9pPr marL="38862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50000"/>
                </a:spcBef>
                <a:spcAft>
                  <a:spcPct val="0"/>
                </a:spcAft>
                <a:buClrTx/>
                <a:buSzTx/>
                <a:defRPr/>
              </a:pPr>
              <a:r>
                <a:rPr kumimoji="1" lang="zh-CN" altLang="en-US"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例如</a:t>
              </a:r>
              <a:r>
                <a:rPr lang="en-US" altLang="zh-CN" kern="0" dirty="0">
                  <a:solidFill>
                    <a:schemeClr val="bg1"/>
                  </a:solidFill>
                  <a:latin typeface="微软雅黑" panose="020B0503020204020204" charset="-122"/>
                  <a:ea typeface="微软雅黑" panose="020B0503020204020204" charset="-122"/>
                  <a:cs typeface="微软雅黑" panose="020B0503020204020204" charset="-122"/>
                </a:rPr>
                <a:t>,</a:t>
              </a:r>
              <a:endParaRPr kumimoji="1" lang="zh-CN" altLang="en-US"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7">
                                            <p:txEl>
                                              <p:pRg st="0" end="0"/>
                                            </p:txEl>
                                          </p:spTgt>
                                        </p:tgtEl>
                                        <p:attrNameLst>
                                          <p:attrName>style.visibility</p:attrName>
                                        </p:attrNameLst>
                                      </p:cBhvr>
                                      <p:to>
                                        <p:strVal val="visible"/>
                                      </p:to>
                                    </p:set>
                                    <p:animEffect transition="in" filter="wipe(left)">
                                      <p:cBhvr>
                                        <p:cTn id="27" dur="500"/>
                                        <p:tgtEl>
                                          <p:spTgt spid="17">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wipe(left)">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left)">
                                      <p:cBhvr>
                                        <p:cTn id="3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8" grpId="0"/>
      <p:bldP spid="19" grpId="0"/>
      <p:bldP spid="20"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7" name="矩形 46"/>
              <p:cNvSpPr/>
              <p:nvPr/>
            </p:nvSpPr>
            <p:spPr>
              <a:xfrm>
                <a:off x="687324" y="529052"/>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p:sp>
            <p:nvSpPr>
              <p:cNvPr id="47" name="矩形 46"/>
              <p:cNvSpPr>
                <a:spLocks noRot="1" noChangeAspect="1" noMove="1" noResize="1" noEditPoints="1" noAdjustHandles="1" noChangeArrowheads="1" noChangeShapeType="1" noTextEdit="1"/>
              </p:cNvSpPr>
              <p:nvPr/>
            </p:nvSpPr>
            <p:spPr>
              <a:xfrm>
                <a:off x="687324" y="529052"/>
                <a:ext cx="10817352" cy="5799897"/>
              </a:xfrm>
              <a:prstGeom prst="rect">
                <a:avLst/>
              </a:prstGeom>
              <a:blipFill rotWithShape="1">
                <a:blip r:embed="rId1"/>
                <a:stretch>
                  <a:fillRect l="-1499" t="-1929" r="-1493" b="-1918"/>
                </a:stretch>
              </a:blip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48" name="半闭框 47"/>
          <p:cNvSpPr/>
          <p:nvPr/>
        </p:nvSpPr>
        <p:spPr>
          <a:xfrm>
            <a:off x="687324" y="529052"/>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9" name="半闭框 48"/>
          <p:cNvSpPr/>
          <p:nvPr/>
        </p:nvSpPr>
        <p:spPr>
          <a:xfrm flipH="1">
            <a:off x="10823530" y="529052"/>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0" name="半闭框 39"/>
          <p:cNvSpPr/>
          <p:nvPr/>
        </p:nvSpPr>
        <p:spPr>
          <a:xfrm flipV="1">
            <a:off x="687324" y="5662640"/>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41" name="半闭框 40"/>
          <p:cNvSpPr/>
          <p:nvPr/>
        </p:nvSpPr>
        <p:spPr>
          <a:xfrm flipH="1" flipV="1">
            <a:off x="10823530"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 name="Rectangle 2"/>
          <p:cNvSpPr txBox="1">
            <a:spLocks noChangeArrowheads="1"/>
          </p:cNvSpPr>
          <p:nvPr/>
        </p:nvSpPr>
        <p:spPr>
          <a:xfrm>
            <a:off x="2108321" y="426896"/>
            <a:ext cx="1890049" cy="911718"/>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pPr>
              <a:lnSpc>
                <a:spcPct val="100000"/>
              </a:lnSpc>
            </a:pPr>
            <a:r>
              <a:rPr lang="zh-CN" altLang="en-US" sz="2900" dirty="0">
                <a:solidFill>
                  <a:srgbClr val="04926A"/>
                </a:solidFill>
                <a:latin typeface="微软雅黑" panose="020B0503020204020204" charset="-122"/>
                <a:ea typeface="微软雅黑" panose="020B0503020204020204" charset="-122"/>
                <a:cs typeface="+mn-cs"/>
                <a:sym typeface="+mn-lt"/>
              </a:rPr>
              <a:t>例</a:t>
            </a:r>
            <a:r>
              <a:rPr lang="en-US" altLang="zh-CN" sz="2900" dirty="0">
                <a:solidFill>
                  <a:srgbClr val="04926A"/>
                </a:solidFill>
                <a:latin typeface="微软雅黑" panose="020B0503020204020204" charset="-122"/>
                <a:ea typeface="微软雅黑" panose="020B0503020204020204" charset="-122"/>
                <a:cs typeface="+mn-cs"/>
                <a:sym typeface="+mn-lt"/>
              </a:rPr>
              <a:t>1     </a:t>
            </a:r>
            <a:r>
              <a:rPr kumimoji="1" lang="zh-CN" altLang="en-US" sz="2900" b="0" dirty="0">
                <a:solidFill>
                  <a:schemeClr val="tx1">
                    <a:lumMod val="95000"/>
                    <a:lumOff val="5000"/>
                  </a:schemeClr>
                </a:solidFill>
                <a:latin typeface="Cambria Math" panose="02040503050406030204" charset="0"/>
                <a:ea typeface="黑体" panose="02010609060101010101" pitchFamily="49" charset="-122"/>
                <a:cs typeface="+mn-cs"/>
                <a:sym typeface="+mn-lt"/>
              </a:rPr>
              <a:t>求</a:t>
            </a:r>
            <a:endParaRPr kumimoji="1" lang="zh-CN" altLang="en-US" sz="2900" b="0" dirty="0">
              <a:solidFill>
                <a:schemeClr val="tx1">
                  <a:lumMod val="95000"/>
                  <a:lumOff val="5000"/>
                </a:schemeClr>
              </a:solidFill>
              <a:latin typeface="Cambria Math" panose="02040503050406030204" charset="0"/>
              <a:ea typeface="黑体" panose="02010609060101010101" pitchFamily="49" charset="-122"/>
              <a:cs typeface="+mn-cs"/>
              <a:sym typeface="+mn-lt"/>
            </a:endParaRPr>
          </a:p>
        </p:txBody>
      </p:sp>
      <mc:AlternateContent xmlns:mc="http://schemas.openxmlformats.org/markup-compatibility/2006">
        <mc:Choice xmlns:a14="http://schemas.microsoft.com/office/drawing/2010/main" Requires="a14">
          <p:sp>
            <p:nvSpPr>
              <p:cNvPr id="3" name="Object 3"/>
              <p:cNvSpPr txBox="1"/>
              <p:nvPr/>
            </p:nvSpPr>
            <p:spPr bwMode="auto">
              <a:xfrm>
                <a:off x="3622126" y="609661"/>
                <a:ext cx="3602737" cy="585587"/>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kumimoji="1" lang="zh-CN" altLang="en-US" sz="2800">
                          <a:latin typeface="Cambria Math" panose="02040503050406030204" charset="0"/>
                          <a:ea typeface="黑体" panose="02010609060101010101" pitchFamily="49" charset="-122"/>
                        </a:rPr>
                        <m:t>𝑧</m:t>
                      </m:r>
                      <m:r>
                        <a:rPr kumimoji="1" lang="zh-CN" altLang="en-US" sz="2800">
                          <a:latin typeface="Cambria Math" panose="02040503050406030204" charset="0"/>
                          <a:ea typeface="黑体" panose="02010609060101010101" pitchFamily="49" charset="-122"/>
                        </a:rPr>
                        <m:t>=</m:t>
                      </m:r>
                      <m:sSup>
                        <m:sSupPr>
                          <m:ctrlPr>
                            <a:rPr kumimoji="1" lang="zh-CN" altLang="en-US" sz="2800" i="1">
                              <a:latin typeface="Cambria Math" panose="02040503050406030204" charset="0"/>
                              <a:ea typeface="黑体" panose="02010609060101010101" pitchFamily="49" charset="-122"/>
                            </a:rPr>
                          </m:ctrlPr>
                        </m:sSupPr>
                        <m:e>
                          <m:r>
                            <a:rPr kumimoji="1" lang="zh-CN" altLang="en-US" sz="2800">
                              <a:latin typeface="Cambria Math" panose="02040503050406030204" charset="0"/>
                              <a:ea typeface="黑体" panose="02010609060101010101" pitchFamily="49" charset="-122"/>
                            </a:rPr>
                            <m:t>𝑥</m:t>
                          </m:r>
                        </m:e>
                        <m:sup>
                          <m:r>
                            <a:rPr kumimoji="1" lang="zh-CN" altLang="en-US" sz="2800">
                              <a:latin typeface="Cambria Math" panose="02040503050406030204" charset="0"/>
                              <a:ea typeface="黑体" panose="02010609060101010101" pitchFamily="49" charset="-122"/>
                            </a:rPr>
                            <m:t>2</m:t>
                          </m:r>
                        </m:sup>
                      </m:sSup>
                      <m:r>
                        <a:rPr kumimoji="1" lang="zh-CN" altLang="en-US" sz="2800">
                          <a:latin typeface="Cambria Math" panose="02040503050406030204" charset="0"/>
                          <a:ea typeface="黑体" panose="02010609060101010101" pitchFamily="49" charset="-122"/>
                        </a:rPr>
                        <m:t>+</m:t>
                      </m:r>
                      <m:r>
                        <a:rPr kumimoji="1" lang="zh-CN" altLang="en-US" sz="2800">
                          <a:latin typeface="Cambria Math" panose="02040503050406030204" charset="0"/>
                          <a:ea typeface="黑体" panose="02010609060101010101" pitchFamily="49" charset="-122"/>
                        </a:rPr>
                        <m:t>3</m:t>
                      </m:r>
                      <m:r>
                        <a:rPr kumimoji="1" lang="zh-CN" altLang="en-US" sz="2800">
                          <a:latin typeface="Cambria Math" panose="02040503050406030204" charset="0"/>
                          <a:ea typeface="黑体" panose="02010609060101010101" pitchFamily="49" charset="-122"/>
                        </a:rPr>
                        <m:t>​</m:t>
                      </m:r>
                      <m:r>
                        <a:rPr kumimoji="1" lang="zh-CN" altLang="en-US" sz="2800">
                          <a:latin typeface="Cambria Math" panose="02040503050406030204" charset="0"/>
                          <a:ea typeface="黑体" panose="02010609060101010101" pitchFamily="49" charset="-122"/>
                        </a:rPr>
                        <m:t>𝑥</m:t>
                      </m:r>
                      <m:r>
                        <a:rPr kumimoji="1" lang="zh-CN" altLang="en-US" sz="2800">
                          <a:latin typeface="Cambria Math" panose="02040503050406030204" charset="0"/>
                          <a:ea typeface="黑体" panose="02010609060101010101" pitchFamily="49" charset="-122"/>
                        </a:rPr>
                        <m:t>​</m:t>
                      </m:r>
                      <m:r>
                        <a:rPr kumimoji="1" lang="zh-CN" altLang="en-US" sz="2800">
                          <a:latin typeface="Cambria Math" panose="02040503050406030204" charset="0"/>
                          <a:ea typeface="黑体" panose="02010609060101010101" pitchFamily="49" charset="-122"/>
                        </a:rPr>
                        <m:t>𝑦</m:t>
                      </m:r>
                      <m:r>
                        <a:rPr kumimoji="1" lang="zh-CN" altLang="en-US" sz="2800">
                          <a:latin typeface="Cambria Math" panose="02040503050406030204" charset="0"/>
                          <a:ea typeface="黑体" panose="02010609060101010101" pitchFamily="49" charset="-122"/>
                        </a:rPr>
                        <m:t>+</m:t>
                      </m:r>
                      <m:sSup>
                        <m:sSupPr>
                          <m:ctrlPr>
                            <a:rPr kumimoji="1" lang="zh-CN" altLang="en-US" sz="2800" i="1">
                              <a:latin typeface="Cambria Math" panose="02040503050406030204" charset="0"/>
                              <a:ea typeface="黑体" panose="02010609060101010101" pitchFamily="49" charset="-122"/>
                            </a:rPr>
                          </m:ctrlPr>
                        </m:sSupPr>
                        <m:e>
                          <m:r>
                            <a:rPr kumimoji="1" lang="zh-CN" altLang="en-US" sz="2800">
                              <a:latin typeface="Cambria Math" panose="02040503050406030204" charset="0"/>
                              <a:ea typeface="黑体" panose="02010609060101010101" pitchFamily="49" charset="-122"/>
                            </a:rPr>
                            <m:t>𝑦</m:t>
                          </m:r>
                        </m:e>
                        <m:sup>
                          <m:r>
                            <a:rPr kumimoji="1" lang="zh-CN" altLang="en-US" sz="2800">
                              <a:latin typeface="Cambria Math" panose="02040503050406030204" charset="0"/>
                              <a:ea typeface="黑体" panose="02010609060101010101" pitchFamily="49" charset="-122"/>
                            </a:rPr>
                            <m:t>2</m:t>
                          </m:r>
                        </m:sup>
                      </m:sSup>
                    </m:oMath>
                  </m:oMathPara>
                </a14:m>
                <a:endParaRPr kumimoji="1" lang="zh-CN" altLang="en-US" sz="2800" dirty="0">
                  <a:latin typeface="Cambria Math" panose="02040503050406030204" charset="0"/>
                  <a:ea typeface="黑体" panose="02010609060101010101" pitchFamily="49" charset="-122"/>
                </a:endParaRPr>
              </a:p>
            </p:txBody>
          </p:sp>
        </mc:Choice>
        <mc:Fallback>
          <p:sp>
            <p:nvSpPr>
              <p:cNvPr id="3" name="Object 3"/>
              <p:cNvSpPr txBox="1">
                <a:spLocks noRot="1" noChangeAspect="1" noMove="1" noResize="1" noEditPoints="1" noAdjustHandles="1" noChangeArrowheads="1" noChangeShapeType="1" noTextEdit="1"/>
              </p:cNvSpPr>
              <p:nvPr/>
            </p:nvSpPr>
            <p:spPr bwMode="auto">
              <a:xfrm>
                <a:off x="3622126" y="609661"/>
                <a:ext cx="3602737" cy="585587"/>
              </a:xfrm>
              <a:prstGeom prst="rect">
                <a:avLst/>
              </a:prstGeom>
              <a:blipFill rotWithShape="1">
                <a:blip r:embed="rId2"/>
                <a:stretch>
                  <a:fillRect l="-2" t="-10" r="13" b="30"/>
                </a:stretch>
              </a:blipFill>
              <a:ln>
                <a:noFill/>
              </a:ln>
              <a:effectLst/>
            </p:spPr>
            <p:txBody>
              <a:bodyPr/>
              <a:lstStyle/>
              <a:p>
                <a:r>
                  <a:rPr lang="zh-CN" altLang="en-US">
                    <a:noFill/>
                  </a:rPr>
                  <a:t> </a:t>
                </a:r>
              </a:p>
            </p:txBody>
          </p:sp>
        </mc:Fallback>
      </mc:AlternateContent>
      <p:sp>
        <p:nvSpPr>
          <p:cNvPr id="4" name="Text Box 5"/>
          <p:cNvSpPr txBox="1">
            <a:spLocks noChangeArrowheads="1"/>
          </p:cNvSpPr>
          <p:nvPr/>
        </p:nvSpPr>
        <p:spPr bwMode="auto">
          <a:xfrm>
            <a:off x="2108321" y="1429379"/>
            <a:ext cx="1447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R="0" lvl="0" indent="0" fontAlgn="base">
              <a:lnSpc>
                <a:spcPct val="100000"/>
              </a:lnSpc>
              <a:spcBef>
                <a:spcPct val="50000"/>
              </a:spcBef>
              <a:spcAft>
                <a:spcPct val="0"/>
              </a:spcAft>
              <a:buClrTx/>
              <a:buSzTx/>
              <a:buFontTx/>
              <a:buNone/>
              <a:defRPr/>
            </a:pPr>
            <a:r>
              <a:rPr lang="zh-CN" altLang="en-US" sz="2800" b="1" dirty="0">
                <a:solidFill>
                  <a:srgbClr val="04926A"/>
                </a:solidFill>
                <a:latin typeface="微软雅黑" panose="020B0503020204020204" charset="-122"/>
                <a:ea typeface="微软雅黑" panose="020B0503020204020204" charset="-122"/>
                <a:sym typeface="+mn-lt"/>
              </a:rPr>
              <a:t>解法</a:t>
            </a:r>
            <a:r>
              <a:rPr lang="en-US" altLang="zh-CN" sz="2800" b="1" dirty="0">
                <a:solidFill>
                  <a:srgbClr val="04926A"/>
                </a:solidFill>
                <a:latin typeface="微软雅黑" panose="020B0503020204020204" charset="-122"/>
                <a:ea typeface="微软雅黑" panose="020B0503020204020204" charset="-122"/>
                <a:sym typeface="+mn-lt"/>
              </a:rPr>
              <a:t>1</a:t>
            </a:r>
            <a:endParaRPr lang="en-US" altLang="zh-CN" sz="2800" b="1" dirty="0">
              <a:solidFill>
                <a:srgbClr val="04926A"/>
              </a:solidFill>
              <a:latin typeface="微软雅黑" panose="020B0503020204020204" charset="-122"/>
              <a:ea typeface="微软雅黑" panose="020B0503020204020204" charset="-122"/>
              <a:sym typeface="+mn-lt"/>
            </a:endParaRPr>
          </a:p>
        </p:txBody>
      </p:sp>
      <mc:AlternateContent xmlns:mc="http://schemas.openxmlformats.org/markup-compatibility/2006">
        <mc:Choice xmlns:a14="http://schemas.microsoft.com/office/drawing/2010/main" Requires="a14">
          <p:sp>
            <p:nvSpPr>
              <p:cNvPr id="6" name="Object 6"/>
              <p:cNvSpPr txBox="1"/>
              <p:nvPr/>
            </p:nvSpPr>
            <p:spPr bwMode="auto">
              <a:xfrm>
                <a:off x="3240494" y="1267728"/>
                <a:ext cx="1208086" cy="911718"/>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f>
                        <m:fPr>
                          <m:ctrlPr>
                            <a:rPr kumimoji="1" lang="zh-CN" altLang="en-US" sz="2200" i="1">
                              <a:latin typeface="Cambria Math" panose="02040503050406030204" charset="0"/>
                              <a:ea typeface="黑体" panose="02010609060101010101" pitchFamily="49" charset="-122"/>
                            </a:rPr>
                          </m:ctrlPr>
                        </m:fPr>
                        <m:num>
                          <m:r>
                            <a:rPr kumimoji="1" lang="zh-CN" altLang="en-US" sz="2200">
                              <a:latin typeface="Cambria Math" panose="02040503050406030204" charset="0"/>
                              <a:ea typeface="黑体" panose="02010609060101010101" pitchFamily="49" charset="-122"/>
                            </a:rPr>
                            <m:t>𝜕</m:t>
                          </m:r>
                          <m:r>
                            <a:rPr kumimoji="1" lang="zh-CN" altLang="en-US" sz="2200">
                              <a:latin typeface="Cambria Math" panose="02040503050406030204" charset="0"/>
                              <a:ea typeface="黑体" panose="02010609060101010101" pitchFamily="49" charset="-122"/>
                            </a:rPr>
                            <m:t>​</m:t>
                          </m:r>
                          <m:r>
                            <a:rPr kumimoji="1" lang="zh-CN" altLang="en-US" sz="2200">
                              <a:latin typeface="Cambria Math" panose="02040503050406030204" charset="0"/>
                              <a:ea typeface="黑体" panose="02010609060101010101" pitchFamily="49" charset="-122"/>
                            </a:rPr>
                            <m:t>𝑧</m:t>
                          </m:r>
                        </m:num>
                        <m:den>
                          <m:r>
                            <a:rPr kumimoji="1" lang="zh-CN" altLang="en-US" sz="2200">
                              <a:latin typeface="Cambria Math" panose="02040503050406030204" charset="0"/>
                              <a:ea typeface="黑体" panose="02010609060101010101" pitchFamily="49" charset="-122"/>
                            </a:rPr>
                            <m:t>𝜕</m:t>
                          </m:r>
                          <m:r>
                            <a:rPr kumimoji="1" lang="zh-CN" altLang="en-US" sz="2200">
                              <a:latin typeface="Cambria Math" panose="02040503050406030204" charset="0"/>
                              <a:ea typeface="黑体" panose="02010609060101010101" pitchFamily="49" charset="-122"/>
                            </a:rPr>
                            <m:t>​</m:t>
                          </m:r>
                          <m:r>
                            <a:rPr kumimoji="1" lang="zh-CN" altLang="en-US" sz="2200">
                              <a:latin typeface="Cambria Math" panose="02040503050406030204" charset="0"/>
                              <a:ea typeface="黑体" panose="02010609060101010101" pitchFamily="49" charset="-122"/>
                            </a:rPr>
                            <m:t>𝑥</m:t>
                          </m:r>
                        </m:den>
                      </m:f>
                      <m:r>
                        <a:rPr kumimoji="1" lang="zh-CN" altLang="en-US" sz="2200">
                          <a:latin typeface="Cambria Math" panose="02040503050406030204" charset="0"/>
                          <a:ea typeface="黑体" panose="02010609060101010101" pitchFamily="49" charset="-122"/>
                        </a:rPr>
                        <m:t>=</m:t>
                      </m:r>
                    </m:oMath>
                  </m:oMathPara>
                </a14:m>
                <a:endParaRPr kumimoji="1" lang="zh-CN" altLang="en-US" sz="2200" dirty="0">
                  <a:latin typeface="Cambria Math" panose="02040503050406030204" charset="0"/>
                  <a:ea typeface="黑体" panose="02010609060101010101" pitchFamily="49" charset="-122"/>
                </a:endParaRPr>
              </a:p>
            </p:txBody>
          </p:sp>
        </mc:Choice>
        <mc:Fallback>
          <p:sp>
            <p:nvSpPr>
              <p:cNvPr id="6" name="Object 6"/>
              <p:cNvSpPr txBox="1">
                <a:spLocks noRot="1" noChangeAspect="1" noMove="1" noResize="1" noEditPoints="1" noAdjustHandles="1" noChangeArrowheads="1" noChangeShapeType="1" noTextEdit="1"/>
              </p:cNvSpPr>
              <p:nvPr/>
            </p:nvSpPr>
            <p:spPr bwMode="auto">
              <a:xfrm>
                <a:off x="3240494" y="1267728"/>
                <a:ext cx="1208086" cy="911718"/>
              </a:xfrm>
              <a:prstGeom prst="rect">
                <a:avLst/>
              </a:prstGeom>
              <a:blipFill rotWithShape="1">
                <a:blip r:embed="rId3"/>
                <a:stretch>
                  <a:fillRect l="-7" t="-29" r="34" b="14"/>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Object 8"/>
              <p:cNvSpPr txBox="1"/>
              <p:nvPr/>
            </p:nvSpPr>
            <p:spPr bwMode="auto">
              <a:xfrm>
                <a:off x="3220146" y="2054817"/>
                <a:ext cx="1890050" cy="933761"/>
              </a:xfrm>
              <a:prstGeom prst="rect">
                <a:avLst/>
              </a:prstGeom>
              <a:noFill/>
              <a:ln>
                <a:noFill/>
              </a:ln>
              <a:effectLst/>
            </p:spPr>
            <p:txBody>
              <a:bodyPr>
                <a:normAutofit fontScale="85000" lnSpcReduction="10000"/>
              </a:bodyPr>
              <a:lstStyle/>
              <a:p>
                <a14:m>
                  <m:oMathPara xmlns:m="http://schemas.openxmlformats.org/officeDocument/2006/math">
                    <m:oMathParaPr>
                      <m:jc m:val="left"/>
                    </m:oMathParaPr>
                    <m:oMath xmlns:m="http://schemas.openxmlformats.org/officeDocument/2006/math">
                      <m:r>
                        <a:rPr kumimoji="1" lang="zh-CN" altLang="en-US" sz="2200" smtClean="0">
                          <a:latin typeface="Cambria Math" panose="02040503050406030204" charset="0"/>
                          <a:ea typeface="黑体" panose="02010609060101010101" pitchFamily="49" charset="-122"/>
                        </a:rPr>
                        <m:t>∴ </m:t>
                      </m:r>
                      <m:sSub>
                        <m:sSubPr>
                          <m:ctrlPr>
                            <a:rPr kumimoji="1" lang="zh-CN" altLang="en-US" sz="2200" i="1" dirty="0">
                              <a:latin typeface="Cambria Math" panose="02040503050406030204" charset="0"/>
                              <a:ea typeface="黑体" panose="02010609060101010101" pitchFamily="49" charset="-122"/>
                            </a:rPr>
                          </m:ctrlPr>
                        </m:sSubPr>
                        <m:e>
                          <m:d>
                            <m:dPr>
                              <m:begChr m:val=""/>
                              <m:endChr m:val="|"/>
                              <m:ctrlPr>
                                <a:rPr kumimoji="1" lang="zh-CN" altLang="en-US" sz="2200" i="1" dirty="0">
                                  <a:latin typeface="Cambria Math" panose="02040503050406030204" charset="0"/>
                                  <a:ea typeface="黑体" panose="02010609060101010101" pitchFamily="49" charset="-122"/>
                                </a:rPr>
                              </m:ctrlPr>
                            </m:dPr>
                            <m:e>
                              <m:f>
                                <m:fPr>
                                  <m:ctrlPr>
                                    <a:rPr kumimoji="1" lang="zh-CN" altLang="en-US" sz="2200" i="1" dirty="0">
                                      <a:latin typeface="Cambria Math" panose="02040503050406030204" charset="0"/>
                                      <a:ea typeface="黑体" panose="02010609060101010101" pitchFamily="49" charset="-122"/>
                                    </a:rPr>
                                  </m:ctrlPr>
                                </m:fPr>
                                <m:num>
                                  <m:r>
                                    <a:rPr kumimoji="1" lang="zh-CN" altLang="en-US" sz="2200" dirty="0">
                                      <a:latin typeface="Cambria Math" panose="02040503050406030204" charset="0"/>
                                      <a:ea typeface="黑体" panose="02010609060101010101" pitchFamily="49" charset="-122"/>
                                    </a:rPr>
                                    <m:t>𝜕</m:t>
                                  </m:r>
                                  <m:r>
                                    <a:rPr kumimoji="1" lang="zh-CN" altLang="en-US" sz="2200" dirty="0">
                                      <a:latin typeface="Cambria Math" panose="02040503050406030204" charset="0"/>
                                      <a:ea typeface="黑体" panose="02010609060101010101" pitchFamily="49" charset="-122"/>
                                    </a:rPr>
                                    <m:t>𝑧</m:t>
                                  </m:r>
                                </m:num>
                                <m:den>
                                  <m:r>
                                    <a:rPr kumimoji="1" lang="zh-CN" altLang="en-US" sz="2200" dirty="0">
                                      <a:latin typeface="Cambria Math" panose="02040503050406030204" charset="0"/>
                                      <a:ea typeface="黑体" panose="02010609060101010101" pitchFamily="49" charset="-122"/>
                                    </a:rPr>
                                    <m:t>𝜕</m:t>
                                  </m:r>
                                  <m:r>
                                    <a:rPr kumimoji="1" lang="zh-CN" altLang="en-US" sz="2200" dirty="0">
                                      <a:latin typeface="Cambria Math" panose="02040503050406030204" charset="0"/>
                                      <a:ea typeface="黑体" panose="02010609060101010101" pitchFamily="49" charset="-122"/>
                                    </a:rPr>
                                    <m:t>𝑥</m:t>
                                  </m:r>
                                </m:den>
                              </m:f>
                            </m:e>
                          </m:d>
                        </m:e>
                        <m:sub>
                          <m:eqArr>
                            <m:eqArrPr>
                              <m:ctrlPr>
                                <a:rPr kumimoji="1" lang="en-US" altLang="zh-CN" sz="2400" i="1" dirty="0">
                                  <a:latin typeface="Cambria Math" panose="02040503050406030204" charset="0"/>
                                  <a:ea typeface="宋体" panose="02010600030101010101" pitchFamily="2" charset="-122"/>
                                </a:rPr>
                              </m:ctrlPr>
                            </m:eqArrPr>
                            <m:e>
                              <m:r>
                                <a:rPr kumimoji="1" lang="en-US" altLang="zh-CN" sz="2400" i="1" dirty="0">
                                  <a:latin typeface="Cambria Math" panose="02040503050406030204" charset="0"/>
                                  <a:ea typeface="宋体" panose="02010600030101010101" pitchFamily="2" charset="-122"/>
                                </a:rPr>
                                <m:t>𝑥</m:t>
                              </m:r>
                              <m:r>
                                <a:rPr kumimoji="1" lang="en-US" altLang="zh-CN" sz="2400" i="1" dirty="0">
                                  <a:latin typeface="Cambria Math" panose="02040503050406030204" charset="0"/>
                                  <a:ea typeface="宋体" panose="02010600030101010101" pitchFamily="2" charset="-122"/>
                                </a:rPr>
                                <m:t>=</m:t>
                              </m:r>
                              <m:r>
                                <a:rPr kumimoji="1" lang="en-US" altLang="zh-CN" sz="2400" i="1" dirty="0">
                                  <a:latin typeface="Cambria Math" panose="02040503050406030204" charset="0"/>
                                  <a:ea typeface="宋体" panose="02010600030101010101" pitchFamily="2" charset="-122"/>
                                </a:rPr>
                                <m:t>1</m:t>
                              </m:r>
                            </m:e>
                            <m:e>
                              <m:r>
                                <a:rPr kumimoji="1" lang="en-US" altLang="zh-CN" sz="2400" i="1">
                                  <a:solidFill>
                                    <a:schemeClr val="tx1">
                                      <a:lumMod val="95000"/>
                                      <a:lumOff val="5000"/>
                                    </a:schemeClr>
                                  </a:solidFill>
                                  <a:latin typeface="Cambria Math" panose="02040503050406030204" charset="0"/>
                                  <a:ea typeface="黑体" panose="02010609060101010101" pitchFamily="49" charset="-122"/>
                                </a:rPr>
                                <m:t>𝑦</m:t>
                              </m:r>
                              <m:r>
                                <a:rPr kumimoji="1" lang="en-US" altLang="zh-CN" sz="2400" i="1" dirty="0">
                                  <a:latin typeface="Cambria Math" panose="02040503050406030204" charset="0"/>
                                  <a:ea typeface="宋体" panose="02010600030101010101" pitchFamily="2" charset="-122"/>
                                </a:rPr>
                                <m:t>=</m:t>
                              </m:r>
                              <m:r>
                                <a:rPr kumimoji="1" lang="en-US" altLang="zh-CN" sz="2400" i="1" smtClean="0">
                                  <a:solidFill>
                                    <a:schemeClr val="tx1">
                                      <a:lumMod val="95000"/>
                                      <a:lumOff val="5000"/>
                                    </a:schemeClr>
                                  </a:solidFill>
                                  <a:latin typeface="Cambria Math" panose="02040503050406030204" charset="0"/>
                                  <a:ea typeface="黑体" panose="02010609060101010101" pitchFamily="49" charset="-122"/>
                                </a:rPr>
                                <m:t>2</m:t>
                              </m:r>
                            </m:e>
                          </m:eqArr>
                        </m:sub>
                      </m:sSub>
                    </m:oMath>
                  </m:oMathPara>
                </a14:m>
                <a:endParaRPr kumimoji="1" lang="zh-CN" altLang="en-US" sz="2200" dirty="0">
                  <a:latin typeface="Cambria Math" panose="02040503050406030204" charset="0"/>
                  <a:ea typeface="黑体" panose="02010609060101010101" pitchFamily="49" charset="-122"/>
                </a:endParaRPr>
              </a:p>
            </p:txBody>
          </p:sp>
        </mc:Choice>
        <mc:Fallback>
          <p:sp>
            <p:nvSpPr>
              <p:cNvPr id="7" name="Object 8"/>
              <p:cNvSpPr txBox="1">
                <a:spLocks noRot="1" noChangeAspect="1" noMove="1" noResize="1" noEditPoints="1" noAdjustHandles="1" noChangeArrowheads="1" noChangeShapeType="1" noTextEdit="1"/>
              </p:cNvSpPr>
              <p:nvPr/>
            </p:nvSpPr>
            <p:spPr bwMode="auto">
              <a:xfrm>
                <a:off x="3220146" y="2054817"/>
                <a:ext cx="1890050" cy="933761"/>
              </a:xfrm>
              <a:prstGeom prst="rect">
                <a:avLst/>
              </a:prstGeom>
              <a:blipFill rotWithShape="1">
                <a:blip r:embed="rId4"/>
                <a:stretch>
                  <a:fillRect l="-3" t="-63" r="19" b="29"/>
                </a:stretch>
              </a:blipFill>
              <a:ln>
                <a:noFill/>
              </a:ln>
              <a:effectLst/>
            </p:spPr>
            <p:txBody>
              <a:bodyPr/>
              <a:lstStyle/>
              <a:p>
                <a:r>
                  <a:rPr lang="zh-CN" altLang="en-US">
                    <a:noFill/>
                  </a:rPr>
                  <a:t> </a:t>
                </a:r>
              </a:p>
            </p:txBody>
          </p:sp>
        </mc:Fallback>
      </mc:AlternateContent>
      <p:sp>
        <p:nvSpPr>
          <p:cNvPr id="8" name="Text Box 9"/>
          <p:cNvSpPr txBox="1">
            <a:spLocks noChangeArrowheads="1"/>
          </p:cNvSpPr>
          <p:nvPr/>
        </p:nvSpPr>
        <p:spPr bwMode="auto">
          <a:xfrm>
            <a:off x="2108321" y="3067696"/>
            <a:ext cx="16002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fontAlgn="base">
              <a:spcBef>
                <a:spcPct val="50000"/>
              </a:spcBef>
              <a:spcAft>
                <a:spcPct val="0"/>
              </a:spcAft>
              <a:defRPr/>
            </a:pPr>
            <a:r>
              <a:rPr lang="zh-CN" altLang="en-US" sz="2800" b="1" dirty="0">
                <a:solidFill>
                  <a:srgbClr val="04926A"/>
                </a:solidFill>
                <a:latin typeface="微软雅黑" panose="020B0503020204020204" charset="-122"/>
                <a:ea typeface="微软雅黑" panose="020B0503020204020204" charset="-122"/>
                <a:sym typeface="+mn-lt"/>
              </a:rPr>
              <a:t>解法</a:t>
            </a:r>
            <a:r>
              <a:rPr lang="en-US" altLang="zh-CN" sz="2800" b="1" dirty="0">
                <a:solidFill>
                  <a:srgbClr val="04926A"/>
                </a:solidFill>
                <a:latin typeface="微软雅黑" panose="020B0503020204020204" charset="-122"/>
                <a:ea typeface="微软雅黑" panose="020B0503020204020204" charset="-122"/>
                <a:sym typeface="+mn-lt"/>
              </a:rPr>
              <a:t>2</a:t>
            </a:r>
            <a:endParaRPr lang="en-US" altLang="zh-CN" sz="2800" b="1" dirty="0">
              <a:solidFill>
                <a:srgbClr val="04926A"/>
              </a:solidFill>
              <a:latin typeface="微软雅黑" panose="020B0503020204020204" charset="-122"/>
              <a:ea typeface="微软雅黑" panose="020B0503020204020204" charset="-122"/>
              <a:sym typeface="+mn-lt"/>
            </a:endParaRPr>
          </a:p>
        </p:txBody>
      </p:sp>
      <mc:AlternateContent xmlns:mc="http://schemas.openxmlformats.org/markup-compatibility/2006">
        <mc:Choice xmlns:a14="http://schemas.microsoft.com/office/drawing/2010/main" Requires="a14">
          <p:sp>
            <p:nvSpPr>
              <p:cNvPr id="9" name="Object 11"/>
              <p:cNvSpPr txBox="1"/>
              <p:nvPr/>
            </p:nvSpPr>
            <p:spPr bwMode="auto">
              <a:xfrm>
                <a:off x="3231349" y="3671156"/>
                <a:ext cx="1852063" cy="933761"/>
              </a:xfrm>
              <a:prstGeom prst="rect">
                <a:avLst/>
              </a:prstGeom>
              <a:noFill/>
              <a:ln>
                <a:noFill/>
              </a:ln>
              <a:effectLst/>
            </p:spPr>
            <p:txBody>
              <a:bodyPr>
                <a:normAutofit fontScale="92500"/>
              </a:bodyPr>
              <a:lstStyle/>
              <a:p>
                <a14:m>
                  <m:oMathPara xmlns:m="http://schemas.openxmlformats.org/officeDocument/2006/math">
                    <m:oMathParaPr>
                      <m:jc m:val="left"/>
                    </m:oMathParaPr>
                    <m:oMath xmlns:m="http://schemas.openxmlformats.org/officeDocument/2006/math">
                      <m:sSub>
                        <m:sSubPr>
                          <m:ctrlPr>
                            <a:rPr kumimoji="1" lang="zh-CN" altLang="en-US" sz="2200" i="1" dirty="0">
                              <a:latin typeface="Cambria Math" panose="02040503050406030204" charset="0"/>
                              <a:ea typeface="黑体" panose="02010609060101010101" pitchFamily="49" charset="-122"/>
                              <a:cs typeface="Cambria Math" panose="02040503050406030204" charset="0"/>
                            </a:rPr>
                          </m:ctrlPr>
                        </m:sSubPr>
                        <m:e>
                          <m:d>
                            <m:dPr>
                              <m:begChr m:val=""/>
                              <m:endChr m:val="|"/>
                              <m:ctrlPr>
                                <a:rPr kumimoji="1" lang="zh-CN" altLang="en-US" sz="2200" i="1" dirty="0">
                                  <a:latin typeface="Cambria Math" panose="02040503050406030204" charset="0"/>
                                  <a:ea typeface="黑体" panose="02010609060101010101" pitchFamily="49" charset="-122"/>
                                  <a:cs typeface="Cambria Math" panose="02040503050406030204" charset="0"/>
                                </a:rPr>
                              </m:ctrlPr>
                            </m:dPr>
                            <m:e>
                              <m:f>
                                <m:fPr>
                                  <m:ctrlPr>
                                    <a:rPr kumimoji="1" lang="zh-CN" altLang="en-US" sz="2200" i="1" dirty="0">
                                      <a:latin typeface="Cambria Math" panose="02040503050406030204" charset="0"/>
                                      <a:ea typeface="黑体" panose="02010609060101010101" pitchFamily="49" charset="-122"/>
                                      <a:cs typeface="Cambria Math" panose="02040503050406030204" charset="0"/>
                                    </a:rPr>
                                  </m:ctrlPr>
                                </m:fPr>
                                <m:num>
                                  <m:r>
                                    <a:rPr kumimoji="1" lang="zh-CN" altLang="en-US" sz="2200" dirty="0">
                                      <a:latin typeface="Cambria Math" panose="02040503050406030204" charset="0"/>
                                      <a:ea typeface="黑体" panose="02010609060101010101" pitchFamily="49" charset="-122"/>
                                      <a:cs typeface="Cambria Math" panose="02040503050406030204" charset="0"/>
                                    </a:rPr>
                                    <m:t>𝜕</m:t>
                                  </m:r>
                                  <m:r>
                                    <a:rPr kumimoji="1" lang="zh-CN" altLang="en-US" sz="2200" dirty="0">
                                      <a:latin typeface="Cambria Math" panose="02040503050406030204" charset="0"/>
                                      <a:ea typeface="黑体" panose="02010609060101010101" pitchFamily="49" charset="-122"/>
                                      <a:cs typeface="Cambria Math" panose="02040503050406030204" charset="0"/>
                                    </a:rPr>
                                    <m:t>𝑧</m:t>
                                  </m:r>
                                </m:num>
                                <m:den>
                                  <m:r>
                                    <a:rPr kumimoji="1" lang="zh-CN" altLang="en-US" sz="2200" dirty="0">
                                      <a:latin typeface="Cambria Math" panose="02040503050406030204" charset="0"/>
                                      <a:ea typeface="黑体" panose="02010609060101010101" pitchFamily="49" charset="-122"/>
                                      <a:cs typeface="Cambria Math" panose="02040503050406030204" charset="0"/>
                                    </a:rPr>
                                    <m:t>𝜕</m:t>
                                  </m:r>
                                  <m:r>
                                    <a:rPr kumimoji="1" lang="zh-CN" altLang="en-US" sz="2200" dirty="0">
                                      <a:latin typeface="Cambria Math" panose="02040503050406030204" charset="0"/>
                                      <a:ea typeface="黑体" panose="02010609060101010101" pitchFamily="49" charset="-122"/>
                                      <a:cs typeface="Cambria Math" panose="02040503050406030204" charset="0"/>
                                    </a:rPr>
                                    <m:t>𝑥</m:t>
                                  </m:r>
                                </m:den>
                              </m:f>
                            </m:e>
                          </m:d>
                        </m:e>
                        <m:sub>
                          <m:eqArr>
                            <m:eqArrPr>
                              <m:ctrlPr>
                                <a:rPr kumimoji="1" lang="en-US" altLang="zh-CN" sz="2000" i="1" dirty="0">
                                  <a:latin typeface="Cambria Math" panose="02040503050406030204" charset="0"/>
                                  <a:ea typeface="宋体" panose="02010600030101010101" pitchFamily="2" charset="-122"/>
                                </a:rPr>
                              </m:ctrlPr>
                            </m:eqArrPr>
                            <m:e>
                              <m:r>
                                <a:rPr kumimoji="1" lang="en-US" altLang="zh-CN" sz="2000" i="1" dirty="0">
                                  <a:latin typeface="Cambria Math" panose="02040503050406030204" charset="0"/>
                                  <a:ea typeface="宋体" panose="02010600030101010101" pitchFamily="2" charset="-122"/>
                                </a:rPr>
                                <m:t>𝑥</m:t>
                              </m:r>
                              <m:r>
                                <a:rPr kumimoji="1" lang="en-US" altLang="zh-CN" sz="2000" i="1" dirty="0">
                                  <a:latin typeface="Cambria Math" panose="02040503050406030204" charset="0"/>
                                  <a:ea typeface="宋体" panose="02010600030101010101" pitchFamily="2" charset="-122"/>
                                </a:rPr>
                                <m:t>=</m:t>
                              </m:r>
                              <m:r>
                                <a:rPr kumimoji="1" lang="en-US" altLang="zh-CN" sz="2000" i="1" dirty="0">
                                  <a:latin typeface="Cambria Math" panose="02040503050406030204" charset="0"/>
                                  <a:ea typeface="宋体" panose="02010600030101010101" pitchFamily="2" charset="-122"/>
                                </a:rPr>
                                <m:t>1</m:t>
                              </m:r>
                            </m:e>
                            <m:e>
                              <m:r>
                                <a:rPr kumimoji="1" lang="en-US" altLang="zh-CN" sz="2000" i="1">
                                  <a:solidFill>
                                    <a:schemeClr val="tx1">
                                      <a:lumMod val="95000"/>
                                      <a:lumOff val="5000"/>
                                    </a:schemeClr>
                                  </a:solidFill>
                                  <a:latin typeface="Cambria Math" panose="02040503050406030204" charset="0"/>
                                  <a:ea typeface="黑体" panose="02010609060101010101" pitchFamily="49" charset="-122"/>
                                </a:rPr>
                                <m:t>𝑦</m:t>
                              </m:r>
                              <m:r>
                                <a:rPr kumimoji="1" lang="en-US" altLang="zh-CN" sz="2000" i="1" dirty="0">
                                  <a:latin typeface="Cambria Math" panose="02040503050406030204" charset="0"/>
                                  <a:ea typeface="宋体" panose="02010600030101010101" pitchFamily="2" charset="-122"/>
                                </a:rPr>
                                <m:t>=</m:t>
                              </m:r>
                              <m:r>
                                <a:rPr kumimoji="1" lang="en-US" altLang="zh-CN" sz="2000" i="1">
                                  <a:solidFill>
                                    <a:schemeClr val="tx1">
                                      <a:lumMod val="95000"/>
                                      <a:lumOff val="5000"/>
                                    </a:schemeClr>
                                  </a:solidFill>
                                  <a:latin typeface="Cambria Math" panose="02040503050406030204" charset="0"/>
                                  <a:ea typeface="黑体" panose="02010609060101010101" pitchFamily="49" charset="-122"/>
                                </a:rPr>
                                <m:t>2</m:t>
                              </m:r>
                            </m:e>
                          </m:eqArr>
                        </m:sub>
                      </m:sSub>
                    </m:oMath>
                  </m:oMathPara>
                </a14:m>
                <a:endParaRPr kumimoji="1" lang="zh-CN" altLang="en-US" sz="2200" dirty="0">
                  <a:latin typeface="Cambria Math" panose="02040503050406030204" charset="0"/>
                  <a:ea typeface="黑体" panose="02010609060101010101" pitchFamily="49" charset="-122"/>
                  <a:cs typeface="Cambria Math" panose="02040503050406030204" charset="0"/>
                </a:endParaRPr>
              </a:p>
            </p:txBody>
          </p:sp>
        </mc:Choice>
        <mc:Fallback>
          <p:sp>
            <p:nvSpPr>
              <p:cNvPr id="9" name="Object 11"/>
              <p:cNvSpPr txBox="1">
                <a:spLocks noRot="1" noChangeAspect="1" noMove="1" noResize="1" noEditPoints="1" noAdjustHandles="1" noChangeArrowheads="1" noChangeShapeType="1" noTextEdit="1"/>
              </p:cNvSpPr>
              <p:nvPr/>
            </p:nvSpPr>
            <p:spPr bwMode="auto">
              <a:xfrm>
                <a:off x="3231349" y="3671156"/>
                <a:ext cx="1852063" cy="933761"/>
              </a:xfrm>
              <a:prstGeom prst="rect">
                <a:avLst/>
              </a:prstGeom>
              <a:blipFill rotWithShape="1">
                <a:blip r:embed="rId5"/>
                <a:stretch>
                  <a:fillRect l="-25" t="-24" r="13" b="57"/>
                </a:stretch>
              </a:blipFill>
              <a:ln>
                <a:noFill/>
              </a:ln>
              <a:effectLst/>
            </p:spPr>
            <p:txBody>
              <a:bodyPr/>
              <a:lstStyle/>
              <a:p>
                <a:r>
                  <a:rPr lang="zh-CN" altLang="en-US">
                    <a:noFill/>
                  </a:rPr>
                  <a:t> </a:t>
                </a:r>
              </a:p>
            </p:txBody>
          </p:sp>
        </mc:Fallback>
      </mc:AlternateContent>
      <p:sp>
        <p:nvSpPr>
          <p:cNvPr id="11" name="Text Box 14"/>
          <p:cNvSpPr txBox="1">
            <a:spLocks noChangeArrowheads="1"/>
          </p:cNvSpPr>
          <p:nvPr/>
        </p:nvSpPr>
        <p:spPr bwMode="auto">
          <a:xfrm>
            <a:off x="6537325" y="602348"/>
            <a:ext cx="38100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在点</a:t>
            </a:r>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(1 , 2) </a:t>
            </a: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处的偏导数</a:t>
            </a:r>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a:t>
            </a:r>
            <a:endPar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endParaRPr>
          </a:p>
        </p:txBody>
      </p:sp>
      <mc:AlternateContent xmlns:mc="http://schemas.openxmlformats.org/markup-compatibility/2006">
        <mc:Choice xmlns:a14="http://schemas.microsoft.com/office/drawing/2010/main" Requires="a14">
          <p:sp>
            <p:nvSpPr>
              <p:cNvPr id="21" name="Object 15"/>
              <p:cNvSpPr txBox="1"/>
              <p:nvPr/>
            </p:nvSpPr>
            <p:spPr bwMode="auto">
              <a:xfrm>
                <a:off x="3239599" y="5288251"/>
                <a:ext cx="2027806" cy="933761"/>
              </a:xfrm>
              <a:prstGeom prst="rect">
                <a:avLst/>
              </a:prstGeom>
              <a:noFill/>
              <a:ln>
                <a:noFill/>
              </a:ln>
              <a:effectLst/>
            </p:spPr>
            <p:txBody>
              <a:bodyPr>
                <a:normAutofit fontScale="92500"/>
              </a:bodyPr>
              <a:lstStyle/>
              <a:p>
                <a14:m>
                  <m:oMathPara xmlns:m="http://schemas.openxmlformats.org/officeDocument/2006/math">
                    <m:oMathParaPr>
                      <m:jc m:val="left"/>
                    </m:oMathParaPr>
                    <m:oMath xmlns:m="http://schemas.openxmlformats.org/officeDocument/2006/math">
                      <m:sSub>
                        <m:sSubPr>
                          <m:ctrlPr>
                            <a:rPr kumimoji="1" lang="zh-CN" altLang="en-US" sz="2200" i="1" dirty="0">
                              <a:latin typeface="Cambria Math" panose="02040503050406030204" charset="0"/>
                              <a:ea typeface="黑体" panose="02010609060101010101" pitchFamily="49" charset="-122"/>
                            </a:rPr>
                          </m:ctrlPr>
                        </m:sSubPr>
                        <m:e>
                          <m:d>
                            <m:dPr>
                              <m:begChr m:val=""/>
                              <m:endChr m:val="|"/>
                              <m:ctrlPr>
                                <a:rPr kumimoji="1" lang="zh-CN" altLang="en-US" sz="2200" i="1" dirty="0">
                                  <a:latin typeface="Cambria Math" panose="02040503050406030204" charset="0"/>
                                  <a:ea typeface="黑体" panose="02010609060101010101" pitchFamily="49" charset="-122"/>
                                </a:rPr>
                              </m:ctrlPr>
                            </m:dPr>
                            <m:e>
                              <m:f>
                                <m:fPr>
                                  <m:ctrlPr>
                                    <a:rPr kumimoji="1" lang="zh-CN" altLang="en-US" sz="2200" i="1" dirty="0">
                                      <a:latin typeface="Cambria Math" panose="02040503050406030204" charset="0"/>
                                      <a:ea typeface="黑体" panose="02010609060101010101" pitchFamily="49" charset="-122"/>
                                    </a:rPr>
                                  </m:ctrlPr>
                                </m:fPr>
                                <m:num>
                                  <m:r>
                                    <a:rPr kumimoji="1" lang="zh-CN" altLang="en-US" sz="2200" dirty="0">
                                      <a:latin typeface="Cambria Math" panose="02040503050406030204" charset="0"/>
                                      <a:ea typeface="黑体" panose="02010609060101010101" pitchFamily="49" charset="-122"/>
                                    </a:rPr>
                                    <m:t>𝜕</m:t>
                                  </m:r>
                                  <m:r>
                                    <a:rPr kumimoji="1" lang="zh-CN" altLang="en-US" sz="2200" dirty="0">
                                      <a:latin typeface="Cambria Math" panose="02040503050406030204" charset="0"/>
                                      <a:ea typeface="黑体" panose="02010609060101010101" pitchFamily="49" charset="-122"/>
                                    </a:rPr>
                                    <m:t>𝑧</m:t>
                                  </m:r>
                                </m:num>
                                <m:den>
                                  <m:r>
                                    <a:rPr kumimoji="1" lang="zh-CN" altLang="en-US" sz="2200" dirty="0">
                                      <a:latin typeface="Cambria Math" panose="02040503050406030204" charset="0"/>
                                      <a:ea typeface="黑体" panose="02010609060101010101" pitchFamily="49" charset="-122"/>
                                    </a:rPr>
                                    <m:t>𝜕</m:t>
                                  </m:r>
                                  <m:r>
                                    <m:rPr>
                                      <m:sty m:val="p"/>
                                    </m:rPr>
                                    <a:rPr kumimoji="1" lang="en-US" altLang="zh-CN" sz="2200" dirty="0">
                                      <a:latin typeface="Cambria Math" panose="02040503050406030204" charset="0"/>
                                      <a:ea typeface="黑体" panose="02010609060101010101" pitchFamily="49" charset="-122"/>
                                    </a:rPr>
                                    <m:t>y</m:t>
                                  </m:r>
                                </m:den>
                              </m:f>
                            </m:e>
                          </m:d>
                        </m:e>
                        <m:sub>
                          <m:eqArr>
                            <m:eqArrPr>
                              <m:ctrlPr>
                                <a:rPr kumimoji="1" lang="en-US" altLang="zh-CN" sz="2000" i="1" dirty="0">
                                  <a:latin typeface="Cambria Math" panose="02040503050406030204" charset="0"/>
                                  <a:ea typeface="宋体" panose="02010600030101010101" pitchFamily="2" charset="-122"/>
                                </a:rPr>
                              </m:ctrlPr>
                            </m:eqArrPr>
                            <m:e>
                              <m:r>
                                <a:rPr kumimoji="1" lang="en-US" altLang="zh-CN" sz="2000" i="1" dirty="0">
                                  <a:latin typeface="Cambria Math" panose="02040503050406030204" charset="0"/>
                                  <a:ea typeface="宋体" panose="02010600030101010101" pitchFamily="2" charset="-122"/>
                                </a:rPr>
                                <m:t>𝑥</m:t>
                              </m:r>
                              <m:r>
                                <a:rPr kumimoji="1" lang="en-US" altLang="zh-CN" sz="2000" i="1" dirty="0">
                                  <a:latin typeface="Cambria Math" panose="02040503050406030204" charset="0"/>
                                  <a:ea typeface="宋体" panose="02010600030101010101" pitchFamily="2" charset="-122"/>
                                </a:rPr>
                                <m:t>=</m:t>
                              </m:r>
                              <m:r>
                                <a:rPr kumimoji="1" lang="en-US" altLang="zh-CN" sz="2000" i="1" dirty="0">
                                  <a:latin typeface="Cambria Math" panose="02040503050406030204" charset="0"/>
                                  <a:ea typeface="宋体" panose="02010600030101010101" pitchFamily="2" charset="-122"/>
                                </a:rPr>
                                <m:t>1</m:t>
                              </m:r>
                            </m:e>
                            <m:e>
                              <m:r>
                                <a:rPr kumimoji="1" lang="en-US" altLang="zh-CN" sz="2000" i="1">
                                  <a:solidFill>
                                    <a:schemeClr val="tx1">
                                      <a:lumMod val="95000"/>
                                      <a:lumOff val="5000"/>
                                    </a:schemeClr>
                                  </a:solidFill>
                                  <a:latin typeface="Cambria Math" panose="02040503050406030204" charset="0"/>
                                  <a:ea typeface="黑体" panose="02010609060101010101" pitchFamily="49" charset="-122"/>
                                </a:rPr>
                                <m:t>𝑦</m:t>
                              </m:r>
                              <m:r>
                                <a:rPr kumimoji="1" lang="en-US" altLang="zh-CN" sz="2000" i="1" dirty="0">
                                  <a:latin typeface="Cambria Math" panose="02040503050406030204" charset="0"/>
                                  <a:ea typeface="宋体" panose="02010600030101010101" pitchFamily="2" charset="-122"/>
                                </a:rPr>
                                <m:t>=</m:t>
                              </m:r>
                              <m:r>
                                <a:rPr kumimoji="1" lang="en-US" altLang="zh-CN" sz="2000" i="1">
                                  <a:solidFill>
                                    <a:schemeClr val="tx1">
                                      <a:lumMod val="95000"/>
                                      <a:lumOff val="5000"/>
                                    </a:schemeClr>
                                  </a:solidFill>
                                  <a:latin typeface="Cambria Math" panose="02040503050406030204" charset="0"/>
                                  <a:ea typeface="黑体" panose="02010609060101010101" pitchFamily="49" charset="-122"/>
                                </a:rPr>
                                <m:t>2</m:t>
                              </m:r>
                            </m:e>
                          </m:eqArr>
                        </m:sub>
                      </m:sSub>
                    </m:oMath>
                  </m:oMathPara>
                </a14:m>
                <a:endParaRPr kumimoji="1" lang="zh-CN" altLang="en-US" sz="2200" dirty="0">
                  <a:latin typeface="Cambria Math" panose="02040503050406030204" charset="0"/>
                  <a:ea typeface="黑体" panose="02010609060101010101" pitchFamily="49" charset="-122"/>
                </a:endParaRPr>
              </a:p>
            </p:txBody>
          </p:sp>
        </mc:Choice>
        <mc:Fallback>
          <p:sp>
            <p:nvSpPr>
              <p:cNvPr id="21" name="Object 15"/>
              <p:cNvSpPr txBox="1">
                <a:spLocks noRot="1" noChangeAspect="1" noMove="1" noResize="1" noEditPoints="1" noAdjustHandles="1" noChangeArrowheads="1" noChangeShapeType="1" noTextEdit="1"/>
              </p:cNvSpPr>
              <p:nvPr/>
            </p:nvSpPr>
            <p:spPr bwMode="auto">
              <a:xfrm>
                <a:off x="3239599" y="5288251"/>
                <a:ext cx="2027806" cy="933761"/>
              </a:xfrm>
              <a:prstGeom prst="rect">
                <a:avLst/>
              </a:prstGeom>
              <a:blipFill rotWithShape="1">
                <a:blip r:embed="rId6"/>
                <a:stretch>
                  <a:fillRect l="-23" t="-65" r="4" b="30"/>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Object 17"/>
              <p:cNvSpPr txBox="1"/>
              <p:nvPr/>
            </p:nvSpPr>
            <p:spPr bwMode="auto">
              <a:xfrm>
                <a:off x="3916613" y="1422015"/>
                <a:ext cx="1447801" cy="600523"/>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kumimoji="1" lang="zh-CN" altLang="en-US" sz="2200">
                          <a:latin typeface="Cambria Math" panose="02040503050406030204" charset="0"/>
                          <a:ea typeface="黑体" panose="02010609060101010101" pitchFamily="49" charset="-122"/>
                        </a:rPr>
                        <m:t>2</m:t>
                      </m:r>
                      <m:r>
                        <a:rPr kumimoji="1" lang="zh-CN" altLang="en-US" sz="2200">
                          <a:latin typeface="Cambria Math" panose="02040503050406030204" charset="0"/>
                          <a:ea typeface="黑体" panose="02010609060101010101" pitchFamily="49" charset="-122"/>
                        </a:rPr>
                        <m:t>𝑥</m:t>
                      </m:r>
                      <m:r>
                        <a:rPr kumimoji="1" lang="zh-CN" altLang="en-US" sz="2200">
                          <a:latin typeface="Cambria Math" panose="02040503050406030204" charset="0"/>
                          <a:ea typeface="黑体" panose="02010609060101010101" pitchFamily="49" charset="-122"/>
                        </a:rPr>
                        <m:t>+</m:t>
                      </m:r>
                      <m:r>
                        <a:rPr kumimoji="1" lang="zh-CN" altLang="en-US" sz="2200">
                          <a:latin typeface="Cambria Math" panose="02040503050406030204" charset="0"/>
                          <a:ea typeface="黑体" panose="02010609060101010101" pitchFamily="49" charset="-122"/>
                        </a:rPr>
                        <m:t>3</m:t>
                      </m:r>
                      <m:r>
                        <a:rPr kumimoji="1" lang="zh-CN" altLang="en-US" sz="2200">
                          <a:latin typeface="Cambria Math" panose="02040503050406030204" charset="0"/>
                          <a:ea typeface="黑体" panose="02010609060101010101" pitchFamily="49" charset="-122"/>
                        </a:rPr>
                        <m:t>𝑦</m:t>
                      </m:r>
                      <m:r>
                        <a:rPr kumimoji="1" lang="zh-CN" altLang="en-US" sz="2200">
                          <a:latin typeface="Cambria Math" panose="02040503050406030204" charset="0"/>
                          <a:ea typeface="黑体" panose="02010609060101010101" pitchFamily="49" charset="-122"/>
                        </a:rPr>
                        <m:t>,</m:t>
                      </m:r>
                    </m:oMath>
                  </m:oMathPara>
                </a14:m>
                <a:endParaRPr kumimoji="1" lang="zh-CN" altLang="en-US" sz="2200" dirty="0">
                  <a:latin typeface="Cambria Math" panose="02040503050406030204" charset="0"/>
                  <a:ea typeface="黑体" panose="02010609060101010101" pitchFamily="49" charset="-122"/>
                </a:endParaRPr>
              </a:p>
            </p:txBody>
          </p:sp>
        </mc:Choice>
        <mc:Fallback>
          <p:sp>
            <p:nvSpPr>
              <p:cNvPr id="22" name="Object 17"/>
              <p:cNvSpPr txBox="1">
                <a:spLocks noRot="1" noChangeAspect="1" noMove="1" noResize="1" noEditPoints="1" noAdjustHandles="1" noChangeArrowheads="1" noChangeShapeType="1" noTextEdit="1"/>
              </p:cNvSpPr>
              <p:nvPr/>
            </p:nvSpPr>
            <p:spPr bwMode="auto">
              <a:xfrm>
                <a:off x="3916613" y="1422015"/>
                <a:ext cx="1447801" cy="600523"/>
              </a:xfrm>
              <a:prstGeom prst="rect">
                <a:avLst/>
              </a:prstGeom>
              <a:blipFill rotWithShape="1">
                <a:blip r:embed="rId7"/>
                <a:stretch>
                  <a:fillRect l="-39" t="-42" r="39" b="10"/>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Object 18"/>
              <p:cNvSpPr txBox="1"/>
              <p:nvPr/>
            </p:nvSpPr>
            <p:spPr bwMode="auto">
              <a:xfrm>
                <a:off x="5051076" y="1254899"/>
                <a:ext cx="1004173" cy="791810"/>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f>
                        <m:fPr>
                          <m:ctrlPr>
                            <a:rPr kumimoji="1" lang="zh-CN" altLang="en-US" sz="2200" i="1">
                              <a:latin typeface="Cambria Math" panose="02040503050406030204" charset="0"/>
                              <a:ea typeface="黑体" panose="02010609060101010101" pitchFamily="49" charset="-122"/>
                            </a:rPr>
                          </m:ctrlPr>
                        </m:fPr>
                        <m:num>
                          <m:r>
                            <a:rPr kumimoji="1" lang="zh-CN" altLang="en-US" sz="2200">
                              <a:latin typeface="Cambria Math" panose="02040503050406030204" charset="0"/>
                              <a:ea typeface="黑体" panose="02010609060101010101" pitchFamily="49" charset="-122"/>
                            </a:rPr>
                            <m:t>𝜕</m:t>
                          </m:r>
                          <m:r>
                            <a:rPr kumimoji="1" lang="zh-CN" altLang="en-US" sz="2200">
                              <a:latin typeface="Cambria Math" panose="02040503050406030204" charset="0"/>
                              <a:ea typeface="黑体" panose="02010609060101010101" pitchFamily="49" charset="-122"/>
                            </a:rPr>
                            <m:t>​</m:t>
                          </m:r>
                          <m:r>
                            <a:rPr kumimoji="1" lang="zh-CN" altLang="en-US" sz="2200">
                              <a:latin typeface="Cambria Math" panose="02040503050406030204" charset="0"/>
                              <a:ea typeface="黑体" panose="02010609060101010101" pitchFamily="49" charset="-122"/>
                            </a:rPr>
                            <m:t>𝑧</m:t>
                          </m:r>
                        </m:num>
                        <m:den>
                          <m:r>
                            <a:rPr kumimoji="1" lang="zh-CN" altLang="en-US" sz="2200">
                              <a:latin typeface="Cambria Math" panose="02040503050406030204" charset="0"/>
                              <a:ea typeface="黑体" panose="02010609060101010101" pitchFamily="49" charset="-122"/>
                            </a:rPr>
                            <m:t>𝜕</m:t>
                          </m:r>
                          <m:r>
                            <a:rPr kumimoji="1" lang="zh-CN" altLang="en-US" sz="2200">
                              <a:latin typeface="Cambria Math" panose="02040503050406030204" charset="0"/>
                              <a:ea typeface="黑体" panose="02010609060101010101" pitchFamily="49" charset="-122"/>
                            </a:rPr>
                            <m:t>​</m:t>
                          </m:r>
                          <m:r>
                            <a:rPr kumimoji="1" lang="zh-CN" altLang="en-US" sz="2200">
                              <a:latin typeface="Cambria Math" panose="02040503050406030204" charset="0"/>
                              <a:ea typeface="黑体" panose="02010609060101010101" pitchFamily="49" charset="-122"/>
                            </a:rPr>
                            <m:t>𝑦</m:t>
                          </m:r>
                        </m:den>
                      </m:f>
                      <m:r>
                        <a:rPr kumimoji="1" lang="zh-CN" altLang="en-US" sz="2200">
                          <a:latin typeface="Cambria Math" panose="02040503050406030204" charset="0"/>
                          <a:ea typeface="黑体" panose="02010609060101010101" pitchFamily="49" charset="-122"/>
                        </a:rPr>
                        <m:t>=</m:t>
                      </m:r>
                    </m:oMath>
                  </m:oMathPara>
                </a14:m>
                <a:endParaRPr kumimoji="1" lang="zh-CN" altLang="en-US" sz="2200" dirty="0">
                  <a:latin typeface="Cambria Math" panose="02040503050406030204" charset="0"/>
                  <a:ea typeface="黑体" panose="02010609060101010101" pitchFamily="49" charset="-122"/>
                </a:endParaRPr>
              </a:p>
            </p:txBody>
          </p:sp>
        </mc:Choice>
        <mc:Fallback>
          <p:sp>
            <p:nvSpPr>
              <p:cNvPr id="23" name="Object 18"/>
              <p:cNvSpPr txBox="1">
                <a:spLocks noRot="1" noChangeAspect="1" noMove="1" noResize="1" noEditPoints="1" noAdjustHandles="1" noChangeArrowheads="1" noChangeShapeType="1" noTextEdit="1"/>
              </p:cNvSpPr>
              <p:nvPr/>
            </p:nvSpPr>
            <p:spPr bwMode="auto">
              <a:xfrm>
                <a:off x="5051076" y="1254899"/>
                <a:ext cx="1004173" cy="791810"/>
              </a:xfrm>
              <a:prstGeom prst="rect">
                <a:avLst/>
              </a:prstGeom>
              <a:blipFill rotWithShape="1">
                <a:blip r:embed="rId8"/>
                <a:stretch>
                  <a:fillRect l="-28" t="-18" r="52" b="13"/>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 name="Object 19"/>
              <p:cNvSpPr txBox="1"/>
              <p:nvPr/>
            </p:nvSpPr>
            <p:spPr bwMode="auto">
              <a:xfrm>
                <a:off x="5694357" y="1430086"/>
                <a:ext cx="1784470" cy="409139"/>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latin typeface="Cambria Math" panose="02040503050406030204" charset="0"/>
                          <a:ea typeface="黑体" panose="02010609060101010101" pitchFamily="49" charset="-122"/>
                        </a:rPr>
                        <m:t>3</m:t>
                      </m:r>
                      <m:r>
                        <a:rPr kumimoji="1" lang="zh-CN" altLang="en-US" sz="2200">
                          <a:latin typeface="Cambria Math" panose="02040503050406030204" charset="0"/>
                          <a:ea typeface="黑体" panose="02010609060101010101" pitchFamily="49" charset="-122"/>
                        </a:rPr>
                        <m:t>𝑥</m:t>
                      </m:r>
                      <m:r>
                        <a:rPr kumimoji="1" lang="zh-CN" altLang="en-US" sz="2200">
                          <a:latin typeface="Cambria Math" panose="02040503050406030204" charset="0"/>
                          <a:ea typeface="黑体" panose="02010609060101010101" pitchFamily="49" charset="-122"/>
                        </a:rPr>
                        <m:t>+</m:t>
                      </m:r>
                      <m:r>
                        <a:rPr kumimoji="1" lang="zh-CN" altLang="en-US" sz="2200">
                          <a:latin typeface="Cambria Math" panose="02040503050406030204" charset="0"/>
                          <a:ea typeface="黑体" panose="02010609060101010101" pitchFamily="49" charset="-122"/>
                        </a:rPr>
                        <m:t>2</m:t>
                      </m:r>
                      <m:r>
                        <a:rPr kumimoji="1" lang="zh-CN" altLang="en-US" sz="2200">
                          <a:latin typeface="Cambria Math" panose="02040503050406030204" charset="0"/>
                          <a:ea typeface="黑体" panose="02010609060101010101" pitchFamily="49" charset="-122"/>
                        </a:rPr>
                        <m:t>𝑦</m:t>
                      </m:r>
                      <m:r>
                        <a:rPr kumimoji="1" lang="zh-CN" altLang="en-US" sz="2200">
                          <a:latin typeface="Cambria Math" panose="02040503050406030204" charset="0"/>
                          <a:ea typeface="黑体" panose="02010609060101010101" pitchFamily="49" charset="-122"/>
                        </a:rPr>
                        <m:t>.</m:t>
                      </m:r>
                    </m:oMath>
                  </m:oMathPara>
                </a14:m>
                <a:endParaRPr kumimoji="1" lang="zh-CN" altLang="en-US" sz="2200" dirty="0">
                  <a:latin typeface="Cambria Math" panose="02040503050406030204" charset="0"/>
                  <a:ea typeface="黑体" panose="02010609060101010101" pitchFamily="49" charset="-122"/>
                </a:endParaRPr>
              </a:p>
            </p:txBody>
          </p:sp>
        </mc:Choice>
        <mc:Fallback>
          <p:sp>
            <p:nvSpPr>
              <p:cNvPr id="24" name="Object 19"/>
              <p:cNvSpPr txBox="1">
                <a:spLocks noRot="1" noChangeAspect="1" noMove="1" noResize="1" noEditPoints="1" noAdjustHandles="1" noChangeArrowheads="1" noChangeShapeType="1" noTextEdit="1"/>
              </p:cNvSpPr>
              <p:nvPr/>
            </p:nvSpPr>
            <p:spPr bwMode="auto">
              <a:xfrm>
                <a:off x="5694357" y="1430086"/>
                <a:ext cx="1784470" cy="409139"/>
              </a:xfrm>
              <a:prstGeom prst="rect">
                <a:avLst/>
              </a:prstGeom>
              <a:blipFill rotWithShape="1">
                <a:blip r:embed="rId9"/>
                <a:stretch>
                  <a:fillRect l="-17" t="-16" r="24" b="65"/>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 name="Object 20"/>
              <p:cNvSpPr txBox="1"/>
              <p:nvPr/>
            </p:nvSpPr>
            <p:spPr bwMode="auto">
              <a:xfrm>
                <a:off x="4437389" y="2248171"/>
                <a:ext cx="2470662" cy="409139"/>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latin typeface="Cambria Math" panose="02040503050406030204" charset="0"/>
                          <a:ea typeface="黑体" panose="02010609060101010101" pitchFamily="49" charset="-122"/>
                        </a:rPr>
                        <m:t>=</m:t>
                      </m:r>
                      <m:r>
                        <a:rPr kumimoji="1" lang="zh-CN" altLang="en-US" sz="2200">
                          <a:latin typeface="Cambria Math" panose="02040503050406030204" charset="0"/>
                          <a:ea typeface="黑体" panose="02010609060101010101" pitchFamily="49" charset="-122"/>
                        </a:rPr>
                        <m:t>2</m:t>
                      </m:r>
                      <m:r>
                        <a:rPr kumimoji="1" lang="zh-CN" altLang="en-US" sz="2200">
                          <a:latin typeface="Cambria Math" panose="02040503050406030204" charset="0"/>
                          <a:ea typeface="黑体" panose="02010609060101010101" pitchFamily="49" charset="-122"/>
                        </a:rPr>
                        <m:t>⋅</m:t>
                      </m:r>
                      <m:r>
                        <a:rPr kumimoji="1" lang="zh-CN" altLang="en-US" sz="2200">
                          <a:latin typeface="Cambria Math" panose="02040503050406030204" charset="0"/>
                          <a:ea typeface="黑体" panose="02010609060101010101" pitchFamily="49" charset="-122"/>
                        </a:rPr>
                        <m:t>1</m:t>
                      </m:r>
                      <m:r>
                        <a:rPr kumimoji="1" lang="zh-CN" altLang="en-US" sz="2200">
                          <a:latin typeface="Cambria Math" panose="02040503050406030204" charset="0"/>
                          <a:ea typeface="黑体" panose="02010609060101010101" pitchFamily="49" charset="-122"/>
                        </a:rPr>
                        <m:t>+</m:t>
                      </m:r>
                      <m:r>
                        <a:rPr kumimoji="1" lang="zh-CN" altLang="en-US" sz="2200">
                          <a:latin typeface="Cambria Math" panose="02040503050406030204" charset="0"/>
                          <a:ea typeface="黑体" panose="02010609060101010101" pitchFamily="49" charset="-122"/>
                        </a:rPr>
                        <m:t>3</m:t>
                      </m:r>
                      <m:r>
                        <a:rPr kumimoji="1" lang="zh-CN" altLang="en-US" sz="2200">
                          <a:latin typeface="Cambria Math" panose="02040503050406030204" charset="0"/>
                          <a:ea typeface="黑体" panose="02010609060101010101" pitchFamily="49" charset="-122"/>
                        </a:rPr>
                        <m:t>⋅</m:t>
                      </m:r>
                      <m:r>
                        <a:rPr kumimoji="1" lang="zh-CN" altLang="en-US" sz="2200">
                          <a:latin typeface="Cambria Math" panose="02040503050406030204" charset="0"/>
                          <a:ea typeface="黑体" panose="02010609060101010101" pitchFamily="49" charset="-122"/>
                        </a:rPr>
                        <m:t>2</m:t>
                      </m:r>
                      <m:r>
                        <a:rPr kumimoji="1" lang="zh-CN" altLang="en-US" sz="2200">
                          <a:latin typeface="Cambria Math" panose="02040503050406030204" charset="0"/>
                          <a:ea typeface="黑体" panose="02010609060101010101" pitchFamily="49" charset="-122"/>
                        </a:rPr>
                        <m:t>=</m:t>
                      </m:r>
                      <m:r>
                        <a:rPr kumimoji="1" lang="zh-CN" altLang="en-US" sz="2200">
                          <a:latin typeface="Cambria Math" panose="02040503050406030204" charset="0"/>
                          <a:ea typeface="黑体" panose="02010609060101010101" pitchFamily="49" charset="-122"/>
                        </a:rPr>
                        <m:t>8</m:t>
                      </m:r>
                      <m:r>
                        <a:rPr kumimoji="1" lang="zh-CN" altLang="en-US" sz="2200">
                          <a:latin typeface="Cambria Math" panose="02040503050406030204" charset="0"/>
                          <a:ea typeface="黑体" panose="02010609060101010101" pitchFamily="49" charset="-122"/>
                        </a:rPr>
                        <m:t>,</m:t>
                      </m:r>
                    </m:oMath>
                  </m:oMathPara>
                </a14:m>
                <a:endParaRPr kumimoji="1" lang="zh-CN" altLang="en-US" sz="2200" dirty="0">
                  <a:latin typeface="Cambria Math" panose="02040503050406030204" charset="0"/>
                  <a:ea typeface="黑体" panose="02010609060101010101" pitchFamily="49" charset="-122"/>
                </a:endParaRPr>
              </a:p>
            </p:txBody>
          </p:sp>
        </mc:Choice>
        <mc:Fallback>
          <p:sp>
            <p:nvSpPr>
              <p:cNvPr id="25" name="Object 20"/>
              <p:cNvSpPr txBox="1">
                <a:spLocks noRot="1" noChangeAspect="1" noMove="1" noResize="1" noEditPoints="1" noAdjustHandles="1" noChangeArrowheads="1" noChangeShapeType="1" noTextEdit="1"/>
              </p:cNvSpPr>
              <p:nvPr/>
            </p:nvSpPr>
            <p:spPr bwMode="auto">
              <a:xfrm>
                <a:off x="4437389" y="2248171"/>
                <a:ext cx="2470662" cy="409139"/>
              </a:xfrm>
              <a:prstGeom prst="rect">
                <a:avLst/>
              </a:prstGeom>
              <a:blipFill rotWithShape="1">
                <a:blip r:embed="rId10"/>
                <a:stretch>
                  <a:fillRect t="-66" r="21" b="115"/>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 name="Object 21"/>
              <p:cNvSpPr txBox="1"/>
              <p:nvPr/>
            </p:nvSpPr>
            <p:spPr bwMode="auto">
              <a:xfrm>
                <a:off x="6812068" y="2024026"/>
                <a:ext cx="2058492" cy="1018557"/>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sSub>
                        <m:sSubPr>
                          <m:ctrlPr>
                            <a:rPr kumimoji="1" lang="zh-CN" altLang="en-US" sz="2200" i="1" dirty="0" smtClean="0">
                              <a:latin typeface="Cambria Math" panose="02040503050406030204" charset="0"/>
                              <a:ea typeface="黑体" panose="02010609060101010101" pitchFamily="49" charset="-122"/>
                            </a:rPr>
                          </m:ctrlPr>
                        </m:sSubPr>
                        <m:e>
                          <m:d>
                            <m:dPr>
                              <m:begChr m:val=""/>
                              <m:endChr m:val="|"/>
                              <m:ctrlPr>
                                <a:rPr kumimoji="1" lang="zh-CN" altLang="en-US" sz="2200" i="1" dirty="0">
                                  <a:latin typeface="Cambria Math" panose="02040503050406030204" charset="0"/>
                                  <a:ea typeface="黑体" panose="02010609060101010101" pitchFamily="49" charset="-122"/>
                                </a:rPr>
                              </m:ctrlPr>
                            </m:dPr>
                            <m:e>
                              <m:f>
                                <m:fPr>
                                  <m:ctrlPr>
                                    <a:rPr kumimoji="1" lang="zh-CN" altLang="en-US" sz="2200" i="1" dirty="0">
                                      <a:latin typeface="Cambria Math" panose="02040503050406030204" charset="0"/>
                                      <a:ea typeface="黑体" panose="02010609060101010101" pitchFamily="49" charset="-122"/>
                                    </a:rPr>
                                  </m:ctrlPr>
                                </m:fPr>
                                <m:num>
                                  <m:r>
                                    <a:rPr kumimoji="1" lang="zh-CN" altLang="en-US" sz="2200" dirty="0">
                                      <a:latin typeface="Cambria Math" panose="02040503050406030204" charset="0"/>
                                      <a:ea typeface="黑体" panose="02010609060101010101" pitchFamily="49" charset="-122"/>
                                    </a:rPr>
                                    <m:t>𝜕</m:t>
                                  </m:r>
                                  <m:r>
                                    <a:rPr kumimoji="1" lang="zh-CN" altLang="en-US" sz="2200" dirty="0">
                                      <a:latin typeface="Cambria Math" panose="02040503050406030204" charset="0"/>
                                      <a:ea typeface="黑体" panose="02010609060101010101" pitchFamily="49" charset="-122"/>
                                    </a:rPr>
                                    <m:t>𝑧</m:t>
                                  </m:r>
                                </m:num>
                                <m:den>
                                  <m:r>
                                    <a:rPr kumimoji="1" lang="zh-CN" altLang="en-US" sz="2200" dirty="0">
                                      <a:latin typeface="Cambria Math" panose="02040503050406030204" charset="0"/>
                                      <a:ea typeface="黑体" panose="02010609060101010101" pitchFamily="49" charset="-122"/>
                                    </a:rPr>
                                    <m:t>𝜕</m:t>
                                  </m:r>
                                  <m:r>
                                    <m:rPr>
                                      <m:sty m:val="p"/>
                                    </m:rPr>
                                    <a:rPr kumimoji="1" lang="en-US" altLang="zh-CN" sz="2200" dirty="0">
                                      <a:latin typeface="Cambria Math" panose="02040503050406030204" charset="0"/>
                                      <a:ea typeface="黑体" panose="02010609060101010101" pitchFamily="49" charset="-122"/>
                                    </a:rPr>
                                    <m:t>y</m:t>
                                  </m:r>
                                </m:den>
                              </m:f>
                            </m:e>
                          </m:d>
                        </m:e>
                        <m:sub>
                          <m:eqArr>
                            <m:eqArrPr>
                              <m:ctrlPr>
                                <a:rPr kumimoji="1" lang="en-US" altLang="zh-CN" sz="2000" i="1" dirty="0">
                                  <a:latin typeface="Cambria Math" panose="02040503050406030204" charset="0"/>
                                  <a:ea typeface="宋体" panose="02010600030101010101" pitchFamily="2" charset="-122"/>
                                </a:rPr>
                              </m:ctrlPr>
                            </m:eqArrPr>
                            <m:e>
                              <m:r>
                                <a:rPr kumimoji="1" lang="en-US" altLang="zh-CN" sz="2000" i="1" dirty="0">
                                  <a:latin typeface="Cambria Math" panose="02040503050406030204" charset="0"/>
                                  <a:ea typeface="宋体" panose="02010600030101010101" pitchFamily="2" charset="-122"/>
                                </a:rPr>
                                <m:t>𝑥</m:t>
                              </m:r>
                              <m:r>
                                <a:rPr kumimoji="1" lang="en-US" altLang="zh-CN" sz="2000" i="1" dirty="0">
                                  <a:latin typeface="Cambria Math" panose="02040503050406030204" charset="0"/>
                                  <a:ea typeface="宋体" panose="02010600030101010101" pitchFamily="2" charset="-122"/>
                                </a:rPr>
                                <m:t>=</m:t>
                              </m:r>
                              <m:r>
                                <a:rPr kumimoji="1" lang="en-US" altLang="zh-CN" sz="2000" i="1" dirty="0">
                                  <a:latin typeface="Cambria Math" panose="02040503050406030204" charset="0"/>
                                  <a:ea typeface="宋体" panose="02010600030101010101" pitchFamily="2" charset="-122"/>
                                </a:rPr>
                                <m:t>1</m:t>
                              </m:r>
                            </m:e>
                            <m:e>
                              <m:r>
                                <a:rPr kumimoji="1" lang="en-US" altLang="zh-CN" sz="2000" i="1">
                                  <a:solidFill>
                                    <a:schemeClr val="tx1">
                                      <a:lumMod val="95000"/>
                                      <a:lumOff val="5000"/>
                                    </a:schemeClr>
                                  </a:solidFill>
                                  <a:latin typeface="Cambria Math" panose="02040503050406030204" charset="0"/>
                                  <a:ea typeface="黑体" panose="02010609060101010101" pitchFamily="49" charset="-122"/>
                                </a:rPr>
                                <m:t>𝑦</m:t>
                              </m:r>
                              <m:r>
                                <a:rPr kumimoji="1" lang="en-US" altLang="zh-CN" sz="2000" i="1" dirty="0">
                                  <a:latin typeface="Cambria Math" panose="02040503050406030204" charset="0"/>
                                  <a:ea typeface="宋体" panose="02010600030101010101" pitchFamily="2" charset="-122"/>
                                </a:rPr>
                                <m:t>=</m:t>
                              </m:r>
                              <m:r>
                                <a:rPr kumimoji="1" lang="en-US" altLang="zh-CN" sz="2000" i="1">
                                  <a:solidFill>
                                    <a:schemeClr val="tx1">
                                      <a:lumMod val="95000"/>
                                      <a:lumOff val="5000"/>
                                    </a:schemeClr>
                                  </a:solidFill>
                                  <a:latin typeface="Cambria Math" panose="02040503050406030204" charset="0"/>
                                  <a:ea typeface="黑体" panose="02010609060101010101" pitchFamily="49" charset="-122"/>
                                </a:rPr>
                                <m:t>2</m:t>
                              </m:r>
                            </m:e>
                          </m:eqArr>
                        </m:sub>
                      </m:sSub>
                    </m:oMath>
                  </m:oMathPara>
                </a14:m>
                <a:endParaRPr kumimoji="1" lang="zh-CN" altLang="en-US" sz="2200" dirty="0">
                  <a:latin typeface="Cambria Math" panose="02040503050406030204" charset="0"/>
                  <a:ea typeface="黑体" panose="02010609060101010101" pitchFamily="49" charset="-122"/>
                </a:endParaRPr>
              </a:p>
            </p:txBody>
          </p:sp>
        </mc:Choice>
        <mc:Fallback>
          <p:sp>
            <p:nvSpPr>
              <p:cNvPr id="26" name="Object 21"/>
              <p:cNvSpPr txBox="1">
                <a:spLocks noRot="1" noChangeAspect="1" noMove="1" noResize="1" noEditPoints="1" noAdjustHandles="1" noChangeArrowheads="1" noChangeShapeType="1" noTextEdit="1"/>
              </p:cNvSpPr>
              <p:nvPr/>
            </p:nvSpPr>
            <p:spPr bwMode="auto">
              <a:xfrm>
                <a:off x="6812068" y="2024026"/>
                <a:ext cx="2058492" cy="1018557"/>
              </a:xfrm>
              <a:prstGeom prst="rect">
                <a:avLst/>
              </a:prstGeom>
              <a:blipFill rotWithShape="1">
                <a:blip r:embed="rId11"/>
                <a:stretch>
                  <a:fillRect l="-21" t="-28" r="12" b="29"/>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 name="Object 22"/>
              <p:cNvSpPr txBox="1"/>
              <p:nvPr/>
            </p:nvSpPr>
            <p:spPr bwMode="auto">
              <a:xfrm>
                <a:off x="7746944" y="2248171"/>
                <a:ext cx="2600382" cy="519112"/>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kumimoji="1" lang="zh-CN" altLang="en-US" sz="2200">
                          <a:latin typeface="Cambria Math" panose="02040503050406030204" charset="0"/>
                          <a:ea typeface="黑体" panose="02010609060101010101" pitchFamily="49" charset="-122"/>
                        </a:rPr>
                        <m:t>=​</m:t>
                      </m:r>
                      <m:r>
                        <a:rPr kumimoji="1" lang="zh-CN" altLang="en-US" sz="2200">
                          <a:latin typeface="Cambria Math" panose="02040503050406030204" charset="0"/>
                          <a:ea typeface="黑体" panose="02010609060101010101" pitchFamily="49" charset="-122"/>
                        </a:rPr>
                        <m:t>3</m:t>
                      </m:r>
                      <m:r>
                        <a:rPr kumimoji="1" lang="zh-CN" altLang="en-US" sz="2200">
                          <a:latin typeface="Cambria Math" panose="02040503050406030204" charset="0"/>
                          <a:ea typeface="黑体" panose="02010609060101010101" pitchFamily="49" charset="-122"/>
                        </a:rPr>
                        <m:t>⋅</m:t>
                      </m:r>
                      <m:r>
                        <a:rPr kumimoji="1" lang="zh-CN" altLang="en-US" sz="2200">
                          <a:latin typeface="Cambria Math" panose="02040503050406030204" charset="0"/>
                          <a:ea typeface="黑体" panose="02010609060101010101" pitchFamily="49" charset="-122"/>
                        </a:rPr>
                        <m:t>1</m:t>
                      </m:r>
                      <m:r>
                        <a:rPr kumimoji="1" lang="zh-CN" altLang="en-US" sz="2200">
                          <a:latin typeface="Cambria Math" panose="02040503050406030204" charset="0"/>
                          <a:ea typeface="黑体" panose="02010609060101010101" pitchFamily="49" charset="-122"/>
                        </a:rPr>
                        <m:t>+</m:t>
                      </m:r>
                      <m:r>
                        <a:rPr kumimoji="1" lang="zh-CN" altLang="en-US" sz="2200">
                          <a:latin typeface="Cambria Math" panose="02040503050406030204" charset="0"/>
                          <a:ea typeface="黑体" panose="02010609060101010101" pitchFamily="49" charset="-122"/>
                        </a:rPr>
                        <m:t>2</m:t>
                      </m:r>
                      <m:r>
                        <a:rPr kumimoji="1" lang="zh-CN" altLang="en-US" sz="2200">
                          <a:latin typeface="Cambria Math" panose="02040503050406030204" charset="0"/>
                          <a:ea typeface="黑体" panose="02010609060101010101" pitchFamily="49" charset="-122"/>
                        </a:rPr>
                        <m:t>⋅</m:t>
                      </m:r>
                      <m:r>
                        <a:rPr kumimoji="1" lang="zh-CN" altLang="en-US" sz="2200">
                          <a:latin typeface="Cambria Math" panose="02040503050406030204" charset="0"/>
                          <a:ea typeface="黑体" panose="02010609060101010101" pitchFamily="49" charset="-122"/>
                        </a:rPr>
                        <m:t>2</m:t>
                      </m:r>
                      <m:r>
                        <a:rPr kumimoji="1" lang="zh-CN" altLang="en-US" sz="2200">
                          <a:latin typeface="Cambria Math" panose="02040503050406030204" charset="0"/>
                          <a:ea typeface="黑体" panose="02010609060101010101" pitchFamily="49" charset="-122"/>
                        </a:rPr>
                        <m:t>=</m:t>
                      </m:r>
                      <m:r>
                        <a:rPr kumimoji="1" lang="zh-CN" altLang="en-US" sz="2200">
                          <a:latin typeface="Cambria Math" panose="02040503050406030204" charset="0"/>
                          <a:ea typeface="黑体" panose="02010609060101010101" pitchFamily="49" charset="-122"/>
                        </a:rPr>
                        <m:t>7</m:t>
                      </m:r>
                      <m:r>
                        <a:rPr kumimoji="1" lang="zh-CN" altLang="en-US" sz="2200">
                          <a:latin typeface="Cambria Math" panose="02040503050406030204" charset="0"/>
                          <a:ea typeface="黑体" panose="02010609060101010101" pitchFamily="49" charset="-122"/>
                        </a:rPr>
                        <m:t>.</m:t>
                      </m:r>
                    </m:oMath>
                  </m:oMathPara>
                </a14:m>
                <a:endParaRPr kumimoji="1" lang="zh-CN" altLang="en-US" sz="2200" dirty="0">
                  <a:latin typeface="Cambria Math" panose="02040503050406030204" charset="0"/>
                  <a:ea typeface="黑体" panose="02010609060101010101" pitchFamily="49" charset="-122"/>
                </a:endParaRPr>
              </a:p>
            </p:txBody>
          </p:sp>
        </mc:Choice>
        <mc:Fallback>
          <p:sp>
            <p:nvSpPr>
              <p:cNvPr id="27" name="Object 22"/>
              <p:cNvSpPr txBox="1">
                <a:spLocks noRot="1" noChangeAspect="1" noMove="1" noResize="1" noEditPoints="1" noAdjustHandles="1" noChangeArrowheads="1" noChangeShapeType="1" noTextEdit="1"/>
              </p:cNvSpPr>
              <p:nvPr/>
            </p:nvSpPr>
            <p:spPr bwMode="auto">
              <a:xfrm>
                <a:off x="7746944" y="2248171"/>
                <a:ext cx="2600382" cy="519112"/>
              </a:xfrm>
              <a:prstGeom prst="rect">
                <a:avLst/>
              </a:prstGeom>
              <a:blipFill rotWithShape="1">
                <a:blip r:embed="rId12"/>
                <a:stretch>
                  <a:fillRect l="-22" t="-52" b="113"/>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 name="Object 23"/>
              <p:cNvSpPr txBox="1"/>
              <p:nvPr/>
            </p:nvSpPr>
            <p:spPr bwMode="auto">
              <a:xfrm>
                <a:off x="4097626" y="3050728"/>
                <a:ext cx="2865966" cy="488327"/>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kumimoji="1" lang="zh-CN" altLang="en-US" sz="2200">
                          <a:latin typeface="Cambria Math" panose="02040503050406030204" charset="0"/>
                          <a:ea typeface="黑体" panose="02010609060101010101" pitchFamily="49" charset="-122"/>
                        </a:rPr>
                        <m:t>=</m:t>
                      </m:r>
                      <m:sSup>
                        <m:sSupPr>
                          <m:ctrlPr>
                            <a:rPr kumimoji="1" lang="zh-CN" altLang="en-US" sz="2200" i="1">
                              <a:latin typeface="Cambria Math" panose="02040503050406030204" charset="0"/>
                              <a:ea typeface="黑体" panose="02010609060101010101" pitchFamily="49" charset="-122"/>
                            </a:rPr>
                          </m:ctrlPr>
                        </m:sSupPr>
                        <m:e>
                          <m:r>
                            <a:rPr kumimoji="1" lang="zh-CN" altLang="en-US" sz="2200">
                              <a:latin typeface="Cambria Math" panose="02040503050406030204" charset="0"/>
                              <a:ea typeface="黑体" panose="02010609060101010101" pitchFamily="49" charset="-122"/>
                            </a:rPr>
                            <m:t>𝑥</m:t>
                          </m:r>
                        </m:e>
                        <m:sup>
                          <m:r>
                            <a:rPr kumimoji="1" lang="zh-CN" altLang="en-US" sz="2200">
                              <a:latin typeface="Cambria Math" panose="02040503050406030204" charset="0"/>
                              <a:ea typeface="黑体" panose="02010609060101010101" pitchFamily="49" charset="-122"/>
                            </a:rPr>
                            <m:t>2</m:t>
                          </m:r>
                        </m:sup>
                      </m:sSup>
                      <m:r>
                        <a:rPr kumimoji="1" lang="zh-CN" altLang="en-US" sz="2200">
                          <a:latin typeface="Cambria Math" panose="02040503050406030204" charset="0"/>
                          <a:ea typeface="黑体" panose="02010609060101010101" pitchFamily="49" charset="-122"/>
                        </a:rPr>
                        <m:t>+</m:t>
                      </m:r>
                      <m:r>
                        <a:rPr kumimoji="1" lang="zh-CN" altLang="en-US" sz="2200">
                          <a:latin typeface="Cambria Math" panose="02040503050406030204" charset="0"/>
                          <a:ea typeface="黑体" panose="02010609060101010101" pitchFamily="49" charset="-122"/>
                        </a:rPr>
                        <m:t>6</m:t>
                      </m:r>
                      <m:r>
                        <a:rPr kumimoji="1" lang="zh-CN" altLang="en-US" sz="2200">
                          <a:latin typeface="Cambria Math" panose="02040503050406030204" charset="0"/>
                          <a:ea typeface="黑体" panose="02010609060101010101" pitchFamily="49" charset="-122"/>
                        </a:rPr>
                        <m:t>​​</m:t>
                      </m:r>
                      <m:r>
                        <a:rPr kumimoji="1" lang="zh-CN" altLang="en-US" sz="2200">
                          <a:latin typeface="Cambria Math" panose="02040503050406030204" charset="0"/>
                          <a:ea typeface="黑体" panose="02010609060101010101" pitchFamily="49" charset="-122"/>
                        </a:rPr>
                        <m:t>𝑥</m:t>
                      </m:r>
                      <m:r>
                        <a:rPr kumimoji="1" lang="zh-CN" altLang="en-US" sz="2200">
                          <a:latin typeface="Cambria Math" panose="02040503050406030204" charset="0"/>
                          <a:ea typeface="黑体" panose="02010609060101010101" pitchFamily="49" charset="-122"/>
                        </a:rPr>
                        <m:t>+</m:t>
                      </m:r>
                      <m:r>
                        <a:rPr kumimoji="1" lang="zh-CN" altLang="en-US" sz="2200">
                          <a:latin typeface="Cambria Math" panose="02040503050406030204" charset="0"/>
                          <a:ea typeface="黑体" panose="02010609060101010101" pitchFamily="49" charset="-122"/>
                        </a:rPr>
                        <m:t>4</m:t>
                      </m:r>
                      <m:r>
                        <a:rPr kumimoji="1" lang="zh-CN" altLang="en-US" sz="2200">
                          <a:latin typeface="Cambria Math" panose="02040503050406030204" charset="0"/>
                          <a:ea typeface="黑体" panose="02010609060101010101" pitchFamily="49" charset="-122"/>
                        </a:rPr>
                        <m:t>,</m:t>
                      </m:r>
                    </m:oMath>
                  </m:oMathPara>
                </a14:m>
                <a:endParaRPr kumimoji="1" lang="zh-CN" altLang="en-US" sz="2200" dirty="0">
                  <a:latin typeface="Cambria Math" panose="02040503050406030204" charset="0"/>
                  <a:ea typeface="黑体" panose="02010609060101010101" pitchFamily="49" charset="-122"/>
                </a:endParaRPr>
              </a:p>
            </p:txBody>
          </p:sp>
        </mc:Choice>
        <mc:Fallback>
          <p:sp>
            <p:nvSpPr>
              <p:cNvPr id="28" name="Object 23"/>
              <p:cNvSpPr txBox="1">
                <a:spLocks noRot="1" noChangeAspect="1" noMove="1" noResize="1" noEditPoints="1" noAdjustHandles="1" noChangeArrowheads="1" noChangeShapeType="1" noTextEdit="1"/>
              </p:cNvSpPr>
              <p:nvPr/>
            </p:nvSpPr>
            <p:spPr bwMode="auto">
              <a:xfrm>
                <a:off x="4097626" y="3050728"/>
                <a:ext cx="2865966" cy="488327"/>
              </a:xfrm>
              <a:prstGeom prst="rect">
                <a:avLst/>
              </a:prstGeom>
              <a:blipFill rotWithShape="1">
                <a:blip r:embed="rId13"/>
                <a:stretch>
                  <a:fillRect l="-21" t="-38" r="6" b="41"/>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Object 24"/>
              <p:cNvSpPr txBox="1"/>
              <p:nvPr/>
            </p:nvSpPr>
            <p:spPr bwMode="auto">
              <a:xfrm>
                <a:off x="4097626" y="3790179"/>
                <a:ext cx="2282854" cy="652997"/>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sSub>
                        <m:sSubPr>
                          <m:ctrlPr>
                            <a:rPr kumimoji="1" lang="zh-CN" altLang="en-US" sz="2200" i="1" dirty="0">
                              <a:latin typeface="Cambria Math" panose="02040503050406030204" charset="0"/>
                              <a:ea typeface="黑体" panose="02010609060101010101" pitchFamily="49" charset="-122"/>
                            </a:rPr>
                          </m:ctrlPr>
                        </m:sSubPr>
                        <m:e>
                          <m:d>
                            <m:dPr>
                              <m:begChr m:val=""/>
                              <m:endChr m:val="|"/>
                              <m:ctrlPr>
                                <a:rPr kumimoji="1" lang="zh-CN" altLang="en-US" sz="2200" i="1" dirty="0">
                                  <a:latin typeface="Cambria Math" panose="02040503050406030204" charset="0"/>
                                  <a:ea typeface="黑体" panose="02010609060101010101" pitchFamily="49" charset="-122"/>
                                </a:rPr>
                              </m:ctrlPr>
                            </m:dPr>
                            <m:e>
                              <m:r>
                                <a:rPr kumimoji="1" lang="zh-CN" altLang="en-US" sz="2200">
                                  <a:latin typeface="Cambria Math" panose="02040503050406030204" charset="0"/>
                                  <a:ea typeface="黑体" panose="02010609060101010101" pitchFamily="49" charset="-122"/>
                                </a:rPr>
                                <m:t>=(</m:t>
                              </m:r>
                              <m:r>
                                <a:rPr kumimoji="1" lang="zh-CN" altLang="en-US" sz="2200">
                                  <a:latin typeface="Cambria Math" panose="02040503050406030204" charset="0"/>
                                  <a:ea typeface="黑体" panose="02010609060101010101" pitchFamily="49" charset="-122"/>
                                </a:rPr>
                                <m:t>2</m:t>
                              </m:r>
                              <m:r>
                                <a:rPr kumimoji="1" lang="zh-CN" altLang="en-US" sz="2200">
                                  <a:latin typeface="Cambria Math" panose="02040503050406030204" charset="0"/>
                                  <a:ea typeface="黑体" panose="02010609060101010101" pitchFamily="49" charset="-122"/>
                                </a:rPr>
                                <m:t>𝑥</m:t>
                              </m:r>
                              <m:r>
                                <a:rPr kumimoji="1" lang="zh-CN" altLang="en-US" sz="2200">
                                  <a:latin typeface="Cambria Math" panose="02040503050406030204" charset="0"/>
                                  <a:ea typeface="黑体" panose="02010609060101010101" pitchFamily="49" charset="-122"/>
                                </a:rPr>
                                <m:t>+</m:t>
                              </m:r>
                              <m:r>
                                <a:rPr kumimoji="1" lang="zh-CN" altLang="en-US" sz="2200">
                                  <a:latin typeface="Cambria Math" panose="02040503050406030204" charset="0"/>
                                  <a:ea typeface="黑体" panose="02010609060101010101" pitchFamily="49" charset="-122"/>
                                </a:rPr>
                                <m:t>6</m:t>
                              </m:r>
                              <m:r>
                                <a:rPr kumimoji="1" lang="zh-CN" altLang="en-US" sz="2200">
                                  <a:latin typeface="Cambria Math" panose="02040503050406030204" charset="0"/>
                                  <a:ea typeface="黑体" panose="02010609060101010101" pitchFamily="49" charset="-122"/>
                                </a:rPr>
                                <m:t>)</m:t>
                              </m:r>
                            </m:e>
                          </m:d>
                        </m:e>
                        <m:sub>
                          <m:r>
                            <a:rPr kumimoji="1" lang="zh-CN" altLang="en-US" sz="2200">
                              <a:latin typeface="Cambria Math" panose="02040503050406030204" charset="0"/>
                              <a:ea typeface="黑体" panose="02010609060101010101" pitchFamily="49" charset="-122"/>
                            </a:rPr>
                            <m:t>𝑥</m:t>
                          </m:r>
                          <m:r>
                            <a:rPr kumimoji="1" lang="zh-CN" altLang="en-US" sz="2200">
                              <a:latin typeface="Cambria Math" panose="02040503050406030204" charset="0"/>
                              <a:ea typeface="黑体" panose="02010609060101010101" pitchFamily="49" charset="-122"/>
                            </a:rPr>
                            <m:t>=</m:t>
                          </m:r>
                          <m:r>
                            <a:rPr kumimoji="1" lang="zh-CN" altLang="en-US" sz="2200">
                              <a:latin typeface="Cambria Math" panose="02040503050406030204" charset="0"/>
                              <a:ea typeface="黑体" panose="02010609060101010101" pitchFamily="49" charset="-122"/>
                            </a:rPr>
                            <m:t>1</m:t>
                          </m:r>
                        </m:sub>
                      </m:sSub>
                    </m:oMath>
                  </m:oMathPara>
                </a14:m>
                <a:endParaRPr kumimoji="1" lang="zh-CN" altLang="en-US" sz="2200" dirty="0">
                  <a:latin typeface="Cambria Math" panose="02040503050406030204" charset="0"/>
                  <a:ea typeface="黑体" panose="02010609060101010101" pitchFamily="49" charset="-122"/>
                </a:endParaRPr>
              </a:p>
            </p:txBody>
          </p:sp>
        </mc:Choice>
        <mc:Fallback>
          <p:sp>
            <p:nvSpPr>
              <p:cNvPr id="29" name="Object 24"/>
              <p:cNvSpPr txBox="1">
                <a:spLocks noRot="1" noChangeAspect="1" noMove="1" noResize="1" noEditPoints="1" noAdjustHandles="1" noChangeArrowheads="1" noChangeShapeType="1" noTextEdit="1"/>
              </p:cNvSpPr>
              <p:nvPr/>
            </p:nvSpPr>
            <p:spPr bwMode="auto">
              <a:xfrm>
                <a:off x="4097626" y="3790179"/>
                <a:ext cx="2282854" cy="652997"/>
              </a:xfrm>
              <a:prstGeom prst="rect">
                <a:avLst/>
              </a:prstGeom>
              <a:blipFill rotWithShape="1">
                <a:blip r:embed="rId14"/>
                <a:stretch>
                  <a:fillRect l="-27" t="-76" b="12"/>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 name="Object 26"/>
              <p:cNvSpPr txBox="1"/>
              <p:nvPr/>
            </p:nvSpPr>
            <p:spPr bwMode="auto">
              <a:xfrm>
                <a:off x="5982920" y="3866452"/>
                <a:ext cx="829148" cy="382743"/>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latin typeface="Cambria Math" panose="02040503050406030204" charset="0"/>
                          <a:ea typeface="黑体" panose="02010609060101010101" pitchFamily="49" charset="-122"/>
                        </a:rPr>
                        <m:t>=</m:t>
                      </m:r>
                      <m:r>
                        <a:rPr kumimoji="1" lang="zh-CN" altLang="en-US" sz="2200">
                          <a:latin typeface="Cambria Math" panose="02040503050406030204" charset="0"/>
                          <a:ea typeface="黑体" panose="02010609060101010101" pitchFamily="49" charset="-122"/>
                        </a:rPr>
                        <m:t>8</m:t>
                      </m:r>
                      <m:r>
                        <a:rPr kumimoji="1" lang="zh-CN" altLang="en-US" sz="2200">
                          <a:latin typeface="Cambria Math" panose="02040503050406030204" charset="0"/>
                          <a:ea typeface="黑体" panose="02010609060101010101" pitchFamily="49" charset="-122"/>
                        </a:rPr>
                        <m:t>,</m:t>
                      </m:r>
                    </m:oMath>
                  </m:oMathPara>
                </a14:m>
                <a:endParaRPr kumimoji="1" lang="zh-CN" altLang="en-US" sz="2200" dirty="0">
                  <a:latin typeface="Cambria Math" panose="02040503050406030204" charset="0"/>
                  <a:ea typeface="黑体" panose="02010609060101010101" pitchFamily="49" charset="-122"/>
                </a:endParaRPr>
              </a:p>
            </p:txBody>
          </p:sp>
        </mc:Choice>
        <mc:Fallback>
          <p:sp>
            <p:nvSpPr>
              <p:cNvPr id="30" name="Object 26"/>
              <p:cNvSpPr txBox="1">
                <a:spLocks noRot="1" noChangeAspect="1" noMove="1" noResize="1" noEditPoints="1" noAdjustHandles="1" noChangeArrowheads="1" noChangeShapeType="1" noTextEdit="1"/>
              </p:cNvSpPr>
              <p:nvPr/>
            </p:nvSpPr>
            <p:spPr bwMode="auto">
              <a:xfrm>
                <a:off x="5982920" y="3866452"/>
                <a:ext cx="829148" cy="382743"/>
              </a:xfrm>
              <a:prstGeom prst="rect">
                <a:avLst/>
              </a:prstGeom>
              <a:blipFill rotWithShape="1">
                <a:blip r:embed="rId15"/>
                <a:stretch>
                  <a:fillRect l="-71" t="-149" r="51" b="107"/>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 name="Object 27"/>
              <p:cNvSpPr txBox="1"/>
              <p:nvPr/>
            </p:nvSpPr>
            <p:spPr bwMode="auto">
              <a:xfrm>
                <a:off x="3239599" y="4626003"/>
                <a:ext cx="1153802" cy="580387"/>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sSub>
                        <m:sSubPr>
                          <m:ctrlPr>
                            <a:rPr kumimoji="1" lang="zh-CN" altLang="en-US" sz="2200" i="1" dirty="0" smtClean="0">
                              <a:latin typeface="Cambria Math" panose="02040503050406030204" charset="0"/>
                              <a:ea typeface="黑体" panose="02010609060101010101" pitchFamily="49" charset="-122"/>
                              <a:cs typeface="Cambria Math" panose="02040503050406030204" charset="0"/>
                            </a:rPr>
                          </m:ctrlPr>
                        </m:sSubPr>
                        <m:e>
                          <m:d>
                            <m:dPr>
                              <m:begChr m:val=""/>
                              <m:endChr m:val="|"/>
                              <m:ctrlPr>
                                <a:rPr kumimoji="1" lang="zh-CN" altLang="en-US" sz="2200" i="1" dirty="0">
                                  <a:latin typeface="Cambria Math" panose="02040503050406030204" charset="0"/>
                                  <a:ea typeface="黑体" panose="02010609060101010101" pitchFamily="49" charset="-122"/>
                                  <a:cs typeface="Cambria Math" panose="02040503050406030204" charset="0"/>
                                </a:rPr>
                              </m:ctrlPr>
                            </m:dPr>
                            <m:e>
                              <m:r>
                                <a:rPr kumimoji="1" lang="en-US" altLang="zh-CN" sz="2200" dirty="0">
                                  <a:latin typeface="Cambria Math" panose="02040503050406030204" charset="0"/>
                                  <a:ea typeface="黑体" panose="02010609060101010101" pitchFamily="49" charset="-122"/>
                                  <a:cs typeface="Cambria Math" panose="02040503050406030204" charset="0"/>
                                </a:rPr>
                                <m:t>𝑧</m:t>
                              </m:r>
                            </m:e>
                          </m:d>
                        </m:e>
                        <m:sub>
                          <m:r>
                            <a:rPr kumimoji="1" lang="en-US" altLang="zh-CN" sz="2200" b="0" i="1" dirty="0" smtClean="0">
                              <a:latin typeface="Cambria Math" panose="02040503050406030204" charset="0"/>
                              <a:ea typeface="黑体" panose="02010609060101010101" pitchFamily="49" charset="-122"/>
                              <a:cs typeface="Cambria Math" panose="02040503050406030204" charset="0"/>
                            </a:rPr>
                            <m:t>𝑥</m:t>
                          </m:r>
                          <m:r>
                            <a:rPr kumimoji="1" lang="en-US" altLang="zh-CN" sz="2200" dirty="0">
                              <a:latin typeface="Cambria Math" panose="02040503050406030204" charset="0"/>
                              <a:ea typeface="黑体" panose="02010609060101010101" pitchFamily="49" charset="-122"/>
                              <a:cs typeface="Cambria Math" panose="02040503050406030204" charset="0"/>
                            </a:rPr>
                            <m:t>=</m:t>
                          </m:r>
                          <m:r>
                            <a:rPr kumimoji="1" lang="en-US" altLang="zh-CN" sz="2200" b="0" i="0" dirty="0" smtClean="0">
                              <a:latin typeface="Cambria Math" panose="02040503050406030204" charset="0"/>
                              <a:ea typeface="黑体" panose="02010609060101010101" pitchFamily="49" charset="-122"/>
                              <a:cs typeface="Cambria Math" panose="02040503050406030204" charset="0"/>
                            </a:rPr>
                            <m:t>1</m:t>
                          </m:r>
                        </m:sub>
                      </m:sSub>
                    </m:oMath>
                  </m:oMathPara>
                </a14:m>
                <a:endParaRPr kumimoji="1" lang="zh-CN" altLang="en-US" sz="2200" dirty="0">
                  <a:latin typeface="Cambria Math" panose="02040503050406030204" charset="0"/>
                  <a:ea typeface="黑体" panose="02010609060101010101" pitchFamily="49" charset="-122"/>
                </a:endParaRPr>
              </a:p>
            </p:txBody>
          </p:sp>
        </mc:Choice>
        <mc:Fallback>
          <p:sp>
            <p:nvSpPr>
              <p:cNvPr id="31" name="Object 27"/>
              <p:cNvSpPr txBox="1">
                <a:spLocks noRot="1" noChangeAspect="1" noMove="1" noResize="1" noEditPoints="1" noAdjustHandles="1" noChangeArrowheads="1" noChangeShapeType="1" noTextEdit="1"/>
              </p:cNvSpPr>
              <p:nvPr/>
            </p:nvSpPr>
            <p:spPr bwMode="auto">
              <a:xfrm>
                <a:off x="3239599" y="4626003"/>
                <a:ext cx="1153802" cy="580387"/>
              </a:xfrm>
              <a:prstGeom prst="rect">
                <a:avLst/>
              </a:prstGeom>
              <a:blipFill rotWithShape="1">
                <a:blip r:embed="rId16"/>
                <a:stretch>
                  <a:fillRect l="-40" t="-5" r="41" b="4"/>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2" name="Object 28"/>
              <p:cNvSpPr txBox="1"/>
              <p:nvPr/>
            </p:nvSpPr>
            <p:spPr bwMode="auto">
              <a:xfrm>
                <a:off x="4101206" y="4662740"/>
                <a:ext cx="2827664" cy="488327"/>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kumimoji="1" lang="zh-CN" altLang="en-US" sz="2200">
                          <a:latin typeface="Cambria Math" panose="02040503050406030204" charset="0"/>
                          <a:ea typeface="黑体" panose="02010609060101010101" pitchFamily="49" charset="-122"/>
                        </a:rPr>
                        <m:t>=</m:t>
                      </m:r>
                      <m:r>
                        <a:rPr kumimoji="1" lang="zh-CN" altLang="en-US" sz="2200">
                          <a:latin typeface="Cambria Math" panose="02040503050406030204" charset="0"/>
                          <a:ea typeface="黑体" panose="02010609060101010101" pitchFamily="49" charset="-122"/>
                        </a:rPr>
                        <m:t>1</m:t>
                      </m:r>
                      <m:r>
                        <a:rPr kumimoji="1" lang="zh-CN" altLang="en-US" sz="2200">
                          <a:latin typeface="Cambria Math" panose="02040503050406030204" charset="0"/>
                          <a:ea typeface="黑体" panose="02010609060101010101" pitchFamily="49" charset="-122"/>
                        </a:rPr>
                        <m:t>+</m:t>
                      </m:r>
                      <m:r>
                        <a:rPr kumimoji="1" lang="zh-CN" altLang="en-US" sz="2200">
                          <a:latin typeface="Cambria Math" panose="02040503050406030204" charset="0"/>
                          <a:ea typeface="黑体" panose="02010609060101010101" pitchFamily="49" charset="-122"/>
                        </a:rPr>
                        <m:t>3</m:t>
                      </m:r>
                      <m:r>
                        <a:rPr kumimoji="1" lang="zh-CN" altLang="en-US" sz="2200">
                          <a:latin typeface="Cambria Math" panose="02040503050406030204" charset="0"/>
                          <a:ea typeface="黑体" panose="02010609060101010101" pitchFamily="49" charset="-122"/>
                        </a:rPr>
                        <m:t>𝑦</m:t>
                      </m:r>
                      <m:r>
                        <a:rPr kumimoji="1" lang="zh-CN" altLang="en-US" sz="2200">
                          <a:latin typeface="Cambria Math" panose="02040503050406030204" charset="0"/>
                          <a:ea typeface="黑体" panose="02010609060101010101" pitchFamily="49" charset="-122"/>
                        </a:rPr>
                        <m:t>+</m:t>
                      </m:r>
                      <m:sSup>
                        <m:sSupPr>
                          <m:ctrlPr>
                            <a:rPr kumimoji="1" lang="zh-CN" altLang="en-US" sz="2200" i="1">
                              <a:latin typeface="Cambria Math" panose="02040503050406030204" charset="0"/>
                              <a:ea typeface="黑体" panose="02010609060101010101" pitchFamily="49" charset="-122"/>
                            </a:rPr>
                          </m:ctrlPr>
                        </m:sSupPr>
                        <m:e>
                          <m:r>
                            <a:rPr kumimoji="1" lang="zh-CN" altLang="en-US" sz="2200">
                              <a:latin typeface="Cambria Math" panose="02040503050406030204" charset="0"/>
                              <a:ea typeface="黑体" panose="02010609060101010101" pitchFamily="49" charset="-122"/>
                            </a:rPr>
                            <m:t>𝑦</m:t>
                          </m:r>
                        </m:e>
                        <m:sup>
                          <m:r>
                            <a:rPr kumimoji="1" lang="zh-CN" altLang="en-US" sz="2200">
                              <a:latin typeface="Cambria Math" panose="02040503050406030204" charset="0"/>
                              <a:ea typeface="黑体" panose="02010609060101010101" pitchFamily="49" charset="-122"/>
                            </a:rPr>
                            <m:t>2</m:t>
                          </m:r>
                        </m:sup>
                      </m:sSup>
                      <m:r>
                        <a:rPr kumimoji="1" lang="zh-CN" altLang="en-US" sz="2200">
                          <a:latin typeface="Cambria Math" panose="02040503050406030204" charset="0"/>
                          <a:ea typeface="黑体" panose="02010609060101010101" pitchFamily="49" charset="-122"/>
                        </a:rPr>
                        <m:t>,</m:t>
                      </m:r>
                    </m:oMath>
                  </m:oMathPara>
                </a14:m>
                <a:endParaRPr kumimoji="1" lang="zh-CN" altLang="en-US" sz="2200" dirty="0">
                  <a:latin typeface="Cambria Math" panose="02040503050406030204" charset="0"/>
                  <a:ea typeface="黑体" panose="02010609060101010101" pitchFamily="49" charset="-122"/>
                </a:endParaRPr>
              </a:p>
            </p:txBody>
          </p:sp>
        </mc:Choice>
        <mc:Fallback>
          <p:sp>
            <p:nvSpPr>
              <p:cNvPr id="32" name="Object 28"/>
              <p:cNvSpPr txBox="1">
                <a:spLocks noRot="1" noChangeAspect="1" noMove="1" noResize="1" noEditPoints="1" noAdjustHandles="1" noChangeArrowheads="1" noChangeShapeType="1" noTextEdit="1"/>
              </p:cNvSpPr>
              <p:nvPr/>
            </p:nvSpPr>
            <p:spPr bwMode="auto">
              <a:xfrm>
                <a:off x="4101206" y="4662740"/>
                <a:ext cx="2827664" cy="488327"/>
              </a:xfrm>
              <a:prstGeom prst="rect">
                <a:avLst/>
              </a:prstGeom>
              <a:blipFill rotWithShape="1">
                <a:blip r:embed="rId17"/>
                <a:stretch>
                  <a:fillRect l="-13" t="-117" r="14" b="119"/>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 name="Object 29"/>
              <p:cNvSpPr txBox="1"/>
              <p:nvPr/>
            </p:nvSpPr>
            <p:spPr bwMode="auto">
              <a:xfrm>
                <a:off x="4097626" y="5475603"/>
                <a:ext cx="2023465" cy="677727"/>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sSub>
                        <m:sSubPr>
                          <m:ctrlPr>
                            <a:rPr kumimoji="1" lang="zh-CN" altLang="en-US" sz="2200" i="1" dirty="0">
                              <a:latin typeface="Cambria Math" panose="02040503050406030204" charset="0"/>
                              <a:ea typeface="黑体" panose="02010609060101010101" pitchFamily="49" charset="-122"/>
                            </a:rPr>
                          </m:ctrlPr>
                        </m:sSubPr>
                        <m:e>
                          <m:d>
                            <m:dPr>
                              <m:begChr m:val=""/>
                              <m:endChr m:val="|"/>
                              <m:ctrlPr>
                                <a:rPr kumimoji="1" lang="zh-CN" altLang="en-US" sz="2200" i="1" dirty="0">
                                  <a:latin typeface="Cambria Math" panose="02040503050406030204" charset="0"/>
                                  <a:ea typeface="黑体" panose="02010609060101010101" pitchFamily="49" charset="-122"/>
                                </a:rPr>
                              </m:ctrlPr>
                            </m:dPr>
                            <m:e>
                              <m:r>
                                <a:rPr kumimoji="1" lang="zh-CN" altLang="en-US" sz="2200">
                                  <a:latin typeface="Cambria Math" panose="02040503050406030204" charset="0"/>
                                  <a:ea typeface="黑体" panose="02010609060101010101" pitchFamily="49" charset="-122"/>
                                </a:rPr>
                                <m:t>=(</m:t>
                              </m:r>
                              <m:r>
                                <a:rPr kumimoji="1" lang="zh-CN" altLang="en-US" sz="2200">
                                  <a:latin typeface="Cambria Math" panose="02040503050406030204" charset="0"/>
                                  <a:ea typeface="黑体" panose="02010609060101010101" pitchFamily="49" charset="-122"/>
                                </a:rPr>
                                <m:t>3</m:t>
                              </m:r>
                              <m:r>
                                <a:rPr kumimoji="1" lang="zh-CN" altLang="en-US" sz="2200">
                                  <a:latin typeface="Cambria Math" panose="02040503050406030204" charset="0"/>
                                  <a:ea typeface="黑体" panose="02010609060101010101" pitchFamily="49" charset="-122"/>
                                </a:rPr>
                                <m:t>+</m:t>
                              </m:r>
                              <m:r>
                                <a:rPr kumimoji="1" lang="zh-CN" altLang="en-US" sz="2200">
                                  <a:latin typeface="Cambria Math" panose="02040503050406030204" charset="0"/>
                                  <a:ea typeface="黑体" panose="02010609060101010101" pitchFamily="49" charset="-122"/>
                                </a:rPr>
                                <m:t>2</m:t>
                              </m:r>
                              <m:r>
                                <a:rPr kumimoji="1" lang="zh-CN" altLang="en-US" sz="2200">
                                  <a:latin typeface="Cambria Math" panose="02040503050406030204" charset="0"/>
                                  <a:ea typeface="黑体" panose="02010609060101010101" pitchFamily="49" charset="-122"/>
                                </a:rPr>
                                <m:t>𝑦</m:t>
                              </m:r>
                              <m:r>
                                <a:rPr kumimoji="1" lang="zh-CN" altLang="en-US" sz="2200">
                                  <a:latin typeface="Cambria Math" panose="02040503050406030204" charset="0"/>
                                  <a:ea typeface="黑体" panose="02010609060101010101" pitchFamily="49" charset="-122"/>
                                </a:rPr>
                                <m:t>)</m:t>
                              </m:r>
                            </m:e>
                          </m:d>
                        </m:e>
                        <m:sub>
                          <m:r>
                            <a:rPr kumimoji="1" lang="en-US" altLang="zh-CN" sz="2200" i="1">
                              <a:latin typeface="Cambria Math" panose="02040503050406030204" charset="0"/>
                              <a:ea typeface="黑体" panose="02010609060101010101" pitchFamily="49" charset="-122"/>
                            </a:rPr>
                            <m:t>𝑦</m:t>
                          </m:r>
                          <m:r>
                            <a:rPr kumimoji="1" lang="zh-CN" altLang="en-US" sz="2200">
                              <a:latin typeface="Cambria Math" panose="02040503050406030204" charset="0"/>
                              <a:ea typeface="黑体" panose="02010609060101010101" pitchFamily="49" charset="-122"/>
                            </a:rPr>
                            <m:t>=</m:t>
                          </m:r>
                          <m:r>
                            <a:rPr kumimoji="1" lang="en-US" altLang="zh-CN" sz="2200">
                              <a:latin typeface="Cambria Math" panose="02040503050406030204" charset="0"/>
                              <a:ea typeface="黑体" panose="02010609060101010101" pitchFamily="49" charset="-122"/>
                            </a:rPr>
                            <m:t>2</m:t>
                          </m:r>
                        </m:sub>
                      </m:sSub>
                    </m:oMath>
                  </m:oMathPara>
                </a14:m>
                <a:endParaRPr kumimoji="1" lang="zh-CN" altLang="en-US" sz="2200" dirty="0">
                  <a:latin typeface="Cambria Math" panose="02040503050406030204" charset="0"/>
                  <a:ea typeface="黑体" panose="02010609060101010101" pitchFamily="49" charset="-122"/>
                </a:endParaRPr>
              </a:p>
            </p:txBody>
          </p:sp>
        </mc:Choice>
        <mc:Fallback>
          <p:sp>
            <p:nvSpPr>
              <p:cNvPr id="33" name="Object 29"/>
              <p:cNvSpPr txBox="1">
                <a:spLocks noRot="1" noChangeAspect="1" noMove="1" noResize="1" noEditPoints="1" noAdjustHandles="1" noChangeArrowheads="1" noChangeShapeType="1" noTextEdit="1"/>
              </p:cNvSpPr>
              <p:nvPr/>
            </p:nvSpPr>
            <p:spPr bwMode="auto">
              <a:xfrm>
                <a:off x="4097626" y="5475603"/>
                <a:ext cx="2023465" cy="677727"/>
              </a:xfrm>
              <a:prstGeom prst="rect">
                <a:avLst/>
              </a:prstGeom>
              <a:blipFill rotWithShape="1">
                <a:blip r:embed="rId18"/>
                <a:stretch>
                  <a:fillRect l="-30" t="-93" r="16" b="27"/>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4" name="Object 31"/>
              <p:cNvSpPr txBox="1"/>
              <p:nvPr/>
            </p:nvSpPr>
            <p:spPr bwMode="auto">
              <a:xfrm>
                <a:off x="5980616" y="5557587"/>
                <a:ext cx="1113418" cy="544943"/>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kumimoji="1" lang="zh-CN" altLang="en-US" sz="2200">
                          <a:latin typeface="Cambria Math" panose="02040503050406030204" charset="0"/>
                          <a:ea typeface="黑体" panose="02010609060101010101" pitchFamily="49" charset="-122"/>
                        </a:rPr>
                        <m:t>=</m:t>
                      </m:r>
                      <m:r>
                        <a:rPr kumimoji="1" lang="zh-CN" altLang="en-US" sz="2200">
                          <a:latin typeface="Cambria Math" panose="02040503050406030204" charset="0"/>
                          <a:ea typeface="黑体" panose="02010609060101010101" pitchFamily="49" charset="-122"/>
                        </a:rPr>
                        <m:t>7</m:t>
                      </m:r>
                      <m:r>
                        <a:rPr kumimoji="1" lang="zh-CN" altLang="en-US" sz="2200">
                          <a:latin typeface="Cambria Math" panose="02040503050406030204" charset="0"/>
                          <a:ea typeface="黑体" panose="02010609060101010101" pitchFamily="49" charset="-122"/>
                        </a:rPr>
                        <m:t>.</m:t>
                      </m:r>
                    </m:oMath>
                  </m:oMathPara>
                </a14:m>
                <a:endParaRPr kumimoji="1" lang="zh-CN" altLang="en-US" sz="2200" dirty="0">
                  <a:latin typeface="Cambria Math" panose="02040503050406030204" charset="0"/>
                  <a:ea typeface="黑体" panose="02010609060101010101" pitchFamily="49" charset="-122"/>
                </a:endParaRPr>
              </a:p>
            </p:txBody>
          </p:sp>
        </mc:Choice>
        <mc:Fallback>
          <p:sp>
            <p:nvSpPr>
              <p:cNvPr id="34" name="Object 31"/>
              <p:cNvSpPr txBox="1">
                <a:spLocks noRot="1" noChangeAspect="1" noMove="1" noResize="1" noEditPoints="1" noAdjustHandles="1" noChangeArrowheads="1" noChangeShapeType="1" noTextEdit="1"/>
              </p:cNvSpPr>
              <p:nvPr/>
            </p:nvSpPr>
            <p:spPr bwMode="auto">
              <a:xfrm>
                <a:off x="5980616" y="5557587"/>
                <a:ext cx="1113418" cy="544943"/>
              </a:xfrm>
              <a:prstGeom prst="rect">
                <a:avLst/>
              </a:prstGeom>
              <a:blipFill rotWithShape="1">
                <a:blip r:embed="rId19"/>
                <a:stretch>
                  <a:fillRect l="-17" t="-12" r="40" b="33"/>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Object 27"/>
              <p:cNvSpPr txBox="1"/>
              <p:nvPr/>
            </p:nvSpPr>
            <p:spPr bwMode="auto">
              <a:xfrm>
                <a:off x="3229110" y="2958885"/>
                <a:ext cx="1153802" cy="580387"/>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sSub>
                        <m:sSubPr>
                          <m:ctrlPr>
                            <a:rPr kumimoji="1" lang="zh-CN" altLang="en-US" sz="2200" i="1" dirty="0" smtClean="0">
                              <a:latin typeface="Cambria Math" panose="02040503050406030204" charset="0"/>
                              <a:ea typeface="黑体" panose="02010609060101010101" pitchFamily="49" charset="-122"/>
                              <a:cs typeface="Cambria Math" panose="02040503050406030204" charset="0"/>
                            </a:rPr>
                          </m:ctrlPr>
                        </m:sSubPr>
                        <m:e>
                          <m:d>
                            <m:dPr>
                              <m:begChr m:val=""/>
                              <m:endChr m:val="|"/>
                              <m:ctrlPr>
                                <a:rPr kumimoji="1" lang="zh-CN" altLang="en-US" sz="2200" i="1" dirty="0">
                                  <a:latin typeface="Cambria Math" panose="02040503050406030204" charset="0"/>
                                  <a:ea typeface="黑体" panose="02010609060101010101" pitchFamily="49" charset="-122"/>
                                  <a:cs typeface="Cambria Math" panose="02040503050406030204" charset="0"/>
                                </a:rPr>
                              </m:ctrlPr>
                            </m:dPr>
                            <m:e>
                              <m:r>
                                <a:rPr kumimoji="1" lang="en-US" altLang="zh-CN" sz="2200" dirty="0">
                                  <a:latin typeface="Cambria Math" panose="02040503050406030204" charset="0"/>
                                  <a:ea typeface="黑体" panose="02010609060101010101" pitchFamily="49" charset="-122"/>
                                  <a:cs typeface="Cambria Math" panose="02040503050406030204" charset="0"/>
                                </a:rPr>
                                <m:t>𝑧</m:t>
                              </m:r>
                            </m:e>
                          </m:d>
                        </m:e>
                        <m:sub>
                          <m:r>
                            <a:rPr kumimoji="1" lang="en-US" altLang="zh-CN" sz="2200" b="0" i="1" dirty="0" smtClean="0">
                              <a:latin typeface="Cambria Math" panose="02040503050406030204" charset="0"/>
                              <a:ea typeface="黑体" panose="02010609060101010101" pitchFamily="49" charset="-122"/>
                              <a:cs typeface="Cambria Math" panose="02040503050406030204" charset="0"/>
                            </a:rPr>
                            <m:t>𝑦</m:t>
                          </m:r>
                          <m:r>
                            <a:rPr kumimoji="1" lang="en-US" altLang="zh-CN" sz="2200" dirty="0">
                              <a:latin typeface="Cambria Math" panose="02040503050406030204" charset="0"/>
                              <a:ea typeface="黑体" panose="02010609060101010101" pitchFamily="49" charset="-122"/>
                              <a:cs typeface="Cambria Math" panose="02040503050406030204" charset="0"/>
                            </a:rPr>
                            <m:t>=</m:t>
                          </m:r>
                          <m:r>
                            <a:rPr kumimoji="1" lang="en-US" altLang="zh-CN" sz="2200" b="0" i="0" dirty="0" smtClean="0">
                              <a:latin typeface="Cambria Math" panose="02040503050406030204" charset="0"/>
                              <a:ea typeface="黑体" panose="02010609060101010101" pitchFamily="49" charset="-122"/>
                              <a:cs typeface="Cambria Math" panose="02040503050406030204" charset="0"/>
                            </a:rPr>
                            <m:t>2</m:t>
                          </m:r>
                        </m:sub>
                      </m:sSub>
                    </m:oMath>
                  </m:oMathPara>
                </a14:m>
                <a:endParaRPr kumimoji="1" lang="zh-CN" altLang="en-US" sz="2200" dirty="0">
                  <a:latin typeface="Cambria Math" panose="02040503050406030204" charset="0"/>
                  <a:ea typeface="黑体" panose="02010609060101010101" pitchFamily="49" charset="-122"/>
                </a:endParaRPr>
              </a:p>
            </p:txBody>
          </p:sp>
        </mc:Choice>
        <mc:Fallback>
          <p:sp>
            <p:nvSpPr>
              <p:cNvPr id="5" name="Object 27"/>
              <p:cNvSpPr txBox="1">
                <a:spLocks noRot="1" noChangeAspect="1" noMove="1" noResize="1" noEditPoints="1" noAdjustHandles="1" noChangeArrowheads="1" noChangeShapeType="1" noTextEdit="1"/>
              </p:cNvSpPr>
              <p:nvPr/>
            </p:nvSpPr>
            <p:spPr bwMode="auto">
              <a:xfrm>
                <a:off x="3229110" y="2958885"/>
                <a:ext cx="1153802" cy="580387"/>
              </a:xfrm>
              <a:prstGeom prst="rect">
                <a:avLst/>
              </a:prstGeom>
              <a:blipFill rotWithShape="1">
                <a:blip r:embed="rId20"/>
                <a:stretch>
                  <a:fillRect l="-12" t="-72" r="12" b="72"/>
                </a:stretch>
              </a:blipFill>
              <a:ln>
                <a:noFill/>
              </a:ln>
              <a:effec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left)">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wipe(left)">
                                      <p:cBhvr>
                                        <p:cTn id="28" dur="500"/>
                                        <p:tgtEl>
                                          <p:spTgt spid="2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wipe(left)">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wipe(left)">
                                      <p:cBhvr>
                                        <p:cTn id="38" dur="500"/>
                                        <p:tgtEl>
                                          <p:spTgt spid="2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wipe(left)">
                                      <p:cBhvr>
                                        <p:cTn id="43" dur="500"/>
                                        <p:tgtEl>
                                          <p:spTgt spid="7"/>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wipe(left)">
                                      <p:cBhvr>
                                        <p:cTn id="48" dur="500"/>
                                        <p:tgtEl>
                                          <p:spTgt spid="25"/>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wipe(left)">
                                      <p:cBhvr>
                                        <p:cTn id="53" dur="500"/>
                                        <p:tgtEl>
                                          <p:spTgt spid="26"/>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27">
                                            <p:txEl>
                                              <p:pRg st="0" end="0"/>
                                            </p:txEl>
                                          </p:spTgt>
                                        </p:tgtEl>
                                        <p:attrNameLst>
                                          <p:attrName>style.visibility</p:attrName>
                                        </p:attrNameLst>
                                      </p:cBhvr>
                                      <p:to>
                                        <p:strVal val="visible"/>
                                      </p:to>
                                    </p:set>
                                    <p:animEffect transition="in" filter="wipe(left)">
                                      <p:cBhvr>
                                        <p:cTn id="58" dur="500"/>
                                        <p:tgtEl>
                                          <p:spTgt spid="27">
                                            <p:txEl>
                                              <p:pRg st="0" end="0"/>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8"/>
                                        </p:tgtEl>
                                        <p:attrNameLst>
                                          <p:attrName>style.visibility</p:attrName>
                                        </p:attrNameLst>
                                      </p:cBhvr>
                                      <p:to>
                                        <p:strVal val="visible"/>
                                      </p:to>
                                    </p:set>
                                    <p:animEffect transition="in" filter="wipe(left)">
                                      <p:cBhvr>
                                        <p:cTn id="63" dur="500"/>
                                        <p:tgtEl>
                                          <p:spTgt spid="8"/>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5"/>
                                        </p:tgtEl>
                                        <p:attrNameLst>
                                          <p:attrName>style.visibility</p:attrName>
                                        </p:attrNameLst>
                                      </p:cBhvr>
                                      <p:to>
                                        <p:strVal val="visible"/>
                                      </p:to>
                                    </p:set>
                                    <p:animEffect transition="in" filter="wipe(left)">
                                      <p:cBhvr>
                                        <p:cTn id="68" dur="500"/>
                                        <p:tgtEl>
                                          <p:spTgt spid="5"/>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28">
                                            <p:txEl>
                                              <p:pRg st="0" end="0"/>
                                            </p:txEl>
                                          </p:spTgt>
                                        </p:tgtEl>
                                        <p:attrNameLst>
                                          <p:attrName>style.visibility</p:attrName>
                                        </p:attrNameLst>
                                      </p:cBhvr>
                                      <p:to>
                                        <p:strVal val="visible"/>
                                      </p:to>
                                    </p:set>
                                    <p:animEffect transition="in" filter="wipe(left)">
                                      <p:cBhvr>
                                        <p:cTn id="73" dur="500"/>
                                        <p:tgtEl>
                                          <p:spTgt spid="28">
                                            <p:txEl>
                                              <p:pRg st="0" end="0"/>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9"/>
                                        </p:tgtEl>
                                        <p:attrNameLst>
                                          <p:attrName>style.visibility</p:attrName>
                                        </p:attrNameLst>
                                      </p:cBhvr>
                                      <p:to>
                                        <p:strVal val="visible"/>
                                      </p:to>
                                    </p:set>
                                    <p:animEffect transition="in" filter="wipe(left)">
                                      <p:cBhvr>
                                        <p:cTn id="78" dur="500"/>
                                        <p:tgtEl>
                                          <p:spTgt spid="9"/>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wipe(left)">
                                      <p:cBhvr>
                                        <p:cTn id="83" dur="500"/>
                                        <p:tgtEl>
                                          <p:spTgt spid="29"/>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30"/>
                                        </p:tgtEl>
                                        <p:attrNameLst>
                                          <p:attrName>style.visibility</p:attrName>
                                        </p:attrNameLst>
                                      </p:cBhvr>
                                      <p:to>
                                        <p:strVal val="visible"/>
                                      </p:to>
                                    </p:set>
                                    <p:animEffect transition="in" filter="wipe(left)">
                                      <p:cBhvr>
                                        <p:cTn id="88" dur="500"/>
                                        <p:tgtEl>
                                          <p:spTgt spid="30"/>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31"/>
                                        </p:tgtEl>
                                        <p:attrNameLst>
                                          <p:attrName>style.visibility</p:attrName>
                                        </p:attrNameLst>
                                      </p:cBhvr>
                                      <p:to>
                                        <p:strVal val="visible"/>
                                      </p:to>
                                    </p:set>
                                    <p:animEffect transition="in" filter="wipe(left)">
                                      <p:cBhvr>
                                        <p:cTn id="93" dur="500"/>
                                        <p:tgtEl>
                                          <p:spTgt spid="31"/>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nodeType="clickEffect">
                                  <p:stCondLst>
                                    <p:cond delay="0"/>
                                  </p:stCondLst>
                                  <p:childTnLst>
                                    <p:set>
                                      <p:cBhvr>
                                        <p:cTn id="97" dur="1" fill="hold">
                                          <p:stCondLst>
                                            <p:cond delay="0"/>
                                          </p:stCondLst>
                                        </p:cTn>
                                        <p:tgtEl>
                                          <p:spTgt spid="32">
                                            <p:txEl>
                                              <p:pRg st="0" end="0"/>
                                            </p:txEl>
                                          </p:spTgt>
                                        </p:tgtEl>
                                        <p:attrNameLst>
                                          <p:attrName>style.visibility</p:attrName>
                                        </p:attrNameLst>
                                      </p:cBhvr>
                                      <p:to>
                                        <p:strVal val="visible"/>
                                      </p:to>
                                    </p:set>
                                    <p:animEffect transition="in" filter="wipe(left)">
                                      <p:cBhvr>
                                        <p:cTn id="98" dur="500"/>
                                        <p:tgtEl>
                                          <p:spTgt spid="32">
                                            <p:txEl>
                                              <p:pRg st="0" end="0"/>
                                            </p:txEl>
                                          </p:spTgt>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21"/>
                                        </p:tgtEl>
                                        <p:attrNameLst>
                                          <p:attrName>style.visibility</p:attrName>
                                        </p:attrNameLst>
                                      </p:cBhvr>
                                      <p:to>
                                        <p:strVal val="visible"/>
                                      </p:to>
                                    </p:set>
                                    <p:animEffect transition="in" filter="wipe(left)">
                                      <p:cBhvr>
                                        <p:cTn id="103" dur="500"/>
                                        <p:tgtEl>
                                          <p:spTgt spid="21"/>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nodeType="clickEffect">
                                  <p:stCondLst>
                                    <p:cond delay="0"/>
                                  </p:stCondLst>
                                  <p:childTnLst>
                                    <p:set>
                                      <p:cBhvr>
                                        <p:cTn id="107" dur="1" fill="hold">
                                          <p:stCondLst>
                                            <p:cond delay="0"/>
                                          </p:stCondLst>
                                        </p:cTn>
                                        <p:tgtEl>
                                          <p:spTgt spid="33">
                                            <p:txEl>
                                              <p:pRg st="0" end="0"/>
                                            </p:txEl>
                                          </p:spTgt>
                                        </p:tgtEl>
                                        <p:attrNameLst>
                                          <p:attrName>style.visibility</p:attrName>
                                        </p:attrNameLst>
                                      </p:cBhvr>
                                      <p:to>
                                        <p:strVal val="visible"/>
                                      </p:to>
                                    </p:set>
                                    <p:animEffect transition="in" filter="wipe(left)">
                                      <p:cBhvr>
                                        <p:cTn id="108" dur="500"/>
                                        <p:tgtEl>
                                          <p:spTgt spid="33">
                                            <p:txEl>
                                              <p:pRg st="0" end="0"/>
                                            </p:txEl>
                                          </p:spTgt>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grpId="0" nodeType="clickEffect">
                                  <p:stCondLst>
                                    <p:cond delay="0"/>
                                  </p:stCondLst>
                                  <p:childTnLst>
                                    <p:set>
                                      <p:cBhvr>
                                        <p:cTn id="112" dur="1" fill="hold">
                                          <p:stCondLst>
                                            <p:cond delay="0"/>
                                          </p:stCondLst>
                                        </p:cTn>
                                        <p:tgtEl>
                                          <p:spTgt spid="34"/>
                                        </p:tgtEl>
                                        <p:attrNameLst>
                                          <p:attrName>style.visibility</p:attrName>
                                        </p:attrNameLst>
                                      </p:cBhvr>
                                      <p:to>
                                        <p:strVal val="visible"/>
                                      </p:to>
                                    </p:set>
                                    <p:animEffect transition="in" filter="wipe(left)">
                                      <p:cBhvr>
                                        <p:cTn id="113"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ldLvl="0" animBg="1"/>
      <p:bldP spid="4" grpId="0" autoUpdateAnimBg="0"/>
      <p:bldP spid="6" grpId="0" bldLvl="0" animBg="1"/>
      <p:bldP spid="7" grpId="0" bldLvl="0" animBg="1"/>
      <p:bldP spid="8" grpId="0"/>
      <p:bldP spid="9" grpId="0" bldLvl="0" animBg="1"/>
      <p:bldP spid="11" grpId="0"/>
      <p:bldP spid="21" grpId="0" bldLvl="0" animBg="1"/>
      <p:bldP spid="22" grpId="0" bldLvl="0" animBg="1"/>
      <p:bldP spid="23" grpId="0" bldLvl="0" animBg="1"/>
      <p:bldP spid="24" grpId="0" bldLvl="0" animBg="1"/>
      <p:bldP spid="25" grpId="0" bldLvl="0" animBg="1"/>
      <p:bldP spid="26" grpId="0" bldLvl="0" animBg="1"/>
      <p:bldP spid="29" grpId="0" bldLvl="0" animBg="1"/>
      <p:bldP spid="30" grpId="0" bldLvl="0" animBg="1"/>
      <p:bldP spid="31" grpId="0" bldLvl="0" animBg="1"/>
      <p:bldP spid="34" grpId="0" bldLvl="0" animBg="1"/>
      <p:bldP spid="5" grpId="0" bldLvl="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510540" y="494665"/>
            <a:ext cx="11149330" cy="5612765"/>
            <a:chOff x="838" y="906"/>
            <a:chExt cx="17558" cy="8839"/>
          </a:xfrm>
        </p:grpSpPr>
        <p:sp>
          <p:nvSpPr>
            <p:cNvPr id="20" name="PA-102232"/>
            <p:cNvSpPr/>
            <p:nvPr>
              <p:custDataLst>
                <p:tags r:id="rId1"/>
              </p:custDataLst>
            </p:nvPr>
          </p:nvSpPr>
          <p:spPr>
            <a:xfrm>
              <a:off x="872" y="906"/>
              <a:ext cx="17524" cy="8826"/>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6BB6"/>
                </a:solidFill>
                <a:cs typeface="+mn-ea"/>
                <a:sym typeface="+mn-lt"/>
              </a:endParaRPr>
            </a:p>
          </p:txBody>
        </p:sp>
        <p:grpSp>
          <p:nvGrpSpPr>
            <p:cNvPr id="21" name="组合 20"/>
            <p:cNvGrpSpPr/>
            <p:nvPr/>
          </p:nvGrpSpPr>
          <p:grpSpPr>
            <a:xfrm>
              <a:off x="838" y="9635"/>
              <a:ext cx="17558" cy="110"/>
              <a:chOff x="838" y="9635"/>
              <a:chExt cx="17558" cy="110"/>
            </a:xfrm>
          </p:grpSpPr>
          <p:sp>
            <p:nvSpPr>
              <p:cNvPr id="22" name="Rectangle 1"/>
              <p:cNvSpPr/>
              <p:nvPr/>
            </p:nvSpPr>
            <p:spPr>
              <a:xfrm>
                <a:off x="5321" y="9650"/>
                <a:ext cx="4286" cy="83"/>
              </a:xfrm>
              <a:prstGeom prst="rect">
                <a:avLst/>
              </a:prstGeom>
              <a:solidFill>
                <a:schemeClr val="bg1"/>
              </a:solidFill>
              <a:ln w="3175" cap="flat" cmpd="sng" algn="ctr">
                <a:solidFill>
                  <a:srgbClr val="0492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3" name="Rectangle 1"/>
              <p:cNvSpPr/>
              <p:nvPr/>
            </p:nvSpPr>
            <p:spPr>
              <a:xfrm>
                <a:off x="838" y="9650"/>
                <a:ext cx="4483" cy="83"/>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4" name="Rectangle 1"/>
              <p:cNvSpPr/>
              <p:nvPr/>
            </p:nvSpPr>
            <p:spPr>
              <a:xfrm>
                <a:off x="9602" y="9635"/>
                <a:ext cx="8794" cy="111"/>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mc:AlternateContent xmlns:mc="http://schemas.openxmlformats.org/markup-compatibility/2006">
        <mc:Choice xmlns:a14="http://schemas.microsoft.com/office/drawing/2010/main" Requires="a14">
          <p:sp>
            <p:nvSpPr>
              <p:cNvPr id="2" name="Text Box 20"/>
              <p:cNvSpPr txBox="1">
                <a:spLocks noChangeArrowheads="1"/>
              </p:cNvSpPr>
              <p:nvPr/>
            </p:nvSpPr>
            <p:spPr bwMode="auto">
              <a:xfrm>
                <a:off x="1591408" y="1707617"/>
                <a:ext cx="360289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800" dirty="0">
                    <a:solidFill>
                      <a:schemeClr val="tx1">
                        <a:lumMod val="95000"/>
                        <a:lumOff val="5000"/>
                      </a:schemeClr>
                    </a:solidFill>
                    <a:latin typeface="Cambria Math" panose="02040503050406030204" charset="0"/>
                    <a:ea typeface="黑体" panose="02010609060101010101" pitchFamily="49" charset="-122"/>
                  </a:rPr>
                  <a:t>1.</a:t>
                </a:r>
                <a:r>
                  <a:rPr kumimoji="1" lang="zh-CN" altLang="en-US" sz="2800" dirty="0">
                    <a:solidFill>
                      <a:schemeClr val="tx1">
                        <a:lumMod val="95000"/>
                        <a:lumOff val="5000"/>
                      </a:schemeClr>
                    </a:solidFill>
                    <a:latin typeface="Cambria Math" panose="02040503050406030204" charset="0"/>
                    <a:ea typeface="黑体" panose="02010609060101010101" pitchFamily="49" charset="-122"/>
                  </a:rPr>
                  <a:t>习惯上</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en-US" altLang="zh-CN" sz="2800" b="0" i="0" smtClean="0">
                        <a:solidFill>
                          <a:schemeClr val="tx1">
                            <a:lumMod val="95000"/>
                            <a:lumOff val="5000"/>
                          </a:schemeClr>
                        </a:solidFill>
                        <a:latin typeface="Cambria Math" panose="02040503050406030204" charset="0"/>
                        <a:ea typeface="黑体" panose="02010609060101010101" pitchFamily="49" charset="-122"/>
                      </a:rPr>
                      <m:t> </m:t>
                    </m:r>
                  </m:oMath>
                </a14:m>
                <a:r>
                  <a:rPr kumimoji="1" lang="zh-CN" altLang="en-US" sz="2800" dirty="0">
                    <a:solidFill>
                      <a:schemeClr val="tx1">
                        <a:lumMod val="95000"/>
                        <a:lumOff val="5000"/>
                      </a:schemeClr>
                    </a:solidFill>
                    <a:latin typeface="Cambria Math" panose="02040503050406030204" charset="0"/>
                    <a:ea typeface="黑体" panose="02010609060101010101" pitchFamily="49" charset="-122"/>
                  </a:rPr>
                  <a:t>记</a:t>
                </a:r>
                <a:r>
                  <a:rPr kumimoji="1" lang="zh-CN" altLang="en-US" sz="2800" dirty="0">
                    <a:solidFill>
                      <a:schemeClr val="tx1">
                        <a:lumMod val="95000"/>
                        <a:lumOff val="5000"/>
                      </a:schemeClr>
                    </a:solidFill>
                    <a:highlight>
                      <a:srgbClr val="FFFF00"/>
                    </a:highlight>
                    <a:latin typeface="Cambria Math" panose="02040503050406030204" charset="0"/>
                    <a:ea typeface="黑体" panose="02010609060101010101" pitchFamily="49" charset="-122"/>
                  </a:rPr>
                  <a:t>全微分</a:t>
                </a:r>
                <a:r>
                  <a:rPr kumimoji="1" lang="zh-CN" altLang="en-US" sz="2800" dirty="0">
                    <a:solidFill>
                      <a:schemeClr val="tx1">
                        <a:lumMod val="95000"/>
                        <a:lumOff val="5000"/>
                      </a:schemeClr>
                    </a:solidFill>
                    <a:latin typeface="Cambria Math" panose="02040503050406030204" charset="0"/>
                    <a:ea typeface="黑体" panose="02010609060101010101" pitchFamily="49" charset="-122"/>
                  </a:rPr>
                  <a:t>为</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2" name="Text Box 20"/>
              <p:cNvSpPr txBox="1">
                <a:spLocks noRot="1" noChangeAspect="1" noMove="1" noResize="1" noEditPoints="1" noAdjustHandles="1" noChangeArrowheads="1" noChangeShapeType="1" noTextEdit="1"/>
              </p:cNvSpPr>
              <p:nvPr/>
            </p:nvSpPr>
            <p:spPr bwMode="auto">
              <a:xfrm>
                <a:off x="1591408" y="1707617"/>
                <a:ext cx="3602892" cy="523220"/>
              </a:xfrm>
              <a:prstGeom prst="rect">
                <a:avLst/>
              </a:prstGeom>
              <a:blipFill rotWithShape="1">
                <a:blip r:embed="rId2"/>
                <a:stretch>
                  <a:fillRect l="-3" t="-19" b="1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Object 21"/>
              <p:cNvSpPr txBox="1"/>
              <p:nvPr/>
            </p:nvSpPr>
            <p:spPr bwMode="auto">
              <a:xfrm>
                <a:off x="4897047" y="1483771"/>
                <a:ext cx="3444875" cy="9144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den>
                      </m:f>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den>
                      </m:f>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3" name="Object 21"/>
              <p:cNvSpPr txBox="1">
                <a:spLocks noRot="1" noChangeAspect="1" noMove="1" noResize="1" noEditPoints="1" noAdjustHandles="1" noChangeArrowheads="1" noChangeShapeType="1" noTextEdit="1"/>
              </p:cNvSpPr>
              <p:nvPr/>
            </p:nvSpPr>
            <p:spPr bwMode="auto">
              <a:xfrm>
                <a:off x="4897047" y="1483771"/>
                <a:ext cx="3444875" cy="914400"/>
              </a:xfrm>
              <a:prstGeom prst="rect">
                <a:avLst/>
              </a:prstGeom>
              <a:blipFill rotWithShape="1">
                <a:blip r:embed="rId3"/>
                <a:stretch>
                  <a:fillRect l="-16" t="-45" r="16" b="-927"/>
                </a:stretch>
              </a:blipFill>
              <a:ln>
                <a:noFill/>
              </a:ln>
              <a:effectLst/>
            </p:spPr>
            <p:txBody>
              <a:bodyPr/>
              <a:lstStyle/>
              <a:p>
                <a:r>
                  <a:rPr lang="zh-CN" altLang="en-US">
                    <a:noFill/>
                  </a:rPr>
                  <a:t> </a:t>
                </a:r>
              </a:p>
            </p:txBody>
          </p:sp>
        </mc:Fallback>
      </mc:AlternateContent>
      <p:sp>
        <p:nvSpPr>
          <p:cNvPr id="4" name="Text Box 22"/>
          <p:cNvSpPr txBox="1">
            <a:spLocks noChangeArrowheads="1"/>
          </p:cNvSpPr>
          <p:nvPr/>
        </p:nvSpPr>
        <p:spPr bwMode="auto">
          <a:xfrm>
            <a:off x="1591408" y="3593082"/>
            <a:ext cx="7391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2800" dirty="0">
                <a:solidFill>
                  <a:schemeClr val="tx1">
                    <a:lumMod val="95000"/>
                    <a:lumOff val="5000"/>
                  </a:schemeClr>
                </a:solidFill>
                <a:latin typeface="Cambria Math" panose="02040503050406030204" charset="0"/>
                <a:ea typeface="黑体" panose="02010609060101010101" pitchFamily="49" charset="-122"/>
              </a:rPr>
              <a:t>2.</a:t>
            </a:r>
            <a:r>
              <a:rPr kumimoji="1" lang="zh-CN" altLang="en-US" sz="2800" dirty="0">
                <a:solidFill>
                  <a:schemeClr val="tx1">
                    <a:lumMod val="95000"/>
                    <a:lumOff val="5000"/>
                  </a:schemeClr>
                </a:solidFill>
                <a:latin typeface="Cambria Math" panose="02040503050406030204" charset="0"/>
                <a:ea typeface="黑体" panose="02010609060101010101" pitchFamily="49" charset="-122"/>
              </a:rPr>
              <a:t>全微分的定义可推广到三元及三元以上函数</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AlternateContent xmlns:mc="http://schemas.openxmlformats.org/markup-compatibility/2006">
        <mc:Choice xmlns:a14="http://schemas.microsoft.com/office/drawing/2010/main" Requires="a14">
          <p:sp>
            <p:nvSpPr>
              <p:cNvPr id="5" name="Object 23"/>
              <p:cNvSpPr txBox="1"/>
              <p:nvPr/>
            </p:nvSpPr>
            <p:spPr bwMode="auto">
              <a:xfrm>
                <a:off x="2738276" y="4139601"/>
                <a:ext cx="4813300" cy="9144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𝑢</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𝑢</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den>
                      </m:f>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𝑢</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den>
                      </m:f>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𝑢</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den>
                      </m:f>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5" name="Object 23"/>
              <p:cNvSpPr txBox="1">
                <a:spLocks noRot="1" noChangeAspect="1" noMove="1" noResize="1" noEditPoints="1" noAdjustHandles="1" noChangeArrowheads="1" noChangeShapeType="1" noTextEdit="1"/>
              </p:cNvSpPr>
              <p:nvPr/>
            </p:nvSpPr>
            <p:spPr bwMode="auto">
              <a:xfrm>
                <a:off x="2738276" y="4139601"/>
                <a:ext cx="4813300" cy="914400"/>
              </a:xfrm>
              <a:prstGeom prst="rect">
                <a:avLst/>
              </a:prstGeom>
              <a:blipFill rotWithShape="1">
                <a:blip r:embed="rId4"/>
                <a:stretch>
                  <a:fillRect l="-3" t="-4" r="3" b="-968"/>
                </a:stretch>
              </a:blipFill>
              <a:ln>
                <a:noFill/>
              </a:ln>
              <a:effectLst/>
            </p:spPr>
            <p:txBody>
              <a:bodyPr/>
              <a:lstStyle/>
              <a:p>
                <a:r>
                  <a:rPr lang="zh-CN" altLang="en-US">
                    <a:noFill/>
                  </a:rPr>
                  <a:t> </a:t>
                </a:r>
              </a:p>
            </p:txBody>
          </p:sp>
        </mc:Fallback>
      </mc:AlternateContent>
      <p:sp>
        <p:nvSpPr>
          <p:cNvPr id="6" name="Text Box 24"/>
          <p:cNvSpPr txBox="1">
            <a:spLocks noChangeArrowheads="1"/>
          </p:cNvSpPr>
          <p:nvPr/>
        </p:nvSpPr>
        <p:spPr bwMode="auto">
          <a:xfrm>
            <a:off x="1886683" y="2396958"/>
            <a:ext cx="8827476" cy="1150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lnSpc>
                <a:spcPct val="130000"/>
              </a:lnSpc>
              <a:spcBef>
                <a:spcPct val="50000"/>
              </a:spcBef>
            </a:pPr>
            <a:r>
              <a:rPr kumimoji="1" lang="zh-CN" altLang="en-US" sz="2800" dirty="0">
                <a:solidFill>
                  <a:schemeClr val="tx1">
                    <a:lumMod val="95000"/>
                    <a:lumOff val="5000"/>
                  </a:schemeClr>
                </a:solidFill>
                <a:latin typeface="Cambria Math" panose="02040503050406030204" charset="0"/>
                <a:ea typeface="黑体" panose="02010609060101010101" pitchFamily="49" charset="-122"/>
              </a:rPr>
              <a:t>通常我们把二元函数的全微分等于它的两个偏微分之和这件事称为二元函数的微分符合叠加原理．</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p:sp>
        <p:nvSpPr>
          <p:cNvPr id="7" name="Rectangle 25"/>
          <p:cNvSpPr>
            <a:spLocks noChangeArrowheads="1"/>
          </p:cNvSpPr>
          <p:nvPr/>
        </p:nvSpPr>
        <p:spPr bwMode="auto">
          <a:xfrm>
            <a:off x="1886683" y="5118732"/>
            <a:ext cx="6934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kumimoji="1" lang="zh-CN" altLang="en-US" sz="2800" dirty="0">
                <a:solidFill>
                  <a:schemeClr val="tx1">
                    <a:lumMod val="95000"/>
                    <a:lumOff val="5000"/>
                  </a:schemeClr>
                </a:solidFill>
                <a:latin typeface="Cambria Math" panose="02040503050406030204" charset="0"/>
                <a:ea typeface="黑体" panose="02010609060101010101" pitchFamily="49" charset="-122"/>
              </a:rPr>
              <a:t>叠加原理也适用于二元以上函数的情况．</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p:grpSp>
        <p:nvGrpSpPr>
          <p:cNvPr id="13" name="组合 12"/>
          <p:cNvGrpSpPr/>
          <p:nvPr/>
        </p:nvGrpSpPr>
        <p:grpSpPr>
          <a:xfrm>
            <a:off x="1713230" y="1021202"/>
            <a:ext cx="612775" cy="612775"/>
            <a:chOff x="1601" y="872"/>
            <a:chExt cx="965" cy="965"/>
          </a:xfrm>
        </p:grpSpPr>
        <p:sp>
          <p:nvSpPr>
            <p:cNvPr id="14" name="椭圆 13"/>
            <p:cNvSpPr/>
            <p:nvPr/>
          </p:nvSpPr>
          <p:spPr>
            <a:xfrm>
              <a:off x="1663" y="934"/>
              <a:ext cx="841" cy="841"/>
            </a:xfrm>
            <a:prstGeom prst="ellipse">
              <a:avLst/>
            </a:prstGeom>
            <a:solidFill>
              <a:srgbClr val="049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15" name="文本框 14"/>
            <p:cNvSpPr txBox="1"/>
            <p:nvPr/>
          </p:nvSpPr>
          <p:spPr bwMode="auto">
            <a:xfrm>
              <a:off x="1625" y="921"/>
              <a:ext cx="848" cy="8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rtlCol="0">
              <a:spAutoFit/>
            </a:bodyPr>
            <a:lstStyle/>
            <a:p>
              <a:pPr eaLnBrk="1" hangingPunct="1">
                <a:spcBef>
                  <a:spcPct val="50000"/>
                </a:spcBef>
              </a:pPr>
              <a:r>
                <a:rPr lang="zh-CN" altLang="en-US" sz="28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注</a:t>
              </a:r>
              <a:endParaRPr lang="zh-CN" altLang="en-US" sz="28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6" name="椭圆 15"/>
            <p:cNvSpPr/>
            <p:nvPr/>
          </p:nvSpPr>
          <p:spPr>
            <a:xfrm>
              <a:off x="1601" y="872"/>
              <a:ext cx="965" cy="965"/>
            </a:xfrm>
            <a:prstGeom prst="ellipse">
              <a:avLst/>
            </a:prstGeom>
            <a:noFill/>
            <a:ln>
              <a:solidFill>
                <a:srgbClr val="0492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left)">
                                      <p:cBhvr>
                                        <p:cTn id="31" dur="500"/>
                                        <p:tgtEl>
                                          <p:spTgt spid="5"/>
                                        </p:tgtEl>
                                      </p:cBhvr>
                                    </p:animEffect>
                                  </p:childTnLst>
                                </p:cTn>
                              </p:par>
                            </p:childTnLst>
                          </p:cTn>
                        </p:par>
                        <p:par>
                          <p:cTn id="32" fill="hold">
                            <p:stCondLst>
                              <p:cond delay="1000"/>
                            </p:stCondLst>
                            <p:childTnLst>
                              <p:par>
                                <p:cTn id="33" presetID="22" presetClass="entr" presetSubtype="8" fill="hold" grpId="0"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left)">
                                      <p:cBhvr>
                                        <p:cTn id="3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4" grpId="0" bldLvl="0" animBg="1"/>
      <p:bldP spid="5" grpId="0" bldLvl="0" animBg="1"/>
      <p:bldP spid="6" grpId="0" bldLvl="0" animBg="1"/>
      <p:bldP spid="7" grpId="0" bldLvl="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10540" y="494665"/>
            <a:ext cx="11149330" cy="5612765"/>
            <a:chOff x="838" y="906"/>
            <a:chExt cx="17558" cy="8839"/>
          </a:xfrm>
        </p:grpSpPr>
        <p:sp>
          <p:nvSpPr>
            <p:cNvPr id="29" name="PA-102232"/>
            <p:cNvSpPr/>
            <p:nvPr>
              <p:custDataLst>
                <p:tags r:id="rId1"/>
              </p:custDataLst>
            </p:nvPr>
          </p:nvSpPr>
          <p:spPr>
            <a:xfrm>
              <a:off x="872" y="906"/>
              <a:ext cx="17524" cy="8826"/>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6BB6"/>
                </a:solidFill>
                <a:cs typeface="+mn-ea"/>
                <a:sym typeface="+mn-lt"/>
              </a:endParaRPr>
            </a:p>
          </p:txBody>
        </p:sp>
        <p:grpSp>
          <p:nvGrpSpPr>
            <p:cNvPr id="30" name="组合 29"/>
            <p:cNvGrpSpPr/>
            <p:nvPr/>
          </p:nvGrpSpPr>
          <p:grpSpPr>
            <a:xfrm>
              <a:off x="838" y="9635"/>
              <a:ext cx="17558" cy="110"/>
              <a:chOff x="838" y="9635"/>
              <a:chExt cx="17558" cy="110"/>
            </a:xfrm>
          </p:grpSpPr>
          <p:sp>
            <p:nvSpPr>
              <p:cNvPr id="31" name="Rectangle 1"/>
              <p:cNvSpPr/>
              <p:nvPr/>
            </p:nvSpPr>
            <p:spPr>
              <a:xfrm>
                <a:off x="5321" y="9650"/>
                <a:ext cx="4286" cy="83"/>
              </a:xfrm>
              <a:prstGeom prst="rect">
                <a:avLst/>
              </a:prstGeom>
              <a:solidFill>
                <a:schemeClr val="bg1"/>
              </a:solidFill>
              <a:ln w="3175" cap="flat" cmpd="sng" algn="ctr">
                <a:solidFill>
                  <a:srgbClr val="0492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32" name="Rectangle 1"/>
              <p:cNvSpPr/>
              <p:nvPr/>
            </p:nvSpPr>
            <p:spPr>
              <a:xfrm>
                <a:off x="838" y="9650"/>
                <a:ext cx="4483" cy="83"/>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33" name="Rectangle 1"/>
              <p:cNvSpPr/>
              <p:nvPr/>
            </p:nvSpPr>
            <p:spPr>
              <a:xfrm>
                <a:off x="9602" y="9635"/>
                <a:ext cx="8794" cy="111"/>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sp>
        <p:nvSpPr>
          <p:cNvPr id="3" name="Text Box 166"/>
          <p:cNvSpPr txBox="1">
            <a:spLocks noChangeArrowheads="1"/>
          </p:cNvSpPr>
          <p:nvPr/>
        </p:nvSpPr>
        <p:spPr bwMode="auto">
          <a:xfrm>
            <a:off x="5227673" y="3638790"/>
            <a:ext cx="2057400" cy="523220"/>
          </a:xfrm>
          <a:prstGeom prst="rect">
            <a:avLst/>
          </a:prstGeom>
          <a:noFill/>
          <a:ln w="19050">
            <a:solidFill>
              <a:srgbClr val="04926A"/>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2800" dirty="0">
                <a:solidFill>
                  <a:schemeClr val="tx1">
                    <a:lumMod val="95000"/>
                    <a:lumOff val="5000"/>
                  </a:schemeClr>
                </a:solidFill>
                <a:latin typeface="Cambria Math" panose="02040503050406030204" charset="0"/>
                <a:ea typeface="黑体" panose="02010609060101010101" pitchFamily="49" charset="-122"/>
              </a:rPr>
              <a:t>函数可微</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p:sp>
        <p:nvSpPr>
          <p:cNvPr id="4" name="Text Box 167"/>
          <p:cNvSpPr txBox="1">
            <a:spLocks noChangeArrowheads="1"/>
          </p:cNvSpPr>
          <p:nvPr/>
        </p:nvSpPr>
        <p:spPr bwMode="auto">
          <a:xfrm>
            <a:off x="3714785" y="2343390"/>
            <a:ext cx="2057400" cy="523220"/>
          </a:xfrm>
          <a:prstGeom prst="rect">
            <a:avLst/>
          </a:prstGeom>
          <a:noFill/>
          <a:ln w="19050">
            <a:solidFill>
              <a:srgbClr val="04926A"/>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2800" dirty="0">
                <a:solidFill>
                  <a:schemeClr val="tx1">
                    <a:lumMod val="95000"/>
                    <a:lumOff val="5000"/>
                  </a:schemeClr>
                </a:solidFill>
                <a:latin typeface="Cambria Math" panose="02040503050406030204" charset="0"/>
                <a:ea typeface="黑体" panose="02010609060101010101" pitchFamily="49" charset="-122"/>
              </a:rPr>
              <a:t>函数连续</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p:sp>
        <p:nvSpPr>
          <p:cNvPr id="5" name="Text Box 168"/>
          <p:cNvSpPr txBox="1">
            <a:spLocks noChangeArrowheads="1"/>
          </p:cNvSpPr>
          <p:nvPr/>
        </p:nvSpPr>
        <p:spPr bwMode="auto">
          <a:xfrm>
            <a:off x="6838985" y="2343390"/>
            <a:ext cx="2057400" cy="523220"/>
          </a:xfrm>
          <a:prstGeom prst="rect">
            <a:avLst/>
          </a:prstGeom>
          <a:noFill/>
          <a:ln w="19050">
            <a:solidFill>
              <a:srgbClr val="04926A"/>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2800" dirty="0">
                <a:solidFill>
                  <a:schemeClr val="tx1">
                    <a:lumMod val="95000"/>
                    <a:lumOff val="5000"/>
                  </a:schemeClr>
                </a:solidFill>
                <a:latin typeface="Cambria Math" panose="02040503050406030204" charset="0"/>
                <a:ea typeface="黑体" panose="02010609060101010101" pitchFamily="49" charset="-122"/>
              </a:rPr>
              <a:t>偏导数存在</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p:sp>
        <p:nvSpPr>
          <p:cNvPr id="6" name="Text Box 169"/>
          <p:cNvSpPr txBox="1">
            <a:spLocks noChangeArrowheads="1"/>
          </p:cNvSpPr>
          <p:nvPr/>
        </p:nvSpPr>
        <p:spPr bwMode="auto">
          <a:xfrm>
            <a:off x="5227673" y="4950067"/>
            <a:ext cx="2057400" cy="523220"/>
          </a:xfrm>
          <a:prstGeom prst="rect">
            <a:avLst/>
          </a:prstGeom>
          <a:noFill/>
          <a:ln w="19050">
            <a:solidFill>
              <a:srgbClr val="04926A"/>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2800" dirty="0">
                <a:solidFill>
                  <a:schemeClr val="tx1">
                    <a:lumMod val="95000"/>
                    <a:lumOff val="5000"/>
                  </a:schemeClr>
                </a:solidFill>
                <a:latin typeface="Cambria Math" panose="02040503050406030204" charset="0"/>
                <a:ea typeface="黑体" panose="02010609060101010101" pitchFamily="49" charset="-122"/>
              </a:rPr>
              <a:t>偏导数连续</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p:grpSp>
        <p:nvGrpSpPr>
          <p:cNvPr id="7" name="Group 172"/>
          <p:cNvGrpSpPr/>
          <p:nvPr/>
        </p:nvGrpSpPr>
        <p:grpSpPr bwMode="auto">
          <a:xfrm>
            <a:off x="5848385" y="2301789"/>
            <a:ext cx="914400" cy="228600"/>
            <a:chOff x="2784" y="1035"/>
            <a:chExt cx="576" cy="144"/>
          </a:xfrm>
        </p:grpSpPr>
        <p:sp>
          <p:nvSpPr>
            <p:cNvPr id="8" name="Line 170"/>
            <p:cNvSpPr>
              <a:spLocks noChangeShapeType="1"/>
            </p:cNvSpPr>
            <p:nvPr/>
          </p:nvSpPr>
          <p:spPr bwMode="auto">
            <a:xfrm>
              <a:off x="2784" y="1104"/>
              <a:ext cx="576" cy="0"/>
            </a:xfrm>
            <a:prstGeom prst="line">
              <a:avLst/>
            </a:prstGeom>
            <a:noFill/>
            <a:ln w="28575">
              <a:solidFill>
                <a:srgbClr val="04926A"/>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sp>
          <p:nvSpPr>
            <p:cNvPr id="9" name="Line 171"/>
            <p:cNvSpPr>
              <a:spLocks noChangeShapeType="1"/>
            </p:cNvSpPr>
            <p:nvPr/>
          </p:nvSpPr>
          <p:spPr bwMode="auto">
            <a:xfrm flipV="1">
              <a:off x="2949" y="1035"/>
              <a:ext cx="192" cy="144"/>
            </a:xfrm>
            <a:prstGeom prst="line">
              <a:avLst/>
            </a:prstGeom>
            <a:noFill/>
            <a:ln w="28575">
              <a:solidFill>
                <a:srgbClr val="04926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grpSp>
      <p:grpSp>
        <p:nvGrpSpPr>
          <p:cNvPr id="10" name="Group 175"/>
          <p:cNvGrpSpPr/>
          <p:nvPr/>
        </p:nvGrpSpPr>
        <p:grpSpPr bwMode="auto">
          <a:xfrm>
            <a:off x="5848385" y="2639926"/>
            <a:ext cx="914400" cy="304800"/>
            <a:chOff x="2784" y="1248"/>
            <a:chExt cx="576" cy="192"/>
          </a:xfrm>
        </p:grpSpPr>
        <p:sp>
          <p:nvSpPr>
            <p:cNvPr id="11" name="Line 173"/>
            <p:cNvSpPr>
              <a:spLocks noChangeShapeType="1"/>
            </p:cNvSpPr>
            <p:nvPr/>
          </p:nvSpPr>
          <p:spPr bwMode="auto">
            <a:xfrm flipH="1">
              <a:off x="2784" y="1344"/>
              <a:ext cx="576" cy="0"/>
            </a:xfrm>
            <a:prstGeom prst="line">
              <a:avLst/>
            </a:prstGeom>
            <a:noFill/>
            <a:ln w="28575">
              <a:solidFill>
                <a:srgbClr val="04926A"/>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sp>
          <p:nvSpPr>
            <p:cNvPr id="12" name="Line 174"/>
            <p:cNvSpPr>
              <a:spLocks noChangeShapeType="1"/>
            </p:cNvSpPr>
            <p:nvPr/>
          </p:nvSpPr>
          <p:spPr bwMode="auto">
            <a:xfrm>
              <a:off x="2976" y="1248"/>
              <a:ext cx="240" cy="192"/>
            </a:xfrm>
            <a:prstGeom prst="line">
              <a:avLst/>
            </a:prstGeom>
            <a:noFill/>
            <a:ln w="28575">
              <a:solidFill>
                <a:srgbClr val="04926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grpSp>
      <p:sp>
        <p:nvSpPr>
          <p:cNvPr id="13" name="Line 176"/>
          <p:cNvSpPr>
            <a:spLocks noChangeShapeType="1"/>
          </p:cNvSpPr>
          <p:nvPr/>
        </p:nvSpPr>
        <p:spPr bwMode="auto">
          <a:xfrm flipV="1">
            <a:off x="5610259" y="2904708"/>
            <a:ext cx="0" cy="685800"/>
          </a:xfrm>
          <a:prstGeom prst="line">
            <a:avLst/>
          </a:prstGeom>
          <a:noFill/>
          <a:ln w="28575">
            <a:solidFill>
              <a:srgbClr val="4A7BA8"/>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grpSp>
        <p:nvGrpSpPr>
          <p:cNvPr id="14" name="Group 179"/>
          <p:cNvGrpSpPr/>
          <p:nvPr/>
        </p:nvGrpSpPr>
        <p:grpSpPr bwMode="auto">
          <a:xfrm>
            <a:off x="5153059" y="2904708"/>
            <a:ext cx="304800" cy="685800"/>
            <a:chOff x="2352" y="1412"/>
            <a:chExt cx="192" cy="432"/>
          </a:xfrm>
        </p:grpSpPr>
        <p:sp>
          <p:nvSpPr>
            <p:cNvPr id="15" name="Line 177"/>
            <p:cNvSpPr>
              <a:spLocks noChangeShapeType="1"/>
            </p:cNvSpPr>
            <p:nvPr/>
          </p:nvSpPr>
          <p:spPr bwMode="auto">
            <a:xfrm flipV="1">
              <a:off x="2448" y="1412"/>
              <a:ext cx="0" cy="432"/>
            </a:xfrm>
            <a:prstGeom prst="line">
              <a:avLst/>
            </a:prstGeom>
            <a:noFill/>
            <a:ln w="28575">
              <a:solidFill>
                <a:srgbClr val="04926A"/>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sp>
          <p:nvSpPr>
            <p:cNvPr id="16" name="Line 178"/>
            <p:cNvSpPr>
              <a:spLocks noChangeShapeType="1"/>
            </p:cNvSpPr>
            <p:nvPr/>
          </p:nvSpPr>
          <p:spPr bwMode="auto">
            <a:xfrm>
              <a:off x="2352" y="1529"/>
              <a:ext cx="192" cy="192"/>
            </a:xfrm>
            <a:prstGeom prst="line">
              <a:avLst/>
            </a:prstGeom>
            <a:noFill/>
            <a:ln w="28575">
              <a:solidFill>
                <a:srgbClr val="04926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grpSp>
      <p:sp>
        <p:nvSpPr>
          <p:cNvPr id="17" name="Line 180"/>
          <p:cNvSpPr>
            <a:spLocks noChangeShapeType="1"/>
          </p:cNvSpPr>
          <p:nvPr/>
        </p:nvSpPr>
        <p:spPr bwMode="auto">
          <a:xfrm flipV="1">
            <a:off x="6937409" y="2904708"/>
            <a:ext cx="0" cy="685800"/>
          </a:xfrm>
          <a:prstGeom prst="line">
            <a:avLst/>
          </a:prstGeom>
          <a:noFill/>
          <a:ln w="28575">
            <a:solidFill>
              <a:srgbClr val="4A7BA8"/>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grpSp>
        <p:nvGrpSpPr>
          <p:cNvPr id="18" name="Group 181"/>
          <p:cNvGrpSpPr/>
          <p:nvPr/>
        </p:nvGrpSpPr>
        <p:grpSpPr bwMode="auto">
          <a:xfrm>
            <a:off x="7058059" y="2904708"/>
            <a:ext cx="304800" cy="685800"/>
            <a:chOff x="2352" y="1412"/>
            <a:chExt cx="192" cy="432"/>
          </a:xfrm>
        </p:grpSpPr>
        <p:sp>
          <p:nvSpPr>
            <p:cNvPr id="19" name="Line 182"/>
            <p:cNvSpPr>
              <a:spLocks noChangeShapeType="1"/>
            </p:cNvSpPr>
            <p:nvPr/>
          </p:nvSpPr>
          <p:spPr bwMode="auto">
            <a:xfrm flipV="1">
              <a:off x="2448" y="1412"/>
              <a:ext cx="0" cy="432"/>
            </a:xfrm>
            <a:prstGeom prst="line">
              <a:avLst/>
            </a:prstGeom>
            <a:noFill/>
            <a:ln w="28575">
              <a:solidFill>
                <a:srgbClr val="04926A"/>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sp>
          <p:nvSpPr>
            <p:cNvPr id="20" name="Line 183"/>
            <p:cNvSpPr>
              <a:spLocks noChangeShapeType="1"/>
            </p:cNvSpPr>
            <p:nvPr/>
          </p:nvSpPr>
          <p:spPr bwMode="auto">
            <a:xfrm>
              <a:off x="2352" y="1529"/>
              <a:ext cx="192" cy="192"/>
            </a:xfrm>
            <a:prstGeom prst="line">
              <a:avLst/>
            </a:prstGeom>
            <a:noFill/>
            <a:ln w="28575">
              <a:solidFill>
                <a:srgbClr val="04926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grpSp>
      <p:sp>
        <p:nvSpPr>
          <p:cNvPr id="21" name="Line 184"/>
          <p:cNvSpPr>
            <a:spLocks noChangeShapeType="1"/>
          </p:cNvSpPr>
          <p:nvPr/>
        </p:nvSpPr>
        <p:spPr bwMode="auto">
          <a:xfrm flipV="1">
            <a:off x="6130960" y="4205528"/>
            <a:ext cx="0" cy="685800"/>
          </a:xfrm>
          <a:prstGeom prst="line">
            <a:avLst/>
          </a:prstGeom>
          <a:noFill/>
          <a:ln w="28575">
            <a:solidFill>
              <a:srgbClr val="4A7BA8"/>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grpSp>
        <p:nvGrpSpPr>
          <p:cNvPr id="22" name="Group 185"/>
          <p:cNvGrpSpPr/>
          <p:nvPr/>
        </p:nvGrpSpPr>
        <p:grpSpPr bwMode="auto">
          <a:xfrm>
            <a:off x="6251610" y="4203940"/>
            <a:ext cx="304800" cy="685800"/>
            <a:chOff x="2352" y="1412"/>
            <a:chExt cx="192" cy="432"/>
          </a:xfrm>
        </p:grpSpPr>
        <p:sp>
          <p:nvSpPr>
            <p:cNvPr id="23" name="Line 186"/>
            <p:cNvSpPr>
              <a:spLocks noChangeShapeType="1"/>
            </p:cNvSpPr>
            <p:nvPr/>
          </p:nvSpPr>
          <p:spPr bwMode="auto">
            <a:xfrm flipV="1">
              <a:off x="2448" y="1412"/>
              <a:ext cx="0" cy="432"/>
            </a:xfrm>
            <a:prstGeom prst="line">
              <a:avLst/>
            </a:prstGeom>
            <a:noFill/>
            <a:ln w="28575">
              <a:solidFill>
                <a:srgbClr val="04926A"/>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sp>
          <p:nvSpPr>
            <p:cNvPr id="24" name="Line 187"/>
            <p:cNvSpPr>
              <a:spLocks noChangeShapeType="1"/>
            </p:cNvSpPr>
            <p:nvPr/>
          </p:nvSpPr>
          <p:spPr bwMode="auto">
            <a:xfrm>
              <a:off x="2352" y="1529"/>
              <a:ext cx="192" cy="192"/>
            </a:xfrm>
            <a:prstGeom prst="line">
              <a:avLst/>
            </a:prstGeom>
            <a:noFill/>
            <a:ln w="28575">
              <a:solidFill>
                <a:srgbClr val="04926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grpSp>
      <p:sp>
        <p:nvSpPr>
          <p:cNvPr id="25" name="Rectangle 2"/>
          <p:cNvSpPr txBox="1">
            <a:spLocks noChangeArrowheads="1"/>
          </p:cNvSpPr>
          <p:nvPr/>
        </p:nvSpPr>
        <p:spPr>
          <a:xfrm>
            <a:off x="3152446" y="1325452"/>
            <a:ext cx="5616451" cy="576287"/>
          </a:xfrm>
          <a:prstGeom prst="rect">
            <a:avLst/>
          </a:prstGeom>
          <a:ln w="28575">
            <a:noFill/>
            <a:prstDash val="dashDot"/>
          </a:ln>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00000"/>
              </a:lnSpc>
              <a:spcBef>
                <a:spcPct val="50000"/>
              </a:spcBef>
            </a:pPr>
            <a:r>
              <a:rPr kumimoji="1" lang="en-US" altLang="zh-CN" dirty="0">
                <a:solidFill>
                  <a:srgbClr val="04926A"/>
                </a:solidFill>
                <a:latin typeface="微软雅黑" panose="020B0503020204020204" charset="-122"/>
                <a:ea typeface="微软雅黑" panose="020B0503020204020204" charset="-122"/>
                <a:cs typeface="+mn-cs"/>
              </a:rPr>
              <a:t>4. </a:t>
            </a:r>
            <a:r>
              <a:rPr kumimoji="1" lang="zh-CN" altLang="en-US" dirty="0">
                <a:solidFill>
                  <a:srgbClr val="04926A"/>
                </a:solidFill>
                <a:highlight>
                  <a:srgbClr val="FFFF00"/>
                </a:highlight>
                <a:latin typeface="微软雅黑" panose="020B0503020204020204" charset="-122"/>
                <a:ea typeface="微软雅黑" panose="020B0503020204020204" charset="-122"/>
                <a:cs typeface="+mn-cs"/>
              </a:rPr>
              <a:t>连续、偏导数存在、可微的关系</a:t>
            </a:r>
            <a:endParaRPr kumimoji="1" lang="zh-CN" altLang="en-US" dirty="0">
              <a:solidFill>
                <a:srgbClr val="04926A"/>
              </a:solidFill>
              <a:highlight>
                <a:srgbClr val="FFFF00"/>
              </a:highlight>
              <a:latin typeface="微软雅黑" panose="020B0503020204020204" charset="-122"/>
              <a:ea typeface="微软雅黑" panose="020B050302020402020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right)">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down)">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up)">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wipe(down)">
                                      <p:cBhvr>
                                        <p:cTn id="52" dur="500"/>
                                        <p:tgtEl>
                                          <p:spTgt spid="1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wipe(up)">
                                      <p:cBhvr>
                                        <p:cTn id="57" dur="500"/>
                                        <p:tgtEl>
                                          <p:spTgt spid="1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wipe(down)">
                                      <p:cBhvr>
                                        <p:cTn id="62" dur="500"/>
                                        <p:tgtEl>
                                          <p:spTgt spid="2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wipe(up)">
                                      <p:cBhvr>
                                        <p:cTn id="6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5" grpId="0" bldLvl="0" animBg="1"/>
      <p:bldP spid="6" grpId="0" bldLvl="0" animBg="1"/>
      <p:bldP spid="13" grpId="0" bldLvl="0" animBg="1"/>
      <p:bldP spid="17" grpId="0" bldLvl="0" animBg="1"/>
      <p:bldP spid="21" grpId="0" bldLvl="0" animBg="1"/>
      <p:bldP spid="25"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5" name="矩形 14"/>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p:sp>
            <p:nvSpPr>
              <p:cNvPr id="15" name="矩形 14"/>
              <p:cNvSpPr>
                <a:spLocks noRot="1" noChangeAspect="1" noMove="1" noResize="1" noEditPoints="1" noAdjustHandles="1" noChangeArrowheads="1" noChangeShapeType="1" noTextEdit="1"/>
              </p:cNvSpPr>
              <p:nvPr/>
            </p:nvSpPr>
            <p:spPr>
              <a:xfrm>
                <a:off x="687959" y="536260"/>
                <a:ext cx="10817352" cy="5799897"/>
              </a:xfrm>
              <a:prstGeom prst="rect">
                <a:avLst/>
              </a:prstGeom>
              <a:blipFill rotWithShape="1">
                <a:blip r:embed="rId1"/>
                <a:stretch>
                  <a:fillRect l="-1499" t="-1932" r="-1493" b="-1914"/>
                </a:stretch>
              </a:blip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16" name="半闭框 15"/>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7" name="半闭框 16"/>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8" name="半闭框 17"/>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19" name="半闭框 18"/>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mc:Choice xmlns:a14="http://schemas.microsoft.com/office/drawing/2010/main" Requires="a14">
          <p:sp>
            <p:nvSpPr>
              <p:cNvPr id="3" name="Object 7"/>
              <p:cNvSpPr txBox="1"/>
              <p:nvPr/>
            </p:nvSpPr>
            <p:spPr bwMode="auto">
              <a:xfrm>
                <a:off x="1912931" y="3136377"/>
                <a:ext cx="896975" cy="4953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函数</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3" name="Object 7"/>
              <p:cNvSpPr txBox="1">
                <a:spLocks noRot="1" noChangeAspect="1" noMove="1" noResize="1" noEditPoints="1" noAdjustHandles="1" noChangeArrowheads="1" noChangeShapeType="1" noTextEdit="1"/>
              </p:cNvSpPr>
              <p:nvPr/>
            </p:nvSpPr>
            <p:spPr bwMode="auto">
              <a:xfrm>
                <a:off x="1912931" y="3136377"/>
                <a:ext cx="896975" cy="495300"/>
              </a:xfrm>
              <a:prstGeom prst="rect">
                <a:avLst/>
              </a:prstGeom>
              <a:blipFill rotWithShape="1">
                <a:blip r:embed="rId2"/>
                <a:stretch>
                  <a:fillRect l="-35" t="-23" r="3" b="23"/>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对象 3"/>
              <p:cNvSpPr txBox="1"/>
              <p:nvPr/>
            </p:nvSpPr>
            <p:spPr>
              <a:xfrm>
                <a:off x="1931670" y="4483735"/>
                <a:ext cx="8692515" cy="495300"/>
              </a:xfrm>
              <a:prstGeom prst="rect">
                <a:avLst/>
              </a:prstGeom>
            </p:spPr>
            <p:txBody>
              <a:bodyPr>
                <a:noAutofit/>
              </a:bodyPr>
              <a:lstStyle/>
              <a:p>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在</m:t>
                      </m:r>
                      <m:d>
                        <m:d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dPr>
                        <m:e>
                          <m:r>
                            <a:rPr kumimoji="1" lang="zh-CN" altLang="en-US" sz="2800">
                              <a:solidFill>
                                <a:schemeClr val="tx1">
                                  <a:lumMod val="95000"/>
                                  <a:lumOff val="5000"/>
                                </a:schemeClr>
                              </a:solidFill>
                              <a:latin typeface="Cambria Math" panose="02040503050406030204" charset="0"/>
                              <a:ea typeface="黑体" panose="02010609060101010101" pitchFamily="49" charset="-122"/>
                            </a:rPr>
                            <m:t>0</m:t>
                          </m:r>
                          <m:r>
                            <a:rPr kumimoji="1" lang="zh-CN" altLang="en-US" sz="2800">
                              <a:solidFill>
                                <a:schemeClr val="tx1">
                                  <a:lumMod val="95000"/>
                                  <a:lumOff val="5000"/>
                                </a:schemeClr>
                              </a:solidFill>
                              <a:latin typeface="Cambria Math" panose="02040503050406030204"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charset="0"/>
                              <a:ea typeface="黑体" panose="02010609060101010101" pitchFamily="49" charset="-122"/>
                            </a:rPr>
                            <m:t>0</m:t>
                          </m:r>
                        </m:e>
                      </m:d>
                      <m:r>
                        <a:rPr kumimoji="1" lang="zh-CN" altLang="en-US" sz="2800">
                          <a:solidFill>
                            <a:schemeClr val="tx1">
                              <a:lumMod val="95000"/>
                              <a:lumOff val="5000"/>
                            </a:schemeClr>
                          </a:solidFill>
                          <a:latin typeface="Cambria Math" panose="02040503050406030204" charset="0"/>
                          <a:ea typeface="黑体" panose="02010609060101010101" pitchFamily="49" charset="-122"/>
                        </a:rPr>
                        <m:t>处的</m:t>
                      </m:r>
                      <m:r>
                        <a:rPr kumimoji="1" lang="zh-CN" altLang="en-US" sz="2800">
                          <a:solidFill>
                            <a:schemeClr val="tx1">
                              <a:lumMod val="95000"/>
                              <a:lumOff val="5000"/>
                            </a:schemeClr>
                          </a:solidFill>
                          <a:highlight>
                            <a:srgbClr val="FFFF00"/>
                          </a:highlight>
                          <a:latin typeface="Cambria Math" panose="02040503050406030204" charset="0"/>
                          <a:ea typeface="黑体" panose="02010609060101010101" pitchFamily="49" charset="-122"/>
                        </a:rPr>
                        <m:t>两个偏导数都存在,但函数在该点不可微</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4" name="对象 3"/>
              <p:cNvSpPr txBox="1">
                <a:spLocks noRot="1" noChangeAspect="1" noMove="1" noResize="1" noEditPoints="1" noAdjustHandles="1" noChangeArrowheads="1" noChangeShapeType="1" noTextEdit="1"/>
              </p:cNvSpPr>
              <p:nvPr/>
            </p:nvSpPr>
            <p:spPr>
              <a:xfrm>
                <a:off x="1931670" y="4483735"/>
                <a:ext cx="8692515" cy="49530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对象 4"/>
              <p:cNvSpPr txBox="1"/>
              <p:nvPr/>
            </p:nvSpPr>
            <p:spPr>
              <a:xfrm>
                <a:off x="2752600" y="2527481"/>
                <a:ext cx="5890443" cy="1651000"/>
              </a:xfrm>
              <a:prstGeom prst="rect">
                <a:avLst/>
              </a:prstGeom>
            </p:spPr>
            <p:txBody>
              <a:bodyPr>
                <a:noAutofit/>
              </a:bodyPr>
              <a:lstStyle/>
              <a:p>
                <a14:m>
                  <m:oMathPara xmlns:m="http://schemas.openxmlformats.org/officeDocument/2006/math">
                    <m:oMathParaPr>
                      <m:jc m:val="left"/>
                    </m:oMathParaPr>
                    <m:oMath xmlns:m="http://schemas.openxmlformats.org/officeDocument/2006/math">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dPr>
                        <m:e>
                          <m:eqArr>
                            <m:eqArr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eqArrPr>
                            <m:e>
                              <m:r>
                                <a:rPr kumimoji="1" lang="zh-CN" altLang="en-US" sz="2800">
                                  <a:solidFill>
                                    <a:schemeClr val="tx1">
                                      <a:lumMod val="95000"/>
                                      <a:lumOff val="5000"/>
                                    </a:schemeClr>
                                  </a:solidFill>
                                  <a:latin typeface="Cambria Math" panose="02040503050406030204" charset="0"/>
                                  <a:ea typeface="黑体" panose="02010609060101010101" pitchFamily="49" charset="-122"/>
                                </a:rPr>
                                <m:t>&amp;</m:t>
                              </m:r>
                              <m:f>
                                <m:f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num>
                                <m:den>
                                  <m:rad>
                                    <m:radPr>
                                      <m:degHide m:val="on"/>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radPr>
                                    <m:deg/>
                                    <m:e>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e>
                                  </m:rad>
                                </m:den>
                              </m:f>
                              <m:r>
                                <a:rPr kumimoji="1" lang="zh-CN" altLang="en-US" sz="28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0</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e>
                            <m:e>
                              <m:r>
                                <a:rPr kumimoji="1" lang="zh-CN" altLang="en-US" sz="2800">
                                  <a:solidFill>
                                    <a:schemeClr val="tx1">
                                      <a:lumMod val="95000"/>
                                      <a:lumOff val="5000"/>
                                    </a:schemeClr>
                                  </a:solidFill>
                                  <a:latin typeface="Cambria Math" panose="02040503050406030204" charset="0"/>
                                  <a:ea typeface="黑体" panose="02010609060101010101" pitchFamily="49" charset="-122"/>
                                </a:rPr>
                                <m:t>&amp;</m:t>
                              </m:r>
                              <m:r>
                                <a:rPr kumimoji="1" lang="zh-CN" altLang="en-US" sz="2800">
                                  <a:solidFill>
                                    <a:schemeClr val="tx1">
                                      <a:lumMod val="95000"/>
                                      <a:lumOff val="5000"/>
                                    </a:schemeClr>
                                  </a:solidFill>
                                  <a:latin typeface="Cambria Math" panose="02040503050406030204" charset="0"/>
                                  <a:ea typeface="黑体" panose="02010609060101010101" pitchFamily="49" charset="-122"/>
                                </a:rPr>
                                <m:t>0</m:t>
                              </m:r>
                              <m:r>
                                <a:rPr kumimoji="1" lang="zh-CN" altLang="en-US" sz="2800">
                                  <a:solidFill>
                                    <a:schemeClr val="tx1">
                                      <a:lumMod val="95000"/>
                                      <a:lumOff val="5000"/>
                                    </a:schemeClr>
                                  </a:solidFill>
                                  <a:latin typeface="Cambria Math" panose="02040503050406030204" charset="0"/>
                                  <a:ea typeface="黑体" panose="02010609060101010101" pitchFamily="49" charset="-122"/>
                                </a:rPr>
                                <m:t>,    </m:t>
                              </m:r>
                              <m:r>
                                <a:rPr kumimoji="1" lang="en-US" altLang="zh-CN" sz="28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0</m:t>
                              </m:r>
                            </m:e>
                          </m:eqArr>
                        </m:e>
                      </m:d>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5" name="对象 4"/>
              <p:cNvSpPr txBox="1">
                <a:spLocks noRot="1" noChangeAspect="1" noMove="1" noResize="1" noEditPoints="1" noAdjustHandles="1" noChangeArrowheads="1" noChangeShapeType="1" noTextEdit="1"/>
              </p:cNvSpPr>
              <p:nvPr/>
            </p:nvSpPr>
            <p:spPr>
              <a:xfrm>
                <a:off x="2752600" y="2527481"/>
                <a:ext cx="5890443" cy="1651000"/>
              </a:xfrm>
              <a:prstGeom prst="rect">
                <a:avLst/>
              </a:prstGeom>
              <a:blipFill rotWithShape="1">
                <a:blip r:embed="rId4"/>
                <a:stretch>
                  <a:fillRect l="-9" t="-11" r="1" b="11"/>
                </a:stretch>
              </a:blipFill>
            </p:spPr>
            <p:txBody>
              <a:bodyPr/>
              <a:lstStyle/>
              <a:p>
                <a:r>
                  <a:rPr lang="zh-CN" altLang="en-US">
                    <a:noFill/>
                  </a:rPr>
                  <a:t> </a:t>
                </a:r>
              </a:p>
            </p:txBody>
          </p:sp>
        </mc:Fallback>
      </mc:AlternateContent>
      <p:grpSp>
        <p:nvGrpSpPr>
          <p:cNvPr id="12" name="组合 11"/>
          <p:cNvGrpSpPr/>
          <p:nvPr/>
        </p:nvGrpSpPr>
        <p:grpSpPr>
          <a:xfrm>
            <a:off x="2037910" y="1869751"/>
            <a:ext cx="1126490" cy="448945"/>
            <a:chOff x="1553" y="3803"/>
            <a:chExt cx="1774" cy="707"/>
          </a:xfrm>
        </p:grpSpPr>
        <p:sp>
          <p:nvSpPr>
            <p:cNvPr id="13" name="圆角矩形 3"/>
            <p:cNvSpPr/>
            <p:nvPr/>
          </p:nvSpPr>
          <p:spPr>
            <a:xfrm>
              <a:off x="1553" y="3803"/>
              <a:ext cx="1684" cy="707"/>
            </a:xfrm>
            <a:prstGeom prst="roundRect">
              <a:avLst/>
            </a:prstGeom>
            <a:solidFill>
              <a:srgbClr val="049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4" name="Text Box 28"/>
            <p:cNvSpPr txBox="1">
              <a:spLocks noChangeArrowheads="1"/>
            </p:cNvSpPr>
            <p:nvPr/>
          </p:nvSpPr>
          <p:spPr bwMode="auto">
            <a:xfrm>
              <a:off x="1702" y="3810"/>
              <a:ext cx="1625" cy="6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bIns="0">
              <a:spAutoFit/>
            </a:bodyPr>
            <a:lstStyle>
              <a:lvl1pPr>
                <a:lnSpc>
                  <a:spcPct val="85000"/>
                </a:lnSpc>
                <a:defRPr kumimoji="1" sz="2800" b="1">
                  <a:solidFill>
                    <a:schemeClr val="tx2"/>
                  </a:solidFill>
                  <a:latin typeface="Times New Roman" panose="02020603050405020304" pitchFamily="18" charset="0"/>
                  <a:ea typeface="楷体_GB2312" pitchFamily="49" charset="-122"/>
                </a:defRPr>
              </a:lvl1pPr>
              <a:lvl2pPr marL="742950" indent="-285750">
                <a:lnSpc>
                  <a:spcPct val="85000"/>
                </a:lnSpc>
                <a:defRPr kumimoji="1" sz="2800" b="1">
                  <a:solidFill>
                    <a:schemeClr val="tx2"/>
                  </a:solidFill>
                  <a:latin typeface="Times New Roman" panose="02020603050405020304" pitchFamily="18" charset="0"/>
                  <a:ea typeface="楷体_GB2312" pitchFamily="49" charset="-122"/>
                </a:defRPr>
              </a:lvl2pPr>
              <a:lvl3pPr marL="1143000" indent="-228600">
                <a:lnSpc>
                  <a:spcPct val="85000"/>
                </a:lnSpc>
                <a:defRPr kumimoji="1" sz="2800" b="1">
                  <a:solidFill>
                    <a:schemeClr val="tx2"/>
                  </a:solidFill>
                  <a:latin typeface="Times New Roman" panose="02020603050405020304" pitchFamily="18" charset="0"/>
                  <a:ea typeface="楷体_GB2312" pitchFamily="49" charset="-122"/>
                </a:defRPr>
              </a:lvl3pPr>
              <a:lvl4pPr marL="1600200" indent="-228600">
                <a:lnSpc>
                  <a:spcPct val="85000"/>
                </a:lnSpc>
                <a:defRPr kumimoji="1" sz="2800" b="1">
                  <a:solidFill>
                    <a:schemeClr val="tx2"/>
                  </a:solidFill>
                  <a:latin typeface="Times New Roman" panose="02020603050405020304" pitchFamily="18" charset="0"/>
                  <a:ea typeface="楷体_GB2312" pitchFamily="49" charset="-122"/>
                </a:defRPr>
              </a:lvl4pPr>
              <a:lvl5pPr marL="2057400" indent="-228600">
                <a:lnSpc>
                  <a:spcPct val="85000"/>
                </a:lnSpc>
                <a:defRPr kumimoji="1" sz="2800" b="1">
                  <a:solidFill>
                    <a:schemeClr val="tx2"/>
                  </a:solidFill>
                  <a:latin typeface="Times New Roman" panose="02020603050405020304" pitchFamily="18" charset="0"/>
                  <a:ea typeface="楷体_GB2312" pitchFamily="49" charset="-122"/>
                </a:defRPr>
              </a:lvl5pPr>
              <a:lvl6pPr marL="25146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6pPr>
              <a:lvl7pPr marL="29718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7pPr>
              <a:lvl8pPr marL="34290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8pPr>
              <a:lvl9pPr marL="38862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b="1" kern="0" dirty="0">
                  <a:solidFill>
                    <a:schemeClr val="bg1"/>
                  </a:solidFill>
                  <a:latin typeface="微软雅黑" panose="020B0503020204020204" charset="-122"/>
                  <a:ea typeface="微软雅黑" panose="020B0503020204020204" charset="-122"/>
                  <a:cs typeface="微软雅黑" panose="020B0503020204020204" charset="-122"/>
                  <a:sym typeface="+mn-lt"/>
                </a:rPr>
                <a:t>反例</a:t>
              </a:r>
              <a:r>
                <a:rPr kumimoji="1" lang="en-US" altLang="zh-CN" sz="2800" b="1" kern="0" dirty="0">
                  <a:solidFill>
                    <a:schemeClr val="bg1"/>
                  </a:solidFill>
                  <a:latin typeface="微软雅黑" panose="020B0503020204020204" charset="-122"/>
                  <a:ea typeface="微软雅黑" panose="020B0503020204020204" charset="-122"/>
                  <a:cs typeface="微软雅黑" panose="020B0503020204020204" charset="-122"/>
                  <a:sym typeface="+mn-lt"/>
                </a:rPr>
                <a:t>1</a:t>
              </a:r>
              <a:endParaRPr kumimoji="1" lang="zh-CN" altLang="en-US" sz="2800" b="1" kern="0" dirty="0">
                <a:solidFill>
                  <a:schemeClr val="bg1"/>
                </a:solidFill>
                <a:latin typeface="微软雅黑" panose="020B0503020204020204" charset="-122"/>
                <a:ea typeface="微软雅黑" panose="020B0503020204020204" charset="-122"/>
                <a:cs typeface="微软雅黑" panose="020B0503020204020204" charset="-122"/>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p:bldP spid="5"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6" name="矩形 25"/>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p:sp>
            <p:nvSpPr>
              <p:cNvPr id="26" name="矩形 25"/>
              <p:cNvSpPr>
                <a:spLocks noRot="1" noChangeAspect="1" noMove="1" noResize="1" noEditPoints="1" noAdjustHandles="1" noChangeArrowheads="1" noChangeShapeType="1" noTextEdit="1"/>
              </p:cNvSpPr>
              <p:nvPr/>
            </p:nvSpPr>
            <p:spPr>
              <a:xfrm>
                <a:off x="687959" y="536260"/>
                <a:ext cx="10817352" cy="5799897"/>
              </a:xfrm>
              <a:prstGeom prst="rect">
                <a:avLst/>
              </a:prstGeom>
              <a:blipFill rotWithShape="1">
                <a:blip r:embed="rId1"/>
                <a:stretch>
                  <a:fillRect l="-1499" t="-1932" r="-1493" b="-1914"/>
                </a:stretch>
              </a:blip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27" name="半闭框 26"/>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半闭框 27"/>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9" name="半闭框 28"/>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30" name="半闭框 29"/>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 name="Text Box 8"/>
          <p:cNvSpPr txBox="1">
            <a:spLocks noChangeArrowheads="1"/>
          </p:cNvSpPr>
          <p:nvPr/>
        </p:nvSpPr>
        <p:spPr bwMode="auto">
          <a:xfrm>
            <a:off x="2206427" y="2741835"/>
            <a:ext cx="751634"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R="0" lvl="0" indent="0" fontAlgn="base">
              <a:lnSpc>
                <a:spcPct val="100000"/>
              </a:lnSpc>
              <a:spcBef>
                <a:spcPct val="50000"/>
              </a:spcBef>
              <a:spcAft>
                <a:spcPct val="0"/>
              </a:spcAft>
              <a:buClrTx/>
              <a:buSzTx/>
              <a:buFontTx/>
              <a:buNone/>
              <a:defRPr/>
            </a:pP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易知</a:t>
            </a:r>
            <a:endPar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endParaRPr>
          </a:p>
        </p:txBody>
      </p:sp>
      <mc:AlternateContent xmlns:mc="http://schemas.openxmlformats.org/markup-compatibility/2006">
        <mc:Choice xmlns:a14="http://schemas.microsoft.com/office/drawing/2010/main" Requires="a14">
          <p:sp>
            <p:nvSpPr>
              <p:cNvPr id="3" name="Object 9"/>
              <p:cNvSpPr txBox="1"/>
              <p:nvPr/>
            </p:nvSpPr>
            <p:spPr bwMode="auto">
              <a:xfrm>
                <a:off x="2831465" y="2711450"/>
                <a:ext cx="3092450" cy="4826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3" name="Object 9"/>
              <p:cNvSpPr txBox="1">
                <a:spLocks noRot="1" noChangeAspect="1" noMove="1" noResize="1" noEditPoints="1" noAdjustHandles="1" noChangeArrowheads="1" noChangeShapeType="1" noTextEdit="1"/>
              </p:cNvSpPr>
              <p:nvPr/>
            </p:nvSpPr>
            <p:spPr bwMode="auto">
              <a:xfrm>
                <a:off x="2831465" y="2711450"/>
                <a:ext cx="3092450" cy="482600"/>
              </a:xfrm>
              <a:prstGeom prst="rect">
                <a:avLst/>
              </a:prstGeom>
              <a:blipFill rotWithShape="1">
                <a:blip r:embed="rId2"/>
                <a:stretch>
                  <a:fillRect/>
                </a:stretch>
              </a:blipFill>
              <a:ln>
                <a:noFill/>
              </a:ln>
              <a:effectLst/>
            </p:spPr>
            <p:txBody>
              <a:bodyPr/>
              <a:lstStyle/>
              <a:p>
                <a:r>
                  <a:rPr lang="zh-CN" altLang="en-US">
                    <a:noFill/>
                  </a:rPr>
                  <a:t> </a:t>
                </a:r>
              </a:p>
            </p:txBody>
          </p:sp>
        </mc:Fallback>
      </mc:AlternateContent>
      <p:sp>
        <p:nvSpPr>
          <p:cNvPr id="4" name="Text Box 10"/>
          <p:cNvSpPr txBox="1">
            <a:spLocks noChangeArrowheads="1"/>
          </p:cNvSpPr>
          <p:nvPr/>
        </p:nvSpPr>
        <p:spPr bwMode="auto">
          <a:xfrm>
            <a:off x="2206427" y="3436118"/>
            <a:ext cx="762000"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R="0" lvl="0" indent="0" fontAlgn="base">
              <a:lnSpc>
                <a:spcPct val="100000"/>
              </a:lnSpc>
              <a:spcBef>
                <a:spcPct val="50000"/>
              </a:spcBef>
              <a:spcAft>
                <a:spcPct val="0"/>
              </a:spcAft>
              <a:buClrTx/>
              <a:buSzTx/>
              <a:buFontTx/>
              <a:buNone/>
              <a:defRPr/>
            </a:pP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但</a:t>
            </a:r>
            <a:endPar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endParaRPr>
          </a:p>
        </p:txBody>
      </p:sp>
      <mc:AlternateContent xmlns:mc="http://schemas.openxmlformats.org/markup-compatibility/2006">
        <mc:Choice xmlns:a14="http://schemas.microsoft.com/office/drawing/2010/main" Requires="a14">
          <p:sp>
            <p:nvSpPr>
              <p:cNvPr id="5" name="Object 11"/>
              <p:cNvSpPr txBox="1"/>
              <p:nvPr/>
            </p:nvSpPr>
            <p:spPr bwMode="auto">
              <a:xfrm>
                <a:off x="2554605" y="3413760"/>
                <a:ext cx="3969385" cy="482600"/>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5" name="Object 11"/>
              <p:cNvSpPr txBox="1">
                <a:spLocks noRot="1" noChangeAspect="1" noMove="1" noResize="1" noEditPoints="1" noAdjustHandles="1" noChangeArrowheads="1" noChangeShapeType="1" noTextEdit="1"/>
              </p:cNvSpPr>
              <p:nvPr/>
            </p:nvSpPr>
            <p:spPr bwMode="auto">
              <a:xfrm>
                <a:off x="2554605" y="3413760"/>
                <a:ext cx="3969385" cy="482600"/>
              </a:xfrm>
              <a:prstGeom prst="rect">
                <a:avLst/>
              </a:prstGeom>
              <a:blipFill rotWithShape="1">
                <a:blip r:embed="rId3"/>
                <a:stretch>
                  <a:fillRect/>
                </a:stretch>
              </a:blipFill>
              <a:ln>
                <a:noFill/>
              </a:ln>
              <a:effectLst/>
            </p:spPr>
            <p:txBody>
              <a:bodyPr/>
              <a:lstStyle/>
              <a:p>
                <a:r>
                  <a:rPr lang="zh-CN" altLang="en-US">
                    <a:noFill/>
                  </a:rPr>
                  <a:t> </a:t>
                </a:r>
              </a:p>
            </p:txBody>
          </p:sp>
        </mc:Fallback>
      </mc:AlternateContent>
      <p:sp>
        <p:nvSpPr>
          <p:cNvPr id="6" name="Text Box 12"/>
          <p:cNvSpPr txBox="1">
            <a:spLocks noChangeArrowheads="1"/>
          </p:cNvSpPr>
          <p:nvPr/>
        </p:nvSpPr>
        <p:spPr bwMode="auto">
          <a:xfrm>
            <a:off x="7491269" y="5419223"/>
            <a:ext cx="3213806" cy="430887"/>
          </a:xfrm>
          <a:prstGeom prst="rect">
            <a:avLst/>
          </a:prstGeom>
          <a:solidFill>
            <a:srgbClr val="04926A">
              <a:alpha val="20000"/>
            </a:srgbClr>
          </a:solidFill>
          <a:ln>
            <a:noFill/>
          </a:ln>
        </p:spPr>
        <p:txBody>
          <a:bodyPr wrap="square">
            <a:spAutoFit/>
          </a:bodyPr>
          <a:lstStyle/>
          <a:p>
            <a:pPr marR="0" lvl="0" indent="0" fontAlgn="base">
              <a:lnSpc>
                <a:spcPct val="100000"/>
              </a:lnSpc>
              <a:spcBef>
                <a:spcPct val="50000"/>
              </a:spcBef>
              <a:spcAft>
                <a:spcPct val="0"/>
              </a:spcAft>
              <a:buClrTx/>
              <a:buSzTx/>
              <a:buFontTx/>
              <a:buNone/>
              <a:defRPr/>
            </a:pP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即函数在点 </a:t>
            </a:r>
            <a:r>
              <a:rPr kumimoji="1" lang="en-US" altLang="zh-CN" sz="2200" dirty="0">
                <a:solidFill>
                  <a:schemeClr val="tx1">
                    <a:lumMod val="95000"/>
                    <a:lumOff val="5000"/>
                  </a:schemeClr>
                </a:solidFill>
                <a:latin typeface="Cambria Math" panose="02040503050406030204" charset="0"/>
                <a:ea typeface="黑体" panose="02010609060101010101" pitchFamily="49" charset="-122"/>
                <a:sym typeface="+mn-lt"/>
              </a:rPr>
              <a:t>(0,0) </a:t>
            </a:r>
            <a:r>
              <a:rPr kumimoji="1" lang="zh-CN" altLang="en-US" sz="2200" b="1" dirty="0">
                <a:solidFill>
                  <a:srgbClr val="04926A"/>
                </a:solidFill>
                <a:latin typeface="Cambria Math" panose="02040503050406030204" charset="0"/>
                <a:ea typeface="黑体" panose="02010609060101010101" pitchFamily="49" charset="-122"/>
                <a:sym typeface="+mn-lt"/>
              </a:rPr>
              <a:t>不可微</a:t>
            </a: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 </a:t>
            </a:r>
            <a:r>
              <a:rPr kumimoji="1" lang="en-US" altLang="zh-CN" sz="2200" dirty="0">
                <a:solidFill>
                  <a:schemeClr val="tx1">
                    <a:lumMod val="95000"/>
                    <a:lumOff val="5000"/>
                  </a:schemeClr>
                </a:solidFill>
                <a:latin typeface="Cambria Math" panose="02040503050406030204" charset="0"/>
                <a:ea typeface="黑体" panose="02010609060101010101" pitchFamily="49" charset="-122"/>
                <a:sym typeface="+mn-lt"/>
              </a:rPr>
              <a:t>.</a:t>
            </a:r>
            <a:endParaRPr kumimoji="1" lang="en-US" altLang="zh-CN" sz="2200" dirty="0">
              <a:solidFill>
                <a:schemeClr val="tx1">
                  <a:lumMod val="95000"/>
                  <a:lumOff val="5000"/>
                </a:schemeClr>
              </a:solidFill>
              <a:latin typeface="Cambria Math" panose="02040503050406030204" charset="0"/>
              <a:ea typeface="黑体" panose="02010609060101010101" pitchFamily="49" charset="-122"/>
              <a:sym typeface="+mn-lt"/>
            </a:endParaRPr>
          </a:p>
        </p:txBody>
      </p:sp>
      <mc:AlternateContent xmlns:mc="http://schemas.openxmlformats.org/markup-compatibility/2006">
        <mc:Choice xmlns:a14="http://schemas.microsoft.com/office/drawing/2010/main" Requires="a14">
          <p:sp>
            <p:nvSpPr>
              <p:cNvPr id="7" name="Object 15"/>
              <p:cNvSpPr txBox="1"/>
              <p:nvPr/>
            </p:nvSpPr>
            <p:spPr bwMode="auto">
              <a:xfrm>
                <a:off x="2201348" y="4067272"/>
                <a:ext cx="6410908" cy="1236236"/>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limLow>
                            <m:limLow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limLow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lim</m:t>
                              </m:r>
                            </m:e>
                            <m:lim>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lim>
                          </m:limLow>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num>
                                <m:den>
                                  <m:rad>
                                    <m:radPr>
                                      <m:degHide m:val="on"/>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radPr>
                                    <m:deg/>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e>
                                  </m:rad>
                                </m:den>
                              </m:f>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den>
                          </m:f>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limLow>
                            <m:limLow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limLow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lim</m:t>
                              </m:r>
                            </m:e>
                            <m:lim>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lim>
                          </m:limLow>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不存在</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7" name="Object 15"/>
              <p:cNvSpPr txBox="1">
                <a:spLocks noRot="1" noChangeAspect="1" noMove="1" noResize="1" noEditPoints="1" noAdjustHandles="1" noChangeArrowheads="1" noChangeShapeType="1" noTextEdit="1"/>
              </p:cNvSpPr>
              <p:nvPr/>
            </p:nvSpPr>
            <p:spPr bwMode="auto">
              <a:xfrm>
                <a:off x="2201348" y="4067272"/>
                <a:ext cx="6410908" cy="1236236"/>
              </a:xfrm>
              <a:prstGeom prst="rect">
                <a:avLst/>
              </a:prstGeom>
              <a:blipFill rotWithShape="1">
                <a:blip r:embed="rId4"/>
                <a:stretch>
                  <a:fillRect l="-7" t="-8" r="6" b="50"/>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Object 18"/>
              <p:cNvSpPr txBox="1"/>
              <p:nvPr/>
            </p:nvSpPr>
            <p:spPr bwMode="auto">
              <a:xfrm>
                <a:off x="6101312" y="3242246"/>
                <a:ext cx="2455538" cy="891073"/>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num>
                        <m:den>
                          <m:rad>
                            <m:radPr>
                              <m:degHide m:val="on"/>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radPr>
                            <m:deg/>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e>
                          </m:rad>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8" name="Object 18"/>
              <p:cNvSpPr txBox="1">
                <a:spLocks noRot="1" noChangeAspect="1" noMove="1" noResize="1" noEditPoints="1" noAdjustHandles="1" noChangeArrowheads="1" noChangeShapeType="1" noTextEdit="1"/>
              </p:cNvSpPr>
              <p:nvPr/>
            </p:nvSpPr>
            <p:spPr bwMode="auto">
              <a:xfrm>
                <a:off x="6101312" y="3242246"/>
                <a:ext cx="2455538" cy="891073"/>
              </a:xfrm>
              <a:prstGeom prst="rect">
                <a:avLst/>
              </a:prstGeom>
              <a:blipFill rotWithShape="1">
                <a:blip r:embed="rId5"/>
                <a:stretch>
                  <a:fillRect l="-9" t="-64" r="9" b="12"/>
                </a:stretch>
              </a:blipFill>
              <a:ln>
                <a:noFill/>
              </a:ln>
              <a:effectLst/>
            </p:spPr>
            <p:txBody>
              <a:bodyPr/>
              <a:lstStyle/>
              <a:p>
                <a:r>
                  <a:rPr lang="zh-CN" altLang="en-US">
                    <a:noFill/>
                  </a:rPr>
                  <a:t> </a:t>
                </a:r>
              </a:p>
            </p:txBody>
          </p:sp>
        </mc:Fallback>
      </mc:AlternateContent>
      <p:sp>
        <p:nvSpPr>
          <p:cNvPr id="9" name="Text Box 221"/>
          <p:cNvSpPr txBox="1">
            <a:spLocks noChangeArrowheads="1"/>
          </p:cNvSpPr>
          <p:nvPr/>
        </p:nvSpPr>
        <p:spPr bwMode="auto">
          <a:xfrm>
            <a:off x="1423349" y="2689972"/>
            <a:ext cx="991462"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spcBef>
                <a:spcPct val="50000"/>
              </a:spcBef>
              <a:defRPr/>
            </a:pPr>
            <a:r>
              <a:rPr kumimoji="1" lang="zh-CN" altLang="en-US" sz="2800" b="1" kern="0" dirty="0">
                <a:solidFill>
                  <a:srgbClr val="04926A"/>
                </a:solidFill>
                <a:latin typeface="微软雅黑" panose="020B0503020204020204" charset="-122"/>
                <a:ea typeface="微软雅黑" panose="020B0503020204020204" charset="-122"/>
                <a:cs typeface="微软雅黑" panose="020B0503020204020204" charset="-122"/>
              </a:rPr>
              <a:t>证明</a:t>
            </a:r>
            <a:endParaRPr kumimoji="1" lang="zh-CN" altLang="en-US" sz="2800" b="1" kern="0" dirty="0">
              <a:solidFill>
                <a:srgbClr val="04926A"/>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10" name="对象 9"/>
              <p:cNvSpPr txBox="1"/>
              <p:nvPr/>
            </p:nvSpPr>
            <p:spPr>
              <a:xfrm>
                <a:off x="2201348" y="5402111"/>
                <a:ext cx="5376672" cy="482600"/>
              </a:xfrm>
              <a:prstGeom prst="rect">
                <a:avLst/>
              </a:prstGeom>
            </p:spPr>
            <p:txBody>
              <a:bodyPr>
                <a:norm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𝑜</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0" name="对象 9"/>
              <p:cNvSpPr txBox="1">
                <a:spLocks noRot="1" noChangeAspect="1" noMove="1" noResize="1" noEditPoints="1" noAdjustHandles="1" noChangeArrowheads="1" noChangeShapeType="1" noTextEdit="1"/>
              </p:cNvSpPr>
              <p:nvPr/>
            </p:nvSpPr>
            <p:spPr>
              <a:xfrm>
                <a:off x="2201348" y="5402111"/>
                <a:ext cx="5376672" cy="482600"/>
              </a:xfrm>
              <a:prstGeom prst="rect">
                <a:avLst/>
              </a:prstGeom>
              <a:blipFill rotWithShape="1">
                <a:blip r:embed="rId6"/>
                <a:stretch>
                  <a:fillRect l="-8" t="-34" r="11" b="34"/>
                </a:stretch>
              </a:blipFill>
            </p:spPr>
            <p:txBody>
              <a:bodyPr/>
              <a:lstStyle/>
              <a:p>
                <a:r>
                  <a:rPr lang="zh-CN" altLang="en-US">
                    <a:noFill/>
                  </a:rPr>
                  <a:t> </a:t>
                </a:r>
              </a:p>
            </p:txBody>
          </p:sp>
        </mc:Fallback>
      </mc:AlternateContent>
      <p:sp>
        <p:nvSpPr>
          <p:cNvPr id="11" name="Text Box 12"/>
          <p:cNvSpPr txBox="1">
            <a:spLocks noChangeArrowheads="1"/>
          </p:cNvSpPr>
          <p:nvPr/>
        </p:nvSpPr>
        <p:spPr bwMode="auto">
          <a:xfrm>
            <a:off x="6101715" y="2727960"/>
            <a:ext cx="4319270" cy="429895"/>
          </a:xfrm>
          <a:prstGeom prst="rect">
            <a:avLst/>
          </a:prstGeom>
          <a:solidFill>
            <a:srgbClr val="04926A">
              <a:alpha val="20000"/>
            </a:srgbClr>
          </a:solidFill>
          <a:ln>
            <a:noFill/>
          </a:ln>
        </p:spPr>
        <p:txBody>
          <a:bodyPr wrap="square">
            <a:spAutoFit/>
          </a:bodyPr>
          <a:lstStyle/>
          <a:p>
            <a:pPr marR="0" lvl="0" indent="0" fontAlgn="base">
              <a:lnSpc>
                <a:spcPct val="100000"/>
              </a:lnSpc>
              <a:spcBef>
                <a:spcPct val="50000"/>
              </a:spcBef>
              <a:spcAft>
                <a:spcPct val="0"/>
              </a:spcAft>
              <a:buClrTx/>
              <a:buSzTx/>
              <a:buFontTx/>
              <a:buNone/>
              <a:defRPr/>
            </a:pP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即在点 </a:t>
            </a:r>
            <a:r>
              <a:rPr kumimoji="1" lang="en-US" altLang="zh-CN" sz="2200" dirty="0">
                <a:solidFill>
                  <a:schemeClr val="tx1">
                    <a:lumMod val="95000"/>
                    <a:lumOff val="5000"/>
                  </a:schemeClr>
                </a:solidFill>
                <a:latin typeface="Cambria Math" panose="02040503050406030204" charset="0"/>
                <a:ea typeface="黑体" panose="02010609060101010101" pitchFamily="49" charset="-122"/>
                <a:sym typeface="+mn-lt"/>
              </a:rPr>
              <a:t>(0,0)</a:t>
            </a: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两个</a:t>
            </a:r>
            <a:r>
              <a:rPr kumimoji="1" lang="zh-CN" altLang="en-US" sz="2200" b="1" dirty="0">
                <a:solidFill>
                  <a:srgbClr val="04926A"/>
                </a:solidFill>
                <a:latin typeface="Cambria Math" panose="02040503050406030204" charset="0"/>
                <a:ea typeface="黑体" panose="02010609060101010101" pitchFamily="49" charset="-122"/>
                <a:sym typeface="+mn-lt"/>
              </a:rPr>
              <a:t>偏导数存在</a:t>
            </a:r>
            <a:r>
              <a:rPr kumimoji="1" lang="en-US" altLang="zh-CN" sz="2200" dirty="0">
                <a:solidFill>
                  <a:schemeClr val="tx1">
                    <a:lumMod val="95000"/>
                    <a:lumOff val="5000"/>
                  </a:schemeClr>
                </a:solidFill>
                <a:latin typeface="Cambria Math" panose="02040503050406030204" charset="0"/>
                <a:ea typeface="黑体" panose="02010609060101010101" pitchFamily="49" charset="-122"/>
                <a:sym typeface="+mn-lt"/>
              </a:rPr>
              <a:t>.</a:t>
            </a:r>
            <a:endParaRPr kumimoji="1" lang="en-US" altLang="zh-CN" sz="2200" dirty="0">
              <a:solidFill>
                <a:schemeClr val="tx1">
                  <a:lumMod val="95000"/>
                  <a:lumOff val="5000"/>
                </a:schemeClr>
              </a:solidFill>
              <a:latin typeface="Cambria Math" panose="02040503050406030204" charset="0"/>
              <a:ea typeface="黑体" panose="02010609060101010101" pitchFamily="49" charset="-122"/>
              <a:sym typeface="+mn-lt"/>
            </a:endParaRPr>
          </a:p>
        </p:txBody>
      </p:sp>
      <p:sp>
        <p:nvSpPr>
          <p:cNvPr id="12" name="Line 33"/>
          <p:cNvSpPr>
            <a:spLocks noChangeShapeType="1"/>
          </p:cNvSpPr>
          <p:nvPr/>
        </p:nvSpPr>
        <p:spPr bwMode="auto">
          <a:xfrm flipV="1">
            <a:off x="1550425" y="2356389"/>
            <a:ext cx="9091150" cy="35425"/>
          </a:xfrm>
          <a:prstGeom prst="line">
            <a:avLst/>
          </a:prstGeom>
          <a:noFill/>
          <a:ln w="19050">
            <a:solidFill>
              <a:srgbClr val="04926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mc:AlternateContent xmlns:mc="http://schemas.openxmlformats.org/markup-compatibility/2006">
        <mc:Choice xmlns:a14="http://schemas.microsoft.com/office/drawing/2010/main" Requires="a14">
          <p:sp>
            <p:nvSpPr>
              <p:cNvPr id="13" name="对象 12"/>
              <p:cNvSpPr txBox="1"/>
              <p:nvPr/>
            </p:nvSpPr>
            <p:spPr>
              <a:xfrm>
                <a:off x="3539301" y="858618"/>
                <a:ext cx="4656199" cy="1314709"/>
              </a:xfrm>
              <a:prstGeom prst="rect">
                <a:avLst/>
              </a:prstGeom>
            </p:spPr>
            <p:txBody>
              <a:bodyPr>
                <a:noAutofit/>
              </a:bodyPr>
              <a:lstStyle/>
              <a:p>
                <a14:m>
                  <m:oMathPara xmlns:m="http://schemas.openxmlformats.org/officeDocument/2006/math">
                    <m:oMathParaPr>
                      <m:jc m:val="left"/>
                    </m:oMathParaPr>
                    <m:oMath xmlns:m="http://schemas.openxmlformats.org/officeDocument/2006/math">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dPr>
                        <m:e>
                          <m:eqArr>
                            <m:eqArr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eqArrPr>
                            <m:e>
                              <m:r>
                                <a:rPr kumimoji="1" lang="zh-CN" altLang="en-US" sz="2200">
                                  <a:solidFill>
                                    <a:schemeClr val="tx1">
                                      <a:lumMod val="95000"/>
                                      <a:lumOff val="5000"/>
                                    </a:schemeClr>
                                  </a:solidFill>
                                  <a:latin typeface="Cambria Math" panose="02040503050406030204" charset="0"/>
                                  <a:ea typeface="黑体" panose="02010609060101010101" pitchFamily="49" charset="-122"/>
                                </a:rPr>
                                <m:t>&amp;</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num>
                                <m:den>
                                  <m:rad>
                                    <m:radPr>
                                      <m:degHide m:val="on"/>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radPr>
                                    <m:deg/>
                                    <m:e>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e>
                                  </m:rad>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e>
                              <m:r>
                                <a:rPr kumimoji="1" lang="zh-CN" altLang="en-US" sz="2200">
                                  <a:solidFill>
                                    <a:schemeClr val="tx1">
                                      <a:lumMod val="95000"/>
                                      <a:lumOff val="5000"/>
                                    </a:schemeClr>
                                  </a:solidFill>
                                  <a:latin typeface="Cambria Math" panose="02040503050406030204" charset="0"/>
                                  <a:ea typeface="黑体" panose="02010609060101010101" pitchFamily="49" charset="-122"/>
                                </a:rPr>
                                <m:t>&amp;</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eqArr>
                        </m:e>
                      </m:d>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3" name="对象 12"/>
              <p:cNvSpPr txBox="1">
                <a:spLocks noRot="1" noChangeAspect="1" noMove="1" noResize="1" noEditPoints="1" noAdjustHandles="1" noChangeArrowheads="1" noChangeShapeType="1" noTextEdit="1"/>
              </p:cNvSpPr>
              <p:nvPr/>
            </p:nvSpPr>
            <p:spPr>
              <a:xfrm>
                <a:off x="3539301" y="858618"/>
                <a:ext cx="4656199" cy="1314709"/>
              </a:xfrm>
              <a:prstGeom prst="rect">
                <a:avLst/>
              </a:prstGeom>
              <a:blipFill rotWithShape="1">
                <a:blip r:embed="rId7"/>
                <a:stretch>
                  <a:fillRect l="-10" t="-7" r="4" b="2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left)">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left)">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wipe(left)">
                                      <p:cBhvr>
                                        <p:cTn id="35" dur="500"/>
                                        <p:tgtEl>
                                          <p:spTgt spid="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wipe(left)">
                                      <p:cBhvr>
                                        <p:cTn id="40" dur="500"/>
                                        <p:tgtEl>
                                          <p:spTgt spid="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left)">
                                      <p:cBhvr>
                                        <p:cTn id="45" dur="500"/>
                                        <p:tgtEl>
                                          <p:spTgt spid="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wipe(left)">
                                      <p:cBhvr>
                                        <p:cTn id="50" dur="500"/>
                                        <p:tgtEl>
                                          <p:spTgt spid="7"/>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wipe(left)">
                                      <p:cBhvr>
                                        <p:cTn id="55" dur="500"/>
                                        <p:tgtEl>
                                          <p:spTgt spid="10"/>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wipe(left)">
                                      <p:cBhvr>
                                        <p:cTn id="6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ldLvl="0" animBg="1"/>
      <p:bldP spid="4" grpId="0"/>
      <p:bldP spid="5" grpId="0" bldLvl="0" animBg="1"/>
      <p:bldP spid="6" grpId="0" bldLvl="0" animBg="1"/>
      <p:bldP spid="7" grpId="0" bldLvl="0" animBg="1"/>
      <p:bldP spid="8" grpId="0" bldLvl="0" animBg="1"/>
      <p:bldP spid="9" grpId="0"/>
      <p:bldP spid="10" grpId="0"/>
      <p:bldP spid="11" grpId="0" bldLvl="0" animBg="1"/>
      <p:bldP spid="12" grpId="0" bldLvl="0" animBg="1"/>
      <p:bldP spid="13"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4" name="矩形 13"/>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p:sp>
            <p:nvSpPr>
              <p:cNvPr id="14" name="矩形 13"/>
              <p:cNvSpPr>
                <a:spLocks noRot="1" noChangeAspect="1" noMove="1" noResize="1" noEditPoints="1" noAdjustHandles="1" noChangeArrowheads="1" noChangeShapeType="1" noTextEdit="1"/>
              </p:cNvSpPr>
              <p:nvPr/>
            </p:nvSpPr>
            <p:spPr>
              <a:xfrm>
                <a:off x="687959" y="536260"/>
                <a:ext cx="10817352" cy="5799897"/>
              </a:xfrm>
              <a:prstGeom prst="rect">
                <a:avLst/>
              </a:prstGeom>
              <a:blipFill rotWithShape="1">
                <a:blip r:embed="rId1"/>
                <a:stretch>
                  <a:fillRect l="-1499" t="-1932" r="-1493" b="-1914"/>
                </a:stretch>
              </a:blip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15" name="半闭框 14"/>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半闭框 15"/>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tx1"/>
              </a:solidFill>
            </a:endParaRPr>
          </a:p>
        </p:txBody>
      </p:sp>
      <p:sp>
        <p:nvSpPr>
          <p:cNvPr id="17" name="半闭框 16"/>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18" name="半闭框 17"/>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tx1"/>
              </a:solidFill>
            </a:endParaRPr>
          </a:p>
        </p:txBody>
      </p:sp>
      <mc:AlternateContent xmlns:mc="http://schemas.openxmlformats.org/markup-compatibility/2006">
        <mc:Choice xmlns:a14="http://schemas.microsoft.com/office/drawing/2010/main" Requires="a14">
          <p:sp>
            <p:nvSpPr>
              <p:cNvPr id="2" name="Text Box 277"/>
              <p:cNvSpPr txBox="1">
                <a:spLocks noChangeArrowheads="1"/>
              </p:cNvSpPr>
              <p:nvPr/>
            </p:nvSpPr>
            <p:spPr bwMode="auto">
              <a:xfrm>
                <a:off x="1951867" y="4480536"/>
                <a:ext cx="6260856"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a:spcBef>
                    <a:spcPct val="50000"/>
                  </a:spcBef>
                </a:pPr>
                <a:r>
                  <a:rPr kumimoji="1" lang="zh-CN" altLang="en-US" b="0" dirty="0">
                    <a:solidFill>
                      <a:schemeClr val="tx1">
                        <a:lumMod val="95000"/>
                        <a:lumOff val="5000"/>
                      </a:schemeClr>
                    </a:solidFill>
                    <a:highlight>
                      <a:srgbClr val="FFFF00"/>
                    </a:highlight>
                    <a:latin typeface="Cambria Math" panose="02040503050406030204" charset="0"/>
                  </a:rPr>
                  <a:t>在</a:t>
                </a:r>
                <a:r>
                  <a:rPr kumimoji="1" lang="en-US" altLang="zh-CN" b="0" dirty="0">
                    <a:solidFill>
                      <a:schemeClr val="tx1">
                        <a:lumMod val="95000"/>
                        <a:lumOff val="5000"/>
                      </a:schemeClr>
                    </a:solidFill>
                    <a:highlight>
                      <a:srgbClr val="FFFF00"/>
                    </a:highlight>
                    <a:latin typeface="Cambria Math" panose="02040503050406030204" charset="0"/>
                  </a:rPr>
                  <a:t>(0 , 0)</a:t>
                </a:r>
                <a:r>
                  <a:rPr kumimoji="1" lang="zh-CN" altLang="en-US" b="0" dirty="0">
                    <a:solidFill>
                      <a:schemeClr val="tx1">
                        <a:lumMod val="95000"/>
                        <a:lumOff val="5000"/>
                      </a:schemeClr>
                    </a:solidFill>
                    <a:highlight>
                      <a:srgbClr val="FFFF00"/>
                    </a:highlight>
                    <a:latin typeface="Cambria Math" panose="02040503050406030204" charset="0"/>
                  </a:rPr>
                  <a:t>处可微</a:t>
                </a:r>
                <a14:m>
                  <m:oMath xmlns:m="http://schemas.openxmlformats.org/officeDocument/2006/math">
                    <m:r>
                      <a:rPr kumimoji="1" lang="zh-CN" altLang="en-US" b="0">
                        <a:solidFill>
                          <a:schemeClr val="tx1">
                            <a:lumMod val="95000"/>
                            <a:lumOff val="5000"/>
                          </a:schemeClr>
                        </a:solidFill>
                        <a:highlight>
                          <a:srgbClr val="FFFF00"/>
                        </a:highlight>
                        <a:latin typeface="Cambria Math" panose="02040503050406030204" charset="0"/>
                      </a:rPr>
                      <m:t>,</m:t>
                    </m:r>
                  </m:oMath>
                </a14:m>
                <a:r>
                  <a:rPr kumimoji="1" lang="zh-CN" altLang="en-US" b="0" dirty="0">
                    <a:solidFill>
                      <a:schemeClr val="tx1">
                        <a:lumMod val="95000"/>
                        <a:lumOff val="5000"/>
                      </a:schemeClr>
                    </a:solidFill>
                    <a:highlight>
                      <a:srgbClr val="FFFF00"/>
                    </a:highlight>
                    <a:latin typeface="Cambria Math" panose="02040503050406030204" charset="0"/>
                  </a:rPr>
                  <a:t>但两个偏导数都不连续</a:t>
                </a:r>
                <a:r>
                  <a:rPr kumimoji="1" lang="en-US" altLang="zh-CN" b="0" dirty="0">
                    <a:solidFill>
                      <a:schemeClr val="tx1">
                        <a:lumMod val="95000"/>
                        <a:lumOff val="5000"/>
                      </a:schemeClr>
                    </a:solidFill>
                    <a:latin typeface="Cambria Math" panose="02040503050406030204" charset="0"/>
                  </a:rPr>
                  <a:t>.</a:t>
                </a:r>
                <a:endParaRPr kumimoji="1" lang="en-US" altLang="zh-CN" b="0" dirty="0">
                  <a:solidFill>
                    <a:schemeClr val="tx1">
                      <a:lumMod val="95000"/>
                      <a:lumOff val="5000"/>
                    </a:schemeClr>
                  </a:solidFill>
                  <a:latin typeface="Cambria Math" panose="02040503050406030204" charset="0"/>
                </a:endParaRPr>
              </a:p>
            </p:txBody>
          </p:sp>
        </mc:Choice>
        <mc:Fallback>
          <p:sp>
            <p:nvSpPr>
              <p:cNvPr id="2" name="Text Box 277"/>
              <p:cNvSpPr txBox="1">
                <a:spLocks noRot="1" noChangeAspect="1" noMove="1" noResize="1" noEditPoints="1" noAdjustHandles="1" noChangeArrowheads="1" noChangeShapeType="1" noTextEdit="1"/>
              </p:cNvSpPr>
              <p:nvPr/>
            </p:nvSpPr>
            <p:spPr bwMode="auto">
              <a:xfrm>
                <a:off x="1951867" y="4480536"/>
                <a:ext cx="6260856" cy="519113"/>
              </a:xfrm>
              <a:prstGeom prst="rect">
                <a:avLst/>
              </a:prstGeom>
              <a:blipFill rotWithShape="1">
                <a:blip r:embed="rId2"/>
                <a:stretch>
                  <a:fillRect l="-8" t="-118" r="4" b="5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对象 2"/>
              <p:cNvSpPr txBox="1"/>
              <p:nvPr/>
            </p:nvSpPr>
            <p:spPr>
              <a:xfrm>
                <a:off x="2789237" y="2525712"/>
                <a:ext cx="7553325" cy="1751013"/>
              </a:xfrm>
              <a:prstGeom prst="rect">
                <a:avLst/>
              </a:prstGeom>
            </p:spPr>
            <p:txBody>
              <a:bodyPr>
                <a:noAutofit/>
              </a:bodyPr>
              <a:lstStyle/>
              <a:p>
                <a14:m>
                  <m:oMathPara xmlns:m="http://schemas.openxmlformats.org/officeDocument/2006/math">
                    <m:oMathParaPr>
                      <m:jc m:val="left"/>
                    </m:oMathParaPr>
                    <m:oMath xmlns:m="http://schemas.openxmlformats.org/officeDocument/2006/math">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dPr>
                        <m:e>
                          <m:m>
                            <m:mPr>
                              <m:mcs>
                                <m:mc>
                                  <m:mcPr>
                                    <m:count m:val="1"/>
                                    <m:mcJc m:val="center"/>
                                  </m:mcPr>
                                </m:mc>
                              </m:mcs>
                              <m:plcHide m:val="on"/>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mPr>
                            <m:mr>
                              <m:e>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func>
                                  <m:func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zh-CN" altLang="en-US" sz="28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0</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e>
                            </m:mr>
                            <m:mr>
                              <m:e>
                                <m:r>
                                  <a:rPr kumimoji="1" lang="zh-CN" altLang="en-US" sz="2800">
                                    <a:solidFill>
                                      <a:schemeClr val="tx1">
                                        <a:lumMod val="95000"/>
                                        <a:lumOff val="5000"/>
                                      </a:schemeClr>
                                    </a:solidFill>
                                    <a:latin typeface="Cambria Math" panose="02040503050406030204" charset="0"/>
                                    <a:ea typeface="黑体" panose="02010609060101010101" pitchFamily="49" charset="-122"/>
                                  </a:rPr>
                                  <m:t>0</m:t>
                                </m:r>
                                <m:r>
                                  <a:rPr kumimoji="1" lang="zh-CN" altLang="en-US" sz="2800">
                                    <a:solidFill>
                                      <a:schemeClr val="tx1">
                                        <a:lumMod val="95000"/>
                                        <a:lumOff val="5000"/>
                                      </a:schemeClr>
                                    </a:solidFill>
                                    <a:latin typeface="Cambria Math" panose="02040503050406030204" charset="0"/>
                                    <a:ea typeface="黑体" panose="02010609060101010101" pitchFamily="49" charset="-122"/>
                                  </a:rPr>
                                  <m:t>,             </m:t>
                                </m:r>
                                <m:r>
                                  <a:rPr kumimoji="1" lang="en-US" altLang="zh-CN" sz="28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charset="0"/>
                                    <a:ea typeface="黑体" panose="02010609060101010101" pitchFamily="49" charset="-122"/>
                                  </a:rPr>
                                  <m:t>            </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0</m:t>
                                </m:r>
                                <m:r>
                                  <a:rPr kumimoji="1" lang="zh-CN" altLang="en-US" sz="2800">
                                    <a:solidFill>
                                      <a:schemeClr val="tx1">
                                        <a:lumMod val="95000"/>
                                        <a:lumOff val="5000"/>
                                      </a:schemeClr>
                                    </a:solidFill>
                                    <a:latin typeface="Cambria Math" panose="02040503050406030204" charset="0"/>
                                    <a:ea typeface="黑体" panose="02010609060101010101" pitchFamily="49" charset="-122"/>
                                  </a:rPr>
                                  <m:t> </m:t>
                                </m:r>
                              </m:e>
                            </m:mr>
                          </m:m>
                        </m:e>
                      </m:d>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3" name="对象 2"/>
              <p:cNvSpPr txBox="1">
                <a:spLocks noRot="1" noChangeAspect="1" noMove="1" noResize="1" noEditPoints="1" noAdjustHandles="1" noChangeArrowheads="1" noChangeShapeType="1" noTextEdit="1"/>
              </p:cNvSpPr>
              <p:nvPr/>
            </p:nvSpPr>
            <p:spPr>
              <a:xfrm>
                <a:off x="2789237" y="2525712"/>
                <a:ext cx="7553325" cy="1751013"/>
              </a:xfrm>
              <a:prstGeom prst="rect">
                <a:avLst/>
              </a:prstGeom>
              <a:blipFill rotWithShape="1">
                <a:blip r:embed="rId3"/>
                <a:stretch>
                  <a:fillRect l="-4" t="-18" r="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Object 7"/>
              <p:cNvSpPr txBox="1"/>
              <p:nvPr/>
            </p:nvSpPr>
            <p:spPr bwMode="auto">
              <a:xfrm>
                <a:off x="1951867" y="3132138"/>
                <a:ext cx="837370" cy="519112"/>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函数</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5" name="Object 7"/>
              <p:cNvSpPr txBox="1">
                <a:spLocks noRot="1" noChangeAspect="1" noMove="1" noResize="1" noEditPoints="1" noAdjustHandles="1" noChangeArrowheads="1" noChangeShapeType="1" noTextEdit="1"/>
              </p:cNvSpPr>
              <p:nvPr/>
            </p:nvSpPr>
            <p:spPr bwMode="auto">
              <a:xfrm>
                <a:off x="1951867" y="3132138"/>
                <a:ext cx="837370" cy="519112"/>
              </a:xfrm>
              <a:prstGeom prst="rect">
                <a:avLst/>
              </a:prstGeom>
              <a:blipFill rotWithShape="1">
                <a:blip r:embed="rId4"/>
                <a:stretch>
                  <a:fillRect l="-61" t="-61" r="38"/>
                </a:stretch>
              </a:blipFill>
              <a:ln>
                <a:noFill/>
              </a:ln>
              <a:effectLst/>
            </p:spPr>
            <p:txBody>
              <a:bodyPr/>
              <a:lstStyle/>
              <a:p>
                <a:r>
                  <a:rPr lang="zh-CN" altLang="en-US">
                    <a:noFill/>
                  </a:rPr>
                  <a:t> </a:t>
                </a:r>
              </a:p>
            </p:txBody>
          </p:sp>
        </mc:Fallback>
      </mc:AlternateContent>
      <p:grpSp>
        <p:nvGrpSpPr>
          <p:cNvPr id="10" name="组合 9"/>
          <p:cNvGrpSpPr/>
          <p:nvPr/>
        </p:nvGrpSpPr>
        <p:grpSpPr>
          <a:xfrm>
            <a:off x="2082360" y="1915675"/>
            <a:ext cx="1107440" cy="448945"/>
            <a:chOff x="1553" y="3803"/>
            <a:chExt cx="1744" cy="707"/>
          </a:xfrm>
        </p:grpSpPr>
        <p:sp>
          <p:nvSpPr>
            <p:cNvPr id="11" name="圆角矩形 3"/>
            <p:cNvSpPr/>
            <p:nvPr/>
          </p:nvSpPr>
          <p:spPr>
            <a:xfrm>
              <a:off x="1553" y="3803"/>
              <a:ext cx="1684" cy="707"/>
            </a:xfrm>
            <a:prstGeom prst="roundRect">
              <a:avLst/>
            </a:prstGeom>
            <a:solidFill>
              <a:srgbClr val="049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微软雅黑" panose="020B0503020204020204" charset="-122"/>
                <a:ea typeface="微软雅黑" panose="020B0503020204020204" charset="-122"/>
              </a:endParaRPr>
            </a:p>
          </p:txBody>
        </p:sp>
        <p:sp>
          <p:nvSpPr>
            <p:cNvPr id="12" name="Text Box 28"/>
            <p:cNvSpPr txBox="1">
              <a:spLocks noChangeArrowheads="1"/>
            </p:cNvSpPr>
            <p:nvPr/>
          </p:nvSpPr>
          <p:spPr bwMode="auto">
            <a:xfrm>
              <a:off x="1672" y="3810"/>
              <a:ext cx="1625" cy="6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bIns="0">
              <a:spAutoFit/>
            </a:bodyPr>
            <a:lstStyle>
              <a:lvl1pPr>
                <a:lnSpc>
                  <a:spcPct val="85000"/>
                </a:lnSpc>
                <a:defRPr kumimoji="1" sz="2800" b="1">
                  <a:solidFill>
                    <a:schemeClr val="tx2"/>
                  </a:solidFill>
                  <a:latin typeface="Times New Roman" panose="02020603050405020304" pitchFamily="18" charset="0"/>
                  <a:ea typeface="楷体_GB2312" pitchFamily="49" charset="-122"/>
                </a:defRPr>
              </a:lvl1pPr>
              <a:lvl2pPr marL="742950" indent="-285750">
                <a:lnSpc>
                  <a:spcPct val="85000"/>
                </a:lnSpc>
                <a:defRPr kumimoji="1" sz="2800" b="1">
                  <a:solidFill>
                    <a:schemeClr val="tx2"/>
                  </a:solidFill>
                  <a:latin typeface="Times New Roman" panose="02020603050405020304" pitchFamily="18" charset="0"/>
                  <a:ea typeface="楷体_GB2312" pitchFamily="49" charset="-122"/>
                </a:defRPr>
              </a:lvl2pPr>
              <a:lvl3pPr marL="1143000" indent="-228600">
                <a:lnSpc>
                  <a:spcPct val="85000"/>
                </a:lnSpc>
                <a:defRPr kumimoji="1" sz="2800" b="1">
                  <a:solidFill>
                    <a:schemeClr val="tx2"/>
                  </a:solidFill>
                  <a:latin typeface="Times New Roman" panose="02020603050405020304" pitchFamily="18" charset="0"/>
                  <a:ea typeface="楷体_GB2312" pitchFamily="49" charset="-122"/>
                </a:defRPr>
              </a:lvl3pPr>
              <a:lvl4pPr marL="1600200" indent="-228600">
                <a:lnSpc>
                  <a:spcPct val="85000"/>
                </a:lnSpc>
                <a:defRPr kumimoji="1" sz="2800" b="1">
                  <a:solidFill>
                    <a:schemeClr val="tx2"/>
                  </a:solidFill>
                  <a:latin typeface="Times New Roman" panose="02020603050405020304" pitchFamily="18" charset="0"/>
                  <a:ea typeface="楷体_GB2312" pitchFamily="49" charset="-122"/>
                </a:defRPr>
              </a:lvl4pPr>
              <a:lvl5pPr marL="2057400" indent="-228600">
                <a:lnSpc>
                  <a:spcPct val="85000"/>
                </a:lnSpc>
                <a:defRPr kumimoji="1" sz="2800" b="1">
                  <a:solidFill>
                    <a:schemeClr val="tx2"/>
                  </a:solidFill>
                  <a:latin typeface="Times New Roman" panose="02020603050405020304" pitchFamily="18" charset="0"/>
                  <a:ea typeface="楷体_GB2312" pitchFamily="49" charset="-122"/>
                </a:defRPr>
              </a:lvl5pPr>
              <a:lvl6pPr marL="25146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6pPr>
              <a:lvl7pPr marL="29718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7pPr>
              <a:lvl8pPr marL="34290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8pPr>
              <a:lvl9pPr marL="38862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b="1" kern="0" dirty="0">
                  <a:solidFill>
                    <a:schemeClr val="bg1"/>
                  </a:solidFill>
                  <a:latin typeface="微软雅黑" panose="020B0503020204020204" charset="-122"/>
                  <a:ea typeface="微软雅黑" panose="020B0503020204020204" charset="-122"/>
                  <a:cs typeface="微软雅黑" panose="020B0503020204020204" charset="-122"/>
                  <a:sym typeface="+mn-lt"/>
                </a:rPr>
                <a:t>反例</a:t>
              </a:r>
              <a:r>
                <a:rPr kumimoji="1" lang="en-US" altLang="zh-CN" b="1" kern="0" dirty="0">
                  <a:solidFill>
                    <a:schemeClr val="bg1"/>
                  </a:solidFill>
                  <a:latin typeface="微软雅黑" panose="020B0503020204020204" charset="-122"/>
                  <a:ea typeface="微软雅黑" panose="020B0503020204020204" charset="-122"/>
                  <a:cs typeface="微软雅黑" panose="020B0503020204020204" charset="-122"/>
                  <a:sym typeface="+mn-lt"/>
                </a:rPr>
                <a:t>2</a:t>
              </a:r>
              <a:endParaRPr kumimoji="1" lang="zh-CN" altLang="en-US" b="1" kern="0" dirty="0">
                <a:solidFill>
                  <a:schemeClr val="bg1"/>
                </a:solidFill>
                <a:latin typeface="微软雅黑" panose="020B0503020204020204" charset="-122"/>
                <a:ea typeface="微软雅黑" panose="020B0503020204020204" charset="-122"/>
                <a:cs typeface="微软雅黑" panose="020B0503020204020204" charset="-122"/>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5" grpId="0" bldLvl="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8" name="矩形 17"/>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p:sp>
            <p:nvSpPr>
              <p:cNvPr id="18" name="矩形 17"/>
              <p:cNvSpPr>
                <a:spLocks noRot="1" noChangeAspect="1" noMove="1" noResize="1" noEditPoints="1" noAdjustHandles="1" noChangeArrowheads="1" noChangeShapeType="1" noTextEdit="1"/>
              </p:cNvSpPr>
              <p:nvPr/>
            </p:nvSpPr>
            <p:spPr>
              <a:xfrm>
                <a:off x="687959" y="536260"/>
                <a:ext cx="10817352" cy="5799897"/>
              </a:xfrm>
              <a:prstGeom prst="rect">
                <a:avLst/>
              </a:prstGeom>
              <a:blipFill rotWithShape="1">
                <a:blip r:embed="rId1"/>
                <a:stretch>
                  <a:fillRect l="-1499" t="-1932" r="-1493" b="-1914"/>
                </a:stretch>
              </a:blip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19" name="半闭框 18"/>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半闭框 19"/>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半闭框 20"/>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22" name="半闭框 21"/>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 name="Text Box 221"/>
          <p:cNvSpPr txBox="1">
            <a:spLocks noChangeArrowheads="1"/>
          </p:cNvSpPr>
          <p:nvPr/>
        </p:nvSpPr>
        <p:spPr bwMode="auto">
          <a:xfrm>
            <a:off x="2378564" y="3236936"/>
            <a:ext cx="945661"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spcBef>
                <a:spcPct val="50000"/>
              </a:spcBef>
              <a:defRPr/>
            </a:pPr>
            <a:r>
              <a:rPr kumimoji="1" lang="zh-CN" altLang="en-US" sz="2800" b="1" kern="0" dirty="0">
                <a:solidFill>
                  <a:srgbClr val="04926A"/>
                </a:solidFill>
                <a:latin typeface="微软雅黑" panose="020B0503020204020204" charset="-122"/>
                <a:ea typeface="微软雅黑" panose="020B0503020204020204" charset="-122"/>
              </a:rPr>
              <a:t>证</a:t>
            </a:r>
            <a:endParaRPr kumimoji="1" lang="zh-CN" altLang="en-US" sz="2800" b="1" kern="0" dirty="0">
              <a:solidFill>
                <a:srgbClr val="04926A"/>
              </a:solidFill>
              <a:latin typeface="微软雅黑" panose="020B0503020204020204" charset="-122"/>
              <a:ea typeface="微软雅黑" panose="020B0503020204020204" charset="-122"/>
            </a:endParaRPr>
          </a:p>
        </p:txBody>
      </p:sp>
      <p:sp>
        <p:nvSpPr>
          <p:cNvPr id="3" name="Text Box 271"/>
          <p:cNvSpPr txBox="1">
            <a:spLocks noChangeArrowheads="1"/>
          </p:cNvSpPr>
          <p:nvPr/>
        </p:nvSpPr>
        <p:spPr bwMode="auto">
          <a:xfrm>
            <a:off x="3437136" y="4952891"/>
            <a:ext cx="1944687"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kumimoji="1" lang="zh-CN" altLang="en-US" sz="2200" b="0" dirty="0">
                <a:solidFill>
                  <a:schemeClr val="tx1">
                    <a:lumMod val="95000"/>
                    <a:lumOff val="5000"/>
                  </a:schemeClr>
                </a:solidFill>
                <a:latin typeface="Cambria Math" panose="02040503050406030204" charset="0"/>
              </a:rPr>
              <a:t>同理可得</a:t>
            </a:r>
            <a:endParaRPr kumimoji="1" lang="zh-CN" altLang="en-US" sz="2200" b="0" dirty="0">
              <a:solidFill>
                <a:schemeClr val="tx1">
                  <a:lumMod val="95000"/>
                  <a:lumOff val="5000"/>
                </a:schemeClr>
              </a:solidFill>
              <a:latin typeface="Cambria Math" panose="02040503050406030204" charset="0"/>
            </a:endParaRPr>
          </a:p>
        </p:txBody>
      </p:sp>
      <mc:AlternateContent xmlns:mc="http://schemas.openxmlformats.org/markup-compatibility/2006">
        <mc:Choice xmlns:a14="http://schemas.microsoft.com/office/drawing/2010/main" Requires="a14">
          <p:sp>
            <p:nvSpPr>
              <p:cNvPr id="4" name="对象 3"/>
              <p:cNvSpPr txBox="1"/>
              <p:nvPr/>
            </p:nvSpPr>
            <p:spPr>
              <a:xfrm>
                <a:off x="2988326" y="1242109"/>
                <a:ext cx="5949156" cy="1335179"/>
              </a:xfrm>
              <a:prstGeom prst="rect">
                <a:avLst/>
              </a:prstGeom>
            </p:spPr>
            <p:txBody>
              <a:bodyPr>
                <a:noAutofit/>
              </a:bodyPr>
              <a:lstStyle/>
              <a:p>
                <a14:m>
                  <m:oMathPara xmlns:m="http://schemas.openxmlformats.org/officeDocument/2006/math">
                    <m:oMathParaPr>
                      <m:jc m:val="left"/>
                    </m:oMathParaPr>
                    <m:oMath xmlns:m="http://schemas.openxmlformats.org/officeDocument/2006/math">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dPr>
                        <m:e>
                          <m:m>
                            <m:mPr>
                              <m:mcs>
                                <m:mc>
                                  <m:mcPr>
                                    <m:count m:val="1"/>
                                    <m:mcJc m:val="center"/>
                                  </m:mcPr>
                                </m:mc>
                              </m:mcs>
                              <m:plcHide m:val="on"/>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mP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m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mr>
                          </m:m>
                        </m:e>
                      </m:d>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4" name="对象 3"/>
              <p:cNvSpPr txBox="1">
                <a:spLocks noRot="1" noChangeAspect="1" noMove="1" noResize="1" noEditPoints="1" noAdjustHandles="1" noChangeArrowheads="1" noChangeShapeType="1" noTextEdit="1"/>
              </p:cNvSpPr>
              <p:nvPr/>
            </p:nvSpPr>
            <p:spPr>
              <a:xfrm>
                <a:off x="2988326" y="1242109"/>
                <a:ext cx="5949156" cy="1335179"/>
              </a:xfrm>
              <a:prstGeom prst="rect">
                <a:avLst/>
              </a:prstGeom>
              <a:blipFill rotWithShape="1">
                <a:blip r:embed="rId2"/>
                <a:stretch>
                  <a:fillRect t="-4" r="8" b="3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对象 5"/>
              <p:cNvSpPr txBox="1"/>
              <p:nvPr/>
            </p:nvSpPr>
            <p:spPr>
              <a:xfrm>
                <a:off x="3437136" y="3088971"/>
                <a:ext cx="5270500" cy="838200"/>
              </a:xfrm>
              <a:prstGeom prst="rect">
                <a:avLst/>
              </a:prstGeom>
            </p:spPr>
            <p:txBody>
              <a:bodyPr>
                <a:normAutofit/>
              </a:bodyPr>
              <a:lstStyle/>
              <a:p>
                <a14:m>
                  <m:oMathPara xmlns:m="http://schemas.openxmlformats.org/officeDocument/2006/math">
                    <m:oMathParaPr>
                      <m:jc m:val="left"/>
                    </m:oMathParaPr>
                    <m:oMath xmlns:m="http://schemas.openxmlformats.org/officeDocument/2006/math">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limLow>
                            <m:limLow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limLow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lim</m:t>
                              </m:r>
                            </m:e>
                            <m:lim>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lim>
                          </m:limLow>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num>
                            <m:den>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den>
                          </m:f>
                        </m:e>
                      </m:func>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6" name="对象 5"/>
              <p:cNvSpPr txBox="1">
                <a:spLocks noRot="1" noChangeAspect="1" noMove="1" noResize="1" noEditPoints="1" noAdjustHandles="1" noChangeArrowheads="1" noChangeShapeType="1" noTextEdit="1"/>
              </p:cNvSpPr>
              <p:nvPr/>
            </p:nvSpPr>
            <p:spPr>
              <a:xfrm>
                <a:off x="3437136" y="3088971"/>
                <a:ext cx="5270500" cy="838200"/>
              </a:xfrm>
              <a:prstGeom prst="rect">
                <a:avLst/>
              </a:prstGeom>
              <a:blipFill rotWithShape="1">
                <a:blip r:embed="rId3"/>
                <a:stretch>
                  <a:fillRect l="-10" t="-39" r="10" b="3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对象 6"/>
              <p:cNvSpPr txBox="1"/>
              <p:nvPr/>
            </p:nvSpPr>
            <p:spPr>
              <a:xfrm>
                <a:off x="4348606" y="3837891"/>
                <a:ext cx="3873500" cy="914400"/>
              </a:xfrm>
              <a:prstGeom prst="rect">
                <a:avLst/>
              </a:prstGeom>
            </p:spPr>
            <p:txBody>
              <a:bodyPr>
                <a:norm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limLow>
                        <m:limLow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limLow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lim</m:t>
                          </m:r>
                        </m:e>
                        <m:lim>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lim>
                      </m:limLow>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7" name="对象 6"/>
              <p:cNvSpPr txBox="1">
                <a:spLocks noRot="1" noChangeAspect="1" noMove="1" noResize="1" noEditPoints="1" noAdjustHandles="1" noChangeArrowheads="1" noChangeShapeType="1" noTextEdit="1"/>
              </p:cNvSpPr>
              <p:nvPr/>
            </p:nvSpPr>
            <p:spPr>
              <a:xfrm>
                <a:off x="4348606" y="3837891"/>
                <a:ext cx="3873500" cy="914400"/>
              </a:xfrm>
              <a:prstGeom prst="rect">
                <a:avLst/>
              </a:prstGeom>
              <a:blipFill rotWithShape="1">
                <a:blip r:embed="rId4"/>
                <a:stretch>
                  <a:fillRect l="-3" t="-64" r="3" b="6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对象 7"/>
              <p:cNvSpPr txBox="1"/>
              <p:nvPr/>
            </p:nvSpPr>
            <p:spPr>
              <a:xfrm>
                <a:off x="4680720" y="4752291"/>
                <a:ext cx="5270500" cy="914400"/>
              </a:xfrm>
              <a:prstGeom prst="rect">
                <a:avLst/>
              </a:prstGeom>
            </p:spPr>
            <p:txBody>
              <a:bodyPr>
                <a:normAutofit/>
              </a:bodyPr>
              <a:lstStyle/>
              <a:p>
                <a14:m>
                  <m:oMathPara xmlns:m="http://schemas.openxmlformats.org/officeDocument/2006/math">
                    <m:oMathParaPr>
                      <m:jc m:val="left"/>
                    </m:oMathParaPr>
                    <m:oMath xmlns:m="http://schemas.openxmlformats.org/officeDocument/2006/math">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limLow>
                            <m:limLow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limLow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lim</m:t>
                              </m:r>
                            </m:e>
                            <m:lim>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lim>
                          </m:limLow>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num>
                            <m:den>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den>
                          </m:f>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8" name="对象 7"/>
              <p:cNvSpPr txBox="1">
                <a:spLocks noRot="1" noChangeAspect="1" noMove="1" noResize="1" noEditPoints="1" noAdjustHandles="1" noChangeArrowheads="1" noChangeShapeType="1" noTextEdit="1"/>
              </p:cNvSpPr>
              <p:nvPr/>
            </p:nvSpPr>
            <p:spPr>
              <a:xfrm>
                <a:off x="4680720" y="4752291"/>
                <a:ext cx="5270500" cy="914400"/>
              </a:xfrm>
              <a:prstGeom prst="rect">
                <a:avLst/>
              </a:prstGeom>
              <a:blipFill rotWithShape="1">
                <a:blip r:embed="rId5"/>
                <a:stretch>
                  <a:fillRect l="-3" t="-64" r="3" b="64"/>
                </a:stretch>
              </a:blipFill>
            </p:spPr>
            <p:txBody>
              <a:bodyPr/>
              <a:lstStyle/>
              <a:p>
                <a:r>
                  <a:rPr lang="zh-CN" altLang="en-US">
                    <a:noFill/>
                  </a:rPr>
                  <a:t> </a:t>
                </a:r>
              </a:p>
            </p:txBody>
          </p:sp>
        </mc:Fallback>
      </mc:AlternateContent>
      <p:sp>
        <p:nvSpPr>
          <p:cNvPr id="17" name="Line 33"/>
          <p:cNvSpPr>
            <a:spLocks noChangeShapeType="1"/>
          </p:cNvSpPr>
          <p:nvPr/>
        </p:nvSpPr>
        <p:spPr bwMode="auto">
          <a:xfrm flipV="1">
            <a:off x="2492772" y="2830584"/>
            <a:ext cx="7159228" cy="18427"/>
          </a:xfrm>
          <a:prstGeom prst="line">
            <a:avLst/>
          </a:prstGeom>
          <a:noFill/>
          <a:ln w="19050">
            <a:solidFill>
              <a:srgbClr val="04926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ldLvl="0" animBg="1"/>
      <p:bldP spid="4" grpId="0"/>
      <p:bldP spid="6" grpId="0"/>
      <p:bldP spid="7" grpId="0"/>
      <p:bldP spid="8" grpId="0"/>
      <p:bldP spid="17" grpId="0" bldLvl="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0" name="矩形 29"/>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p:sp>
            <p:nvSpPr>
              <p:cNvPr id="30" name="矩形 29"/>
              <p:cNvSpPr>
                <a:spLocks noRot="1" noChangeAspect="1" noMove="1" noResize="1" noEditPoints="1" noAdjustHandles="1" noChangeArrowheads="1" noChangeShapeType="1" noTextEdit="1"/>
              </p:cNvSpPr>
              <p:nvPr/>
            </p:nvSpPr>
            <p:spPr>
              <a:xfrm>
                <a:off x="687959" y="536260"/>
                <a:ext cx="10817352" cy="5799897"/>
              </a:xfrm>
              <a:prstGeom prst="rect">
                <a:avLst/>
              </a:prstGeom>
              <a:blipFill rotWithShape="1">
                <a:blip r:embed="rId1"/>
                <a:stretch>
                  <a:fillRect l="-1499" t="-1932" r="-1493" b="-1914"/>
                </a:stretch>
              </a:blip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31" name="半闭框 30"/>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2" name="半闭框 31"/>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半闭框 32"/>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34" name="半闭框 33"/>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mc:Choice xmlns:a14="http://schemas.microsoft.com/office/drawing/2010/main" Requires="a14">
          <p:sp>
            <p:nvSpPr>
              <p:cNvPr id="3" name="Object 5"/>
              <p:cNvSpPr txBox="1"/>
              <p:nvPr/>
            </p:nvSpPr>
            <p:spPr bwMode="auto">
              <a:xfrm>
                <a:off x="1892068" y="589605"/>
                <a:ext cx="5797549" cy="1279525"/>
              </a:xfrm>
              <a:prstGeom prst="rect">
                <a:avLst/>
              </a:prstGeom>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dPr>
                        <m:e>
                          <m:m>
                            <m:mPr>
                              <m:mcs>
                                <m:mc>
                                  <m:mcPr>
                                    <m:count m:val="1"/>
                                    <m:mcJc m:val="center"/>
                                  </m:mcPr>
                                </m:mc>
                              </m:mcs>
                              <m:plcHide m:val="on"/>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mP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m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mr>
                          </m:m>
                        </m:e>
                      </m:d>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3" name="Object 5"/>
              <p:cNvSpPr txBox="1">
                <a:spLocks noRot="1" noChangeAspect="1" noMove="1" noResize="1" noEditPoints="1" noAdjustHandles="1" noChangeArrowheads="1" noChangeShapeType="1" noTextEdit="1"/>
              </p:cNvSpPr>
              <p:nvPr/>
            </p:nvSpPr>
            <p:spPr bwMode="auto">
              <a:xfrm>
                <a:off x="1892068" y="589605"/>
                <a:ext cx="5797549" cy="1279525"/>
              </a:xfrm>
              <a:prstGeom prst="rect">
                <a:avLst/>
              </a:prstGeom>
              <a:blipFill rotWithShape="1">
                <a:blip r:embed="rId2"/>
                <a:stretch>
                  <a:fillRect l="-7" t="-25" r="7" b="25"/>
                </a:stretch>
              </a:blipFill>
            </p:spPr>
            <p:txBody>
              <a:bodyPr/>
              <a:lstStyle/>
              <a:p>
                <a:r>
                  <a:rPr lang="zh-CN" altLang="en-US">
                    <a:noFill/>
                  </a:rPr>
                  <a:t> </a:t>
                </a:r>
              </a:p>
            </p:txBody>
          </p:sp>
        </mc:Fallback>
      </mc:AlternateContent>
      <p:sp>
        <p:nvSpPr>
          <p:cNvPr id="4" name="Text Box 6"/>
          <p:cNvSpPr txBox="1">
            <a:spLocks noChangeArrowheads="1"/>
          </p:cNvSpPr>
          <p:nvPr/>
        </p:nvSpPr>
        <p:spPr bwMode="auto">
          <a:xfrm>
            <a:off x="1847851" y="2430496"/>
            <a:ext cx="1089588" cy="430887"/>
          </a:xfrm>
          <a:prstGeom prst="rect">
            <a:avLst/>
          </a:prstGeom>
        </p:spPr>
        <p:txBody>
          <a:bodyPr wrap="squar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kumimoji="1" lang="zh-CN" altLang="en-US" sz="2200" b="0" dirty="0">
                <a:solidFill>
                  <a:schemeClr val="tx1">
                    <a:lumMod val="95000"/>
                    <a:lumOff val="5000"/>
                  </a:schemeClr>
                </a:solidFill>
                <a:latin typeface="Cambria Math" panose="02040503050406030204" charset="0"/>
              </a:rPr>
              <a:t>于是有</a:t>
            </a:r>
            <a:endParaRPr kumimoji="1" lang="zh-CN" altLang="en-US" sz="2200" b="0" dirty="0">
              <a:solidFill>
                <a:schemeClr val="tx1">
                  <a:lumMod val="95000"/>
                  <a:lumOff val="5000"/>
                </a:schemeClr>
              </a:solidFill>
              <a:latin typeface="Cambria Math" panose="02040503050406030204" charset="0"/>
            </a:endParaRPr>
          </a:p>
        </p:txBody>
      </p:sp>
      <mc:AlternateContent xmlns:mc="http://schemas.openxmlformats.org/markup-compatibility/2006">
        <mc:Choice xmlns:a14="http://schemas.microsoft.com/office/drawing/2010/main" Requires="a14">
          <p:sp>
            <p:nvSpPr>
              <p:cNvPr id="5" name="Object 7"/>
              <p:cNvSpPr txBox="1"/>
              <p:nvPr/>
            </p:nvSpPr>
            <p:spPr bwMode="auto">
              <a:xfrm>
                <a:off x="2747410" y="1953179"/>
                <a:ext cx="8443504" cy="1279525"/>
              </a:xfrm>
              <a:prstGeom prst="rect">
                <a:avLst/>
              </a:prstGeom>
            </p:spPr>
            <p:txBody>
              <a:bodyPr>
                <a:noAutofit/>
              </a:bodyPr>
              <a:lstStyle/>
              <a:p>
                <a14:m>
                  <m:oMathPara xmlns:m="http://schemas.openxmlformats.org/officeDocument/2006/math">
                    <m:oMathParaPr>
                      <m:jc m:val="left"/>
                    </m:oMathParaPr>
                    <m:oMath xmlns:m="http://schemas.openxmlformats.org/officeDocument/2006/math">
                      <m:sSub>
                        <m:sSubPr>
                          <m:ctrlPr>
                            <a:rPr kumimoji="1" lang="zh-CN" altLang="en-US" sz="2200" i="1" smtClean="0">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dPr>
                        <m:e>
                          <m:m>
                            <m:mPr>
                              <m:mcs>
                                <m:mc>
                                  <m:mcPr>
                                    <m:count m:val="1"/>
                                    <m:mcJc m:val="center"/>
                                  </m:mcPr>
                                </m:mc>
                              </m:mcs>
                              <m:plcHide m:val="on"/>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mP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en-US" altLang="zh-CN" sz="2200" b="0" i="1"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cos</m:t>
                                    </m:r>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m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a:rPr kumimoji="1" lang="en-US" altLang="zh-CN" sz="2200" b="0" i="1" smtClean="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mr>
                          </m:m>
                        </m:e>
                      </m:d>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5" name="Object 7"/>
              <p:cNvSpPr txBox="1">
                <a:spLocks noRot="1" noChangeAspect="1" noMove="1" noResize="1" noEditPoints="1" noAdjustHandles="1" noChangeArrowheads="1" noChangeShapeType="1" noTextEdit="1"/>
              </p:cNvSpPr>
              <p:nvPr/>
            </p:nvSpPr>
            <p:spPr bwMode="auto">
              <a:xfrm>
                <a:off x="2747410" y="1953179"/>
                <a:ext cx="8443504" cy="1279525"/>
              </a:xfrm>
              <a:prstGeom prst="rect">
                <a:avLst/>
              </a:prstGeom>
              <a:blipFill rotWithShape="1">
                <a:blip r:embed="rId3"/>
                <a:stretch>
                  <a:fillRect l="-5" t="-43" r="4" b="4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Object 8"/>
              <p:cNvSpPr txBox="1"/>
              <p:nvPr/>
            </p:nvSpPr>
            <p:spPr bwMode="auto">
              <a:xfrm>
                <a:off x="2737888" y="3253876"/>
                <a:ext cx="8671140" cy="1279525"/>
              </a:xfrm>
              <a:prstGeom prst="rect">
                <a:avLst/>
              </a:prstGeom>
            </p:spPr>
            <p:txBody>
              <a:bodyPr>
                <a:noAutofit/>
              </a:bodyPr>
              <a:lstStyle/>
              <a:p>
                <a14:m>
                  <m:oMathPara xmlns:m="http://schemas.openxmlformats.org/officeDocument/2006/math">
                    <m:oMathParaPr>
                      <m:jc m:val="left"/>
                    </m:oMathParaPr>
                    <m:oMath xmlns:m="http://schemas.openxmlformats.org/officeDocument/2006/math">
                      <m:sSub>
                        <m:sSubPr>
                          <m:ctrlPr>
                            <a:rPr kumimoji="1" lang="zh-CN" altLang="en-US" sz="2200" i="1" smtClean="0">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dPr>
                        <m:e>
                          <m:m>
                            <m:mPr>
                              <m:mcs>
                                <m:mc>
                                  <m:mcPr>
                                    <m:count m:val="1"/>
                                    <m:mcJc m:val="center"/>
                                  </m:mcPr>
                                </m:mc>
                              </m:mcs>
                              <m:plcHide m:val="on"/>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mP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en-US" altLang="zh-CN" sz="2200" b="0" i="1" smtClean="0">
                                    <a:solidFill>
                                      <a:schemeClr val="tx1">
                                        <a:lumMod val="95000"/>
                                        <a:lumOff val="5000"/>
                                      </a:schemeClr>
                                    </a:solidFill>
                                    <a:latin typeface="Cambria Math" panose="02040503050406030204" charset="0"/>
                                    <a:ea typeface="黑体" panose="02010609060101010101" pitchFamily="49" charset="-122"/>
                                  </a:rPr>
                                  <m:t> </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r>
                                  <a:rPr kumimoji="1" lang="en-US" altLang="zh-CN" sz="2200" b="0" i="1" smtClean="0">
                                    <a:solidFill>
                                      <a:schemeClr val="tx1">
                                        <a:lumMod val="95000"/>
                                        <a:lumOff val="5000"/>
                                      </a:schemeClr>
                                    </a:solidFill>
                                    <a:latin typeface="Cambria Math" panose="02040503050406030204" charset="0"/>
                                    <a:ea typeface="黑体" panose="02010609060101010101" pitchFamily="49" charset="-122"/>
                                  </a:rPr>
                                  <m:t> </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cos</m:t>
                                    </m:r>
                                  </m:fName>
                                  <m:e>
                                    <m:r>
                                      <a:rPr kumimoji="1" lang="en-US" altLang="zh-CN" sz="2200" b="0" i="1" smtClean="0">
                                        <a:solidFill>
                                          <a:schemeClr val="tx1">
                                            <a:lumMod val="95000"/>
                                            <a:lumOff val="5000"/>
                                          </a:schemeClr>
                                        </a:solidFill>
                                        <a:latin typeface="Cambria Math" panose="02040503050406030204" charset="0"/>
                                        <a:ea typeface="黑体" panose="02010609060101010101" pitchFamily="49" charset="-122"/>
                                      </a:rPr>
                                      <m:t> </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en-US" altLang="zh-CN" sz="2200" b="0" i="1"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m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mr>
                          </m:m>
                        </m:e>
                      </m:d>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6" name="Object 8"/>
              <p:cNvSpPr txBox="1">
                <a:spLocks noRot="1" noChangeAspect="1" noMove="1" noResize="1" noEditPoints="1" noAdjustHandles="1" noChangeArrowheads="1" noChangeShapeType="1" noTextEdit="1"/>
              </p:cNvSpPr>
              <p:nvPr/>
            </p:nvSpPr>
            <p:spPr bwMode="auto">
              <a:xfrm>
                <a:off x="2737888" y="3253876"/>
                <a:ext cx="8671140" cy="1279525"/>
              </a:xfrm>
              <a:prstGeom prst="rect">
                <a:avLst/>
              </a:prstGeom>
              <a:blipFill rotWithShape="1">
                <a:blip r:embed="rId4"/>
                <a:stretch>
                  <a:fillRect l="-5" t="-11" r="7" b="11"/>
                </a:stretch>
              </a:blipFill>
            </p:spPr>
            <p:txBody>
              <a:bodyPr/>
              <a:lstStyle/>
              <a:p>
                <a:r>
                  <a:rPr lang="zh-CN" altLang="en-US">
                    <a:noFill/>
                  </a:rPr>
                  <a:t> </a:t>
                </a:r>
              </a:p>
            </p:txBody>
          </p:sp>
        </mc:Fallback>
      </mc:AlternateContent>
      <p:sp>
        <p:nvSpPr>
          <p:cNvPr id="7" name="Text Box 9"/>
          <p:cNvSpPr txBox="1">
            <a:spLocks noChangeArrowheads="1"/>
          </p:cNvSpPr>
          <p:nvPr/>
        </p:nvSpPr>
        <p:spPr bwMode="auto">
          <a:xfrm>
            <a:off x="1465641" y="4780739"/>
            <a:ext cx="1584325" cy="430887"/>
          </a:xfrm>
          <a:prstGeom prst="rect">
            <a:avLst/>
          </a:prstGeom>
        </p:spPr>
        <p:txBody>
          <a:bodyPr wrap="squar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kumimoji="1" lang="zh-CN" altLang="en-US" sz="2200" b="0" dirty="0">
                <a:solidFill>
                  <a:schemeClr val="tx1">
                    <a:lumMod val="95000"/>
                    <a:lumOff val="5000"/>
                  </a:schemeClr>
                </a:solidFill>
                <a:latin typeface="Cambria Math" panose="02040503050406030204" charset="0"/>
              </a:rPr>
              <a:t>又因为</a:t>
            </a:r>
            <a:endParaRPr kumimoji="1" lang="zh-CN" altLang="en-US" sz="2200" b="0" dirty="0">
              <a:solidFill>
                <a:schemeClr val="tx1">
                  <a:lumMod val="95000"/>
                  <a:lumOff val="5000"/>
                </a:schemeClr>
              </a:solidFill>
              <a:latin typeface="Cambria Math" panose="02040503050406030204" charset="0"/>
            </a:endParaRPr>
          </a:p>
        </p:txBody>
      </p:sp>
      <p:sp>
        <p:nvSpPr>
          <p:cNvPr id="10" name="Text Box 12"/>
          <p:cNvSpPr txBox="1">
            <a:spLocks noChangeArrowheads="1"/>
          </p:cNvSpPr>
          <p:nvPr/>
        </p:nvSpPr>
        <p:spPr bwMode="auto">
          <a:xfrm>
            <a:off x="1847851" y="5509402"/>
            <a:ext cx="1008062" cy="430887"/>
          </a:xfrm>
          <a:prstGeom prst="rect">
            <a:avLst/>
          </a:prstGeom>
        </p:spPr>
        <p:txBody>
          <a:bodyPr>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kumimoji="1" lang="zh-CN" altLang="en-US" sz="2200" b="0" dirty="0">
                <a:solidFill>
                  <a:schemeClr val="tx1">
                    <a:lumMod val="95000"/>
                    <a:lumOff val="5000"/>
                  </a:schemeClr>
                </a:solidFill>
                <a:latin typeface="Cambria Math" panose="02040503050406030204" charset="0"/>
              </a:rPr>
              <a:t>所以</a:t>
            </a:r>
            <a:endParaRPr kumimoji="1" lang="zh-CN" altLang="en-US" sz="2200" b="0" dirty="0">
              <a:solidFill>
                <a:schemeClr val="tx1">
                  <a:lumMod val="95000"/>
                  <a:lumOff val="5000"/>
                </a:schemeClr>
              </a:solidFill>
              <a:latin typeface="Cambria Math" panose="02040503050406030204" charset="0"/>
            </a:endParaRPr>
          </a:p>
        </p:txBody>
      </p:sp>
      <p:sp>
        <p:nvSpPr>
          <p:cNvPr id="12" name="Text Box 14"/>
          <p:cNvSpPr txBox="1">
            <a:spLocks noChangeArrowheads="1"/>
          </p:cNvSpPr>
          <p:nvPr/>
        </p:nvSpPr>
        <p:spPr bwMode="auto">
          <a:xfrm>
            <a:off x="4613718" y="5531627"/>
            <a:ext cx="1439862" cy="430887"/>
          </a:xfrm>
          <a:prstGeom prst="rect">
            <a:avLst/>
          </a:prstGeom>
        </p:spPr>
        <p:txBody>
          <a:bodyPr>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kumimoji="1" lang="zh-CN" altLang="en-US" sz="2200" b="0" dirty="0">
                <a:solidFill>
                  <a:schemeClr val="tx1">
                    <a:lumMod val="95000"/>
                    <a:lumOff val="5000"/>
                  </a:schemeClr>
                </a:solidFill>
                <a:latin typeface="Cambria Math" panose="02040503050406030204" charset="0"/>
              </a:rPr>
              <a:t>不存在</a:t>
            </a:r>
            <a:r>
              <a:rPr kumimoji="1" lang="en-US" altLang="zh-CN" sz="2200" b="0" dirty="0">
                <a:solidFill>
                  <a:schemeClr val="tx1">
                    <a:lumMod val="95000"/>
                    <a:lumOff val="5000"/>
                  </a:schemeClr>
                </a:solidFill>
                <a:latin typeface="Cambria Math" panose="02040503050406030204" charset="0"/>
              </a:rPr>
              <a:t>.</a:t>
            </a:r>
            <a:endParaRPr kumimoji="1" lang="en-US" altLang="zh-CN" sz="2200" b="0" dirty="0">
              <a:solidFill>
                <a:schemeClr val="tx1">
                  <a:lumMod val="95000"/>
                  <a:lumOff val="5000"/>
                </a:schemeClr>
              </a:solidFill>
              <a:latin typeface="Cambria Math" panose="02040503050406030204" charset="0"/>
            </a:endParaRPr>
          </a:p>
        </p:txBody>
      </p:sp>
      <mc:AlternateContent xmlns:mc="http://schemas.openxmlformats.org/markup-compatibility/2006">
        <mc:Choice xmlns:a14="http://schemas.microsoft.com/office/drawing/2010/main" Requires="a14">
          <p:sp>
            <p:nvSpPr>
              <p:cNvPr id="13" name="Text Box 15"/>
              <p:cNvSpPr txBox="1">
                <a:spLocks noChangeArrowheads="1"/>
              </p:cNvSpPr>
              <p:nvPr/>
            </p:nvSpPr>
            <p:spPr bwMode="auto">
              <a:xfrm>
                <a:off x="5683027" y="5509401"/>
                <a:ext cx="4752975" cy="430887"/>
              </a:xfrm>
              <a:prstGeom prst="rect">
                <a:avLst/>
              </a:prstGeom>
            </p:spPr>
            <p:txBody>
              <a:bodyPr>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a:spcBef>
                    <a:spcPct val="50000"/>
                  </a:spcBef>
                </a:pPr>
                <a:r>
                  <a:rPr kumimoji="1" lang="zh-CN" altLang="en-US" sz="2200" b="0" dirty="0">
                    <a:solidFill>
                      <a:schemeClr val="tx1">
                        <a:lumMod val="95000"/>
                        <a:lumOff val="5000"/>
                      </a:schemeClr>
                    </a:solidFill>
                    <a:latin typeface="Cambria Math" panose="02040503050406030204" charset="0"/>
                  </a:rPr>
                  <a:t>故</a:t>
                </a:r>
                <a14:m>
                  <m:oMath xmlns:m="http://schemas.openxmlformats.org/officeDocument/2006/math">
                    <m:sSub>
                      <m:sSubPr>
                        <m:ctrlPr>
                          <a:rPr kumimoji="1" lang="zh-CN" altLang="en-US" sz="2200" i="1">
                            <a:solidFill>
                              <a:schemeClr val="tx1">
                                <a:lumMod val="95000"/>
                                <a:lumOff val="5000"/>
                              </a:schemeClr>
                            </a:solidFill>
                            <a:latin typeface="Cambria Math" panose="02040503050406030204" charset="0"/>
                          </a:rPr>
                        </m:ctrlPr>
                      </m:sSubPr>
                      <m:e>
                        <m:r>
                          <a:rPr kumimoji="1" lang="zh-CN" altLang="en-US" sz="2200">
                            <a:solidFill>
                              <a:schemeClr val="tx1">
                                <a:lumMod val="95000"/>
                                <a:lumOff val="5000"/>
                              </a:schemeClr>
                            </a:solidFill>
                            <a:latin typeface="Cambria Math" panose="02040503050406030204" charset="0"/>
                          </a:rPr>
                          <m:t>𝑓</m:t>
                        </m:r>
                      </m:e>
                      <m:sub>
                        <m:r>
                          <a:rPr kumimoji="1" lang="zh-CN" altLang="en-US" sz="2200">
                            <a:solidFill>
                              <a:schemeClr val="tx1">
                                <a:lumMod val="95000"/>
                                <a:lumOff val="5000"/>
                              </a:schemeClr>
                            </a:solidFill>
                            <a:latin typeface="Cambria Math" panose="02040503050406030204" charset="0"/>
                          </a:rPr>
                          <m:t>𝑥</m:t>
                        </m:r>
                      </m:sub>
                    </m:sSub>
                    <m:r>
                      <a:rPr kumimoji="1" lang="zh-CN" altLang="en-US" sz="2200">
                        <a:solidFill>
                          <a:schemeClr val="tx1">
                            <a:lumMod val="95000"/>
                            <a:lumOff val="5000"/>
                          </a:schemeClr>
                        </a:solidFill>
                        <a:latin typeface="Cambria Math" panose="02040503050406030204" charset="0"/>
                      </a:rPr>
                      <m:t>(</m:t>
                    </m:r>
                    <m:r>
                      <a:rPr kumimoji="1" lang="zh-CN" altLang="en-US" sz="2200">
                        <a:solidFill>
                          <a:schemeClr val="tx1">
                            <a:lumMod val="95000"/>
                            <a:lumOff val="5000"/>
                          </a:schemeClr>
                        </a:solidFill>
                        <a:latin typeface="Cambria Math" panose="02040503050406030204" charset="0"/>
                      </a:rPr>
                      <m:t>𝑥</m:t>
                    </m:r>
                    <m:r>
                      <a:rPr kumimoji="1" lang="zh-CN" altLang="en-US" sz="2200">
                        <a:solidFill>
                          <a:schemeClr val="tx1">
                            <a:lumMod val="95000"/>
                            <a:lumOff val="5000"/>
                          </a:schemeClr>
                        </a:solidFill>
                        <a:latin typeface="Cambria Math" panose="02040503050406030204" charset="0"/>
                      </a:rPr>
                      <m:t>,</m:t>
                    </m:r>
                    <m:r>
                      <a:rPr kumimoji="1" lang="zh-CN" altLang="en-US" sz="2200">
                        <a:solidFill>
                          <a:schemeClr val="tx1">
                            <a:lumMod val="95000"/>
                            <a:lumOff val="5000"/>
                          </a:schemeClr>
                        </a:solidFill>
                        <a:latin typeface="Cambria Math" panose="02040503050406030204" charset="0"/>
                      </a:rPr>
                      <m:t>𝑦</m:t>
                    </m:r>
                    <m:r>
                      <a:rPr kumimoji="1" lang="zh-CN" altLang="en-US" sz="2200">
                        <a:solidFill>
                          <a:schemeClr val="tx1">
                            <a:lumMod val="95000"/>
                            <a:lumOff val="5000"/>
                          </a:schemeClr>
                        </a:solidFill>
                        <a:latin typeface="Cambria Math" panose="02040503050406030204" charset="0"/>
                      </a:rPr>
                      <m:t>)</m:t>
                    </m:r>
                  </m:oMath>
                </a14:m>
                <a:r>
                  <a:rPr kumimoji="1" lang="zh-CN" altLang="en-US" sz="2200" b="0" dirty="0">
                    <a:solidFill>
                      <a:schemeClr val="tx1">
                        <a:lumMod val="95000"/>
                        <a:lumOff val="5000"/>
                      </a:schemeClr>
                    </a:solidFill>
                    <a:latin typeface="Cambria Math" panose="02040503050406030204" charset="0"/>
                  </a:rPr>
                  <a:t>在</a:t>
                </a:r>
                <a:r>
                  <a:rPr kumimoji="1" lang="en-US" altLang="zh-CN" sz="2200" b="0" dirty="0">
                    <a:solidFill>
                      <a:schemeClr val="tx1">
                        <a:lumMod val="95000"/>
                        <a:lumOff val="5000"/>
                      </a:schemeClr>
                    </a:solidFill>
                    <a:latin typeface="Cambria Math" panose="02040503050406030204" charset="0"/>
                  </a:rPr>
                  <a:t>(0, 0)</a:t>
                </a:r>
                <a:r>
                  <a:rPr kumimoji="1" lang="zh-CN" altLang="en-US" sz="2200" b="0" dirty="0">
                    <a:solidFill>
                      <a:schemeClr val="tx1">
                        <a:lumMod val="95000"/>
                        <a:lumOff val="5000"/>
                      </a:schemeClr>
                    </a:solidFill>
                    <a:latin typeface="Cambria Math" panose="02040503050406030204" charset="0"/>
                  </a:rPr>
                  <a:t>不连续</a:t>
                </a:r>
                <a:r>
                  <a:rPr kumimoji="1" lang="en-US" altLang="zh-CN" sz="2200" b="0" dirty="0">
                    <a:solidFill>
                      <a:schemeClr val="tx1">
                        <a:lumMod val="95000"/>
                        <a:lumOff val="5000"/>
                      </a:schemeClr>
                    </a:solidFill>
                    <a:latin typeface="Cambria Math" panose="02040503050406030204" charset="0"/>
                  </a:rPr>
                  <a:t>.</a:t>
                </a:r>
                <a:endParaRPr kumimoji="1" lang="en-US" altLang="zh-CN" sz="2200" b="0" dirty="0">
                  <a:solidFill>
                    <a:schemeClr val="tx1">
                      <a:lumMod val="95000"/>
                      <a:lumOff val="5000"/>
                    </a:schemeClr>
                  </a:solidFill>
                  <a:latin typeface="Cambria Math" panose="02040503050406030204" charset="0"/>
                </a:endParaRPr>
              </a:p>
            </p:txBody>
          </p:sp>
        </mc:Choice>
        <mc:Fallback>
          <p:sp>
            <p:nvSpPr>
              <p:cNvPr id="13" name="Text Box 15"/>
              <p:cNvSpPr txBox="1">
                <a:spLocks noRot="1" noChangeAspect="1" noMove="1" noResize="1" noEditPoints="1" noAdjustHandles="1" noChangeArrowheads="1" noChangeShapeType="1" noTextEdit="1"/>
              </p:cNvSpPr>
              <p:nvPr/>
            </p:nvSpPr>
            <p:spPr bwMode="auto">
              <a:xfrm>
                <a:off x="5683027" y="5509401"/>
                <a:ext cx="4752975" cy="430887"/>
              </a:xfrm>
              <a:prstGeom prst="rect">
                <a:avLst/>
              </a:prstGeom>
              <a:blipFill rotWithShape="1">
                <a:blip r:embed="rId5"/>
                <a:stretch>
                  <a:fillRect l="-9" t="-33" r="9" b="11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Object 16"/>
              <p:cNvSpPr txBox="1"/>
              <p:nvPr/>
            </p:nvSpPr>
            <p:spPr bwMode="auto">
              <a:xfrm>
                <a:off x="7746056" y="842864"/>
                <a:ext cx="1597024" cy="454025"/>
              </a:xfrm>
              <a:prstGeom prst="rect">
                <a:avLst/>
              </a:prstGeom>
            </p:spPr>
            <p:txBody>
              <a:bodyPr>
                <a:noAutofit/>
              </a:bodyPr>
              <a:lstStyle/>
              <a:p>
                <a14:m>
                  <m:oMathPara xmlns:m="http://schemas.openxmlformats.org/officeDocument/2006/math">
                    <m:oMathParaPr>
                      <m:jc m:val="left"/>
                    </m:oMathParaPr>
                    <m:oMath xmlns:m="http://schemas.openxmlformats.org/officeDocument/2006/math">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4" name="Object 16"/>
              <p:cNvSpPr txBox="1">
                <a:spLocks noRot="1" noChangeAspect="1" noMove="1" noResize="1" noEditPoints="1" noAdjustHandles="1" noChangeArrowheads="1" noChangeShapeType="1" noTextEdit="1"/>
              </p:cNvSpPr>
              <p:nvPr/>
            </p:nvSpPr>
            <p:spPr bwMode="auto">
              <a:xfrm>
                <a:off x="7746056" y="842864"/>
                <a:ext cx="1597024" cy="454025"/>
              </a:xfrm>
              <a:prstGeom prst="rect">
                <a:avLst/>
              </a:prstGeom>
              <a:blipFill rotWithShape="1">
                <a:blip r:embed="rId6"/>
                <a:stretch>
                  <a:fillRect l="-20" t="-48" r="20" b="4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Object 17"/>
              <p:cNvSpPr txBox="1"/>
              <p:nvPr/>
            </p:nvSpPr>
            <p:spPr bwMode="auto">
              <a:xfrm>
                <a:off x="7746056" y="1414597"/>
                <a:ext cx="1597024" cy="479425"/>
              </a:xfrm>
              <a:prstGeom prst="rect">
                <a:avLst/>
              </a:prstGeom>
            </p:spPr>
            <p:txBody>
              <a:bodyPr>
                <a:noAutofit/>
              </a:bodyPr>
              <a:lstStyle/>
              <a:p>
                <a14:m>
                  <m:oMathPara xmlns:m="http://schemas.openxmlformats.org/officeDocument/2006/math">
                    <m:oMathParaPr>
                      <m:jc m:val="left"/>
                    </m:oMathParaPr>
                    <m:oMath xmlns:m="http://schemas.openxmlformats.org/officeDocument/2006/math">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5" name="Object 17"/>
              <p:cNvSpPr txBox="1">
                <a:spLocks noRot="1" noChangeAspect="1" noMove="1" noResize="1" noEditPoints="1" noAdjustHandles="1" noChangeArrowheads="1" noChangeShapeType="1" noTextEdit="1"/>
              </p:cNvSpPr>
              <p:nvPr/>
            </p:nvSpPr>
            <p:spPr bwMode="auto">
              <a:xfrm>
                <a:off x="7746056" y="1414597"/>
                <a:ext cx="1597024" cy="479425"/>
              </a:xfrm>
              <a:prstGeom prst="rect">
                <a:avLst/>
              </a:prstGeom>
              <a:blipFill rotWithShape="1">
                <a:blip r:embed="rId7"/>
                <a:stretch>
                  <a:fillRect l="-20" t="-94" r="20" b="94"/>
                </a:stretch>
              </a:blipFill>
            </p:spPr>
            <p:txBody>
              <a:bodyPr/>
              <a:lstStyle/>
              <a:p>
                <a:r>
                  <a:rPr lang="zh-CN" altLang="en-US">
                    <a:noFill/>
                  </a:rPr>
                  <a:t> </a:t>
                </a:r>
              </a:p>
            </p:txBody>
          </p:sp>
        </mc:Fallback>
      </mc:AlternateContent>
      <p:sp>
        <p:nvSpPr>
          <p:cNvPr id="26" name="Line 33"/>
          <p:cNvSpPr>
            <a:spLocks noChangeShapeType="1"/>
          </p:cNvSpPr>
          <p:nvPr/>
        </p:nvSpPr>
        <p:spPr bwMode="auto">
          <a:xfrm flipV="1">
            <a:off x="1963174" y="1966468"/>
            <a:ext cx="8525729" cy="4486"/>
          </a:xfrm>
          <a:prstGeom prst="line">
            <a:avLst/>
          </a:prstGeom>
          <a:ln w="19050">
            <a:solidFill>
              <a:srgbClr val="04926A"/>
            </a:solidFill>
          </a:ln>
        </p:spPr>
        <p:txBody>
          <a:bodyPr/>
          <a:lstStyle/>
          <a:p>
            <a:endParaRPr lang="zh-CN" altLang="en-US"/>
          </a:p>
        </p:txBody>
      </p:sp>
      <mc:AlternateContent xmlns:mc="http://schemas.openxmlformats.org/markup-compatibility/2006">
        <mc:Choice xmlns:a14="http://schemas.microsoft.com/office/drawing/2010/main" Requires="a14">
          <p:sp>
            <p:nvSpPr>
              <p:cNvPr id="27" name="Object 42"/>
              <p:cNvSpPr txBox="1"/>
              <p:nvPr/>
            </p:nvSpPr>
            <p:spPr bwMode="auto">
              <a:xfrm>
                <a:off x="2374594" y="4600724"/>
                <a:ext cx="2808288" cy="974726"/>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limLow>
                        <m:limLowPr>
                          <m:ctrlPr>
                            <a:rPr kumimoji="1" lang="zh-CN" altLang="en-US" sz="2000" i="1">
                              <a:solidFill>
                                <a:schemeClr val="tx1">
                                  <a:lumMod val="95000"/>
                                  <a:lumOff val="5000"/>
                                </a:schemeClr>
                              </a:solidFill>
                              <a:latin typeface="Cambria Math" panose="02040503050406030204" charset="0"/>
                              <a:ea typeface="黑体" panose="02010609060101010101" pitchFamily="49" charset="-122"/>
                            </a:rPr>
                          </m:ctrlPr>
                        </m:limLowPr>
                        <m:e>
                          <m:r>
                            <m:rPr>
                              <m:sty m:val="p"/>
                            </m:rPr>
                            <a:rPr kumimoji="1" lang="zh-CN" altLang="en-US" sz="2000">
                              <a:solidFill>
                                <a:schemeClr val="tx1">
                                  <a:lumMod val="95000"/>
                                  <a:lumOff val="5000"/>
                                </a:schemeClr>
                              </a:solidFill>
                              <a:latin typeface="Cambria Math" panose="02040503050406030204" charset="0"/>
                              <a:ea typeface="黑体" panose="02010609060101010101" pitchFamily="49" charset="-122"/>
                            </a:rPr>
                            <m:t>lim</m:t>
                          </m:r>
                        </m:e>
                        <m:lim>
                          <m:r>
                            <a:rPr kumimoji="1" lang="zh-CN" altLang="en-US" sz="2000">
                              <a:latin typeface="Cambria Math" panose="02040503050406030204" charset="0"/>
                              <a:ea typeface="黑体" panose="02010609060101010101" pitchFamily="49" charset="-122"/>
                              <a:cs typeface="Cambria Math" panose="02040503050406030204" charset="0"/>
                            </a:rPr>
                            <m:t>(</m:t>
                          </m:r>
                          <m:r>
                            <a:rPr kumimoji="1" lang="zh-CN" altLang="en-US" sz="2000">
                              <a:latin typeface="Cambria Math" panose="02040503050406030204" charset="0"/>
                              <a:ea typeface="黑体" panose="02010609060101010101" pitchFamily="49" charset="-122"/>
                              <a:cs typeface="Cambria Math" panose="02040503050406030204" charset="0"/>
                            </a:rPr>
                            <m:t>𝑥</m:t>
                          </m:r>
                          <m:r>
                            <a:rPr kumimoji="1" lang="zh-CN" altLang="en-US" sz="2000">
                              <a:latin typeface="Cambria Math" panose="02040503050406030204" charset="0"/>
                              <a:ea typeface="黑体" panose="02010609060101010101" pitchFamily="49" charset="-122"/>
                              <a:cs typeface="Cambria Math" panose="02040503050406030204" charset="0"/>
                            </a:rPr>
                            <m:t>,</m:t>
                          </m:r>
                          <m:r>
                            <a:rPr kumimoji="1" lang="zh-CN" altLang="en-US" sz="2000">
                              <a:latin typeface="Cambria Math" panose="02040503050406030204" charset="0"/>
                              <a:ea typeface="黑体" panose="02010609060101010101" pitchFamily="49" charset="-122"/>
                              <a:cs typeface="Cambria Math" panose="02040503050406030204" charset="0"/>
                            </a:rPr>
                            <m:t>𝑦</m:t>
                          </m:r>
                          <m:r>
                            <a:rPr kumimoji="1" lang="zh-CN" altLang="en-US" sz="2000">
                              <a:latin typeface="Cambria Math" panose="02040503050406030204" charset="0"/>
                              <a:ea typeface="黑体" panose="02010609060101010101" pitchFamily="49" charset="-122"/>
                              <a:cs typeface="Cambria Math" panose="02040503050406030204" charset="0"/>
                            </a:rPr>
                            <m:t>)→(</m:t>
                          </m:r>
                          <m:r>
                            <a:rPr kumimoji="1" lang="en-US" altLang="zh-CN" sz="2000" i="1">
                              <a:latin typeface="Cambria Math" panose="02040503050406030204" charset="0"/>
                              <a:ea typeface="黑体" panose="02010609060101010101" pitchFamily="49" charset="-122"/>
                              <a:cs typeface="Cambria Math" panose="02040503050406030204" charset="0"/>
                            </a:rPr>
                            <m:t>0</m:t>
                          </m:r>
                          <m:r>
                            <a:rPr kumimoji="1" lang="zh-CN" altLang="en-US" sz="2000">
                              <a:latin typeface="Cambria Math" panose="02040503050406030204" charset="0"/>
                              <a:ea typeface="黑体" panose="02010609060101010101" pitchFamily="49" charset="-122"/>
                              <a:cs typeface="Cambria Math" panose="02040503050406030204" charset="0"/>
                            </a:rPr>
                            <m:t>,</m:t>
                          </m:r>
                          <m:r>
                            <a:rPr kumimoji="1" lang="en-US" altLang="zh-CN" sz="2000" i="1">
                              <a:latin typeface="Cambria Math" panose="02040503050406030204" charset="0"/>
                              <a:ea typeface="黑体" panose="02010609060101010101" pitchFamily="49" charset="-122"/>
                              <a:cs typeface="Cambria Math" panose="02040503050406030204" charset="0"/>
                            </a:rPr>
                            <m:t>0</m:t>
                          </m:r>
                          <m:r>
                            <a:rPr kumimoji="1" lang="zh-CN" altLang="en-US" sz="2000">
                              <a:latin typeface="Cambria Math" panose="02040503050406030204" charset="0"/>
                              <a:ea typeface="黑体" panose="02010609060101010101" pitchFamily="49" charset="-122"/>
                              <a:cs typeface="Cambria Math" panose="02040503050406030204" charset="0"/>
                            </a:rPr>
                            <m:t>)</m:t>
                          </m:r>
                        </m:lim>
                      </m:limLow>
                      <m:r>
                        <a:rPr kumimoji="1" lang="zh-CN" altLang="en-US" sz="2000" i="1">
                          <a:latin typeface="Cambria Math" panose="02040503050406030204" charset="0"/>
                          <a:ea typeface="黑体" panose="02010609060101010101" pitchFamily="49" charset="-122"/>
                          <a:cs typeface="Cambria Math" panose="02040503050406030204" charset="0"/>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func>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27" name="Object 42"/>
              <p:cNvSpPr txBox="1">
                <a:spLocks noRot="1" noChangeAspect="1" noMove="1" noResize="1" noEditPoints="1" noAdjustHandles="1" noChangeArrowheads="1" noChangeShapeType="1" noTextEdit="1"/>
              </p:cNvSpPr>
              <p:nvPr/>
            </p:nvSpPr>
            <p:spPr bwMode="auto">
              <a:xfrm>
                <a:off x="2374594" y="4600724"/>
                <a:ext cx="2808288" cy="974726"/>
              </a:xfrm>
              <a:prstGeom prst="rect">
                <a:avLst/>
              </a:prstGeom>
              <a:blipFill rotWithShape="1">
                <a:blip r:embed="rId8"/>
                <a:stretch>
                  <a:fillRect l="-12" t="-15" r="-15036" b="15"/>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 name="Object 42"/>
              <p:cNvSpPr txBox="1"/>
              <p:nvPr/>
            </p:nvSpPr>
            <p:spPr bwMode="auto">
              <a:xfrm>
                <a:off x="5796897" y="4489578"/>
                <a:ext cx="5495341" cy="974726"/>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limLow>
                        <m:limLowPr>
                          <m:ctrlPr>
                            <a:rPr kumimoji="1" lang="zh-CN" altLang="en-US" sz="2000" i="1">
                              <a:solidFill>
                                <a:schemeClr val="tx1">
                                  <a:lumMod val="95000"/>
                                  <a:lumOff val="5000"/>
                                </a:schemeClr>
                              </a:solidFill>
                              <a:latin typeface="Cambria Math" panose="02040503050406030204" charset="0"/>
                              <a:ea typeface="黑体" panose="02010609060101010101" pitchFamily="49" charset="-122"/>
                            </a:rPr>
                          </m:ctrlPr>
                        </m:limLowPr>
                        <m:e>
                          <m:r>
                            <m:rPr>
                              <m:sty m:val="p"/>
                            </m:rPr>
                            <a:rPr kumimoji="1" lang="zh-CN" altLang="en-US" sz="2000">
                              <a:solidFill>
                                <a:schemeClr val="tx1">
                                  <a:lumMod val="95000"/>
                                  <a:lumOff val="5000"/>
                                </a:schemeClr>
                              </a:solidFill>
                              <a:latin typeface="Cambria Math" panose="02040503050406030204" charset="0"/>
                              <a:ea typeface="黑体" panose="02010609060101010101" pitchFamily="49" charset="-122"/>
                            </a:rPr>
                            <m:t>lim</m:t>
                          </m:r>
                        </m:e>
                        <m:lim>
                          <m:eqArr>
                            <m:eqArrPr>
                              <m:ctrlPr>
                                <a:rPr kumimoji="1" lang="zh-CN" altLang="en-US" sz="2000" i="1">
                                  <a:solidFill>
                                    <a:schemeClr val="tx1">
                                      <a:lumMod val="95000"/>
                                      <a:lumOff val="5000"/>
                                    </a:schemeClr>
                                  </a:solidFill>
                                  <a:latin typeface="Cambria Math" panose="02040503050406030204" charset="0"/>
                                  <a:ea typeface="黑体" panose="02010609060101010101" pitchFamily="49" charset="-122"/>
                                </a:rPr>
                              </m:ctrlPr>
                            </m:eqArrPr>
                            <m:e>
                              <m:r>
                                <a:rPr kumimoji="1" lang="zh-CN" altLang="en-US" sz="2000">
                                  <a:solidFill>
                                    <a:schemeClr val="tx1">
                                      <a:lumMod val="95000"/>
                                      <a:lumOff val="5000"/>
                                    </a:schemeClr>
                                  </a:solidFill>
                                  <a:latin typeface="Cambria Math" panose="02040503050406030204" charset="0"/>
                                  <a:ea typeface="黑体" panose="02010609060101010101" pitchFamily="49" charset="-122"/>
                                </a:rPr>
                                <m:t>&amp;​</m:t>
                              </m:r>
                              <m:r>
                                <a:rPr kumimoji="1" lang="zh-CN" altLang="en-US" sz="20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0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000" i="1">
                                      <a:solidFill>
                                        <a:schemeClr val="tx1">
                                          <a:lumMod val="95000"/>
                                          <a:lumOff val="5000"/>
                                        </a:schemeClr>
                                      </a:solidFill>
                                      <a:latin typeface="Cambria Math" panose="02040503050406030204" charset="0"/>
                                      <a:ea typeface="黑体" panose="02010609060101010101" pitchFamily="49" charset="-122"/>
                                    </a:rPr>
                                  </m:ctrlPr>
                                </m:sSupPr>
                                <m:e>
                                  <m:r>
                                    <a:rPr kumimoji="1" lang="en-US" altLang="zh-CN" sz="2000" i="1">
                                      <a:solidFill>
                                        <a:schemeClr val="tx1">
                                          <a:lumMod val="95000"/>
                                          <a:lumOff val="5000"/>
                                        </a:schemeClr>
                                      </a:solidFill>
                                      <a:latin typeface="Cambria Math" panose="02040503050406030204" charset="0"/>
                                      <a:ea typeface="黑体" panose="02010609060101010101" pitchFamily="49" charset="-122"/>
                                    </a:rPr>
                                    <m:t>𝑘</m:t>
                                  </m:r>
                                  <m:r>
                                    <a:rPr kumimoji="1" lang="zh-CN" altLang="en-US" sz="20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000">
                                      <a:solidFill>
                                        <a:schemeClr val="tx1">
                                          <a:lumMod val="95000"/>
                                          <a:lumOff val="5000"/>
                                        </a:schemeClr>
                                      </a:solidFill>
                                      <a:latin typeface="Cambria Math" panose="02040503050406030204" charset="0"/>
                                      <a:ea typeface="黑体" panose="02010609060101010101" pitchFamily="49" charset="-122"/>
                                    </a:rPr>
                                    <m:t>2</m:t>
                                  </m:r>
                                </m:sup>
                              </m:sSup>
                            </m:e>
                            <m:e>
                              <m:r>
                                <a:rPr kumimoji="1" lang="zh-CN" altLang="en-US" sz="2000">
                                  <a:solidFill>
                                    <a:schemeClr val="tx1">
                                      <a:lumMod val="95000"/>
                                      <a:lumOff val="5000"/>
                                    </a:schemeClr>
                                  </a:solidFill>
                                  <a:latin typeface="Cambria Math" panose="02040503050406030204" charset="0"/>
                                  <a:ea typeface="黑体" panose="02010609060101010101" pitchFamily="49" charset="-122"/>
                                </a:rPr>
                                <m:t>&amp;​</m:t>
                              </m:r>
                              <m:r>
                                <a:rPr kumimoji="1" lang="en-US" altLang="zh-CN" sz="2000">
                                  <a:solidFill>
                                    <a:schemeClr val="tx1">
                                      <a:lumMod val="95000"/>
                                      <a:lumOff val="5000"/>
                                    </a:schemeClr>
                                  </a:solidFill>
                                  <a:latin typeface="Cambria Math" panose="02040503050406030204" charset="0"/>
                                  <a:ea typeface="黑体" panose="02010609060101010101" pitchFamily="49" charset="-122"/>
                                </a:rPr>
                                <m:t>  </m:t>
                              </m:r>
                              <m:r>
                                <a:rPr kumimoji="1" lang="zh-CN" altLang="en-US" sz="20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000">
                                  <a:solidFill>
                                    <a:schemeClr val="tx1">
                                      <a:lumMod val="95000"/>
                                      <a:lumOff val="5000"/>
                                    </a:schemeClr>
                                  </a:solidFill>
                                  <a:latin typeface="Cambria Math" panose="02040503050406030204" charset="0"/>
                                  <a:ea typeface="黑体" panose="02010609060101010101" pitchFamily="49" charset="-122"/>
                                </a:rPr>
                                <m:t>→</m:t>
                              </m:r>
                              <m:r>
                                <a:rPr kumimoji="1" lang="zh-CN" altLang="en-US" sz="2000">
                                  <a:solidFill>
                                    <a:schemeClr val="tx1">
                                      <a:lumMod val="95000"/>
                                      <a:lumOff val="5000"/>
                                    </a:schemeClr>
                                  </a:solidFill>
                                  <a:latin typeface="Cambria Math" panose="02040503050406030204" charset="0"/>
                                  <a:ea typeface="黑体" panose="02010609060101010101" pitchFamily="49" charset="-122"/>
                                </a:rPr>
                                <m:t>0</m:t>
                              </m:r>
                            </m:e>
                          </m:eqArr>
                        </m:lim>
                      </m:limLow>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limLow>
                        <m:limLow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limLow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lim</m:t>
                          </m:r>
                        </m:e>
                        <m:lim>
                          <m:eqArr>
                            <m:eqArr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eqArrPr>
                            <m:e>
                              <m:r>
                                <a:rPr kumimoji="1" lang="zh-CN" altLang="en-US" sz="2200">
                                  <a:solidFill>
                                    <a:schemeClr val="tx1">
                                      <a:lumMod val="95000"/>
                                      <a:lumOff val="5000"/>
                                    </a:schemeClr>
                                  </a:solidFill>
                                  <a:latin typeface="Cambria Math" panose="02040503050406030204" charset="0"/>
                                  <a:ea typeface="黑体" panose="02010609060101010101" pitchFamily="49" charset="-122"/>
                                </a:rPr>
                                <m:t>&amp;​</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en-US" altLang="zh-CN" sz="2200" b="0" i="1" smtClean="0">
                                      <a:solidFill>
                                        <a:schemeClr val="tx1">
                                          <a:lumMod val="95000"/>
                                          <a:lumOff val="5000"/>
                                        </a:schemeClr>
                                      </a:solidFill>
                                      <a:latin typeface="Cambria Math" panose="02040503050406030204" charset="0"/>
                                      <a:ea typeface="黑体" panose="02010609060101010101" pitchFamily="49" charset="-122"/>
                                    </a:rPr>
                                    <m:t>𝑘</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e>
                            <m:e>
                              <m:r>
                                <a:rPr kumimoji="1" lang="zh-CN" altLang="en-US" sz="2200">
                                  <a:solidFill>
                                    <a:schemeClr val="tx1">
                                      <a:lumMod val="95000"/>
                                      <a:lumOff val="5000"/>
                                    </a:schemeClr>
                                  </a:solidFill>
                                  <a:latin typeface="Cambria Math" panose="02040503050406030204" charset="0"/>
                                  <a:ea typeface="黑体" panose="02010609060101010101" pitchFamily="49" charset="-122"/>
                                </a:rPr>
                                <m:t>&amp;​</m:t>
                              </m:r>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eqArr>
                        </m:lim>
                      </m:limLow>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en-US" altLang="zh-CN" sz="2200" i="1">
                                  <a:solidFill>
                                    <a:schemeClr val="tx1">
                                      <a:lumMod val="95000"/>
                                      <a:lumOff val="5000"/>
                                    </a:schemeClr>
                                  </a:solidFill>
                                  <a:latin typeface="Cambria Math" panose="02040503050406030204" charset="0"/>
                                  <a:ea typeface="黑体" panose="02010609060101010101" pitchFamily="49" charset="-122"/>
                                </a:rPr>
                                <m:t>𝑘</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en-US" altLang="zh-CN" sz="2200" b="0" i="1" smtClean="0">
                                  <a:solidFill>
                                    <a:schemeClr val="tx1">
                                      <a:lumMod val="95000"/>
                                      <a:lumOff val="5000"/>
                                    </a:schemeClr>
                                  </a:solidFill>
                                  <a:latin typeface="Cambria Math" panose="02040503050406030204" charset="0"/>
                                  <a:ea typeface="黑体" panose="02010609060101010101" pitchFamily="49" charset="-122"/>
                                </a:rPr>
                                <m:t>𝑘</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4</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en-US" altLang="zh-CN" sz="2200" i="1">
                          <a:solidFill>
                            <a:schemeClr val="tx1">
                              <a:lumMod val="95000"/>
                              <a:lumOff val="5000"/>
                            </a:schemeClr>
                          </a:solidFill>
                          <a:latin typeface="Cambria Math" panose="02040503050406030204" charset="0"/>
                          <a:ea typeface="黑体" panose="02010609060101010101" pitchFamily="49" charset="-122"/>
                        </a:rPr>
                        <m:t>𝑘</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28" name="Object 42"/>
              <p:cNvSpPr txBox="1">
                <a:spLocks noRot="1" noChangeAspect="1" noMove="1" noResize="1" noEditPoints="1" noAdjustHandles="1" noChangeArrowheads="1" noChangeShapeType="1" noTextEdit="1"/>
              </p:cNvSpPr>
              <p:nvPr/>
            </p:nvSpPr>
            <p:spPr bwMode="auto">
              <a:xfrm>
                <a:off x="5796897" y="4489578"/>
                <a:ext cx="5495341" cy="974726"/>
              </a:xfrm>
              <a:prstGeom prst="rect">
                <a:avLst/>
              </a:prstGeom>
              <a:blipFill rotWithShape="1">
                <a:blip r:embed="rId9"/>
                <a:stretch>
                  <a:fillRect l="-11" t="-13" r="1" b="13"/>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Object 42"/>
              <p:cNvSpPr txBox="1"/>
              <p:nvPr/>
            </p:nvSpPr>
            <p:spPr bwMode="auto">
              <a:xfrm>
                <a:off x="2409491" y="5470681"/>
                <a:ext cx="1439862" cy="642928"/>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limLow>
                        <m:limLowPr>
                          <m:ctrlPr>
                            <a:rPr kumimoji="1" lang="zh-CN" altLang="en-US" sz="2400" i="1">
                              <a:solidFill>
                                <a:schemeClr val="tx1">
                                  <a:lumMod val="95000"/>
                                  <a:lumOff val="5000"/>
                                </a:schemeClr>
                              </a:solidFill>
                              <a:latin typeface="Cambria Math" panose="02040503050406030204" charset="0"/>
                              <a:ea typeface="黑体" panose="02010609060101010101" pitchFamily="49" charset="-122"/>
                            </a:rPr>
                          </m:ctrlPr>
                        </m:limLowPr>
                        <m:e>
                          <m:r>
                            <m:rPr>
                              <m:sty m:val="p"/>
                            </m:rPr>
                            <a:rPr kumimoji="1" lang="zh-CN" altLang="en-US" sz="2400">
                              <a:solidFill>
                                <a:schemeClr val="tx1">
                                  <a:lumMod val="95000"/>
                                  <a:lumOff val="5000"/>
                                </a:schemeClr>
                              </a:solidFill>
                              <a:latin typeface="Cambria Math" panose="02040503050406030204" charset="0"/>
                              <a:ea typeface="黑体" panose="02010609060101010101" pitchFamily="49" charset="-122"/>
                            </a:rPr>
                            <m:t>lim</m:t>
                          </m:r>
                        </m:e>
                        <m:lim>
                          <m:r>
                            <a:rPr kumimoji="1" lang="zh-CN" altLang="en-US" sz="2400">
                              <a:latin typeface="Cambria Math" panose="02040503050406030204" charset="0"/>
                              <a:ea typeface="黑体" panose="02010609060101010101" pitchFamily="49" charset="-122"/>
                              <a:cs typeface="Cambria Math" panose="02040503050406030204" charset="0"/>
                            </a:rPr>
                            <m:t>(</m:t>
                          </m:r>
                          <m:r>
                            <a:rPr kumimoji="1" lang="zh-CN" altLang="en-US" sz="2400">
                              <a:latin typeface="Cambria Math" panose="02040503050406030204" charset="0"/>
                              <a:ea typeface="黑体" panose="02010609060101010101" pitchFamily="49" charset="-122"/>
                              <a:cs typeface="Cambria Math" panose="02040503050406030204" charset="0"/>
                            </a:rPr>
                            <m:t>𝑥</m:t>
                          </m:r>
                          <m:r>
                            <a:rPr kumimoji="1" lang="zh-CN" altLang="en-US" sz="2400">
                              <a:latin typeface="Cambria Math" panose="02040503050406030204" charset="0"/>
                              <a:ea typeface="黑体" panose="02010609060101010101" pitchFamily="49" charset="-122"/>
                              <a:cs typeface="Cambria Math" panose="02040503050406030204" charset="0"/>
                            </a:rPr>
                            <m:t>,</m:t>
                          </m:r>
                          <m:r>
                            <a:rPr kumimoji="1" lang="zh-CN" altLang="en-US" sz="2400">
                              <a:latin typeface="Cambria Math" panose="02040503050406030204" charset="0"/>
                              <a:ea typeface="黑体" panose="02010609060101010101" pitchFamily="49" charset="-122"/>
                              <a:cs typeface="Cambria Math" panose="02040503050406030204" charset="0"/>
                            </a:rPr>
                            <m:t>𝑦</m:t>
                          </m:r>
                          <m:r>
                            <a:rPr kumimoji="1" lang="zh-CN" altLang="en-US" sz="2400">
                              <a:latin typeface="Cambria Math" panose="02040503050406030204" charset="0"/>
                              <a:ea typeface="黑体" panose="02010609060101010101" pitchFamily="49" charset="-122"/>
                              <a:cs typeface="Cambria Math" panose="02040503050406030204" charset="0"/>
                            </a:rPr>
                            <m:t>)→(</m:t>
                          </m:r>
                          <m:r>
                            <a:rPr kumimoji="1" lang="en-US" altLang="zh-CN" sz="2400" i="1">
                              <a:latin typeface="Cambria Math" panose="02040503050406030204" charset="0"/>
                              <a:ea typeface="黑体" panose="02010609060101010101" pitchFamily="49" charset="-122"/>
                              <a:cs typeface="Cambria Math" panose="02040503050406030204" charset="0"/>
                            </a:rPr>
                            <m:t>0</m:t>
                          </m:r>
                          <m:r>
                            <a:rPr kumimoji="1" lang="zh-CN" altLang="en-US" sz="2400">
                              <a:latin typeface="Cambria Math" panose="02040503050406030204" charset="0"/>
                              <a:ea typeface="黑体" panose="02010609060101010101" pitchFamily="49" charset="-122"/>
                              <a:cs typeface="Cambria Math" panose="02040503050406030204" charset="0"/>
                            </a:rPr>
                            <m:t>,</m:t>
                          </m:r>
                          <m:r>
                            <a:rPr kumimoji="1" lang="en-US" altLang="zh-CN" sz="2400" i="1">
                              <a:latin typeface="Cambria Math" panose="02040503050406030204" charset="0"/>
                              <a:ea typeface="黑体" panose="02010609060101010101" pitchFamily="49" charset="-122"/>
                              <a:cs typeface="Cambria Math" panose="02040503050406030204" charset="0"/>
                            </a:rPr>
                            <m:t>0</m:t>
                          </m:r>
                          <m:r>
                            <a:rPr kumimoji="1" lang="zh-CN" altLang="en-US" sz="2400">
                              <a:latin typeface="Cambria Math" panose="02040503050406030204" charset="0"/>
                              <a:ea typeface="黑体" panose="02010609060101010101" pitchFamily="49" charset="-122"/>
                              <a:cs typeface="Cambria Math" panose="02040503050406030204" charset="0"/>
                            </a:rPr>
                            <m:t>)</m:t>
                          </m:r>
                        </m:lim>
                      </m:limLow>
                      <m:r>
                        <a:rPr kumimoji="1" lang="zh-CN" altLang="en-US" sz="2400" i="1">
                          <a:latin typeface="Cambria Math" panose="02040503050406030204" charset="0"/>
                          <a:ea typeface="黑体" panose="02010609060101010101" pitchFamily="49" charset="-122"/>
                          <a:cs typeface="Cambria Math" panose="02040503050406030204" charset="0"/>
                        </a:rPr>
                        <m:t> </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29" name="Object 42"/>
              <p:cNvSpPr txBox="1">
                <a:spLocks noRot="1" noChangeAspect="1" noMove="1" noResize="1" noEditPoints="1" noAdjustHandles="1" noChangeArrowheads="1" noChangeShapeType="1" noTextEdit="1"/>
              </p:cNvSpPr>
              <p:nvPr/>
            </p:nvSpPr>
            <p:spPr bwMode="auto">
              <a:xfrm>
                <a:off x="2409491" y="5470681"/>
                <a:ext cx="1439862" cy="642928"/>
              </a:xfrm>
              <a:prstGeom prst="rect">
                <a:avLst/>
              </a:prstGeom>
              <a:blipFill rotWithShape="1">
                <a:blip r:embed="rId10"/>
                <a:stretch>
                  <a:fillRect l="-21" t="-24" r="-54555" b="72"/>
                </a:stretch>
              </a:blipFill>
              <a:ln>
                <a:noFill/>
              </a:ln>
              <a:effec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left)">
                                      <p:cBhvr>
                                        <p:cTn id="10" dur="500"/>
                                        <p:tgtEl>
                                          <p:spTgt spid="1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left)">
                                      <p:cBhvr>
                                        <p:cTn id="13" dur="500"/>
                                        <p:tgtEl>
                                          <p:spTgt spid="1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wipe(left)">
                                      <p:cBhvr>
                                        <p:cTn id="16" dur="500"/>
                                        <p:tgtEl>
                                          <p:spTgt spid="2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left)">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left)">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wipe(left)">
                                      <p:cBhvr>
                                        <p:cTn id="36" dur="500"/>
                                        <p:tgtEl>
                                          <p:spTgt spid="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wipe(left)">
                                      <p:cBhvr>
                                        <p:cTn id="41" dur="500"/>
                                        <p:tgtEl>
                                          <p:spTgt spid="2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wipe(left)">
                                      <p:cBhvr>
                                        <p:cTn id="46" dur="500"/>
                                        <p:tgtEl>
                                          <p:spTgt spid="28"/>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wipe(left)">
                                      <p:cBhvr>
                                        <p:cTn id="51" dur="500"/>
                                        <p:tgtEl>
                                          <p:spTgt spid="10"/>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9"/>
                                        </p:tgtEl>
                                        <p:attrNameLst>
                                          <p:attrName>style.visibility</p:attrName>
                                        </p:attrNameLst>
                                      </p:cBhvr>
                                      <p:to>
                                        <p:strVal val="visible"/>
                                      </p:to>
                                    </p:set>
                                    <p:animEffect transition="in" filter="wipe(left)">
                                      <p:cBhvr>
                                        <p:cTn id="56" dur="500"/>
                                        <p:tgtEl>
                                          <p:spTgt spid="29"/>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wipe(left)">
                                      <p:cBhvr>
                                        <p:cTn id="61" dur="500"/>
                                        <p:tgtEl>
                                          <p:spTgt spid="1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wipe(left)">
                                      <p:cBhvr>
                                        <p:cTn id="6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10" grpId="0"/>
      <p:bldP spid="12" grpId="0"/>
      <p:bldP spid="13" grpId="0"/>
      <p:bldP spid="14" grpId="0"/>
      <p:bldP spid="15" grpId="0"/>
      <p:bldP spid="26" grpId="0" bldLvl="0" animBg="1"/>
      <p:bldP spid="27" grpId="0" bldLvl="0" animBg="1"/>
      <p:bldP spid="28" grpId="0" bldLvl="0" animBg="1"/>
      <p:bldP spid="29" grpId="0" bldLvl="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7" name="矩形 16"/>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p:sp>
            <p:nvSpPr>
              <p:cNvPr id="17" name="矩形 16"/>
              <p:cNvSpPr>
                <a:spLocks noRot="1" noChangeAspect="1" noMove="1" noResize="1" noEditPoints="1" noAdjustHandles="1" noChangeArrowheads="1" noChangeShapeType="1" noTextEdit="1"/>
              </p:cNvSpPr>
              <p:nvPr/>
            </p:nvSpPr>
            <p:spPr>
              <a:xfrm>
                <a:off x="687959" y="536260"/>
                <a:ext cx="10817352" cy="5799897"/>
              </a:xfrm>
              <a:prstGeom prst="rect">
                <a:avLst/>
              </a:prstGeom>
              <a:blipFill rotWithShape="1">
                <a:blip r:embed="rId1"/>
                <a:stretch>
                  <a:fillRect l="-1499" t="-1932" r="-1493" b="-1914"/>
                </a:stretch>
              </a:blip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18" name="半闭框 17"/>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9" name="半闭框 18"/>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半闭框 19"/>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21" name="半闭框 20"/>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mc:Choice xmlns:a14="http://schemas.microsoft.com/office/drawing/2010/main" Requires="a14">
          <p:sp>
            <p:nvSpPr>
              <p:cNvPr id="3" name="Object 5"/>
              <p:cNvSpPr txBox="1"/>
              <p:nvPr/>
            </p:nvSpPr>
            <p:spPr bwMode="auto">
              <a:xfrm>
                <a:off x="2268379" y="624682"/>
                <a:ext cx="8838645" cy="1279525"/>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sSub>
                        <m:sSubPr>
                          <m:ctrlPr>
                            <a:rPr kumimoji="1" lang="zh-CN" altLang="en-US" sz="2200" i="1" smtClean="0">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dPr>
                        <m:e>
                          <m:m>
                            <m:mPr>
                              <m:mcs>
                                <m:mc>
                                  <m:mcPr>
                                    <m:count m:val="1"/>
                                    <m:mcJc m:val="center"/>
                                  </m:mcPr>
                                </m:mc>
                              </m:mcs>
                              <m:plcHide m:val="on"/>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mP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en-US" altLang="zh-CN" sz="2200" b="0" i="1"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en-US" altLang="zh-CN" sz="2200" b="0" i="1" smtClean="0">
                                    <a:solidFill>
                                      <a:schemeClr val="tx1">
                                        <a:lumMod val="95000"/>
                                        <a:lumOff val="5000"/>
                                      </a:schemeClr>
                                    </a:solidFill>
                                    <a:latin typeface="Cambria Math" panose="02040503050406030204" charset="0"/>
                                    <a:ea typeface="黑体" panose="02010609060101010101" pitchFamily="49" charset="-122"/>
                                  </a:rPr>
                                  <m:t> </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r>
                                  <a:rPr kumimoji="1" lang="en-US" altLang="zh-CN" sz="2200" b="0" i="1" smtClean="0">
                                    <a:solidFill>
                                      <a:schemeClr val="tx1">
                                        <a:lumMod val="95000"/>
                                        <a:lumOff val="5000"/>
                                      </a:schemeClr>
                                    </a:solidFill>
                                    <a:latin typeface="Cambria Math" panose="02040503050406030204" charset="0"/>
                                    <a:ea typeface="黑体" panose="02010609060101010101" pitchFamily="49" charset="-122"/>
                                  </a:rPr>
                                  <m:t> </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cos</m:t>
                                    </m:r>
                                  </m:fName>
                                  <m:e>
                                    <m:r>
                                      <a:rPr kumimoji="1" lang="en-US" altLang="zh-CN" sz="2200" b="0" i="1" smtClean="0">
                                        <a:solidFill>
                                          <a:schemeClr val="tx1">
                                            <a:lumMod val="95000"/>
                                            <a:lumOff val="5000"/>
                                          </a:schemeClr>
                                        </a:solidFill>
                                        <a:latin typeface="Cambria Math" panose="02040503050406030204" charset="0"/>
                                        <a:ea typeface="黑体" panose="02010609060101010101" pitchFamily="49" charset="-122"/>
                                      </a:rPr>
                                      <m:t> </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m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mr>
                          </m:m>
                        </m:e>
                      </m:d>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3" name="Object 5"/>
              <p:cNvSpPr txBox="1">
                <a:spLocks noRot="1" noChangeAspect="1" noMove="1" noResize="1" noEditPoints="1" noAdjustHandles="1" noChangeArrowheads="1" noChangeShapeType="1" noTextEdit="1"/>
              </p:cNvSpPr>
              <p:nvPr/>
            </p:nvSpPr>
            <p:spPr bwMode="auto">
              <a:xfrm>
                <a:off x="2268379" y="624682"/>
                <a:ext cx="8838645" cy="1279525"/>
              </a:xfrm>
              <a:prstGeom prst="rect">
                <a:avLst/>
              </a:prstGeom>
              <a:blipFill rotWithShape="1">
                <a:blip r:embed="rId2"/>
                <a:stretch>
                  <a:fillRect l="-2" t="-37" r="3" b="37"/>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Object 6"/>
              <p:cNvSpPr txBox="1"/>
              <p:nvPr/>
            </p:nvSpPr>
            <p:spPr bwMode="auto">
              <a:xfrm>
                <a:off x="2246153" y="1935162"/>
                <a:ext cx="8491755" cy="1279525"/>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sSub>
                        <m:sSubPr>
                          <m:ctrlPr>
                            <a:rPr kumimoji="1" lang="zh-CN" altLang="en-US" sz="2200" i="1" smtClean="0">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dPr>
                        <m:e>
                          <m:m>
                            <m:mPr>
                              <m:mcs>
                                <m:mc>
                                  <m:mcPr>
                                    <m:count m:val="1"/>
                                    <m:mcJc m:val="center"/>
                                  </m:mcPr>
                                </m:mc>
                              </m:mcs>
                              <m:plcHide m:val="on"/>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mP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en-US" altLang="zh-CN" sz="2200" b="0" i="1"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cos</m:t>
                                    </m:r>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m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mr>
                          </m:m>
                        </m:e>
                      </m:d>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4" name="Object 6"/>
              <p:cNvSpPr txBox="1">
                <a:spLocks noRot="1" noChangeAspect="1" noMove="1" noResize="1" noEditPoints="1" noAdjustHandles="1" noChangeArrowheads="1" noChangeShapeType="1" noTextEdit="1"/>
              </p:cNvSpPr>
              <p:nvPr/>
            </p:nvSpPr>
            <p:spPr bwMode="auto">
              <a:xfrm>
                <a:off x="2246153" y="1935162"/>
                <a:ext cx="8491755" cy="1279525"/>
              </a:xfrm>
              <a:prstGeom prst="rect">
                <a:avLst/>
              </a:prstGeom>
              <a:blipFill rotWithShape="1">
                <a:blip r:embed="rId3"/>
                <a:stretch>
                  <a:fillRect l="-2" t="-25" r="1" b="25"/>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Text Box 7"/>
              <p:cNvSpPr txBox="1">
                <a:spLocks noChangeArrowheads="1"/>
              </p:cNvSpPr>
              <p:nvPr/>
            </p:nvSpPr>
            <p:spPr bwMode="auto">
              <a:xfrm>
                <a:off x="2139473" y="3465688"/>
                <a:ext cx="4032250" cy="4575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a:spcBef>
                    <a:spcPct val="50000"/>
                  </a:spcBef>
                </a:pPr>
                <a:r>
                  <a:rPr kumimoji="1" lang="zh-CN" altLang="en-US" sz="2200" b="0" dirty="0">
                    <a:solidFill>
                      <a:schemeClr val="tx1">
                        <a:lumMod val="95000"/>
                        <a:lumOff val="5000"/>
                      </a:schemeClr>
                    </a:solidFill>
                    <a:latin typeface="Cambria Math" panose="02040503050406030204" charset="0"/>
                  </a:rPr>
                  <a:t>同理可证</a:t>
                </a:r>
                <a14:m>
                  <m:oMath xmlns:m="http://schemas.openxmlformats.org/officeDocument/2006/math">
                    <m:sSub>
                      <m:sSubPr>
                        <m:ctrlPr>
                          <a:rPr kumimoji="1" lang="zh-CN" altLang="en-US" sz="2200" i="1">
                            <a:solidFill>
                              <a:schemeClr val="tx1">
                                <a:lumMod val="95000"/>
                                <a:lumOff val="5000"/>
                              </a:schemeClr>
                            </a:solidFill>
                            <a:latin typeface="Cambria Math" panose="02040503050406030204" charset="0"/>
                          </a:rPr>
                        </m:ctrlPr>
                      </m:sSubPr>
                      <m:e>
                        <m:r>
                          <a:rPr kumimoji="1" lang="zh-CN" altLang="en-US" sz="2200">
                            <a:solidFill>
                              <a:schemeClr val="tx1">
                                <a:lumMod val="95000"/>
                                <a:lumOff val="5000"/>
                              </a:schemeClr>
                            </a:solidFill>
                            <a:latin typeface="Cambria Math" panose="02040503050406030204" charset="0"/>
                          </a:rPr>
                          <m:t>𝑓</m:t>
                        </m:r>
                      </m:e>
                      <m:sub>
                        <m:r>
                          <a:rPr kumimoji="1" lang="zh-CN" altLang="en-US" sz="2200">
                            <a:solidFill>
                              <a:schemeClr val="tx1">
                                <a:lumMod val="95000"/>
                                <a:lumOff val="5000"/>
                              </a:schemeClr>
                            </a:solidFill>
                            <a:latin typeface="Cambria Math" panose="02040503050406030204" charset="0"/>
                          </a:rPr>
                          <m:t>𝑦</m:t>
                        </m:r>
                      </m:sub>
                    </m:sSub>
                    <m:r>
                      <a:rPr kumimoji="1" lang="zh-CN" altLang="en-US" sz="2200">
                        <a:solidFill>
                          <a:schemeClr val="tx1">
                            <a:lumMod val="95000"/>
                            <a:lumOff val="5000"/>
                          </a:schemeClr>
                        </a:solidFill>
                        <a:latin typeface="Cambria Math" panose="02040503050406030204" charset="0"/>
                      </a:rPr>
                      <m:t>(</m:t>
                    </m:r>
                    <m:r>
                      <a:rPr kumimoji="1" lang="zh-CN" altLang="en-US" sz="2200">
                        <a:solidFill>
                          <a:schemeClr val="tx1">
                            <a:lumMod val="95000"/>
                            <a:lumOff val="5000"/>
                          </a:schemeClr>
                        </a:solidFill>
                        <a:latin typeface="Cambria Math" panose="02040503050406030204" charset="0"/>
                      </a:rPr>
                      <m:t>𝑥</m:t>
                    </m:r>
                    <m:r>
                      <a:rPr kumimoji="1" lang="zh-CN" altLang="en-US" sz="2200">
                        <a:solidFill>
                          <a:schemeClr val="tx1">
                            <a:lumMod val="95000"/>
                            <a:lumOff val="5000"/>
                          </a:schemeClr>
                        </a:solidFill>
                        <a:latin typeface="Cambria Math" panose="02040503050406030204" charset="0"/>
                      </a:rPr>
                      <m:t>,</m:t>
                    </m:r>
                    <m:r>
                      <a:rPr kumimoji="1" lang="zh-CN" altLang="en-US" sz="2200">
                        <a:solidFill>
                          <a:schemeClr val="tx1">
                            <a:lumMod val="95000"/>
                            <a:lumOff val="5000"/>
                          </a:schemeClr>
                        </a:solidFill>
                        <a:latin typeface="Cambria Math" panose="02040503050406030204" charset="0"/>
                      </a:rPr>
                      <m:t>𝑦</m:t>
                    </m:r>
                    <m:r>
                      <a:rPr kumimoji="1" lang="zh-CN" altLang="en-US" sz="2200">
                        <a:solidFill>
                          <a:schemeClr val="tx1">
                            <a:lumMod val="95000"/>
                            <a:lumOff val="5000"/>
                          </a:schemeClr>
                        </a:solidFill>
                        <a:latin typeface="Cambria Math" panose="02040503050406030204" charset="0"/>
                      </a:rPr>
                      <m:t>)</m:t>
                    </m:r>
                  </m:oMath>
                </a14:m>
                <a:r>
                  <a:rPr kumimoji="1" lang="zh-CN" altLang="en-US" sz="2200" b="0" dirty="0">
                    <a:solidFill>
                      <a:schemeClr val="tx1">
                        <a:lumMod val="95000"/>
                        <a:lumOff val="5000"/>
                      </a:schemeClr>
                    </a:solidFill>
                    <a:latin typeface="Cambria Math" panose="02040503050406030204" charset="0"/>
                  </a:rPr>
                  <a:t>在</a:t>
                </a:r>
                <a:r>
                  <a:rPr kumimoji="1" lang="en-US" altLang="zh-CN" sz="2200" b="0" dirty="0">
                    <a:solidFill>
                      <a:schemeClr val="tx1">
                        <a:lumMod val="95000"/>
                        <a:lumOff val="5000"/>
                      </a:schemeClr>
                    </a:solidFill>
                    <a:latin typeface="Cambria Math" panose="02040503050406030204" charset="0"/>
                  </a:rPr>
                  <a:t>(0, 0)</a:t>
                </a:r>
                <a:r>
                  <a:rPr kumimoji="1" lang="zh-CN" altLang="en-US" sz="2200" b="0" dirty="0">
                    <a:solidFill>
                      <a:schemeClr val="tx1">
                        <a:lumMod val="95000"/>
                        <a:lumOff val="5000"/>
                      </a:schemeClr>
                    </a:solidFill>
                    <a:latin typeface="Cambria Math" panose="02040503050406030204" charset="0"/>
                  </a:rPr>
                  <a:t>不连续</a:t>
                </a:r>
                <a:r>
                  <a:rPr kumimoji="1" lang="en-US" altLang="zh-CN" sz="2200" b="0" dirty="0">
                    <a:solidFill>
                      <a:schemeClr val="tx1">
                        <a:lumMod val="95000"/>
                        <a:lumOff val="5000"/>
                      </a:schemeClr>
                    </a:solidFill>
                    <a:latin typeface="Cambria Math" panose="02040503050406030204" charset="0"/>
                  </a:rPr>
                  <a:t>.</a:t>
                </a:r>
                <a:endParaRPr kumimoji="1" lang="en-US" altLang="zh-CN" sz="2200" b="0" dirty="0">
                  <a:solidFill>
                    <a:schemeClr val="tx1">
                      <a:lumMod val="95000"/>
                      <a:lumOff val="5000"/>
                    </a:schemeClr>
                  </a:solidFill>
                  <a:latin typeface="Cambria Math" panose="02040503050406030204" charset="0"/>
                </a:endParaRPr>
              </a:p>
            </p:txBody>
          </p:sp>
        </mc:Choice>
        <mc:Fallback>
          <p:sp>
            <p:nvSpPr>
              <p:cNvPr id="5" name="Text Box 7"/>
              <p:cNvSpPr txBox="1">
                <a:spLocks noRot="1" noChangeAspect="1" noMove="1" noResize="1" noEditPoints="1" noAdjustHandles="1" noChangeArrowheads="1" noChangeShapeType="1" noTextEdit="1"/>
              </p:cNvSpPr>
              <p:nvPr/>
            </p:nvSpPr>
            <p:spPr bwMode="auto">
              <a:xfrm>
                <a:off x="2139473" y="3465688"/>
                <a:ext cx="4032250" cy="457561"/>
              </a:xfrm>
              <a:prstGeom prst="rect">
                <a:avLst/>
              </a:prstGeom>
              <a:blipFill rotWithShape="1">
                <a:blip r:embed="rId4"/>
                <a:stretch>
                  <a:fillRect l="-4" t="-108" r="4" b="4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6" name="Line 33"/>
          <p:cNvSpPr>
            <a:spLocks noChangeShapeType="1"/>
          </p:cNvSpPr>
          <p:nvPr/>
        </p:nvSpPr>
        <p:spPr bwMode="auto">
          <a:xfrm flipV="1">
            <a:off x="2246153" y="3335079"/>
            <a:ext cx="7655241" cy="0"/>
          </a:xfrm>
          <a:prstGeom prst="line">
            <a:avLst/>
          </a:prstGeom>
          <a:ln w="19050">
            <a:solidFill>
              <a:srgbClr val="04926A"/>
            </a:solidFill>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left)">
                                      <p:cBhvr>
                                        <p:cTn id="13" dur="5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5" grpId="0" bldLvl="0" animBg="1"/>
      <p:bldP spid="16" grpId="0" bldLvl="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7" name="矩形 26"/>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p:sp>
            <p:nvSpPr>
              <p:cNvPr id="27" name="矩形 26"/>
              <p:cNvSpPr>
                <a:spLocks noRot="1" noChangeAspect="1" noMove="1" noResize="1" noEditPoints="1" noAdjustHandles="1" noChangeArrowheads="1" noChangeShapeType="1" noTextEdit="1"/>
              </p:cNvSpPr>
              <p:nvPr/>
            </p:nvSpPr>
            <p:spPr>
              <a:xfrm>
                <a:off x="687959" y="536260"/>
                <a:ext cx="10817352" cy="5799897"/>
              </a:xfrm>
              <a:prstGeom prst="rect">
                <a:avLst/>
              </a:prstGeom>
              <a:blipFill rotWithShape="1">
                <a:blip r:embed="rId1"/>
                <a:stretch>
                  <a:fillRect l="-1499" t="-1932" r="-1493" b="-1914"/>
                </a:stretch>
              </a:blip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28" name="半闭框 27"/>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9" name="半闭框 28"/>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半闭框 29"/>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31" name="半闭框 30"/>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 name="Text Box 32"/>
          <p:cNvSpPr txBox="1">
            <a:spLocks noChangeArrowheads="1"/>
          </p:cNvSpPr>
          <p:nvPr/>
        </p:nvSpPr>
        <p:spPr bwMode="auto">
          <a:xfrm>
            <a:off x="2172890" y="2467357"/>
            <a:ext cx="107950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a:spcBef>
                <a:spcPct val="50000"/>
              </a:spcBef>
            </a:pPr>
            <a:r>
              <a:rPr kumimoji="1" lang="zh-CN" altLang="en-US" sz="2200" b="0" dirty="0">
                <a:solidFill>
                  <a:schemeClr val="tx1">
                    <a:lumMod val="95000"/>
                    <a:lumOff val="5000"/>
                  </a:schemeClr>
                </a:solidFill>
                <a:latin typeface="Cambria Math" panose="02040503050406030204" charset="0"/>
              </a:rPr>
              <a:t>因为</a:t>
            </a:r>
            <a:endParaRPr kumimoji="1" lang="zh-CN" altLang="en-US" sz="2200" b="0" dirty="0">
              <a:solidFill>
                <a:schemeClr val="tx1">
                  <a:lumMod val="95000"/>
                  <a:lumOff val="5000"/>
                </a:schemeClr>
              </a:solidFill>
              <a:latin typeface="Cambria Math" panose="02040503050406030204" charset="0"/>
            </a:endParaRPr>
          </a:p>
        </p:txBody>
      </p:sp>
      <mc:AlternateContent xmlns:mc="http://schemas.openxmlformats.org/markup-compatibility/2006">
        <mc:Choice xmlns:a14="http://schemas.microsoft.com/office/drawing/2010/main" Requires="a14">
          <p:sp>
            <p:nvSpPr>
              <p:cNvPr id="4" name="Object 34"/>
              <p:cNvSpPr txBox="1"/>
              <p:nvPr/>
            </p:nvSpPr>
            <p:spPr bwMode="auto">
              <a:xfrm>
                <a:off x="2866390" y="2449830"/>
                <a:ext cx="4614545" cy="473075"/>
              </a:xfrm>
              <a:prstGeom prst="rect">
                <a:avLst/>
              </a:prstGeom>
              <a:noFill/>
              <a:ln>
                <a:noFill/>
              </a:ln>
              <a:effectLst/>
            </p:spPr>
            <p:txBody>
              <a:bodyPr>
                <a:noAutofit/>
              </a:bodyPr>
              <a:lstStyle/>
              <a:p>
                <a:pPr>
                  <a:spcBef>
                    <a:spcPct val="50000"/>
                  </a:spcBef>
                </a:pPr>
                <a14:m>
                  <m:oMathPara xmlns:m="http://schemas.openxmlformats.org/officeDocument/2006/math">
                    <m:oMathParaPr>
                      <m:jc m:val="left"/>
                    </m:oMathParaPr>
                    <m:oMath xmlns:m="http://schemas.openxmlformats.org/officeDocument/2006/math">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4" name="Object 34"/>
              <p:cNvSpPr txBox="1">
                <a:spLocks noRot="1" noChangeAspect="1" noMove="1" noResize="1" noEditPoints="1" noAdjustHandles="1" noChangeArrowheads="1" noChangeShapeType="1" noTextEdit="1"/>
              </p:cNvSpPr>
              <p:nvPr/>
            </p:nvSpPr>
            <p:spPr bwMode="auto">
              <a:xfrm>
                <a:off x="2866390" y="2449830"/>
                <a:ext cx="4614545" cy="473075"/>
              </a:xfrm>
              <a:prstGeom prst="rect">
                <a:avLst/>
              </a:prstGeom>
              <a:blipFill rotWithShape="1">
                <a:blip r:embed="rId2"/>
                <a:stretch>
                  <a:fillRect/>
                </a:stretch>
              </a:blipFill>
              <a:ln>
                <a:noFill/>
              </a:ln>
              <a:effectLst/>
            </p:spPr>
            <p:txBody>
              <a:bodyPr/>
              <a:lstStyle/>
              <a:p>
                <a:r>
                  <a:rPr lang="zh-CN" altLang="en-US">
                    <a:noFill/>
                  </a:rPr>
                  <a:t> </a:t>
                </a:r>
              </a:p>
            </p:txBody>
          </p:sp>
        </mc:Fallback>
      </mc:AlternateContent>
      <p:sp>
        <p:nvSpPr>
          <p:cNvPr id="6" name="Text Box 37"/>
          <p:cNvSpPr txBox="1">
            <a:spLocks noChangeArrowheads="1"/>
          </p:cNvSpPr>
          <p:nvPr/>
        </p:nvSpPr>
        <p:spPr bwMode="auto">
          <a:xfrm>
            <a:off x="2172890" y="5039864"/>
            <a:ext cx="1008062"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a:spcBef>
                <a:spcPct val="50000"/>
              </a:spcBef>
            </a:pPr>
            <a:r>
              <a:rPr kumimoji="1" lang="zh-CN" altLang="en-US" sz="2200" b="0" dirty="0">
                <a:solidFill>
                  <a:schemeClr val="tx1">
                    <a:lumMod val="95000"/>
                    <a:lumOff val="5000"/>
                  </a:schemeClr>
                </a:solidFill>
                <a:latin typeface="Cambria Math" panose="02040503050406030204" charset="0"/>
              </a:rPr>
              <a:t>所以</a:t>
            </a:r>
            <a:endParaRPr kumimoji="1" lang="zh-CN" altLang="en-US" sz="2200" b="0" dirty="0">
              <a:solidFill>
                <a:schemeClr val="tx1">
                  <a:lumMod val="95000"/>
                  <a:lumOff val="5000"/>
                </a:schemeClr>
              </a:solidFill>
              <a:latin typeface="Cambria Math" panose="02040503050406030204" charset="0"/>
            </a:endParaRPr>
          </a:p>
        </p:txBody>
      </p:sp>
      <mc:AlternateContent xmlns:mc="http://schemas.openxmlformats.org/markup-compatibility/2006">
        <mc:Choice xmlns:a14="http://schemas.microsoft.com/office/drawing/2010/main" Requires="a14">
          <p:sp>
            <p:nvSpPr>
              <p:cNvPr id="7" name="Object 38"/>
              <p:cNvSpPr txBox="1"/>
              <p:nvPr/>
            </p:nvSpPr>
            <p:spPr bwMode="auto">
              <a:xfrm>
                <a:off x="2810273" y="5019563"/>
                <a:ext cx="5162549" cy="471487"/>
              </a:xfrm>
              <a:prstGeom prst="rect">
                <a:avLst/>
              </a:prstGeom>
              <a:noFill/>
              <a:ln>
                <a:noFill/>
              </a:ln>
              <a:effectLst/>
            </p:spPr>
            <p:txBody>
              <a:bodyPr>
                <a:noAutofit/>
              </a:bodyPr>
              <a:lstStyle/>
              <a:p>
                <a:pPr>
                  <a:spcBef>
                    <a:spcPct val="50000"/>
                  </a:spcBef>
                </a:pPr>
                <a14:m>
                  <m:oMathPara xmlns:m="http://schemas.openxmlformats.org/officeDocument/2006/math">
                    <m:oMathParaPr>
                      <m:jc m:val="left"/>
                    </m:oMathParaPr>
                    <m:oMath xmlns:m="http://schemas.openxmlformats.org/officeDocument/2006/math">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𝑜</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7" name="Object 38"/>
              <p:cNvSpPr txBox="1">
                <a:spLocks noRot="1" noChangeAspect="1" noMove="1" noResize="1" noEditPoints="1" noAdjustHandles="1" noChangeArrowheads="1" noChangeShapeType="1" noTextEdit="1"/>
              </p:cNvSpPr>
              <p:nvPr/>
            </p:nvSpPr>
            <p:spPr bwMode="auto">
              <a:xfrm>
                <a:off x="2810273" y="5019563"/>
                <a:ext cx="5162549" cy="471487"/>
              </a:xfrm>
              <a:prstGeom prst="rect">
                <a:avLst/>
              </a:prstGeom>
              <a:blipFill rotWithShape="1">
                <a:blip r:embed="rId3"/>
                <a:stretch>
                  <a:fillRect l="-8" t="-111" r="8" b="43"/>
                </a:stretch>
              </a:blipFill>
              <a:ln>
                <a:noFill/>
              </a:ln>
              <a:effectLst/>
            </p:spPr>
            <p:txBody>
              <a:bodyPr/>
              <a:lstStyle/>
              <a:p>
                <a:r>
                  <a:rPr lang="zh-CN" altLang="en-US">
                    <a:noFill/>
                  </a:rPr>
                  <a:t> </a:t>
                </a:r>
              </a:p>
            </p:txBody>
          </p:sp>
        </mc:Fallback>
      </mc:AlternateContent>
      <p:sp>
        <p:nvSpPr>
          <p:cNvPr id="8" name="Text Box 39"/>
          <p:cNvSpPr txBox="1">
            <a:spLocks noChangeArrowheads="1"/>
          </p:cNvSpPr>
          <p:nvPr/>
        </p:nvSpPr>
        <p:spPr bwMode="auto">
          <a:xfrm>
            <a:off x="7747635" y="5039995"/>
            <a:ext cx="2799080" cy="429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a:spcBef>
                <a:spcPct val="50000"/>
              </a:spcBef>
            </a:pPr>
            <a:r>
              <a:rPr kumimoji="1" lang="zh-CN" altLang="en-US" sz="2200" b="0" dirty="0">
                <a:solidFill>
                  <a:schemeClr val="tx1">
                    <a:lumMod val="95000"/>
                    <a:lumOff val="5000"/>
                  </a:schemeClr>
                </a:solidFill>
                <a:latin typeface="Cambria Math" panose="02040503050406030204" charset="0"/>
              </a:rPr>
              <a:t>即函数在</a:t>
            </a:r>
            <a:r>
              <a:rPr kumimoji="1" lang="en-US" altLang="zh-CN" sz="2200" b="0" dirty="0">
                <a:solidFill>
                  <a:schemeClr val="tx1">
                    <a:lumMod val="95000"/>
                    <a:lumOff val="5000"/>
                  </a:schemeClr>
                </a:solidFill>
                <a:latin typeface="Cambria Math" panose="02040503050406030204" charset="0"/>
              </a:rPr>
              <a:t>(0 , 0)</a:t>
            </a:r>
            <a:r>
              <a:rPr kumimoji="1" lang="zh-CN" altLang="en-US" sz="2200" b="0" dirty="0">
                <a:solidFill>
                  <a:schemeClr val="tx1">
                    <a:lumMod val="95000"/>
                    <a:lumOff val="5000"/>
                  </a:schemeClr>
                </a:solidFill>
                <a:latin typeface="Cambria Math" panose="02040503050406030204" charset="0"/>
              </a:rPr>
              <a:t>处</a:t>
            </a:r>
            <a:endParaRPr kumimoji="1" lang="zh-CN" altLang="en-US" sz="2200" b="0" dirty="0">
              <a:solidFill>
                <a:schemeClr val="tx1">
                  <a:lumMod val="95000"/>
                  <a:lumOff val="5000"/>
                </a:schemeClr>
              </a:solidFill>
              <a:latin typeface="Cambria Math" panose="02040503050406030204" charset="0"/>
            </a:endParaRPr>
          </a:p>
        </p:txBody>
      </p:sp>
      <mc:AlternateContent xmlns:mc="http://schemas.openxmlformats.org/markup-compatibility/2006">
        <mc:Choice xmlns:a14="http://schemas.microsoft.com/office/drawing/2010/main" Requires="a14">
          <p:sp>
            <p:nvSpPr>
              <p:cNvPr id="9" name="Object 40"/>
              <p:cNvSpPr txBox="1"/>
              <p:nvPr/>
            </p:nvSpPr>
            <p:spPr bwMode="auto">
              <a:xfrm>
                <a:off x="2934099" y="735705"/>
                <a:ext cx="6115016" cy="1279525"/>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dPr>
                        <m:e>
                          <m:m>
                            <m:mPr>
                              <m:mcs>
                                <m:mc>
                                  <m:mcPr>
                                    <m:count m:val="1"/>
                                    <m:mcJc m:val="center"/>
                                  </m:mcPr>
                                </m:mc>
                              </m:mcs>
                              <m:plcHide m:val="on"/>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mP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m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 ,                           </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mr>
                          </m:m>
                        </m:e>
                      </m:d>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9" name="Object 40"/>
              <p:cNvSpPr txBox="1">
                <a:spLocks noRot="1" noChangeAspect="1" noMove="1" noResize="1" noEditPoints="1" noAdjustHandles="1" noChangeArrowheads="1" noChangeShapeType="1" noTextEdit="1"/>
              </p:cNvSpPr>
              <p:nvPr/>
            </p:nvSpPr>
            <p:spPr bwMode="auto">
              <a:xfrm>
                <a:off x="2934099" y="735705"/>
                <a:ext cx="6115016" cy="1279525"/>
              </a:xfrm>
              <a:prstGeom prst="rect">
                <a:avLst/>
              </a:prstGeom>
              <a:blipFill rotWithShape="1">
                <a:blip r:embed="rId4"/>
                <a:stretch>
                  <a:fillRect l="-7" t="-29" r="6" b="29"/>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Object 41"/>
              <p:cNvSpPr txBox="1"/>
              <p:nvPr/>
            </p:nvSpPr>
            <p:spPr bwMode="auto">
              <a:xfrm>
                <a:off x="3513958" y="2925764"/>
                <a:ext cx="4738687" cy="820737"/>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0" name="Object 41"/>
              <p:cNvSpPr txBox="1">
                <a:spLocks noRot="1" noChangeAspect="1" noMove="1" noResize="1" noEditPoints="1" noAdjustHandles="1" noChangeArrowheads="1" noChangeShapeType="1" noTextEdit="1"/>
              </p:cNvSpPr>
              <p:nvPr/>
            </p:nvSpPr>
            <p:spPr bwMode="auto">
              <a:xfrm>
                <a:off x="3513958" y="2925764"/>
                <a:ext cx="4738687" cy="820737"/>
              </a:xfrm>
              <a:prstGeom prst="rect">
                <a:avLst/>
              </a:prstGeom>
              <a:blipFill rotWithShape="1">
                <a:blip r:embed="rId5"/>
                <a:stretch>
                  <a:fillRect l="-11" t="-39" r="4"/>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Object 42"/>
              <p:cNvSpPr txBox="1"/>
              <p:nvPr/>
            </p:nvSpPr>
            <p:spPr bwMode="auto">
              <a:xfrm>
                <a:off x="8127233" y="2925763"/>
                <a:ext cx="1589088" cy="820737"/>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1" name="Object 42"/>
              <p:cNvSpPr txBox="1">
                <a:spLocks noRot="1" noChangeAspect="1" noMove="1" noResize="1" noEditPoints="1" noAdjustHandles="1" noChangeArrowheads="1" noChangeShapeType="1" noTextEdit="1"/>
              </p:cNvSpPr>
              <p:nvPr/>
            </p:nvSpPr>
            <p:spPr bwMode="auto">
              <a:xfrm>
                <a:off x="8127233" y="2925763"/>
                <a:ext cx="1589088" cy="820737"/>
              </a:xfrm>
              <a:prstGeom prst="rect">
                <a:avLst/>
              </a:prstGeom>
              <a:blipFill rotWithShape="1">
                <a:blip r:embed="rId6"/>
                <a:stretch>
                  <a:fillRect l="-32" t="-39" r="12"/>
                </a:stretch>
              </a:blipFill>
              <a:ln>
                <a:noFill/>
              </a:ln>
              <a:effectLst/>
            </p:spPr>
            <p:txBody>
              <a:bodyPr/>
              <a:lstStyle/>
              <a:p>
                <a:r>
                  <a:rPr lang="zh-CN" altLang="en-US">
                    <a:noFill/>
                  </a:rPr>
                  <a:t> </a:t>
                </a:r>
              </a:p>
            </p:txBody>
          </p:sp>
        </mc:Fallback>
      </mc:AlternateContent>
      <p:sp>
        <p:nvSpPr>
          <p:cNvPr id="13" name="Rectangle 44"/>
          <p:cNvSpPr>
            <a:spLocks noChangeArrowheads="1"/>
          </p:cNvSpPr>
          <p:nvPr/>
        </p:nvSpPr>
        <p:spPr bwMode="auto">
          <a:xfrm>
            <a:off x="2172890" y="5618433"/>
            <a:ext cx="80823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a:spcBef>
                <a:spcPct val="50000"/>
              </a:spcBef>
            </a:pPr>
            <a:r>
              <a:rPr kumimoji="1" lang="zh-CN" altLang="en-US" sz="2200" b="0" dirty="0">
                <a:solidFill>
                  <a:schemeClr val="tx1">
                    <a:lumMod val="95000"/>
                    <a:lumOff val="5000"/>
                  </a:schemeClr>
                </a:solidFill>
                <a:latin typeface="Cambria Math" panose="02040503050406030204" charset="0"/>
              </a:rPr>
              <a:t>可微</a:t>
            </a:r>
            <a:r>
              <a:rPr kumimoji="1" lang="en-US" altLang="zh-CN" sz="2200" b="0" dirty="0">
                <a:solidFill>
                  <a:schemeClr val="tx1">
                    <a:lumMod val="95000"/>
                    <a:lumOff val="5000"/>
                  </a:schemeClr>
                </a:solidFill>
                <a:latin typeface="Cambria Math" panose="02040503050406030204" charset="0"/>
              </a:rPr>
              <a:t>.</a:t>
            </a:r>
            <a:endParaRPr kumimoji="1" lang="en-US" altLang="zh-CN" sz="2200" b="0" dirty="0">
              <a:solidFill>
                <a:schemeClr val="tx1">
                  <a:lumMod val="95000"/>
                  <a:lumOff val="5000"/>
                </a:schemeClr>
              </a:solidFill>
              <a:latin typeface="Cambria Math" panose="02040503050406030204" charset="0"/>
            </a:endParaRPr>
          </a:p>
        </p:txBody>
      </p:sp>
      <mc:AlternateContent xmlns:mc="http://schemas.openxmlformats.org/markup-compatibility/2006">
        <mc:Choice xmlns:a14="http://schemas.microsoft.com/office/drawing/2010/main" Requires="a14">
          <p:sp>
            <p:nvSpPr>
              <p:cNvPr id="24" name="Object 42"/>
              <p:cNvSpPr txBox="1"/>
              <p:nvPr/>
            </p:nvSpPr>
            <p:spPr bwMode="auto">
              <a:xfrm>
                <a:off x="3513958" y="3857131"/>
                <a:ext cx="1691480" cy="974726"/>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limLow>
                        <m:limLowPr>
                          <m:ctrlPr>
                            <a:rPr kumimoji="1" lang="zh-CN" altLang="en-US" sz="2200" i="1" smtClean="0">
                              <a:solidFill>
                                <a:schemeClr val="tx1">
                                  <a:lumMod val="95000"/>
                                  <a:lumOff val="5000"/>
                                </a:schemeClr>
                              </a:solidFill>
                              <a:latin typeface="Cambria Math" panose="02040503050406030204" charset="0"/>
                              <a:ea typeface="黑体" panose="02010609060101010101" pitchFamily="49" charset="-122"/>
                            </a:rPr>
                          </m:ctrlPr>
                        </m:limLow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lim</m:t>
                          </m:r>
                        </m:e>
                        <m:lim>
                          <m:eqArr>
                            <m:eqArr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eqArrPr>
                            <m:e>
                              <m:r>
                                <a:rPr kumimoji="1" lang="zh-CN" altLang="en-US" sz="2200">
                                  <a:solidFill>
                                    <a:schemeClr val="tx1">
                                      <a:lumMod val="95000"/>
                                      <a:lumOff val="5000"/>
                                    </a:schemeClr>
                                  </a:solidFill>
                                  <a:latin typeface="Cambria Math" panose="02040503050406030204" charset="0"/>
                                  <a:ea typeface="黑体" panose="02010609060101010101" pitchFamily="49" charset="-122"/>
                                </a:rPr>
                                <m:t>&amp;​</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e>
                              <m:r>
                                <a:rPr kumimoji="1" lang="zh-CN" altLang="en-US" sz="2200">
                                  <a:solidFill>
                                    <a:schemeClr val="tx1">
                                      <a:lumMod val="95000"/>
                                      <a:lumOff val="5000"/>
                                    </a:schemeClr>
                                  </a:solidFill>
                                  <a:latin typeface="Cambria Math" panose="02040503050406030204" charset="0"/>
                                  <a:ea typeface="黑体" panose="02010609060101010101" pitchFamily="49" charset="-122"/>
                                </a:rPr>
                                <m:t>&amp;</m:t>
                              </m:r>
                            </m:e>
                          </m:eqArr>
                        </m:lim>
                      </m:limLow>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den>
                      </m:f>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24" name="Object 42"/>
              <p:cNvSpPr txBox="1">
                <a:spLocks noRot="1" noChangeAspect="1" noMove="1" noResize="1" noEditPoints="1" noAdjustHandles="1" noChangeArrowheads="1" noChangeShapeType="1" noTextEdit="1"/>
              </p:cNvSpPr>
              <p:nvPr/>
            </p:nvSpPr>
            <p:spPr bwMode="auto">
              <a:xfrm>
                <a:off x="3513958" y="3857131"/>
                <a:ext cx="1691480" cy="974726"/>
              </a:xfrm>
              <a:prstGeom prst="rect">
                <a:avLst/>
              </a:prstGeom>
              <a:blipFill rotWithShape="1">
                <a:blip r:embed="rId7"/>
                <a:stretch>
                  <a:fillRect l="-30" t="-14" r="20" b="-28910"/>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 name="Object 42"/>
              <p:cNvSpPr txBox="1"/>
              <p:nvPr/>
            </p:nvSpPr>
            <p:spPr bwMode="auto">
              <a:xfrm>
                <a:off x="5143333" y="4150583"/>
                <a:ext cx="2505076" cy="86898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en-US" altLang="zh-CN" sz="2200" b="0" i="1" smtClean="0">
                          <a:solidFill>
                            <a:schemeClr val="tx1">
                              <a:lumMod val="95000"/>
                              <a:lumOff val="5000"/>
                            </a:schemeClr>
                          </a:solidFill>
                          <a:latin typeface="Cambria Math" panose="02040503050406030204" charset="0"/>
                          <a:ea typeface="黑体" panose="02010609060101010101" pitchFamily="49" charset="-122"/>
                        </a:rPr>
                        <m:t>=</m:t>
                      </m:r>
                      <m:limLow>
                        <m:limLowPr>
                          <m:ctrlPr>
                            <a:rPr kumimoji="1" lang="zh-CN" altLang="en-US" sz="2200" i="1" smtClean="0">
                              <a:solidFill>
                                <a:schemeClr val="tx1">
                                  <a:lumMod val="95000"/>
                                  <a:lumOff val="5000"/>
                                </a:schemeClr>
                              </a:solidFill>
                              <a:latin typeface="Cambria Math" panose="02040503050406030204" charset="0"/>
                              <a:ea typeface="黑体" panose="02010609060101010101" pitchFamily="49" charset="-122"/>
                            </a:rPr>
                          </m:ctrlPr>
                        </m:limLow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lim</m:t>
                          </m:r>
                        </m:e>
                        <m:lim>
                          <m:eqArr>
                            <m:eqArr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eqArrPr>
                            <m:e>
                              <m:r>
                                <a:rPr kumimoji="1" lang="zh-CN" altLang="en-US" sz="2200">
                                  <a:solidFill>
                                    <a:schemeClr val="tx1">
                                      <a:lumMod val="95000"/>
                                      <a:lumOff val="5000"/>
                                    </a:schemeClr>
                                  </a:solidFill>
                                  <a:latin typeface="Cambria Math" panose="02040503050406030204" charset="0"/>
                                  <a:ea typeface="黑体" panose="02010609060101010101" pitchFamily="49" charset="-122"/>
                                </a:rPr>
                                <m:t>&amp;​</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e>
                              <m:r>
                                <a:rPr kumimoji="1" lang="zh-CN" altLang="en-US" sz="2200">
                                  <a:solidFill>
                                    <a:schemeClr val="tx1">
                                      <a:lumMod val="95000"/>
                                      <a:lumOff val="5000"/>
                                    </a:schemeClr>
                                  </a:solidFill>
                                  <a:latin typeface="Cambria Math" panose="02040503050406030204" charset="0"/>
                                  <a:ea typeface="黑体" panose="02010609060101010101" pitchFamily="49" charset="-122"/>
                                </a:rPr>
                                <m:t>&amp;</m:t>
                              </m:r>
                            </m:e>
                          </m:eqArr>
                        </m:lim>
                      </m:limLow>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25" name="Object 42"/>
              <p:cNvSpPr txBox="1">
                <a:spLocks noRot="1" noChangeAspect="1" noMove="1" noResize="1" noEditPoints="1" noAdjustHandles="1" noChangeArrowheads="1" noChangeShapeType="1" noTextEdit="1"/>
              </p:cNvSpPr>
              <p:nvPr/>
            </p:nvSpPr>
            <p:spPr bwMode="auto">
              <a:xfrm>
                <a:off x="5143333" y="4150583"/>
                <a:ext cx="2505076" cy="868980"/>
              </a:xfrm>
              <a:prstGeom prst="rect">
                <a:avLst/>
              </a:prstGeom>
              <a:blipFill rotWithShape="1">
                <a:blip r:embed="rId8"/>
                <a:stretch>
                  <a:fillRect l="-19" t="-26" r="19" b="-1109"/>
                </a:stretch>
              </a:blipFill>
              <a:ln>
                <a:noFill/>
              </a:ln>
              <a:effectLst/>
            </p:spPr>
            <p:txBody>
              <a:bodyPr/>
              <a:lstStyle/>
              <a:p>
                <a:r>
                  <a:rPr lang="zh-CN" altLang="en-US">
                    <a:noFill/>
                  </a:rPr>
                  <a:t> </a:t>
                </a:r>
              </a:p>
            </p:txBody>
          </p:sp>
        </mc:Fallback>
      </mc:AlternateContent>
      <p:sp>
        <p:nvSpPr>
          <p:cNvPr id="26" name="Line 33"/>
          <p:cNvSpPr>
            <a:spLocks noChangeShapeType="1"/>
          </p:cNvSpPr>
          <p:nvPr/>
        </p:nvSpPr>
        <p:spPr bwMode="auto">
          <a:xfrm flipV="1">
            <a:off x="2172890" y="2241293"/>
            <a:ext cx="7846220" cy="0"/>
          </a:xfrm>
          <a:prstGeom prst="line">
            <a:avLst/>
          </a:prstGeom>
          <a:ln w="19050">
            <a:solidFill>
              <a:srgbClr val="04926A"/>
            </a:solidFill>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wipe(left)">
                                      <p:cBhvr>
                                        <p:cTn id="10" dur="500"/>
                                        <p:tgtEl>
                                          <p:spTgt spid="2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left)">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left)">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ipe(left)">
                                      <p:cBhvr>
                                        <p:cTn id="35" dur="500"/>
                                        <p:tgtEl>
                                          <p:spTgt spid="2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wipe(left)">
                                      <p:cBhvr>
                                        <p:cTn id="40" dur="500"/>
                                        <p:tgtEl>
                                          <p:spTgt spid="2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wipe(left)">
                                      <p:cBhvr>
                                        <p:cTn id="45" dur="500"/>
                                        <p:tgtEl>
                                          <p:spTgt spid="6"/>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wipe(left)">
                                      <p:cBhvr>
                                        <p:cTn id="50" dur="500"/>
                                        <p:tgtEl>
                                          <p:spTgt spid="7"/>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wipe(left)">
                                      <p:cBhvr>
                                        <p:cTn id="55" dur="500"/>
                                        <p:tgtEl>
                                          <p:spTgt spid="8"/>
                                        </p:tgtEl>
                                      </p:cBhvr>
                                    </p:animEffect>
                                  </p:childTnLst>
                                </p:cTn>
                              </p:par>
                            </p:childTnLst>
                          </p:cTn>
                        </p:par>
                        <p:par>
                          <p:cTn id="56" fill="hold">
                            <p:stCondLst>
                              <p:cond delay="500"/>
                            </p:stCondLst>
                            <p:childTnLst>
                              <p:par>
                                <p:cTn id="57" presetID="22" presetClass="entr" presetSubtype="8" fill="hold" grpId="0" nodeType="after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wipe(left)">
                                      <p:cBhvr>
                                        <p:cTn id="5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4" grpId="0" bldLvl="0" animBg="1"/>
      <p:bldP spid="6" grpId="0" bldLvl="0" animBg="1"/>
      <p:bldP spid="7" grpId="0" bldLvl="0" animBg="1"/>
      <p:bldP spid="8" grpId="0" bldLvl="0" animBg="1"/>
      <p:bldP spid="9" grpId="0" bldLvl="0" animBg="1"/>
      <p:bldP spid="10" grpId="0" bldLvl="0" animBg="1"/>
      <p:bldP spid="11" grpId="0" bldLvl="0" animBg="1"/>
      <p:bldP spid="13" grpId="0" bldLvl="0" animBg="1"/>
      <p:bldP spid="24" grpId="0" bldLvl="0" animBg="1"/>
      <p:bldP spid="25" grpId="0" bldLvl="0" animBg="1"/>
      <p:bldP spid="26" grpId="0" bldLvl="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2938145" y="535940"/>
            <a:ext cx="6107430" cy="5595620"/>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855980" y="371475"/>
            <a:ext cx="10435590" cy="5048885"/>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2041525" y="-22860"/>
            <a:ext cx="7249795" cy="6172200"/>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Sld>
  <p:clrMapOvr>
    <a:masterClrMapping/>
  </p:clrMapOvr>
</p:sld>
</file>

<file path=ppt/tags/tag1.xml><?xml version="1.0" encoding="utf-8"?>
<p:tagLst xmlns:p="http://schemas.openxmlformats.org/presentationml/2006/main">
  <p:tag name="PA" val="v5.2.9"/>
</p:tagLst>
</file>

<file path=ppt/tags/tag2.xml><?xml version="1.0" encoding="utf-8"?>
<p:tagLst xmlns:p="http://schemas.openxmlformats.org/presentationml/2006/main">
  <p:tag name="PA" val="v5.2.9"/>
</p:tagLst>
</file>

<file path=ppt/tags/tag3.xml><?xml version="1.0" encoding="utf-8"?>
<p:tagLst xmlns:p="http://schemas.openxmlformats.org/presentationml/2006/main">
  <p:tag name="PA" val="v5.2.9"/>
</p:tagLst>
</file>

<file path=ppt/tags/tag4.xml><?xml version="1.0" encoding="utf-8"?>
<p:tagLst xmlns:p="http://schemas.openxmlformats.org/presentationml/2006/main">
  <p:tag name="PA" val="v5.2.9"/>
</p:tagLst>
</file>

<file path=ppt/tags/tag5.xml><?xml version="1.0" encoding="utf-8"?>
<p:tagLst xmlns:p="http://schemas.openxmlformats.org/presentationml/2006/main">
  <p:tag name="PA" val="v5.2.9"/>
</p:tagLst>
</file>

<file path=ppt/tags/tag6.xml><?xml version="1.0" encoding="utf-8"?>
<p:tagLst xmlns:p="http://schemas.openxmlformats.org/presentationml/2006/main">
  <p:tag name="PA" val="v5.2.9"/>
</p:tagLst>
</file>

<file path=ppt/tags/tag7.xml><?xml version="1.0" encoding="utf-8"?>
<p:tagLst xmlns:p="http://schemas.openxmlformats.org/presentationml/2006/main">
  <p:tag name="PA" val="v5.2.9"/>
</p:tagLst>
</file>

<file path=ppt/tags/tag8.xml><?xml version="1.0" encoding="utf-8"?>
<p:tagLst xmlns:p="http://schemas.openxmlformats.org/presentationml/2006/main">
  <p:tag name="PA" val="v5.2.9"/>
</p:tagLst>
</file>

<file path=ppt/tags/tag9.xml><?xml version="1.0" encoding="utf-8"?>
<p:tagLst xmlns:p="http://schemas.openxmlformats.org/presentationml/2006/main">
  <p:tag name="PA" val="v5.2.9"/>
</p:tagLst>
</file>

<file path=ppt/tags/tag10.xml><?xml version="1.0" encoding="utf-8"?>
<p:tagLst xmlns:p="http://schemas.openxmlformats.org/presentationml/2006/main">
  <p:tag name="PA" val="v5.2.9"/>
</p:tagLst>
</file>

<file path=ppt/tags/tag11.xml><?xml version="1.0" encoding="utf-8"?>
<p:tagLst xmlns:p="http://schemas.openxmlformats.org/presentationml/2006/main">
  <p:tag name="PA" val="v5.2.9"/>
</p:tagLst>
</file>

<file path=ppt/tags/tag12.xml><?xml version="1.0" encoding="utf-8"?>
<p:tagLst xmlns:p="http://schemas.openxmlformats.org/presentationml/2006/main">
  <p:tag name="PA" val="v5.2.9"/>
</p:tagLst>
</file>

<file path=ppt/tags/tag13.xml><?xml version="1.0" encoding="utf-8"?>
<p:tagLst xmlns:p="http://schemas.openxmlformats.org/presentationml/2006/main">
  <p:tag name="PA" val="v5.2.9"/>
</p:tagLst>
</file>

<file path=ppt/tags/tag14.xml><?xml version="1.0" encoding="utf-8"?>
<p:tagLst xmlns:p="http://schemas.openxmlformats.org/presentationml/2006/main">
  <p:tag name="PA" val="v5.2.9"/>
</p:tagLst>
</file>

<file path=ppt/tags/tag15.xml><?xml version="1.0" encoding="utf-8"?>
<p:tagLst xmlns:p="http://schemas.openxmlformats.org/presentationml/2006/main">
  <p:tag name="PA" val="v5.2.9"/>
</p:tagLst>
</file>

<file path=ppt/tags/tag16.xml><?xml version="1.0" encoding="utf-8"?>
<p:tagLst xmlns:p="http://schemas.openxmlformats.org/presentationml/2006/main">
  <p:tag name="PA" val="v5.2.9"/>
</p:tagLst>
</file>

<file path=ppt/tags/tag17.xml><?xml version="1.0" encoding="utf-8"?>
<p:tagLst xmlns:p="http://schemas.openxmlformats.org/presentationml/2006/main">
  <p:tag name="PA" val="v5.2.9"/>
</p:tagLst>
</file>

<file path=ppt/tags/tag18.xml><?xml version="1.0" encoding="utf-8"?>
<p:tagLst xmlns:p="http://schemas.openxmlformats.org/presentationml/2006/main">
  <p:tag name="PA" val="v5.2.9"/>
</p:tagLst>
</file>

<file path=ppt/tags/tag19.xml><?xml version="1.0" encoding="utf-8"?>
<p:tagLst xmlns:p="http://schemas.openxmlformats.org/presentationml/2006/main">
  <p:tag name="PA" val="v5.2.9"/>
</p:tagLst>
</file>

<file path=ppt/tags/tag20.xml><?xml version="1.0" encoding="utf-8"?>
<p:tagLst xmlns:p="http://schemas.openxmlformats.org/presentationml/2006/main">
  <p:tag name="PA" val="v5.2.9"/>
</p:tagLst>
</file>

<file path=ppt/tags/tag21.xml><?xml version="1.0" encoding="utf-8"?>
<p:tagLst xmlns:p="http://schemas.openxmlformats.org/presentationml/2006/main">
  <p:tag name="PA" val="v5.2.9"/>
</p:tagLst>
</file>

<file path=ppt/tags/tag22.xml><?xml version="1.0" encoding="utf-8"?>
<p:tagLst xmlns:p="http://schemas.openxmlformats.org/presentationml/2006/main">
  <p:tag name="PA" val="v5.2.9"/>
</p:tagLst>
</file>

<file path=ppt/tags/tag23.xml><?xml version="1.0" encoding="utf-8"?>
<p:tagLst xmlns:p="http://schemas.openxmlformats.org/presentationml/2006/main">
  <p:tag name="PA" val="v5.2.9"/>
</p:tagLst>
</file>

<file path=ppt/tags/tag24.xml><?xml version="1.0" encoding="utf-8"?>
<p:tagLst xmlns:p="http://schemas.openxmlformats.org/presentationml/2006/main">
  <p:tag name="PA" val="v5.2.9"/>
</p:tagLst>
</file>

<file path=ppt/tags/tag25.xml><?xml version="1.0" encoding="utf-8"?>
<p:tagLst xmlns:p="http://schemas.openxmlformats.org/presentationml/2006/main">
  <p:tag name="PA" val="v5.2.9"/>
</p:tagLst>
</file>

<file path=ppt/tags/tag26.xml><?xml version="1.0" encoding="utf-8"?>
<p:tagLst xmlns:p="http://schemas.openxmlformats.org/presentationml/2006/main">
  <p:tag name="PA" val="v5.2.9"/>
</p:tagLst>
</file>

<file path=ppt/tags/tag27.xml><?xml version="1.0" encoding="utf-8"?>
<p:tagLst xmlns:p="http://schemas.openxmlformats.org/presentationml/2006/main">
  <p:tag name="PA" val="v5.2.9"/>
</p:tagLst>
</file>

<file path=ppt/tags/tag28.xml><?xml version="1.0" encoding="utf-8"?>
<p:tagLst xmlns:p="http://schemas.openxmlformats.org/presentationml/2006/main">
  <p:tag name="PA" val="v5.2.9"/>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12229</Words>
  <Application>WPS 演示</Application>
  <PresentationFormat>宽屏</PresentationFormat>
  <Paragraphs>1418</Paragraphs>
  <Slides>86</Slides>
  <Notes>0</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9</vt:i4>
      </vt:variant>
      <vt:variant>
        <vt:lpstr>幻灯片标题</vt:lpstr>
      </vt:variant>
      <vt:variant>
        <vt:i4>86</vt:i4>
      </vt:variant>
    </vt:vector>
  </HeadingPairs>
  <TitlesOfParts>
    <vt:vector size="113" baseType="lpstr">
      <vt:lpstr>Arial</vt:lpstr>
      <vt:lpstr>宋体</vt:lpstr>
      <vt:lpstr>Wingdings</vt:lpstr>
      <vt:lpstr>Arial Unicode MS</vt:lpstr>
      <vt:lpstr>Calibri</vt:lpstr>
      <vt:lpstr>微软雅黑</vt:lpstr>
      <vt:lpstr>Calibri</vt:lpstr>
      <vt:lpstr>微软雅黑 Light</vt:lpstr>
      <vt:lpstr>Cambria Math</vt:lpstr>
      <vt:lpstr>黑体</vt:lpstr>
      <vt:lpstr>楷体_GB2312</vt:lpstr>
      <vt:lpstr>Times New Roman</vt:lpstr>
      <vt:lpstr>新宋体</vt:lpstr>
      <vt:lpstr>MS Mincho</vt:lpstr>
      <vt:lpstr>华文中宋</vt:lpstr>
      <vt:lpstr>Symbol</vt:lpstr>
      <vt:lpstr>字魂36号-正文宋楷</vt:lpstr>
      <vt:lpstr>WPS</vt:lpstr>
      <vt:lpstr>Paint.Picture</vt:lpstr>
      <vt:lpstr>Paint.Picture</vt:lpstr>
      <vt:lpstr>Paint.Picture</vt:lpstr>
      <vt:lpstr>Paint.Picture</vt:lpstr>
      <vt:lpstr>Paint.Picture</vt:lpstr>
      <vt:lpstr>Paint.Picture</vt:lpstr>
      <vt:lpstr>Equation.KSEE3</vt:lpstr>
      <vt:lpstr>Equation.KSEE3</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例8      设点位于第Ⅰ卦限，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二、平面的点法式方程</vt:lpstr>
      <vt:lpstr>PowerPoint 演示文稿</vt:lpstr>
      <vt:lpstr>PowerPoint 演示文稿</vt:lpstr>
      <vt:lpstr>PowerPoint 演示文稿</vt:lpstr>
      <vt:lpstr>二、空间直线的对称式方程与参数方程</vt:lpstr>
      <vt:lpstr>PowerPoint 演示文稿</vt:lpstr>
      <vt:lpstr>三、两直线的夹角</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cp:lastModifiedBy>
  <cp:revision>41</cp:revision>
  <dcterms:created xsi:type="dcterms:W3CDTF">2023-08-09T12:44:00Z</dcterms:created>
  <dcterms:modified xsi:type="dcterms:W3CDTF">2026-04-26T15:49:48Z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C3E1149839AB424FB356F114456E6990_12</vt:lpwstr>
  </property>
</Properties>
</file>