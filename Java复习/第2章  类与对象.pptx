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08"/>
  </p:handoutMasterIdLst>
  <p:sldIdLst>
    <p:sldId id="257" r:id="rId3"/>
    <p:sldId id="609" r:id="rId5"/>
    <p:sldId id="490" r:id="rId6"/>
    <p:sldId id="695" r:id="rId7"/>
    <p:sldId id="491" r:id="rId8"/>
    <p:sldId id="492" r:id="rId9"/>
    <p:sldId id="362" r:id="rId10"/>
    <p:sldId id="336" r:id="rId11"/>
    <p:sldId id="327" r:id="rId12"/>
    <p:sldId id="494" r:id="rId13"/>
    <p:sldId id="365" r:id="rId14"/>
    <p:sldId id="366" r:id="rId15"/>
    <p:sldId id="367" r:id="rId16"/>
    <p:sldId id="368" r:id="rId17"/>
    <p:sldId id="282" r:id="rId18"/>
    <p:sldId id="369" r:id="rId19"/>
    <p:sldId id="370" r:id="rId20"/>
    <p:sldId id="371" r:id="rId21"/>
    <p:sldId id="372" r:id="rId22"/>
    <p:sldId id="373" r:id="rId23"/>
    <p:sldId id="374" r:id="rId24"/>
    <p:sldId id="381" r:id="rId25"/>
    <p:sldId id="382" r:id="rId26"/>
    <p:sldId id="383" r:id="rId27"/>
    <p:sldId id="384" r:id="rId28"/>
    <p:sldId id="386" r:id="rId29"/>
    <p:sldId id="388" r:id="rId30"/>
    <p:sldId id="505" r:id="rId31"/>
    <p:sldId id="604" r:id="rId32"/>
    <p:sldId id="605" r:id="rId33"/>
    <p:sldId id="660" r:id="rId34"/>
    <p:sldId id="661" r:id="rId35"/>
    <p:sldId id="663" r:id="rId36"/>
    <p:sldId id="688" r:id="rId37"/>
    <p:sldId id="665" r:id="rId38"/>
    <p:sldId id="506" r:id="rId39"/>
    <p:sldId id="402" r:id="rId40"/>
    <p:sldId id="666" r:id="rId41"/>
    <p:sldId id="507" r:id="rId42"/>
    <p:sldId id="473" r:id="rId43"/>
    <p:sldId id="667" r:id="rId44"/>
    <p:sldId id="511" r:id="rId45"/>
    <p:sldId id="403" r:id="rId46"/>
    <p:sldId id="406" r:id="rId47"/>
    <p:sldId id="512" r:id="rId48"/>
    <p:sldId id="407" r:id="rId49"/>
    <p:sldId id="346" r:id="rId50"/>
    <p:sldId id="404" r:id="rId51"/>
    <p:sldId id="475" r:id="rId52"/>
    <p:sldId id="668" r:id="rId53"/>
    <p:sldId id="514" r:id="rId54"/>
    <p:sldId id="515" r:id="rId55"/>
    <p:sldId id="516" r:id="rId56"/>
    <p:sldId id="517" r:id="rId57"/>
    <p:sldId id="518" r:id="rId58"/>
    <p:sldId id="519" r:id="rId59"/>
    <p:sldId id="521" r:id="rId60"/>
    <p:sldId id="522" r:id="rId61"/>
    <p:sldId id="524" r:id="rId62"/>
    <p:sldId id="528" r:id="rId63"/>
    <p:sldId id="529" r:id="rId64"/>
    <p:sldId id="530" r:id="rId65"/>
    <p:sldId id="532" r:id="rId66"/>
    <p:sldId id="533" r:id="rId67"/>
    <p:sldId id="534" r:id="rId68"/>
    <p:sldId id="536" r:id="rId69"/>
    <p:sldId id="669" r:id="rId70"/>
    <p:sldId id="537" r:id="rId71"/>
    <p:sldId id="538" r:id="rId72"/>
    <p:sldId id="539" r:id="rId73"/>
    <p:sldId id="541" r:id="rId74"/>
    <p:sldId id="625" r:id="rId75"/>
    <p:sldId id="626" r:id="rId76"/>
    <p:sldId id="628" r:id="rId77"/>
    <p:sldId id="629" r:id="rId78"/>
    <p:sldId id="630" r:id="rId79"/>
    <p:sldId id="670" r:id="rId80"/>
    <p:sldId id="671" r:id="rId81"/>
    <p:sldId id="634" r:id="rId82"/>
    <p:sldId id="635" r:id="rId83"/>
    <p:sldId id="636" r:id="rId84"/>
    <p:sldId id="638" r:id="rId85"/>
    <p:sldId id="672" r:id="rId86"/>
    <p:sldId id="673" r:id="rId87"/>
    <p:sldId id="674" r:id="rId88"/>
    <p:sldId id="642" r:id="rId89"/>
    <p:sldId id="675" r:id="rId90"/>
    <p:sldId id="644" r:id="rId91"/>
    <p:sldId id="676" r:id="rId92"/>
    <p:sldId id="646" r:id="rId93"/>
    <p:sldId id="647" r:id="rId94"/>
    <p:sldId id="648" r:id="rId95"/>
    <p:sldId id="649" r:id="rId96"/>
    <p:sldId id="650" r:id="rId97"/>
    <p:sldId id="651" r:id="rId98"/>
    <p:sldId id="677" r:id="rId99"/>
    <p:sldId id="654" r:id="rId100"/>
    <p:sldId id="682" r:id="rId101"/>
    <p:sldId id="689" r:id="rId102"/>
    <p:sldId id="690" r:id="rId103"/>
    <p:sldId id="691" r:id="rId104"/>
    <p:sldId id="692" r:id="rId105"/>
    <p:sldId id="693" r:id="rId106"/>
    <p:sldId id="694" r:id="rId107"/>
  </p:sldIdLst>
  <p:sldSz cx="12192000" cy="6858000"/>
  <p:notesSz cx="6797675" cy="9926320"/>
  <p:custDataLst>
    <p:tags r:id="rId112"/>
  </p:custDataLst>
  <p:defaultTextStyle>
    <a:defPPr>
      <a:defRPr lang="en-GB"/>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隶书" panose="02010509060101010101" pitchFamily="49" charset="-122"/>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隶书" panose="02010509060101010101" pitchFamily="49" charset="-122"/>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隶书" panose="02010509060101010101" pitchFamily="49" charset="-122"/>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隶书" panose="02010509060101010101" pitchFamily="49" charset="-122"/>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隶书" panose="02010509060101010101" pitchFamily="49" charset="-122"/>
        <a:cs typeface="+mn-cs"/>
      </a:defRPr>
    </a:lvl5pPr>
    <a:lvl6pPr marL="2286000" algn="l" defTabSz="914400" rtl="0" eaLnBrk="1" latinLnBrk="0" hangingPunct="1">
      <a:defRPr sz="2400" kern="1200">
        <a:solidFill>
          <a:schemeClr val="tx1"/>
        </a:solidFill>
        <a:latin typeface="Times New Roman" panose="02020603050405020304" pitchFamily="18" charset="0"/>
        <a:ea typeface="隶书" panose="02010509060101010101" pitchFamily="49" charset="-122"/>
        <a:cs typeface="+mn-cs"/>
      </a:defRPr>
    </a:lvl6pPr>
    <a:lvl7pPr marL="2743200" algn="l" defTabSz="914400" rtl="0" eaLnBrk="1" latinLnBrk="0" hangingPunct="1">
      <a:defRPr sz="2400" kern="1200">
        <a:solidFill>
          <a:schemeClr val="tx1"/>
        </a:solidFill>
        <a:latin typeface="Times New Roman" panose="02020603050405020304" pitchFamily="18" charset="0"/>
        <a:ea typeface="隶书" panose="02010509060101010101" pitchFamily="49" charset="-122"/>
        <a:cs typeface="+mn-cs"/>
      </a:defRPr>
    </a:lvl7pPr>
    <a:lvl8pPr marL="3200400" algn="l" defTabSz="914400" rtl="0" eaLnBrk="1" latinLnBrk="0" hangingPunct="1">
      <a:defRPr sz="2400" kern="1200">
        <a:solidFill>
          <a:schemeClr val="tx1"/>
        </a:solidFill>
        <a:latin typeface="Times New Roman" panose="02020603050405020304" pitchFamily="18" charset="0"/>
        <a:ea typeface="隶书" panose="02010509060101010101" pitchFamily="49" charset="-122"/>
        <a:cs typeface="+mn-cs"/>
      </a:defRPr>
    </a:lvl8pPr>
    <a:lvl9pPr marL="3657600" algn="l" defTabSz="914400" rtl="0" eaLnBrk="1" latinLnBrk="0" hangingPunct="1">
      <a:defRPr sz="2400" kern="1200">
        <a:solidFill>
          <a:schemeClr val="tx1"/>
        </a:solidFill>
        <a:latin typeface="Times New Roman" panose="02020603050405020304" pitchFamily="18" charset="0"/>
        <a:ea typeface="隶书" panose="02010509060101010101"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FF66"/>
    <a:srgbClr val="FF3399"/>
    <a:srgbClr val="00FF00"/>
    <a:srgbClr val="99FFCC"/>
    <a:srgbClr val="FFCCFF"/>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713" autoAdjust="0"/>
    <p:restoredTop sz="89104" autoAdjust="0"/>
  </p:normalViewPr>
  <p:slideViewPr>
    <p:cSldViewPr showGuides="1">
      <p:cViewPr varScale="1">
        <p:scale>
          <a:sx n="83" d="100"/>
          <a:sy n="83" d="100"/>
        </p:scale>
        <p:origin x="60" y="255"/>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p:cViewPr varScale="1">
        <p:scale>
          <a:sx n="39" d="100"/>
          <a:sy n="39" d="100"/>
        </p:scale>
        <p:origin x="-1524" y="-102"/>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2" Type="http://schemas.openxmlformats.org/officeDocument/2006/relationships/tags" Target="tags/tag200.xml"/><Relationship Id="rId111" Type="http://schemas.openxmlformats.org/officeDocument/2006/relationships/tableStyles" Target="tableStyles.xml"/><Relationship Id="rId110" Type="http://schemas.openxmlformats.org/officeDocument/2006/relationships/viewProps" Target="viewProps.xml"/><Relationship Id="rId11" Type="http://schemas.openxmlformats.org/officeDocument/2006/relationships/slide" Target="slides/slide8.xml"/><Relationship Id="rId109" Type="http://schemas.openxmlformats.org/officeDocument/2006/relationships/presProps" Target="presProps.xml"/><Relationship Id="rId108" Type="http://schemas.openxmlformats.org/officeDocument/2006/relationships/handoutMaster" Target="handoutMasters/handoutMaster1.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vl1pPr>
          </a:lstStyle>
          <a:p>
            <a:pPr>
              <a:defRPr/>
            </a:pPr>
            <a:endParaRPr lang="zh-CN" altLang="en-GB"/>
          </a:p>
        </p:txBody>
      </p:sp>
      <p:sp>
        <p:nvSpPr>
          <p:cNvPr id="90115" name="Rectangle 3"/>
          <p:cNvSpPr>
            <a:spLocks noGrp="1" noChangeArrowheads="1"/>
          </p:cNvSpPr>
          <p:nvPr>
            <p:ph type="dt" sz="quarter"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vl1pPr>
          </a:lstStyle>
          <a:p>
            <a:pPr>
              <a:defRPr/>
            </a:pPr>
            <a:endParaRPr lang="en-GB" altLang="zh-CN"/>
          </a:p>
        </p:txBody>
      </p:sp>
      <p:sp>
        <p:nvSpPr>
          <p:cNvPr id="90116" name="Rectangle 4"/>
          <p:cNvSpPr>
            <a:spLocks noGrp="1" noChangeArrowheads="1"/>
          </p:cNvSpPr>
          <p:nvPr>
            <p:ph type="ftr" sz="quarter" idx="2"/>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vl1pPr>
          </a:lstStyle>
          <a:p>
            <a:pPr>
              <a:defRPr/>
            </a:pPr>
            <a:endParaRPr lang="en-GB" altLang="zh-CN"/>
          </a:p>
        </p:txBody>
      </p:sp>
      <p:sp>
        <p:nvSpPr>
          <p:cNvPr id="90117" name="Rectangle 5"/>
          <p:cNvSpPr>
            <a:spLocks noGrp="1" noChangeArrowheads="1"/>
          </p:cNvSpPr>
          <p:nvPr>
            <p:ph type="sldNum" sz="quarter" idx="3"/>
          </p:nvPr>
        </p:nvSpPr>
        <p:spPr bwMode="auto">
          <a:xfrm>
            <a:off x="3851275"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vl1pPr>
          </a:lstStyle>
          <a:p>
            <a:pPr>
              <a:defRPr/>
            </a:pPr>
            <a:fld id="{90A39FDF-BE6C-46A9-A8EE-5A28AB8E78BB}" type="slidenum">
              <a:rPr lang="zh-CN" altLang="en-GB"/>
            </a:fld>
            <a:endParaRPr lang="en-GB"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1" sz="1200"/>
            </a:lvl1pPr>
          </a:lstStyle>
          <a:p>
            <a:pPr>
              <a:defRPr/>
            </a:pPr>
            <a:endParaRPr lang="zh-CN" altLang="en-GB"/>
          </a:p>
        </p:txBody>
      </p:sp>
      <p:sp>
        <p:nvSpPr>
          <p:cNvPr id="7171" name="Rectangle 3"/>
          <p:cNvSpPr>
            <a:spLocks noGrp="1" noChangeArrowheads="1"/>
          </p:cNvSpPr>
          <p:nvPr>
            <p:ph type="dt" idx="1"/>
          </p:nvPr>
        </p:nvSpPr>
        <p:spPr bwMode="auto">
          <a:xfrm>
            <a:off x="3851275"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1" sz="1200"/>
            </a:lvl1pPr>
          </a:lstStyle>
          <a:p>
            <a:pPr>
              <a:defRPr/>
            </a:pPr>
            <a:endParaRPr lang="en-GB" altLang="zh-CN"/>
          </a:p>
        </p:txBody>
      </p:sp>
      <p:sp>
        <p:nvSpPr>
          <p:cNvPr id="3076" name="Rectangle 4"/>
          <p:cNvSpPr>
            <a:spLocks noGrp="1" noRot="1" noChangeAspect="1" noChangeArrowheads="1" noTextEdit="1"/>
          </p:cNvSpPr>
          <p:nvPr>
            <p:ph type="sldImg" idx="2"/>
          </p:nvPr>
        </p:nvSpPr>
        <p:spPr bwMode="auto">
          <a:xfrm>
            <a:off x="800100" y="6438900"/>
            <a:ext cx="5194300" cy="29225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336550" y="685800"/>
            <a:ext cx="6140450" cy="5562600"/>
          </a:xfrm>
          <a:prstGeom prst="rect">
            <a:avLst/>
          </a:prstGeom>
          <a:noFill/>
          <a:ln w="9525">
            <a:noFill/>
            <a:miter lim="800000"/>
          </a:ln>
          <a:effectLst/>
        </p:spPr>
        <p:txBody>
          <a:bodyPr vert="horz" wrap="square" lIns="91440" tIns="45720" rIns="91440" bIns="45720" numCol="1" anchor="t" anchorCtr="0" compatLnSpc="1"/>
          <a:lstStyle/>
          <a:p>
            <a:pPr lvl="0"/>
            <a:r>
              <a:rPr lang="en-GB" altLang="zh-CN" noProof="0"/>
              <a:t>Click to edit Master text styles</a:t>
            </a:r>
            <a:endParaRPr lang="en-GB" altLang="zh-CN" noProof="0"/>
          </a:p>
          <a:p>
            <a:pPr lvl="1"/>
            <a:r>
              <a:rPr lang="en-GB" altLang="zh-CN" noProof="0"/>
              <a:t>Second level</a:t>
            </a:r>
            <a:endParaRPr lang="en-GB" altLang="zh-CN" noProof="0"/>
          </a:p>
          <a:p>
            <a:pPr lvl="2"/>
            <a:r>
              <a:rPr lang="en-GB" altLang="zh-CN" noProof="0"/>
              <a:t>Third level</a:t>
            </a:r>
            <a:endParaRPr lang="en-GB" altLang="zh-CN" noProof="0"/>
          </a:p>
          <a:p>
            <a:pPr lvl="3"/>
            <a:r>
              <a:rPr lang="en-GB" altLang="zh-CN" noProof="0"/>
              <a:t>Fourth level</a:t>
            </a:r>
            <a:endParaRPr lang="en-GB" altLang="zh-CN" noProof="0"/>
          </a:p>
          <a:p>
            <a:pPr lvl="4"/>
            <a:r>
              <a:rPr lang="en-GB" altLang="zh-CN" noProof="0"/>
              <a:t>Fifth level</a:t>
            </a:r>
            <a:endParaRPr lang="en-GB" altLang="zh-CN" noProof="0"/>
          </a:p>
        </p:txBody>
      </p:sp>
      <p:sp>
        <p:nvSpPr>
          <p:cNvPr id="7174" name="Rectangle 6"/>
          <p:cNvSpPr>
            <a:spLocks noGrp="1" noChangeArrowheads="1"/>
          </p:cNvSpPr>
          <p:nvPr>
            <p:ph type="ftr" sz="quarter" idx="4"/>
          </p:nvPr>
        </p:nvSpPr>
        <p:spPr bwMode="auto">
          <a:xfrm>
            <a:off x="0" y="9429750"/>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kumimoji="1" sz="1200"/>
            </a:lvl1pPr>
          </a:lstStyle>
          <a:p>
            <a:pPr>
              <a:defRPr/>
            </a:pPr>
            <a:endParaRPr lang="en-GB" altLang="zh-CN"/>
          </a:p>
        </p:txBody>
      </p:sp>
      <p:sp>
        <p:nvSpPr>
          <p:cNvPr id="7175" name="Rectangle 7"/>
          <p:cNvSpPr>
            <a:spLocks noGrp="1" noChangeArrowheads="1"/>
          </p:cNvSpPr>
          <p:nvPr>
            <p:ph type="sldNum" sz="quarter" idx="5"/>
          </p:nvPr>
        </p:nvSpPr>
        <p:spPr bwMode="auto">
          <a:xfrm>
            <a:off x="3851275" y="9429750"/>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kumimoji="1" sz="1200"/>
            </a:lvl1pPr>
          </a:lstStyle>
          <a:p>
            <a:pPr>
              <a:defRPr/>
            </a:pPr>
            <a:fld id="{991BE164-E10A-4E17-A3FE-3122864EC3B5}" type="slidenum">
              <a:rPr lang="zh-CN" altLang="en-GB"/>
            </a:fld>
            <a:endParaRPr lang="en-GB"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F266AA-4382-492D-B6F9-2CDA137BECF8}" type="slidenum">
              <a:rPr lang="zh-CN" altLang="en-GB" sz="1200" smtClean="0"/>
            </a:fld>
            <a:endParaRPr lang="en-GB" altLang="zh-CN" sz="1200"/>
          </a:p>
        </p:txBody>
      </p:sp>
      <p:sp>
        <p:nvSpPr>
          <p:cNvPr id="8195" name="Rectangle 1026"/>
          <p:cNvSpPr>
            <a:spLocks noGrp="1" noRot="1" noChangeAspect="1" noChangeArrowheads="1" noTextEdit="1"/>
          </p:cNvSpPr>
          <p:nvPr>
            <p:ph type="sldImg"/>
          </p:nvPr>
        </p:nvSpPr>
        <p:spPr>
          <a:xfrm>
            <a:off x="800100" y="6438900"/>
            <a:ext cx="5194300" cy="2922588"/>
          </a:xfrm>
        </p:spPr>
      </p:sp>
      <p:sp>
        <p:nvSpPr>
          <p:cNvPr id="8196" name="Rectangle 1028"/>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须重点掌握 前</a:t>
            </a:r>
            <a:r>
              <a:rPr lang="en-US" altLang="zh-CN" dirty="0"/>
              <a:t>4</a:t>
            </a:r>
            <a:r>
              <a:rPr lang="zh-CN" altLang="en-US" dirty="0"/>
              <a:t>节 全部内容</a:t>
            </a:r>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封装、继承、多态  是需要从编程实践中仔细体会。</a:t>
            </a:r>
            <a:endParaRPr kumimoji="1"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E11329-97DD-4E5D-BCA0-139363953101}" type="slidenum">
              <a:rPr lang="zh-CN" altLang="en-GB" sz="1200" smtClean="0"/>
            </a:fld>
            <a:endParaRPr lang="en-GB" altLang="zh-CN" sz="1200"/>
          </a:p>
        </p:txBody>
      </p:sp>
      <p:sp>
        <p:nvSpPr>
          <p:cNvPr id="15363" name="Rectangle 1026"/>
          <p:cNvSpPr>
            <a:spLocks noGrp="1" noRot="1" noChangeAspect="1" noChangeArrowheads="1" noTextEdit="1"/>
          </p:cNvSpPr>
          <p:nvPr>
            <p:ph type="sldImg"/>
          </p:nvPr>
        </p:nvSpPr>
        <p:spPr>
          <a:xfrm>
            <a:off x="800100" y="6438900"/>
            <a:ext cx="5194300" cy="2922588"/>
          </a:xfrm>
        </p:spPr>
      </p:sp>
      <p:sp>
        <p:nvSpPr>
          <p:cNvPr id="15364" name="Rectangle 1028"/>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人们对汽车、飞机、计算机、狮子、人等实体的认知是分层次的，都有从抽象逐步到具体的认知过程。抽象表示忽略具体的细节内容，但抽象也有层次之分。</a:t>
            </a:r>
            <a:endParaRPr lang="en-US" altLang="zh-CN" dirty="0"/>
          </a:p>
          <a:p>
            <a:pPr eaLnBrk="1" hangingPunct="1"/>
            <a:r>
              <a:rPr lang="zh-CN" altLang="en-US" dirty="0"/>
              <a:t>面向对象程序设计方法能够体现人们认知世界的不同抽象层次。例如：采用抽象数据类型描述线性表、可采用类似的方法描述汽车、人等实体。</a:t>
            </a:r>
            <a:endParaRPr lang="en-US" altLang="zh-CN" dirty="0"/>
          </a:p>
          <a:p>
            <a:pPr eaLnBrk="1" hangingPunct="1"/>
            <a:r>
              <a:rPr lang="zh-CN" altLang="en-US" dirty="0"/>
              <a:t>过程抽象：不许要考虑</a:t>
            </a:r>
            <a:r>
              <a:rPr lang="en-US" altLang="zh-CN" dirty="0"/>
              <a:t>N</a:t>
            </a:r>
            <a:r>
              <a:rPr lang="zh-CN" altLang="en-US" dirty="0"/>
              <a:t>的大小、数据元素的类型、各数据元素的值，更不需要考虑实现的编程语言表示。</a:t>
            </a:r>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0E11329-97DD-4E5D-BCA0-139363953101}" type="slidenum">
              <a:rPr lang="zh-CN" altLang="en-GB" sz="1200" smtClean="0"/>
            </a:fld>
            <a:endParaRPr lang="en-GB" altLang="zh-CN" sz="1200"/>
          </a:p>
        </p:txBody>
      </p:sp>
      <p:sp>
        <p:nvSpPr>
          <p:cNvPr id="15363" name="Rectangle 1026"/>
          <p:cNvSpPr>
            <a:spLocks noGrp="1" noRot="1" noChangeAspect="1" noChangeArrowheads="1" noTextEdit="1"/>
          </p:cNvSpPr>
          <p:nvPr>
            <p:ph type="sldImg"/>
          </p:nvPr>
        </p:nvSpPr>
        <p:spPr>
          <a:xfrm>
            <a:off x="800100" y="6438900"/>
            <a:ext cx="5194300" cy="2922588"/>
          </a:xfrm>
        </p:spPr>
      </p:sp>
      <p:sp>
        <p:nvSpPr>
          <p:cNvPr id="15364" name="Rectangle 1028"/>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数据抽象</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D6068C8-BE8A-46D5-83A4-383011A4C9E1}" type="slidenum">
              <a:rPr lang="zh-CN" altLang="en-GB" sz="1200" smtClean="0"/>
            </a:fld>
            <a:endParaRPr lang="en-GB" altLang="zh-CN" sz="1200"/>
          </a:p>
        </p:txBody>
      </p:sp>
      <p:sp>
        <p:nvSpPr>
          <p:cNvPr id="17411" name="Rectangle 2"/>
          <p:cNvSpPr>
            <a:spLocks noGrp="1" noRot="1" noChangeAspect="1" noChangeArrowheads="1" noTextEdit="1"/>
          </p:cNvSpPr>
          <p:nvPr>
            <p:ph type="sldImg"/>
          </p:nvPr>
        </p:nvSpPr>
        <p:spPr>
          <a:xfrm>
            <a:off x="800100" y="6438900"/>
            <a:ext cx="5194300" cy="2922588"/>
          </a:xfrm>
        </p:spPr>
      </p:sp>
      <p:sp>
        <p:nvSpPr>
          <p:cNvPr id="17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例如：</a:t>
            </a:r>
            <a:r>
              <a:rPr lang="en-US" altLang="zh-CN" dirty="0" err="1"/>
              <a:t>Math.cos</a:t>
            </a:r>
            <a:r>
              <a:rPr lang="en-US" altLang="zh-CN" dirty="0"/>
              <a:t>(x)</a:t>
            </a:r>
            <a:r>
              <a:rPr lang="zh-CN" altLang="en-US" dirty="0"/>
              <a:t>，</a:t>
            </a:r>
            <a:r>
              <a:rPr lang="en-US" altLang="zh-CN" dirty="0"/>
              <a:t>Scanner </a:t>
            </a:r>
            <a:r>
              <a:rPr lang="zh-CN" altLang="en-US" dirty="0"/>
              <a:t>类提供的方法 </a:t>
            </a:r>
            <a:r>
              <a:rPr lang="en-US" altLang="zh-CN" dirty="0" err="1"/>
              <a:t>nextInt</a:t>
            </a:r>
            <a:r>
              <a:rPr lang="en-US" altLang="zh-CN" dirty="0"/>
              <a:t>() </a:t>
            </a:r>
            <a:r>
              <a:rPr lang="zh-CN" altLang="en-US" dirty="0"/>
              <a:t>和 </a:t>
            </a:r>
            <a:r>
              <a:rPr lang="en-US" altLang="zh-CN" dirty="0" err="1"/>
              <a:t>nextFloat</a:t>
            </a:r>
            <a:r>
              <a:rPr lang="en-US" altLang="zh-CN" dirty="0"/>
              <a:t>() </a:t>
            </a:r>
            <a:r>
              <a:rPr lang="zh-CN" altLang="en-US" dirty="0"/>
              <a:t>等。使用者不需要了解其实现的细节。</a:t>
            </a:r>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39595A-315C-421F-BD7D-EC3E1A4A841F}" type="slidenum">
              <a:rPr lang="zh-CN" altLang="en-GB" sz="1200" smtClean="0"/>
            </a:fld>
            <a:endParaRPr lang="en-GB" altLang="zh-CN" sz="1200"/>
          </a:p>
        </p:txBody>
      </p:sp>
      <p:sp>
        <p:nvSpPr>
          <p:cNvPr id="20483" name="Rectangle 2"/>
          <p:cNvSpPr>
            <a:spLocks noGrp="1" noRot="1" noChangeAspect="1" noChangeArrowheads="1" noTextEdit="1"/>
          </p:cNvSpPr>
          <p:nvPr>
            <p:ph type="sldImg"/>
          </p:nvPr>
        </p:nvSpPr>
        <p:spPr>
          <a:xfrm>
            <a:off x="800100" y="6438900"/>
            <a:ext cx="5194300" cy="2922588"/>
          </a:xfrm>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举一个例子</a:t>
            </a:r>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为什么这里要说 多继承？因为</a:t>
            </a:r>
            <a:r>
              <a:rPr lang="en-US" altLang="zh-CN" dirty="0"/>
              <a:t>java </a:t>
            </a:r>
            <a:r>
              <a:rPr lang="zh-CN" altLang="en-US" dirty="0"/>
              <a:t>中接口的实现支持 多继承。</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3F16020-A333-4B2B-8DEA-28FDB65183F8}" type="slidenum">
              <a:rPr lang="zh-CN" altLang="en-GB" sz="1200" smtClean="0"/>
            </a:fld>
            <a:endParaRPr lang="en-GB" altLang="zh-CN" sz="1200"/>
          </a:p>
        </p:txBody>
      </p:sp>
      <p:sp>
        <p:nvSpPr>
          <p:cNvPr id="23555" name="Rectangle 1026"/>
          <p:cNvSpPr>
            <a:spLocks noGrp="1" noRot="1" noChangeAspect="1" noChangeArrowheads="1" noTextEdit="1"/>
          </p:cNvSpPr>
          <p:nvPr>
            <p:ph type="sldImg"/>
          </p:nvPr>
        </p:nvSpPr>
        <p:spPr>
          <a:xfrm>
            <a:off x="800100" y="6438900"/>
            <a:ext cx="5194300" cy="2922588"/>
          </a:xfrm>
        </p:spPr>
      </p:sp>
      <p:sp>
        <p:nvSpPr>
          <p:cNvPr id="23556"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详见 第四章 接口与多态</a:t>
            </a:r>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94B605F-6DEF-4284-82E3-2197F4037F73}" type="slidenum">
              <a:rPr lang="zh-CN" altLang="en-GB" sz="1200" smtClean="0"/>
            </a:fld>
            <a:endParaRPr lang="en-GB" altLang="zh-CN" sz="1200"/>
          </a:p>
        </p:txBody>
      </p:sp>
      <p:sp>
        <p:nvSpPr>
          <p:cNvPr id="25603" name="Rectangle 2"/>
          <p:cNvSpPr>
            <a:spLocks noGrp="1" noRot="1" noChangeAspect="1" noChangeArrowheads="1" noTextEdit="1"/>
          </p:cNvSpPr>
          <p:nvPr>
            <p:ph type="sldImg"/>
          </p:nvPr>
        </p:nvSpPr>
        <p:spPr>
          <a:xfrm>
            <a:off x="800100" y="6438900"/>
            <a:ext cx="5194300" cy="2922588"/>
          </a:xfrm>
        </p:spPr>
      </p:sp>
      <p:sp>
        <p:nvSpPr>
          <p:cNvPr id="25604" name="Rectangle 4"/>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17FB35D-F59A-4CC6-90EA-045AE856ADB2}" type="slidenum">
              <a:rPr lang="zh-CN" altLang="en-GB" sz="1200" smtClean="0"/>
            </a:fld>
            <a:endParaRPr lang="en-GB" altLang="zh-CN" sz="1200"/>
          </a:p>
        </p:txBody>
      </p:sp>
      <p:sp>
        <p:nvSpPr>
          <p:cNvPr id="27651" name="Rectangle 1026"/>
          <p:cNvSpPr>
            <a:spLocks noGrp="1" noRot="1" noChangeAspect="1" noChangeArrowheads="1" noTextEdit="1"/>
          </p:cNvSpPr>
          <p:nvPr>
            <p:ph type="sldImg"/>
          </p:nvPr>
        </p:nvSpPr>
        <p:spPr>
          <a:xfrm>
            <a:off x="800100" y="6438900"/>
            <a:ext cx="5194300" cy="2922588"/>
          </a:xfrm>
        </p:spPr>
      </p:sp>
      <p:sp>
        <p:nvSpPr>
          <p:cNvPr id="27652" name="Rectangle 102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a:xfrm>
            <a:off x="800100" y="6438900"/>
            <a:ext cx="5194300" cy="2922588"/>
          </a:xfrm>
        </p:spPr>
      </p:sp>
      <p:sp>
        <p:nvSpPr>
          <p:cNvPr id="327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27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fld id="{C995B081-1A71-4381-8820-832B594F288C}" type="slidenum">
              <a:rPr lang="zh-CN" altLang="en-GB" sz="1200" smtClean="0"/>
            </a:fld>
            <a:endParaRPr lang="en-GB" altLang="zh-CN"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应该明白：声明了对象后，对象名字应该分配内存空间，但该内存空间是存放</a:t>
            </a:r>
            <a:r>
              <a:rPr lang="en-US" altLang="zh-CN" dirty="0"/>
              <a:t>null</a:t>
            </a:r>
            <a:r>
              <a:rPr lang="zh-CN" altLang="en-US" dirty="0"/>
              <a:t>，即无效地址。</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18FE8EC-3EFC-44D2-90D0-76B327E65EFB}" type="slidenum">
              <a:rPr lang="zh-CN" altLang="en-GB" sz="1200" smtClean="0"/>
            </a:fld>
            <a:endParaRPr lang="en-GB" altLang="zh-CN" sz="1200"/>
          </a:p>
        </p:txBody>
      </p:sp>
      <p:sp>
        <p:nvSpPr>
          <p:cNvPr id="36867" name="Rectangle 2"/>
          <p:cNvSpPr>
            <a:spLocks noGrp="1" noRot="1" noChangeAspect="1" noChangeArrowheads="1" noTextEdit="1"/>
          </p:cNvSpPr>
          <p:nvPr>
            <p:ph type="sldImg"/>
          </p:nvPr>
        </p:nvSpPr>
        <p:spPr>
          <a:xfrm>
            <a:off x="800100" y="6438900"/>
            <a:ext cx="5194300" cy="2922588"/>
          </a:xfrm>
        </p:spPr>
      </p:sp>
      <p:sp>
        <p:nvSpPr>
          <p:cNvPr id="36868" name="Rectangle 4"/>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dirty="0"/>
              <a:t>例</a:t>
            </a:r>
            <a:r>
              <a:rPr lang="en-US" altLang="zh-CN" sz="1600" dirty="0"/>
              <a:t>2-2</a:t>
            </a:r>
            <a:r>
              <a:rPr lang="zh-CN" altLang="en-US" sz="1600" dirty="0"/>
              <a:t> 圆类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幻灯片图像占位符 1"/>
          <p:cNvSpPr>
            <a:spLocks noGrp="1" noRot="1" noChangeAspect="1" noTextEdit="1"/>
          </p:cNvSpPr>
          <p:nvPr>
            <p:ph type="sldImg"/>
          </p:nvPr>
        </p:nvSpPr>
        <p:spPr>
          <a:xfrm>
            <a:off x="800100" y="6438900"/>
            <a:ext cx="5194300" cy="2922588"/>
          </a:xfrm>
        </p:spPr>
      </p:sp>
      <p:sp>
        <p:nvSpPr>
          <p:cNvPr id="419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19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7A01D24-BC60-436D-B6F6-37D11DD63EEC}" type="slidenum">
              <a:rPr lang="zh-CN" altLang="en-GB" sz="1200" smtClean="0"/>
            </a:fld>
            <a:endParaRPr lang="en-GB" altLang="zh-CN"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latin typeface="Trebuchet MS" panose="020B0603020202020204" pitchFamily="34" charset="0"/>
              </a:rPr>
              <a:t>例</a:t>
            </a:r>
            <a:r>
              <a:rPr lang="en-US" altLang="zh-CN" dirty="0">
                <a:latin typeface="Trebuchet MS" panose="020B0603020202020204" pitchFamily="34" charset="0"/>
              </a:rPr>
              <a:t>2-3</a:t>
            </a:r>
            <a:r>
              <a:rPr lang="zh-CN" altLang="en-US" dirty="0">
                <a:latin typeface="Trebuchet MS" panose="020B0603020202020204" pitchFamily="34" charset="0"/>
              </a:rPr>
              <a:t> </a:t>
            </a:r>
            <a:r>
              <a:rPr lang="zh-CN" altLang="en-US" dirty="0"/>
              <a:t>矩形类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latin typeface="Trebuchet MS" panose="020B0603020202020204" pitchFamily="34" charset="0"/>
              </a:rPr>
              <a:t>例</a:t>
            </a:r>
            <a:r>
              <a:rPr lang="en-US" altLang="zh-CN" dirty="0">
                <a:latin typeface="Trebuchet MS" panose="020B0603020202020204" pitchFamily="34" charset="0"/>
              </a:rPr>
              <a:t>2-4</a:t>
            </a:r>
            <a:r>
              <a:rPr lang="zh-CN" altLang="en-US" dirty="0">
                <a:latin typeface="Trebuchet MS" panose="020B0603020202020204" pitchFamily="34" charset="0"/>
              </a:rPr>
              <a:t> 具有类变量的圆类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 </a:t>
            </a:r>
            <a:r>
              <a:rPr lang="en-US" altLang="zh-CN" dirty="0"/>
              <a:t>&lt;</a:t>
            </a:r>
            <a:r>
              <a:rPr lang="zh-CN" altLang="en-US" dirty="0"/>
              <a:t>对象名</a:t>
            </a:r>
            <a:r>
              <a:rPr lang="en-US" altLang="zh-CN" dirty="0"/>
              <a:t>&gt;</a:t>
            </a:r>
            <a:r>
              <a:rPr lang="zh-CN" altLang="en-US" dirty="0"/>
              <a:t>为消息的接收者</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t>例</a:t>
            </a:r>
            <a:r>
              <a:rPr lang="en-US" altLang="zh-CN" dirty="0"/>
              <a:t>2-5</a:t>
            </a:r>
            <a:r>
              <a:rPr lang="zh-CN" altLang="en-US" dirty="0"/>
              <a:t> 具有实例方法的圆类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t>例</a:t>
            </a:r>
            <a:r>
              <a:rPr lang="en-US" altLang="zh-CN" dirty="0"/>
              <a:t>2-5</a:t>
            </a:r>
            <a:r>
              <a:rPr lang="zh-CN" altLang="en-US" dirty="0"/>
              <a:t> 具有实例方法的圆类（续）</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t>例</a:t>
            </a:r>
            <a:r>
              <a:rPr lang="en-US" altLang="zh-CN" dirty="0"/>
              <a:t>2-6</a:t>
            </a:r>
            <a:r>
              <a:rPr lang="zh-CN" altLang="en-US" dirty="0"/>
              <a:t> 不同类中声明相同的方法</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latin typeface="Trebuchet MS" panose="020B0603020202020204" pitchFamily="34" charset="0"/>
              </a:rPr>
              <a:t>例</a:t>
            </a:r>
            <a:r>
              <a:rPr lang="en-US" altLang="zh-CN" dirty="0">
                <a:latin typeface="Trebuchet MS" panose="020B0603020202020204" pitchFamily="34" charset="0"/>
              </a:rPr>
              <a:t>2-6</a:t>
            </a:r>
            <a:r>
              <a:rPr lang="zh-CN" altLang="en-US" dirty="0">
                <a:latin typeface="Trebuchet MS" panose="020B0603020202020204" pitchFamily="34" charset="0"/>
              </a:rPr>
              <a:t> 不同类中声明相同的方法（续）</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增加带参数方法的圆类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t>例</a:t>
            </a:r>
            <a:r>
              <a:rPr lang="en-US" altLang="zh-CN" dirty="0"/>
              <a:t>2-7</a:t>
            </a:r>
            <a:r>
              <a:rPr lang="zh-CN" altLang="en-US" dirty="0"/>
              <a:t> 带参数的方法应用举例</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GB" dirty="0"/>
              <a:t>例</a:t>
            </a:r>
            <a:r>
              <a:rPr lang="en-US" altLang="zh-CN" dirty="0"/>
              <a:t>2-8</a:t>
            </a:r>
            <a:r>
              <a:rPr lang="zh-CN" altLang="en-US" dirty="0"/>
              <a:t> 以对象作为参数的方法应用举例</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xfrm>
            <a:off x="800100" y="6438900"/>
            <a:ext cx="5194300" cy="2922588"/>
          </a:xfrm>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572EB3C-D22C-4FE5-9043-6AD41736E13A}" type="slidenum">
              <a:rPr lang="zh-CN" altLang="en-GB" sz="1200" smtClean="0"/>
            </a:fld>
            <a:endParaRPr lang="en-GB" altLang="zh-CN"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12584E-DDF2-49CF-881C-6A079CE4C845}" type="slidenum">
              <a:rPr lang="zh-CN" altLang="en-GB" sz="1200" smtClean="0"/>
            </a:fld>
            <a:endParaRPr lang="en-GB" altLang="zh-CN" sz="1200"/>
          </a:p>
        </p:txBody>
      </p:sp>
      <p:sp>
        <p:nvSpPr>
          <p:cNvPr id="82947" name="Rectangle 2"/>
          <p:cNvSpPr>
            <a:spLocks noGrp="1" noRot="1" noChangeAspect="1" noChangeArrowheads="1" noTextEdit="1"/>
          </p:cNvSpPr>
          <p:nvPr>
            <p:ph type="sldImg"/>
          </p:nvPr>
        </p:nvSpPr>
        <p:spPr>
          <a:xfrm>
            <a:off x="800100" y="6438900"/>
            <a:ext cx="5194300" cy="2922588"/>
          </a:xfrm>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2-9</a:t>
            </a:r>
            <a:r>
              <a:rPr lang="zh-CN" altLang="en-US" dirty="0"/>
              <a:t> 温度转换</a:t>
            </a:r>
            <a:endParaRPr lang="en-US"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12584E-DDF2-49CF-881C-6A079CE4C845}" type="slidenum">
              <a:rPr lang="zh-CN" altLang="en-GB" sz="1200" smtClean="0"/>
            </a:fld>
            <a:endParaRPr lang="en-GB" altLang="zh-CN" sz="1200"/>
          </a:p>
        </p:txBody>
      </p:sp>
      <p:sp>
        <p:nvSpPr>
          <p:cNvPr id="82947" name="Rectangle 2"/>
          <p:cNvSpPr>
            <a:spLocks noGrp="1" noRot="1" noChangeAspect="1" noChangeArrowheads="1" noTextEdit="1"/>
          </p:cNvSpPr>
          <p:nvPr>
            <p:ph type="sldImg"/>
          </p:nvPr>
        </p:nvSpPr>
        <p:spPr>
          <a:xfrm>
            <a:off x="800100" y="6438900"/>
            <a:ext cx="5194300" cy="2922588"/>
          </a:xfrm>
        </p:spPr>
      </p:sp>
      <p:sp>
        <p:nvSpPr>
          <p:cNvPr id="829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t>例</a:t>
            </a:r>
            <a:r>
              <a:rPr lang="en-US" altLang="zh-CN" dirty="0"/>
              <a:t>2-9</a:t>
            </a:r>
            <a:r>
              <a:rPr lang="zh-CN" altLang="en-US" dirty="0"/>
              <a:t> 温度转换（续）</a:t>
            </a:r>
            <a:endParaRPr lang="en-US"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800100" y="6438900"/>
            <a:ext cx="5194300" cy="2922588"/>
          </a:xfrm>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a:t>
            </a:r>
            <a:r>
              <a:rPr lang="en-US" altLang="zh-CN" dirty="0"/>
              <a:t>2-10</a:t>
            </a:r>
            <a:r>
              <a:rPr lang="zh-CN" altLang="en-US" dirty="0"/>
              <a:t> 可变长参数</a:t>
            </a:r>
            <a:endParaRPr lang="zh-CN" altLang="en-US" dirty="0"/>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fld id="{CD6427E5-DF46-4E67-B901-E62D08BC1562}" type="slidenum">
              <a:rPr lang="zh-CN" altLang="en-GB" sz="1200" smtClean="0"/>
            </a:fld>
            <a:endParaRPr lang="en-GB" altLang="zh-CN"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800100" y="6438900"/>
            <a:ext cx="5194300" cy="2922588"/>
          </a:xfrm>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a:t>
            </a:r>
            <a:r>
              <a:rPr lang="en-US" altLang="zh-CN" dirty="0"/>
              <a:t>2-10</a:t>
            </a:r>
            <a:r>
              <a:rPr lang="zh-CN" altLang="en-US" dirty="0"/>
              <a:t> 可变长参数（续）</a:t>
            </a:r>
            <a:endParaRPr lang="zh-CN" altLang="en-US" dirty="0"/>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fld id="{CD6427E5-DF46-4E67-B901-E62D08BC1562}" type="slidenum">
              <a:rPr lang="zh-CN" altLang="en-GB" sz="1200" smtClean="0"/>
            </a:fld>
            <a:endParaRPr lang="en-GB" altLang="zh-CN"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xfrm>
            <a:off x="800100" y="6438900"/>
            <a:ext cx="5194300" cy="2922588"/>
          </a:xfrm>
        </p:spPr>
      </p:sp>
      <p:sp>
        <p:nvSpPr>
          <p:cNvPr id="880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76415AC-B3C3-47A2-814F-54BE5138EDF0}" type="slidenum">
              <a:rPr lang="zh-CN" altLang="en-GB" sz="1200" smtClean="0"/>
            </a:fld>
            <a:endParaRPr lang="en-GB" altLang="zh-CN"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xfrm>
            <a:off x="800100" y="6438900"/>
            <a:ext cx="5194300" cy="2922588"/>
          </a:xfrm>
        </p:spPr>
      </p:sp>
      <p:sp>
        <p:nvSpPr>
          <p:cNvPr id="8806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76415AC-B3C3-47A2-814F-54BE5138EDF0}" type="slidenum">
              <a:rPr lang="zh-CN" altLang="en-GB" sz="1200" smtClean="0"/>
            </a:fld>
            <a:endParaRPr lang="en-GB" altLang="zh-CN"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3C385C4-6D40-4D04-AA2A-4342241C6E72}" type="slidenum">
              <a:rPr lang="zh-CN" altLang="en-GB" sz="1200" smtClean="0"/>
            </a:fld>
            <a:endParaRPr lang="en-GB" altLang="zh-CN" sz="1200"/>
          </a:p>
        </p:txBody>
      </p:sp>
      <p:sp>
        <p:nvSpPr>
          <p:cNvPr id="91139" name="Rectangle 2"/>
          <p:cNvSpPr>
            <a:spLocks noGrp="1" noRot="1" noChangeAspect="1" noChangeArrowheads="1" noTextEdit="1"/>
          </p:cNvSpPr>
          <p:nvPr>
            <p:ph type="sldImg"/>
          </p:nvPr>
        </p:nvSpPr>
        <p:spPr>
          <a:xfrm>
            <a:off x="800100" y="6438900"/>
            <a:ext cx="5194300" cy="2922588"/>
          </a:xfrm>
        </p:spPr>
      </p:sp>
      <p:sp>
        <p:nvSpPr>
          <p:cNvPr id="911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800100" y="6438900"/>
            <a:ext cx="5194300" cy="2922588"/>
          </a:xfrm>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31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82969FC-A5E8-46E4-A435-36AD654D7939}" type="slidenum">
              <a:rPr lang="zh-CN" altLang="en-GB" sz="1200" smtClean="0"/>
            </a:fld>
            <a:endParaRPr lang="en-GB" altLang="zh-CN"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ADFAFBF-4D34-47AD-B407-9FC66E46C539}" type="slidenum">
              <a:rPr lang="zh-CN" altLang="en-GB" sz="1200" smtClean="0"/>
            </a:fld>
            <a:endParaRPr lang="en-GB" altLang="zh-CN" sz="1200"/>
          </a:p>
        </p:txBody>
      </p:sp>
      <p:sp>
        <p:nvSpPr>
          <p:cNvPr id="95235" name="Rectangle 1026"/>
          <p:cNvSpPr>
            <a:spLocks noGrp="1" noRot="1" noChangeAspect="1" noChangeArrowheads="1" noTextEdit="1"/>
          </p:cNvSpPr>
          <p:nvPr>
            <p:ph type="sldImg"/>
          </p:nvPr>
        </p:nvSpPr>
        <p:spPr>
          <a:xfrm>
            <a:off x="800100" y="6438900"/>
            <a:ext cx="5194300" cy="2922588"/>
          </a:xfrm>
        </p:spPr>
      </p:sp>
      <p:sp>
        <p:nvSpPr>
          <p:cNvPr id="95236" name="Rectangle 1028"/>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xfrm>
            <a:off x="800100" y="6438900"/>
            <a:ext cx="5194300" cy="2922588"/>
          </a:xfrm>
        </p:spPr>
      </p:sp>
      <p:sp>
        <p:nvSpPr>
          <p:cNvPr id="860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a:t>
            </a:r>
            <a:r>
              <a:rPr lang="en-US" altLang="zh-CN" dirty="0"/>
              <a:t>2-11</a:t>
            </a:r>
            <a:r>
              <a:rPr lang="zh-CN" altLang="en-US" dirty="0"/>
              <a:t> 简单的静态导入</a:t>
            </a:r>
            <a:endParaRPr lang="zh-CN" altLang="en-US" dirty="0"/>
          </a:p>
        </p:txBody>
      </p:sp>
      <p:sp>
        <p:nvSpPr>
          <p:cNvPr id="860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CD6427E5-DF46-4E67-B901-E62D08BC1562}" type="slidenum">
              <a:rPr kumimoji="1" lang="zh-CN" altLang="en-GB" sz="1200" b="0" i="0" u="none" strike="noStrike" kern="1200" cap="none" spc="0" normalizeH="0" baseline="0" noProof="0" smtClean="0">
                <a:ln>
                  <a:noFill/>
                </a:ln>
                <a:solidFill>
                  <a:srgbClr val="000000"/>
                </a:solidFill>
                <a:effectLst/>
                <a:uLnTx/>
                <a:uFillTx/>
                <a:latin typeface="Times New Roman" panose="02020603050405020304" pitchFamily="18" charset="0"/>
                <a:ea typeface="隶书" panose="02010509060101010101" pitchFamily="49" charset="-122"/>
                <a:cs typeface="+mn-cs"/>
              </a:rPr>
            </a:fld>
            <a:endParaRPr kumimoji="1" lang="en-GB" altLang="zh-CN" sz="1200" b="0" i="0" u="none" strike="noStrike" kern="1200" cap="none" spc="0" normalizeH="0" baseline="0" noProof="0">
              <a:ln>
                <a:noFill/>
              </a:ln>
              <a:solidFill>
                <a:srgbClr val="000000"/>
              </a:solidFill>
              <a:effectLst/>
              <a:uLnTx/>
              <a:uFillTx/>
              <a:latin typeface="Times New Roman" panose="02020603050405020304" pitchFamily="18" charset="0"/>
              <a:ea typeface="隶书" panose="02010509060101010101" pitchFamily="49" charset="-122"/>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A03436D-2A23-433B-84E7-5D342F604D53}" type="slidenum">
              <a:rPr lang="zh-CN" altLang="en-GB" sz="1200" smtClean="0"/>
            </a:fld>
            <a:endParaRPr lang="en-GB" altLang="zh-CN" sz="1200"/>
          </a:p>
        </p:txBody>
      </p:sp>
      <p:sp>
        <p:nvSpPr>
          <p:cNvPr id="100355" name="Rectangle 2"/>
          <p:cNvSpPr>
            <a:spLocks noGrp="1" noRot="1" noChangeAspect="1" noChangeArrowheads="1" noTextEdit="1"/>
          </p:cNvSpPr>
          <p:nvPr>
            <p:ph type="sldImg"/>
          </p:nvPr>
        </p:nvSpPr>
        <p:spPr>
          <a:xfrm>
            <a:off x="800100" y="6438900"/>
            <a:ext cx="5194300" cy="2922588"/>
          </a:xfrm>
        </p:spPr>
      </p:sp>
      <p:sp>
        <p:nvSpPr>
          <p:cNvPr id="100356" name="Rectangle 4"/>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F893B9F-1049-43AC-9105-3D0C85A1DF84}" type="slidenum">
              <a:rPr lang="zh-CN" altLang="en-GB" sz="1200" smtClean="0"/>
            </a:fld>
            <a:endParaRPr lang="en-GB" altLang="zh-CN" sz="1200"/>
          </a:p>
        </p:txBody>
      </p:sp>
      <p:sp>
        <p:nvSpPr>
          <p:cNvPr id="102403" name="Rectangle 2"/>
          <p:cNvSpPr>
            <a:spLocks noGrp="1" noRot="1" noChangeAspect="1" noChangeArrowheads="1" noTextEdit="1"/>
          </p:cNvSpPr>
          <p:nvPr>
            <p:ph type="sldImg"/>
          </p:nvPr>
        </p:nvSpPr>
        <p:spPr>
          <a:xfrm>
            <a:off x="800100" y="6438900"/>
            <a:ext cx="5194300" cy="2922588"/>
          </a:xfrm>
        </p:spPr>
      </p:sp>
      <p:sp>
        <p:nvSpPr>
          <p:cNvPr id="102404" name="Rectangle 4"/>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835448C-881D-422C-83E6-156E4CB4FD80}" type="slidenum">
              <a:rPr lang="zh-CN" altLang="en-GB" sz="1200" smtClean="0"/>
            </a:fld>
            <a:endParaRPr lang="en-GB" altLang="zh-CN" sz="1200"/>
          </a:p>
        </p:txBody>
      </p:sp>
      <p:sp>
        <p:nvSpPr>
          <p:cNvPr id="104451" name="Rectangle 2"/>
          <p:cNvSpPr>
            <a:spLocks noGrp="1" noRot="1" noChangeAspect="1" noChangeArrowheads="1" noTextEdit="1"/>
          </p:cNvSpPr>
          <p:nvPr>
            <p:ph type="sldImg"/>
          </p:nvPr>
        </p:nvSpPr>
        <p:spPr>
          <a:xfrm>
            <a:off x="800100" y="6438900"/>
            <a:ext cx="5194300" cy="2922588"/>
          </a:xfrm>
        </p:spPr>
      </p:sp>
      <p:sp>
        <p:nvSpPr>
          <p:cNvPr id="1044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GB" dirty="0">
                <a:latin typeface="Trebuchet MS" panose="020B0603020202020204" pitchFamily="34" charset="0"/>
              </a:rPr>
              <a:t>类</a:t>
            </a:r>
            <a:r>
              <a:rPr lang="zh-CN" altLang="en-US" dirty="0">
                <a:latin typeface="Trebuchet MS" panose="020B0603020202020204" pitchFamily="34" charset="0"/>
              </a:rPr>
              <a:t>成员在不同范围是否可以被访问</a:t>
            </a:r>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a:t>
            </a:r>
            <a:r>
              <a:rPr lang="en-US" altLang="zh-CN" dirty="0"/>
              <a:t>2-12</a:t>
            </a:r>
            <a:r>
              <a:rPr lang="zh-CN" altLang="en-US" dirty="0"/>
              <a:t> 改进的圆类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a:t>
            </a:r>
            <a:r>
              <a:rPr lang="en-US" altLang="zh-CN" dirty="0"/>
              <a:t>2-12</a:t>
            </a:r>
            <a:r>
              <a:rPr lang="zh-CN" altLang="en-US" dirty="0"/>
              <a:t> 改进的圆类（续）</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a:t>
            </a:r>
            <a:r>
              <a:rPr lang="en-US" altLang="zh-CN" dirty="0"/>
              <a:t>2-12</a:t>
            </a:r>
            <a:r>
              <a:rPr lang="zh-CN" altLang="en-US" dirty="0"/>
              <a:t> 改进的圆类（续）</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xfrm>
            <a:off x="800100" y="6438900"/>
            <a:ext cx="5194300" cy="2922588"/>
          </a:xfrm>
        </p:spPr>
      </p:sp>
      <p:sp>
        <p:nvSpPr>
          <p:cNvPr id="1105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5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ea typeface="隶书" panose="02010509060101010101" pitchFamily="49" charset="-122"/>
              </a:defRPr>
            </a:lvl1pPr>
            <a:lvl2pPr marL="742950" indent="-285750">
              <a:defRPr sz="2400">
                <a:solidFill>
                  <a:schemeClr val="tx1"/>
                </a:solidFill>
                <a:latin typeface="Times New Roman" panose="02020603050405020304" pitchFamily="18" charset="0"/>
                <a:ea typeface="隶书" panose="02010509060101010101" pitchFamily="49" charset="-122"/>
              </a:defRPr>
            </a:lvl2pPr>
            <a:lvl3pPr marL="1143000" indent="-228600">
              <a:defRPr sz="2400">
                <a:solidFill>
                  <a:schemeClr val="tx1"/>
                </a:solidFill>
                <a:latin typeface="Times New Roman" panose="02020603050405020304" pitchFamily="18" charset="0"/>
                <a:ea typeface="隶书" panose="02010509060101010101" pitchFamily="49" charset="-122"/>
              </a:defRPr>
            </a:lvl3pPr>
            <a:lvl4pPr marL="1600200" indent="-228600">
              <a:defRPr sz="2400">
                <a:solidFill>
                  <a:schemeClr val="tx1"/>
                </a:solidFill>
                <a:latin typeface="Times New Roman" panose="02020603050405020304" pitchFamily="18" charset="0"/>
                <a:ea typeface="隶书" panose="02010509060101010101" pitchFamily="49" charset="-122"/>
              </a:defRPr>
            </a:lvl4pPr>
            <a:lvl5pPr marL="2057400" indent="-228600">
              <a:defRPr sz="2400">
                <a:solidFill>
                  <a:schemeClr val="tx1"/>
                </a:solidFill>
                <a:latin typeface="Times New Roman" panose="02020603050405020304" pitchFamily="18" charset="0"/>
                <a:ea typeface="隶书" panose="02010509060101010101" pitchFamily="49" charset="-122"/>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隶书" panose="02010509060101010101" pitchFamily="49" charset="-122"/>
              </a:defRPr>
            </a:lvl9pPr>
          </a:lstStyle>
          <a:p>
            <a:fld id="{30897192-A9C3-45ED-8F60-066CCA2F1550}" type="slidenum">
              <a:rPr lang="zh-CN" altLang="en-GB" sz="1200" smtClean="0"/>
            </a:fld>
            <a:endParaRPr lang="en-GB" altLang="zh-CN"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AF1691A-5069-42E7-8B2B-9D41DCF5836A}" type="slidenum">
              <a:rPr lang="zh-CN" altLang="en-GB" sz="1200" smtClean="0"/>
            </a:fld>
            <a:endParaRPr lang="en-GB" altLang="zh-CN" sz="1200"/>
          </a:p>
        </p:txBody>
      </p:sp>
      <p:sp>
        <p:nvSpPr>
          <p:cNvPr id="115715" name="Rectangle 2"/>
          <p:cNvSpPr>
            <a:spLocks noGrp="1" noRot="1" noChangeAspect="1" noChangeArrowheads="1" noTextEdit="1"/>
          </p:cNvSpPr>
          <p:nvPr>
            <p:ph type="sldImg"/>
          </p:nvPr>
        </p:nvSpPr>
        <p:spPr>
          <a:xfrm>
            <a:off x="800100" y="6438900"/>
            <a:ext cx="5194300" cy="2922588"/>
          </a:xfrm>
        </p:spPr>
      </p:sp>
      <p:sp>
        <p:nvSpPr>
          <p:cNvPr id="115716" name="Rectangle 4"/>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xfrm>
            <a:off x="800100" y="6438900"/>
            <a:ext cx="5194300" cy="2922588"/>
          </a:xfrm>
        </p:spPr>
      </p:sp>
      <p:sp>
        <p:nvSpPr>
          <p:cNvPr id="11981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例</a:t>
            </a:r>
            <a:r>
              <a:rPr lang="en-US" altLang="zh-CN" dirty="0"/>
              <a:t>2-13</a:t>
            </a:r>
            <a:r>
              <a:rPr lang="zh-CN" altLang="en-US" dirty="0"/>
              <a:t> 一个银行帐号类及测试代码</a:t>
            </a:r>
            <a:endParaRPr lang="zh-CN" altLang="en-US" dirty="0"/>
          </a:p>
        </p:txBody>
      </p:sp>
      <p:sp>
        <p:nvSpPr>
          <p:cNvPr id="11981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27F8E82-56CC-4DC4-9BE4-C4B1E9D88285}" type="slidenum">
              <a:rPr lang="zh-CN" altLang="en-GB" sz="1200" smtClean="0"/>
            </a:fld>
            <a:endParaRPr lang="en-GB" altLang="zh-CN" sz="120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自定义构造方法与方法重载</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a:t>
            </a:r>
            <a:r>
              <a:rPr lang="en-US" altLang="zh-CN" dirty="0"/>
              <a:t>2-14</a:t>
            </a:r>
            <a:r>
              <a:rPr lang="zh-CN" altLang="en-US" dirty="0"/>
              <a:t> 自定义构造方法</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例</a:t>
            </a:r>
            <a:r>
              <a:rPr lang="en-US" altLang="zh-CN" dirty="0"/>
              <a:t>2-14</a:t>
            </a:r>
            <a:r>
              <a:rPr lang="zh-CN" altLang="en-US" dirty="0"/>
              <a:t> 自定义构造方法（续）</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2-15</a:t>
            </a:r>
            <a:r>
              <a:rPr lang="zh-CN" altLang="en-US" dirty="0">
                <a:latin typeface="Times New Roman" panose="02020603050405020304" pitchFamily="18" charset="0"/>
              </a:rPr>
              <a:t> 使用</a:t>
            </a:r>
            <a:r>
              <a:rPr lang="en-US" altLang="zh-CN" dirty="0">
                <a:latin typeface="Times New Roman" panose="02020603050405020304" pitchFamily="18" charset="0"/>
              </a:rPr>
              <a:t>this</a:t>
            </a:r>
            <a:r>
              <a:rPr lang="zh-CN" altLang="en-US" dirty="0">
                <a:latin typeface="Times New Roman" panose="02020603050405020304" pitchFamily="18" charset="0"/>
              </a:rPr>
              <a:t>的重载构造方法</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A10DC04-93C6-49D2-981E-6A7DCDB4FCEE}" type="slidenum">
              <a:rPr lang="zh-CN" altLang="en-GB" sz="1200" smtClean="0"/>
            </a:fld>
            <a:endParaRPr lang="en-GB" altLang="zh-CN" sz="1200"/>
          </a:p>
        </p:txBody>
      </p:sp>
      <p:sp>
        <p:nvSpPr>
          <p:cNvPr id="58371" name="Rectangle 2"/>
          <p:cNvSpPr>
            <a:spLocks noGrp="1" noRot="1" noChangeAspect="1" noChangeArrowheads="1" noTextEdit="1"/>
          </p:cNvSpPr>
          <p:nvPr>
            <p:ph type="sldImg"/>
          </p:nvPr>
        </p:nvSpPr>
        <p:spPr>
          <a:xfrm>
            <a:off x="800100" y="6438900"/>
            <a:ext cx="5194300" cy="2922588"/>
          </a:xfrm>
        </p:spPr>
      </p:sp>
      <p:sp>
        <p:nvSpPr>
          <p:cNvPr id="583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600" dirty="0">
                <a:latin typeface="Times New Roman" panose="02020603050405020304" pitchFamily="18" charset="0"/>
                <a:ea typeface="楷体" panose="02010609060101010101" pitchFamily="49" charset="-122"/>
              </a:rPr>
              <a:t>对象的可取值为可列举的特定的值时，可以使用枚举类型</a:t>
            </a:r>
            <a:endParaRPr lang="zh-CN" altLang="en-US" dirty="0"/>
          </a:p>
        </p:txBody>
      </p:sp>
      <p:sp>
        <p:nvSpPr>
          <p:cNvPr id="4" name="灯片编号占位符 3"/>
          <p:cNvSpPr>
            <a:spLocks noGrp="1"/>
          </p:cNvSpPr>
          <p:nvPr>
            <p:ph type="sldNum" sz="quarter" idx="10"/>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2-16</a:t>
            </a:r>
            <a:r>
              <a:rPr lang="zh-CN" altLang="en-US" dirty="0">
                <a:latin typeface="Times New Roman" panose="02020603050405020304" pitchFamily="18" charset="0"/>
              </a:rPr>
              <a:t> 简单的枚举类型</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2-17</a:t>
            </a:r>
            <a:r>
              <a:rPr lang="zh-CN" altLang="en-US" dirty="0">
                <a:latin typeface="Times New Roman" panose="02020603050405020304" pitchFamily="18" charset="0"/>
              </a:rPr>
              <a:t> 枚举类型的方法举例</a:t>
            </a:r>
            <a:endParaRPr lang="zh-CN" altLang="en-US" dirty="0"/>
          </a:p>
        </p:txBody>
      </p:sp>
      <p:sp>
        <p:nvSpPr>
          <p:cNvPr id="4" name="灯片编号占位符 3"/>
          <p:cNvSpPr>
            <a:spLocks noGrp="1"/>
          </p:cNvSpPr>
          <p:nvPr>
            <p:ph type="sldNum" sz="quarter" idx="10"/>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2-18</a:t>
            </a:r>
            <a:r>
              <a:rPr lang="zh-CN" altLang="en-US" dirty="0">
                <a:latin typeface="Times New Roman" panose="02020603050405020304" pitchFamily="18" charset="0"/>
              </a:rPr>
              <a:t> 枚举类自定义属性方法</a:t>
            </a:r>
            <a:endParaRPr lang="zh-CN" altLang="en-US" dirty="0"/>
          </a:p>
        </p:txBody>
      </p:sp>
      <p:sp>
        <p:nvSpPr>
          <p:cNvPr id="4" name="灯片编号占位符 3"/>
          <p:cNvSpPr>
            <a:spLocks noGrp="1"/>
          </p:cNvSpPr>
          <p:nvPr>
            <p:ph type="sldNum" sz="quarter" idx="10"/>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2-18</a:t>
            </a:r>
            <a:r>
              <a:rPr lang="zh-CN" altLang="en-US" dirty="0">
                <a:latin typeface="Times New Roman" panose="02020603050405020304" pitchFamily="18" charset="0"/>
              </a:rPr>
              <a:t> 枚举类自定义属性方法（续）</a:t>
            </a:r>
            <a:endParaRPr lang="zh-CN" altLang="en-US" dirty="0"/>
          </a:p>
        </p:txBody>
      </p:sp>
      <p:sp>
        <p:nvSpPr>
          <p:cNvPr id="4" name="灯片编号占位符 3"/>
          <p:cNvSpPr>
            <a:spLocks noGrp="1"/>
          </p:cNvSpPr>
          <p:nvPr>
            <p:ph type="sldNum" sz="quarter" idx="10"/>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dirty="0">
                <a:latin typeface="Times New Roman" panose="02020603050405020304" pitchFamily="18" charset="0"/>
              </a:rPr>
              <a:t>例</a:t>
            </a:r>
            <a:r>
              <a:rPr lang="en-US" altLang="zh-CN" sz="1600" dirty="0">
                <a:latin typeface="Times New Roman" panose="02020603050405020304" pitchFamily="18" charset="0"/>
              </a:rPr>
              <a:t>2-19</a:t>
            </a:r>
            <a:r>
              <a:rPr lang="zh-CN" altLang="en-US" sz="1600" dirty="0">
                <a:latin typeface="Times New Roman" panose="02020603050405020304" pitchFamily="18" charset="0"/>
              </a:rPr>
              <a:t> 初步的</a:t>
            </a:r>
            <a:r>
              <a:rPr lang="en-GB" altLang="zh-CN" sz="1600" dirty="0" err="1">
                <a:latin typeface="Times New Roman" panose="02020603050405020304" pitchFamily="18" charset="0"/>
              </a:rPr>
              <a:t>BankAccount</a:t>
            </a:r>
            <a:r>
              <a:rPr lang="zh-CN" altLang="en-GB" sz="1600" dirty="0">
                <a:latin typeface="Times New Roman" panose="02020603050405020304" pitchFamily="18" charset="0"/>
              </a:rPr>
              <a:t>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2-19</a:t>
            </a:r>
            <a:r>
              <a:rPr lang="zh-CN" altLang="en-US" dirty="0">
                <a:latin typeface="Times New Roman" panose="02020603050405020304" pitchFamily="18" charset="0"/>
              </a:rPr>
              <a:t> 初步的</a:t>
            </a:r>
            <a:r>
              <a:rPr lang="en-GB" altLang="zh-CN" dirty="0" err="1">
                <a:latin typeface="Times New Roman" panose="02020603050405020304" pitchFamily="18" charset="0"/>
              </a:rPr>
              <a:t>BankAccount</a:t>
            </a:r>
            <a:r>
              <a:rPr lang="zh-CN" altLang="en-GB" dirty="0">
                <a:latin typeface="Times New Roman" panose="02020603050405020304" pitchFamily="18" charset="0"/>
              </a:rPr>
              <a:t>类</a:t>
            </a:r>
            <a:r>
              <a:rPr lang="zh-CN" altLang="en-US" dirty="0">
                <a:latin typeface="Times New Roman" panose="02020603050405020304" pitchFamily="18" charset="0"/>
              </a:rPr>
              <a:t>（续）</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2-19</a:t>
            </a:r>
            <a:r>
              <a:rPr lang="zh-CN" altLang="en-US" dirty="0">
                <a:latin typeface="Times New Roman" panose="02020603050405020304" pitchFamily="18" charset="0"/>
              </a:rPr>
              <a:t> 初步的</a:t>
            </a:r>
            <a:r>
              <a:rPr lang="en-GB" altLang="zh-CN" dirty="0" err="1">
                <a:latin typeface="Times New Roman" panose="02020603050405020304" pitchFamily="18" charset="0"/>
              </a:rPr>
              <a:t>BankAccount</a:t>
            </a:r>
            <a:r>
              <a:rPr lang="zh-CN" altLang="en-GB" dirty="0">
                <a:latin typeface="Times New Roman" panose="02020603050405020304" pitchFamily="18" charset="0"/>
              </a:rPr>
              <a:t>类</a:t>
            </a:r>
            <a:r>
              <a:rPr lang="zh-CN" altLang="en-US" dirty="0">
                <a:latin typeface="Times New Roman" panose="02020603050405020304" pitchFamily="18" charset="0"/>
              </a:rPr>
              <a:t>（续）</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EC50818-1D25-4BEB-B636-ABEAECEA2A08}" type="slidenum">
              <a:rPr lang="zh-CN" altLang="en-GB" sz="1200" smtClean="0"/>
            </a:fld>
            <a:endParaRPr lang="en-GB" altLang="zh-CN" sz="1200"/>
          </a:p>
        </p:txBody>
      </p:sp>
      <p:sp>
        <p:nvSpPr>
          <p:cNvPr id="147459" name="Rectangle 2"/>
          <p:cNvSpPr>
            <a:spLocks noGrp="1" noRot="1" noChangeAspect="1" noChangeArrowheads="1" noTextEdit="1"/>
          </p:cNvSpPr>
          <p:nvPr>
            <p:ph type="sldImg"/>
          </p:nvPr>
        </p:nvSpPr>
        <p:spPr>
          <a:xfrm>
            <a:off x="800100" y="6438900"/>
            <a:ext cx="5194300" cy="2922588"/>
          </a:xfrm>
        </p:spPr>
      </p:sp>
      <p:sp>
        <p:nvSpPr>
          <p:cNvPr id="147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Object </a:t>
            </a:r>
            <a:r>
              <a:rPr lang="zh-CN" altLang="en-US" dirty="0"/>
              <a:t>提供的 </a:t>
            </a:r>
            <a:r>
              <a:rPr lang="en-US" altLang="zh-CN" dirty="0" err="1"/>
              <a:t>hashCode</a:t>
            </a:r>
            <a:r>
              <a:rPr lang="en-US" altLang="zh-CN" dirty="0"/>
              <a:t>() </a:t>
            </a:r>
            <a:r>
              <a:rPr lang="zh-CN" altLang="en-US" dirty="0"/>
              <a:t>的缺省实施通过将对象的内存地址对映于一个整数值来生成。 </a:t>
            </a:r>
            <a:endParaRPr lang="zh-CN" altLang="en-US" dirty="0"/>
          </a:p>
          <a:p>
            <a:pPr eaLnBrk="1" hangingPunct="1"/>
            <a:endParaRPr lang="zh-CN" altLang="en-US" dirty="0"/>
          </a:p>
          <a:p>
            <a:pPr eaLnBrk="1" hangingPunct="1"/>
            <a:r>
              <a:rPr lang="en-US" altLang="zh-CN" dirty="0"/>
              <a:t>As much as is reasonably practical, the </a:t>
            </a:r>
            <a:r>
              <a:rPr lang="en-US" altLang="zh-CN" dirty="0" err="1"/>
              <a:t>hashCode</a:t>
            </a:r>
            <a:r>
              <a:rPr lang="en-US" altLang="zh-CN" dirty="0"/>
              <a:t> method defined by class Object does return distinct integers for distinct objects. (This is typically implemented by converting the internal address of the object into an integer, but this implementation technique is not required by the </a:t>
            </a:r>
            <a:r>
              <a:rPr lang="en-US" altLang="zh-CN" dirty="0" err="1"/>
              <a:t>JavaTM</a:t>
            </a:r>
            <a:r>
              <a:rPr lang="en-US" altLang="zh-CN" dirty="0"/>
              <a:t> programming language.) </a:t>
            </a:r>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2-20</a:t>
            </a:r>
            <a:r>
              <a:rPr lang="zh-CN" altLang="en-US" dirty="0">
                <a:latin typeface="Times New Roman" panose="02020603050405020304" pitchFamily="18" charset="0"/>
              </a:rPr>
              <a:t> 覆盖</a:t>
            </a:r>
            <a:r>
              <a:rPr lang="en-GB" altLang="zh-CN" dirty="0" err="1">
                <a:latin typeface="Times New Roman" panose="02020603050405020304" pitchFamily="18" charset="0"/>
              </a:rPr>
              <a:t>toString</a:t>
            </a:r>
            <a:r>
              <a:rPr lang="en-GB" altLang="zh-CN" dirty="0">
                <a:latin typeface="Times New Roman" panose="02020603050405020304" pitchFamily="18" charset="0"/>
              </a:rPr>
              <a:t>()</a:t>
            </a:r>
            <a:r>
              <a:rPr lang="zh-CN" altLang="en-GB" dirty="0">
                <a:latin typeface="Times New Roman" panose="02020603050405020304" pitchFamily="18" charset="0"/>
              </a:rPr>
              <a:t>方法</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C013B33-1CA0-4F30-B03A-AE1E0717917D}" type="slidenum">
              <a:rPr lang="zh-CN" altLang="en-GB" sz="1200" smtClean="0"/>
            </a:fld>
            <a:endParaRPr lang="en-GB" altLang="zh-CN" sz="1200"/>
          </a:p>
        </p:txBody>
      </p:sp>
      <p:sp>
        <p:nvSpPr>
          <p:cNvPr id="152579" name="Rectangle 2"/>
          <p:cNvSpPr>
            <a:spLocks noGrp="1" noRot="1" noChangeAspect="1" noChangeArrowheads="1" noTextEdit="1"/>
          </p:cNvSpPr>
          <p:nvPr>
            <p:ph type="sldImg"/>
          </p:nvPr>
        </p:nvSpPr>
        <p:spPr>
          <a:xfrm>
            <a:off x="800100" y="6438900"/>
            <a:ext cx="5194300" cy="2922588"/>
          </a:xfrm>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600" dirty="0">
                <a:latin typeface="Times New Roman" panose="02020603050405020304" pitchFamily="18" charset="0"/>
              </a:rPr>
              <a:t>例</a:t>
            </a:r>
            <a:r>
              <a:rPr lang="en-US" altLang="zh-CN" sz="1600" dirty="0">
                <a:latin typeface="Times New Roman" panose="02020603050405020304" pitchFamily="18" charset="0"/>
              </a:rPr>
              <a:t>2-21</a:t>
            </a:r>
            <a:r>
              <a:rPr lang="zh-CN" altLang="en-US" sz="1600" dirty="0">
                <a:latin typeface="Times New Roman" panose="02020603050405020304" pitchFamily="18" charset="0"/>
              </a:rPr>
              <a:t> </a:t>
            </a:r>
            <a:r>
              <a:rPr lang="zh-CN" altLang="en-GB" sz="1600" dirty="0">
                <a:latin typeface="Times New Roman" panose="02020603050405020304" pitchFamily="18" charset="0"/>
              </a:rPr>
              <a:t>存取款方法</a:t>
            </a:r>
            <a:endParaRPr lang="en-US"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dirty="0">
                <a:latin typeface="Times New Roman" panose="02020603050405020304" pitchFamily="18" charset="0"/>
              </a:rPr>
              <a:t>例</a:t>
            </a:r>
            <a:r>
              <a:rPr lang="en-US" altLang="zh-CN" sz="1600" dirty="0">
                <a:latin typeface="Times New Roman" panose="02020603050405020304" pitchFamily="18" charset="0"/>
              </a:rPr>
              <a:t>2-21</a:t>
            </a:r>
            <a:r>
              <a:rPr lang="zh-CN" altLang="en-US" sz="1600" dirty="0">
                <a:latin typeface="Times New Roman" panose="02020603050405020304" pitchFamily="18" charset="0"/>
              </a:rPr>
              <a:t> </a:t>
            </a:r>
            <a:r>
              <a:rPr lang="zh-CN" altLang="en-GB" sz="1600" dirty="0">
                <a:latin typeface="Times New Roman" panose="02020603050405020304" pitchFamily="18" charset="0"/>
              </a:rPr>
              <a:t>存取款方法</a:t>
            </a:r>
            <a:r>
              <a:rPr lang="zh-CN" altLang="en-US" sz="1600" dirty="0">
                <a:latin typeface="Times New Roman" panose="02020603050405020304" pitchFamily="18" charset="0"/>
              </a:rPr>
              <a:t>（续）</a:t>
            </a:r>
            <a:endParaRPr lang="zh-CN" altLang="en-US" dirty="0"/>
          </a:p>
        </p:txBody>
      </p:sp>
      <p:sp>
        <p:nvSpPr>
          <p:cNvPr id="4" name="灯片编号占位符 3"/>
          <p:cNvSpPr>
            <a:spLocks noGrp="1"/>
          </p:cNvSpPr>
          <p:nvPr>
            <p:ph type="sldNum" sz="quarter" idx="10"/>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dirty="0" err="1">
                <a:latin typeface="Times New Roman" panose="02020603050405020304" pitchFamily="18" charset="0"/>
              </a:rPr>
              <a:t>DecimalFormat</a:t>
            </a:r>
            <a:r>
              <a:rPr lang="zh-CN" altLang="en-GB" dirty="0">
                <a:latin typeface="Times New Roman" panose="02020603050405020304" pitchFamily="18" charset="0"/>
              </a:rPr>
              <a:t>类</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2-22</a:t>
            </a:r>
            <a:r>
              <a:rPr lang="zh-CN" altLang="en-US" dirty="0">
                <a:latin typeface="Times New Roman" panose="02020603050405020304" pitchFamily="18" charset="0"/>
              </a:rPr>
              <a:t> 格式化输出的</a:t>
            </a:r>
            <a:r>
              <a:rPr lang="en-US" altLang="zh-CN" dirty="0" err="1">
                <a:latin typeface="Times New Roman" panose="02020603050405020304" pitchFamily="18" charset="0"/>
              </a:rPr>
              <a:t>BankAccount</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2-23</a:t>
            </a:r>
            <a:r>
              <a:rPr lang="zh-CN" altLang="en-US" dirty="0">
                <a:latin typeface="Times New Roman" panose="02020603050405020304" pitchFamily="18" charset="0"/>
              </a:rPr>
              <a:t> 使用静态工厂方法生成实例</a:t>
            </a:r>
            <a:endParaRPr lang="zh-CN" altLang="en-US" dirty="0"/>
          </a:p>
        </p:txBody>
      </p:sp>
      <p:sp>
        <p:nvSpPr>
          <p:cNvPr id="4" name="灯片编号占位符 3"/>
          <p:cNvSpPr>
            <a:spLocks noGrp="1"/>
          </p:cNvSpPr>
          <p:nvPr>
            <p:ph type="sldNum" sz="quarter" idx="10"/>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600" dirty="0">
                <a:latin typeface="Times New Roman" panose="02020603050405020304" pitchFamily="18" charset="0"/>
              </a:rPr>
              <a:t>修改账号生成、余额变动方式</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2-24</a:t>
            </a:r>
            <a:r>
              <a:rPr lang="zh-CN" altLang="en-US" dirty="0">
                <a:latin typeface="Times New Roman" panose="02020603050405020304" pitchFamily="18" charset="0"/>
              </a:rPr>
              <a:t> 完整的</a:t>
            </a:r>
            <a:r>
              <a:rPr lang="en-US" altLang="zh-CN" dirty="0">
                <a:latin typeface="Times New Roman" panose="02020603050405020304" pitchFamily="18" charset="0"/>
              </a:rPr>
              <a:t>BankAccount2</a:t>
            </a:r>
            <a:r>
              <a:rPr lang="zh-CN" altLang="en-US" dirty="0">
                <a:latin typeface="Times New Roman" panose="02020603050405020304" pitchFamily="18" charset="0"/>
              </a:rPr>
              <a:t> </a:t>
            </a:r>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a:xfrm>
            <a:off x="800100" y="6438900"/>
            <a:ext cx="5194300" cy="2922588"/>
          </a:xfrm>
        </p:spPr>
      </p:sp>
      <p:sp>
        <p:nvSpPr>
          <p:cNvPr id="1638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638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6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8B99824-8698-4AAC-A4E3-04C1FE8DAB54}" type="slidenum">
              <a:rPr lang="zh-CN" altLang="en-GB" sz="1200" smtClean="0"/>
            </a:fld>
            <a:endParaRPr lang="en-GB" altLang="zh-CN" sz="120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Times New Roman" panose="02020603050405020304" pitchFamily="18" charset="0"/>
              </a:rPr>
              <a:t>例</a:t>
            </a:r>
            <a:r>
              <a:rPr lang="en-US" altLang="zh-CN" dirty="0">
                <a:latin typeface="Times New Roman" panose="02020603050405020304" pitchFamily="18" charset="0"/>
              </a:rPr>
              <a:t>2-24</a:t>
            </a:r>
            <a:r>
              <a:rPr lang="zh-CN" altLang="en-US" dirty="0">
                <a:latin typeface="Times New Roman" panose="02020603050405020304" pitchFamily="18" charset="0"/>
              </a:rPr>
              <a:t> 完整的</a:t>
            </a:r>
            <a:r>
              <a:rPr lang="en-US" altLang="zh-CN" dirty="0">
                <a:latin typeface="Times New Roman" panose="02020603050405020304" pitchFamily="18" charset="0"/>
              </a:rPr>
              <a:t>BankAccount2</a:t>
            </a:r>
            <a:r>
              <a:rPr lang="zh-CN" altLang="en-US" dirty="0">
                <a:latin typeface="Times New Roman" panose="02020603050405020304" pitchFamily="18" charset="0"/>
              </a:rPr>
              <a:t> （续）</a:t>
            </a:r>
            <a:endParaRPr kumimoji="1"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8055">
              <a:spcBef>
                <a:spcPct val="30000"/>
              </a:spcBef>
              <a:defRPr sz="1200">
                <a:solidFill>
                  <a:schemeClr val="tx1"/>
                </a:solidFill>
                <a:latin typeface="Times New Roman" panose="02020603050405020304" pitchFamily="18" charset="0"/>
              </a:defRPr>
            </a:lvl1pPr>
            <a:lvl2pPr marL="742950" indent="-285750" defTabSz="948055">
              <a:spcBef>
                <a:spcPct val="30000"/>
              </a:spcBef>
              <a:defRPr sz="1200">
                <a:solidFill>
                  <a:schemeClr val="tx1"/>
                </a:solidFill>
                <a:latin typeface="Times New Roman" panose="02020603050405020304" pitchFamily="18" charset="0"/>
              </a:defRPr>
            </a:lvl2pPr>
            <a:lvl3pPr marL="1143000" indent="-228600" defTabSz="948055">
              <a:spcBef>
                <a:spcPct val="30000"/>
              </a:spcBef>
              <a:defRPr sz="1200">
                <a:solidFill>
                  <a:schemeClr val="tx1"/>
                </a:solidFill>
                <a:latin typeface="Times New Roman" panose="02020603050405020304" pitchFamily="18" charset="0"/>
              </a:defRPr>
            </a:lvl3pPr>
            <a:lvl4pPr marL="1600200" indent="-228600" defTabSz="948055">
              <a:spcBef>
                <a:spcPct val="30000"/>
              </a:spcBef>
              <a:defRPr sz="1200">
                <a:solidFill>
                  <a:schemeClr val="tx1"/>
                </a:solidFill>
                <a:latin typeface="Times New Roman" panose="02020603050405020304" pitchFamily="18" charset="0"/>
              </a:defRPr>
            </a:lvl4pPr>
            <a:lvl5pPr marL="2057400" indent="-228600" defTabSz="948055">
              <a:spcBef>
                <a:spcPct val="30000"/>
              </a:spcBef>
              <a:defRPr sz="1200">
                <a:solidFill>
                  <a:schemeClr val="tx1"/>
                </a:solidFill>
                <a:latin typeface="Times New Roman" panose="02020603050405020304" pitchFamily="18" charset="0"/>
              </a:defRPr>
            </a:lvl5pPr>
            <a:lvl6pPr marL="2514600" indent="-228600" defTabSz="94805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805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805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805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BFB9D0A-3864-4629-B623-31EE74FEEFD4}" type="slidenum">
              <a:rPr lang="zh-CN" altLang="en-GB" smtClean="0"/>
            </a:fld>
            <a:endParaRPr lang="en-GB" altLang="zh-CN"/>
          </a:p>
        </p:txBody>
      </p:sp>
      <p:sp>
        <p:nvSpPr>
          <p:cNvPr id="14339" name="Rectangle 2"/>
          <p:cNvSpPr>
            <a:spLocks noGrp="1" noRot="1" noChangeAspect="1" noChangeArrowheads="1" noTextEdit="1"/>
          </p:cNvSpPr>
          <p:nvPr>
            <p:ph type="sldImg"/>
          </p:nvPr>
        </p:nvSpPr>
        <p:spPr>
          <a:xfrm>
            <a:off x="139700" y="768350"/>
            <a:ext cx="6819900" cy="3836988"/>
          </a:xfrm>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latin typeface="Times New Roman" panose="02020603050405020304" pitchFamily="18" charset="0"/>
              </a:rPr>
              <a:t>例：对象数组</a:t>
            </a:r>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latin typeface="Times New Roman" panose="02020603050405020304" pitchFamily="18" charset="0"/>
              </a:rPr>
              <a:t>自定义注解举例</a:t>
            </a:r>
            <a:endParaRPr lang="zh-CN" altLang="en-US"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latin typeface="Times New Roman" panose="02020603050405020304" pitchFamily="18" charset="0"/>
              </a:rPr>
              <a:t>例</a:t>
            </a:r>
            <a:r>
              <a:rPr lang="en-US" altLang="zh-CN" dirty="0">
                <a:latin typeface="Times New Roman" panose="02020603050405020304" pitchFamily="18" charset="0"/>
              </a:rPr>
              <a:t>2-25</a:t>
            </a:r>
            <a:r>
              <a:rPr lang="zh-CN" altLang="en-US" dirty="0">
                <a:latin typeface="Times New Roman" panose="02020603050405020304" pitchFamily="18" charset="0"/>
              </a:rPr>
              <a:t> 自定义注解</a:t>
            </a:r>
            <a:endParaRPr lang="zh-CN" altLang="en-US" dirty="0">
              <a:latin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991BE164-E10A-4E17-A3FE-3122864EC3B5}" type="slidenum">
              <a:rPr lang="zh-CN" altLang="en-GB" smtClean="0"/>
            </a:fld>
            <a:endParaRPr lang="en-GB"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ags" Target="../tags/tag5.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en-US" altLang="zh-CN"/>
          </a:p>
        </p:txBody>
      </p:sp>
      <p:sp>
        <p:nvSpPr>
          <p:cNvPr id="3" name="页脚占位符 2"/>
          <p:cNvSpPr>
            <a:spLocks noGrp="1"/>
          </p:cNvSpPr>
          <p:nvPr>
            <p:ph type="ftr" sz="quarter" idx="11"/>
          </p:nvPr>
        </p:nvSpPr>
        <p:spPr/>
        <p:txBody>
          <a:bodyPr/>
          <a:lstStyle/>
          <a:p>
            <a:endParaRPr lang="en-US" altLang="zh-CN"/>
          </a:p>
        </p:txBody>
      </p:sp>
      <p:cxnSp>
        <p:nvCxnSpPr>
          <p:cNvPr id="8" name="直接连接符 7"/>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6"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1" descr="2"/>
          <p:cNvPicPr>
            <a:picLocks noChangeAspect="1" noChangeArrowheads="1"/>
          </p:cNvPicPr>
          <p:nvPr userDrawn="1">
            <p:custDataLst>
              <p:tags r:id="rId2"/>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cxnSp>
        <p:nvCxnSpPr>
          <p:cNvPr id="8" name="直接连接符 7"/>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2"/>
          <p:cNvPicPr>
            <a:picLocks noChangeAspect="1" noChangeArrowheads="1"/>
          </p:cNvPicPr>
          <p:nvPr userDrawn="1">
            <p:custDataLst>
              <p:tags r:id="rId2"/>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cxnSp>
        <p:nvCxnSpPr>
          <p:cNvPr id="8" name="直接连接符 7"/>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2"/>
          <p:cNvPicPr>
            <a:picLocks noChangeAspect="1" noChangeArrowheads="1"/>
          </p:cNvPicPr>
          <p:nvPr userDrawn="1">
            <p:custDataLst>
              <p:tags r:id="rId2"/>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4" name="日期占位符 27"/>
          <p:cNvSpPr>
            <a:spLocks noGrp="1"/>
          </p:cNvSpPr>
          <p:nvPr>
            <p:ph type="dt" sz="half" idx="10"/>
          </p:nvPr>
        </p:nvSpPr>
        <p:spPr/>
        <p:txBody>
          <a:bodyPr/>
          <a:lstStyle>
            <a:lvl1pPr>
              <a:defRPr/>
            </a:lvl1pPr>
          </a:lstStyle>
          <a:p>
            <a:pPr>
              <a:defRPr/>
            </a:pPr>
            <a:endParaRPr lang="en-US" altLang="zh-CN"/>
          </a:p>
        </p:txBody>
      </p:sp>
      <p:sp>
        <p:nvSpPr>
          <p:cNvPr id="5" name="页脚占位符 16"/>
          <p:cNvSpPr>
            <a:spLocks noGrp="1"/>
          </p:cNvSpPr>
          <p:nvPr>
            <p:ph type="ftr" sz="quarter" idx="11"/>
          </p:nvPr>
        </p:nvSpPr>
        <p:spPr/>
        <p:txBody>
          <a:bodyPr/>
          <a:lstStyle>
            <a:lvl1pPr>
              <a:defRPr/>
            </a:lvl1pPr>
          </a:lstStyle>
          <a:p>
            <a:pPr>
              <a:defRPr/>
            </a:pPr>
            <a:endParaRPr lang="en-US" altLang="zh-CN"/>
          </a:p>
        </p:txBody>
      </p:sp>
      <p:sp>
        <p:nvSpPr>
          <p:cNvPr id="6" name="灯片编号占位符 28"/>
          <p:cNvSpPr>
            <a:spLocks noGrp="1"/>
          </p:cNvSpPr>
          <p:nvPr>
            <p:ph type="sldNum" sz="quarter" idx="12"/>
          </p:nvPr>
        </p:nvSpPr>
        <p:spPr/>
        <p:txBody>
          <a:bodyPr/>
          <a:lstStyle>
            <a:lvl1pPr>
              <a:defRPr/>
            </a:lvl1pPr>
          </a:lstStyle>
          <a:p>
            <a:pPr>
              <a:defRPr/>
            </a:pPr>
            <a:fld id="{6FD65407-1EEB-46D9-A833-FD9CB25D8676}" type="slidenum">
              <a:rPr lang="en-US" altLang="zh-CN"/>
            </a:fld>
            <a:endParaRPr lang="en-US" altLang="zh-CN"/>
          </a:p>
        </p:txBody>
      </p:sp>
      <p:cxnSp>
        <p:nvCxnSpPr>
          <p:cNvPr id="7" name="直接连接符 6"/>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 descr="2"/>
          <p:cNvPicPr>
            <a:picLocks noChangeAspect="1" noChangeArrowheads="1"/>
          </p:cNvPicPr>
          <p:nvPr userDrawn="1">
            <p:custDataLst>
              <p:tags r:id="rId2"/>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4" name="日期占位符 27"/>
          <p:cNvSpPr>
            <a:spLocks noGrp="1"/>
          </p:cNvSpPr>
          <p:nvPr>
            <p:ph type="dt" sz="half" idx="10"/>
          </p:nvPr>
        </p:nvSpPr>
        <p:spPr/>
        <p:txBody>
          <a:bodyPr/>
          <a:lstStyle>
            <a:lvl1pPr>
              <a:defRPr/>
            </a:lvl1pPr>
          </a:lstStyle>
          <a:p>
            <a:pPr>
              <a:defRPr/>
            </a:pPr>
            <a:endParaRPr lang="en-US" altLang="zh-CN"/>
          </a:p>
        </p:txBody>
      </p:sp>
      <p:sp>
        <p:nvSpPr>
          <p:cNvPr id="5" name="页脚占位符 16"/>
          <p:cNvSpPr>
            <a:spLocks noGrp="1"/>
          </p:cNvSpPr>
          <p:nvPr>
            <p:ph type="ftr" sz="quarter" idx="11"/>
          </p:nvPr>
        </p:nvSpPr>
        <p:spPr/>
        <p:txBody>
          <a:bodyPr/>
          <a:lstStyle>
            <a:lvl1pPr>
              <a:defRPr/>
            </a:lvl1pPr>
          </a:lstStyle>
          <a:p>
            <a:pPr>
              <a:defRPr/>
            </a:pPr>
            <a:endParaRPr lang="en-US" altLang="zh-CN"/>
          </a:p>
        </p:txBody>
      </p:sp>
      <p:sp>
        <p:nvSpPr>
          <p:cNvPr id="6" name="灯片编号占位符 28"/>
          <p:cNvSpPr>
            <a:spLocks noGrp="1"/>
          </p:cNvSpPr>
          <p:nvPr>
            <p:ph type="sldNum" sz="quarter" idx="12"/>
          </p:nvPr>
        </p:nvSpPr>
        <p:spPr/>
        <p:txBody>
          <a:bodyPr/>
          <a:lstStyle>
            <a:lvl1pPr>
              <a:defRPr/>
            </a:lvl1pPr>
          </a:lstStyle>
          <a:p>
            <a:pPr>
              <a:defRPr/>
            </a:pPr>
            <a:fld id="{940EDD02-3C95-4CC5-A1B5-39CD513731A5}" type="slidenum">
              <a:rPr lang="en-US" altLang="zh-CN"/>
            </a:fld>
            <a:endParaRPr lang="en-US" altLang="zh-CN"/>
          </a:p>
        </p:txBody>
      </p:sp>
      <p:cxnSp>
        <p:nvCxnSpPr>
          <p:cNvPr id="7" name="直接连接符 6"/>
          <p:cNvCxnSpPr/>
          <p:nvPr userDrawn="1"/>
        </p:nvCxnSpPr>
        <p:spPr>
          <a:xfrm>
            <a:off x="0" y="692696"/>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0" y="764704"/>
            <a:ext cx="12192000" cy="0"/>
          </a:xfrm>
          <a:prstGeom prst="line">
            <a:avLst/>
          </a:prstGeom>
          <a:ln w="381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9" name="open-book_299"/>
          <p:cNvSpPr/>
          <p:nvPr userDrawn="1"/>
        </p:nvSpPr>
        <p:spPr>
          <a:xfrm>
            <a:off x="335360" y="114432"/>
            <a:ext cx="609685" cy="506257"/>
          </a:xfrm>
          <a:custGeom>
            <a:avLst/>
            <a:gdLst>
              <a:gd name="T0" fmla="*/ 88862 h 440259"/>
              <a:gd name="T1" fmla="*/ 88862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278945 h 440259"/>
              <a:gd name="T31" fmla="*/ 278945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88862 h 440259"/>
              <a:gd name="T41" fmla="*/ 88862 h 440259"/>
              <a:gd name="T42" fmla="*/ 278945 h 440259"/>
              <a:gd name="T43" fmla="*/ 278945 h 440259"/>
              <a:gd name="T44" fmla="*/ 278945 h 440259"/>
              <a:gd name="T45" fmla="*/ 278945 h 440259"/>
              <a:gd name="T46" fmla="*/ 278945 h 440259"/>
              <a:gd name="T47" fmla="*/ 278945 h 440259"/>
              <a:gd name="T48" fmla="*/ 88862 h 440259"/>
              <a:gd name="T49" fmla="*/ 88862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88862 h 440259"/>
              <a:gd name="T71" fmla="*/ 88862 h 440259"/>
              <a:gd name="T72" fmla="*/ 278945 h 440259"/>
              <a:gd name="T73" fmla="*/ 278945 h 440259"/>
              <a:gd name="T74" fmla="*/ 278945 h 440259"/>
              <a:gd name="T75" fmla="*/ 278945 h 440259"/>
              <a:gd name="T76" fmla="*/ 278945 h 440259"/>
              <a:gd name="T77" fmla="*/ 278945 h 440259"/>
              <a:gd name="T78" fmla="*/ 278945 h 440259"/>
              <a:gd name="T79" fmla="*/ 278945 h 440259"/>
              <a:gd name="T80" fmla="*/ 278945 h 440259"/>
              <a:gd name="T81" fmla="*/ 278945 h 440259"/>
              <a:gd name="T82" fmla="*/ 278945 h 440259"/>
              <a:gd name="T83" fmla="*/ 278945 h 440259"/>
              <a:gd name="T84" fmla="*/ 278945 h 440259"/>
              <a:gd name="T85" fmla="*/ 278945 h 440259"/>
              <a:gd name="T86" fmla="*/ 278945 h 440259"/>
              <a:gd name="T87" fmla="*/ 278945 h 440259"/>
              <a:gd name="T88" fmla="*/ 88862 h 440259"/>
              <a:gd name="T89" fmla="*/ 88862 h 440259"/>
              <a:gd name="T90" fmla="*/ 278945 h 440259"/>
              <a:gd name="T91" fmla="*/ 278945 h 440259"/>
              <a:gd name="T92" fmla="*/ 278945 h 440259"/>
              <a:gd name="T93" fmla="*/ 278945 h 440259"/>
              <a:gd name="T94" fmla="*/ 278945 h 440259"/>
              <a:gd name="T95" fmla="*/ 278945 h 440259"/>
              <a:gd name="T96" fmla="*/ 88862 h 440259"/>
              <a:gd name="T97" fmla="*/ 88862 h 440259"/>
              <a:gd name="T98" fmla="*/ 278945 h 440259"/>
              <a:gd name="T99" fmla="*/ 278945 h 440259"/>
              <a:gd name="T100" fmla="*/ 278945 h 440259"/>
              <a:gd name="T101" fmla="*/ 278945 h 440259"/>
              <a:gd name="T102" fmla="*/ 278945 h 440259"/>
              <a:gd name="T103" fmla="*/ 278945 h 440259"/>
              <a:gd name="T104" fmla="*/ 278945 h 440259"/>
              <a:gd name="T105" fmla="*/ 278945 h 440259"/>
              <a:gd name="T106" fmla="*/ 278945 h 440259"/>
              <a:gd name="T107" fmla="*/ 278945 h 440259"/>
              <a:gd name="T108" fmla="*/ 278945 h 440259"/>
              <a:gd name="T109" fmla="*/ 278945 h 440259"/>
              <a:gd name="T110" fmla="*/ 278945 h 440259"/>
              <a:gd name="T111" fmla="*/ 278945 h 440259"/>
              <a:gd name="T112" fmla="*/ 278945 h 440259"/>
              <a:gd name="T113" fmla="*/ 278945 h 440259"/>
              <a:gd name="T114" fmla="*/ 278945 h 440259"/>
              <a:gd name="T115" fmla="*/ 278945 h 440259"/>
              <a:gd name="T116" fmla="*/ 278945 h 440259"/>
              <a:gd name="T117"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04" h="336">
                <a:moveTo>
                  <a:pt x="387" y="133"/>
                </a:moveTo>
                <a:lnTo>
                  <a:pt x="387" y="108"/>
                </a:lnTo>
                <a:lnTo>
                  <a:pt x="386" y="102"/>
                </a:lnTo>
                <a:cubicBezTo>
                  <a:pt x="385" y="101"/>
                  <a:pt x="377" y="87"/>
                  <a:pt x="361" y="72"/>
                </a:cubicBezTo>
                <a:cubicBezTo>
                  <a:pt x="348" y="61"/>
                  <a:pt x="331" y="50"/>
                  <a:pt x="308" y="45"/>
                </a:cubicBezTo>
                <a:lnTo>
                  <a:pt x="308" y="0"/>
                </a:lnTo>
                <a:cubicBezTo>
                  <a:pt x="210" y="7"/>
                  <a:pt x="200" y="84"/>
                  <a:pt x="200" y="84"/>
                </a:cubicBezTo>
                <a:lnTo>
                  <a:pt x="200" y="85"/>
                </a:lnTo>
                <a:cubicBezTo>
                  <a:pt x="200" y="85"/>
                  <a:pt x="200" y="85"/>
                  <a:pt x="200" y="85"/>
                </a:cubicBezTo>
                <a:cubicBezTo>
                  <a:pt x="196" y="81"/>
                  <a:pt x="192" y="77"/>
                  <a:pt x="187" y="72"/>
                </a:cubicBezTo>
                <a:cubicBezTo>
                  <a:pt x="171" y="57"/>
                  <a:pt x="145" y="42"/>
                  <a:pt x="112" y="42"/>
                </a:cubicBezTo>
                <a:cubicBezTo>
                  <a:pt x="79" y="42"/>
                  <a:pt x="54" y="58"/>
                  <a:pt x="38" y="72"/>
                </a:cubicBezTo>
                <a:cubicBezTo>
                  <a:pt x="22" y="87"/>
                  <a:pt x="14" y="101"/>
                  <a:pt x="14" y="102"/>
                </a:cubicBezTo>
                <a:lnTo>
                  <a:pt x="12" y="108"/>
                </a:lnTo>
                <a:lnTo>
                  <a:pt x="12" y="133"/>
                </a:lnTo>
                <a:lnTo>
                  <a:pt x="0" y="133"/>
                </a:lnTo>
                <a:lnTo>
                  <a:pt x="0" y="336"/>
                </a:lnTo>
                <a:lnTo>
                  <a:pt x="404" y="336"/>
                </a:lnTo>
                <a:lnTo>
                  <a:pt x="404" y="133"/>
                </a:lnTo>
                <a:lnTo>
                  <a:pt x="387" y="133"/>
                </a:lnTo>
                <a:close/>
                <a:moveTo>
                  <a:pt x="72" y="295"/>
                </a:moveTo>
                <a:cubicBezTo>
                  <a:pt x="83" y="289"/>
                  <a:pt x="96" y="284"/>
                  <a:pt x="112" y="284"/>
                </a:cubicBezTo>
                <a:cubicBezTo>
                  <a:pt x="128" y="284"/>
                  <a:pt x="141" y="289"/>
                  <a:pt x="152" y="295"/>
                </a:cubicBezTo>
                <a:lnTo>
                  <a:pt x="72" y="295"/>
                </a:lnTo>
                <a:close/>
                <a:moveTo>
                  <a:pt x="186" y="286"/>
                </a:moveTo>
                <a:cubicBezTo>
                  <a:pt x="170" y="271"/>
                  <a:pt x="145" y="257"/>
                  <a:pt x="112" y="257"/>
                </a:cubicBezTo>
                <a:lnTo>
                  <a:pt x="112" y="257"/>
                </a:lnTo>
                <a:cubicBezTo>
                  <a:pt x="80" y="257"/>
                  <a:pt x="56" y="271"/>
                  <a:pt x="40" y="285"/>
                </a:cubicBezTo>
                <a:lnTo>
                  <a:pt x="40" y="112"/>
                </a:lnTo>
                <a:cubicBezTo>
                  <a:pt x="42" y="108"/>
                  <a:pt x="49" y="99"/>
                  <a:pt x="58" y="91"/>
                </a:cubicBezTo>
                <a:cubicBezTo>
                  <a:pt x="71" y="80"/>
                  <a:pt x="88" y="70"/>
                  <a:pt x="112" y="70"/>
                </a:cubicBezTo>
                <a:cubicBezTo>
                  <a:pt x="137" y="70"/>
                  <a:pt x="155" y="81"/>
                  <a:pt x="169" y="93"/>
                </a:cubicBezTo>
                <a:cubicBezTo>
                  <a:pt x="175" y="98"/>
                  <a:pt x="180" y="104"/>
                  <a:pt x="183" y="109"/>
                </a:cubicBezTo>
                <a:cubicBezTo>
                  <a:pt x="185" y="110"/>
                  <a:pt x="185" y="111"/>
                  <a:pt x="186" y="112"/>
                </a:cubicBezTo>
                <a:lnTo>
                  <a:pt x="186" y="286"/>
                </a:lnTo>
                <a:close/>
                <a:moveTo>
                  <a:pt x="286" y="24"/>
                </a:moveTo>
                <a:lnTo>
                  <a:pt x="286" y="42"/>
                </a:lnTo>
                <a:lnTo>
                  <a:pt x="286" y="70"/>
                </a:lnTo>
                <a:lnTo>
                  <a:pt x="286" y="229"/>
                </a:lnTo>
                <a:cubicBezTo>
                  <a:pt x="286" y="229"/>
                  <a:pt x="249" y="222"/>
                  <a:pt x="214" y="254"/>
                </a:cubicBezTo>
                <a:lnTo>
                  <a:pt x="214" y="112"/>
                </a:lnTo>
                <a:lnTo>
                  <a:pt x="214" y="112"/>
                </a:lnTo>
                <a:lnTo>
                  <a:pt x="214" y="96"/>
                </a:lnTo>
                <a:cubicBezTo>
                  <a:pt x="214" y="96"/>
                  <a:pt x="227" y="36"/>
                  <a:pt x="286" y="24"/>
                </a:cubicBezTo>
                <a:close/>
                <a:moveTo>
                  <a:pt x="246" y="295"/>
                </a:moveTo>
                <a:cubicBezTo>
                  <a:pt x="257" y="289"/>
                  <a:pt x="270" y="284"/>
                  <a:pt x="286" y="284"/>
                </a:cubicBezTo>
                <a:cubicBezTo>
                  <a:pt x="302" y="284"/>
                  <a:pt x="315" y="289"/>
                  <a:pt x="326" y="295"/>
                </a:cubicBezTo>
                <a:lnTo>
                  <a:pt x="246" y="295"/>
                </a:lnTo>
                <a:close/>
                <a:moveTo>
                  <a:pt x="360" y="286"/>
                </a:moveTo>
                <a:cubicBezTo>
                  <a:pt x="344" y="271"/>
                  <a:pt x="319" y="257"/>
                  <a:pt x="286" y="257"/>
                </a:cubicBezTo>
                <a:cubicBezTo>
                  <a:pt x="254" y="257"/>
                  <a:pt x="230" y="271"/>
                  <a:pt x="214" y="285"/>
                </a:cubicBezTo>
                <a:lnTo>
                  <a:pt x="214" y="284"/>
                </a:lnTo>
                <a:cubicBezTo>
                  <a:pt x="244" y="242"/>
                  <a:pt x="308" y="253"/>
                  <a:pt x="308" y="253"/>
                </a:cubicBezTo>
                <a:lnTo>
                  <a:pt x="308" y="73"/>
                </a:lnTo>
                <a:cubicBezTo>
                  <a:pt x="322" y="77"/>
                  <a:pt x="334" y="85"/>
                  <a:pt x="343" y="92"/>
                </a:cubicBezTo>
                <a:cubicBezTo>
                  <a:pt x="349" y="98"/>
                  <a:pt x="354" y="104"/>
                  <a:pt x="357" y="109"/>
                </a:cubicBezTo>
                <a:cubicBezTo>
                  <a:pt x="358" y="110"/>
                  <a:pt x="359" y="111"/>
                  <a:pt x="360" y="112"/>
                </a:cubicBezTo>
                <a:lnTo>
                  <a:pt x="360" y="286"/>
                </a:lnTo>
                <a:lnTo>
                  <a:pt x="360" y="286"/>
                </a:lnTo>
                <a:close/>
              </a:path>
            </a:pathLst>
          </a:custGeom>
          <a:solidFill>
            <a:srgbClr val="255E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 descr="2"/>
          <p:cNvPicPr>
            <a:picLocks noChangeAspect="1" noChangeArrowheads="1"/>
          </p:cNvPicPr>
          <p:nvPr userDrawn="1">
            <p:custDataLst>
              <p:tags r:id="rId2"/>
            </p:custDataLst>
          </p:nvPr>
        </p:nvPicPr>
        <p:blipFill>
          <a:blip r:embed="rId3" cstate="print"/>
          <a:srcRect/>
          <a:stretch>
            <a:fillRect/>
          </a:stretch>
        </p:blipFill>
        <p:spPr bwMode="auto">
          <a:xfrm>
            <a:off x="10200520" y="188538"/>
            <a:ext cx="1665962" cy="376825"/>
          </a:xfrm>
          <a:prstGeom prst="rect">
            <a:avLst/>
          </a:prstGeom>
          <a:noFill/>
          <a:ln w="9525">
            <a:noFill/>
            <a:miter lim="800000"/>
            <a:headEnd/>
            <a:tailEnd/>
          </a:ln>
        </p:spPr>
      </p:pic>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latin typeface="楷体" panose="02010609060101010101" pitchFamily="49" charset="-122"/>
                <a:ea typeface="楷体" panose="02010609060101010101" pitchFamily="49" charset="-122"/>
              </a:defRPr>
            </a:lvl1pPr>
          </a:lstStyle>
          <a:p>
            <a:endParaRPr lang="en-US" altLang="zh-CN"/>
          </a:p>
        </p:txBody>
      </p:sp>
      <p:sp>
        <p:nvSpPr>
          <p:cNvPr id="5" name="页脚占位符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latin typeface="楷体" panose="02010609060101010101" pitchFamily="49" charset="-122"/>
                <a:ea typeface="楷体" panose="02010609060101010101" pitchFamily="49" charset="-122"/>
              </a:defRPr>
            </a:lvl1pPr>
          </a:lstStyle>
          <a:p>
            <a:endParaRPr lang="en-US" altLang="zh-CN"/>
          </a:p>
        </p:txBody>
      </p:sp>
      <p:sp>
        <p:nvSpPr>
          <p:cNvPr id="6" name="灯片编号占位符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latin typeface="楷体" panose="02010609060101010101" pitchFamily="49" charset="-122"/>
                <a:ea typeface="楷体" panose="02010609060101010101" pitchFamily="49" charset="-122"/>
              </a:defRPr>
            </a:lvl1pPr>
          </a:lstStyle>
          <a:p>
            <a:fld id="{09D3DD41-1E0E-46B0-ABE7-D5048A3DF737}"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楷体" panose="02010609060101010101" pitchFamily="49" charset="-122"/>
          <a:ea typeface="楷体" panose="02010609060101010101" pitchFamily="49"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5.xml"/><Relationship Id="rId2" Type="http://schemas.openxmlformats.org/officeDocument/2006/relationships/tags" Target="../tags/tag8.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4.xml"/><Relationship Id="rId2" Type="http://schemas.openxmlformats.org/officeDocument/2006/relationships/tags" Target="../tags/tag10.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tags" Target="../tags/tag1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tags" Target="../tags/tag14.xml"/><Relationship Id="rId1" Type="http://schemas.openxmlformats.org/officeDocument/2006/relationships/tags" Target="../tags/tag13.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4.xml"/><Relationship Id="rId2" Type="http://schemas.openxmlformats.org/officeDocument/2006/relationships/tags" Target="../tags/tag16.xml"/><Relationship Id="rId1" Type="http://schemas.openxmlformats.org/officeDocument/2006/relationships/tags" Target="../tags/tag15.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tags" Target="../tags/tag18.xml"/><Relationship Id="rId1" Type="http://schemas.openxmlformats.org/officeDocument/2006/relationships/tags" Target="../tags/tag17.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tags" Target="../tags/tag20.xml"/><Relationship Id="rId1" Type="http://schemas.openxmlformats.org/officeDocument/2006/relationships/tags" Target="../tags/tag19.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tags" Target="../tags/tag22.xml"/><Relationship Id="rId1" Type="http://schemas.openxmlformats.org/officeDocument/2006/relationships/tags" Target="../tags/tag2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tags" Target="../tags/tag24.xml"/><Relationship Id="rId1" Type="http://schemas.openxmlformats.org/officeDocument/2006/relationships/tags" Target="../tags/tag2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6.xml"/><Relationship Id="rId1" Type="http://schemas.openxmlformats.org/officeDocument/2006/relationships/tags" Target="../tags/tag25.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4.xml"/><Relationship Id="rId2" Type="http://schemas.openxmlformats.org/officeDocument/2006/relationships/tags" Target="../tags/tag28.xml"/><Relationship Id="rId1" Type="http://schemas.openxmlformats.org/officeDocument/2006/relationships/tags" Target="../tags/tag27.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xml"/><Relationship Id="rId2" Type="http://schemas.openxmlformats.org/officeDocument/2006/relationships/tags" Target="../tags/tag30.xml"/><Relationship Id="rId1" Type="http://schemas.openxmlformats.org/officeDocument/2006/relationships/tags" Target="../tags/tag29.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4.xml"/><Relationship Id="rId2" Type="http://schemas.openxmlformats.org/officeDocument/2006/relationships/tags" Target="../tags/tag32.xml"/><Relationship Id="rId1" Type="http://schemas.openxmlformats.org/officeDocument/2006/relationships/tags" Target="../tags/tag31.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4.xml"/><Relationship Id="rId2" Type="http://schemas.openxmlformats.org/officeDocument/2006/relationships/tags" Target="../tags/tag34.xml"/><Relationship Id="rId1" Type="http://schemas.openxmlformats.org/officeDocument/2006/relationships/tags" Target="../tags/tag3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6.xml"/><Relationship Id="rId1" Type="http://schemas.openxmlformats.org/officeDocument/2006/relationships/tags" Target="../tags/tag35.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8.xml"/><Relationship Id="rId1" Type="http://schemas.openxmlformats.org/officeDocument/2006/relationships/tags" Target="../tags/tag37.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4.xml"/><Relationship Id="rId2" Type="http://schemas.openxmlformats.org/officeDocument/2006/relationships/tags" Target="../tags/tag40.xml"/><Relationship Id="rId1" Type="http://schemas.openxmlformats.org/officeDocument/2006/relationships/tags" Target="../tags/tag39.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4.xml"/><Relationship Id="rId2" Type="http://schemas.openxmlformats.org/officeDocument/2006/relationships/tags" Target="../tags/tag42.xml"/><Relationship Id="rId1" Type="http://schemas.openxmlformats.org/officeDocument/2006/relationships/tags" Target="../tags/tag4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4.xml"/><Relationship Id="rId2" Type="http://schemas.openxmlformats.org/officeDocument/2006/relationships/tags" Target="../tags/tag44.xml"/><Relationship Id="rId1" Type="http://schemas.openxmlformats.org/officeDocument/2006/relationships/tags" Target="../tags/tag43.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4.xml"/><Relationship Id="rId2" Type="http://schemas.openxmlformats.org/officeDocument/2006/relationships/tags" Target="../tags/tag48.xml"/><Relationship Id="rId1" Type="http://schemas.openxmlformats.org/officeDocument/2006/relationships/tags" Target="../tags/tag47.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4.xml"/><Relationship Id="rId2" Type="http://schemas.openxmlformats.org/officeDocument/2006/relationships/tags" Target="../tags/tag50.xml"/><Relationship Id="rId1" Type="http://schemas.openxmlformats.org/officeDocument/2006/relationships/tags" Target="../tags/tag49.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2.xml"/><Relationship Id="rId1" Type="http://schemas.openxmlformats.org/officeDocument/2006/relationships/tags" Target="../tags/tag51.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4.xml"/><Relationship Id="rId1" Type="http://schemas.openxmlformats.org/officeDocument/2006/relationships/tags" Target="../tags/tag53.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6.xml"/><Relationship Id="rId1" Type="http://schemas.openxmlformats.org/officeDocument/2006/relationships/tags" Target="../tags/tag5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58.xml"/><Relationship Id="rId1" Type="http://schemas.openxmlformats.org/officeDocument/2006/relationships/tags" Target="../tags/tag57.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4.xml"/><Relationship Id="rId2" Type="http://schemas.openxmlformats.org/officeDocument/2006/relationships/tags" Target="../tags/tag60.xml"/><Relationship Id="rId1" Type="http://schemas.openxmlformats.org/officeDocument/2006/relationships/tags" Target="../tags/tag59.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4.xml"/><Relationship Id="rId2" Type="http://schemas.openxmlformats.org/officeDocument/2006/relationships/tags" Target="../tags/tag62.xml"/><Relationship Id="rId1" Type="http://schemas.openxmlformats.org/officeDocument/2006/relationships/tags" Target="../tags/tag61.xml"/></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4.xml"/><Relationship Id="rId2" Type="http://schemas.openxmlformats.org/officeDocument/2006/relationships/tags" Target="../tags/tag64.xml"/><Relationship Id="rId1" Type="http://schemas.openxmlformats.org/officeDocument/2006/relationships/tags" Target="../tags/tag63.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4.xml"/><Relationship Id="rId2" Type="http://schemas.openxmlformats.org/officeDocument/2006/relationships/tags" Target="../tags/tag66.xml"/><Relationship Id="rId1" Type="http://schemas.openxmlformats.org/officeDocument/2006/relationships/tags" Target="../tags/tag65.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4.xml"/><Relationship Id="rId2" Type="http://schemas.openxmlformats.org/officeDocument/2006/relationships/tags" Target="../tags/tag68.xml"/><Relationship Id="rId1" Type="http://schemas.openxmlformats.org/officeDocument/2006/relationships/tags" Target="../tags/tag67.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4.xml"/><Relationship Id="rId2" Type="http://schemas.openxmlformats.org/officeDocument/2006/relationships/tags" Target="../tags/tag70.xml"/><Relationship Id="rId1" Type="http://schemas.openxmlformats.org/officeDocument/2006/relationships/tags" Target="../tags/tag69.xml"/></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4.xml"/><Relationship Id="rId2" Type="http://schemas.openxmlformats.org/officeDocument/2006/relationships/tags" Target="../tags/tag72.xml"/><Relationship Id="rId1" Type="http://schemas.openxmlformats.org/officeDocument/2006/relationships/tags" Target="../tags/tag71.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4.xml"/><Relationship Id="rId2" Type="http://schemas.openxmlformats.org/officeDocument/2006/relationships/tags" Target="../tags/tag74.xml"/><Relationship Id="rId1" Type="http://schemas.openxmlformats.org/officeDocument/2006/relationships/tags" Target="../tags/tag73.xml"/></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4.xml"/><Relationship Id="rId2" Type="http://schemas.openxmlformats.org/officeDocument/2006/relationships/tags" Target="../tags/tag76.xml"/><Relationship Id="rId1" Type="http://schemas.openxmlformats.org/officeDocument/2006/relationships/tags" Target="../tags/tag75.xml"/></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4.xml"/><Relationship Id="rId2" Type="http://schemas.openxmlformats.org/officeDocument/2006/relationships/tags" Target="../tags/tag78.xml"/><Relationship Id="rId1" Type="http://schemas.openxmlformats.org/officeDocument/2006/relationships/tags" Target="../tags/tag77.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4.xml"/><Relationship Id="rId2" Type="http://schemas.openxmlformats.org/officeDocument/2006/relationships/tags" Target="../tags/tag80.xml"/><Relationship Id="rId1" Type="http://schemas.openxmlformats.org/officeDocument/2006/relationships/tags" Target="../tags/tag79.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82.xml"/><Relationship Id="rId1" Type="http://schemas.openxmlformats.org/officeDocument/2006/relationships/tags" Target="../tags/tag81.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4.xml"/><Relationship Id="rId2" Type="http://schemas.openxmlformats.org/officeDocument/2006/relationships/tags" Target="../tags/tag84.xml"/><Relationship Id="rId1" Type="http://schemas.openxmlformats.org/officeDocument/2006/relationships/tags" Target="../tags/tag83.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4.xml"/><Relationship Id="rId2" Type="http://schemas.openxmlformats.org/officeDocument/2006/relationships/tags" Target="../tags/tag86.xml"/><Relationship Id="rId1" Type="http://schemas.openxmlformats.org/officeDocument/2006/relationships/tags" Target="../tags/tag85.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4.xml"/><Relationship Id="rId2" Type="http://schemas.openxmlformats.org/officeDocument/2006/relationships/tags" Target="../tags/tag88.xml"/><Relationship Id="rId1" Type="http://schemas.openxmlformats.org/officeDocument/2006/relationships/tags" Target="../tags/tag87.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4.xml"/><Relationship Id="rId2" Type="http://schemas.openxmlformats.org/officeDocument/2006/relationships/tags" Target="../tags/tag90.xml"/><Relationship Id="rId1" Type="http://schemas.openxmlformats.org/officeDocument/2006/relationships/tags" Target="../tags/tag89.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92.xml"/><Relationship Id="rId1" Type="http://schemas.openxmlformats.org/officeDocument/2006/relationships/tags" Target="../tags/tag91.xml"/></Relationships>
</file>

<file path=ppt/slides/_rels/slide4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4.xml"/><Relationship Id="rId2" Type="http://schemas.openxmlformats.org/officeDocument/2006/relationships/tags" Target="../tags/tag94.xml"/><Relationship Id="rId1" Type="http://schemas.openxmlformats.org/officeDocument/2006/relationships/tags" Target="../tags/tag93.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4.xml"/><Relationship Id="rId2" Type="http://schemas.openxmlformats.org/officeDocument/2006/relationships/tags" Target="../tags/tag96.xml"/><Relationship Id="rId1" Type="http://schemas.openxmlformats.org/officeDocument/2006/relationships/tags" Target="../tags/tag95.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4.xml"/><Relationship Id="rId2" Type="http://schemas.openxmlformats.org/officeDocument/2006/relationships/tags" Target="../tags/tag98.xml"/><Relationship Id="rId1" Type="http://schemas.openxmlformats.org/officeDocument/2006/relationships/tags" Target="../tags/tag97.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00.xml"/><Relationship Id="rId1" Type="http://schemas.openxmlformats.org/officeDocument/2006/relationships/tags" Target="../tags/tag99.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4.xml"/><Relationship Id="rId2" Type="http://schemas.openxmlformats.org/officeDocument/2006/relationships/tags" Target="../tags/tag102.xml"/><Relationship Id="rId1" Type="http://schemas.openxmlformats.org/officeDocument/2006/relationships/tags" Target="../tags/tag101.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4.xml"/><Relationship Id="rId2" Type="http://schemas.openxmlformats.org/officeDocument/2006/relationships/tags" Target="../tags/tag104.xml"/><Relationship Id="rId1" Type="http://schemas.openxmlformats.org/officeDocument/2006/relationships/tags" Target="../tags/tag103.xml"/></Relationships>
</file>

<file path=ppt/slides/_rels/slide5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4.xml"/><Relationship Id="rId2" Type="http://schemas.openxmlformats.org/officeDocument/2006/relationships/tags" Target="../tags/tag106.xml"/><Relationship Id="rId1" Type="http://schemas.openxmlformats.org/officeDocument/2006/relationships/tags" Target="../tags/tag105.xml"/></Relationships>
</file>

<file path=ppt/slides/_rels/slide52.xml.rels><?xml version="1.0" encoding="UTF-8" standalone="yes"?>
<Relationships xmlns="http://schemas.openxmlformats.org/package/2006/relationships"><Relationship Id="rId4" Type="http://schemas.openxmlformats.org/officeDocument/2006/relationships/notesSlide" Target="../notesSlides/notesSlide41.xml"/><Relationship Id="rId3" Type="http://schemas.openxmlformats.org/officeDocument/2006/relationships/slideLayout" Target="../slideLayouts/slideLayout4.xml"/><Relationship Id="rId2" Type="http://schemas.openxmlformats.org/officeDocument/2006/relationships/tags" Target="../tags/tag108.xml"/><Relationship Id="rId1" Type="http://schemas.openxmlformats.org/officeDocument/2006/relationships/tags" Target="../tags/tag107.xml"/></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4.xml"/><Relationship Id="rId2" Type="http://schemas.openxmlformats.org/officeDocument/2006/relationships/tags" Target="../tags/tag110.xml"/><Relationship Id="rId1" Type="http://schemas.openxmlformats.org/officeDocument/2006/relationships/tags" Target="../tags/tag109.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4.xml"/><Relationship Id="rId2" Type="http://schemas.openxmlformats.org/officeDocument/2006/relationships/tags" Target="../tags/tag112.xml"/><Relationship Id="rId1" Type="http://schemas.openxmlformats.org/officeDocument/2006/relationships/tags" Target="../tags/tag111.xml"/></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4.xml"/><Relationship Id="rId2" Type="http://schemas.openxmlformats.org/officeDocument/2006/relationships/tags" Target="../tags/tag114.xml"/><Relationship Id="rId1" Type="http://schemas.openxmlformats.org/officeDocument/2006/relationships/tags" Target="../tags/tag113.xml"/></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4.xml"/><Relationship Id="rId2" Type="http://schemas.openxmlformats.org/officeDocument/2006/relationships/tags" Target="../tags/tag116.xml"/><Relationship Id="rId1" Type="http://schemas.openxmlformats.org/officeDocument/2006/relationships/tags" Target="../tags/tag115.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18.xml"/><Relationship Id="rId1" Type="http://schemas.openxmlformats.org/officeDocument/2006/relationships/tags" Target="../tags/tag117.xml"/></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46.xml"/><Relationship Id="rId3" Type="http://schemas.openxmlformats.org/officeDocument/2006/relationships/slideLayout" Target="../slideLayouts/slideLayout4.xml"/><Relationship Id="rId2" Type="http://schemas.openxmlformats.org/officeDocument/2006/relationships/tags" Target="../tags/tag120.xml"/><Relationship Id="rId1" Type="http://schemas.openxmlformats.org/officeDocument/2006/relationships/tags" Target="../tags/tag119.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2.xml"/><Relationship Id="rId1" Type="http://schemas.openxmlformats.org/officeDocument/2006/relationships/tags" Target="../tags/tag121.xml"/></Relationships>
</file>

<file path=ppt/slides/_rels/slide60.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4.xml"/><Relationship Id="rId2" Type="http://schemas.openxmlformats.org/officeDocument/2006/relationships/tags" Target="../tags/tag124.xml"/><Relationship Id="rId1" Type="http://schemas.openxmlformats.org/officeDocument/2006/relationships/tags" Target="../tags/tag123.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6.xml"/><Relationship Id="rId1" Type="http://schemas.openxmlformats.org/officeDocument/2006/relationships/tags" Target="../tags/tag125.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28.xml"/><Relationship Id="rId1" Type="http://schemas.openxmlformats.org/officeDocument/2006/relationships/tags" Target="../tags/tag127.xml"/></Relationships>
</file>

<file path=ppt/slides/_rels/slide63.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4.xml"/><Relationship Id="rId2" Type="http://schemas.openxmlformats.org/officeDocument/2006/relationships/tags" Target="../tags/tag130.xml"/><Relationship Id="rId1" Type="http://schemas.openxmlformats.org/officeDocument/2006/relationships/tags" Target="../tags/tag129.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32.xml"/><Relationship Id="rId1" Type="http://schemas.openxmlformats.org/officeDocument/2006/relationships/tags" Target="../tags/tag131.xml"/></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4.xml"/><Relationship Id="rId2" Type="http://schemas.openxmlformats.org/officeDocument/2006/relationships/tags" Target="../tags/tag134.xml"/><Relationship Id="rId1" Type="http://schemas.openxmlformats.org/officeDocument/2006/relationships/tags" Target="../tags/tag133.xml"/></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4.xml"/><Relationship Id="rId2" Type="http://schemas.openxmlformats.org/officeDocument/2006/relationships/tags" Target="../tags/tag136.xml"/><Relationship Id="rId1" Type="http://schemas.openxmlformats.org/officeDocument/2006/relationships/tags" Target="../tags/tag135.xml"/></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4.xml"/><Relationship Id="rId2" Type="http://schemas.openxmlformats.org/officeDocument/2006/relationships/tags" Target="../tags/tag138.xml"/><Relationship Id="rId1" Type="http://schemas.openxmlformats.org/officeDocument/2006/relationships/tags" Target="../tags/tag137.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0.xml"/><Relationship Id="rId1" Type="http://schemas.openxmlformats.org/officeDocument/2006/relationships/tags" Target="../tags/tag139.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42.xml"/><Relationship Id="rId1" Type="http://schemas.openxmlformats.org/officeDocument/2006/relationships/tags" Target="../tags/tag141.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52.xml"/><Relationship Id="rId3" Type="http://schemas.openxmlformats.org/officeDocument/2006/relationships/slideLayout" Target="../slideLayouts/slideLayout4.xml"/><Relationship Id="rId2" Type="http://schemas.openxmlformats.org/officeDocument/2006/relationships/tags" Target="../tags/tag144.xml"/><Relationship Id="rId1" Type="http://schemas.openxmlformats.org/officeDocument/2006/relationships/tags" Target="../tags/tag143.xml"/></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4.xml"/><Relationship Id="rId2" Type="http://schemas.openxmlformats.org/officeDocument/2006/relationships/tags" Target="../tags/tag146.xml"/><Relationship Id="rId1" Type="http://schemas.openxmlformats.org/officeDocument/2006/relationships/tags" Target="../tags/tag145.xml"/></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54.xml"/><Relationship Id="rId3" Type="http://schemas.openxmlformats.org/officeDocument/2006/relationships/slideLayout" Target="../slideLayouts/slideLayout4.xml"/><Relationship Id="rId2" Type="http://schemas.openxmlformats.org/officeDocument/2006/relationships/tags" Target="../tags/tag148.xml"/><Relationship Id="rId1" Type="http://schemas.openxmlformats.org/officeDocument/2006/relationships/tags" Target="../tags/tag147.xml"/></Relationships>
</file>

<file path=ppt/slides/_rels/slide73.xml.rels><?xml version="1.0" encoding="UTF-8" standalone="yes"?>
<Relationships xmlns="http://schemas.openxmlformats.org/package/2006/relationships"><Relationship Id="rId4" Type="http://schemas.openxmlformats.org/officeDocument/2006/relationships/notesSlide" Target="../notesSlides/notesSlide55.xml"/><Relationship Id="rId3" Type="http://schemas.openxmlformats.org/officeDocument/2006/relationships/slideLayout" Target="../slideLayouts/slideLayout4.xml"/><Relationship Id="rId2" Type="http://schemas.openxmlformats.org/officeDocument/2006/relationships/tags" Target="../tags/tag150.xml"/><Relationship Id="rId1" Type="http://schemas.openxmlformats.org/officeDocument/2006/relationships/tags" Target="../tags/tag149.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52.xml"/><Relationship Id="rId1" Type="http://schemas.openxmlformats.org/officeDocument/2006/relationships/tags" Target="../tags/tag151.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54.xml"/><Relationship Id="rId1" Type="http://schemas.openxmlformats.org/officeDocument/2006/relationships/tags" Target="../tags/tag153.xml"/></Relationships>
</file>

<file path=ppt/slides/_rels/slide7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4.xml"/><Relationship Id="rId2" Type="http://schemas.openxmlformats.org/officeDocument/2006/relationships/tags" Target="../tags/tag156.xml"/><Relationship Id="rId1" Type="http://schemas.openxmlformats.org/officeDocument/2006/relationships/tags" Target="../tags/tag155.xml"/></Relationships>
</file>

<file path=ppt/slides/_rels/slide7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4.xml"/><Relationship Id="rId2" Type="http://schemas.openxmlformats.org/officeDocument/2006/relationships/tags" Target="../tags/tag158.xml"/><Relationship Id="rId1" Type="http://schemas.openxmlformats.org/officeDocument/2006/relationships/tags" Target="../tags/tag157.xml"/></Relationships>
</file>

<file path=ppt/slides/_rels/slide7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4.xml"/><Relationship Id="rId2" Type="http://schemas.openxmlformats.org/officeDocument/2006/relationships/tags" Target="../tags/tag160.xml"/><Relationship Id="rId1" Type="http://schemas.openxmlformats.org/officeDocument/2006/relationships/tags" Target="../tags/tag159.xml"/></Relationships>
</file>

<file path=ppt/slides/_rels/slide7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4.xml"/><Relationship Id="rId2" Type="http://schemas.openxmlformats.org/officeDocument/2006/relationships/tags" Target="../tags/tag162.xml"/><Relationship Id="rId1" Type="http://schemas.openxmlformats.org/officeDocument/2006/relationships/tags" Target="../tags/tag161.xml"/></Relationships>
</file>

<file path=ppt/slides/_rels/slide8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4.xml"/><Relationship Id="rId2" Type="http://schemas.openxmlformats.org/officeDocument/2006/relationships/tags" Target="../tags/tag164.xml"/><Relationship Id="rId1" Type="http://schemas.openxmlformats.org/officeDocument/2006/relationships/tags" Target="../tags/tag163.xml"/></Relationships>
</file>

<file path=ppt/slides/_rels/slide81.xml.rels><?xml version="1.0" encoding="UTF-8" standalone="yes"?>
<Relationships xmlns="http://schemas.openxmlformats.org/package/2006/relationships"><Relationship Id="rId4" Type="http://schemas.openxmlformats.org/officeDocument/2006/relationships/notesSlide" Target="../notesSlides/notesSlide61.xml"/><Relationship Id="rId3" Type="http://schemas.openxmlformats.org/officeDocument/2006/relationships/slideLayout" Target="../slideLayouts/slideLayout4.xml"/><Relationship Id="rId2" Type="http://schemas.openxmlformats.org/officeDocument/2006/relationships/tags" Target="../tags/tag166.xml"/><Relationship Id="rId1" Type="http://schemas.openxmlformats.org/officeDocument/2006/relationships/tags" Target="../tags/tag165.xml"/></Relationships>
</file>

<file path=ppt/slides/_rels/slide82.xml.rels><?xml version="1.0" encoding="UTF-8" standalone="yes"?>
<Relationships xmlns="http://schemas.openxmlformats.org/package/2006/relationships"><Relationship Id="rId4" Type="http://schemas.openxmlformats.org/officeDocument/2006/relationships/notesSlide" Target="../notesSlides/notesSlide62.xml"/><Relationship Id="rId3" Type="http://schemas.openxmlformats.org/officeDocument/2006/relationships/slideLayout" Target="../slideLayouts/slideLayout4.xml"/><Relationship Id="rId2" Type="http://schemas.openxmlformats.org/officeDocument/2006/relationships/tags" Target="../tags/tag168.xml"/><Relationship Id="rId1" Type="http://schemas.openxmlformats.org/officeDocument/2006/relationships/tags" Target="../tags/tag167.xml"/></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4.xml"/><Relationship Id="rId2" Type="http://schemas.openxmlformats.org/officeDocument/2006/relationships/tags" Target="../tags/tag170.xml"/><Relationship Id="rId1" Type="http://schemas.openxmlformats.org/officeDocument/2006/relationships/tags" Target="../tags/tag169.xml"/></Relationships>
</file>

<file path=ppt/slides/_rels/slide8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4.xml"/><Relationship Id="rId2" Type="http://schemas.openxmlformats.org/officeDocument/2006/relationships/tags" Target="../tags/tag172.xml"/><Relationship Id="rId1" Type="http://schemas.openxmlformats.org/officeDocument/2006/relationships/tags" Target="../tags/tag171.xml"/></Relationships>
</file>

<file path=ppt/slides/_rels/slide85.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4.xml"/><Relationship Id="rId2" Type="http://schemas.openxmlformats.org/officeDocument/2006/relationships/tags" Target="../tags/tag174.xml"/><Relationship Id="rId1" Type="http://schemas.openxmlformats.org/officeDocument/2006/relationships/tags" Target="../tags/tag173.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4.xml"/><Relationship Id="rId1" Type="http://schemas.openxmlformats.org/officeDocument/2006/relationships/tags" Target="../tags/tag175.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4.xml"/><Relationship Id="rId1" Type="http://schemas.openxmlformats.org/officeDocument/2006/relationships/tags" Target="../tags/tag176.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77.xml"/></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4.xml"/><Relationship Id="rId1" Type="http://schemas.openxmlformats.org/officeDocument/2006/relationships/tags" Target="../tags/tag178.xml"/></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4.xml"/><Relationship Id="rId1" Type="http://schemas.openxmlformats.org/officeDocument/2006/relationships/tags" Target="../tags/tag179.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4.xml"/><Relationship Id="rId1" Type="http://schemas.openxmlformats.org/officeDocument/2006/relationships/tags" Target="../tags/tag180.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4.xml"/><Relationship Id="rId1" Type="http://schemas.openxmlformats.org/officeDocument/2006/relationships/tags" Target="../tags/tag181.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3.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4.xml"/><Relationship Id="rId1" Type="http://schemas.openxmlformats.org/officeDocument/2006/relationships/tags" Target="../tags/tag184.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4.xml"/><Relationship Id="rId1" Type="http://schemas.openxmlformats.org/officeDocument/2006/relationships/tags" Target="../tags/tag185.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86.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87.xml"/><Relationship Id="rId1" Type="http://schemas.openxmlformats.org/officeDocument/2006/relationships/hyperlink" Target="https://docs.oracle.com/javase/specs/index.html" TargetMode="External"/></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89.xml"/><Relationship Id="rId1" Type="http://schemas.openxmlformats.org/officeDocument/2006/relationships/tags" Target="../tags/tag188.xml"/></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91.xml"/><Relationship Id="rId1" Type="http://schemas.openxmlformats.org/officeDocument/2006/relationships/tags" Target="../tags/tag190.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74.xml"/><Relationship Id="rId3" Type="http://schemas.openxmlformats.org/officeDocument/2006/relationships/slideLayout" Target="../slideLayouts/slideLayout4.xml"/><Relationship Id="rId2" Type="http://schemas.openxmlformats.org/officeDocument/2006/relationships/tags" Target="../tags/tag193.xml"/><Relationship Id="rId1" Type="http://schemas.openxmlformats.org/officeDocument/2006/relationships/tags" Target="../tags/tag192.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95.xml"/><Relationship Id="rId1" Type="http://schemas.openxmlformats.org/officeDocument/2006/relationships/tags" Target="../tags/tag194.xml"/></Relationships>
</file>

<file path=ppt/slides/_rels/slide103.xml.rels><?xml version="1.0" encoding="UTF-8" standalone="yes"?>
<Relationships xmlns="http://schemas.openxmlformats.org/package/2006/relationships"><Relationship Id="rId4" Type="http://schemas.openxmlformats.org/officeDocument/2006/relationships/notesSlide" Target="../notesSlides/notesSlide75.xml"/><Relationship Id="rId3" Type="http://schemas.openxmlformats.org/officeDocument/2006/relationships/slideLayout" Target="../slideLayouts/slideLayout4.xml"/><Relationship Id="rId2" Type="http://schemas.openxmlformats.org/officeDocument/2006/relationships/tags" Target="../tags/tag197.xml"/><Relationship Id="rId1" Type="http://schemas.openxmlformats.org/officeDocument/2006/relationships/tags" Target="../tags/tag196.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199.xml"/><Relationship Id="rId1" Type="http://schemas.openxmlformats.org/officeDocument/2006/relationships/tags" Target="../tags/tag1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idx="4294967295"/>
          </p:nvPr>
        </p:nvSpPr>
        <p:spPr>
          <a:xfrm>
            <a:off x="3251684" y="1268760"/>
            <a:ext cx="5472608" cy="3384376"/>
          </a:xfrm>
        </p:spPr>
        <p:txBody>
          <a:bodyPr>
            <a:normAutofit/>
          </a:bodyPr>
          <a:lstStyle/>
          <a:p>
            <a:pPr marL="357505" indent="-357505">
              <a:buFont typeface="+mj-lt"/>
              <a:buAutoNum type="arabicPeriod"/>
            </a:pPr>
            <a:r>
              <a:rPr lang="zh-CN" altLang="zh-CN" sz="2800" b="1" dirty="0">
                <a:latin typeface="Times New Roman" panose="02020603050405020304" pitchFamily="18" charset="0"/>
              </a:rPr>
              <a:t>面向对象</a:t>
            </a:r>
            <a:r>
              <a:rPr lang="zh-CN" altLang="en-US" sz="2800" b="1" dirty="0">
                <a:latin typeface="Times New Roman" panose="02020603050405020304" pitchFamily="18" charset="0"/>
              </a:rPr>
              <a:t>的程序设计</a:t>
            </a:r>
            <a:r>
              <a:rPr lang="zh-CN" altLang="zh-CN" sz="2800" b="1" dirty="0">
                <a:latin typeface="Times New Roman" panose="02020603050405020304" pitchFamily="18" charset="0"/>
              </a:rPr>
              <a:t>方法</a:t>
            </a:r>
            <a:r>
              <a:rPr lang="zh-CN" altLang="en-US" sz="2800" b="1" dirty="0">
                <a:latin typeface="Times New Roman" panose="02020603050405020304" pitchFamily="18" charset="0"/>
              </a:rPr>
              <a:t>概述</a:t>
            </a:r>
            <a:endParaRPr lang="en-GB" altLang="zh-CN" sz="2800" b="1" dirty="0">
              <a:latin typeface="Times New Roman" panose="02020603050405020304" pitchFamily="18" charset="0"/>
            </a:endParaRPr>
          </a:p>
          <a:p>
            <a:pPr marL="357505" indent="-357505">
              <a:buFont typeface="+mj-lt"/>
              <a:buAutoNum type="arabicPeriod"/>
            </a:pPr>
            <a:r>
              <a:rPr lang="zh-CN" altLang="en-US" sz="2800" b="1" dirty="0">
                <a:latin typeface="Times New Roman" panose="02020603050405020304" pitchFamily="18" charset="0"/>
              </a:rPr>
              <a:t>类与对象 </a:t>
            </a:r>
            <a:endParaRPr lang="zh-CN" altLang="en-GB" sz="2800" b="1" dirty="0">
              <a:latin typeface="Times New Roman" panose="02020603050405020304" pitchFamily="18" charset="0"/>
            </a:endParaRPr>
          </a:p>
          <a:p>
            <a:pPr marL="357505" indent="-357505" eaLnBrk="1" hangingPunct="1">
              <a:lnSpc>
                <a:spcPct val="110000"/>
              </a:lnSpc>
              <a:buFont typeface="+mj-lt"/>
              <a:buAutoNum type="arabicPeriod"/>
            </a:pPr>
            <a:r>
              <a:rPr lang="zh-CN" altLang="en-US" sz="2800" b="1" dirty="0">
                <a:latin typeface="Times New Roman" panose="02020603050405020304" pitchFamily="18" charset="0"/>
              </a:rPr>
              <a:t>对象初始化和回收 </a:t>
            </a:r>
            <a:endParaRPr lang="zh-CN" altLang="en-US" sz="2800" b="1" dirty="0">
              <a:latin typeface="Times New Roman" panose="02020603050405020304" pitchFamily="18" charset="0"/>
            </a:endParaRPr>
          </a:p>
          <a:p>
            <a:pPr marL="357505" indent="-357505" eaLnBrk="1" hangingPunct="1">
              <a:lnSpc>
                <a:spcPct val="110000"/>
              </a:lnSpc>
              <a:buFont typeface="+mj-lt"/>
              <a:buAutoNum type="arabicPeriod"/>
            </a:pPr>
            <a:r>
              <a:rPr lang="zh-CN" altLang="en-US" sz="2800" b="1" dirty="0">
                <a:latin typeface="Times New Roman" panose="02020603050405020304" pitchFamily="18" charset="0"/>
              </a:rPr>
              <a:t>枚举类型</a:t>
            </a:r>
            <a:endParaRPr lang="zh-CN" altLang="en-GB" sz="2800" b="1" dirty="0">
              <a:latin typeface="Times New Roman" panose="02020603050405020304" pitchFamily="18" charset="0"/>
            </a:endParaRPr>
          </a:p>
          <a:p>
            <a:pPr marL="357505" indent="-357505" eaLnBrk="1" hangingPunct="1">
              <a:lnSpc>
                <a:spcPct val="110000"/>
              </a:lnSpc>
              <a:buFont typeface="+mj-lt"/>
              <a:buAutoNum type="arabicPeriod"/>
            </a:pPr>
            <a:r>
              <a:rPr lang="zh-CN" altLang="en-US" sz="2800" b="1" dirty="0">
                <a:latin typeface="Times New Roman" panose="02020603050405020304" pitchFamily="18" charset="0"/>
              </a:rPr>
              <a:t>应用举例 </a:t>
            </a:r>
            <a:endParaRPr lang="en-US" altLang="zh-CN" sz="2800" b="1" dirty="0">
              <a:latin typeface="Times New Roman" panose="02020603050405020304" pitchFamily="18" charset="0"/>
            </a:endParaRPr>
          </a:p>
          <a:p>
            <a:pPr marL="357505" indent="-357505" eaLnBrk="1" hangingPunct="1">
              <a:lnSpc>
                <a:spcPct val="110000"/>
              </a:lnSpc>
              <a:buFont typeface="+mj-lt"/>
              <a:buAutoNum type="arabicPeriod"/>
            </a:pPr>
            <a:r>
              <a:rPr lang="zh-CN" altLang="en-US" sz="2800" b="1" dirty="0">
                <a:latin typeface="Times New Roman" panose="02020603050405020304" pitchFamily="18" charset="0"/>
              </a:rPr>
              <a:t>注解</a:t>
            </a:r>
            <a:endParaRPr lang="zh-CN" altLang="en-US" sz="2800" b="1" dirty="0">
              <a:latin typeface="Times New Roman" panose="02020603050405020304" pitchFamily="18" charset="0"/>
            </a:endParaRPr>
          </a:p>
        </p:txBody>
      </p:sp>
      <p:sp>
        <p:nvSpPr>
          <p:cNvPr id="7170" name="灯片编号占位符 5"/>
          <p:cNvSpPr>
            <a:spLocks noGrp="1"/>
          </p:cNvSpPr>
          <p:nvPr>
            <p:ph type="sldNum" sz="quarter" idx="12"/>
          </p:nvPr>
        </p:nvSpPr>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buNone/>
            </a:pPr>
            <a:fld id="{33E05A62-D3CB-406B-A1D5-DAF1489EF13B}" type="slidenum">
              <a:rPr lang="en-US" altLang="zh-CN" sz="1800" smtClean="0">
                <a:solidFill>
                  <a:schemeClr val="bg1"/>
                </a:solidFill>
                <a:latin typeface="Times New Roman" panose="02020603050405020304" pitchFamily="18" charset="0"/>
                <a:ea typeface="楷体" panose="02010609060101010101" pitchFamily="49" charset="-122"/>
                <a:cs typeface="Times New Roman" panose="02020603050405020304" pitchFamily="18" charset="0"/>
              </a:rPr>
            </a:fld>
            <a:endParaRPr lang="en-US" altLang="zh-CN" sz="18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TextBox 3"/>
          <p:cNvSpPr txBox="1"/>
          <p:nvPr>
            <p:custDataLst>
              <p:tags r:id="rId1"/>
            </p:custDataLst>
          </p:nvPr>
        </p:nvSpPr>
        <p:spPr>
          <a:xfrm>
            <a:off x="3251684" y="44624"/>
            <a:ext cx="518457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zh-CN" altLang="en-US" sz="3200" dirty="0">
                <a:ln w="11430">
                  <a:noFill/>
                </a:ln>
                <a:solidFill>
                  <a:srgbClr val="255EAB"/>
                </a:solidFill>
                <a:ea typeface="楷体" panose="02010609060101010101" pitchFamily="49" charset="-122"/>
              </a:rPr>
              <a:t>第</a:t>
            </a:r>
            <a:r>
              <a:rPr lang="en-US" altLang="zh-CN" sz="3200" dirty="0">
                <a:ln w="11430">
                  <a:noFill/>
                </a:ln>
                <a:solidFill>
                  <a:srgbClr val="255EAB"/>
                </a:solidFill>
                <a:ea typeface="楷体" panose="02010609060101010101" pitchFamily="49" charset="-122"/>
              </a:rPr>
              <a:t>2</a:t>
            </a:r>
            <a:r>
              <a:rPr lang="zh-CN" altLang="en-US" sz="3200" dirty="0">
                <a:ln w="11430">
                  <a:noFill/>
                </a:ln>
                <a:solidFill>
                  <a:srgbClr val="255EAB"/>
                </a:solidFill>
                <a:ea typeface="楷体" panose="02010609060101010101" pitchFamily="49" charset="-122"/>
              </a:rPr>
              <a:t>章 类与对象的基本概念</a:t>
            </a:r>
            <a:endParaRPr lang="zh-CN" altLang="en-US" sz="3200" dirty="0">
              <a:ln w="11430">
                <a:noFill/>
              </a:ln>
              <a:solidFill>
                <a:srgbClr val="255EAB"/>
              </a:solidFill>
              <a:ea typeface="楷体" panose="02010609060101010101" pitchFamily="49" charset="-122"/>
            </a:endParaRPr>
          </a:p>
        </p:txBody>
      </p:sp>
      <p:sp>
        <p:nvSpPr>
          <p:cNvPr id="3" name="Rectangle 3"/>
          <p:cNvSpPr txBox="1">
            <a:spLocks noChangeArrowheads="1"/>
          </p:cNvSpPr>
          <p:nvPr/>
        </p:nvSpPr>
        <p:spPr>
          <a:xfrm>
            <a:off x="3251684" y="1268760"/>
            <a:ext cx="5472608" cy="33843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57505" indent="-357505" fontAlgn="auto">
              <a:spcAft>
                <a:spcPts val="0"/>
              </a:spcAft>
              <a:buClr>
                <a:schemeClr val="tx1"/>
              </a:buClr>
              <a:buFont typeface="+mj-lt"/>
              <a:buAutoNum type="arabicPeriod"/>
            </a:pPr>
            <a:r>
              <a:rPr lang="zh-CN" altLang="zh-CN" sz="2800" b="1" dirty="0">
                <a:solidFill>
                  <a:srgbClr val="FF0000"/>
                </a:solidFill>
                <a:latin typeface="Times New Roman" panose="02020603050405020304" pitchFamily="18" charset="0"/>
              </a:rPr>
              <a:t>面向对象</a:t>
            </a:r>
            <a:r>
              <a:rPr lang="zh-CN" altLang="en-US" sz="2800" b="1" dirty="0">
                <a:solidFill>
                  <a:srgbClr val="FF0000"/>
                </a:solidFill>
                <a:latin typeface="Times New Roman" panose="02020603050405020304" pitchFamily="18" charset="0"/>
              </a:rPr>
              <a:t>的程序设计</a:t>
            </a:r>
            <a:r>
              <a:rPr lang="zh-CN" altLang="zh-CN" sz="2800" b="1" dirty="0">
                <a:solidFill>
                  <a:srgbClr val="FF0000"/>
                </a:solidFill>
                <a:latin typeface="Times New Roman" panose="02020603050405020304" pitchFamily="18" charset="0"/>
              </a:rPr>
              <a:t>方法</a:t>
            </a:r>
            <a:r>
              <a:rPr lang="zh-CN" altLang="en-US" sz="2800" b="1" dirty="0">
                <a:solidFill>
                  <a:srgbClr val="FF0000"/>
                </a:solidFill>
                <a:latin typeface="Times New Roman" panose="02020603050405020304" pitchFamily="18" charset="0"/>
              </a:rPr>
              <a:t>概述</a:t>
            </a:r>
            <a:endParaRPr lang="en-GB" altLang="zh-CN" sz="2800" b="1" dirty="0">
              <a:solidFill>
                <a:srgbClr val="FF0000"/>
              </a:solidFill>
              <a:latin typeface="Times New Roman" panose="02020603050405020304" pitchFamily="18" charset="0"/>
            </a:endParaRPr>
          </a:p>
          <a:p>
            <a:pPr marL="357505" indent="-357505" fontAlgn="auto">
              <a:spcAft>
                <a:spcPts val="0"/>
              </a:spcAft>
              <a:buClr>
                <a:schemeClr val="tx1"/>
              </a:buClr>
              <a:buFont typeface="+mj-lt"/>
              <a:buAutoNum type="arabicPeriod"/>
            </a:pPr>
            <a:r>
              <a:rPr lang="zh-CN" altLang="en-US" sz="2800" b="1" dirty="0">
                <a:solidFill>
                  <a:srgbClr val="FF0000"/>
                </a:solidFill>
                <a:latin typeface="Times New Roman" panose="02020603050405020304" pitchFamily="18" charset="0"/>
              </a:rPr>
              <a:t>类与对象 </a:t>
            </a:r>
            <a:endParaRPr lang="zh-CN" altLang="en-GB" sz="2800" b="1" dirty="0">
              <a:solidFill>
                <a:srgbClr val="FF0000"/>
              </a:solidFill>
              <a:latin typeface="Times New Roman" panose="02020603050405020304" pitchFamily="18" charset="0"/>
            </a:endParaRPr>
          </a:p>
          <a:p>
            <a:pPr marL="357505" indent="-357505" fontAlgn="auto">
              <a:lnSpc>
                <a:spcPct val="110000"/>
              </a:lnSpc>
              <a:spcAft>
                <a:spcPts val="0"/>
              </a:spcAft>
              <a:buClr>
                <a:schemeClr val="tx1"/>
              </a:buClr>
              <a:buFont typeface="+mj-lt"/>
              <a:buAutoNum type="arabicPeriod"/>
            </a:pPr>
            <a:r>
              <a:rPr lang="zh-CN" altLang="en-US" sz="2800" b="1" dirty="0">
                <a:solidFill>
                  <a:srgbClr val="FF0000"/>
                </a:solidFill>
                <a:latin typeface="Times New Roman" panose="02020603050405020304" pitchFamily="18" charset="0"/>
              </a:rPr>
              <a:t>对象初始化和回收 </a:t>
            </a:r>
            <a:endParaRPr lang="zh-CN" altLang="en-US" sz="2800" b="1" dirty="0">
              <a:solidFill>
                <a:srgbClr val="FF0000"/>
              </a:solidFill>
              <a:latin typeface="Times New Roman" panose="02020603050405020304" pitchFamily="18" charset="0"/>
            </a:endParaRPr>
          </a:p>
          <a:p>
            <a:pPr marL="357505" indent="-357505" fontAlgn="auto">
              <a:lnSpc>
                <a:spcPct val="110000"/>
              </a:lnSpc>
              <a:spcAft>
                <a:spcPts val="0"/>
              </a:spcAft>
              <a:buClr>
                <a:schemeClr val="tx1"/>
              </a:buClr>
              <a:buFont typeface="+mj-lt"/>
              <a:buAutoNum type="arabicPeriod"/>
            </a:pPr>
            <a:r>
              <a:rPr lang="zh-CN" altLang="en-US" sz="2800" b="1" dirty="0">
                <a:solidFill>
                  <a:srgbClr val="FF0000"/>
                </a:solidFill>
                <a:latin typeface="Times New Roman" panose="02020603050405020304" pitchFamily="18" charset="0"/>
              </a:rPr>
              <a:t>枚举类型</a:t>
            </a:r>
            <a:endParaRPr lang="zh-CN" altLang="en-GB" sz="2800" b="1" dirty="0">
              <a:solidFill>
                <a:srgbClr val="FF0000"/>
              </a:solidFill>
              <a:latin typeface="Times New Roman" panose="02020603050405020304" pitchFamily="18" charset="0"/>
            </a:endParaRPr>
          </a:p>
          <a:p>
            <a:pPr marL="357505" indent="-357505" fontAlgn="auto">
              <a:lnSpc>
                <a:spcPct val="110000"/>
              </a:lnSpc>
              <a:spcAft>
                <a:spcPts val="0"/>
              </a:spcAft>
              <a:buFont typeface="+mj-lt"/>
              <a:buAutoNum type="arabicPeriod"/>
            </a:pPr>
            <a:r>
              <a:rPr lang="zh-CN" altLang="en-US" sz="2800" b="1" dirty="0">
                <a:latin typeface="Times New Roman" panose="02020603050405020304" pitchFamily="18" charset="0"/>
              </a:rPr>
              <a:t>应用举例 </a:t>
            </a:r>
            <a:endParaRPr lang="en-US" altLang="zh-CN" sz="2800" b="1" dirty="0">
              <a:latin typeface="Times New Roman" panose="02020603050405020304" pitchFamily="18" charset="0"/>
            </a:endParaRPr>
          </a:p>
          <a:p>
            <a:pPr marL="357505" indent="-357505" fontAlgn="auto">
              <a:lnSpc>
                <a:spcPct val="110000"/>
              </a:lnSpc>
              <a:spcAft>
                <a:spcPts val="0"/>
              </a:spcAft>
              <a:buFont typeface="+mj-lt"/>
              <a:buAutoNum type="arabicPeriod"/>
            </a:pPr>
            <a:r>
              <a:rPr lang="zh-CN" altLang="en-US" sz="2800" b="1" dirty="0">
                <a:latin typeface="Times New Roman" panose="02020603050405020304" pitchFamily="18" charset="0"/>
              </a:rPr>
              <a:t>注解</a:t>
            </a:r>
            <a:endParaRPr lang="zh-CN" altLang="en-US" sz="2800" b="1"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p:cNvSpPr>
            <a:spLocks noGrp="1"/>
          </p:cNvSpPr>
          <p:nvPr>
            <p:ph type="body" idx="4294967295"/>
          </p:nvPr>
        </p:nvSpPr>
        <p:spPr>
          <a:xfrm>
            <a:off x="4007768" y="1916833"/>
            <a:ext cx="3240360" cy="2226231"/>
          </a:xfrm>
        </p:spPr>
        <p:txBody>
          <a:bodyPr>
            <a:normAutofit/>
          </a:bodyPr>
          <a:lstStyle/>
          <a:p>
            <a:pPr marL="357505" indent="-357505">
              <a:buFont typeface="+mj-lt"/>
              <a:buAutoNum type="arabicPeriod"/>
            </a:pPr>
            <a:r>
              <a:rPr lang="zh-CN" altLang="en-US" sz="2800" b="1" dirty="0">
                <a:latin typeface="Times New Roman" panose="02020603050405020304" pitchFamily="18" charset="0"/>
              </a:rPr>
              <a:t>抽象</a:t>
            </a:r>
            <a:endParaRPr lang="en-US" altLang="zh-CN" sz="2800" b="1" dirty="0">
              <a:latin typeface="Times New Roman" panose="02020603050405020304" pitchFamily="18" charset="0"/>
            </a:endParaRPr>
          </a:p>
          <a:p>
            <a:pPr marL="357505" indent="-357505">
              <a:buFont typeface="+mj-lt"/>
              <a:buAutoNum type="arabicPeriod"/>
            </a:pPr>
            <a:r>
              <a:rPr lang="zh-CN" altLang="en-US" sz="2800" b="1" dirty="0">
                <a:latin typeface="Times New Roman" panose="02020603050405020304" pitchFamily="18" charset="0"/>
              </a:rPr>
              <a:t>封装</a:t>
            </a:r>
            <a:endParaRPr lang="en-US" altLang="zh-CN" sz="2800" b="1" dirty="0">
              <a:latin typeface="Times New Roman" panose="02020603050405020304" pitchFamily="18" charset="0"/>
            </a:endParaRPr>
          </a:p>
          <a:p>
            <a:pPr marL="357505" indent="-357505">
              <a:buFont typeface="+mj-lt"/>
              <a:buAutoNum type="arabicPeriod"/>
            </a:pPr>
            <a:r>
              <a:rPr lang="zh-CN" altLang="en-US" sz="2800" b="1" dirty="0">
                <a:latin typeface="Times New Roman" panose="02020603050405020304" pitchFamily="18" charset="0"/>
              </a:rPr>
              <a:t>继承</a:t>
            </a:r>
            <a:endParaRPr lang="en-US" altLang="zh-CN" sz="2800" b="1" dirty="0">
              <a:latin typeface="Times New Roman" panose="02020603050405020304" pitchFamily="18" charset="0"/>
            </a:endParaRPr>
          </a:p>
          <a:p>
            <a:pPr marL="357505" indent="-357505">
              <a:buFont typeface="+mj-lt"/>
              <a:buAutoNum type="arabicPeriod"/>
            </a:pPr>
            <a:r>
              <a:rPr lang="zh-CN" altLang="en-US" sz="2800" b="1" dirty="0">
                <a:latin typeface="Times New Roman" panose="02020603050405020304" pitchFamily="18" charset="0"/>
              </a:rPr>
              <a:t>多态</a:t>
            </a:r>
            <a:endParaRPr lang="zh-CN" altLang="en-US" sz="2800" b="1" dirty="0">
              <a:latin typeface="Times New Roman" panose="02020603050405020304" pitchFamily="18" charset="0"/>
            </a:endParaRPr>
          </a:p>
        </p:txBody>
      </p:sp>
      <p:sp>
        <p:nvSpPr>
          <p:cNvPr id="140291" name="灯片编号占位符 3"/>
          <p:cNvSpPr>
            <a:spLocks noGrp="1"/>
          </p:cNvSpPr>
          <p:nvPr>
            <p:ph type="sldNum" sz="quarter" idx="12"/>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572CEA1-A809-4D6F-B52D-E1AABBA1F996}" type="slidenum">
              <a:rPr lang="en-US" altLang="zh-CN" sz="1800" smtClean="0">
                <a:solidFill>
                  <a:srgbClr val="FFFFFF"/>
                </a:solidFill>
                <a:latin typeface="Times New Roman" panose="02020603050405020304" pitchFamily="18" charset="0"/>
                <a:ea typeface="楷体" panose="02010609060101010101" pitchFamily="49" charset="-122"/>
              </a:rPr>
            </a:fld>
            <a:endParaRPr lang="en-US" altLang="zh-CN" sz="1800">
              <a:solidFill>
                <a:srgbClr val="FFFFFF"/>
              </a:solidFill>
              <a:latin typeface="Times New Roman" panose="02020603050405020304" pitchFamily="18" charset="0"/>
              <a:ea typeface="楷体" panose="02010609060101010101" pitchFamily="49" charset="-122"/>
            </a:endParaRPr>
          </a:p>
        </p:txBody>
      </p:sp>
      <p:sp>
        <p:nvSpPr>
          <p:cNvPr id="2" name="文本框 1"/>
          <p:cNvSpPr txBox="1"/>
          <p:nvPr>
            <p:custDataLst>
              <p:tags r:id="rId1"/>
            </p:custDataLst>
          </p:nvPr>
        </p:nvSpPr>
        <p:spPr>
          <a:xfrm>
            <a:off x="407670" y="980440"/>
            <a:ext cx="345608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面向对象方法的特性</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2927648" y="74326"/>
            <a:ext cx="66247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2.1  </a:t>
            </a:r>
            <a:r>
              <a:rPr lang="zh-CN" altLang="en-US" sz="3200" dirty="0">
                <a:ln w="11430">
                  <a:noFill/>
                </a:ln>
                <a:solidFill>
                  <a:srgbClr val="255EAB"/>
                </a:solidFill>
                <a:ea typeface="楷体" panose="02010609060101010101" pitchFamily="49" charset="-122"/>
              </a:rPr>
              <a:t>面向对象的程序设计方法概述</a:t>
            </a:r>
            <a:endParaRPr lang="zh-CN" altLang="en-US" sz="3200" dirty="0">
              <a:ln w="11430">
                <a:noFill/>
              </a:ln>
              <a:solidFill>
                <a:srgbClr val="255EAB"/>
              </a:solidFill>
              <a:ea typeface="楷体" panose="02010609060101010101" pitchFamily="49" charset="-122"/>
            </a:endParaRPr>
          </a:p>
        </p:txBody>
      </p:sp>
      <p:sp>
        <p:nvSpPr>
          <p:cNvPr id="4" name="文本占位符 5"/>
          <p:cNvSpPr txBox="1"/>
          <p:nvPr/>
        </p:nvSpPr>
        <p:spPr>
          <a:xfrm>
            <a:off x="4007768" y="1916832"/>
            <a:ext cx="3240360" cy="222623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357505" indent="-357505" fontAlgn="auto">
              <a:spcAft>
                <a:spcPts val="0"/>
              </a:spcAft>
              <a:buFont typeface="+mj-lt"/>
              <a:buAutoNum type="arabicPeriod"/>
            </a:pPr>
            <a:r>
              <a:rPr lang="zh-CN" altLang="en-US" sz="2800" b="1" dirty="0">
                <a:latin typeface="Times New Roman" panose="02020603050405020304" pitchFamily="18" charset="0"/>
              </a:rPr>
              <a:t>抽象</a:t>
            </a:r>
            <a:endParaRPr lang="en-US" altLang="zh-CN" sz="2800" b="1" dirty="0">
              <a:latin typeface="Times New Roman" panose="02020603050405020304" pitchFamily="18" charset="0"/>
            </a:endParaRPr>
          </a:p>
          <a:p>
            <a:pPr marL="357505" indent="-357505" fontAlgn="auto">
              <a:spcAft>
                <a:spcPts val="0"/>
              </a:spcAft>
              <a:buClr>
                <a:schemeClr val="tx1"/>
              </a:buClr>
              <a:buFont typeface="+mj-lt"/>
              <a:buAutoNum type="arabicPeriod"/>
            </a:pPr>
            <a:r>
              <a:rPr lang="zh-CN" altLang="en-US" sz="2800" b="1" dirty="0">
                <a:solidFill>
                  <a:srgbClr val="FF0000"/>
                </a:solidFill>
                <a:latin typeface="Times New Roman" panose="02020603050405020304" pitchFamily="18" charset="0"/>
              </a:rPr>
              <a:t>封装</a:t>
            </a:r>
            <a:endParaRPr lang="en-US" altLang="zh-CN" sz="2800" b="1" dirty="0">
              <a:solidFill>
                <a:srgbClr val="FF0000"/>
              </a:solidFill>
              <a:latin typeface="Times New Roman" panose="02020603050405020304" pitchFamily="18" charset="0"/>
            </a:endParaRPr>
          </a:p>
          <a:p>
            <a:pPr marL="357505" indent="-357505" fontAlgn="auto">
              <a:spcAft>
                <a:spcPts val="0"/>
              </a:spcAft>
              <a:buClr>
                <a:schemeClr val="tx1"/>
              </a:buClr>
              <a:buFont typeface="+mj-lt"/>
              <a:buAutoNum type="arabicPeriod"/>
            </a:pPr>
            <a:r>
              <a:rPr lang="zh-CN" altLang="en-US" sz="2800" b="1" dirty="0">
                <a:solidFill>
                  <a:srgbClr val="FF0000"/>
                </a:solidFill>
                <a:latin typeface="Times New Roman" panose="02020603050405020304" pitchFamily="18" charset="0"/>
              </a:rPr>
              <a:t>继承</a:t>
            </a:r>
            <a:endParaRPr lang="en-US" altLang="zh-CN" sz="2800" b="1" dirty="0">
              <a:solidFill>
                <a:srgbClr val="FF0000"/>
              </a:solidFill>
              <a:latin typeface="Times New Roman" panose="02020603050405020304" pitchFamily="18" charset="0"/>
            </a:endParaRPr>
          </a:p>
          <a:p>
            <a:pPr marL="357505" indent="-357505" fontAlgn="auto">
              <a:spcAft>
                <a:spcPts val="0"/>
              </a:spcAft>
              <a:buClr>
                <a:schemeClr val="tx1"/>
              </a:buClr>
              <a:buFont typeface="+mj-lt"/>
              <a:buAutoNum type="arabicPeriod"/>
            </a:pPr>
            <a:r>
              <a:rPr lang="zh-CN" altLang="en-US" sz="2800" b="1" dirty="0">
                <a:solidFill>
                  <a:srgbClr val="FF0000"/>
                </a:solidFill>
                <a:latin typeface="Times New Roman" panose="02020603050405020304" pitchFamily="18" charset="0"/>
              </a:rPr>
              <a:t>多态</a:t>
            </a:r>
            <a:endParaRPr lang="zh-CN" altLang="en-US" sz="2800" b="1" dirty="0">
              <a:solidFill>
                <a:srgbClr val="FF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idx="4294967295"/>
          </p:nvPr>
        </p:nvSpPr>
        <p:spPr>
          <a:xfrm>
            <a:off x="829214" y="1506236"/>
            <a:ext cx="6336704" cy="1302202"/>
          </a:xfrm>
        </p:spPr>
        <p:txBody>
          <a:bodyPr>
            <a:normAutofit/>
          </a:bodyPr>
          <a:lstStyle/>
          <a:p>
            <a:pPr>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忽略问题中</a:t>
            </a:r>
            <a:r>
              <a:rPr lang="zh-CN" altLang="en-US" sz="2800" b="1" dirty="0">
                <a:solidFill>
                  <a:srgbClr val="FF0000"/>
                </a:solidFill>
                <a:latin typeface="Times New Roman" panose="02020603050405020304" pitchFamily="18" charset="0"/>
              </a:rPr>
              <a:t>与当前目标无关</a:t>
            </a:r>
            <a:r>
              <a:rPr lang="zh-CN" altLang="en-US" sz="2800" b="1" dirty="0">
                <a:latin typeface="Times New Roman" panose="02020603050405020304" pitchFamily="18" charset="0"/>
              </a:rPr>
              <a:t>的方面</a:t>
            </a:r>
            <a:endParaRPr lang="en-US" altLang="zh-CN" sz="28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只关注与当前目标有关的方面</a:t>
            </a:r>
            <a:endParaRPr lang="en-US" altLang="zh-CN" sz="2800" b="1" dirty="0">
              <a:latin typeface="Times New Roman" panose="02020603050405020304" pitchFamily="18" charset="0"/>
            </a:endParaRPr>
          </a:p>
        </p:txBody>
      </p:sp>
      <p:sp>
        <p:nvSpPr>
          <p:cNvPr id="14338" name="灯片编号占位符 5"/>
          <p:cNvSpPr>
            <a:spLocks noGrp="1"/>
          </p:cNvSpPr>
          <p:nvPr>
            <p:ph type="sldNum" sz="quarter" idx="12"/>
          </p:nvPr>
        </p:nvSpPr>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buNone/>
            </a:pPr>
            <a:fld id="{50E7AC79-1902-4572-B46F-68616993FFC5}" type="slidenum">
              <a:rPr lang="en-US" altLang="zh-CN" sz="1800" smtClean="0">
                <a:solidFill>
                  <a:schemeClr val="bg1"/>
                </a:solidFill>
                <a:latin typeface="Times New Roman" panose="02020603050405020304" pitchFamily="18" charset="0"/>
                <a:ea typeface="楷体" panose="02010609060101010101" pitchFamily="49" charset="-122"/>
                <a:cs typeface="Times New Roman" panose="02020603050405020304" pitchFamily="18" charset="0"/>
              </a:rPr>
            </a:fld>
            <a:endParaRPr lang="en-US" altLang="zh-CN" sz="18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文本框 1"/>
          <p:cNvSpPr txBox="1"/>
          <p:nvPr>
            <p:custDataLst>
              <p:tags r:id="rId1"/>
            </p:custDataLst>
          </p:nvPr>
        </p:nvSpPr>
        <p:spPr>
          <a:xfrm>
            <a:off x="407670" y="980440"/>
            <a:ext cx="446419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面向对象方法的特性：</a:t>
            </a:r>
            <a:r>
              <a:rPr lang="zh-CN" altLang="en-US" sz="2800" dirty="0">
                <a:solidFill>
                  <a:srgbClr val="FF0000"/>
                </a:solidFill>
                <a:highlight>
                  <a:srgbClr val="FFFF00"/>
                </a:highlight>
                <a:ea typeface="楷体" panose="02010609060101010101" pitchFamily="49" charset="-122"/>
                <a:cs typeface="思源黑体 CN Heavy" panose="020B0A00000000000000" charset="-122"/>
              </a:rPr>
              <a:t>抽象</a:t>
            </a:r>
            <a:endParaRPr lang="zh-CN" altLang="en-US" sz="2800" dirty="0">
              <a:solidFill>
                <a:srgbClr val="FF0000"/>
              </a:solidFill>
              <a:highlight>
                <a:srgbClr val="FFFF00"/>
              </a:highlight>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2927648" y="74326"/>
            <a:ext cx="66247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2.1  </a:t>
            </a:r>
            <a:r>
              <a:rPr lang="zh-CN" altLang="en-US" sz="3200" dirty="0">
                <a:ln w="11430">
                  <a:noFill/>
                </a:ln>
                <a:solidFill>
                  <a:srgbClr val="255EAB"/>
                </a:solidFill>
                <a:ea typeface="楷体" panose="02010609060101010101" pitchFamily="49" charset="-122"/>
              </a:rPr>
              <a:t>面向对象的程序设计方法概述</a:t>
            </a:r>
            <a:endParaRPr lang="zh-CN" altLang="en-US" sz="3200" dirty="0">
              <a:ln w="11430">
                <a:noFill/>
              </a:ln>
              <a:solidFill>
                <a:srgbClr val="255EAB"/>
              </a:solidFill>
              <a:ea typeface="楷体" panose="02010609060101010101" pitchFamily="49" charset="-122"/>
            </a:endParaRPr>
          </a:p>
        </p:txBody>
      </p:sp>
      <p:sp>
        <p:nvSpPr>
          <p:cNvPr id="4" name="TextBox 3"/>
          <p:cNvSpPr txBox="1"/>
          <p:nvPr/>
        </p:nvSpPr>
        <p:spPr>
          <a:xfrm>
            <a:off x="982030" y="3130556"/>
            <a:ext cx="6698146" cy="451850"/>
          </a:xfrm>
          <a:prstGeom prst="rect">
            <a:avLst/>
          </a:prstGeom>
          <a:noFill/>
          <a:ln>
            <a:noFill/>
          </a:ln>
        </p:spPr>
        <p:style>
          <a:lnRef idx="2">
            <a:schemeClr val="accent5"/>
          </a:lnRef>
          <a:fillRef idx="1">
            <a:schemeClr val="lt1"/>
          </a:fillRef>
          <a:effectRef idx="0">
            <a:schemeClr val="accent5"/>
          </a:effectRef>
          <a:fontRef idx="minor">
            <a:schemeClr val="dk1"/>
          </a:fontRef>
        </p:style>
        <p:txBody>
          <a:bodyPr wrap="square" lIns="0" tIns="36000" rIns="72000" bIns="0" rtlCol="0">
            <a:spAutoFit/>
          </a:bodyPr>
          <a:lstStyle/>
          <a:p>
            <a:pPr>
              <a:lnSpc>
                <a:spcPct val="100000"/>
              </a:lnSpc>
              <a:spcBef>
                <a:spcPts val="0"/>
              </a:spcBef>
            </a:pP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例：查找并输出</a:t>
            </a: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N</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个数据元素中的最大元素</a:t>
            </a:r>
            <a:endPar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p:txBody>
      </p:sp>
      <p:sp>
        <p:nvSpPr>
          <p:cNvPr id="6" name="TextBox 3"/>
          <p:cNvSpPr txBox="1"/>
          <p:nvPr/>
        </p:nvSpPr>
        <p:spPr>
          <a:xfrm>
            <a:off x="911424" y="3903935"/>
            <a:ext cx="10945216" cy="2528570"/>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lIns="0" tIns="36000" rIns="72000" bIns="0" rtlCol="0">
            <a:spAutoFit/>
          </a:bodyPr>
          <a:lstStyle/>
          <a:p>
            <a:pPr>
              <a:lnSpc>
                <a:spcPct val="150000"/>
              </a:lnSpc>
              <a:spcBef>
                <a:spcPts val="0"/>
              </a:spcBef>
            </a:pP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1)  </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将第一个元素与第二个元素比较，选择其中</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较大者，保存到</a:t>
            </a: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Max</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lnSpc>
                <a:spcPct val="150000"/>
              </a:lnSpc>
              <a:spcBef>
                <a:spcPts val="0"/>
              </a:spcBef>
            </a:pP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2) </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若已经查找到末尾元素，则输出</a:t>
            </a: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Max</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，结束过程。</a:t>
            </a:r>
            <a:endPar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lnSpc>
                <a:spcPct val="150000"/>
              </a:lnSpc>
              <a:spcBef>
                <a:spcPts val="0"/>
              </a:spcBef>
            </a:pP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3) </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将</a:t>
            </a: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Max</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与下一个元素比较，选择其中较大者，保存到</a:t>
            </a: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Max</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，转步骤</a:t>
            </a:r>
            <a:r>
              <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2)</a:t>
            </a:r>
            <a:r>
              <a:rPr lang="zh-CN" altLang="en-US"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2700" b="1"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3"/>
          <p:cNvSpPr>
            <a:spLocks noGrp="1" noChangeArrowheads="1"/>
          </p:cNvSpPr>
          <p:nvPr>
            <p:ph idx="4294967295"/>
          </p:nvPr>
        </p:nvSpPr>
        <p:spPr>
          <a:xfrm>
            <a:off x="829214" y="1506236"/>
            <a:ext cx="6336704" cy="1302202"/>
          </a:xfrm>
        </p:spPr>
        <p:txBody>
          <a:bodyPr>
            <a:normAutofit/>
          </a:bodyPr>
          <a:lstStyle/>
          <a:p>
            <a:pPr>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忽略问题中</a:t>
            </a:r>
            <a:r>
              <a:rPr lang="zh-CN" altLang="en-US" sz="2800" b="1" dirty="0">
                <a:solidFill>
                  <a:srgbClr val="FF0000"/>
                </a:solidFill>
                <a:latin typeface="Times New Roman" panose="02020603050405020304" pitchFamily="18" charset="0"/>
              </a:rPr>
              <a:t>与当前目标无关</a:t>
            </a:r>
            <a:r>
              <a:rPr lang="zh-CN" altLang="en-US" sz="2800" b="1" dirty="0">
                <a:latin typeface="Times New Roman" panose="02020603050405020304" pitchFamily="18" charset="0"/>
              </a:rPr>
              <a:t>的方面</a:t>
            </a:r>
            <a:endParaRPr lang="en-US" altLang="zh-CN" sz="28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只关注与当前目标有关的方面</a:t>
            </a:r>
            <a:endParaRPr lang="en-US" altLang="zh-CN" sz="2800" b="1" dirty="0">
              <a:latin typeface="Times New Roman" panose="02020603050405020304" pitchFamily="18" charset="0"/>
            </a:endParaRPr>
          </a:p>
        </p:txBody>
      </p:sp>
      <p:sp>
        <p:nvSpPr>
          <p:cNvPr id="14338" name="灯片编号占位符 5"/>
          <p:cNvSpPr>
            <a:spLocks noGrp="1"/>
          </p:cNvSpPr>
          <p:nvPr>
            <p:ph type="sldNum" sz="quarter" idx="12"/>
          </p:nvPr>
        </p:nvSpPr>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buNone/>
            </a:pPr>
            <a:fld id="{50E7AC79-1902-4572-B46F-68616993FFC5}" type="slidenum">
              <a:rPr lang="en-US" altLang="zh-CN" sz="1800" smtClean="0">
                <a:solidFill>
                  <a:schemeClr val="bg1"/>
                </a:solidFill>
                <a:latin typeface="Times New Roman" panose="02020603050405020304" pitchFamily="18" charset="0"/>
                <a:ea typeface="楷体" panose="02010609060101010101" pitchFamily="49" charset="-122"/>
                <a:cs typeface="Times New Roman" panose="02020603050405020304" pitchFamily="18" charset="0"/>
              </a:rPr>
            </a:fld>
            <a:endParaRPr lang="en-US" altLang="zh-CN" sz="18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文本框 1"/>
          <p:cNvSpPr txBox="1"/>
          <p:nvPr>
            <p:custDataLst>
              <p:tags r:id="rId1"/>
            </p:custDataLst>
          </p:nvPr>
        </p:nvSpPr>
        <p:spPr>
          <a:xfrm>
            <a:off x="407670" y="980440"/>
            <a:ext cx="446419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面向对象方法的特性：</a:t>
            </a:r>
            <a:r>
              <a:rPr lang="zh-CN" altLang="en-US" sz="2800" dirty="0">
                <a:solidFill>
                  <a:srgbClr val="FF0000"/>
                </a:solidFill>
                <a:highlight>
                  <a:srgbClr val="FFFF00"/>
                </a:highlight>
                <a:ea typeface="楷体" panose="02010609060101010101" pitchFamily="49" charset="-122"/>
                <a:cs typeface="思源黑体 CN Heavy" panose="020B0A00000000000000" charset="-122"/>
              </a:rPr>
              <a:t>抽象</a:t>
            </a:r>
            <a:endParaRPr lang="zh-CN" altLang="en-US" sz="2800" dirty="0">
              <a:solidFill>
                <a:srgbClr val="FF0000"/>
              </a:solidFill>
              <a:highlight>
                <a:srgbClr val="FFFF00"/>
              </a:highlight>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2927648" y="74326"/>
            <a:ext cx="66247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2.1  </a:t>
            </a:r>
            <a:r>
              <a:rPr lang="zh-CN" altLang="en-US" sz="3200" dirty="0">
                <a:ln w="11430">
                  <a:noFill/>
                </a:ln>
                <a:solidFill>
                  <a:srgbClr val="255EAB"/>
                </a:solidFill>
                <a:ea typeface="楷体" panose="02010609060101010101" pitchFamily="49" charset="-122"/>
              </a:rPr>
              <a:t>面向对象的程序设计方法概述</a:t>
            </a:r>
            <a:endParaRPr lang="zh-CN" altLang="en-US" sz="3200" dirty="0">
              <a:ln w="11430">
                <a:noFill/>
              </a:ln>
              <a:solidFill>
                <a:srgbClr val="255EAB"/>
              </a:solidFill>
              <a:ea typeface="楷体" panose="02010609060101010101" pitchFamily="49" charset="-122"/>
            </a:endParaRPr>
          </a:p>
        </p:txBody>
      </p:sp>
      <p:sp>
        <p:nvSpPr>
          <p:cNvPr id="4" name="TextBox 3"/>
          <p:cNvSpPr txBox="1"/>
          <p:nvPr/>
        </p:nvSpPr>
        <p:spPr>
          <a:xfrm>
            <a:off x="839416" y="2249670"/>
            <a:ext cx="6663963" cy="4289242"/>
          </a:xfrm>
          <a:prstGeom prst="rect">
            <a:avLst/>
          </a:prstGeom>
          <a:ln>
            <a:solidFill>
              <a:srgbClr val="255EAB"/>
            </a:solidFill>
          </a:ln>
        </p:spPr>
        <p:style>
          <a:lnRef idx="2">
            <a:schemeClr val="accent5"/>
          </a:lnRef>
          <a:fillRef idx="1">
            <a:schemeClr val="lt1"/>
          </a:fillRef>
          <a:effectRef idx="0">
            <a:schemeClr val="accent5"/>
          </a:effectRef>
          <a:fontRef idx="minor">
            <a:schemeClr val="dk1"/>
          </a:fontRef>
        </p:style>
        <p:txBody>
          <a:bodyPr wrap="square" lIns="216000" tIns="72000" bIns="0" rtlCol="0">
            <a:spAutoFit/>
          </a:bodyPr>
          <a:lstStyle/>
          <a:p>
            <a:pPr algn="l">
              <a:lnSpc>
                <a:spcPct val="100000"/>
              </a:lnSpc>
              <a:spcBef>
                <a:spcPts val="0"/>
              </a:spcBef>
            </a:pPr>
            <a:r>
              <a:rPr lang="en-US" altLang="zh-CN" sz="18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ADT List</a:t>
            </a:r>
            <a:r>
              <a:rPr lang="en-US" altLang="zh-CN" sz="1800" dirty="0">
                <a:solidFill>
                  <a:schemeClr val="tx1"/>
                </a:solidFill>
                <a:latin typeface="华文楷体" panose="02010600040101010101" pitchFamily="2" charset="-122"/>
                <a:ea typeface="华文楷体" panose="02010600040101010101" pitchFamily="2" charset="-122"/>
                <a:cs typeface="楷体" panose="02010609060101010101" pitchFamily="49" charset="-122"/>
                <a:sym typeface="+mn-ea"/>
              </a:rPr>
              <a:t>{</a:t>
            </a:r>
            <a:endParaRPr lang="zh-CN" altLang="zh-CN" sz="1800" dirty="0">
              <a:solidFill>
                <a:srgbClr val="FF0000"/>
              </a:solidFill>
              <a:latin typeface="华文楷体" panose="02010600040101010101" pitchFamily="2" charset="-122"/>
              <a:ea typeface="华文楷体" panose="02010600040101010101" pitchFamily="2" charset="-122"/>
              <a:cs typeface="楷体" panose="02010609060101010101" pitchFamily="49" charset="-122"/>
            </a:endParaRPr>
          </a:p>
          <a:p>
            <a:pPr algn="l">
              <a:lnSpc>
                <a:spcPct val="100000"/>
              </a:lnSpc>
              <a:spcBef>
                <a:spcPts val="0"/>
              </a:spcBef>
            </a:pPr>
            <a:r>
              <a:rPr lang="zh-CN" altLang="zh-CN"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数据对象：</a:t>
            </a:r>
            <a:endParaRPr lang="zh-CN" altLang="zh-CN"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endParaRPr>
          </a:p>
          <a:p>
            <a:pPr algn="l">
              <a:lnSpc>
                <a:spcPct val="100000"/>
              </a:lnSpc>
              <a:spcBef>
                <a:spcPts val="0"/>
              </a:spcBef>
            </a:pPr>
            <a:r>
              <a:rPr lang="en-US" altLang="zh-CN" sz="1600" dirty="0">
                <a:solidFill>
                  <a:srgbClr val="0000FF"/>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1600" i="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D</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i="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a:t>
            </a:r>
            <a:r>
              <a:rPr lang="en-US" altLang="zh-CN" sz="1600" i="1" baseline="-25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 0</a:t>
            </a:r>
            <a:r>
              <a:rPr lang="zh-CN"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i="1"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zh-CN"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i="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n</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-1</a:t>
            </a:r>
            <a:r>
              <a:rPr lang="zh-CN"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i="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n</a:t>
            </a:r>
            <a:r>
              <a:rPr lang="zh-CN"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0</a:t>
            </a:r>
            <a:r>
              <a:rPr lang="zh-CN"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i="1"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a:t>
            </a:r>
            <a:r>
              <a:rPr lang="en-US" altLang="zh-CN" sz="1600" i="1" baseline="-25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zh-CN"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为</a:t>
            </a:r>
            <a:r>
              <a:rPr lang="en-US" altLang="zh-CN" sz="1600" dirty="0">
                <a:solidFill>
                  <a:srgbClr val="FF00FF"/>
                </a:solidFill>
                <a:latin typeface="华文楷体" panose="02010600040101010101" pitchFamily="2" charset="-122"/>
                <a:ea typeface="华文楷体" panose="02010600040101010101" pitchFamily="2" charset="-122"/>
                <a:cs typeface="楷体" panose="02010609060101010101" pitchFamily="49" charset="-122"/>
              </a:rPr>
              <a:t>E</a:t>
            </a:r>
            <a:r>
              <a:rPr lang="zh-CN"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类型</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1600" dirty="0">
                <a:solidFill>
                  <a:srgbClr val="0000FF"/>
                </a:solidFill>
                <a:latin typeface="华文楷体" panose="02010600040101010101" pitchFamily="2" charset="-122"/>
                <a:ea typeface="华文楷体" panose="02010600040101010101" pitchFamily="2" charset="-122"/>
                <a:cs typeface="楷体" panose="02010609060101010101" pitchFamily="49" charset="-122"/>
              </a:rPr>
              <a:t> 			</a:t>
            </a:r>
            <a:endParaRPr lang="zh-CN" altLang="zh-CN" sz="1600" dirty="0">
              <a:solidFill>
                <a:srgbClr val="00B0F0"/>
              </a:solidFill>
              <a:latin typeface="华文楷体" panose="02010600040101010101" pitchFamily="2" charset="-122"/>
              <a:ea typeface="华文楷体" panose="02010600040101010101" pitchFamily="2" charset="-122"/>
              <a:cs typeface="楷体" panose="02010609060101010101" pitchFamily="49" charset="-122"/>
            </a:endParaRPr>
          </a:p>
          <a:p>
            <a:pPr algn="l">
              <a:lnSpc>
                <a:spcPct val="100000"/>
              </a:lnSpc>
              <a:spcBef>
                <a:spcPts val="0"/>
              </a:spcBef>
            </a:pPr>
            <a:r>
              <a:rPr lang="zh-CN" altLang="zh-CN"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数据关系：</a:t>
            </a:r>
            <a:endParaRPr lang="zh-CN" altLang="zh-CN"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endParaRPr>
          </a:p>
          <a:p>
            <a:pPr algn="l">
              <a:lnSpc>
                <a:spcPct val="100000"/>
              </a:lnSpc>
              <a:spcBef>
                <a:spcPts val="0"/>
              </a:spcBef>
            </a:pPr>
            <a:r>
              <a:rPr lang="en-US" altLang="zh-CN" sz="1600" dirty="0">
                <a:solidFill>
                  <a:srgbClr val="0000FF"/>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r={&lt;a</a:t>
            </a:r>
            <a:r>
              <a:rPr lang="en-US" altLang="zh-CN" sz="1600" baseline="-25000" dirty="0">
                <a:solidFill>
                  <a:schemeClr val="tx1"/>
                </a:solidFill>
                <a:uFillTx/>
                <a:latin typeface="华文楷体" panose="02010600040101010101" pitchFamily="2" charset="-122"/>
                <a:ea typeface="华文楷体" panose="02010600040101010101" pitchFamily="2" charset="-122"/>
                <a:cs typeface="楷体" panose="02010609060101010101" pitchFamily="49" charset="-122"/>
              </a:rPr>
              <a:t>i</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a:t>
            </a:r>
            <a:r>
              <a:rPr lang="en-US" altLang="zh-CN" sz="1600" baseline="-25000" dirty="0">
                <a:solidFill>
                  <a:schemeClr val="tx1"/>
                </a:solidFill>
                <a:uFillTx/>
                <a:latin typeface="华文楷体" panose="02010600040101010101" pitchFamily="2" charset="-122"/>
                <a:ea typeface="华文楷体" panose="02010600040101010101" pitchFamily="2" charset="-122"/>
                <a:cs typeface="楷体" panose="02010609060101010101" pitchFamily="49" charset="-122"/>
              </a:rPr>
              <a:t>i+1</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&gt; | a</a:t>
            </a:r>
            <a:r>
              <a:rPr lang="en-US" altLang="zh-CN" sz="1600" baseline="-25000" dirty="0">
                <a:solidFill>
                  <a:schemeClr val="tx1"/>
                </a:solidFill>
                <a:uFillTx/>
                <a:latin typeface="华文楷体" panose="02010600040101010101" pitchFamily="2" charset="-122"/>
                <a:ea typeface="华文楷体" panose="02010600040101010101" pitchFamily="2" charset="-122"/>
                <a:cs typeface="楷体" panose="02010609060101010101" pitchFamily="49" charset="-122"/>
              </a:rPr>
              <a:t>i</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a:t>
            </a:r>
            <a:r>
              <a:rPr lang="en-US" altLang="zh-CN" sz="1600" baseline="-25000" dirty="0">
                <a:solidFill>
                  <a:schemeClr val="tx1"/>
                </a:solidFill>
                <a:uFillTx/>
                <a:latin typeface="华文楷体" panose="02010600040101010101" pitchFamily="2" charset="-122"/>
                <a:ea typeface="华文楷体" panose="02010600040101010101" pitchFamily="2" charset="-122"/>
                <a:cs typeface="楷体" panose="02010609060101010101" pitchFamily="49" charset="-122"/>
              </a:rPr>
              <a:t>i+1</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∈D，i=0，…，n-2}</a:t>
            </a:r>
            <a:endPar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lgn="l">
              <a:lnSpc>
                <a:spcPct val="100000"/>
              </a:lnSpc>
              <a:spcBef>
                <a:spcPts val="0"/>
              </a:spcBef>
            </a:pPr>
            <a:r>
              <a:rPr lang="zh-CN" altLang="en-US"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基本运算（</a:t>
            </a:r>
            <a:r>
              <a:rPr lang="en-US" altLang="zh-CN"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11</a:t>
            </a:r>
            <a:r>
              <a:rPr lang="zh-CN" altLang="en-US"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个）：</a:t>
            </a:r>
            <a:endParaRPr lang="zh-CN" altLang="zh-CN" sz="1600" dirty="0">
              <a:solidFill>
                <a:srgbClr val="FF0000"/>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dirty="0">
                <a:solidFill>
                  <a:srgbClr val="0000FF"/>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void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CreateList</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(E [] a)：</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由a数组建立线性表的相应存储结构</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void Add(E e)：</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将元素e添加到线性表末尾</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int size()：</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求线性表的长度</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E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GetElem</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(int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求线性表中序号为i的元素</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void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SetElem</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(int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i，E</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e)：</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设置线性表中序号i的元素为e</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void swap(int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i，int</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j)：</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交换线性表中序号i和序号j的元素</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void Insert(int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i，E</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e)：</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在线性表中插入数据元素e作为第i个元素</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marL="0" indent="0" algn="l" eaLnBrk="1" latinLnBrk="0" hangingPunct="1">
              <a:lnSpc>
                <a:spcPts val="2420"/>
              </a:lnSpc>
              <a:spcBef>
                <a:spcPts val="0"/>
              </a:spcBef>
            </a:pP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void Delete(int </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en-US" altLang="zh-CN" sz="1600" b="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在线性表中删除第i个数据元素</a:t>
            </a:r>
            <a:r>
              <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b="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lgn="l">
              <a:lnSpc>
                <a:spcPct val="100000"/>
              </a:lnSpc>
              <a:spcBef>
                <a:spcPts val="0"/>
              </a:spcBef>
            </a:pPr>
            <a:r>
              <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16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p:txBody>
      </p:sp>
      <p:sp>
        <p:nvSpPr>
          <p:cNvPr id="5" name="TextBox 3"/>
          <p:cNvSpPr txBox="1"/>
          <p:nvPr/>
        </p:nvSpPr>
        <p:spPr>
          <a:xfrm>
            <a:off x="4168952" y="2249670"/>
            <a:ext cx="7560840" cy="4381575"/>
          </a:xfrm>
          <a:prstGeom prst="rect">
            <a:avLst/>
          </a:prstGeom>
          <a:ln>
            <a:solidFill>
              <a:srgbClr val="255EAB"/>
            </a:solidFill>
          </a:ln>
        </p:spPr>
        <p:style>
          <a:lnRef idx="2">
            <a:schemeClr val="accent5"/>
          </a:lnRef>
          <a:fillRef idx="1">
            <a:schemeClr val="lt1"/>
          </a:fillRef>
          <a:effectRef idx="0">
            <a:schemeClr val="accent5"/>
          </a:effectRef>
          <a:fontRef idx="minor">
            <a:schemeClr val="dk1"/>
          </a:fontRef>
        </p:style>
        <p:txBody>
          <a:bodyPr wrap="square" lIns="216000" tIns="72000" bIns="0" rtlCol="0">
            <a:spAutoFit/>
          </a:bodyPr>
          <a:lstStyle/>
          <a:p>
            <a:pPr>
              <a:spcBef>
                <a:spcPts val="0"/>
              </a:spcBef>
            </a:pP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public class </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SqListClassT</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&lt;E&gt;{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顺序表泛型类</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private E[] </a:t>
            </a:r>
            <a:r>
              <a:rPr lang="en-US" altLang="zh-CN" sz="2000" dirty="0">
                <a:solidFill>
                  <a:srgbClr val="FF3399"/>
                </a:solidFill>
                <a:latin typeface="华文楷体" panose="02010600040101010101" pitchFamily="2" charset="-122"/>
                <a:ea typeface="华文楷体" panose="02010600040101010101" pitchFamily="2" charset="-122"/>
                <a:cs typeface="楷体" panose="02010609060101010101" pitchFamily="49" charset="-122"/>
              </a:rPr>
              <a:t>data</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存放顺序表中元素</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private int </a:t>
            </a:r>
            <a:r>
              <a:rPr lang="en-US" altLang="zh-CN" sz="2000" dirty="0">
                <a:solidFill>
                  <a:srgbClr val="FF3399"/>
                </a:solidFill>
                <a:latin typeface="华文楷体" panose="02010600040101010101" pitchFamily="2" charset="-122"/>
                <a:ea typeface="华文楷体" panose="02010600040101010101" pitchFamily="2" charset="-122"/>
                <a:cs typeface="楷体" panose="02010609060101010101" pitchFamily="49" charset="-122"/>
              </a:rPr>
              <a:t>size</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存放顺序表的长度</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private int </a:t>
            </a:r>
            <a:r>
              <a:rPr lang="en-US" altLang="zh-CN" sz="2000" dirty="0">
                <a:solidFill>
                  <a:srgbClr val="FF3399"/>
                </a:solidFill>
                <a:latin typeface="华文楷体" panose="02010600040101010101" pitchFamily="2" charset="-122"/>
                <a:ea typeface="华文楷体" panose="02010600040101010101" pitchFamily="2" charset="-122"/>
                <a:cs typeface="楷体" panose="02010609060101010101" pitchFamily="49" charset="-122"/>
              </a:rPr>
              <a:t>capacity</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存放顺序表的容量</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public void </a:t>
            </a:r>
            <a:r>
              <a:rPr lang="en-US" altLang="zh-CN" sz="2000" dirty="0" err="1">
                <a:solidFill>
                  <a:srgbClr val="FF0000"/>
                </a:solidFill>
                <a:latin typeface="华文楷体" panose="02010600040101010101" pitchFamily="2" charset="-122"/>
                <a:ea typeface="华文楷体" panose="02010600040101010101" pitchFamily="2" charset="-122"/>
                <a:cs typeface="楷体" panose="02010609060101010101" pitchFamily="49" charset="-122"/>
              </a:rPr>
              <a:t>CreateList</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(E[] a){}//</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由</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整体建立顺序表</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public void </a:t>
            </a:r>
            <a:r>
              <a:rPr lang="en-US" altLang="zh-CN" sz="20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Add</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(E e){}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在线性表的末尾添加一个元素</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e</a:t>
            </a:r>
            <a:endPar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public int </a:t>
            </a:r>
            <a:r>
              <a:rPr lang="en-US" altLang="zh-CN" sz="20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size</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求线性表长度</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public E </a:t>
            </a:r>
            <a:r>
              <a:rPr lang="en-US" altLang="zh-CN" sz="2000" dirty="0" err="1">
                <a:solidFill>
                  <a:srgbClr val="FF0000"/>
                </a:solidFill>
                <a:latin typeface="华文楷体" panose="02010600040101010101" pitchFamily="2" charset="-122"/>
                <a:ea typeface="华文楷体" panose="02010600040101010101" pitchFamily="2" charset="-122"/>
                <a:cs typeface="楷体" panose="02010609060101010101" pitchFamily="49" charset="-122"/>
              </a:rPr>
              <a:t>GetElem</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(int </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返回线性表中序号为</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的元素</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public void </a:t>
            </a:r>
            <a:r>
              <a:rPr lang="en-US" altLang="zh-CN" sz="2000" dirty="0" err="1">
                <a:solidFill>
                  <a:srgbClr val="FF0000"/>
                </a:solidFill>
                <a:latin typeface="华文楷体" panose="02010600040101010101" pitchFamily="2" charset="-122"/>
                <a:ea typeface="华文楷体" panose="02010600040101010101" pitchFamily="2" charset="-122"/>
                <a:cs typeface="楷体" panose="02010609060101010101" pitchFamily="49" charset="-122"/>
              </a:rPr>
              <a:t>SetElem</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(int </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i,E</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e){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设置序号</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的元素为</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e</a:t>
            </a:r>
            <a:endPar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public void </a:t>
            </a:r>
            <a:r>
              <a:rPr lang="en-US" altLang="zh-CN" sz="20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swap</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(int </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i,int</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j){}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交换</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data[</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和</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data[j]</a:t>
            </a:r>
            <a:endPar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public void </a:t>
            </a:r>
            <a:r>
              <a:rPr lang="en-US" altLang="zh-CN" sz="20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Insert</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(int </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E e){}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在线性表中序号</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位置插入元素</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e</a:t>
            </a:r>
            <a:endPar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public void </a:t>
            </a:r>
            <a:r>
              <a:rPr lang="en-US" altLang="zh-CN" sz="2000" dirty="0">
                <a:solidFill>
                  <a:srgbClr val="FF0000"/>
                </a:solidFill>
                <a:latin typeface="华文楷体" panose="02010600040101010101" pitchFamily="2" charset="-122"/>
                <a:ea typeface="华文楷体" panose="02010600040101010101" pitchFamily="2" charset="-122"/>
                <a:cs typeface="楷体" panose="02010609060101010101" pitchFamily="49" charset="-122"/>
              </a:rPr>
              <a:t>Delete</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(int </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    //</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在线性表中删除序号</a:t>
            </a:r>
            <a:r>
              <a:rPr lang="en-US" altLang="zh-CN" sz="2000" dirty="0" err="1">
                <a:solidFill>
                  <a:schemeClr val="tx1"/>
                </a:solidFill>
                <a:latin typeface="华文楷体" panose="02010600040101010101" pitchFamily="2" charset="-122"/>
                <a:ea typeface="华文楷体" panose="02010600040101010101" pitchFamily="2" charset="-122"/>
                <a:cs typeface="楷体" panose="02010609060101010101" pitchFamily="49" charset="-122"/>
              </a:rPr>
              <a:t>i</a:t>
            </a: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位置的元素</a:t>
            </a:r>
            <a:endPar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a:p>
            <a:pPr>
              <a:spcBef>
                <a:spcPts val="0"/>
              </a:spcBef>
            </a:pPr>
            <a:r>
              <a:rPr lang="zh-CN" altLang="en-US"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  </a:t>
            </a:r>
            <a:r>
              <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rPr>
              <a:t>}</a:t>
            </a:r>
            <a:endParaRPr lang="en-US" altLang="zh-CN" sz="2000" dirty="0">
              <a:solidFill>
                <a:schemeClr val="tx1"/>
              </a:solidFill>
              <a:latin typeface="华文楷体" panose="02010600040101010101" pitchFamily="2" charset="-122"/>
              <a:ea typeface="华文楷体" panose="02010600040101010101" pitchFamily="2" charset="-122"/>
              <a:cs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051"/>
          <p:cNvSpPr>
            <a:spLocks noGrp="1" noChangeArrowheads="1"/>
          </p:cNvSpPr>
          <p:nvPr>
            <p:ph idx="4294967295"/>
          </p:nvPr>
        </p:nvSpPr>
        <p:spPr>
          <a:xfrm>
            <a:off x="551384" y="1774850"/>
            <a:ext cx="11305256" cy="2734270"/>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利用</a:t>
            </a:r>
            <a:r>
              <a:rPr lang="zh-CN" altLang="en-US" sz="2800" b="1" dirty="0">
                <a:highlight>
                  <a:srgbClr val="FFFF00"/>
                </a:highlight>
                <a:latin typeface="Times New Roman" panose="02020603050405020304" pitchFamily="18" charset="0"/>
              </a:rPr>
              <a:t>抽象数据类型</a:t>
            </a:r>
            <a:r>
              <a:rPr lang="zh-CN" altLang="en-US" sz="2800" b="1" dirty="0">
                <a:latin typeface="Times New Roman" panose="02020603050405020304" pitchFamily="18" charset="0"/>
              </a:rPr>
              <a:t>将</a:t>
            </a:r>
            <a:r>
              <a:rPr lang="zh-CN" altLang="en-US" sz="2800" b="1" dirty="0">
                <a:solidFill>
                  <a:srgbClr val="FF0000"/>
                </a:solidFill>
                <a:highlight>
                  <a:srgbClr val="FFFF00"/>
                </a:highlight>
                <a:latin typeface="Times New Roman" panose="02020603050405020304" pitchFamily="18" charset="0"/>
              </a:rPr>
              <a:t>数据和基于数据的操作</a:t>
            </a:r>
            <a:r>
              <a:rPr lang="zh-CN" altLang="en-US" sz="2800" b="1" dirty="0">
                <a:solidFill>
                  <a:srgbClr val="FF00FF"/>
                </a:solidFill>
                <a:latin typeface="Times New Roman" panose="02020603050405020304" pitchFamily="18" charset="0"/>
              </a:rPr>
              <a:t>封装</a:t>
            </a:r>
            <a:r>
              <a:rPr lang="zh-CN" altLang="en-US" sz="2800" b="1" dirty="0">
                <a:latin typeface="Times New Roman" panose="02020603050405020304" pitchFamily="18" charset="0"/>
              </a:rPr>
              <a:t>在一起；</a:t>
            </a:r>
            <a:endParaRPr lang="zh-CN" altLang="en-US" sz="28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用户只能看到对象的</a:t>
            </a:r>
            <a:r>
              <a:rPr lang="zh-CN" altLang="en-US" sz="2800" b="1" dirty="0">
                <a:solidFill>
                  <a:srgbClr val="FF0000"/>
                </a:solidFill>
                <a:latin typeface="Times New Roman" panose="02020603050405020304" pitchFamily="18" charset="0"/>
              </a:rPr>
              <a:t>封装界面</a:t>
            </a:r>
            <a:r>
              <a:rPr lang="zh-CN" altLang="en-US" sz="2800" b="1" dirty="0">
                <a:latin typeface="Times New Roman" panose="02020603050405020304" pitchFamily="18" charset="0"/>
              </a:rPr>
              <a:t>信息，对象的</a:t>
            </a:r>
            <a:r>
              <a:rPr lang="zh-CN" altLang="en-US" sz="2800" b="1" dirty="0">
                <a:solidFill>
                  <a:srgbClr val="FF0000"/>
                </a:solidFill>
                <a:latin typeface="Times New Roman" panose="02020603050405020304" pitchFamily="18" charset="0"/>
              </a:rPr>
              <a:t>内部细节</a:t>
            </a:r>
            <a:r>
              <a:rPr lang="zh-CN" altLang="en-US" sz="2800" b="1" dirty="0">
                <a:latin typeface="Times New Roman" panose="02020603050405020304" pitchFamily="18" charset="0"/>
              </a:rPr>
              <a:t>对用户是隐蔽的；</a:t>
            </a:r>
            <a:endParaRPr lang="zh-CN" altLang="en-US" sz="28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封装的目的在于</a:t>
            </a:r>
            <a:r>
              <a:rPr lang="zh-CN" altLang="en-US" sz="2800" b="1" dirty="0">
                <a:solidFill>
                  <a:srgbClr val="FF0000"/>
                </a:solidFill>
                <a:latin typeface="Times New Roman" panose="02020603050405020304" pitchFamily="18" charset="0"/>
              </a:rPr>
              <a:t>将对象的使用者和设计者分开</a:t>
            </a:r>
            <a:r>
              <a:rPr lang="zh-CN" altLang="en-US" sz="2800" b="1" dirty="0">
                <a:latin typeface="Times New Roman" panose="02020603050405020304" pitchFamily="18" charset="0"/>
              </a:rPr>
              <a:t>，使用者不必知道行为实现的细节。</a:t>
            </a:r>
            <a:endParaRPr lang="zh-CN" altLang="en-US" sz="2800" b="1" dirty="0">
              <a:latin typeface="Times New Roman" panose="02020603050405020304" pitchFamily="18" charset="0"/>
            </a:endParaRPr>
          </a:p>
        </p:txBody>
      </p:sp>
      <p:sp>
        <p:nvSpPr>
          <p:cNvPr id="1638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3DD8856-99B1-48F6-BB97-20A5FB627505}"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16387" name="Rectangle 2053"/>
          <p:cNvSpPr>
            <a:spLocks noChangeArrowheads="1"/>
          </p:cNvSpPr>
          <p:nvPr/>
        </p:nvSpPr>
        <p:spPr bwMode="auto">
          <a:xfrm>
            <a:off x="8839200" y="5181600"/>
            <a:ext cx="914400" cy="7620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2" name="TextBox 3"/>
          <p:cNvSpPr txBox="1"/>
          <p:nvPr>
            <p:custDataLst>
              <p:tags r:id="rId1"/>
            </p:custDataLst>
          </p:nvPr>
        </p:nvSpPr>
        <p:spPr>
          <a:xfrm>
            <a:off x="2927648" y="74326"/>
            <a:ext cx="66247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2.1  </a:t>
            </a:r>
            <a:r>
              <a:rPr lang="zh-CN" altLang="en-US" sz="3200" dirty="0">
                <a:ln w="11430">
                  <a:noFill/>
                </a:ln>
                <a:solidFill>
                  <a:srgbClr val="255EAB"/>
                </a:solidFill>
                <a:ea typeface="楷体" panose="02010609060101010101" pitchFamily="49" charset="-122"/>
              </a:rPr>
              <a:t>面向对象的程序设计方法概述</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460821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面向对象方法的特性：</a:t>
            </a:r>
            <a:r>
              <a:rPr lang="zh-CN" altLang="en-US" sz="2800" dirty="0">
                <a:solidFill>
                  <a:srgbClr val="FF0000"/>
                </a:solidFill>
                <a:highlight>
                  <a:srgbClr val="FFFF00"/>
                </a:highlight>
                <a:ea typeface="楷体" panose="02010609060101010101" pitchFamily="49" charset="-122"/>
                <a:cs typeface="思源黑体 CN Heavy" panose="020B0A00000000000000" charset="-122"/>
              </a:rPr>
              <a:t>封装</a:t>
            </a:r>
            <a:endParaRPr lang="zh-CN" altLang="en-US" sz="2800" dirty="0">
              <a:solidFill>
                <a:srgbClr val="FF0000"/>
              </a:solidFill>
              <a:highlight>
                <a:srgbClr val="FFFF00"/>
              </a:highlight>
              <a:ea typeface="楷体" panose="02010609060101010101" pitchFamily="49" charset="-122"/>
              <a:cs typeface="思源黑体 CN Heavy" panose="020B0A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3"/>
          <p:cNvSpPr>
            <a:spLocks noGrp="1" noChangeArrowheads="1"/>
          </p:cNvSpPr>
          <p:nvPr>
            <p:ph idx="4294967295"/>
          </p:nvPr>
        </p:nvSpPr>
        <p:spPr>
          <a:xfrm>
            <a:off x="695400" y="1745610"/>
            <a:ext cx="11005985" cy="4032448"/>
          </a:xfrm>
        </p:spPr>
        <p:txBody>
          <a:bodyPr vert="horz" wrap="square" lIns="92075" tIns="46038" rIns="92075" bIns="46038" numCol="1" anchor="t" anchorCtr="0" compatLnSpc="1">
            <a:normAutofit/>
          </a:bodyPr>
          <a:lstStyle/>
          <a:p>
            <a:pPr algn="just">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基于</a:t>
            </a:r>
            <a:r>
              <a:rPr lang="zh-CN" altLang="en-US" sz="2800" b="1" dirty="0">
                <a:solidFill>
                  <a:srgbClr val="FF0000"/>
                </a:solidFill>
                <a:highlight>
                  <a:srgbClr val="FFFF00"/>
                </a:highlight>
                <a:latin typeface="Times New Roman" panose="02020603050405020304" pitchFamily="18" charset="0"/>
              </a:rPr>
              <a:t>已有类</a:t>
            </a:r>
            <a:r>
              <a:rPr lang="zh-CN" altLang="en-US" sz="2800" b="1" dirty="0">
                <a:highlight>
                  <a:srgbClr val="FFFF00"/>
                </a:highlight>
                <a:latin typeface="Times New Roman" panose="02020603050405020304" pitchFamily="18" charset="0"/>
              </a:rPr>
              <a:t>产生</a:t>
            </a:r>
            <a:r>
              <a:rPr lang="zh-CN" altLang="en-US" sz="2800" b="1" dirty="0">
                <a:solidFill>
                  <a:srgbClr val="FF0000"/>
                </a:solidFill>
                <a:highlight>
                  <a:srgbClr val="FFFF00"/>
                </a:highlight>
                <a:latin typeface="Times New Roman" panose="02020603050405020304" pitchFamily="18" charset="0"/>
              </a:rPr>
              <a:t>新类</a:t>
            </a:r>
            <a:r>
              <a:rPr lang="zh-CN" altLang="en-US" sz="2800" b="1" dirty="0">
                <a:latin typeface="Times New Roman" panose="02020603050405020304" pitchFamily="18" charset="0"/>
              </a:rPr>
              <a:t>的机制：新类</a:t>
            </a:r>
            <a:r>
              <a:rPr lang="zh-CN" altLang="en-US" sz="2800" b="1" dirty="0">
                <a:solidFill>
                  <a:srgbClr val="FF0000"/>
                </a:solidFill>
                <a:highlight>
                  <a:srgbClr val="FFFF00"/>
                </a:highlight>
                <a:latin typeface="Times New Roman" panose="02020603050405020304" pitchFamily="18" charset="0"/>
              </a:rPr>
              <a:t>获得已有类</a:t>
            </a:r>
            <a:r>
              <a:rPr lang="zh-CN" altLang="en-US" sz="2800" b="1" dirty="0">
                <a:latin typeface="Times New Roman" panose="02020603050405020304" pitchFamily="18" charset="0"/>
              </a:rPr>
              <a:t>（称为</a:t>
            </a:r>
            <a:r>
              <a:rPr lang="zh-CN" altLang="en-US" sz="2800" b="1" dirty="0">
                <a:solidFill>
                  <a:srgbClr val="FF3399"/>
                </a:solidFill>
                <a:highlight>
                  <a:srgbClr val="FFFF00"/>
                </a:highlight>
                <a:latin typeface="Times New Roman" panose="02020603050405020304" pitchFamily="18" charset="0"/>
              </a:rPr>
              <a:t>超类、基类或父类</a:t>
            </a:r>
            <a:r>
              <a:rPr lang="zh-CN" altLang="en-US" sz="2800" b="1" dirty="0">
                <a:latin typeface="Times New Roman" panose="02020603050405020304" pitchFamily="18" charset="0"/>
              </a:rPr>
              <a:t>）的</a:t>
            </a:r>
            <a:r>
              <a:rPr lang="zh-CN" altLang="en-US" sz="2800" b="1" dirty="0">
                <a:solidFill>
                  <a:srgbClr val="FF0000"/>
                </a:solidFill>
                <a:highlight>
                  <a:srgbClr val="FFFF00"/>
                </a:highlight>
                <a:latin typeface="Times New Roman" panose="02020603050405020304" pitchFamily="18" charset="0"/>
              </a:rPr>
              <a:t>属性和行为</a:t>
            </a:r>
            <a:r>
              <a:rPr lang="zh-CN" altLang="en-US" sz="2800" b="1" dirty="0">
                <a:latin typeface="Times New Roman" panose="02020603050405020304" pitchFamily="18" charset="0"/>
              </a:rPr>
              <a:t>，称新类为已有类的</a:t>
            </a:r>
            <a:r>
              <a:rPr lang="zh-CN" altLang="en-US" sz="2800" b="1" dirty="0">
                <a:solidFill>
                  <a:srgbClr val="FF3399"/>
                </a:solidFill>
                <a:latin typeface="Times New Roman" panose="02020603050405020304" pitchFamily="18" charset="0"/>
              </a:rPr>
              <a:t>子类</a:t>
            </a:r>
            <a:r>
              <a:rPr lang="zh-CN" altLang="en-US" sz="2800" b="1" dirty="0">
                <a:latin typeface="Times New Roman" panose="02020603050405020304" pitchFamily="18" charset="0"/>
              </a:rPr>
              <a:t>（也称为</a:t>
            </a:r>
            <a:r>
              <a:rPr lang="zh-CN" altLang="en-US" sz="2800" b="1" dirty="0">
                <a:solidFill>
                  <a:srgbClr val="FF3399"/>
                </a:solidFill>
                <a:latin typeface="Times New Roman" panose="02020603050405020304" pitchFamily="18" charset="0"/>
              </a:rPr>
              <a:t>派生类</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algn="just">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子类</a:t>
            </a:r>
            <a:r>
              <a:rPr lang="zh-CN" altLang="en-US" sz="2800" b="1" dirty="0">
                <a:solidFill>
                  <a:srgbClr val="FF3399"/>
                </a:solidFill>
                <a:latin typeface="Times New Roman" panose="02020603050405020304" pitchFamily="18" charset="0"/>
              </a:rPr>
              <a:t>继承了超类的特性</a:t>
            </a:r>
            <a:r>
              <a:rPr lang="zh-CN" altLang="en-US" sz="2800" b="1" dirty="0">
                <a:latin typeface="Times New Roman" panose="02020603050405020304" pitchFamily="18" charset="0"/>
              </a:rPr>
              <a:t>，包括</a:t>
            </a:r>
            <a:r>
              <a:rPr lang="zh-CN" altLang="en-US" sz="2800" b="1" dirty="0">
                <a:solidFill>
                  <a:srgbClr val="FF3399"/>
                </a:solidFill>
                <a:highlight>
                  <a:srgbClr val="FFFF66"/>
                </a:highlight>
                <a:latin typeface="Times New Roman" panose="02020603050405020304" pitchFamily="18" charset="0"/>
              </a:rPr>
              <a:t>方法和实例变量</a:t>
            </a:r>
            <a:r>
              <a:rPr lang="zh-CN" altLang="en-US" sz="2800" b="1" dirty="0">
                <a:latin typeface="Times New Roman" panose="02020603050405020304" pitchFamily="18" charset="0"/>
              </a:rPr>
              <a:t>；</a:t>
            </a:r>
            <a:endParaRPr lang="zh-CN" altLang="en-US" sz="2800" b="1" dirty="0">
              <a:latin typeface="Times New Roman" panose="02020603050405020304" pitchFamily="18" charset="0"/>
            </a:endParaRPr>
          </a:p>
          <a:p>
            <a:pPr algn="just">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子类可修改继承的</a:t>
            </a:r>
            <a:r>
              <a:rPr lang="zh-CN" altLang="en-US" sz="2800" b="1" dirty="0">
                <a:solidFill>
                  <a:srgbClr val="FF3399"/>
                </a:solidFill>
                <a:latin typeface="Times New Roman" panose="02020603050405020304" pitchFamily="18" charset="0"/>
              </a:rPr>
              <a:t>方法</a:t>
            </a:r>
            <a:r>
              <a:rPr lang="zh-CN" altLang="en-US" sz="2800" b="1" dirty="0">
                <a:latin typeface="Times New Roman" panose="02020603050405020304" pitchFamily="18" charset="0"/>
              </a:rPr>
              <a:t>或增加新的</a:t>
            </a:r>
            <a:r>
              <a:rPr lang="zh-CN" altLang="en-US" sz="2800" b="1" dirty="0">
                <a:solidFill>
                  <a:srgbClr val="FF3399"/>
                </a:solidFill>
                <a:latin typeface="Times New Roman" panose="02020603050405020304" pitchFamily="18" charset="0"/>
              </a:rPr>
              <a:t>方法</a:t>
            </a:r>
            <a:r>
              <a:rPr lang="zh-CN" altLang="en-US" sz="2800" b="1" dirty="0">
                <a:latin typeface="Times New Roman" panose="02020603050405020304" pitchFamily="18" charset="0"/>
              </a:rPr>
              <a:t>；</a:t>
            </a:r>
            <a:endParaRPr lang="en-US" altLang="zh-CN" sz="2800" b="1" dirty="0">
              <a:latin typeface="Times New Roman" panose="02020603050405020304" pitchFamily="18" charset="0"/>
            </a:endParaRPr>
          </a:p>
          <a:p>
            <a:pPr algn="just">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有助于解决软件的</a:t>
            </a:r>
            <a:r>
              <a:rPr lang="zh-CN" altLang="en-US" sz="2800" b="1" dirty="0">
                <a:solidFill>
                  <a:srgbClr val="FF3399"/>
                </a:solidFill>
                <a:latin typeface="Times New Roman" panose="02020603050405020304" pitchFamily="18" charset="0"/>
              </a:rPr>
              <a:t>可重用</a:t>
            </a:r>
            <a:r>
              <a:rPr lang="zh-CN" altLang="en-US" sz="2800" b="1" dirty="0">
                <a:latin typeface="Times New Roman" panose="02020603050405020304" pitchFamily="18" charset="0"/>
              </a:rPr>
              <a:t>问题，使程序结构清晰，降低编码和维护的工作量。</a:t>
            </a:r>
            <a:endParaRPr lang="zh-CN" altLang="en-US" sz="2800" b="1" dirty="0">
              <a:latin typeface="Times New Roman" panose="02020603050405020304" pitchFamily="18" charset="0"/>
            </a:endParaRPr>
          </a:p>
        </p:txBody>
      </p:sp>
      <p:sp>
        <p:nvSpPr>
          <p:cNvPr id="1945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00D72362-7F15-4CFE-9466-EA8F5870185B}"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TextBox 3"/>
          <p:cNvSpPr txBox="1"/>
          <p:nvPr>
            <p:custDataLst>
              <p:tags r:id="rId1"/>
            </p:custDataLst>
          </p:nvPr>
        </p:nvSpPr>
        <p:spPr>
          <a:xfrm>
            <a:off x="2927648" y="74326"/>
            <a:ext cx="66247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2.1  </a:t>
            </a:r>
            <a:r>
              <a:rPr lang="zh-CN" altLang="en-US" sz="3200" dirty="0">
                <a:ln w="11430">
                  <a:noFill/>
                </a:ln>
                <a:solidFill>
                  <a:srgbClr val="255EAB"/>
                </a:solidFill>
                <a:ea typeface="楷体" panose="02010609060101010101" pitchFamily="49" charset="-122"/>
              </a:rPr>
              <a:t>面向对象的程序设计方法概述</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446419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面向对象方法的特性：</a:t>
            </a:r>
            <a:r>
              <a:rPr lang="zh-CN" altLang="en-US" sz="2800" dirty="0">
                <a:solidFill>
                  <a:srgbClr val="FF0000"/>
                </a:solidFill>
                <a:highlight>
                  <a:srgbClr val="FFFF00"/>
                </a:highlight>
                <a:ea typeface="楷体" panose="02010609060101010101" pitchFamily="49" charset="-122"/>
                <a:cs typeface="思源黑体 CN Heavy" panose="020B0A00000000000000" charset="-122"/>
              </a:rPr>
              <a:t>继承</a:t>
            </a:r>
            <a:endParaRPr lang="zh-CN" altLang="en-US" sz="2800" dirty="0">
              <a:solidFill>
                <a:srgbClr val="FF0000"/>
              </a:solidFill>
              <a:highlight>
                <a:srgbClr val="FFFF00"/>
              </a:highlight>
              <a:ea typeface="楷体" panose="02010609060101010101" pitchFamily="49" charset="-122"/>
              <a:cs typeface="思源黑体 CN Heavy" panose="020B0A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4294967295"/>
          </p:nvPr>
        </p:nvSpPr>
        <p:spPr>
          <a:xfrm>
            <a:off x="1271464" y="1700808"/>
            <a:ext cx="8064896" cy="2304256"/>
          </a:xfrm>
        </p:spPr>
        <p:txBody>
          <a:bodyPr vert="horz" wrap="square" lIns="92075" tIns="46038" rIns="92075" bIns="46038" numCol="1" anchor="t" anchorCtr="0" compatLnSpc="1">
            <a:normAutofit/>
          </a:bodyPr>
          <a:lstStyle/>
          <a:p>
            <a:pPr eaLnBrk="1" hangingPunct="1">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单继承：一个子类只有单一的直接超类。</a:t>
            </a:r>
            <a:endParaRPr lang="zh-CN" altLang="en-US" sz="2800" b="1" dirty="0">
              <a:latin typeface="Times New Roman" panose="02020603050405020304" pitchFamily="18" charset="0"/>
            </a:endParaRPr>
          </a:p>
          <a:p>
            <a:pPr eaLnBrk="1" hangingPunct="1">
              <a:lnSpc>
                <a:spcPct val="150000"/>
              </a:lnSpc>
              <a:spcBef>
                <a:spcPts val="0"/>
              </a:spcBef>
              <a:buFont typeface="Wingdings" panose="05000000000000000000" pitchFamily="2" charset="2"/>
              <a:buChar char="Ø"/>
            </a:pPr>
            <a:r>
              <a:rPr lang="zh-CN" altLang="en-US" sz="2800" b="1" dirty="0">
                <a:latin typeface="Times New Roman" panose="02020603050405020304" pitchFamily="18" charset="0"/>
              </a:rPr>
              <a:t>多继承：一个子类可以有一个以上的直接超类。</a:t>
            </a:r>
            <a:endParaRPr lang="zh-CN" altLang="en-US" sz="2800" b="1" dirty="0">
              <a:latin typeface="Times New Roman" panose="02020603050405020304" pitchFamily="18" charset="0"/>
            </a:endParaRPr>
          </a:p>
          <a:p>
            <a:pPr eaLnBrk="1" hangingPunct="1">
              <a:lnSpc>
                <a:spcPct val="150000"/>
              </a:lnSpc>
              <a:spcBef>
                <a:spcPts val="0"/>
              </a:spcBef>
              <a:buFont typeface="Wingdings" panose="05000000000000000000" pitchFamily="2" charset="2"/>
              <a:buChar char="Ø"/>
            </a:pPr>
            <a:r>
              <a:rPr lang="en-US" altLang="zh-CN" sz="2800" b="1" dirty="0">
                <a:latin typeface="Times New Roman" panose="02020603050405020304" pitchFamily="18" charset="0"/>
              </a:rPr>
              <a:t>Java</a:t>
            </a:r>
            <a:r>
              <a:rPr lang="zh-CN" altLang="en-US" sz="2800" b="1" dirty="0">
                <a:latin typeface="Times New Roman" panose="02020603050405020304" pitchFamily="18" charset="0"/>
              </a:rPr>
              <a:t>语言</a:t>
            </a:r>
            <a:r>
              <a:rPr lang="zh-CN" altLang="en-US" sz="2800" b="1" dirty="0">
                <a:solidFill>
                  <a:srgbClr val="FF0000"/>
                </a:solidFill>
                <a:highlight>
                  <a:srgbClr val="FFFF00"/>
                </a:highlight>
                <a:latin typeface="Times New Roman" panose="02020603050405020304" pitchFamily="18" charset="0"/>
              </a:rPr>
              <a:t>仅支持</a:t>
            </a:r>
            <a:r>
              <a:rPr lang="zh-CN" altLang="en-US" sz="2500" b="1" dirty="0">
                <a:solidFill>
                  <a:srgbClr val="FF0000"/>
                </a:solidFill>
                <a:highlight>
                  <a:srgbClr val="FFFF00"/>
                </a:highlight>
                <a:latin typeface="Times New Roman" panose="02020603050405020304" pitchFamily="18" charset="0"/>
              </a:rPr>
              <a:t>单继承</a:t>
            </a:r>
            <a:r>
              <a:rPr lang="zh-CN" altLang="en-US" sz="2500" b="1" dirty="0">
                <a:latin typeface="Times New Roman" panose="02020603050405020304" pitchFamily="18" charset="0"/>
              </a:rPr>
              <a:t>。</a:t>
            </a:r>
            <a:endParaRPr lang="zh-CN" altLang="en-US" sz="2500" b="1" dirty="0">
              <a:latin typeface="Times New Roman" panose="02020603050405020304" pitchFamily="18" charset="0"/>
            </a:endParaRPr>
          </a:p>
        </p:txBody>
      </p:sp>
      <p:sp>
        <p:nvSpPr>
          <p:cNvPr id="2150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2CECBB4-92DF-47C5-B930-B2B62A3C2FD3}"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TextBox 3"/>
          <p:cNvSpPr txBox="1"/>
          <p:nvPr>
            <p:custDataLst>
              <p:tags r:id="rId1"/>
            </p:custDataLst>
          </p:nvPr>
        </p:nvSpPr>
        <p:spPr>
          <a:xfrm>
            <a:off x="2927648" y="74326"/>
            <a:ext cx="66247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2.1  </a:t>
            </a:r>
            <a:r>
              <a:rPr lang="zh-CN" altLang="en-US" sz="3200" dirty="0">
                <a:ln w="11430">
                  <a:noFill/>
                </a:ln>
                <a:solidFill>
                  <a:srgbClr val="255EAB"/>
                </a:solidFill>
                <a:ea typeface="楷体" panose="02010609060101010101" pitchFamily="49" charset="-122"/>
              </a:rPr>
              <a:t>面向对象的程序设计方法概述</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446419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面向对象方法的特性：</a:t>
            </a:r>
            <a:r>
              <a:rPr lang="zh-CN" altLang="en-US" sz="2800" dirty="0">
                <a:solidFill>
                  <a:srgbClr val="FF0000"/>
                </a:solidFill>
                <a:highlight>
                  <a:srgbClr val="FFFF00"/>
                </a:highlight>
                <a:ea typeface="楷体" panose="02010609060101010101" pitchFamily="49" charset="-122"/>
                <a:cs typeface="思源黑体 CN Heavy" panose="020B0A00000000000000" charset="-122"/>
              </a:rPr>
              <a:t>继承</a:t>
            </a:r>
            <a:endParaRPr lang="zh-CN" altLang="en-US" sz="2800" dirty="0">
              <a:solidFill>
                <a:srgbClr val="FF0000"/>
              </a:solidFill>
              <a:highlight>
                <a:srgbClr val="FFFF00"/>
              </a:highlight>
              <a:ea typeface="楷体" panose="02010609060101010101" pitchFamily="49" charset="-122"/>
              <a:cs typeface="思源黑体 CN Heavy" panose="020B0A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3"/>
          <p:cNvSpPr>
            <a:spLocks noGrp="1" noChangeArrowheads="1"/>
          </p:cNvSpPr>
          <p:nvPr>
            <p:ph idx="4294967295"/>
          </p:nvPr>
        </p:nvSpPr>
        <p:spPr>
          <a:xfrm>
            <a:off x="839416" y="1806601"/>
            <a:ext cx="9835988" cy="1910431"/>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超类及其不同子类的</a:t>
            </a:r>
            <a:r>
              <a:rPr lang="zh-CN" altLang="en-US" sz="2700" b="1" dirty="0">
                <a:solidFill>
                  <a:srgbClr val="FF0000"/>
                </a:solidFill>
                <a:highlight>
                  <a:srgbClr val="FFFF00"/>
                </a:highlight>
                <a:latin typeface="Times New Roman" panose="02020603050405020304" pitchFamily="18" charset="0"/>
              </a:rPr>
              <a:t>对象可以响应同名</a:t>
            </a:r>
            <a:r>
              <a:rPr lang="zh-CN" altLang="en-US" sz="2700" b="1" dirty="0">
                <a:latin typeface="Times New Roman" panose="02020603050405020304" pitchFamily="18" charset="0"/>
              </a:rPr>
              <a:t>的消息，具体的</a:t>
            </a:r>
            <a:r>
              <a:rPr lang="zh-CN" altLang="en-US" sz="2700" b="1" dirty="0">
                <a:solidFill>
                  <a:srgbClr val="FF0000"/>
                </a:solidFill>
                <a:highlight>
                  <a:srgbClr val="FFFF00"/>
                </a:highlight>
                <a:latin typeface="Times New Roman" panose="02020603050405020304" pitchFamily="18" charset="0"/>
              </a:rPr>
              <a:t>实现方法却不同</a:t>
            </a:r>
            <a:r>
              <a:rPr lang="zh-CN" altLang="en-US" sz="2700" b="1" dirty="0">
                <a:latin typeface="Times New Roman" panose="02020603050405020304" pitchFamily="18" charset="0"/>
              </a:rPr>
              <a:t>；</a:t>
            </a:r>
            <a:endParaRPr lang="en-US" altLang="zh-CN"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主要通过子类对父类方法的</a:t>
            </a:r>
            <a:r>
              <a:rPr lang="zh-CN" altLang="en-US" sz="2700" b="1" dirty="0">
                <a:solidFill>
                  <a:srgbClr val="FF0000"/>
                </a:solidFill>
                <a:latin typeface="Times New Roman" panose="02020603050405020304" pitchFamily="18" charset="0"/>
              </a:rPr>
              <a:t>覆盖</a:t>
            </a:r>
            <a:r>
              <a:rPr lang="zh-CN" altLang="en-US" sz="2700" b="1" dirty="0">
                <a:latin typeface="Times New Roman" panose="02020603050405020304" pitchFamily="18" charset="0"/>
              </a:rPr>
              <a:t>来实现。</a:t>
            </a:r>
            <a:endParaRPr lang="zh-CN" altLang="en-US" sz="2700" b="1" dirty="0">
              <a:latin typeface="Times New Roman" panose="02020603050405020304" pitchFamily="18" charset="0"/>
            </a:endParaRPr>
          </a:p>
        </p:txBody>
      </p:sp>
      <p:sp>
        <p:nvSpPr>
          <p:cNvPr id="2253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FABD90E-018E-447D-B7B7-BAB0FCA2DEBE}"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TextBox 3"/>
          <p:cNvSpPr txBox="1"/>
          <p:nvPr>
            <p:custDataLst>
              <p:tags r:id="rId1"/>
            </p:custDataLst>
          </p:nvPr>
        </p:nvSpPr>
        <p:spPr>
          <a:xfrm>
            <a:off x="2927648" y="74326"/>
            <a:ext cx="66247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2.1  </a:t>
            </a:r>
            <a:r>
              <a:rPr lang="zh-CN" altLang="en-US" sz="3200" dirty="0">
                <a:ln w="11430">
                  <a:noFill/>
                </a:ln>
                <a:solidFill>
                  <a:srgbClr val="255EAB"/>
                </a:solidFill>
                <a:ea typeface="楷体" panose="02010609060101010101" pitchFamily="49" charset="-122"/>
              </a:rPr>
              <a:t>面向对象的程序设计方法概述</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446419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面向对象方法的特性：</a:t>
            </a:r>
            <a:r>
              <a:rPr lang="zh-CN" altLang="en-US" sz="2800" dirty="0">
                <a:solidFill>
                  <a:srgbClr val="FF0000"/>
                </a:solidFill>
                <a:highlight>
                  <a:srgbClr val="FFFF00"/>
                </a:highlight>
                <a:ea typeface="楷体" panose="02010609060101010101" pitchFamily="49" charset="-122"/>
                <a:cs typeface="思源黑体 CN Heavy" panose="020B0A00000000000000" charset="-122"/>
              </a:rPr>
              <a:t>多态</a:t>
            </a:r>
            <a:endParaRPr lang="zh-CN" altLang="en-US" sz="2800" dirty="0">
              <a:solidFill>
                <a:srgbClr val="FF0000"/>
              </a:solidFill>
              <a:highlight>
                <a:srgbClr val="FFFF00"/>
              </a:highlight>
              <a:ea typeface="楷体" panose="02010609060101010101" pitchFamily="49" charset="-122"/>
              <a:cs typeface="思源黑体 CN Heavy" panose="020B0A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4294967295"/>
          </p:nvPr>
        </p:nvSpPr>
        <p:spPr>
          <a:xfrm>
            <a:off x="1919536" y="1772816"/>
            <a:ext cx="4320480" cy="1944216"/>
          </a:xfrm>
        </p:spPr>
        <p:txBody>
          <a:bodyPr vert="horz" wrap="square" lIns="92075" tIns="46038" rIns="92075" bIns="46038" numCol="1" anchor="t" anchorCtr="0" compatLnSpc="1">
            <a:noAutofit/>
          </a:bodyPr>
          <a:lstStyle/>
          <a:p>
            <a:pPr>
              <a:lnSpc>
                <a:spcPct val="200000"/>
              </a:lnSpc>
              <a:spcBef>
                <a:spcPts val="600"/>
              </a:spcBef>
              <a:buFont typeface="Wingdings" panose="05000000000000000000" pitchFamily="2" charset="2"/>
              <a:buChar char="Ø"/>
            </a:pPr>
            <a:r>
              <a:rPr lang="zh-CN" altLang="en-GB" sz="2700" b="1" dirty="0">
                <a:latin typeface="Times New Roman" panose="02020603050405020304" pitchFamily="18" charset="0"/>
              </a:rPr>
              <a:t>类是对</a:t>
            </a:r>
            <a:r>
              <a:rPr lang="zh-CN" altLang="en-GB" sz="2700" b="1" dirty="0">
                <a:solidFill>
                  <a:srgbClr val="FF0000"/>
                </a:solidFill>
                <a:highlight>
                  <a:srgbClr val="FFFF00"/>
                </a:highlight>
                <a:latin typeface="Times New Roman" panose="02020603050405020304" pitchFamily="18" charset="0"/>
              </a:rPr>
              <a:t>一类对象</a:t>
            </a:r>
            <a:r>
              <a:rPr lang="zh-CN" altLang="en-GB" sz="2700" b="1" dirty="0">
                <a:latin typeface="Times New Roman" panose="02020603050405020304" pitchFamily="18" charset="0"/>
              </a:rPr>
              <a:t>的描述</a:t>
            </a:r>
            <a:r>
              <a:rPr lang="zh-CN" altLang="en-US" sz="2700" b="1" dirty="0">
                <a:latin typeface="Times New Roman" panose="02020603050405020304" pitchFamily="18" charset="0"/>
              </a:rPr>
              <a:t>；</a:t>
            </a:r>
            <a:endParaRPr lang="en-US" altLang="zh-CN" sz="2700" b="1" dirty="0">
              <a:latin typeface="Times New Roman" panose="02020603050405020304" pitchFamily="18" charset="0"/>
            </a:endParaRPr>
          </a:p>
          <a:p>
            <a:pPr>
              <a:lnSpc>
                <a:spcPct val="200000"/>
              </a:lnSpc>
              <a:spcBef>
                <a:spcPts val="600"/>
              </a:spcBef>
              <a:buFont typeface="Wingdings" panose="05000000000000000000" pitchFamily="2" charset="2"/>
              <a:buChar char="Ø"/>
            </a:pPr>
            <a:r>
              <a:rPr lang="zh-CN" altLang="en-GB" sz="2700" b="1" dirty="0">
                <a:latin typeface="Times New Roman" panose="02020603050405020304" pitchFamily="18" charset="0"/>
              </a:rPr>
              <a:t>对象是</a:t>
            </a:r>
            <a:r>
              <a:rPr lang="zh-CN" altLang="en-GB" sz="2700" b="1" dirty="0">
                <a:solidFill>
                  <a:srgbClr val="FF3399"/>
                </a:solidFill>
                <a:latin typeface="Times New Roman" panose="02020603050405020304" pitchFamily="18" charset="0"/>
              </a:rPr>
              <a:t>类的具体实例</a:t>
            </a:r>
            <a:r>
              <a:rPr lang="zh-CN" altLang="en-US" sz="2700" b="1" dirty="0">
                <a:latin typeface="Times New Roman" panose="02020603050405020304" pitchFamily="18" charset="0"/>
              </a:rPr>
              <a:t>。</a:t>
            </a:r>
            <a:endParaRPr lang="en-US" altLang="zh-CN" sz="2700" dirty="0">
              <a:latin typeface="Times New Roman" panose="02020603050405020304" pitchFamily="18" charset="0"/>
            </a:endParaRPr>
          </a:p>
        </p:txBody>
      </p:sp>
      <p:sp>
        <p:nvSpPr>
          <p:cNvPr id="2457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E990D73-D764-4B5F-89A6-0B0E1253855E}"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273600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类与对象的关系</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1027"/>
          <p:cNvSpPr>
            <a:spLocks noGrp="1" noChangeArrowheads="1"/>
          </p:cNvSpPr>
          <p:nvPr>
            <p:ph idx="4294967295"/>
          </p:nvPr>
        </p:nvSpPr>
        <p:spPr>
          <a:xfrm>
            <a:off x="2207568" y="1844824"/>
            <a:ext cx="7128792" cy="2908920"/>
          </a:xfrm>
        </p:spPr>
        <p:txBody>
          <a:bodyPr vert="horz" wrap="square" lIns="92075" tIns="46038" rIns="92075" bIns="46038" numCol="1" anchor="t" anchorCtr="0" compatLnSpc="1"/>
          <a:lstStyle/>
          <a:p>
            <a:pPr marL="0" indent="0" eaLnBrk="1" hangingPunct="1">
              <a:buFont typeface="Georgia" panose="02040502050405020303" pitchFamily="18" charset="0"/>
              <a:buNone/>
            </a:pPr>
            <a:r>
              <a:rPr lang="en-US" altLang="zh-CN" sz="2500" b="1" dirty="0">
                <a:latin typeface="Times New Roman" panose="02020603050405020304" pitchFamily="18" charset="0"/>
              </a:rPr>
              <a:t>[</a:t>
            </a:r>
            <a:r>
              <a:rPr lang="en-US" altLang="zh-CN" sz="2500" b="1" dirty="0">
                <a:solidFill>
                  <a:srgbClr val="FF3399"/>
                </a:solidFill>
                <a:latin typeface="Times New Roman" panose="02020603050405020304" pitchFamily="18" charset="0"/>
              </a:rPr>
              <a:t>public</a:t>
            </a:r>
            <a:r>
              <a:rPr lang="en-US" altLang="zh-CN" sz="2500" b="1" dirty="0">
                <a:latin typeface="Times New Roman" panose="02020603050405020304" pitchFamily="18" charset="0"/>
              </a:rPr>
              <a:t>] [</a:t>
            </a:r>
            <a:r>
              <a:rPr lang="en-US" altLang="zh-CN" sz="2500" b="1" dirty="0">
                <a:solidFill>
                  <a:srgbClr val="FF3399"/>
                </a:solidFill>
                <a:latin typeface="Times New Roman" panose="02020603050405020304" pitchFamily="18" charset="0"/>
              </a:rPr>
              <a:t>abstract</a:t>
            </a:r>
            <a:r>
              <a:rPr lang="en-US" altLang="zh-CN" sz="2500" b="1" dirty="0">
                <a:latin typeface="Times New Roman" panose="02020603050405020304" pitchFamily="18" charset="0"/>
              </a:rPr>
              <a:t> | </a:t>
            </a:r>
            <a:r>
              <a:rPr lang="en-US" altLang="zh-CN" sz="2500" b="1" dirty="0">
                <a:solidFill>
                  <a:srgbClr val="FF3399"/>
                </a:solidFill>
                <a:latin typeface="Times New Roman" panose="02020603050405020304" pitchFamily="18" charset="0"/>
              </a:rPr>
              <a:t>final</a:t>
            </a:r>
            <a:r>
              <a:rPr lang="en-US" altLang="zh-CN" sz="2500" b="1" dirty="0">
                <a:latin typeface="Times New Roman" panose="02020603050405020304" pitchFamily="18" charset="0"/>
              </a:rPr>
              <a:t>] </a:t>
            </a:r>
            <a:r>
              <a:rPr lang="en-US" altLang="zh-CN" sz="2500" b="1" dirty="0">
                <a:solidFill>
                  <a:srgbClr val="FF0000"/>
                </a:solidFill>
                <a:highlight>
                  <a:srgbClr val="FFFF00"/>
                </a:highlight>
                <a:latin typeface="Times New Roman" panose="02020603050405020304" pitchFamily="18" charset="0"/>
              </a:rPr>
              <a:t>class</a:t>
            </a:r>
            <a:r>
              <a:rPr lang="en-US" altLang="zh-CN" sz="2500" b="1" dirty="0">
                <a:latin typeface="Times New Roman" panose="02020603050405020304" pitchFamily="18" charset="0"/>
              </a:rPr>
              <a:t> </a:t>
            </a:r>
            <a:r>
              <a:rPr lang="zh-CN" altLang="en-US" sz="2500" b="1" dirty="0">
                <a:latin typeface="Times New Roman" panose="02020603050405020304" pitchFamily="18" charset="0"/>
              </a:rPr>
              <a:t>类名称 </a:t>
            </a:r>
            <a:endParaRPr lang="zh-CN" altLang="en-US" sz="2500" b="1" dirty="0">
              <a:latin typeface="Times New Roman" panose="02020603050405020304" pitchFamily="18" charset="0"/>
            </a:endParaRPr>
          </a:p>
          <a:p>
            <a:pPr marL="0" indent="0" eaLnBrk="1" hangingPunct="1">
              <a:buFont typeface="Georgia" panose="02040502050405020303" pitchFamily="18" charset="0"/>
              <a:buNone/>
            </a:pPr>
            <a:r>
              <a:rPr lang="en-US" altLang="zh-CN" sz="2500" b="1" dirty="0">
                <a:latin typeface="Times New Roman" panose="02020603050405020304" pitchFamily="18" charset="0"/>
              </a:rPr>
              <a:t>[</a:t>
            </a:r>
            <a:r>
              <a:rPr lang="en-US" altLang="zh-CN" sz="2500" b="1" dirty="0">
                <a:solidFill>
                  <a:srgbClr val="FF3399"/>
                </a:solidFill>
                <a:latin typeface="Times New Roman" panose="02020603050405020304" pitchFamily="18" charset="0"/>
              </a:rPr>
              <a:t>extends</a:t>
            </a:r>
            <a:r>
              <a:rPr lang="en-US" altLang="zh-CN" sz="2500" b="1" dirty="0">
                <a:latin typeface="Times New Roman" panose="02020603050405020304" pitchFamily="18" charset="0"/>
              </a:rPr>
              <a:t> </a:t>
            </a:r>
            <a:r>
              <a:rPr lang="zh-CN" altLang="en-US" sz="2500" b="1" dirty="0">
                <a:latin typeface="Times New Roman" panose="02020603050405020304" pitchFamily="18" charset="0"/>
              </a:rPr>
              <a:t>父类名称</a:t>
            </a:r>
            <a:r>
              <a:rPr lang="en-US" altLang="zh-CN" sz="2500" b="1" dirty="0">
                <a:latin typeface="Times New Roman" panose="02020603050405020304" pitchFamily="18" charset="0"/>
              </a:rPr>
              <a:t>]  [</a:t>
            </a:r>
            <a:r>
              <a:rPr lang="en-US" altLang="zh-CN" sz="2500" b="1" dirty="0">
                <a:solidFill>
                  <a:srgbClr val="FF3399"/>
                </a:solidFill>
                <a:latin typeface="Times New Roman" panose="02020603050405020304" pitchFamily="18" charset="0"/>
              </a:rPr>
              <a:t>implements </a:t>
            </a:r>
            <a:r>
              <a:rPr lang="zh-CN" altLang="en-US" sz="2500" b="1" dirty="0">
                <a:latin typeface="Times New Roman" panose="02020603050405020304" pitchFamily="18" charset="0"/>
              </a:rPr>
              <a:t>接口名称列表</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marL="0" indent="0" eaLnBrk="1" hangingPunct="1">
              <a:buFont typeface="Georgia" panose="02040502050405020303" pitchFamily="18" charse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indent="0" eaLnBrk="1" hangingPunct="1">
              <a:buFont typeface="Georgia" panose="02040502050405020303" pitchFamily="18" charset="0"/>
              <a:buNone/>
            </a:pPr>
            <a:r>
              <a:rPr lang="zh-CN" altLang="en-US" sz="2500" b="1" dirty="0">
                <a:latin typeface="Times New Roman" panose="02020603050405020304" pitchFamily="18" charset="0"/>
              </a:rPr>
              <a:t>	数据成员声明及初始化；</a:t>
            </a:r>
            <a:endParaRPr lang="zh-CN" altLang="en-US" sz="2500" b="1" dirty="0">
              <a:latin typeface="Times New Roman" panose="02020603050405020304" pitchFamily="18" charset="0"/>
            </a:endParaRPr>
          </a:p>
          <a:p>
            <a:pPr marL="0" indent="0" eaLnBrk="1" hangingPunct="1">
              <a:buFont typeface="Georgia" panose="02040502050405020303" pitchFamily="18" charset="0"/>
              <a:buNone/>
            </a:pPr>
            <a:r>
              <a:rPr lang="zh-CN" altLang="en-US" sz="2500" b="1" dirty="0">
                <a:latin typeface="Times New Roman" panose="02020603050405020304" pitchFamily="18" charset="0"/>
              </a:rPr>
              <a:t>     	方法声明及方法体；</a:t>
            </a:r>
            <a:endParaRPr lang="zh-CN" altLang="en-US" sz="2500" b="1" dirty="0">
              <a:latin typeface="Times New Roman" panose="02020603050405020304" pitchFamily="18" charset="0"/>
            </a:endParaRPr>
          </a:p>
          <a:p>
            <a:pPr marL="0" indent="0" eaLnBrk="1" hangingPunct="1">
              <a:buFont typeface="Georgia" panose="02040502050405020303" pitchFamily="18" charset="0"/>
              <a:buNone/>
            </a:pP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p:txBody>
      </p:sp>
      <p:sp>
        <p:nvSpPr>
          <p:cNvPr id="2662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47F75DF-1D17-4301-BA17-9B4A400ACB57}"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文本框 1"/>
          <p:cNvSpPr txBox="1"/>
          <p:nvPr>
            <p:custDataLst>
              <p:tags r:id="rId1"/>
            </p:custDataLst>
          </p:nvPr>
        </p:nvSpPr>
        <p:spPr>
          <a:xfrm>
            <a:off x="407670" y="980440"/>
            <a:ext cx="410415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类与对象的关系：</a:t>
            </a:r>
            <a:r>
              <a:rPr lang="zh-CN" altLang="en-US" sz="2800" dirty="0">
                <a:solidFill>
                  <a:srgbClr val="FF3399"/>
                </a:solidFill>
                <a:highlight>
                  <a:srgbClr val="FFFF00"/>
                </a:highlight>
                <a:ea typeface="楷体" panose="02010609060101010101" pitchFamily="49" charset="-122"/>
                <a:cs typeface="思源黑体 CN Heavy" panose="020B0A00000000000000" charset="-122"/>
              </a:rPr>
              <a:t>类声明</a:t>
            </a:r>
            <a:endParaRPr lang="zh-CN" altLang="en-US" sz="2800" dirty="0">
              <a:solidFill>
                <a:srgbClr val="FF3399"/>
              </a:solidFill>
              <a:highlight>
                <a:srgbClr val="FFFF00"/>
              </a:highlight>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4294967295"/>
          </p:nvPr>
        </p:nvSpPr>
        <p:spPr>
          <a:xfrm>
            <a:off x="1487488" y="1556792"/>
            <a:ext cx="7632848" cy="4902544"/>
          </a:xfrm>
        </p:spPr>
        <p:txBody>
          <a:bodyPr vert="horz" wrap="square" lIns="92075" tIns="46038" rIns="92075" bIns="46038" numCol="1" anchor="t" anchorCtr="0" compatLnSpc="1"/>
          <a:lstStyle/>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public </a:t>
            </a:r>
            <a:r>
              <a:rPr lang="en-US" altLang="zh-CN" sz="2200" dirty="0">
                <a:solidFill>
                  <a:srgbClr val="FF3399"/>
                </a:solidFill>
                <a:highlight>
                  <a:srgbClr val="FFFF00"/>
                </a:highlight>
                <a:latin typeface="Times New Roman" panose="02020603050405020304" pitchFamily="18" charset="0"/>
              </a:rPr>
              <a:t>class</a:t>
            </a:r>
            <a:r>
              <a:rPr lang="en-US" altLang="zh-CN" sz="2200" dirty="0">
                <a:solidFill>
                  <a:srgbClr val="002060"/>
                </a:solidFill>
                <a:latin typeface="Times New Roman" panose="02020603050405020304" pitchFamily="18" charset="0"/>
              </a:rPr>
              <a:t>  Clock {  </a:t>
            </a:r>
            <a:endParaRPr lang="en-US" altLang="zh-CN" sz="2200" dirty="0">
              <a:solidFill>
                <a:srgbClr val="002060"/>
              </a:solidFill>
              <a:latin typeface="Times New Roman" panose="02020603050405020304" pitchFamily="18" charset="0"/>
            </a:endParaRPr>
          </a:p>
          <a:p>
            <a:pPr lvl="1" indent="-742950">
              <a:spcBef>
                <a:spcPts val="0"/>
              </a:spcBef>
              <a:buNone/>
            </a:pPr>
            <a:r>
              <a:rPr lang="en-US" altLang="zh-CN" sz="2200" dirty="0">
                <a:solidFill>
                  <a:srgbClr val="002060"/>
                </a:solidFill>
                <a:latin typeface="Times New Roman" panose="02020603050405020304" pitchFamily="18" charset="0"/>
              </a:rPr>
              <a:t>       </a:t>
            </a:r>
            <a:r>
              <a:rPr lang="en-US" altLang="zh-CN" sz="2200" dirty="0">
                <a:solidFill>
                  <a:srgbClr val="FF3399"/>
                </a:solidFill>
                <a:latin typeface="Times New Roman" panose="02020603050405020304" pitchFamily="18" charset="0"/>
              </a:rPr>
              <a:t>int hour ; //</a:t>
            </a:r>
            <a:r>
              <a:rPr lang="zh-CN" altLang="en-US" sz="2200" dirty="0">
                <a:solidFill>
                  <a:srgbClr val="FF3399"/>
                </a:solidFill>
                <a:latin typeface="Times New Roman" panose="02020603050405020304" pitchFamily="18" charset="0"/>
              </a:rPr>
              <a:t>变量成员，或 数据成员</a:t>
            </a:r>
            <a:endParaRPr lang="en-US" altLang="zh-CN" sz="2200" dirty="0">
              <a:solidFill>
                <a:srgbClr val="FF3399"/>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FF3399"/>
                </a:solidFill>
                <a:latin typeface="Times New Roman" panose="02020603050405020304" pitchFamily="18" charset="0"/>
              </a:rPr>
              <a:t>       int minute ;</a:t>
            </a:r>
            <a:endParaRPr lang="en-US" altLang="zh-CN" sz="2200" dirty="0">
              <a:solidFill>
                <a:srgbClr val="FF3399"/>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FF3399"/>
                </a:solidFill>
                <a:latin typeface="Times New Roman" panose="02020603050405020304" pitchFamily="18" charset="0"/>
              </a:rPr>
              <a:t>       int second </a:t>
            </a:r>
            <a:r>
              <a:rPr lang="en-US" altLang="zh-CN" sz="2200" dirty="0">
                <a:solidFill>
                  <a:srgbClr val="002060"/>
                </a:solidFill>
                <a:latin typeface="Times New Roman" panose="02020603050405020304" pitchFamily="18" charset="0"/>
              </a:rPr>
              <a:t>;</a:t>
            </a:r>
            <a:endParaRPr lang="en-US" altLang="zh-CN" sz="2200" dirty="0">
              <a:solidFill>
                <a:srgbClr val="002060"/>
              </a:solidFill>
              <a:latin typeface="Times New Roman" panose="02020603050405020304" pitchFamily="18" charset="0"/>
            </a:endParaRPr>
          </a:p>
          <a:p>
            <a:pPr lvl="1" indent="-742950">
              <a:spcBef>
                <a:spcPts val="0"/>
              </a:spcBef>
              <a:buNone/>
            </a:pPr>
            <a:r>
              <a:rPr lang="en-US" altLang="zh-CN" sz="2200" dirty="0">
                <a:solidFill>
                  <a:srgbClr val="002060"/>
                </a:solidFill>
                <a:latin typeface="Times New Roman" panose="02020603050405020304" pitchFamily="18" charset="0"/>
              </a:rPr>
              <a:t>       // </a:t>
            </a:r>
            <a:r>
              <a:rPr lang="zh-CN" altLang="en-US" sz="2200" dirty="0">
                <a:solidFill>
                  <a:srgbClr val="002060"/>
                </a:solidFill>
                <a:latin typeface="Times New Roman" panose="02020603050405020304" pitchFamily="18" charset="0"/>
              </a:rPr>
              <a:t>方法成员</a:t>
            </a:r>
            <a:endParaRPr lang="zh-CN" altLang="en-US"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zh-CN" altLang="en-US" sz="2200" dirty="0">
                <a:solidFill>
                  <a:srgbClr val="002060"/>
                </a:solidFill>
                <a:latin typeface="Times New Roman" panose="02020603050405020304" pitchFamily="18" charset="0"/>
              </a:rPr>
              <a:t>       </a:t>
            </a:r>
            <a:r>
              <a:rPr lang="en-US" altLang="zh-CN" sz="2200" dirty="0">
                <a:solidFill>
                  <a:srgbClr val="002060"/>
                </a:solidFill>
                <a:latin typeface="Times New Roman" panose="02020603050405020304" pitchFamily="18" charset="0"/>
              </a:rPr>
              <a:t>public </a:t>
            </a:r>
            <a:r>
              <a:rPr lang="en-US" altLang="zh-CN" sz="2200" dirty="0">
                <a:solidFill>
                  <a:srgbClr val="FF0000"/>
                </a:solidFill>
                <a:highlight>
                  <a:srgbClr val="FFFF00"/>
                </a:highlight>
                <a:latin typeface="Times New Roman" panose="02020603050405020304" pitchFamily="18" charset="0"/>
              </a:rPr>
              <a:t>void</a:t>
            </a:r>
            <a:r>
              <a:rPr lang="en-US" altLang="zh-CN" sz="2200" dirty="0">
                <a:solidFill>
                  <a:srgbClr val="002060"/>
                </a:solidFill>
                <a:latin typeface="Times New Roman" panose="02020603050405020304" pitchFamily="18" charset="0"/>
              </a:rPr>
              <a:t> </a:t>
            </a:r>
            <a:r>
              <a:rPr lang="en-US" altLang="zh-CN" sz="2200" dirty="0" err="1">
                <a:solidFill>
                  <a:srgbClr val="FF3399"/>
                </a:solidFill>
                <a:latin typeface="Times New Roman" panose="02020603050405020304" pitchFamily="18" charset="0"/>
              </a:rPr>
              <a:t>setTime</a:t>
            </a:r>
            <a:r>
              <a:rPr lang="en-US" altLang="zh-CN" sz="2200" dirty="0">
                <a:solidFill>
                  <a:srgbClr val="002060"/>
                </a:solidFill>
                <a:latin typeface="Times New Roman" panose="02020603050405020304" pitchFamily="18" charset="0"/>
              </a:rPr>
              <a:t>(int </a:t>
            </a:r>
            <a:r>
              <a:rPr lang="en-US" altLang="zh-CN" sz="2200" dirty="0" err="1">
                <a:solidFill>
                  <a:srgbClr val="002060"/>
                </a:solidFill>
                <a:latin typeface="Times New Roman" panose="02020603050405020304" pitchFamily="18" charset="0"/>
              </a:rPr>
              <a:t>newH</a:t>
            </a:r>
            <a:r>
              <a:rPr lang="en-US" altLang="zh-CN" sz="2200" dirty="0">
                <a:solidFill>
                  <a:srgbClr val="002060"/>
                </a:solidFill>
                <a:latin typeface="Times New Roman" panose="02020603050405020304" pitchFamily="18" charset="0"/>
              </a:rPr>
              <a:t>, int </a:t>
            </a:r>
            <a:r>
              <a:rPr lang="en-US" altLang="zh-CN" sz="2200" dirty="0" err="1">
                <a:solidFill>
                  <a:srgbClr val="002060"/>
                </a:solidFill>
                <a:latin typeface="Times New Roman" panose="02020603050405020304" pitchFamily="18" charset="0"/>
              </a:rPr>
              <a:t>newM</a:t>
            </a:r>
            <a:r>
              <a:rPr lang="en-US" altLang="zh-CN" sz="2200" dirty="0">
                <a:solidFill>
                  <a:srgbClr val="002060"/>
                </a:solidFill>
                <a:latin typeface="Times New Roman" panose="02020603050405020304" pitchFamily="18" charset="0"/>
              </a:rPr>
              <a:t>, int </a:t>
            </a:r>
            <a:r>
              <a:rPr lang="en-US" altLang="zh-CN" sz="2200" dirty="0" err="1">
                <a:solidFill>
                  <a:srgbClr val="002060"/>
                </a:solidFill>
                <a:latin typeface="Times New Roman" panose="02020603050405020304" pitchFamily="18" charset="0"/>
              </a:rPr>
              <a:t>newS</a:t>
            </a:r>
            <a:r>
              <a:rPr lang="en-US" altLang="zh-CN" sz="2200" dirty="0">
                <a:solidFill>
                  <a:srgbClr val="002060"/>
                </a:solidFill>
                <a:latin typeface="Times New Roman" panose="02020603050405020304" pitchFamily="18" charset="0"/>
              </a:rPr>
              <a:t>){ </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              hour = </a:t>
            </a:r>
            <a:r>
              <a:rPr lang="en-US" altLang="zh-CN" sz="2200" dirty="0" err="1">
                <a:solidFill>
                  <a:srgbClr val="002060"/>
                </a:solidFill>
                <a:latin typeface="Times New Roman" panose="02020603050405020304" pitchFamily="18" charset="0"/>
              </a:rPr>
              <a:t>newH</a:t>
            </a:r>
            <a:r>
              <a:rPr lang="en-US" altLang="zh-CN" sz="2200" dirty="0">
                <a:solidFill>
                  <a:srgbClr val="002060"/>
                </a:solidFill>
                <a:latin typeface="Times New Roman" panose="02020603050405020304" pitchFamily="18" charset="0"/>
              </a:rPr>
              <a:t> ;  </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              minute = </a:t>
            </a:r>
            <a:r>
              <a:rPr lang="en-US" altLang="zh-CN" sz="2200" dirty="0" err="1">
                <a:solidFill>
                  <a:srgbClr val="002060"/>
                </a:solidFill>
                <a:latin typeface="Times New Roman" panose="02020603050405020304" pitchFamily="18" charset="0"/>
              </a:rPr>
              <a:t>newM</a:t>
            </a:r>
            <a:r>
              <a:rPr lang="en-US" altLang="zh-CN" sz="2200" dirty="0">
                <a:solidFill>
                  <a:srgbClr val="002060"/>
                </a:solidFill>
                <a:latin typeface="Times New Roman" panose="02020603050405020304" pitchFamily="18" charset="0"/>
              </a:rPr>
              <a:t> ;  </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              second = news ;  </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        }</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        public </a:t>
            </a:r>
            <a:r>
              <a:rPr lang="en-US" altLang="zh-CN" sz="2200" dirty="0">
                <a:solidFill>
                  <a:srgbClr val="FF0000"/>
                </a:solidFill>
                <a:highlight>
                  <a:srgbClr val="FFFF00"/>
                </a:highlight>
                <a:latin typeface="Times New Roman" panose="02020603050405020304" pitchFamily="18" charset="0"/>
              </a:rPr>
              <a:t>void</a:t>
            </a:r>
            <a:r>
              <a:rPr lang="en-US" altLang="zh-CN" sz="2200" dirty="0">
                <a:solidFill>
                  <a:srgbClr val="002060"/>
                </a:solidFill>
                <a:latin typeface="Times New Roman" panose="02020603050405020304" pitchFamily="18" charset="0"/>
              </a:rPr>
              <a:t> </a:t>
            </a:r>
            <a:r>
              <a:rPr lang="en-US" altLang="zh-CN" sz="2200" dirty="0" err="1">
                <a:solidFill>
                  <a:srgbClr val="FF3399"/>
                </a:solidFill>
                <a:latin typeface="Times New Roman" panose="02020603050405020304" pitchFamily="18" charset="0"/>
              </a:rPr>
              <a:t>showTime</a:t>
            </a:r>
            <a:r>
              <a:rPr lang="en-US" altLang="zh-CN" sz="2200" dirty="0">
                <a:solidFill>
                  <a:srgbClr val="002060"/>
                </a:solidFill>
                <a:latin typeface="Times New Roman" panose="02020603050405020304" pitchFamily="18" charset="0"/>
              </a:rPr>
              <a:t>(){</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               </a:t>
            </a:r>
            <a:r>
              <a:rPr lang="en-US" altLang="zh-CN" sz="2200" dirty="0" err="1">
                <a:solidFill>
                  <a:srgbClr val="002060"/>
                </a:solidFill>
                <a:latin typeface="Times New Roman" panose="02020603050405020304" pitchFamily="18" charset="0"/>
              </a:rPr>
              <a:t>System.out.println</a:t>
            </a:r>
            <a:r>
              <a:rPr lang="en-US" altLang="zh-CN" sz="2200" dirty="0">
                <a:solidFill>
                  <a:srgbClr val="002060"/>
                </a:solidFill>
                <a:latin typeface="Times New Roman" panose="02020603050405020304" pitchFamily="18" charset="0"/>
              </a:rPr>
              <a:t>(hour+":"+minute+":"+second);</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        }</a:t>
            </a:r>
            <a:endParaRPr lang="en-US" altLang="zh-CN" sz="2200" dirty="0">
              <a:solidFill>
                <a:srgbClr val="002060"/>
              </a:solidFill>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200" dirty="0">
                <a:solidFill>
                  <a:srgbClr val="002060"/>
                </a:solidFill>
                <a:latin typeface="Times New Roman" panose="02020603050405020304" pitchFamily="18" charset="0"/>
              </a:rPr>
              <a:t>}</a:t>
            </a:r>
            <a:endParaRPr lang="zh-CN" altLang="en-US" sz="2200" dirty="0">
              <a:solidFill>
                <a:srgbClr val="002060"/>
              </a:solidFill>
              <a:latin typeface="Times New Roman" panose="02020603050405020304" pitchFamily="18" charset="0"/>
            </a:endParaRPr>
          </a:p>
        </p:txBody>
      </p:sp>
      <p:sp>
        <p:nvSpPr>
          <p:cNvPr id="2"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410415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类与对象的关系：</a:t>
            </a:r>
            <a:r>
              <a:rPr lang="zh-CN" altLang="en-US" sz="2800" dirty="0">
                <a:solidFill>
                  <a:srgbClr val="FF3399"/>
                </a:solidFill>
                <a:highlight>
                  <a:srgbClr val="FFFF00"/>
                </a:highlight>
                <a:ea typeface="楷体" panose="02010609060101010101" pitchFamily="49" charset="-122"/>
                <a:cs typeface="思源黑体 CN Heavy" panose="020B0A00000000000000" charset="-122"/>
              </a:rPr>
              <a:t>类声明</a:t>
            </a:r>
            <a:endParaRPr lang="zh-CN" altLang="en-US" sz="2800" dirty="0">
              <a:solidFill>
                <a:srgbClr val="FF3399"/>
              </a:solidFill>
              <a:highlight>
                <a:srgbClr val="FFFF00"/>
              </a:highlight>
              <a:ea typeface="楷体" panose="02010609060101010101" pitchFamily="49" charset="-122"/>
              <a:cs typeface="思源黑体 CN Heavy" panose="020B0A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p:cNvSpPr>
            <a:spLocks noGrp="1" noChangeArrowheads="1"/>
          </p:cNvSpPr>
          <p:nvPr>
            <p:ph idx="4294967295"/>
          </p:nvPr>
        </p:nvSpPr>
        <p:spPr>
          <a:xfrm>
            <a:off x="839416" y="2020662"/>
            <a:ext cx="10801200" cy="792088"/>
          </a:xfrm>
        </p:spPr>
        <p:txBody>
          <a:bodyPr vert="horz" wrap="square" lIns="92075" tIns="46038" rIns="92075" bIns="46038" numCol="1" anchor="t" anchorCtr="0" compatLnSpc="1">
            <a:normAutofit fontScale="92500"/>
          </a:bodyPr>
          <a:lstStyle/>
          <a:p>
            <a:pPr marL="0" indent="0" eaLnBrk="1" hangingPunct="1">
              <a:lnSpc>
                <a:spcPct val="140000"/>
              </a:lnSpc>
              <a:buNone/>
            </a:pPr>
            <a:r>
              <a:rPr lang="zh-CN" altLang="en-US" b="1" dirty="0">
                <a:latin typeface="Times New Roman" panose="02020603050405020304" pitchFamily="18" charset="0"/>
              </a:rPr>
              <a:t>创建类的实例（</a:t>
            </a:r>
            <a:r>
              <a:rPr lang="zh-CN" altLang="en-US" b="1" dirty="0">
                <a:solidFill>
                  <a:srgbClr val="FF0000"/>
                </a:solidFill>
                <a:highlight>
                  <a:srgbClr val="FFFF00"/>
                </a:highlight>
                <a:latin typeface="Times New Roman" panose="02020603050405020304" pitchFamily="18" charset="0"/>
              </a:rPr>
              <a:t>对象</a:t>
            </a:r>
            <a:r>
              <a:rPr lang="zh-CN" altLang="en-US" b="1" dirty="0">
                <a:latin typeface="Times New Roman" panose="02020603050405020304" pitchFamily="18" charset="0"/>
              </a:rPr>
              <a:t>），通过对象使用类的功能（</a:t>
            </a:r>
            <a:r>
              <a:rPr lang="zh-CN" altLang="en-US" b="1" dirty="0">
                <a:solidFill>
                  <a:srgbClr val="FF0000"/>
                </a:solidFill>
                <a:latin typeface="Times New Roman" panose="02020603050405020304" pitchFamily="18" charset="0"/>
              </a:rPr>
              <a:t>方法成员</a:t>
            </a:r>
            <a:r>
              <a:rPr lang="zh-CN" altLang="en-US" b="1" dirty="0">
                <a:latin typeface="Times New Roman" panose="02020603050405020304" pitchFamily="18" charset="0"/>
              </a:rPr>
              <a:t>）。</a:t>
            </a:r>
            <a:endParaRPr lang="zh-CN" altLang="en-US" b="1" dirty="0">
              <a:latin typeface="Times New Roman" panose="02020603050405020304" pitchFamily="18" charset="0"/>
            </a:endParaRPr>
          </a:p>
        </p:txBody>
      </p:sp>
      <p:sp>
        <p:nvSpPr>
          <p:cNvPr id="3174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9A1E2888-959B-40A7-8E6D-1D19F807F3F3}"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1747" name="Rectangle 5"/>
          <p:cNvSpPr>
            <a:spLocks noChangeArrowheads="1"/>
          </p:cNvSpPr>
          <p:nvPr/>
        </p:nvSpPr>
        <p:spPr bwMode="auto">
          <a:xfrm>
            <a:off x="8839200" y="5029200"/>
            <a:ext cx="990600" cy="9144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2"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2880018"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对象声明与创建</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4294967295"/>
          </p:nvPr>
        </p:nvSpPr>
        <p:spPr>
          <a:xfrm>
            <a:off x="1199456" y="1700808"/>
            <a:ext cx="10297144" cy="3744416"/>
          </a:xfrm>
        </p:spPr>
        <p:txBody>
          <a:bodyPr vert="horz" wrap="square" lIns="92075" tIns="46038" rIns="92075" bIns="46038" numCol="1" anchor="t" anchorCtr="0" compatLnSpc="1">
            <a:normAutofit/>
          </a:bodyPr>
          <a:lstStyle/>
          <a:p>
            <a:pPr eaLnBrk="1" hangingPunct="1">
              <a:lnSpc>
                <a:spcPct val="150000"/>
              </a:lnSpc>
              <a:buFont typeface="Wingdings" panose="05000000000000000000" pitchFamily="2" charset="2"/>
              <a:buChar char="Ø"/>
            </a:pPr>
            <a:r>
              <a:rPr lang="zh-CN" altLang="en-US" sz="2700" b="1" dirty="0">
                <a:latin typeface="Times New Roman" panose="02020603050405020304" pitchFamily="18" charset="0"/>
              </a:rPr>
              <a:t>声明对象语法：</a:t>
            </a:r>
            <a:endParaRPr lang="zh-CN" altLang="en-US" sz="2700" b="1" dirty="0">
              <a:latin typeface="Times New Roman" panose="02020603050405020304" pitchFamily="18" charset="0"/>
            </a:endParaRPr>
          </a:p>
          <a:p>
            <a:pPr lvl="1">
              <a:lnSpc>
                <a:spcPct val="150000"/>
              </a:lnSpc>
              <a:buFont typeface="Wingdings 2" panose="05020102010507070707" pitchFamily="18" charset="2"/>
              <a:buNone/>
            </a:pPr>
            <a:r>
              <a:rPr lang="zh-CN" altLang="en-US" sz="2700" b="1" dirty="0">
                <a:solidFill>
                  <a:schemeClr val="tx2"/>
                </a:solidFill>
                <a:latin typeface="Times New Roman" panose="02020603050405020304" pitchFamily="18" charset="0"/>
              </a:rPr>
              <a:t>   </a:t>
            </a:r>
            <a:r>
              <a:rPr lang="zh-CN" altLang="en-US" sz="2700" b="1" dirty="0">
                <a:solidFill>
                  <a:srgbClr val="FF3399"/>
                </a:solidFill>
                <a:latin typeface="Times New Roman" panose="02020603050405020304" pitchFamily="18" charset="0"/>
              </a:rPr>
              <a:t>类名</a:t>
            </a:r>
            <a:r>
              <a:rPr lang="zh-CN" altLang="en-US" sz="2700" b="1" dirty="0">
                <a:solidFill>
                  <a:schemeClr val="tx2"/>
                </a:solidFill>
                <a:latin typeface="Times New Roman" panose="02020603050405020304" pitchFamily="18" charset="0"/>
              </a:rPr>
              <a:t>  </a:t>
            </a:r>
            <a:r>
              <a:rPr lang="zh-CN" altLang="en-US" sz="2700" b="1" dirty="0">
                <a:solidFill>
                  <a:srgbClr val="FF3399"/>
                </a:solidFill>
                <a:latin typeface="Times New Roman" panose="02020603050405020304" pitchFamily="18" charset="0"/>
              </a:rPr>
              <a:t>引用变量名</a:t>
            </a:r>
            <a:r>
              <a:rPr lang="en-US" altLang="zh-CN" sz="2700" b="1" dirty="0">
                <a:solidFill>
                  <a:srgbClr val="FF3399"/>
                </a:solidFill>
                <a:latin typeface="Times New Roman" panose="02020603050405020304" pitchFamily="18" charset="0"/>
              </a:rPr>
              <a:t>;</a:t>
            </a:r>
            <a:endParaRPr lang="zh-CN" altLang="en-US" sz="2700" b="1" dirty="0">
              <a:solidFill>
                <a:srgbClr val="FF3399"/>
              </a:solidFill>
              <a:latin typeface="Times New Roman" panose="02020603050405020304" pitchFamily="18" charset="0"/>
            </a:endParaRPr>
          </a:p>
          <a:p>
            <a:pPr marL="0" indent="0">
              <a:lnSpc>
                <a:spcPct val="150000"/>
              </a:lnSpc>
              <a:spcBef>
                <a:spcPct val="40000"/>
              </a:spcBef>
              <a:buNone/>
            </a:pPr>
            <a:r>
              <a:rPr lang="zh-CN" altLang="en-US" sz="2700" b="1" dirty="0">
                <a:latin typeface="Times New Roman" panose="02020603050405020304" pitchFamily="18" charset="0"/>
              </a:rPr>
              <a:t>       例 </a:t>
            </a:r>
            <a:r>
              <a:rPr lang="en-US" altLang="zh-CN" sz="2700" b="1" dirty="0">
                <a:solidFill>
                  <a:srgbClr val="FF3399"/>
                </a:solidFill>
                <a:latin typeface="Times New Roman" panose="02020603050405020304" pitchFamily="18" charset="0"/>
              </a:rPr>
              <a:t>Clock </a:t>
            </a:r>
            <a:r>
              <a:rPr lang="zh-CN" altLang="en-US" sz="2700" b="1" dirty="0">
                <a:latin typeface="Times New Roman" panose="02020603050405020304" pitchFamily="18" charset="0"/>
              </a:rPr>
              <a:t>是已经声明的类名，声明引用变量</a:t>
            </a:r>
            <a:r>
              <a:rPr lang="en-US" altLang="zh-CN" sz="2700" b="1" dirty="0" err="1">
                <a:solidFill>
                  <a:schemeClr val="tx2"/>
                </a:solidFill>
                <a:latin typeface="Times New Roman" panose="02020603050405020304" pitchFamily="18" charset="0"/>
              </a:rPr>
              <a:t>aclock</a:t>
            </a:r>
            <a:r>
              <a:rPr lang="zh-CN" altLang="en-US" sz="2700" b="1" dirty="0">
                <a:solidFill>
                  <a:schemeClr val="tx2"/>
                </a:solidFill>
                <a:latin typeface="Times New Roman" panose="02020603050405020304" pitchFamily="18" charset="0"/>
              </a:rPr>
              <a:t>，</a:t>
            </a:r>
            <a:r>
              <a:rPr lang="zh-CN" altLang="en-US" sz="2700" b="1" dirty="0">
                <a:latin typeface="Times New Roman" panose="02020603050405020304" pitchFamily="18" charset="0"/>
              </a:rPr>
              <a:t>用于存储该类对象的引用：</a:t>
            </a:r>
            <a:r>
              <a:rPr lang="en-US" altLang="zh-CN" sz="2700" b="1" dirty="0">
                <a:latin typeface="Times New Roman" panose="02020603050405020304" pitchFamily="18" charset="0"/>
              </a:rPr>
              <a:t>  </a:t>
            </a:r>
            <a:r>
              <a:rPr lang="en-US" altLang="zh-CN" sz="2700" b="1" dirty="0">
                <a:solidFill>
                  <a:srgbClr val="FF3399"/>
                </a:solidFill>
                <a:latin typeface="Times New Roman" panose="02020603050405020304" pitchFamily="18" charset="0"/>
              </a:rPr>
              <a:t>Clock  </a:t>
            </a:r>
            <a:r>
              <a:rPr lang="en-US" altLang="zh-CN" sz="2700" b="1" dirty="0" err="1">
                <a:solidFill>
                  <a:srgbClr val="FF3399"/>
                </a:solidFill>
                <a:latin typeface="Times New Roman" panose="02020603050405020304" pitchFamily="18" charset="0"/>
              </a:rPr>
              <a:t>aclock</a:t>
            </a:r>
            <a:r>
              <a:rPr lang="en-US" altLang="zh-CN" sz="2700" b="1" dirty="0">
                <a:solidFill>
                  <a:srgbClr val="FF3399"/>
                </a:solidFill>
                <a:latin typeface="Times New Roman" panose="02020603050405020304" pitchFamily="18" charset="0"/>
              </a:rPr>
              <a:t>; </a:t>
            </a:r>
            <a:endParaRPr lang="zh-CN" altLang="en-US" sz="2700" b="1" dirty="0">
              <a:solidFill>
                <a:srgbClr val="FF3399"/>
              </a:solidFill>
              <a:latin typeface="Times New Roman" panose="02020603050405020304" pitchFamily="18" charset="0"/>
            </a:endParaRPr>
          </a:p>
          <a:p>
            <a:pPr>
              <a:lnSpc>
                <a:spcPct val="150000"/>
              </a:lnSpc>
              <a:buFont typeface="Wingdings" panose="05000000000000000000" pitchFamily="2" charset="2"/>
              <a:buChar char="Ø"/>
            </a:pPr>
            <a:r>
              <a:rPr lang="zh-CN" altLang="en-US" sz="2700" b="1" dirty="0">
                <a:latin typeface="Times New Roman" panose="02020603050405020304" pitchFamily="18" charset="0"/>
              </a:rPr>
              <a:t>声明一个引用变量时</a:t>
            </a:r>
            <a:r>
              <a:rPr lang="zh-CN" altLang="en-US" sz="2700" b="1" dirty="0">
                <a:solidFill>
                  <a:srgbClr val="FF3399"/>
                </a:solidFill>
                <a:highlight>
                  <a:srgbClr val="FFFF00"/>
                </a:highlight>
                <a:latin typeface="Times New Roman" panose="02020603050405020304" pitchFamily="18" charset="0"/>
              </a:rPr>
              <a:t>并没有生成对象</a:t>
            </a:r>
            <a:r>
              <a:rPr lang="zh-CN" altLang="en-US" sz="2700" b="1" dirty="0">
                <a:latin typeface="Times New Roman" panose="02020603050405020304" pitchFamily="18" charset="0"/>
              </a:rPr>
              <a:t>。</a:t>
            </a:r>
            <a:endParaRPr lang="zh-CN" altLang="en-US" sz="2700" b="1" dirty="0">
              <a:latin typeface="Times New Roman" panose="02020603050405020304" pitchFamily="18" charset="0"/>
            </a:endParaRPr>
          </a:p>
        </p:txBody>
      </p:sp>
      <p:sp>
        <p:nvSpPr>
          <p:cNvPr id="3379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AE08DF9E-45A6-47E0-A5B7-075F899BB38A}"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rgbClr val="FF3399"/>
                </a:solidFill>
                <a:highlight>
                  <a:srgbClr val="FFFF00"/>
                </a:highlight>
                <a:ea typeface="楷体" panose="02010609060101010101" pitchFamily="49" charset="-122"/>
                <a:cs typeface="思源黑体 CN Heavy" panose="020B0A00000000000000" charset="-122"/>
              </a:rPr>
              <a:t>对象引用</a:t>
            </a:r>
            <a:r>
              <a:rPr lang="zh-CN" altLang="en-US" sz="2800" dirty="0">
                <a:solidFill>
                  <a:schemeClr val="bg1"/>
                </a:solidFill>
                <a:ea typeface="楷体" panose="02010609060101010101" pitchFamily="49" charset="-122"/>
                <a:cs typeface="思源黑体 CN Heavy" panose="020B0A00000000000000" charset="-122"/>
              </a:rPr>
              <a:t>声明</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4294967295"/>
          </p:nvPr>
        </p:nvSpPr>
        <p:spPr>
          <a:xfrm>
            <a:off x="853208" y="1628800"/>
            <a:ext cx="10729192" cy="4392488"/>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语法形式：</a:t>
            </a:r>
            <a:endParaRPr lang="zh-CN" altLang="en-US" sz="2700" b="1" dirty="0">
              <a:latin typeface="Times New Roman" panose="02020603050405020304" pitchFamily="18" charset="0"/>
            </a:endParaRPr>
          </a:p>
          <a:p>
            <a:pPr>
              <a:lnSpc>
                <a:spcPct val="150000"/>
              </a:lnSpc>
              <a:spcBef>
                <a:spcPts val="0"/>
              </a:spcBef>
              <a:buFont typeface="Georgia" panose="02040502050405020303" pitchFamily="18" charset="0"/>
              <a:buNone/>
            </a:pPr>
            <a:r>
              <a:rPr lang="en-US" altLang="zh-CN" sz="2700" b="1" dirty="0">
                <a:latin typeface="Times New Roman" panose="02020603050405020304" pitchFamily="18" charset="0"/>
              </a:rPr>
              <a:t>	    </a:t>
            </a:r>
            <a:r>
              <a:rPr lang="en-US" altLang="zh-CN" sz="2700" b="1" dirty="0">
                <a:solidFill>
                  <a:srgbClr val="FF3399"/>
                </a:solidFill>
                <a:latin typeface="Times New Roman" panose="02020603050405020304" pitchFamily="18" charset="0"/>
              </a:rPr>
              <a:t>new   &lt;</a:t>
            </a:r>
            <a:r>
              <a:rPr lang="zh-CN" altLang="en-US" sz="2700" b="1" dirty="0">
                <a:solidFill>
                  <a:srgbClr val="FF3399"/>
                </a:solidFill>
                <a:latin typeface="Times New Roman" panose="02020603050405020304" pitchFamily="18" charset="0"/>
              </a:rPr>
              <a:t>类名</a:t>
            </a:r>
            <a:r>
              <a:rPr lang="en-US" altLang="zh-CN" sz="2700" b="1" dirty="0">
                <a:solidFill>
                  <a:srgbClr val="FF3399"/>
                </a:solidFill>
                <a:latin typeface="Times New Roman" panose="02020603050405020304" pitchFamily="18" charset="0"/>
              </a:rPr>
              <a:t>&gt;()</a:t>
            </a:r>
            <a:endParaRPr lang="en-US" altLang="zh-CN" sz="2700" b="1" dirty="0">
              <a:solidFill>
                <a:srgbClr val="FF3399"/>
              </a:solidFill>
              <a:latin typeface="Times New Roman" panose="02020603050405020304" pitchFamily="18" charset="0"/>
            </a:endParaRPr>
          </a:p>
          <a:p>
            <a:pPr marL="0" indent="0">
              <a:lnSpc>
                <a:spcPct val="150000"/>
              </a:lnSpc>
              <a:spcBef>
                <a:spcPts val="0"/>
              </a:spcBef>
              <a:buNone/>
            </a:pPr>
            <a:r>
              <a:rPr lang="zh-CN" altLang="en-US" sz="2700" b="1" dirty="0">
                <a:solidFill>
                  <a:schemeClr val="tx2"/>
                </a:solidFill>
                <a:latin typeface="Times New Roman" panose="02020603050405020304" pitchFamily="18" charset="0"/>
              </a:rPr>
              <a:t>       例如：</a:t>
            </a:r>
            <a:r>
              <a:rPr lang="en-US" altLang="zh-CN" sz="2700" b="1" dirty="0">
                <a:solidFill>
                  <a:schemeClr val="tx1"/>
                </a:solidFill>
                <a:latin typeface="Times New Roman" panose="02020603050405020304" pitchFamily="18" charset="0"/>
              </a:rPr>
              <a:t>    </a:t>
            </a:r>
            <a:r>
              <a:rPr lang="en-US" altLang="zh-CN" sz="2700" b="1" dirty="0" err="1">
                <a:solidFill>
                  <a:srgbClr val="FF3399"/>
                </a:solidFill>
                <a:latin typeface="Times New Roman" panose="02020603050405020304" pitchFamily="18" charset="0"/>
              </a:rPr>
              <a:t>aclock</a:t>
            </a:r>
            <a:r>
              <a:rPr lang="en-US" altLang="zh-CN" sz="2700" b="1" dirty="0">
                <a:solidFill>
                  <a:srgbClr val="FF3399"/>
                </a:solidFill>
                <a:latin typeface="Times New Roman" panose="02020603050405020304" pitchFamily="18" charset="0"/>
              </a:rPr>
              <a:t> = </a:t>
            </a:r>
            <a:r>
              <a:rPr lang="en-US" altLang="zh-CN" sz="2700" b="1" dirty="0">
                <a:solidFill>
                  <a:srgbClr val="FF3399"/>
                </a:solidFill>
                <a:highlight>
                  <a:srgbClr val="FFFF00"/>
                </a:highlight>
                <a:latin typeface="Times New Roman" panose="02020603050405020304" pitchFamily="18" charset="0"/>
              </a:rPr>
              <a:t>new</a:t>
            </a:r>
            <a:r>
              <a:rPr lang="en-US" altLang="zh-CN" sz="2700" b="1" dirty="0">
                <a:solidFill>
                  <a:srgbClr val="FF3399"/>
                </a:solidFill>
                <a:latin typeface="Times New Roman" panose="02020603050405020304" pitchFamily="18" charset="0"/>
              </a:rPr>
              <a:t> Clock()</a:t>
            </a:r>
            <a:endParaRPr lang="en-US" altLang="zh-CN" sz="2700" b="1" dirty="0">
              <a:solidFill>
                <a:srgbClr val="FF3399"/>
              </a:solidFill>
              <a:latin typeface="Times New Roman" panose="02020603050405020304" pitchFamily="18" charset="0"/>
            </a:endParaRPr>
          </a:p>
          <a:p>
            <a:pPr marL="0" lvl="1" indent="0" eaLnBrk="1" hangingPunct="1">
              <a:lnSpc>
                <a:spcPct val="150000"/>
              </a:lnSpc>
              <a:spcBef>
                <a:spcPts val="0"/>
              </a:spcBef>
              <a:buFont typeface="Georgia" panose="02040502050405020303" pitchFamily="18" charset="0"/>
              <a:buNone/>
              <a:tabLst>
                <a:tab pos="626745" algn="l"/>
              </a:tabLst>
            </a:pPr>
            <a:r>
              <a:rPr lang="zh-CN" altLang="en-US" sz="2700" b="1" dirty="0">
                <a:latin typeface="Times New Roman" panose="02020603050405020304" pitchFamily="18" charset="0"/>
              </a:rPr>
              <a:t>	</a:t>
            </a:r>
            <a:r>
              <a:rPr lang="en-US" altLang="zh-CN" sz="2700" b="1" dirty="0">
                <a:latin typeface="Times New Roman" panose="02020603050405020304" pitchFamily="18" charset="0"/>
              </a:rPr>
              <a:t>new</a:t>
            </a:r>
            <a:r>
              <a:rPr lang="zh-CN" altLang="en-US" sz="2700" b="1" dirty="0">
                <a:latin typeface="Times New Roman" panose="02020603050405020304" pitchFamily="18" charset="0"/>
              </a:rPr>
              <a:t>的作用：在内存中为</a:t>
            </a:r>
            <a:r>
              <a:rPr lang="en-US" altLang="zh-CN" sz="2700" b="1" dirty="0">
                <a:latin typeface="Times New Roman" panose="02020603050405020304" pitchFamily="18" charset="0"/>
              </a:rPr>
              <a:t>Clock</a:t>
            </a:r>
            <a:r>
              <a:rPr lang="zh-CN" altLang="en-US" sz="2700" b="1" dirty="0">
                <a:latin typeface="Times New Roman" panose="02020603050405020304" pitchFamily="18" charset="0"/>
              </a:rPr>
              <a:t>类型的</a:t>
            </a:r>
            <a:r>
              <a:rPr lang="zh-CN" altLang="en-US" sz="2700" b="1" dirty="0">
                <a:solidFill>
                  <a:srgbClr val="FF3399"/>
                </a:solidFill>
                <a:highlight>
                  <a:srgbClr val="FFFF66"/>
                </a:highlight>
                <a:latin typeface="Times New Roman" panose="02020603050405020304" pitchFamily="18" charset="0"/>
              </a:rPr>
              <a:t>对象分配内存空间</a:t>
            </a:r>
            <a:r>
              <a:rPr lang="zh-CN" altLang="en-US" sz="2700" b="1" dirty="0">
                <a:highlight>
                  <a:srgbClr val="FFFF66"/>
                </a:highlight>
                <a:latin typeface="Times New Roman" panose="02020603050405020304" pitchFamily="18" charset="0"/>
              </a:rPr>
              <a:t>；</a:t>
            </a:r>
            <a:r>
              <a:rPr lang="zh-CN" altLang="en-US" sz="2700" b="1" dirty="0">
                <a:solidFill>
                  <a:srgbClr val="FF3399"/>
                </a:solidFill>
                <a:highlight>
                  <a:srgbClr val="FFFF66"/>
                </a:highlight>
                <a:latin typeface="Times New Roman" panose="02020603050405020304" pitchFamily="18" charset="0"/>
              </a:rPr>
              <a:t>返回对象的引用</a:t>
            </a:r>
            <a:r>
              <a:rPr lang="zh-CN" altLang="en-US" sz="2700" b="1" dirty="0">
                <a:latin typeface="Times New Roman" panose="02020603050405020304" pitchFamily="18" charset="0"/>
              </a:rPr>
              <a:t>。</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引用变量可以被赋以空值</a:t>
            </a:r>
            <a:endParaRPr lang="zh-CN" altLang="en-US" sz="2700" b="1" dirty="0">
              <a:latin typeface="Times New Roman" panose="02020603050405020304" pitchFamily="18" charset="0"/>
            </a:endParaRPr>
          </a:p>
          <a:p>
            <a:pPr lvl="1">
              <a:lnSpc>
                <a:spcPct val="150000"/>
              </a:lnSpc>
              <a:spcBef>
                <a:spcPts val="0"/>
              </a:spcBef>
              <a:buFont typeface="Wingdings 2" panose="05020102010507070707" pitchFamily="18" charset="2"/>
              <a:buNone/>
            </a:pPr>
            <a:r>
              <a:rPr lang="zh-CN" altLang="en-US" sz="2700" b="1" dirty="0">
                <a:solidFill>
                  <a:schemeClr val="tx2"/>
                </a:solidFill>
                <a:latin typeface="Times New Roman" panose="02020603050405020304" pitchFamily="18" charset="0"/>
              </a:rPr>
              <a:t>例如：</a:t>
            </a:r>
            <a:r>
              <a:rPr lang="en-US" altLang="zh-CN" sz="2700" b="1" dirty="0" err="1">
                <a:latin typeface="Times New Roman" panose="02020603050405020304" pitchFamily="18" charset="0"/>
              </a:rPr>
              <a:t>aclock</a:t>
            </a:r>
            <a:r>
              <a:rPr lang="en-US" altLang="zh-CN" sz="2700" b="1" dirty="0">
                <a:latin typeface="Times New Roman" panose="02020603050405020304" pitchFamily="18" charset="0"/>
              </a:rPr>
              <a:t> = null;</a:t>
            </a:r>
            <a:endParaRPr lang="zh-CN" altLang="en-US" sz="2700" b="1" dirty="0">
              <a:latin typeface="Times New Roman" panose="02020603050405020304" pitchFamily="18" charset="0"/>
            </a:endParaRPr>
          </a:p>
        </p:txBody>
      </p:sp>
      <p:sp>
        <p:nvSpPr>
          <p:cNvPr id="3481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DD34DAD-F5A1-48AC-9706-DA8834B19FE2}"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对象的创建</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3"/>
          <p:cNvSpPr>
            <a:spLocks noGrp="1" noChangeArrowheads="1"/>
          </p:cNvSpPr>
          <p:nvPr>
            <p:ph idx="4294967295"/>
          </p:nvPr>
        </p:nvSpPr>
        <p:spPr>
          <a:xfrm>
            <a:off x="868524" y="1844824"/>
            <a:ext cx="10454952" cy="1800200"/>
          </a:xfrm>
        </p:spPr>
        <p:txBody>
          <a:bodyPr vert="horz" wrap="square" lIns="92075" tIns="46038" rIns="92075" bIns="46038" numCol="1" anchor="t" anchorCtr="0" compatLnSpc="1">
            <a:noAutofit/>
          </a:bodyPr>
          <a:lstStyle/>
          <a:p>
            <a:pPr marL="575945" indent="-457200">
              <a:lnSpc>
                <a:spcPct val="150000"/>
              </a:lnSpc>
              <a:spcBef>
                <a:spcPts val="0"/>
              </a:spcBef>
              <a:buFont typeface="Wingdings" panose="05000000000000000000" pitchFamily="2" charset="2"/>
              <a:buChar char="Ø"/>
            </a:pPr>
            <a:r>
              <a:rPr lang="zh-CN" altLang="en-GB" sz="2700" b="1" dirty="0">
                <a:latin typeface="Times New Roman" panose="02020603050405020304" pitchFamily="18" charset="0"/>
              </a:rPr>
              <a:t>表示</a:t>
            </a:r>
            <a:r>
              <a:rPr lang="zh-CN" altLang="en-US" sz="2700" b="1" dirty="0">
                <a:latin typeface="Times New Roman" panose="02020603050405020304" pitchFamily="18" charset="0"/>
              </a:rPr>
              <a:t>对象</a:t>
            </a:r>
            <a:r>
              <a:rPr lang="zh-CN" altLang="en-GB" sz="2700" b="1" dirty="0">
                <a:latin typeface="Times New Roman" panose="02020603050405020304" pitchFamily="18" charset="0"/>
              </a:rPr>
              <a:t>的状态</a:t>
            </a:r>
            <a:r>
              <a:rPr lang="zh-CN" altLang="en-US" sz="2700" b="1" dirty="0">
                <a:latin typeface="Times New Roman" panose="02020603050405020304" pitchFamily="18" charset="0"/>
              </a:rPr>
              <a:t>（</a:t>
            </a:r>
            <a:r>
              <a:rPr lang="zh-CN" altLang="en-US" sz="2700" b="1" dirty="0">
                <a:solidFill>
                  <a:srgbClr val="FF3399"/>
                </a:solidFill>
                <a:latin typeface="Times New Roman" panose="02020603050405020304" pitchFamily="18" charset="0"/>
              </a:rPr>
              <a:t>实例变量</a:t>
            </a:r>
            <a:r>
              <a:rPr lang="zh-CN" altLang="en-US" sz="2700" b="1" dirty="0">
                <a:latin typeface="Times New Roman" panose="02020603050405020304" pitchFamily="18" charset="0"/>
              </a:rPr>
              <a:t>），或者整个类所有对象共享的数据（</a:t>
            </a:r>
            <a:r>
              <a:rPr lang="zh-CN" altLang="en-US" sz="2700" b="1" dirty="0">
                <a:solidFill>
                  <a:srgbClr val="FF3399"/>
                </a:solidFill>
                <a:latin typeface="Times New Roman" panose="02020603050405020304" pitchFamily="18" charset="0"/>
              </a:rPr>
              <a:t>类变量</a:t>
            </a:r>
            <a:r>
              <a:rPr lang="zh-CN" altLang="en-US" sz="2700" b="1" dirty="0">
                <a:latin typeface="Times New Roman" panose="02020603050405020304" pitchFamily="18" charset="0"/>
              </a:rPr>
              <a:t>）</a:t>
            </a:r>
            <a:endParaRPr lang="zh-CN" altLang="en-GB" sz="2700" b="1" dirty="0">
              <a:latin typeface="Times New Roman" panose="02020603050405020304" pitchFamily="18" charset="0"/>
            </a:endParaRPr>
          </a:p>
          <a:p>
            <a:pPr marL="575945" indent="-457200">
              <a:lnSpc>
                <a:spcPct val="150000"/>
              </a:lnSpc>
              <a:spcBef>
                <a:spcPts val="0"/>
              </a:spcBef>
              <a:buFont typeface="Wingdings" panose="05000000000000000000" pitchFamily="2" charset="2"/>
              <a:buChar char="Ø"/>
            </a:pPr>
            <a:r>
              <a:rPr lang="zh-CN" altLang="en-GB" sz="2700" b="1" dirty="0">
                <a:latin typeface="Times New Roman" panose="02020603050405020304" pitchFamily="18" charset="0"/>
              </a:rPr>
              <a:t>可以是</a:t>
            </a:r>
            <a:r>
              <a:rPr lang="zh-CN" altLang="en-GB" sz="2700" b="1" dirty="0">
                <a:solidFill>
                  <a:srgbClr val="FF3399"/>
                </a:solidFill>
                <a:highlight>
                  <a:srgbClr val="FFFF00"/>
                </a:highlight>
                <a:latin typeface="Times New Roman" panose="02020603050405020304" pitchFamily="18" charset="0"/>
              </a:rPr>
              <a:t>任意的数据类型</a:t>
            </a:r>
            <a:endParaRPr lang="zh-CN" altLang="en-GB" sz="2700" b="1" dirty="0">
              <a:solidFill>
                <a:srgbClr val="FF3399"/>
              </a:solidFill>
              <a:highlight>
                <a:srgbClr val="FFFF00"/>
              </a:highlight>
              <a:latin typeface="Times New Roman" panose="02020603050405020304" pitchFamily="18" charset="0"/>
            </a:endParaRPr>
          </a:p>
        </p:txBody>
      </p:sp>
      <p:sp>
        <p:nvSpPr>
          <p:cNvPr id="3584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458A2CE-E0C6-4C07-B20D-7930BAD594FE}"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文本框 1"/>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数据成员</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4294967295"/>
          </p:nvPr>
        </p:nvSpPr>
        <p:spPr>
          <a:xfrm>
            <a:off x="1199456" y="1628800"/>
            <a:ext cx="8568952" cy="4824536"/>
          </a:xfrm>
        </p:spPr>
        <p:txBody>
          <a:bodyPr vert="horz" wrap="square" lIns="92075" tIns="46038" rIns="92075" bIns="46038" numCol="1" anchor="t" anchorCtr="0" compatLnSpc="1">
            <a:normAutofit/>
          </a:bodyPr>
          <a:lstStyle/>
          <a:p>
            <a:pPr>
              <a:buFont typeface="Wingdings" panose="05000000000000000000" pitchFamily="2" charset="2"/>
              <a:buChar char="Ø"/>
            </a:pPr>
            <a:r>
              <a:rPr lang="zh-CN" altLang="en-US" sz="2300" b="1" dirty="0">
                <a:solidFill>
                  <a:schemeClr val="tx1"/>
                </a:solidFill>
                <a:latin typeface="Times New Roman" panose="02020603050405020304" pitchFamily="18" charset="0"/>
              </a:rPr>
              <a:t>语法形式</a:t>
            </a:r>
            <a:endParaRPr lang="zh-CN" altLang="en-GB" sz="2300" b="1" dirty="0">
              <a:solidFill>
                <a:schemeClr val="tx1"/>
              </a:solidFill>
              <a:latin typeface="Times New Roman" panose="02020603050405020304" pitchFamily="18" charset="0"/>
            </a:endParaRPr>
          </a:p>
          <a:p>
            <a:pPr marL="410845" lvl="1" indent="0">
              <a:buNone/>
            </a:pPr>
            <a:r>
              <a:rPr lang="en-GB" altLang="zh-CN" sz="2300" b="1" dirty="0">
                <a:solidFill>
                  <a:srgbClr val="0070C0"/>
                </a:solidFill>
                <a:latin typeface="Times New Roman" panose="02020603050405020304" pitchFamily="18" charset="0"/>
              </a:rPr>
              <a:t>[public | protected | private] </a:t>
            </a:r>
            <a:endParaRPr lang="en-GB" altLang="zh-CN" sz="2300" b="1" dirty="0">
              <a:solidFill>
                <a:srgbClr val="0070C0"/>
              </a:solidFill>
              <a:latin typeface="Times New Roman" panose="02020603050405020304" pitchFamily="18" charset="0"/>
            </a:endParaRPr>
          </a:p>
          <a:p>
            <a:pPr marL="410845" lvl="1" indent="0">
              <a:buNone/>
            </a:pPr>
            <a:r>
              <a:rPr lang="en-GB" altLang="zh-CN" sz="2300" b="1" dirty="0">
                <a:solidFill>
                  <a:srgbClr val="0070C0"/>
                </a:solidFill>
                <a:latin typeface="Times New Roman" panose="02020603050405020304" pitchFamily="18" charset="0"/>
              </a:rPr>
              <a:t>[static]</a:t>
            </a:r>
            <a:r>
              <a:rPr lang="en-US" altLang="zh-CN" sz="2300" b="1" dirty="0">
                <a:solidFill>
                  <a:srgbClr val="0070C0"/>
                </a:solidFill>
                <a:latin typeface="Times New Roman" panose="02020603050405020304" pitchFamily="18" charset="0"/>
              </a:rPr>
              <a:t>[</a:t>
            </a:r>
            <a:r>
              <a:rPr lang="en-GB" altLang="zh-CN" sz="2300" b="1" dirty="0">
                <a:solidFill>
                  <a:srgbClr val="0070C0"/>
                </a:solidFill>
                <a:latin typeface="Times New Roman" panose="02020603050405020304" pitchFamily="18" charset="0"/>
              </a:rPr>
              <a:t> final][transient] [volatile]</a:t>
            </a:r>
            <a:endParaRPr lang="en-GB" altLang="zh-CN" sz="2300" b="1" dirty="0">
              <a:solidFill>
                <a:srgbClr val="0070C0"/>
              </a:solidFill>
              <a:latin typeface="Times New Roman" panose="02020603050405020304" pitchFamily="18" charset="0"/>
            </a:endParaRPr>
          </a:p>
          <a:p>
            <a:pPr marL="410845" lvl="1" indent="0">
              <a:buNone/>
            </a:pPr>
            <a:r>
              <a:rPr lang="zh-CN" altLang="en-GB" sz="2300" b="1" dirty="0">
                <a:solidFill>
                  <a:srgbClr val="FF3399"/>
                </a:solidFill>
                <a:latin typeface="Times New Roman" panose="02020603050405020304" pitchFamily="18" charset="0"/>
              </a:rPr>
              <a:t>数据类型</a:t>
            </a:r>
            <a:r>
              <a:rPr lang="zh-CN" altLang="en-GB" sz="2300" b="1" dirty="0">
                <a:solidFill>
                  <a:srgbClr val="0070C0"/>
                </a:solidFill>
                <a:latin typeface="Times New Roman" panose="02020603050405020304" pitchFamily="18" charset="0"/>
              </a:rPr>
              <a:t>  </a:t>
            </a:r>
            <a:r>
              <a:rPr lang="zh-CN" altLang="en-GB" sz="2300" b="1" dirty="0">
                <a:solidFill>
                  <a:srgbClr val="FF3399"/>
                </a:solidFill>
                <a:highlight>
                  <a:srgbClr val="FFFF00"/>
                </a:highlight>
                <a:latin typeface="Times New Roman" panose="02020603050405020304" pitchFamily="18" charset="0"/>
              </a:rPr>
              <a:t>变量名1</a:t>
            </a:r>
            <a:r>
              <a:rPr lang="zh-CN" altLang="en-GB" sz="2300" b="1" dirty="0">
                <a:solidFill>
                  <a:srgbClr val="0070C0"/>
                </a:solidFill>
                <a:latin typeface="Times New Roman" panose="02020603050405020304" pitchFamily="18" charset="0"/>
              </a:rPr>
              <a:t>[=变量初值],  </a:t>
            </a:r>
            <a:r>
              <a:rPr lang="zh-CN" altLang="en-GB" sz="2300" b="1" dirty="0">
                <a:solidFill>
                  <a:srgbClr val="FF3399"/>
                </a:solidFill>
                <a:highlight>
                  <a:srgbClr val="FFFF00"/>
                </a:highlight>
                <a:latin typeface="Times New Roman" panose="02020603050405020304" pitchFamily="18" charset="0"/>
              </a:rPr>
              <a:t>变量名2</a:t>
            </a:r>
            <a:r>
              <a:rPr lang="zh-CN" altLang="en-GB" sz="2300" b="1" dirty="0">
                <a:solidFill>
                  <a:srgbClr val="0070C0"/>
                </a:solidFill>
                <a:latin typeface="Times New Roman" panose="02020603050405020304" pitchFamily="18" charset="0"/>
              </a:rPr>
              <a:t>[=变量初值], … ;</a:t>
            </a:r>
            <a:endParaRPr lang="zh-CN" altLang="en-US" sz="2300" b="1" dirty="0">
              <a:solidFill>
                <a:srgbClr val="0070C0"/>
              </a:solidFill>
              <a:latin typeface="Times New Roman" panose="02020603050405020304" pitchFamily="18" charset="0"/>
            </a:endParaRPr>
          </a:p>
          <a:p>
            <a:pPr marL="0" indent="0">
              <a:buNone/>
            </a:pPr>
            <a:endParaRPr lang="en-US" altLang="zh-CN" sz="2300" b="1" dirty="0">
              <a:solidFill>
                <a:schemeClr val="tx1"/>
              </a:solidFill>
              <a:latin typeface="Times New Roman" panose="02020603050405020304" pitchFamily="18" charset="0"/>
            </a:endParaRPr>
          </a:p>
          <a:p>
            <a:pPr marL="0" indent="0">
              <a:buNone/>
            </a:pPr>
            <a:r>
              <a:rPr lang="zh-CN" altLang="en-US" sz="2300" b="1" dirty="0">
                <a:solidFill>
                  <a:schemeClr val="tx1"/>
                </a:solidFill>
                <a:latin typeface="Times New Roman" panose="02020603050405020304" pitchFamily="18" charset="0"/>
              </a:rPr>
              <a:t>说明：</a:t>
            </a:r>
            <a:endParaRPr lang="zh-CN" altLang="en-US" sz="2300" b="1" dirty="0">
              <a:solidFill>
                <a:schemeClr val="tx1"/>
              </a:solidFill>
              <a:latin typeface="Times New Roman" panose="02020603050405020304" pitchFamily="18" charset="0"/>
            </a:endParaRPr>
          </a:p>
          <a:p>
            <a:pPr marL="914400" lvl="1" indent="-457200">
              <a:buFont typeface="+mj-ea"/>
              <a:buAutoNum type="circleNumDbPlain"/>
            </a:pPr>
            <a:r>
              <a:rPr lang="en-US" altLang="zh-CN" sz="2300" b="1" dirty="0" err="1">
                <a:solidFill>
                  <a:schemeClr val="tx1"/>
                </a:solidFill>
                <a:latin typeface="Times New Roman" panose="02020603050405020304" pitchFamily="18" charset="0"/>
              </a:rPr>
              <a:t>public、protected、private</a:t>
            </a:r>
            <a:r>
              <a:rPr lang="en-US" altLang="zh-CN" sz="2300" b="1" dirty="0">
                <a:solidFill>
                  <a:schemeClr val="tx1"/>
                </a:solidFill>
                <a:latin typeface="Times New Roman" panose="02020603050405020304" pitchFamily="18" charset="0"/>
              </a:rPr>
              <a:t> </a:t>
            </a:r>
            <a:r>
              <a:rPr lang="zh-CN" altLang="en-US" sz="2300" b="1" dirty="0">
                <a:solidFill>
                  <a:schemeClr val="tx1"/>
                </a:solidFill>
                <a:latin typeface="Times New Roman" panose="02020603050405020304" pitchFamily="18" charset="0"/>
              </a:rPr>
              <a:t>为访问控制符。</a:t>
            </a:r>
            <a:endParaRPr lang="zh-CN" altLang="en-US" sz="2300" b="1" dirty="0">
              <a:solidFill>
                <a:schemeClr val="tx1"/>
              </a:solidFill>
              <a:latin typeface="Times New Roman" panose="02020603050405020304" pitchFamily="18" charset="0"/>
            </a:endParaRPr>
          </a:p>
          <a:p>
            <a:pPr marL="914400" lvl="1" indent="-457200">
              <a:buFont typeface="+mj-ea"/>
              <a:buAutoNum type="circleNumDbPlain"/>
            </a:pPr>
            <a:r>
              <a:rPr lang="en-US" altLang="zh-CN" sz="2300" b="1" dirty="0">
                <a:solidFill>
                  <a:schemeClr val="tx1"/>
                </a:solidFill>
                <a:latin typeface="Times New Roman" panose="02020603050405020304" pitchFamily="18" charset="0"/>
              </a:rPr>
              <a:t>static</a:t>
            </a:r>
            <a:r>
              <a:rPr lang="zh-CN" altLang="en-US" sz="2300" b="1" dirty="0">
                <a:solidFill>
                  <a:schemeClr val="tx1"/>
                </a:solidFill>
                <a:latin typeface="Times New Roman" panose="02020603050405020304" pitchFamily="18" charset="0"/>
              </a:rPr>
              <a:t>指明这是一个静态成员变量（类变量）。</a:t>
            </a:r>
            <a:endParaRPr lang="zh-CN" altLang="en-US" sz="2300" b="1" dirty="0">
              <a:solidFill>
                <a:schemeClr val="tx1"/>
              </a:solidFill>
              <a:latin typeface="Times New Roman" panose="02020603050405020304" pitchFamily="18" charset="0"/>
            </a:endParaRPr>
          </a:p>
          <a:p>
            <a:pPr marL="914400" lvl="1" indent="-457200">
              <a:buFont typeface="+mj-ea"/>
              <a:buAutoNum type="circleNumDbPlain"/>
            </a:pPr>
            <a:r>
              <a:rPr lang="en-US" altLang="zh-CN" sz="2300" b="1" dirty="0">
                <a:solidFill>
                  <a:schemeClr val="tx1"/>
                </a:solidFill>
                <a:latin typeface="Times New Roman" panose="02020603050405020304" pitchFamily="18" charset="0"/>
              </a:rPr>
              <a:t>final</a:t>
            </a:r>
            <a:r>
              <a:rPr lang="zh-CN" altLang="en-US" sz="2300" b="1" dirty="0">
                <a:solidFill>
                  <a:schemeClr val="tx1"/>
                </a:solidFill>
                <a:latin typeface="Times New Roman" panose="02020603050405020304" pitchFamily="18" charset="0"/>
              </a:rPr>
              <a:t>指明变量的值不能被修改。</a:t>
            </a:r>
            <a:endParaRPr lang="zh-CN" altLang="en-US" sz="2300" b="1" dirty="0">
              <a:solidFill>
                <a:schemeClr val="tx1"/>
              </a:solidFill>
              <a:latin typeface="Times New Roman" panose="02020603050405020304" pitchFamily="18" charset="0"/>
            </a:endParaRPr>
          </a:p>
          <a:p>
            <a:pPr marL="914400" lvl="1" indent="-457200">
              <a:buFont typeface="+mj-ea"/>
              <a:buAutoNum type="circleNumDbPlain"/>
            </a:pPr>
            <a:r>
              <a:rPr lang="en-US" altLang="zh-CN" sz="2300" b="1" dirty="0">
                <a:solidFill>
                  <a:schemeClr val="tx1"/>
                </a:solidFill>
                <a:latin typeface="Times New Roman" panose="02020603050405020304" pitchFamily="18" charset="0"/>
              </a:rPr>
              <a:t>transient</a:t>
            </a:r>
            <a:r>
              <a:rPr lang="zh-CN" altLang="en-US" sz="2300" b="1" dirty="0">
                <a:solidFill>
                  <a:schemeClr val="tx1"/>
                </a:solidFill>
                <a:latin typeface="Times New Roman" panose="02020603050405020304" pitchFamily="18" charset="0"/>
              </a:rPr>
              <a:t>指明变量是不需要序列化的。</a:t>
            </a:r>
            <a:endParaRPr lang="zh-CN" altLang="en-US" sz="2300" b="1" dirty="0">
              <a:solidFill>
                <a:schemeClr val="tx1"/>
              </a:solidFill>
              <a:latin typeface="Times New Roman" panose="02020603050405020304" pitchFamily="18" charset="0"/>
            </a:endParaRPr>
          </a:p>
          <a:p>
            <a:pPr marL="914400" lvl="1" indent="-457200">
              <a:buFont typeface="+mj-ea"/>
              <a:buAutoNum type="circleNumDbPlain"/>
            </a:pPr>
            <a:r>
              <a:rPr lang="en-US" altLang="zh-CN" sz="2300" b="1" dirty="0">
                <a:solidFill>
                  <a:schemeClr val="tx1"/>
                </a:solidFill>
                <a:latin typeface="Times New Roman" panose="02020603050405020304" pitchFamily="18" charset="0"/>
              </a:rPr>
              <a:t>volatile</a:t>
            </a:r>
            <a:r>
              <a:rPr lang="zh-CN" altLang="en-US" sz="2300" b="1" dirty="0">
                <a:solidFill>
                  <a:schemeClr val="tx1"/>
                </a:solidFill>
                <a:latin typeface="Times New Roman" panose="02020603050405020304" pitchFamily="18" charset="0"/>
              </a:rPr>
              <a:t>指明变量是一个共享变量。</a:t>
            </a:r>
            <a:endParaRPr lang="zh-CN" altLang="en-US" sz="2300" b="1" dirty="0">
              <a:solidFill>
                <a:schemeClr val="tx1"/>
              </a:solidFill>
              <a:latin typeface="Times New Roman" panose="02020603050405020304" pitchFamily="18" charset="0"/>
            </a:endParaRPr>
          </a:p>
        </p:txBody>
      </p:sp>
      <p:sp>
        <p:nvSpPr>
          <p:cNvPr id="3789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55EDFC7-EB15-49AC-B689-EC111737A10D}"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rgbClr val="FF0000"/>
                </a:solidFill>
                <a:highlight>
                  <a:srgbClr val="FFFF00"/>
                </a:highlight>
                <a:ea typeface="楷体" panose="02010609060101010101" pitchFamily="49" charset="-122"/>
                <a:cs typeface="思源黑体 CN Heavy" panose="020B0A00000000000000" charset="-122"/>
              </a:rPr>
              <a:t>数据成员</a:t>
            </a:r>
            <a:r>
              <a:rPr lang="zh-CN" altLang="en-US" sz="2800" dirty="0">
                <a:solidFill>
                  <a:schemeClr val="bg1"/>
                </a:solidFill>
                <a:ea typeface="楷体" panose="02010609060101010101" pitchFamily="49" charset="-122"/>
                <a:cs typeface="思源黑体 CN Heavy" panose="020B0A00000000000000" charset="-122"/>
              </a:rPr>
              <a:t>声明</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3"/>
          <p:cNvSpPr>
            <a:spLocks noGrp="1" noChangeArrowheads="1"/>
          </p:cNvSpPr>
          <p:nvPr>
            <p:ph idx="4294967295"/>
          </p:nvPr>
        </p:nvSpPr>
        <p:spPr>
          <a:xfrm>
            <a:off x="1199456" y="1700808"/>
            <a:ext cx="10297144" cy="2548880"/>
          </a:xfrm>
        </p:spPr>
        <p:txBody>
          <a:bodyPr vert="horz" wrap="square" lIns="92075" tIns="46038" rIns="92075" bIns="46038" numCol="1" anchor="t" anchorCtr="0" compatLnSpc="1">
            <a:normAutofit lnSpcReduction="10000"/>
          </a:bodyPr>
          <a:lstStyle/>
          <a:p>
            <a:pPr marL="457200" lvl="1" indent="-457200">
              <a:lnSpc>
                <a:spcPct val="150000"/>
              </a:lnSpc>
              <a:spcBef>
                <a:spcPts val="0"/>
              </a:spcBef>
              <a:buFont typeface="Wingdings" panose="05000000000000000000" pitchFamily="2" charset="2"/>
              <a:buChar char="Ø"/>
            </a:pPr>
            <a:r>
              <a:rPr lang="zh-CN" altLang="en-US" b="1" dirty="0">
                <a:latin typeface="Times New Roman" panose="02020603050405020304" pitchFamily="18" charset="0"/>
              </a:rPr>
              <a:t>没有</a:t>
            </a:r>
            <a:r>
              <a:rPr lang="en-US" altLang="zh-CN" b="1" dirty="0">
                <a:solidFill>
                  <a:srgbClr val="FF3399"/>
                </a:solidFill>
                <a:highlight>
                  <a:srgbClr val="FFFF00"/>
                </a:highlight>
                <a:latin typeface="Times New Roman" panose="02020603050405020304" pitchFamily="18" charset="0"/>
              </a:rPr>
              <a:t>static</a:t>
            </a:r>
            <a:r>
              <a:rPr lang="zh-CN" altLang="en-US" b="1" dirty="0">
                <a:latin typeface="Times New Roman" panose="02020603050405020304" pitchFamily="18" charset="0"/>
              </a:rPr>
              <a:t>修饰的</a:t>
            </a:r>
            <a:r>
              <a:rPr lang="zh-CN" altLang="en-US" b="1" dirty="0">
                <a:solidFill>
                  <a:srgbClr val="FF3399"/>
                </a:solidFill>
                <a:latin typeface="Times New Roman" panose="02020603050405020304" pitchFamily="18" charset="0"/>
              </a:rPr>
              <a:t>变量</a:t>
            </a:r>
            <a:r>
              <a:rPr lang="zh-CN" altLang="en-US" b="1" dirty="0">
                <a:latin typeface="Times New Roman" panose="02020603050405020304" pitchFamily="18" charset="0"/>
              </a:rPr>
              <a:t>（数据成员）称为</a:t>
            </a:r>
            <a:r>
              <a:rPr lang="zh-CN" altLang="en-US" b="1" dirty="0">
                <a:solidFill>
                  <a:srgbClr val="FF3399"/>
                </a:solidFill>
                <a:highlight>
                  <a:srgbClr val="FFFF00"/>
                </a:highlight>
                <a:latin typeface="Times New Roman" panose="02020603050405020304" pitchFamily="18" charset="0"/>
              </a:rPr>
              <a:t>实例变量</a:t>
            </a:r>
            <a:r>
              <a:rPr lang="zh-CN" altLang="en-US" b="1" dirty="0">
                <a:latin typeface="Times New Roman" panose="02020603050405020304" pitchFamily="18" charset="0"/>
              </a:rPr>
              <a:t>；</a:t>
            </a:r>
            <a:endParaRPr lang="en-US" altLang="zh-CN" b="1" dirty="0">
              <a:latin typeface="Times New Roman" panose="02020603050405020304" pitchFamily="18" charset="0"/>
            </a:endParaRPr>
          </a:p>
          <a:p>
            <a:pPr marL="457200" lvl="1" indent="-457200" eaLnBrk="1" hangingPunct="1">
              <a:lnSpc>
                <a:spcPct val="150000"/>
              </a:lnSpc>
              <a:spcBef>
                <a:spcPts val="0"/>
              </a:spcBef>
              <a:buFont typeface="Wingdings" panose="05000000000000000000" pitchFamily="2" charset="2"/>
              <a:buChar char="Ø"/>
            </a:pPr>
            <a:r>
              <a:rPr lang="zh-CN" altLang="en-US" b="1" dirty="0">
                <a:latin typeface="Times New Roman" panose="02020603050405020304" pitchFamily="18" charset="0"/>
              </a:rPr>
              <a:t>存储所有实例都需要的属性，不同实例的属性值可能不同；</a:t>
            </a:r>
            <a:endParaRPr lang="zh-CN" altLang="en-US" b="1" dirty="0">
              <a:latin typeface="Times New Roman" panose="02020603050405020304" pitchFamily="18" charset="0"/>
            </a:endParaRPr>
          </a:p>
          <a:p>
            <a:pPr marL="457200" lvl="1" indent="-457200" eaLnBrk="1" hangingPunct="1">
              <a:lnSpc>
                <a:spcPct val="150000"/>
              </a:lnSpc>
              <a:spcBef>
                <a:spcPts val="0"/>
              </a:spcBef>
              <a:buFont typeface="Wingdings" panose="05000000000000000000" pitchFamily="2" charset="2"/>
              <a:buChar char="Ø"/>
            </a:pPr>
            <a:r>
              <a:rPr lang="zh-CN" altLang="en-US" b="1" dirty="0">
                <a:latin typeface="Times New Roman" panose="02020603050405020304" pitchFamily="18" charset="0"/>
              </a:rPr>
              <a:t>可通过下面的表达式访问实例属性的值</a:t>
            </a:r>
            <a:endParaRPr lang="zh-CN" altLang="en-US" b="1" dirty="0">
              <a:latin typeface="Times New Roman" panose="02020603050405020304" pitchFamily="18" charset="0"/>
            </a:endParaRPr>
          </a:p>
          <a:p>
            <a:pPr marL="357505" lvl="2" indent="-357505" eaLnBrk="1" hangingPunct="1">
              <a:lnSpc>
                <a:spcPct val="150000"/>
              </a:lnSpc>
              <a:spcBef>
                <a:spcPts val="0"/>
              </a:spcBef>
              <a:buNone/>
            </a:pPr>
            <a:r>
              <a:rPr lang="zh-CN" altLang="en-US" b="1" dirty="0">
                <a:solidFill>
                  <a:srgbClr val="FF3399"/>
                </a:solidFill>
                <a:latin typeface="Times New Roman" panose="02020603050405020304" pitchFamily="18" charset="0"/>
              </a:rPr>
              <a:t>       &lt;实例名&gt;.&lt;实例变量名&gt;</a:t>
            </a:r>
            <a:endParaRPr lang="zh-CN" altLang="en-US" b="1" dirty="0">
              <a:solidFill>
                <a:srgbClr val="FF3399"/>
              </a:solidFill>
              <a:latin typeface="Times New Roman" panose="02020603050405020304" pitchFamily="18" charset="0"/>
            </a:endParaRPr>
          </a:p>
          <a:p>
            <a:pPr lvl="1" eaLnBrk="1" hangingPunct="1"/>
            <a:endParaRPr lang="zh-CN" altLang="en-US" dirty="0">
              <a:latin typeface="Times New Roman" panose="02020603050405020304" pitchFamily="18" charset="0"/>
            </a:endParaRPr>
          </a:p>
        </p:txBody>
      </p:sp>
      <p:sp>
        <p:nvSpPr>
          <p:cNvPr id="3891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2F6B774-A3AD-47EF-BBCA-DC0753584038}"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实例变量</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3"/>
          <p:cNvSpPr>
            <a:spLocks noGrp="1" noChangeArrowheads="1"/>
          </p:cNvSpPr>
          <p:nvPr>
            <p:ph idx="4294967295"/>
          </p:nvPr>
        </p:nvSpPr>
        <p:spPr>
          <a:xfrm>
            <a:off x="983432" y="1628800"/>
            <a:ext cx="10585176" cy="4848463"/>
          </a:xfrm>
        </p:spPr>
        <p:txBody>
          <a:bodyPr vert="horz" wrap="square" lIns="92075" tIns="46038" rIns="92075" bIns="46038" numCol="1" anchor="t" anchorCtr="0" compatLnSpc="1"/>
          <a:lstStyle/>
          <a:p>
            <a:pPr marL="0" indent="0" eaLnBrk="1" hangingPunct="1">
              <a:lnSpc>
                <a:spcPct val="90000"/>
              </a:lnSpc>
              <a:buNone/>
            </a:pPr>
            <a:r>
              <a:rPr lang="en-US" altLang="zh-CN" sz="2400" b="1" dirty="0">
                <a:latin typeface="Times New Roman" panose="02020603050405020304" pitchFamily="18" charset="0"/>
              </a:rPr>
              <a:t>//</a:t>
            </a:r>
            <a:r>
              <a:rPr lang="zh-CN" altLang="en-US" sz="2400" b="1" dirty="0">
                <a:latin typeface="Times New Roman" panose="02020603050405020304" pitchFamily="18" charset="0"/>
              </a:rPr>
              <a:t>圆类保存在文件</a:t>
            </a:r>
            <a:r>
              <a:rPr lang="en-US" altLang="zh-CN" sz="2400" b="1" dirty="0">
                <a:latin typeface="Times New Roman" panose="02020603050405020304" pitchFamily="18" charset="0"/>
              </a:rPr>
              <a:t>Circle.java </a:t>
            </a:r>
            <a:r>
              <a:rPr lang="zh-CN" altLang="en-US" sz="2400" b="1" dirty="0">
                <a:latin typeface="Times New Roman" panose="02020603050405020304" pitchFamily="18" charset="0"/>
              </a:rPr>
              <a:t>中，测试类保存在文件</a:t>
            </a:r>
            <a:r>
              <a:rPr lang="en-US" altLang="zh-CN" sz="2400" b="1" dirty="0">
                <a:latin typeface="Times New Roman" panose="02020603050405020304" pitchFamily="18" charset="0"/>
              </a:rPr>
              <a:t>ShapeTester.java</a:t>
            </a:r>
            <a:r>
              <a:rPr lang="zh-CN" altLang="en-US" sz="2400" b="1" dirty="0">
                <a:latin typeface="Times New Roman" panose="02020603050405020304" pitchFamily="18" charset="0"/>
              </a:rPr>
              <a:t>中，两文件放在相同的目录下</a:t>
            </a:r>
            <a:endParaRPr lang="zh-CN" altLang="en-US" sz="2400" b="1" dirty="0">
              <a:latin typeface="Times New Roman" panose="02020603050405020304" pitchFamily="18" charset="0"/>
            </a:endParaRPr>
          </a:p>
          <a:p>
            <a:pPr lvl="1" eaLnBrk="1" hangingPunct="1">
              <a:lnSpc>
                <a:spcPct val="70000"/>
              </a:lnSpc>
              <a:spcBef>
                <a:spcPct val="80000"/>
              </a:spcBef>
              <a:buFont typeface="Georgia" panose="02040502050405020303" pitchFamily="18" charset="0"/>
              <a:buNone/>
            </a:pPr>
            <a:r>
              <a:rPr lang="en-US" altLang="zh-CN" sz="2400" b="1" dirty="0">
                <a:latin typeface="Times New Roman" panose="02020603050405020304" pitchFamily="18" charset="0"/>
              </a:rPr>
              <a:t>public class Circle {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        int radius;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a:p>
            <a:pPr lvl="1" eaLnBrk="1" hangingPunct="1">
              <a:lnSpc>
                <a:spcPct val="70000"/>
              </a:lnSpc>
              <a:spcBef>
                <a:spcPct val="65000"/>
              </a:spcBef>
              <a:buFont typeface="Georgia" panose="02040502050405020303" pitchFamily="18" charset="0"/>
              <a:buNone/>
            </a:pPr>
            <a:r>
              <a:rPr lang="en-US" altLang="zh-CN" sz="2400" b="1" dirty="0">
                <a:latin typeface="Times New Roman" panose="02020603050405020304" pitchFamily="18" charset="0"/>
              </a:rPr>
              <a:t>public class </a:t>
            </a:r>
            <a:r>
              <a:rPr lang="en-US" altLang="zh-CN" sz="2400" b="1" dirty="0" err="1">
                <a:latin typeface="Times New Roman" panose="02020603050405020304" pitchFamily="18" charset="0"/>
              </a:rPr>
              <a:t>ShapeTester</a:t>
            </a:r>
            <a:r>
              <a:rPr lang="en-US" altLang="zh-CN" sz="2400" b="1" dirty="0">
                <a:latin typeface="Times New Roman" panose="02020603050405020304" pitchFamily="18" charset="0"/>
              </a:rPr>
              <a:t> {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        public static void main(String </a:t>
            </a:r>
            <a:r>
              <a:rPr lang="en-US" altLang="zh-CN" sz="2400" b="1" dirty="0" err="1">
                <a:latin typeface="Times New Roman" panose="02020603050405020304" pitchFamily="18" charset="0"/>
              </a:rPr>
              <a:t>args</a:t>
            </a:r>
            <a:r>
              <a:rPr lang="en-US" altLang="zh-CN" sz="2400" b="1" dirty="0">
                <a:latin typeface="Times New Roman" panose="02020603050405020304" pitchFamily="18" charset="0"/>
              </a:rPr>
              <a:t>[]) {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               Circle x;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               x = new Circle();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System.out.println</a:t>
            </a:r>
            <a:r>
              <a:rPr lang="en-US" altLang="zh-CN" sz="2400" b="1" dirty="0">
                <a:latin typeface="Times New Roman" panose="02020603050405020304" pitchFamily="18" charset="0"/>
              </a:rPr>
              <a:t>(</a:t>
            </a:r>
            <a:r>
              <a:rPr lang="en-US" altLang="zh-CN" sz="2400" b="1" dirty="0">
                <a:solidFill>
                  <a:srgbClr val="FF3399"/>
                </a:solidFill>
                <a:highlight>
                  <a:srgbClr val="FFFF66"/>
                </a:highlight>
                <a:latin typeface="Times New Roman" panose="02020603050405020304" pitchFamily="18" charset="0"/>
              </a:rPr>
              <a:t>x</a:t>
            </a: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System.out.println</a:t>
            </a:r>
            <a:r>
              <a:rPr lang="en-US" altLang="zh-CN" sz="2400" b="1" dirty="0">
                <a:latin typeface="Times New Roman" panose="02020603050405020304" pitchFamily="18" charset="0"/>
              </a:rPr>
              <a:t>("radius = " + </a:t>
            </a:r>
            <a:r>
              <a:rPr lang="en-US" altLang="zh-CN" sz="2400" b="1" dirty="0" err="1">
                <a:latin typeface="Times New Roman" panose="02020603050405020304" pitchFamily="18" charset="0"/>
              </a:rPr>
              <a:t>x.radius</a:t>
            </a: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        } </a:t>
            </a:r>
            <a:endParaRPr lang="en-US" altLang="zh-CN" sz="2400" b="1" dirty="0">
              <a:latin typeface="Times New Roman" panose="02020603050405020304" pitchFamily="18" charset="0"/>
            </a:endParaRPr>
          </a:p>
          <a:p>
            <a:pPr lvl="1" eaLnBrk="1" hangingPunct="1">
              <a:lnSpc>
                <a:spcPct val="70000"/>
              </a:lnSpc>
              <a:buFont typeface="Georgia" panose="02040502050405020303" pitchFamily="18" charset="0"/>
              <a:buNone/>
            </a:pPr>
            <a:r>
              <a:rPr lang="en-US" altLang="zh-CN" sz="2400" b="1" dirty="0">
                <a:latin typeface="Times New Roman" panose="02020603050405020304" pitchFamily="18" charset="0"/>
              </a:rPr>
              <a:t>}</a:t>
            </a:r>
            <a:endParaRPr lang="zh-CN" altLang="en-US" b="1" dirty="0">
              <a:latin typeface="Times New Roman" panose="02020603050405020304" pitchFamily="18" charset="0"/>
            </a:endParaRPr>
          </a:p>
        </p:txBody>
      </p:sp>
      <p:sp>
        <p:nvSpPr>
          <p:cNvPr id="3" name="文本框 2"/>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实例变量</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idx="4294967295"/>
          </p:nvPr>
        </p:nvSpPr>
        <p:spPr>
          <a:xfrm>
            <a:off x="1055440" y="1628800"/>
            <a:ext cx="8942784" cy="3340968"/>
          </a:xfrm>
        </p:spPr>
        <p:txBody>
          <a:bodyPr vert="horz" wrap="square" lIns="92075" tIns="46038" rIns="92075" bIns="46038" numCol="1" anchor="t" anchorCtr="0" compatLnSpc="1"/>
          <a:lstStyle/>
          <a:p>
            <a:pPr eaLnBrk="1" hangingPunct="1">
              <a:buFont typeface="Wingdings" panose="05000000000000000000" pitchFamily="2" charset="2"/>
              <a:buChar char="Ø"/>
            </a:pPr>
            <a:r>
              <a:rPr lang="zh-CN" altLang="en-US" sz="2400" b="1" dirty="0">
                <a:latin typeface="Times New Roman" panose="02020603050405020304" pitchFamily="18" charset="0"/>
              </a:rPr>
              <a:t>编译后运行结果如下：</a:t>
            </a:r>
            <a:endParaRPr lang="zh-CN" altLang="en-US" sz="2400" b="1" dirty="0">
              <a:latin typeface="Times New Roman" panose="02020603050405020304" pitchFamily="18" charset="0"/>
            </a:endParaRPr>
          </a:p>
          <a:p>
            <a:pPr lvl="1" eaLnBrk="1" hangingPunct="1">
              <a:buFont typeface="Georgia" panose="02040502050405020303" pitchFamily="18" charset="0"/>
              <a:buNone/>
            </a:pPr>
            <a:r>
              <a:rPr lang="en-US" altLang="zh-CN" sz="2200" b="1" dirty="0">
                <a:latin typeface="Times New Roman" panose="02020603050405020304" pitchFamily="18" charset="0"/>
              </a:rPr>
              <a:t>Circle@26b249</a:t>
            </a:r>
            <a:endParaRPr lang="en-US" altLang="zh-CN" sz="2200" b="1" dirty="0">
              <a:latin typeface="Times New Roman" panose="02020603050405020304" pitchFamily="18" charset="0"/>
            </a:endParaRPr>
          </a:p>
          <a:p>
            <a:pPr lvl="1" eaLnBrk="1" hangingPunct="1">
              <a:buFont typeface="Georgia" panose="02040502050405020303" pitchFamily="18" charset="0"/>
              <a:buNone/>
            </a:pPr>
            <a:r>
              <a:rPr lang="en-US" altLang="zh-CN" sz="2200" b="1" dirty="0">
                <a:latin typeface="Times New Roman" panose="02020603050405020304" pitchFamily="18" charset="0"/>
              </a:rPr>
              <a:t>radius =0</a:t>
            </a:r>
            <a:endParaRPr lang="en-US" altLang="zh-CN" sz="2200" b="1" dirty="0">
              <a:latin typeface="Times New Roman" panose="02020603050405020304" pitchFamily="18" charset="0"/>
            </a:endParaRPr>
          </a:p>
          <a:p>
            <a:pPr marL="0" indent="0" eaLnBrk="1" hangingPunct="1">
              <a:buNone/>
            </a:pPr>
            <a:endParaRPr lang="en-US" altLang="zh-CN" sz="2400" b="1" dirty="0">
              <a:latin typeface="Times New Roman" panose="02020603050405020304" pitchFamily="18" charset="0"/>
            </a:endParaRPr>
          </a:p>
          <a:p>
            <a:pPr marL="0" indent="0" eaLnBrk="1" hangingPunct="1">
              <a:buNone/>
            </a:pPr>
            <a:r>
              <a:rPr lang="zh-CN" altLang="en-US" sz="2400" b="1" dirty="0">
                <a:latin typeface="Times New Roman" panose="02020603050405020304" pitchFamily="18" charset="0"/>
              </a:rPr>
              <a:t>说明：</a:t>
            </a:r>
            <a:endParaRPr lang="en-US" altLang="zh-CN" sz="2400" b="1" dirty="0">
              <a:latin typeface="Times New Roman" panose="02020603050405020304" pitchFamily="18" charset="0"/>
            </a:endParaRPr>
          </a:p>
          <a:p>
            <a:pPr marL="609600" lvl="1" indent="0" eaLnBrk="1" hangingPunct="1">
              <a:buNone/>
            </a:pPr>
            <a:r>
              <a:rPr lang="zh-CN" altLang="en-US" sz="2200" b="1" dirty="0">
                <a:latin typeface="Times New Roman" panose="02020603050405020304" pitchFamily="18" charset="0"/>
              </a:rPr>
              <a:t>默认的</a:t>
            </a:r>
            <a:r>
              <a:rPr lang="en-US" altLang="zh-CN" sz="2200" b="1" dirty="0" err="1">
                <a:solidFill>
                  <a:srgbClr val="FF3399"/>
                </a:solidFill>
                <a:highlight>
                  <a:srgbClr val="FFFF00"/>
                </a:highlight>
                <a:latin typeface="Times New Roman" panose="02020603050405020304" pitchFamily="18" charset="0"/>
              </a:rPr>
              <a:t>toString</a:t>
            </a:r>
            <a:r>
              <a:rPr lang="en-US" altLang="zh-CN" sz="2200" b="1" dirty="0">
                <a:solidFill>
                  <a:srgbClr val="FF3399"/>
                </a:solidFill>
                <a:highlight>
                  <a:srgbClr val="FFFF00"/>
                </a:highlight>
                <a:latin typeface="Times New Roman" panose="02020603050405020304" pitchFamily="18" charset="0"/>
              </a:rPr>
              <a:t>()</a:t>
            </a:r>
            <a:r>
              <a:rPr lang="zh-CN" altLang="en-US" sz="2200" b="1" dirty="0">
                <a:latin typeface="Times New Roman" panose="02020603050405020304" pitchFamily="18" charset="0"/>
              </a:rPr>
              <a:t>返回：</a:t>
            </a:r>
            <a:endParaRPr lang="en-US" altLang="zh-CN" sz="2200" b="1" dirty="0">
              <a:latin typeface="Times New Roman" panose="02020603050405020304" pitchFamily="18" charset="0"/>
            </a:endParaRPr>
          </a:p>
          <a:p>
            <a:pPr lvl="1" eaLnBrk="1" hangingPunct="1">
              <a:buFont typeface="Georgia" panose="02040502050405020303" pitchFamily="18" charse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getClass</a:t>
            </a:r>
            <a:r>
              <a:rPr lang="en-US" altLang="zh-CN" sz="2200" b="1" dirty="0">
                <a:latin typeface="Times New Roman" panose="02020603050405020304" pitchFamily="18" charset="0"/>
              </a:rPr>
              <a:t>().</a:t>
            </a:r>
            <a:r>
              <a:rPr lang="en-US" altLang="zh-CN" sz="2200" b="1" dirty="0" err="1">
                <a:latin typeface="Times New Roman" panose="02020603050405020304" pitchFamily="18" charset="0"/>
              </a:rPr>
              <a:t>getName</a:t>
            </a:r>
            <a:r>
              <a:rPr lang="en-US" altLang="zh-CN" sz="2200" b="1" dirty="0">
                <a:latin typeface="Times New Roman" panose="02020603050405020304" pitchFamily="18" charset="0"/>
              </a:rPr>
              <a:t>() +”@”+ </a:t>
            </a:r>
            <a:r>
              <a:rPr lang="en-US" altLang="zh-CN" sz="2200" b="1" dirty="0" err="1">
                <a:latin typeface="Times New Roman" panose="02020603050405020304" pitchFamily="18" charset="0"/>
              </a:rPr>
              <a:t>Integer.toHexString</a:t>
            </a:r>
            <a:r>
              <a:rPr lang="en-US" altLang="zh-CN" sz="2200" b="1" dirty="0">
                <a:latin typeface="Times New Roman" panose="02020603050405020304" pitchFamily="18" charset="0"/>
              </a:rPr>
              <a:t>(</a:t>
            </a:r>
            <a:r>
              <a:rPr lang="en-US" altLang="zh-CN" sz="2200" b="1" dirty="0" err="1">
                <a:latin typeface="Times New Roman" panose="02020603050405020304" pitchFamily="18" charset="0"/>
              </a:rPr>
              <a:t>hashCode</a:t>
            </a:r>
            <a:r>
              <a:rPr lang="en-US" altLang="zh-CN" sz="2200" b="1" dirty="0">
                <a:latin typeface="Times New Roman" panose="02020603050405020304" pitchFamily="18" charset="0"/>
              </a:rPr>
              <a:t>())</a:t>
            </a:r>
            <a:endParaRPr lang="zh-CN" altLang="en-US" sz="2200" b="1" dirty="0">
              <a:latin typeface="Times New Roman" panose="02020603050405020304" pitchFamily="18" charset="0"/>
            </a:endParaRPr>
          </a:p>
        </p:txBody>
      </p:sp>
      <p:sp>
        <p:nvSpPr>
          <p:cNvPr id="4" name="文本框 3"/>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实例变量</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idx="4294967295"/>
          </p:nvPr>
        </p:nvSpPr>
        <p:spPr>
          <a:xfrm>
            <a:off x="1415480" y="1628800"/>
            <a:ext cx="9577064" cy="4997152"/>
          </a:xfrm>
        </p:spPr>
        <p:txBody>
          <a:bodyPr vert="horz" wrap="square" lIns="92075" tIns="46038" rIns="92075" bIns="46038" numCol="1" anchor="t" anchorCtr="0" compatLnSpc="1">
            <a:normAutofit lnSpcReduction="10000"/>
          </a:bodyPr>
          <a:lstStyle/>
          <a:p>
            <a:pPr marL="0" indent="0" eaLnBrk="1" hangingPunct="1">
              <a:spcBef>
                <a:spcPts val="0"/>
              </a:spcBef>
              <a:buNone/>
            </a:pPr>
            <a:r>
              <a:rPr lang="en-US" altLang="zh-CN" sz="2200" b="1" dirty="0">
                <a:latin typeface="Times New Roman" panose="02020603050405020304" pitchFamily="18" charset="0"/>
              </a:rPr>
              <a:t>//</a:t>
            </a:r>
            <a:r>
              <a:rPr lang="zh-CN" altLang="en-US" sz="2200" b="1" dirty="0">
                <a:latin typeface="Times New Roman" panose="02020603050405020304" pitchFamily="18" charset="0"/>
              </a:rPr>
              <a:t>矩形类保存在</a:t>
            </a:r>
            <a:r>
              <a:rPr lang="en-US" altLang="zh-CN" sz="2200" b="1" dirty="0">
                <a:latin typeface="Times New Roman" panose="02020603050405020304" pitchFamily="18" charset="0"/>
              </a:rPr>
              <a:t>Rectangle.java</a:t>
            </a:r>
            <a:r>
              <a:rPr lang="zh-CN" altLang="en-US" sz="2200" b="1" dirty="0">
                <a:latin typeface="Times New Roman" panose="02020603050405020304" pitchFamily="18" charset="0"/>
              </a:rPr>
              <a:t>中，测试类保存在</a:t>
            </a:r>
            <a:r>
              <a:rPr lang="en-US" altLang="zh-CN" sz="2200" b="1" dirty="0">
                <a:latin typeface="Times New Roman" panose="02020603050405020304" pitchFamily="18" charset="0"/>
              </a:rPr>
              <a:t>ShapeTester.java</a:t>
            </a:r>
            <a:r>
              <a:rPr lang="zh-CN" altLang="en-US" sz="2200" b="1" dirty="0">
                <a:latin typeface="Times New Roman" panose="02020603050405020304" pitchFamily="18" charset="0"/>
              </a:rPr>
              <a:t>中，两文件</a:t>
            </a:r>
            <a:r>
              <a:rPr lang="zh-CN" altLang="en-US" sz="2200" b="1" dirty="0">
                <a:solidFill>
                  <a:srgbClr val="C00000"/>
                </a:solidFill>
                <a:latin typeface="Times New Roman" panose="02020603050405020304" pitchFamily="18" charset="0"/>
              </a:rPr>
              <a:t>存在同目录</a:t>
            </a:r>
            <a:r>
              <a:rPr lang="zh-CN" altLang="en-US" sz="2200" b="1" dirty="0">
                <a:latin typeface="Times New Roman" panose="02020603050405020304" pitchFamily="18" charset="0"/>
              </a:rPr>
              <a:t>下</a:t>
            </a:r>
            <a:endParaRPr lang="zh-CN" altLang="en-US" sz="22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public </a:t>
            </a:r>
            <a:r>
              <a:rPr lang="en-US" altLang="zh-CN" sz="2400" b="1" dirty="0">
                <a:solidFill>
                  <a:srgbClr val="FF0000"/>
                </a:solidFill>
                <a:highlight>
                  <a:srgbClr val="FFFF00"/>
                </a:highlight>
                <a:latin typeface="Times New Roman" panose="02020603050405020304" pitchFamily="18" charset="0"/>
              </a:rPr>
              <a:t>class</a:t>
            </a:r>
            <a:r>
              <a:rPr lang="en-US" altLang="zh-CN" sz="2400" b="1" dirty="0">
                <a:latin typeface="Times New Roman" panose="02020603050405020304" pitchFamily="18" charset="0"/>
              </a:rPr>
              <a:t> </a:t>
            </a:r>
            <a:r>
              <a:rPr lang="en-US" altLang="zh-CN" sz="2400" b="1" dirty="0">
                <a:solidFill>
                  <a:srgbClr val="FF3399"/>
                </a:solidFill>
                <a:latin typeface="Times New Roman" panose="02020603050405020304" pitchFamily="18" charset="0"/>
              </a:rPr>
              <a:t>Rectangle</a:t>
            </a:r>
            <a:r>
              <a:rPr lang="en-US" altLang="zh-CN" sz="2400" b="1" dirty="0">
                <a:latin typeface="Times New Roman" panose="02020603050405020304" pitchFamily="18" charset="0"/>
              </a:rPr>
              <a:t> {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double width = 10.128;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double height = 5.734;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public </a:t>
            </a:r>
            <a:r>
              <a:rPr lang="en-US" altLang="zh-CN" sz="2400" b="1" dirty="0">
                <a:solidFill>
                  <a:srgbClr val="FF0000"/>
                </a:solidFill>
                <a:highlight>
                  <a:srgbClr val="FFFF00"/>
                </a:highlight>
                <a:latin typeface="Times New Roman" panose="02020603050405020304" pitchFamily="18" charset="0"/>
              </a:rPr>
              <a:t>class</a:t>
            </a:r>
            <a:r>
              <a:rPr lang="en-US" altLang="zh-CN" sz="2400" b="1" dirty="0">
                <a:latin typeface="Times New Roman" panose="02020603050405020304" pitchFamily="18" charset="0"/>
              </a:rPr>
              <a:t> </a:t>
            </a:r>
            <a:r>
              <a:rPr lang="en-US" altLang="zh-CN" sz="2400" b="1" dirty="0" err="1">
                <a:solidFill>
                  <a:srgbClr val="FF3399"/>
                </a:solidFill>
                <a:latin typeface="Times New Roman" panose="02020603050405020304" pitchFamily="18" charset="0"/>
              </a:rPr>
              <a:t>ShapeTester</a:t>
            </a:r>
            <a:r>
              <a:rPr lang="en-US" altLang="zh-CN" sz="2400" b="1" dirty="0">
                <a:latin typeface="Times New Roman" panose="02020603050405020304" pitchFamily="18" charset="0"/>
              </a:rPr>
              <a:t> {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public static void main(String </a:t>
            </a:r>
            <a:r>
              <a:rPr lang="en-US" altLang="zh-CN" sz="2400" b="1" dirty="0" err="1">
                <a:latin typeface="Times New Roman" panose="02020603050405020304" pitchFamily="18" charset="0"/>
              </a:rPr>
              <a:t>args</a:t>
            </a:r>
            <a:r>
              <a:rPr lang="en-US" altLang="zh-CN" sz="2400" b="1" dirty="0">
                <a:latin typeface="Times New Roman" panose="02020603050405020304" pitchFamily="18" charset="0"/>
              </a:rPr>
              <a:t>[]) {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Circle    x;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Rectangle y;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x = new Circle();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y = new Rectangle();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a:t>
            </a:r>
            <a:r>
              <a:rPr lang="en-US" altLang="zh-CN" sz="2400" b="1" dirty="0" err="1">
                <a:latin typeface="Times New Roman" panose="02020603050405020304" pitchFamily="18" charset="0"/>
              </a:rPr>
              <a:t>System.out.println</a:t>
            </a:r>
            <a:r>
              <a:rPr lang="en-US" altLang="zh-CN" sz="2400" b="1" dirty="0">
                <a:latin typeface="Times New Roman" panose="02020603050405020304" pitchFamily="18" charset="0"/>
              </a:rPr>
              <a:t>(x + "   " + y);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 </a:t>
            </a:r>
            <a:endParaRPr lang="en-US" altLang="zh-CN" sz="2400" b="1" dirty="0">
              <a:latin typeface="Times New Roman" panose="02020603050405020304" pitchFamily="18" charset="0"/>
            </a:endParaRPr>
          </a:p>
          <a:p>
            <a:pPr lvl="1" indent="-742950" eaLnBrk="1" hangingPunct="1">
              <a:spcBef>
                <a:spcPts val="0"/>
              </a:spcBef>
              <a:buFont typeface="Georgia" panose="02040502050405020303" pitchFamily="18" charset="0"/>
              <a:buNone/>
            </a:pPr>
            <a:r>
              <a:rPr lang="en-US" altLang="zh-CN" sz="2400" b="1" dirty="0">
                <a:latin typeface="Times New Roman" panose="02020603050405020304" pitchFamily="18" charset="0"/>
              </a:rPr>
              <a:t> }</a:t>
            </a:r>
            <a:endParaRPr lang="zh-CN" altLang="en-US" sz="2400" b="1" dirty="0">
              <a:latin typeface="Times New Roman" panose="02020603050405020304" pitchFamily="18" charset="0"/>
            </a:endParaRPr>
          </a:p>
        </p:txBody>
      </p:sp>
      <p:sp>
        <p:nvSpPr>
          <p:cNvPr id="4" name="文本框 3"/>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实例变量</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idx="4294967295"/>
          </p:nvPr>
        </p:nvSpPr>
        <p:spPr>
          <a:xfrm>
            <a:off x="767408" y="1700808"/>
            <a:ext cx="10972800" cy="3358326"/>
          </a:xfrm>
        </p:spPr>
        <p:txBody>
          <a:bodyPr vert="horz" wrap="square" lIns="92075" tIns="46038" rIns="92075" bIns="46038" numCol="1" anchor="t" anchorCtr="0" compatLnSpc="1"/>
          <a:lstStyle/>
          <a:p>
            <a:pPr eaLnBrk="1" hangingPunct="1">
              <a:buFont typeface="Wingdings" panose="05000000000000000000" pitchFamily="2" charset="2"/>
              <a:buChar char="Ø"/>
            </a:pPr>
            <a:r>
              <a:rPr lang="zh-CN" altLang="en-US" sz="2400" b="1" dirty="0">
                <a:latin typeface="Times New Roman" panose="02020603050405020304" pitchFamily="18" charset="0"/>
              </a:rPr>
              <a:t>编译后运行结果如下：</a:t>
            </a:r>
            <a:endParaRPr lang="zh-CN" altLang="en-US" sz="2400" b="1" dirty="0">
              <a:latin typeface="Times New Roman" panose="02020603050405020304" pitchFamily="18" charset="0"/>
            </a:endParaRPr>
          </a:p>
          <a:p>
            <a:pPr lvl="1" eaLnBrk="1" hangingPunct="1">
              <a:buFont typeface="Georgia" panose="02040502050405020303" pitchFamily="18" charset="0"/>
              <a:buNone/>
            </a:pPr>
            <a:r>
              <a:rPr lang="en-US" altLang="zh-CN" sz="2200" b="1" dirty="0">
                <a:latin typeface="Times New Roman" panose="02020603050405020304" pitchFamily="18" charset="0"/>
              </a:rPr>
              <a:t>Circle@82f0db    Rectangle@92d342</a:t>
            </a:r>
            <a:endParaRPr lang="en-US" altLang="zh-CN" sz="2200" b="1" dirty="0">
              <a:latin typeface="Times New Roman" panose="02020603050405020304" pitchFamily="18" charset="0"/>
            </a:endParaRPr>
          </a:p>
          <a:p>
            <a:pPr marL="0" indent="0" eaLnBrk="1" hangingPunct="1">
              <a:buNone/>
            </a:pPr>
            <a:endParaRPr lang="en-US" altLang="zh-CN" sz="2400" b="1" dirty="0">
              <a:latin typeface="Times New Roman" panose="02020603050405020304" pitchFamily="18" charset="0"/>
            </a:endParaRPr>
          </a:p>
          <a:p>
            <a:pPr marL="0" indent="0" eaLnBrk="1" hangingPunct="1">
              <a:buNone/>
            </a:pPr>
            <a:r>
              <a:rPr lang="zh-CN" altLang="en-US" sz="2400" b="1" dirty="0">
                <a:latin typeface="Times New Roman" panose="02020603050405020304" pitchFamily="18" charset="0"/>
              </a:rPr>
              <a:t>说明：</a:t>
            </a:r>
            <a:r>
              <a:rPr lang="en-US" altLang="zh-CN" sz="2200" b="1" dirty="0">
                <a:latin typeface="Times New Roman" panose="02020603050405020304" pitchFamily="18" charset="0"/>
              </a:rPr>
              <a:t>Circle</a:t>
            </a:r>
            <a:r>
              <a:rPr lang="zh-CN" altLang="en-US" sz="2200" b="1" dirty="0">
                <a:latin typeface="Times New Roman" panose="02020603050405020304" pitchFamily="18" charset="0"/>
              </a:rPr>
              <a:t>及</a:t>
            </a:r>
            <a:r>
              <a:rPr lang="en-US" altLang="zh-CN" sz="2200" b="1" dirty="0">
                <a:latin typeface="Times New Roman" panose="02020603050405020304" pitchFamily="18" charset="0"/>
              </a:rPr>
              <a:t>Rectangle</a:t>
            </a:r>
            <a:r>
              <a:rPr lang="zh-CN" altLang="en-US" sz="2200" b="1" dirty="0">
                <a:latin typeface="Times New Roman" panose="02020603050405020304" pitchFamily="18" charset="0"/>
              </a:rPr>
              <a:t>类对象的状态如图</a:t>
            </a:r>
            <a:endParaRPr lang="en-US" altLang="zh-CN" sz="2200" b="1" dirty="0">
              <a:latin typeface="Times New Roman" panose="02020603050405020304" pitchFamily="18" charset="0"/>
            </a:endParaRPr>
          </a:p>
          <a:p>
            <a:pPr marL="609600" lvl="1" indent="0" eaLnBrk="1" hangingPunct="1">
              <a:buNone/>
            </a:pPr>
            <a:endParaRPr lang="en-US" altLang="zh-CN" sz="2200" dirty="0">
              <a:latin typeface="Times New Roman" panose="02020603050405020304" pitchFamily="18" charset="0"/>
            </a:endParaRPr>
          </a:p>
          <a:p>
            <a:pPr marL="0" indent="0" eaLnBrk="1" hangingPunct="1">
              <a:buNone/>
            </a:pPr>
            <a:r>
              <a:rPr lang="en-US" altLang="zh-CN" sz="2600" dirty="0">
                <a:latin typeface="Times New Roman" panose="02020603050405020304" pitchFamily="18" charset="0"/>
              </a:rPr>
              <a:t>ShapeTester2.java</a:t>
            </a:r>
            <a:r>
              <a:rPr lang="zh-CN" altLang="en-US" sz="2600" dirty="0">
                <a:latin typeface="Times New Roman" panose="02020603050405020304" pitchFamily="18" charset="0"/>
              </a:rPr>
              <a:t>，</a:t>
            </a:r>
            <a:r>
              <a:rPr lang="en-US" altLang="zh-CN" sz="2600" dirty="0">
                <a:latin typeface="Times New Roman" panose="02020603050405020304" pitchFamily="18" charset="0"/>
              </a:rPr>
              <a:t>ShapeTester3.java</a:t>
            </a:r>
            <a:r>
              <a:rPr lang="zh-CN" altLang="en-US" sz="2600" dirty="0">
                <a:latin typeface="Times New Roman" panose="02020603050405020304" pitchFamily="18" charset="0"/>
              </a:rPr>
              <a:t>，</a:t>
            </a:r>
            <a:r>
              <a:rPr lang="en-US" altLang="zh-CN" sz="2600" dirty="0">
                <a:latin typeface="Times New Roman" panose="02020603050405020304" pitchFamily="18" charset="0"/>
              </a:rPr>
              <a:t>ShapeTester4.java </a:t>
            </a:r>
            <a:r>
              <a:rPr lang="zh-CN" altLang="en-US" sz="2600" dirty="0">
                <a:latin typeface="Times New Roman" panose="02020603050405020304" pitchFamily="18" charset="0"/>
              </a:rPr>
              <a:t>给出了变化的不同示例</a:t>
            </a:r>
            <a:endParaRPr lang="zh-CN" altLang="en-US" sz="2600" dirty="0">
              <a:latin typeface="Times New Roman" panose="02020603050405020304" pitchFamily="18" charset="0"/>
            </a:endParaRPr>
          </a:p>
        </p:txBody>
      </p:sp>
      <p:pic>
        <p:nvPicPr>
          <p:cNvPr id="44036" name="Picture 6" descr="ObjectRectangl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899067" y="1637437"/>
            <a:ext cx="4648200" cy="193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3"/>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实例变量</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4294967295"/>
          </p:nvPr>
        </p:nvSpPr>
        <p:spPr>
          <a:xfrm>
            <a:off x="695400" y="1628800"/>
            <a:ext cx="11161240" cy="4536504"/>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用</a:t>
            </a:r>
            <a:r>
              <a:rPr lang="en-US" altLang="zh-CN" sz="2700" b="1" dirty="0">
                <a:solidFill>
                  <a:srgbClr val="FF3399"/>
                </a:solidFill>
                <a:highlight>
                  <a:srgbClr val="FFFF00"/>
                </a:highlight>
                <a:latin typeface="Times New Roman" panose="02020603050405020304" pitchFamily="18" charset="0"/>
              </a:rPr>
              <a:t>static</a:t>
            </a:r>
            <a:r>
              <a:rPr lang="zh-CN" altLang="en-US" sz="2700" b="1" dirty="0">
                <a:latin typeface="Times New Roman" panose="02020603050405020304" pitchFamily="18" charset="0"/>
              </a:rPr>
              <a:t>修饰；</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为该类的所有对象共享；</a:t>
            </a:r>
            <a:endParaRPr lang="zh-CN" altLang="en-US" sz="2700" b="1" dirty="0">
              <a:solidFill>
                <a:srgbClr val="FF0000"/>
              </a:solidFill>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在整个类中只有一个值；</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类初始化的同时就被赋值。</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适用情况</a:t>
            </a:r>
            <a:r>
              <a:rPr lang="en-US" altLang="zh-CN" sz="2700" b="1" dirty="0">
                <a:latin typeface="Times New Roman" panose="02020603050405020304" pitchFamily="18" charset="0"/>
              </a:rPr>
              <a:t>:</a:t>
            </a:r>
            <a:r>
              <a:rPr lang="zh-CN" altLang="en-US" sz="2700" b="1" dirty="0">
                <a:latin typeface="Times New Roman" panose="02020603050405020304" pitchFamily="18" charset="0"/>
              </a:rPr>
              <a:t>类中所有对象都相同的属性；经常需要共享的数据；系统中用到的一些常量值。</a:t>
            </a:r>
            <a:endParaRPr lang="zh-CN" altLang="en-US" sz="2700" b="1" dirty="0">
              <a:latin typeface="Times New Roman" panose="02020603050405020304" pitchFamily="18" charset="0"/>
            </a:endParaRPr>
          </a:p>
          <a:p>
            <a:pPr>
              <a:lnSpc>
                <a:spcPct val="150000"/>
              </a:lnSpc>
              <a:spcBef>
                <a:spcPts val="0"/>
              </a:spcBef>
              <a:buClr>
                <a:schemeClr val="tx1"/>
              </a:buClr>
              <a:buFont typeface="Wingdings" panose="05000000000000000000" pitchFamily="2" charset="2"/>
              <a:buChar char="Ø"/>
            </a:pPr>
            <a:r>
              <a:rPr lang="zh-CN" altLang="en-US" sz="2700" b="1" dirty="0">
                <a:solidFill>
                  <a:srgbClr val="FF3399"/>
                </a:solidFill>
                <a:latin typeface="Times New Roman" panose="02020603050405020304" pitchFamily="18" charset="0"/>
              </a:rPr>
              <a:t>引用</a:t>
            </a:r>
            <a:r>
              <a:rPr lang="zh-CN" altLang="en-US" sz="2700" b="1" dirty="0">
                <a:latin typeface="Times New Roman" panose="02020603050405020304" pitchFamily="18" charset="0"/>
              </a:rPr>
              <a:t>格式：</a:t>
            </a:r>
            <a:r>
              <a:rPr lang="zh-CN" altLang="en-US" sz="2700" b="1" dirty="0">
                <a:solidFill>
                  <a:srgbClr val="FF3399"/>
                </a:solidFill>
                <a:latin typeface="Times New Roman" panose="02020603050405020304" pitchFamily="18" charset="0"/>
              </a:rPr>
              <a:t>    &lt;类名 | 实例名&gt;.&lt;类变量名&gt;</a:t>
            </a:r>
            <a:endParaRPr lang="zh-CN" altLang="en-US" sz="2700" b="1" dirty="0">
              <a:solidFill>
                <a:srgbClr val="FF3399"/>
              </a:solidFill>
              <a:latin typeface="Times New Roman" panose="02020603050405020304" pitchFamily="18" charset="0"/>
            </a:endParaRPr>
          </a:p>
        </p:txBody>
      </p:sp>
      <p:sp>
        <p:nvSpPr>
          <p:cNvPr id="5017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4AD1C0B-D8A1-4BFF-B0EA-04E60E3D15A0}"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338407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类变量（</a:t>
            </a:r>
            <a:r>
              <a:rPr lang="zh-CN" altLang="en-US" sz="2800" dirty="0">
                <a:solidFill>
                  <a:srgbClr val="FF3399"/>
                </a:solidFill>
                <a:highlight>
                  <a:srgbClr val="FFFF00"/>
                </a:highlight>
                <a:ea typeface="楷体" panose="02010609060101010101" pitchFamily="49" charset="-122"/>
                <a:cs typeface="思源黑体 CN Heavy" panose="020B0A00000000000000" charset="-122"/>
              </a:rPr>
              <a:t>静态变量</a:t>
            </a:r>
            <a:r>
              <a:rPr lang="zh-CN" altLang="en-US" sz="2800" dirty="0">
                <a:solidFill>
                  <a:schemeClr val="bg1"/>
                </a:solidFill>
                <a:ea typeface="楷体" panose="02010609060101010101" pitchFamily="49" charset="-122"/>
                <a:cs typeface="思源黑体 CN Heavy" panose="020B0A00000000000000" charset="-122"/>
              </a:rPr>
              <a:t>）</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idx="4294967295"/>
          </p:nvPr>
        </p:nvSpPr>
        <p:spPr>
          <a:xfrm>
            <a:off x="839416" y="1700808"/>
            <a:ext cx="10513168" cy="2836912"/>
          </a:xfrm>
        </p:spPr>
        <p:txBody>
          <a:bodyPr vert="horz" wrap="square" lIns="92075" tIns="46038" rIns="92075" bIns="46038" numCol="1" anchor="t" anchorCtr="0" compatLnSpc="1"/>
          <a:lstStyle/>
          <a:p>
            <a:pPr marL="109220" indent="0">
              <a:lnSpc>
                <a:spcPct val="90000"/>
              </a:lnSpc>
              <a:spcBef>
                <a:spcPct val="50000"/>
              </a:spcBef>
              <a:buNone/>
            </a:pPr>
            <a:r>
              <a:rPr lang="en-US" altLang="zh-CN" sz="2400" b="1" dirty="0">
                <a:latin typeface="Times New Roman" panose="02020603050405020304" pitchFamily="18" charset="0"/>
              </a:rPr>
              <a:t>public class Circle { </a:t>
            </a:r>
            <a:endParaRPr lang="en-US" altLang="zh-CN" sz="2400" b="1" dirty="0">
              <a:latin typeface="Times New Roman" panose="02020603050405020304" pitchFamily="18" charset="0"/>
            </a:endParaRPr>
          </a:p>
          <a:p>
            <a:pPr marL="109220" indent="0">
              <a:lnSpc>
                <a:spcPct val="90000"/>
              </a:lnSpc>
              <a:buNone/>
            </a:pPr>
            <a:r>
              <a:rPr lang="en-US" altLang="zh-CN" sz="2400" b="1" dirty="0">
                <a:latin typeface="Times New Roman" panose="02020603050405020304" pitchFamily="18" charset="0"/>
              </a:rPr>
              <a:t>       static double PI = 3.14159265; </a:t>
            </a:r>
            <a:endParaRPr lang="en-US" altLang="zh-CN" sz="2400" b="1" dirty="0">
              <a:latin typeface="Times New Roman" panose="02020603050405020304" pitchFamily="18" charset="0"/>
            </a:endParaRPr>
          </a:p>
          <a:p>
            <a:pPr marL="109220" indent="0">
              <a:lnSpc>
                <a:spcPct val="90000"/>
              </a:lnSpc>
              <a:buNone/>
            </a:pPr>
            <a:r>
              <a:rPr lang="en-US" altLang="zh-CN" sz="2400" b="1" dirty="0">
                <a:latin typeface="Times New Roman" panose="02020603050405020304" pitchFamily="18" charset="0"/>
              </a:rPr>
              <a:t>       int radius; </a:t>
            </a:r>
            <a:endParaRPr lang="en-US" altLang="zh-CN" sz="2400" b="1" dirty="0">
              <a:latin typeface="Times New Roman" panose="02020603050405020304" pitchFamily="18" charset="0"/>
            </a:endParaRPr>
          </a:p>
          <a:p>
            <a:pPr marL="109220" indent="0">
              <a:lnSpc>
                <a:spcPct val="90000"/>
              </a:lnSpc>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a:p>
            <a:pPr marL="109220" indent="0">
              <a:lnSpc>
                <a:spcPct val="90000"/>
              </a:lnSpc>
              <a:spcBef>
                <a:spcPct val="50000"/>
              </a:spcBef>
              <a:buNone/>
            </a:pPr>
            <a:r>
              <a:rPr lang="zh-CN" altLang="en-US" sz="2400" b="1" dirty="0">
                <a:latin typeface="Times New Roman" panose="02020603050405020304" pitchFamily="18" charset="0"/>
              </a:rPr>
              <a:t>        当我们生成</a:t>
            </a:r>
            <a:r>
              <a:rPr lang="en-US" altLang="zh-CN" sz="2400" b="1" dirty="0">
                <a:latin typeface="Times New Roman" panose="02020603050405020304" pitchFamily="18" charset="0"/>
              </a:rPr>
              <a:t>Circle</a:t>
            </a:r>
            <a:r>
              <a:rPr lang="zh-CN" altLang="en-US" sz="2400" b="1" dirty="0">
                <a:latin typeface="Times New Roman" panose="02020603050405020304" pitchFamily="18" charset="0"/>
              </a:rPr>
              <a:t>类的实例时，在每一个实例中并没有存储</a:t>
            </a:r>
            <a:r>
              <a:rPr lang="en-US" altLang="zh-CN" sz="2400" b="1" dirty="0">
                <a:latin typeface="Times New Roman" panose="02020603050405020304" pitchFamily="18" charset="0"/>
              </a:rPr>
              <a:t>PI</a:t>
            </a:r>
            <a:r>
              <a:rPr lang="zh-CN" altLang="en-US" sz="2400" b="1" dirty="0">
                <a:latin typeface="Times New Roman" panose="02020603050405020304" pitchFamily="18" charset="0"/>
              </a:rPr>
              <a:t>的值，</a:t>
            </a:r>
            <a:r>
              <a:rPr lang="en-US" altLang="zh-CN" sz="2400" b="1" dirty="0">
                <a:latin typeface="Times New Roman" panose="02020603050405020304" pitchFamily="18" charset="0"/>
              </a:rPr>
              <a:t>PI</a:t>
            </a:r>
            <a:r>
              <a:rPr lang="zh-CN" altLang="en-US" sz="2400" b="1" dirty="0">
                <a:latin typeface="Times New Roman" panose="02020603050405020304" pitchFamily="18" charset="0"/>
              </a:rPr>
              <a:t>的值存储在类中。</a:t>
            </a:r>
            <a:endParaRPr lang="zh-CN" altLang="en-US" sz="2400" b="1" dirty="0">
              <a:latin typeface="Times New Roman" panose="02020603050405020304" pitchFamily="18" charset="0"/>
            </a:endParaRPr>
          </a:p>
        </p:txBody>
      </p:sp>
      <p:sp>
        <p:nvSpPr>
          <p:cNvPr id="4" name="文本框 3"/>
          <p:cNvSpPr txBox="1"/>
          <p:nvPr>
            <p:custDataLst>
              <p:tags r:id="rId1"/>
            </p:custDataLst>
          </p:nvPr>
        </p:nvSpPr>
        <p:spPr>
          <a:xfrm>
            <a:off x="407670" y="980440"/>
            <a:ext cx="338407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类变量（静态变量）</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4294967295"/>
          </p:nvPr>
        </p:nvSpPr>
        <p:spPr>
          <a:xfrm>
            <a:off x="1192560" y="1772816"/>
            <a:ext cx="6494512" cy="3744416"/>
          </a:xfrm>
        </p:spPr>
        <p:txBody>
          <a:bodyPr vert="horz" wrap="square" lIns="92075" tIns="46038" rIns="92075" bIns="46038" numCol="1" anchor="t" anchorCtr="0" compatLnSpc="1"/>
          <a:lstStyle/>
          <a:p>
            <a:pPr marL="0" indent="0" eaLnBrk="1" hangingPunct="1">
              <a:lnSpc>
                <a:spcPct val="80000"/>
              </a:lnSpc>
              <a:spcBef>
                <a:spcPct val="45000"/>
              </a:spcBef>
              <a:buNone/>
            </a:pPr>
            <a:r>
              <a:rPr lang="en-US" altLang="zh-CN" sz="2400" dirty="0">
                <a:latin typeface="Times New Roman" panose="02020603050405020304" pitchFamily="18" charset="0"/>
              </a:rPr>
              <a:t>public class </a:t>
            </a:r>
            <a:r>
              <a:rPr lang="en-US" altLang="zh-CN" sz="2400" dirty="0" err="1">
                <a:latin typeface="Times New Roman" panose="02020603050405020304" pitchFamily="18" charset="0"/>
              </a:rPr>
              <a:t>ClassVariableTester</a:t>
            </a:r>
            <a:r>
              <a:rPr lang="en-US" altLang="zh-CN" sz="2400" dirty="0">
                <a:latin typeface="Times New Roman" panose="02020603050405020304" pitchFamily="18" charset="0"/>
              </a:rPr>
              <a:t> {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public static void main(String </a:t>
            </a:r>
            <a:r>
              <a:rPr lang="en-US" altLang="zh-CN" sz="2400" dirty="0" err="1">
                <a:latin typeface="Times New Roman" panose="02020603050405020304" pitchFamily="18" charset="0"/>
              </a:rPr>
              <a:t>args</a:t>
            </a:r>
            <a:r>
              <a:rPr lang="en-US" altLang="zh-CN" sz="2400" dirty="0">
                <a:latin typeface="Times New Roman" panose="02020603050405020304" pitchFamily="18" charset="0"/>
              </a:rPr>
              <a:t>[]) {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Circle x = new Circle();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System.out.println</a:t>
            </a:r>
            <a:r>
              <a:rPr lang="en-US" altLang="zh-CN" sz="2400" dirty="0">
                <a:latin typeface="Times New Roman" panose="02020603050405020304" pitchFamily="18" charset="0"/>
              </a:rPr>
              <a:t>(</a:t>
            </a:r>
            <a:r>
              <a:rPr lang="en-US" altLang="zh-CN" sz="2400" dirty="0" err="1">
                <a:solidFill>
                  <a:srgbClr val="FF0000"/>
                </a:solidFill>
                <a:highlight>
                  <a:srgbClr val="FFFF00"/>
                </a:highlight>
                <a:latin typeface="Times New Roman" panose="02020603050405020304" pitchFamily="18" charset="0"/>
              </a:rPr>
              <a:t>x.PI</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System.out.println</a:t>
            </a:r>
            <a:r>
              <a:rPr lang="en-US" altLang="zh-CN" sz="2400" dirty="0">
                <a:latin typeface="Times New Roman" panose="02020603050405020304" pitchFamily="18" charset="0"/>
              </a:rPr>
              <a:t>(</a:t>
            </a:r>
            <a:r>
              <a:rPr lang="en-US" altLang="zh-CN" sz="2400" dirty="0" err="1">
                <a:solidFill>
                  <a:srgbClr val="FF0000"/>
                </a:solidFill>
                <a:highlight>
                  <a:srgbClr val="FFFF00"/>
                </a:highlight>
                <a:latin typeface="Times New Roman" panose="02020603050405020304" pitchFamily="18" charset="0"/>
              </a:rPr>
              <a:t>Circle.PI</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a:t>
            </a:r>
            <a:r>
              <a:rPr lang="en-US" altLang="zh-CN" sz="2400" dirty="0" err="1">
                <a:solidFill>
                  <a:srgbClr val="FF3399"/>
                </a:solidFill>
                <a:latin typeface="Times New Roman" panose="02020603050405020304" pitchFamily="18" charset="0"/>
              </a:rPr>
              <a:t>Circle.PI</a:t>
            </a:r>
            <a:r>
              <a:rPr lang="en-US" altLang="zh-CN" sz="2400" dirty="0">
                <a:solidFill>
                  <a:srgbClr val="FF3399"/>
                </a:solidFill>
                <a:latin typeface="Times New Roman" panose="02020603050405020304" pitchFamily="18" charset="0"/>
              </a:rPr>
              <a:t> </a:t>
            </a:r>
            <a:r>
              <a:rPr lang="en-US" altLang="zh-CN" sz="2400" dirty="0">
                <a:latin typeface="Times New Roman" panose="02020603050405020304" pitchFamily="18" charset="0"/>
              </a:rPr>
              <a:t>= 3.14;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System.out.println</a:t>
            </a:r>
            <a:r>
              <a:rPr lang="en-US" altLang="zh-CN" sz="2400" dirty="0">
                <a:latin typeface="Times New Roman" panose="02020603050405020304" pitchFamily="18" charset="0"/>
              </a:rPr>
              <a:t>(</a:t>
            </a:r>
            <a:r>
              <a:rPr lang="en-US" altLang="zh-CN" sz="2400" dirty="0" err="1">
                <a:solidFill>
                  <a:srgbClr val="FF0000"/>
                </a:solidFill>
                <a:highlight>
                  <a:srgbClr val="FFFF00"/>
                </a:highlight>
                <a:latin typeface="Times New Roman" panose="02020603050405020304" pitchFamily="18" charset="0"/>
              </a:rPr>
              <a:t>x.PI</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a:t>
            </a:r>
            <a:r>
              <a:rPr lang="en-US" altLang="zh-CN" sz="2400" dirty="0" err="1">
                <a:latin typeface="Times New Roman" panose="02020603050405020304" pitchFamily="18" charset="0"/>
              </a:rPr>
              <a:t>System.out.println</a:t>
            </a:r>
            <a:r>
              <a:rPr lang="en-US" altLang="zh-CN" sz="2400" dirty="0">
                <a:latin typeface="Times New Roman" panose="02020603050405020304" pitchFamily="18" charset="0"/>
              </a:rPr>
              <a:t>(</a:t>
            </a:r>
            <a:r>
              <a:rPr lang="en-US" altLang="zh-CN" sz="2400" dirty="0" err="1">
                <a:solidFill>
                  <a:srgbClr val="FF0000"/>
                </a:solidFill>
                <a:highlight>
                  <a:srgbClr val="FFFF00"/>
                </a:highlight>
                <a:latin typeface="Times New Roman" panose="02020603050405020304" pitchFamily="18" charset="0"/>
              </a:rPr>
              <a:t>Circle.PI</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        } </a:t>
            </a:r>
            <a:endParaRPr lang="en-US" altLang="zh-CN" sz="2400" dirty="0">
              <a:latin typeface="Times New Roman" panose="02020603050405020304" pitchFamily="18" charset="0"/>
            </a:endParaRPr>
          </a:p>
          <a:p>
            <a:pPr marL="0" indent="0" eaLnBrk="1" hangingPunct="1">
              <a:lnSpc>
                <a:spcPct val="80000"/>
              </a:lnSpc>
              <a:buNone/>
            </a:pPr>
            <a:r>
              <a:rPr lang="en-US" altLang="zh-CN" sz="2400" dirty="0">
                <a:latin typeface="Times New Roman" panose="02020603050405020304" pitchFamily="18" charset="0"/>
              </a:rPr>
              <a:t>}</a:t>
            </a:r>
            <a:endParaRPr lang="zh-CN" altLang="en-US" sz="2000" dirty="0">
              <a:latin typeface="Times New Roman" panose="02020603050405020304" pitchFamily="18" charset="0"/>
            </a:endParaRPr>
          </a:p>
        </p:txBody>
      </p:sp>
      <p:sp>
        <p:nvSpPr>
          <p:cNvPr id="3" name="文本框 2"/>
          <p:cNvSpPr txBox="1"/>
          <p:nvPr/>
        </p:nvSpPr>
        <p:spPr>
          <a:xfrm>
            <a:off x="8040216" y="3933056"/>
            <a:ext cx="2262158" cy="2086725"/>
          </a:xfrm>
          <a:prstGeom prst="rect">
            <a:avLst/>
          </a:prstGeom>
          <a:solidFill>
            <a:schemeClr val="bg1"/>
          </a:solidFill>
        </p:spPr>
        <p:txBody>
          <a:bodyPr wrap="none" rtlCol="0">
            <a:spAutoFit/>
          </a:bodyPr>
          <a:lstStyle/>
          <a:p>
            <a:pPr marL="0" indent="0" eaLnBrk="1" hangingPunct="1">
              <a:buNone/>
            </a:pPr>
            <a:r>
              <a:rPr lang="zh-CN" altLang="en-US" dirty="0">
                <a:solidFill>
                  <a:srgbClr val="002060"/>
                </a:solidFill>
                <a:ea typeface="楷体" panose="02010609060101010101" pitchFamily="49" charset="-122"/>
              </a:rPr>
              <a:t>运行结果：</a:t>
            </a:r>
            <a:endParaRPr lang="zh-CN" altLang="en-US" dirty="0">
              <a:solidFill>
                <a:srgbClr val="002060"/>
              </a:solidFill>
              <a:ea typeface="楷体" panose="02010609060101010101" pitchFamily="49" charset="-122"/>
            </a:endParaRPr>
          </a:p>
          <a:p>
            <a:pPr marL="609600" lvl="1" indent="0" eaLnBrk="1" hangingPunct="1">
              <a:spcBef>
                <a:spcPct val="40000"/>
              </a:spcBef>
              <a:buNone/>
            </a:pPr>
            <a:r>
              <a:rPr lang="zh-CN" altLang="en-US" dirty="0">
                <a:solidFill>
                  <a:srgbClr val="002060"/>
                </a:solidFill>
                <a:ea typeface="楷体" panose="02010609060101010101" pitchFamily="49" charset="-122"/>
              </a:rPr>
              <a:t>3.14159265</a:t>
            </a:r>
            <a:endParaRPr lang="zh-CN" altLang="en-US" dirty="0">
              <a:solidFill>
                <a:srgbClr val="002060"/>
              </a:solidFill>
              <a:ea typeface="楷体" panose="02010609060101010101" pitchFamily="49" charset="-122"/>
            </a:endParaRPr>
          </a:p>
          <a:p>
            <a:pPr marL="609600" lvl="1" indent="0" eaLnBrk="1" hangingPunct="1">
              <a:buNone/>
            </a:pPr>
            <a:r>
              <a:rPr lang="zh-CN" altLang="en-US" dirty="0">
                <a:solidFill>
                  <a:srgbClr val="002060"/>
                </a:solidFill>
                <a:ea typeface="楷体" panose="02010609060101010101" pitchFamily="49" charset="-122"/>
              </a:rPr>
              <a:t>3.14159265</a:t>
            </a:r>
            <a:endParaRPr lang="zh-CN" altLang="en-US" dirty="0">
              <a:solidFill>
                <a:srgbClr val="002060"/>
              </a:solidFill>
              <a:ea typeface="楷体" panose="02010609060101010101" pitchFamily="49" charset="-122"/>
            </a:endParaRPr>
          </a:p>
          <a:p>
            <a:pPr marL="609600" lvl="1" indent="0" eaLnBrk="1" hangingPunct="1">
              <a:buNone/>
            </a:pPr>
            <a:r>
              <a:rPr lang="zh-CN" altLang="en-US" dirty="0">
                <a:solidFill>
                  <a:srgbClr val="002060"/>
                </a:solidFill>
                <a:ea typeface="楷体" panose="02010609060101010101" pitchFamily="49" charset="-122"/>
              </a:rPr>
              <a:t>3.14</a:t>
            </a:r>
            <a:endParaRPr lang="zh-CN" altLang="en-US" dirty="0">
              <a:solidFill>
                <a:srgbClr val="002060"/>
              </a:solidFill>
              <a:ea typeface="楷体" panose="02010609060101010101" pitchFamily="49" charset="-122"/>
            </a:endParaRPr>
          </a:p>
          <a:p>
            <a:pPr marL="609600" lvl="1" indent="0" eaLnBrk="1" hangingPunct="1">
              <a:buNone/>
            </a:pPr>
            <a:r>
              <a:rPr lang="zh-CN" altLang="en-US" dirty="0">
                <a:solidFill>
                  <a:srgbClr val="002060"/>
                </a:solidFill>
                <a:ea typeface="楷体" panose="02010609060101010101" pitchFamily="49" charset="-122"/>
              </a:rPr>
              <a:t>3.14</a:t>
            </a:r>
            <a:endParaRPr lang="zh-CN" altLang="en-US" dirty="0">
              <a:solidFill>
                <a:srgbClr val="002060"/>
              </a:solidFill>
              <a:ea typeface="楷体" panose="02010609060101010101" pitchFamily="49" charset="-122"/>
            </a:endParaRPr>
          </a:p>
        </p:txBody>
      </p:sp>
      <p:sp>
        <p:nvSpPr>
          <p:cNvPr id="5" name="文本框 4"/>
          <p:cNvSpPr txBox="1"/>
          <p:nvPr>
            <p:custDataLst>
              <p:tags r:id="rId1"/>
            </p:custDataLst>
          </p:nvPr>
        </p:nvSpPr>
        <p:spPr>
          <a:xfrm>
            <a:off x="407670" y="980440"/>
            <a:ext cx="338407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类变量（</a:t>
            </a:r>
            <a:r>
              <a:rPr lang="zh-CN" altLang="en-US" sz="2800" dirty="0">
                <a:solidFill>
                  <a:srgbClr val="FF3399"/>
                </a:solidFill>
                <a:highlight>
                  <a:srgbClr val="FFFF00"/>
                </a:highlight>
                <a:ea typeface="楷体" panose="02010609060101010101" pitchFamily="49" charset="-122"/>
                <a:cs typeface="思源黑体 CN Heavy" panose="020B0A00000000000000" charset="-122"/>
              </a:rPr>
              <a:t>静态变量</a:t>
            </a:r>
            <a:r>
              <a:rPr lang="zh-CN" altLang="en-US" sz="2800" dirty="0">
                <a:solidFill>
                  <a:schemeClr val="bg1"/>
                </a:solidFill>
                <a:ea typeface="楷体" panose="02010609060101010101" pitchFamily="49" charset="-122"/>
                <a:cs typeface="思源黑体 CN Heavy" panose="020B0A00000000000000" charset="-122"/>
              </a:rPr>
              <a:t>）</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idx="4294967295"/>
          </p:nvPr>
        </p:nvSpPr>
        <p:spPr>
          <a:xfrm>
            <a:off x="1415480" y="1628800"/>
            <a:ext cx="7704856" cy="3484984"/>
          </a:xfrm>
        </p:spPr>
        <p:txBody>
          <a:bodyPr vert="horz" wrap="square" lIns="92075" tIns="46038" rIns="92075" bIns="46038" numCol="1" anchor="t" anchorCtr="0" compatLnSpc="1"/>
          <a:lstStyle/>
          <a:p>
            <a:pPr eaLnBrk="1" hangingPunct="1">
              <a:lnSpc>
                <a:spcPct val="130000"/>
              </a:lnSpc>
              <a:buFont typeface="Georgia" panose="02040502050405020303" pitchFamily="18" charset="0"/>
              <a:buNone/>
            </a:pPr>
            <a:r>
              <a:rPr lang="en-GB" altLang="zh-CN" sz="2400" dirty="0">
                <a:latin typeface="Times New Roman" panose="02020603050405020304" pitchFamily="18" charset="0"/>
              </a:rPr>
              <a:t>[public | protected | private] </a:t>
            </a:r>
            <a:endParaRPr lang="en-GB" altLang="zh-CN" sz="2400" dirty="0">
              <a:latin typeface="Times New Roman" panose="02020603050405020304" pitchFamily="18" charset="0"/>
            </a:endParaRPr>
          </a:p>
          <a:p>
            <a:pPr eaLnBrk="1" hangingPunct="1">
              <a:lnSpc>
                <a:spcPct val="130000"/>
              </a:lnSpc>
              <a:buFont typeface="Georgia" panose="02040502050405020303" pitchFamily="18" charset="0"/>
              <a:buNone/>
            </a:pPr>
            <a:r>
              <a:rPr lang="en-GB" altLang="zh-CN" sz="2400" dirty="0">
                <a:latin typeface="Times New Roman" panose="02020603050405020304" pitchFamily="18" charset="0"/>
              </a:rPr>
              <a:t>[static]</a:t>
            </a:r>
            <a:r>
              <a:rPr lang="en-US" altLang="zh-CN" sz="2400" dirty="0">
                <a:latin typeface="Times New Roman" panose="02020603050405020304" pitchFamily="18" charset="0"/>
              </a:rPr>
              <a:t>[</a:t>
            </a:r>
            <a:r>
              <a:rPr lang="en-GB" altLang="zh-CN" sz="2400" dirty="0">
                <a:latin typeface="Times New Roman" panose="02020603050405020304" pitchFamily="18" charset="0"/>
              </a:rPr>
              <a:t> final][abstract] [native] [synchronized]</a:t>
            </a:r>
            <a:endParaRPr lang="en-GB" altLang="zh-CN" sz="2400" dirty="0">
              <a:latin typeface="Times New Roman" panose="02020603050405020304" pitchFamily="18" charset="0"/>
            </a:endParaRPr>
          </a:p>
          <a:p>
            <a:pPr eaLnBrk="1" hangingPunct="1">
              <a:lnSpc>
                <a:spcPct val="130000"/>
              </a:lnSpc>
              <a:buFont typeface="Georgia" panose="02040502050405020303" pitchFamily="18" charset="0"/>
              <a:buNone/>
            </a:pPr>
            <a:r>
              <a:rPr lang="zh-CN" altLang="en-GB" sz="2400" dirty="0">
                <a:solidFill>
                  <a:srgbClr val="FF0000"/>
                </a:solidFill>
                <a:highlight>
                  <a:srgbClr val="FFFF00"/>
                </a:highlight>
                <a:latin typeface="Times New Roman" panose="02020603050405020304" pitchFamily="18" charset="0"/>
              </a:rPr>
              <a:t>返回类型 </a:t>
            </a:r>
            <a:r>
              <a:rPr lang="zh-CN" altLang="en-GB" sz="2000" dirty="0">
                <a:solidFill>
                  <a:srgbClr val="FF0000"/>
                </a:solidFill>
                <a:highlight>
                  <a:srgbClr val="FFFF00"/>
                </a:highlight>
                <a:latin typeface="Times New Roman" panose="02020603050405020304" pitchFamily="18" charset="0"/>
              </a:rPr>
              <a:t> </a:t>
            </a:r>
            <a:r>
              <a:rPr lang="zh-CN" altLang="en-GB" sz="2400" dirty="0">
                <a:solidFill>
                  <a:srgbClr val="FF3399"/>
                </a:solidFill>
                <a:latin typeface="Times New Roman" panose="02020603050405020304" pitchFamily="18" charset="0"/>
              </a:rPr>
              <a:t>方法名</a:t>
            </a:r>
            <a:r>
              <a:rPr lang="zh-CN" altLang="en-GB" sz="2400" dirty="0">
                <a:latin typeface="Times New Roman" panose="02020603050405020304" pitchFamily="18" charset="0"/>
              </a:rPr>
              <a:t>([</a:t>
            </a:r>
            <a:r>
              <a:rPr lang="zh-CN" altLang="en-GB" sz="2400" dirty="0">
                <a:solidFill>
                  <a:srgbClr val="C00000"/>
                </a:solidFill>
                <a:highlight>
                  <a:srgbClr val="FFFF00"/>
                </a:highlight>
                <a:latin typeface="Times New Roman" panose="02020603050405020304" pitchFamily="18" charset="0"/>
              </a:rPr>
              <a:t>参数列表</a:t>
            </a:r>
            <a:r>
              <a:rPr lang="en-GB" altLang="zh-CN" sz="2400" dirty="0">
                <a:latin typeface="Times New Roman" panose="02020603050405020304" pitchFamily="18" charset="0"/>
              </a:rPr>
              <a:t>]) [</a:t>
            </a:r>
            <a:r>
              <a:rPr lang="en-GB" altLang="zh-CN" sz="2400" dirty="0">
                <a:solidFill>
                  <a:srgbClr val="00B050"/>
                </a:solidFill>
                <a:highlight>
                  <a:srgbClr val="FFFF00"/>
                </a:highlight>
                <a:latin typeface="Times New Roman" panose="02020603050405020304" pitchFamily="18" charset="0"/>
              </a:rPr>
              <a:t>throws </a:t>
            </a:r>
            <a:r>
              <a:rPr lang="en-GB" altLang="zh-CN" sz="2400" dirty="0" err="1">
                <a:solidFill>
                  <a:srgbClr val="00B050"/>
                </a:solidFill>
                <a:highlight>
                  <a:srgbClr val="FFFF00"/>
                </a:highlight>
                <a:latin typeface="Times New Roman" panose="02020603050405020304" pitchFamily="18" charset="0"/>
              </a:rPr>
              <a:t>exceptionList</a:t>
            </a:r>
            <a:r>
              <a:rPr lang="en-GB" altLang="zh-CN" sz="2400" dirty="0">
                <a:latin typeface="Times New Roman" panose="02020603050405020304" pitchFamily="18" charset="0"/>
              </a:rPr>
              <a:t>]</a:t>
            </a:r>
            <a:endParaRPr lang="en-GB" altLang="zh-CN" sz="2400" dirty="0">
              <a:latin typeface="Times New Roman" panose="02020603050405020304" pitchFamily="18" charset="0"/>
            </a:endParaRPr>
          </a:p>
          <a:p>
            <a:pPr eaLnBrk="1" hangingPunct="1">
              <a:lnSpc>
                <a:spcPct val="130000"/>
              </a:lnSpc>
              <a:buFont typeface="Georgia" panose="02040502050405020303" pitchFamily="18" charset="0"/>
              <a:buNone/>
            </a:pPr>
            <a:r>
              <a:rPr lang="en-GB" altLang="zh-CN" sz="2400" dirty="0">
                <a:latin typeface="Times New Roman" panose="02020603050405020304" pitchFamily="18" charset="0"/>
              </a:rPr>
              <a:t>{</a:t>
            </a:r>
            <a:endParaRPr lang="en-GB" altLang="zh-CN" sz="2400" dirty="0">
              <a:latin typeface="Times New Roman" panose="02020603050405020304" pitchFamily="18" charset="0"/>
            </a:endParaRPr>
          </a:p>
          <a:p>
            <a:pPr eaLnBrk="1" hangingPunct="1">
              <a:lnSpc>
                <a:spcPct val="130000"/>
              </a:lnSpc>
              <a:buFont typeface="Georgia" panose="02040502050405020303" pitchFamily="18" charset="0"/>
              <a:buNone/>
            </a:pPr>
            <a:r>
              <a:rPr lang="en-GB" altLang="zh-CN" sz="2400" dirty="0">
                <a:latin typeface="Times New Roman" panose="02020603050405020304" pitchFamily="18" charset="0"/>
              </a:rPr>
              <a:t>	</a:t>
            </a:r>
            <a:r>
              <a:rPr lang="zh-CN" altLang="en-GB" sz="2400" dirty="0">
                <a:latin typeface="Times New Roman" panose="02020603050405020304" pitchFamily="18" charset="0"/>
              </a:rPr>
              <a:t>方法体</a:t>
            </a:r>
            <a:endParaRPr lang="zh-CN" altLang="en-GB" sz="2400" dirty="0">
              <a:latin typeface="Times New Roman" panose="02020603050405020304" pitchFamily="18" charset="0"/>
            </a:endParaRPr>
          </a:p>
          <a:p>
            <a:pPr eaLnBrk="1" hangingPunct="1">
              <a:lnSpc>
                <a:spcPct val="130000"/>
              </a:lnSpc>
              <a:buFont typeface="Georgia" panose="02040502050405020303" pitchFamily="18" charset="0"/>
              <a:buNone/>
            </a:pPr>
            <a:r>
              <a:rPr lang="zh-CN" altLang="en-GB" sz="2400" dirty="0">
                <a:latin typeface="Times New Roman" panose="02020603050405020304" pitchFamily="18" charset="0"/>
              </a:rPr>
              <a:t>}</a:t>
            </a:r>
            <a:endParaRPr lang="zh-CN" altLang="en-US" sz="2400" dirty="0">
              <a:latin typeface="Times New Roman" panose="02020603050405020304" pitchFamily="18" charset="0"/>
            </a:endParaRPr>
          </a:p>
        </p:txBody>
      </p:sp>
      <p:sp>
        <p:nvSpPr>
          <p:cNvPr id="6144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DBFAF21-7511-4422-95C5-EDD23D0E39F4}"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65588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方法成员</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idx="4294967295"/>
          </p:nvPr>
        </p:nvSpPr>
        <p:spPr>
          <a:xfrm>
            <a:off x="911424" y="1700808"/>
            <a:ext cx="10972800" cy="4496323"/>
          </a:xfrm>
        </p:spPr>
        <p:txBody>
          <a:bodyPr vert="horz" wrap="square" lIns="92075" tIns="46038" rIns="92075" bIns="46038" numCol="1" anchor="t" anchorCtr="0" compatLnSpc="1"/>
          <a:lstStyle/>
          <a:p>
            <a:pPr marL="457200" lvl="1" indent="-457200" eaLnBrk="1" hangingPunct="1">
              <a:lnSpc>
                <a:spcPct val="80000"/>
              </a:lnSpc>
              <a:buClr>
                <a:schemeClr val="tx1"/>
              </a:buClr>
              <a:buFont typeface="Wingdings" panose="05000000000000000000" pitchFamily="2" charset="2"/>
              <a:buChar char="Ø"/>
            </a:pPr>
            <a:r>
              <a:rPr lang="zh-CN" altLang="en-US" sz="2800" b="1" dirty="0">
                <a:solidFill>
                  <a:srgbClr val="FF3399"/>
                </a:solidFill>
                <a:latin typeface="Times New Roman" panose="02020603050405020304" pitchFamily="18" charset="0"/>
              </a:rPr>
              <a:t>返回类型</a:t>
            </a:r>
            <a:endParaRPr lang="zh-CN" altLang="en-US" sz="2800" b="1" dirty="0">
              <a:solidFill>
                <a:srgbClr val="FF3399"/>
              </a:solidFill>
              <a:latin typeface="Times New Roman" panose="02020603050405020304" pitchFamily="18" charset="0"/>
            </a:endParaRPr>
          </a:p>
          <a:p>
            <a:pPr marL="1371600" lvl="2" indent="-457200" eaLnBrk="1" hangingPunct="1">
              <a:lnSpc>
                <a:spcPct val="80000"/>
              </a:lnSpc>
              <a:buFont typeface="+mj-ea"/>
              <a:buAutoNum type="circleNumDbPlain"/>
            </a:pPr>
            <a:r>
              <a:rPr lang="zh-CN" altLang="en-US" b="1" dirty="0">
                <a:latin typeface="Times New Roman" panose="02020603050405020304" pitchFamily="18" charset="0"/>
              </a:rPr>
              <a:t>方法返回值的类型，可以是任意的</a:t>
            </a:r>
            <a:r>
              <a:rPr lang="en-US" altLang="zh-CN" b="1" dirty="0">
                <a:latin typeface="Times New Roman" panose="02020603050405020304" pitchFamily="18" charset="0"/>
              </a:rPr>
              <a:t>Java</a:t>
            </a:r>
            <a:r>
              <a:rPr lang="zh-CN" altLang="en-US" b="1" dirty="0">
                <a:latin typeface="Times New Roman" panose="02020603050405020304" pitchFamily="18" charset="0"/>
              </a:rPr>
              <a:t>数据类型；</a:t>
            </a:r>
            <a:endParaRPr lang="zh-CN" altLang="en-US" b="1" dirty="0">
              <a:latin typeface="Times New Roman" panose="02020603050405020304" pitchFamily="18" charset="0"/>
            </a:endParaRPr>
          </a:p>
          <a:p>
            <a:pPr marL="1371600" lvl="2" indent="-457200" eaLnBrk="1" hangingPunct="1">
              <a:lnSpc>
                <a:spcPct val="80000"/>
              </a:lnSpc>
              <a:buFont typeface="+mj-ea"/>
              <a:buAutoNum type="circleNumDbPlain"/>
            </a:pPr>
            <a:r>
              <a:rPr lang="zh-CN" altLang="en-US" b="1" dirty="0">
                <a:latin typeface="Times New Roman" panose="02020603050405020304" pitchFamily="18" charset="0"/>
              </a:rPr>
              <a:t>当不需要返回值时，返回类型为</a:t>
            </a:r>
            <a:r>
              <a:rPr lang="en-US" altLang="zh-CN" b="1" dirty="0">
                <a:latin typeface="Times New Roman" panose="02020603050405020304" pitchFamily="18" charset="0"/>
              </a:rPr>
              <a:t>void</a:t>
            </a:r>
            <a:r>
              <a:rPr lang="zh-CN" altLang="en-US" b="1" dirty="0">
                <a:latin typeface="Times New Roman" panose="02020603050405020304" pitchFamily="18" charset="0"/>
              </a:rPr>
              <a:t>。</a:t>
            </a:r>
            <a:endParaRPr lang="en-US" altLang="zh-CN" b="1" dirty="0">
              <a:latin typeface="Times New Roman" panose="02020603050405020304" pitchFamily="18" charset="0"/>
            </a:endParaRPr>
          </a:p>
          <a:p>
            <a:pPr marL="457200" lvl="1" indent="-457200" eaLnBrk="1" hangingPunct="1">
              <a:lnSpc>
                <a:spcPct val="80000"/>
              </a:lnSpc>
              <a:buClr>
                <a:schemeClr val="tx1"/>
              </a:buClr>
              <a:buFont typeface="Wingdings" panose="05000000000000000000" pitchFamily="2" charset="2"/>
              <a:buChar char="Ø"/>
            </a:pPr>
            <a:r>
              <a:rPr lang="zh-CN" altLang="en-US" sz="2800" b="1" dirty="0">
                <a:solidFill>
                  <a:srgbClr val="FF3399"/>
                </a:solidFill>
                <a:latin typeface="Times New Roman" panose="02020603050405020304" pitchFamily="18" charset="0"/>
              </a:rPr>
              <a:t>参数类型</a:t>
            </a:r>
            <a:endParaRPr lang="zh-CN" altLang="en-US" sz="2800" b="1" dirty="0">
              <a:solidFill>
                <a:srgbClr val="FF3399"/>
              </a:solidFill>
              <a:latin typeface="Times New Roman" panose="02020603050405020304" pitchFamily="18" charset="0"/>
            </a:endParaRPr>
          </a:p>
          <a:p>
            <a:pPr marL="1371600" lvl="2" indent="-457200" eaLnBrk="1" hangingPunct="1">
              <a:lnSpc>
                <a:spcPct val="80000"/>
              </a:lnSpc>
              <a:buFont typeface="+mj-ea"/>
              <a:buAutoNum type="circleNumDbPlain"/>
            </a:pPr>
            <a:r>
              <a:rPr lang="zh-CN" altLang="en-US" b="1" dirty="0">
                <a:latin typeface="Times New Roman" panose="02020603050405020304" pitchFamily="18" charset="0"/>
              </a:rPr>
              <a:t>简单数据类型、引用类型(数组、类或接口)；</a:t>
            </a:r>
            <a:endParaRPr lang="zh-CN" altLang="en-US" b="1" dirty="0">
              <a:latin typeface="Times New Roman" panose="02020603050405020304" pitchFamily="18" charset="0"/>
            </a:endParaRPr>
          </a:p>
          <a:p>
            <a:pPr marL="1371600" lvl="2" indent="-457200" eaLnBrk="1" hangingPunct="1">
              <a:lnSpc>
                <a:spcPct val="80000"/>
              </a:lnSpc>
              <a:buFont typeface="+mj-ea"/>
              <a:buAutoNum type="circleNumDbPlain"/>
            </a:pPr>
            <a:r>
              <a:rPr lang="zh-CN" altLang="en-US" b="1" dirty="0">
                <a:latin typeface="Times New Roman" panose="02020603050405020304" pitchFamily="18" charset="0"/>
              </a:rPr>
              <a:t>可以有多个参数，也可以没有参数，方法声明时的参数称为形式参数。</a:t>
            </a:r>
            <a:endParaRPr lang="zh-CN" altLang="en-US" b="1" dirty="0">
              <a:latin typeface="Times New Roman" panose="02020603050405020304" pitchFamily="18" charset="0"/>
            </a:endParaRPr>
          </a:p>
          <a:p>
            <a:pPr marL="457200" lvl="1" indent="-457200" eaLnBrk="1" hangingPunct="1">
              <a:lnSpc>
                <a:spcPct val="80000"/>
              </a:lnSpc>
              <a:buClr>
                <a:schemeClr val="tx1"/>
              </a:buClr>
              <a:buFont typeface="Wingdings" panose="05000000000000000000" pitchFamily="2" charset="2"/>
              <a:buChar char="Ø"/>
            </a:pPr>
            <a:r>
              <a:rPr lang="zh-CN" altLang="en-US" sz="2800" b="1" dirty="0">
                <a:solidFill>
                  <a:srgbClr val="FF3399"/>
                </a:solidFill>
                <a:latin typeface="Times New Roman" panose="02020603050405020304" pitchFamily="18" charset="0"/>
              </a:rPr>
              <a:t>方法体</a:t>
            </a:r>
            <a:endParaRPr lang="zh-CN" altLang="en-US" sz="2800" b="1" dirty="0">
              <a:solidFill>
                <a:srgbClr val="FF3399"/>
              </a:solidFill>
              <a:latin typeface="Times New Roman" panose="02020603050405020304" pitchFamily="18" charset="0"/>
            </a:endParaRPr>
          </a:p>
          <a:p>
            <a:pPr marL="1371600" lvl="2" indent="-457200" eaLnBrk="1" hangingPunct="1">
              <a:lnSpc>
                <a:spcPct val="80000"/>
              </a:lnSpc>
              <a:buFont typeface="+mj-ea"/>
              <a:buAutoNum type="circleNumDbPlain"/>
            </a:pPr>
            <a:r>
              <a:rPr lang="zh-CN" altLang="en-US" b="1" dirty="0">
                <a:latin typeface="Times New Roman" panose="02020603050405020304" pitchFamily="18" charset="0"/>
              </a:rPr>
              <a:t>方法的实现；</a:t>
            </a:r>
            <a:endParaRPr lang="zh-CN" altLang="en-US" b="1" dirty="0">
              <a:latin typeface="Times New Roman" panose="02020603050405020304" pitchFamily="18" charset="0"/>
            </a:endParaRPr>
          </a:p>
          <a:p>
            <a:pPr marL="1371600" lvl="2" indent="-457200" eaLnBrk="1" hangingPunct="1">
              <a:lnSpc>
                <a:spcPct val="80000"/>
              </a:lnSpc>
              <a:buFont typeface="+mj-ea"/>
              <a:buAutoNum type="circleNumDbPlain"/>
            </a:pPr>
            <a:r>
              <a:rPr lang="zh-CN" altLang="en-US" b="1" dirty="0">
                <a:latin typeface="Times New Roman" panose="02020603050405020304" pitchFamily="18" charset="0"/>
              </a:rPr>
              <a:t>包括局部变量的声明以及所有合法的</a:t>
            </a:r>
            <a:r>
              <a:rPr lang="en-US" altLang="zh-CN" b="1" dirty="0">
                <a:latin typeface="Times New Roman" panose="02020603050405020304" pitchFamily="18" charset="0"/>
              </a:rPr>
              <a:t>Java</a:t>
            </a:r>
            <a:r>
              <a:rPr lang="zh-CN" altLang="en-US" b="1" dirty="0">
                <a:latin typeface="Times New Roman" panose="02020603050405020304" pitchFamily="18" charset="0"/>
              </a:rPr>
              <a:t>语句；</a:t>
            </a:r>
            <a:endParaRPr lang="zh-CN" altLang="en-US" b="1" dirty="0">
              <a:latin typeface="Times New Roman" panose="02020603050405020304" pitchFamily="18" charset="0"/>
            </a:endParaRPr>
          </a:p>
          <a:p>
            <a:pPr marL="1371600" lvl="2" indent="-457200" eaLnBrk="1" hangingPunct="1">
              <a:lnSpc>
                <a:spcPct val="80000"/>
              </a:lnSpc>
              <a:buFont typeface="+mj-ea"/>
              <a:buAutoNum type="circleNumDbPlain"/>
            </a:pPr>
            <a:r>
              <a:rPr lang="zh-CN" altLang="en-US" b="1" dirty="0">
                <a:latin typeface="Times New Roman" panose="02020603050405020304" pitchFamily="18" charset="0"/>
              </a:rPr>
              <a:t>局部变量的作用域只在该方法内部。</a:t>
            </a:r>
            <a:endParaRPr lang="zh-CN" altLang="en-US" b="1" dirty="0">
              <a:latin typeface="Times New Roman" panose="02020603050405020304" pitchFamily="18" charset="0"/>
            </a:endParaRPr>
          </a:p>
          <a:p>
            <a:pPr marL="457200" lvl="1" indent="-457200" eaLnBrk="1" hangingPunct="1">
              <a:lnSpc>
                <a:spcPct val="80000"/>
              </a:lnSpc>
              <a:buClr>
                <a:schemeClr val="tx1"/>
              </a:buClr>
              <a:buFont typeface="Wingdings" panose="05000000000000000000" pitchFamily="2" charset="2"/>
              <a:buChar char="Ø"/>
            </a:pPr>
            <a:r>
              <a:rPr lang="en-US" altLang="zh-CN" sz="2800" b="1" dirty="0">
                <a:solidFill>
                  <a:srgbClr val="FF3399"/>
                </a:solidFill>
                <a:latin typeface="Times New Roman" panose="02020603050405020304" pitchFamily="18" charset="0"/>
              </a:rPr>
              <a:t>throws </a:t>
            </a:r>
            <a:r>
              <a:rPr lang="en-US" altLang="zh-CN" sz="2800" b="1" dirty="0" err="1">
                <a:solidFill>
                  <a:srgbClr val="FF3399"/>
                </a:solidFill>
                <a:latin typeface="Times New Roman" panose="02020603050405020304" pitchFamily="18" charset="0"/>
              </a:rPr>
              <a:t>exceptionList</a:t>
            </a:r>
            <a:r>
              <a:rPr lang="en-US" altLang="zh-CN" sz="2800" b="1" dirty="0">
                <a:solidFill>
                  <a:srgbClr val="FF3399"/>
                </a:solidFill>
                <a:latin typeface="Times New Roman" panose="02020603050405020304" pitchFamily="18" charset="0"/>
              </a:rPr>
              <a:t> </a:t>
            </a:r>
            <a:r>
              <a:rPr lang="zh-CN" altLang="en-US" b="1" dirty="0">
                <a:latin typeface="Times New Roman" panose="02020603050405020304" pitchFamily="18" charset="0"/>
              </a:rPr>
              <a:t>抛出异常列表。</a:t>
            </a:r>
            <a:endParaRPr lang="zh-CN" altLang="en-US" b="1" dirty="0">
              <a:latin typeface="Times New Roman" panose="02020603050405020304" pitchFamily="18" charset="0"/>
            </a:endParaRPr>
          </a:p>
        </p:txBody>
      </p:sp>
      <p:sp>
        <p:nvSpPr>
          <p:cNvPr id="6451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1085AB12-8C8E-4F21-A289-3FFF9F37217D}"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65588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方法成员</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4294967295"/>
          </p:nvPr>
        </p:nvSpPr>
        <p:spPr>
          <a:xfrm>
            <a:off x="1343472" y="1628800"/>
            <a:ext cx="5342384" cy="1180728"/>
          </a:xfrm>
        </p:spPr>
        <p:txBody>
          <a:bodyPr vert="horz" wrap="square" lIns="92075" tIns="46038" rIns="92075" bIns="46038" numCol="1" anchor="t" anchorCtr="0" compatLnSpc="1">
            <a:noAutofit/>
          </a:bodyPr>
          <a:lstStyle/>
          <a:p>
            <a:pPr eaLnBrk="1" hangingPunct="1">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表示特定对象的行为；</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声明时前面不加</a:t>
            </a:r>
            <a:r>
              <a:rPr lang="en-US" altLang="zh-CN" sz="2700" b="1" dirty="0">
                <a:latin typeface="Times New Roman" panose="02020603050405020304" pitchFamily="18" charset="0"/>
              </a:rPr>
              <a:t>static</a:t>
            </a:r>
            <a:r>
              <a:rPr lang="zh-CN" altLang="en-US" sz="2700" b="1" dirty="0">
                <a:latin typeface="Times New Roman" panose="02020603050405020304" pitchFamily="18" charset="0"/>
              </a:rPr>
              <a:t>修饰符；</a:t>
            </a:r>
            <a:endParaRPr lang="zh-CN" altLang="en-US" sz="2700" b="1" dirty="0">
              <a:latin typeface="Times New Roman" panose="02020603050405020304" pitchFamily="18" charset="0"/>
            </a:endParaRPr>
          </a:p>
        </p:txBody>
      </p:sp>
      <p:sp>
        <p:nvSpPr>
          <p:cNvPr id="6656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3BFBF21-1FE1-4AAE-8F8F-BEACFB693A4E}"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983432" y="1686508"/>
            <a:ext cx="10657184" cy="4118756"/>
          </a:xfrm>
        </p:spPr>
        <p:txBody>
          <a:bodyPr>
            <a:noAutofit/>
          </a:bodyPr>
          <a:lstStyle/>
          <a:p>
            <a:pPr marL="365125" lvl="1" indent="-365125">
              <a:lnSpc>
                <a:spcPct val="150000"/>
              </a:lnSpc>
              <a:spcBef>
                <a:spcPts val="0"/>
              </a:spcBef>
              <a:buClr>
                <a:schemeClr val="tx1"/>
              </a:buClr>
              <a:buFont typeface="Wingdings" panose="05000000000000000000" pitchFamily="2" charset="2"/>
              <a:buChar char="Ø"/>
            </a:pPr>
            <a:r>
              <a:rPr lang="zh-CN" altLang="en-US" sz="2700" b="1" dirty="0">
                <a:solidFill>
                  <a:schemeClr val="tx1"/>
                </a:solidFill>
                <a:latin typeface="Times New Roman" panose="02020603050405020304" pitchFamily="18" charset="0"/>
              </a:rPr>
              <a:t>给对象发消息，使用对象的某个行为</a:t>
            </a:r>
            <a:r>
              <a:rPr lang="en-US" altLang="zh-CN" sz="2700" b="1" dirty="0">
                <a:solidFill>
                  <a:schemeClr val="tx1"/>
                </a:solidFill>
                <a:latin typeface="Times New Roman" panose="02020603050405020304" pitchFamily="18" charset="0"/>
              </a:rPr>
              <a:t>/</a:t>
            </a:r>
            <a:r>
              <a:rPr lang="zh-CN" altLang="en-US" sz="2700" b="1" dirty="0">
                <a:solidFill>
                  <a:schemeClr val="tx1"/>
                </a:solidFill>
                <a:latin typeface="Times New Roman" panose="02020603050405020304" pitchFamily="18" charset="0"/>
              </a:rPr>
              <a:t>功能：调用对象的某个方法。</a:t>
            </a:r>
            <a:endParaRPr lang="en-US" altLang="zh-CN" sz="2700" b="1" dirty="0">
              <a:solidFill>
                <a:schemeClr val="tx1"/>
              </a:solidFill>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实例方法调用格式</a:t>
            </a:r>
            <a:endParaRPr lang="zh-CN" altLang="en-US" sz="2700" b="1" dirty="0">
              <a:latin typeface="Times New Roman" panose="02020603050405020304" pitchFamily="18" charset="0"/>
            </a:endParaRPr>
          </a:p>
          <a:p>
            <a:pPr lvl="1">
              <a:lnSpc>
                <a:spcPct val="150000"/>
              </a:lnSpc>
              <a:spcBef>
                <a:spcPts val="0"/>
              </a:spcBef>
              <a:buFont typeface="Wingdings 2" panose="05020102010507070707" pitchFamily="18" charset="2"/>
              <a:buNone/>
            </a:pPr>
            <a:r>
              <a:rPr lang="zh-CN" altLang="en-US" sz="2700" b="1" dirty="0">
                <a:latin typeface="Times New Roman" panose="02020603050405020304" pitchFamily="18" charset="0"/>
              </a:rPr>
              <a:t>   </a:t>
            </a:r>
            <a:r>
              <a:rPr lang="zh-CN" altLang="en-US" sz="2700" b="1" dirty="0">
                <a:solidFill>
                  <a:srgbClr val="FF3399"/>
                </a:solidFill>
                <a:latin typeface="Times New Roman" panose="02020603050405020304" pitchFamily="18" charset="0"/>
              </a:rPr>
              <a:t>&lt;对象名&gt;.&lt;方法名&gt;（［参数列表］）</a:t>
            </a:r>
            <a:endParaRPr lang="zh-CN" altLang="en-US" sz="2700" b="1" dirty="0">
              <a:solidFill>
                <a:srgbClr val="FF3399"/>
              </a:solidFill>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参数传递</a:t>
            </a:r>
            <a:endParaRPr lang="zh-CN" altLang="en-US" sz="2700" b="1" dirty="0">
              <a:latin typeface="Times New Roman" panose="02020603050405020304" pitchFamily="18" charset="0"/>
            </a:endParaRPr>
          </a:p>
          <a:p>
            <a:pPr lvl="1">
              <a:lnSpc>
                <a:spcPct val="150000"/>
              </a:lnSpc>
              <a:spcBef>
                <a:spcPts val="0"/>
              </a:spcBef>
              <a:buClr>
                <a:schemeClr val="tx1"/>
              </a:buClr>
            </a:pPr>
            <a:r>
              <a:rPr lang="zh-CN" altLang="en-US" sz="2700" b="1" dirty="0">
                <a:solidFill>
                  <a:srgbClr val="FF3399"/>
                </a:solidFill>
                <a:latin typeface="Times New Roman" panose="02020603050405020304" pitchFamily="18" charset="0"/>
              </a:rPr>
              <a:t>值传递</a:t>
            </a:r>
            <a:r>
              <a:rPr lang="zh-CN" altLang="en-US" sz="2700" b="1" dirty="0">
                <a:latin typeface="Times New Roman" panose="02020603050405020304" pitchFamily="18" charset="0"/>
              </a:rPr>
              <a:t>：参数类型为基本数据类型时</a:t>
            </a:r>
            <a:endParaRPr lang="zh-CN" altLang="en-US" sz="2700" b="1" dirty="0">
              <a:latin typeface="Times New Roman" panose="02020603050405020304" pitchFamily="18" charset="0"/>
            </a:endParaRPr>
          </a:p>
          <a:p>
            <a:pPr lvl="1">
              <a:lnSpc>
                <a:spcPct val="150000"/>
              </a:lnSpc>
              <a:spcBef>
                <a:spcPts val="0"/>
              </a:spcBef>
              <a:buClr>
                <a:schemeClr val="tx1"/>
              </a:buClr>
            </a:pPr>
            <a:r>
              <a:rPr lang="zh-CN" altLang="en-US" sz="2700" b="1" dirty="0">
                <a:solidFill>
                  <a:srgbClr val="FF3399"/>
                </a:solidFill>
                <a:latin typeface="Times New Roman" panose="02020603050405020304" pitchFamily="18" charset="0"/>
              </a:rPr>
              <a:t>引用传递</a:t>
            </a:r>
            <a:r>
              <a:rPr lang="zh-CN" altLang="en-US" sz="2700" b="1" dirty="0">
                <a:latin typeface="Times New Roman" panose="02020603050405020304" pitchFamily="18" charset="0"/>
              </a:rPr>
              <a:t>：参数类型为对象类型或数组时</a:t>
            </a:r>
            <a:endParaRPr lang="zh-CN" altLang="en-US" sz="2700"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1C500230-17C9-4CEC-B67E-B7DB8DE07B61}" type="slidenum">
              <a:rPr lang="en-US" altLang="zh-CN" smtClean="0">
                <a:latin typeface="Times New Roman" panose="02020603050405020304" pitchFamily="18" charset="0"/>
              </a:rPr>
            </a:fld>
            <a:endParaRPr lang="en-US" altLang="zh-CN">
              <a:latin typeface="Times New Roman" panose="02020603050405020304" pitchFamily="18" charset="0"/>
            </a:endParaRPr>
          </a:p>
        </p:txBody>
      </p:sp>
      <p:sp>
        <p:nvSpPr>
          <p:cNvPr id="5" name="文本框 4"/>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实例方法调用</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4294967295"/>
          </p:nvPr>
        </p:nvSpPr>
        <p:spPr>
          <a:xfrm>
            <a:off x="1631504" y="1701096"/>
            <a:ext cx="6552728" cy="3528104"/>
          </a:xfrm>
        </p:spPr>
        <p:txBody>
          <a:bodyPr>
            <a:normAutofit/>
          </a:bodyPr>
          <a:lstStyle/>
          <a:p>
            <a:pPr marL="0" indent="0">
              <a:buNone/>
            </a:pPr>
            <a:r>
              <a:rPr lang="en-US" altLang="zh-CN" sz="2500" dirty="0">
                <a:latin typeface="Times New Roman" panose="02020603050405020304" pitchFamily="18" charset="0"/>
              </a:rPr>
              <a:t>public class Circle {</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    </a:t>
            </a:r>
            <a:r>
              <a:rPr lang="en-US" altLang="zh-CN" sz="2500" dirty="0">
                <a:solidFill>
                  <a:srgbClr val="FF3399"/>
                </a:solidFill>
                <a:highlight>
                  <a:srgbClr val="FFFF00"/>
                </a:highlight>
                <a:latin typeface="Times New Roman" panose="02020603050405020304" pitchFamily="18" charset="0"/>
              </a:rPr>
              <a:t>static</a:t>
            </a:r>
            <a:r>
              <a:rPr lang="en-US" altLang="zh-CN" sz="2500" dirty="0">
                <a:latin typeface="Times New Roman" panose="02020603050405020304" pitchFamily="18" charset="0"/>
              </a:rPr>
              <a:t> double PI = 3.14159265;</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    int radius;</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    public </a:t>
            </a:r>
            <a:r>
              <a:rPr lang="en-US" altLang="zh-CN" sz="2500" dirty="0">
                <a:solidFill>
                  <a:srgbClr val="FF0000"/>
                </a:solidFill>
                <a:highlight>
                  <a:srgbClr val="FFFF00"/>
                </a:highlight>
                <a:latin typeface="Times New Roman" panose="02020603050405020304" pitchFamily="18" charset="0"/>
              </a:rPr>
              <a:t>double</a:t>
            </a:r>
            <a:r>
              <a:rPr lang="en-US" altLang="zh-CN" sz="2500" dirty="0">
                <a:latin typeface="Times New Roman" panose="02020603050405020304" pitchFamily="18" charset="0"/>
              </a:rPr>
              <a:t> </a:t>
            </a:r>
            <a:r>
              <a:rPr lang="en-US" altLang="zh-CN" sz="2500" dirty="0">
                <a:solidFill>
                  <a:srgbClr val="FF3399"/>
                </a:solidFill>
                <a:latin typeface="Times New Roman" panose="02020603050405020304" pitchFamily="18" charset="0"/>
              </a:rPr>
              <a:t>circumference</a:t>
            </a: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        return 2 * PI * radius;</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p:txBody>
      </p:sp>
      <p:sp>
        <p:nvSpPr>
          <p:cNvPr id="4" name="文本框 3"/>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实例方法调用</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3"/>
          <p:cNvSpPr>
            <a:spLocks noGrp="1" noChangeArrowheads="1"/>
          </p:cNvSpPr>
          <p:nvPr>
            <p:ph idx="4294967295"/>
          </p:nvPr>
        </p:nvSpPr>
        <p:spPr>
          <a:xfrm>
            <a:off x="839416" y="1652859"/>
            <a:ext cx="10972800" cy="4104456"/>
          </a:xfrm>
        </p:spPr>
        <p:txBody>
          <a:bodyPr>
            <a:normAutofit fontScale="70000" lnSpcReduction="20000"/>
          </a:bodyPr>
          <a:lstStyle/>
          <a:p>
            <a:pPr marL="0" indent="0">
              <a:buNone/>
            </a:pPr>
            <a:r>
              <a:rPr lang="en-US" altLang="zh-CN" dirty="0">
                <a:latin typeface="Times New Roman" panose="02020603050405020304" pitchFamily="18" charset="0"/>
              </a:rPr>
              <a:t>public class </a:t>
            </a:r>
            <a:r>
              <a:rPr lang="en-US" altLang="zh-CN" dirty="0" err="1">
                <a:latin typeface="Times New Roman" panose="02020603050405020304" pitchFamily="18" charset="0"/>
              </a:rPr>
              <a:t>CircumferenceTester</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public </a:t>
            </a:r>
            <a:r>
              <a:rPr lang="en-US" altLang="zh-CN" dirty="0">
                <a:solidFill>
                  <a:srgbClr val="FF3399"/>
                </a:solidFill>
                <a:highlight>
                  <a:srgbClr val="FFFF00"/>
                </a:highlight>
                <a:latin typeface="Times New Roman" panose="02020603050405020304" pitchFamily="18" charset="0"/>
              </a:rPr>
              <a:t>static</a:t>
            </a:r>
            <a:r>
              <a:rPr lang="en-US" altLang="zh-CN" dirty="0">
                <a:latin typeface="Times New Roman" panose="02020603050405020304" pitchFamily="18" charset="0"/>
              </a:rPr>
              <a:t> void main(String[] </a:t>
            </a:r>
            <a:r>
              <a:rPr lang="en-US" altLang="zh-CN" dirty="0" err="1">
                <a:latin typeface="Times New Roman" panose="02020603050405020304" pitchFamily="18" charset="0"/>
              </a:rPr>
              <a:t>args</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Circle c1 = new Circle();</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c1.radius = 50;</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Circle c2 = new Circle();</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c2.radius = 10;</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double circumference1 =</a:t>
            </a:r>
            <a:r>
              <a:rPr lang="en-US" altLang="zh-CN" dirty="0">
                <a:highlight>
                  <a:srgbClr val="FFFF00"/>
                </a:highlight>
                <a:latin typeface="Times New Roman" panose="02020603050405020304" pitchFamily="18" charset="0"/>
              </a:rPr>
              <a:t> </a:t>
            </a:r>
            <a:r>
              <a:rPr lang="en-US" altLang="zh-CN" dirty="0">
                <a:solidFill>
                  <a:srgbClr val="FF0000"/>
                </a:solidFill>
                <a:highlight>
                  <a:srgbClr val="FFFF00"/>
                </a:highlight>
                <a:latin typeface="Times New Roman" panose="02020603050405020304" pitchFamily="18" charset="0"/>
              </a:rPr>
              <a:t>c1.circumference();</a:t>
            </a:r>
            <a:endParaRPr lang="en-US" altLang="zh-CN" dirty="0">
              <a:solidFill>
                <a:srgbClr val="FF0000"/>
              </a:solidFill>
              <a:highlight>
                <a:srgbClr val="FFFF00"/>
              </a:highlight>
              <a:latin typeface="Times New Roman" panose="02020603050405020304" pitchFamily="18" charset="0"/>
            </a:endParaRPr>
          </a:p>
          <a:p>
            <a:pPr marL="0" indent="0">
              <a:buNone/>
            </a:pPr>
            <a:r>
              <a:rPr lang="en-US" altLang="zh-CN" dirty="0">
                <a:latin typeface="Times New Roman" panose="02020603050405020304" pitchFamily="18" charset="0"/>
              </a:rPr>
              <a:t>        double circumference2 = </a:t>
            </a:r>
            <a:r>
              <a:rPr lang="en-US" altLang="zh-CN" dirty="0">
                <a:solidFill>
                  <a:srgbClr val="FF0000"/>
                </a:solidFill>
                <a:highlight>
                  <a:srgbClr val="FFFF00"/>
                </a:highlight>
                <a:latin typeface="Times New Roman" panose="02020603050405020304" pitchFamily="18" charset="0"/>
              </a:rPr>
              <a:t>c2.circumference();</a:t>
            </a:r>
            <a:endParaRPr lang="en-US" altLang="zh-CN" dirty="0">
              <a:solidFill>
                <a:srgbClr val="FF0000"/>
              </a:solidFill>
              <a:highlight>
                <a:srgbClr val="FFFF00"/>
              </a:highlight>
              <a:latin typeface="Times New Roman" panose="02020603050405020304" pitchFamily="18" charset="0"/>
            </a:endParaRPr>
          </a:p>
          <a:p>
            <a:pPr marL="0" indent="0">
              <a:buNone/>
            </a:pPr>
            <a:r>
              <a:rPr lang="en-US" altLang="zh-CN" dirty="0">
                <a:latin typeface="Times New Roman" panose="02020603050405020304" pitchFamily="18" charset="0"/>
              </a:rPr>
              <a:t>        </a:t>
            </a:r>
            <a:r>
              <a:rPr lang="en-US" altLang="zh-CN" dirty="0" err="1">
                <a:latin typeface="Times New Roman" panose="02020603050405020304" pitchFamily="18" charset="0"/>
              </a:rPr>
              <a:t>System.out.println</a:t>
            </a:r>
            <a:r>
              <a:rPr lang="en-US" altLang="zh-CN" dirty="0">
                <a:latin typeface="Times New Roman" panose="02020603050405020304" pitchFamily="18" charset="0"/>
              </a:rPr>
              <a:t>("Circle 1 has circumference " + circumference1);</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a:t>
            </a:r>
            <a:r>
              <a:rPr lang="en-US" altLang="zh-CN" dirty="0" err="1">
                <a:latin typeface="Times New Roman" panose="02020603050405020304" pitchFamily="18" charset="0"/>
              </a:rPr>
              <a:t>System.out.println</a:t>
            </a:r>
            <a:r>
              <a:rPr lang="en-US" altLang="zh-CN" dirty="0">
                <a:latin typeface="Times New Roman" panose="02020603050405020304" pitchFamily="18" charset="0"/>
              </a:rPr>
              <a:t>("Circle 2 has circumference " + circumference2);</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0" indent="0">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p:txBody>
      </p:sp>
      <p:sp>
        <p:nvSpPr>
          <p:cNvPr id="5" name="文本框 4"/>
          <p:cNvSpPr txBox="1"/>
          <p:nvPr/>
        </p:nvSpPr>
        <p:spPr>
          <a:xfrm>
            <a:off x="6359728" y="5517232"/>
            <a:ext cx="4968552" cy="1015663"/>
          </a:xfrm>
          <a:prstGeom prst="rect">
            <a:avLst/>
          </a:prstGeom>
          <a:solidFill>
            <a:schemeClr val="bg1"/>
          </a:solidFill>
        </p:spPr>
        <p:txBody>
          <a:bodyPr wrap="square" rtlCol="0">
            <a:spAutoFit/>
          </a:bodyPr>
          <a:lstStyle/>
          <a:p>
            <a:r>
              <a:rPr lang="zh-CN" altLang="en-US" sz="2000" dirty="0">
                <a:ea typeface="楷体" panose="02010609060101010101" pitchFamily="49" charset="-122"/>
              </a:rPr>
              <a:t>运行结果：</a:t>
            </a:r>
            <a:endParaRPr lang="en-US" altLang="zh-CN" sz="2000" dirty="0">
              <a:ea typeface="楷体" panose="02010609060101010101" pitchFamily="49" charset="-122"/>
            </a:endParaRPr>
          </a:p>
          <a:p>
            <a:r>
              <a:rPr lang="en-US" altLang="zh-CN" sz="2000" dirty="0">
                <a:ea typeface="楷体" panose="02010609060101010101" pitchFamily="49" charset="-122"/>
              </a:rPr>
              <a:t>Circle 1 has circumference 314.159265</a:t>
            </a:r>
            <a:endParaRPr lang="en-US" altLang="zh-CN" sz="2000" dirty="0">
              <a:ea typeface="楷体" panose="02010609060101010101" pitchFamily="49" charset="-122"/>
            </a:endParaRPr>
          </a:p>
          <a:p>
            <a:r>
              <a:rPr lang="en-US" altLang="zh-CN" sz="2000" dirty="0">
                <a:ea typeface="楷体" panose="02010609060101010101" pitchFamily="49" charset="-122"/>
              </a:rPr>
              <a:t>Circle 2 has circumference 62.831853</a:t>
            </a:r>
            <a:endParaRPr lang="en-US" altLang="zh-CN" sz="2000" dirty="0">
              <a:ea typeface="楷体" panose="02010609060101010101" pitchFamily="49" charset="-122"/>
            </a:endParaRPr>
          </a:p>
        </p:txBody>
      </p:sp>
      <p:sp>
        <p:nvSpPr>
          <p:cNvPr id="4" name="文本框 3"/>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实例方法调用</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4294967295"/>
          </p:nvPr>
        </p:nvSpPr>
        <p:spPr>
          <a:xfrm>
            <a:off x="983432" y="1739836"/>
            <a:ext cx="5832648" cy="1872208"/>
          </a:xfrm>
        </p:spPr>
        <p:txBody>
          <a:bodyPr>
            <a:normAutofit/>
          </a:bodyPr>
          <a:lstStyle/>
          <a:p>
            <a:pPr marL="0" indent="0">
              <a:spcBef>
                <a:spcPts val="0"/>
              </a:spcBef>
              <a:buNone/>
            </a:pPr>
            <a:r>
              <a:rPr lang="en-US" altLang="zh-CN" sz="2500" b="1" dirty="0">
                <a:latin typeface="Times New Roman" panose="02020603050405020304" pitchFamily="18" charset="0"/>
              </a:rPr>
              <a:t>//</a:t>
            </a:r>
            <a:r>
              <a:rPr lang="zh-CN" altLang="en-US" sz="2500" b="1" dirty="0">
                <a:latin typeface="Times New Roman" panose="02020603050405020304" pitchFamily="18" charset="0"/>
              </a:rPr>
              <a:t>在</a:t>
            </a:r>
            <a:r>
              <a:rPr lang="en-US" altLang="zh-CN" sz="2500" b="1" dirty="0">
                <a:latin typeface="Times New Roman" panose="02020603050405020304" pitchFamily="18" charset="0"/>
              </a:rPr>
              <a:t>Circle</a:t>
            </a:r>
            <a:r>
              <a:rPr lang="zh-CN" altLang="en-US" sz="2500" b="1" dirty="0">
                <a:latin typeface="Times New Roman" panose="02020603050405020304" pitchFamily="18" charset="0"/>
              </a:rPr>
              <a:t>增加计算面积的方法</a:t>
            </a:r>
            <a:r>
              <a:rPr lang="en-US" altLang="zh-CN" sz="2500" b="1" dirty="0">
                <a:latin typeface="Times New Roman" panose="02020603050405020304" pitchFamily="18" charset="0"/>
              </a:rPr>
              <a:t>area()</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public double area() {</a:t>
            </a:r>
            <a:endParaRPr lang="zh-CN"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return PI * radius * radius;</a:t>
            </a:r>
            <a:endParaRPr lang="zh-CN"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a:t>
            </a:r>
            <a:endParaRPr lang="en-US" altLang="zh-CN" sz="2500" dirty="0">
              <a:latin typeface="Times New Roman" panose="02020603050405020304" pitchFamily="18" charset="0"/>
            </a:endParaRPr>
          </a:p>
        </p:txBody>
      </p:sp>
      <p:sp>
        <p:nvSpPr>
          <p:cNvPr id="4" name="文本框 3"/>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实例方法调用</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3" name="Rectangle 3"/>
          <p:cNvSpPr txBox="1">
            <a:spLocks noChangeArrowheads="1"/>
          </p:cNvSpPr>
          <p:nvPr/>
        </p:nvSpPr>
        <p:spPr>
          <a:xfrm>
            <a:off x="6168008" y="3284984"/>
            <a:ext cx="4947730" cy="3091855"/>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altLang="zh-CN" sz="2500" b="1" dirty="0">
                <a:latin typeface="Times New Roman" panose="02020603050405020304" pitchFamily="18" charset="0"/>
              </a:rPr>
              <a:t>public class Rectangle {</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500" b="1" dirty="0">
                <a:latin typeface="Times New Roman" panose="02020603050405020304" pitchFamily="18" charset="0"/>
              </a:rPr>
              <a:t>        double width;</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500" b="1" dirty="0">
                <a:latin typeface="Times New Roman" panose="02020603050405020304" pitchFamily="18" charset="0"/>
              </a:rPr>
              <a:t>        double height;</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500" b="1" dirty="0">
                <a:latin typeface="Times New Roman" panose="02020603050405020304" pitchFamily="18" charset="0"/>
              </a:rPr>
              <a:t>        public double area() {</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500" b="1" dirty="0">
                <a:latin typeface="Times New Roman" panose="02020603050405020304" pitchFamily="18" charset="0"/>
              </a:rPr>
              <a:t>                return width * height;</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fontAlgn="auto">
              <a:spcAft>
                <a:spcPts val="0"/>
              </a:spcAft>
            </a:pPr>
            <a:endParaRPr lang="en-US" altLang="zh-CN" sz="2200" dirty="0">
              <a:latin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8" name="Rectangle 3"/>
          <p:cNvSpPr>
            <a:spLocks noGrp="1" noChangeArrowheads="1"/>
          </p:cNvSpPr>
          <p:nvPr>
            <p:ph idx="4294967295"/>
          </p:nvPr>
        </p:nvSpPr>
        <p:spPr>
          <a:xfrm>
            <a:off x="695400" y="1546449"/>
            <a:ext cx="8424936" cy="4608512"/>
          </a:xfrm>
        </p:spPr>
        <p:txBody>
          <a:bodyPr vert="horz" wrap="square" lIns="92075" tIns="46038" rIns="92075" bIns="46038" numCol="1" anchor="t" anchorCtr="0" compatLnSpc="1"/>
          <a:lstStyle/>
          <a:p>
            <a:pPr marL="109220" indent="0">
              <a:lnSpc>
                <a:spcPct val="85000"/>
              </a:lnSpc>
              <a:buNone/>
            </a:pPr>
            <a:r>
              <a:rPr lang="en-US" altLang="zh-CN" sz="2200" b="1" dirty="0">
                <a:latin typeface="Times New Roman" panose="02020603050405020304" pitchFamily="18" charset="0"/>
              </a:rPr>
              <a:t>public class </a:t>
            </a:r>
            <a:r>
              <a:rPr lang="en-US" altLang="zh-CN" sz="2200" b="1" dirty="0" err="1">
                <a:latin typeface="Times New Roman" panose="02020603050405020304" pitchFamily="18" charset="0"/>
              </a:rPr>
              <a:t>AreaTester</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public static void main(String[] </a:t>
            </a:r>
            <a:r>
              <a:rPr lang="en-US" altLang="zh-CN" sz="2200" b="1" dirty="0" err="1">
                <a:latin typeface="Times New Roman" panose="02020603050405020304" pitchFamily="18" charset="0"/>
              </a:rPr>
              <a:t>args</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Circle c = new Circle();</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c.radius</a:t>
            </a:r>
            <a:r>
              <a:rPr lang="en-US" altLang="zh-CN" sz="2200" b="1" dirty="0">
                <a:latin typeface="Times New Roman" panose="02020603050405020304" pitchFamily="18" charset="0"/>
              </a:rPr>
              <a:t> = 50;</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Rectangle r = new Rectangle();</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a:t>
            </a:r>
            <a:r>
              <a:rPr lang="en-US" altLang="zh-CN" sz="2200" b="1" dirty="0" err="1">
                <a:solidFill>
                  <a:srgbClr val="FF0000"/>
                </a:solidFill>
                <a:highlight>
                  <a:srgbClr val="FFFF00"/>
                </a:highlight>
                <a:latin typeface="Times New Roman" panose="02020603050405020304" pitchFamily="18" charset="0"/>
              </a:rPr>
              <a:t>r.width</a:t>
            </a:r>
            <a:r>
              <a:rPr lang="en-US" altLang="zh-CN" sz="2200" b="1" dirty="0">
                <a:solidFill>
                  <a:srgbClr val="FF0000"/>
                </a:solidFill>
                <a:highlight>
                  <a:srgbClr val="FFFF00"/>
                </a:highlight>
                <a:latin typeface="Times New Roman" panose="02020603050405020304" pitchFamily="18" charset="0"/>
              </a:rPr>
              <a:t> </a:t>
            </a:r>
            <a:r>
              <a:rPr lang="en-US" altLang="zh-CN" sz="2200" b="1" dirty="0">
                <a:latin typeface="Times New Roman" panose="02020603050405020304" pitchFamily="18" charset="0"/>
              </a:rPr>
              <a:t>= 20;</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r.height</a:t>
            </a:r>
            <a:r>
              <a:rPr lang="en-US" altLang="zh-CN" sz="2200" b="1" dirty="0">
                <a:latin typeface="Times New Roman" panose="02020603050405020304" pitchFamily="18" charset="0"/>
              </a:rPr>
              <a:t> = 30;</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double </a:t>
            </a:r>
            <a:r>
              <a:rPr lang="en-US" altLang="zh-CN" sz="2200" b="1" dirty="0" err="1">
                <a:latin typeface="Times New Roman" panose="02020603050405020304" pitchFamily="18" charset="0"/>
              </a:rPr>
              <a:t>cArea</a:t>
            </a:r>
            <a:r>
              <a:rPr lang="en-US" altLang="zh-CN" sz="2200" b="1" dirty="0">
                <a:latin typeface="Times New Roman" panose="02020603050405020304" pitchFamily="18" charset="0"/>
              </a:rPr>
              <a:t> = </a:t>
            </a:r>
            <a:r>
              <a:rPr lang="en-US" altLang="zh-CN" sz="2200" b="1" dirty="0" err="1">
                <a:solidFill>
                  <a:srgbClr val="FF0000"/>
                </a:solidFill>
                <a:highlight>
                  <a:srgbClr val="FFFF00"/>
                </a:highlight>
                <a:latin typeface="Times New Roman" panose="02020603050405020304" pitchFamily="18" charset="0"/>
              </a:rPr>
              <a:t>c.area</a:t>
            </a:r>
            <a:r>
              <a:rPr lang="en-US" altLang="zh-CN" sz="2200" b="1" dirty="0">
                <a:solidFill>
                  <a:srgbClr val="FF0000"/>
                </a:solidFill>
                <a:highlight>
                  <a:srgbClr val="FFFF00"/>
                </a:highlight>
                <a:latin typeface="Times New Roman" panose="02020603050405020304" pitchFamily="18" charset="0"/>
              </a:rPr>
              <a:t>()</a:t>
            </a: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double </a:t>
            </a:r>
            <a:r>
              <a:rPr lang="en-US" altLang="zh-CN" sz="2200" b="1" dirty="0" err="1">
                <a:latin typeface="Times New Roman" panose="02020603050405020304" pitchFamily="18" charset="0"/>
              </a:rPr>
              <a:t>rArea</a:t>
            </a:r>
            <a:r>
              <a:rPr lang="en-US" altLang="zh-CN" sz="2200" b="1" dirty="0">
                <a:latin typeface="Times New Roman" panose="02020603050405020304" pitchFamily="18" charset="0"/>
              </a:rPr>
              <a:t> = </a:t>
            </a:r>
            <a:r>
              <a:rPr lang="en-US" altLang="zh-CN" sz="2200" b="1" dirty="0" err="1">
                <a:solidFill>
                  <a:srgbClr val="FF0000"/>
                </a:solidFill>
                <a:highlight>
                  <a:srgbClr val="FFFF00"/>
                </a:highlight>
                <a:latin typeface="Times New Roman" panose="02020603050405020304" pitchFamily="18" charset="0"/>
              </a:rPr>
              <a:t>r.area</a:t>
            </a:r>
            <a:r>
              <a:rPr lang="en-US" altLang="zh-CN" sz="2200" b="1" dirty="0">
                <a:solidFill>
                  <a:srgbClr val="FF0000"/>
                </a:solidFill>
                <a:highlight>
                  <a:srgbClr val="FFFF00"/>
                </a:highlight>
                <a:latin typeface="Times New Roman" panose="02020603050405020304" pitchFamily="18" charset="0"/>
              </a:rPr>
              <a:t>();</a:t>
            </a:r>
            <a:endParaRPr lang="en-US" altLang="zh-CN" sz="2200" b="1" dirty="0">
              <a:solidFill>
                <a:srgbClr val="FF0000"/>
              </a:solidFill>
              <a:highlight>
                <a:srgbClr val="FFFF00"/>
              </a:highlight>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("The circle's area is " + </a:t>
            </a:r>
            <a:r>
              <a:rPr lang="en-US" altLang="zh-CN" sz="2200" b="1" dirty="0" err="1">
                <a:latin typeface="Times New Roman" panose="02020603050405020304" pitchFamily="18" charset="0"/>
              </a:rPr>
              <a:t>cArea</a:t>
            </a: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("The rectangle's area is " + </a:t>
            </a:r>
            <a:r>
              <a:rPr lang="en-US" altLang="zh-CN" sz="2200" b="1" dirty="0" err="1">
                <a:latin typeface="Times New Roman" panose="02020603050405020304" pitchFamily="18" charset="0"/>
              </a:rPr>
              <a:t>rArea</a:t>
            </a: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109220" indent="0">
              <a:lnSpc>
                <a:spcPct val="85000"/>
              </a:lnSpc>
              <a:buNone/>
            </a:pPr>
            <a:r>
              <a:rPr lang="en-US" altLang="zh-CN" sz="2200" b="1" dirty="0">
                <a:latin typeface="Times New Roman" panose="02020603050405020304" pitchFamily="18" charset="0"/>
              </a:rPr>
              <a:t>}</a:t>
            </a:r>
            <a:endParaRPr lang="zh-CN" altLang="en-US" sz="2200" b="1" dirty="0">
              <a:latin typeface="Times New Roman" panose="02020603050405020304" pitchFamily="18" charset="0"/>
            </a:endParaRPr>
          </a:p>
        </p:txBody>
      </p:sp>
      <p:sp>
        <p:nvSpPr>
          <p:cNvPr id="3" name="文本框 2"/>
          <p:cNvSpPr txBox="1"/>
          <p:nvPr/>
        </p:nvSpPr>
        <p:spPr>
          <a:xfrm>
            <a:off x="7752184" y="5622032"/>
            <a:ext cx="3606757" cy="1000274"/>
          </a:xfrm>
          <a:prstGeom prst="rect">
            <a:avLst/>
          </a:prstGeom>
          <a:solidFill>
            <a:schemeClr val="bg1"/>
          </a:solidFill>
        </p:spPr>
        <p:txBody>
          <a:bodyPr wrap="none" rtlCol="0">
            <a:spAutoFit/>
          </a:bodyPr>
          <a:lstStyle/>
          <a:p>
            <a:pPr marL="109220">
              <a:lnSpc>
                <a:spcPct val="85000"/>
              </a:lnSpc>
              <a:spcBef>
                <a:spcPct val="20000"/>
              </a:spcBef>
              <a:buClr>
                <a:schemeClr val="bg1"/>
              </a:buClr>
            </a:pPr>
            <a:r>
              <a:rPr lang="zh-CN" altLang="en-US" sz="2000" dirty="0">
                <a:solidFill>
                  <a:srgbClr val="002060"/>
                </a:solidFill>
                <a:ea typeface="楷体" panose="02010609060101010101" pitchFamily="49" charset="-122"/>
                <a:sym typeface="Calibri" panose="020F0502020204030204" pitchFamily="34" charset="0"/>
              </a:rPr>
              <a:t>运行结果：</a:t>
            </a:r>
            <a:endParaRPr lang="en-US" altLang="zh-CN" sz="2000" dirty="0">
              <a:solidFill>
                <a:srgbClr val="002060"/>
              </a:solidFill>
              <a:ea typeface="楷体" panose="02010609060101010101" pitchFamily="49" charset="-122"/>
              <a:sym typeface="Calibri" panose="020F0502020204030204" pitchFamily="34" charset="0"/>
            </a:endParaRPr>
          </a:p>
          <a:p>
            <a:pPr marL="109220">
              <a:lnSpc>
                <a:spcPct val="85000"/>
              </a:lnSpc>
              <a:spcBef>
                <a:spcPct val="20000"/>
              </a:spcBef>
              <a:buClr>
                <a:schemeClr val="bg1"/>
              </a:buClr>
            </a:pPr>
            <a:r>
              <a:rPr lang="en-US" altLang="zh-CN" sz="2000" dirty="0">
                <a:solidFill>
                  <a:srgbClr val="002060"/>
                </a:solidFill>
                <a:ea typeface="楷体" panose="02010609060101010101" pitchFamily="49" charset="-122"/>
                <a:sym typeface="Calibri" panose="020F0502020204030204" pitchFamily="34" charset="0"/>
              </a:rPr>
              <a:t>The circle's area is 7853.981625</a:t>
            </a:r>
            <a:endParaRPr lang="en-US" altLang="zh-CN" sz="2000" dirty="0">
              <a:solidFill>
                <a:srgbClr val="002060"/>
              </a:solidFill>
              <a:ea typeface="楷体" panose="02010609060101010101" pitchFamily="49" charset="-122"/>
              <a:sym typeface="Calibri" panose="020F0502020204030204" pitchFamily="34" charset="0"/>
            </a:endParaRPr>
          </a:p>
          <a:p>
            <a:pPr marL="109220">
              <a:lnSpc>
                <a:spcPct val="85000"/>
              </a:lnSpc>
              <a:spcBef>
                <a:spcPct val="20000"/>
              </a:spcBef>
              <a:buClr>
                <a:schemeClr val="bg1"/>
              </a:buClr>
            </a:pPr>
            <a:r>
              <a:rPr lang="en-US" altLang="zh-CN" sz="2000" dirty="0">
                <a:solidFill>
                  <a:srgbClr val="002060"/>
                </a:solidFill>
                <a:ea typeface="楷体" panose="02010609060101010101" pitchFamily="49" charset="-122"/>
                <a:sym typeface="Calibri" panose="020F0502020204030204" pitchFamily="34" charset="0"/>
              </a:rPr>
              <a:t>The rectangle's area is 600.0</a:t>
            </a:r>
            <a:endParaRPr lang="en-US" altLang="zh-CN" sz="2000" dirty="0">
              <a:solidFill>
                <a:srgbClr val="002060"/>
              </a:solidFill>
              <a:ea typeface="楷体" panose="02010609060101010101" pitchFamily="49" charset="-122"/>
              <a:sym typeface="Calibri" panose="020F0502020204030204" pitchFamily="34" charset="0"/>
            </a:endParaRPr>
          </a:p>
        </p:txBody>
      </p:sp>
      <p:sp>
        <p:nvSpPr>
          <p:cNvPr id="2"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4" name="文本框 3"/>
          <p:cNvSpPr txBox="1"/>
          <p:nvPr>
            <p:custDataLst>
              <p:tags r:id="rId2"/>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实例方法调用</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4294967295"/>
          </p:nvPr>
        </p:nvSpPr>
        <p:spPr>
          <a:xfrm>
            <a:off x="1055440" y="1628800"/>
            <a:ext cx="8863880" cy="4525963"/>
          </a:xfrm>
        </p:spPr>
        <p:txBody>
          <a:bodyPr>
            <a:normAutofit lnSpcReduction="10000"/>
          </a:bodyPr>
          <a:lstStyle/>
          <a:p>
            <a:pPr marL="0" indent="0">
              <a:spcBef>
                <a:spcPts val="0"/>
              </a:spcBef>
              <a:buNone/>
            </a:pPr>
            <a:r>
              <a:rPr lang="en-US" altLang="zh-CN" sz="2000" b="1" dirty="0">
                <a:latin typeface="Times New Roman" panose="02020603050405020304" pitchFamily="18" charset="0"/>
              </a:rPr>
              <a:t>public class Circle {</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static double PI = 3.14159265;</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int radius;</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public double circumference() {</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return 2 * PI * radius;</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public double area() {</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return PI * radius * radius;</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public void enlarge(int factor) {  //</a:t>
            </a:r>
            <a:r>
              <a:rPr lang="zh-CN" altLang="en-US" sz="2000" b="1" dirty="0">
                <a:latin typeface="Times New Roman" panose="02020603050405020304" pitchFamily="18" charset="0"/>
              </a:rPr>
              <a:t>带参数的方法</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radius = radius * factor;</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public </a:t>
            </a:r>
            <a:r>
              <a:rPr lang="en-US" altLang="zh-CN" sz="2000" b="1" dirty="0" err="1">
                <a:latin typeface="Times New Roman" panose="02020603050405020304" pitchFamily="18" charset="0"/>
              </a:rPr>
              <a:t>boolean</a:t>
            </a:r>
            <a:r>
              <a:rPr lang="en-US" altLang="zh-CN" sz="2000" b="1" dirty="0">
                <a:latin typeface="Times New Roman" panose="02020603050405020304" pitchFamily="18" charset="0"/>
              </a:rPr>
              <a:t> </a:t>
            </a:r>
            <a:r>
              <a:rPr lang="en-US" altLang="zh-CN" sz="2000" b="1" dirty="0" err="1">
                <a:latin typeface="Times New Roman" panose="02020603050405020304" pitchFamily="18" charset="0"/>
              </a:rPr>
              <a:t>fitsInside</a:t>
            </a:r>
            <a:r>
              <a:rPr lang="en-US" altLang="zh-CN" sz="2000" b="1" dirty="0">
                <a:latin typeface="Times New Roman" panose="02020603050405020304" pitchFamily="18" charset="0"/>
              </a:rPr>
              <a:t>(Rectangle r) {  //</a:t>
            </a:r>
            <a:r>
              <a:rPr lang="zh-CN" altLang="en-US" sz="2000" b="1" dirty="0">
                <a:latin typeface="Times New Roman" panose="02020603050405020304" pitchFamily="18" charset="0"/>
              </a:rPr>
              <a:t>以对象作为参数的方法</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return (2 * radius &lt; </a:t>
            </a:r>
            <a:r>
              <a:rPr lang="en-US" altLang="zh-CN" sz="2000" b="1" dirty="0" err="1">
                <a:latin typeface="Times New Roman" panose="02020603050405020304" pitchFamily="18" charset="0"/>
              </a:rPr>
              <a:t>r.width</a:t>
            </a:r>
            <a:r>
              <a:rPr lang="en-US" altLang="zh-CN" sz="2000" b="1" dirty="0">
                <a:latin typeface="Times New Roman" panose="02020603050405020304" pitchFamily="18" charset="0"/>
              </a:rPr>
              <a:t>) &amp;&amp; (2 * radius &lt; </a:t>
            </a:r>
            <a:r>
              <a:rPr lang="en-US" altLang="zh-CN" sz="2000" b="1" dirty="0" err="1">
                <a:latin typeface="Times New Roman" panose="02020603050405020304" pitchFamily="18" charset="0"/>
              </a:rPr>
              <a:t>r.height</a:t>
            </a:r>
            <a:r>
              <a:rPr lang="en-US" altLang="zh-CN" sz="2000" b="1" dirty="0">
                <a:latin typeface="Times New Roman" panose="02020603050405020304" pitchFamily="18" charset="0"/>
              </a:rPr>
              <a:t>);</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        }</a:t>
            </a:r>
            <a:endParaRPr lang="en-US" altLang="zh-CN" sz="2000" b="1" dirty="0">
              <a:latin typeface="Times New Roman" panose="02020603050405020304" pitchFamily="18" charset="0"/>
            </a:endParaRPr>
          </a:p>
          <a:p>
            <a:pPr marL="0" indent="0">
              <a:spcBef>
                <a:spcPts val="0"/>
              </a:spcBef>
              <a:buNone/>
            </a:pPr>
            <a:r>
              <a:rPr lang="en-US" altLang="zh-CN" sz="2000" b="1" dirty="0">
                <a:latin typeface="Times New Roman" panose="02020603050405020304" pitchFamily="18" charset="0"/>
              </a:rPr>
              <a:t>}</a:t>
            </a:r>
            <a:endParaRPr lang="en-US" altLang="zh-CN" sz="2000" b="1" dirty="0">
              <a:latin typeface="Times New Roman" panose="02020603050405020304" pitchFamily="18" charset="0"/>
            </a:endParaRPr>
          </a:p>
        </p:txBody>
      </p:sp>
      <p:sp>
        <p:nvSpPr>
          <p:cNvPr id="4" name="文本框 3"/>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实例方法调用</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4294967295"/>
          </p:nvPr>
        </p:nvSpPr>
        <p:spPr>
          <a:xfrm>
            <a:off x="911424" y="1628800"/>
            <a:ext cx="9793088" cy="4892067"/>
          </a:xfrm>
        </p:spPr>
        <p:txBody>
          <a:bodyPr>
            <a:normAutofit/>
          </a:bodyPr>
          <a:lstStyle/>
          <a:p>
            <a:pPr marL="0" indent="0">
              <a:buNone/>
            </a:pPr>
            <a:r>
              <a:rPr lang="en-US" altLang="zh-CN" sz="2200" b="1" dirty="0">
                <a:latin typeface="Times New Roman" panose="02020603050405020304" pitchFamily="18" charset="0"/>
              </a:rPr>
              <a:t>public class </a:t>
            </a:r>
            <a:r>
              <a:rPr lang="en-US" altLang="zh-CN" sz="2200" b="1" dirty="0" err="1">
                <a:latin typeface="Times New Roman" panose="02020603050405020304" pitchFamily="18" charset="0"/>
              </a:rPr>
              <a:t>EnlargeTester</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public static void main(String[] </a:t>
            </a:r>
            <a:r>
              <a:rPr lang="en-US" altLang="zh-CN" sz="2200" b="1" dirty="0" err="1">
                <a:latin typeface="Times New Roman" panose="02020603050405020304" pitchFamily="18" charset="0"/>
              </a:rPr>
              <a:t>args</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Circle c1 = new Circle();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c1.radius = 50;</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Circle c2 = new Circle();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c2.radius = 10;</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("Circle 1 </a:t>
            </a:r>
            <a:r>
              <a:rPr lang="zh-CN" altLang="en-US" sz="2200" b="1" dirty="0">
                <a:latin typeface="Times New Roman" panose="02020603050405020304" pitchFamily="18" charset="0"/>
              </a:rPr>
              <a:t>的周长</a:t>
            </a:r>
            <a:r>
              <a:rPr lang="en-US" altLang="zh-CN" sz="2200" b="1" dirty="0">
                <a:latin typeface="Times New Roman" panose="02020603050405020304" pitchFamily="18" charset="0"/>
              </a:rPr>
              <a:t>: " + c1.circumference());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("Circle 2 </a:t>
            </a:r>
            <a:r>
              <a:rPr lang="zh-CN" altLang="en-US" sz="2200" b="1" dirty="0">
                <a:latin typeface="Times New Roman" panose="02020603050405020304" pitchFamily="18" charset="0"/>
              </a:rPr>
              <a:t>的周长</a:t>
            </a:r>
            <a:r>
              <a:rPr lang="en-US" altLang="zh-CN" sz="2200" b="1" dirty="0">
                <a:latin typeface="Times New Roman" panose="02020603050405020304" pitchFamily="18" charset="0"/>
              </a:rPr>
              <a:t>: " + c2.circumference());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a:solidFill>
                  <a:srgbClr val="FF0000"/>
                </a:solidFill>
                <a:highlight>
                  <a:srgbClr val="FFFF00"/>
                </a:highlight>
                <a:latin typeface="Times New Roman" panose="02020603050405020304" pitchFamily="18" charset="0"/>
              </a:rPr>
              <a:t>c2.enlarge(4);</a:t>
            </a:r>
            <a:endParaRPr lang="en-US" altLang="zh-CN" sz="2200" b="1" dirty="0">
              <a:solidFill>
                <a:srgbClr val="FF0000"/>
              </a:solidFill>
              <a:highlight>
                <a:srgbClr val="FFFF00"/>
              </a:highlight>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("Circle 2 </a:t>
            </a:r>
            <a:r>
              <a:rPr lang="zh-CN" altLang="en-US" sz="2200" b="1" dirty="0">
                <a:latin typeface="Times New Roman" panose="02020603050405020304" pitchFamily="18" charset="0"/>
              </a:rPr>
              <a:t>扩大后的周长</a:t>
            </a:r>
            <a:r>
              <a:rPr lang="en-US" altLang="zh-CN" sz="2200" b="1" dirty="0">
                <a:latin typeface="Times New Roman" panose="02020603050405020304" pitchFamily="18" charset="0"/>
              </a:rPr>
              <a:t>: " + c2.circumference());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p:txBody>
      </p:sp>
      <p:sp>
        <p:nvSpPr>
          <p:cNvPr id="4" name="文本框 3"/>
          <p:cNvSpPr txBox="1"/>
          <p:nvPr/>
        </p:nvSpPr>
        <p:spPr>
          <a:xfrm>
            <a:off x="7824192" y="2276872"/>
            <a:ext cx="4068421" cy="1323439"/>
          </a:xfrm>
          <a:prstGeom prst="rect">
            <a:avLst/>
          </a:prstGeom>
          <a:solidFill>
            <a:schemeClr val="bg1"/>
          </a:solidFill>
        </p:spPr>
        <p:txBody>
          <a:bodyPr wrap="none" rtlCol="0">
            <a:spAutoFit/>
          </a:bodyPr>
          <a:lstStyle/>
          <a:p>
            <a:pPr marL="109220">
              <a:lnSpc>
                <a:spcPct val="85000"/>
              </a:lnSpc>
              <a:spcBef>
                <a:spcPct val="20000"/>
              </a:spcBef>
              <a:buClr>
                <a:schemeClr val="bg1"/>
              </a:buClr>
            </a:pPr>
            <a:r>
              <a:rPr lang="zh-CN" altLang="en-US" sz="2000" dirty="0">
                <a:solidFill>
                  <a:srgbClr val="002060"/>
                </a:solidFill>
                <a:ea typeface="楷体" panose="02010609060101010101" pitchFamily="49" charset="-122"/>
                <a:sym typeface="Calibri" panose="020F0502020204030204" pitchFamily="34" charset="0"/>
              </a:rPr>
              <a:t>运行结果：</a:t>
            </a:r>
            <a:endParaRPr lang="en-US" altLang="zh-CN" sz="2000" dirty="0">
              <a:solidFill>
                <a:srgbClr val="002060"/>
              </a:solidFill>
              <a:ea typeface="楷体" panose="02010609060101010101" pitchFamily="49" charset="-122"/>
              <a:sym typeface="Calibri" panose="020F0502020204030204" pitchFamily="34" charset="0"/>
            </a:endParaRPr>
          </a:p>
          <a:p>
            <a:pPr marL="109220">
              <a:lnSpc>
                <a:spcPct val="85000"/>
              </a:lnSpc>
              <a:spcBef>
                <a:spcPct val="20000"/>
              </a:spcBef>
              <a:buClr>
                <a:schemeClr val="bg1"/>
              </a:buClr>
            </a:pPr>
            <a:r>
              <a:rPr lang="en-US" altLang="zh-CN" sz="2000" dirty="0">
                <a:solidFill>
                  <a:srgbClr val="002060"/>
                </a:solidFill>
                <a:ea typeface="楷体" panose="02010609060101010101" pitchFamily="49" charset="-122"/>
                <a:sym typeface="Calibri" panose="020F0502020204030204" pitchFamily="34" charset="0"/>
              </a:rPr>
              <a:t>Circle 1 </a:t>
            </a:r>
            <a:r>
              <a:rPr lang="zh-CN" altLang="en-US" sz="2000" dirty="0">
                <a:solidFill>
                  <a:srgbClr val="002060"/>
                </a:solidFill>
                <a:ea typeface="楷体" panose="02010609060101010101" pitchFamily="49" charset="-122"/>
                <a:sym typeface="Calibri" panose="020F0502020204030204" pitchFamily="34" charset="0"/>
              </a:rPr>
              <a:t>的周长</a:t>
            </a:r>
            <a:r>
              <a:rPr lang="en-US" altLang="zh-CN" sz="2000" dirty="0">
                <a:solidFill>
                  <a:srgbClr val="002060"/>
                </a:solidFill>
                <a:ea typeface="楷体" panose="02010609060101010101" pitchFamily="49" charset="-122"/>
                <a:sym typeface="Calibri" panose="020F0502020204030204" pitchFamily="34" charset="0"/>
              </a:rPr>
              <a:t>: 314.159265</a:t>
            </a:r>
            <a:endParaRPr lang="en-US" altLang="zh-CN" sz="2000" dirty="0">
              <a:solidFill>
                <a:srgbClr val="002060"/>
              </a:solidFill>
              <a:ea typeface="楷体" panose="02010609060101010101" pitchFamily="49" charset="-122"/>
              <a:sym typeface="Calibri" panose="020F0502020204030204" pitchFamily="34" charset="0"/>
            </a:endParaRPr>
          </a:p>
          <a:p>
            <a:pPr marL="109220">
              <a:lnSpc>
                <a:spcPct val="85000"/>
              </a:lnSpc>
              <a:spcBef>
                <a:spcPct val="20000"/>
              </a:spcBef>
              <a:buClr>
                <a:schemeClr val="bg1"/>
              </a:buClr>
            </a:pPr>
            <a:r>
              <a:rPr lang="en-US" altLang="zh-CN" sz="2000" dirty="0">
                <a:solidFill>
                  <a:srgbClr val="002060"/>
                </a:solidFill>
                <a:ea typeface="楷体" panose="02010609060101010101" pitchFamily="49" charset="-122"/>
                <a:sym typeface="Calibri" panose="020F0502020204030204" pitchFamily="34" charset="0"/>
              </a:rPr>
              <a:t>Circle 2 </a:t>
            </a:r>
            <a:r>
              <a:rPr lang="zh-CN" altLang="en-US" sz="2000" dirty="0">
                <a:solidFill>
                  <a:srgbClr val="002060"/>
                </a:solidFill>
                <a:ea typeface="楷体" panose="02010609060101010101" pitchFamily="49" charset="-122"/>
                <a:sym typeface="Calibri" panose="020F0502020204030204" pitchFamily="34" charset="0"/>
              </a:rPr>
              <a:t>的周长</a:t>
            </a:r>
            <a:r>
              <a:rPr lang="en-US" altLang="zh-CN" sz="2000" dirty="0">
                <a:solidFill>
                  <a:srgbClr val="002060"/>
                </a:solidFill>
                <a:ea typeface="楷体" panose="02010609060101010101" pitchFamily="49" charset="-122"/>
                <a:sym typeface="Calibri" panose="020F0502020204030204" pitchFamily="34" charset="0"/>
              </a:rPr>
              <a:t>: 62.831853</a:t>
            </a:r>
            <a:endParaRPr lang="en-US" altLang="zh-CN" sz="2000" dirty="0">
              <a:solidFill>
                <a:srgbClr val="002060"/>
              </a:solidFill>
              <a:ea typeface="楷体" panose="02010609060101010101" pitchFamily="49" charset="-122"/>
              <a:sym typeface="Calibri" panose="020F0502020204030204" pitchFamily="34" charset="0"/>
            </a:endParaRPr>
          </a:p>
          <a:p>
            <a:pPr marL="109220">
              <a:lnSpc>
                <a:spcPct val="85000"/>
              </a:lnSpc>
              <a:spcBef>
                <a:spcPct val="20000"/>
              </a:spcBef>
              <a:buClr>
                <a:schemeClr val="bg1"/>
              </a:buClr>
            </a:pPr>
            <a:r>
              <a:rPr lang="en-US" altLang="zh-CN" sz="2000" dirty="0">
                <a:solidFill>
                  <a:srgbClr val="002060"/>
                </a:solidFill>
                <a:ea typeface="楷体" panose="02010609060101010101" pitchFamily="49" charset="-122"/>
                <a:sym typeface="Calibri" panose="020F0502020204030204" pitchFamily="34" charset="0"/>
              </a:rPr>
              <a:t>Circle 2 </a:t>
            </a:r>
            <a:r>
              <a:rPr lang="zh-CN" altLang="en-US" sz="2000" dirty="0">
                <a:solidFill>
                  <a:srgbClr val="002060"/>
                </a:solidFill>
                <a:ea typeface="楷体" panose="02010609060101010101" pitchFamily="49" charset="-122"/>
                <a:sym typeface="Calibri" panose="020F0502020204030204" pitchFamily="34" charset="0"/>
              </a:rPr>
              <a:t>扩大后的周长</a:t>
            </a:r>
            <a:r>
              <a:rPr lang="en-US" altLang="zh-CN" sz="2000" dirty="0">
                <a:solidFill>
                  <a:srgbClr val="002060"/>
                </a:solidFill>
                <a:ea typeface="楷体" panose="02010609060101010101" pitchFamily="49" charset="-122"/>
                <a:sym typeface="Calibri" panose="020F0502020204030204" pitchFamily="34" charset="0"/>
              </a:rPr>
              <a:t>: 251.327412</a:t>
            </a:r>
            <a:endParaRPr lang="en-US" altLang="zh-CN" sz="2000" dirty="0">
              <a:solidFill>
                <a:srgbClr val="002060"/>
              </a:solidFill>
              <a:ea typeface="楷体" panose="02010609060101010101" pitchFamily="49" charset="-122"/>
              <a:sym typeface="Calibri" panose="020F0502020204030204" pitchFamily="34" charset="0"/>
            </a:endParaRPr>
          </a:p>
        </p:txBody>
      </p:sp>
      <p:sp>
        <p:nvSpPr>
          <p:cNvPr id="5" name="文本框 4"/>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实例方法调用</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3"/>
          <p:cNvSpPr>
            <a:spLocks noGrp="1" noChangeArrowheads="1"/>
          </p:cNvSpPr>
          <p:nvPr>
            <p:ph idx="4294967295"/>
          </p:nvPr>
        </p:nvSpPr>
        <p:spPr>
          <a:xfrm>
            <a:off x="875420" y="1474346"/>
            <a:ext cx="10477164" cy="5301200"/>
          </a:xfrm>
        </p:spPr>
        <p:txBody>
          <a:bodyPr>
            <a:noAutofit/>
          </a:bodyPr>
          <a:lstStyle/>
          <a:p>
            <a:pPr marL="0" indent="0">
              <a:buNone/>
            </a:pPr>
            <a:r>
              <a:rPr lang="en-US" altLang="zh-CN" sz="2200" b="1" dirty="0">
                <a:latin typeface="Times New Roman" panose="02020603050405020304" pitchFamily="18" charset="0"/>
              </a:rPr>
              <a:t>public class </a:t>
            </a:r>
            <a:r>
              <a:rPr lang="en-US" altLang="zh-CN" sz="2200" b="1" dirty="0" err="1">
                <a:latin typeface="Times New Roman" panose="02020603050405020304" pitchFamily="18" charset="0"/>
              </a:rPr>
              <a:t>InsideTester</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public static void main(String[] </a:t>
            </a:r>
            <a:r>
              <a:rPr lang="en-US" altLang="zh-CN" sz="2200" b="1" dirty="0" err="1">
                <a:latin typeface="Times New Roman" panose="02020603050405020304" pitchFamily="18" charset="0"/>
              </a:rPr>
              <a:t>args</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Circle c1 = new Circle();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c1.radius = 8;</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Circle c2 = new Circle();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c2.radius = 15;</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Rectangle r = new Rectangle();</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r.width</a:t>
            </a:r>
            <a:r>
              <a:rPr lang="en-US" altLang="zh-CN" sz="2200" b="1" dirty="0">
                <a:latin typeface="Times New Roman" panose="02020603050405020304" pitchFamily="18" charset="0"/>
              </a:rPr>
              <a:t> = 20;</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r.height</a:t>
            </a:r>
            <a:r>
              <a:rPr lang="en-US" altLang="zh-CN" sz="2200" b="1" dirty="0">
                <a:latin typeface="Times New Roman" panose="02020603050405020304" pitchFamily="18" charset="0"/>
              </a:rPr>
              <a:t> = 30;</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("Circle 1 fits inside Rectangle: " + c1.fitsInside(r));</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("Circle 2 fits inside Rectangle: " + c2.fitsInside(r));</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marL="0" indent="0">
              <a:buNone/>
            </a:pPr>
            <a:r>
              <a:rPr lang="en-US" altLang="zh-CN" sz="2200" b="1" dirty="0">
                <a:latin typeface="Times New Roman" panose="02020603050405020304" pitchFamily="18" charset="0"/>
              </a:rPr>
              <a:t>}</a:t>
            </a:r>
            <a:endParaRPr lang="en-US" altLang="zh-CN" sz="2200" b="1" dirty="0">
              <a:latin typeface="Times New Roman" panose="02020603050405020304" pitchFamily="18" charset="0"/>
            </a:endParaRPr>
          </a:p>
        </p:txBody>
      </p:sp>
      <p:sp>
        <p:nvSpPr>
          <p:cNvPr id="4" name="文本框 3"/>
          <p:cNvSpPr txBox="1"/>
          <p:nvPr/>
        </p:nvSpPr>
        <p:spPr>
          <a:xfrm>
            <a:off x="6744072" y="5857726"/>
            <a:ext cx="3882473" cy="1000274"/>
          </a:xfrm>
          <a:prstGeom prst="rect">
            <a:avLst/>
          </a:prstGeom>
          <a:solidFill>
            <a:schemeClr val="bg1"/>
          </a:solidFill>
        </p:spPr>
        <p:txBody>
          <a:bodyPr wrap="none" rtlCol="0">
            <a:spAutoFit/>
          </a:bodyPr>
          <a:lstStyle/>
          <a:p>
            <a:pPr marL="109220">
              <a:lnSpc>
                <a:spcPct val="85000"/>
              </a:lnSpc>
              <a:spcBef>
                <a:spcPct val="20000"/>
              </a:spcBef>
              <a:buClr>
                <a:schemeClr val="bg1"/>
              </a:buClr>
            </a:pPr>
            <a:r>
              <a:rPr lang="zh-CN" altLang="en-US" sz="2000" dirty="0">
                <a:solidFill>
                  <a:srgbClr val="002060"/>
                </a:solidFill>
                <a:ea typeface="楷体" panose="02010609060101010101" pitchFamily="49" charset="-122"/>
                <a:sym typeface="Calibri" panose="020F0502020204030204" pitchFamily="34" charset="0"/>
              </a:rPr>
              <a:t>运行结果：</a:t>
            </a:r>
            <a:endParaRPr lang="en-US" altLang="zh-CN" sz="2000" dirty="0">
              <a:solidFill>
                <a:srgbClr val="002060"/>
              </a:solidFill>
              <a:ea typeface="楷体" panose="02010609060101010101" pitchFamily="49" charset="-122"/>
              <a:sym typeface="Calibri" panose="020F0502020204030204" pitchFamily="34" charset="0"/>
            </a:endParaRPr>
          </a:p>
          <a:p>
            <a:pPr marL="109220">
              <a:lnSpc>
                <a:spcPct val="85000"/>
              </a:lnSpc>
              <a:spcBef>
                <a:spcPct val="20000"/>
              </a:spcBef>
              <a:buClr>
                <a:schemeClr val="bg1"/>
              </a:buClr>
            </a:pPr>
            <a:r>
              <a:rPr lang="en-US" altLang="zh-CN" sz="2000" dirty="0">
                <a:solidFill>
                  <a:srgbClr val="002060"/>
                </a:solidFill>
                <a:ea typeface="楷体" panose="02010609060101010101" pitchFamily="49" charset="-122"/>
                <a:sym typeface="Calibri" panose="020F0502020204030204" pitchFamily="34" charset="0"/>
              </a:rPr>
              <a:t>Circle 1 fits inside Rectangle: true</a:t>
            </a:r>
            <a:endParaRPr lang="en-US" altLang="zh-CN" sz="2000" dirty="0">
              <a:solidFill>
                <a:srgbClr val="002060"/>
              </a:solidFill>
              <a:ea typeface="楷体" panose="02010609060101010101" pitchFamily="49" charset="-122"/>
              <a:sym typeface="Calibri" panose="020F0502020204030204" pitchFamily="34" charset="0"/>
            </a:endParaRPr>
          </a:p>
          <a:p>
            <a:pPr marL="109220">
              <a:lnSpc>
                <a:spcPct val="85000"/>
              </a:lnSpc>
              <a:spcBef>
                <a:spcPct val="20000"/>
              </a:spcBef>
              <a:buClr>
                <a:schemeClr val="bg1"/>
              </a:buClr>
            </a:pPr>
            <a:r>
              <a:rPr lang="en-US" altLang="zh-CN" sz="2000" dirty="0">
                <a:solidFill>
                  <a:srgbClr val="002060"/>
                </a:solidFill>
                <a:ea typeface="楷体" panose="02010609060101010101" pitchFamily="49" charset="-122"/>
                <a:sym typeface="Calibri" panose="020F0502020204030204" pitchFamily="34" charset="0"/>
              </a:rPr>
              <a:t>Circle 2 fits inside Rectangle: false</a:t>
            </a:r>
            <a:endParaRPr lang="en-US" altLang="zh-CN" sz="2000" dirty="0">
              <a:solidFill>
                <a:srgbClr val="002060"/>
              </a:solidFill>
              <a:ea typeface="楷体" panose="02010609060101010101" pitchFamily="49" charset="-122"/>
              <a:sym typeface="Calibri" panose="020F0502020204030204" pitchFamily="34" charset="0"/>
            </a:endParaRPr>
          </a:p>
        </p:txBody>
      </p:sp>
      <p:sp>
        <p:nvSpPr>
          <p:cNvPr id="3" name="文本框 2"/>
          <p:cNvSpPr txBox="1"/>
          <p:nvPr>
            <p:custDataLst>
              <p:tags r:id="rId1"/>
            </p:custDataLst>
          </p:nvPr>
        </p:nvSpPr>
        <p:spPr>
          <a:xfrm>
            <a:off x="407670" y="980440"/>
            <a:ext cx="2375962" cy="449290"/>
          </a:xfrm>
          <a:prstGeom prst="rect">
            <a:avLst/>
          </a:prstGeom>
          <a:solidFill>
            <a:srgbClr val="255EAB"/>
          </a:solidFill>
        </p:spPr>
        <p:txBody>
          <a:bodyPr wrap="square" rtlCol="0">
            <a:spAutoFit/>
          </a:bodyPr>
          <a:lstStyle/>
          <a:p>
            <a:pPr>
              <a:lnSpc>
                <a:spcPts val="3000"/>
              </a:lnSpc>
              <a:spcBef>
                <a:spcPts val="0"/>
              </a:spcBef>
            </a:pPr>
            <a:r>
              <a:rPr lang="zh-CN" altLang="en-US" dirty="0">
                <a:solidFill>
                  <a:schemeClr val="bg1"/>
                </a:solidFill>
                <a:ea typeface="楷体" panose="02010609060101010101" pitchFamily="49" charset="-122"/>
                <a:cs typeface="思源黑体 CN Heavy" panose="020B0A00000000000000" charset="-122"/>
              </a:rPr>
              <a:t>对象的创建</a:t>
            </a:r>
            <a:endParaRPr lang="zh-CN" altLang="en-US" dirty="0">
              <a:solidFill>
                <a:schemeClr val="bg1"/>
              </a:solidFill>
              <a:ea typeface="楷体" panose="02010609060101010101" pitchFamily="49" charset="-122"/>
              <a:cs typeface="思源黑体 CN Heavy" panose="020B0A00000000000000" charset="-122"/>
            </a:endParaRPr>
          </a:p>
        </p:txBody>
      </p:sp>
      <p:sp>
        <p:nvSpPr>
          <p:cNvPr id="5"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3"/>
          <p:cNvSpPr>
            <a:spLocks noGrp="1" noChangeArrowheads="1"/>
          </p:cNvSpPr>
          <p:nvPr>
            <p:ph idx="4294967295"/>
          </p:nvPr>
        </p:nvSpPr>
        <p:spPr>
          <a:xfrm>
            <a:off x="1320776" y="1772816"/>
            <a:ext cx="7943576" cy="2952328"/>
          </a:xfrm>
        </p:spPr>
        <p:txBody>
          <a:bodyPr vert="horz" wrap="square" lIns="92075" tIns="46038" rIns="92075" bIns="46038" numCol="1" anchor="t" anchorCtr="0" compatLnSpc="1">
            <a:normAutofit/>
          </a:bodyPr>
          <a:lstStyle/>
          <a:p>
            <a:pPr marL="457200" indent="-457200">
              <a:lnSpc>
                <a:spcPct val="160000"/>
              </a:lnSpc>
              <a:spcBef>
                <a:spcPts val="0"/>
              </a:spcBef>
              <a:buFont typeface="+mj-lt"/>
              <a:buAutoNum type="arabicPeriod"/>
            </a:pPr>
            <a:r>
              <a:rPr lang="zh-CN" altLang="en-US" sz="2700" b="1" dirty="0">
                <a:latin typeface="Times New Roman" panose="02020603050405020304" pitchFamily="18" charset="0"/>
              </a:rPr>
              <a:t>表示类中</a:t>
            </a:r>
            <a:r>
              <a:rPr lang="zh-CN" altLang="en-US" sz="2700" b="1" dirty="0">
                <a:solidFill>
                  <a:srgbClr val="FF3399"/>
                </a:solidFill>
                <a:latin typeface="Times New Roman" panose="02020603050405020304" pitchFamily="18" charset="0"/>
              </a:rPr>
              <a:t>对象的共有行为</a:t>
            </a:r>
            <a:r>
              <a:rPr lang="zh-CN" altLang="en-US" sz="2700" b="1" dirty="0">
                <a:latin typeface="Times New Roman" panose="02020603050405020304" pitchFamily="18" charset="0"/>
              </a:rPr>
              <a:t>。</a:t>
            </a:r>
            <a:endParaRPr lang="zh-CN" altLang="en-US" sz="2700" b="1" dirty="0">
              <a:latin typeface="Times New Roman" panose="02020603050405020304" pitchFamily="18" charset="0"/>
            </a:endParaRPr>
          </a:p>
          <a:p>
            <a:pPr marL="457200" indent="-457200">
              <a:lnSpc>
                <a:spcPct val="160000"/>
              </a:lnSpc>
              <a:spcBef>
                <a:spcPts val="0"/>
              </a:spcBef>
              <a:buFont typeface="+mj-lt"/>
              <a:buAutoNum type="arabicPeriod"/>
            </a:pPr>
            <a:r>
              <a:rPr lang="zh-CN" altLang="en-US" sz="2700" b="1" dirty="0">
                <a:latin typeface="Times New Roman" panose="02020603050405020304" pitchFamily="18" charset="0"/>
              </a:rPr>
              <a:t>也称为静态方法，声明时前面需加</a:t>
            </a:r>
            <a:r>
              <a:rPr lang="en-US" altLang="zh-CN" sz="2700" b="1" dirty="0">
                <a:solidFill>
                  <a:srgbClr val="FF3399"/>
                </a:solidFill>
                <a:highlight>
                  <a:srgbClr val="FFFF00"/>
                </a:highlight>
                <a:latin typeface="Times New Roman" panose="02020603050405020304" pitchFamily="18" charset="0"/>
              </a:rPr>
              <a:t>static</a:t>
            </a:r>
            <a:r>
              <a:rPr lang="zh-CN" altLang="en-US" sz="2700" b="1" dirty="0">
                <a:latin typeface="Times New Roman" panose="02020603050405020304" pitchFamily="18" charset="0"/>
              </a:rPr>
              <a:t>修饰。</a:t>
            </a:r>
            <a:endParaRPr lang="zh-CN" altLang="en-US" sz="2700" b="1" dirty="0">
              <a:latin typeface="Times New Roman" panose="02020603050405020304" pitchFamily="18" charset="0"/>
            </a:endParaRPr>
          </a:p>
          <a:p>
            <a:pPr marL="457200" indent="-457200">
              <a:lnSpc>
                <a:spcPct val="160000"/>
              </a:lnSpc>
              <a:spcBef>
                <a:spcPts val="0"/>
              </a:spcBef>
              <a:buClr>
                <a:schemeClr val="tx1"/>
              </a:buClr>
              <a:buFont typeface="+mj-lt"/>
              <a:buAutoNum type="arabicPeriod"/>
            </a:pPr>
            <a:r>
              <a:rPr lang="zh-CN" altLang="en-US" sz="2700" b="1" dirty="0">
                <a:solidFill>
                  <a:srgbClr val="FF3399"/>
                </a:solidFill>
                <a:highlight>
                  <a:srgbClr val="FFFF00"/>
                </a:highlight>
                <a:latin typeface="Times New Roman" panose="02020603050405020304" pitchFamily="18" charset="0"/>
              </a:rPr>
              <a:t>不能被声明为抽象的</a:t>
            </a:r>
            <a:r>
              <a:rPr lang="zh-CN" altLang="en-US" sz="2700" b="1" dirty="0">
                <a:latin typeface="Times New Roman" panose="02020603050405020304" pitchFamily="18" charset="0"/>
              </a:rPr>
              <a:t>。</a:t>
            </a:r>
            <a:endParaRPr lang="zh-CN" altLang="en-US" sz="2700" b="1" dirty="0">
              <a:latin typeface="Times New Roman" panose="02020603050405020304" pitchFamily="18" charset="0"/>
            </a:endParaRPr>
          </a:p>
          <a:p>
            <a:pPr marL="457200" indent="-457200">
              <a:lnSpc>
                <a:spcPct val="160000"/>
              </a:lnSpc>
              <a:spcBef>
                <a:spcPts val="0"/>
              </a:spcBef>
              <a:buFont typeface="+mj-lt"/>
              <a:buAutoNum type="arabicPeriod"/>
            </a:pPr>
            <a:r>
              <a:rPr lang="zh-CN" altLang="en-US" sz="2700" b="1" dirty="0">
                <a:latin typeface="Times New Roman" panose="02020603050405020304" pitchFamily="18" charset="0"/>
              </a:rPr>
              <a:t>可以</a:t>
            </a:r>
            <a:r>
              <a:rPr lang="zh-CN" altLang="en-US" sz="2700" b="1" dirty="0">
                <a:solidFill>
                  <a:srgbClr val="FF3399"/>
                </a:solidFill>
                <a:latin typeface="Times New Roman" panose="02020603050405020304" pitchFamily="18" charset="0"/>
              </a:rPr>
              <a:t>类名</a:t>
            </a:r>
            <a:r>
              <a:rPr lang="zh-CN" altLang="en-US" sz="2700" b="1" dirty="0">
                <a:latin typeface="Times New Roman" panose="02020603050405020304" pitchFamily="18" charset="0"/>
              </a:rPr>
              <a:t>直接调用，也可用类</a:t>
            </a:r>
            <a:r>
              <a:rPr lang="zh-CN" altLang="en-US" sz="2700" b="1" dirty="0">
                <a:solidFill>
                  <a:srgbClr val="FF3399"/>
                </a:solidFill>
                <a:latin typeface="Times New Roman" panose="02020603050405020304" pitchFamily="18" charset="0"/>
              </a:rPr>
              <a:t>实例</a:t>
            </a:r>
            <a:r>
              <a:rPr lang="zh-CN" altLang="en-US" sz="2700" b="1" dirty="0">
                <a:latin typeface="Times New Roman" panose="02020603050405020304" pitchFamily="18" charset="0"/>
              </a:rPr>
              <a:t>调用。</a:t>
            </a:r>
            <a:endParaRPr lang="zh-CN" altLang="en-US" sz="2700" b="1" dirty="0">
              <a:latin typeface="Times New Roman" panose="02020603050405020304" pitchFamily="18" charset="0"/>
            </a:endParaRPr>
          </a:p>
          <a:p>
            <a:pPr lvl="1" eaLnBrk="1" hangingPunct="1">
              <a:lnSpc>
                <a:spcPct val="120000"/>
              </a:lnSpc>
            </a:pPr>
            <a:endParaRPr lang="zh-CN" altLang="en-US" dirty="0">
              <a:latin typeface="Times New Roman" panose="02020603050405020304" pitchFamily="18" charset="0"/>
            </a:endParaRPr>
          </a:p>
        </p:txBody>
      </p:sp>
      <p:sp>
        <p:nvSpPr>
          <p:cNvPr id="7987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07E0106-731F-4FCF-B257-0B738C7C142B}"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36785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4294967295"/>
          </p:nvPr>
        </p:nvSpPr>
        <p:spPr>
          <a:xfrm>
            <a:off x="695400" y="1556792"/>
            <a:ext cx="10972800" cy="5040560"/>
          </a:xfrm>
        </p:spPr>
        <p:txBody>
          <a:bodyPr vert="horz" wrap="square" lIns="92075" tIns="46038" rIns="92075" bIns="46038" numCol="1" anchor="t" anchorCtr="0" compatLnSpc="1">
            <a:noAutofit/>
          </a:bodyPr>
          <a:lstStyle/>
          <a:p>
            <a:pPr marL="0" indent="0" eaLnBrk="1" hangingPunct="1">
              <a:lnSpc>
                <a:spcPct val="110000"/>
              </a:lnSpc>
              <a:buNone/>
            </a:pPr>
            <a:r>
              <a:rPr lang="zh-CN" altLang="en-US" sz="2500" b="1" dirty="0">
                <a:latin typeface="Times New Roman" panose="02020603050405020304" pitchFamily="18" charset="0"/>
              </a:rPr>
              <a:t>将摄氏温度转换成华氏温度：</a:t>
            </a:r>
            <a:r>
              <a:rPr lang="en-US" altLang="zh-CN" sz="2500" b="1" dirty="0" err="1">
                <a:solidFill>
                  <a:srgbClr val="FF0000"/>
                </a:solidFill>
                <a:latin typeface="Times New Roman" panose="02020603050405020304" pitchFamily="18" charset="0"/>
              </a:rPr>
              <a:t>fahrenheit</a:t>
            </a:r>
            <a:r>
              <a:rPr lang="en-US" altLang="zh-CN" sz="2500" b="1" dirty="0">
                <a:solidFill>
                  <a:srgbClr val="FF0000"/>
                </a:solidFill>
                <a:latin typeface="Times New Roman" panose="02020603050405020304" pitchFamily="18" charset="0"/>
              </a:rPr>
              <a:t> = centigrade * 9 / 5 + 32</a:t>
            </a:r>
            <a:endParaRPr lang="en-US" altLang="zh-CN" sz="2500" b="1" dirty="0">
              <a:solidFill>
                <a:srgbClr val="FF0000"/>
              </a:solidFill>
              <a:latin typeface="Times New Roman" panose="02020603050405020304" pitchFamily="18" charset="0"/>
            </a:endParaRPr>
          </a:p>
          <a:p>
            <a:pPr lvl="1" eaLnBrk="1" hangingPunct="1">
              <a:lnSpc>
                <a:spcPct val="110000"/>
              </a:lnSpc>
            </a:pPr>
            <a:r>
              <a:rPr lang="zh-CN" altLang="en-US" sz="2500" b="1" dirty="0">
                <a:latin typeface="Times New Roman" panose="02020603050405020304" pitchFamily="18" charset="0"/>
              </a:rPr>
              <a:t>除了摄氏温度值及公式中需要的常量值，此功能不依赖于具体的类实例的属性值，因此可声明为类方法。</a:t>
            </a:r>
            <a:endParaRPr lang="en-US" altLang="zh-CN" sz="2500" b="1" dirty="0">
              <a:solidFill>
                <a:schemeClr val="tx2"/>
              </a:solidFill>
              <a:latin typeface="Times New Roman" panose="02020603050405020304" pitchFamily="18" charset="0"/>
            </a:endParaRPr>
          </a:p>
          <a:p>
            <a:pPr lvl="1" eaLnBrk="1" hangingPunct="1">
              <a:lnSpc>
                <a:spcPct val="110000"/>
              </a:lnSpc>
            </a:pPr>
            <a:r>
              <a:rPr lang="zh-CN" altLang="en-US" sz="2500" b="1" dirty="0">
                <a:latin typeface="Times New Roman" panose="02020603050405020304" pitchFamily="18" charset="0"/>
              </a:rPr>
              <a:t>转换方法</a:t>
            </a:r>
            <a:r>
              <a:rPr lang="en-US" altLang="zh-CN" sz="2500" b="1" dirty="0" err="1">
                <a:solidFill>
                  <a:schemeClr val="tx2"/>
                </a:solidFill>
                <a:latin typeface="Times New Roman" panose="02020603050405020304" pitchFamily="18" charset="0"/>
              </a:rPr>
              <a:t>centigradeToFahrenheit</a:t>
            </a:r>
            <a:r>
              <a:rPr lang="zh-CN" altLang="en-US" sz="2500" b="1" dirty="0">
                <a:latin typeface="Times New Roman" panose="02020603050405020304" pitchFamily="18" charset="0"/>
              </a:rPr>
              <a:t>放在类</a:t>
            </a:r>
            <a:r>
              <a:rPr lang="en-US" altLang="zh-CN" sz="2500" b="1" dirty="0">
                <a:solidFill>
                  <a:schemeClr val="tx2"/>
                </a:solidFill>
                <a:latin typeface="Times New Roman" panose="02020603050405020304" pitchFamily="18" charset="0"/>
              </a:rPr>
              <a:t>Converter</a:t>
            </a:r>
            <a:r>
              <a:rPr lang="zh-CN" altLang="en-US" sz="2500" b="1" dirty="0">
                <a:latin typeface="Times New Roman" panose="02020603050405020304" pitchFamily="18" charset="0"/>
              </a:rPr>
              <a:t>中</a:t>
            </a:r>
            <a:endParaRPr lang="zh-CN" altLang="en-US" sz="2500" b="1" dirty="0">
              <a:latin typeface="Times New Roman" panose="02020603050405020304" pitchFamily="18" charset="0"/>
            </a:endParaRPr>
          </a:p>
          <a:p>
            <a:pPr lvl="2" eaLnBrk="1" hangingPunct="1">
              <a:lnSpc>
                <a:spcPct val="110000"/>
              </a:lnSpc>
              <a:spcBef>
                <a:spcPct val="50000"/>
              </a:spcBef>
              <a:buFont typeface="Wingdings 2" panose="05020102010507070707" pitchFamily="18" charset="2"/>
              <a:buNone/>
            </a:pPr>
            <a:r>
              <a:rPr lang="en-US" altLang="zh-CN" sz="2500" b="1" dirty="0">
                <a:solidFill>
                  <a:srgbClr val="FF3399"/>
                </a:solidFill>
                <a:latin typeface="Times New Roman" panose="02020603050405020304" pitchFamily="18" charset="0"/>
              </a:rPr>
              <a:t>public class Converter { </a:t>
            </a:r>
            <a:endParaRPr lang="en-US" altLang="zh-CN" sz="2500" b="1" dirty="0">
              <a:solidFill>
                <a:srgbClr val="FF3399"/>
              </a:solidFill>
              <a:latin typeface="Times New Roman" panose="02020603050405020304" pitchFamily="18" charset="0"/>
            </a:endParaRPr>
          </a:p>
          <a:p>
            <a:pPr lvl="2" eaLnBrk="1" hangingPunct="1">
              <a:lnSpc>
                <a:spcPct val="110000"/>
              </a:lnSpc>
              <a:buFont typeface="Wingdings 2" panose="05020102010507070707" pitchFamily="18" charset="2"/>
              <a:buNone/>
            </a:pPr>
            <a:r>
              <a:rPr lang="en-US" altLang="zh-CN" sz="2500" b="1" dirty="0">
                <a:solidFill>
                  <a:srgbClr val="FF3399"/>
                </a:solidFill>
                <a:latin typeface="Times New Roman" panose="02020603050405020304" pitchFamily="18" charset="0"/>
              </a:rPr>
              <a:t>        public </a:t>
            </a:r>
            <a:r>
              <a:rPr lang="en-US" altLang="zh-CN" sz="2500" b="1" dirty="0">
                <a:solidFill>
                  <a:srgbClr val="FF3399"/>
                </a:solidFill>
                <a:highlight>
                  <a:srgbClr val="FFFF00"/>
                </a:highlight>
                <a:latin typeface="Times New Roman" panose="02020603050405020304" pitchFamily="18" charset="0"/>
              </a:rPr>
              <a:t>static</a:t>
            </a:r>
            <a:r>
              <a:rPr lang="en-US" altLang="zh-CN" sz="2500" b="1" dirty="0">
                <a:solidFill>
                  <a:srgbClr val="FF3399"/>
                </a:solidFill>
                <a:latin typeface="Times New Roman" panose="02020603050405020304" pitchFamily="18" charset="0"/>
              </a:rPr>
              <a:t> int </a:t>
            </a:r>
            <a:r>
              <a:rPr lang="en-US" altLang="zh-CN" sz="2500" b="1" dirty="0" err="1">
                <a:solidFill>
                  <a:srgbClr val="FF3399"/>
                </a:solidFill>
                <a:latin typeface="Times New Roman" panose="02020603050405020304" pitchFamily="18" charset="0"/>
              </a:rPr>
              <a:t>centigradeToFahrenheit</a:t>
            </a:r>
            <a:r>
              <a:rPr lang="en-US" altLang="zh-CN" sz="2500" b="1" dirty="0">
                <a:solidFill>
                  <a:srgbClr val="FF3399"/>
                </a:solidFill>
                <a:latin typeface="Times New Roman" panose="02020603050405020304" pitchFamily="18" charset="0"/>
              </a:rPr>
              <a:t>(int cent)</a:t>
            </a:r>
            <a:endParaRPr lang="en-US" altLang="zh-CN" sz="2500" b="1" dirty="0">
              <a:solidFill>
                <a:srgbClr val="FF3399"/>
              </a:solidFill>
              <a:latin typeface="Times New Roman" panose="02020603050405020304" pitchFamily="18" charset="0"/>
            </a:endParaRPr>
          </a:p>
          <a:p>
            <a:pPr lvl="2" eaLnBrk="1" hangingPunct="1">
              <a:lnSpc>
                <a:spcPct val="110000"/>
              </a:lnSpc>
              <a:buFont typeface="Wingdings 2" panose="05020102010507070707" pitchFamily="18" charset="2"/>
              <a:buNone/>
            </a:pPr>
            <a:r>
              <a:rPr lang="en-US" altLang="zh-CN" sz="2500" b="1" dirty="0">
                <a:solidFill>
                  <a:srgbClr val="FF3399"/>
                </a:solidFill>
                <a:latin typeface="Times New Roman" panose="02020603050405020304" pitchFamily="18" charset="0"/>
              </a:rPr>
              <a:t>        {   return (cent * 9 / 5 + 32);  }  </a:t>
            </a:r>
            <a:endParaRPr lang="en-US" altLang="zh-CN" sz="2500" b="1" dirty="0">
              <a:solidFill>
                <a:srgbClr val="FF3399"/>
              </a:solidFill>
              <a:latin typeface="Times New Roman" panose="02020603050405020304" pitchFamily="18" charset="0"/>
            </a:endParaRPr>
          </a:p>
          <a:p>
            <a:pPr lvl="2" eaLnBrk="1" hangingPunct="1">
              <a:lnSpc>
                <a:spcPct val="110000"/>
              </a:lnSpc>
              <a:buFont typeface="Wingdings 2" panose="05020102010507070707" pitchFamily="18" charset="2"/>
              <a:buNone/>
            </a:pPr>
            <a:r>
              <a:rPr lang="en-US" altLang="zh-CN" sz="2500" b="1" dirty="0">
                <a:solidFill>
                  <a:srgbClr val="FF3399"/>
                </a:solidFill>
                <a:latin typeface="Times New Roman" panose="02020603050405020304" pitchFamily="18" charset="0"/>
              </a:rPr>
              <a:t> }</a:t>
            </a:r>
            <a:endParaRPr lang="en-US" altLang="zh-CN" sz="2500" b="1" dirty="0">
              <a:solidFill>
                <a:srgbClr val="FF3399"/>
              </a:solidFill>
              <a:latin typeface="Times New Roman" panose="02020603050405020304" pitchFamily="18" charset="0"/>
            </a:endParaRPr>
          </a:p>
          <a:p>
            <a:pPr lvl="1" eaLnBrk="1" hangingPunct="1">
              <a:lnSpc>
                <a:spcPct val="110000"/>
              </a:lnSpc>
            </a:pPr>
            <a:r>
              <a:rPr lang="zh-CN" altLang="en-US" sz="2500" b="1" dirty="0">
                <a:latin typeface="Times New Roman" panose="02020603050405020304" pitchFamily="18" charset="0"/>
              </a:rPr>
              <a:t>方法调用</a:t>
            </a:r>
            <a:endParaRPr lang="zh-CN" altLang="en-US" sz="2500" b="1" dirty="0">
              <a:latin typeface="Times New Roman" panose="02020603050405020304" pitchFamily="18" charset="0"/>
            </a:endParaRPr>
          </a:p>
          <a:p>
            <a:pPr lvl="2" eaLnBrk="1" hangingPunct="1">
              <a:lnSpc>
                <a:spcPct val="110000"/>
              </a:lnSpc>
              <a:buFont typeface="Wingdings 2" panose="05020102010507070707" pitchFamily="18" charset="2"/>
              <a:buNone/>
            </a:pPr>
            <a:r>
              <a:rPr lang="en-US" altLang="zh-CN" sz="2500" b="1" dirty="0" err="1">
                <a:latin typeface="Times New Roman" panose="02020603050405020304" pitchFamily="18" charset="0"/>
              </a:rPr>
              <a:t>Converter.centigradeToFahrenheit</a:t>
            </a:r>
            <a:r>
              <a:rPr lang="en-US" altLang="zh-CN" sz="2500" b="1" dirty="0">
                <a:latin typeface="Times New Roman" panose="02020603050405020304" pitchFamily="18" charset="0"/>
              </a:rPr>
              <a:t>(40)</a:t>
            </a:r>
            <a:endParaRPr lang="zh-CN" altLang="en-US" sz="2500" b="1" dirty="0">
              <a:latin typeface="Times New Roman" panose="02020603050405020304" pitchFamily="18" charset="0"/>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136785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3"/>
          <p:cNvSpPr>
            <a:spLocks noGrp="1" noChangeArrowheads="1"/>
          </p:cNvSpPr>
          <p:nvPr>
            <p:ph idx="4294967295"/>
          </p:nvPr>
        </p:nvSpPr>
        <p:spPr>
          <a:xfrm>
            <a:off x="875420" y="1556792"/>
            <a:ext cx="10441160" cy="3240360"/>
          </a:xfrm>
        </p:spPr>
        <p:txBody>
          <a:bodyPr vert="horz" wrap="square" lIns="92075" tIns="46038" rIns="92075" bIns="46038" numCol="1" anchor="t" anchorCtr="0" compatLnSpc="1">
            <a:normAutofit/>
          </a:bodyPr>
          <a:lstStyle/>
          <a:p>
            <a:pPr marL="0" indent="0">
              <a:buNone/>
            </a:pPr>
            <a:r>
              <a:rPr lang="en-US" altLang="zh-CN" sz="2500" b="1" dirty="0">
                <a:latin typeface="Times New Roman" panose="02020603050405020304" pitchFamily="18" charset="0"/>
              </a:rPr>
              <a:t>public class </a:t>
            </a:r>
            <a:r>
              <a:rPr lang="en-US" altLang="zh-CN" sz="2500" b="1" dirty="0" err="1">
                <a:latin typeface="Times New Roman" panose="02020603050405020304" pitchFamily="18" charset="0"/>
              </a:rPr>
              <a:t>ConverterTester</a:t>
            </a: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public static void main (String[] </a:t>
            </a:r>
            <a:r>
              <a:rPr lang="en-US" altLang="zh-CN" sz="2500" b="1" dirty="0" err="1">
                <a:latin typeface="Times New Roman" panose="02020603050405020304" pitchFamily="18" charset="0"/>
              </a:rPr>
              <a:t>args</a:t>
            </a: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int cent = 40;</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int fah = </a:t>
            </a:r>
            <a:r>
              <a:rPr lang="en-US" altLang="zh-CN" sz="2500" b="1" dirty="0" err="1">
                <a:latin typeface="Times New Roman" panose="02020603050405020304" pitchFamily="18" charset="0"/>
              </a:rPr>
              <a:t>Converter.</a:t>
            </a:r>
            <a:r>
              <a:rPr lang="en-US" altLang="zh-CN" sz="2500" b="1" dirty="0" err="1">
                <a:solidFill>
                  <a:srgbClr val="FF3399"/>
                </a:solidFill>
                <a:highlight>
                  <a:srgbClr val="FFFF00"/>
                </a:highlight>
                <a:latin typeface="Times New Roman" panose="02020603050405020304" pitchFamily="18" charset="0"/>
              </a:rPr>
              <a:t>centigradeToFahrenheit</a:t>
            </a:r>
            <a:r>
              <a:rPr lang="en-US" altLang="zh-CN" sz="2500" b="1" dirty="0">
                <a:latin typeface="Times New Roman" panose="02020603050405020304" pitchFamily="18" charset="0"/>
              </a:rPr>
              <a:t>(40);</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a:t>
            </a:r>
            <a:r>
              <a:rPr lang="en-US" altLang="zh-CN" sz="2500" b="1" dirty="0" err="1">
                <a:latin typeface="Times New Roman" panose="02020603050405020304" pitchFamily="18" charset="0"/>
              </a:rPr>
              <a:t>System.out.println</a:t>
            </a:r>
            <a:r>
              <a:rPr lang="en-US" altLang="zh-CN" sz="2500" b="1" dirty="0">
                <a:latin typeface="Times New Roman" panose="02020603050405020304" pitchFamily="18" charset="0"/>
              </a:rPr>
              <a:t>("</a:t>
            </a:r>
            <a:r>
              <a:rPr lang="zh-CN" altLang="en-US" sz="2500" b="1" dirty="0">
                <a:latin typeface="Times New Roman" panose="02020603050405020304" pitchFamily="18" charset="0"/>
              </a:rPr>
              <a:t>摄氏</a:t>
            </a:r>
            <a:r>
              <a:rPr lang="en-US" altLang="zh-CN" sz="2500" b="1" dirty="0">
                <a:latin typeface="Times New Roman" panose="02020603050405020304" pitchFamily="18" charset="0"/>
              </a:rPr>
              <a:t>"+cent+"</a:t>
            </a:r>
            <a:r>
              <a:rPr lang="zh-CN" altLang="en-US" sz="2500" b="1" dirty="0">
                <a:latin typeface="Times New Roman" panose="02020603050405020304" pitchFamily="18" charset="0"/>
              </a:rPr>
              <a:t>度相当于华氏</a:t>
            </a:r>
            <a:r>
              <a:rPr lang="en-US" altLang="zh-CN" sz="2500" b="1" dirty="0">
                <a:latin typeface="Times New Roman" panose="02020603050405020304" pitchFamily="18" charset="0"/>
              </a:rPr>
              <a:t>"+fah+"</a:t>
            </a:r>
            <a:r>
              <a:rPr lang="zh-CN" altLang="en-US" sz="2500" b="1" dirty="0">
                <a:latin typeface="Times New Roman" panose="02020603050405020304" pitchFamily="18" charset="0"/>
              </a:rPr>
              <a:t>度</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a:t>
            </a:r>
            <a:endParaRPr lang="en-US" altLang="zh-CN" sz="2000" dirty="0">
              <a:latin typeface="Times New Roman" panose="02020603050405020304" pitchFamily="18" charset="0"/>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136785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Rectangle 3"/>
          <p:cNvSpPr txBox="1">
            <a:spLocks noChangeArrowheads="1"/>
          </p:cNvSpPr>
          <p:nvPr/>
        </p:nvSpPr>
        <p:spPr>
          <a:xfrm>
            <a:off x="983432" y="5390744"/>
            <a:ext cx="3672408" cy="973631"/>
          </a:xfrm>
          <a:prstGeom prst="rect">
            <a:avLst/>
          </a:prstGeom>
        </p:spPr>
        <p:txBody>
          <a:bodyPr vert="horz" wrap="square" lIns="92075" tIns="46038" rIns="92075" bIns="46038" numCol="1" rtlCol="0" anchor="t" anchorCtr="0" compatLnSpc="1">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zh-CN" altLang="en-US" sz="2500" b="1" dirty="0">
                <a:latin typeface="Times New Roman" panose="02020603050405020304" pitchFamily="18" charset="0"/>
              </a:rPr>
              <a:t>运行结果：</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r>
              <a:rPr lang="zh-CN" altLang="en-US" sz="2500" b="1" dirty="0">
                <a:latin typeface="Times New Roman" panose="02020603050405020304" pitchFamily="18" charset="0"/>
              </a:rPr>
              <a:t>摄氏</a:t>
            </a:r>
            <a:r>
              <a:rPr lang="en-US" altLang="zh-CN" sz="2500" b="1" dirty="0">
                <a:latin typeface="Times New Roman" panose="02020603050405020304" pitchFamily="18" charset="0"/>
              </a:rPr>
              <a:t>40</a:t>
            </a:r>
            <a:r>
              <a:rPr lang="zh-CN" altLang="en-US" sz="2500" b="1" dirty="0">
                <a:latin typeface="Times New Roman" panose="02020603050405020304" pitchFamily="18" charset="0"/>
              </a:rPr>
              <a:t>度相当于华氏</a:t>
            </a:r>
            <a:r>
              <a:rPr lang="en-US" altLang="zh-CN" sz="2500" b="1" dirty="0">
                <a:latin typeface="Times New Roman" panose="02020603050405020304" pitchFamily="18" charset="0"/>
              </a:rPr>
              <a:t>104</a:t>
            </a:r>
            <a:r>
              <a:rPr lang="zh-CN" altLang="en-US" sz="2500" b="1" dirty="0">
                <a:latin typeface="Times New Roman" panose="02020603050405020304" pitchFamily="18" charset="0"/>
              </a:rPr>
              <a:t>度</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marL="0" indent="0" fontAlgn="auto">
              <a:spcAft>
                <a:spcPts val="0"/>
              </a:spcAft>
              <a:buFont typeface="Arial" panose="020B0604020202020204" pitchFamily="34" charset="0"/>
              <a:buNone/>
            </a:pPr>
            <a:endParaRPr lang="en-US" altLang="zh-CN" sz="2000" dirty="0">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txBox="1">
            <a:spLocks noGrp="1"/>
          </p:cNvSpPr>
          <p:nvPr/>
        </p:nvSpPr>
        <p:spPr bwMode="auto">
          <a:xfrm>
            <a:off x="8763000" y="64008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lgn="r" eaLnBrk="1" hangingPunct="1">
              <a:spcBef>
                <a:spcPct val="0"/>
              </a:spcBef>
              <a:buClrTx/>
              <a:buFontTx/>
              <a:buNone/>
            </a:pPr>
            <a:fld id="{82F83D5F-7B2C-4A9A-9240-863D8AE63EB6}" type="slidenum">
              <a:rPr kumimoji="1" lang="en-US" altLang="zh-CN" sz="1400">
                <a:latin typeface="Times New Roman" panose="02020603050405020304" pitchFamily="18" charset="0"/>
                <a:ea typeface="楷体" panose="02010609060101010101" pitchFamily="49" charset="-122"/>
              </a:rPr>
            </a:fld>
            <a:endParaRPr kumimoji="1" lang="en-US" altLang="zh-CN" sz="1400">
              <a:latin typeface="Times New Roman" panose="02020603050405020304" pitchFamily="18" charset="0"/>
              <a:ea typeface="楷体" panose="02010609060101010101" pitchFamily="49" charset="-122"/>
            </a:endParaRPr>
          </a:p>
        </p:txBody>
      </p:sp>
      <p:sp>
        <p:nvSpPr>
          <p:cNvPr id="83971" name="Rectangle 3"/>
          <p:cNvSpPr>
            <a:spLocks noGrp="1" noChangeArrowheads="1"/>
          </p:cNvSpPr>
          <p:nvPr>
            <p:ph idx="4294967295"/>
          </p:nvPr>
        </p:nvSpPr>
        <p:spPr>
          <a:xfrm>
            <a:off x="1055440" y="1700808"/>
            <a:ext cx="9937104" cy="2448272"/>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可变长参数使用省略号表示，其实质是数组。</a:t>
            </a:r>
            <a:endParaRPr lang="zh-CN" altLang="en-US" sz="2700" b="1" dirty="0">
              <a:latin typeface="Times New Roman" panose="02020603050405020304" pitchFamily="18" charset="0"/>
            </a:endParaRPr>
          </a:p>
          <a:p>
            <a:pPr marL="0" indent="0">
              <a:lnSpc>
                <a:spcPct val="150000"/>
              </a:lnSpc>
              <a:spcBef>
                <a:spcPts val="0"/>
              </a:spcBef>
              <a:buNone/>
            </a:pPr>
            <a:r>
              <a:rPr lang="zh-CN" altLang="en-US" sz="2700" b="1" dirty="0">
                <a:latin typeface="Times New Roman" panose="02020603050405020304" pitchFamily="18" charset="0"/>
              </a:rPr>
              <a:t>           例如，“</a:t>
            </a:r>
            <a:r>
              <a:rPr lang="en-US" altLang="zh-CN" sz="2700" b="1" dirty="0">
                <a:latin typeface="Times New Roman" panose="02020603050405020304" pitchFamily="18" charset="0"/>
              </a:rPr>
              <a:t>String </a:t>
            </a:r>
            <a:r>
              <a:rPr lang="en-US" altLang="zh-CN" sz="2700" b="1" dirty="0">
                <a:solidFill>
                  <a:srgbClr val="FF3399"/>
                </a:solidFill>
                <a:highlight>
                  <a:srgbClr val="FFFF00"/>
                </a:highlight>
                <a:latin typeface="Times New Roman" panose="02020603050405020304" pitchFamily="18" charset="0"/>
              </a:rPr>
              <a:t>… </a:t>
            </a:r>
            <a:r>
              <a:rPr lang="en-US" altLang="zh-CN" sz="2700" b="1" dirty="0">
                <a:latin typeface="Times New Roman" panose="02020603050405020304" pitchFamily="18" charset="0"/>
              </a:rPr>
              <a:t>s”</a:t>
            </a:r>
            <a:r>
              <a:rPr lang="zh-CN" altLang="en-US" sz="2700" b="1" dirty="0">
                <a:latin typeface="Times New Roman" panose="02020603050405020304" pitchFamily="18" charset="0"/>
              </a:rPr>
              <a:t>表示“</a:t>
            </a:r>
            <a:r>
              <a:rPr lang="en-US" altLang="zh-CN" sz="2700" b="1" dirty="0">
                <a:latin typeface="Times New Roman" panose="02020603050405020304" pitchFamily="18" charset="0"/>
              </a:rPr>
              <a:t>String[] s” </a:t>
            </a:r>
            <a:r>
              <a:rPr lang="zh-CN" altLang="en-US" sz="2700" b="1" dirty="0">
                <a:latin typeface="Times New Roman" panose="02020603050405020304" pitchFamily="18" charset="0"/>
              </a:rPr>
              <a:t>。</a:t>
            </a:r>
            <a:endParaRPr lang="en-US" altLang="zh-CN"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对于具有可变长参数的方法，传递给可变长参数的实际参数可以是零个到多个对象。</a:t>
            </a:r>
            <a:endParaRPr lang="zh-CN" altLang="en-US" sz="2700" dirty="0">
              <a:latin typeface="Times New Roman" panose="02020603050405020304" pitchFamily="18" charset="0"/>
            </a:endParaRPr>
          </a:p>
        </p:txBody>
      </p:sp>
      <p:sp>
        <p:nvSpPr>
          <p:cNvPr id="3" name="灯片编号占位符 2"/>
          <p:cNvSpPr>
            <a:spLocks noGrp="1"/>
          </p:cNvSpPr>
          <p:nvPr>
            <p:ph type="sldNum" sz="quarter" idx="12"/>
          </p:nvPr>
        </p:nvSpPr>
        <p:spPr/>
        <p:txBody>
          <a:bodyPr/>
          <a:lstStyle/>
          <a:p>
            <a:pPr>
              <a:defRPr/>
            </a:pPr>
            <a:fld id="{1C500230-17C9-4CEC-B67E-B7DB8DE07B61}" type="slidenum">
              <a:rPr lang="en-US" altLang="zh-CN" smtClean="0">
                <a:latin typeface="Times New Roman" panose="02020603050405020304" pitchFamily="18" charset="0"/>
              </a:rPr>
            </a:fld>
            <a:endParaRPr lang="en-US" altLang="zh-CN">
              <a:latin typeface="Times New Roman" panose="02020603050405020304" pitchFamily="18" charset="0"/>
            </a:endParaRPr>
          </a:p>
        </p:txBody>
      </p:sp>
      <p:sp>
        <p:nvSpPr>
          <p:cNvPr id="4" name="文本框 3"/>
          <p:cNvSpPr txBox="1"/>
          <p:nvPr>
            <p:custDataLst>
              <p:tags r:id="rId1"/>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可变长参数</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5"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4294967295"/>
          </p:nvPr>
        </p:nvSpPr>
        <p:spPr>
          <a:xfrm>
            <a:off x="263352" y="1628800"/>
            <a:ext cx="4824536" cy="4712857"/>
          </a:xfrm>
        </p:spPr>
        <p:txBody>
          <a:bodyPr vert="horz" wrap="square" lIns="92075" tIns="46038" rIns="92075" bIns="46038" numCol="1" anchor="t" anchorCtr="0" compatLnSpc="1">
            <a:normAutofit lnSpcReduction="10000"/>
          </a:bodyPr>
          <a:lstStyle/>
          <a:p>
            <a:pPr lvl="1" indent="-742950">
              <a:lnSpc>
                <a:spcPct val="80000"/>
              </a:lnSpc>
              <a:buFont typeface="Georgia" panose="02040502050405020303" pitchFamily="18" charset="0"/>
              <a:buNone/>
            </a:pPr>
            <a:r>
              <a:rPr lang="en-US" altLang="zh-CN" sz="2400" b="1" dirty="0">
                <a:latin typeface="Times New Roman" panose="02020603050405020304" pitchFamily="18" charset="0"/>
              </a:rPr>
              <a:t>class Circle {</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static double PI = 3.14159265;</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radius;</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public double area() {</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return PI * radius * radius;</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400" b="1" dirty="0">
                <a:latin typeface="Times New Roman" panose="02020603050405020304" pitchFamily="18" charset="0"/>
              </a:rPr>
              <a:t>}</a:t>
            </a:r>
            <a:endParaRPr lang="en-US" altLang="zh-CN" sz="24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400" b="1" dirty="0">
                <a:latin typeface="Times New Roman" panose="02020603050405020304" pitchFamily="18" charset="0"/>
              </a:rPr>
              <a:t>class Rectangle {</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double width;</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double height;</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public double area() {</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return width * height;</a:t>
            </a:r>
            <a:endParaRPr lang="en-US" altLang="zh-CN" sz="2400" b="1" dirty="0">
              <a:latin typeface="Times New Roman" panose="02020603050405020304" pitchFamily="18" charset="0"/>
            </a:endParaRPr>
          </a:p>
          <a:p>
            <a:pPr lvl="1">
              <a:lnSpc>
                <a:spcPct val="80000"/>
              </a:lnSpc>
              <a:buFont typeface="Georgia" panose="02040502050405020303" pitchFamily="18" charset="0"/>
              <a:buNone/>
            </a:pPr>
            <a:r>
              <a:rPr lang="en-US" altLang="zh-CN" sz="2400" b="1" dirty="0">
                <a:latin typeface="Times New Roman" panose="02020603050405020304" pitchFamily="18" charset="0"/>
              </a:rPr>
              <a:t> }</a:t>
            </a:r>
            <a:endParaRPr lang="en-US" altLang="zh-CN" sz="24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400" b="1" dirty="0">
                <a:latin typeface="Times New Roman" panose="02020603050405020304" pitchFamily="18" charset="0"/>
              </a:rPr>
              <a:t>}</a:t>
            </a:r>
            <a:endParaRPr lang="zh-CN" altLang="en-US" b="1" dirty="0">
              <a:latin typeface="Times New Roman" panose="02020603050405020304" pitchFamily="18" charset="0"/>
            </a:endParaRPr>
          </a:p>
        </p:txBody>
      </p:sp>
      <p:sp>
        <p:nvSpPr>
          <p:cNvPr id="3" name="矩形 2"/>
          <p:cNvSpPr/>
          <p:nvPr/>
        </p:nvSpPr>
        <p:spPr>
          <a:xfrm>
            <a:off x="5447928" y="1628800"/>
            <a:ext cx="6624736" cy="4425827"/>
          </a:xfrm>
          <a:prstGeom prst="rect">
            <a:avLst/>
          </a:prstGeom>
        </p:spPr>
        <p:txBody>
          <a:bodyPr wrap="square">
            <a:spAutoFit/>
          </a:bodyPr>
          <a:lstStyle/>
          <a:p>
            <a:pPr marL="541655" lvl="1" indent="-541655">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static double </a:t>
            </a:r>
            <a:r>
              <a:rPr lang="en-US" altLang="zh-CN" sz="2200" b="1" dirty="0" err="1">
                <a:solidFill>
                  <a:srgbClr val="002060"/>
                </a:solidFill>
                <a:ea typeface="楷体" panose="02010609060101010101" pitchFamily="49" charset="-122"/>
                <a:sym typeface="Calibri" panose="020F0502020204030204" pitchFamily="34" charset="0"/>
              </a:rPr>
              <a:t>maxArea</a:t>
            </a:r>
            <a:r>
              <a:rPr lang="en-US" altLang="zh-CN" sz="2200" b="1" dirty="0">
                <a:solidFill>
                  <a:srgbClr val="002060"/>
                </a:solidFill>
                <a:ea typeface="楷体" panose="02010609060101010101" pitchFamily="49" charset="-122"/>
                <a:sym typeface="Calibri" panose="020F0502020204030204" pitchFamily="34" charset="0"/>
              </a:rPr>
              <a:t>(Circle c, </a:t>
            </a:r>
            <a:r>
              <a:rPr lang="en-US" altLang="zh-CN" sz="2200" b="1" dirty="0">
                <a:solidFill>
                  <a:srgbClr val="FF3399"/>
                </a:solidFill>
                <a:highlight>
                  <a:srgbClr val="FFFF00"/>
                </a:highlight>
                <a:ea typeface="楷体" panose="02010609060101010101" pitchFamily="49" charset="-122"/>
                <a:sym typeface="Calibri" panose="020F0502020204030204" pitchFamily="34" charset="0"/>
              </a:rPr>
              <a:t>Rectangle... </a:t>
            </a:r>
            <a:r>
              <a:rPr lang="en-US" altLang="zh-CN" sz="2200" b="1" dirty="0" err="1">
                <a:solidFill>
                  <a:srgbClr val="FF3399"/>
                </a:solidFill>
                <a:highlight>
                  <a:srgbClr val="FFFF00"/>
                </a:highlight>
                <a:ea typeface="楷体" panose="02010609060101010101" pitchFamily="49" charset="-122"/>
                <a:sym typeface="Calibri" panose="020F0502020204030204" pitchFamily="34" charset="0"/>
              </a:rPr>
              <a:t>varRec</a:t>
            </a:r>
            <a:r>
              <a:rPr lang="en-US" altLang="zh-CN" sz="2200" b="1" dirty="0">
                <a:solidFill>
                  <a:srgbClr val="002060"/>
                </a:solidFill>
                <a:ea typeface="楷体" panose="02010609060101010101" pitchFamily="49" charset="-122"/>
                <a:sym typeface="Calibri" panose="020F0502020204030204" pitchFamily="34" charset="0"/>
              </a:rPr>
              <a:t>) </a:t>
            </a:r>
            <a:endParaRPr lang="en-US" altLang="zh-CN" sz="2200" b="1" dirty="0">
              <a:solidFill>
                <a:srgbClr val="002060"/>
              </a:solidFill>
              <a:ea typeface="楷体" panose="02010609060101010101" pitchFamily="49" charset="-122"/>
              <a:sym typeface="Calibri" panose="020F0502020204030204" pitchFamily="34" charset="0"/>
            </a:endParaRPr>
          </a:p>
          <a:p>
            <a:pPr marL="541655" lvl="1" indent="-541655">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double max = 0.0;</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max = </a:t>
            </a:r>
            <a:r>
              <a:rPr lang="en-US" altLang="zh-CN" sz="2200" b="1" dirty="0" err="1">
                <a:solidFill>
                  <a:srgbClr val="002060"/>
                </a:solidFill>
                <a:ea typeface="楷体" panose="02010609060101010101" pitchFamily="49" charset="-122"/>
                <a:sym typeface="Calibri" panose="020F0502020204030204" pitchFamily="34" charset="0"/>
              </a:rPr>
              <a:t>c.area</a:t>
            </a:r>
            <a:r>
              <a:rPr lang="en-US" altLang="zh-CN" sz="2200" b="1" dirty="0">
                <a:solidFill>
                  <a:srgbClr val="002060"/>
                </a:solidFill>
                <a:ea typeface="楷体" panose="02010609060101010101" pitchFamily="49" charset="-122"/>
                <a:sym typeface="Calibri" panose="020F0502020204030204" pitchFamily="34" charset="0"/>
              </a:rPr>
              <a:t>();</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 Rectangle[] rec = </a:t>
            </a:r>
            <a:r>
              <a:rPr lang="en-US" altLang="zh-CN" sz="2200" b="1" dirty="0" err="1">
                <a:solidFill>
                  <a:srgbClr val="002060"/>
                </a:solidFill>
                <a:ea typeface="楷体" panose="02010609060101010101" pitchFamily="49" charset="-122"/>
                <a:sym typeface="Calibri" panose="020F0502020204030204" pitchFamily="34" charset="0"/>
              </a:rPr>
              <a:t>varRec</a:t>
            </a:r>
            <a:r>
              <a:rPr lang="en-US" altLang="zh-CN" sz="2200" b="1" dirty="0">
                <a:solidFill>
                  <a:srgbClr val="002060"/>
                </a:solidFill>
                <a:ea typeface="楷体" panose="02010609060101010101" pitchFamily="49" charset="-122"/>
                <a:sym typeface="Calibri" panose="020F0502020204030204" pitchFamily="34" charset="0"/>
              </a:rPr>
              <a:t>;</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 for (Rectangle r : rec) {</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            if (</a:t>
            </a:r>
            <a:r>
              <a:rPr lang="en-US" altLang="zh-CN" sz="2200" b="1" dirty="0" err="1">
                <a:solidFill>
                  <a:srgbClr val="002060"/>
                </a:solidFill>
                <a:ea typeface="楷体" panose="02010609060101010101" pitchFamily="49" charset="-122"/>
                <a:sym typeface="Calibri" panose="020F0502020204030204" pitchFamily="34" charset="0"/>
              </a:rPr>
              <a:t>r.area</a:t>
            </a:r>
            <a:r>
              <a:rPr lang="en-US" altLang="zh-CN" sz="2200" b="1" dirty="0">
                <a:solidFill>
                  <a:srgbClr val="002060"/>
                </a:solidFill>
                <a:ea typeface="楷体" panose="02010609060101010101" pitchFamily="49" charset="-122"/>
                <a:sym typeface="Calibri" panose="020F0502020204030204" pitchFamily="34" charset="0"/>
              </a:rPr>
              <a:t>() &gt; max)</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                max = </a:t>
            </a:r>
            <a:r>
              <a:rPr lang="en-US" altLang="zh-CN" sz="2200" b="1" dirty="0" err="1">
                <a:solidFill>
                  <a:srgbClr val="002060"/>
                </a:solidFill>
                <a:ea typeface="楷体" panose="02010609060101010101" pitchFamily="49" charset="-122"/>
                <a:sym typeface="Calibri" panose="020F0502020204030204" pitchFamily="34" charset="0"/>
              </a:rPr>
              <a:t>r.area</a:t>
            </a:r>
            <a:r>
              <a:rPr lang="en-US" altLang="zh-CN" sz="2200" b="1" dirty="0">
                <a:solidFill>
                  <a:srgbClr val="002060"/>
                </a:solidFill>
                <a:ea typeface="楷体" panose="02010609060101010101" pitchFamily="49" charset="-122"/>
                <a:sym typeface="Calibri" panose="020F0502020204030204" pitchFamily="34" charset="0"/>
              </a:rPr>
              <a:t>();</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  }</a:t>
            </a:r>
            <a:endParaRPr lang="en-US" altLang="zh-CN" sz="2200" b="1" dirty="0">
              <a:solidFill>
                <a:srgbClr val="002060"/>
              </a:solidFill>
              <a:ea typeface="楷体" panose="02010609060101010101" pitchFamily="49" charset="-122"/>
              <a:sym typeface="Calibri" panose="020F0502020204030204" pitchFamily="34" charset="0"/>
            </a:endParaRPr>
          </a:p>
          <a:p>
            <a:pPr marL="990600" lvl="1" indent="-38100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 return max;</a:t>
            </a:r>
            <a:endParaRPr lang="en-US" altLang="zh-CN" sz="2200" b="1" dirty="0">
              <a:solidFill>
                <a:srgbClr val="002060"/>
              </a:solidFill>
              <a:ea typeface="楷体" panose="02010609060101010101" pitchFamily="49" charset="-122"/>
              <a:sym typeface="Calibri" panose="020F0502020204030204" pitchFamily="34" charset="0"/>
            </a:endParaRPr>
          </a:p>
          <a:p>
            <a:pPr marL="989330" lvl="1" indent="-98933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a:t>
            </a:r>
            <a:endParaRPr lang="en-US" altLang="zh-CN" sz="2200" b="1" dirty="0">
              <a:solidFill>
                <a:srgbClr val="002060"/>
              </a:solidFill>
              <a:ea typeface="楷体" panose="02010609060101010101" pitchFamily="49" charset="-122"/>
              <a:sym typeface="Calibri" panose="020F0502020204030204" pitchFamily="34" charset="0"/>
            </a:endParaRPr>
          </a:p>
          <a:p>
            <a:pPr marL="989330" lvl="1" indent="-989330">
              <a:lnSpc>
                <a:spcPct val="80000"/>
              </a:lnSpc>
              <a:spcBef>
                <a:spcPct val="20000"/>
              </a:spcBef>
              <a:buClr>
                <a:srgbClr val="FFFFFF"/>
              </a:buClr>
            </a:pPr>
            <a:endParaRPr lang="en-US" altLang="zh-CN" sz="2200" b="1" dirty="0">
              <a:solidFill>
                <a:srgbClr val="002060"/>
              </a:solidFill>
              <a:ea typeface="楷体" panose="02010609060101010101" pitchFamily="49" charset="-122"/>
              <a:sym typeface="Calibri" panose="020F0502020204030204" pitchFamily="34" charset="0"/>
            </a:endParaRPr>
          </a:p>
          <a:p>
            <a:pPr marL="989330" lvl="1" indent="-989330">
              <a:lnSpc>
                <a:spcPct val="80000"/>
              </a:lnSpc>
              <a:spcBef>
                <a:spcPct val="20000"/>
              </a:spcBef>
              <a:buClr>
                <a:srgbClr val="FFFFFF"/>
              </a:buClr>
            </a:pPr>
            <a:r>
              <a:rPr lang="en-US" altLang="zh-CN" sz="2200" b="1" dirty="0">
                <a:solidFill>
                  <a:srgbClr val="002060"/>
                </a:solidFill>
                <a:ea typeface="楷体" panose="02010609060101010101" pitchFamily="49" charset="-122"/>
                <a:sym typeface="Calibri" panose="020F0502020204030204" pitchFamily="34" charset="0"/>
              </a:rPr>
              <a:t>}</a:t>
            </a:r>
            <a:endParaRPr lang="zh-CN" altLang="en-US" sz="2200" b="1" dirty="0">
              <a:ea typeface="楷体" panose="02010609060101010101" pitchFamily="49" charset="-122"/>
            </a:endParaRPr>
          </a:p>
        </p:txBody>
      </p:sp>
      <p:sp>
        <p:nvSpPr>
          <p:cNvPr id="5"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6" name="文本框 5"/>
          <p:cNvSpPr txBox="1"/>
          <p:nvPr>
            <p:custDataLst>
              <p:tags r:id="rId2"/>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可变长参数</a:t>
            </a:r>
            <a:endParaRPr lang="zh-CN" altLang="en-US" sz="2800" dirty="0">
              <a:solidFill>
                <a:schemeClr val="bg1"/>
              </a:solidFill>
              <a:ea typeface="楷体" panose="02010609060101010101" pitchFamily="49" charset="-122"/>
              <a:cs typeface="思源黑体 CN Heavy" panose="020B0A00000000000000" charset="-122"/>
            </a:endParaRPr>
          </a:p>
        </p:txBody>
      </p:sp>
      <p:cxnSp>
        <p:nvCxnSpPr>
          <p:cNvPr id="2" name="直接连接符 1"/>
          <p:cNvCxnSpPr/>
          <p:nvPr/>
        </p:nvCxnSpPr>
        <p:spPr bwMode="auto">
          <a:xfrm>
            <a:off x="5303912" y="980440"/>
            <a:ext cx="0" cy="5400000"/>
          </a:xfrm>
          <a:prstGeom prst="line">
            <a:avLst/>
          </a:prstGeom>
          <a:ln w="19050">
            <a:prstDash val="dash"/>
            <a:headEnd type="none" w="med" len="med"/>
            <a:tailEnd type="none" w="med" len="med"/>
          </a:ln>
        </p:spPr>
        <p:style>
          <a:lnRef idx="1">
            <a:schemeClr val="accent6"/>
          </a:lnRef>
          <a:fillRef idx="0">
            <a:schemeClr val="accent6"/>
          </a:fillRef>
          <a:effectRef idx="0">
            <a:schemeClr val="accent6"/>
          </a:effectRef>
          <a:fontRef idx="minor">
            <a:schemeClr val="tx1"/>
          </a:fontRef>
        </p:style>
      </p:cxn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4294967295"/>
          </p:nvPr>
        </p:nvSpPr>
        <p:spPr>
          <a:xfrm>
            <a:off x="465584" y="1628800"/>
            <a:ext cx="10972800" cy="4968552"/>
          </a:xfrm>
        </p:spPr>
        <p:txBody>
          <a:bodyPr vert="horz" wrap="square" lIns="92075" tIns="46038" rIns="92075" bIns="46038" numCol="1" anchor="t" anchorCtr="0" compatLnSpc="1">
            <a:normAutofit lnSpcReduction="10000"/>
          </a:bodyPr>
          <a:lstStyle/>
          <a:p>
            <a:pPr lvl="1" indent="-742950">
              <a:lnSpc>
                <a:spcPct val="80000"/>
              </a:lnSpc>
              <a:buFont typeface="Georgia" panose="02040502050405020303" pitchFamily="18" charset="0"/>
              <a:buNone/>
            </a:pPr>
            <a:r>
              <a:rPr lang="en-US" altLang="zh-CN" sz="2200" b="1" dirty="0">
                <a:latin typeface="Times New Roman" panose="02020603050405020304" pitchFamily="18" charset="0"/>
              </a:rPr>
              <a:t>public class </a:t>
            </a:r>
            <a:r>
              <a:rPr lang="en-US" altLang="zh-CN" sz="2200" b="1" dirty="0" err="1">
                <a:latin typeface="Times New Roman" panose="02020603050405020304" pitchFamily="18" charset="0"/>
              </a:rPr>
              <a:t>VarArgTester</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public static void main(String[] </a:t>
            </a:r>
            <a:r>
              <a:rPr lang="en-US" altLang="zh-CN" sz="2200" b="1" dirty="0" err="1">
                <a:latin typeface="Times New Roman" panose="02020603050405020304" pitchFamily="18" charset="0"/>
              </a:rPr>
              <a:t>args</a:t>
            </a: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Circle c = new Circle();</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c.radius</a:t>
            </a:r>
            <a:r>
              <a:rPr lang="en-US" altLang="zh-CN" sz="2200" b="1" dirty="0">
                <a:latin typeface="Times New Roman" panose="02020603050405020304" pitchFamily="18" charset="0"/>
              </a:rPr>
              <a:t> = 10;</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Rectangle r1 = new Rectangle();</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r1.width = 20;</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r1.height = 30;</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Rectangle r2 = new Rectangle();</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r2.width = 10;</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r2.height = 40;</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("max area of c, r1 and r2 is  " + </a:t>
            </a:r>
            <a:r>
              <a:rPr lang="en-US" altLang="zh-CN" sz="2200" b="1" dirty="0" err="1">
                <a:latin typeface="Times New Roman" panose="02020603050405020304" pitchFamily="18" charset="0"/>
              </a:rPr>
              <a:t>maxArea</a:t>
            </a:r>
            <a:r>
              <a:rPr lang="en-US" altLang="zh-CN" sz="2200" b="1" dirty="0">
                <a:latin typeface="Times New Roman" panose="02020603050405020304" pitchFamily="18" charset="0"/>
              </a:rPr>
              <a:t>(c, r1, r2));</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("max area of c and r1 is  " + </a:t>
            </a:r>
            <a:r>
              <a:rPr lang="en-US" altLang="zh-CN" sz="2200" b="1" dirty="0" err="1">
                <a:latin typeface="Times New Roman" panose="02020603050405020304" pitchFamily="18" charset="0"/>
              </a:rPr>
              <a:t>maxArea</a:t>
            </a:r>
            <a:r>
              <a:rPr lang="en-US" altLang="zh-CN" sz="2200" b="1" dirty="0">
                <a:latin typeface="Times New Roman" panose="02020603050405020304" pitchFamily="18" charset="0"/>
              </a:rPr>
              <a:t>(c, r1));</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("max area of c and r2 is  " + </a:t>
            </a:r>
            <a:r>
              <a:rPr lang="en-US" altLang="zh-CN" sz="2200" b="1" dirty="0" err="1">
                <a:latin typeface="Times New Roman" panose="02020603050405020304" pitchFamily="18" charset="0"/>
              </a:rPr>
              <a:t>maxArea</a:t>
            </a:r>
            <a:r>
              <a:rPr lang="en-US" altLang="zh-CN" sz="2200" b="1" dirty="0">
                <a:latin typeface="Times New Roman" panose="02020603050405020304" pitchFamily="18" charset="0"/>
              </a:rPr>
              <a:t>(c, r2));</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a:t>
            </a:r>
            <a:r>
              <a:rPr lang="en-US" altLang="zh-CN" sz="2200" b="1" dirty="0" err="1">
                <a:latin typeface="Times New Roman" panose="02020603050405020304" pitchFamily="18" charset="0"/>
              </a:rPr>
              <a:t>System.out.println</a:t>
            </a:r>
            <a:r>
              <a:rPr lang="en-US" altLang="zh-CN" sz="2200" b="1" dirty="0">
                <a:latin typeface="Times New Roman" panose="02020603050405020304" pitchFamily="18" charset="0"/>
              </a:rPr>
              <a:t>("max area of only c is  " + </a:t>
            </a:r>
            <a:r>
              <a:rPr lang="en-US" altLang="zh-CN" sz="2200" b="1" dirty="0" err="1">
                <a:latin typeface="Times New Roman" panose="02020603050405020304" pitchFamily="18" charset="0"/>
              </a:rPr>
              <a:t>maxArea</a:t>
            </a:r>
            <a:r>
              <a:rPr lang="en-US" altLang="zh-CN" sz="2200" b="1" dirty="0">
                <a:latin typeface="Times New Roman" panose="02020603050405020304" pitchFamily="18" charset="0"/>
              </a:rPr>
              <a:t>(c));</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       }</a:t>
            </a:r>
            <a:endParaRPr lang="en-US" altLang="zh-CN" sz="2200" b="1" dirty="0">
              <a:latin typeface="Times New Roman" panose="02020603050405020304" pitchFamily="18" charset="0"/>
            </a:endParaRPr>
          </a:p>
          <a:p>
            <a:pPr lvl="1" indent="-742950">
              <a:lnSpc>
                <a:spcPct val="80000"/>
              </a:lnSpc>
              <a:buFont typeface="Georgia" panose="02040502050405020303" pitchFamily="18" charset="0"/>
              <a:buNone/>
            </a:pPr>
            <a:r>
              <a:rPr lang="en-US" altLang="zh-CN" sz="2200" b="1" dirty="0">
                <a:latin typeface="Times New Roman" panose="02020603050405020304" pitchFamily="18" charset="0"/>
              </a:rPr>
              <a:t>}</a:t>
            </a:r>
            <a:endParaRPr lang="zh-CN" altLang="en-US" sz="2200" b="1" dirty="0">
              <a:latin typeface="Times New Roman" panose="02020603050405020304" pitchFamily="18" charset="0"/>
            </a:endParaRPr>
          </a:p>
        </p:txBody>
      </p:sp>
      <p:sp>
        <p:nvSpPr>
          <p:cNvPr id="4" name="矩形 3"/>
          <p:cNvSpPr/>
          <p:nvPr/>
        </p:nvSpPr>
        <p:spPr>
          <a:xfrm>
            <a:off x="7099249" y="1988840"/>
            <a:ext cx="4464496" cy="1877437"/>
          </a:xfrm>
          <a:prstGeom prst="rect">
            <a:avLst/>
          </a:prstGeom>
          <a:solidFill>
            <a:schemeClr val="bg1"/>
          </a:solidFill>
        </p:spPr>
        <p:txBody>
          <a:bodyPr wrap="square">
            <a:spAutoFit/>
          </a:bodyPr>
          <a:lstStyle/>
          <a:p>
            <a:pPr lvl="0">
              <a:spcBef>
                <a:spcPct val="20000"/>
              </a:spcBef>
              <a:buClr>
                <a:srgbClr val="FFFFFF"/>
              </a:buClr>
            </a:pPr>
            <a:r>
              <a:rPr lang="zh-CN" altLang="en-US" sz="2000" dirty="0">
                <a:solidFill>
                  <a:srgbClr val="002060"/>
                </a:solidFill>
                <a:ea typeface="楷体" panose="02010609060101010101" pitchFamily="49" charset="-122"/>
                <a:sym typeface="Calibri" panose="020F0502020204030204" pitchFamily="34" charset="0"/>
              </a:rPr>
              <a:t>运行结果：</a:t>
            </a:r>
            <a:endParaRPr lang="en-US" altLang="zh-CN" sz="2000" dirty="0">
              <a:solidFill>
                <a:srgbClr val="002060"/>
              </a:solidFill>
              <a:ea typeface="楷体" panose="02010609060101010101" pitchFamily="49" charset="-122"/>
              <a:sym typeface="Calibri" panose="020F0502020204030204" pitchFamily="34" charset="0"/>
            </a:endParaRPr>
          </a:p>
          <a:p>
            <a:pPr lvl="0">
              <a:spcBef>
                <a:spcPct val="20000"/>
              </a:spcBef>
              <a:buClr>
                <a:srgbClr val="FFFFFF"/>
              </a:buClr>
            </a:pPr>
            <a:r>
              <a:rPr lang="en-US" altLang="zh-CN" sz="2000" dirty="0">
                <a:solidFill>
                  <a:srgbClr val="002060"/>
                </a:solidFill>
                <a:ea typeface="楷体" panose="02010609060101010101" pitchFamily="49" charset="-122"/>
                <a:sym typeface="Calibri" panose="020F0502020204030204" pitchFamily="34" charset="0"/>
              </a:rPr>
              <a:t>max area of c, r1 and r2 is  600.0</a:t>
            </a:r>
            <a:endParaRPr lang="en-US" altLang="zh-CN" sz="2000" dirty="0">
              <a:solidFill>
                <a:srgbClr val="002060"/>
              </a:solidFill>
              <a:ea typeface="楷体" panose="02010609060101010101" pitchFamily="49" charset="-122"/>
              <a:sym typeface="Calibri" panose="020F0502020204030204" pitchFamily="34" charset="0"/>
            </a:endParaRPr>
          </a:p>
          <a:p>
            <a:pPr lvl="0">
              <a:spcBef>
                <a:spcPct val="20000"/>
              </a:spcBef>
              <a:buClr>
                <a:srgbClr val="FFFFFF"/>
              </a:buClr>
            </a:pPr>
            <a:r>
              <a:rPr lang="en-US" altLang="zh-CN" sz="2000" dirty="0">
                <a:solidFill>
                  <a:srgbClr val="002060"/>
                </a:solidFill>
                <a:ea typeface="楷体" panose="02010609060101010101" pitchFamily="49" charset="-122"/>
                <a:sym typeface="Calibri" panose="020F0502020204030204" pitchFamily="34" charset="0"/>
              </a:rPr>
              <a:t>max area of c and r1 is  600.0</a:t>
            </a:r>
            <a:endParaRPr lang="en-US" altLang="zh-CN" sz="2000" dirty="0">
              <a:solidFill>
                <a:srgbClr val="002060"/>
              </a:solidFill>
              <a:ea typeface="楷体" panose="02010609060101010101" pitchFamily="49" charset="-122"/>
              <a:sym typeface="Calibri" panose="020F0502020204030204" pitchFamily="34" charset="0"/>
            </a:endParaRPr>
          </a:p>
          <a:p>
            <a:pPr lvl="0">
              <a:spcBef>
                <a:spcPct val="20000"/>
              </a:spcBef>
              <a:buClr>
                <a:srgbClr val="FFFFFF"/>
              </a:buClr>
            </a:pPr>
            <a:r>
              <a:rPr lang="en-US" altLang="zh-CN" sz="2000" dirty="0">
                <a:solidFill>
                  <a:srgbClr val="002060"/>
                </a:solidFill>
                <a:ea typeface="楷体" panose="02010609060101010101" pitchFamily="49" charset="-122"/>
                <a:sym typeface="Calibri" panose="020F0502020204030204" pitchFamily="34" charset="0"/>
              </a:rPr>
              <a:t>max area of c and r2 is  400.0</a:t>
            </a:r>
            <a:endParaRPr lang="en-US" altLang="zh-CN" sz="2000" dirty="0">
              <a:solidFill>
                <a:srgbClr val="002060"/>
              </a:solidFill>
              <a:ea typeface="楷体" panose="02010609060101010101" pitchFamily="49" charset="-122"/>
              <a:sym typeface="Calibri" panose="020F0502020204030204" pitchFamily="34" charset="0"/>
            </a:endParaRPr>
          </a:p>
          <a:p>
            <a:pPr lvl="0">
              <a:spcBef>
                <a:spcPct val="20000"/>
              </a:spcBef>
              <a:buClr>
                <a:srgbClr val="FFFFFF"/>
              </a:buClr>
            </a:pPr>
            <a:r>
              <a:rPr lang="en-US" altLang="zh-CN" sz="2000" dirty="0">
                <a:solidFill>
                  <a:srgbClr val="002060"/>
                </a:solidFill>
                <a:ea typeface="楷体" panose="02010609060101010101" pitchFamily="49" charset="-122"/>
                <a:sym typeface="Calibri" panose="020F0502020204030204" pitchFamily="34" charset="0"/>
              </a:rPr>
              <a:t>max area of only c is  314.159265</a:t>
            </a:r>
            <a:endParaRPr lang="en-US" altLang="zh-CN" sz="2000" dirty="0">
              <a:solidFill>
                <a:srgbClr val="002060"/>
              </a:solidFill>
              <a:ea typeface="楷体" panose="02010609060101010101" pitchFamily="49" charset="-122"/>
              <a:sym typeface="Calibri" panose="020F0502020204030204" pitchFamily="34" charset="0"/>
            </a:endParaRPr>
          </a:p>
        </p:txBody>
      </p:sp>
      <p:sp>
        <p:nvSpPr>
          <p:cNvPr id="5"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6" name="文本框 5"/>
          <p:cNvSpPr txBox="1"/>
          <p:nvPr>
            <p:custDataLst>
              <p:tags r:id="rId2"/>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可变长参数</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4294967295"/>
          </p:nvPr>
        </p:nvSpPr>
        <p:spPr>
          <a:xfrm>
            <a:off x="1415480" y="1844824"/>
            <a:ext cx="8568952" cy="1512168"/>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包</a:t>
            </a:r>
            <a:r>
              <a:rPr lang="zh-CN" altLang="en-GB" sz="2700" b="1" dirty="0">
                <a:latin typeface="Times New Roman" panose="02020603050405020304" pitchFamily="18" charset="0"/>
              </a:rPr>
              <a:t>是一组类的集合</a:t>
            </a:r>
            <a:endParaRPr lang="zh-CN" altLang="en-GB"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GB" sz="2700" b="1" dirty="0">
                <a:latin typeface="Times New Roman" panose="02020603050405020304" pitchFamily="18" charset="0"/>
              </a:rPr>
              <a:t>一个包可以包含若干个类文件，还可包含若干个包</a:t>
            </a:r>
            <a:endParaRPr lang="zh-CN" altLang="en-GB" sz="2700" b="1" dirty="0">
              <a:latin typeface="Times New Roman" panose="02020603050405020304" pitchFamily="18" charset="0"/>
            </a:endParaRPr>
          </a:p>
        </p:txBody>
      </p:sp>
      <p:sp>
        <p:nvSpPr>
          <p:cNvPr id="8704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26F2D45-3470-4B6A-975A-9CCAD4E4BCF2}"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2" name="文本框 1"/>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包的概念</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p:cNvSpPr>
            <a:spLocks noGrp="1" noChangeArrowheads="1"/>
          </p:cNvSpPr>
          <p:nvPr>
            <p:ph idx="4294967295"/>
          </p:nvPr>
        </p:nvSpPr>
        <p:spPr>
          <a:xfrm>
            <a:off x="1055440" y="1628800"/>
            <a:ext cx="10297144" cy="2160240"/>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GB" sz="2700" b="1" dirty="0">
                <a:latin typeface="Times New Roman" panose="02020603050405020304" pitchFamily="18" charset="0"/>
              </a:rPr>
              <a:t>将</a:t>
            </a:r>
            <a:r>
              <a:rPr lang="zh-CN" altLang="en-GB" sz="2700" b="1" dirty="0">
                <a:solidFill>
                  <a:srgbClr val="FF3399"/>
                </a:solidFill>
                <a:latin typeface="Times New Roman" panose="02020603050405020304" pitchFamily="18" charset="0"/>
              </a:rPr>
              <a:t>相关的源代码文件组织在一起</a:t>
            </a:r>
            <a:r>
              <a:rPr lang="zh-CN" altLang="en-US" sz="2700" b="1" dirty="0">
                <a:latin typeface="Times New Roman" panose="02020603050405020304" pitchFamily="18" charset="0"/>
              </a:rPr>
              <a:t>。</a:t>
            </a:r>
            <a:endParaRPr lang="zh-CN" altLang="en-GB"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GB" sz="2700" b="1" dirty="0">
                <a:latin typeface="Times New Roman" panose="02020603050405020304" pitchFamily="18" charset="0"/>
              </a:rPr>
              <a:t>类名的空间管理，利用包来划分名字空间可以</a:t>
            </a:r>
            <a:r>
              <a:rPr lang="zh-CN" altLang="en-GB" sz="2700" b="1" dirty="0">
                <a:solidFill>
                  <a:srgbClr val="FF3399"/>
                </a:solidFill>
                <a:latin typeface="Times New Roman" panose="02020603050405020304" pitchFamily="18" charset="0"/>
              </a:rPr>
              <a:t>避免类名冲突</a:t>
            </a:r>
            <a:r>
              <a:rPr lang="zh-CN" altLang="en-US" sz="2700" b="1" dirty="0">
                <a:latin typeface="Times New Roman" panose="02020603050405020304" pitchFamily="18" charset="0"/>
              </a:rPr>
              <a:t>。</a:t>
            </a:r>
            <a:endParaRPr lang="zh-CN" altLang="en-GB"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GB" sz="2700" b="1" dirty="0">
                <a:latin typeface="Times New Roman" panose="02020603050405020304" pitchFamily="18" charset="0"/>
              </a:rPr>
              <a:t>提供包一级的</a:t>
            </a:r>
            <a:r>
              <a:rPr lang="zh-CN" altLang="en-GB" sz="2700" b="1" dirty="0">
                <a:solidFill>
                  <a:srgbClr val="FF3399"/>
                </a:solidFill>
                <a:latin typeface="Times New Roman" panose="02020603050405020304" pitchFamily="18" charset="0"/>
              </a:rPr>
              <a:t>封装及存取权限</a:t>
            </a:r>
            <a:r>
              <a:rPr lang="zh-CN" altLang="en-US" sz="2700" b="1" dirty="0">
                <a:latin typeface="Times New Roman" panose="02020603050405020304" pitchFamily="18" charset="0"/>
              </a:rPr>
              <a:t>。</a:t>
            </a:r>
            <a:endParaRPr lang="zh-CN" altLang="en-GB" sz="2700" b="1" dirty="0">
              <a:latin typeface="Times New Roman" panose="02020603050405020304" pitchFamily="18" charset="0"/>
            </a:endParaRPr>
          </a:p>
        </p:txBody>
      </p:sp>
      <p:sp>
        <p:nvSpPr>
          <p:cNvPr id="8704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26F2D45-3470-4B6A-975A-9CCAD4E4BCF2}"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包的作用</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idx="4294967295"/>
          </p:nvPr>
        </p:nvSpPr>
        <p:spPr>
          <a:xfrm>
            <a:off x="983432" y="1556792"/>
            <a:ext cx="10513168" cy="5040560"/>
          </a:xfrm>
        </p:spPr>
        <p:txBody>
          <a:bodyPr vert="horz" wrap="square" lIns="92075" tIns="46038" rIns="92075" bIns="46038" numCol="1" anchor="t" anchorCtr="0" compatLnSpc="1">
            <a:normAutofit fontScale="92500" lnSpcReduction="10000"/>
          </a:bodyPr>
          <a:lstStyle/>
          <a:p>
            <a:pPr>
              <a:lnSpc>
                <a:spcPct val="150000"/>
              </a:lnSpc>
              <a:spcBef>
                <a:spcPts val="0"/>
              </a:spcBef>
              <a:buFont typeface="Wingdings" panose="05000000000000000000" pitchFamily="2" charset="2"/>
              <a:buChar char="Ø"/>
            </a:pPr>
            <a:r>
              <a:rPr lang="zh-CN" altLang="en-GB" sz="2900" b="1" dirty="0">
                <a:latin typeface="Times New Roman" panose="02020603050405020304" pitchFamily="18" charset="0"/>
              </a:rPr>
              <a:t>每个包的名称必须是“独一无二”的</a:t>
            </a:r>
            <a:r>
              <a:rPr lang="zh-CN" altLang="en-US" sz="2900" b="1" dirty="0">
                <a:latin typeface="Times New Roman" panose="02020603050405020304" pitchFamily="18" charset="0"/>
              </a:rPr>
              <a:t>。</a:t>
            </a:r>
            <a:endParaRPr lang="zh-CN" altLang="en-GB" sz="29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en-US" altLang="zh-CN" sz="2900" b="1" dirty="0">
                <a:latin typeface="Times New Roman" panose="02020603050405020304" pitchFamily="18" charset="0"/>
              </a:rPr>
              <a:t>Java</a:t>
            </a:r>
            <a:r>
              <a:rPr lang="zh-CN" altLang="en-US" sz="2900" b="1" dirty="0">
                <a:latin typeface="Times New Roman" panose="02020603050405020304" pitchFamily="18" charset="0"/>
              </a:rPr>
              <a:t>中包名使用小写字母表示。</a:t>
            </a:r>
            <a:endParaRPr lang="zh-CN" altLang="en-GB" sz="29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GB" sz="2900" b="1" dirty="0">
                <a:latin typeface="Times New Roman" panose="02020603050405020304" pitchFamily="18" charset="0"/>
              </a:rPr>
              <a:t>命名方式建议</a:t>
            </a:r>
            <a:r>
              <a:rPr lang="zh-CN" altLang="en-US" sz="2900" b="1" dirty="0">
                <a:latin typeface="Times New Roman" panose="02020603050405020304" pitchFamily="18" charset="0"/>
              </a:rPr>
              <a:t>：</a:t>
            </a:r>
            <a:endParaRPr lang="zh-CN" altLang="en-GB" sz="2900" b="1" dirty="0">
              <a:latin typeface="Times New Roman" panose="02020603050405020304" pitchFamily="18" charset="0"/>
            </a:endParaRPr>
          </a:p>
          <a:p>
            <a:pPr marL="971550" lvl="1" indent="-514350">
              <a:lnSpc>
                <a:spcPct val="160000"/>
              </a:lnSpc>
              <a:spcBef>
                <a:spcPts val="0"/>
              </a:spcBef>
              <a:buFont typeface="+mj-ea"/>
              <a:buAutoNum type="circleNumDbPlain"/>
            </a:pPr>
            <a:r>
              <a:rPr lang="zh-CN" altLang="en-GB" sz="2900" b="1" dirty="0">
                <a:latin typeface="Times New Roman" panose="02020603050405020304" pitchFamily="18" charset="0"/>
              </a:rPr>
              <a:t>将机构的</a:t>
            </a:r>
            <a:r>
              <a:rPr lang="en-GB" altLang="zh-CN" sz="2900" b="1" dirty="0">
                <a:latin typeface="Times New Roman" panose="02020603050405020304" pitchFamily="18" charset="0"/>
              </a:rPr>
              <a:t>Internet</a:t>
            </a:r>
            <a:r>
              <a:rPr lang="zh-CN" altLang="en-GB" sz="2900" b="1" dirty="0">
                <a:latin typeface="Times New Roman" panose="02020603050405020304" pitchFamily="18" charset="0"/>
              </a:rPr>
              <a:t>域名反序，作为包名的前导</a:t>
            </a:r>
            <a:r>
              <a:rPr lang="zh-CN" altLang="en-US" sz="2900" b="1" dirty="0">
                <a:latin typeface="Times New Roman" panose="02020603050405020304" pitchFamily="18" charset="0"/>
              </a:rPr>
              <a:t>；</a:t>
            </a:r>
            <a:endParaRPr lang="zh-CN" altLang="en-GB" sz="2900" b="1" dirty="0">
              <a:latin typeface="Times New Roman" panose="02020603050405020304" pitchFamily="18" charset="0"/>
            </a:endParaRPr>
          </a:p>
          <a:p>
            <a:pPr marL="971550" lvl="1" indent="-514350">
              <a:lnSpc>
                <a:spcPct val="160000"/>
              </a:lnSpc>
              <a:spcBef>
                <a:spcPts val="0"/>
              </a:spcBef>
              <a:buFont typeface="+mj-ea"/>
              <a:buAutoNum type="circleNumDbPlain"/>
            </a:pPr>
            <a:r>
              <a:rPr lang="zh-CN" altLang="en-GB" sz="2900" b="1" dirty="0">
                <a:latin typeface="Times New Roman" panose="02020603050405020304" pitchFamily="18" charset="0"/>
              </a:rPr>
              <a:t>若包名中有任何不可用于标识符的字符，用下划线替代</a:t>
            </a:r>
            <a:r>
              <a:rPr lang="zh-CN" altLang="en-US" sz="2900" b="1" dirty="0">
                <a:latin typeface="Times New Roman" panose="02020603050405020304" pitchFamily="18" charset="0"/>
              </a:rPr>
              <a:t>；</a:t>
            </a:r>
            <a:endParaRPr lang="zh-CN" altLang="en-GB" sz="2900" b="1" dirty="0">
              <a:latin typeface="Times New Roman" panose="02020603050405020304" pitchFamily="18" charset="0"/>
            </a:endParaRPr>
          </a:p>
          <a:p>
            <a:pPr marL="971550" lvl="1" indent="-514350">
              <a:lnSpc>
                <a:spcPct val="160000"/>
              </a:lnSpc>
              <a:spcBef>
                <a:spcPts val="0"/>
              </a:spcBef>
              <a:buFont typeface="+mj-ea"/>
              <a:buAutoNum type="circleNumDbPlain"/>
            </a:pPr>
            <a:r>
              <a:rPr lang="zh-CN" altLang="en-GB" sz="2900" b="1" dirty="0">
                <a:latin typeface="Times New Roman" panose="02020603050405020304" pitchFamily="18" charset="0"/>
              </a:rPr>
              <a:t>若包名中的任何部分与关键字冲突，后缀下划线</a:t>
            </a:r>
            <a:r>
              <a:rPr lang="zh-CN" altLang="en-US" sz="2900" b="1" dirty="0">
                <a:latin typeface="Times New Roman" panose="02020603050405020304" pitchFamily="18" charset="0"/>
              </a:rPr>
              <a:t>；</a:t>
            </a:r>
            <a:endParaRPr lang="zh-CN" altLang="en-GB" sz="2900" b="1" dirty="0">
              <a:latin typeface="Times New Roman" panose="02020603050405020304" pitchFamily="18" charset="0"/>
            </a:endParaRPr>
          </a:p>
          <a:p>
            <a:pPr marL="971550" lvl="1" indent="-514350">
              <a:lnSpc>
                <a:spcPct val="160000"/>
              </a:lnSpc>
              <a:spcBef>
                <a:spcPts val="0"/>
              </a:spcBef>
              <a:buFont typeface="+mj-ea"/>
              <a:buAutoNum type="circleNumDbPlain"/>
            </a:pPr>
            <a:r>
              <a:rPr lang="zh-CN" altLang="en-GB" sz="2900" b="1" dirty="0">
                <a:latin typeface="Times New Roman" panose="02020603050405020304" pitchFamily="18" charset="0"/>
              </a:rPr>
              <a:t>若包名中的任何部分以数字或其他不能用作标识符起始的字符开头，前缀下划线</a:t>
            </a:r>
            <a:r>
              <a:rPr lang="zh-CN" altLang="en-US" sz="2900" b="1" dirty="0">
                <a:latin typeface="Times New Roman" panose="02020603050405020304" pitchFamily="18" charset="0"/>
              </a:rPr>
              <a:t>。</a:t>
            </a:r>
            <a:endParaRPr lang="zh-CN" altLang="en-GB" sz="2900" b="1" dirty="0">
              <a:latin typeface="Times New Roman" panose="02020603050405020304" pitchFamily="18" charset="0"/>
            </a:endParaRPr>
          </a:p>
          <a:p>
            <a:pPr eaLnBrk="1" hangingPunct="1"/>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ndParaRPr>
          </a:p>
        </p:txBody>
      </p:sp>
      <p:sp>
        <p:nvSpPr>
          <p:cNvPr id="8909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C317C76-3B79-4EC1-AC82-04066CD814B7}"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包的命名</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6" name="Rectangle 3"/>
          <p:cNvSpPr>
            <a:spLocks noGrp="1" noChangeArrowheads="1"/>
          </p:cNvSpPr>
          <p:nvPr>
            <p:ph idx="4294967295"/>
          </p:nvPr>
        </p:nvSpPr>
        <p:spPr>
          <a:xfrm>
            <a:off x="767408" y="1700808"/>
            <a:ext cx="10972800" cy="3888432"/>
          </a:xfrm>
        </p:spPr>
        <p:txBody>
          <a:bodyPr vert="horz" wrap="square" lIns="92075" tIns="46038" rIns="92075" bIns="46038" numCol="1" anchor="t" anchorCtr="0" compatLnSpc="1">
            <a:normAutofit/>
          </a:bodyPr>
          <a:lstStyle/>
          <a:p>
            <a:pPr marL="0" indent="0">
              <a:lnSpc>
                <a:spcPct val="150000"/>
              </a:lnSpc>
              <a:spcBef>
                <a:spcPts val="0"/>
              </a:spcBef>
              <a:buNone/>
            </a:pPr>
            <a:r>
              <a:rPr lang="zh-CN" altLang="en-GB" sz="2500" b="1" dirty="0">
                <a:latin typeface="Times New Roman" panose="02020603050405020304" pitchFamily="18" charset="0"/>
              </a:rPr>
              <a:t>一个</a:t>
            </a:r>
            <a:r>
              <a:rPr lang="en-GB" altLang="zh-CN" sz="2500" b="1" dirty="0">
                <a:latin typeface="Times New Roman" panose="02020603050405020304" pitchFamily="18" charset="0"/>
              </a:rPr>
              <a:t>Java</a:t>
            </a:r>
            <a:r>
              <a:rPr lang="zh-CN" altLang="en-GB" sz="2500" b="1" dirty="0">
                <a:latin typeface="Times New Roman" panose="02020603050405020304" pitchFamily="18" charset="0"/>
              </a:rPr>
              <a:t>源代码文件称为一个编译单元，由三部分组成</a:t>
            </a:r>
            <a:r>
              <a:rPr lang="zh-CN" altLang="en-US" sz="2500" b="1" dirty="0">
                <a:latin typeface="Times New Roman" panose="02020603050405020304" pitchFamily="18" charset="0"/>
              </a:rPr>
              <a:t>：</a:t>
            </a:r>
            <a:endParaRPr lang="zh-CN" altLang="en-GB" sz="2500" b="1" dirty="0">
              <a:latin typeface="Times New Roman" panose="02020603050405020304" pitchFamily="18" charset="0"/>
            </a:endParaRPr>
          </a:p>
          <a:p>
            <a:pPr marL="914400" lvl="1" indent="-457200">
              <a:lnSpc>
                <a:spcPct val="150000"/>
              </a:lnSpc>
              <a:spcBef>
                <a:spcPts val="0"/>
              </a:spcBef>
              <a:buFont typeface="+mj-ea"/>
              <a:buAutoNum type="circleNumDbPlain"/>
            </a:pPr>
            <a:r>
              <a:rPr lang="zh-CN" altLang="en-GB" sz="2500" b="1" dirty="0">
                <a:latin typeface="Times New Roman" panose="02020603050405020304" pitchFamily="18" charset="0"/>
              </a:rPr>
              <a:t>所属包的声明（省略，则属于默认包）</a:t>
            </a:r>
            <a:r>
              <a:rPr lang="zh-CN" altLang="en-US" sz="2500" b="1" dirty="0">
                <a:latin typeface="Times New Roman" panose="02020603050405020304" pitchFamily="18" charset="0"/>
              </a:rPr>
              <a:t>；</a:t>
            </a:r>
            <a:endParaRPr lang="zh-CN" altLang="en-GB" sz="2500" b="1" dirty="0">
              <a:latin typeface="Times New Roman" panose="02020603050405020304" pitchFamily="18" charset="0"/>
            </a:endParaRPr>
          </a:p>
          <a:p>
            <a:pPr marL="914400" lvl="1" indent="-457200">
              <a:lnSpc>
                <a:spcPct val="150000"/>
              </a:lnSpc>
              <a:spcBef>
                <a:spcPts val="0"/>
              </a:spcBef>
              <a:buFont typeface="+mj-ea"/>
              <a:buAutoNum type="circleNumDbPlain"/>
            </a:pPr>
            <a:r>
              <a:rPr lang="en-GB" altLang="zh-CN" sz="2500" b="1" dirty="0">
                <a:latin typeface="Times New Roman" panose="02020603050405020304" pitchFamily="18" charset="0"/>
              </a:rPr>
              <a:t>Import （</a:t>
            </a:r>
            <a:r>
              <a:rPr lang="zh-CN" altLang="en-GB" sz="2500" b="1" dirty="0">
                <a:latin typeface="Times New Roman" panose="02020603050405020304" pitchFamily="18" charset="0"/>
              </a:rPr>
              <a:t>引入）包的声明，用于导入外部的类</a:t>
            </a:r>
            <a:r>
              <a:rPr lang="zh-CN" altLang="en-US" sz="2500" b="1" dirty="0">
                <a:latin typeface="Times New Roman" panose="02020603050405020304" pitchFamily="18" charset="0"/>
              </a:rPr>
              <a:t>；</a:t>
            </a:r>
            <a:endParaRPr lang="zh-CN" altLang="en-GB" sz="2500" b="1" dirty="0">
              <a:latin typeface="Times New Roman" panose="02020603050405020304" pitchFamily="18" charset="0"/>
            </a:endParaRPr>
          </a:p>
          <a:p>
            <a:pPr marL="914400" lvl="1" indent="-457200">
              <a:lnSpc>
                <a:spcPct val="150000"/>
              </a:lnSpc>
              <a:spcBef>
                <a:spcPts val="0"/>
              </a:spcBef>
              <a:buFont typeface="+mj-ea"/>
              <a:buAutoNum type="circleNumDbPlain"/>
            </a:pPr>
            <a:r>
              <a:rPr lang="zh-CN" altLang="en-GB" sz="2500" b="1" dirty="0">
                <a:latin typeface="Times New Roman" panose="02020603050405020304" pitchFamily="18" charset="0"/>
              </a:rPr>
              <a:t>类和接口的声明</a:t>
            </a:r>
            <a:r>
              <a:rPr lang="zh-CN" altLang="en-US" sz="2500" b="1" dirty="0">
                <a:latin typeface="Times New Roman" panose="02020603050405020304" pitchFamily="18" charset="0"/>
              </a:rPr>
              <a:t>。</a:t>
            </a:r>
            <a:endParaRPr lang="zh-CN" altLang="en-GB" sz="2500" b="1" dirty="0">
              <a:latin typeface="Times New Roman" panose="02020603050405020304" pitchFamily="18" charset="0"/>
            </a:endParaRPr>
          </a:p>
          <a:p>
            <a:pPr marL="0" indent="0">
              <a:lnSpc>
                <a:spcPct val="150000"/>
              </a:lnSpc>
              <a:spcBef>
                <a:spcPts val="0"/>
              </a:spcBef>
              <a:buNone/>
            </a:pPr>
            <a:r>
              <a:rPr lang="zh-CN" altLang="en-GB" sz="2500" b="1" dirty="0">
                <a:solidFill>
                  <a:srgbClr val="FF3399"/>
                </a:solidFill>
                <a:highlight>
                  <a:srgbClr val="FFFF00"/>
                </a:highlight>
                <a:latin typeface="Times New Roman" panose="02020603050405020304" pitchFamily="18" charset="0"/>
              </a:rPr>
              <a:t>一个编译单元中只能有一个</a:t>
            </a:r>
            <a:r>
              <a:rPr lang="en-GB" altLang="zh-CN" sz="2500" b="1" dirty="0">
                <a:solidFill>
                  <a:srgbClr val="FF3399"/>
                </a:solidFill>
                <a:highlight>
                  <a:srgbClr val="FFFF00"/>
                </a:highlight>
                <a:latin typeface="Times New Roman" panose="02020603050405020304" pitchFamily="18" charset="0"/>
              </a:rPr>
              <a:t>public</a:t>
            </a:r>
            <a:r>
              <a:rPr lang="zh-CN" altLang="en-GB" sz="2500" b="1" dirty="0">
                <a:solidFill>
                  <a:srgbClr val="FF3399"/>
                </a:solidFill>
                <a:highlight>
                  <a:srgbClr val="FFFF00"/>
                </a:highlight>
                <a:latin typeface="Times New Roman" panose="02020603050405020304" pitchFamily="18" charset="0"/>
              </a:rPr>
              <a:t>类</a:t>
            </a:r>
            <a:r>
              <a:rPr lang="zh-CN" altLang="en-GB" sz="2500" b="1" dirty="0">
                <a:latin typeface="Times New Roman" panose="02020603050405020304" pitchFamily="18" charset="0"/>
              </a:rPr>
              <a:t>，该</a:t>
            </a:r>
            <a:r>
              <a:rPr lang="zh-CN" altLang="en-GB" sz="2500" b="1" dirty="0">
                <a:solidFill>
                  <a:srgbClr val="FF3399"/>
                </a:solidFill>
                <a:latin typeface="Times New Roman" panose="02020603050405020304" pitchFamily="18" charset="0"/>
              </a:rPr>
              <a:t>类名与文件名相同</a:t>
            </a:r>
            <a:r>
              <a:rPr lang="zh-CN" altLang="en-GB" sz="2500" b="1" dirty="0">
                <a:latin typeface="Times New Roman" panose="02020603050405020304" pitchFamily="18" charset="0"/>
              </a:rPr>
              <a:t>，编译单元中的其他类往往是</a:t>
            </a:r>
            <a:r>
              <a:rPr lang="en-GB" altLang="zh-CN" sz="2500" b="1" dirty="0">
                <a:latin typeface="Times New Roman" panose="02020603050405020304" pitchFamily="18" charset="0"/>
              </a:rPr>
              <a:t>public</a:t>
            </a:r>
            <a:r>
              <a:rPr lang="zh-CN" altLang="en-GB" sz="2500" b="1" dirty="0">
                <a:latin typeface="Times New Roman" panose="02020603050405020304" pitchFamily="18" charset="0"/>
              </a:rPr>
              <a:t>类的辅助类，经过编译，每个类都会产一个</a:t>
            </a:r>
            <a:r>
              <a:rPr lang="en-GB" altLang="zh-CN" sz="2500" b="1" dirty="0">
                <a:latin typeface="Times New Roman" panose="02020603050405020304" pitchFamily="18" charset="0"/>
              </a:rPr>
              <a:t>class</a:t>
            </a:r>
            <a:r>
              <a:rPr lang="zh-CN" altLang="en-GB" sz="2500" b="1" dirty="0">
                <a:latin typeface="Times New Roman" panose="02020603050405020304" pitchFamily="18" charset="0"/>
              </a:rPr>
              <a:t>文件</a:t>
            </a:r>
            <a:r>
              <a:rPr lang="zh-CN" altLang="en-US" sz="2500" b="1" dirty="0">
                <a:latin typeface="Times New Roman" panose="02020603050405020304" pitchFamily="18" charset="0"/>
              </a:rPr>
              <a:t>。</a:t>
            </a:r>
            <a:endParaRPr lang="zh-CN" altLang="en-GB" sz="2500" b="1" dirty="0">
              <a:latin typeface="Times New Roman" panose="02020603050405020304" pitchFamily="18" charset="0"/>
            </a:endParaRPr>
          </a:p>
        </p:txBody>
      </p:sp>
      <p:sp>
        <p:nvSpPr>
          <p:cNvPr id="9011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7FBC48EA-37FD-463E-B5BE-FB69DF011D05}"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编译单元</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p:cNvSpPr>
            <a:spLocks noGrp="1" noChangeArrowheads="1"/>
          </p:cNvSpPr>
          <p:nvPr>
            <p:ph idx="4294967295"/>
          </p:nvPr>
        </p:nvSpPr>
        <p:spPr>
          <a:xfrm>
            <a:off x="983432" y="1772816"/>
            <a:ext cx="10225135" cy="2016224"/>
          </a:xfrm>
        </p:spPr>
        <p:txBody>
          <a:bodyPr vert="horz" wrap="square" lIns="92075" tIns="46038" rIns="92075" bIns="46038" numCol="1" anchor="t" anchorCtr="0" compatLnSpc="1">
            <a:normAutofit/>
          </a:bodyPr>
          <a:lstStyle/>
          <a:p>
            <a:pPr>
              <a:lnSpc>
                <a:spcPct val="150000"/>
              </a:lnSpc>
              <a:spcBef>
                <a:spcPts val="0"/>
              </a:spcBef>
              <a:buFont typeface="Wingdings" panose="05000000000000000000" pitchFamily="2" charset="2"/>
              <a:buChar char="Ø"/>
            </a:pPr>
            <a:r>
              <a:rPr lang="zh-CN" altLang="en-GB" sz="2500" b="1" dirty="0">
                <a:latin typeface="Times New Roman" panose="02020603050405020304" pitchFamily="18" charset="0"/>
              </a:rPr>
              <a:t>命名的包（</a:t>
            </a:r>
            <a:r>
              <a:rPr lang="en-GB" altLang="zh-CN" sz="2500" b="1" dirty="0">
                <a:latin typeface="Times New Roman" panose="02020603050405020304" pitchFamily="18" charset="0"/>
              </a:rPr>
              <a:t>Named Packages</a:t>
            </a:r>
            <a:r>
              <a:rPr lang="zh-CN" altLang="en-GB" sz="2500" b="1" dirty="0">
                <a:latin typeface="Times New Roman" panose="02020603050405020304" pitchFamily="18" charset="0"/>
              </a:rPr>
              <a:t>）</a:t>
            </a:r>
            <a:endParaRPr lang="zh-CN" altLang="en-GB" sz="2500" b="1" dirty="0">
              <a:latin typeface="Times New Roman" panose="02020603050405020304" pitchFamily="18" charset="0"/>
            </a:endParaRPr>
          </a:p>
          <a:p>
            <a:pPr marL="457200" lvl="1" indent="0">
              <a:lnSpc>
                <a:spcPct val="150000"/>
              </a:lnSpc>
              <a:spcBef>
                <a:spcPts val="0"/>
              </a:spcBef>
              <a:buNone/>
            </a:pPr>
            <a:r>
              <a:rPr lang="zh-CN" altLang="en-GB" sz="2500" b="1" dirty="0">
                <a:latin typeface="Times New Roman" panose="02020603050405020304" pitchFamily="18" charset="0"/>
              </a:rPr>
              <a:t>例如：</a:t>
            </a:r>
            <a:r>
              <a:rPr lang="en-GB" altLang="zh-CN" sz="2500" b="1" dirty="0">
                <a:latin typeface="Times New Roman" panose="02020603050405020304" pitchFamily="18" charset="0"/>
              </a:rPr>
              <a:t> </a:t>
            </a:r>
            <a:r>
              <a:rPr lang="en-GB" altLang="zh-CN" sz="2500" b="1" dirty="0">
                <a:solidFill>
                  <a:schemeClr val="folHlink"/>
                </a:solidFill>
                <a:latin typeface="Times New Roman" panose="02020603050405020304" pitchFamily="18" charset="0"/>
              </a:rPr>
              <a:t>package </a:t>
            </a:r>
            <a:r>
              <a:rPr lang="en-GB" altLang="zh-CN" sz="2500" b="1" dirty="0" err="1">
                <a:solidFill>
                  <a:schemeClr val="folHlink"/>
                </a:solidFill>
                <a:latin typeface="Times New Roman" panose="02020603050405020304" pitchFamily="18" charset="0"/>
              </a:rPr>
              <a:t>Mypackage</a:t>
            </a:r>
            <a:r>
              <a:rPr lang="en-GB" altLang="zh-CN" sz="2500" b="1" dirty="0">
                <a:solidFill>
                  <a:schemeClr val="folHlink"/>
                </a:solidFill>
                <a:latin typeface="Times New Roman" panose="02020603050405020304" pitchFamily="18" charset="0"/>
              </a:rPr>
              <a:t>;</a:t>
            </a:r>
            <a:endParaRPr lang="en-GB" altLang="zh-CN" sz="2500" b="1" dirty="0">
              <a:solidFill>
                <a:schemeClr val="folHlink"/>
              </a:solidFill>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GB" sz="2500" b="1" dirty="0">
                <a:latin typeface="Times New Roman" panose="02020603050405020304" pitchFamily="18" charset="0"/>
              </a:rPr>
              <a:t>默认包（未命名的包）</a:t>
            </a:r>
            <a:r>
              <a:rPr lang="zh-CN" altLang="en-US" sz="2500" b="1" dirty="0">
                <a:latin typeface="Times New Roman" panose="02020603050405020304" pitchFamily="18" charset="0"/>
              </a:rPr>
              <a:t>：</a:t>
            </a:r>
            <a:r>
              <a:rPr lang="zh-CN" altLang="en-GB" sz="2500" b="1" dirty="0">
                <a:latin typeface="Times New Roman" panose="02020603050405020304" pitchFamily="18" charset="0"/>
              </a:rPr>
              <a:t>不含有包声明的编译单元是默认包的一部分</a:t>
            </a:r>
            <a:r>
              <a:rPr lang="zh-CN" altLang="en-US" sz="2500" b="1" dirty="0">
                <a:latin typeface="Times New Roman" panose="02020603050405020304" pitchFamily="18" charset="0"/>
              </a:rPr>
              <a:t>。</a:t>
            </a:r>
            <a:endParaRPr lang="en-GB" altLang="zh-CN" sz="2500" b="1" dirty="0">
              <a:latin typeface="Times New Roman" panose="02020603050405020304" pitchFamily="18" charset="0"/>
            </a:endParaRPr>
          </a:p>
        </p:txBody>
      </p:sp>
      <p:sp>
        <p:nvSpPr>
          <p:cNvPr id="9216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75C5A40-391E-4FE6-9BC4-6AE31AF2BB6B}"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包的声明</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2" name="Rectangle 3"/>
          <p:cNvSpPr>
            <a:spLocks noGrp="1" noChangeArrowheads="1"/>
          </p:cNvSpPr>
          <p:nvPr>
            <p:ph idx="4294967295"/>
          </p:nvPr>
        </p:nvSpPr>
        <p:spPr>
          <a:xfrm>
            <a:off x="1127448" y="1700808"/>
            <a:ext cx="6120680" cy="1584176"/>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包名就是文件夹名，即目录名；</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目录名并不一定是包名；</a:t>
            </a:r>
            <a:endParaRPr lang="zh-CN" altLang="en-US" sz="2700" b="1" dirty="0">
              <a:latin typeface="Times New Roman" panose="02020603050405020304" pitchFamily="18" charset="0"/>
            </a:endParaRPr>
          </a:p>
        </p:txBody>
      </p:sp>
      <p:sp>
        <p:nvSpPr>
          <p:cNvPr id="9421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4F64FB9-2571-4A09-8E9A-90A8AE66E4BF}"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94211" name="Rectangle 7"/>
          <p:cNvSpPr>
            <a:spLocks noChangeArrowheads="1"/>
          </p:cNvSpPr>
          <p:nvPr/>
        </p:nvSpPr>
        <p:spPr bwMode="auto">
          <a:xfrm>
            <a:off x="9067800" y="5181600"/>
            <a:ext cx="762000" cy="8382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3" name="文本框 2"/>
          <p:cNvSpPr txBox="1"/>
          <p:nvPr>
            <p:custDataLst>
              <p:tags r:id="rId1"/>
            </p:custDataLst>
          </p:nvPr>
        </p:nvSpPr>
        <p:spPr>
          <a:xfrm>
            <a:off x="407670" y="980440"/>
            <a:ext cx="165588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包与目录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60" name="Rectangle 3"/>
          <p:cNvSpPr>
            <a:spLocks noGrp="1" noChangeArrowheads="1"/>
          </p:cNvSpPr>
          <p:nvPr>
            <p:ph idx="4294967295"/>
          </p:nvPr>
        </p:nvSpPr>
        <p:spPr>
          <a:xfrm>
            <a:off x="551384" y="1628800"/>
            <a:ext cx="11089232" cy="3888432"/>
          </a:xfrm>
        </p:spPr>
        <p:txBody>
          <a:bodyPr vert="horz" wrap="square" lIns="92075" tIns="46038" rIns="92075" bIns="46038" numCol="1" anchor="t" anchorCtr="0" compatLnSpc="1">
            <a:noAutofit/>
          </a:bodyPr>
          <a:lstStyle/>
          <a:p>
            <a:pPr>
              <a:buFont typeface="Wingdings" panose="05000000000000000000" pitchFamily="2" charset="2"/>
              <a:buChar char="Ø"/>
            </a:pPr>
            <a:r>
              <a:rPr lang="zh-CN" altLang="en-US" sz="2700" b="1" dirty="0">
                <a:latin typeface="Times New Roman" panose="02020603050405020304" pitchFamily="18" charset="0"/>
              </a:rPr>
              <a:t>为了使用其它包中所提供的类，需要使用</a:t>
            </a:r>
            <a:r>
              <a:rPr lang="en-US" altLang="zh-CN" sz="2700" b="1" dirty="0">
                <a:latin typeface="Times New Roman" panose="02020603050405020304" pitchFamily="18" charset="0"/>
              </a:rPr>
              <a:t>import</a:t>
            </a:r>
            <a:r>
              <a:rPr lang="zh-CN" altLang="en-US" sz="2700" b="1" dirty="0">
                <a:latin typeface="Times New Roman" panose="02020603050405020304" pitchFamily="18" charset="0"/>
              </a:rPr>
              <a:t>语句引入所需要的类。</a:t>
            </a:r>
            <a:endParaRPr lang="zh-CN" altLang="en-US" sz="2700" b="1" dirty="0">
              <a:latin typeface="Times New Roman" panose="02020603050405020304" pitchFamily="18" charset="0"/>
            </a:endParaRPr>
          </a:p>
          <a:p>
            <a:pPr>
              <a:buFont typeface="Wingdings" panose="05000000000000000000" pitchFamily="2" charset="2"/>
              <a:buChar char="Ø"/>
            </a:pPr>
            <a:r>
              <a:rPr lang="en-US" altLang="zh-CN" sz="2700" b="1" dirty="0">
                <a:latin typeface="Times New Roman" panose="02020603050405020304" pitchFamily="18" charset="0"/>
              </a:rPr>
              <a:t>Java</a:t>
            </a:r>
            <a:r>
              <a:rPr lang="zh-CN" altLang="en-US" sz="2700" b="1" dirty="0">
                <a:latin typeface="Times New Roman" panose="02020603050405020304" pitchFamily="18" charset="0"/>
              </a:rPr>
              <a:t>编译器为所有程序自动引入包</a:t>
            </a:r>
            <a:r>
              <a:rPr lang="en-US" altLang="zh-CN" sz="2700" b="1" dirty="0" err="1">
                <a:latin typeface="Times New Roman" panose="02020603050405020304" pitchFamily="18" charset="0"/>
              </a:rPr>
              <a:t>java.lang</a:t>
            </a:r>
            <a:r>
              <a:rPr lang="zh-CN" altLang="en-US" sz="2700" b="1" dirty="0">
                <a:latin typeface="Times New Roman" panose="02020603050405020304" pitchFamily="18" charset="0"/>
              </a:rPr>
              <a:t>。</a:t>
            </a:r>
            <a:endParaRPr lang="en-US" altLang="zh-CN" sz="2700" b="1" dirty="0">
              <a:latin typeface="Times New Roman" panose="02020603050405020304" pitchFamily="18" charset="0"/>
            </a:endParaRPr>
          </a:p>
          <a:p>
            <a:pPr>
              <a:buFont typeface="Wingdings" panose="05000000000000000000" pitchFamily="2" charset="2"/>
              <a:buChar char="Ø"/>
            </a:pPr>
            <a:r>
              <a:rPr lang="en-US" altLang="zh-CN" sz="2700" b="1" dirty="0">
                <a:latin typeface="Times New Roman" panose="02020603050405020304" pitchFamily="18" charset="0"/>
              </a:rPr>
              <a:t>import</a:t>
            </a:r>
            <a:r>
              <a:rPr lang="zh-CN" altLang="en-US" sz="2700" b="1" dirty="0">
                <a:latin typeface="Times New Roman" panose="02020603050405020304" pitchFamily="18" charset="0"/>
              </a:rPr>
              <a:t>语句的格式：</a:t>
            </a:r>
            <a:endParaRPr lang="zh-CN" altLang="en-US" sz="2700" b="1" dirty="0">
              <a:latin typeface="Times New Roman" panose="02020603050405020304" pitchFamily="18" charset="0"/>
            </a:endParaRPr>
          </a:p>
          <a:p>
            <a:pPr>
              <a:buFont typeface="Georgia" panose="02040502050405020303" pitchFamily="18" charset="0"/>
              <a:buNone/>
            </a:pPr>
            <a:r>
              <a:rPr lang="zh-CN" altLang="en-US" sz="2700" b="1" dirty="0">
                <a:latin typeface="Times New Roman" panose="02020603050405020304" pitchFamily="18" charset="0"/>
              </a:rPr>
              <a:t>          </a:t>
            </a:r>
            <a:r>
              <a:rPr lang="en-US" altLang="zh-CN" sz="2700" b="1" dirty="0">
                <a:solidFill>
                  <a:srgbClr val="FF0000"/>
                </a:solidFill>
                <a:latin typeface="Times New Roman" panose="02020603050405020304" pitchFamily="18" charset="0"/>
              </a:rPr>
              <a:t>import package1[.package2…]. (</a:t>
            </a:r>
            <a:r>
              <a:rPr lang="en-US" altLang="zh-CN" sz="2700" b="1" dirty="0" err="1">
                <a:solidFill>
                  <a:srgbClr val="FF0000"/>
                </a:solidFill>
                <a:latin typeface="Times New Roman" panose="02020603050405020304" pitchFamily="18" charset="0"/>
              </a:rPr>
              <a:t>classname</a:t>
            </a:r>
            <a:r>
              <a:rPr lang="en-US" altLang="zh-CN" sz="2700" b="1" dirty="0">
                <a:solidFill>
                  <a:srgbClr val="FF0000"/>
                </a:solidFill>
                <a:latin typeface="Times New Roman" panose="02020603050405020304" pitchFamily="18" charset="0"/>
              </a:rPr>
              <a:t> |*);</a:t>
            </a:r>
            <a:endParaRPr lang="en-US" altLang="zh-CN" sz="2700" b="1" dirty="0">
              <a:solidFill>
                <a:srgbClr val="FF0000"/>
              </a:solidFill>
              <a:latin typeface="Times New Roman" panose="02020603050405020304" pitchFamily="18" charset="0"/>
            </a:endParaRPr>
          </a:p>
          <a:p>
            <a:pPr lvl="1"/>
            <a:r>
              <a:rPr lang="en-US" altLang="zh-CN" sz="2700" b="1" dirty="0">
                <a:latin typeface="Times New Roman" panose="02020603050405020304" pitchFamily="18" charset="0"/>
              </a:rPr>
              <a:t>package1[.package2…]</a:t>
            </a:r>
            <a:r>
              <a:rPr lang="zh-CN" altLang="en-US" sz="2700" b="1" dirty="0">
                <a:latin typeface="Times New Roman" panose="02020603050405020304" pitchFamily="18" charset="0"/>
              </a:rPr>
              <a:t>表明包的层次，对应于文件目录；</a:t>
            </a:r>
            <a:endParaRPr lang="zh-CN" altLang="en-US" sz="2700" b="1" dirty="0">
              <a:latin typeface="Times New Roman" panose="02020603050405020304" pitchFamily="18" charset="0"/>
            </a:endParaRPr>
          </a:p>
          <a:p>
            <a:pPr lvl="1"/>
            <a:r>
              <a:rPr lang="en-US" altLang="zh-CN" sz="2700" b="1" dirty="0" err="1">
                <a:latin typeface="Times New Roman" panose="02020603050405020304" pitchFamily="18" charset="0"/>
              </a:rPr>
              <a:t>classname</a:t>
            </a:r>
            <a:r>
              <a:rPr lang="zh-CN" altLang="en-US" sz="2700" b="1" dirty="0">
                <a:latin typeface="Times New Roman" panose="02020603050405020304" pitchFamily="18" charset="0"/>
              </a:rPr>
              <a:t>指明所要引入的类名；</a:t>
            </a:r>
            <a:endParaRPr lang="zh-CN" altLang="en-US" sz="2700" b="1" dirty="0">
              <a:latin typeface="Times New Roman" panose="02020603050405020304" pitchFamily="18" charset="0"/>
            </a:endParaRPr>
          </a:p>
          <a:p>
            <a:pPr lvl="1"/>
            <a:r>
              <a:rPr lang="zh-CN" altLang="en-US" sz="2700" b="1" dirty="0">
                <a:latin typeface="Times New Roman" panose="02020603050405020304" pitchFamily="18" charset="0"/>
              </a:rPr>
              <a:t>如果要引入一个包中的所有类，可以使用星号（*）来代替类名。</a:t>
            </a:r>
            <a:endParaRPr lang="zh-CN" altLang="en-US" sz="2700" b="1" dirty="0">
              <a:latin typeface="Times New Roman" panose="02020603050405020304" pitchFamily="18" charset="0"/>
            </a:endParaRPr>
          </a:p>
        </p:txBody>
      </p:sp>
      <p:sp>
        <p:nvSpPr>
          <p:cNvPr id="9625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F7899C18-4E81-4D5C-845D-6E6B21AF8521}"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136785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引入包</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6"/>
          <p:cNvSpPr>
            <a:spLocks noChangeArrowheads="1"/>
          </p:cNvSpPr>
          <p:nvPr/>
        </p:nvSpPr>
        <p:spPr bwMode="auto">
          <a:xfrm>
            <a:off x="9144000" y="5257800"/>
            <a:ext cx="685800" cy="685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sp>
        <p:nvSpPr>
          <p:cNvPr id="97284" name="Rectangle 3"/>
          <p:cNvSpPr>
            <a:spLocks noGrp="1" noChangeArrowheads="1"/>
          </p:cNvSpPr>
          <p:nvPr>
            <p:ph idx="4294967295"/>
          </p:nvPr>
        </p:nvSpPr>
        <p:spPr>
          <a:xfrm>
            <a:off x="911424" y="1678582"/>
            <a:ext cx="10670976" cy="4126681"/>
          </a:xfrm>
        </p:spPr>
        <p:txBody>
          <a:bodyPr>
            <a:noAutofit/>
          </a:bodyPr>
          <a:lstStyle/>
          <a:p>
            <a:pPr>
              <a:lnSpc>
                <a:spcPct val="150000"/>
              </a:lnSpc>
              <a:spcBef>
                <a:spcPts val="0"/>
              </a:spcBef>
              <a:buFont typeface="Wingdings" panose="05000000000000000000" pitchFamily="2" charset="2"/>
              <a:buChar char="Ø"/>
            </a:pPr>
            <a:r>
              <a:rPr lang="zh-CN" altLang="fr-FR" sz="2700" b="1" dirty="0">
                <a:latin typeface="Times New Roman" panose="02020603050405020304" pitchFamily="18" charset="0"/>
              </a:rPr>
              <a:t>如果在程序中需要多次使用静态成员，则每次使用都加上类名</a:t>
            </a:r>
            <a:r>
              <a:rPr lang="zh-CN" altLang="en-US" sz="2700" b="1" dirty="0">
                <a:latin typeface="Times New Roman" panose="02020603050405020304" pitchFamily="18" charset="0"/>
              </a:rPr>
              <a:t>太繁琐。用静态引入可以解决这一问题。</a:t>
            </a:r>
            <a:endParaRPr lang="zh-CN" altLang="fr-FR"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fr-FR" sz="2700" b="1" dirty="0">
                <a:latin typeface="Times New Roman" panose="02020603050405020304" pitchFamily="18" charset="0"/>
              </a:rPr>
              <a:t>单一引入是指引入某一个</a:t>
            </a:r>
            <a:r>
              <a:rPr lang="zh-CN" altLang="en-US" sz="2700" b="1" dirty="0">
                <a:latin typeface="Times New Roman" panose="02020603050405020304" pitchFamily="18" charset="0"/>
              </a:rPr>
              <a:t>指</a:t>
            </a:r>
            <a:r>
              <a:rPr lang="zh-CN" altLang="fr-FR" sz="2700" b="1" dirty="0">
                <a:latin typeface="Times New Roman" panose="02020603050405020304" pitchFamily="18" charset="0"/>
              </a:rPr>
              <a:t>定的静态成员，例如：</a:t>
            </a:r>
            <a:endParaRPr lang="en-US" altLang="zh-CN" sz="2700" b="1" dirty="0">
              <a:latin typeface="Times New Roman" panose="02020603050405020304" pitchFamily="18" charset="0"/>
            </a:endParaRPr>
          </a:p>
          <a:p>
            <a:pPr marL="457200" lvl="1" indent="0">
              <a:lnSpc>
                <a:spcPct val="150000"/>
              </a:lnSpc>
              <a:spcBef>
                <a:spcPts val="0"/>
              </a:spcBef>
              <a:buNone/>
            </a:pPr>
            <a:r>
              <a:rPr lang="fr-FR" altLang="zh-CN" sz="2700" b="1" dirty="0">
                <a:solidFill>
                  <a:srgbClr val="FF0000"/>
                </a:solidFill>
                <a:latin typeface="Times New Roman" panose="02020603050405020304" pitchFamily="18" charset="0"/>
              </a:rPr>
              <a:t>      import static java.lang.Math.PI</a:t>
            </a:r>
            <a:r>
              <a:rPr lang="fr-FR" altLang="zh-CN" sz="2700" b="1" dirty="0">
                <a:latin typeface="Times New Roman" panose="02020603050405020304" pitchFamily="18" charset="0"/>
              </a:rPr>
              <a:t>; </a:t>
            </a:r>
            <a:endParaRPr lang="fr-FR" altLang="zh-CN"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fr-FR" sz="2700" b="1" dirty="0">
                <a:latin typeface="Times New Roman" panose="02020603050405020304" pitchFamily="18" charset="0"/>
              </a:rPr>
              <a:t>全体引入是指引入类中所有的静态成员，例如：</a:t>
            </a:r>
            <a:endParaRPr lang="en-US" altLang="zh-CN" sz="2700" b="1" dirty="0">
              <a:latin typeface="Times New Roman" panose="02020603050405020304" pitchFamily="18" charset="0"/>
            </a:endParaRPr>
          </a:p>
          <a:p>
            <a:pPr marL="457200" lvl="1" indent="0">
              <a:lnSpc>
                <a:spcPct val="150000"/>
              </a:lnSpc>
              <a:spcBef>
                <a:spcPts val="0"/>
              </a:spcBef>
              <a:buNone/>
            </a:pPr>
            <a:r>
              <a:rPr lang="fr-FR" altLang="zh-CN" sz="2700" b="1" dirty="0">
                <a:solidFill>
                  <a:srgbClr val="FF0000"/>
                </a:solidFill>
                <a:latin typeface="Times New Roman" panose="02020603050405020304" pitchFamily="18" charset="0"/>
              </a:rPr>
              <a:t>      import static java.lang.Math.*; </a:t>
            </a:r>
            <a:endParaRPr lang="fr-FR" altLang="zh-CN" sz="2700" b="1" dirty="0">
              <a:solidFill>
                <a:srgbClr val="FF0000"/>
              </a:solidFill>
              <a:latin typeface="Times New Roman" panose="02020603050405020304" pitchFamily="18" charset="0"/>
            </a:endParaRPr>
          </a:p>
        </p:txBody>
      </p:sp>
      <p:sp>
        <p:nvSpPr>
          <p:cNvPr id="3" name="灯片编号占位符 2"/>
          <p:cNvSpPr>
            <a:spLocks noGrp="1"/>
          </p:cNvSpPr>
          <p:nvPr>
            <p:ph type="sldNum" sz="quarter" idx="12"/>
          </p:nvPr>
        </p:nvSpPr>
        <p:spPr/>
        <p:txBody>
          <a:bodyPr/>
          <a:lstStyle/>
          <a:p>
            <a:fld id="{1C500230-17C9-4CEC-B67E-B7DB8DE07B61}" type="slidenum">
              <a:rPr lang="en-US" altLang="zh-CN" smtClean="0">
                <a:latin typeface="Times New Roman" panose="02020603050405020304" pitchFamily="18" charset="0"/>
              </a:rPr>
            </a:fld>
            <a:endParaRPr lang="en-US" altLang="zh-CN">
              <a:latin typeface="Times New Roman" panose="02020603050405020304" pitchFamily="18" charset="0"/>
            </a:endParaRPr>
          </a:p>
        </p:txBody>
      </p:sp>
      <p:sp>
        <p:nvSpPr>
          <p:cNvPr id="4" name="文本框 3"/>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静态引入</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5"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4294967295"/>
          </p:nvPr>
        </p:nvSpPr>
        <p:spPr>
          <a:xfrm>
            <a:off x="983432" y="1628800"/>
            <a:ext cx="6206480" cy="3384376"/>
          </a:xfrm>
        </p:spPr>
        <p:txBody>
          <a:bodyPr>
            <a:normAutofit/>
          </a:bodyPr>
          <a:lstStyle/>
          <a:p>
            <a:pPr marL="0" indent="0">
              <a:buNone/>
            </a:pPr>
            <a:r>
              <a:rPr lang="en-US" altLang="zh-CN" sz="2500" b="1" dirty="0">
                <a:latin typeface="Times New Roman" panose="02020603050405020304" pitchFamily="18" charset="0"/>
              </a:rPr>
              <a:t>import </a:t>
            </a:r>
            <a:r>
              <a:rPr lang="en-US" altLang="zh-CN" sz="2500" b="1" dirty="0">
                <a:solidFill>
                  <a:srgbClr val="FF3399"/>
                </a:solidFill>
                <a:highlight>
                  <a:srgbClr val="FFFF00"/>
                </a:highlight>
                <a:latin typeface="Times New Roman" panose="02020603050405020304" pitchFamily="18" charset="0"/>
              </a:rPr>
              <a:t>static</a:t>
            </a:r>
            <a:r>
              <a:rPr lang="en-US" altLang="zh-CN" sz="2500" b="1" dirty="0">
                <a:latin typeface="Times New Roman" panose="02020603050405020304" pitchFamily="18" charset="0"/>
              </a:rPr>
              <a:t> </a:t>
            </a:r>
            <a:r>
              <a:rPr lang="en-US" altLang="zh-CN" sz="2500" b="1" dirty="0" err="1">
                <a:latin typeface="Times New Roman" panose="02020603050405020304" pitchFamily="18" charset="0"/>
              </a:rPr>
              <a:t>java.lang.Math.PI</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public class Circle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int radius;</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public double circumference()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return 2 * PI * radius;</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p:txBody>
      </p:sp>
      <p:sp>
        <p:nvSpPr>
          <p:cNvPr id="4" name="文本框 3"/>
          <p:cNvSpPr txBox="1"/>
          <p:nvPr/>
        </p:nvSpPr>
        <p:spPr>
          <a:xfrm>
            <a:off x="4651645" y="4869160"/>
            <a:ext cx="6556923" cy="1246495"/>
          </a:xfrm>
          <a:prstGeom prst="rect">
            <a:avLst/>
          </a:prstGeom>
          <a:solidFill>
            <a:schemeClr val="bg1"/>
          </a:solidFill>
        </p:spPr>
        <p:txBody>
          <a:bodyPr wrap="none" rtlCol="0">
            <a:spAutoFit/>
          </a:bodyPr>
          <a:lstStyle/>
          <a:p>
            <a:r>
              <a:rPr kumimoji="1" lang="zh-CN" altLang="en-US" sz="2500" b="1" dirty="0">
                <a:ea typeface="楷体" panose="02010609060101010101" pitchFamily="49" charset="-122"/>
              </a:rPr>
              <a:t>运行结果：</a:t>
            </a:r>
            <a:endParaRPr kumimoji="1" lang="en-US" altLang="zh-CN" sz="2500" b="1" dirty="0">
              <a:ea typeface="楷体" panose="02010609060101010101" pitchFamily="49" charset="-122"/>
            </a:endParaRPr>
          </a:p>
          <a:p>
            <a:r>
              <a:rPr kumimoji="1" lang="en-US" altLang="zh-CN" sz="2500" b="1" dirty="0">
                <a:ea typeface="楷体" panose="02010609060101010101" pitchFamily="49" charset="-122"/>
              </a:rPr>
              <a:t>Circle 1 has circumference 314.1592653589793</a:t>
            </a:r>
            <a:endParaRPr kumimoji="1" lang="en-US" altLang="zh-CN" sz="2500" b="1" dirty="0">
              <a:ea typeface="楷体" panose="02010609060101010101" pitchFamily="49" charset="-122"/>
            </a:endParaRPr>
          </a:p>
          <a:p>
            <a:r>
              <a:rPr kumimoji="1" lang="en-US" altLang="zh-CN" sz="2500" b="1" dirty="0">
                <a:ea typeface="楷体" panose="02010609060101010101" pitchFamily="49" charset="-122"/>
              </a:rPr>
              <a:t>Circle 2 has circumference 62.83185307179586</a:t>
            </a:r>
            <a:endParaRPr kumimoji="1" lang="en-US" altLang="zh-CN" sz="2500" b="1" dirty="0">
              <a:ea typeface="楷体" panose="02010609060101010101" pitchFamily="49" charset="-122"/>
            </a:endParaRPr>
          </a:p>
        </p:txBody>
      </p:sp>
      <p:sp>
        <p:nvSpPr>
          <p:cNvPr id="5"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6" name="文本框 5"/>
          <p:cNvSpPr txBox="1"/>
          <p:nvPr>
            <p:custDataLst>
              <p:tags r:id="rId2"/>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静态引入</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2" name="Rectangle 3"/>
          <p:cNvSpPr>
            <a:spLocks noGrp="1" noChangeArrowheads="1"/>
          </p:cNvSpPr>
          <p:nvPr>
            <p:ph idx="4294967295"/>
          </p:nvPr>
        </p:nvSpPr>
        <p:spPr>
          <a:xfrm>
            <a:off x="1703512" y="1672900"/>
            <a:ext cx="4536504" cy="748680"/>
          </a:xfrm>
        </p:spPr>
        <p:txBody>
          <a:bodyPr vert="horz" wrap="square" lIns="92075" tIns="46038" rIns="92075" bIns="46038" numCol="1" anchor="t" anchorCtr="0" compatLnSpc="1"/>
          <a:lstStyle/>
          <a:p>
            <a:pPr marL="0" indent="0">
              <a:buNone/>
            </a:pPr>
            <a:r>
              <a:rPr lang="zh-CN" altLang="en-US" sz="2500" b="1" dirty="0">
                <a:latin typeface="Times New Roman" panose="02020603050405020304" pitchFamily="18" charset="0"/>
              </a:rPr>
              <a:t>类在不同范围是否可以被访问</a:t>
            </a:r>
            <a:r>
              <a:rPr lang="zh-CN" altLang="en-US" dirty="0">
                <a:latin typeface="Times New Roman" panose="02020603050405020304" pitchFamily="18" charset="0"/>
              </a:rPr>
              <a:t>：</a:t>
            </a:r>
            <a:endParaRPr lang="zh-CN" altLang="en-GB" dirty="0">
              <a:latin typeface="Times New Roman" panose="02020603050405020304" pitchFamily="18" charset="0"/>
            </a:endParaRPr>
          </a:p>
        </p:txBody>
      </p:sp>
      <p:sp>
        <p:nvSpPr>
          <p:cNvPr id="9933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BB684D8-30FF-430C-91E8-34E92DF40143}"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99331" name="Rectangle 36"/>
          <p:cNvSpPr>
            <a:spLocks noChangeArrowheads="1"/>
          </p:cNvSpPr>
          <p:nvPr/>
        </p:nvSpPr>
        <p:spPr bwMode="auto">
          <a:xfrm>
            <a:off x="9144000" y="5257800"/>
            <a:ext cx="609600" cy="685800"/>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US" sz="2400">
              <a:latin typeface="Times New Roman" panose="02020603050405020304" pitchFamily="18" charset="0"/>
              <a:ea typeface="隶书" panose="02010509060101010101" pitchFamily="49" charset="-122"/>
            </a:endParaRPr>
          </a:p>
        </p:txBody>
      </p:sp>
      <p:graphicFrame>
        <p:nvGraphicFramePr>
          <p:cNvPr id="70682" name="Group 26"/>
          <p:cNvGraphicFramePr>
            <a:graphicFrameLocks noGrp="1"/>
          </p:cNvGraphicFramePr>
          <p:nvPr/>
        </p:nvGraphicFramePr>
        <p:xfrm>
          <a:off x="1824393" y="2592293"/>
          <a:ext cx="8543214" cy="1872209"/>
        </p:xfrm>
        <a:graphic>
          <a:graphicData uri="http://schemas.openxmlformats.org/drawingml/2006/table">
            <a:tbl>
              <a:tblPr/>
              <a:tblGrid>
                <a:gridCol w="2847738"/>
                <a:gridCol w="2847738"/>
                <a:gridCol w="2847738"/>
              </a:tblGrid>
              <a:tr h="545216">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类型</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无修饰（默认）</a:t>
                      </a:r>
                      <a:endParaRPr kumimoji="0" lang="zh-CN" altLang="en-US"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en-US" altLang="zh-CN" sz="25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public</a:t>
                      </a:r>
                      <a:endParaRPr kumimoji="0" lang="en-US" altLang="zh-CN"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78141">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同一包中的类</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dirty="0">
                        <a:ln>
                          <a:noFill/>
                        </a:ln>
                        <a:solidFill>
                          <a:schemeClr val="hlink"/>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48852">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不同包中的类</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dirty="0">
                        <a:ln>
                          <a:noFill/>
                        </a:ln>
                        <a:solidFill>
                          <a:schemeClr val="hlink"/>
                        </a:solidFill>
                        <a:effectLst/>
                        <a:latin typeface="Times New Roman" panose="02020603050405020304" pitchFamily="18" charset="0"/>
                        <a:ea typeface="楷体" panose="02010609060101010101" pitchFamily="49" charset="-122"/>
                      </a:endParaRPr>
                    </a:p>
                  </a:txBody>
                  <a:tcPr marL="127727" marR="127727" marT="66418" marB="66418"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99352" name="Rectangle 2"/>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en-GB" altLang="zh-CN" sz="3600">
              <a:solidFill>
                <a:schemeClr val="tx2"/>
              </a:solidFill>
              <a:latin typeface="Trebuchet MS" panose="020B0603020202020204" pitchFamily="34" charset="0"/>
              <a:ea typeface="方正姚体" panose="02010601030101010101" pitchFamily="2" charset="-122"/>
            </a:endParaRPr>
          </a:p>
        </p:txBody>
      </p:sp>
      <p:sp>
        <p:nvSpPr>
          <p:cNvPr id="3" name="文本框 2"/>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类的访问控制</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80" name="Rectangle 3"/>
          <p:cNvSpPr>
            <a:spLocks noGrp="1" noChangeArrowheads="1"/>
          </p:cNvSpPr>
          <p:nvPr>
            <p:ph idx="4294967295"/>
          </p:nvPr>
        </p:nvSpPr>
        <p:spPr>
          <a:xfrm>
            <a:off x="623392" y="1848940"/>
            <a:ext cx="11233248" cy="4321842"/>
          </a:xfrm>
        </p:spPr>
        <p:txBody>
          <a:bodyPr>
            <a:noAutofit/>
          </a:bodyPr>
          <a:lstStyle/>
          <a:p>
            <a:pPr marL="457200" indent="-457200">
              <a:lnSpc>
                <a:spcPct val="150000"/>
              </a:lnSpc>
              <a:buFont typeface="+mj-lt"/>
              <a:buAutoNum type="arabicPeriod"/>
            </a:pPr>
            <a:r>
              <a:rPr lang="zh-CN" altLang="en-GB" sz="2700" b="1" dirty="0">
                <a:latin typeface="Times New Roman" panose="02020603050405020304" pitchFamily="18" charset="0"/>
              </a:rPr>
              <a:t>公有(</a:t>
            </a:r>
            <a:r>
              <a:rPr lang="en-GB" altLang="zh-CN" sz="2700" b="1" dirty="0">
                <a:solidFill>
                  <a:srgbClr val="FF3399"/>
                </a:solidFill>
                <a:latin typeface="Times New Roman" panose="02020603050405020304" pitchFamily="18" charset="0"/>
              </a:rPr>
              <a:t>public</a:t>
            </a:r>
            <a:r>
              <a:rPr lang="en-GB" altLang="zh-CN" sz="2700" b="1" dirty="0">
                <a:latin typeface="Times New Roman" panose="02020603050405020304" pitchFamily="18" charset="0"/>
              </a:rPr>
              <a:t>):</a:t>
            </a:r>
            <a:r>
              <a:rPr lang="zh-CN" altLang="en-GB" sz="2700" b="1" dirty="0">
                <a:latin typeface="Times New Roman" panose="02020603050405020304" pitchFamily="18" charset="0"/>
              </a:rPr>
              <a:t>可以被其他任何</a:t>
            </a:r>
            <a:r>
              <a:rPr lang="zh-CN" altLang="en-US" sz="2700" b="1" dirty="0">
                <a:latin typeface="Times New Roman" panose="02020603050405020304" pitchFamily="18" charset="0"/>
              </a:rPr>
              <a:t>方法</a:t>
            </a:r>
            <a:r>
              <a:rPr lang="zh-CN" altLang="en-GB" sz="2700" b="1" dirty="0">
                <a:latin typeface="Times New Roman" panose="02020603050405020304" pitchFamily="18" charset="0"/>
              </a:rPr>
              <a:t>访问(前提是对类成员所</a:t>
            </a:r>
            <a:r>
              <a:rPr lang="zh-CN" altLang="en-US" sz="2700" b="1" dirty="0">
                <a:latin typeface="Times New Roman" panose="02020603050405020304" pitchFamily="18" charset="0"/>
              </a:rPr>
              <a:t>属</a:t>
            </a:r>
            <a:r>
              <a:rPr lang="zh-CN" altLang="en-GB" sz="2700" b="1" dirty="0">
                <a:latin typeface="Times New Roman" panose="02020603050405020304" pitchFamily="18" charset="0"/>
              </a:rPr>
              <a:t>的类有访问权限) </a:t>
            </a:r>
            <a:endParaRPr lang="zh-CN" altLang="en-GB" sz="2700" b="1" dirty="0">
              <a:latin typeface="Times New Roman" panose="02020603050405020304" pitchFamily="18" charset="0"/>
            </a:endParaRPr>
          </a:p>
          <a:p>
            <a:pPr marL="457200" indent="-457200">
              <a:lnSpc>
                <a:spcPct val="150000"/>
              </a:lnSpc>
              <a:buFont typeface="+mj-lt"/>
              <a:buAutoNum type="arabicPeriod"/>
            </a:pPr>
            <a:r>
              <a:rPr lang="zh-CN" altLang="en-GB" sz="2700" b="1" dirty="0">
                <a:latin typeface="Times New Roman" panose="02020603050405020304" pitchFamily="18" charset="0"/>
              </a:rPr>
              <a:t>保护(</a:t>
            </a:r>
            <a:r>
              <a:rPr lang="en-GB" altLang="zh-CN" sz="2700" b="1" dirty="0">
                <a:solidFill>
                  <a:srgbClr val="FF3399"/>
                </a:solidFill>
                <a:latin typeface="Times New Roman" panose="02020603050405020304" pitchFamily="18" charset="0"/>
              </a:rPr>
              <a:t>protected</a:t>
            </a:r>
            <a:r>
              <a:rPr lang="en-GB" altLang="zh-CN" sz="2700" b="1" dirty="0">
                <a:latin typeface="Times New Roman" panose="02020603050405020304" pitchFamily="18" charset="0"/>
              </a:rPr>
              <a:t>):</a:t>
            </a:r>
            <a:r>
              <a:rPr lang="zh-CN" altLang="en-GB" sz="2700" b="1" dirty="0">
                <a:latin typeface="Times New Roman" panose="02020603050405020304" pitchFamily="18" charset="0"/>
              </a:rPr>
              <a:t>只可被其子类</a:t>
            </a:r>
            <a:r>
              <a:rPr lang="zh-CN" altLang="en-US" sz="2700" b="1" dirty="0">
                <a:latin typeface="Times New Roman" panose="02020603050405020304" pitchFamily="18" charset="0"/>
              </a:rPr>
              <a:t>和同一包中其他类</a:t>
            </a:r>
            <a:r>
              <a:rPr lang="zh-CN" altLang="en-GB" sz="2700" b="1" dirty="0">
                <a:latin typeface="Times New Roman" panose="02020603050405020304" pitchFamily="18" charset="0"/>
              </a:rPr>
              <a:t>的</a:t>
            </a:r>
            <a:r>
              <a:rPr lang="zh-CN" altLang="en-US" sz="2700" b="1" dirty="0">
                <a:latin typeface="Times New Roman" panose="02020603050405020304" pitchFamily="18" charset="0"/>
              </a:rPr>
              <a:t>方法</a:t>
            </a:r>
            <a:r>
              <a:rPr lang="zh-CN" altLang="en-GB" sz="2700" b="1" dirty="0">
                <a:latin typeface="Times New Roman" panose="02020603050405020304" pitchFamily="18" charset="0"/>
              </a:rPr>
              <a:t>访问</a:t>
            </a:r>
            <a:endParaRPr lang="zh-CN" altLang="en-GB" sz="2700" b="1" dirty="0">
              <a:latin typeface="Times New Roman" panose="02020603050405020304" pitchFamily="18" charset="0"/>
            </a:endParaRPr>
          </a:p>
          <a:p>
            <a:pPr marL="457200" indent="-457200">
              <a:lnSpc>
                <a:spcPct val="150000"/>
              </a:lnSpc>
              <a:buFont typeface="+mj-lt"/>
              <a:buAutoNum type="arabicPeriod"/>
            </a:pPr>
            <a:r>
              <a:rPr lang="zh-CN" altLang="en-GB" sz="2700" b="1" dirty="0">
                <a:latin typeface="Times New Roman" panose="02020603050405020304" pitchFamily="18" charset="0"/>
              </a:rPr>
              <a:t>私有(</a:t>
            </a:r>
            <a:r>
              <a:rPr lang="en-GB" altLang="zh-CN" sz="2700" b="1" dirty="0">
                <a:solidFill>
                  <a:srgbClr val="FF3399"/>
                </a:solidFill>
                <a:latin typeface="Times New Roman" panose="02020603050405020304" pitchFamily="18" charset="0"/>
              </a:rPr>
              <a:t>private</a:t>
            </a:r>
            <a:r>
              <a:rPr lang="en-GB" altLang="zh-CN" sz="2700" b="1" dirty="0">
                <a:latin typeface="Times New Roman" panose="02020603050405020304" pitchFamily="18" charset="0"/>
              </a:rPr>
              <a:t>):</a:t>
            </a:r>
            <a:r>
              <a:rPr lang="zh-CN" altLang="en-GB" sz="2700" b="1" dirty="0">
                <a:latin typeface="Times New Roman" panose="02020603050405020304" pitchFamily="18" charset="0"/>
              </a:rPr>
              <a:t>只可被同一类的</a:t>
            </a:r>
            <a:r>
              <a:rPr lang="zh-CN" altLang="en-US" sz="2700" b="1" dirty="0">
                <a:latin typeface="Times New Roman" panose="02020603050405020304" pitchFamily="18" charset="0"/>
              </a:rPr>
              <a:t>方法</a:t>
            </a:r>
            <a:r>
              <a:rPr lang="zh-CN" altLang="en-GB" sz="2700" b="1" dirty="0">
                <a:latin typeface="Times New Roman" panose="02020603050405020304" pitchFamily="18" charset="0"/>
              </a:rPr>
              <a:t>访问</a:t>
            </a:r>
            <a:endParaRPr lang="zh-CN" altLang="en-GB" sz="2700" b="1" dirty="0">
              <a:latin typeface="Times New Roman" panose="02020603050405020304" pitchFamily="18" charset="0"/>
            </a:endParaRPr>
          </a:p>
          <a:p>
            <a:pPr marL="457200" indent="-457200">
              <a:lnSpc>
                <a:spcPct val="150000"/>
              </a:lnSpc>
              <a:buFont typeface="+mj-lt"/>
              <a:buAutoNum type="arabicPeriod"/>
            </a:pPr>
            <a:r>
              <a:rPr lang="zh-CN" altLang="en-GB" sz="2700" b="1" dirty="0">
                <a:latin typeface="Times New Roman" panose="02020603050405020304" pitchFamily="18" charset="0"/>
              </a:rPr>
              <a:t>默认(</a:t>
            </a:r>
            <a:r>
              <a:rPr lang="en-GB" altLang="zh-CN" sz="2700" b="1" dirty="0">
                <a:solidFill>
                  <a:srgbClr val="FF3399"/>
                </a:solidFill>
                <a:highlight>
                  <a:srgbClr val="FFFF66"/>
                </a:highlight>
                <a:latin typeface="Times New Roman" panose="02020603050405020304" pitchFamily="18" charset="0"/>
              </a:rPr>
              <a:t>default</a:t>
            </a:r>
            <a:r>
              <a:rPr lang="en-GB" altLang="zh-CN" sz="2700" b="1" dirty="0">
                <a:latin typeface="Times New Roman" panose="02020603050405020304" pitchFamily="18" charset="0"/>
              </a:rPr>
              <a:t>):</a:t>
            </a:r>
            <a:r>
              <a:rPr lang="zh-CN" altLang="en-GB" sz="2700" b="1" dirty="0">
                <a:latin typeface="Times New Roman" panose="02020603050405020304" pitchFamily="18" charset="0"/>
              </a:rPr>
              <a:t>仅允许同一个包内的访问；又被称为“包（</a:t>
            </a:r>
            <a:r>
              <a:rPr lang="en-GB" altLang="zh-CN" sz="2700" b="1" dirty="0">
                <a:latin typeface="Times New Roman" panose="02020603050405020304" pitchFamily="18" charset="0"/>
              </a:rPr>
              <a:t>package)</a:t>
            </a:r>
            <a:r>
              <a:rPr lang="zh-CN" altLang="en-GB" sz="2700" b="1" dirty="0">
                <a:latin typeface="Times New Roman" panose="02020603050405020304" pitchFamily="18" charset="0"/>
              </a:rPr>
              <a:t>访问权限”</a:t>
            </a:r>
            <a:endParaRPr lang="en-GB" altLang="zh-CN" sz="2700" b="1" dirty="0">
              <a:latin typeface="Times New Roman" panose="02020603050405020304" pitchFamily="18" charset="0"/>
            </a:endParaRPr>
          </a:p>
        </p:txBody>
      </p:sp>
      <p:sp>
        <p:nvSpPr>
          <p:cNvPr id="101382" name="Rectangle 2"/>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en-GB" altLang="zh-CN" sz="3600">
              <a:solidFill>
                <a:schemeClr val="tx2"/>
              </a:solidFill>
              <a:latin typeface="Trebuchet MS" panose="020B0603020202020204" pitchFamily="34" charset="0"/>
              <a:ea typeface="方正姚体" panose="02010601030101010101" pitchFamily="2" charset="-122"/>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38881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8604" name="Group 1148"/>
          <p:cNvGraphicFramePr>
            <a:graphicFrameLocks noGrp="1"/>
          </p:cNvGraphicFramePr>
          <p:nvPr>
            <p:ph idx="4294967295"/>
          </p:nvPr>
        </p:nvGraphicFramePr>
        <p:xfrm>
          <a:off x="911424" y="2012155"/>
          <a:ext cx="10585174" cy="3975102"/>
        </p:xfrm>
        <a:graphic>
          <a:graphicData uri="http://schemas.openxmlformats.org/drawingml/2006/table">
            <a:tbl>
              <a:tblPr/>
              <a:tblGrid>
                <a:gridCol w="2940438"/>
                <a:gridCol w="1740081"/>
                <a:gridCol w="1512168"/>
                <a:gridCol w="2160240"/>
                <a:gridCol w="2232247"/>
              </a:tblGrid>
              <a:tr h="615950">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类型</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en-US" altLang="zh-CN" sz="25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private</a:t>
                      </a:r>
                      <a:endParaRPr kumimoji="0" lang="en-US" altLang="zh-CN"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无修饰</a:t>
                      </a:r>
                      <a:endParaRPr kumimoji="0" lang="zh-CN" altLang="en-US"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en-US" altLang="zh-CN" sz="25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protected</a:t>
                      </a:r>
                      <a:endParaRPr kumimoji="0" lang="en-US" altLang="zh-CN"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en-US" altLang="zh-CN" sz="2500" b="0"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public</a:t>
                      </a:r>
                      <a:endParaRPr kumimoji="0" lang="en-US" altLang="zh-CN"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81025">
                <a:tc>
                  <a:txBody>
                    <a:bodyPr/>
                    <a:lstStyle/>
                    <a:p>
                      <a:pPr marL="0" marR="0" lvl="0" indent="109855" algn="just"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同一类</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719138">
                <a:tc>
                  <a:txBody>
                    <a:bodyPr/>
                    <a:lstStyle/>
                    <a:p>
                      <a:pPr marL="0" marR="0" lvl="0" indent="109855" algn="just"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同一包中的子类</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87388">
                <a:tc>
                  <a:txBody>
                    <a:bodyPr/>
                    <a:lstStyle/>
                    <a:p>
                      <a:pPr marL="0" marR="0" lvl="0" indent="109855" algn="just"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同一包中的非子类</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84213">
                <a:tc>
                  <a:txBody>
                    <a:bodyPr/>
                    <a:lstStyle/>
                    <a:p>
                      <a:pPr marL="0" marR="0" lvl="0" indent="109855" algn="just"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不同包中的子类</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87388">
                <a:tc>
                  <a:txBody>
                    <a:bodyPr/>
                    <a:lstStyle/>
                    <a:p>
                      <a:pPr marL="0" marR="0" lvl="0" indent="109855" algn="just" defTabSz="914400" rtl="0" eaLnBrk="1" fontAlgn="base" latinLnBrk="0" hangingPunct="1">
                        <a:lnSpc>
                          <a:spcPct val="100000"/>
                        </a:lnSpc>
                        <a:spcBef>
                          <a:spcPct val="0"/>
                        </a:spcBef>
                        <a:spcAft>
                          <a:spcPct val="0"/>
                        </a:spcAft>
                        <a:buClrTx/>
                        <a:buSzTx/>
                        <a:buFontTx/>
                        <a:buNone/>
                      </a:pPr>
                      <a:r>
                        <a:rPr kumimoji="0" lang="zh-CN" altLang="en-US" sz="2500" b="0"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不同包中的非子类</a:t>
                      </a:r>
                      <a:endPar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rPr>
                        <a:t>否</a:t>
                      </a:r>
                      <a:endParaRPr kumimoji="0" lang="en-US" altLang="zh-CN" sz="25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109855" algn="ctr" defTabSz="914400" rtl="0" eaLnBrk="1" fontAlgn="base" latinLnBrk="0" hangingPunct="1">
                        <a:lnSpc>
                          <a:spcPct val="100000"/>
                        </a:lnSpc>
                        <a:spcBef>
                          <a:spcPct val="0"/>
                        </a:spcBef>
                        <a:spcAft>
                          <a:spcPct val="0"/>
                        </a:spcAft>
                        <a:buClrTx/>
                        <a:buSzTx/>
                        <a:buFontTx/>
                        <a:buNone/>
                      </a:pPr>
                      <a:r>
                        <a:rPr kumimoji="0" lang="zh-CN" altLang="en-US" sz="2500" b="1" i="0" u="none" strike="noStrike" cap="none" normalizeH="0" baseline="0" dirty="0">
                          <a:ln>
                            <a:noFill/>
                          </a:ln>
                          <a:solidFill>
                            <a:schemeClr val="hlink"/>
                          </a:solidFill>
                          <a:effectLst/>
                          <a:latin typeface="Times New Roman" panose="02020603050405020304" pitchFamily="18" charset="0"/>
                          <a:ea typeface="楷体" panose="02010609060101010101" pitchFamily="49" charset="-122"/>
                        </a:rPr>
                        <a:t>是</a:t>
                      </a:r>
                      <a:endParaRPr kumimoji="0" lang="en-US" altLang="zh-CN" sz="2500" b="1" i="0" u="none" strike="noStrike" cap="none" normalizeH="0" baseline="0" dirty="0">
                        <a:ln>
                          <a:noFill/>
                        </a:ln>
                        <a:solidFill>
                          <a:schemeClr val="hlink"/>
                        </a:solidFill>
                        <a:effectLst/>
                        <a:latin typeface="Times New Roman" panose="02020603050405020304" pitchFamily="18" charset="0"/>
                        <a:ea typeface="楷体" panose="02010609060101010101" pitchFamily="49" charset="-122"/>
                      </a:endParaRPr>
                    </a:p>
                  </a:txBody>
                  <a:tcPr marL="135264" marR="135264" marT="46800" marB="46800" anchor="ct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103473" name="Rectangle 2"/>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en-GB" altLang="zh-CN" sz="3600">
              <a:solidFill>
                <a:schemeClr val="tx2"/>
              </a:solidFill>
              <a:latin typeface="Trebuchet MS" panose="020B0603020202020204" pitchFamily="34" charset="0"/>
              <a:ea typeface="方正姚体" panose="02010601030101010101" pitchFamily="2" charset="-122"/>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38881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Rectangle 4"/>
          <p:cNvSpPr>
            <a:spLocks noGrp="1" noChangeArrowheads="1"/>
          </p:cNvSpPr>
          <p:nvPr>
            <p:ph idx="4294967295"/>
          </p:nvPr>
        </p:nvSpPr>
        <p:spPr>
          <a:xfrm>
            <a:off x="1847528" y="1700808"/>
            <a:ext cx="6350496" cy="3845024"/>
          </a:xfrm>
        </p:spPr>
        <p:txBody>
          <a:bodyPr vert="horz" wrap="square" lIns="92075" tIns="46038" rIns="92075" bIns="46038" numCol="1" anchor="t" anchorCtr="0" compatLnSpc="1"/>
          <a:lstStyle/>
          <a:p>
            <a:pPr marL="0" indent="0" eaLnBrk="1" hangingPunct="1">
              <a:buNone/>
            </a:pPr>
            <a:r>
              <a:rPr lang="en-US" altLang="zh-CN" sz="2500" b="1" dirty="0">
                <a:latin typeface="Times New Roman" panose="02020603050405020304" pitchFamily="18" charset="0"/>
              </a:rPr>
              <a:t>//</a:t>
            </a:r>
            <a:r>
              <a:rPr lang="zh-CN" altLang="en-US" sz="2500" b="1" dirty="0">
                <a:latin typeface="Times New Roman" panose="02020603050405020304" pitchFamily="18" charset="0"/>
              </a:rPr>
              <a:t>将实例变量设置为</a:t>
            </a:r>
            <a:r>
              <a:rPr lang="en-US" altLang="zh-CN" sz="2500" b="1" dirty="0">
                <a:latin typeface="Times New Roman" panose="02020603050405020304" pitchFamily="18" charset="0"/>
              </a:rPr>
              <a:t>private</a:t>
            </a:r>
            <a:endParaRPr lang="zh-CN" altLang="en-US" sz="2500" b="1" dirty="0">
              <a:latin typeface="Times New Roman" panose="02020603050405020304" pitchFamily="18" charset="0"/>
            </a:endParaRPr>
          </a:p>
          <a:p>
            <a:pPr lvl="1" indent="-742950" eaLnBrk="1" hangingPunct="1">
              <a:buFont typeface="Georgia" panose="02040502050405020303" pitchFamily="18" charset="0"/>
              <a:buNone/>
            </a:pPr>
            <a:r>
              <a:rPr lang="en-US" altLang="zh-CN" sz="2500" b="1" dirty="0">
                <a:latin typeface="Times New Roman" panose="02020603050405020304" pitchFamily="18" charset="0"/>
              </a:rPr>
              <a:t>public class Circle { </a:t>
            </a:r>
            <a:endParaRPr lang="en-US" altLang="zh-CN" sz="2500" b="1" dirty="0">
              <a:latin typeface="Times New Roman" panose="02020603050405020304" pitchFamily="18" charset="0"/>
            </a:endParaRPr>
          </a:p>
          <a:p>
            <a:pPr lvl="1" eaLnBrk="1" hangingPunct="1">
              <a:buFont typeface="Georgia" panose="02040502050405020303" pitchFamily="18" charset="0"/>
              <a:buNone/>
            </a:pPr>
            <a:r>
              <a:rPr lang="en-US" altLang="zh-CN" sz="2500" b="1" dirty="0">
                <a:latin typeface="Times New Roman" panose="02020603050405020304" pitchFamily="18" charset="0"/>
              </a:rPr>
              <a:t>  static double PI = 3.14159265; </a:t>
            </a:r>
            <a:endParaRPr lang="en-US" altLang="zh-CN" sz="2500" b="1" dirty="0">
              <a:latin typeface="Times New Roman" panose="02020603050405020304" pitchFamily="18" charset="0"/>
            </a:endParaRPr>
          </a:p>
          <a:p>
            <a:pPr lvl="1" eaLnBrk="1" hangingPunct="1">
              <a:buFont typeface="Georgia" panose="02040502050405020303" pitchFamily="18" charset="0"/>
              <a:buNone/>
            </a:pPr>
            <a:r>
              <a:rPr lang="en-US" altLang="zh-CN" sz="2500" b="1" dirty="0">
                <a:latin typeface="Times New Roman" panose="02020603050405020304" pitchFamily="18" charset="0"/>
              </a:rPr>
              <a:t>  </a:t>
            </a:r>
            <a:r>
              <a:rPr lang="en-US" altLang="zh-CN" sz="2500" b="1" dirty="0">
                <a:solidFill>
                  <a:srgbClr val="FF0000"/>
                </a:solidFill>
                <a:latin typeface="Times New Roman" panose="02020603050405020304" pitchFamily="18" charset="0"/>
              </a:rPr>
              <a:t>private</a:t>
            </a:r>
            <a:r>
              <a:rPr lang="en-US" altLang="zh-CN" sz="2500" b="1" dirty="0">
                <a:latin typeface="Times New Roman" panose="02020603050405020304" pitchFamily="18" charset="0"/>
              </a:rPr>
              <a:t> int radius;     </a:t>
            </a:r>
            <a:endParaRPr lang="en-US" altLang="zh-CN" sz="2500" b="1" dirty="0">
              <a:latin typeface="Times New Roman" panose="02020603050405020304" pitchFamily="18" charset="0"/>
            </a:endParaRPr>
          </a:p>
          <a:p>
            <a:pPr lvl="1" eaLnBrk="1" hangingPunct="1">
              <a:buFont typeface="Georgia" panose="02040502050405020303" pitchFamily="18" charset="0"/>
              <a:buNone/>
            </a:pPr>
            <a:r>
              <a:rPr lang="en-US" altLang="zh-CN" sz="2500" b="1" dirty="0">
                <a:latin typeface="Times New Roman" panose="02020603050405020304" pitchFamily="18" charset="0"/>
              </a:rPr>
              <a:t>  public double circumference() { </a:t>
            </a:r>
            <a:endParaRPr lang="en-US" altLang="zh-CN" sz="2500" b="1" dirty="0">
              <a:latin typeface="Times New Roman" panose="02020603050405020304" pitchFamily="18" charset="0"/>
            </a:endParaRPr>
          </a:p>
          <a:p>
            <a:pPr lvl="1" eaLnBrk="1" hangingPunct="1">
              <a:buFont typeface="Georgia" panose="02040502050405020303" pitchFamily="18" charset="0"/>
              <a:buNone/>
            </a:pPr>
            <a:r>
              <a:rPr lang="en-US" altLang="zh-CN" sz="2500" b="1" dirty="0">
                <a:latin typeface="Times New Roman" panose="02020603050405020304" pitchFamily="18" charset="0"/>
              </a:rPr>
              <a:t>          return 2 * PI * radius; </a:t>
            </a:r>
            <a:endParaRPr lang="en-US" altLang="zh-CN" sz="2500" b="1" dirty="0">
              <a:latin typeface="Times New Roman" panose="02020603050405020304" pitchFamily="18" charset="0"/>
            </a:endParaRPr>
          </a:p>
          <a:p>
            <a:pPr lvl="1" eaLnBrk="1" hangingPunct="1">
              <a:buFont typeface="Georgia" panose="02040502050405020303" pitchFamily="18" charset="0"/>
              <a:buNone/>
            </a:pPr>
            <a:r>
              <a:rPr lang="en-US" altLang="zh-CN" sz="2500" b="1" dirty="0">
                <a:latin typeface="Times New Roman" panose="02020603050405020304" pitchFamily="18" charset="0"/>
              </a:rPr>
              <a:t>  } </a:t>
            </a:r>
            <a:endParaRPr lang="en-US" altLang="zh-CN" sz="2500" b="1" dirty="0">
              <a:latin typeface="Times New Roman" panose="02020603050405020304" pitchFamily="18" charset="0"/>
            </a:endParaRPr>
          </a:p>
          <a:p>
            <a:pPr lvl="1" indent="-742950" eaLnBrk="1" hangingPunct="1">
              <a:buFont typeface="Georgia" panose="02040502050405020303" pitchFamily="18" charset="0"/>
              <a:buNone/>
            </a:pP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lvl="1" eaLnBrk="1" hangingPunct="1">
              <a:buFont typeface="Georgia" panose="02040502050405020303" pitchFamily="18" charset="0"/>
              <a:buNone/>
            </a:pPr>
            <a:endParaRPr lang="zh-CN" altLang="en-US" sz="2400" dirty="0">
              <a:latin typeface="Times New Roman" panose="02020603050405020304" pitchFamily="18" charset="0"/>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38881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0" name="Rectangle 3"/>
          <p:cNvSpPr>
            <a:spLocks noGrp="1" noChangeArrowheads="1"/>
          </p:cNvSpPr>
          <p:nvPr>
            <p:ph idx="4294967295"/>
          </p:nvPr>
        </p:nvSpPr>
        <p:spPr>
          <a:xfrm>
            <a:off x="1127448" y="1772816"/>
            <a:ext cx="10297144" cy="4680520"/>
          </a:xfrm>
        </p:spPr>
        <p:txBody>
          <a:bodyPr vert="horz" wrap="square" lIns="92075" tIns="46038" rIns="92075" bIns="46038" numCol="1" anchor="t" anchorCtr="0" compatLnSpc="1">
            <a:normAutofit fontScale="92500" lnSpcReduction="20000"/>
          </a:bodyPr>
          <a:lstStyle/>
          <a:p>
            <a:pPr marL="0" indent="0" eaLnBrk="1" hangingPunct="1">
              <a:lnSpc>
                <a:spcPct val="90000"/>
              </a:lnSpc>
              <a:buNone/>
            </a:pPr>
            <a:r>
              <a:rPr lang="en-US" altLang="zh-CN" sz="2800" b="1" dirty="0">
                <a:latin typeface="Times New Roman" panose="02020603050405020304" pitchFamily="18" charset="0"/>
              </a:rPr>
              <a:t>//</a:t>
            </a:r>
            <a:r>
              <a:rPr lang="zh-CN" altLang="en-US" sz="2800" b="1" dirty="0">
                <a:latin typeface="Times New Roman" panose="02020603050405020304" pitchFamily="18" charset="0"/>
              </a:rPr>
              <a:t>再编译</a:t>
            </a:r>
            <a:r>
              <a:rPr lang="en-US" altLang="zh-CN" sz="2800" b="1" dirty="0">
                <a:latin typeface="Times New Roman" panose="02020603050405020304" pitchFamily="18" charset="0"/>
              </a:rPr>
              <a:t>CircumferenceTester.java</a:t>
            </a:r>
            <a:r>
              <a:rPr lang="zh-CN" altLang="en-US" sz="2800" b="1" dirty="0">
                <a:latin typeface="Times New Roman" panose="02020603050405020304" pitchFamily="18" charset="0"/>
              </a:rPr>
              <a:t>就会报错</a:t>
            </a:r>
            <a:endParaRPr lang="en-US" altLang="zh-CN" sz="2800" b="1" dirty="0">
              <a:latin typeface="Times New Roman" panose="02020603050405020304" pitchFamily="18" charset="0"/>
            </a:endParaRPr>
          </a:p>
          <a:p>
            <a:pPr lvl="1" indent="-742950" eaLnBrk="1" hangingPunct="1">
              <a:lnSpc>
                <a:spcPct val="90000"/>
              </a:lnSpc>
              <a:spcBef>
                <a:spcPct val="55000"/>
              </a:spcBef>
              <a:buFont typeface="Georgia" panose="02040502050405020303" pitchFamily="18" charset="0"/>
              <a:buNone/>
            </a:pPr>
            <a:r>
              <a:rPr lang="en-US" altLang="zh-CN" sz="2700" b="1" dirty="0">
                <a:latin typeface="Times New Roman" panose="02020603050405020304" pitchFamily="18" charset="0"/>
              </a:rPr>
              <a:t>public class </a:t>
            </a:r>
            <a:r>
              <a:rPr lang="en-US" altLang="zh-CN" sz="2700" b="1" dirty="0" err="1">
                <a:latin typeface="Times New Roman" panose="02020603050405020304" pitchFamily="18" charset="0"/>
              </a:rPr>
              <a:t>CircumferenceTester</a:t>
            </a:r>
            <a:r>
              <a:rPr lang="en-US" altLang="zh-CN" sz="2700" b="1" dirty="0">
                <a:latin typeface="Times New Roman" panose="02020603050405020304" pitchFamily="18" charset="0"/>
              </a:rPr>
              <a:t> {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public static void main(String </a:t>
            </a:r>
            <a:r>
              <a:rPr lang="en-US" altLang="zh-CN" sz="2700" b="1" dirty="0" err="1">
                <a:latin typeface="Times New Roman" panose="02020603050405020304" pitchFamily="18" charset="0"/>
              </a:rPr>
              <a:t>args</a:t>
            </a:r>
            <a:r>
              <a:rPr lang="en-US" altLang="zh-CN" sz="2700" b="1" dirty="0">
                <a:latin typeface="Times New Roman" panose="02020603050405020304" pitchFamily="18" charset="0"/>
              </a:rPr>
              <a:t>[]) {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Circle </a:t>
            </a:r>
            <a:r>
              <a:rPr lang="en-US" altLang="zh-CN" sz="2700" b="1" dirty="0">
                <a:solidFill>
                  <a:schemeClr val="tx2"/>
                </a:solidFill>
                <a:latin typeface="Times New Roman" panose="02020603050405020304" pitchFamily="18" charset="0"/>
              </a:rPr>
              <a:t>c1</a:t>
            </a:r>
            <a:r>
              <a:rPr lang="en-US" altLang="zh-CN" sz="2700" b="1" dirty="0">
                <a:latin typeface="Times New Roman" panose="02020603050405020304" pitchFamily="18" charset="0"/>
              </a:rPr>
              <a:t> = new Circle();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a:t>
            </a:r>
            <a:r>
              <a:rPr lang="en-US" altLang="zh-CN" sz="2700" b="1" dirty="0">
                <a:solidFill>
                  <a:srgbClr val="FF0000"/>
                </a:solidFill>
                <a:latin typeface="Times New Roman" panose="02020603050405020304" pitchFamily="18" charset="0"/>
              </a:rPr>
              <a:t>c1.radius = 50; </a:t>
            </a:r>
            <a:endParaRPr lang="en-US" altLang="zh-CN" sz="2700" b="1" dirty="0">
              <a:solidFill>
                <a:srgbClr val="FF0000"/>
              </a:solidFill>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Circle </a:t>
            </a:r>
            <a:r>
              <a:rPr lang="en-US" altLang="zh-CN" sz="2700" b="1" dirty="0">
                <a:solidFill>
                  <a:schemeClr val="tx2"/>
                </a:solidFill>
                <a:latin typeface="Times New Roman" panose="02020603050405020304" pitchFamily="18" charset="0"/>
              </a:rPr>
              <a:t>c2</a:t>
            </a:r>
            <a:r>
              <a:rPr lang="en-US" altLang="zh-CN" sz="2700" b="1" dirty="0">
                <a:latin typeface="Times New Roman" panose="02020603050405020304" pitchFamily="18" charset="0"/>
              </a:rPr>
              <a:t> = new Circle();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a:t>
            </a:r>
            <a:r>
              <a:rPr lang="en-US" altLang="zh-CN" sz="2700" b="1" dirty="0">
                <a:solidFill>
                  <a:srgbClr val="FF0000"/>
                </a:solidFill>
                <a:latin typeface="Times New Roman" panose="02020603050405020304" pitchFamily="18" charset="0"/>
              </a:rPr>
              <a:t>c2.radius = 10;         </a:t>
            </a:r>
            <a:endParaRPr lang="en-US" altLang="zh-CN" sz="2700" b="1" dirty="0">
              <a:solidFill>
                <a:srgbClr val="FF0000"/>
              </a:solidFill>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double circum1 = c1.circumference();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double circum2 = c2.circumference();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a:t>
            </a:r>
            <a:r>
              <a:rPr lang="en-US" altLang="zh-CN" sz="2700" b="1" dirty="0" err="1">
                <a:latin typeface="Times New Roman" panose="02020603050405020304" pitchFamily="18" charset="0"/>
              </a:rPr>
              <a:t>System.out.println</a:t>
            </a:r>
            <a:r>
              <a:rPr lang="en-US" altLang="zh-CN" sz="2700" b="1" dirty="0">
                <a:latin typeface="Times New Roman" panose="02020603050405020304" pitchFamily="18" charset="0"/>
              </a:rPr>
              <a:t>("Circle 1 has circumference " + circum1);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a:t>
            </a:r>
            <a:r>
              <a:rPr lang="en-US" altLang="zh-CN" sz="2700" b="1" dirty="0" err="1">
                <a:latin typeface="Times New Roman" panose="02020603050405020304" pitchFamily="18" charset="0"/>
              </a:rPr>
              <a:t>System.out.println</a:t>
            </a:r>
            <a:r>
              <a:rPr lang="en-US" altLang="zh-CN" sz="2700" b="1" dirty="0">
                <a:latin typeface="Times New Roman" panose="02020603050405020304" pitchFamily="18" charset="0"/>
              </a:rPr>
              <a:t>("Circle 2 has circumference " + circum2); </a:t>
            </a:r>
            <a:endParaRPr lang="en-US" altLang="zh-CN" sz="2700" b="1"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700" b="1" dirty="0">
                <a:latin typeface="Times New Roman" panose="02020603050405020304" pitchFamily="18" charset="0"/>
              </a:rPr>
              <a:t> } </a:t>
            </a:r>
            <a:endParaRPr lang="en-US" altLang="zh-CN" sz="2700" b="1" dirty="0">
              <a:latin typeface="Times New Roman" panose="02020603050405020304" pitchFamily="18" charset="0"/>
            </a:endParaRPr>
          </a:p>
          <a:p>
            <a:pPr lvl="1" indent="-742950" eaLnBrk="1" hangingPunct="1">
              <a:lnSpc>
                <a:spcPct val="90000"/>
              </a:lnSpc>
              <a:buFont typeface="Georgia" panose="02040502050405020303" pitchFamily="18" charset="0"/>
              <a:buNone/>
            </a:pPr>
            <a:r>
              <a:rPr lang="en-US" altLang="zh-CN" sz="2700" b="1" dirty="0">
                <a:latin typeface="Times New Roman" panose="02020603050405020304" pitchFamily="18" charset="0"/>
              </a:rPr>
              <a:t>}</a:t>
            </a:r>
            <a:endParaRPr lang="zh-CN" altLang="en-US" sz="2700" b="1" dirty="0">
              <a:latin typeface="Times New Roman" panose="02020603050405020304" pitchFamily="18" charset="0"/>
            </a:endParaRPr>
          </a:p>
          <a:p>
            <a:pPr lvl="1" eaLnBrk="1" hangingPunct="1">
              <a:lnSpc>
                <a:spcPct val="90000"/>
              </a:lnSpc>
              <a:buFont typeface="Georgia" panose="02040502050405020303" pitchFamily="18" charset="0"/>
              <a:buNone/>
            </a:pPr>
            <a:endParaRPr lang="zh-CN" altLang="en-US" sz="2400" dirty="0">
              <a:latin typeface="Times New Roman" panose="02020603050405020304" pitchFamily="18" charset="0"/>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38881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23392" y="1484784"/>
            <a:ext cx="11233248" cy="4464496"/>
          </a:xfrm>
        </p:spPr>
        <p:txBody>
          <a:bodyPr>
            <a:noAutofit/>
          </a:bodyPr>
          <a:lstStyle/>
          <a:p>
            <a:pPr eaLnBrk="1" hangingPunct="1">
              <a:lnSpc>
                <a:spcPct val="150000"/>
              </a:lnSpc>
              <a:buFont typeface="Wingdings" panose="05000000000000000000" pitchFamily="2" charset="2"/>
              <a:buChar char="Ø"/>
            </a:pPr>
            <a:r>
              <a:rPr lang="zh-CN" altLang="en-US" sz="2500" b="1" dirty="0">
                <a:latin typeface="Times New Roman" panose="02020603050405020304" pitchFamily="18" charset="0"/>
              </a:rPr>
              <a:t>编译时会提示出错</a:t>
            </a:r>
            <a:r>
              <a:rPr lang="en-US" altLang="zh-CN" sz="2500" b="1" dirty="0">
                <a:latin typeface="Times New Roman" panose="02020603050405020304" pitchFamily="18" charset="0"/>
              </a:rPr>
              <a:t>:</a:t>
            </a:r>
            <a:r>
              <a:rPr lang="zh-CN" altLang="en-US" sz="2500" b="1" dirty="0">
                <a:latin typeface="Times New Roman" panose="02020603050405020304" pitchFamily="18" charset="0"/>
              </a:rPr>
              <a:t>在编译语句“</a:t>
            </a:r>
            <a:r>
              <a:rPr lang="en-US" altLang="zh-CN" sz="2500" b="1" dirty="0">
                <a:latin typeface="Times New Roman" panose="02020603050405020304" pitchFamily="18" charset="0"/>
              </a:rPr>
              <a:t>c1.radius = 50;”</a:t>
            </a:r>
            <a:r>
              <a:rPr lang="zh-CN" altLang="en-US" sz="2500" b="1" dirty="0">
                <a:latin typeface="Times New Roman" panose="02020603050405020304" pitchFamily="18" charset="0"/>
              </a:rPr>
              <a:t>及“</a:t>
            </a:r>
            <a:r>
              <a:rPr lang="en-US" altLang="zh-CN" sz="2500" b="1" dirty="0">
                <a:latin typeface="Times New Roman" panose="02020603050405020304" pitchFamily="18" charset="0"/>
              </a:rPr>
              <a:t>c2.radius =10;”</a:t>
            </a:r>
            <a:r>
              <a:rPr lang="zh-CN" altLang="en-US" sz="2500" b="1" dirty="0">
                <a:latin typeface="Times New Roman" panose="02020603050405020304" pitchFamily="18" charset="0"/>
              </a:rPr>
              <a:t>时会提示存在语法错误：</a:t>
            </a:r>
            <a:endParaRPr lang="en-US" altLang="zh-CN" sz="2500" b="1" dirty="0">
              <a:latin typeface="Times New Roman" panose="02020603050405020304" pitchFamily="18" charset="0"/>
            </a:endParaRPr>
          </a:p>
          <a:p>
            <a:pPr marL="0" indent="0" eaLnBrk="1" hangingPunct="1">
              <a:lnSpc>
                <a:spcPct val="150000"/>
              </a:lnSpc>
              <a:buNone/>
            </a:pPr>
            <a:r>
              <a:rPr lang="en-US" altLang="zh-CN" sz="2500" b="1" dirty="0">
                <a:solidFill>
                  <a:schemeClr val="tx2"/>
                </a:solidFill>
                <a:latin typeface="Times New Roman" panose="02020603050405020304" pitchFamily="18" charset="0"/>
              </a:rPr>
              <a:t>        </a:t>
            </a:r>
            <a:r>
              <a:rPr lang="zh-CN" altLang="en-US" sz="2500" b="1" dirty="0">
                <a:solidFill>
                  <a:schemeClr val="tx2"/>
                </a:solidFill>
                <a:latin typeface="Times New Roman" panose="02020603050405020304" pitchFamily="18" charset="0"/>
              </a:rPr>
              <a:t>“</a:t>
            </a:r>
            <a:r>
              <a:rPr lang="en-US" altLang="zh-CN" sz="2500" b="1" dirty="0">
                <a:solidFill>
                  <a:srgbClr val="FF0000"/>
                </a:solidFill>
                <a:latin typeface="Times New Roman" panose="02020603050405020304" pitchFamily="18" charset="0"/>
              </a:rPr>
              <a:t>radius has private access in Circle</a:t>
            </a:r>
            <a:r>
              <a:rPr lang="en-US" altLang="zh-CN" sz="2500" b="1" dirty="0">
                <a:solidFill>
                  <a:schemeClr val="tx2"/>
                </a:solidFill>
                <a:latin typeface="Times New Roman" panose="02020603050405020304" pitchFamily="18" charset="0"/>
              </a:rPr>
              <a:t>”</a:t>
            </a:r>
            <a:endParaRPr lang="en-US" altLang="zh-CN" sz="2500" b="1" dirty="0">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500" b="1" dirty="0">
                <a:latin typeface="Times New Roman" panose="02020603050405020304" pitchFamily="18" charset="0"/>
              </a:rPr>
              <a:t>说错误原因</a:t>
            </a:r>
            <a:r>
              <a:rPr lang="en-US" altLang="zh-CN" sz="2500" b="1" dirty="0">
                <a:latin typeface="Times New Roman" panose="02020603050405020304" pitchFamily="18" charset="0"/>
              </a:rPr>
              <a:t>: Circle</a:t>
            </a:r>
            <a:r>
              <a:rPr lang="zh-CN" altLang="en-US" sz="2500" b="1" dirty="0">
                <a:latin typeface="Times New Roman" panose="02020603050405020304" pitchFamily="18" charset="0"/>
              </a:rPr>
              <a:t>类中变量</a:t>
            </a:r>
            <a:r>
              <a:rPr lang="en-US" altLang="zh-CN" sz="2500" b="1" dirty="0">
                <a:solidFill>
                  <a:srgbClr val="FF0000"/>
                </a:solidFill>
                <a:highlight>
                  <a:srgbClr val="FFFF00"/>
                </a:highlight>
                <a:latin typeface="Times New Roman" panose="02020603050405020304" pitchFamily="18" charset="0"/>
              </a:rPr>
              <a:t>radius</a:t>
            </a:r>
            <a:r>
              <a:rPr lang="zh-CN" altLang="en-US" sz="2500" b="1" dirty="0">
                <a:solidFill>
                  <a:srgbClr val="FF0000"/>
                </a:solidFill>
                <a:highlight>
                  <a:srgbClr val="FFFF00"/>
                </a:highlight>
                <a:latin typeface="Times New Roman" panose="02020603050405020304" pitchFamily="18" charset="0"/>
              </a:rPr>
              <a:t>被声明为</a:t>
            </a:r>
            <a:r>
              <a:rPr lang="en-US" altLang="zh-CN" sz="2500" b="1" dirty="0">
                <a:solidFill>
                  <a:srgbClr val="FF0000"/>
                </a:solidFill>
                <a:highlight>
                  <a:srgbClr val="FFFF00"/>
                </a:highlight>
                <a:latin typeface="Times New Roman" panose="02020603050405020304" pitchFamily="18" charset="0"/>
              </a:rPr>
              <a:t>private</a:t>
            </a:r>
            <a:r>
              <a:rPr lang="en-US" altLang="zh-CN" sz="2500" b="1" dirty="0">
                <a:latin typeface="Times New Roman" panose="02020603050405020304" pitchFamily="18" charset="0"/>
              </a:rPr>
              <a:t>，</a:t>
            </a:r>
            <a:r>
              <a:rPr lang="zh-CN" altLang="en-US" sz="2500" b="1" dirty="0">
                <a:latin typeface="Times New Roman" panose="02020603050405020304" pitchFamily="18" charset="0"/>
              </a:rPr>
              <a:t>在其它类中不能直接访问</a:t>
            </a:r>
            <a:r>
              <a:rPr lang="en-US" altLang="zh-CN" sz="2500" b="1" dirty="0">
                <a:latin typeface="Times New Roman" panose="02020603050405020304" pitchFamily="18" charset="0"/>
              </a:rPr>
              <a:t>radius</a:t>
            </a:r>
            <a:r>
              <a:rPr lang="zh-CN" altLang="en-US" sz="2500" b="1" dirty="0">
                <a:latin typeface="Times New Roman" panose="02020603050405020304" pitchFamily="18" charset="0"/>
              </a:rPr>
              <a:t>；</a:t>
            </a:r>
            <a:endParaRPr lang="en-US" altLang="zh-CN" sz="2500" b="1" dirty="0">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500" b="1" dirty="0">
                <a:latin typeface="Times New Roman" panose="02020603050405020304" pitchFamily="18" charset="0"/>
              </a:rPr>
              <a:t>如果要允许其它类访问</a:t>
            </a:r>
            <a:r>
              <a:rPr lang="en-US" altLang="zh-CN" sz="2500" b="1" dirty="0">
                <a:latin typeface="Times New Roman" panose="02020603050405020304" pitchFamily="18" charset="0"/>
              </a:rPr>
              <a:t>radius</a:t>
            </a:r>
            <a:r>
              <a:rPr lang="zh-CN" altLang="en-US" sz="2500" b="1" dirty="0">
                <a:latin typeface="Times New Roman" panose="02020603050405020304" pitchFamily="18" charset="0"/>
              </a:rPr>
              <a:t>的值，需要</a:t>
            </a:r>
            <a:r>
              <a:rPr lang="zh-CN" altLang="en-US" sz="2500" b="1" dirty="0">
                <a:solidFill>
                  <a:srgbClr val="FF0000"/>
                </a:solidFill>
                <a:highlight>
                  <a:srgbClr val="FFFF00"/>
                </a:highlight>
                <a:latin typeface="Times New Roman" panose="02020603050405020304" pitchFamily="18" charset="0"/>
              </a:rPr>
              <a:t>在</a:t>
            </a:r>
            <a:r>
              <a:rPr lang="en-US" altLang="zh-CN" sz="2500" b="1" dirty="0">
                <a:solidFill>
                  <a:srgbClr val="FF0000"/>
                </a:solidFill>
                <a:highlight>
                  <a:srgbClr val="FFFF00"/>
                </a:highlight>
                <a:latin typeface="Times New Roman" panose="02020603050405020304" pitchFamily="18" charset="0"/>
              </a:rPr>
              <a:t>Circle</a:t>
            </a:r>
            <a:r>
              <a:rPr lang="zh-CN" altLang="en-US" sz="2500" b="1" dirty="0">
                <a:solidFill>
                  <a:srgbClr val="FF0000"/>
                </a:solidFill>
                <a:highlight>
                  <a:srgbClr val="FFFF00"/>
                </a:highlight>
                <a:latin typeface="Times New Roman" panose="02020603050405020304" pitchFamily="18" charset="0"/>
              </a:rPr>
              <a:t>类中声明相应的公有方法</a:t>
            </a:r>
            <a:r>
              <a:rPr lang="zh-CN" altLang="en-US" sz="2500" b="1" dirty="0">
                <a:latin typeface="Times New Roman" panose="02020603050405020304" pitchFamily="18" charset="0"/>
              </a:rPr>
              <a:t>。</a:t>
            </a:r>
            <a:endParaRPr lang="en-US" altLang="zh-CN" sz="2500" b="1" dirty="0">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500" b="1" dirty="0">
                <a:latin typeface="Times New Roman" panose="02020603050405020304" pitchFamily="18" charset="0"/>
              </a:rPr>
              <a:t>通常有两类典型的方法用于访问属性值，</a:t>
            </a:r>
            <a:r>
              <a:rPr lang="en-US" altLang="zh-CN" sz="2500" b="1" dirty="0">
                <a:latin typeface="Times New Roman" panose="02020603050405020304" pitchFamily="18" charset="0"/>
              </a:rPr>
              <a:t>get</a:t>
            </a:r>
            <a:r>
              <a:rPr lang="zh-CN" altLang="en-US" sz="2500" b="1" dirty="0">
                <a:latin typeface="Times New Roman" panose="02020603050405020304" pitchFamily="18" charset="0"/>
              </a:rPr>
              <a:t>方法及</a:t>
            </a:r>
            <a:r>
              <a:rPr lang="en-US" altLang="zh-CN" sz="2500" b="1" dirty="0">
                <a:latin typeface="Times New Roman" panose="02020603050405020304" pitchFamily="18" charset="0"/>
              </a:rPr>
              <a:t>set</a:t>
            </a:r>
            <a:r>
              <a:rPr lang="zh-CN" altLang="en-US" sz="2500" b="1" dirty="0">
                <a:latin typeface="Times New Roman" panose="02020603050405020304" pitchFamily="18" charset="0"/>
              </a:rPr>
              <a:t>方法</a:t>
            </a:r>
            <a:endParaRPr lang="en-US" altLang="zh-CN" sz="2500" b="1" dirty="0">
              <a:latin typeface="Times New Roman" panose="02020603050405020304" pitchFamily="18" charset="0"/>
            </a:endParaRPr>
          </a:p>
        </p:txBody>
      </p:sp>
      <p:sp>
        <p:nvSpPr>
          <p:cNvPr id="5"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6" name="文本框 5"/>
          <p:cNvSpPr txBox="1"/>
          <p:nvPr>
            <p:custDataLst>
              <p:tags r:id="rId2"/>
            </p:custDataLst>
          </p:nvPr>
        </p:nvSpPr>
        <p:spPr>
          <a:xfrm>
            <a:off x="407670" y="980440"/>
            <a:ext cx="38881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Grp="1" noChangeArrowheads="1"/>
          </p:cNvSpPr>
          <p:nvPr>
            <p:ph idx="4294967295"/>
          </p:nvPr>
        </p:nvSpPr>
        <p:spPr>
          <a:xfrm>
            <a:off x="1343473" y="1700808"/>
            <a:ext cx="7704856" cy="3214246"/>
          </a:xfrm>
        </p:spPr>
        <p:txBody>
          <a:bodyPr vert="horz" wrap="square" lIns="92075" tIns="46038" rIns="92075" bIns="46038" numCol="1" anchor="t" anchorCtr="0" compatLnSpc="1">
            <a:normAutofit/>
          </a:bodyPr>
          <a:lstStyle/>
          <a:p>
            <a:pPr>
              <a:buFont typeface="Wingdings" panose="05000000000000000000" pitchFamily="2" charset="2"/>
              <a:buChar char="Ø"/>
            </a:pPr>
            <a:r>
              <a:rPr lang="zh-CN" altLang="en-US" sz="2500" b="1" dirty="0">
                <a:latin typeface="Times New Roman" panose="02020603050405020304" pitchFamily="18" charset="0"/>
              </a:rPr>
              <a:t>功能是取得属性变量的值</a:t>
            </a:r>
            <a:endParaRPr lang="zh-CN" altLang="en-US" sz="2500" b="1" dirty="0">
              <a:latin typeface="Times New Roman" panose="02020603050405020304" pitchFamily="18" charset="0"/>
            </a:endParaRPr>
          </a:p>
          <a:p>
            <a:pPr>
              <a:buFont typeface="Wingdings" panose="05000000000000000000" pitchFamily="2" charset="2"/>
              <a:buChar char="Ø"/>
            </a:pPr>
            <a:r>
              <a:rPr lang="en-US" altLang="zh-CN" sz="2500" b="1" dirty="0">
                <a:latin typeface="Times New Roman" panose="02020603050405020304" pitchFamily="18" charset="0"/>
              </a:rPr>
              <a:t>get</a:t>
            </a:r>
            <a:r>
              <a:rPr lang="zh-CN" altLang="en-US" sz="2500" b="1" dirty="0">
                <a:latin typeface="Times New Roman" panose="02020603050405020304" pitchFamily="18" charset="0"/>
              </a:rPr>
              <a:t>方法名以“</a:t>
            </a:r>
            <a:r>
              <a:rPr lang="en-US" altLang="zh-CN" sz="2500" b="1" dirty="0">
                <a:latin typeface="Times New Roman" panose="02020603050405020304" pitchFamily="18" charset="0"/>
              </a:rPr>
              <a:t>get”</a:t>
            </a:r>
            <a:r>
              <a:rPr lang="zh-CN" altLang="en-US" sz="2500" b="1" dirty="0">
                <a:latin typeface="Times New Roman" panose="02020603050405020304" pitchFamily="18" charset="0"/>
              </a:rPr>
              <a:t>开头，后面是实例变量的名字</a:t>
            </a:r>
            <a:endParaRPr lang="zh-CN" altLang="en-US" sz="2500" b="1" dirty="0">
              <a:latin typeface="Times New Roman" panose="02020603050405020304" pitchFamily="18" charset="0"/>
            </a:endParaRPr>
          </a:p>
          <a:p>
            <a:pPr marL="0" indent="0">
              <a:buNone/>
            </a:pPr>
            <a:r>
              <a:rPr lang="zh-CN" altLang="en-US" sz="2500" b="1" dirty="0">
                <a:latin typeface="Times New Roman" panose="02020603050405020304" pitchFamily="18" charset="0"/>
              </a:rPr>
              <a:t>    例如：</a:t>
            </a:r>
            <a:endParaRPr lang="zh-CN" altLang="en-US" sz="2500" b="1" dirty="0">
              <a:latin typeface="Times New Roman" panose="02020603050405020304" pitchFamily="18" charset="0"/>
            </a:endParaRPr>
          </a:p>
          <a:p>
            <a:pPr lvl="1">
              <a:spcBef>
                <a:spcPct val="60000"/>
              </a:spcBef>
              <a:buFont typeface="Wingdings 2" panose="05020102010507070707" pitchFamily="18" charset="2"/>
              <a:buNone/>
            </a:pPr>
            <a:r>
              <a:rPr lang="en-US" altLang="zh-CN" sz="2500" b="1" dirty="0">
                <a:latin typeface="Times New Roman" panose="02020603050405020304" pitchFamily="18" charset="0"/>
              </a:rPr>
              <a:t>public int </a:t>
            </a:r>
            <a:r>
              <a:rPr lang="en-US" altLang="zh-CN" sz="2500" b="1" dirty="0" err="1">
                <a:solidFill>
                  <a:schemeClr val="tx2"/>
                </a:solidFill>
                <a:latin typeface="Times New Roman" panose="02020603050405020304" pitchFamily="18" charset="0"/>
              </a:rPr>
              <a:t>getRadius</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lvl="1">
              <a:buFont typeface="Wingdings 2" panose="05020102010507070707" pitchFamily="18" charset="2"/>
              <a:buNone/>
            </a:pPr>
            <a:r>
              <a:rPr lang="en-US" altLang="zh-CN" sz="2500" b="1" dirty="0">
                <a:latin typeface="Times New Roman" panose="02020603050405020304" pitchFamily="18" charset="0"/>
              </a:rPr>
              <a:t>       return radius;</a:t>
            </a:r>
            <a:endParaRPr lang="en-US" altLang="zh-CN" sz="2500" b="1" dirty="0">
              <a:latin typeface="Times New Roman" panose="02020603050405020304" pitchFamily="18" charset="0"/>
            </a:endParaRPr>
          </a:p>
          <a:p>
            <a:pPr lvl="1">
              <a:buFont typeface="Wingdings 2" panose="05020102010507070707" pitchFamily="18" charset="2"/>
              <a:buNone/>
            </a:pPr>
            <a:r>
              <a:rPr lang="en-US" altLang="zh-CN" sz="2500" b="1" dirty="0">
                <a:latin typeface="Times New Roman" panose="02020603050405020304" pitchFamily="18" charset="0"/>
              </a:rPr>
              <a:t>} </a:t>
            </a:r>
            <a:endParaRPr lang="zh-CN" altLang="en-US" sz="2200" dirty="0">
              <a:latin typeface="Times New Roman" panose="02020603050405020304" pitchFamily="18" charset="0"/>
            </a:endParaRPr>
          </a:p>
        </p:txBody>
      </p:sp>
      <p:sp>
        <p:nvSpPr>
          <p:cNvPr id="10854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3CFE9BA-BEBB-47C5-B873-69E5D884AAD1}"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108549" name="Rectangle 2"/>
          <p:cNvSpPr>
            <a:spLocks noChangeArrowheads="1"/>
          </p:cNvSpPr>
          <p:nvPr/>
        </p:nvSpPr>
        <p:spPr bwMode="auto">
          <a:xfrm>
            <a:off x="1992313" y="549275"/>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GB">
              <a:solidFill>
                <a:schemeClr val="tx2"/>
              </a:solidFill>
              <a:latin typeface="Trebuchet MS" panose="020B0603020202020204" pitchFamily="34" charset="0"/>
              <a:ea typeface="方正姚体" panose="02010601030101010101" pitchFamily="2" charset="-122"/>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518427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r>
              <a:rPr lang="en-US" altLang="zh-CN" sz="2800" dirty="0">
                <a:solidFill>
                  <a:schemeClr val="bg1"/>
                </a:solidFill>
                <a:ea typeface="楷体" panose="02010609060101010101" pitchFamily="49" charset="-122"/>
                <a:cs typeface="思源黑体 CN Heavy" panose="020B0A00000000000000" charset="-122"/>
              </a:rPr>
              <a:t>:get</a:t>
            </a:r>
            <a:r>
              <a:rPr lang="zh-CN" altLang="en-US" sz="2800" dirty="0">
                <a:solidFill>
                  <a:schemeClr val="bg1"/>
                </a:solidFill>
                <a:ea typeface="楷体" panose="02010609060101010101" pitchFamily="49" charset="-122"/>
                <a:cs typeface="思源黑体 CN Heavy" panose="020B0A00000000000000" charset="-122"/>
              </a:rPr>
              <a:t>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1" name="Rectangle 3"/>
          <p:cNvSpPr>
            <a:spLocks noGrp="1" noChangeArrowheads="1"/>
          </p:cNvSpPr>
          <p:nvPr>
            <p:ph idx="4294967295"/>
          </p:nvPr>
        </p:nvSpPr>
        <p:spPr>
          <a:xfrm>
            <a:off x="1343472" y="1770705"/>
            <a:ext cx="8229600" cy="3386488"/>
          </a:xfrm>
        </p:spPr>
        <p:txBody>
          <a:bodyPr vert="horz" wrap="square" lIns="92075" tIns="46038" rIns="92075" bIns="46038" numCol="1" anchor="t" anchorCtr="0" compatLnSpc="1">
            <a:noAutofit/>
          </a:bodyPr>
          <a:lstStyle/>
          <a:p>
            <a:pPr>
              <a:buFont typeface="Wingdings" panose="05000000000000000000" pitchFamily="2" charset="2"/>
              <a:buChar char="Ø"/>
            </a:pPr>
            <a:r>
              <a:rPr lang="zh-CN" altLang="en-US" sz="2700" b="1" dirty="0">
                <a:latin typeface="Times New Roman" panose="02020603050405020304" pitchFamily="18" charset="0"/>
              </a:rPr>
              <a:t>功能是修改属性变量的值</a:t>
            </a:r>
            <a:endParaRPr lang="zh-CN" altLang="en-US" sz="2700" b="1" dirty="0">
              <a:latin typeface="Times New Roman" panose="02020603050405020304" pitchFamily="18" charset="0"/>
            </a:endParaRPr>
          </a:p>
          <a:p>
            <a:pPr>
              <a:buFont typeface="Wingdings" panose="05000000000000000000" pitchFamily="2" charset="2"/>
              <a:buChar char="Ø"/>
            </a:pPr>
            <a:r>
              <a:rPr lang="en-US" altLang="zh-CN" sz="2700" b="1" dirty="0">
                <a:latin typeface="Times New Roman" panose="02020603050405020304" pitchFamily="18" charset="0"/>
              </a:rPr>
              <a:t>set</a:t>
            </a:r>
            <a:r>
              <a:rPr lang="zh-CN" altLang="en-US" sz="2700" b="1" dirty="0">
                <a:latin typeface="Times New Roman" panose="02020603050405020304" pitchFamily="18" charset="0"/>
              </a:rPr>
              <a:t>方法名</a:t>
            </a:r>
            <a:r>
              <a:rPr lang="zh-CN" altLang="en-US" sz="2700" b="1" dirty="0">
                <a:solidFill>
                  <a:srgbClr val="FF3399"/>
                </a:solidFill>
                <a:latin typeface="Times New Roman" panose="02020603050405020304" pitchFamily="18" charset="0"/>
              </a:rPr>
              <a:t>以“</a:t>
            </a:r>
            <a:r>
              <a:rPr lang="en-US" altLang="zh-CN" sz="2700" b="1" dirty="0">
                <a:solidFill>
                  <a:srgbClr val="FF3399"/>
                </a:solidFill>
                <a:latin typeface="Times New Roman" panose="02020603050405020304" pitchFamily="18" charset="0"/>
              </a:rPr>
              <a:t>set”</a:t>
            </a:r>
            <a:r>
              <a:rPr lang="zh-CN" altLang="en-US" sz="2700" b="1" dirty="0">
                <a:solidFill>
                  <a:srgbClr val="FF3399"/>
                </a:solidFill>
                <a:latin typeface="Times New Roman" panose="02020603050405020304" pitchFamily="18" charset="0"/>
              </a:rPr>
              <a:t>开头</a:t>
            </a:r>
            <a:r>
              <a:rPr lang="zh-CN" altLang="en-US" sz="2700" b="1" dirty="0">
                <a:latin typeface="Times New Roman" panose="02020603050405020304" pitchFamily="18" charset="0"/>
              </a:rPr>
              <a:t>，后面是实例变量的名字</a:t>
            </a:r>
            <a:endParaRPr lang="zh-CN" altLang="en-US" sz="2700" b="1" dirty="0">
              <a:latin typeface="Times New Roman" panose="02020603050405020304" pitchFamily="18" charset="0"/>
            </a:endParaRPr>
          </a:p>
          <a:p>
            <a:pPr marL="0" indent="0">
              <a:buNone/>
            </a:pPr>
            <a:r>
              <a:rPr lang="zh-CN" altLang="en-US" sz="2700" b="1" dirty="0">
                <a:latin typeface="Times New Roman" panose="02020603050405020304" pitchFamily="18" charset="0"/>
              </a:rPr>
              <a:t>    例如：</a:t>
            </a:r>
            <a:endParaRPr lang="zh-CN" altLang="en-US" sz="2700" b="1" dirty="0">
              <a:latin typeface="Times New Roman" panose="02020603050405020304" pitchFamily="18" charset="0"/>
            </a:endParaRPr>
          </a:p>
          <a:p>
            <a:pPr lvl="1">
              <a:spcBef>
                <a:spcPct val="60000"/>
              </a:spcBef>
              <a:buFont typeface="Wingdings 2" panose="05020102010507070707" pitchFamily="18" charset="2"/>
              <a:buNone/>
            </a:pPr>
            <a:r>
              <a:rPr lang="en-US" altLang="zh-CN" sz="2700" b="1" dirty="0">
                <a:latin typeface="Times New Roman" panose="02020603050405020304" pitchFamily="18" charset="0"/>
              </a:rPr>
              <a:t>public void </a:t>
            </a:r>
            <a:r>
              <a:rPr lang="en-US" altLang="zh-CN" sz="2700" b="1" dirty="0" err="1">
                <a:solidFill>
                  <a:schemeClr val="tx2"/>
                </a:solidFill>
                <a:latin typeface="Times New Roman" panose="02020603050405020304" pitchFamily="18" charset="0"/>
              </a:rPr>
              <a:t>setRadius</a:t>
            </a:r>
            <a:r>
              <a:rPr lang="en-US" altLang="zh-CN" sz="2700" b="1" dirty="0">
                <a:latin typeface="Times New Roman" panose="02020603050405020304" pitchFamily="18" charset="0"/>
              </a:rPr>
              <a:t>(int r){</a:t>
            </a:r>
            <a:endParaRPr lang="en-US" altLang="zh-CN" sz="2700" b="1" dirty="0">
              <a:latin typeface="Times New Roman" panose="02020603050405020304" pitchFamily="18" charset="0"/>
            </a:endParaRPr>
          </a:p>
          <a:p>
            <a:pPr lvl="1">
              <a:buFont typeface="Wingdings 2" panose="05020102010507070707" pitchFamily="18" charset="2"/>
              <a:buNone/>
            </a:pPr>
            <a:r>
              <a:rPr lang="en-US" altLang="zh-CN" sz="2700" b="1" dirty="0">
                <a:latin typeface="Times New Roman" panose="02020603050405020304" pitchFamily="18" charset="0"/>
              </a:rPr>
              <a:t>       radius = r;</a:t>
            </a:r>
            <a:endParaRPr lang="en-US" altLang="zh-CN" sz="2700" b="1" dirty="0">
              <a:latin typeface="Times New Roman" panose="02020603050405020304" pitchFamily="18" charset="0"/>
            </a:endParaRPr>
          </a:p>
          <a:p>
            <a:pPr lvl="1">
              <a:buFont typeface="Wingdings 2" panose="05020102010507070707" pitchFamily="18" charset="2"/>
              <a:buNone/>
            </a:pPr>
            <a:r>
              <a:rPr lang="en-US" altLang="zh-CN" sz="2700" b="1" dirty="0">
                <a:latin typeface="Times New Roman" panose="02020603050405020304" pitchFamily="18" charset="0"/>
              </a:rPr>
              <a:t>}</a:t>
            </a:r>
            <a:endParaRPr lang="zh-CN" altLang="en-US" sz="2700" b="1" dirty="0">
              <a:latin typeface="Times New Roman" panose="02020603050405020304" pitchFamily="18" charset="0"/>
            </a:endParaRPr>
          </a:p>
        </p:txBody>
      </p:sp>
      <p:sp>
        <p:nvSpPr>
          <p:cNvPr id="10957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4137A8B8-ADC9-4259-9A6E-EC65102DD594}"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109573" name="Rectangle 2"/>
          <p:cNvSpPr>
            <a:spLocks noChangeArrowheads="1"/>
          </p:cNvSpPr>
          <p:nvPr/>
        </p:nvSpPr>
        <p:spPr bwMode="auto">
          <a:xfrm>
            <a:off x="1992313" y="549275"/>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GB">
              <a:solidFill>
                <a:schemeClr val="tx2"/>
              </a:solidFill>
              <a:latin typeface="Trebuchet MS" panose="020B0603020202020204" pitchFamily="34" charset="0"/>
              <a:ea typeface="方正姚体" panose="02010601030101010101" pitchFamily="2" charset="-122"/>
            </a:endParaRPr>
          </a:p>
        </p:txBody>
      </p:sp>
      <p:sp>
        <p:nvSpPr>
          <p:cNvPr id="4" name="TextBox 3"/>
          <p:cNvSpPr txBox="1"/>
          <p:nvPr>
            <p:custDataLst>
              <p:tags r:id="rId1"/>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518427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r>
              <a:rPr lang="en-US" altLang="zh-CN" sz="2800" dirty="0">
                <a:solidFill>
                  <a:schemeClr val="bg1"/>
                </a:solidFill>
                <a:ea typeface="楷体" panose="02010609060101010101" pitchFamily="49" charset="-122"/>
                <a:cs typeface="思源黑体 CN Heavy" panose="020B0A00000000000000" charset="-122"/>
              </a:rPr>
              <a:t>:set</a:t>
            </a:r>
            <a:r>
              <a:rPr lang="zh-CN" altLang="en-US" sz="2800" dirty="0">
                <a:solidFill>
                  <a:schemeClr val="bg1"/>
                </a:solidFill>
                <a:ea typeface="楷体" panose="02010609060101010101" pitchFamily="49" charset="-122"/>
                <a:cs typeface="思源黑体 CN Heavy" panose="020B0A00000000000000" charset="-122"/>
              </a:rPr>
              <a:t>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9" name="Rectangle 3"/>
          <p:cNvSpPr>
            <a:spLocks noGrp="1" noChangeArrowheads="1"/>
          </p:cNvSpPr>
          <p:nvPr>
            <p:ph idx="4294967295"/>
          </p:nvPr>
        </p:nvSpPr>
        <p:spPr>
          <a:xfrm>
            <a:off x="767408" y="1770705"/>
            <a:ext cx="10513168" cy="3052936"/>
          </a:xfrm>
        </p:spPr>
        <p:txBody>
          <a:bodyPr vert="horz" wrap="square" lIns="92075" tIns="46038" rIns="92075" bIns="46038" numCol="1" anchor="t" anchorCtr="0" compatLnSpc="1">
            <a:normAutofit lnSpcReduction="10000"/>
          </a:bodyPr>
          <a:lstStyle/>
          <a:p>
            <a:pPr marL="0" indent="0">
              <a:lnSpc>
                <a:spcPct val="150000"/>
              </a:lnSpc>
              <a:buNone/>
            </a:pPr>
            <a:r>
              <a:rPr lang="zh-CN" altLang="en-US" sz="2500" b="1" dirty="0">
                <a:latin typeface="Times New Roman" panose="02020603050405020304" pitchFamily="18" charset="0"/>
              </a:rPr>
              <a:t>        如果方法内的</a:t>
            </a:r>
            <a:r>
              <a:rPr lang="zh-CN" altLang="en-US" sz="2500" b="1" dirty="0">
                <a:solidFill>
                  <a:srgbClr val="FF0000"/>
                </a:solidFill>
                <a:highlight>
                  <a:srgbClr val="FFFF00"/>
                </a:highlight>
                <a:latin typeface="Times New Roman" panose="02020603050405020304" pitchFamily="18" charset="0"/>
              </a:rPr>
              <a:t>局部变量（包括形参）名与实例变量名相同</a:t>
            </a:r>
            <a:r>
              <a:rPr lang="zh-CN" altLang="en-US" sz="2500" b="1" dirty="0">
                <a:latin typeface="Times New Roman" panose="02020603050405020304" pitchFamily="18" charset="0"/>
              </a:rPr>
              <a:t>，则方法体内访问实例变量时需要</a:t>
            </a:r>
            <a:r>
              <a:rPr lang="en-US" altLang="zh-CN" sz="2500" b="1" dirty="0">
                <a:solidFill>
                  <a:srgbClr val="FF3399"/>
                </a:solidFill>
                <a:latin typeface="Times New Roman" panose="02020603050405020304" pitchFamily="18" charset="0"/>
              </a:rPr>
              <a:t>this</a:t>
            </a:r>
            <a:r>
              <a:rPr lang="zh-CN" altLang="en-US" sz="2500" b="1" dirty="0">
                <a:latin typeface="Times New Roman" panose="02020603050405020304" pitchFamily="18" charset="0"/>
              </a:rPr>
              <a:t>关键字。</a:t>
            </a:r>
            <a:endParaRPr lang="zh-CN" altLang="en-US" sz="2500" b="1" dirty="0">
              <a:latin typeface="Times New Roman" panose="02020603050405020304" pitchFamily="18" charset="0"/>
            </a:endParaRPr>
          </a:p>
          <a:p>
            <a:pPr marL="0" indent="0">
              <a:buNone/>
            </a:pPr>
            <a:r>
              <a:rPr lang="zh-CN" altLang="en-US" sz="2500" b="1" dirty="0">
                <a:latin typeface="Times New Roman" panose="02020603050405020304" pitchFamily="18" charset="0"/>
              </a:rPr>
              <a:t>例如：</a:t>
            </a:r>
            <a:endParaRPr lang="zh-CN" altLang="en-US" sz="2500" b="1" dirty="0">
              <a:latin typeface="Times New Roman" panose="02020603050405020304" pitchFamily="18" charset="0"/>
            </a:endParaRPr>
          </a:p>
          <a:p>
            <a:pPr lvl="1">
              <a:spcBef>
                <a:spcPct val="60000"/>
              </a:spcBef>
              <a:buFont typeface="Wingdings 2" panose="05020102010507070707" pitchFamily="18" charset="2"/>
              <a:buNone/>
            </a:pPr>
            <a:r>
              <a:rPr lang="en-US" altLang="zh-CN" sz="2500" b="1" dirty="0">
                <a:latin typeface="Times New Roman" panose="02020603050405020304" pitchFamily="18" charset="0"/>
              </a:rPr>
              <a:t>public void </a:t>
            </a:r>
            <a:r>
              <a:rPr lang="en-US" altLang="zh-CN" sz="2500" b="1" dirty="0" err="1">
                <a:latin typeface="Times New Roman" panose="02020603050405020304" pitchFamily="18" charset="0"/>
              </a:rPr>
              <a:t>setRadius</a:t>
            </a:r>
            <a:r>
              <a:rPr lang="en-US" altLang="zh-CN" sz="2500" b="1" dirty="0">
                <a:latin typeface="Times New Roman" panose="02020603050405020304" pitchFamily="18" charset="0"/>
              </a:rPr>
              <a:t>(int radius){</a:t>
            </a:r>
            <a:endParaRPr lang="en-US" altLang="zh-CN" sz="2500" b="1" dirty="0">
              <a:latin typeface="Times New Roman" panose="02020603050405020304" pitchFamily="18" charset="0"/>
            </a:endParaRPr>
          </a:p>
          <a:p>
            <a:pPr lvl="1">
              <a:buFont typeface="Wingdings 2" panose="05020102010507070707" pitchFamily="18" charset="2"/>
              <a:buNone/>
            </a:pPr>
            <a:r>
              <a:rPr lang="en-US" altLang="zh-CN" sz="2500" b="1" dirty="0">
                <a:latin typeface="Times New Roman" panose="02020603050405020304" pitchFamily="18" charset="0"/>
              </a:rPr>
              <a:t>  </a:t>
            </a:r>
            <a:r>
              <a:rPr lang="en-US" altLang="zh-CN" sz="2500" b="1" dirty="0">
                <a:solidFill>
                  <a:schemeClr val="hlink"/>
                </a:solidFill>
                <a:latin typeface="Times New Roman" panose="02020603050405020304" pitchFamily="18" charset="0"/>
              </a:rPr>
              <a:t>     </a:t>
            </a:r>
            <a:r>
              <a:rPr lang="en-US" altLang="zh-CN" sz="2500" b="1" dirty="0" err="1">
                <a:solidFill>
                  <a:srgbClr val="FF3399"/>
                </a:solidFill>
                <a:latin typeface="Times New Roman" panose="02020603050405020304" pitchFamily="18" charset="0"/>
              </a:rPr>
              <a:t>this.</a:t>
            </a:r>
            <a:r>
              <a:rPr lang="en-US" altLang="zh-CN" sz="2500" b="1" dirty="0" err="1">
                <a:latin typeface="Times New Roman" panose="02020603050405020304" pitchFamily="18" charset="0"/>
              </a:rPr>
              <a:t>radius</a:t>
            </a:r>
            <a:r>
              <a:rPr lang="en-US" altLang="zh-CN" sz="2500" b="1" dirty="0">
                <a:latin typeface="Times New Roman" panose="02020603050405020304" pitchFamily="18" charset="0"/>
              </a:rPr>
              <a:t> = radius;</a:t>
            </a:r>
            <a:endParaRPr lang="en-US" altLang="zh-CN" sz="2500" b="1" dirty="0">
              <a:latin typeface="Times New Roman" panose="02020603050405020304" pitchFamily="18" charset="0"/>
            </a:endParaRPr>
          </a:p>
          <a:p>
            <a:pPr lvl="1">
              <a:buFont typeface="Wingdings 2" panose="05020102010507070707" pitchFamily="18" charset="2"/>
              <a:buNone/>
            </a:pPr>
            <a:r>
              <a:rPr lang="en-US" altLang="zh-CN" sz="2500" b="1" dirty="0">
                <a:latin typeface="Times New Roman" panose="02020603050405020304" pitchFamily="18" charset="0"/>
              </a:rPr>
              <a:t> }</a:t>
            </a:r>
            <a:endParaRPr lang="zh-CN" altLang="en-US" sz="2500" b="1" dirty="0">
              <a:latin typeface="Times New Roman" panose="02020603050405020304" pitchFamily="18" charset="0"/>
            </a:endParaRPr>
          </a:p>
        </p:txBody>
      </p:sp>
      <p:sp>
        <p:nvSpPr>
          <p:cNvPr id="11161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DDA72299-2337-49FF-B8BB-BB862D93FEA0}"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111621" name="Rectangle 2"/>
          <p:cNvSpPr>
            <a:spLocks noChangeArrowheads="1"/>
          </p:cNvSpPr>
          <p:nvPr/>
        </p:nvSpPr>
        <p:spPr bwMode="auto">
          <a:xfrm>
            <a:off x="1992313" y="549275"/>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GB">
              <a:solidFill>
                <a:schemeClr val="tx2"/>
              </a:solidFill>
              <a:latin typeface="Trebuchet MS" panose="020B0603020202020204" pitchFamily="34" charset="0"/>
              <a:ea typeface="方正姚体" panose="02010601030101010101" pitchFamily="2" charset="-122"/>
            </a:endParaRPr>
          </a:p>
        </p:txBody>
      </p:sp>
      <p:sp>
        <p:nvSpPr>
          <p:cNvPr id="5" name="文本框 4"/>
          <p:cNvSpPr txBox="1"/>
          <p:nvPr>
            <p:custDataLst>
              <p:tags r:id="rId1"/>
            </p:custDataLst>
          </p:nvPr>
        </p:nvSpPr>
        <p:spPr>
          <a:xfrm>
            <a:off x="407670" y="980440"/>
            <a:ext cx="5760338"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类成员的访问权限控制</a:t>
            </a:r>
            <a:r>
              <a:rPr lang="en-US" altLang="zh-CN" sz="2800" dirty="0">
                <a:solidFill>
                  <a:schemeClr val="bg1"/>
                </a:solidFill>
                <a:ea typeface="楷体" panose="02010609060101010101" pitchFamily="49" charset="-122"/>
                <a:cs typeface="思源黑体 CN Heavy" panose="020B0A00000000000000" charset="-122"/>
              </a:rPr>
              <a:t>: </a:t>
            </a:r>
            <a:r>
              <a:rPr lang="en-US" altLang="zh-CN" sz="2800" dirty="0">
                <a:solidFill>
                  <a:srgbClr val="FF3399"/>
                </a:solidFill>
                <a:highlight>
                  <a:srgbClr val="FFFF00"/>
                </a:highlight>
                <a:ea typeface="楷体" panose="02010609060101010101" pitchFamily="49" charset="-122"/>
                <a:cs typeface="思源黑体 CN Heavy" panose="020B0A00000000000000" charset="-122"/>
              </a:rPr>
              <a:t>this</a:t>
            </a:r>
            <a:r>
              <a:rPr lang="zh-CN" altLang="en-US" sz="2800" dirty="0">
                <a:solidFill>
                  <a:srgbClr val="FF3399"/>
                </a:solidFill>
                <a:highlight>
                  <a:srgbClr val="FFFF00"/>
                </a:highlight>
                <a:ea typeface="楷体" panose="02010609060101010101" pitchFamily="49" charset="-122"/>
                <a:cs typeface="思源黑体 CN Heavy" panose="020B0A00000000000000" charset="-122"/>
              </a:rPr>
              <a:t>关键字</a:t>
            </a:r>
            <a:endParaRPr lang="zh-CN" altLang="en-US" sz="2800" dirty="0">
              <a:solidFill>
                <a:srgbClr val="FF3399"/>
              </a:solidFill>
              <a:highlight>
                <a:srgbClr val="FFFF00"/>
              </a:highlight>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439816" y="82454"/>
            <a:ext cx="302433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2.2  </a:t>
            </a:r>
            <a:r>
              <a:rPr lang="zh-CN" altLang="en-US" sz="3200" dirty="0">
                <a:ln w="11430">
                  <a:noFill/>
                </a:ln>
                <a:solidFill>
                  <a:srgbClr val="255EAB"/>
                </a:solidFill>
                <a:ea typeface="楷体" panose="02010609060101010101" pitchFamily="49" charset="-122"/>
              </a:rPr>
              <a:t>类与对象</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2" name="Rectangle 3"/>
          <p:cNvSpPr>
            <a:spLocks noGrp="1" noChangeArrowheads="1"/>
          </p:cNvSpPr>
          <p:nvPr>
            <p:ph idx="4294967295"/>
          </p:nvPr>
        </p:nvSpPr>
        <p:spPr>
          <a:xfrm>
            <a:off x="1847528" y="3212976"/>
            <a:ext cx="4604855" cy="1212537"/>
          </a:xfrm>
        </p:spPr>
        <p:txBody>
          <a:bodyPr>
            <a:normAutofit/>
          </a:bodyPr>
          <a:lstStyle/>
          <a:p>
            <a:pPr marL="514350" indent="-514350">
              <a:buFont typeface="+mj-ea"/>
              <a:buAutoNum type="circleNumDbPlain"/>
            </a:pPr>
            <a:r>
              <a:rPr lang="zh-CN" altLang="en-GB" sz="2700" b="1" dirty="0">
                <a:latin typeface="Times New Roman" panose="02020603050405020304" pitchFamily="18" charset="0"/>
              </a:rPr>
              <a:t>构造方法用来初始化对象</a:t>
            </a:r>
            <a:endParaRPr lang="zh-CN" altLang="en-GB" sz="2700" b="1" dirty="0">
              <a:latin typeface="Times New Roman" panose="02020603050405020304" pitchFamily="18" charset="0"/>
            </a:endParaRPr>
          </a:p>
          <a:p>
            <a:pPr marL="514350" indent="-514350">
              <a:buFont typeface="+mj-ea"/>
              <a:buAutoNum type="circleNumDbPlain"/>
            </a:pPr>
            <a:r>
              <a:rPr lang="zh-CN" altLang="en-GB" sz="2700" b="1" dirty="0">
                <a:latin typeface="Times New Roman" panose="02020603050405020304" pitchFamily="18" charset="0"/>
              </a:rPr>
              <a:t>每个类都</a:t>
            </a:r>
            <a:r>
              <a:rPr lang="zh-CN" altLang="en-US" sz="2700" b="1" dirty="0">
                <a:latin typeface="Times New Roman" panose="02020603050405020304" pitchFamily="18" charset="0"/>
              </a:rPr>
              <a:t>需要</a:t>
            </a:r>
            <a:r>
              <a:rPr lang="zh-CN" altLang="en-GB" sz="2700" b="1" dirty="0">
                <a:latin typeface="Times New Roman" panose="02020603050405020304" pitchFamily="18" charset="0"/>
              </a:rPr>
              <a:t>有构造方法</a:t>
            </a:r>
            <a:endParaRPr lang="zh-CN" altLang="en-GB" sz="2700" b="1" dirty="0">
              <a:latin typeface="Times New Roman" panose="02020603050405020304" pitchFamily="18" charset="0"/>
            </a:endParaRPr>
          </a:p>
        </p:txBody>
      </p:sp>
      <p:sp>
        <p:nvSpPr>
          <p:cNvPr id="114690" name="灯片编号占位符 5"/>
          <p:cNvSpPr>
            <a:spLocks noGrp="1"/>
          </p:cNvSpPr>
          <p:nvPr>
            <p:ph type="sldNum" sz="quarter" idx="12"/>
          </p:nvPr>
        </p:nvSpPr>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buNone/>
            </a:pPr>
            <a:fld id="{957E9806-1E64-4DF3-ABD4-1CD671B641B7}" type="slidenum">
              <a:rPr lang="en-US" altLang="zh-CN" sz="1800" smtClean="0">
                <a:solidFill>
                  <a:schemeClr val="bg1"/>
                </a:solidFill>
                <a:latin typeface="Times New Roman" panose="02020603050405020304" pitchFamily="18" charset="0"/>
                <a:ea typeface="楷体" panose="02010609060101010101" pitchFamily="49" charset="-122"/>
                <a:cs typeface="Times New Roman" panose="02020603050405020304" pitchFamily="18" charset="0"/>
              </a:rPr>
            </a:fld>
            <a:endParaRPr lang="en-US" altLang="zh-CN" sz="18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2" name="文本框 1"/>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构造方法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007768" y="79191"/>
            <a:ext cx="4176464"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
        <p:nvSpPr>
          <p:cNvPr id="5" name="文本占位符 2"/>
          <p:cNvSpPr txBox="1"/>
          <p:nvPr/>
        </p:nvSpPr>
        <p:spPr bwMode="auto">
          <a:xfrm>
            <a:off x="769543" y="1628800"/>
            <a:ext cx="10801200" cy="1316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65125" indent="-255905" algn="l" rtl="0" eaLnBrk="1" fontAlgn="base" hangingPunct="1">
              <a:spcBef>
                <a:spcPts val="300"/>
              </a:spcBef>
              <a:spcAft>
                <a:spcPct val="0"/>
              </a:spcAft>
              <a:buClr>
                <a:srgbClr val="A04DA3"/>
              </a:buClr>
              <a:buFont typeface="Georgia" panose="02040502050405020303" pitchFamily="18" charset="0"/>
              <a:buChar char="•"/>
              <a:defRPr sz="2800" kern="1200">
                <a:solidFill>
                  <a:schemeClr val="tx1"/>
                </a:solidFill>
                <a:latin typeface="+mn-lt"/>
                <a:ea typeface="+mn-ea"/>
                <a:cs typeface="+mn-cs"/>
              </a:defRPr>
            </a:lvl1pPr>
            <a:lvl2pPr marL="657225" indent="-246380" algn="l" rtl="0" eaLnBrk="1" fontAlgn="base" hangingPunct="1">
              <a:spcBef>
                <a:spcPts val="300"/>
              </a:spcBef>
              <a:spcAft>
                <a:spcPct val="0"/>
              </a:spcAft>
              <a:buClr>
                <a:schemeClr val="accent2"/>
              </a:buClr>
              <a:buFont typeface="Georgia" panose="02040502050405020303" pitchFamily="18" charset="0"/>
              <a:buChar char="▫"/>
              <a:defRPr sz="2600" kern="1200">
                <a:solidFill>
                  <a:schemeClr val="accent1"/>
                </a:solidFill>
                <a:latin typeface="+mn-lt"/>
                <a:ea typeface="+mn-ea"/>
                <a:cs typeface="+mn-cs"/>
              </a:defRPr>
            </a:lvl2pPr>
            <a:lvl3pPr marL="922655" indent="-219075" algn="l" rtl="0" eaLnBrk="1" fontAlgn="base" hangingPunct="1">
              <a:spcBef>
                <a:spcPts val="300"/>
              </a:spcBef>
              <a:spcAft>
                <a:spcPct val="0"/>
              </a:spcAft>
              <a:buClr>
                <a:schemeClr val="accent1"/>
              </a:buClr>
              <a:buFont typeface="Wingdings 2" panose="05020102010507070707" pitchFamily="18" charset="2"/>
              <a:buChar char=""/>
              <a:defRPr sz="2400" kern="1200">
                <a:solidFill>
                  <a:schemeClr val="accent1"/>
                </a:solidFill>
                <a:latin typeface="+mn-lt"/>
                <a:ea typeface="+mn-ea"/>
                <a:cs typeface="+mn-cs"/>
              </a:defRPr>
            </a:lvl3pPr>
            <a:lvl4pPr marL="1179830" indent="-200025" algn="l" rtl="0" eaLnBrk="1" fontAlgn="base" hangingPunct="1">
              <a:spcBef>
                <a:spcPts val="300"/>
              </a:spcBef>
              <a:spcAft>
                <a:spcPct val="0"/>
              </a:spcAft>
              <a:buClr>
                <a:schemeClr val="accent1"/>
              </a:buClr>
              <a:buFont typeface="Wingdings 2" panose="05020102010507070707" pitchFamily="18" charset="2"/>
              <a:buChar char=""/>
              <a:defRPr sz="2200" kern="1200">
                <a:solidFill>
                  <a:schemeClr val="accent1"/>
                </a:solidFill>
                <a:latin typeface="+mn-lt"/>
                <a:ea typeface="+mn-ea"/>
                <a:cs typeface="+mn-cs"/>
              </a:defRPr>
            </a:lvl4pPr>
            <a:lvl5pPr marL="1389380" indent="-182880" algn="l" rtl="0" eaLnBrk="1" fontAlgn="base" hangingPunct="1">
              <a:spcBef>
                <a:spcPts val="300"/>
              </a:spcBef>
              <a:spcAft>
                <a:spcPct val="0"/>
              </a:spcAft>
              <a:buClr>
                <a:srgbClr val="A04DA3"/>
              </a:buClr>
              <a:buFont typeface="Georgia" panose="02040502050405020303" pitchFamily="18" charset="0"/>
              <a:buChar char="▫"/>
              <a:defRPr sz="2000" kern="1200">
                <a:solidFill>
                  <a:srgbClr val="A04DA3"/>
                </a:solidFill>
                <a:latin typeface="+mn-lt"/>
                <a:ea typeface="+mn-ea"/>
                <a:cs typeface="+mn-cs"/>
              </a:defRPr>
            </a:lvl5pPr>
            <a:lvl6pPr marL="1609090" indent="-182880" algn="l" rtl="0" eaLnBrk="1" latinLnBrk="0" hangingPunct="1">
              <a:spcBef>
                <a:spcPts val="300"/>
              </a:spcBef>
              <a:buClr>
                <a:schemeClr val="accent3"/>
              </a:buClr>
              <a:buFont typeface="Georgia" panose="02040502050405020303"/>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panose="02040502050405020303"/>
              <a:buChar char="▫"/>
              <a:defRPr kumimoji="0" sz="1600" kern="1200">
                <a:solidFill>
                  <a:schemeClr val="accent3"/>
                </a:solidFill>
                <a:latin typeface="+mn-lt"/>
                <a:ea typeface="+mn-ea"/>
                <a:cs typeface="+mn-cs"/>
              </a:defRPr>
            </a:lvl7pPr>
            <a:lvl8pPr marL="2030095" indent="-182880" algn="l" rtl="0" eaLnBrk="1" latinLnBrk="0" hangingPunct="1">
              <a:spcBef>
                <a:spcPts val="300"/>
              </a:spcBef>
              <a:buClr>
                <a:schemeClr val="accent3"/>
              </a:buClr>
              <a:buFont typeface="Georgia" panose="02040502050405020303"/>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panose="02040502050405020303"/>
              <a:buChar char="◦"/>
              <a:defRPr kumimoji="0" sz="1400" kern="1200" baseline="0">
                <a:solidFill>
                  <a:schemeClr val="accent3"/>
                </a:solidFill>
                <a:latin typeface="+mn-lt"/>
                <a:ea typeface="+mn-ea"/>
                <a:cs typeface="+mn-cs"/>
              </a:defRPr>
            </a:lvl9pPr>
          </a:lstStyle>
          <a:p>
            <a:pPr marL="109220" indent="0">
              <a:lnSpc>
                <a:spcPct val="150000"/>
              </a:lnSpc>
              <a:buNone/>
            </a:pPr>
            <a:r>
              <a:rPr lang="zh-CN" altLang="en-US" sz="2500" b="1" dirty="0">
                <a:solidFill>
                  <a:srgbClr val="FF0000"/>
                </a:solidFill>
                <a:latin typeface="Times New Roman" panose="02020603050405020304" pitchFamily="18" charset="0"/>
                <a:ea typeface="楷体" panose="02010609060101010101" pitchFamily="49" charset="-122"/>
              </a:rPr>
              <a:t>        </a:t>
            </a:r>
            <a:r>
              <a:rPr lang="zh-CN" altLang="en-US" sz="2700" b="1" dirty="0">
                <a:solidFill>
                  <a:srgbClr val="FF0000"/>
                </a:solidFill>
                <a:latin typeface="Times New Roman" panose="02020603050405020304" pitchFamily="18" charset="0"/>
                <a:ea typeface="楷体" panose="02010609060101010101" pitchFamily="49" charset="-122"/>
              </a:rPr>
              <a:t>系统在生成对象时会为对象分配内存空间，并自动调用</a:t>
            </a:r>
            <a:r>
              <a:rPr lang="zh-CN" altLang="en-US" sz="2700" b="1" dirty="0">
                <a:solidFill>
                  <a:srgbClr val="FF0000"/>
                </a:solidFill>
                <a:highlight>
                  <a:srgbClr val="FFFF00"/>
                </a:highlight>
                <a:latin typeface="Times New Roman" panose="02020603050405020304" pitchFamily="18" charset="0"/>
                <a:ea typeface="楷体" panose="02010609060101010101" pitchFamily="49" charset="-122"/>
              </a:rPr>
              <a:t>构造方法</a:t>
            </a:r>
            <a:r>
              <a:rPr lang="zh-CN" altLang="en-US" sz="2700" b="1" dirty="0">
                <a:solidFill>
                  <a:srgbClr val="FF0000"/>
                </a:solidFill>
                <a:latin typeface="Times New Roman" panose="02020603050405020304" pitchFamily="18" charset="0"/>
                <a:ea typeface="楷体" panose="02010609060101010101" pitchFamily="49" charset="-122"/>
              </a:rPr>
              <a:t>对</a:t>
            </a:r>
            <a:r>
              <a:rPr lang="zh-CN" altLang="en-US" sz="2700" b="1" dirty="0">
                <a:solidFill>
                  <a:srgbClr val="FF0000"/>
                </a:solidFill>
                <a:highlight>
                  <a:srgbClr val="FFFF00"/>
                </a:highlight>
                <a:latin typeface="Times New Roman" panose="02020603050405020304" pitchFamily="18" charset="0"/>
                <a:ea typeface="楷体" panose="02010609060101010101" pitchFamily="49" charset="-122"/>
              </a:rPr>
              <a:t>实例变量</a:t>
            </a:r>
            <a:r>
              <a:rPr lang="zh-CN" altLang="en-US" sz="2700" b="1" dirty="0">
                <a:solidFill>
                  <a:srgbClr val="FF0000"/>
                </a:solidFill>
                <a:latin typeface="Times New Roman" panose="02020603050405020304" pitchFamily="18" charset="0"/>
                <a:ea typeface="楷体" panose="02010609060101010101" pitchFamily="49" charset="-122"/>
              </a:rPr>
              <a:t>进行</a:t>
            </a:r>
            <a:r>
              <a:rPr lang="zh-CN" altLang="en-US" sz="2700" b="1" dirty="0">
                <a:solidFill>
                  <a:srgbClr val="FF0000"/>
                </a:solidFill>
                <a:highlight>
                  <a:srgbClr val="FFFF00"/>
                </a:highlight>
                <a:latin typeface="Times New Roman" panose="02020603050405020304" pitchFamily="18" charset="0"/>
                <a:ea typeface="楷体" panose="02010609060101010101" pitchFamily="49" charset="-122"/>
              </a:rPr>
              <a:t>初始化：</a:t>
            </a:r>
            <a:endParaRPr lang="zh-CN" altLang="en-US" sz="2100" dirty="0">
              <a:solidFill>
                <a:schemeClr val="tx2"/>
              </a:solidFill>
              <a:latin typeface="Times New Roman" panose="02020603050405020304" pitchFamily="18" charset="0"/>
              <a:ea typeface="楷体" panose="02010609060101010101" pitchFamily="49"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3"/>
          <p:cNvSpPr>
            <a:spLocks noGrp="1" noChangeArrowheads="1"/>
          </p:cNvSpPr>
          <p:nvPr>
            <p:ph idx="4294967295"/>
          </p:nvPr>
        </p:nvSpPr>
        <p:spPr>
          <a:xfrm>
            <a:off x="1127448" y="1556792"/>
            <a:ext cx="10369152" cy="5124076"/>
          </a:xfrm>
        </p:spPr>
        <p:txBody>
          <a:bodyPr>
            <a:noAutofit/>
          </a:bodyPr>
          <a:lstStyle/>
          <a:p>
            <a:pPr marL="514350" indent="-514350">
              <a:lnSpc>
                <a:spcPct val="150000"/>
              </a:lnSpc>
              <a:spcBef>
                <a:spcPts val="0"/>
              </a:spcBef>
              <a:buFont typeface="+mj-ea"/>
              <a:buAutoNum type="circleNumDbPlain"/>
            </a:pPr>
            <a:r>
              <a:rPr lang="zh-CN" altLang="en-US" sz="2700" b="1" dirty="0">
                <a:latin typeface="Times New Roman" panose="02020603050405020304" pitchFamily="18" charset="0"/>
              </a:rPr>
              <a:t>方法</a:t>
            </a:r>
            <a:r>
              <a:rPr lang="zh-CN" altLang="en-US" sz="2700" b="1" dirty="0">
                <a:solidFill>
                  <a:srgbClr val="FF0000"/>
                </a:solidFill>
                <a:latin typeface="Times New Roman" panose="02020603050405020304" pitchFamily="18" charset="0"/>
              </a:rPr>
              <a:t>名与类名</a:t>
            </a:r>
            <a:r>
              <a:rPr lang="zh-CN" altLang="en-US" sz="2700" b="1" dirty="0">
                <a:latin typeface="Times New Roman" panose="02020603050405020304" pitchFamily="18" charset="0"/>
              </a:rPr>
              <a:t>相同；</a:t>
            </a:r>
            <a:endParaRPr lang="zh-CN" altLang="en-US" sz="2700" b="1" dirty="0">
              <a:latin typeface="Times New Roman" panose="02020603050405020304" pitchFamily="18" charset="0"/>
            </a:endParaRPr>
          </a:p>
          <a:p>
            <a:pPr marL="514350" indent="-514350">
              <a:lnSpc>
                <a:spcPct val="150000"/>
              </a:lnSpc>
              <a:spcBef>
                <a:spcPts val="0"/>
              </a:spcBef>
              <a:buClr>
                <a:schemeClr val="tx1"/>
              </a:buClr>
              <a:buFont typeface="+mj-ea"/>
              <a:buAutoNum type="circleNumDbPlain"/>
            </a:pPr>
            <a:r>
              <a:rPr lang="zh-CN" altLang="en-US" sz="2700" b="1" dirty="0">
                <a:solidFill>
                  <a:srgbClr val="FF0000"/>
                </a:solidFill>
                <a:highlight>
                  <a:srgbClr val="FFFF00"/>
                </a:highlight>
                <a:latin typeface="Times New Roman" panose="02020603050405020304" pitchFamily="18" charset="0"/>
              </a:rPr>
              <a:t>不定义</a:t>
            </a:r>
            <a:r>
              <a:rPr lang="zh-CN" altLang="en-US" sz="2700" b="1" dirty="0">
                <a:latin typeface="Times New Roman" panose="02020603050405020304" pitchFamily="18" charset="0"/>
              </a:rPr>
              <a:t>返回类型；</a:t>
            </a:r>
            <a:endParaRPr lang="zh-CN" altLang="en-US" sz="2700" b="1" dirty="0">
              <a:latin typeface="Times New Roman" panose="02020603050405020304" pitchFamily="18" charset="0"/>
            </a:endParaRPr>
          </a:p>
          <a:p>
            <a:pPr marL="514350" indent="-514350">
              <a:lnSpc>
                <a:spcPct val="150000"/>
              </a:lnSpc>
              <a:spcBef>
                <a:spcPts val="0"/>
              </a:spcBef>
              <a:buFont typeface="+mj-ea"/>
              <a:buAutoNum type="circleNumDbPlain"/>
            </a:pPr>
            <a:r>
              <a:rPr lang="zh-CN" altLang="en-US" sz="2700" b="1" dirty="0">
                <a:latin typeface="Times New Roman" panose="02020603050405020304" pitchFamily="18" charset="0"/>
              </a:rPr>
              <a:t>通常被声明为</a:t>
            </a:r>
            <a:r>
              <a:rPr lang="zh-CN" altLang="en-US" sz="2700" b="1" dirty="0">
                <a:solidFill>
                  <a:srgbClr val="FF0000"/>
                </a:solidFill>
                <a:highlight>
                  <a:srgbClr val="FFFF00"/>
                </a:highlight>
                <a:latin typeface="Times New Roman" panose="02020603050405020304" pitchFamily="18" charset="0"/>
              </a:rPr>
              <a:t>公有</a:t>
            </a:r>
            <a:r>
              <a:rPr lang="zh-CN" altLang="en-US" sz="2700" b="1" dirty="0">
                <a:latin typeface="Times New Roman" panose="02020603050405020304" pitchFamily="18" charset="0"/>
              </a:rPr>
              <a:t>的(</a:t>
            </a:r>
            <a:r>
              <a:rPr lang="en-US" altLang="zh-CN" sz="2700" b="1" dirty="0">
                <a:latin typeface="Times New Roman" panose="02020603050405020304" pitchFamily="18" charset="0"/>
              </a:rPr>
              <a:t>public)</a:t>
            </a:r>
            <a:r>
              <a:rPr lang="zh-CN" altLang="en-US" sz="2700" b="1" dirty="0">
                <a:latin typeface="Times New Roman" panose="02020603050405020304" pitchFamily="18" charset="0"/>
              </a:rPr>
              <a:t>；</a:t>
            </a:r>
            <a:endParaRPr lang="en-US" altLang="zh-CN" sz="2700" b="1" dirty="0">
              <a:latin typeface="Times New Roman" panose="02020603050405020304" pitchFamily="18" charset="0"/>
            </a:endParaRPr>
          </a:p>
          <a:p>
            <a:pPr marL="514350" indent="-514350">
              <a:lnSpc>
                <a:spcPct val="150000"/>
              </a:lnSpc>
              <a:spcBef>
                <a:spcPts val="0"/>
              </a:spcBef>
              <a:buFont typeface="+mj-ea"/>
              <a:buAutoNum type="circleNumDbPlain"/>
            </a:pPr>
            <a:r>
              <a:rPr lang="zh-CN" altLang="en-US" sz="2700" b="1" dirty="0">
                <a:latin typeface="Times New Roman" panose="02020603050405020304" pitchFamily="18" charset="0"/>
              </a:rPr>
              <a:t>可以有任意多个参数；</a:t>
            </a:r>
            <a:endParaRPr lang="zh-CN" altLang="en-US" sz="2700" b="1" dirty="0">
              <a:latin typeface="Times New Roman" panose="02020603050405020304" pitchFamily="18" charset="0"/>
            </a:endParaRPr>
          </a:p>
          <a:p>
            <a:pPr marL="514350" indent="-514350">
              <a:lnSpc>
                <a:spcPct val="150000"/>
              </a:lnSpc>
              <a:spcBef>
                <a:spcPts val="0"/>
              </a:spcBef>
              <a:buFont typeface="+mj-ea"/>
              <a:buAutoNum type="circleNumDbPlain"/>
            </a:pPr>
            <a:r>
              <a:rPr lang="zh-CN" altLang="en-US" sz="2700" b="1" dirty="0">
                <a:latin typeface="Times New Roman" panose="02020603050405020304" pitchFamily="18" charset="0"/>
              </a:rPr>
              <a:t>主要作用是完成对象的初始化工作；</a:t>
            </a:r>
            <a:endParaRPr lang="zh-CN" altLang="en-US" sz="2700" b="1" dirty="0">
              <a:latin typeface="Times New Roman" panose="02020603050405020304" pitchFamily="18" charset="0"/>
            </a:endParaRPr>
          </a:p>
          <a:p>
            <a:pPr marL="514350" indent="-514350">
              <a:lnSpc>
                <a:spcPct val="150000"/>
              </a:lnSpc>
              <a:spcBef>
                <a:spcPts val="0"/>
              </a:spcBef>
              <a:buClr>
                <a:schemeClr val="tx1"/>
              </a:buClr>
              <a:buFont typeface="+mj-ea"/>
              <a:buAutoNum type="circleNumDbPlain"/>
            </a:pPr>
            <a:r>
              <a:rPr lang="zh-CN" altLang="en-US" sz="2700" b="1" dirty="0">
                <a:solidFill>
                  <a:srgbClr val="FF0000"/>
                </a:solidFill>
                <a:highlight>
                  <a:srgbClr val="FFFF00"/>
                </a:highlight>
                <a:latin typeface="Times New Roman" panose="02020603050405020304" pitchFamily="18" charset="0"/>
              </a:rPr>
              <a:t>不能</a:t>
            </a:r>
            <a:r>
              <a:rPr lang="zh-CN" altLang="en-US" sz="2700" b="1" dirty="0">
                <a:latin typeface="Times New Roman" panose="02020603050405020304" pitchFamily="18" charset="0"/>
              </a:rPr>
              <a:t>在程序中</a:t>
            </a:r>
            <a:r>
              <a:rPr lang="zh-CN" altLang="en-US" sz="2700" b="1" dirty="0">
                <a:solidFill>
                  <a:srgbClr val="FF0000"/>
                </a:solidFill>
                <a:highlight>
                  <a:srgbClr val="FFFF00"/>
                </a:highlight>
                <a:latin typeface="Times New Roman" panose="02020603050405020304" pitchFamily="18" charset="0"/>
              </a:rPr>
              <a:t>显式调用</a:t>
            </a:r>
            <a:r>
              <a:rPr lang="zh-CN" altLang="en-US" sz="2700" b="1" dirty="0">
                <a:latin typeface="Times New Roman" panose="02020603050405020304" pitchFamily="18" charset="0"/>
              </a:rPr>
              <a:t>；</a:t>
            </a:r>
            <a:endParaRPr lang="zh-CN" altLang="en-US" sz="2700" b="1" dirty="0">
              <a:latin typeface="Times New Roman" panose="02020603050405020304" pitchFamily="18" charset="0"/>
            </a:endParaRPr>
          </a:p>
          <a:p>
            <a:pPr marL="514350" indent="-514350">
              <a:lnSpc>
                <a:spcPct val="150000"/>
              </a:lnSpc>
              <a:spcBef>
                <a:spcPts val="0"/>
              </a:spcBef>
              <a:buFont typeface="+mj-ea"/>
              <a:buAutoNum type="circleNumDbPlain"/>
            </a:pPr>
            <a:r>
              <a:rPr lang="zh-CN" altLang="en-US" sz="2700" b="1" dirty="0">
                <a:latin typeface="Times New Roman" panose="02020603050405020304" pitchFamily="18" charset="0"/>
              </a:rPr>
              <a:t>在生成一个对象时会自动调用该类的构造方法为新对象初始化；</a:t>
            </a:r>
            <a:endParaRPr lang="zh-CN" altLang="en-US" sz="2700" b="1" dirty="0">
              <a:latin typeface="Times New Roman" panose="02020603050405020304" pitchFamily="18" charset="0"/>
            </a:endParaRPr>
          </a:p>
          <a:p>
            <a:pPr marL="514350" indent="-514350">
              <a:lnSpc>
                <a:spcPct val="150000"/>
              </a:lnSpc>
              <a:spcBef>
                <a:spcPts val="0"/>
              </a:spcBef>
              <a:buFont typeface="+mj-ea"/>
              <a:buAutoNum type="circleNumDbPlain"/>
            </a:pPr>
            <a:r>
              <a:rPr lang="zh-CN" altLang="en-US" sz="2700" b="1" dirty="0">
                <a:latin typeface="Times New Roman" panose="02020603050405020304" pitchFamily="18" charset="0"/>
              </a:rPr>
              <a:t>若未显式声明构造方法，</a:t>
            </a:r>
            <a:r>
              <a:rPr lang="zh-CN" altLang="en-US" sz="2700" b="1" dirty="0">
                <a:solidFill>
                  <a:srgbClr val="FF0000"/>
                </a:solidFill>
                <a:highlight>
                  <a:srgbClr val="FFFF00"/>
                </a:highlight>
                <a:latin typeface="Times New Roman" panose="02020603050405020304" pitchFamily="18" charset="0"/>
              </a:rPr>
              <a:t>编译器隐含生成默认</a:t>
            </a:r>
            <a:r>
              <a:rPr lang="zh-CN" altLang="en-US" sz="2700" b="1" dirty="0">
                <a:latin typeface="Times New Roman" panose="02020603050405020304" pitchFamily="18" charset="0"/>
              </a:rPr>
              <a:t>的构造方法。</a:t>
            </a:r>
            <a:endParaRPr lang="zh-CN" altLang="en-US" sz="2700" b="1" dirty="0">
              <a:latin typeface="Times New Roman" panose="02020603050405020304" pitchFamily="18" charset="0"/>
            </a:endParaRPr>
          </a:p>
        </p:txBody>
      </p:sp>
      <p:sp>
        <p:nvSpPr>
          <p:cNvPr id="116738" name="灯片编号占位符 5"/>
          <p:cNvSpPr>
            <a:spLocks noGrp="1"/>
          </p:cNvSpPr>
          <p:nvPr>
            <p:ph type="sldNum" sz="quarter" idx="12"/>
          </p:nvPr>
        </p:nvSpPr>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buNone/>
            </a:pPr>
            <a:fld id="{D55925CC-5579-4E0F-9960-938C5BE93B5B}" type="slidenum">
              <a:rPr lang="en-US" altLang="zh-CN" sz="1800" smtClean="0">
                <a:solidFill>
                  <a:schemeClr val="bg1"/>
                </a:solidFill>
                <a:latin typeface="Times New Roman" panose="02020603050405020304" pitchFamily="18" charset="0"/>
                <a:ea typeface="楷体" panose="02010609060101010101" pitchFamily="49" charset="-122"/>
                <a:cs typeface="Times New Roman" panose="02020603050405020304" pitchFamily="18" charset="0"/>
              </a:rPr>
            </a:fld>
            <a:endParaRPr lang="en-US" altLang="zh-CN" sz="1800">
              <a:solidFill>
                <a:schemeClr val="bg1"/>
              </a:solidFill>
              <a:latin typeface="Times New Roman" panose="02020603050405020304" pitchFamily="18" charset="0"/>
              <a:ea typeface="楷体" panose="02010609060101010101" pitchFamily="49" charset="-122"/>
              <a:cs typeface="Times New Roman" panose="02020603050405020304" pitchFamily="18" charset="0"/>
            </a:endParaRPr>
          </a:p>
        </p:txBody>
      </p:sp>
      <p:sp>
        <p:nvSpPr>
          <p:cNvPr id="3" name="TextBox 3"/>
          <p:cNvSpPr txBox="1"/>
          <p:nvPr>
            <p:custDataLst>
              <p:tags r:id="rId1"/>
            </p:custDataLst>
          </p:nvPr>
        </p:nvSpPr>
        <p:spPr>
          <a:xfrm>
            <a:off x="4007768" y="79191"/>
            <a:ext cx="4464496"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
        <p:nvSpPr>
          <p:cNvPr id="4" name="文本框 3"/>
          <p:cNvSpPr txBox="1"/>
          <p:nvPr>
            <p:custDataLst>
              <p:tags r:id="rId2"/>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构造方法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3" name="Rectangle 3"/>
          <p:cNvSpPr>
            <a:spLocks noGrp="1" noChangeArrowheads="1"/>
          </p:cNvSpPr>
          <p:nvPr>
            <p:ph idx="4294967295"/>
          </p:nvPr>
        </p:nvSpPr>
        <p:spPr>
          <a:xfrm>
            <a:off x="911424" y="1700808"/>
            <a:ext cx="10972800" cy="2016224"/>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mn-ea"/>
                <a:ea typeface="+mn-ea"/>
              </a:rPr>
              <a:t>没有参数，方法体可以为空；</a:t>
            </a:r>
            <a:endParaRPr lang="en-US" altLang="zh-CN" sz="2700" b="1" dirty="0">
              <a:latin typeface="+mn-ea"/>
              <a:ea typeface="+mn-ea"/>
            </a:endParaRPr>
          </a:p>
          <a:p>
            <a:pPr>
              <a:lnSpc>
                <a:spcPct val="150000"/>
              </a:lnSpc>
              <a:spcBef>
                <a:spcPts val="0"/>
              </a:spcBef>
              <a:buFont typeface="Wingdings" panose="05000000000000000000" pitchFamily="2" charset="2"/>
              <a:buChar char="Ø"/>
            </a:pPr>
            <a:r>
              <a:rPr lang="zh-CN" altLang="en-US" sz="2700" b="1" dirty="0">
                <a:latin typeface="+mn-ea"/>
                <a:ea typeface="+mn-ea"/>
              </a:rPr>
              <a:t>使用默认的构造方法初始化对象时，如果在类声明中没有给实例变量赋初值，则对象的属性值为零或空。</a:t>
            </a:r>
            <a:endParaRPr lang="zh-CN" altLang="en-US" sz="2700" b="1" dirty="0">
              <a:latin typeface="+mn-ea"/>
              <a:ea typeface="+mn-ea"/>
            </a:endParaRPr>
          </a:p>
        </p:txBody>
      </p:sp>
      <p:sp>
        <p:nvSpPr>
          <p:cNvPr id="11776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EEFA0C0A-AC89-4931-88C9-165284E7FF64}"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4" name="TextBox 3"/>
          <p:cNvSpPr txBox="1"/>
          <p:nvPr>
            <p:custDataLst>
              <p:tags r:id="rId1"/>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244797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默认构造方法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Rectangle 3"/>
          <p:cNvSpPr>
            <a:spLocks noGrp="1" noChangeArrowheads="1"/>
          </p:cNvSpPr>
          <p:nvPr>
            <p:ph idx="4294967295"/>
          </p:nvPr>
        </p:nvSpPr>
        <p:spPr>
          <a:xfrm>
            <a:off x="609600" y="1600200"/>
            <a:ext cx="11103024" cy="5141168"/>
          </a:xfrm>
        </p:spPr>
        <p:txBody>
          <a:bodyPr vert="horz" wrap="square" lIns="92075" tIns="46038" rIns="92075" bIns="46038" numCol="1" anchor="t" anchorCtr="0" compatLnSpc="1">
            <a:noAutofit/>
          </a:bodyPr>
          <a:lstStyle/>
          <a:p>
            <a:pPr marL="109220" indent="0" eaLnBrk="1" hangingPunct="1">
              <a:lnSpc>
                <a:spcPct val="90000"/>
              </a:lnSpc>
              <a:buNone/>
            </a:pPr>
            <a:r>
              <a:rPr lang="en-US" altLang="zh-CN" sz="2500" dirty="0">
                <a:highlight>
                  <a:srgbClr val="FFFF00"/>
                </a:highlight>
                <a:latin typeface="Times New Roman" panose="02020603050405020304" pitchFamily="18" charset="0"/>
              </a:rPr>
              <a:t>public</a:t>
            </a:r>
            <a:r>
              <a:rPr lang="en-US" altLang="zh-CN" sz="2500" dirty="0">
                <a:latin typeface="Times New Roman" panose="02020603050405020304" pitchFamily="18" charset="0"/>
              </a:rPr>
              <a:t> class </a:t>
            </a:r>
            <a:r>
              <a:rPr lang="en-US" altLang="zh-CN" sz="2500" dirty="0" err="1">
                <a:latin typeface="Times New Roman" panose="02020603050405020304" pitchFamily="18" charset="0"/>
              </a:rPr>
              <a:t>BankAccount</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String　 </a:t>
            </a:r>
            <a:r>
              <a:rPr lang="en-US" altLang="zh-CN" sz="2500" dirty="0" err="1">
                <a:solidFill>
                  <a:srgbClr val="FF0000"/>
                </a:solidFill>
                <a:latin typeface="Times New Roman" panose="02020603050405020304" pitchFamily="18" charset="0"/>
              </a:rPr>
              <a:t>ownerName</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int　　   </a:t>
            </a:r>
            <a:r>
              <a:rPr lang="en-US" altLang="zh-CN" sz="2500" dirty="0" err="1">
                <a:solidFill>
                  <a:srgbClr val="FF0000"/>
                </a:solidFill>
                <a:latin typeface="Times New Roman" panose="02020603050405020304" pitchFamily="18" charset="0"/>
              </a:rPr>
              <a:t>accountNumber</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float      </a:t>
            </a:r>
            <a:r>
              <a:rPr lang="en-US" altLang="zh-CN" sz="2500" dirty="0">
                <a:solidFill>
                  <a:srgbClr val="00FF00"/>
                </a:solidFill>
                <a:latin typeface="Times New Roman" panose="02020603050405020304" pitchFamily="18" charset="0"/>
              </a:rPr>
              <a:t>  </a:t>
            </a:r>
            <a:r>
              <a:rPr lang="en-US" altLang="zh-CN" sz="2500" dirty="0">
                <a:solidFill>
                  <a:srgbClr val="FF0000"/>
                </a:solidFill>
                <a:latin typeface="Times New Roman" panose="02020603050405020304" pitchFamily="18" charset="0"/>
              </a:rPr>
              <a:t>balance</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spcBef>
                <a:spcPct val="50000"/>
              </a:spcBef>
              <a:buNone/>
            </a:pPr>
            <a:r>
              <a:rPr lang="en-US" altLang="zh-CN" sz="2500" dirty="0">
                <a:latin typeface="Times New Roman" panose="02020603050405020304" pitchFamily="18" charset="0"/>
              </a:rPr>
              <a:t>public class </a:t>
            </a:r>
            <a:r>
              <a:rPr lang="en-US" altLang="zh-CN" sz="2500" dirty="0" err="1">
                <a:latin typeface="Times New Roman" panose="02020603050405020304" pitchFamily="18" charset="0"/>
              </a:rPr>
              <a:t>BankTester</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public static void main(String </a:t>
            </a:r>
            <a:r>
              <a:rPr lang="en-US" altLang="zh-CN" sz="2500" dirty="0" err="1">
                <a:latin typeface="Times New Roman" panose="02020603050405020304" pitchFamily="18" charset="0"/>
              </a:rPr>
              <a:t>args</a:t>
            </a: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BankAccount</a:t>
            </a:r>
            <a:r>
              <a:rPr lang="en-US" altLang="zh-CN" sz="2500" dirty="0">
                <a:latin typeface="Times New Roman" panose="02020603050405020304" pitchFamily="18" charset="0"/>
              </a:rPr>
              <a:t> </a:t>
            </a:r>
            <a:r>
              <a:rPr lang="en-US" altLang="zh-CN" sz="2500" dirty="0" err="1">
                <a:solidFill>
                  <a:srgbClr val="FF3399"/>
                </a:solidFill>
                <a:latin typeface="Times New Roman" panose="02020603050405020304" pitchFamily="18" charset="0"/>
              </a:rPr>
              <a:t>myAccount</a:t>
            </a:r>
            <a:r>
              <a:rPr lang="en-US" altLang="zh-CN" sz="2500" dirty="0">
                <a:latin typeface="Times New Roman" panose="02020603050405020304" pitchFamily="18" charset="0"/>
              </a:rPr>
              <a:t> = new </a:t>
            </a:r>
            <a:r>
              <a:rPr lang="en-US" altLang="zh-CN" sz="2500" dirty="0" err="1">
                <a:latin typeface="Times New Roman" panose="02020603050405020304" pitchFamily="18" charset="0"/>
              </a:rPr>
              <a:t>BankAccount</a:t>
            </a: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System.out.println</a:t>
            </a:r>
            <a:r>
              <a:rPr lang="en-US" altLang="zh-CN" sz="2500" dirty="0">
                <a:latin typeface="Times New Roman" panose="02020603050405020304" pitchFamily="18" charset="0"/>
              </a:rPr>
              <a:t>("</a:t>
            </a:r>
            <a:r>
              <a:rPr lang="en-US" altLang="zh-CN" sz="2500" dirty="0" err="1">
                <a:latin typeface="Times New Roman" panose="02020603050405020304" pitchFamily="18" charset="0"/>
              </a:rPr>
              <a:t>ownerName</a:t>
            </a:r>
            <a:r>
              <a:rPr lang="en-US" altLang="zh-CN" sz="2500" dirty="0">
                <a:latin typeface="Times New Roman" panose="02020603050405020304" pitchFamily="18" charset="0"/>
              </a:rPr>
              <a:t>=" + </a:t>
            </a:r>
            <a:r>
              <a:rPr lang="en-US" altLang="zh-CN" sz="2500" dirty="0" err="1">
                <a:solidFill>
                  <a:srgbClr val="FF3399"/>
                </a:solidFill>
                <a:latin typeface="Times New Roman" panose="02020603050405020304" pitchFamily="18" charset="0"/>
              </a:rPr>
              <a:t>myAccount</a:t>
            </a:r>
            <a:r>
              <a:rPr lang="en-US" altLang="zh-CN" sz="2500" dirty="0" err="1">
                <a:solidFill>
                  <a:schemeClr val="tx2"/>
                </a:solidFill>
                <a:latin typeface="Times New Roman" panose="02020603050405020304" pitchFamily="18" charset="0"/>
              </a:rPr>
              <a:t>.</a:t>
            </a:r>
            <a:r>
              <a:rPr lang="en-US" altLang="zh-CN" sz="2500" dirty="0" err="1">
                <a:solidFill>
                  <a:srgbClr val="FF0000"/>
                </a:solidFill>
                <a:latin typeface="Times New Roman" panose="02020603050405020304" pitchFamily="18" charset="0"/>
              </a:rPr>
              <a:t>ownerName</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System.out.println</a:t>
            </a:r>
            <a:r>
              <a:rPr lang="en-US" altLang="zh-CN" sz="2500" dirty="0">
                <a:latin typeface="Times New Roman" panose="02020603050405020304" pitchFamily="18" charset="0"/>
              </a:rPr>
              <a:t>("</a:t>
            </a:r>
            <a:r>
              <a:rPr lang="en-US" altLang="zh-CN" sz="2500" dirty="0" err="1">
                <a:latin typeface="Times New Roman" panose="02020603050405020304" pitchFamily="18" charset="0"/>
              </a:rPr>
              <a:t>accountNumber</a:t>
            </a:r>
            <a:r>
              <a:rPr lang="en-US" altLang="zh-CN" sz="2500" dirty="0">
                <a:latin typeface="Times New Roman" panose="02020603050405020304" pitchFamily="18" charset="0"/>
              </a:rPr>
              <a:t>=" + </a:t>
            </a:r>
            <a:r>
              <a:rPr lang="en-US" altLang="zh-CN" sz="2500" dirty="0" err="1">
                <a:solidFill>
                  <a:srgbClr val="FF3399"/>
                </a:solidFill>
                <a:latin typeface="Times New Roman" panose="02020603050405020304" pitchFamily="18" charset="0"/>
              </a:rPr>
              <a:t>myAccount</a:t>
            </a:r>
            <a:r>
              <a:rPr lang="en-US" altLang="zh-CN" sz="2500" dirty="0" err="1">
                <a:solidFill>
                  <a:schemeClr val="tx2"/>
                </a:solidFill>
                <a:latin typeface="Times New Roman" panose="02020603050405020304" pitchFamily="18" charset="0"/>
              </a:rPr>
              <a:t>.</a:t>
            </a:r>
            <a:r>
              <a:rPr lang="en-US" altLang="zh-CN" sz="2500" dirty="0" err="1">
                <a:solidFill>
                  <a:srgbClr val="FF0000"/>
                </a:solidFill>
                <a:latin typeface="Times New Roman" panose="02020603050405020304" pitchFamily="18" charset="0"/>
              </a:rPr>
              <a:t>accountNumber</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System.out.println</a:t>
            </a:r>
            <a:r>
              <a:rPr lang="en-US" altLang="zh-CN" sz="2500" dirty="0">
                <a:latin typeface="Times New Roman" panose="02020603050405020304" pitchFamily="18" charset="0"/>
              </a:rPr>
              <a:t>("balance=" + </a:t>
            </a:r>
            <a:r>
              <a:rPr lang="en-US" altLang="zh-CN" sz="2500" dirty="0" err="1">
                <a:solidFill>
                  <a:srgbClr val="FF3399"/>
                </a:solidFill>
                <a:latin typeface="Times New Roman" panose="02020603050405020304" pitchFamily="18" charset="0"/>
              </a:rPr>
              <a:t>myAccount.</a:t>
            </a:r>
            <a:r>
              <a:rPr lang="en-US" altLang="zh-CN" sz="2500" dirty="0" err="1">
                <a:solidFill>
                  <a:srgbClr val="FF0000"/>
                </a:solidFill>
                <a:latin typeface="Times New Roman" panose="02020603050405020304" pitchFamily="18" charset="0"/>
              </a:rPr>
              <a:t>balance</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109220" indent="0">
              <a:lnSpc>
                <a:spcPct val="80000"/>
              </a:lnSpc>
              <a:buNone/>
            </a:pPr>
            <a:r>
              <a:rPr lang="en-US" altLang="zh-CN" sz="2500" dirty="0">
                <a:latin typeface="Times New Roman" panose="02020603050405020304" pitchFamily="18" charset="0"/>
              </a:rPr>
              <a:t>}</a:t>
            </a:r>
            <a:endParaRPr lang="zh-CN" altLang="en-US" sz="2500" dirty="0">
              <a:latin typeface="Times New Roman" panose="02020603050405020304" pitchFamily="18" charset="0"/>
            </a:endParaRPr>
          </a:p>
        </p:txBody>
      </p:sp>
      <p:sp>
        <p:nvSpPr>
          <p:cNvPr id="3" name="文本框 2"/>
          <p:cNvSpPr txBox="1"/>
          <p:nvPr/>
        </p:nvSpPr>
        <p:spPr>
          <a:xfrm>
            <a:off x="8184232" y="1988840"/>
            <a:ext cx="3168352" cy="1631216"/>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zh-CN" altLang="en-US" sz="2500" dirty="0">
                <a:latin typeface="Times New Roman" panose="02020603050405020304" pitchFamily="18" charset="0"/>
                <a:ea typeface="楷体" panose="02010609060101010101" pitchFamily="49" charset="-122"/>
              </a:rPr>
              <a:t>运行结果</a:t>
            </a:r>
            <a:endParaRPr lang="zh-CN" altLang="en-US" sz="2500" dirty="0">
              <a:latin typeface="Times New Roman" panose="02020603050405020304" pitchFamily="18" charset="0"/>
              <a:ea typeface="楷体" panose="02010609060101010101" pitchFamily="49" charset="-122"/>
            </a:endParaRPr>
          </a:p>
          <a:p>
            <a:r>
              <a:rPr lang="en-US" altLang="zh-CN" sz="2500" dirty="0" err="1">
                <a:latin typeface="Times New Roman" panose="02020603050405020304" pitchFamily="18" charset="0"/>
                <a:ea typeface="楷体" panose="02010609060101010101" pitchFamily="49" charset="-122"/>
              </a:rPr>
              <a:t>ownerName</a:t>
            </a:r>
            <a:r>
              <a:rPr lang="en-US" altLang="zh-CN" sz="2500" dirty="0">
                <a:latin typeface="Times New Roman" panose="02020603050405020304" pitchFamily="18" charset="0"/>
                <a:ea typeface="楷体" panose="02010609060101010101" pitchFamily="49" charset="-122"/>
              </a:rPr>
              <a:t>=null</a:t>
            </a:r>
            <a:endParaRPr lang="en-US" altLang="zh-CN" sz="2500" dirty="0">
              <a:latin typeface="Times New Roman" panose="02020603050405020304" pitchFamily="18" charset="0"/>
              <a:ea typeface="楷体" panose="02010609060101010101" pitchFamily="49" charset="-122"/>
            </a:endParaRPr>
          </a:p>
          <a:p>
            <a:r>
              <a:rPr lang="en-US" altLang="zh-CN" sz="2500" dirty="0" err="1">
                <a:latin typeface="Times New Roman" panose="02020603050405020304" pitchFamily="18" charset="0"/>
                <a:ea typeface="楷体" panose="02010609060101010101" pitchFamily="49" charset="-122"/>
              </a:rPr>
              <a:t>accountNumber</a:t>
            </a:r>
            <a:r>
              <a:rPr lang="en-US" altLang="zh-CN" sz="2500" dirty="0">
                <a:latin typeface="Times New Roman" panose="02020603050405020304" pitchFamily="18" charset="0"/>
                <a:ea typeface="楷体" panose="02010609060101010101" pitchFamily="49" charset="-122"/>
              </a:rPr>
              <a:t>=0</a:t>
            </a:r>
            <a:endParaRPr lang="en-US" altLang="zh-CN" sz="2500" dirty="0">
              <a:latin typeface="Times New Roman" panose="02020603050405020304" pitchFamily="18" charset="0"/>
              <a:ea typeface="楷体" panose="02010609060101010101" pitchFamily="49" charset="-122"/>
            </a:endParaRPr>
          </a:p>
          <a:p>
            <a:r>
              <a:rPr lang="en-US" altLang="zh-CN" sz="2500" dirty="0">
                <a:latin typeface="Times New Roman" panose="02020603050405020304" pitchFamily="18" charset="0"/>
                <a:ea typeface="楷体" panose="02010609060101010101" pitchFamily="49" charset="-122"/>
              </a:rPr>
              <a:t>balance=0.0</a:t>
            </a:r>
            <a:endParaRPr lang="en-US" altLang="zh-CN" sz="2500" dirty="0">
              <a:latin typeface="Times New Roman" panose="02020603050405020304" pitchFamily="18" charset="0"/>
              <a:ea typeface="楷体" panose="02010609060101010101" pitchFamily="49" charset="-122"/>
            </a:endParaRPr>
          </a:p>
        </p:txBody>
      </p:sp>
      <p:sp>
        <p:nvSpPr>
          <p:cNvPr id="5" name="文本框 4"/>
          <p:cNvSpPr txBox="1"/>
          <p:nvPr>
            <p:custDataLst>
              <p:tags r:id="rId1"/>
            </p:custDataLst>
          </p:nvPr>
        </p:nvSpPr>
        <p:spPr>
          <a:xfrm>
            <a:off x="407670" y="980440"/>
            <a:ext cx="172789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构造方法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4294967295"/>
          </p:nvPr>
        </p:nvSpPr>
        <p:spPr>
          <a:xfrm>
            <a:off x="1055440" y="1916832"/>
            <a:ext cx="10009112" cy="1368152"/>
          </a:xfrm>
        </p:spPr>
        <p:txBody>
          <a:bodyPr>
            <a:normAutofit/>
          </a:bodyPr>
          <a:lstStyle/>
          <a:p>
            <a:pPr marL="0" indent="0">
              <a:lnSpc>
                <a:spcPct val="150000"/>
              </a:lnSpc>
              <a:buNone/>
            </a:pPr>
            <a:r>
              <a:rPr lang="zh-CN" altLang="en-US" sz="2500" dirty="0">
                <a:latin typeface="+mn-ea"/>
                <a:ea typeface="+mn-ea"/>
              </a:rPr>
              <a:t>    </a:t>
            </a:r>
            <a:r>
              <a:rPr lang="zh-CN" altLang="en-US" sz="2700" b="1" dirty="0">
                <a:latin typeface="+mn-ea"/>
                <a:ea typeface="+mn-ea"/>
              </a:rPr>
              <a:t>如何自定义构造方法，使新对象按照程序员设计的方式被初始化？</a:t>
            </a:r>
            <a:r>
              <a:rPr lang="en-US" altLang="zh-CN" sz="2700" b="1" dirty="0">
                <a:latin typeface="+mn-ea"/>
                <a:ea typeface="+mn-ea"/>
              </a:rPr>
              <a:t>——</a:t>
            </a:r>
            <a:r>
              <a:rPr lang="zh-CN" altLang="en-US" sz="2700" b="1" dirty="0">
                <a:latin typeface="+mn-ea"/>
                <a:ea typeface="+mn-ea"/>
              </a:rPr>
              <a:t>自定义构造方法。</a:t>
            </a:r>
            <a:endParaRPr lang="zh-CN" altLang="en-US" sz="2700" b="1" dirty="0">
              <a:latin typeface="+mn-ea"/>
              <a:ea typeface="+mn-ea"/>
            </a:endParaRPr>
          </a:p>
        </p:txBody>
      </p:sp>
      <p:sp>
        <p:nvSpPr>
          <p:cNvPr id="2" name="灯片编号占位符 1"/>
          <p:cNvSpPr>
            <a:spLocks noGrp="1"/>
          </p:cNvSpPr>
          <p:nvPr>
            <p:ph type="sldNum" sz="quarter" idx="12"/>
          </p:nvPr>
        </p:nvSpPr>
        <p:spPr/>
        <p:txBody>
          <a:bodyPr/>
          <a:lstStyle/>
          <a:p>
            <a:pPr>
              <a:defRPr/>
            </a:pPr>
            <a:fld id="{8D4AC38A-A2E9-4860-8013-69D387E1B5E8}" type="slidenum">
              <a:rPr lang="en-US" altLang="zh-CN" smtClean="0">
                <a:latin typeface="Times New Roman" panose="02020603050405020304" pitchFamily="18" charset="0"/>
              </a:rPr>
            </a:fld>
            <a:endParaRPr lang="en-US" altLang="zh-CN">
              <a:latin typeface="Times New Roman" panose="02020603050405020304" pitchFamily="18" charset="0"/>
            </a:endParaRPr>
          </a:p>
        </p:txBody>
      </p:sp>
      <p:sp>
        <p:nvSpPr>
          <p:cNvPr id="5" name="文本框 4"/>
          <p:cNvSpPr txBox="1"/>
          <p:nvPr>
            <p:custDataLst>
              <p:tags r:id="rId1"/>
            </p:custDataLst>
          </p:nvPr>
        </p:nvSpPr>
        <p:spPr>
          <a:xfrm>
            <a:off x="407670" y="980440"/>
            <a:ext cx="280801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自定义构造方法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9" name="Rectangle 3"/>
          <p:cNvSpPr>
            <a:spLocks noGrp="1" noChangeArrowheads="1"/>
          </p:cNvSpPr>
          <p:nvPr>
            <p:ph idx="4294967295"/>
          </p:nvPr>
        </p:nvSpPr>
        <p:spPr>
          <a:xfrm>
            <a:off x="767408" y="1785813"/>
            <a:ext cx="10972800" cy="3371379"/>
          </a:xfrm>
        </p:spPr>
        <p:txBody>
          <a:bodyPr vert="horz" wrap="square" lIns="92075" tIns="46038" rIns="92075" bIns="46038" numCol="1" anchor="t" anchorCtr="0" compatLnSpc="1">
            <a:normAutofit/>
          </a:bodyPr>
          <a:lstStyle/>
          <a:p>
            <a:pPr>
              <a:lnSpc>
                <a:spcPct val="150000"/>
              </a:lnSpc>
              <a:buFont typeface="Wingdings" panose="05000000000000000000" pitchFamily="2" charset="2"/>
              <a:buChar char="Ø"/>
            </a:pPr>
            <a:r>
              <a:rPr lang="zh-CN" altLang="en-US" sz="2500" b="1" dirty="0">
                <a:latin typeface="Times New Roman" panose="02020603050405020304" pitchFamily="18" charset="0"/>
              </a:rPr>
              <a:t>在生成对象时给构造方法传送初始值为对象进行初始化。</a:t>
            </a:r>
            <a:endParaRPr lang="zh-CN" altLang="en-US" sz="2500" b="1" dirty="0">
              <a:latin typeface="Times New Roman" panose="02020603050405020304" pitchFamily="18" charset="0"/>
            </a:endParaRPr>
          </a:p>
          <a:p>
            <a:pPr>
              <a:lnSpc>
                <a:spcPct val="150000"/>
              </a:lnSpc>
              <a:buFont typeface="Wingdings" panose="05000000000000000000" pitchFamily="2" charset="2"/>
              <a:buChar char="Ø"/>
            </a:pPr>
            <a:r>
              <a:rPr lang="zh-CN" altLang="en-US" sz="2500" b="1" dirty="0">
                <a:latin typeface="Times New Roman" panose="02020603050405020304" pitchFamily="18" charset="0"/>
              </a:rPr>
              <a:t>构造方法可以</a:t>
            </a:r>
            <a:r>
              <a:rPr lang="zh-CN" altLang="en-US" sz="2500" b="1" dirty="0">
                <a:solidFill>
                  <a:srgbClr val="FF3399"/>
                </a:solidFill>
                <a:latin typeface="Times New Roman" panose="02020603050405020304" pitchFamily="18" charset="0"/>
              </a:rPr>
              <a:t>被重载：</a:t>
            </a:r>
            <a:r>
              <a:rPr lang="zh-CN" altLang="en-US" sz="2500" b="1" dirty="0">
                <a:latin typeface="Times New Roman" panose="02020603050405020304" pitchFamily="18" charset="0"/>
              </a:rPr>
              <a:t>一个类中</a:t>
            </a:r>
            <a:r>
              <a:rPr lang="zh-CN" altLang="en-US" sz="2500" b="1" dirty="0">
                <a:solidFill>
                  <a:srgbClr val="FF3399"/>
                </a:solidFill>
                <a:highlight>
                  <a:srgbClr val="FFFF00"/>
                </a:highlight>
                <a:latin typeface="Times New Roman" panose="02020603050405020304" pitchFamily="18" charset="0"/>
              </a:rPr>
              <a:t>有两个及以上同名的方法</a:t>
            </a:r>
            <a:r>
              <a:rPr lang="zh-CN" altLang="en-US" sz="2500" b="1" dirty="0">
                <a:latin typeface="Times New Roman" panose="02020603050405020304" pitchFamily="18" charset="0"/>
              </a:rPr>
              <a:t>，但</a:t>
            </a:r>
            <a:r>
              <a:rPr lang="zh-CN" altLang="en-US" sz="2500" b="1" dirty="0">
                <a:solidFill>
                  <a:srgbClr val="FF3399"/>
                </a:solidFill>
                <a:latin typeface="Times New Roman" panose="02020603050405020304" pitchFamily="18" charset="0"/>
              </a:rPr>
              <a:t>参数表不同</a:t>
            </a:r>
            <a:r>
              <a:rPr lang="zh-CN" altLang="en-US" sz="2500" b="1" dirty="0">
                <a:latin typeface="Times New Roman" panose="02020603050405020304" pitchFamily="18" charset="0"/>
              </a:rPr>
              <a:t>。在方法调用时通过参数列表的不同来辨别应调用哪一个方法。</a:t>
            </a:r>
            <a:endParaRPr lang="en-US" altLang="zh-CN" sz="2500" b="1" dirty="0">
              <a:latin typeface="Times New Roman" panose="02020603050405020304" pitchFamily="18" charset="0"/>
            </a:endParaRPr>
          </a:p>
          <a:p>
            <a:pPr>
              <a:lnSpc>
                <a:spcPct val="150000"/>
              </a:lnSpc>
              <a:buFont typeface="Wingdings" panose="05000000000000000000" pitchFamily="2" charset="2"/>
              <a:buChar char="Ø"/>
            </a:pPr>
            <a:r>
              <a:rPr lang="zh-CN" altLang="en-US" sz="2500" b="1" dirty="0">
                <a:latin typeface="Times New Roman" panose="02020603050405020304" pitchFamily="18" charset="0"/>
              </a:rPr>
              <a:t>只要显式声明了构造方法，编译器就不再生成默认的构造方法。</a:t>
            </a:r>
            <a:endParaRPr lang="en-US" altLang="zh-CN" sz="2500" b="1" dirty="0">
              <a:latin typeface="Times New Roman" panose="02020603050405020304" pitchFamily="18" charset="0"/>
            </a:endParaRPr>
          </a:p>
          <a:p>
            <a:pPr>
              <a:lnSpc>
                <a:spcPct val="150000"/>
              </a:lnSpc>
              <a:buFont typeface="Wingdings" panose="05000000000000000000" pitchFamily="2" charset="2"/>
              <a:buChar char="Ø"/>
            </a:pPr>
            <a:r>
              <a:rPr lang="zh-CN" altLang="en-US" sz="2500" b="1" dirty="0">
                <a:latin typeface="Times New Roman" panose="02020603050405020304" pitchFamily="18" charset="0"/>
              </a:rPr>
              <a:t>可以显式声明无参数的造方法，方法体中可以定义默认初始化方式。</a:t>
            </a:r>
            <a:endParaRPr lang="zh-CN" altLang="en-US" sz="2500" b="1" dirty="0">
              <a:latin typeface="Times New Roman" panose="02020603050405020304" pitchFamily="18" charset="0"/>
            </a:endParaRPr>
          </a:p>
        </p:txBody>
      </p:sp>
      <p:sp>
        <p:nvSpPr>
          <p:cNvPr id="12185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2ED36708-7EC2-40CE-9FBA-D03B7A03FDB2}"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121861" name="Rectangle 2"/>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lnSpc>
                <a:spcPct val="90000"/>
              </a:lnSpc>
              <a:buNone/>
            </a:pPr>
            <a:endParaRPr lang="zh-CN" altLang="en-US" sz="3600"/>
          </a:p>
        </p:txBody>
      </p:sp>
      <p:sp>
        <p:nvSpPr>
          <p:cNvPr id="2" name="文本框 1"/>
          <p:cNvSpPr txBox="1"/>
          <p:nvPr>
            <p:custDataLst>
              <p:tags r:id="rId1"/>
            </p:custDataLst>
          </p:nvPr>
        </p:nvSpPr>
        <p:spPr>
          <a:xfrm>
            <a:off x="407670" y="980440"/>
            <a:ext cx="280801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自定义构造方法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idx="4294967295"/>
          </p:nvPr>
        </p:nvSpPr>
        <p:spPr>
          <a:xfrm>
            <a:off x="839416" y="1456771"/>
            <a:ext cx="10972800" cy="5184576"/>
          </a:xfrm>
        </p:spPr>
        <p:txBody>
          <a:bodyPr>
            <a:noAutofit/>
          </a:bodyPr>
          <a:lstStyle/>
          <a:p>
            <a:pPr marL="0" indent="0">
              <a:spcBef>
                <a:spcPts val="0"/>
              </a:spcBef>
              <a:buNone/>
            </a:pPr>
            <a:r>
              <a:rPr lang="zh-CN" altLang="en-US" sz="2200" dirty="0">
                <a:latin typeface="Times New Roman" panose="02020603050405020304" pitchFamily="18" charset="0"/>
              </a:rPr>
              <a:t>为</a:t>
            </a:r>
            <a:r>
              <a:rPr lang="en-US" altLang="zh-CN" sz="2200" dirty="0" err="1">
                <a:latin typeface="Times New Roman" panose="02020603050405020304" pitchFamily="18" charset="0"/>
              </a:rPr>
              <a:t>BankAccount</a:t>
            </a:r>
            <a:r>
              <a:rPr lang="zh-CN" altLang="en-US" sz="2200" dirty="0">
                <a:latin typeface="Times New Roman" panose="02020603050405020304" pitchFamily="18" charset="0"/>
              </a:rPr>
              <a:t>声明一个有三个参数的构造方法</a:t>
            </a:r>
            <a:endParaRPr lang="zh-CN" altLang="en-US" sz="2200" dirty="0">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public </a:t>
            </a:r>
            <a:r>
              <a:rPr lang="en-US" altLang="zh-CN" sz="2200" dirty="0" err="1">
                <a:solidFill>
                  <a:srgbClr val="FF3399"/>
                </a:solidFill>
                <a:highlight>
                  <a:srgbClr val="FFFF00"/>
                </a:highlight>
                <a:latin typeface="Times New Roman" panose="02020603050405020304" pitchFamily="18" charset="0"/>
              </a:rPr>
              <a:t>BankAccount</a:t>
            </a:r>
            <a:r>
              <a:rPr lang="en-US" altLang="zh-CN" sz="2200" dirty="0">
                <a:solidFill>
                  <a:srgbClr val="FF3399"/>
                </a:solidFill>
                <a:latin typeface="Times New Roman" panose="02020603050405020304" pitchFamily="18" charset="0"/>
              </a:rPr>
              <a:t>(</a:t>
            </a:r>
            <a:r>
              <a:rPr lang="en-US" altLang="zh-CN" sz="2200" dirty="0">
                <a:solidFill>
                  <a:srgbClr val="00B0F0"/>
                </a:solidFill>
                <a:latin typeface="Times New Roman" panose="02020603050405020304" pitchFamily="18" charset="0"/>
              </a:rPr>
              <a:t>String </a:t>
            </a:r>
            <a:r>
              <a:rPr lang="en-US" altLang="zh-CN" sz="2200" dirty="0" err="1">
                <a:solidFill>
                  <a:srgbClr val="00B0F0"/>
                </a:solidFill>
                <a:latin typeface="Times New Roman" panose="02020603050405020304" pitchFamily="18" charset="0"/>
              </a:rPr>
              <a:t>initName</a:t>
            </a:r>
            <a:r>
              <a:rPr lang="en-US" altLang="zh-CN" sz="2200" dirty="0">
                <a:solidFill>
                  <a:srgbClr val="00B0F0"/>
                </a:solidFill>
                <a:latin typeface="Times New Roman" panose="02020603050405020304" pitchFamily="18" charset="0"/>
              </a:rPr>
              <a:t>, int </a:t>
            </a:r>
            <a:r>
              <a:rPr lang="en-US" altLang="zh-CN" sz="2200" dirty="0" err="1">
                <a:solidFill>
                  <a:srgbClr val="00B0F0"/>
                </a:solidFill>
                <a:latin typeface="Times New Roman" panose="02020603050405020304" pitchFamily="18" charset="0"/>
              </a:rPr>
              <a:t>initAccountNumber</a:t>
            </a:r>
            <a:r>
              <a:rPr lang="en-US" altLang="zh-CN" sz="2200" dirty="0">
                <a:solidFill>
                  <a:srgbClr val="00B0F0"/>
                </a:solidFill>
                <a:latin typeface="Times New Roman" panose="02020603050405020304" pitchFamily="18" charset="0"/>
              </a:rPr>
              <a:t>, float </a:t>
            </a:r>
            <a:r>
              <a:rPr lang="en-US" altLang="zh-CN" sz="2200" dirty="0" err="1">
                <a:solidFill>
                  <a:srgbClr val="00B0F0"/>
                </a:solidFill>
                <a:latin typeface="Times New Roman" panose="02020603050405020304" pitchFamily="18" charset="0"/>
              </a:rPr>
              <a:t>initBalance</a:t>
            </a:r>
            <a:r>
              <a:rPr lang="en-US" altLang="zh-CN" sz="2200" dirty="0">
                <a:solidFill>
                  <a:srgbClr val="FF3399"/>
                </a:solidFill>
                <a:latin typeface="Times New Roman" panose="02020603050405020304" pitchFamily="18" charset="0"/>
              </a:rPr>
              <a:t>) {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a:t>
            </a:r>
            <a:r>
              <a:rPr lang="en-US" altLang="zh-CN" sz="2200" dirty="0" err="1">
                <a:solidFill>
                  <a:srgbClr val="FF3399"/>
                </a:solidFill>
                <a:latin typeface="Times New Roman" panose="02020603050405020304" pitchFamily="18" charset="0"/>
              </a:rPr>
              <a:t>ownerName</a:t>
            </a:r>
            <a:r>
              <a:rPr lang="en-US" altLang="zh-CN" sz="2200" dirty="0">
                <a:solidFill>
                  <a:srgbClr val="FF3399"/>
                </a:solidFill>
                <a:latin typeface="Times New Roman" panose="02020603050405020304" pitchFamily="18" charset="0"/>
              </a:rPr>
              <a:t> = </a:t>
            </a:r>
            <a:r>
              <a:rPr lang="en-US" altLang="zh-CN" sz="2200" dirty="0" err="1">
                <a:solidFill>
                  <a:srgbClr val="00B0F0"/>
                </a:solidFill>
                <a:latin typeface="Times New Roman" panose="02020603050405020304" pitchFamily="18" charset="0"/>
              </a:rPr>
              <a:t>initName</a:t>
            </a:r>
            <a:r>
              <a:rPr lang="en-US" altLang="zh-CN" sz="2200" dirty="0">
                <a:solidFill>
                  <a:srgbClr val="FF3399"/>
                </a:solidFill>
                <a:latin typeface="Times New Roman" panose="02020603050405020304" pitchFamily="18" charset="0"/>
              </a:rPr>
              <a:t>;          </a:t>
            </a:r>
            <a:r>
              <a:rPr lang="en-US" altLang="zh-CN" sz="2200" dirty="0" err="1">
                <a:solidFill>
                  <a:srgbClr val="FF3399"/>
                </a:solidFill>
                <a:latin typeface="Times New Roman" panose="02020603050405020304" pitchFamily="18" charset="0"/>
              </a:rPr>
              <a:t>accountNumber</a:t>
            </a:r>
            <a:r>
              <a:rPr lang="en-US" altLang="zh-CN" sz="2200" dirty="0">
                <a:solidFill>
                  <a:srgbClr val="FF3399"/>
                </a:solidFill>
                <a:latin typeface="Times New Roman" panose="02020603050405020304" pitchFamily="18" charset="0"/>
              </a:rPr>
              <a:t> = </a:t>
            </a:r>
            <a:r>
              <a:rPr lang="en-US" altLang="zh-CN" sz="2200" dirty="0" err="1">
                <a:solidFill>
                  <a:srgbClr val="00B0F0"/>
                </a:solidFill>
                <a:latin typeface="Times New Roman" panose="02020603050405020304" pitchFamily="18" charset="0"/>
              </a:rPr>
              <a:t>initAccountNumber</a:t>
            </a:r>
            <a:r>
              <a:rPr lang="en-US" altLang="zh-CN" sz="2200" dirty="0">
                <a:solidFill>
                  <a:srgbClr val="FF3399"/>
                </a:solidFill>
                <a:latin typeface="Times New Roman" panose="02020603050405020304" pitchFamily="18" charset="0"/>
              </a:rPr>
              <a:t>;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balance = </a:t>
            </a:r>
            <a:r>
              <a:rPr lang="en-US" altLang="zh-CN" sz="2200" dirty="0" err="1">
                <a:solidFill>
                  <a:srgbClr val="00B0F0"/>
                </a:solidFill>
                <a:latin typeface="Times New Roman" panose="02020603050405020304" pitchFamily="18" charset="0"/>
              </a:rPr>
              <a:t>initBalance</a:t>
            </a:r>
            <a:r>
              <a:rPr lang="en-US" altLang="zh-CN" sz="2200" dirty="0">
                <a:solidFill>
                  <a:srgbClr val="00B0F0"/>
                </a:solidFill>
                <a:latin typeface="Times New Roman" panose="02020603050405020304" pitchFamily="18" charset="0"/>
              </a:rPr>
              <a:t>;</a:t>
            </a:r>
            <a:r>
              <a:rPr lang="en-US" altLang="zh-CN" sz="2200" dirty="0">
                <a:solidFill>
                  <a:srgbClr val="FF3399"/>
                </a:solidFill>
                <a:latin typeface="Times New Roman" panose="02020603050405020304" pitchFamily="18" charset="0"/>
              </a:rPr>
              <a:t>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a:t>
            </a:r>
            <a:endParaRPr lang="en-US" altLang="zh-CN" sz="2200" dirty="0">
              <a:solidFill>
                <a:srgbClr val="FF3399"/>
              </a:solidFill>
              <a:latin typeface="Times New Roman" panose="02020603050405020304" pitchFamily="18" charset="0"/>
            </a:endParaRPr>
          </a:p>
          <a:p>
            <a:pPr marL="0" indent="0">
              <a:spcBef>
                <a:spcPts val="0"/>
              </a:spcBef>
              <a:buNone/>
            </a:pPr>
            <a:r>
              <a:rPr lang="zh-CN" altLang="en-US" sz="2200" dirty="0">
                <a:latin typeface="Times New Roman" panose="02020603050405020304" pitchFamily="18" charset="0"/>
              </a:rPr>
              <a:t>假设一个新帐号的初始余额可以为0，则可增加一个带有两个参数的构造方法</a:t>
            </a:r>
            <a:endParaRPr lang="zh-CN" altLang="en-US" sz="2200" dirty="0">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public </a:t>
            </a:r>
            <a:r>
              <a:rPr lang="en-US" altLang="zh-CN" sz="2200" dirty="0" err="1">
                <a:solidFill>
                  <a:srgbClr val="FF3399"/>
                </a:solidFill>
                <a:highlight>
                  <a:srgbClr val="FFFF00"/>
                </a:highlight>
                <a:latin typeface="Times New Roman" panose="02020603050405020304" pitchFamily="18" charset="0"/>
              </a:rPr>
              <a:t>BankAccount</a:t>
            </a:r>
            <a:r>
              <a:rPr lang="en-US" altLang="zh-CN" sz="2200" dirty="0">
                <a:solidFill>
                  <a:srgbClr val="FF3399"/>
                </a:solidFill>
                <a:latin typeface="Times New Roman" panose="02020603050405020304" pitchFamily="18" charset="0"/>
              </a:rPr>
              <a:t>(</a:t>
            </a:r>
            <a:r>
              <a:rPr lang="en-US" altLang="zh-CN" sz="2200" dirty="0">
                <a:solidFill>
                  <a:srgbClr val="00B0F0"/>
                </a:solidFill>
                <a:latin typeface="Times New Roman" panose="02020603050405020304" pitchFamily="18" charset="0"/>
              </a:rPr>
              <a:t>String </a:t>
            </a:r>
            <a:r>
              <a:rPr lang="en-US" altLang="zh-CN" sz="2200" dirty="0" err="1">
                <a:solidFill>
                  <a:srgbClr val="00B0F0"/>
                </a:solidFill>
                <a:latin typeface="Times New Roman" panose="02020603050405020304" pitchFamily="18" charset="0"/>
              </a:rPr>
              <a:t>initName</a:t>
            </a:r>
            <a:r>
              <a:rPr lang="en-US" altLang="zh-CN" sz="2200" dirty="0">
                <a:solidFill>
                  <a:srgbClr val="00B0F0"/>
                </a:solidFill>
                <a:latin typeface="Times New Roman" panose="02020603050405020304" pitchFamily="18" charset="0"/>
              </a:rPr>
              <a:t>, int </a:t>
            </a:r>
            <a:r>
              <a:rPr lang="en-US" altLang="zh-CN" sz="2200" dirty="0" err="1">
                <a:solidFill>
                  <a:srgbClr val="00B0F0"/>
                </a:solidFill>
                <a:latin typeface="Times New Roman" panose="02020603050405020304" pitchFamily="18" charset="0"/>
              </a:rPr>
              <a:t>initAccountNumber</a:t>
            </a:r>
            <a:r>
              <a:rPr lang="en-US" altLang="zh-CN" sz="2200" dirty="0">
                <a:solidFill>
                  <a:srgbClr val="FF3399"/>
                </a:solidFill>
                <a:latin typeface="Times New Roman" panose="02020603050405020304" pitchFamily="18" charset="0"/>
              </a:rPr>
              <a:t>) {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a:t>
            </a:r>
            <a:r>
              <a:rPr lang="en-US" altLang="zh-CN" sz="2200" dirty="0" err="1">
                <a:solidFill>
                  <a:srgbClr val="FF3399"/>
                </a:solidFill>
                <a:latin typeface="Times New Roman" panose="02020603050405020304" pitchFamily="18" charset="0"/>
              </a:rPr>
              <a:t>ownerName</a:t>
            </a:r>
            <a:r>
              <a:rPr lang="en-US" altLang="zh-CN" sz="2200" dirty="0">
                <a:solidFill>
                  <a:srgbClr val="FF3399"/>
                </a:solidFill>
                <a:latin typeface="Times New Roman" panose="02020603050405020304" pitchFamily="18" charset="0"/>
              </a:rPr>
              <a:t> = </a:t>
            </a:r>
            <a:r>
              <a:rPr lang="en-US" altLang="zh-CN" sz="2200" dirty="0" err="1">
                <a:solidFill>
                  <a:srgbClr val="00B0F0"/>
                </a:solidFill>
                <a:latin typeface="Times New Roman" panose="02020603050405020304" pitchFamily="18" charset="0"/>
              </a:rPr>
              <a:t>initName</a:t>
            </a:r>
            <a:r>
              <a:rPr lang="en-US" altLang="zh-CN" sz="2200" dirty="0">
                <a:solidFill>
                  <a:srgbClr val="FF3399"/>
                </a:solidFill>
                <a:latin typeface="Times New Roman" panose="02020603050405020304" pitchFamily="18" charset="0"/>
              </a:rPr>
              <a:t>;         </a:t>
            </a:r>
            <a:r>
              <a:rPr lang="en-US" altLang="zh-CN" sz="2200" dirty="0" err="1">
                <a:solidFill>
                  <a:srgbClr val="FF3399"/>
                </a:solidFill>
                <a:latin typeface="Times New Roman" panose="02020603050405020304" pitchFamily="18" charset="0"/>
              </a:rPr>
              <a:t>accountNumber</a:t>
            </a:r>
            <a:r>
              <a:rPr lang="en-US" altLang="zh-CN" sz="2200" dirty="0">
                <a:solidFill>
                  <a:srgbClr val="FF3399"/>
                </a:solidFill>
                <a:latin typeface="Times New Roman" panose="02020603050405020304" pitchFamily="18" charset="0"/>
              </a:rPr>
              <a:t> = </a:t>
            </a:r>
            <a:r>
              <a:rPr lang="en-US" altLang="zh-CN" sz="2200" dirty="0" err="1">
                <a:solidFill>
                  <a:srgbClr val="00B0F0"/>
                </a:solidFill>
                <a:latin typeface="Times New Roman" panose="02020603050405020304" pitchFamily="18" charset="0"/>
              </a:rPr>
              <a:t>initAccountNumber</a:t>
            </a:r>
            <a:r>
              <a:rPr lang="en-US" altLang="zh-CN" sz="2200" dirty="0">
                <a:solidFill>
                  <a:srgbClr val="FF3399"/>
                </a:solidFill>
                <a:latin typeface="Times New Roman" panose="02020603050405020304" pitchFamily="18" charset="0"/>
              </a:rPr>
              <a:t>;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balance = </a:t>
            </a:r>
            <a:r>
              <a:rPr lang="en-US" altLang="zh-CN" sz="2200" dirty="0">
                <a:solidFill>
                  <a:srgbClr val="00B0F0"/>
                </a:solidFill>
                <a:latin typeface="Times New Roman" panose="02020603050405020304" pitchFamily="18" charset="0"/>
              </a:rPr>
              <a:t>0.0f;</a:t>
            </a:r>
            <a:r>
              <a:rPr lang="en-US" altLang="zh-CN" sz="2200" dirty="0">
                <a:solidFill>
                  <a:srgbClr val="FF3399"/>
                </a:solidFill>
                <a:latin typeface="Times New Roman" panose="02020603050405020304" pitchFamily="18" charset="0"/>
              </a:rPr>
              <a:t>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a:t>
            </a:r>
            <a:endParaRPr lang="en-US" altLang="zh-CN" sz="2200" dirty="0">
              <a:solidFill>
                <a:srgbClr val="FF3399"/>
              </a:solidFill>
              <a:latin typeface="Times New Roman" panose="02020603050405020304" pitchFamily="18" charset="0"/>
            </a:endParaRPr>
          </a:p>
          <a:p>
            <a:pPr marL="0" indent="0">
              <a:spcBef>
                <a:spcPts val="0"/>
              </a:spcBef>
              <a:buNone/>
            </a:pPr>
            <a:r>
              <a:rPr lang="zh-CN" altLang="en-US" sz="2200" dirty="0">
                <a:latin typeface="Times New Roman" panose="02020603050405020304" pitchFamily="18" charset="0"/>
              </a:rPr>
              <a:t>无参数的构造方法</a:t>
            </a:r>
            <a:r>
              <a:rPr lang="en-US" altLang="zh-CN" sz="2200" dirty="0">
                <a:latin typeface="Times New Roman" panose="02020603050405020304" pitchFamily="18" charset="0"/>
              </a:rPr>
              <a:t>——</a:t>
            </a:r>
            <a:r>
              <a:rPr lang="zh-CN" altLang="en-US" sz="2200" dirty="0">
                <a:latin typeface="Times New Roman" panose="02020603050405020304" pitchFamily="18" charset="0"/>
              </a:rPr>
              <a:t>自定义默认的初始化方式</a:t>
            </a:r>
            <a:endParaRPr lang="en-US" altLang="zh-CN" sz="2200" dirty="0">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public </a:t>
            </a:r>
            <a:r>
              <a:rPr lang="en-US" altLang="zh-CN" sz="2200" dirty="0" err="1">
                <a:solidFill>
                  <a:srgbClr val="FF3399"/>
                </a:solidFill>
                <a:highlight>
                  <a:srgbClr val="FFFF00"/>
                </a:highlight>
                <a:latin typeface="Times New Roman" panose="02020603050405020304" pitchFamily="18" charset="0"/>
              </a:rPr>
              <a:t>BankAccount</a:t>
            </a:r>
            <a:r>
              <a:rPr lang="en-US" altLang="zh-CN" sz="2200" dirty="0">
                <a:solidFill>
                  <a:srgbClr val="FF3399"/>
                </a:solidFill>
                <a:latin typeface="Times New Roman" panose="02020603050405020304" pitchFamily="18" charset="0"/>
              </a:rPr>
              <a:t>() {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a:t>
            </a:r>
            <a:r>
              <a:rPr lang="en-US" altLang="zh-CN" sz="2200" dirty="0" err="1">
                <a:solidFill>
                  <a:srgbClr val="FF3399"/>
                </a:solidFill>
                <a:latin typeface="Times New Roman" panose="02020603050405020304" pitchFamily="18" charset="0"/>
              </a:rPr>
              <a:t>ownerName</a:t>
            </a:r>
            <a:r>
              <a:rPr lang="en-US" altLang="zh-CN" sz="2200" dirty="0">
                <a:solidFill>
                  <a:srgbClr val="FF3399"/>
                </a:solidFill>
                <a:latin typeface="Times New Roman" panose="02020603050405020304" pitchFamily="18" charset="0"/>
              </a:rPr>
              <a:t> = "";         </a:t>
            </a:r>
            <a:r>
              <a:rPr lang="en-US" altLang="zh-CN" sz="2200" dirty="0" err="1">
                <a:solidFill>
                  <a:srgbClr val="FF3399"/>
                </a:solidFill>
                <a:latin typeface="Times New Roman" panose="02020603050405020304" pitchFamily="18" charset="0"/>
              </a:rPr>
              <a:t>accountNumber</a:t>
            </a:r>
            <a:r>
              <a:rPr lang="en-US" altLang="zh-CN" sz="2200" dirty="0">
                <a:solidFill>
                  <a:srgbClr val="FF3399"/>
                </a:solidFill>
                <a:latin typeface="Times New Roman" panose="02020603050405020304" pitchFamily="18" charset="0"/>
              </a:rPr>
              <a:t> = 999999;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        balance = 0.0f; </a:t>
            </a:r>
            <a:endParaRPr lang="en-US" altLang="zh-CN" sz="2200" dirty="0">
              <a:solidFill>
                <a:srgbClr val="FF3399"/>
              </a:solidFill>
              <a:latin typeface="Times New Roman" panose="02020603050405020304" pitchFamily="18" charset="0"/>
            </a:endParaRPr>
          </a:p>
          <a:p>
            <a:pPr marL="457200" lvl="1" indent="0">
              <a:spcBef>
                <a:spcPts val="0"/>
              </a:spcBef>
              <a:buNone/>
            </a:pPr>
            <a:r>
              <a:rPr lang="en-US" altLang="zh-CN" sz="2200" dirty="0">
                <a:solidFill>
                  <a:srgbClr val="FF3399"/>
                </a:solidFill>
                <a:latin typeface="Times New Roman" panose="02020603050405020304" pitchFamily="18" charset="0"/>
              </a:rPr>
              <a:t>}</a:t>
            </a:r>
            <a:endParaRPr lang="zh-CN" altLang="en-US" sz="2200" dirty="0">
              <a:latin typeface="Times New Roman" panose="02020603050405020304" pitchFamily="18" charset="0"/>
            </a:endParaRPr>
          </a:p>
        </p:txBody>
      </p:sp>
      <p:sp>
        <p:nvSpPr>
          <p:cNvPr id="2" name="文本框 1"/>
          <p:cNvSpPr txBox="1"/>
          <p:nvPr>
            <p:custDataLst>
              <p:tags r:id="rId1"/>
            </p:custDataLst>
          </p:nvPr>
        </p:nvSpPr>
        <p:spPr>
          <a:xfrm>
            <a:off x="407670" y="980440"/>
            <a:ext cx="280801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自定义构造方法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3" name="Rectangle 3"/>
          <p:cNvSpPr>
            <a:spLocks noGrp="1" noChangeArrowheads="1"/>
          </p:cNvSpPr>
          <p:nvPr>
            <p:ph idx="4294967295"/>
          </p:nvPr>
        </p:nvSpPr>
        <p:spPr>
          <a:xfrm>
            <a:off x="551384" y="1700808"/>
            <a:ext cx="11485276" cy="3775150"/>
          </a:xfrm>
        </p:spPr>
        <p:txBody>
          <a:bodyPr>
            <a:normAutofit/>
          </a:bodyPr>
          <a:lstStyle/>
          <a:p>
            <a:pPr marL="457200" lvl="1" indent="-457200">
              <a:buNone/>
            </a:pPr>
            <a:r>
              <a:rPr lang="en-US" altLang="zh-CN" sz="2500" dirty="0">
                <a:latin typeface="Times New Roman" panose="02020603050405020304" pitchFamily="18" charset="0"/>
              </a:rPr>
              <a:t>public class </a:t>
            </a:r>
            <a:r>
              <a:rPr lang="en-US" altLang="zh-CN" sz="2500" dirty="0" err="1">
                <a:latin typeface="Times New Roman" panose="02020603050405020304" pitchFamily="18" charset="0"/>
              </a:rPr>
              <a:t>BankTester</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457200" lvl="1" indent="-457200">
              <a:buNone/>
            </a:pPr>
            <a:r>
              <a:rPr lang="en-US" altLang="zh-CN" sz="2500" dirty="0">
                <a:latin typeface="Times New Roman" panose="02020603050405020304" pitchFamily="18" charset="0"/>
              </a:rPr>
              <a:t>       public static void main(String </a:t>
            </a:r>
            <a:r>
              <a:rPr lang="en-US" altLang="zh-CN" sz="2500" dirty="0" err="1">
                <a:latin typeface="Times New Roman" panose="02020603050405020304" pitchFamily="18" charset="0"/>
              </a:rPr>
              <a:t>args</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457200" lvl="1" indent="0">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BankAccount</a:t>
            </a:r>
            <a:r>
              <a:rPr lang="en-US" altLang="zh-CN" sz="2500" dirty="0">
                <a:latin typeface="Times New Roman" panose="02020603050405020304" pitchFamily="18" charset="0"/>
              </a:rPr>
              <a:t> </a:t>
            </a:r>
            <a:r>
              <a:rPr lang="en-US" altLang="zh-CN" sz="2500" dirty="0" err="1">
                <a:solidFill>
                  <a:srgbClr val="FF3399"/>
                </a:solidFill>
                <a:highlight>
                  <a:srgbClr val="FFFF00"/>
                </a:highlight>
                <a:latin typeface="Times New Roman" panose="02020603050405020304" pitchFamily="18" charset="0"/>
              </a:rPr>
              <a:t>myAccount</a:t>
            </a:r>
            <a:r>
              <a:rPr lang="en-US" altLang="zh-CN" sz="2500" dirty="0">
                <a:latin typeface="Times New Roman" panose="02020603050405020304" pitchFamily="18" charset="0"/>
              </a:rPr>
              <a:t> = new </a:t>
            </a:r>
            <a:r>
              <a:rPr lang="en-US" altLang="zh-CN" sz="2500" dirty="0" err="1">
                <a:latin typeface="Times New Roman" panose="02020603050405020304" pitchFamily="18" charset="0"/>
              </a:rPr>
              <a:t>BankAccount</a:t>
            </a:r>
            <a:r>
              <a:rPr lang="en-US" altLang="zh-CN" sz="2500" dirty="0">
                <a:solidFill>
                  <a:srgbClr val="0070C0"/>
                </a:solidFill>
                <a:highlight>
                  <a:srgbClr val="FFFF00"/>
                </a:highlight>
                <a:latin typeface="Times New Roman" panose="02020603050405020304" pitchFamily="18" charset="0"/>
              </a:rPr>
              <a:t>("</a:t>
            </a:r>
            <a:r>
              <a:rPr lang="en-US" altLang="zh-CN" sz="2500" dirty="0" err="1">
                <a:solidFill>
                  <a:srgbClr val="0070C0"/>
                </a:solidFill>
                <a:highlight>
                  <a:srgbClr val="FFFF00"/>
                </a:highlight>
                <a:latin typeface="Times New Roman" panose="02020603050405020304" pitchFamily="18" charset="0"/>
              </a:rPr>
              <a:t>Wangli</a:t>
            </a:r>
            <a:r>
              <a:rPr lang="en-US" altLang="zh-CN" sz="2500" dirty="0">
                <a:solidFill>
                  <a:srgbClr val="0070C0"/>
                </a:solidFill>
                <a:highlight>
                  <a:srgbClr val="FFFF00"/>
                </a:highlight>
                <a:latin typeface="Times New Roman" panose="02020603050405020304" pitchFamily="18" charset="0"/>
              </a:rPr>
              <a:t>", 1000234, 2000.00f</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457200" lvl="1" indent="0">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System.out.println</a:t>
            </a:r>
            <a:r>
              <a:rPr lang="en-US" altLang="zh-CN" sz="2500" dirty="0">
                <a:latin typeface="Times New Roman" panose="02020603050405020304" pitchFamily="18" charset="0"/>
              </a:rPr>
              <a:t>("</a:t>
            </a:r>
            <a:r>
              <a:rPr lang="en-US" altLang="zh-CN" sz="2500" dirty="0" err="1">
                <a:latin typeface="Times New Roman" panose="02020603050405020304" pitchFamily="18" charset="0"/>
              </a:rPr>
              <a:t>ownerName</a:t>
            </a:r>
            <a:r>
              <a:rPr lang="en-US" altLang="zh-CN" sz="2500" dirty="0">
                <a:latin typeface="Times New Roman" panose="02020603050405020304" pitchFamily="18" charset="0"/>
              </a:rPr>
              <a:t>=" + </a:t>
            </a:r>
            <a:r>
              <a:rPr lang="en-US" altLang="zh-CN" sz="2500" dirty="0" err="1">
                <a:latin typeface="Times New Roman" panose="02020603050405020304" pitchFamily="18" charset="0"/>
              </a:rPr>
              <a:t>myAccount.ownerName</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457200" lvl="1" indent="0">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System.out.println</a:t>
            </a:r>
            <a:r>
              <a:rPr lang="en-US" altLang="zh-CN" sz="2500" dirty="0">
                <a:latin typeface="Times New Roman" panose="02020603050405020304" pitchFamily="18" charset="0"/>
              </a:rPr>
              <a:t>("</a:t>
            </a:r>
            <a:r>
              <a:rPr lang="en-US" altLang="zh-CN" sz="2500" dirty="0" err="1">
                <a:latin typeface="Times New Roman" panose="02020603050405020304" pitchFamily="18" charset="0"/>
              </a:rPr>
              <a:t>accountNumber</a:t>
            </a:r>
            <a:r>
              <a:rPr lang="en-US" altLang="zh-CN" sz="2500" dirty="0">
                <a:latin typeface="Times New Roman" panose="02020603050405020304" pitchFamily="18" charset="0"/>
              </a:rPr>
              <a:t>=" + </a:t>
            </a:r>
            <a:r>
              <a:rPr lang="en-US" altLang="zh-CN" sz="2500" dirty="0" err="1">
                <a:latin typeface="Times New Roman" panose="02020603050405020304" pitchFamily="18" charset="0"/>
              </a:rPr>
              <a:t>myAccount.accountNumber</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457200" lvl="1" indent="0">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System.out.println</a:t>
            </a:r>
            <a:r>
              <a:rPr lang="en-US" altLang="zh-CN" sz="2500" dirty="0">
                <a:latin typeface="Times New Roman" panose="02020603050405020304" pitchFamily="18" charset="0"/>
              </a:rPr>
              <a:t>("balance=" + </a:t>
            </a:r>
            <a:r>
              <a:rPr lang="en-US" altLang="zh-CN" sz="2500" dirty="0" err="1">
                <a:latin typeface="Times New Roman" panose="02020603050405020304" pitchFamily="18" charset="0"/>
              </a:rPr>
              <a:t>myAccount.balance</a:t>
            </a: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457200" lvl="1" indent="0">
              <a:buNone/>
            </a:pP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a:p>
            <a:pPr marL="457200" lvl="1" indent="-457200">
              <a:buNone/>
            </a:pPr>
            <a:r>
              <a:rPr lang="en-US" altLang="zh-CN" sz="2500" dirty="0">
                <a:latin typeface="Times New Roman" panose="02020603050405020304" pitchFamily="18" charset="0"/>
              </a:rPr>
              <a:t>}</a:t>
            </a:r>
            <a:endParaRPr lang="zh-CN" altLang="en-US" dirty="0">
              <a:latin typeface="Times New Roman" panose="02020603050405020304" pitchFamily="18" charset="0"/>
            </a:endParaRPr>
          </a:p>
        </p:txBody>
      </p:sp>
      <p:sp>
        <p:nvSpPr>
          <p:cNvPr id="3" name="文本框 2"/>
          <p:cNvSpPr txBox="1"/>
          <p:nvPr/>
        </p:nvSpPr>
        <p:spPr>
          <a:xfrm>
            <a:off x="6816080" y="4885175"/>
            <a:ext cx="3398687" cy="1569660"/>
          </a:xfrm>
          <a:prstGeom prst="rect">
            <a:avLst/>
          </a:prstGeom>
          <a:solidFill>
            <a:schemeClr val="bg1"/>
          </a:solidFill>
        </p:spPr>
        <p:txBody>
          <a:bodyPr wrap="none" rtlCol="0">
            <a:spAutoFit/>
          </a:bodyPr>
          <a:lstStyle/>
          <a:p>
            <a:r>
              <a:rPr kumimoji="1" lang="zh-CN" altLang="en-US" dirty="0">
                <a:ea typeface="楷体" panose="02010609060101010101" pitchFamily="49" charset="-122"/>
              </a:rPr>
              <a:t>运行结果：</a:t>
            </a:r>
            <a:endParaRPr kumimoji="1" lang="en-US" altLang="zh-CN" dirty="0">
              <a:ea typeface="楷体" panose="02010609060101010101" pitchFamily="49" charset="-122"/>
            </a:endParaRPr>
          </a:p>
          <a:p>
            <a:r>
              <a:rPr kumimoji="1" lang="en-US" altLang="zh-CN" dirty="0" err="1">
                <a:ea typeface="楷体" panose="02010609060101010101" pitchFamily="49" charset="-122"/>
              </a:rPr>
              <a:t>ownerName</a:t>
            </a:r>
            <a:r>
              <a:rPr kumimoji="1" lang="en-US" altLang="zh-CN" dirty="0">
                <a:ea typeface="楷体" panose="02010609060101010101" pitchFamily="49" charset="-122"/>
              </a:rPr>
              <a:t>=</a:t>
            </a:r>
            <a:r>
              <a:rPr kumimoji="1" lang="en-US" altLang="zh-CN" dirty="0" err="1">
                <a:ea typeface="楷体" panose="02010609060101010101" pitchFamily="49" charset="-122"/>
              </a:rPr>
              <a:t>Wangli</a:t>
            </a:r>
            <a:endParaRPr kumimoji="1" lang="en-US" altLang="zh-CN" dirty="0">
              <a:ea typeface="楷体" panose="02010609060101010101" pitchFamily="49" charset="-122"/>
            </a:endParaRPr>
          </a:p>
          <a:p>
            <a:r>
              <a:rPr kumimoji="1" lang="en-US" altLang="zh-CN" dirty="0" err="1">
                <a:ea typeface="楷体" panose="02010609060101010101" pitchFamily="49" charset="-122"/>
              </a:rPr>
              <a:t>accountNumber</a:t>
            </a:r>
            <a:r>
              <a:rPr kumimoji="1" lang="en-US" altLang="zh-CN" dirty="0">
                <a:ea typeface="楷体" panose="02010609060101010101" pitchFamily="49" charset="-122"/>
              </a:rPr>
              <a:t>=1000234</a:t>
            </a:r>
            <a:endParaRPr kumimoji="1" lang="en-US" altLang="zh-CN" dirty="0">
              <a:ea typeface="楷体" panose="02010609060101010101" pitchFamily="49" charset="-122"/>
            </a:endParaRPr>
          </a:p>
          <a:p>
            <a:r>
              <a:rPr kumimoji="1" lang="en-US" altLang="zh-CN" dirty="0">
                <a:ea typeface="楷体" panose="02010609060101010101" pitchFamily="49" charset="-122"/>
              </a:rPr>
              <a:t>balance=2000.0</a:t>
            </a:r>
            <a:endParaRPr kumimoji="1" lang="en-US" altLang="zh-CN" dirty="0">
              <a:ea typeface="楷体" panose="02010609060101010101" pitchFamily="49" charset="-122"/>
            </a:endParaRPr>
          </a:p>
        </p:txBody>
      </p:sp>
      <p:sp>
        <p:nvSpPr>
          <p:cNvPr id="2" name="TextBox 3"/>
          <p:cNvSpPr txBox="1"/>
          <p:nvPr>
            <p:custDataLst>
              <p:tags r:id="rId1"/>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
        <p:nvSpPr>
          <p:cNvPr id="4" name="文本框 3"/>
          <p:cNvSpPr txBox="1"/>
          <p:nvPr>
            <p:custDataLst>
              <p:tags r:id="rId2"/>
            </p:custDataLst>
          </p:nvPr>
        </p:nvSpPr>
        <p:spPr>
          <a:xfrm>
            <a:off x="407670" y="980440"/>
            <a:ext cx="280801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自定义构造方法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4294967295"/>
          </p:nvPr>
        </p:nvSpPr>
        <p:spPr>
          <a:xfrm>
            <a:off x="609600" y="1600201"/>
            <a:ext cx="10959008" cy="1540768"/>
          </a:xfrm>
        </p:spPr>
        <p:txBody>
          <a:bodyPr/>
          <a:lstStyle/>
          <a:p>
            <a:pPr marL="109220" indent="0">
              <a:lnSpc>
                <a:spcPct val="150000"/>
              </a:lnSpc>
              <a:buNone/>
            </a:pPr>
            <a:r>
              <a:rPr lang="zh-CN" altLang="en-US" dirty="0">
                <a:latin typeface="Times New Roman" panose="02020603050405020304" pitchFamily="18" charset="0"/>
              </a:rPr>
              <a:t>       </a:t>
            </a:r>
            <a:r>
              <a:rPr lang="zh-CN" altLang="en-US" b="1" dirty="0">
                <a:latin typeface="Times New Roman" panose="02020603050405020304" pitchFamily="18" charset="0"/>
              </a:rPr>
              <a:t>初始化逻辑相同，只是初始值不同的多个重载构造方法，需要冗余地写多个方法体吗？</a:t>
            </a:r>
            <a:endParaRPr lang="zh-CN" altLang="en-US" b="1" dirty="0">
              <a:latin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1C500230-17C9-4CEC-B67E-B7DB8DE07B61}" type="slidenum">
              <a:rPr lang="en-US" altLang="zh-CN" smtClean="0">
                <a:latin typeface="Times New Roman" panose="02020603050405020304" pitchFamily="18" charset="0"/>
              </a:rPr>
            </a:fld>
            <a:endParaRPr lang="en-US" altLang="zh-CN">
              <a:latin typeface="Times New Roman" panose="02020603050405020304" pitchFamily="18" charset="0"/>
            </a:endParaRPr>
          </a:p>
        </p:txBody>
      </p:sp>
      <p:sp>
        <p:nvSpPr>
          <p:cNvPr id="3" name="TextBox 3"/>
          <p:cNvSpPr txBox="1"/>
          <p:nvPr>
            <p:custDataLst>
              <p:tags r:id="rId1"/>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
        <p:nvSpPr>
          <p:cNvPr id="4" name="文本框 3"/>
          <p:cNvSpPr txBox="1"/>
          <p:nvPr>
            <p:custDataLst>
              <p:tags r:id="rId2"/>
            </p:custDataLst>
          </p:nvPr>
        </p:nvSpPr>
        <p:spPr>
          <a:xfrm>
            <a:off x="407670" y="980440"/>
            <a:ext cx="280801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自定义构造方法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9" name="Rectangle 3"/>
          <p:cNvSpPr>
            <a:spLocks noGrp="1" noChangeArrowheads="1"/>
          </p:cNvSpPr>
          <p:nvPr>
            <p:ph idx="4294967295"/>
          </p:nvPr>
        </p:nvSpPr>
        <p:spPr>
          <a:xfrm>
            <a:off x="1055440" y="1755187"/>
            <a:ext cx="10189132" cy="1934106"/>
          </a:xfrm>
        </p:spPr>
        <p:txBody>
          <a:bodyPr vert="horz" wrap="square" lIns="92075" tIns="46038" rIns="92075" bIns="46038" numCol="1" anchor="t" anchorCtr="0" compatLnSpc="1">
            <a:noAutofit/>
          </a:bodyPr>
          <a:lstStyle/>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可以使用</a:t>
            </a:r>
            <a:r>
              <a:rPr lang="en-US" altLang="zh-CN" sz="2700" b="1" dirty="0">
                <a:solidFill>
                  <a:srgbClr val="FF3399"/>
                </a:solidFill>
                <a:highlight>
                  <a:srgbClr val="FFFF00"/>
                </a:highlight>
                <a:latin typeface="Times New Roman" panose="02020603050405020304" pitchFamily="18" charset="0"/>
              </a:rPr>
              <a:t>this</a:t>
            </a:r>
            <a:r>
              <a:rPr lang="zh-CN" altLang="en-US" sz="2700" b="1" dirty="0">
                <a:latin typeface="Times New Roman" panose="02020603050405020304" pitchFamily="18" charset="0"/>
              </a:rPr>
              <a:t>关键字在一个构造方法中调用另外的构造方法；</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代码更简洁，维护起来也更容易；</a:t>
            </a:r>
            <a:endParaRPr lang="zh-CN" altLang="en-US" sz="2700" b="1"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b="1" dirty="0">
                <a:latin typeface="Times New Roman" panose="02020603050405020304" pitchFamily="18" charset="0"/>
              </a:rPr>
              <a:t>通常用参数个数比较少的构造方法调用参数个数最多的构造方法。</a:t>
            </a:r>
            <a:endParaRPr lang="zh-CN" altLang="en-US" sz="2700" b="1" dirty="0">
              <a:latin typeface="Times New Roman" panose="02020603050405020304" pitchFamily="18" charset="0"/>
            </a:endParaRPr>
          </a:p>
        </p:txBody>
      </p:sp>
      <p:sp>
        <p:nvSpPr>
          <p:cNvPr id="126978"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62904052-0D44-443B-B2DE-42F11024BDC8}"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126981" name="Rectangle 2"/>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None/>
            </a:pPr>
            <a:endParaRPr lang="zh-CN" altLang="en-GB">
              <a:solidFill>
                <a:schemeClr val="tx2"/>
              </a:solidFill>
              <a:latin typeface="Trebuchet MS" panose="020B0603020202020204" pitchFamily="34" charset="0"/>
              <a:ea typeface="方正姚体" panose="02010601030101010101" pitchFamily="2" charset="-122"/>
            </a:endParaRPr>
          </a:p>
        </p:txBody>
      </p:sp>
      <p:sp>
        <p:nvSpPr>
          <p:cNvPr id="4" name="TextBox 3"/>
          <p:cNvSpPr txBox="1"/>
          <p:nvPr>
            <p:custDataLst>
              <p:tags r:id="rId1"/>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2952026"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ea typeface="楷体" panose="02010609060101010101" pitchFamily="49" charset="-122"/>
                <a:cs typeface="思源黑体 CN Heavy" panose="020B0A00000000000000" charset="-122"/>
              </a:rPr>
              <a:t>this</a:t>
            </a:r>
            <a:r>
              <a:rPr lang="zh-CN" altLang="en-US" sz="2800" dirty="0">
                <a:solidFill>
                  <a:schemeClr val="bg1"/>
                </a:solidFill>
                <a:ea typeface="楷体" panose="02010609060101010101" pitchFamily="49" charset="-122"/>
                <a:cs typeface="思源黑体 CN Heavy" panose="020B0A00000000000000" charset="-122"/>
              </a:rPr>
              <a:t>关键字的使用</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Rectangle 3"/>
          <p:cNvSpPr>
            <a:spLocks noGrp="1" noChangeArrowheads="1"/>
          </p:cNvSpPr>
          <p:nvPr>
            <p:ph idx="4294967295"/>
          </p:nvPr>
        </p:nvSpPr>
        <p:spPr>
          <a:xfrm>
            <a:off x="839416" y="1700808"/>
            <a:ext cx="11017224" cy="4392488"/>
          </a:xfrm>
        </p:spPr>
        <p:txBody>
          <a:bodyPr vert="horz" wrap="square" lIns="92075" tIns="46038" rIns="92075" bIns="46038" numCol="1" anchor="t" anchorCtr="0" compatLnSpc="1">
            <a:noAutofit/>
          </a:bodyPr>
          <a:lstStyle/>
          <a:p>
            <a:pPr marL="109220" indent="0">
              <a:spcBef>
                <a:spcPts val="0"/>
              </a:spcBef>
              <a:buNone/>
            </a:pPr>
            <a:r>
              <a:rPr kumimoji="1" lang="en-US" altLang="zh-CN" sz="2500" dirty="0">
                <a:latin typeface="Times New Roman" panose="02020603050405020304" pitchFamily="18" charset="0"/>
              </a:rPr>
              <a:t>public </a:t>
            </a:r>
            <a:r>
              <a:rPr kumimoji="1" lang="en-US" altLang="zh-CN" sz="2500" dirty="0" err="1">
                <a:latin typeface="Times New Roman" panose="02020603050405020304" pitchFamily="18" charset="0"/>
              </a:rPr>
              <a:t>BankAccount</a:t>
            </a:r>
            <a:r>
              <a:rPr kumimoji="1" lang="en-US" altLang="zh-CN" sz="2500" dirty="0">
                <a:latin typeface="Times New Roman" panose="02020603050405020304" pitchFamily="18" charset="0"/>
              </a:rPr>
              <a:t>() { </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       </a:t>
            </a:r>
            <a:r>
              <a:rPr kumimoji="1" lang="en-US" altLang="zh-CN" sz="2500" b="1" dirty="0">
                <a:solidFill>
                  <a:srgbClr val="FF3399"/>
                </a:solidFill>
                <a:latin typeface="Times New Roman" panose="02020603050405020304" pitchFamily="18" charset="0"/>
              </a:rPr>
              <a:t>this("", 999999, 0.0f); </a:t>
            </a:r>
            <a:endParaRPr kumimoji="1" lang="en-US" altLang="zh-CN" sz="2500" b="1" dirty="0">
              <a:solidFill>
                <a:srgbClr val="FF3399"/>
              </a:solidFill>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 </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public </a:t>
            </a:r>
            <a:r>
              <a:rPr kumimoji="1" lang="en-US" altLang="zh-CN" sz="2500" dirty="0" err="1">
                <a:latin typeface="Times New Roman" panose="02020603050405020304" pitchFamily="18" charset="0"/>
              </a:rPr>
              <a:t>BankAccount</a:t>
            </a:r>
            <a:r>
              <a:rPr kumimoji="1" lang="en-US" altLang="zh-CN" sz="2500" dirty="0">
                <a:latin typeface="Times New Roman" panose="02020603050405020304" pitchFamily="18" charset="0"/>
              </a:rPr>
              <a:t>(String </a:t>
            </a:r>
            <a:r>
              <a:rPr kumimoji="1" lang="en-US" altLang="zh-CN" sz="2500" dirty="0" err="1">
                <a:latin typeface="Times New Roman" panose="02020603050405020304" pitchFamily="18" charset="0"/>
              </a:rPr>
              <a:t>initName</a:t>
            </a:r>
            <a:r>
              <a:rPr kumimoji="1" lang="en-US" altLang="zh-CN" sz="2500" dirty="0">
                <a:latin typeface="Times New Roman" panose="02020603050405020304" pitchFamily="18" charset="0"/>
              </a:rPr>
              <a:t>, int </a:t>
            </a:r>
            <a:r>
              <a:rPr kumimoji="1" lang="en-US" altLang="zh-CN" sz="2500" dirty="0" err="1">
                <a:latin typeface="Times New Roman" panose="02020603050405020304" pitchFamily="18" charset="0"/>
              </a:rPr>
              <a:t>initAccountNumber</a:t>
            </a:r>
            <a:r>
              <a:rPr kumimoji="1" lang="en-US" altLang="zh-CN" sz="2500" dirty="0">
                <a:latin typeface="Times New Roman" panose="02020603050405020304" pitchFamily="18" charset="0"/>
              </a:rPr>
              <a:t>) { </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       </a:t>
            </a:r>
            <a:r>
              <a:rPr kumimoji="1" lang="en-US" altLang="zh-CN" sz="2500" b="1" dirty="0">
                <a:solidFill>
                  <a:srgbClr val="FF3399"/>
                </a:solidFill>
                <a:latin typeface="Times New Roman" panose="02020603050405020304" pitchFamily="18" charset="0"/>
              </a:rPr>
              <a:t>this(</a:t>
            </a:r>
            <a:r>
              <a:rPr kumimoji="1" lang="en-US" altLang="zh-CN" sz="2500" b="1" dirty="0" err="1">
                <a:solidFill>
                  <a:srgbClr val="FF3399"/>
                </a:solidFill>
                <a:latin typeface="Times New Roman" panose="02020603050405020304" pitchFamily="18" charset="0"/>
              </a:rPr>
              <a:t>initName</a:t>
            </a:r>
            <a:r>
              <a:rPr kumimoji="1" lang="en-US" altLang="zh-CN" sz="2500" b="1" dirty="0">
                <a:solidFill>
                  <a:srgbClr val="FF3399"/>
                </a:solidFill>
                <a:latin typeface="Times New Roman" panose="02020603050405020304" pitchFamily="18" charset="0"/>
              </a:rPr>
              <a:t>, </a:t>
            </a:r>
            <a:r>
              <a:rPr kumimoji="1" lang="en-US" altLang="zh-CN" sz="2500" b="1" dirty="0" err="1">
                <a:solidFill>
                  <a:srgbClr val="FF3399"/>
                </a:solidFill>
                <a:latin typeface="Times New Roman" panose="02020603050405020304" pitchFamily="18" charset="0"/>
              </a:rPr>
              <a:t>initAccountNumber</a:t>
            </a:r>
            <a:r>
              <a:rPr kumimoji="1" lang="en-US" altLang="zh-CN" sz="2500" b="1" dirty="0">
                <a:solidFill>
                  <a:srgbClr val="FF3399"/>
                </a:solidFill>
                <a:latin typeface="Times New Roman" panose="02020603050405020304" pitchFamily="18" charset="0"/>
              </a:rPr>
              <a:t>, 0.0f);    </a:t>
            </a:r>
            <a:endParaRPr kumimoji="1" lang="en-US" altLang="zh-CN" sz="2500" b="1" dirty="0">
              <a:solidFill>
                <a:srgbClr val="FF3399"/>
              </a:solidFill>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public </a:t>
            </a:r>
            <a:r>
              <a:rPr kumimoji="1" lang="en-US" altLang="zh-CN" sz="2500" dirty="0" err="1">
                <a:latin typeface="Times New Roman" panose="02020603050405020304" pitchFamily="18" charset="0"/>
              </a:rPr>
              <a:t>BankAccount</a:t>
            </a:r>
            <a:r>
              <a:rPr kumimoji="1" lang="en-US" altLang="zh-CN" sz="2500" dirty="0">
                <a:latin typeface="Times New Roman" panose="02020603050405020304" pitchFamily="18" charset="0"/>
              </a:rPr>
              <a:t>(String </a:t>
            </a:r>
            <a:r>
              <a:rPr kumimoji="1" lang="en-US" altLang="zh-CN" sz="2500" dirty="0" err="1">
                <a:latin typeface="Times New Roman" panose="02020603050405020304" pitchFamily="18" charset="0"/>
              </a:rPr>
              <a:t>initName</a:t>
            </a:r>
            <a:r>
              <a:rPr kumimoji="1" lang="en-US" altLang="zh-CN" sz="2500" dirty="0">
                <a:latin typeface="Times New Roman" panose="02020603050405020304" pitchFamily="18" charset="0"/>
              </a:rPr>
              <a:t>, int </a:t>
            </a:r>
            <a:r>
              <a:rPr kumimoji="1" lang="en-US" altLang="zh-CN" sz="2500" dirty="0" err="1">
                <a:latin typeface="Times New Roman" panose="02020603050405020304" pitchFamily="18" charset="0"/>
              </a:rPr>
              <a:t>initAccountNumber,float</a:t>
            </a:r>
            <a:r>
              <a:rPr kumimoji="1" lang="en-US" altLang="zh-CN" sz="2500" dirty="0">
                <a:latin typeface="Times New Roman" panose="02020603050405020304" pitchFamily="18" charset="0"/>
              </a:rPr>
              <a:t> </a:t>
            </a:r>
            <a:r>
              <a:rPr kumimoji="1" lang="en-US" altLang="zh-CN" sz="2500" dirty="0" err="1">
                <a:latin typeface="Times New Roman" panose="02020603050405020304" pitchFamily="18" charset="0"/>
              </a:rPr>
              <a:t>initBalance</a:t>
            </a:r>
            <a:r>
              <a:rPr kumimoji="1" lang="en-US" altLang="zh-CN" sz="2500" dirty="0">
                <a:latin typeface="Times New Roman" panose="02020603050405020304" pitchFamily="18" charset="0"/>
              </a:rPr>
              <a:t>) { </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       </a:t>
            </a:r>
            <a:r>
              <a:rPr kumimoji="1" lang="en-US" altLang="zh-CN" sz="2500" dirty="0" err="1">
                <a:latin typeface="Times New Roman" panose="02020603050405020304" pitchFamily="18" charset="0"/>
              </a:rPr>
              <a:t>ownerName</a:t>
            </a:r>
            <a:r>
              <a:rPr kumimoji="1" lang="en-US" altLang="zh-CN" sz="2500" dirty="0">
                <a:latin typeface="Times New Roman" panose="02020603050405020304" pitchFamily="18" charset="0"/>
              </a:rPr>
              <a:t> = </a:t>
            </a:r>
            <a:r>
              <a:rPr kumimoji="1" lang="en-US" altLang="zh-CN" sz="2500" dirty="0" err="1">
                <a:latin typeface="Times New Roman" panose="02020603050405020304" pitchFamily="18" charset="0"/>
              </a:rPr>
              <a:t>initName</a:t>
            </a:r>
            <a:r>
              <a:rPr kumimoji="1" lang="en-US" altLang="zh-CN" sz="2500" dirty="0">
                <a:latin typeface="Times New Roman" panose="02020603050405020304" pitchFamily="18" charset="0"/>
              </a:rPr>
              <a:t>; </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       </a:t>
            </a:r>
            <a:r>
              <a:rPr kumimoji="1" lang="en-US" altLang="zh-CN" sz="2500" dirty="0" err="1">
                <a:latin typeface="Times New Roman" panose="02020603050405020304" pitchFamily="18" charset="0"/>
              </a:rPr>
              <a:t>ccountNumber</a:t>
            </a:r>
            <a:r>
              <a:rPr kumimoji="1" lang="en-US" altLang="zh-CN" sz="2500" dirty="0">
                <a:latin typeface="Times New Roman" panose="02020603050405020304" pitchFamily="18" charset="0"/>
              </a:rPr>
              <a:t> = </a:t>
            </a:r>
            <a:r>
              <a:rPr kumimoji="1" lang="en-US" altLang="zh-CN" sz="2500" dirty="0" err="1">
                <a:latin typeface="Times New Roman" panose="02020603050405020304" pitchFamily="18" charset="0"/>
              </a:rPr>
              <a:t>initAccountNumber</a:t>
            </a:r>
            <a:r>
              <a:rPr kumimoji="1" lang="en-US" altLang="zh-CN" sz="2500" dirty="0">
                <a:latin typeface="Times New Roman" panose="02020603050405020304" pitchFamily="18" charset="0"/>
              </a:rPr>
              <a:t>; </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       balance = </a:t>
            </a:r>
            <a:r>
              <a:rPr kumimoji="1" lang="en-US" altLang="zh-CN" sz="2500" dirty="0" err="1">
                <a:latin typeface="Times New Roman" panose="02020603050405020304" pitchFamily="18" charset="0"/>
              </a:rPr>
              <a:t>initBalance</a:t>
            </a:r>
            <a:r>
              <a:rPr kumimoji="1" lang="en-US" altLang="zh-CN" sz="2500" dirty="0">
                <a:latin typeface="Times New Roman" panose="02020603050405020304" pitchFamily="18" charset="0"/>
              </a:rPr>
              <a:t>; </a:t>
            </a:r>
            <a:endParaRPr kumimoji="1" lang="en-US" altLang="zh-CN" sz="2500" dirty="0">
              <a:latin typeface="Times New Roman" panose="02020603050405020304" pitchFamily="18" charset="0"/>
            </a:endParaRPr>
          </a:p>
          <a:p>
            <a:pPr marL="109220" indent="0">
              <a:spcBef>
                <a:spcPts val="0"/>
              </a:spcBef>
              <a:buNone/>
            </a:pPr>
            <a:r>
              <a:rPr kumimoji="1" lang="en-US" altLang="zh-CN" sz="2500" dirty="0">
                <a:latin typeface="Times New Roman" panose="02020603050405020304" pitchFamily="18" charset="0"/>
              </a:rPr>
              <a:t> }</a:t>
            </a:r>
            <a:endParaRPr lang="zh-CN" altLang="en-US" sz="2500" dirty="0">
              <a:latin typeface="Times New Roman" panose="02020603050405020304" pitchFamily="18" charset="0"/>
            </a:endParaRPr>
          </a:p>
        </p:txBody>
      </p:sp>
      <p:sp>
        <p:nvSpPr>
          <p:cNvPr id="4" name="TextBox 3"/>
          <p:cNvSpPr txBox="1"/>
          <p:nvPr>
            <p:custDataLst>
              <p:tags r:id="rId1"/>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2952026"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ea typeface="楷体" panose="02010609060101010101" pitchFamily="49" charset="-122"/>
                <a:cs typeface="思源黑体 CN Heavy" panose="020B0A00000000000000" charset="-122"/>
              </a:rPr>
              <a:t>this</a:t>
            </a:r>
            <a:r>
              <a:rPr lang="zh-CN" altLang="en-US" sz="2800" dirty="0">
                <a:solidFill>
                  <a:schemeClr val="bg1"/>
                </a:solidFill>
                <a:ea typeface="楷体" panose="02010609060101010101" pitchFamily="49" charset="-122"/>
                <a:cs typeface="思源黑体 CN Heavy" panose="020B0A00000000000000" charset="-122"/>
              </a:rPr>
              <a:t>关键字的使用</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4294967295"/>
          </p:nvPr>
        </p:nvSpPr>
        <p:spPr>
          <a:xfrm>
            <a:off x="983432" y="1643063"/>
            <a:ext cx="10297144" cy="4104744"/>
          </a:xfrm>
        </p:spPr>
        <p:txBody>
          <a:bodyPr vert="horz" wrap="square" lIns="92075" tIns="46038" rIns="92075" bIns="46038" numCol="1" anchor="t" anchorCtr="0" compatLnSpc="1">
            <a:noAutofit/>
          </a:bodyPr>
          <a:lstStyle/>
          <a:p>
            <a:pPr>
              <a:lnSpc>
                <a:spcPct val="150000"/>
              </a:lnSpc>
              <a:buFont typeface="Wingdings" panose="05000000000000000000" pitchFamily="2" charset="2"/>
              <a:buChar char="Ø"/>
            </a:pPr>
            <a:r>
              <a:rPr lang="zh-CN" altLang="en-US" sz="2700" b="1" dirty="0">
                <a:latin typeface="+mn-ea"/>
                <a:ea typeface="+mn-ea"/>
              </a:rPr>
              <a:t>在类中定义变量时，加上</a:t>
            </a:r>
            <a:r>
              <a:rPr lang="en-US" altLang="zh-CN" sz="2700" b="1" dirty="0">
                <a:latin typeface="+mn-ea"/>
                <a:ea typeface="+mn-ea"/>
              </a:rPr>
              <a:t>final</a:t>
            </a:r>
            <a:r>
              <a:rPr lang="zh-CN" altLang="en-US" sz="2700" b="1" dirty="0">
                <a:latin typeface="+mn-ea"/>
                <a:ea typeface="+mn-ea"/>
              </a:rPr>
              <a:t>修饰，那便是说，这个变量一旦被初始化便不可改变；</a:t>
            </a:r>
            <a:endParaRPr lang="en-US" altLang="zh-CN" sz="2700" b="1" dirty="0">
              <a:latin typeface="+mn-ea"/>
              <a:ea typeface="+mn-ea"/>
            </a:endParaRPr>
          </a:p>
          <a:p>
            <a:pPr eaLnBrk="1" hangingPunct="1">
              <a:lnSpc>
                <a:spcPct val="150000"/>
              </a:lnSpc>
              <a:buFont typeface="Wingdings" panose="05000000000000000000" pitchFamily="2" charset="2"/>
              <a:buChar char="Ø"/>
            </a:pPr>
            <a:r>
              <a:rPr lang="zh-CN" altLang="en-US" sz="2700" b="1" dirty="0">
                <a:latin typeface="+mn-ea"/>
                <a:ea typeface="+mn-ea"/>
              </a:rPr>
              <a:t>实例变量和类变量都可被声明为</a:t>
            </a:r>
            <a:r>
              <a:rPr lang="en-US" altLang="zh-CN" sz="2700" b="1" dirty="0">
                <a:latin typeface="+mn-ea"/>
                <a:ea typeface="+mn-ea"/>
              </a:rPr>
              <a:t>final;</a:t>
            </a:r>
            <a:endParaRPr lang="en-US" altLang="zh-CN" sz="2700" b="1" dirty="0">
              <a:latin typeface="+mn-ea"/>
              <a:ea typeface="+mn-ea"/>
            </a:endParaRPr>
          </a:p>
          <a:p>
            <a:pPr eaLnBrk="1" hangingPunct="1">
              <a:lnSpc>
                <a:spcPct val="150000"/>
              </a:lnSpc>
              <a:buFont typeface="Wingdings" panose="05000000000000000000" pitchFamily="2" charset="2"/>
              <a:buChar char="Ø"/>
            </a:pPr>
            <a:r>
              <a:rPr lang="en-US" altLang="zh-CN" sz="2700" b="1" dirty="0">
                <a:latin typeface="+mn-ea"/>
                <a:ea typeface="+mn-ea"/>
              </a:rPr>
              <a:t>final</a:t>
            </a:r>
            <a:r>
              <a:rPr lang="zh-CN" altLang="en-US" sz="2700" b="1" dirty="0">
                <a:latin typeface="+mn-ea"/>
                <a:ea typeface="+mn-ea"/>
              </a:rPr>
              <a:t>实例变量可以在类中定义时给出初始值，或者在每个构造方法结束之前完成初始化</a:t>
            </a:r>
            <a:r>
              <a:rPr lang="en-US" altLang="zh-CN" sz="2700" b="1" dirty="0">
                <a:latin typeface="+mn-ea"/>
                <a:ea typeface="+mn-ea"/>
              </a:rPr>
              <a:t>;</a:t>
            </a:r>
            <a:endParaRPr lang="en-US" altLang="zh-CN" sz="2700" b="1" dirty="0">
              <a:latin typeface="+mn-ea"/>
              <a:ea typeface="+mn-ea"/>
            </a:endParaRPr>
          </a:p>
          <a:p>
            <a:pPr eaLnBrk="1" hangingPunct="1">
              <a:lnSpc>
                <a:spcPct val="150000"/>
              </a:lnSpc>
              <a:buFont typeface="Wingdings" panose="05000000000000000000" pitchFamily="2" charset="2"/>
              <a:buChar char="Ø"/>
            </a:pPr>
            <a:r>
              <a:rPr lang="en-US" altLang="zh-CN" sz="2700" b="1" dirty="0">
                <a:latin typeface="+mn-ea"/>
                <a:ea typeface="+mn-ea"/>
              </a:rPr>
              <a:t>final</a:t>
            </a:r>
            <a:r>
              <a:rPr lang="zh-CN" altLang="en-US" sz="2700" b="1" dirty="0">
                <a:latin typeface="+mn-ea"/>
                <a:ea typeface="+mn-ea"/>
              </a:rPr>
              <a:t>类变量必须在声明的同时初始化。</a:t>
            </a:r>
            <a:endParaRPr lang="en-US" altLang="zh-CN" sz="2700" b="1" dirty="0">
              <a:latin typeface="+mn-ea"/>
              <a:ea typeface="+mn-ea"/>
            </a:endParaRPr>
          </a:p>
        </p:txBody>
      </p:sp>
      <p:sp>
        <p:nvSpPr>
          <p:cNvPr id="5734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CD4AC0A7-088F-46E8-8836-260F6EE0CD7B}"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57349" name="Rectangle 4"/>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GB">
              <a:solidFill>
                <a:schemeClr val="tx2"/>
              </a:solidFill>
              <a:latin typeface="Trebuchet MS" panose="020B0603020202020204" pitchFamily="34" charset="0"/>
              <a:ea typeface="方正姚体" panose="02010601030101010101" pitchFamily="2" charset="-122"/>
            </a:endParaRPr>
          </a:p>
        </p:txBody>
      </p:sp>
      <p:sp>
        <p:nvSpPr>
          <p:cNvPr id="4" name="文本框 3"/>
          <p:cNvSpPr txBox="1"/>
          <p:nvPr>
            <p:custDataLst>
              <p:tags r:id="rId1"/>
            </p:custDataLst>
          </p:nvPr>
        </p:nvSpPr>
        <p:spPr>
          <a:xfrm>
            <a:off x="407670" y="980440"/>
            <a:ext cx="3096042" cy="477054"/>
          </a:xfrm>
          <a:prstGeom prst="rect">
            <a:avLst/>
          </a:prstGeom>
          <a:solidFill>
            <a:srgbClr val="255EAB"/>
          </a:solidFill>
        </p:spPr>
        <p:txBody>
          <a:bodyPr wrap="square" rtlCol="0">
            <a:spAutoFit/>
          </a:bodyPr>
          <a:lstStyle/>
          <a:p>
            <a:pPr>
              <a:lnSpc>
                <a:spcPts val="3000"/>
              </a:lnSpc>
              <a:spcBef>
                <a:spcPts val="0"/>
              </a:spcBef>
            </a:pPr>
            <a:r>
              <a:rPr lang="en-US" altLang="zh-CN" sz="2800" dirty="0">
                <a:solidFill>
                  <a:schemeClr val="bg1"/>
                </a:solidFill>
                <a:ea typeface="楷体" panose="02010609060101010101" pitchFamily="49" charset="-122"/>
                <a:cs typeface="思源黑体 CN Heavy" panose="020B0A00000000000000" charset="-122"/>
              </a:rPr>
              <a:t>final</a:t>
            </a:r>
            <a:r>
              <a:rPr lang="zh-CN" altLang="en-US" sz="2800" dirty="0">
                <a:solidFill>
                  <a:schemeClr val="bg1"/>
                </a:solidFill>
                <a:ea typeface="楷体" panose="02010609060101010101" pitchFamily="49" charset="-122"/>
                <a:cs typeface="思源黑体 CN Heavy" panose="020B0A00000000000000" charset="-122"/>
              </a:rPr>
              <a:t>变量的初始化</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5" name="TextBox 3"/>
          <p:cNvSpPr txBox="1"/>
          <p:nvPr>
            <p:custDataLst>
              <p:tags r:id="rId2"/>
            </p:custDataLst>
          </p:nvPr>
        </p:nvSpPr>
        <p:spPr>
          <a:xfrm>
            <a:off x="4007768" y="79191"/>
            <a:ext cx="4248472"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2.3  </a:t>
            </a:r>
            <a:r>
              <a:rPr lang="zh-CN" altLang="en-US" sz="3200" dirty="0">
                <a:ln w="11430">
                  <a:noFill/>
                </a:ln>
                <a:solidFill>
                  <a:srgbClr val="255EAB"/>
                </a:solidFill>
                <a:ea typeface="楷体" panose="02010609060101010101" pitchFamily="49" charset="-122"/>
              </a:rPr>
              <a:t>对象初始化和回收</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Rectangle 3"/>
          <p:cNvSpPr>
            <a:spLocks noGrp="1" noChangeArrowheads="1"/>
          </p:cNvSpPr>
          <p:nvPr>
            <p:ph idx="4294967295"/>
          </p:nvPr>
        </p:nvSpPr>
        <p:spPr>
          <a:xfrm>
            <a:off x="1199456" y="1700808"/>
            <a:ext cx="9342508" cy="3845024"/>
          </a:xfrm>
        </p:spPr>
        <p:txBody>
          <a:bodyPr vert="horz" wrap="square" lIns="92075" tIns="46038" rIns="92075" bIns="46038" numCol="1" anchor="t" anchorCtr="0" compatLnSpc="1">
            <a:normAutofit/>
          </a:bodyPr>
          <a:lstStyle/>
          <a:p>
            <a:pPr>
              <a:buFont typeface="Georgia" panose="02040502050405020303" pitchFamily="18" charset="0"/>
              <a:buNone/>
            </a:pPr>
            <a:r>
              <a:rPr lang="en-US" altLang="zh-CN" sz="2500" b="1" dirty="0">
                <a:latin typeface="Times New Roman" panose="02020603050405020304" pitchFamily="18" charset="0"/>
              </a:rPr>
              <a:t>[public] </a:t>
            </a:r>
            <a:r>
              <a:rPr lang="en-US" altLang="zh-CN" sz="2500" b="1" dirty="0" err="1">
                <a:solidFill>
                  <a:srgbClr val="FF3399"/>
                </a:solidFill>
                <a:highlight>
                  <a:srgbClr val="FFFF00"/>
                </a:highlight>
                <a:latin typeface="Times New Roman" panose="02020603050405020304" pitchFamily="18" charset="0"/>
              </a:rPr>
              <a:t>enum</a:t>
            </a:r>
            <a:r>
              <a:rPr lang="en-US" altLang="zh-CN" sz="2500" b="1" dirty="0">
                <a:latin typeface="Times New Roman" panose="02020603050405020304" pitchFamily="18" charset="0"/>
              </a:rPr>
              <a:t> </a:t>
            </a:r>
            <a:r>
              <a:rPr lang="zh-CN" altLang="en-US" sz="2500" b="1" dirty="0">
                <a:latin typeface="Times New Roman" panose="02020603050405020304" pitchFamily="18" charset="0"/>
              </a:rPr>
              <a:t>枚举类型名称 </a:t>
            </a:r>
            <a:r>
              <a:rPr lang="en-US" altLang="zh-CN" sz="2500" b="1" dirty="0">
                <a:latin typeface="Times New Roman" panose="02020603050405020304" pitchFamily="18" charset="0"/>
              </a:rPr>
              <a:t>[implements </a:t>
            </a:r>
            <a:r>
              <a:rPr lang="zh-CN" altLang="en-US" sz="2500" b="1" dirty="0">
                <a:latin typeface="Times New Roman" panose="02020603050405020304" pitchFamily="18" charset="0"/>
              </a:rPr>
              <a:t>接口名称列表</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a:t>
            </a:r>
            <a:r>
              <a:rPr lang="zh-CN" altLang="en-US" sz="2500" b="1" dirty="0">
                <a:latin typeface="Times New Roman" panose="02020603050405020304" pitchFamily="18" charset="0"/>
              </a:rPr>
              <a:t>枚举值；</a:t>
            </a:r>
            <a:endParaRPr lang="zh-CN" altLang="en-US" sz="2500" b="1" dirty="0">
              <a:latin typeface="Times New Roman" panose="02020603050405020304" pitchFamily="18" charset="0"/>
            </a:endParaRPr>
          </a:p>
          <a:p>
            <a:pPr>
              <a:buFont typeface="Georgia" panose="02040502050405020303" pitchFamily="18" charset="0"/>
              <a:buNone/>
            </a:pPr>
            <a:r>
              <a:rPr lang="zh-CN" altLang="en-US" sz="2500" b="1" dirty="0">
                <a:latin typeface="Times New Roman" panose="02020603050405020304" pitchFamily="18" charset="0"/>
              </a:rPr>
              <a:t>     变量成员声明及初始化；</a:t>
            </a:r>
            <a:endParaRPr lang="zh-CN" altLang="en-US" sz="2500" b="1" dirty="0">
              <a:latin typeface="Times New Roman" panose="02020603050405020304" pitchFamily="18" charset="0"/>
            </a:endParaRPr>
          </a:p>
          <a:p>
            <a:pPr>
              <a:buFont typeface="Georgia" panose="02040502050405020303" pitchFamily="18" charset="0"/>
              <a:buNone/>
            </a:pPr>
            <a:r>
              <a:rPr lang="zh-CN" altLang="en-US" sz="2500" b="1" dirty="0">
                <a:latin typeface="Times New Roman" panose="02020603050405020304" pitchFamily="18" charset="0"/>
              </a:rPr>
              <a:t>     方法声明及方法体；</a:t>
            </a:r>
            <a:endParaRPr lang="zh-CN" altLang="en-US"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a:t>
            </a:r>
            <a:r>
              <a:rPr lang="zh-CN" altLang="en-US" sz="2500" b="1" dirty="0">
                <a:latin typeface="Times New Roman" panose="02020603050405020304" pitchFamily="18" charset="0"/>
              </a:rPr>
              <a:t> </a:t>
            </a:r>
            <a:endParaRPr lang="en-US" altLang="zh-CN" sz="2500" b="1" dirty="0">
              <a:latin typeface="Times New Roman" panose="02020603050405020304" pitchFamily="18" charset="0"/>
            </a:endParaRPr>
          </a:p>
          <a:p>
            <a:pPr>
              <a:buFont typeface="Georgia" panose="02040502050405020303" pitchFamily="18" charset="0"/>
              <a:buNone/>
            </a:pPr>
            <a:endParaRPr lang="en-US" altLang="zh-CN" sz="2500" b="1" dirty="0">
              <a:latin typeface="Times New Roman" panose="02020603050405020304" pitchFamily="18" charset="0"/>
            </a:endParaRPr>
          </a:p>
          <a:p>
            <a:pPr marL="0" indent="0">
              <a:buNone/>
            </a:pPr>
            <a:r>
              <a:rPr lang="zh-CN" altLang="en-US" sz="2500" b="1" dirty="0">
                <a:solidFill>
                  <a:srgbClr val="FF0000"/>
                </a:solidFill>
                <a:latin typeface="Times New Roman" panose="02020603050405020304" pitchFamily="18" charset="0"/>
              </a:rPr>
              <a:t>枚举类中也可以声明构造方法和其他用于操作枚举对象的方法</a:t>
            </a:r>
            <a:endParaRPr lang="zh-CN" altLang="en-US" sz="2500" b="1" dirty="0">
              <a:solidFill>
                <a:srgbClr val="FF0000"/>
              </a:solidFill>
              <a:latin typeface="Times New Roman" panose="02020603050405020304" pitchFamily="18" charset="0"/>
            </a:endParaRPr>
          </a:p>
        </p:txBody>
      </p:sp>
      <p:sp>
        <p:nvSpPr>
          <p:cNvPr id="3" name="文本框 2"/>
          <p:cNvSpPr txBox="1"/>
          <p:nvPr>
            <p:custDataLst>
              <p:tags r:id="rId1"/>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声明枚举类</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2.4  </a:t>
            </a:r>
            <a:r>
              <a:rPr lang="zh-CN" altLang="en-US" sz="3200" dirty="0">
                <a:ln w="11430">
                  <a:noFill/>
                </a:ln>
                <a:solidFill>
                  <a:srgbClr val="255EAB"/>
                </a:solidFill>
                <a:ea typeface="楷体" panose="02010609060101010101" pitchFamily="49" charset="-122"/>
              </a:rPr>
              <a:t>枚举类型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1" name="Rectangle 3"/>
          <p:cNvSpPr>
            <a:spLocks noGrp="1" noChangeArrowheads="1"/>
          </p:cNvSpPr>
          <p:nvPr>
            <p:ph idx="4294967295"/>
          </p:nvPr>
        </p:nvSpPr>
        <p:spPr>
          <a:xfrm>
            <a:off x="1055440" y="1556792"/>
            <a:ext cx="6912768" cy="5069160"/>
          </a:xfrm>
        </p:spPr>
        <p:txBody>
          <a:bodyPr vert="horz" wrap="square" lIns="92075" tIns="46038" rIns="92075" bIns="46038" numCol="1" anchor="t" anchorCtr="0" compatLnSpc="1">
            <a:noAutofit/>
          </a:bodyPr>
          <a:lstStyle/>
          <a:p>
            <a:pPr>
              <a:buFont typeface="Georgia" panose="02040502050405020303" pitchFamily="18" charset="0"/>
              <a:buNone/>
            </a:pPr>
            <a:r>
              <a:rPr lang="en-US" altLang="zh-CN" sz="2500" b="1" dirty="0" err="1">
                <a:solidFill>
                  <a:srgbClr val="FF3399"/>
                </a:solidFill>
                <a:latin typeface="Times New Roman" panose="02020603050405020304" pitchFamily="18" charset="0"/>
              </a:rPr>
              <a:t>enum</a:t>
            </a:r>
            <a:r>
              <a:rPr lang="en-US" altLang="zh-CN" sz="2500" b="1" dirty="0">
                <a:latin typeface="Times New Roman" panose="02020603050405020304" pitchFamily="18" charset="0"/>
              </a:rPr>
              <a:t> Score{</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EXCELLENT,  QUALIFIED,  FAILED</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public class </a:t>
            </a:r>
            <a:r>
              <a:rPr lang="en-US" altLang="zh-CN" sz="2500" b="1" dirty="0" err="1">
                <a:latin typeface="Times New Roman" panose="02020603050405020304" pitchFamily="18" charset="0"/>
              </a:rPr>
              <a:t>EnumTest</a:t>
            </a: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public static void main(String[] </a:t>
            </a:r>
            <a:r>
              <a:rPr lang="en-US" altLang="zh-CN" sz="2500" b="1" dirty="0" err="1">
                <a:latin typeface="Times New Roman" panose="02020603050405020304" pitchFamily="18" charset="0"/>
              </a:rPr>
              <a:t>args</a:t>
            </a: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a:t>
            </a:r>
            <a:r>
              <a:rPr lang="en-US" altLang="zh-CN" sz="2500" b="1" dirty="0" err="1">
                <a:latin typeface="Times New Roman" panose="02020603050405020304" pitchFamily="18" charset="0"/>
              </a:rPr>
              <a:t>giveScore</a:t>
            </a:r>
            <a:r>
              <a:rPr lang="en-US" altLang="zh-CN" sz="2500" b="1" dirty="0">
                <a:latin typeface="Times New Roman" panose="02020603050405020304" pitchFamily="18" charset="0"/>
              </a:rPr>
              <a:t>(</a:t>
            </a:r>
            <a:r>
              <a:rPr lang="en-US" altLang="zh-CN" sz="2500" b="1" dirty="0" err="1">
                <a:solidFill>
                  <a:srgbClr val="FF3399"/>
                </a:solidFill>
                <a:highlight>
                  <a:srgbClr val="FFFF00"/>
                </a:highlight>
                <a:latin typeface="Times New Roman" panose="02020603050405020304" pitchFamily="18" charset="0"/>
              </a:rPr>
              <a:t>Score.EXCELLENT</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public static void </a:t>
            </a:r>
            <a:r>
              <a:rPr lang="en-US" altLang="zh-CN" sz="2500" b="1" dirty="0" err="1">
                <a:latin typeface="Times New Roman" panose="02020603050405020304" pitchFamily="18" charset="0"/>
              </a:rPr>
              <a:t>giveScore</a:t>
            </a:r>
            <a:r>
              <a:rPr lang="en-US" altLang="zh-CN" sz="2500" b="1" dirty="0">
                <a:latin typeface="Times New Roman" panose="02020603050405020304" pitchFamily="18" charset="0"/>
              </a:rPr>
              <a:t>(Score score){</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a:t>
            </a:r>
            <a:r>
              <a:rPr lang="en-US" altLang="zh-CN" sz="2500" b="1" dirty="0" err="1">
                <a:latin typeface="Times New Roman" panose="02020603050405020304" pitchFamily="18" charset="0"/>
              </a:rPr>
              <a:t>System.out.println</a:t>
            </a:r>
            <a:r>
              <a:rPr lang="en-US" altLang="zh-CN" sz="2500" b="1" dirty="0">
                <a:latin typeface="Times New Roman" panose="02020603050405020304" pitchFamily="18" charset="0"/>
              </a:rPr>
              <a:t>(score);</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a:buFont typeface="Georgia" panose="02040502050405020303" pitchFamily="18" charset="0"/>
              <a:buNone/>
            </a:pP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p:txBody>
      </p:sp>
      <p:sp>
        <p:nvSpPr>
          <p:cNvPr id="2" name="文本框 1"/>
          <p:cNvSpPr txBox="1"/>
          <p:nvPr/>
        </p:nvSpPr>
        <p:spPr>
          <a:xfrm>
            <a:off x="8544272" y="5229200"/>
            <a:ext cx="1730154" cy="707886"/>
          </a:xfrm>
          <a:prstGeom prst="rect">
            <a:avLst/>
          </a:prstGeom>
          <a:solidFill>
            <a:schemeClr val="bg1"/>
          </a:solidFill>
        </p:spPr>
        <p:txBody>
          <a:bodyPr wrap="none" rtlCol="0">
            <a:spAutoFit/>
          </a:bodyPr>
          <a:lstStyle/>
          <a:p>
            <a:r>
              <a:rPr kumimoji="1" lang="zh-CN" altLang="en-US" sz="2000" dirty="0">
                <a:ea typeface="楷体" panose="02010609060101010101" pitchFamily="49" charset="-122"/>
              </a:rPr>
              <a:t>运行结果：</a:t>
            </a:r>
            <a:endParaRPr kumimoji="1" lang="en-US" altLang="zh-CN" sz="2000" dirty="0">
              <a:ea typeface="楷体" panose="02010609060101010101" pitchFamily="49" charset="-122"/>
            </a:endParaRPr>
          </a:p>
          <a:p>
            <a:r>
              <a:rPr kumimoji="1" lang="en-US" altLang="zh-CN" sz="2000" dirty="0">
                <a:ea typeface="楷体" panose="02010609060101010101" pitchFamily="49" charset="-122"/>
              </a:rPr>
              <a:t>EXCELLENT </a:t>
            </a:r>
            <a:endParaRPr kumimoji="1" lang="zh-CN" altLang="zh-CN" sz="2000" dirty="0">
              <a:ea typeface="楷体" panose="02010609060101010101" pitchFamily="49" charset="-122"/>
            </a:endParaRPr>
          </a:p>
        </p:txBody>
      </p:sp>
      <p:sp>
        <p:nvSpPr>
          <p:cNvPr id="4"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2.4  </a:t>
            </a:r>
            <a:r>
              <a:rPr lang="zh-CN" altLang="en-US" sz="3200" dirty="0">
                <a:ln w="11430">
                  <a:noFill/>
                </a:ln>
                <a:solidFill>
                  <a:srgbClr val="255EAB"/>
                </a:solidFill>
                <a:ea typeface="楷体" panose="02010609060101010101" pitchFamily="49" charset="-122"/>
              </a:rPr>
              <a:t>枚举类型</a:t>
            </a:r>
            <a:endParaRPr lang="zh-CN" altLang="en-US" sz="3200" dirty="0">
              <a:ln w="11430">
                <a:noFill/>
              </a:ln>
              <a:solidFill>
                <a:srgbClr val="255EAB"/>
              </a:solidFill>
              <a:ea typeface="楷体" panose="02010609060101010101" pitchFamily="49" charset="-122"/>
            </a:endParaRPr>
          </a:p>
        </p:txBody>
      </p:sp>
      <p:sp>
        <p:nvSpPr>
          <p:cNvPr id="5" name="文本框 4"/>
          <p:cNvSpPr txBox="1"/>
          <p:nvPr>
            <p:custDataLst>
              <p:tags r:id="rId2"/>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声明枚举类</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内容占位符 2"/>
          <p:cNvSpPr>
            <a:spLocks noGrp="1"/>
          </p:cNvSpPr>
          <p:nvPr>
            <p:ph idx="4294967295"/>
          </p:nvPr>
        </p:nvSpPr>
        <p:spPr>
          <a:xfrm>
            <a:off x="839416" y="1628800"/>
            <a:ext cx="10897687" cy="4176752"/>
          </a:xfrm>
        </p:spPr>
        <p:txBody>
          <a:bodyPr>
            <a:noAutofit/>
          </a:bodyPr>
          <a:lstStyle/>
          <a:p>
            <a:pPr algn="just">
              <a:lnSpc>
                <a:spcPct val="150000"/>
              </a:lnSpc>
              <a:buFont typeface="Wingdings" panose="05000000000000000000" pitchFamily="2" charset="2"/>
              <a:buChar char="Ø"/>
            </a:pPr>
            <a:r>
              <a:rPr lang="zh-CN" altLang="en-US" sz="2700" b="1" dirty="0">
                <a:latin typeface="Times New Roman" panose="02020603050405020304" pitchFamily="18" charset="0"/>
              </a:rPr>
              <a:t>枚举定义</a:t>
            </a:r>
            <a:r>
              <a:rPr lang="zh-CN" altLang="en-US" sz="2700" b="1" dirty="0">
                <a:solidFill>
                  <a:srgbClr val="FF3399"/>
                </a:solidFill>
                <a:latin typeface="Times New Roman" panose="02020603050405020304" pitchFamily="18" charset="0"/>
              </a:rPr>
              <a:t>实际上是定义了一个类</a:t>
            </a:r>
            <a:r>
              <a:rPr lang="zh-CN" altLang="en-US" sz="2700" b="1" dirty="0">
                <a:latin typeface="Times New Roman" panose="02020603050405020304" pitchFamily="18" charset="0"/>
              </a:rPr>
              <a:t>；</a:t>
            </a:r>
            <a:endParaRPr lang="en-US" altLang="zh-CN" sz="2700" b="1" dirty="0">
              <a:latin typeface="Times New Roman" panose="02020603050405020304" pitchFamily="18" charset="0"/>
            </a:endParaRPr>
          </a:p>
          <a:p>
            <a:pPr algn="just">
              <a:lnSpc>
                <a:spcPct val="150000"/>
              </a:lnSpc>
              <a:buFont typeface="Wingdings" panose="05000000000000000000" pitchFamily="2" charset="2"/>
              <a:buChar char="Ø"/>
            </a:pPr>
            <a:r>
              <a:rPr lang="zh-CN" altLang="en-US" sz="2700" b="1" dirty="0">
                <a:latin typeface="Times New Roman" panose="02020603050405020304" pitchFamily="18" charset="0"/>
              </a:rPr>
              <a:t>所有枚举类型都隐含继承自</a:t>
            </a:r>
            <a:r>
              <a:rPr lang="en-US" altLang="zh-CN" sz="2700" b="1" dirty="0" err="1">
                <a:solidFill>
                  <a:srgbClr val="FF3399"/>
                </a:solidFill>
                <a:latin typeface="Times New Roman" panose="02020603050405020304" pitchFamily="18" charset="0"/>
              </a:rPr>
              <a:t>java.lang.Enum</a:t>
            </a:r>
            <a:r>
              <a:rPr lang="zh-CN" altLang="en-US" sz="2700" b="1" dirty="0">
                <a:latin typeface="Times New Roman" panose="02020603050405020304" pitchFamily="18" charset="0"/>
              </a:rPr>
              <a:t>，因此枚举类型不能再继承其他任何类；</a:t>
            </a:r>
            <a:endParaRPr lang="en-US" altLang="zh-CN" sz="2700" b="1" dirty="0">
              <a:latin typeface="Times New Roman" panose="02020603050405020304" pitchFamily="18" charset="0"/>
            </a:endParaRPr>
          </a:p>
          <a:p>
            <a:pPr algn="just">
              <a:lnSpc>
                <a:spcPct val="150000"/>
              </a:lnSpc>
              <a:buFont typeface="Wingdings" panose="05000000000000000000" pitchFamily="2" charset="2"/>
              <a:buChar char="Ø"/>
            </a:pPr>
            <a:r>
              <a:rPr lang="zh-CN" altLang="en-US" sz="2700" b="1" dirty="0">
                <a:latin typeface="Times New Roman" panose="02020603050405020304" pitchFamily="18" charset="0"/>
              </a:rPr>
              <a:t>枚举类型的类体中可以包括</a:t>
            </a:r>
            <a:r>
              <a:rPr lang="zh-CN" altLang="en-US" sz="2700" b="1" dirty="0">
                <a:solidFill>
                  <a:srgbClr val="FF3399"/>
                </a:solidFill>
                <a:latin typeface="Times New Roman" panose="02020603050405020304" pitchFamily="18" charset="0"/>
              </a:rPr>
              <a:t>方法和变量</a:t>
            </a:r>
            <a:r>
              <a:rPr lang="zh-CN" altLang="en-US" sz="2700" b="1" dirty="0">
                <a:latin typeface="Times New Roman" panose="02020603050405020304" pitchFamily="18" charset="0"/>
              </a:rPr>
              <a:t>；</a:t>
            </a:r>
            <a:endParaRPr lang="en-US" altLang="zh-CN" sz="2700" b="1" dirty="0">
              <a:latin typeface="Times New Roman" panose="02020603050405020304" pitchFamily="18" charset="0"/>
            </a:endParaRPr>
          </a:p>
          <a:p>
            <a:pPr algn="just">
              <a:lnSpc>
                <a:spcPct val="150000"/>
              </a:lnSpc>
              <a:buFont typeface="Wingdings" panose="05000000000000000000" pitchFamily="2" charset="2"/>
              <a:buChar char="Ø"/>
            </a:pPr>
            <a:r>
              <a:rPr lang="zh-CN" altLang="en-US" sz="2700" b="1" dirty="0">
                <a:latin typeface="Times New Roman" panose="02020603050405020304" pitchFamily="18" charset="0"/>
              </a:rPr>
              <a:t>枚举类型的</a:t>
            </a:r>
            <a:r>
              <a:rPr lang="zh-CN" altLang="en-US" sz="2700" b="1" dirty="0">
                <a:solidFill>
                  <a:srgbClr val="C00000"/>
                </a:solidFill>
                <a:latin typeface="Times New Roman" panose="02020603050405020304" pitchFamily="18" charset="0"/>
              </a:rPr>
              <a:t>构造方法</a:t>
            </a:r>
            <a:r>
              <a:rPr lang="zh-CN" altLang="en-US" sz="2700" b="1" dirty="0">
                <a:latin typeface="Times New Roman" panose="02020603050405020304" pitchFamily="18" charset="0"/>
              </a:rPr>
              <a:t>必须是</a:t>
            </a:r>
            <a:r>
              <a:rPr lang="zh-CN" altLang="en-US" sz="2700" b="1" dirty="0">
                <a:solidFill>
                  <a:srgbClr val="C00000"/>
                </a:solidFill>
                <a:latin typeface="Times New Roman" panose="02020603050405020304" pitchFamily="18" charset="0"/>
              </a:rPr>
              <a:t>包内私有</a:t>
            </a:r>
            <a:r>
              <a:rPr lang="zh-CN" altLang="en-US" sz="2700" b="1" dirty="0">
                <a:latin typeface="Times New Roman" panose="02020603050405020304" pitchFamily="18" charset="0"/>
              </a:rPr>
              <a:t>或者</a:t>
            </a:r>
            <a:r>
              <a:rPr lang="zh-CN" altLang="en-US" sz="2700" b="1" dirty="0">
                <a:solidFill>
                  <a:srgbClr val="FF3399"/>
                </a:solidFill>
                <a:latin typeface="Times New Roman" panose="02020603050405020304" pitchFamily="18" charset="0"/>
              </a:rPr>
              <a:t>私有的</a:t>
            </a:r>
            <a:r>
              <a:rPr lang="zh-CN" altLang="en-US" sz="2700" b="1" dirty="0">
                <a:latin typeface="Times New Roman" panose="02020603050405020304" pitchFamily="18" charset="0"/>
              </a:rPr>
              <a:t>。定义在枚举开头的常量会被自动创建，不能显式地调用枚举类的构造方法。</a:t>
            </a:r>
            <a:endParaRPr lang="en-US" altLang="zh-CN" sz="2700" b="1" dirty="0">
              <a:latin typeface="Times New Roman" panose="02020603050405020304" pitchFamily="18" charset="0"/>
            </a:endParaRPr>
          </a:p>
        </p:txBody>
      </p:sp>
      <p:sp>
        <p:nvSpPr>
          <p:cNvPr id="13722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7D744BD-AC82-491F-9E6B-70497BFE5078}" type="slidenum">
              <a:rPr lang="en-US" altLang="zh-CN" sz="1800">
                <a:solidFill>
                  <a:srgbClr val="FFFFFF"/>
                </a:solidFill>
                <a:latin typeface="Times New Roman" panose="02020603050405020304" pitchFamily="18" charset="0"/>
                <a:ea typeface="楷体" panose="02010609060101010101" pitchFamily="49" charset="-122"/>
              </a:rPr>
            </a:fld>
            <a:endParaRPr lang="en-US" altLang="zh-CN" sz="1800">
              <a:solidFill>
                <a:srgbClr val="FFFFFF"/>
              </a:solidFill>
              <a:latin typeface="Times New Roman" panose="02020603050405020304" pitchFamily="18" charset="0"/>
              <a:ea typeface="楷体" panose="02010609060101010101" pitchFamily="49" charset="-122"/>
            </a:endParaRPr>
          </a:p>
        </p:txBody>
      </p:sp>
      <p:sp>
        <p:nvSpPr>
          <p:cNvPr id="3" name="文本框 2"/>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枚举类的特点</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2.4  </a:t>
            </a:r>
            <a:r>
              <a:rPr lang="zh-CN" altLang="en-US" sz="3200" dirty="0">
                <a:ln w="11430">
                  <a:noFill/>
                </a:ln>
                <a:solidFill>
                  <a:srgbClr val="255EAB"/>
                </a:solidFill>
                <a:ea typeface="楷体" panose="02010609060101010101" pitchFamily="49" charset="-122"/>
              </a:rPr>
              <a:t>枚举类型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983432" y="1700808"/>
            <a:ext cx="10376048" cy="2764904"/>
          </a:xfrm>
        </p:spPr>
        <p:txBody>
          <a:bodyPr>
            <a:noAutofit/>
          </a:bodyPr>
          <a:lstStyle/>
          <a:p>
            <a:pPr>
              <a:lnSpc>
                <a:spcPct val="150000"/>
              </a:lnSpc>
              <a:buFont typeface="Wingdings" panose="05000000000000000000" pitchFamily="2" charset="2"/>
              <a:buChar char="Ø"/>
            </a:pPr>
            <a:r>
              <a:rPr lang="zh-CN" altLang="en-US" sz="2700" b="1" dirty="0">
                <a:latin typeface="Times New Roman" panose="02020603050405020304" pitchFamily="18" charset="0"/>
              </a:rPr>
              <a:t>静态的</a:t>
            </a:r>
            <a:r>
              <a:rPr lang="en-US" altLang="zh-CN" sz="2700" b="1" dirty="0">
                <a:latin typeface="Times New Roman" panose="02020603050405020304" pitchFamily="18" charset="0"/>
              </a:rPr>
              <a:t>values()</a:t>
            </a:r>
            <a:r>
              <a:rPr lang="zh-CN" altLang="en-US" sz="2700" b="1" dirty="0">
                <a:latin typeface="Times New Roman" panose="02020603050405020304" pitchFamily="18" charset="0"/>
              </a:rPr>
              <a:t>方法用于获得枚举类型的枚举值的数组；</a:t>
            </a:r>
            <a:endParaRPr lang="en-US" altLang="zh-CN" sz="2700" b="1" dirty="0">
              <a:latin typeface="Times New Roman" panose="02020603050405020304" pitchFamily="18" charset="0"/>
            </a:endParaRPr>
          </a:p>
          <a:p>
            <a:pPr>
              <a:lnSpc>
                <a:spcPct val="150000"/>
              </a:lnSpc>
              <a:buFont typeface="Wingdings" panose="05000000000000000000" pitchFamily="2" charset="2"/>
              <a:buChar char="Ø"/>
            </a:pPr>
            <a:r>
              <a:rPr lang="en-US" altLang="zh-CN" sz="2700" b="1" dirty="0" err="1">
                <a:latin typeface="Times New Roman" panose="02020603050405020304" pitchFamily="18" charset="0"/>
              </a:rPr>
              <a:t>toString</a:t>
            </a:r>
            <a:r>
              <a:rPr lang="zh-CN" altLang="en-US" sz="2700" b="1" dirty="0">
                <a:latin typeface="Times New Roman" panose="02020603050405020304" pitchFamily="18" charset="0"/>
              </a:rPr>
              <a:t>方法返回枚举值的字符串描述；</a:t>
            </a:r>
            <a:endParaRPr lang="en-US" altLang="zh-CN" sz="2700" b="1" dirty="0">
              <a:latin typeface="Times New Roman" panose="02020603050405020304" pitchFamily="18" charset="0"/>
            </a:endParaRPr>
          </a:p>
          <a:p>
            <a:pPr>
              <a:lnSpc>
                <a:spcPct val="150000"/>
              </a:lnSpc>
              <a:buFont typeface="Wingdings" panose="05000000000000000000" pitchFamily="2" charset="2"/>
              <a:buChar char="Ø"/>
            </a:pPr>
            <a:r>
              <a:rPr lang="en-US" altLang="zh-CN" sz="2700" b="1" dirty="0" err="1">
                <a:latin typeface="Times New Roman" panose="02020603050405020304" pitchFamily="18" charset="0"/>
              </a:rPr>
              <a:t>valueOf</a:t>
            </a:r>
            <a:r>
              <a:rPr lang="zh-CN" altLang="en-US" sz="2700" b="1" dirty="0">
                <a:latin typeface="Times New Roman" panose="02020603050405020304" pitchFamily="18" charset="0"/>
              </a:rPr>
              <a:t>方法将以字符串形式表示的枚举值转化为枚举类型的对象；</a:t>
            </a:r>
            <a:endParaRPr lang="en-US" altLang="zh-CN" sz="2700" b="1" dirty="0">
              <a:latin typeface="Times New Roman" panose="02020603050405020304" pitchFamily="18" charset="0"/>
            </a:endParaRPr>
          </a:p>
          <a:p>
            <a:pPr>
              <a:lnSpc>
                <a:spcPct val="150000"/>
              </a:lnSpc>
              <a:buFont typeface="Wingdings" panose="05000000000000000000" pitchFamily="2" charset="2"/>
              <a:buChar char="Ø"/>
            </a:pPr>
            <a:r>
              <a:rPr lang="en-US" altLang="zh-CN" sz="2700" b="1" dirty="0">
                <a:latin typeface="Times New Roman" panose="02020603050405020304" pitchFamily="18" charset="0"/>
              </a:rPr>
              <a:t>ordinal</a:t>
            </a:r>
            <a:r>
              <a:rPr lang="zh-CN" altLang="en-US" sz="2700" b="1" dirty="0">
                <a:latin typeface="Times New Roman" panose="02020603050405020304" pitchFamily="18" charset="0"/>
              </a:rPr>
              <a:t>方法获得对象在枚举类型中的位置索引。</a:t>
            </a:r>
            <a:endParaRPr lang="zh-CN" altLang="en-US" sz="2700" b="1"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1C500230-17C9-4CEC-B67E-B7DB8DE07B61}" type="slidenum">
              <a:rPr lang="en-US" altLang="zh-CN" smtClean="0">
                <a:latin typeface="Times New Roman" panose="02020603050405020304" pitchFamily="18" charset="0"/>
              </a:rPr>
            </a:fld>
            <a:endParaRPr lang="en-US" altLang="zh-CN">
              <a:latin typeface="Times New Roman" panose="02020603050405020304" pitchFamily="18" charset="0"/>
            </a:endParaRPr>
          </a:p>
        </p:txBody>
      </p:sp>
      <p:sp>
        <p:nvSpPr>
          <p:cNvPr id="5" name="文本框 4"/>
          <p:cNvSpPr txBox="1"/>
          <p:nvPr>
            <p:custDataLst>
              <p:tags r:id="rId1"/>
            </p:custDataLst>
          </p:nvPr>
        </p:nvSpPr>
        <p:spPr>
          <a:xfrm>
            <a:off x="407670" y="980440"/>
            <a:ext cx="338407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枚举类型的默认方法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6" name="TextBox 3"/>
          <p:cNvSpPr txBox="1"/>
          <p:nvPr>
            <p:custDataLst>
              <p:tags r:id="rId2"/>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2.4  </a:t>
            </a:r>
            <a:r>
              <a:rPr lang="zh-CN" altLang="en-US" sz="3200" dirty="0">
                <a:ln w="11430">
                  <a:noFill/>
                </a:ln>
                <a:solidFill>
                  <a:srgbClr val="255EAB"/>
                </a:solidFill>
                <a:ea typeface="楷体" panose="02010609060101010101" pitchFamily="49" charset="-122"/>
              </a:rPr>
              <a:t>枚举类型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79376" y="1628800"/>
            <a:ext cx="9865096" cy="3888432"/>
          </a:xfrm>
        </p:spPr>
        <p:txBody>
          <a:bodyPr>
            <a:normAutofit/>
          </a:bodyPr>
          <a:lstStyle/>
          <a:p>
            <a:pPr marL="0" indent="0">
              <a:buNone/>
            </a:pPr>
            <a:r>
              <a:rPr lang="en-US" altLang="zh-CN" sz="2500" b="1" dirty="0">
                <a:latin typeface="Times New Roman" panose="02020603050405020304" pitchFamily="18" charset="0"/>
              </a:rPr>
              <a:t>public static void main(String[] </a:t>
            </a:r>
            <a:r>
              <a:rPr lang="en-US" altLang="zh-CN" sz="2500" b="1" dirty="0" err="1">
                <a:latin typeface="Times New Roman" panose="02020603050405020304" pitchFamily="18" charset="0"/>
              </a:rPr>
              <a:t>args</a:t>
            </a: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109220" indent="0">
              <a:buNone/>
            </a:pPr>
            <a:r>
              <a:rPr lang="en-US" altLang="zh-CN" sz="2500" b="1" dirty="0">
                <a:latin typeface="Times New Roman" panose="02020603050405020304" pitchFamily="18" charset="0"/>
              </a:rPr>
              <a:t>       for(Score value: </a:t>
            </a:r>
            <a:r>
              <a:rPr lang="en-US" altLang="zh-CN" sz="2500" b="1" dirty="0" err="1">
                <a:latin typeface="Times New Roman" panose="02020603050405020304" pitchFamily="18" charset="0"/>
              </a:rPr>
              <a:t>Score.values</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marL="107950" indent="-107950">
              <a:buNone/>
            </a:pPr>
            <a:r>
              <a:rPr lang="en-US" altLang="zh-CN" sz="2500" b="1" dirty="0">
                <a:latin typeface="Times New Roman" panose="02020603050405020304" pitchFamily="18" charset="0"/>
              </a:rPr>
              <a:t>                </a:t>
            </a:r>
            <a:r>
              <a:rPr lang="en-US" altLang="zh-CN" sz="2500" b="1" dirty="0" err="1">
                <a:latin typeface="Times New Roman" panose="02020603050405020304" pitchFamily="18" charset="0"/>
              </a:rPr>
              <a:t>System.out.println</a:t>
            </a:r>
            <a:r>
              <a:rPr lang="en-US" altLang="zh-CN" sz="2500" b="1" dirty="0">
                <a:latin typeface="Times New Roman" panose="02020603050405020304" pitchFamily="18" charset="0"/>
              </a:rPr>
              <a:t>(value);</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a:t>
            </a:r>
            <a:r>
              <a:rPr lang="en-US" altLang="zh-CN" sz="2500" b="1" dirty="0" err="1">
                <a:latin typeface="Times New Roman" panose="02020603050405020304" pitchFamily="18" charset="0"/>
              </a:rPr>
              <a:t>System.out.println</a:t>
            </a:r>
            <a:r>
              <a:rPr lang="en-US" altLang="zh-CN" sz="2500" b="1" dirty="0">
                <a:latin typeface="Times New Roman" panose="02020603050405020304" pitchFamily="18" charset="0"/>
              </a:rPr>
              <a:t>(</a:t>
            </a:r>
            <a:r>
              <a:rPr lang="en-US" altLang="zh-CN" sz="2500" b="1" dirty="0" err="1">
                <a:solidFill>
                  <a:srgbClr val="FF3399"/>
                </a:solidFill>
                <a:latin typeface="Times New Roman" panose="02020603050405020304" pitchFamily="18" charset="0"/>
              </a:rPr>
              <a:t>Score.valueOf</a:t>
            </a:r>
            <a:r>
              <a:rPr lang="en-US" altLang="zh-CN" sz="2500" b="1" dirty="0">
                <a:solidFill>
                  <a:srgbClr val="FF3399"/>
                </a:solidFill>
                <a:latin typeface="Times New Roman" panose="02020603050405020304" pitchFamily="18" charset="0"/>
              </a:rPr>
              <a:t>("EXCELLENT")</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a:t>
            </a:r>
            <a:r>
              <a:rPr lang="en-US" altLang="zh-CN" sz="2500" b="1" dirty="0" err="1">
                <a:latin typeface="Times New Roman" panose="02020603050405020304" pitchFamily="18" charset="0"/>
              </a:rPr>
              <a:t>System.out.println</a:t>
            </a:r>
            <a:r>
              <a:rPr lang="en-US" altLang="zh-CN" sz="2500" b="1" dirty="0">
                <a:latin typeface="Times New Roman" panose="02020603050405020304" pitchFamily="18" charset="0"/>
              </a:rPr>
              <a:t>("ordinal of EXCELLENT is "</a:t>
            </a:r>
            <a:endParaRPr lang="en-US" altLang="zh-CN" sz="2500" b="1" dirty="0">
              <a:latin typeface="Times New Roman" panose="02020603050405020304" pitchFamily="18" charset="0"/>
            </a:endParaRPr>
          </a:p>
          <a:p>
            <a:pPr marL="0" indent="0">
              <a:buNone/>
            </a:pPr>
            <a:r>
              <a:rPr lang="en-US" altLang="zh-CN" sz="2500" b="1" dirty="0">
                <a:latin typeface="Times New Roman" panose="02020603050405020304" pitchFamily="18" charset="0"/>
              </a:rPr>
              <a:t>                                               +</a:t>
            </a:r>
            <a:r>
              <a:rPr lang="en-US" altLang="zh-CN" sz="2500" b="1" dirty="0" err="1">
                <a:solidFill>
                  <a:srgbClr val="FF3399"/>
                </a:solidFill>
                <a:latin typeface="Times New Roman" panose="02020603050405020304" pitchFamily="18" charset="0"/>
              </a:rPr>
              <a:t>Score.EXCELLENT.ordinal</a:t>
            </a:r>
            <a:r>
              <a:rPr lang="en-US" altLang="zh-CN" sz="2500" b="1" dirty="0">
                <a:solidFill>
                  <a:srgbClr val="FF3399"/>
                </a:solidFill>
                <a:latin typeface="Times New Roman" panose="02020603050405020304" pitchFamily="18" charset="0"/>
              </a:rPr>
              <a:t>()</a:t>
            </a: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a:p>
            <a:pPr marL="109220" indent="0">
              <a:buNone/>
            </a:pPr>
            <a:r>
              <a:rPr lang="en-US" altLang="zh-CN" sz="2500" b="1" dirty="0">
                <a:latin typeface="Times New Roman" panose="02020603050405020304" pitchFamily="18" charset="0"/>
              </a:rPr>
              <a:t>}</a:t>
            </a:r>
            <a:endParaRPr lang="en-US" altLang="zh-CN" sz="2500" b="1" dirty="0">
              <a:latin typeface="Times New Roman" panose="02020603050405020304" pitchFamily="18" charset="0"/>
            </a:endParaRPr>
          </a:p>
        </p:txBody>
      </p:sp>
      <p:sp>
        <p:nvSpPr>
          <p:cNvPr id="2" name="文本框 1"/>
          <p:cNvSpPr txBox="1"/>
          <p:nvPr/>
        </p:nvSpPr>
        <p:spPr>
          <a:xfrm>
            <a:off x="8904312" y="4797152"/>
            <a:ext cx="3158429" cy="1938992"/>
          </a:xfrm>
          <a:prstGeom prst="rect">
            <a:avLst/>
          </a:prstGeom>
          <a:solidFill>
            <a:schemeClr val="bg1"/>
          </a:solidFill>
        </p:spPr>
        <p:txBody>
          <a:bodyPr wrap="none" rtlCol="0">
            <a:spAutoFit/>
          </a:bodyPr>
          <a:lstStyle/>
          <a:p>
            <a:r>
              <a:rPr kumimoji="1" lang="zh-CN" altLang="en-US" sz="2000" dirty="0">
                <a:ea typeface="楷体" panose="02010609060101010101" pitchFamily="49" charset="-122"/>
              </a:rPr>
              <a:t>运行结果：</a:t>
            </a:r>
            <a:endParaRPr kumimoji="1" lang="en-US" altLang="zh-CN" sz="2000" dirty="0">
              <a:ea typeface="楷体" panose="02010609060101010101" pitchFamily="49" charset="-122"/>
            </a:endParaRPr>
          </a:p>
          <a:p>
            <a:r>
              <a:rPr lang="en-US" altLang="zh-CN" sz="2000" dirty="0">
                <a:ea typeface="楷体" panose="02010609060101010101" pitchFamily="49" charset="-122"/>
              </a:rPr>
              <a:t>EXCELLENT</a:t>
            </a:r>
            <a:endParaRPr lang="zh-CN" altLang="zh-CN" sz="2000" dirty="0">
              <a:ea typeface="楷体" panose="02010609060101010101" pitchFamily="49" charset="-122"/>
            </a:endParaRPr>
          </a:p>
          <a:p>
            <a:r>
              <a:rPr lang="en-US" altLang="zh-CN" sz="2000" dirty="0">
                <a:ea typeface="楷体" panose="02010609060101010101" pitchFamily="49" charset="-122"/>
              </a:rPr>
              <a:t>QUALIFIED</a:t>
            </a:r>
            <a:endParaRPr lang="zh-CN" altLang="zh-CN" sz="2000" dirty="0">
              <a:ea typeface="楷体" panose="02010609060101010101" pitchFamily="49" charset="-122"/>
            </a:endParaRPr>
          </a:p>
          <a:p>
            <a:r>
              <a:rPr lang="en-US" altLang="zh-CN" sz="2000" dirty="0">
                <a:ea typeface="楷体" panose="02010609060101010101" pitchFamily="49" charset="-122"/>
              </a:rPr>
              <a:t>FAILED</a:t>
            </a:r>
            <a:endParaRPr lang="zh-CN" altLang="zh-CN" sz="2000" dirty="0">
              <a:ea typeface="楷体" panose="02010609060101010101" pitchFamily="49" charset="-122"/>
            </a:endParaRPr>
          </a:p>
          <a:p>
            <a:r>
              <a:rPr lang="en-US" altLang="zh-CN" sz="2000" dirty="0">
                <a:ea typeface="楷体" panose="02010609060101010101" pitchFamily="49" charset="-122"/>
              </a:rPr>
              <a:t>EXCELLENT</a:t>
            </a:r>
            <a:endParaRPr lang="zh-CN" altLang="zh-CN" sz="2000" dirty="0">
              <a:ea typeface="楷体" panose="02010609060101010101" pitchFamily="49" charset="-122"/>
            </a:endParaRPr>
          </a:p>
          <a:p>
            <a:r>
              <a:rPr lang="en-US" altLang="zh-CN" sz="2000" dirty="0">
                <a:ea typeface="楷体" panose="02010609060101010101" pitchFamily="49" charset="-122"/>
              </a:rPr>
              <a:t>ordinal of EXCELLENT is 0</a:t>
            </a:r>
            <a:endParaRPr lang="zh-CN" altLang="zh-CN" sz="2000" dirty="0">
              <a:ea typeface="楷体" panose="02010609060101010101" pitchFamily="49" charset="-122"/>
            </a:endParaRPr>
          </a:p>
        </p:txBody>
      </p:sp>
      <p:sp>
        <p:nvSpPr>
          <p:cNvPr id="5" name="文本框 4"/>
          <p:cNvSpPr txBox="1"/>
          <p:nvPr>
            <p:custDataLst>
              <p:tags r:id="rId1"/>
            </p:custDataLst>
          </p:nvPr>
        </p:nvSpPr>
        <p:spPr>
          <a:xfrm>
            <a:off x="407670" y="980440"/>
            <a:ext cx="338407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枚举类型的默认方法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6" name="TextBox 3"/>
          <p:cNvSpPr txBox="1"/>
          <p:nvPr>
            <p:custDataLst>
              <p:tags r:id="rId2"/>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2.4  </a:t>
            </a:r>
            <a:r>
              <a:rPr lang="zh-CN" altLang="en-US" sz="3200" dirty="0">
                <a:ln w="11430">
                  <a:noFill/>
                </a:ln>
                <a:solidFill>
                  <a:srgbClr val="255EAB"/>
                </a:solidFill>
                <a:ea typeface="楷体" panose="02010609060101010101" pitchFamily="49" charset="-122"/>
              </a:rPr>
              <a:t>枚举类型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95400" y="1556792"/>
            <a:ext cx="10873208" cy="5112568"/>
          </a:xfrm>
        </p:spPr>
        <p:txBody>
          <a:bodyPr>
            <a:noAutofit/>
          </a:bodyPr>
          <a:lstStyle/>
          <a:p>
            <a:pPr marL="0" indent="0">
              <a:buNone/>
            </a:pPr>
            <a:r>
              <a:rPr lang="en-US" altLang="zh-CN" sz="2500" dirty="0" err="1">
                <a:latin typeface="Times New Roman" panose="02020603050405020304" pitchFamily="18" charset="0"/>
              </a:rPr>
              <a:t>enum</a:t>
            </a:r>
            <a:r>
              <a:rPr lang="en-US" altLang="zh-CN" sz="2500" dirty="0">
                <a:latin typeface="Times New Roman" panose="02020603050405020304" pitchFamily="18" charset="0"/>
              </a:rPr>
              <a:t> </a:t>
            </a:r>
            <a:r>
              <a:rPr lang="en-US" altLang="zh-CN" sz="2500" dirty="0" err="1">
                <a:latin typeface="Times New Roman" panose="02020603050405020304" pitchFamily="18" charset="0"/>
              </a:rPr>
              <a:t>NumericScore</a:t>
            </a: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          EXCELLENT(90, 100),    QUALIFIED(60, 89),    FAILED(0, 59);</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private final int min;</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private final int max;</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a:t>
            </a:r>
            <a:r>
              <a:rPr lang="en-US" altLang="zh-CN" sz="2500" dirty="0" err="1">
                <a:solidFill>
                  <a:srgbClr val="FF3399"/>
                </a:solidFill>
                <a:latin typeface="Times New Roman" panose="02020603050405020304" pitchFamily="18" charset="0"/>
              </a:rPr>
              <a:t>NumericScore</a:t>
            </a:r>
            <a:r>
              <a:rPr lang="en-US" altLang="zh-CN" sz="2500" dirty="0">
                <a:latin typeface="Times New Roman" panose="02020603050405020304" pitchFamily="18" charset="0"/>
              </a:rPr>
              <a:t>(int min, int max) {</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a:t>
            </a:r>
            <a:r>
              <a:rPr lang="en-US" altLang="zh-CN" sz="2500" dirty="0" err="1">
                <a:latin typeface="Times New Roman" panose="02020603050405020304" pitchFamily="18" charset="0"/>
              </a:rPr>
              <a:t>this.min</a:t>
            </a:r>
            <a:r>
              <a:rPr lang="en-US" altLang="zh-CN" sz="2500" dirty="0">
                <a:latin typeface="Times New Roman" panose="02020603050405020304" pitchFamily="18" charset="0"/>
              </a:rPr>
              <a:t> = min;        </a:t>
            </a:r>
            <a:r>
              <a:rPr lang="en-US" altLang="zh-CN" sz="2500" dirty="0" err="1">
                <a:latin typeface="Times New Roman" panose="02020603050405020304" pitchFamily="18" charset="0"/>
              </a:rPr>
              <a:t>this.max</a:t>
            </a:r>
            <a:r>
              <a:rPr lang="en-US" altLang="zh-CN" sz="2500" dirty="0">
                <a:latin typeface="Times New Roman" panose="02020603050405020304" pitchFamily="18" charset="0"/>
              </a:rPr>
              <a:t> = max;</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public </a:t>
            </a:r>
            <a:r>
              <a:rPr lang="en-US" altLang="zh-CN" sz="2500" dirty="0" err="1">
                <a:latin typeface="Times New Roman" panose="02020603050405020304" pitchFamily="18" charset="0"/>
              </a:rPr>
              <a:t>boolean</a:t>
            </a:r>
            <a:r>
              <a:rPr lang="en-US" altLang="zh-CN" sz="2500" dirty="0">
                <a:latin typeface="Times New Roman" panose="02020603050405020304" pitchFamily="18" charset="0"/>
              </a:rPr>
              <a:t> test(int </a:t>
            </a:r>
            <a:r>
              <a:rPr lang="en-US" altLang="zh-CN" sz="2500" dirty="0" err="1">
                <a:latin typeface="Times New Roman" panose="02020603050405020304" pitchFamily="18" charset="0"/>
              </a:rPr>
              <a:t>val</a:t>
            </a: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return (</a:t>
            </a:r>
            <a:r>
              <a:rPr lang="en-US" altLang="zh-CN" sz="2500" dirty="0" err="1">
                <a:latin typeface="Times New Roman" panose="02020603050405020304" pitchFamily="18" charset="0"/>
              </a:rPr>
              <a:t>val</a:t>
            </a:r>
            <a:r>
              <a:rPr lang="en-US" altLang="zh-CN" sz="2500" dirty="0">
                <a:latin typeface="Times New Roman" panose="02020603050405020304" pitchFamily="18" charset="0"/>
              </a:rPr>
              <a:t> &gt;= min) &amp;&amp; (</a:t>
            </a:r>
            <a:r>
              <a:rPr lang="en-US" altLang="zh-CN" sz="2500" dirty="0" err="1">
                <a:latin typeface="Times New Roman" panose="02020603050405020304" pitchFamily="18" charset="0"/>
              </a:rPr>
              <a:t>val</a:t>
            </a:r>
            <a:r>
              <a:rPr lang="en-US" altLang="zh-CN" sz="2500" dirty="0">
                <a:latin typeface="Times New Roman" panose="02020603050405020304" pitchFamily="18" charset="0"/>
              </a:rPr>
              <a:t> &lt;= max);</a:t>
            </a:r>
            <a:endParaRPr lang="en-US" altLang="zh-CN" sz="2500" dirty="0">
              <a:latin typeface="Times New Roman" panose="02020603050405020304" pitchFamily="18" charset="0"/>
            </a:endParaRPr>
          </a:p>
          <a:p>
            <a:pPr marL="109220" indent="0">
              <a:buNone/>
            </a:pPr>
            <a:r>
              <a:rPr lang="en-US" altLang="zh-CN" sz="2500" dirty="0">
                <a:latin typeface="Times New Roman" panose="02020603050405020304" pitchFamily="18" charset="0"/>
              </a:rPr>
              <a:t>         }</a:t>
            </a:r>
            <a:endParaRPr lang="en-US" altLang="zh-CN" sz="2500" dirty="0">
              <a:latin typeface="Times New Roman" panose="02020603050405020304" pitchFamily="18" charset="0"/>
            </a:endParaRPr>
          </a:p>
          <a:p>
            <a:pPr marL="0" indent="0">
              <a:buNone/>
            </a:pPr>
            <a:r>
              <a:rPr lang="en-US" altLang="zh-CN" sz="2500" dirty="0">
                <a:latin typeface="Times New Roman" panose="02020603050405020304" pitchFamily="18" charset="0"/>
              </a:rPr>
              <a:t>}</a:t>
            </a:r>
            <a:endParaRPr lang="en-US" altLang="zh-CN" sz="2500" dirty="0">
              <a:latin typeface="Times New Roman" panose="02020603050405020304" pitchFamily="18" charset="0"/>
            </a:endParaRPr>
          </a:p>
        </p:txBody>
      </p:sp>
      <p:sp>
        <p:nvSpPr>
          <p:cNvPr id="2" name="文本框 1"/>
          <p:cNvSpPr txBox="1"/>
          <p:nvPr>
            <p:custDataLst>
              <p:tags r:id="rId1"/>
            </p:custDataLst>
          </p:nvPr>
        </p:nvSpPr>
        <p:spPr>
          <a:xfrm>
            <a:off x="407670" y="980440"/>
            <a:ext cx="410415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枚举类自定义属性和方法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2.4  </a:t>
            </a:r>
            <a:r>
              <a:rPr lang="zh-CN" altLang="en-US" sz="3200" dirty="0">
                <a:ln w="11430">
                  <a:noFill/>
                </a:ln>
                <a:solidFill>
                  <a:srgbClr val="255EAB"/>
                </a:solidFill>
                <a:ea typeface="楷体" panose="02010609060101010101" pitchFamily="49" charset="-122"/>
              </a:rPr>
              <a:t>枚举类型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407670" y="1628800"/>
            <a:ext cx="11520978" cy="3816424"/>
          </a:xfrm>
        </p:spPr>
        <p:txBody>
          <a:bodyPr>
            <a:noAutofit/>
          </a:bodyPr>
          <a:lstStyle/>
          <a:p>
            <a:pPr marL="0" indent="0">
              <a:lnSpc>
                <a:spcPct val="150000"/>
              </a:lnSpc>
              <a:buNone/>
            </a:pPr>
            <a:r>
              <a:rPr lang="en-US" altLang="zh-CN" sz="2100" b="1" dirty="0">
                <a:latin typeface="Times New Roman" panose="02020603050405020304" pitchFamily="18" charset="0"/>
              </a:rPr>
              <a:t>public class </a:t>
            </a:r>
            <a:r>
              <a:rPr lang="en-US" altLang="zh-CN" sz="2100" b="1" dirty="0" err="1">
                <a:latin typeface="Times New Roman" panose="02020603050405020304" pitchFamily="18" charset="0"/>
              </a:rPr>
              <a:t>EnumCustomTest</a:t>
            </a:r>
            <a:r>
              <a:rPr lang="en-US" altLang="zh-CN" sz="2100" b="1" dirty="0">
                <a:latin typeface="Times New Roman" panose="02020603050405020304" pitchFamily="18" charset="0"/>
              </a:rPr>
              <a:t> {</a:t>
            </a:r>
            <a:endParaRPr lang="en-US" altLang="zh-CN" sz="2100" b="1" dirty="0">
              <a:latin typeface="Times New Roman" panose="02020603050405020304" pitchFamily="18" charset="0"/>
            </a:endParaRPr>
          </a:p>
          <a:p>
            <a:pPr marL="0" indent="0">
              <a:lnSpc>
                <a:spcPct val="150000"/>
              </a:lnSpc>
              <a:buNone/>
            </a:pPr>
            <a:r>
              <a:rPr lang="en-US" altLang="zh-CN" sz="2100" b="1" dirty="0">
                <a:latin typeface="Times New Roman" panose="02020603050405020304" pitchFamily="18" charset="0"/>
              </a:rPr>
              <a:t>      public static void main(String[] </a:t>
            </a:r>
            <a:r>
              <a:rPr lang="en-US" altLang="zh-CN" sz="2100" b="1" dirty="0" err="1">
                <a:latin typeface="Times New Roman" panose="02020603050405020304" pitchFamily="18" charset="0"/>
              </a:rPr>
              <a:t>args</a:t>
            </a:r>
            <a:r>
              <a:rPr lang="en-US" altLang="zh-CN" sz="2100" b="1" dirty="0">
                <a:latin typeface="Times New Roman" panose="02020603050405020304" pitchFamily="18" charset="0"/>
              </a:rPr>
              <a:t>) {</a:t>
            </a:r>
            <a:endParaRPr lang="en-US" altLang="zh-CN" sz="2100" b="1" dirty="0">
              <a:latin typeface="Times New Roman" panose="02020603050405020304" pitchFamily="18" charset="0"/>
            </a:endParaRPr>
          </a:p>
          <a:p>
            <a:pPr marL="0" indent="0">
              <a:lnSpc>
                <a:spcPct val="150000"/>
              </a:lnSpc>
              <a:buNone/>
            </a:pPr>
            <a:r>
              <a:rPr lang="en-US" altLang="zh-CN" sz="2100" b="1" dirty="0">
                <a:latin typeface="Times New Roman" panose="02020603050405020304" pitchFamily="18" charset="0"/>
              </a:rPr>
              <a:t>           </a:t>
            </a:r>
            <a:r>
              <a:rPr lang="en-US" altLang="zh-CN" sz="2100" b="1" dirty="0" err="1">
                <a:latin typeface="Times New Roman" panose="02020603050405020304" pitchFamily="18" charset="0"/>
              </a:rPr>
              <a:t>System.out.println</a:t>
            </a:r>
            <a:r>
              <a:rPr lang="en-US" altLang="zh-CN" sz="2100" b="1" dirty="0">
                <a:latin typeface="Times New Roman" panose="02020603050405020304" pitchFamily="18" charset="0"/>
              </a:rPr>
              <a:t>("A score of 95 is EXCELLENT: " +</a:t>
            </a:r>
            <a:r>
              <a:rPr lang="en-US" altLang="zh-CN" sz="2100" b="1" dirty="0" err="1">
                <a:latin typeface="Times New Roman" panose="02020603050405020304" pitchFamily="18" charset="0"/>
              </a:rPr>
              <a:t>NumericScore.</a:t>
            </a:r>
            <a:r>
              <a:rPr lang="en-US" altLang="zh-CN" sz="2100" b="1" dirty="0" err="1">
                <a:solidFill>
                  <a:srgbClr val="FF3399"/>
                </a:solidFill>
                <a:latin typeface="Times New Roman" panose="02020603050405020304" pitchFamily="18" charset="0"/>
              </a:rPr>
              <a:t>EXCELLENT</a:t>
            </a:r>
            <a:r>
              <a:rPr lang="en-US" altLang="zh-CN" sz="2100" b="1" dirty="0" err="1">
                <a:latin typeface="Times New Roman" panose="02020603050405020304" pitchFamily="18" charset="0"/>
              </a:rPr>
              <a:t>.test</a:t>
            </a:r>
            <a:r>
              <a:rPr lang="en-US" altLang="zh-CN" sz="2100" b="1" dirty="0">
                <a:latin typeface="Times New Roman" panose="02020603050405020304" pitchFamily="18" charset="0"/>
              </a:rPr>
              <a:t>(95));</a:t>
            </a:r>
            <a:endParaRPr lang="en-US" altLang="zh-CN" sz="2100" b="1" dirty="0">
              <a:latin typeface="Times New Roman" panose="02020603050405020304" pitchFamily="18" charset="0"/>
            </a:endParaRPr>
          </a:p>
          <a:p>
            <a:pPr marL="0" indent="0">
              <a:lnSpc>
                <a:spcPct val="150000"/>
              </a:lnSpc>
              <a:buNone/>
            </a:pPr>
            <a:r>
              <a:rPr lang="en-US" altLang="zh-CN" sz="2100" b="1" dirty="0">
                <a:latin typeface="Times New Roman" panose="02020603050405020304" pitchFamily="18" charset="0"/>
              </a:rPr>
              <a:t>           </a:t>
            </a:r>
            <a:r>
              <a:rPr lang="en-US" altLang="zh-CN" sz="2100" b="1" dirty="0" err="1">
                <a:latin typeface="Times New Roman" panose="02020603050405020304" pitchFamily="18" charset="0"/>
              </a:rPr>
              <a:t>System.out.println</a:t>
            </a:r>
            <a:r>
              <a:rPr lang="en-US" altLang="zh-CN" sz="2100" b="1" dirty="0">
                <a:latin typeface="Times New Roman" panose="02020603050405020304" pitchFamily="18" charset="0"/>
              </a:rPr>
              <a:t>("A score of 59 is QUALIFIED: " +</a:t>
            </a:r>
            <a:r>
              <a:rPr lang="en-US" altLang="zh-CN" sz="2100" b="1" dirty="0" err="1">
                <a:latin typeface="Times New Roman" panose="02020603050405020304" pitchFamily="18" charset="0"/>
              </a:rPr>
              <a:t>NumericScore.</a:t>
            </a:r>
            <a:r>
              <a:rPr lang="en-US" altLang="zh-CN" sz="2100" b="1" dirty="0" err="1">
                <a:solidFill>
                  <a:srgbClr val="FF3399"/>
                </a:solidFill>
                <a:latin typeface="Times New Roman" panose="02020603050405020304" pitchFamily="18" charset="0"/>
              </a:rPr>
              <a:t>QUALIFIED</a:t>
            </a:r>
            <a:r>
              <a:rPr lang="en-US" altLang="zh-CN" sz="2100" b="1" dirty="0" err="1">
                <a:latin typeface="Times New Roman" panose="02020603050405020304" pitchFamily="18" charset="0"/>
              </a:rPr>
              <a:t>.test</a:t>
            </a:r>
            <a:r>
              <a:rPr lang="en-US" altLang="zh-CN" sz="2100" b="1" dirty="0">
                <a:latin typeface="Times New Roman" panose="02020603050405020304" pitchFamily="18" charset="0"/>
              </a:rPr>
              <a:t>(59));</a:t>
            </a:r>
            <a:endParaRPr lang="en-US" altLang="zh-CN" sz="2100" b="1" dirty="0">
              <a:latin typeface="Times New Roman" panose="02020603050405020304" pitchFamily="18" charset="0"/>
            </a:endParaRPr>
          </a:p>
          <a:p>
            <a:pPr marL="0" indent="0">
              <a:lnSpc>
                <a:spcPct val="150000"/>
              </a:lnSpc>
              <a:buNone/>
            </a:pPr>
            <a:r>
              <a:rPr lang="en-US" altLang="zh-CN" sz="2100" b="1" dirty="0">
                <a:latin typeface="Times New Roman" panose="02020603050405020304" pitchFamily="18" charset="0"/>
              </a:rPr>
              <a:t>           </a:t>
            </a:r>
            <a:r>
              <a:rPr lang="en-US" altLang="zh-CN" sz="2100" b="1" dirty="0" err="1">
                <a:latin typeface="Times New Roman" panose="02020603050405020304" pitchFamily="18" charset="0"/>
              </a:rPr>
              <a:t>System.out.println</a:t>
            </a:r>
            <a:r>
              <a:rPr lang="en-US" altLang="zh-CN" sz="2100" b="1" dirty="0">
                <a:latin typeface="Times New Roman" panose="02020603050405020304" pitchFamily="18" charset="0"/>
              </a:rPr>
              <a:t>("A score of 30 is FAILED: " + </a:t>
            </a:r>
            <a:r>
              <a:rPr lang="en-US" altLang="zh-CN" sz="2100" b="1" dirty="0" err="1">
                <a:latin typeface="Times New Roman" panose="02020603050405020304" pitchFamily="18" charset="0"/>
              </a:rPr>
              <a:t>NumericScore.</a:t>
            </a:r>
            <a:r>
              <a:rPr lang="en-US" altLang="zh-CN" sz="2100" b="1" dirty="0" err="1">
                <a:solidFill>
                  <a:srgbClr val="FF3399"/>
                </a:solidFill>
                <a:latin typeface="Times New Roman" panose="02020603050405020304" pitchFamily="18" charset="0"/>
              </a:rPr>
              <a:t>FAILED</a:t>
            </a:r>
            <a:r>
              <a:rPr lang="en-US" altLang="zh-CN" sz="2100" b="1" dirty="0" err="1">
                <a:latin typeface="Times New Roman" panose="02020603050405020304" pitchFamily="18" charset="0"/>
              </a:rPr>
              <a:t>.test</a:t>
            </a:r>
            <a:r>
              <a:rPr lang="en-US" altLang="zh-CN" sz="2100" b="1" dirty="0">
                <a:latin typeface="Times New Roman" panose="02020603050405020304" pitchFamily="18" charset="0"/>
              </a:rPr>
              <a:t>(30));</a:t>
            </a:r>
            <a:endParaRPr lang="en-US" altLang="zh-CN" sz="2100" b="1" dirty="0">
              <a:latin typeface="Times New Roman" panose="02020603050405020304" pitchFamily="18" charset="0"/>
            </a:endParaRPr>
          </a:p>
          <a:p>
            <a:pPr marL="0" indent="0">
              <a:lnSpc>
                <a:spcPct val="150000"/>
              </a:lnSpc>
              <a:buNone/>
            </a:pPr>
            <a:r>
              <a:rPr lang="en-US" altLang="zh-CN" sz="2100" b="1" dirty="0">
                <a:latin typeface="Times New Roman" panose="02020603050405020304" pitchFamily="18" charset="0"/>
              </a:rPr>
              <a:t>      }</a:t>
            </a:r>
            <a:endParaRPr lang="en-US" altLang="zh-CN" sz="2100" b="1" dirty="0">
              <a:latin typeface="Times New Roman" panose="02020603050405020304" pitchFamily="18" charset="0"/>
            </a:endParaRPr>
          </a:p>
          <a:p>
            <a:pPr marL="0" indent="0">
              <a:lnSpc>
                <a:spcPct val="150000"/>
              </a:lnSpc>
              <a:buNone/>
            </a:pPr>
            <a:r>
              <a:rPr lang="en-US" altLang="zh-CN" sz="2100" b="1" dirty="0">
                <a:latin typeface="Times New Roman" panose="02020603050405020304" pitchFamily="18" charset="0"/>
              </a:rPr>
              <a:t>}</a:t>
            </a:r>
            <a:endParaRPr lang="en-US" altLang="zh-CN" sz="2100" b="1" dirty="0">
              <a:latin typeface="Times New Roman" panose="02020603050405020304" pitchFamily="18" charset="0"/>
            </a:endParaRPr>
          </a:p>
        </p:txBody>
      </p:sp>
      <p:sp>
        <p:nvSpPr>
          <p:cNvPr id="2" name="文本框 1"/>
          <p:cNvSpPr txBox="1"/>
          <p:nvPr/>
        </p:nvSpPr>
        <p:spPr>
          <a:xfrm>
            <a:off x="4079776" y="5301208"/>
            <a:ext cx="3862276" cy="1323439"/>
          </a:xfrm>
          <a:prstGeom prst="rect">
            <a:avLst/>
          </a:prstGeom>
          <a:solidFill>
            <a:schemeClr val="bg1"/>
          </a:solidFill>
        </p:spPr>
        <p:txBody>
          <a:bodyPr wrap="none" rtlCol="0">
            <a:spAutoFit/>
          </a:bodyPr>
          <a:lstStyle/>
          <a:p>
            <a:r>
              <a:rPr kumimoji="1" lang="zh-CN" altLang="en-US" sz="2000" dirty="0">
                <a:ea typeface="楷体" panose="02010609060101010101" pitchFamily="49" charset="-122"/>
              </a:rPr>
              <a:t>运行结果：</a:t>
            </a:r>
            <a:endParaRPr kumimoji="1" lang="en-US" altLang="zh-CN" sz="2000" dirty="0">
              <a:ea typeface="楷体" panose="02010609060101010101" pitchFamily="49" charset="-122"/>
            </a:endParaRPr>
          </a:p>
          <a:p>
            <a:r>
              <a:rPr lang="en-US" altLang="zh-CN" sz="2000" dirty="0">
                <a:ea typeface="楷体" panose="02010609060101010101" pitchFamily="49" charset="-122"/>
              </a:rPr>
              <a:t>A score of 95 is EXCELLENT: true</a:t>
            </a:r>
            <a:endParaRPr lang="zh-CN" altLang="zh-CN" sz="2000" dirty="0">
              <a:ea typeface="楷体" panose="02010609060101010101" pitchFamily="49" charset="-122"/>
            </a:endParaRPr>
          </a:p>
          <a:p>
            <a:r>
              <a:rPr lang="en-US" altLang="zh-CN" sz="2000" dirty="0">
                <a:ea typeface="楷体" panose="02010609060101010101" pitchFamily="49" charset="-122"/>
              </a:rPr>
              <a:t>A score of 59 is QUALIFIED: false</a:t>
            </a:r>
            <a:endParaRPr lang="zh-CN" altLang="zh-CN" sz="2000" dirty="0">
              <a:ea typeface="楷体" panose="02010609060101010101" pitchFamily="49" charset="-122"/>
            </a:endParaRPr>
          </a:p>
          <a:p>
            <a:r>
              <a:rPr lang="en-US" altLang="zh-CN" sz="2000" dirty="0">
                <a:ea typeface="楷体" panose="02010609060101010101" pitchFamily="49" charset="-122"/>
              </a:rPr>
              <a:t>A score of 30 is FAILED: true</a:t>
            </a:r>
            <a:endParaRPr kumimoji="1" lang="zh-CN" altLang="en-US" sz="2000" dirty="0">
              <a:ea typeface="楷体" panose="02010609060101010101" pitchFamily="49" charset="-122"/>
            </a:endParaRPr>
          </a:p>
        </p:txBody>
      </p:sp>
      <p:sp>
        <p:nvSpPr>
          <p:cNvPr id="5" name="文本框 4"/>
          <p:cNvSpPr txBox="1"/>
          <p:nvPr>
            <p:custDataLst>
              <p:tags r:id="rId1"/>
            </p:custDataLst>
          </p:nvPr>
        </p:nvSpPr>
        <p:spPr>
          <a:xfrm>
            <a:off x="407670" y="980440"/>
            <a:ext cx="410415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枚举类自定义属性和方法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4" name="TextBox 3"/>
          <p:cNvSpPr txBox="1"/>
          <p:nvPr>
            <p:custDataLst>
              <p:tags r:id="rId2"/>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2.4  </a:t>
            </a:r>
            <a:r>
              <a:rPr lang="zh-CN" altLang="en-US" sz="3200" dirty="0">
                <a:ln w="11430">
                  <a:noFill/>
                </a:ln>
                <a:solidFill>
                  <a:srgbClr val="255EAB"/>
                </a:solidFill>
                <a:ea typeface="楷体" panose="02010609060101010101" pitchFamily="49" charset="-122"/>
              </a:rPr>
              <a:t>枚举类型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9" name="Rectangle 3"/>
          <p:cNvSpPr>
            <a:spLocks noGrp="1" noChangeArrowheads="1"/>
          </p:cNvSpPr>
          <p:nvPr>
            <p:ph idx="4294967295"/>
          </p:nvPr>
        </p:nvSpPr>
        <p:spPr>
          <a:xfrm>
            <a:off x="623392" y="1772816"/>
            <a:ext cx="11031016" cy="4520760"/>
          </a:xfrm>
        </p:spPr>
        <p:txBody>
          <a:bodyPr vert="horz" wrap="square" lIns="92075" tIns="46038" rIns="92075" bIns="46038" numCol="1" anchor="t" anchorCtr="0" compatLnSpc="1">
            <a:normAutofit lnSpcReduction="10000"/>
          </a:bodyPr>
          <a:lstStyle/>
          <a:p>
            <a:pPr marL="0" indent="0" eaLnBrk="1" hangingPunct="1">
              <a:lnSpc>
                <a:spcPct val="90000"/>
              </a:lnSpc>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包括状态、构造方法、</a:t>
            </a:r>
            <a:r>
              <a:rPr lang="en-US" altLang="zh-CN" sz="2400" dirty="0">
                <a:latin typeface="Times New Roman" panose="02020603050405020304" pitchFamily="18" charset="0"/>
              </a:rPr>
              <a:t>get</a:t>
            </a:r>
            <a:r>
              <a:rPr lang="zh-CN" altLang="en-US" sz="2400" dirty="0">
                <a:latin typeface="Times New Roman" panose="02020603050405020304" pitchFamily="18" charset="0"/>
              </a:rPr>
              <a:t>方法及</a:t>
            </a:r>
            <a:r>
              <a:rPr lang="en-US" altLang="zh-CN" sz="2400" dirty="0">
                <a:latin typeface="Times New Roman" panose="02020603050405020304" pitchFamily="18" charset="0"/>
              </a:rPr>
              <a:t>set</a:t>
            </a:r>
            <a:r>
              <a:rPr lang="zh-CN" altLang="en-US" sz="2400" dirty="0">
                <a:latin typeface="Times New Roman" panose="02020603050405020304" pitchFamily="18" charset="0"/>
              </a:rPr>
              <a:t>方法</a:t>
            </a:r>
            <a:endParaRPr lang="zh-CN" altLang="en-US" sz="2400" dirty="0">
              <a:latin typeface="Times New Roman" panose="02020603050405020304" pitchFamily="18" charset="0"/>
            </a:endParaRPr>
          </a:p>
          <a:p>
            <a:pPr marL="0" indent="0">
              <a:spcBef>
                <a:spcPts val="600"/>
              </a:spcBef>
              <a:buNone/>
            </a:pPr>
            <a:r>
              <a:rPr lang="en-US" altLang="zh-CN" sz="2000" dirty="0" err="1">
                <a:latin typeface="Times New Roman" panose="02020603050405020304" pitchFamily="18" charset="0"/>
              </a:rPr>
              <a:t>enum</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 //</a:t>
            </a:r>
            <a:r>
              <a:rPr lang="zh-CN" altLang="en-US" sz="2000" dirty="0">
                <a:latin typeface="Times New Roman" panose="02020603050405020304" pitchFamily="18" charset="0"/>
              </a:rPr>
              <a:t>定义枚举类型，表示账户的等级。共有两种等级：</a:t>
            </a:r>
            <a:r>
              <a:rPr lang="en-US" altLang="zh-CN" sz="2000" dirty="0">
                <a:latin typeface="Times New Roman" panose="02020603050405020304" pitchFamily="18" charset="0"/>
              </a:rPr>
              <a:t>VIP</a:t>
            </a:r>
            <a:r>
              <a:rPr lang="zh-CN" altLang="en-US" sz="2000" dirty="0">
                <a:latin typeface="Times New Roman" panose="02020603050405020304" pitchFamily="18" charset="0"/>
              </a:rPr>
              <a:t>和</a:t>
            </a:r>
            <a:r>
              <a:rPr lang="en-US" altLang="zh-CN" sz="2000" dirty="0">
                <a:latin typeface="Times New Roman" panose="02020603050405020304" pitchFamily="18" charset="0"/>
              </a:rPr>
              <a:t>GENERAL</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VIP,  General;</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public class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private String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private int </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private float balance;</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grade;</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public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this("", 0, 0,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.General);</a:t>
            </a:r>
            <a:endParaRPr lang="en-US" altLang="zh-CN" sz="2000" dirty="0">
              <a:latin typeface="Times New Roman" panose="02020603050405020304" pitchFamily="18" charset="0"/>
            </a:endParaRPr>
          </a:p>
          <a:p>
            <a:pPr marL="0" indent="0">
              <a:spcBef>
                <a:spcPts val="600"/>
              </a:spcBef>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410415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枚举类自定义属性和方法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3" name="Rectangle 3"/>
          <p:cNvSpPr>
            <a:spLocks noGrp="1" noChangeArrowheads="1"/>
          </p:cNvSpPr>
          <p:nvPr>
            <p:ph idx="4294967295"/>
          </p:nvPr>
        </p:nvSpPr>
        <p:spPr>
          <a:xfrm>
            <a:off x="551384" y="1556792"/>
            <a:ext cx="11247040" cy="4856873"/>
          </a:xfrm>
        </p:spPr>
        <p:txBody>
          <a:bodyPr vert="horz" wrap="square" lIns="92075" tIns="46038" rIns="92075" bIns="46038" numCol="1" anchor="t" anchorCtr="0" compatLnSpc="1">
            <a:normAutofit/>
          </a:bodyPr>
          <a:lstStyle/>
          <a:p>
            <a:pPr marL="19050" indent="0">
              <a:spcBef>
                <a:spcPts val="0"/>
              </a:spcBef>
              <a:buNone/>
            </a:pPr>
            <a:r>
              <a:rPr lang="en-US" altLang="zh-CN" sz="2000" dirty="0">
                <a:latin typeface="Times New Roman" panose="02020603050405020304" pitchFamily="18" charset="0"/>
              </a:rPr>
              <a:t>public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(String </a:t>
            </a:r>
            <a:r>
              <a:rPr lang="en-US" altLang="zh-CN" sz="2000" dirty="0" err="1">
                <a:latin typeface="Times New Roman" panose="02020603050405020304" pitchFamily="18" charset="0"/>
              </a:rPr>
              <a:t>initName</a:t>
            </a:r>
            <a:r>
              <a:rPr lang="en-US" altLang="zh-CN" sz="2000" dirty="0">
                <a:latin typeface="Times New Roman" panose="02020603050405020304" pitchFamily="18" charset="0"/>
              </a:rPr>
              <a:t>, int </a:t>
            </a:r>
            <a:r>
              <a:rPr lang="en-US" altLang="zh-CN" sz="2000" dirty="0" err="1">
                <a:latin typeface="Times New Roman" panose="02020603050405020304" pitchFamily="18" charset="0"/>
              </a:rPr>
              <a:t>initAccNum</a:t>
            </a:r>
            <a:r>
              <a:rPr lang="en-US" altLang="zh-CN" sz="2000" dirty="0">
                <a:latin typeface="Times New Roman" panose="02020603050405020304" pitchFamily="18" charset="0"/>
              </a:rPr>
              <a:t>, float </a:t>
            </a:r>
            <a:r>
              <a:rPr lang="en-US" altLang="zh-CN" sz="2000" dirty="0" err="1">
                <a:latin typeface="Times New Roman" panose="02020603050405020304" pitchFamily="18" charset="0"/>
              </a:rPr>
              <a:t>initBal</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 {</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initName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initAccNum</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        balance = </a:t>
            </a:r>
            <a:r>
              <a:rPr lang="en-US" altLang="zh-CN" sz="2000" dirty="0" err="1">
                <a:latin typeface="Times New Roman" panose="02020603050405020304" pitchFamily="18" charset="0"/>
              </a:rPr>
              <a:t>initBal</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        grade = g;</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String </a:t>
            </a:r>
            <a:r>
              <a:rPr lang="en-US" altLang="zh-CN" sz="2000" dirty="0" err="1">
                <a:latin typeface="Times New Roman" panose="02020603050405020304" pitchFamily="18" charset="0"/>
              </a:rPr>
              <a:t>getOwnerName</a:t>
            </a:r>
            <a:r>
              <a:rPr lang="en-US" altLang="zh-CN" sz="2000" dirty="0">
                <a:latin typeface="Times New Roman" panose="02020603050405020304" pitchFamily="18" charset="0"/>
              </a:rPr>
              <a:t>() {</a:t>
            </a:r>
            <a:r>
              <a:rPr lang="zh-CN" altLang="en-US" sz="2000" dirty="0">
                <a:latin typeface="Times New Roman" panose="02020603050405020304" pitchFamily="18" charset="0"/>
              </a:rPr>
              <a:t> </a:t>
            </a:r>
            <a:r>
              <a:rPr lang="en-US" altLang="zh-CN" sz="2000" dirty="0">
                <a:latin typeface="Times New Roman" panose="02020603050405020304" pitchFamily="18" charset="0"/>
              </a:rPr>
              <a:t>return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int </a:t>
            </a:r>
            <a:r>
              <a:rPr lang="en-US" altLang="zh-CN" sz="2000" dirty="0" err="1">
                <a:latin typeface="Times New Roman" panose="02020603050405020304" pitchFamily="18" charset="0"/>
              </a:rPr>
              <a:t>getAccountNumber</a:t>
            </a:r>
            <a:r>
              <a:rPr lang="en-US" altLang="zh-CN" sz="2000" dirty="0">
                <a:latin typeface="Times New Roman" panose="02020603050405020304" pitchFamily="18" charset="0"/>
              </a:rPr>
              <a:t>() {</a:t>
            </a:r>
            <a:r>
              <a:rPr lang="zh-CN" altLang="en-US" sz="2000" dirty="0">
                <a:latin typeface="Times New Roman" panose="02020603050405020304" pitchFamily="18" charset="0"/>
              </a:rPr>
              <a:t> </a:t>
            </a:r>
            <a:r>
              <a:rPr lang="en-US" altLang="zh-CN" sz="2000" dirty="0">
                <a:latin typeface="Times New Roman" panose="02020603050405020304" pitchFamily="18" charset="0"/>
              </a:rPr>
              <a:t>return </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float </a:t>
            </a:r>
            <a:r>
              <a:rPr lang="en-US" altLang="zh-CN" sz="2000" dirty="0" err="1">
                <a:latin typeface="Times New Roman" panose="02020603050405020304" pitchFamily="18" charset="0"/>
              </a:rPr>
              <a:t>getBalance</a:t>
            </a:r>
            <a:r>
              <a:rPr lang="en-US" altLang="zh-CN" sz="2000" dirty="0">
                <a:latin typeface="Times New Roman" panose="02020603050405020304" pitchFamily="18" charset="0"/>
              </a:rPr>
              <a:t>() { return balance; }</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getGrade</a:t>
            </a:r>
            <a:r>
              <a:rPr lang="en-US" altLang="zh-CN" sz="2000" dirty="0">
                <a:latin typeface="Times New Roman" panose="02020603050405020304" pitchFamily="18" charset="0"/>
              </a:rPr>
              <a:t>() {</a:t>
            </a:r>
            <a:r>
              <a:rPr lang="zh-CN" altLang="en-US" sz="2000" dirty="0">
                <a:latin typeface="Times New Roman" panose="02020603050405020304" pitchFamily="18" charset="0"/>
              </a:rPr>
              <a:t> </a:t>
            </a:r>
            <a:r>
              <a:rPr lang="en-US" altLang="zh-CN" sz="2000" dirty="0">
                <a:latin typeface="Times New Roman" panose="02020603050405020304" pitchFamily="18" charset="0"/>
              </a:rPr>
              <a:t>return grade;</a:t>
            </a:r>
            <a:r>
              <a:rPr lang="zh-CN" altLang="en-US" sz="2000" dirty="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void </a:t>
            </a:r>
            <a:r>
              <a:rPr lang="en-US" altLang="zh-CN" sz="2000" dirty="0" err="1">
                <a:latin typeface="Times New Roman" panose="02020603050405020304" pitchFamily="18" charset="0"/>
              </a:rPr>
              <a:t>setOwnerName</a:t>
            </a:r>
            <a:r>
              <a:rPr lang="en-US" altLang="zh-CN" sz="2000" dirty="0">
                <a:latin typeface="Times New Roman" panose="02020603050405020304" pitchFamily="18" charset="0"/>
              </a:rPr>
              <a:t>(String </a:t>
            </a:r>
            <a:r>
              <a:rPr lang="en-US" altLang="zh-CN" sz="2000" dirty="0" err="1">
                <a:latin typeface="Times New Roman" panose="02020603050405020304" pitchFamily="18" charset="0"/>
              </a:rPr>
              <a:t>newName</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newName</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void </a:t>
            </a:r>
            <a:r>
              <a:rPr lang="en-US" altLang="zh-CN" sz="2000" dirty="0" err="1">
                <a:latin typeface="Times New Roman" panose="02020603050405020304" pitchFamily="18" charset="0"/>
              </a:rPr>
              <a:t>setAccountNumber</a:t>
            </a:r>
            <a:r>
              <a:rPr lang="en-US" altLang="zh-CN" sz="2000" dirty="0">
                <a:latin typeface="Times New Roman" panose="02020603050405020304" pitchFamily="18" charset="0"/>
              </a:rPr>
              <a:t>(int </a:t>
            </a:r>
            <a:r>
              <a:rPr lang="en-US" altLang="zh-CN" sz="2000" dirty="0" err="1">
                <a:latin typeface="Times New Roman" panose="02020603050405020304" pitchFamily="18" charset="0"/>
              </a:rPr>
              <a:t>newNum</a:t>
            </a:r>
            <a:r>
              <a:rPr lang="en-US" altLang="zh-CN" sz="2000" dirty="0">
                <a:latin typeface="Times New Roman" panose="02020603050405020304" pitchFamily="18" charset="0"/>
              </a:rPr>
              <a:t>) {</a:t>
            </a:r>
            <a:r>
              <a:rPr lang="zh-CN" altLang="en-US" sz="2000" dirty="0">
                <a:latin typeface="Times New Roman" panose="02020603050405020304" pitchFamily="18" charset="0"/>
              </a:rPr>
              <a:t> </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newNum</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void </a:t>
            </a:r>
            <a:r>
              <a:rPr lang="en-US" altLang="zh-CN" sz="2000" dirty="0" err="1">
                <a:latin typeface="Times New Roman" panose="02020603050405020304" pitchFamily="18" charset="0"/>
              </a:rPr>
              <a:t>setBalance</a:t>
            </a:r>
            <a:r>
              <a:rPr lang="en-US" altLang="zh-CN" sz="2000" dirty="0">
                <a:latin typeface="Times New Roman" panose="02020603050405020304" pitchFamily="18" charset="0"/>
              </a:rPr>
              <a:t>(float </a:t>
            </a:r>
            <a:r>
              <a:rPr lang="en-US" altLang="zh-CN" sz="2000" dirty="0" err="1">
                <a:latin typeface="Times New Roman" panose="02020603050405020304" pitchFamily="18" charset="0"/>
              </a:rPr>
              <a:t>newBalance</a:t>
            </a:r>
            <a:r>
              <a:rPr lang="en-US" altLang="zh-CN" sz="2000" dirty="0">
                <a:latin typeface="Times New Roman" panose="02020603050405020304" pitchFamily="18" charset="0"/>
              </a:rPr>
              <a:t>) {</a:t>
            </a:r>
            <a:r>
              <a:rPr lang="zh-CN" altLang="en-US" sz="2000" dirty="0">
                <a:latin typeface="Times New Roman" panose="02020603050405020304" pitchFamily="18" charset="0"/>
              </a:rPr>
              <a:t> </a:t>
            </a:r>
            <a:r>
              <a:rPr lang="en-US" altLang="zh-CN" sz="2000" dirty="0">
                <a:latin typeface="Times New Roman" panose="02020603050405020304" pitchFamily="18" charset="0"/>
              </a:rPr>
              <a:t>balance = </a:t>
            </a:r>
            <a:r>
              <a:rPr lang="en-US" altLang="zh-CN" sz="2000" dirty="0" err="1">
                <a:latin typeface="Times New Roman" panose="02020603050405020304" pitchFamily="18" charset="0"/>
              </a:rPr>
              <a:t>newBalance</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19050" indent="0">
              <a:spcBef>
                <a:spcPts val="0"/>
              </a:spcBef>
              <a:buNone/>
            </a:pPr>
            <a:r>
              <a:rPr lang="en-US" altLang="zh-CN" sz="2000" dirty="0">
                <a:latin typeface="Times New Roman" panose="02020603050405020304" pitchFamily="18" charset="0"/>
              </a:rPr>
              <a:t>public void </a:t>
            </a:r>
            <a:r>
              <a:rPr lang="en-US" altLang="zh-CN" sz="2000" dirty="0" err="1">
                <a:latin typeface="Times New Roman" panose="02020603050405020304" pitchFamily="18" charset="0"/>
              </a:rPr>
              <a:t>setGrade</a:t>
            </a:r>
            <a:r>
              <a:rPr lang="en-US" altLang="zh-CN" sz="2000" dirty="0">
                <a:latin typeface="Times New Roman" panose="02020603050405020304" pitchFamily="18" charset="0"/>
              </a:rPr>
              <a:t>(</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 {</a:t>
            </a:r>
            <a:r>
              <a:rPr lang="zh-CN" altLang="en-US" sz="2000" dirty="0">
                <a:latin typeface="Times New Roman" panose="02020603050405020304" pitchFamily="18" charset="0"/>
              </a:rPr>
              <a:t> </a:t>
            </a:r>
            <a:r>
              <a:rPr lang="en-US" altLang="zh-CN" sz="2000" dirty="0">
                <a:latin typeface="Times New Roman" panose="02020603050405020304" pitchFamily="18" charset="0"/>
              </a:rPr>
              <a:t>grade = g;</a:t>
            </a:r>
            <a:r>
              <a:rPr lang="zh-CN" altLang="en-US" sz="2000" dirty="0">
                <a:latin typeface="Times New Roman" panose="02020603050405020304" pitchFamily="18" charset="0"/>
              </a:rPr>
              <a:t>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spcBef>
                <a:spcPts val="0"/>
              </a:spcBef>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lvl="1">
              <a:spcBef>
                <a:spcPts val="0"/>
              </a:spcBef>
              <a:buNone/>
            </a:pPr>
            <a:endParaRPr lang="en-US" altLang="zh-CN"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410415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枚举类自定义属性和方法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7" name="Rectangle 3"/>
          <p:cNvSpPr>
            <a:spLocks noGrp="1" noChangeArrowheads="1"/>
          </p:cNvSpPr>
          <p:nvPr>
            <p:ph idx="4294967295"/>
          </p:nvPr>
        </p:nvSpPr>
        <p:spPr>
          <a:xfrm>
            <a:off x="609600" y="1577968"/>
            <a:ext cx="10972800" cy="4104456"/>
          </a:xfrm>
        </p:spPr>
        <p:txBody>
          <a:bodyPr vert="horz" wrap="square" lIns="92075" tIns="46038" rIns="92075" bIns="46038" numCol="1" anchor="t" anchorCtr="0" compatLnSpc="1"/>
          <a:lstStyle/>
          <a:p>
            <a:pPr marL="0" indent="0">
              <a:lnSpc>
                <a:spcPct val="90000"/>
              </a:lnSpc>
              <a:buNone/>
            </a:pPr>
            <a:r>
              <a:rPr lang="en-US" altLang="zh-CN" sz="2000" dirty="0">
                <a:latin typeface="Times New Roman" panose="02020603050405020304" pitchFamily="18" charset="0"/>
              </a:rPr>
              <a:t>public class </a:t>
            </a:r>
            <a:r>
              <a:rPr lang="en-US" altLang="zh-CN" sz="2000" dirty="0" err="1">
                <a:latin typeface="Times New Roman" panose="02020603050405020304" pitchFamily="18" charset="0"/>
              </a:rPr>
              <a:t>AccountTester</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public static void main(String </a:t>
            </a:r>
            <a:r>
              <a:rPr lang="en-US" altLang="zh-CN" sz="2000" dirty="0" err="1">
                <a:latin typeface="Times New Roman" panose="02020603050405020304" pitchFamily="18" charset="0"/>
              </a:rPr>
              <a:t>args</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 = new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ZhengLi</a:t>
            </a:r>
            <a:r>
              <a:rPr lang="en-US" altLang="zh-CN" sz="2000" dirty="0">
                <a:latin typeface="Times New Roman" panose="02020603050405020304" pitchFamily="18" charset="0"/>
              </a:rPr>
              <a:t>", 100023, 0,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.General);</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anAccount.setBalance</a:t>
            </a:r>
            <a:r>
              <a:rPr lang="en-US" altLang="zh-CN" sz="2000" dirty="0">
                <a:latin typeface="Times New Roman" panose="02020603050405020304" pitchFamily="18" charset="0"/>
              </a:rPr>
              <a:t>(</a:t>
            </a:r>
            <a:r>
              <a:rPr lang="en-US" altLang="zh-CN" sz="2000" dirty="0" err="1">
                <a:latin typeface="Times New Roman" panose="02020603050405020304" pitchFamily="18" charset="0"/>
              </a:rPr>
              <a:t>anAccount.getBalance</a:t>
            </a:r>
            <a:r>
              <a:rPr lang="en-US" altLang="zh-CN" sz="2000" dirty="0">
                <a:latin typeface="Times New Roman" panose="02020603050405020304" pitchFamily="18" charset="0"/>
              </a:rPr>
              <a:t>() + 100);</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("Here is the account: " + </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("Account name: " + </a:t>
            </a:r>
            <a:r>
              <a:rPr lang="en-US" altLang="zh-CN" sz="2000" dirty="0" err="1">
                <a:latin typeface="Times New Roman" panose="02020603050405020304" pitchFamily="18" charset="0"/>
              </a:rPr>
              <a:t>anAccount.getOwnerName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("Account number: " + </a:t>
            </a:r>
            <a:r>
              <a:rPr lang="en-US" altLang="zh-CN" sz="2000" dirty="0" err="1">
                <a:latin typeface="Times New Roman" panose="02020603050405020304" pitchFamily="18" charset="0"/>
              </a:rPr>
              <a:t>anAccount.getAccountNumber</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("Balance: $" + </a:t>
            </a:r>
            <a:r>
              <a:rPr lang="en-US" altLang="zh-CN" sz="2000" dirty="0" err="1">
                <a:latin typeface="Times New Roman" panose="02020603050405020304" pitchFamily="18" charset="0"/>
              </a:rPr>
              <a:t>anAccount.getBalance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("Grade: " + </a:t>
            </a:r>
            <a:r>
              <a:rPr lang="en-US" altLang="zh-CN" sz="2000" dirty="0" err="1">
                <a:latin typeface="Times New Roman" panose="02020603050405020304" pitchFamily="18" charset="0"/>
              </a:rPr>
              <a:t>anAccount.grade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90000"/>
              </a:lnSpc>
              <a:buNone/>
            </a:pPr>
            <a:r>
              <a:rPr lang="en-US" altLang="zh-CN" sz="2000" dirty="0">
                <a:latin typeface="Times New Roman" panose="02020603050405020304" pitchFamily="18" charset="0"/>
              </a:rPr>
              <a:t>}</a:t>
            </a:r>
            <a:endParaRPr lang="zh-CN" altLang="en-US" sz="2000" dirty="0">
              <a:latin typeface="Times New Roman" panose="02020603050405020304" pitchFamily="18" charset="0"/>
            </a:endParaRPr>
          </a:p>
        </p:txBody>
      </p:sp>
      <p:sp>
        <p:nvSpPr>
          <p:cNvPr id="3" name="文本框 2"/>
          <p:cNvSpPr txBox="1"/>
          <p:nvPr/>
        </p:nvSpPr>
        <p:spPr>
          <a:xfrm>
            <a:off x="6526066" y="4653136"/>
            <a:ext cx="5184576" cy="2058577"/>
          </a:xfrm>
          <a:prstGeom prst="rect">
            <a:avLst/>
          </a:prstGeom>
          <a:solidFill>
            <a:schemeClr val="bg1"/>
          </a:solidFill>
          <a:ln>
            <a:solidFill>
              <a:srgbClr val="002060"/>
            </a:solidFill>
          </a:ln>
        </p:spPr>
        <p:txBody>
          <a:bodyPr wrap="square" rtlCol="0">
            <a:spAutoFit/>
          </a:bodyPr>
          <a:lstStyle/>
          <a:p>
            <a:pPr>
              <a:lnSpc>
                <a:spcPct val="120000"/>
              </a:lnSpc>
            </a:pPr>
            <a:r>
              <a:rPr lang="zh-CN" altLang="en-US" sz="1800" dirty="0">
                <a:ea typeface="楷体" panose="02010609060101010101" pitchFamily="49" charset="-122"/>
              </a:rPr>
              <a:t>测试结果：</a:t>
            </a:r>
            <a:endParaRPr lang="en-US" altLang="zh-CN" sz="1800" dirty="0">
              <a:ea typeface="楷体" panose="02010609060101010101" pitchFamily="49" charset="-122"/>
            </a:endParaRPr>
          </a:p>
          <a:p>
            <a:pPr>
              <a:lnSpc>
                <a:spcPct val="120000"/>
              </a:lnSpc>
            </a:pPr>
            <a:r>
              <a:rPr lang="en-US" altLang="zh-CN" sz="1800" dirty="0">
                <a:ea typeface="楷体" panose="02010609060101010101" pitchFamily="49" charset="-122"/>
              </a:rPr>
              <a:t>Here is the account: BankAccount@61de33</a:t>
            </a:r>
            <a:endParaRPr lang="en-US" altLang="zh-CN" sz="1800" dirty="0">
              <a:ea typeface="楷体" panose="02010609060101010101" pitchFamily="49" charset="-122"/>
            </a:endParaRPr>
          </a:p>
          <a:p>
            <a:pPr>
              <a:lnSpc>
                <a:spcPct val="120000"/>
              </a:lnSpc>
            </a:pPr>
            <a:r>
              <a:rPr lang="en-US" altLang="zh-CN" sz="1800" dirty="0">
                <a:ea typeface="楷体" panose="02010609060101010101" pitchFamily="49" charset="-122"/>
              </a:rPr>
              <a:t>Account name: </a:t>
            </a:r>
            <a:r>
              <a:rPr lang="en-US" altLang="zh-CN" sz="1800" dirty="0" err="1">
                <a:ea typeface="楷体" panose="02010609060101010101" pitchFamily="49" charset="-122"/>
              </a:rPr>
              <a:t>ZhangLi</a:t>
            </a:r>
            <a:endParaRPr lang="en-US" altLang="zh-CN" sz="1800" dirty="0">
              <a:ea typeface="楷体" panose="02010609060101010101" pitchFamily="49" charset="-122"/>
            </a:endParaRPr>
          </a:p>
          <a:p>
            <a:pPr>
              <a:lnSpc>
                <a:spcPct val="120000"/>
              </a:lnSpc>
            </a:pPr>
            <a:r>
              <a:rPr lang="en-US" altLang="zh-CN" sz="1800" dirty="0">
                <a:ea typeface="楷体" panose="02010609060101010101" pitchFamily="49" charset="-122"/>
              </a:rPr>
              <a:t>Account number: 100023</a:t>
            </a:r>
            <a:endParaRPr lang="en-US" altLang="zh-CN" sz="1800" dirty="0">
              <a:ea typeface="楷体" panose="02010609060101010101" pitchFamily="49" charset="-122"/>
            </a:endParaRPr>
          </a:p>
          <a:p>
            <a:pPr>
              <a:lnSpc>
                <a:spcPct val="120000"/>
              </a:lnSpc>
            </a:pPr>
            <a:r>
              <a:rPr lang="en-US" altLang="zh-CN" sz="1800" dirty="0">
                <a:ea typeface="楷体" panose="02010609060101010101" pitchFamily="49" charset="-122"/>
              </a:rPr>
              <a:t>Balance: $100.0</a:t>
            </a:r>
            <a:endParaRPr lang="en-US" altLang="zh-CN" sz="1800" dirty="0">
              <a:ea typeface="楷体" panose="02010609060101010101" pitchFamily="49" charset="-122"/>
            </a:endParaRPr>
          </a:p>
          <a:p>
            <a:pPr>
              <a:lnSpc>
                <a:spcPct val="120000"/>
              </a:lnSpc>
            </a:pPr>
            <a:r>
              <a:rPr lang="en-US" altLang="zh-CN" sz="1800" dirty="0">
                <a:ea typeface="楷体" panose="02010609060101010101" pitchFamily="49" charset="-122"/>
              </a:rPr>
              <a:t>Grade: General</a:t>
            </a:r>
            <a:endParaRPr lang="en-US" altLang="zh-CN" sz="1800" dirty="0">
              <a:ea typeface="楷体" panose="02010609060101010101" pitchFamily="49" charset="-122"/>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
        <p:nvSpPr>
          <p:cNvPr id="4" name="文本框 3"/>
          <p:cNvSpPr txBox="1"/>
          <p:nvPr>
            <p:custDataLst>
              <p:tags r:id="rId2"/>
            </p:custDataLst>
          </p:nvPr>
        </p:nvSpPr>
        <p:spPr>
          <a:xfrm>
            <a:off x="407670" y="980440"/>
            <a:ext cx="4104154"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枚举类自定义属性和方法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6" name="Rectangle 3"/>
          <p:cNvSpPr>
            <a:spLocks noGrp="1" noChangeArrowheads="1"/>
          </p:cNvSpPr>
          <p:nvPr>
            <p:ph idx="4294967295"/>
          </p:nvPr>
        </p:nvSpPr>
        <p:spPr>
          <a:xfrm>
            <a:off x="983432" y="1457494"/>
            <a:ext cx="9865096" cy="5234782"/>
          </a:xfrm>
        </p:spPr>
        <p:txBody>
          <a:bodyPr vert="horz" wrap="square" lIns="92075" tIns="46038" rIns="92075" bIns="46038" numCol="1" anchor="t" anchorCtr="0" compatLnSpc="1">
            <a:noAutofit/>
          </a:bodyPr>
          <a:lstStyle/>
          <a:p>
            <a:pPr marL="0" indent="0" eaLnBrk="1" hangingPunct="1">
              <a:lnSpc>
                <a:spcPct val="150000"/>
              </a:lnSpc>
              <a:spcBef>
                <a:spcPts val="0"/>
              </a:spcBef>
              <a:buNone/>
            </a:pPr>
            <a:r>
              <a:rPr lang="en-US" altLang="zh-CN" sz="2500" b="1" dirty="0" err="1">
                <a:latin typeface="Times New Roman" panose="02020603050405020304" pitchFamily="18" charset="0"/>
              </a:rPr>
              <a:t>toString</a:t>
            </a:r>
            <a:r>
              <a:rPr lang="en-US" altLang="zh-CN" sz="2500" b="1" dirty="0">
                <a:latin typeface="Times New Roman" panose="02020603050405020304" pitchFamily="18" charset="0"/>
              </a:rPr>
              <a:t>()</a:t>
            </a:r>
            <a:r>
              <a:rPr lang="zh-CN" altLang="en-US" sz="2500" b="1" dirty="0">
                <a:latin typeface="Times New Roman" panose="02020603050405020304" pitchFamily="18" charset="0"/>
              </a:rPr>
              <a:t>方法将对象的内容转换为字符串</a:t>
            </a:r>
            <a:endParaRPr lang="zh-CN" altLang="en-US" sz="2500" b="1" dirty="0">
              <a:latin typeface="Times New Roman" panose="02020603050405020304" pitchFamily="18" charset="0"/>
            </a:endParaRPr>
          </a:p>
          <a:p>
            <a:pPr marL="914400" lvl="2" indent="0" eaLnBrk="1" hangingPunct="1">
              <a:lnSpc>
                <a:spcPct val="150000"/>
              </a:lnSpc>
              <a:spcBef>
                <a:spcPts val="0"/>
              </a:spcBef>
              <a:buNone/>
            </a:pPr>
            <a:r>
              <a:rPr lang="zh-CN" altLang="en-US" sz="2500" b="1" dirty="0">
                <a:latin typeface="Times New Roman" panose="02020603050405020304" pitchFamily="18" charset="0"/>
              </a:rPr>
              <a:t>下面的两行代码等价 </a:t>
            </a:r>
            <a:endParaRPr lang="zh-CN" altLang="en-US" sz="2500" b="1" dirty="0">
              <a:latin typeface="Times New Roman" panose="02020603050405020304" pitchFamily="18" charset="0"/>
            </a:endParaRPr>
          </a:p>
          <a:p>
            <a:pPr marL="1828800" lvl="4" indent="0" eaLnBrk="1" hangingPunct="1">
              <a:lnSpc>
                <a:spcPct val="150000"/>
              </a:lnSpc>
              <a:spcBef>
                <a:spcPts val="0"/>
              </a:spcBef>
              <a:buNone/>
            </a:pPr>
            <a:r>
              <a:rPr lang="en-US" altLang="zh-CN" sz="2500" b="1" dirty="0" err="1">
                <a:latin typeface="Times New Roman" panose="02020603050405020304" pitchFamily="18" charset="0"/>
              </a:rPr>
              <a:t>System.out.println</a:t>
            </a:r>
            <a:r>
              <a:rPr lang="en-US" altLang="zh-CN" sz="2500" b="1" dirty="0">
                <a:latin typeface="Times New Roman" panose="02020603050405020304" pitchFamily="18" charset="0"/>
              </a:rPr>
              <a:t>(</a:t>
            </a:r>
            <a:r>
              <a:rPr lang="en-US" altLang="zh-CN" sz="2500" b="1" dirty="0" err="1">
                <a:latin typeface="Times New Roman" panose="02020603050405020304" pitchFamily="18" charset="0"/>
              </a:rPr>
              <a:t>anAccount</a:t>
            </a:r>
            <a:r>
              <a:rPr lang="en-US" altLang="zh-CN" sz="2500" b="1" dirty="0">
                <a:latin typeface="Times New Roman" panose="02020603050405020304" pitchFamily="18" charset="0"/>
              </a:rPr>
              <a:t>); </a:t>
            </a:r>
            <a:endParaRPr lang="en-US" altLang="zh-CN" sz="2500" b="1" dirty="0">
              <a:latin typeface="Times New Roman" panose="02020603050405020304" pitchFamily="18" charset="0"/>
            </a:endParaRPr>
          </a:p>
          <a:p>
            <a:pPr marL="1828800" lvl="4" indent="0" eaLnBrk="1" hangingPunct="1">
              <a:lnSpc>
                <a:spcPct val="150000"/>
              </a:lnSpc>
              <a:spcBef>
                <a:spcPts val="0"/>
              </a:spcBef>
              <a:buNone/>
            </a:pPr>
            <a:r>
              <a:rPr lang="en-US" altLang="zh-CN" sz="2500" b="1" dirty="0" err="1">
                <a:latin typeface="Times New Roman" panose="02020603050405020304" pitchFamily="18" charset="0"/>
              </a:rPr>
              <a:t>System.out.println</a:t>
            </a:r>
            <a:r>
              <a:rPr lang="en-US" altLang="zh-CN" sz="2500" b="1" dirty="0">
                <a:latin typeface="Times New Roman" panose="02020603050405020304" pitchFamily="18" charset="0"/>
              </a:rPr>
              <a:t>(</a:t>
            </a:r>
            <a:r>
              <a:rPr lang="en-US" altLang="zh-CN" sz="2500" b="1" dirty="0" err="1">
                <a:latin typeface="Times New Roman" panose="02020603050405020304" pitchFamily="18" charset="0"/>
              </a:rPr>
              <a:t>anAccount.toString</a:t>
            </a:r>
            <a:r>
              <a:rPr lang="en-US" altLang="zh-CN" sz="2500" b="1" dirty="0">
                <a:latin typeface="Times New Roman" panose="02020603050405020304" pitchFamily="18" charset="0"/>
              </a:rPr>
              <a:t>());</a:t>
            </a:r>
            <a:endParaRPr lang="zh-CN" altLang="en-US" sz="2500" b="1" dirty="0">
              <a:latin typeface="Times New Roman" panose="02020603050405020304" pitchFamily="18" charset="0"/>
            </a:endParaRPr>
          </a:p>
          <a:p>
            <a:pPr marL="0" indent="0">
              <a:lnSpc>
                <a:spcPct val="150000"/>
              </a:lnSpc>
              <a:spcBef>
                <a:spcPts val="0"/>
              </a:spcBef>
              <a:buNone/>
            </a:pPr>
            <a:r>
              <a:rPr lang="zh-CN" altLang="en-US" sz="2500" b="1" dirty="0">
                <a:latin typeface="Times New Roman" panose="02020603050405020304" pitchFamily="18" charset="0"/>
              </a:rPr>
              <a:t>如果需要特殊的转换功能，则需要自己覆盖</a:t>
            </a:r>
            <a:r>
              <a:rPr lang="en-US" altLang="zh-CN" sz="2500" b="1" dirty="0" err="1">
                <a:latin typeface="Times New Roman" panose="02020603050405020304" pitchFamily="18" charset="0"/>
              </a:rPr>
              <a:t>toString</a:t>
            </a:r>
            <a:r>
              <a:rPr lang="en-US" altLang="zh-CN" sz="2500" b="1" dirty="0">
                <a:latin typeface="Times New Roman" panose="02020603050405020304" pitchFamily="18" charset="0"/>
              </a:rPr>
              <a:t>()</a:t>
            </a:r>
            <a:r>
              <a:rPr lang="zh-CN" altLang="en-US" sz="2500" b="1" dirty="0">
                <a:latin typeface="Times New Roman" panose="02020603050405020304" pitchFamily="18" charset="0"/>
              </a:rPr>
              <a:t>方法：</a:t>
            </a:r>
            <a:endParaRPr lang="en-US" altLang="zh-CN" sz="2500" b="1" dirty="0">
              <a:latin typeface="Times New Roman" panose="02020603050405020304" pitchFamily="18" charset="0"/>
            </a:endParaRPr>
          </a:p>
          <a:p>
            <a:pPr marL="914400" lvl="1" indent="-457200">
              <a:lnSpc>
                <a:spcPct val="150000"/>
              </a:lnSpc>
              <a:spcBef>
                <a:spcPts val="0"/>
              </a:spcBef>
              <a:buFont typeface="+mj-ea"/>
              <a:buAutoNum type="circleNumDbPlain"/>
            </a:pPr>
            <a:r>
              <a:rPr lang="zh-CN" altLang="en-US" sz="2500" b="1" dirty="0">
                <a:latin typeface="Times New Roman" panose="02020603050405020304" pitchFamily="18" charset="0"/>
              </a:rPr>
              <a:t>必须被声明为</a:t>
            </a:r>
            <a:r>
              <a:rPr lang="en-US" altLang="zh-CN" sz="2500" b="1" dirty="0">
                <a:solidFill>
                  <a:srgbClr val="FF3399"/>
                </a:solidFill>
                <a:highlight>
                  <a:srgbClr val="FFFF00"/>
                </a:highlight>
                <a:latin typeface="Times New Roman" panose="02020603050405020304" pitchFamily="18" charset="0"/>
              </a:rPr>
              <a:t>public</a:t>
            </a:r>
            <a:r>
              <a:rPr lang="zh-CN" altLang="en-US" sz="2500" b="1" dirty="0">
                <a:latin typeface="Times New Roman" panose="02020603050405020304" pitchFamily="18" charset="0"/>
              </a:rPr>
              <a:t>；</a:t>
            </a:r>
            <a:endParaRPr lang="en-US" altLang="zh-CN" sz="2500" b="1" dirty="0">
              <a:latin typeface="Times New Roman" panose="02020603050405020304" pitchFamily="18" charset="0"/>
            </a:endParaRPr>
          </a:p>
          <a:p>
            <a:pPr marL="914400" lvl="1" indent="-457200">
              <a:lnSpc>
                <a:spcPct val="150000"/>
              </a:lnSpc>
              <a:spcBef>
                <a:spcPts val="0"/>
              </a:spcBef>
              <a:buFont typeface="+mj-ea"/>
              <a:buAutoNum type="circleNumDbPlain"/>
            </a:pPr>
            <a:r>
              <a:rPr lang="zh-CN" altLang="en-US" sz="2500" b="1" dirty="0">
                <a:latin typeface="Times New Roman" panose="02020603050405020304" pitchFamily="18" charset="0"/>
              </a:rPr>
              <a:t>返回类型为</a:t>
            </a:r>
            <a:r>
              <a:rPr lang="en-US" altLang="zh-CN" sz="2500" b="1" dirty="0">
                <a:solidFill>
                  <a:srgbClr val="FF3399"/>
                </a:solidFill>
                <a:highlight>
                  <a:srgbClr val="FFFF00"/>
                </a:highlight>
                <a:latin typeface="Times New Roman" panose="02020603050405020304" pitchFamily="18" charset="0"/>
              </a:rPr>
              <a:t>String</a:t>
            </a:r>
            <a:r>
              <a:rPr lang="zh-CN" altLang="en-US" sz="2500" b="1" dirty="0">
                <a:latin typeface="Times New Roman" panose="02020603050405020304" pitchFamily="18" charset="0"/>
              </a:rPr>
              <a:t>；</a:t>
            </a:r>
            <a:endParaRPr lang="en-US" altLang="zh-CN" sz="2500" b="1" dirty="0">
              <a:latin typeface="Times New Roman" panose="02020603050405020304" pitchFamily="18" charset="0"/>
            </a:endParaRPr>
          </a:p>
          <a:p>
            <a:pPr marL="914400" lvl="1" indent="-457200">
              <a:lnSpc>
                <a:spcPct val="150000"/>
              </a:lnSpc>
              <a:spcBef>
                <a:spcPts val="0"/>
              </a:spcBef>
              <a:buFont typeface="+mj-ea"/>
              <a:buAutoNum type="circleNumDbPlain"/>
            </a:pPr>
            <a:r>
              <a:rPr lang="zh-CN" altLang="en-US" sz="2500" b="1" dirty="0">
                <a:latin typeface="Times New Roman" panose="02020603050405020304" pitchFamily="18" charset="0"/>
              </a:rPr>
              <a:t>方法的名称必须为</a:t>
            </a:r>
            <a:r>
              <a:rPr lang="en-US" altLang="zh-CN" sz="2500" b="1" dirty="0" err="1">
                <a:solidFill>
                  <a:srgbClr val="FF3399"/>
                </a:solidFill>
                <a:highlight>
                  <a:srgbClr val="FFFF00"/>
                </a:highlight>
                <a:latin typeface="Times New Roman" panose="02020603050405020304" pitchFamily="18" charset="0"/>
              </a:rPr>
              <a:t>toString</a:t>
            </a:r>
            <a:r>
              <a:rPr lang="zh-CN" altLang="en-US" sz="2500" b="1" dirty="0">
                <a:latin typeface="Times New Roman" panose="02020603050405020304" pitchFamily="18" charset="0"/>
              </a:rPr>
              <a:t>，且没有参数；</a:t>
            </a:r>
            <a:endParaRPr lang="zh-CN" altLang="en-US" sz="2500" b="1" dirty="0">
              <a:latin typeface="Times New Roman" panose="02020603050405020304" pitchFamily="18" charset="0"/>
            </a:endParaRPr>
          </a:p>
          <a:p>
            <a:pPr marL="914400" lvl="1" indent="-457200">
              <a:lnSpc>
                <a:spcPct val="150000"/>
              </a:lnSpc>
              <a:spcBef>
                <a:spcPts val="0"/>
              </a:spcBef>
              <a:buFont typeface="+mj-ea"/>
              <a:buAutoNum type="circleNumDbPlain"/>
            </a:pPr>
            <a:r>
              <a:rPr lang="zh-CN" altLang="en-US" sz="2500" b="1" dirty="0">
                <a:latin typeface="Times New Roman" panose="02020603050405020304" pitchFamily="18" charset="0"/>
              </a:rPr>
              <a:t>在方法体中不要使用输出方法</a:t>
            </a:r>
            <a:r>
              <a:rPr lang="en-US" altLang="zh-CN" sz="2500" b="1" dirty="0" err="1">
                <a:solidFill>
                  <a:srgbClr val="FF3399"/>
                </a:solidFill>
                <a:latin typeface="Times New Roman" panose="02020603050405020304" pitchFamily="18" charset="0"/>
              </a:rPr>
              <a:t>System.out.println</a:t>
            </a:r>
            <a:r>
              <a:rPr lang="en-US" altLang="zh-CN" sz="2500" b="1" dirty="0">
                <a:solidFill>
                  <a:srgbClr val="FF3399"/>
                </a:solidFill>
                <a:latin typeface="Times New Roman" panose="02020603050405020304" pitchFamily="18" charset="0"/>
              </a:rPr>
              <a:t>()</a:t>
            </a:r>
            <a:r>
              <a:rPr lang="zh-CN" altLang="en-US" sz="2500" b="1" dirty="0">
                <a:latin typeface="Times New Roman" panose="02020603050405020304" pitchFamily="18" charset="0"/>
              </a:rPr>
              <a:t>。</a:t>
            </a:r>
            <a:endParaRPr lang="en-US" altLang="zh-CN" sz="2500" b="1"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309604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覆盖</a:t>
            </a:r>
            <a:r>
              <a:rPr lang="en-US" altLang="zh-CN" sz="2800" dirty="0" err="1">
                <a:solidFill>
                  <a:schemeClr val="bg1"/>
                </a:solidFill>
                <a:ea typeface="楷体" panose="02010609060101010101" pitchFamily="49" charset="-122"/>
                <a:cs typeface="思源黑体 CN Heavy" panose="020B0A00000000000000" charset="-122"/>
              </a:rPr>
              <a:t>toString</a:t>
            </a:r>
            <a:r>
              <a:rPr lang="en-US" altLang="zh-CN" sz="2800" dirty="0">
                <a:solidFill>
                  <a:schemeClr val="bg1"/>
                </a:solidFill>
                <a:ea typeface="楷体" panose="02010609060101010101" pitchFamily="49" charset="-122"/>
                <a:cs typeface="思源黑体 CN Heavy" panose="020B0A00000000000000" charset="-122"/>
              </a:rPr>
              <a:t>()</a:t>
            </a:r>
            <a:r>
              <a:rPr lang="zh-CN" altLang="en-US" sz="2800" dirty="0">
                <a:solidFill>
                  <a:schemeClr val="bg1"/>
                </a:solidFill>
                <a:ea typeface="楷体" panose="02010609060101010101" pitchFamily="49" charset="-122"/>
                <a:cs typeface="思源黑体 CN Heavy" panose="020B0A00000000000000" charset="-122"/>
              </a:rPr>
              <a:t>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7" name="Rectangle 3"/>
          <p:cNvSpPr>
            <a:spLocks noGrp="1" noChangeArrowheads="1"/>
          </p:cNvSpPr>
          <p:nvPr>
            <p:ph idx="4294967295"/>
          </p:nvPr>
        </p:nvSpPr>
        <p:spPr>
          <a:xfrm>
            <a:off x="609600" y="1600200"/>
            <a:ext cx="10972800" cy="4925144"/>
          </a:xfrm>
        </p:spPr>
        <p:txBody>
          <a:bodyPr>
            <a:normAutofit fontScale="70000" lnSpcReduction="20000"/>
          </a:bodyPr>
          <a:lstStyle/>
          <a:p>
            <a:pPr marL="0" indent="0">
              <a:lnSpc>
                <a:spcPct val="170000"/>
              </a:lnSpc>
              <a:spcBef>
                <a:spcPts val="0"/>
              </a:spcBef>
              <a:buNone/>
            </a:pPr>
            <a:r>
              <a:rPr lang="zh-CN" altLang="en-US" sz="3600" dirty="0">
                <a:latin typeface="Times New Roman" panose="02020603050405020304" pitchFamily="18" charset="0"/>
              </a:rPr>
              <a:t>覆盖的</a:t>
            </a:r>
            <a:r>
              <a:rPr lang="en-US" altLang="zh-CN" sz="3600" dirty="0" err="1">
                <a:latin typeface="Times New Roman" panose="02020603050405020304" pitchFamily="18" charset="0"/>
              </a:rPr>
              <a:t>toString</a:t>
            </a:r>
            <a:r>
              <a:rPr lang="en-US" altLang="zh-CN" sz="3600" dirty="0">
                <a:latin typeface="Times New Roman" panose="02020603050405020304" pitchFamily="18" charset="0"/>
              </a:rPr>
              <a:t>()</a:t>
            </a:r>
            <a:r>
              <a:rPr lang="zh-CN" altLang="en-US" sz="3600" dirty="0">
                <a:latin typeface="Times New Roman" panose="02020603050405020304" pitchFamily="18" charset="0"/>
              </a:rPr>
              <a:t>方法，</a:t>
            </a:r>
            <a:r>
              <a:rPr lang="en-US" altLang="zh-CN" sz="3600" dirty="0">
                <a:latin typeface="Times New Roman" panose="02020603050405020304" pitchFamily="18" charset="0"/>
              </a:rPr>
              <a:t>“@Override”</a:t>
            </a:r>
            <a:r>
              <a:rPr lang="zh-CN" altLang="en-US" sz="3600" dirty="0">
                <a:latin typeface="Times New Roman" panose="02020603050405020304" pitchFamily="18" charset="0"/>
              </a:rPr>
              <a:t>是一个注解，表明覆盖或实现父类或接口中同名方法</a:t>
            </a:r>
            <a:endParaRPr lang="en-US" altLang="zh-CN" sz="3600" dirty="0">
              <a:latin typeface="Times New Roman" panose="02020603050405020304" pitchFamily="18" charset="0"/>
            </a:endParaRPr>
          </a:p>
          <a:p>
            <a:pPr marL="457200" lvl="1" indent="0">
              <a:buNone/>
            </a:pPr>
            <a:r>
              <a:rPr lang="en-US" altLang="zh-CN" dirty="0">
                <a:latin typeface="Times New Roman" panose="02020603050405020304" pitchFamily="18" charset="0"/>
              </a:rPr>
              <a:t>@Override</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public String </a:t>
            </a:r>
            <a:r>
              <a:rPr lang="en-US" altLang="zh-CN" dirty="0" err="1">
                <a:latin typeface="Times New Roman" panose="02020603050405020304" pitchFamily="18" charset="0"/>
              </a:rPr>
              <a:t>toString</a:t>
            </a:r>
            <a:r>
              <a:rPr lang="en-US" altLang="zh-CN" dirty="0">
                <a:latin typeface="Times New Roman" panose="02020603050405020304" pitchFamily="18" charset="0"/>
              </a:rPr>
              <a:t>() { </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   return("Account #" + </a:t>
            </a:r>
            <a:r>
              <a:rPr lang="en-US" altLang="zh-CN" dirty="0" err="1">
                <a:latin typeface="Times New Roman" panose="02020603050405020304" pitchFamily="18" charset="0"/>
              </a:rPr>
              <a:t>accountNumber</a:t>
            </a:r>
            <a:r>
              <a:rPr lang="en-US" altLang="zh-CN" dirty="0">
                <a:latin typeface="Times New Roman" panose="02020603050405020304" pitchFamily="18" charset="0"/>
              </a:rPr>
              <a:t> + " with balance $" + balance); </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0" indent="0">
              <a:buNone/>
            </a:pPr>
            <a:endParaRPr lang="en-US" altLang="zh-CN" sz="3600" dirty="0">
              <a:latin typeface="Times New Roman" panose="02020603050405020304" pitchFamily="18" charset="0"/>
            </a:endParaRPr>
          </a:p>
          <a:p>
            <a:pPr marL="0" indent="0">
              <a:buNone/>
            </a:pPr>
            <a:r>
              <a:rPr lang="zh-CN" altLang="en-US" sz="3600" dirty="0">
                <a:latin typeface="Times New Roman" panose="02020603050405020304" pitchFamily="18" charset="0"/>
              </a:rPr>
              <a:t>重新编译</a:t>
            </a:r>
            <a:r>
              <a:rPr lang="en-US" altLang="zh-CN" sz="3600" dirty="0" err="1">
                <a:latin typeface="Times New Roman" panose="02020603050405020304" pitchFamily="18" charset="0"/>
              </a:rPr>
              <a:t>BankAccount</a:t>
            </a:r>
            <a:r>
              <a:rPr lang="zh-CN" altLang="en-US" sz="3600" dirty="0">
                <a:latin typeface="Times New Roman" panose="02020603050405020304" pitchFamily="18" charset="0"/>
              </a:rPr>
              <a:t>类，并运行测试类</a:t>
            </a:r>
            <a:r>
              <a:rPr lang="en-US" altLang="zh-CN" sz="3600" dirty="0" err="1">
                <a:latin typeface="Times New Roman" panose="02020603050405020304" pitchFamily="18" charset="0"/>
              </a:rPr>
              <a:t>BankAccountTester</a:t>
            </a:r>
            <a:r>
              <a:rPr lang="zh-CN" altLang="en-US" sz="3600" dirty="0">
                <a:latin typeface="Times New Roman" panose="02020603050405020304" pitchFamily="18" charset="0"/>
              </a:rPr>
              <a:t>，结果如下：</a:t>
            </a:r>
            <a:endParaRPr lang="zh-CN" altLang="en-US" sz="3600" dirty="0">
              <a:latin typeface="Times New Roman" panose="02020603050405020304" pitchFamily="18" charset="0"/>
            </a:endParaRPr>
          </a:p>
          <a:p>
            <a:pPr marL="457200" lvl="1" indent="0">
              <a:buNone/>
            </a:pPr>
            <a:r>
              <a:rPr lang="en-US" altLang="zh-CN" dirty="0">
                <a:latin typeface="Times New Roman" panose="02020603050405020304" pitchFamily="18" charset="0"/>
              </a:rPr>
              <a:t>Here is the account: Account #100023 with balance $100.0</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Account name: </a:t>
            </a:r>
            <a:r>
              <a:rPr lang="en-US" altLang="zh-CN" dirty="0" err="1">
                <a:latin typeface="Times New Roman" panose="02020603050405020304" pitchFamily="18" charset="0"/>
              </a:rPr>
              <a:t>ZhangLi</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Account number: 100023</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Balance: $100.0</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Grade</a:t>
            </a:r>
            <a:r>
              <a:rPr lang="zh-CN" altLang="en-US" dirty="0">
                <a:latin typeface="Times New Roman" panose="02020603050405020304" pitchFamily="18" charset="0"/>
              </a:rPr>
              <a:t>：</a:t>
            </a:r>
            <a:r>
              <a:rPr lang="en-US" altLang="zh-CN" dirty="0">
                <a:latin typeface="Times New Roman" panose="02020603050405020304" pitchFamily="18" charset="0"/>
              </a:rPr>
              <a:t>General</a:t>
            </a:r>
            <a:endParaRPr lang="zh-CN" altLang="en-US" dirty="0">
              <a:latin typeface="Times New Roman" panose="02020603050405020304" pitchFamily="18" charset="0"/>
            </a:endParaRPr>
          </a:p>
        </p:txBody>
      </p:sp>
      <p:sp>
        <p:nvSpPr>
          <p:cNvPr id="3" name="文本框 2"/>
          <p:cNvSpPr txBox="1"/>
          <p:nvPr>
            <p:custDataLst>
              <p:tags r:id="rId1"/>
            </p:custDataLst>
          </p:nvPr>
        </p:nvSpPr>
        <p:spPr>
          <a:xfrm>
            <a:off x="407670" y="980440"/>
            <a:ext cx="309604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覆盖</a:t>
            </a:r>
            <a:r>
              <a:rPr lang="en-US" altLang="zh-CN" sz="2800" dirty="0" err="1">
                <a:solidFill>
                  <a:schemeClr val="bg1"/>
                </a:solidFill>
                <a:ea typeface="楷体" panose="02010609060101010101" pitchFamily="49" charset="-122"/>
                <a:cs typeface="思源黑体 CN Heavy" panose="020B0A00000000000000" charset="-122"/>
              </a:rPr>
              <a:t>toString</a:t>
            </a:r>
            <a:r>
              <a:rPr lang="en-US" altLang="zh-CN" sz="2800" dirty="0">
                <a:solidFill>
                  <a:schemeClr val="bg1"/>
                </a:solidFill>
                <a:ea typeface="楷体" panose="02010609060101010101" pitchFamily="49" charset="-122"/>
                <a:cs typeface="思源黑体 CN Heavy" panose="020B0A00000000000000" charset="-122"/>
              </a:rPr>
              <a:t>()</a:t>
            </a:r>
            <a:r>
              <a:rPr lang="zh-CN" altLang="en-US" sz="2800" dirty="0">
                <a:solidFill>
                  <a:schemeClr val="bg1"/>
                </a:solidFill>
                <a:ea typeface="楷体" panose="02010609060101010101" pitchFamily="49" charset="-122"/>
                <a:cs typeface="思源黑体 CN Heavy" panose="020B0A00000000000000" charset="-122"/>
              </a:rPr>
              <a:t>方法</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5" name="Rectangle 3"/>
          <p:cNvSpPr>
            <a:spLocks noGrp="1" noChangeArrowheads="1"/>
          </p:cNvSpPr>
          <p:nvPr>
            <p:ph idx="4294967295"/>
          </p:nvPr>
        </p:nvSpPr>
        <p:spPr>
          <a:xfrm>
            <a:off x="1631504" y="1772816"/>
            <a:ext cx="8064896" cy="4525963"/>
          </a:xfrm>
        </p:spPr>
        <p:txBody>
          <a:bodyPr vert="horz" wrap="square" lIns="92075" tIns="46038" rIns="92075" bIns="46038" numCol="1" anchor="t" anchorCtr="0" compatLnSpc="1"/>
          <a:lstStyle/>
          <a:p>
            <a:pPr marL="0" indent="0" eaLnBrk="1" hangingPunct="1">
              <a:lnSpc>
                <a:spcPct val="90000"/>
              </a:lnSpc>
              <a:buNone/>
            </a:pPr>
            <a:r>
              <a:rPr lang="zh-CN" altLang="en-US" sz="2400" dirty="0">
                <a:latin typeface="Times New Roman" panose="02020603050405020304" pitchFamily="18" charset="0"/>
              </a:rPr>
              <a:t>给</a:t>
            </a:r>
            <a:r>
              <a:rPr lang="en-US" altLang="zh-CN" sz="2400" dirty="0" err="1">
                <a:latin typeface="Times New Roman" panose="02020603050405020304" pitchFamily="18" charset="0"/>
              </a:rPr>
              <a:t>BankAccount</a:t>
            </a:r>
            <a:r>
              <a:rPr lang="zh-CN" altLang="en-US" sz="2400" dirty="0">
                <a:latin typeface="Times New Roman" panose="02020603050405020304" pitchFamily="18" charset="0"/>
              </a:rPr>
              <a:t>类增加存款及取款方法</a:t>
            </a:r>
            <a:endParaRPr lang="zh-CN" altLang="en-US" sz="2400" dirty="0">
              <a:latin typeface="Times New Roman" panose="02020603050405020304" pitchFamily="18" charset="0"/>
            </a:endParaRPr>
          </a:p>
          <a:p>
            <a:pPr lvl="1" eaLnBrk="1" hangingPunct="1">
              <a:lnSpc>
                <a:spcPct val="90000"/>
              </a:lnSpc>
              <a:spcBef>
                <a:spcPct val="55000"/>
              </a:spcBef>
              <a:buFont typeface="Georgia" panose="02040502050405020303" pitchFamily="18" charset="0"/>
              <a:buNone/>
            </a:pPr>
            <a:r>
              <a:rPr lang="zh-CN" altLang="en-US" sz="2000" dirty="0">
                <a:latin typeface="Times New Roman" panose="02020603050405020304" pitchFamily="18" charset="0"/>
              </a:rPr>
              <a:t>//存款    </a:t>
            </a:r>
            <a:endParaRPr lang="zh-CN" altLang="en-US" sz="2000" dirty="0">
              <a:latin typeface="Times New Roman" panose="02020603050405020304" pitchFamily="18" charset="0"/>
            </a:endParaRPr>
          </a:p>
          <a:p>
            <a:pPr lvl="1" eaLnBrk="1" hangingPunct="1">
              <a:lnSpc>
                <a:spcPct val="90000"/>
              </a:lnSpc>
              <a:buFont typeface="Georgia" panose="02040502050405020303" pitchFamily="18" charset="0"/>
              <a:buNone/>
            </a:pPr>
            <a:r>
              <a:rPr lang="zh-CN" altLang="en-US" sz="2000" dirty="0">
                <a:latin typeface="Times New Roman" panose="02020603050405020304" pitchFamily="18" charset="0"/>
              </a:rPr>
              <a:t>    </a:t>
            </a:r>
            <a:r>
              <a:rPr lang="en-US" altLang="zh-CN" sz="2200" dirty="0">
                <a:latin typeface="Times New Roman" panose="02020603050405020304" pitchFamily="18" charset="0"/>
              </a:rPr>
              <a:t>public float </a:t>
            </a:r>
            <a:r>
              <a:rPr lang="en-US" altLang="zh-CN" sz="2200" dirty="0">
                <a:solidFill>
                  <a:schemeClr val="tx2"/>
                </a:solidFill>
                <a:latin typeface="Times New Roman" panose="02020603050405020304" pitchFamily="18" charset="0"/>
              </a:rPr>
              <a:t>deposit(float </a:t>
            </a:r>
            <a:r>
              <a:rPr lang="en-US" altLang="zh-CN" sz="2200" dirty="0" err="1">
                <a:solidFill>
                  <a:schemeClr val="tx2"/>
                </a:solidFill>
                <a:latin typeface="Times New Roman" panose="02020603050405020304" pitchFamily="18" charset="0"/>
              </a:rPr>
              <a:t>anAmount</a:t>
            </a:r>
            <a:r>
              <a:rPr lang="en-US" altLang="zh-CN" sz="2200" dirty="0">
                <a:solidFill>
                  <a:schemeClr val="tx2"/>
                </a:solidFill>
                <a:latin typeface="Times New Roman" panose="02020603050405020304" pitchFamily="18" charset="0"/>
              </a:rPr>
              <a:t>)</a:t>
            </a:r>
            <a:r>
              <a:rPr lang="en-US" altLang="zh-CN" sz="2200" dirty="0">
                <a:latin typeface="Times New Roman" panose="02020603050405020304" pitchFamily="18" charset="0"/>
              </a:rPr>
              <a:t> {     </a:t>
            </a:r>
            <a:endParaRPr lang="en-US" altLang="zh-CN" sz="2200"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200" dirty="0">
                <a:latin typeface="Times New Roman" panose="02020603050405020304" pitchFamily="18" charset="0"/>
              </a:rPr>
              <a:t>       balance += </a:t>
            </a:r>
            <a:r>
              <a:rPr lang="en-US" altLang="zh-CN" sz="2200" dirty="0" err="1">
                <a:latin typeface="Times New Roman" panose="02020603050405020304" pitchFamily="18" charset="0"/>
              </a:rPr>
              <a:t>anAmount</a:t>
            </a:r>
            <a:r>
              <a:rPr lang="en-US" altLang="zh-CN" sz="2200" dirty="0">
                <a:latin typeface="Times New Roman" panose="02020603050405020304" pitchFamily="18" charset="0"/>
              </a:rPr>
              <a:t>; </a:t>
            </a:r>
            <a:endParaRPr lang="en-US" altLang="zh-CN" sz="2200"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200" dirty="0">
                <a:latin typeface="Times New Roman" panose="02020603050405020304" pitchFamily="18" charset="0"/>
              </a:rPr>
              <a:t>       return(balance); </a:t>
            </a:r>
            <a:endParaRPr lang="en-US" altLang="zh-CN" sz="2200"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200" dirty="0">
                <a:latin typeface="Times New Roman" panose="02020603050405020304" pitchFamily="18" charset="0"/>
              </a:rPr>
              <a:t>       }</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lvl="1" eaLnBrk="1" hangingPunct="1">
              <a:lnSpc>
                <a:spcPct val="90000"/>
              </a:lnSpc>
              <a:spcBef>
                <a:spcPct val="50000"/>
              </a:spcBef>
              <a:buFont typeface="Georgia" panose="02040502050405020303" pitchFamily="18" charset="0"/>
              <a:buNone/>
            </a:pPr>
            <a:r>
              <a:rPr lang="en-US" altLang="zh-CN" sz="2000" dirty="0">
                <a:latin typeface="Times New Roman" panose="02020603050405020304" pitchFamily="18" charset="0"/>
              </a:rPr>
              <a:t>// </a:t>
            </a:r>
            <a:r>
              <a:rPr lang="zh-CN" altLang="en-US" sz="2000" dirty="0">
                <a:latin typeface="Times New Roman" panose="02020603050405020304" pitchFamily="18" charset="0"/>
              </a:rPr>
              <a:t>取款</a:t>
            </a:r>
            <a:endParaRPr lang="zh-CN" altLang="en-US" sz="2000" dirty="0">
              <a:latin typeface="Times New Roman" panose="02020603050405020304" pitchFamily="18" charset="0"/>
            </a:endParaRPr>
          </a:p>
          <a:p>
            <a:pPr lvl="1" eaLnBrk="1" hangingPunct="1">
              <a:lnSpc>
                <a:spcPct val="90000"/>
              </a:lnSpc>
              <a:buFont typeface="Georgia" panose="02040502050405020303" pitchFamily="18" charset="0"/>
              <a:buNone/>
            </a:pPr>
            <a:r>
              <a:rPr lang="zh-CN" altLang="en-US" sz="2000" dirty="0">
                <a:latin typeface="Times New Roman" panose="02020603050405020304" pitchFamily="18" charset="0"/>
              </a:rPr>
              <a:t>    </a:t>
            </a:r>
            <a:r>
              <a:rPr lang="en-US" altLang="zh-CN" sz="2200" dirty="0">
                <a:latin typeface="Times New Roman" panose="02020603050405020304" pitchFamily="18" charset="0"/>
              </a:rPr>
              <a:t>public float </a:t>
            </a:r>
            <a:r>
              <a:rPr lang="en-US" altLang="zh-CN" sz="2200" dirty="0">
                <a:solidFill>
                  <a:schemeClr val="tx2"/>
                </a:solidFill>
                <a:latin typeface="Times New Roman" panose="02020603050405020304" pitchFamily="18" charset="0"/>
              </a:rPr>
              <a:t>withdraw(float </a:t>
            </a:r>
            <a:r>
              <a:rPr lang="en-US" altLang="zh-CN" sz="2200" dirty="0" err="1">
                <a:solidFill>
                  <a:schemeClr val="tx2"/>
                </a:solidFill>
                <a:latin typeface="Times New Roman" panose="02020603050405020304" pitchFamily="18" charset="0"/>
              </a:rPr>
              <a:t>anAmount</a:t>
            </a:r>
            <a:r>
              <a:rPr lang="en-US" altLang="zh-CN" sz="2200" dirty="0">
                <a:solidFill>
                  <a:schemeClr val="tx2"/>
                </a:solidFill>
                <a:latin typeface="Times New Roman" panose="02020603050405020304" pitchFamily="18" charset="0"/>
              </a:rPr>
              <a:t>)</a:t>
            </a:r>
            <a:r>
              <a:rPr lang="en-US" altLang="zh-CN" sz="2200" dirty="0">
                <a:latin typeface="Times New Roman" panose="02020603050405020304" pitchFamily="18" charset="0"/>
              </a:rPr>
              <a:t> { </a:t>
            </a:r>
            <a:endParaRPr lang="en-US" altLang="zh-CN" sz="2200"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200" dirty="0">
                <a:latin typeface="Times New Roman" panose="02020603050405020304" pitchFamily="18" charset="0"/>
              </a:rPr>
              <a:t>       balance -= </a:t>
            </a:r>
            <a:r>
              <a:rPr lang="en-US" altLang="zh-CN" sz="2200" dirty="0" err="1">
                <a:latin typeface="Times New Roman" panose="02020603050405020304" pitchFamily="18" charset="0"/>
              </a:rPr>
              <a:t>anAmount</a:t>
            </a:r>
            <a:r>
              <a:rPr lang="en-US" altLang="zh-CN" sz="2200" dirty="0">
                <a:latin typeface="Times New Roman" panose="02020603050405020304" pitchFamily="18" charset="0"/>
              </a:rPr>
              <a:t>; </a:t>
            </a:r>
            <a:endParaRPr lang="en-US" altLang="zh-CN" sz="2200"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200" dirty="0">
                <a:latin typeface="Times New Roman" panose="02020603050405020304" pitchFamily="18" charset="0"/>
              </a:rPr>
              <a:t>       return(</a:t>
            </a:r>
            <a:r>
              <a:rPr lang="en-US" altLang="zh-CN" sz="2200" dirty="0" err="1">
                <a:latin typeface="Times New Roman" panose="02020603050405020304" pitchFamily="18" charset="0"/>
              </a:rPr>
              <a:t>anAmount</a:t>
            </a:r>
            <a:r>
              <a:rPr lang="en-US" altLang="zh-CN" sz="2200" dirty="0">
                <a:latin typeface="Times New Roman" panose="02020603050405020304" pitchFamily="18" charset="0"/>
              </a:rPr>
              <a:t>);    </a:t>
            </a:r>
            <a:endParaRPr lang="en-US" altLang="zh-CN" sz="2200" dirty="0">
              <a:latin typeface="Times New Roman" panose="02020603050405020304" pitchFamily="18" charset="0"/>
            </a:endParaRPr>
          </a:p>
          <a:p>
            <a:pPr lvl="1" eaLnBrk="1" hangingPunct="1">
              <a:lnSpc>
                <a:spcPct val="90000"/>
              </a:lnSpc>
              <a:buFont typeface="Georgia" panose="02040502050405020303" pitchFamily="18" charset="0"/>
              <a:buNone/>
            </a:pPr>
            <a:r>
              <a:rPr lang="en-US" altLang="zh-CN" sz="2200" dirty="0">
                <a:latin typeface="Times New Roman" panose="02020603050405020304" pitchFamily="18" charset="0"/>
              </a:rPr>
              <a:t>    }</a:t>
            </a:r>
            <a:endParaRPr lang="en-US" altLang="zh-CN" sz="2200" dirty="0">
              <a:latin typeface="Times New Roman" panose="02020603050405020304" pitchFamily="18" charset="0"/>
            </a:endParaRPr>
          </a:p>
          <a:p>
            <a:pPr lvl="1" eaLnBrk="1" hangingPunct="1">
              <a:lnSpc>
                <a:spcPct val="90000"/>
              </a:lnSpc>
              <a:buFont typeface="Georgia" panose="02040502050405020303" pitchFamily="18" charset="0"/>
              <a:buNone/>
            </a:pPr>
            <a:endParaRPr lang="zh-CN" altLang="en-US" sz="2200"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309604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覆盖</a:t>
            </a:r>
            <a:r>
              <a:rPr lang="en-US" altLang="zh-CN" sz="2800" dirty="0" err="1">
                <a:solidFill>
                  <a:schemeClr val="bg1"/>
                </a:solidFill>
                <a:ea typeface="楷体" panose="02010609060101010101" pitchFamily="49" charset="-122"/>
                <a:cs typeface="思源黑体 CN Heavy" panose="020B0A00000000000000" charset="-122"/>
              </a:rPr>
              <a:t>toString</a:t>
            </a:r>
            <a:r>
              <a:rPr lang="en-US" altLang="zh-CN" sz="2800" dirty="0">
                <a:solidFill>
                  <a:schemeClr val="bg1"/>
                </a:solidFill>
                <a:ea typeface="楷体" panose="02010609060101010101" pitchFamily="49" charset="-122"/>
                <a:cs typeface="思源黑体 CN Heavy" panose="020B0A00000000000000" charset="-122"/>
              </a:rPr>
              <a:t>()</a:t>
            </a:r>
            <a:r>
              <a:rPr lang="zh-CN" altLang="en-US" sz="2800" dirty="0">
                <a:solidFill>
                  <a:schemeClr val="bg1"/>
                </a:solidFill>
                <a:ea typeface="楷体" panose="02010609060101010101" pitchFamily="49" charset="-122"/>
                <a:cs typeface="思源黑体 CN Heavy" panose="020B0A00000000000000" charset="-122"/>
              </a:rPr>
              <a:t>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3"/>
          <p:cNvSpPr>
            <a:spLocks noGrp="1" noChangeArrowheads="1"/>
          </p:cNvSpPr>
          <p:nvPr>
            <p:ph idx="4294967295"/>
          </p:nvPr>
        </p:nvSpPr>
        <p:spPr>
          <a:xfrm>
            <a:off x="695400" y="1490286"/>
            <a:ext cx="10153128" cy="5256583"/>
          </a:xfrm>
        </p:spPr>
        <p:txBody>
          <a:bodyPr vert="horz" wrap="square" lIns="92075" tIns="46038" rIns="92075" bIns="46038" numCol="1" anchor="t" anchorCtr="0" compatLnSpc="1">
            <a:normAutofit/>
          </a:bodyPr>
          <a:lstStyle/>
          <a:p>
            <a:pPr marL="0" indent="0">
              <a:lnSpc>
                <a:spcPct val="85000"/>
              </a:lnSpc>
              <a:buNone/>
            </a:pPr>
            <a:r>
              <a:rPr lang="en-US" altLang="zh-CN" sz="2000" dirty="0">
                <a:latin typeface="Times New Roman" panose="02020603050405020304" pitchFamily="18" charset="0"/>
              </a:rPr>
              <a:t>public class </a:t>
            </a:r>
            <a:r>
              <a:rPr lang="en-US" altLang="zh-CN" sz="2000" dirty="0" err="1">
                <a:latin typeface="Times New Roman" panose="02020603050405020304" pitchFamily="18" charset="0"/>
              </a:rPr>
              <a:t>AccountTester</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public static void main(String </a:t>
            </a:r>
            <a:r>
              <a:rPr lang="en-US" altLang="zh-CN" sz="2000" dirty="0" err="1">
                <a:latin typeface="Times New Roman" panose="02020603050405020304" pitchFamily="18" charset="0"/>
              </a:rPr>
              <a:t>args</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 = new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ZhangLi</a:t>
            </a:r>
            <a:r>
              <a:rPr lang="en-US" altLang="zh-CN" sz="2000" dirty="0">
                <a:latin typeface="Times New Roman" panose="02020603050405020304" pitchFamily="18" charset="0"/>
              </a:rPr>
              <a:t>", 100023, 0,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.General);</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anAccount.setBalance</a:t>
            </a:r>
            <a:r>
              <a:rPr lang="en-US" altLang="zh-CN" sz="2000" dirty="0">
                <a:latin typeface="Times New Roman" panose="02020603050405020304" pitchFamily="18" charset="0"/>
              </a:rPr>
              <a:t>(</a:t>
            </a:r>
            <a:r>
              <a:rPr lang="en-US" altLang="zh-CN" sz="2000" dirty="0" err="1">
                <a:latin typeface="Times New Roman" panose="02020603050405020304" pitchFamily="18" charset="0"/>
              </a:rPr>
              <a:t>anAccount.getBalance</a:t>
            </a:r>
            <a:r>
              <a:rPr lang="en-US" altLang="zh-CN" sz="2000" dirty="0">
                <a:latin typeface="Times New Roman" panose="02020603050405020304" pitchFamily="18" charset="0"/>
              </a:rPr>
              <a:t>() + 100);</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 = new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WangFang</a:t>
            </a:r>
            <a:r>
              <a:rPr lang="en-US" altLang="zh-CN" sz="2000" dirty="0">
                <a:latin typeface="Times New Roman" panose="02020603050405020304" pitchFamily="18" charset="0"/>
              </a:rPr>
              <a:t>", 100024,0,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.VIP);</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anAccount.deposit</a:t>
            </a:r>
            <a:r>
              <a:rPr lang="en-US" altLang="zh-CN" sz="2000" dirty="0">
                <a:latin typeface="Times New Roman" panose="02020603050405020304" pitchFamily="18" charset="0"/>
              </a:rPr>
              <a:t>(225.67f);</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anAccount.deposit</a:t>
            </a:r>
            <a:r>
              <a:rPr lang="en-US" altLang="zh-CN" sz="2000" dirty="0">
                <a:latin typeface="Times New Roman" panose="02020603050405020304" pitchFamily="18" charset="0"/>
              </a:rPr>
              <a:t>(300.00f);</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anAccount.withdraw</a:t>
            </a:r>
            <a:r>
              <a:rPr lang="en-US" altLang="zh-CN" sz="2000" dirty="0">
                <a:latin typeface="Times New Roman" panose="02020603050405020304" pitchFamily="18" charset="0"/>
              </a:rPr>
              <a:t>(400.17f);</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r>
              <a:rPr lang="en-US" altLang="zh-CN" sz="2000" dirty="0" err="1">
                <a:latin typeface="Times New Roman" panose="02020603050405020304" pitchFamily="18" charset="0"/>
              </a:rPr>
              <a:t>anAccount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sp>
        <p:nvSpPr>
          <p:cNvPr id="4" name="文本框 3"/>
          <p:cNvSpPr txBox="1"/>
          <p:nvPr/>
        </p:nvSpPr>
        <p:spPr>
          <a:xfrm>
            <a:off x="6312024" y="4509120"/>
            <a:ext cx="5268447" cy="1569660"/>
          </a:xfrm>
          <a:prstGeom prst="rect">
            <a:avLst/>
          </a:prstGeom>
          <a:solidFill>
            <a:schemeClr val="bg1"/>
          </a:solidFill>
          <a:ln>
            <a:solidFill>
              <a:srgbClr val="0070C0"/>
            </a:solidFill>
          </a:ln>
        </p:spPr>
        <p:txBody>
          <a:bodyPr wrap="square" rtlCol="0">
            <a:spAutoFit/>
          </a:bodyPr>
          <a:lstStyle/>
          <a:p>
            <a:pPr eaLnBrk="1" hangingPunct="1"/>
            <a:r>
              <a:rPr lang="zh-CN" altLang="en-US" sz="1600" dirty="0">
                <a:ea typeface="楷体" panose="02010609060101010101" pitchFamily="49" charset="-122"/>
              </a:rPr>
              <a:t>测试结果</a:t>
            </a:r>
            <a:endParaRPr lang="zh-CN" altLang="en-US" sz="1600" dirty="0">
              <a:ea typeface="楷体" panose="02010609060101010101" pitchFamily="49" charset="-122"/>
            </a:endParaRPr>
          </a:p>
          <a:p>
            <a:pPr lvl="1" eaLnBrk="1" hangingPunct="1">
              <a:buFont typeface="Georgia" panose="02040502050405020303" pitchFamily="18" charset="0"/>
              <a:buNone/>
            </a:pPr>
            <a:r>
              <a:rPr lang="en-US" altLang="zh-CN" sz="1600" dirty="0">
                <a:ea typeface="楷体" panose="02010609060101010101" pitchFamily="49" charset="-122"/>
              </a:rPr>
              <a:t>General account #100023 with balance $100.0</a:t>
            </a:r>
            <a:endParaRPr lang="en-US" altLang="zh-CN" sz="1600" dirty="0">
              <a:ea typeface="楷体" panose="02010609060101010101" pitchFamily="49" charset="-122"/>
            </a:endParaRPr>
          </a:p>
          <a:p>
            <a:pPr lvl="1" eaLnBrk="1" hangingPunct="1">
              <a:buFont typeface="Georgia" panose="02040502050405020303" pitchFamily="18" charset="0"/>
              <a:buNone/>
            </a:pPr>
            <a:endParaRPr lang="en-US" altLang="zh-CN" sz="1600" dirty="0">
              <a:ea typeface="楷体" panose="02010609060101010101" pitchFamily="49" charset="-122"/>
            </a:endParaRPr>
          </a:p>
          <a:p>
            <a:pPr lvl="1" eaLnBrk="1" hangingPunct="1">
              <a:buFont typeface="Georgia" panose="02040502050405020303" pitchFamily="18" charset="0"/>
              <a:buNone/>
            </a:pPr>
            <a:r>
              <a:rPr lang="en-US" altLang="zh-CN" sz="1600" dirty="0">
                <a:ea typeface="楷体" panose="02010609060101010101" pitchFamily="49" charset="-122"/>
              </a:rPr>
              <a:t>VIP account #100024 with balance $0.0</a:t>
            </a:r>
            <a:endParaRPr lang="en-US" altLang="zh-CN" sz="1600" dirty="0">
              <a:ea typeface="楷体" panose="02010609060101010101" pitchFamily="49" charset="-122"/>
            </a:endParaRPr>
          </a:p>
          <a:p>
            <a:pPr lvl="1" eaLnBrk="1" hangingPunct="1">
              <a:buFont typeface="Georgia" panose="02040502050405020303" pitchFamily="18" charset="0"/>
              <a:buNone/>
            </a:pPr>
            <a:r>
              <a:rPr lang="en-US" altLang="zh-CN" sz="1600" dirty="0">
                <a:ea typeface="楷体" panose="02010609060101010101" pitchFamily="49" charset="-122"/>
              </a:rPr>
              <a:t>VIP account #100024 with balance $525.67</a:t>
            </a:r>
            <a:endParaRPr lang="en-US" altLang="zh-CN" sz="1600" dirty="0">
              <a:ea typeface="楷体" panose="02010609060101010101" pitchFamily="49" charset="-122"/>
            </a:endParaRPr>
          </a:p>
          <a:p>
            <a:pPr lvl="1" eaLnBrk="1" hangingPunct="1">
              <a:buFont typeface="Georgia" panose="02040502050405020303" pitchFamily="18" charset="0"/>
              <a:buNone/>
            </a:pPr>
            <a:r>
              <a:rPr lang="en-US" altLang="zh-CN" sz="1600" dirty="0">
                <a:ea typeface="楷体" panose="02010609060101010101" pitchFamily="49" charset="-122"/>
              </a:rPr>
              <a:t>VIP account #100024 with balance $125.49997</a:t>
            </a:r>
            <a:endParaRPr lang="en-US" altLang="zh-CN" sz="1600" dirty="0">
              <a:ea typeface="楷体" panose="02010609060101010101" pitchFamily="49" charset="-122"/>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
        <p:nvSpPr>
          <p:cNvPr id="3" name="文本框 2"/>
          <p:cNvSpPr txBox="1"/>
          <p:nvPr>
            <p:custDataLst>
              <p:tags r:id="rId2"/>
            </p:custDataLst>
          </p:nvPr>
        </p:nvSpPr>
        <p:spPr>
          <a:xfrm>
            <a:off x="407670" y="980440"/>
            <a:ext cx="309604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覆盖</a:t>
            </a:r>
            <a:r>
              <a:rPr lang="en-US" altLang="zh-CN" sz="2800" dirty="0" err="1">
                <a:solidFill>
                  <a:schemeClr val="bg1"/>
                </a:solidFill>
                <a:ea typeface="楷体" panose="02010609060101010101" pitchFamily="49" charset="-122"/>
                <a:cs typeface="思源黑体 CN Heavy" panose="020B0A00000000000000" charset="-122"/>
              </a:rPr>
              <a:t>toString</a:t>
            </a:r>
            <a:r>
              <a:rPr lang="en-US" altLang="zh-CN" sz="2800" dirty="0">
                <a:solidFill>
                  <a:schemeClr val="bg1"/>
                </a:solidFill>
                <a:ea typeface="楷体" panose="02010609060101010101" pitchFamily="49" charset="-122"/>
                <a:cs typeface="思源黑体 CN Heavy" panose="020B0A00000000000000" charset="-122"/>
              </a:rPr>
              <a:t>()</a:t>
            </a:r>
            <a:r>
              <a:rPr lang="zh-CN" altLang="en-US" sz="2800" dirty="0">
                <a:solidFill>
                  <a:schemeClr val="bg1"/>
                </a:solidFill>
                <a:ea typeface="楷体" panose="02010609060101010101" pitchFamily="49" charset="-122"/>
                <a:cs typeface="思源黑体 CN Heavy" panose="020B0A00000000000000" charset="-122"/>
              </a:rPr>
              <a:t>方法</a:t>
            </a:r>
            <a:endParaRPr lang="zh-CN" altLang="en-US" sz="2800" dirty="0">
              <a:solidFill>
                <a:schemeClr val="bg1"/>
              </a:solidFill>
              <a:ea typeface="楷体" panose="02010609060101010101" pitchFamily="49" charset="-122"/>
              <a:cs typeface="思源黑体 CN Heavy" panose="020B0A00000000000000"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3"/>
          <p:cNvSpPr>
            <a:spLocks noGrp="1" noChangeArrowheads="1"/>
          </p:cNvSpPr>
          <p:nvPr>
            <p:ph idx="4294967295"/>
          </p:nvPr>
        </p:nvSpPr>
        <p:spPr>
          <a:xfrm>
            <a:off x="609600" y="1600201"/>
            <a:ext cx="10972800" cy="1612776"/>
          </a:xfrm>
        </p:spPr>
        <p:txBody>
          <a:bodyPr vert="horz" wrap="square" lIns="92075" tIns="46038" rIns="92075" bIns="46038" numCol="1" anchor="t" anchorCtr="0" compatLnSpc="1">
            <a:normAutofit fontScale="92500"/>
          </a:bodyPr>
          <a:lstStyle/>
          <a:p>
            <a:pPr eaLnBrk="1" hangingPunct="1">
              <a:lnSpc>
                <a:spcPct val="150000"/>
              </a:lnSpc>
              <a:spcBef>
                <a:spcPts val="0"/>
              </a:spcBef>
              <a:buFont typeface="Wingdings" panose="05000000000000000000" pitchFamily="2" charset="2"/>
              <a:buChar char="Ø"/>
            </a:pPr>
            <a:r>
              <a:rPr lang="en-US" altLang="zh-CN" sz="2700" dirty="0" err="1">
                <a:latin typeface="Times New Roman" panose="02020603050405020304" pitchFamily="18" charset="0"/>
              </a:rPr>
              <a:t>DecimalFormat</a:t>
            </a:r>
            <a:r>
              <a:rPr lang="zh-CN" altLang="en-US" sz="2700" dirty="0">
                <a:latin typeface="Times New Roman" panose="02020603050405020304" pitchFamily="18" charset="0"/>
              </a:rPr>
              <a:t>类在</a:t>
            </a:r>
            <a:r>
              <a:rPr lang="en-US" altLang="zh-CN" sz="2700" dirty="0" err="1">
                <a:latin typeface="Times New Roman" panose="02020603050405020304" pitchFamily="18" charset="0"/>
              </a:rPr>
              <a:t>java.text</a:t>
            </a:r>
            <a:r>
              <a:rPr lang="zh-CN" altLang="en-US" sz="2700" dirty="0">
                <a:latin typeface="Times New Roman" panose="02020603050405020304" pitchFamily="18" charset="0"/>
              </a:rPr>
              <a:t>包中。</a:t>
            </a:r>
            <a:endParaRPr lang="zh-CN" altLang="en-US" sz="2700" dirty="0">
              <a:latin typeface="Times New Roman" panose="02020603050405020304" pitchFamily="18" charset="0"/>
            </a:endParaRPr>
          </a:p>
          <a:p>
            <a:pPr>
              <a:lnSpc>
                <a:spcPct val="150000"/>
              </a:lnSpc>
              <a:spcBef>
                <a:spcPts val="0"/>
              </a:spcBef>
              <a:buFont typeface="Wingdings" panose="05000000000000000000" pitchFamily="2" charset="2"/>
              <a:buChar char="Ø"/>
            </a:pPr>
            <a:r>
              <a:rPr lang="zh-CN" altLang="en-US" sz="2700" dirty="0">
                <a:latin typeface="Times New Roman" panose="02020603050405020304" pitchFamily="18" charset="0"/>
              </a:rPr>
              <a:t>在</a:t>
            </a:r>
            <a:r>
              <a:rPr lang="en-US" altLang="zh-CN" sz="2700" dirty="0" err="1">
                <a:latin typeface="Times New Roman" panose="02020603050405020304" pitchFamily="18" charset="0"/>
              </a:rPr>
              <a:t>toString</a:t>
            </a:r>
            <a:r>
              <a:rPr lang="en-US" altLang="zh-CN" sz="2700" dirty="0">
                <a:latin typeface="Times New Roman" panose="02020603050405020304" pitchFamily="18" charset="0"/>
              </a:rPr>
              <a:t>()</a:t>
            </a:r>
            <a:r>
              <a:rPr lang="zh-CN" altLang="en-US" sz="2700" dirty="0">
                <a:latin typeface="Times New Roman" panose="02020603050405020304" pitchFamily="18" charset="0"/>
              </a:rPr>
              <a:t>方法中使用</a:t>
            </a:r>
            <a:r>
              <a:rPr lang="en-US" altLang="zh-CN" sz="2700" dirty="0" err="1">
                <a:latin typeface="Times New Roman" panose="02020603050405020304" pitchFamily="18" charset="0"/>
              </a:rPr>
              <a:t>DecimalFormat</a:t>
            </a:r>
            <a:r>
              <a:rPr lang="zh-CN" altLang="en-US" sz="2700" dirty="0">
                <a:latin typeface="Times New Roman" panose="02020603050405020304" pitchFamily="18" charset="0"/>
              </a:rPr>
              <a:t>类的实例方法</a:t>
            </a:r>
            <a:r>
              <a:rPr lang="en-US" altLang="zh-CN" sz="2700" dirty="0">
                <a:latin typeface="Times New Roman" panose="02020603050405020304" pitchFamily="18" charset="0"/>
              </a:rPr>
              <a:t>format</a:t>
            </a:r>
            <a:r>
              <a:rPr lang="zh-CN" altLang="en-US" sz="2700" dirty="0">
                <a:latin typeface="Times New Roman" panose="02020603050405020304" pitchFamily="18" charset="0"/>
              </a:rPr>
              <a:t>对数据进行格式化。</a:t>
            </a:r>
            <a:endParaRPr lang="zh-CN" altLang="en-US" sz="2700" dirty="0">
              <a:latin typeface="Times New Roman" panose="02020603050405020304" pitchFamily="18" charset="0"/>
            </a:endParaRPr>
          </a:p>
        </p:txBody>
      </p:sp>
      <p:sp>
        <p:nvSpPr>
          <p:cNvPr id="15565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92075" tIns="46038" rIns="92075" bIns="46038" numCol="1" anchor="ctr" anchorCtr="0" compatLnSpc="1"/>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856B9566-EDF7-4041-9B97-2FBCBBB23E47}" type="slidenum">
              <a:rPr kumimoji="1" lang="en-US" altLang="zh-CN" sz="1800">
                <a:solidFill>
                  <a:schemeClr val="bg1"/>
                </a:solidFill>
                <a:latin typeface="Times New Roman" panose="02020603050405020304" pitchFamily="18" charset="0"/>
                <a:ea typeface="楷体" panose="02010609060101010101" pitchFamily="49" charset="-122"/>
              </a:rPr>
            </a:fld>
            <a:endParaRPr kumimoji="1" lang="en-US" altLang="zh-CN" sz="1800">
              <a:solidFill>
                <a:schemeClr val="bg1"/>
              </a:solidFill>
              <a:latin typeface="Times New Roman" panose="02020603050405020304" pitchFamily="18" charset="0"/>
              <a:ea typeface="楷体" panose="02010609060101010101" pitchFamily="49" charset="-122"/>
            </a:endParaRPr>
          </a:p>
        </p:txBody>
      </p:sp>
      <p:sp>
        <p:nvSpPr>
          <p:cNvPr id="155654" name="Rectangle 5"/>
          <p:cNvSpPr>
            <a:spLocks noChangeArrowheads="1"/>
          </p:cNvSpPr>
          <p:nvPr/>
        </p:nvSpPr>
        <p:spPr bwMode="auto">
          <a:xfrm>
            <a:off x="1981200" y="576263"/>
            <a:ext cx="82296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eaLnBrk="1" hangingPunct="1">
              <a:spcBef>
                <a:spcPct val="0"/>
              </a:spcBef>
              <a:buClrTx/>
              <a:buFontTx/>
              <a:buNone/>
            </a:pPr>
            <a:endParaRPr lang="zh-CN" altLang="en-GB" sz="3600">
              <a:solidFill>
                <a:schemeClr val="tx2"/>
              </a:solidFill>
              <a:latin typeface="Trebuchet MS" panose="020B0603020202020204" pitchFamily="34" charset="0"/>
              <a:ea typeface="方正姚体" panose="02010601030101010101" pitchFamily="2" charset="-122"/>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1" name="Rectangle 3"/>
          <p:cNvSpPr>
            <a:spLocks noGrp="1" noChangeArrowheads="1"/>
          </p:cNvSpPr>
          <p:nvPr>
            <p:ph idx="4294967295"/>
          </p:nvPr>
        </p:nvSpPr>
        <p:spPr>
          <a:xfrm>
            <a:off x="335360" y="1604873"/>
            <a:ext cx="11665296" cy="2040151"/>
          </a:xfrm>
        </p:spPr>
        <p:txBody>
          <a:bodyPr vert="horz" wrap="square" lIns="92075" tIns="46038" rIns="92075" bIns="46038" numCol="1" anchor="t" anchorCtr="0" compatLnSpc="1"/>
          <a:lstStyle/>
          <a:p>
            <a:pPr marL="109220" indent="0">
              <a:spcBef>
                <a:spcPct val="20000"/>
              </a:spcBef>
              <a:buSzPct val="75000"/>
              <a:buNone/>
            </a:pPr>
            <a:r>
              <a:rPr kumimoji="1" lang="en-US" altLang="zh-CN" sz="2400" dirty="0">
                <a:latin typeface="Times New Roman" panose="02020603050405020304" pitchFamily="18" charset="0"/>
              </a:rPr>
              <a:t>public String </a:t>
            </a:r>
            <a:r>
              <a:rPr kumimoji="1" lang="en-US" altLang="zh-CN" sz="2400" dirty="0" err="1">
                <a:latin typeface="Times New Roman" panose="02020603050405020304" pitchFamily="18" charset="0"/>
              </a:rPr>
              <a:t>toString</a:t>
            </a:r>
            <a:r>
              <a:rPr kumimoji="1" lang="en-US" altLang="zh-CN" sz="2400" dirty="0">
                <a:latin typeface="Times New Roman" panose="02020603050405020304" pitchFamily="18" charset="0"/>
              </a:rPr>
              <a:t>() {</a:t>
            </a:r>
            <a:endParaRPr kumimoji="1" lang="en-US" altLang="zh-CN" sz="2400" dirty="0">
              <a:latin typeface="Times New Roman" panose="02020603050405020304" pitchFamily="18" charset="0"/>
            </a:endParaRPr>
          </a:p>
          <a:p>
            <a:pPr marL="109220" indent="0">
              <a:spcBef>
                <a:spcPct val="20000"/>
              </a:spcBef>
              <a:buSzPct val="75000"/>
              <a:buNone/>
            </a:pPr>
            <a:r>
              <a:rPr kumimoji="1" lang="en-US" altLang="zh-CN" sz="2400" dirty="0">
                <a:latin typeface="Times New Roman" panose="02020603050405020304" pitchFamily="18" charset="0"/>
              </a:rPr>
              <a:t>        return(grade + " account #" + </a:t>
            </a:r>
            <a:r>
              <a:rPr kumimoji="1" lang="en-US" altLang="zh-CN" sz="2400" dirty="0" err="1">
                <a:latin typeface="Times New Roman" panose="02020603050405020304" pitchFamily="18" charset="0"/>
              </a:rPr>
              <a:t>accountNumber</a:t>
            </a:r>
            <a:r>
              <a:rPr kumimoji="1" lang="en-US" altLang="zh-CN" sz="2400" dirty="0">
                <a:latin typeface="Times New Roman" panose="02020603050405020304" pitchFamily="18" charset="0"/>
              </a:rPr>
              <a:t> + " with balance " + new </a:t>
            </a:r>
            <a:r>
              <a:rPr kumimoji="1" lang="en-US" altLang="zh-CN" sz="2400" dirty="0" err="1">
                <a:latin typeface="Times New Roman" panose="02020603050405020304" pitchFamily="18" charset="0"/>
              </a:rPr>
              <a:t>java.text.DecimalFormat</a:t>
            </a:r>
            <a:r>
              <a:rPr kumimoji="1" lang="en-US" altLang="zh-CN" sz="2400" dirty="0">
                <a:latin typeface="Times New Roman" panose="02020603050405020304" pitchFamily="18" charset="0"/>
              </a:rPr>
              <a:t>("$0.00").format(balance));</a:t>
            </a:r>
            <a:endParaRPr kumimoji="1" lang="en-US" altLang="zh-CN" sz="2400" dirty="0">
              <a:latin typeface="Times New Roman" panose="02020603050405020304" pitchFamily="18" charset="0"/>
            </a:endParaRPr>
          </a:p>
          <a:p>
            <a:pPr marL="109220" indent="0">
              <a:spcBef>
                <a:spcPct val="20000"/>
              </a:spcBef>
              <a:buSzPct val="75000"/>
              <a:buNone/>
            </a:pPr>
            <a:r>
              <a:rPr kumimoji="1" lang="en-US" altLang="zh-CN" sz="2400" dirty="0">
                <a:latin typeface="Times New Roman" panose="02020603050405020304" pitchFamily="18" charset="0"/>
              </a:rPr>
              <a:t>}</a:t>
            </a:r>
            <a:endParaRPr kumimoji="1" lang="en-US" altLang="zh-CN" sz="2400" dirty="0">
              <a:latin typeface="Times New Roman" panose="02020603050405020304" pitchFamily="18" charset="0"/>
            </a:endParaRPr>
          </a:p>
          <a:p>
            <a:pPr marL="109220" indent="0">
              <a:spcBef>
                <a:spcPct val="20000"/>
              </a:spcBef>
              <a:buSzPct val="75000"/>
              <a:buNone/>
            </a:pPr>
            <a:endParaRPr kumimoji="1" lang="en-US" altLang="zh-CN" sz="2400" dirty="0">
              <a:solidFill>
                <a:schemeClr val="tx1"/>
              </a:solidFill>
              <a:latin typeface="Times New Roman" panose="02020603050405020304" pitchFamily="18" charset="0"/>
            </a:endParaRPr>
          </a:p>
        </p:txBody>
      </p:sp>
      <p:sp>
        <p:nvSpPr>
          <p:cNvPr id="4" name="文本框 3"/>
          <p:cNvSpPr txBox="1"/>
          <p:nvPr/>
        </p:nvSpPr>
        <p:spPr>
          <a:xfrm>
            <a:off x="1343472" y="3833015"/>
            <a:ext cx="7344816" cy="2031325"/>
          </a:xfrm>
          <a:prstGeom prst="rect">
            <a:avLst/>
          </a:prstGeom>
          <a:solidFill>
            <a:schemeClr val="bg1"/>
          </a:solidFill>
          <a:ln>
            <a:solidFill>
              <a:srgbClr val="0070C0"/>
            </a:solidFill>
          </a:ln>
        </p:spPr>
        <p:txBody>
          <a:bodyPr wrap="square" rtlCol="0">
            <a:spAutoFit/>
          </a:bodyPr>
          <a:lstStyle/>
          <a:p>
            <a:pPr eaLnBrk="1" hangingPunct="1"/>
            <a:r>
              <a:rPr lang="zh-CN" altLang="en-US" sz="1800" dirty="0">
                <a:ea typeface="楷体" panose="02010609060101010101" pitchFamily="49" charset="-122"/>
              </a:rPr>
              <a:t>重新编译</a:t>
            </a:r>
            <a:r>
              <a:rPr lang="en-US" altLang="zh-CN" sz="1800" dirty="0" err="1">
                <a:solidFill>
                  <a:schemeClr val="tx2"/>
                </a:solidFill>
                <a:ea typeface="楷体" panose="02010609060101010101" pitchFamily="49" charset="-122"/>
              </a:rPr>
              <a:t>BankAccount</a:t>
            </a:r>
            <a:r>
              <a:rPr lang="zh-CN" altLang="en-US" sz="1800" dirty="0">
                <a:ea typeface="楷体" panose="02010609060101010101" pitchFamily="49" charset="-122"/>
              </a:rPr>
              <a:t>类，再运行</a:t>
            </a:r>
            <a:r>
              <a:rPr lang="en-US" altLang="zh-CN" sz="1800" dirty="0" err="1">
                <a:solidFill>
                  <a:schemeClr val="tx2"/>
                </a:solidFill>
                <a:ea typeface="楷体" panose="02010609060101010101" pitchFamily="49" charset="-122"/>
              </a:rPr>
              <a:t>BankTester</a:t>
            </a:r>
            <a:r>
              <a:rPr lang="zh-CN" altLang="en-US" sz="1800" dirty="0">
                <a:ea typeface="楷体" panose="02010609060101010101" pitchFamily="49" charset="-122"/>
              </a:rPr>
              <a:t>类，运行结果如下：</a:t>
            </a:r>
            <a:endParaRPr lang="zh-CN" altLang="en-US" sz="1800" dirty="0">
              <a:ea typeface="楷体" panose="02010609060101010101" pitchFamily="49" charset="-122"/>
            </a:endParaRPr>
          </a:p>
          <a:p>
            <a:pPr eaLnBrk="1" hangingPunct="1"/>
            <a:endParaRPr lang="zh-CN" altLang="en-US" sz="1800" dirty="0">
              <a:ea typeface="楷体" panose="02010609060101010101" pitchFamily="49" charset="-122"/>
            </a:endParaRPr>
          </a:p>
          <a:p>
            <a:pPr lvl="1" eaLnBrk="1" hangingPunct="1">
              <a:buFont typeface="Georgia" panose="02040502050405020303" pitchFamily="18" charset="0"/>
              <a:buNone/>
            </a:pPr>
            <a:r>
              <a:rPr lang="en-US" altLang="zh-CN" sz="1800" dirty="0">
                <a:ea typeface="楷体" panose="02010609060101010101" pitchFamily="49" charset="-122"/>
              </a:rPr>
              <a:t>General account #100023 with balance $100.00</a:t>
            </a:r>
            <a:endParaRPr lang="en-US" altLang="zh-CN" sz="1800" dirty="0">
              <a:ea typeface="楷体" panose="02010609060101010101" pitchFamily="49" charset="-122"/>
            </a:endParaRPr>
          </a:p>
          <a:p>
            <a:pPr lvl="1" eaLnBrk="1" hangingPunct="1">
              <a:buFont typeface="Georgia" panose="02040502050405020303" pitchFamily="18" charset="0"/>
              <a:buNone/>
            </a:pPr>
            <a:endParaRPr lang="en-US" altLang="zh-CN" sz="1800" dirty="0">
              <a:ea typeface="楷体" panose="02010609060101010101" pitchFamily="49" charset="-122"/>
            </a:endParaRPr>
          </a:p>
          <a:p>
            <a:pPr lvl="1" eaLnBrk="1" hangingPunct="1">
              <a:buFont typeface="Georgia" panose="02040502050405020303" pitchFamily="18" charset="0"/>
              <a:buNone/>
            </a:pPr>
            <a:r>
              <a:rPr lang="en-US" altLang="zh-CN" sz="1800" dirty="0">
                <a:ea typeface="楷体" panose="02010609060101010101" pitchFamily="49" charset="-122"/>
              </a:rPr>
              <a:t>VIP account #100024 with balance $0.00</a:t>
            </a:r>
            <a:endParaRPr lang="en-US" altLang="zh-CN" sz="1800" dirty="0">
              <a:ea typeface="楷体" panose="02010609060101010101" pitchFamily="49" charset="-122"/>
            </a:endParaRPr>
          </a:p>
          <a:p>
            <a:pPr lvl="1" eaLnBrk="1" hangingPunct="1">
              <a:buFont typeface="Georgia" panose="02040502050405020303" pitchFamily="18" charset="0"/>
              <a:buNone/>
            </a:pPr>
            <a:r>
              <a:rPr lang="en-US" altLang="zh-CN" sz="1800" dirty="0">
                <a:ea typeface="楷体" panose="02010609060101010101" pitchFamily="49" charset="-122"/>
              </a:rPr>
              <a:t>VIP account #100024 with balance $525.67</a:t>
            </a:r>
            <a:endParaRPr lang="en-US" altLang="zh-CN" sz="1800" dirty="0">
              <a:ea typeface="楷体" panose="02010609060101010101" pitchFamily="49" charset="-122"/>
            </a:endParaRPr>
          </a:p>
          <a:p>
            <a:pPr lvl="1" eaLnBrk="1" hangingPunct="1">
              <a:buFont typeface="Georgia" panose="02040502050405020303" pitchFamily="18" charset="0"/>
              <a:buNone/>
            </a:pPr>
            <a:r>
              <a:rPr lang="en-US" altLang="zh-CN" sz="1800" dirty="0">
                <a:ea typeface="楷体" panose="02010609060101010101" pitchFamily="49" charset="-122"/>
              </a:rPr>
              <a:t>VIP account #100024 with balance $125.50</a:t>
            </a:r>
            <a:endParaRPr lang="en-US" altLang="zh-CN" sz="1800" dirty="0">
              <a:ea typeface="楷体" panose="02010609060101010101" pitchFamily="49" charset="-122"/>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09600" y="1600201"/>
            <a:ext cx="10972800" cy="1684784"/>
          </a:xfrm>
        </p:spPr>
        <p:txBody>
          <a:bodyPr>
            <a:normAutofit/>
          </a:bodyPr>
          <a:lstStyle/>
          <a:p>
            <a:pPr marL="0" indent="0">
              <a:lnSpc>
                <a:spcPct val="150000"/>
              </a:lnSpc>
              <a:spcBef>
                <a:spcPts val="0"/>
              </a:spcBef>
              <a:buNone/>
            </a:pPr>
            <a:r>
              <a:rPr lang="zh-CN" altLang="en-US" sz="2700" b="1" dirty="0">
                <a:latin typeface="Times New Roman" panose="02020603050405020304" pitchFamily="18" charset="0"/>
              </a:rPr>
              <a:t>       可以在类中声明静态工厂方法返回特殊的</a:t>
            </a:r>
            <a:r>
              <a:rPr lang="en-US" altLang="zh-CN" sz="2700" b="1" dirty="0" err="1">
                <a:latin typeface="Times New Roman" panose="02020603050405020304" pitchFamily="18" charset="0"/>
              </a:rPr>
              <a:t>BankAccount</a:t>
            </a:r>
            <a:r>
              <a:rPr lang="zh-CN" altLang="en-US" sz="2700" b="1" dirty="0">
                <a:latin typeface="Times New Roman" panose="02020603050405020304" pitchFamily="18" charset="0"/>
              </a:rPr>
              <a:t>实例。与构造方法相比，静态工厂方法的名字更直观，使用更方便。</a:t>
            </a:r>
            <a:endParaRPr lang="zh-CN" altLang="en-US" sz="2700" b="1"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3" name="Rectangle 3"/>
          <p:cNvSpPr>
            <a:spLocks noGrp="1" noChangeArrowheads="1"/>
          </p:cNvSpPr>
          <p:nvPr>
            <p:ph idx="4294967295"/>
          </p:nvPr>
        </p:nvSpPr>
        <p:spPr>
          <a:xfrm>
            <a:off x="609602" y="1556792"/>
            <a:ext cx="10972800" cy="2520280"/>
          </a:xfrm>
        </p:spPr>
        <p:txBody>
          <a:bodyPr/>
          <a:lstStyle/>
          <a:p>
            <a:pPr marL="0" indent="0">
              <a:spcBef>
                <a:spcPts val="0"/>
              </a:spcBef>
              <a:buNone/>
            </a:pPr>
            <a:r>
              <a:rPr lang="en-US" altLang="zh-CN" sz="2000" dirty="0">
                <a:latin typeface="Times New Roman" panose="02020603050405020304" pitchFamily="18" charset="0"/>
              </a:rPr>
              <a:t>public static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 </a:t>
            </a:r>
            <a:r>
              <a:rPr lang="en-US" altLang="zh-CN" sz="2200" dirty="0" err="1">
                <a:latin typeface="Times New Roman" panose="02020603050405020304" pitchFamily="18" charset="0"/>
              </a:rPr>
              <a:t>newInstance</a:t>
            </a:r>
            <a:r>
              <a:rPr lang="en-US" altLang="zh-CN" sz="2200" dirty="0">
                <a:latin typeface="Times New Roman" panose="02020603050405020304" pitchFamily="18" charset="0"/>
              </a:rPr>
              <a:t>(String</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grade) {</a:t>
            </a:r>
            <a:endParaRPr lang="en-US" altLang="zh-CN" sz="2000" dirty="0">
              <a:latin typeface="Times New Roman" panose="02020603050405020304" pitchFamily="18" charset="0"/>
            </a:endParaRPr>
          </a:p>
          <a:p>
            <a:pPr marL="0" indent="0">
              <a:spcBef>
                <a:spcPts val="0"/>
              </a:spcBef>
              <a:buNone/>
            </a:pPr>
            <a:r>
              <a:rPr lang="en-US" altLang="zh-CN" sz="2000" dirty="0">
                <a:latin typeface="Times New Roman" panose="02020603050405020304" pitchFamily="18" charset="0"/>
              </a:rPr>
              <a:t>        return new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0, 0f,grade);</a:t>
            </a:r>
            <a:endParaRPr lang="en-US" altLang="zh-CN" sz="2000" dirty="0">
              <a:latin typeface="Times New Roman" panose="02020603050405020304" pitchFamily="18" charset="0"/>
            </a:endParaRPr>
          </a:p>
          <a:p>
            <a:pPr marL="0" indent="0">
              <a:spcBef>
                <a:spcPts val="0"/>
              </a:spcBef>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spcBef>
                <a:spcPts val="0"/>
              </a:spcBef>
              <a:buNone/>
            </a:pPr>
            <a:endParaRPr lang="en-US" altLang="zh-CN" sz="2000" dirty="0">
              <a:latin typeface="Times New Roman" panose="02020603050405020304" pitchFamily="18" charset="0"/>
            </a:endParaRPr>
          </a:p>
          <a:p>
            <a:pPr marL="0" indent="0">
              <a:spcBef>
                <a:spcPts val="0"/>
              </a:spcBef>
              <a:buNone/>
            </a:pPr>
            <a:r>
              <a:rPr lang="en-US" altLang="zh-CN" sz="2000" dirty="0">
                <a:latin typeface="Times New Roman" panose="02020603050405020304" pitchFamily="18" charset="0"/>
              </a:rPr>
              <a:t>public static </a:t>
            </a:r>
            <a:r>
              <a:rPr lang="en-US" altLang="zh-CN" sz="2000" dirty="0" err="1">
                <a:latin typeface="Times New Roman" panose="02020603050405020304" pitchFamily="18" charset="0"/>
              </a:rPr>
              <a:t>BankAccount</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newInstance</a:t>
            </a:r>
            <a:r>
              <a:rPr lang="en-US" altLang="zh-CN" sz="2000" dirty="0">
                <a:latin typeface="Times New Roman" panose="02020603050405020304" pitchFamily="18" charset="0"/>
              </a:rPr>
              <a:t>(String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spcBef>
                <a:spcPts val="0"/>
              </a:spcBef>
              <a:buNone/>
            </a:pPr>
            <a:r>
              <a:rPr lang="en-US" altLang="zh-CN" sz="2000" dirty="0">
                <a:latin typeface="Times New Roman" panose="02020603050405020304" pitchFamily="18" charset="0"/>
              </a:rPr>
              <a:t>        return </a:t>
            </a:r>
            <a:r>
              <a:rPr lang="en-US" altLang="zh-CN" sz="2000" dirty="0" err="1">
                <a:latin typeface="Times New Roman" panose="02020603050405020304" pitchFamily="18" charset="0"/>
              </a:rPr>
              <a:t>newInstance</a:t>
            </a:r>
            <a:r>
              <a:rPr lang="en-US" altLang="zh-CN" sz="2000" dirty="0">
                <a:latin typeface="Times New Roman" panose="02020603050405020304" pitchFamily="18" charset="0"/>
              </a:rPr>
              <a:t>(</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BankAccountGrade.General</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spcBef>
                <a:spcPts val="0"/>
              </a:spcBef>
              <a:buNone/>
            </a:pPr>
            <a:r>
              <a:rPr lang="en-US" altLang="zh-CN" sz="2000" dirty="0">
                <a:latin typeface="Times New Roman" panose="02020603050405020304" pitchFamily="18" charset="0"/>
              </a:rPr>
              <a:t>}</a:t>
            </a:r>
            <a:endParaRPr lang="zh-CN" altLang="en-US" sz="2000"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1" name="Rectangle 3"/>
          <p:cNvSpPr>
            <a:spLocks noGrp="1" noChangeArrowheads="1"/>
          </p:cNvSpPr>
          <p:nvPr>
            <p:ph idx="4294967295"/>
          </p:nvPr>
        </p:nvSpPr>
        <p:spPr>
          <a:xfrm>
            <a:off x="609600" y="1600200"/>
            <a:ext cx="11247040" cy="3917031"/>
          </a:xfrm>
        </p:spPr>
        <p:txBody>
          <a:bodyPr vert="horz" wrap="square" lIns="92075" tIns="46038" rIns="92075" bIns="46038" numCol="1" anchor="t" anchorCtr="0" compatLnSpc="1">
            <a:noAutofit/>
          </a:bodyPr>
          <a:lstStyle/>
          <a:p>
            <a:pPr>
              <a:lnSpc>
                <a:spcPct val="140000"/>
              </a:lnSpc>
              <a:buFont typeface="Wingdings" panose="05000000000000000000" pitchFamily="2" charset="2"/>
              <a:buChar char="Ø"/>
            </a:pPr>
            <a:r>
              <a:rPr lang="zh-CN" altLang="en-US" sz="2700" dirty="0">
                <a:latin typeface="Times New Roman" panose="02020603050405020304" pitchFamily="18" charset="0"/>
              </a:rPr>
              <a:t>修改构造方法，取消帐号参数；</a:t>
            </a:r>
            <a:endParaRPr lang="zh-CN" altLang="en-US" sz="2700" dirty="0">
              <a:latin typeface="Times New Roman" panose="02020603050405020304" pitchFamily="18" charset="0"/>
            </a:endParaRPr>
          </a:p>
          <a:p>
            <a:pPr>
              <a:lnSpc>
                <a:spcPct val="140000"/>
              </a:lnSpc>
              <a:buFont typeface="Wingdings" panose="05000000000000000000" pitchFamily="2" charset="2"/>
              <a:buChar char="Ø"/>
            </a:pPr>
            <a:r>
              <a:rPr lang="zh-CN" altLang="en-US" sz="2700" dirty="0">
                <a:latin typeface="Times New Roman" panose="02020603050405020304" pitchFamily="18" charset="0"/>
              </a:rPr>
              <a:t>不允许直接修改账号，取消</a:t>
            </a:r>
            <a:r>
              <a:rPr lang="en-US" altLang="zh-CN" sz="2700" dirty="0" err="1">
                <a:latin typeface="Times New Roman" panose="02020603050405020304" pitchFamily="18" charset="0"/>
              </a:rPr>
              <a:t>setAccountNumber</a:t>
            </a:r>
            <a:r>
              <a:rPr lang="zh-CN" altLang="en-US" sz="2700" dirty="0">
                <a:latin typeface="Times New Roman" panose="02020603050405020304" pitchFamily="18" charset="0"/>
              </a:rPr>
              <a:t>方法；</a:t>
            </a:r>
            <a:endParaRPr lang="zh-CN" altLang="en-US" sz="2700" dirty="0">
              <a:latin typeface="Times New Roman" panose="02020603050405020304" pitchFamily="18" charset="0"/>
            </a:endParaRPr>
          </a:p>
          <a:p>
            <a:pPr>
              <a:lnSpc>
                <a:spcPct val="140000"/>
              </a:lnSpc>
              <a:buFont typeface="Wingdings" panose="05000000000000000000" pitchFamily="2" charset="2"/>
              <a:buChar char="Ø"/>
            </a:pPr>
            <a:r>
              <a:rPr lang="zh-CN" altLang="en-US" sz="2700" dirty="0">
                <a:latin typeface="Times New Roman" panose="02020603050405020304" pitchFamily="18" charset="0"/>
              </a:rPr>
              <a:t>增加类变量</a:t>
            </a:r>
            <a:r>
              <a:rPr lang="en-US" altLang="zh-CN" sz="2700" dirty="0">
                <a:latin typeface="Times New Roman" panose="02020603050405020304" pitchFamily="18" charset="0"/>
              </a:rPr>
              <a:t>LAST_ACCOUNT_NUMBER，</a:t>
            </a:r>
            <a:r>
              <a:rPr lang="zh-CN" altLang="en-US" sz="2700" dirty="0">
                <a:latin typeface="Times New Roman" panose="02020603050405020304" pitchFamily="18" charset="0"/>
              </a:rPr>
              <a:t>初始值为0，当生成一个新的</a:t>
            </a:r>
            <a:r>
              <a:rPr lang="en-US" altLang="zh-CN" sz="2700" dirty="0" err="1">
                <a:latin typeface="Times New Roman" panose="02020603050405020304" pitchFamily="18" charset="0"/>
              </a:rPr>
              <a:t>BankAccount</a:t>
            </a:r>
            <a:r>
              <a:rPr lang="zh-CN" altLang="en-US" sz="2700" dirty="0">
                <a:latin typeface="Times New Roman" panose="02020603050405020304" pitchFamily="18" charset="0"/>
              </a:rPr>
              <a:t>对象时，其帐号（</a:t>
            </a:r>
            <a:r>
              <a:rPr lang="en-US" altLang="zh-CN" sz="2700" dirty="0" err="1">
                <a:latin typeface="Times New Roman" panose="02020603050405020304" pitchFamily="18" charset="0"/>
              </a:rPr>
              <a:t>accountNumber</a:t>
            </a:r>
            <a:r>
              <a:rPr lang="zh-CN" altLang="en-US" sz="2700" dirty="0">
                <a:latin typeface="Times New Roman" panose="02020603050405020304" pitchFamily="18" charset="0"/>
              </a:rPr>
              <a:t>）自动设置为为</a:t>
            </a:r>
            <a:r>
              <a:rPr lang="en-US" altLang="zh-CN" sz="2700" dirty="0">
                <a:latin typeface="Times New Roman" panose="02020603050405020304" pitchFamily="18" charset="0"/>
              </a:rPr>
              <a:t>LAST_ACCOUNT_NUMBER</a:t>
            </a:r>
            <a:r>
              <a:rPr lang="zh-CN" altLang="en-US" sz="2700" dirty="0">
                <a:latin typeface="Times New Roman" panose="02020603050405020304" pitchFamily="18" charset="0"/>
              </a:rPr>
              <a:t>的值累加1；</a:t>
            </a:r>
            <a:endParaRPr lang="zh-CN" altLang="en-US" sz="2700" dirty="0">
              <a:latin typeface="Times New Roman" panose="02020603050405020304" pitchFamily="18" charset="0"/>
            </a:endParaRPr>
          </a:p>
          <a:p>
            <a:pPr>
              <a:lnSpc>
                <a:spcPct val="140000"/>
              </a:lnSpc>
              <a:buFont typeface="Wingdings" panose="05000000000000000000" pitchFamily="2" charset="2"/>
              <a:buChar char="Ø"/>
            </a:pPr>
            <a:r>
              <a:rPr lang="zh-CN" altLang="en-US" sz="2700" dirty="0">
                <a:latin typeface="Times New Roman" panose="02020603050405020304" pitchFamily="18" charset="0"/>
              </a:rPr>
              <a:t>取消</a:t>
            </a:r>
            <a:r>
              <a:rPr lang="en-US" altLang="zh-CN" sz="2700" dirty="0" err="1">
                <a:latin typeface="Times New Roman" panose="02020603050405020304" pitchFamily="18" charset="0"/>
              </a:rPr>
              <a:t>setBalance</a:t>
            </a:r>
            <a:r>
              <a:rPr lang="zh-CN" altLang="en-US" sz="2700" dirty="0">
                <a:latin typeface="Times New Roman" panose="02020603050405020304" pitchFamily="18" charset="0"/>
              </a:rPr>
              <a:t>方法，仅通过存取款在操作改变余额。</a:t>
            </a:r>
            <a:endParaRPr lang="zh-CN" altLang="en-US" sz="2700" dirty="0">
              <a:latin typeface="Times New Roman" panose="02020603050405020304" pitchFamily="18" charset="0"/>
            </a:endParaRPr>
          </a:p>
        </p:txBody>
      </p:sp>
      <p:sp>
        <p:nvSpPr>
          <p:cNvPr id="2" name="灯片编号占位符 1"/>
          <p:cNvSpPr>
            <a:spLocks noGrp="1"/>
          </p:cNvSpPr>
          <p:nvPr>
            <p:ph type="sldNum" sz="quarter" idx="12"/>
          </p:nvPr>
        </p:nvSpPr>
        <p:spPr/>
        <p:txBody>
          <a:bodyPr/>
          <a:lstStyle/>
          <a:p>
            <a:pPr>
              <a:defRPr/>
            </a:pPr>
            <a:fld id="{1C500230-17C9-4CEC-B67E-B7DB8DE07B61}" type="slidenum">
              <a:rPr lang="en-US" altLang="zh-CN" smtClean="0">
                <a:latin typeface="Times New Roman" panose="02020603050405020304" pitchFamily="18" charset="0"/>
              </a:rPr>
            </a:fld>
            <a:endParaRPr lang="en-US" altLang="zh-CN">
              <a:latin typeface="Times New Roman" panose="02020603050405020304" pitchFamily="18" charset="0"/>
            </a:endParaRPr>
          </a:p>
        </p:txBody>
      </p:sp>
      <p:sp>
        <p:nvSpPr>
          <p:cNvPr id="3"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5" name="Rectangle 3"/>
          <p:cNvSpPr>
            <a:spLocks noGrp="1" noChangeArrowheads="1"/>
          </p:cNvSpPr>
          <p:nvPr>
            <p:ph idx="4294967295"/>
          </p:nvPr>
        </p:nvSpPr>
        <p:spPr>
          <a:xfrm>
            <a:off x="609600" y="1196752"/>
            <a:ext cx="11247040" cy="4928881"/>
          </a:xfrm>
        </p:spPr>
        <p:txBody>
          <a:bodyPr vert="horz" wrap="square" lIns="92075" tIns="46038" rIns="92075" bIns="46038" numCol="1" anchor="t" anchorCtr="0" compatLnSpc="1">
            <a:normAutofit lnSpcReduction="10000"/>
          </a:bodyPr>
          <a:lstStyle/>
          <a:p>
            <a:pPr marL="0" indent="0">
              <a:lnSpc>
                <a:spcPct val="110000"/>
              </a:lnSpc>
              <a:buNone/>
            </a:pPr>
            <a:r>
              <a:rPr lang="en-US" altLang="zh-CN" sz="2000" dirty="0" err="1">
                <a:latin typeface="Times New Roman" panose="02020603050405020304" pitchFamily="18" charset="0"/>
              </a:rPr>
              <a:t>enum</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 </a:t>
            </a:r>
            <a:r>
              <a:rPr lang="en-US" altLang="zh-CN" sz="2000" dirty="0">
                <a:solidFill>
                  <a:srgbClr val="0070C0"/>
                </a:solidFill>
                <a:latin typeface="Times New Roman" panose="02020603050405020304" pitchFamily="18" charset="0"/>
              </a:rPr>
              <a:t>//</a:t>
            </a:r>
            <a:r>
              <a:rPr lang="zh-CN" altLang="en-US" sz="2000" dirty="0">
                <a:solidFill>
                  <a:srgbClr val="0070C0"/>
                </a:solidFill>
                <a:latin typeface="Times New Roman" panose="02020603050405020304" pitchFamily="18" charset="0"/>
              </a:rPr>
              <a:t>定义枚举类型，表示账户的等级。共有两种等级：</a:t>
            </a:r>
            <a:r>
              <a:rPr lang="en-US" altLang="zh-CN" sz="2000" dirty="0">
                <a:solidFill>
                  <a:srgbClr val="0070C0"/>
                </a:solidFill>
                <a:latin typeface="Times New Roman" panose="02020603050405020304" pitchFamily="18" charset="0"/>
              </a:rPr>
              <a:t>VIP</a:t>
            </a:r>
            <a:r>
              <a:rPr lang="zh-CN" altLang="en-US" sz="2000" dirty="0">
                <a:solidFill>
                  <a:srgbClr val="0070C0"/>
                </a:solidFill>
                <a:latin typeface="Times New Roman" panose="02020603050405020304" pitchFamily="18" charset="0"/>
              </a:rPr>
              <a:t>和</a:t>
            </a:r>
            <a:r>
              <a:rPr lang="en-US" altLang="zh-CN" sz="2000" dirty="0">
                <a:solidFill>
                  <a:srgbClr val="0070C0"/>
                </a:solidFill>
                <a:latin typeface="Times New Roman" panose="02020603050405020304" pitchFamily="18" charset="0"/>
              </a:rPr>
              <a:t>GENERAL</a:t>
            </a:r>
            <a:endParaRPr lang="en-US" altLang="zh-CN" sz="2000" dirty="0">
              <a:solidFill>
                <a:srgbClr val="0070C0"/>
              </a:solidFill>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VIP,</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General;</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public class BankAccount2 {</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private static int LAST_ACCOUNT_NUMBER = 0;</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private int </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private String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private float balance;</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grade;</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public BankAccount2() {</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this("", 0,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.General);</a:t>
            </a:r>
            <a:endParaRPr lang="en-US" altLang="zh-CN" sz="2000" dirty="0">
              <a:latin typeface="Times New Roman" panose="02020603050405020304" pitchFamily="18" charset="0"/>
            </a:endParaRPr>
          </a:p>
          <a:p>
            <a:pPr marL="0" indent="0">
              <a:lnSpc>
                <a:spcPct val="110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lnSpc>
                <a:spcPct val="90000"/>
              </a:lnSpc>
              <a:buNone/>
            </a:pPr>
            <a:endParaRPr lang="zh-CN" altLang="en-US" sz="2000"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0" name="Rectangle 3"/>
          <p:cNvSpPr>
            <a:spLocks noGrp="1" noChangeArrowheads="1"/>
          </p:cNvSpPr>
          <p:nvPr>
            <p:ph idx="4294967295"/>
          </p:nvPr>
        </p:nvSpPr>
        <p:spPr>
          <a:xfrm>
            <a:off x="695400" y="1412776"/>
            <a:ext cx="10166920" cy="4520760"/>
          </a:xfrm>
        </p:spPr>
        <p:txBody>
          <a:bodyPr vert="horz" wrap="square" lIns="92075" tIns="46038" rIns="92075" bIns="46038" numCol="1" anchor="t" anchorCtr="0" compatLnSpc="1">
            <a:normAutofit lnSpcReduction="10000"/>
          </a:bodyPr>
          <a:lstStyle/>
          <a:p>
            <a:pPr marL="0" indent="0">
              <a:lnSpc>
                <a:spcPct val="75000"/>
              </a:lnSpc>
              <a:buNone/>
            </a:pPr>
            <a:r>
              <a:rPr lang="en-US" altLang="zh-CN" sz="2000" dirty="0">
                <a:latin typeface="Times New Roman" panose="02020603050405020304" pitchFamily="18" charset="0"/>
              </a:rPr>
              <a:t>    public BankAccount2(String </a:t>
            </a:r>
            <a:r>
              <a:rPr lang="en-US" altLang="zh-CN" sz="2000" dirty="0" err="1">
                <a:latin typeface="Times New Roman" panose="02020603050405020304" pitchFamily="18" charset="0"/>
              </a:rPr>
              <a:t>initName</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this(</a:t>
            </a:r>
            <a:r>
              <a:rPr lang="en-US" altLang="zh-CN" sz="2000" dirty="0" err="1">
                <a:latin typeface="Times New Roman" panose="02020603050405020304" pitchFamily="18" charset="0"/>
              </a:rPr>
              <a:t>initName</a:t>
            </a:r>
            <a:r>
              <a:rPr lang="en-US" altLang="zh-CN" sz="2000" dirty="0">
                <a:latin typeface="Times New Roman" panose="02020603050405020304" pitchFamily="18" charset="0"/>
              </a:rPr>
              <a:t>, 0,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.General);</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public BankAccount2(String </a:t>
            </a:r>
            <a:r>
              <a:rPr lang="en-US" altLang="zh-CN" sz="2000" dirty="0" err="1">
                <a:latin typeface="Times New Roman" panose="02020603050405020304" pitchFamily="18" charset="0"/>
              </a:rPr>
              <a:t>initName</a:t>
            </a:r>
            <a:r>
              <a:rPr lang="en-US" altLang="zh-CN" sz="2000" dirty="0">
                <a:latin typeface="Times New Roman" panose="02020603050405020304" pitchFamily="18" charset="0"/>
              </a:rPr>
              <a:t>, float </a:t>
            </a:r>
            <a:r>
              <a:rPr lang="en-US" altLang="zh-CN" sz="2000" dirty="0" err="1">
                <a:latin typeface="Times New Roman" panose="02020603050405020304" pitchFamily="18" charset="0"/>
              </a:rPr>
              <a:t>initBal</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 {</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initName</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 = ++LAST_ACCOUNT_NUMBER;</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balance = </a:t>
            </a:r>
            <a:r>
              <a:rPr lang="en-US" altLang="zh-CN" sz="2000" dirty="0" err="1">
                <a:latin typeface="Times New Roman" panose="02020603050405020304" pitchFamily="18" charset="0"/>
              </a:rPr>
              <a:t>initBal</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grade = g;</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a:t>
            </a:r>
            <a:r>
              <a:rPr lang="zh-CN" altLang="en-US" sz="2000" dirty="0">
                <a:latin typeface="Times New Roman" panose="02020603050405020304" pitchFamily="18" charset="0"/>
              </a:rPr>
              <a:t>静态工厂方法 *</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public static BankAccount2 </a:t>
            </a:r>
            <a:r>
              <a:rPr lang="en-US" altLang="zh-CN" sz="2000" dirty="0" err="1">
                <a:latin typeface="Times New Roman" panose="02020603050405020304" pitchFamily="18" charset="0"/>
              </a:rPr>
              <a:t>newInstance</a:t>
            </a:r>
            <a:r>
              <a:rPr lang="en-US" altLang="zh-CN" sz="2000" dirty="0">
                <a:latin typeface="Times New Roman" panose="02020603050405020304" pitchFamily="18" charset="0"/>
              </a:rPr>
              <a:t>(String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a:t>
            </a:r>
            <a:r>
              <a:rPr lang="en-US" altLang="zh-CN" sz="2000" dirty="0">
                <a:latin typeface="Times New Roman" panose="02020603050405020304" pitchFamily="18" charset="0"/>
              </a:rPr>
              <a:t> grade) {</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return new BankAccount2(</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a:t>
            </a:r>
            <a:r>
              <a:rPr lang="zh-CN" altLang="en-US" sz="2000" dirty="0">
                <a:latin typeface="Times New Roman" panose="02020603050405020304" pitchFamily="18" charset="0"/>
              </a:rPr>
              <a:t> </a:t>
            </a:r>
            <a:r>
              <a:rPr lang="en-US" altLang="zh-CN" sz="2000" dirty="0">
                <a:latin typeface="Times New Roman" panose="02020603050405020304" pitchFamily="18" charset="0"/>
              </a:rPr>
              <a:t>0f,</a:t>
            </a:r>
            <a:r>
              <a:rPr lang="zh-CN" altLang="en-US" sz="2000" dirty="0">
                <a:latin typeface="Times New Roman" panose="02020603050405020304" pitchFamily="18" charset="0"/>
              </a:rPr>
              <a:t> </a:t>
            </a:r>
            <a:r>
              <a:rPr lang="en-US" altLang="zh-CN" sz="2000" dirty="0">
                <a:latin typeface="Times New Roman" panose="02020603050405020304" pitchFamily="18" charset="0"/>
              </a:rPr>
              <a:t>grade);</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public static BankAccount2 </a:t>
            </a:r>
            <a:r>
              <a:rPr lang="en-US" altLang="zh-CN" sz="2000" dirty="0" err="1">
                <a:latin typeface="Times New Roman" panose="02020603050405020304" pitchFamily="18" charset="0"/>
              </a:rPr>
              <a:t>newInstance</a:t>
            </a:r>
            <a:r>
              <a:rPr lang="en-US" altLang="zh-CN" sz="2000" dirty="0">
                <a:latin typeface="Times New Roman" panose="02020603050405020304" pitchFamily="18" charset="0"/>
              </a:rPr>
              <a:t>(String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return </a:t>
            </a:r>
            <a:r>
              <a:rPr lang="en-US" altLang="zh-CN" sz="2000" dirty="0" err="1">
                <a:latin typeface="Times New Roman" panose="02020603050405020304" pitchFamily="18" charset="0"/>
              </a:rPr>
              <a:t>newInstance</a:t>
            </a:r>
            <a:r>
              <a:rPr lang="en-US" altLang="zh-CN" sz="2000" dirty="0">
                <a:latin typeface="Times New Roman" panose="02020603050405020304" pitchFamily="18" charset="0"/>
              </a:rPr>
              <a:t>(</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BankAccountGrade.General</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75000"/>
              </a:lnSpc>
              <a:buNone/>
            </a:pPr>
            <a:r>
              <a:rPr lang="en-US" altLang="zh-CN" sz="2000" dirty="0">
                <a:latin typeface="Times New Roman" panose="02020603050405020304" pitchFamily="18" charset="0"/>
              </a:rPr>
              <a:t>    }</a:t>
            </a:r>
            <a:endParaRPr lang="zh-CN" altLang="en-US" sz="2000"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p:cNvSpPr>
            <a:spLocks noGrp="1" noChangeArrowheads="1"/>
          </p:cNvSpPr>
          <p:nvPr>
            <p:ph idx="4294967295"/>
          </p:nvPr>
        </p:nvSpPr>
        <p:spPr>
          <a:xfrm>
            <a:off x="1703512" y="1412776"/>
            <a:ext cx="6566520" cy="4525963"/>
          </a:xfrm>
        </p:spPr>
        <p:txBody>
          <a:bodyPr vert="horz" wrap="square" lIns="92075" tIns="46038" rIns="92075" bIns="46038" numCol="1" anchor="t" anchorCtr="0" compatLnSpc="1"/>
          <a:lstStyle/>
          <a:p>
            <a:pPr marL="0" indent="0" eaLnBrk="1" hangingPunct="1">
              <a:buNone/>
            </a:pPr>
            <a:r>
              <a:rPr lang="en-US" altLang="zh-CN" sz="2000" dirty="0">
                <a:latin typeface="Times New Roman" panose="02020603050405020304" pitchFamily="18" charset="0"/>
              </a:rPr>
              <a:t>    public int </a:t>
            </a:r>
            <a:r>
              <a:rPr lang="en-US" altLang="zh-CN" sz="2000" dirty="0" err="1">
                <a:latin typeface="Times New Roman" panose="02020603050405020304" pitchFamily="18" charset="0"/>
              </a:rPr>
              <a:t>getAccountNumber</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return </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public String </a:t>
            </a:r>
            <a:r>
              <a:rPr lang="en-US" altLang="zh-CN" sz="2000" dirty="0" err="1">
                <a:latin typeface="Times New Roman" panose="02020603050405020304" pitchFamily="18" charset="0"/>
              </a:rPr>
              <a:t>getOwnerName</a:t>
            </a: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return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public float </a:t>
            </a:r>
            <a:r>
              <a:rPr lang="en-US" altLang="zh-CN" sz="2000" dirty="0" err="1">
                <a:latin typeface="Times New Roman" panose="02020603050405020304" pitchFamily="18" charset="0"/>
              </a:rPr>
              <a:t>getBalance</a:t>
            </a: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return balance;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public void </a:t>
            </a:r>
            <a:r>
              <a:rPr lang="en-US" altLang="zh-CN" sz="2000" dirty="0" err="1">
                <a:latin typeface="Times New Roman" panose="02020603050405020304" pitchFamily="18" charset="0"/>
              </a:rPr>
              <a:t>setOwnerName</a:t>
            </a:r>
            <a:r>
              <a:rPr lang="en-US" altLang="zh-CN" sz="2000" dirty="0">
                <a:latin typeface="Times New Roman" panose="02020603050405020304" pitchFamily="18" charset="0"/>
              </a:rPr>
              <a:t>(String </a:t>
            </a:r>
            <a:r>
              <a:rPr lang="en-US" altLang="zh-CN" sz="2000" dirty="0" err="1">
                <a:latin typeface="Times New Roman" panose="02020603050405020304" pitchFamily="18" charset="0"/>
              </a:rPr>
              <a:t>aName</a:t>
            </a: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ownerName</a:t>
            </a:r>
            <a:r>
              <a:rPr lang="en-US" altLang="zh-CN" sz="2000" dirty="0">
                <a:latin typeface="Times New Roman" panose="02020603050405020304" pitchFamily="18" charset="0"/>
              </a:rPr>
              <a:t> = </a:t>
            </a:r>
            <a:r>
              <a:rPr lang="en-US" altLang="zh-CN" sz="2000" dirty="0" err="1">
                <a:latin typeface="Times New Roman" panose="02020603050405020304" pitchFamily="18" charset="0"/>
              </a:rPr>
              <a:t>aName</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buNone/>
            </a:pP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lvl="2" eaLnBrk="1" hangingPunct="1">
              <a:lnSpc>
                <a:spcPct val="90000"/>
              </a:lnSpc>
            </a:pPr>
            <a:endParaRPr lang="zh-CN" altLang="en-US" sz="2400"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Rectangle 3"/>
          <p:cNvSpPr>
            <a:spLocks noGrp="1" noChangeArrowheads="1"/>
          </p:cNvSpPr>
          <p:nvPr>
            <p:ph idx="4294967295"/>
          </p:nvPr>
        </p:nvSpPr>
        <p:spPr>
          <a:xfrm>
            <a:off x="609600" y="1600200"/>
            <a:ext cx="11391056" cy="4525963"/>
          </a:xfrm>
        </p:spPr>
        <p:txBody>
          <a:bodyPr vert="horz" wrap="square" lIns="92075" tIns="46038" rIns="92075" bIns="46038" numCol="1" anchor="t" anchorCtr="0" compatLnSpc="1">
            <a:normAutofit lnSpcReduction="10000"/>
          </a:bodyPr>
          <a:lstStyle/>
          <a:p>
            <a:pPr marL="0" indent="0">
              <a:lnSpc>
                <a:spcPct val="85000"/>
              </a:lnSpc>
              <a:buNone/>
            </a:pPr>
            <a:r>
              <a:rPr lang="en-US" altLang="zh-CN" sz="2000" dirty="0">
                <a:latin typeface="Times New Roman" panose="02020603050405020304" pitchFamily="18" charset="0"/>
              </a:rPr>
              <a:t>    public String </a:t>
            </a:r>
            <a:r>
              <a:rPr lang="en-US" altLang="zh-CN" sz="2000" dirty="0" err="1">
                <a:latin typeface="Times New Roman" panose="02020603050405020304" pitchFamily="18" charset="0"/>
              </a:rPr>
              <a:t>toString</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return (grade + " account #" </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new </a:t>
            </a:r>
            <a:r>
              <a:rPr lang="en-US" altLang="zh-CN" sz="2000" dirty="0" err="1">
                <a:latin typeface="Times New Roman" panose="02020603050405020304" pitchFamily="18" charset="0"/>
              </a:rPr>
              <a:t>java.text.DecimalFormat</a:t>
            </a:r>
            <a:r>
              <a:rPr lang="en-US" altLang="zh-CN" sz="2000" dirty="0">
                <a:latin typeface="Times New Roman" panose="02020603050405020304" pitchFamily="18" charset="0"/>
              </a:rPr>
              <a:t>("000000").format(</a:t>
            </a:r>
            <a:r>
              <a:rPr lang="en-US" altLang="zh-CN" sz="2000" dirty="0" err="1">
                <a:latin typeface="Times New Roman" panose="02020603050405020304" pitchFamily="18" charset="0"/>
              </a:rPr>
              <a:t>accountNumber</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 with balance " + new </a:t>
            </a:r>
            <a:r>
              <a:rPr lang="en-US" altLang="zh-CN" sz="2000" dirty="0" err="1">
                <a:latin typeface="Times New Roman" panose="02020603050405020304" pitchFamily="18" charset="0"/>
              </a:rPr>
              <a:t>java.text.DecimalFormat</a:t>
            </a:r>
            <a:r>
              <a:rPr lang="en-US" altLang="zh-CN" sz="2000" dirty="0">
                <a:latin typeface="Times New Roman" panose="02020603050405020304" pitchFamily="18" charset="0"/>
              </a:rPr>
              <a:t>("$0.00").format(balance));</a:t>
            </a:r>
            <a:endParaRPr lang="en-US" altLang="zh-CN" sz="2000" dirty="0">
              <a:latin typeface="Times New Roman" panose="02020603050405020304" pitchFamily="18" charset="0"/>
            </a:endParaRPr>
          </a:p>
          <a:p>
            <a:pPr marL="0" indent="0">
              <a:lnSpc>
                <a:spcPct val="85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public float </a:t>
            </a:r>
            <a:r>
              <a:rPr lang="en-US" altLang="zh-CN" sz="2000" dirty="0">
                <a:solidFill>
                  <a:schemeClr val="tx2"/>
                </a:solidFill>
                <a:latin typeface="Times New Roman" panose="02020603050405020304" pitchFamily="18" charset="0"/>
              </a:rPr>
              <a:t>deposit(float </a:t>
            </a:r>
            <a:r>
              <a:rPr lang="en-US" altLang="zh-CN" sz="2000" dirty="0" err="1">
                <a:solidFill>
                  <a:schemeClr val="tx2"/>
                </a:solidFill>
                <a:latin typeface="Times New Roman" panose="02020603050405020304" pitchFamily="18" charset="0"/>
              </a:rPr>
              <a:t>anAmount</a:t>
            </a:r>
            <a:r>
              <a:rPr lang="en-US" altLang="zh-CN" sz="2000" dirty="0">
                <a:solidFill>
                  <a:schemeClr val="tx2"/>
                </a:solidFill>
                <a:latin typeface="Times New Roman" panose="02020603050405020304" pitchFamily="18" charset="0"/>
              </a:rPr>
              <a:t>)</a:t>
            </a: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balance += </a:t>
            </a:r>
            <a:r>
              <a:rPr lang="en-US" altLang="zh-CN" sz="2000" dirty="0" err="1">
                <a:latin typeface="Times New Roman" panose="02020603050405020304" pitchFamily="18" charset="0"/>
              </a:rPr>
              <a:t>anAmount</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return balance;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public float </a:t>
            </a:r>
            <a:r>
              <a:rPr lang="en-US" altLang="zh-CN" sz="2000" dirty="0">
                <a:solidFill>
                  <a:schemeClr val="tx2"/>
                </a:solidFill>
                <a:latin typeface="Times New Roman" panose="02020603050405020304" pitchFamily="18" charset="0"/>
              </a:rPr>
              <a:t>withdraw(float </a:t>
            </a:r>
            <a:r>
              <a:rPr lang="en-US" altLang="zh-CN" sz="2000" dirty="0" err="1">
                <a:solidFill>
                  <a:schemeClr val="tx2"/>
                </a:solidFill>
                <a:latin typeface="Times New Roman" panose="02020603050405020304" pitchFamily="18" charset="0"/>
              </a:rPr>
              <a:t>anAmount</a:t>
            </a:r>
            <a:r>
              <a:rPr lang="en-US" altLang="zh-CN" sz="2000" dirty="0">
                <a:solidFill>
                  <a:schemeClr val="tx2"/>
                </a:solidFill>
                <a:latin typeface="Times New Roman" panose="02020603050405020304" pitchFamily="18" charset="0"/>
              </a:rPr>
              <a:t>)</a:t>
            </a:r>
            <a:r>
              <a:rPr lang="en-US" altLang="zh-CN" sz="2000" dirty="0">
                <a:latin typeface="Times New Roman" panose="02020603050405020304" pitchFamily="18" charset="0"/>
              </a:rPr>
              <a:t> {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if (</a:t>
            </a:r>
            <a:r>
              <a:rPr lang="en-US" altLang="zh-CN" sz="2000" dirty="0" err="1">
                <a:latin typeface="Times New Roman" panose="02020603050405020304" pitchFamily="18" charset="0"/>
              </a:rPr>
              <a:t>anAmount</a:t>
            </a:r>
            <a:r>
              <a:rPr lang="en-US" altLang="zh-CN" sz="2000" dirty="0">
                <a:latin typeface="Times New Roman" panose="02020603050405020304" pitchFamily="18" charset="0"/>
              </a:rPr>
              <a:t> &lt;= balance)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balance -= </a:t>
            </a:r>
            <a:r>
              <a:rPr lang="en-US" altLang="zh-CN" sz="2000" dirty="0" err="1">
                <a:latin typeface="Times New Roman" panose="02020603050405020304" pitchFamily="18" charset="0"/>
              </a:rPr>
              <a:t>anAmount</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return </a:t>
            </a:r>
            <a:r>
              <a:rPr lang="en-US" altLang="zh-CN" sz="2000" dirty="0" err="1">
                <a:latin typeface="Times New Roman" panose="02020603050405020304" pitchFamily="18" charset="0"/>
              </a:rPr>
              <a:t>anAmount</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eaLnBrk="1" hangingPunct="1">
              <a:lnSpc>
                <a:spcPct val="85000"/>
              </a:lnSpc>
              <a:buNone/>
            </a:pPr>
            <a:r>
              <a:rPr lang="en-US" altLang="zh-CN" sz="2000" dirty="0">
                <a:latin typeface="Times New Roman" panose="02020603050405020304" pitchFamily="18" charset="0"/>
              </a:rPr>
              <a:t>} </a:t>
            </a:r>
            <a:endParaRPr lang="zh-CN" altLang="en-US" sz="2000"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p:cNvSpPr>
            <a:spLocks noGrp="1" noChangeArrowheads="1"/>
          </p:cNvSpPr>
          <p:nvPr>
            <p:ph idx="4294967295"/>
          </p:nvPr>
        </p:nvSpPr>
        <p:spPr>
          <a:xfrm>
            <a:off x="581882" y="1417638"/>
            <a:ext cx="10972800" cy="4525963"/>
          </a:xfrm>
        </p:spPr>
        <p:txBody>
          <a:bodyPr vert="horz" wrap="square" lIns="92075" tIns="46038" rIns="92075" bIns="46038" numCol="1" anchor="t" anchorCtr="0" compatLnSpc="1"/>
          <a:lstStyle/>
          <a:p>
            <a:pPr lvl="1">
              <a:buNone/>
            </a:pPr>
            <a:r>
              <a:rPr lang="en-US" altLang="zh-CN" sz="2000" dirty="0">
                <a:latin typeface="Times New Roman" panose="02020603050405020304" pitchFamily="18" charset="0"/>
              </a:rPr>
              <a:t>public class AccountTester2 {</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public static void main(String[] </a:t>
            </a:r>
            <a:r>
              <a:rPr lang="en-US" altLang="zh-CN" sz="2000" dirty="0" err="1">
                <a:latin typeface="Times New Roman" panose="02020603050405020304" pitchFamily="18" charset="0"/>
              </a:rPr>
              <a:t>args</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BankAccount2 </a:t>
            </a:r>
            <a:r>
              <a:rPr lang="en-US" altLang="zh-CN" sz="2000" dirty="0" err="1">
                <a:latin typeface="Times New Roman" panose="02020603050405020304" pitchFamily="18" charset="0"/>
              </a:rPr>
              <a:t>bobsAccount</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marysAccount</a:t>
            </a:r>
            <a:r>
              <a:rPr lang="en-US" altLang="zh-CN" sz="2000" dirty="0">
                <a:latin typeface="Times New Roman" panose="02020603050405020304" pitchFamily="18" charset="0"/>
              </a:rPr>
              <a:t>, </a:t>
            </a:r>
            <a:r>
              <a:rPr lang="en-US" altLang="zh-CN" sz="2000" dirty="0" err="1">
                <a:latin typeface="Times New Roman" panose="02020603050405020304" pitchFamily="18" charset="0"/>
              </a:rPr>
              <a:t>biffsAccount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bobsAccount</a:t>
            </a:r>
            <a:r>
              <a:rPr lang="en-US" altLang="zh-CN" sz="2000" dirty="0">
                <a:latin typeface="Times New Roman" panose="02020603050405020304" pitchFamily="18" charset="0"/>
              </a:rPr>
              <a:t> = BankAccount2.newInstance("Bob");</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marysAccount</a:t>
            </a:r>
            <a:r>
              <a:rPr lang="en-US" altLang="zh-CN" sz="2000" dirty="0">
                <a:latin typeface="Times New Roman" panose="02020603050405020304" pitchFamily="18" charset="0"/>
              </a:rPr>
              <a:t> = BankAccount2.newInstance("Mary");</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marysAccount.deposit</a:t>
            </a:r>
            <a:r>
              <a:rPr lang="en-US" altLang="zh-CN" sz="2000" dirty="0">
                <a:latin typeface="Times New Roman" panose="02020603050405020304" pitchFamily="18" charset="0"/>
              </a:rPr>
              <a:t>(250f);</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biffsAccount</a:t>
            </a:r>
            <a:r>
              <a:rPr lang="en-US" altLang="zh-CN" sz="2000" dirty="0">
                <a:latin typeface="Times New Roman" panose="02020603050405020304" pitchFamily="18" charset="0"/>
              </a:rPr>
              <a:t> = BankAccount2.newInstance("Biffs", </a:t>
            </a:r>
            <a:r>
              <a:rPr lang="en-US" altLang="zh-CN" sz="2000" dirty="0" err="1">
                <a:latin typeface="Times New Roman" panose="02020603050405020304" pitchFamily="18" charset="0"/>
              </a:rPr>
              <a:t>BankAccountGrade.VIP</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r>
              <a:rPr lang="en-US" altLang="zh-CN" sz="2000" dirty="0" err="1">
                <a:latin typeface="Times New Roman" panose="02020603050405020304" pitchFamily="18" charset="0"/>
              </a:rPr>
              <a:t>bobsAccount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r>
              <a:rPr lang="en-US" altLang="zh-CN" sz="2000" dirty="0" err="1">
                <a:latin typeface="Times New Roman" panose="02020603050405020304" pitchFamily="18" charset="0"/>
              </a:rPr>
              <a:t>marysAccount</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r>
              <a:rPr lang="en-US" altLang="zh-CN" sz="2000" dirty="0" err="1">
                <a:latin typeface="Times New Roman" panose="02020603050405020304" pitchFamily="18" charset="0"/>
              </a:rPr>
              <a:t>System.out.println</a:t>
            </a:r>
            <a:r>
              <a:rPr lang="en-US" altLang="zh-CN" sz="2000" dirty="0">
                <a:latin typeface="Times New Roman" panose="02020603050405020304" pitchFamily="18" charset="0"/>
              </a:rPr>
              <a:t>(</a:t>
            </a:r>
            <a:r>
              <a:rPr lang="en-US" altLang="zh-CN" sz="2000" dirty="0" err="1">
                <a:latin typeface="Times New Roman" panose="02020603050405020304" pitchFamily="18" charset="0"/>
              </a:rPr>
              <a:t>biffsAccount</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lvl="1">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p:txBody>
      </p:sp>
      <p:sp>
        <p:nvSpPr>
          <p:cNvPr id="3" name="文本框 2"/>
          <p:cNvSpPr txBox="1"/>
          <p:nvPr/>
        </p:nvSpPr>
        <p:spPr>
          <a:xfrm>
            <a:off x="6068282" y="5233392"/>
            <a:ext cx="5832648" cy="1497654"/>
          </a:xfrm>
          <a:prstGeom prst="rect">
            <a:avLst/>
          </a:prstGeom>
          <a:solidFill>
            <a:schemeClr val="bg1"/>
          </a:solidFill>
          <a:ln>
            <a:solidFill>
              <a:srgbClr val="002060"/>
            </a:solidFill>
          </a:ln>
        </p:spPr>
        <p:txBody>
          <a:bodyPr wrap="square" rtlCol="0">
            <a:spAutoFit/>
          </a:bodyPr>
          <a:lstStyle/>
          <a:p>
            <a:pPr eaLnBrk="1" hangingPunct="1">
              <a:lnSpc>
                <a:spcPct val="130000"/>
              </a:lnSpc>
            </a:pPr>
            <a:r>
              <a:rPr lang="zh-CN" altLang="en-US" sz="1800" dirty="0">
                <a:ea typeface="楷体" panose="02010609060101010101" pitchFamily="49" charset="-122"/>
              </a:rPr>
              <a:t>测试结果</a:t>
            </a:r>
            <a:endParaRPr lang="zh-CN" altLang="en-US" sz="1800" dirty="0">
              <a:ea typeface="楷体" panose="02010609060101010101" pitchFamily="49" charset="-122"/>
            </a:endParaRPr>
          </a:p>
          <a:p>
            <a:pPr lvl="1" eaLnBrk="1" hangingPunct="1">
              <a:lnSpc>
                <a:spcPct val="130000"/>
              </a:lnSpc>
              <a:buFont typeface="Georgia" panose="02040502050405020303" pitchFamily="18" charset="0"/>
              <a:buNone/>
            </a:pPr>
            <a:r>
              <a:rPr lang="en-US" altLang="zh-CN" sz="1800" dirty="0">
                <a:ea typeface="楷体" panose="02010609060101010101" pitchFamily="49" charset="-122"/>
              </a:rPr>
              <a:t>General account #000001 with balance $0.00</a:t>
            </a:r>
            <a:endParaRPr lang="en-US" altLang="zh-CN" sz="1800" dirty="0">
              <a:ea typeface="楷体" panose="02010609060101010101" pitchFamily="49" charset="-122"/>
            </a:endParaRPr>
          </a:p>
          <a:p>
            <a:pPr lvl="1" eaLnBrk="1" hangingPunct="1">
              <a:lnSpc>
                <a:spcPct val="130000"/>
              </a:lnSpc>
              <a:buFont typeface="Georgia" panose="02040502050405020303" pitchFamily="18" charset="0"/>
              <a:buNone/>
            </a:pPr>
            <a:r>
              <a:rPr lang="en-US" altLang="zh-CN" sz="1800" dirty="0">
                <a:ea typeface="楷体" panose="02010609060101010101" pitchFamily="49" charset="-122"/>
              </a:rPr>
              <a:t>General account #000002 with balance $250.00</a:t>
            </a:r>
            <a:endParaRPr lang="en-US" altLang="zh-CN" sz="1800" dirty="0">
              <a:ea typeface="楷体" panose="02010609060101010101" pitchFamily="49" charset="-122"/>
            </a:endParaRPr>
          </a:p>
          <a:p>
            <a:pPr lvl="1" eaLnBrk="1" hangingPunct="1">
              <a:lnSpc>
                <a:spcPct val="130000"/>
              </a:lnSpc>
              <a:buFont typeface="Georgia" panose="02040502050405020303" pitchFamily="18" charset="0"/>
              <a:buNone/>
            </a:pPr>
            <a:r>
              <a:rPr lang="en-US" altLang="zh-CN" sz="1800" dirty="0">
                <a:ea typeface="楷体" panose="02010609060101010101" pitchFamily="49" charset="-122"/>
              </a:rPr>
              <a:t>VIP account #000003 with balance $0.00</a:t>
            </a:r>
            <a:endParaRPr lang="en-US" altLang="zh-CN" sz="1800" dirty="0">
              <a:ea typeface="楷体" panose="02010609060101010101" pitchFamily="49" charset="-122"/>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4294967295"/>
          </p:nvPr>
        </p:nvSpPr>
        <p:spPr>
          <a:xfrm>
            <a:off x="609600" y="1340768"/>
            <a:ext cx="10972800" cy="5256584"/>
          </a:xfrm>
        </p:spPr>
        <p:txBody>
          <a:bodyPr>
            <a:normAutofit fontScale="85000" lnSpcReduction="20000"/>
          </a:bodyPr>
          <a:lstStyle/>
          <a:p>
            <a:pPr marL="0" indent="0">
              <a:buNone/>
            </a:pPr>
            <a:r>
              <a:rPr lang="zh-CN" altLang="en-US" dirty="0">
                <a:latin typeface="Times New Roman" panose="02020603050405020304" pitchFamily="18" charset="0"/>
              </a:rPr>
              <a:t>在声明和定义数组的同时对数组元素进行初始化，例如：</a:t>
            </a:r>
            <a:endParaRPr lang="zh-CN" altLang="en-US" dirty="0">
              <a:latin typeface="Times New Roman" panose="02020603050405020304" pitchFamily="18" charset="0"/>
            </a:endParaRPr>
          </a:p>
          <a:p>
            <a:pPr marL="457200" lvl="1" indent="0">
              <a:buNone/>
            </a:pPr>
            <a:r>
              <a:rPr lang="en-US" altLang="zh-CN" dirty="0" err="1">
                <a:latin typeface="Times New Roman" panose="02020603050405020304" pitchFamily="18" charset="0"/>
              </a:rPr>
              <a:t>BankAccount</a:t>
            </a:r>
            <a:r>
              <a:rPr lang="en-US" altLang="zh-CN" dirty="0">
                <a:latin typeface="Times New Roman" panose="02020603050405020304" pitchFamily="18" charset="0"/>
              </a:rPr>
              <a:t>[] accounts = { </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                new </a:t>
            </a:r>
            <a:r>
              <a:rPr lang="en-US" altLang="zh-CN" dirty="0" err="1">
                <a:latin typeface="Times New Roman" panose="02020603050405020304" pitchFamily="18" charset="0"/>
              </a:rPr>
              <a:t>BankAccount</a:t>
            </a:r>
            <a:r>
              <a:rPr lang="en-US" altLang="zh-CN" dirty="0">
                <a:latin typeface="Times New Roman" panose="02020603050405020304" pitchFamily="18" charset="0"/>
              </a:rPr>
              <a:t>(“Zhang", 100.00, </a:t>
            </a:r>
            <a:r>
              <a:rPr lang="en-US" altLang="zh-CN" dirty="0" err="1">
                <a:latin typeface="Times New Roman" panose="02020603050405020304" pitchFamily="18" charset="0"/>
              </a:rPr>
              <a:t>BankAccountGrade</a:t>
            </a:r>
            <a:r>
              <a:rPr lang="en-US" altLang="zh-CN" dirty="0">
                <a:latin typeface="Times New Roman" panose="02020603050405020304" pitchFamily="18" charset="0"/>
              </a:rPr>
              <a:t> .General), </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                new </a:t>
            </a:r>
            <a:r>
              <a:rPr lang="en-US" altLang="zh-CN" dirty="0" err="1">
                <a:latin typeface="Times New Roman" panose="02020603050405020304" pitchFamily="18" charset="0"/>
              </a:rPr>
              <a:t>BankAccount</a:t>
            </a:r>
            <a:r>
              <a:rPr lang="en-US" altLang="zh-CN" dirty="0">
                <a:latin typeface="Times New Roman" panose="02020603050405020304" pitchFamily="18" charset="0"/>
              </a:rPr>
              <a:t>(“Li", 2380.00, </a:t>
            </a:r>
            <a:r>
              <a:rPr lang="en-US" altLang="zh-CN" dirty="0" err="1">
                <a:latin typeface="Times New Roman" panose="02020603050405020304" pitchFamily="18" charset="0"/>
              </a:rPr>
              <a:t>BankAccountGrade</a:t>
            </a:r>
            <a:r>
              <a:rPr lang="en-US" altLang="zh-CN" dirty="0">
                <a:latin typeface="Times New Roman" panose="02020603050405020304" pitchFamily="18" charset="0"/>
              </a:rPr>
              <a:t> .General),</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                new </a:t>
            </a:r>
            <a:r>
              <a:rPr lang="en-US" altLang="zh-CN" dirty="0" err="1">
                <a:latin typeface="Times New Roman" panose="02020603050405020304" pitchFamily="18" charset="0"/>
              </a:rPr>
              <a:t>BankAccount</a:t>
            </a:r>
            <a:r>
              <a:rPr lang="en-US" altLang="zh-CN" dirty="0">
                <a:latin typeface="Times New Roman" panose="02020603050405020304" pitchFamily="18" charset="0"/>
              </a:rPr>
              <a:t>(“Wang", 500.00, </a:t>
            </a:r>
            <a:r>
              <a:rPr lang="en-US" altLang="zh-CN" dirty="0" err="1">
                <a:latin typeface="Times New Roman" panose="02020603050405020304" pitchFamily="18" charset="0"/>
              </a:rPr>
              <a:t>BankAccountGrade</a:t>
            </a:r>
            <a:r>
              <a:rPr lang="en-US" altLang="zh-CN" dirty="0">
                <a:latin typeface="Times New Roman" panose="02020603050405020304" pitchFamily="18" charset="0"/>
              </a:rPr>
              <a:t> .General),</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                new </a:t>
            </a:r>
            <a:r>
              <a:rPr lang="en-US" altLang="zh-CN" dirty="0" err="1">
                <a:latin typeface="Times New Roman" panose="02020603050405020304" pitchFamily="18" charset="0"/>
              </a:rPr>
              <a:t>BankAccount</a:t>
            </a:r>
            <a:r>
              <a:rPr lang="en-US" altLang="zh-CN" dirty="0">
                <a:latin typeface="Times New Roman" panose="02020603050405020304" pitchFamily="18" charset="0"/>
              </a:rPr>
              <a:t>(“Liu", 175.56, </a:t>
            </a:r>
            <a:r>
              <a:rPr lang="en-US" altLang="zh-CN" dirty="0" err="1">
                <a:latin typeface="Times New Roman" panose="02020603050405020304" pitchFamily="18" charset="0"/>
              </a:rPr>
              <a:t>BankAccountGrade</a:t>
            </a:r>
            <a:r>
              <a:rPr lang="en-US" altLang="zh-CN" dirty="0">
                <a:latin typeface="Times New Roman" panose="02020603050405020304" pitchFamily="18" charset="0"/>
              </a:rPr>
              <a:t> .General),</a:t>
            </a:r>
            <a:endParaRPr lang="en-US" altLang="zh-CN" dirty="0">
              <a:latin typeface="Times New Roman" panose="02020603050405020304" pitchFamily="18" charset="0"/>
            </a:endParaRPr>
          </a:p>
          <a:p>
            <a:pPr marL="457200" lvl="1" indent="0">
              <a:buNone/>
            </a:pPr>
            <a:r>
              <a:rPr lang="en-US" altLang="zh-CN" dirty="0">
                <a:latin typeface="Times New Roman" panose="02020603050405020304" pitchFamily="18" charset="0"/>
              </a:rPr>
              <a:t>                new </a:t>
            </a:r>
            <a:r>
              <a:rPr lang="en-US" altLang="zh-CN" dirty="0" err="1">
                <a:latin typeface="Times New Roman" panose="02020603050405020304" pitchFamily="18" charset="0"/>
              </a:rPr>
              <a:t>BankAccount</a:t>
            </a:r>
            <a:r>
              <a:rPr lang="en-US" altLang="zh-CN" dirty="0">
                <a:latin typeface="Times New Roman" panose="02020603050405020304" pitchFamily="18" charset="0"/>
              </a:rPr>
              <a:t>(“Ma", 924.02, </a:t>
            </a:r>
            <a:r>
              <a:rPr lang="en-US" altLang="zh-CN" dirty="0" err="1">
                <a:latin typeface="Times New Roman" panose="02020603050405020304" pitchFamily="18" charset="0"/>
              </a:rPr>
              <a:t>BankAccountGrade</a:t>
            </a:r>
            <a:r>
              <a:rPr lang="en-US" altLang="zh-CN" dirty="0">
                <a:latin typeface="Times New Roman" panose="02020603050405020304" pitchFamily="18" charset="0"/>
              </a:rPr>
              <a:t> .VIP)	};</a:t>
            </a:r>
            <a:endParaRPr lang="en-US" altLang="zh-CN" dirty="0">
              <a:latin typeface="Times New Roman" panose="02020603050405020304" pitchFamily="18" charset="0"/>
            </a:endParaRPr>
          </a:p>
          <a:p>
            <a:pPr marL="0" indent="0">
              <a:buNone/>
            </a:pPr>
            <a:r>
              <a:rPr lang="zh-CN" altLang="en-US" dirty="0">
                <a:latin typeface="Times New Roman" panose="02020603050405020304" pitchFamily="18" charset="0"/>
              </a:rPr>
              <a:t>先定义再初始化，需要经过两步：</a:t>
            </a:r>
            <a:endParaRPr lang="zh-CN" altLang="en-US" dirty="0">
              <a:latin typeface="Times New Roman" panose="02020603050405020304" pitchFamily="18" charset="0"/>
            </a:endParaRPr>
          </a:p>
          <a:p>
            <a:pPr marL="457200" lvl="1" indent="0">
              <a:buNone/>
            </a:pPr>
            <a:r>
              <a:rPr lang="zh-CN" altLang="en-US" dirty="0">
                <a:latin typeface="Times New Roman" panose="02020603050405020304" pitchFamily="18" charset="0"/>
              </a:rPr>
              <a:t>首先给数组分配空间</a:t>
            </a:r>
            <a:endParaRPr lang="zh-CN" altLang="en-US" dirty="0">
              <a:latin typeface="Times New Roman" panose="02020603050405020304" pitchFamily="18" charset="0"/>
            </a:endParaRPr>
          </a:p>
          <a:p>
            <a:pPr marL="914400" lvl="2" indent="0">
              <a:buNone/>
            </a:pPr>
            <a:r>
              <a:rPr lang="en-US" altLang="zh-CN" dirty="0">
                <a:latin typeface="Times New Roman" panose="02020603050405020304" pitchFamily="18" charset="0"/>
              </a:rPr>
              <a:t>type </a:t>
            </a:r>
            <a:r>
              <a:rPr lang="en-US" altLang="zh-CN" dirty="0" err="1">
                <a:latin typeface="Times New Roman" panose="02020603050405020304" pitchFamily="18" charset="0"/>
              </a:rPr>
              <a:t>arrayName</a:t>
            </a:r>
            <a:r>
              <a:rPr lang="en-US" altLang="zh-CN" dirty="0">
                <a:latin typeface="Times New Roman" panose="02020603050405020304" pitchFamily="18" charset="0"/>
              </a:rPr>
              <a:t>[ ]=new type[</a:t>
            </a:r>
            <a:r>
              <a:rPr lang="en-US" altLang="zh-CN" dirty="0" err="1">
                <a:latin typeface="Times New Roman" panose="02020603050405020304" pitchFamily="18" charset="0"/>
              </a:rPr>
              <a:t>arraySize</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457200" lvl="1" indent="0">
              <a:buNone/>
            </a:pPr>
            <a:r>
              <a:rPr lang="zh-CN" altLang="en-US" dirty="0">
                <a:latin typeface="Times New Roman" panose="02020603050405020304" pitchFamily="18" charset="0"/>
              </a:rPr>
              <a:t>然后给每一个数组元素分配空间</a:t>
            </a:r>
            <a:endParaRPr lang="zh-CN" altLang="en-US" dirty="0">
              <a:latin typeface="Times New Roman" panose="02020603050405020304" pitchFamily="18" charset="0"/>
            </a:endParaRPr>
          </a:p>
          <a:p>
            <a:pPr marL="914400" lvl="2" indent="0">
              <a:buNone/>
            </a:pPr>
            <a:r>
              <a:rPr lang="en-US" altLang="zh-CN" dirty="0" err="1">
                <a:latin typeface="Times New Roman" panose="02020603050405020304" pitchFamily="18" charset="0"/>
              </a:rPr>
              <a:t>arrayName</a:t>
            </a:r>
            <a:r>
              <a:rPr lang="en-US" altLang="zh-CN" dirty="0">
                <a:latin typeface="Times New Roman" panose="02020603050405020304" pitchFamily="18" charset="0"/>
              </a:rPr>
              <a:t>[0]=new type(</a:t>
            </a:r>
            <a:r>
              <a:rPr lang="en-US" altLang="zh-CN" dirty="0" err="1">
                <a:latin typeface="Times New Roman" panose="02020603050405020304" pitchFamily="18" charset="0"/>
              </a:rPr>
              <a:t>paramList</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914400" lvl="2" indent="0">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914400" lvl="2" indent="0">
              <a:buNone/>
            </a:pPr>
            <a:r>
              <a:rPr lang="en-US" altLang="zh-CN" dirty="0" err="1">
                <a:latin typeface="Times New Roman" panose="02020603050405020304" pitchFamily="18" charset="0"/>
              </a:rPr>
              <a:t>arrayName</a:t>
            </a:r>
            <a:r>
              <a:rPr lang="en-US" altLang="zh-CN" dirty="0">
                <a:latin typeface="Times New Roman" panose="02020603050405020304" pitchFamily="18" charset="0"/>
              </a:rPr>
              <a:t>[arraySize-1]=new type(</a:t>
            </a:r>
            <a:r>
              <a:rPr lang="en-US" altLang="zh-CN" dirty="0" err="1">
                <a:latin typeface="Times New Roman" panose="02020603050405020304" pitchFamily="18" charset="0"/>
              </a:rPr>
              <a:t>paramList</a:t>
            </a:r>
            <a:r>
              <a:rPr lang="en-US" altLang="zh-CN" dirty="0">
                <a:latin typeface="Times New Roman" panose="02020603050405020304" pitchFamily="18" charset="0"/>
              </a:rPr>
              <a:t>);</a:t>
            </a:r>
            <a:endParaRPr lang="en-US" altLang="zh-CN" dirty="0">
              <a:latin typeface="Times New Roman" panose="02020603050405020304" pitchFamily="18" charset="0"/>
            </a:endParaRPr>
          </a:p>
        </p:txBody>
      </p:sp>
      <p:sp>
        <p:nvSpPr>
          <p:cNvPr id="2" name="TextBox 3"/>
          <p:cNvSpPr txBox="1"/>
          <p:nvPr>
            <p:custDataLst>
              <p:tags r:id="rId1"/>
            </p:custDataLst>
          </p:nvPr>
        </p:nvSpPr>
        <p:spPr>
          <a:xfrm>
            <a:off x="4007768" y="79191"/>
            <a:ext cx="259228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2.5  </a:t>
            </a:r>
            <a:r>
              <a:rPr lang="zh-CN" altLang="en-US" sz="3200" dirty="0">
                <a:ln w="11430">
                  <a:noFill/>
                </a:ln>
                <a:solidFill>
                  <a:srgbClr val="255EAB"/>
                </a:solidFill>
                <a:ea typeface="楷体" panose="02010609060101010101" pitchFamily="49" charset="-122"/>
              </a:rPr>
              <a:t>应用举例</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内容占位符 2"/>
          <p:cNvSpPr>
            <a:spLocks noGrp="1"/>
          </p:cNvSpPr>
          <p:nvPr>
            <p:ph idx="4294967295"/>
          </p:nvPr>
        </p:nvSpPr>
        <p:spPr>
          <a:xfrm>
            <a:off x="803412" y="1268760"/>
            <a:ext cx="10585176" cy="3384376"/>
          </a:xfrm>
        </p:spPr>
        <p:txBody>
          <a:bodyPr>
            <a:noAutofit/>
          </a:bodyPr>
          <a:lstStyle/>
          <a:p>
            <a:pPr>
              <a:lnSpc>
                <a:spcPct val="150000"/>
              </a:lnSpc>
              <a:buFont typeface="Wingdings" panose="05000000000000000000" pitchFamily="2" charset="2"/>
              <a:buChar char="Ø"/>
            </a:pPr>
            <a:r>
              <a:rPr lang="zh-CN" altLang="en-US" sz="2700" b="1" dirty="0">
                <a:latin typeface="Times New Roman" panose="02020603050405020304" pitchFamily="18" charset="0"/>
              </a:rPr>
              <a:t>注解通过</a:t>
            </a:r>
            <a:r>
              <a:rPr lang="zh-CN" altLang="en-US" sz="2700" b="1" dirty="0">
                <a:solidFill>
                  <a:srgbClr val="FF3399"/>
                </a:solidFill>
                <a:highlight>
                  <a:srgbClr val="FFFF00"/>
                </a:highlight>
                <a:latin typeface="Times New Roman" panose="02020603050405020304" pitchFamily="18" charset="0"/>
              </a:rPr>
              <a:t>元数据的形式</a:t>
            </a:r>
            <a:r>
              <a:rPr lang="zh-CN" altLang="en-US" sz="2700" b="1" dirty="0">
                <a:latin typeface="Times New Roman" panose="02020603050405020304" pitchFamily="18" charset="0"/>
              </a:rPr>
              <a:t>为其所标注的程序提供一些额外的信息，例如告知编译器检查某种类型的错误，抑制某种类型的警告</a:t>
            </a:r>
            <a:endParaRPr lang="en-US" altLang="zh-CN" sz="2700" b="1" dirty="0">
              <a:latin typeface="Times New Roman" panose="02020603050405020304" pitchFamily="18" charset="0"/>
            </a:endParaRPr>
          </a:p>
          <a:p>
            <a:pPr>
              <a:lnSpc>
                <a:spcPct val="150000"/>
              </a:lnSpc>
              <a:buFont typeface="Wingdings" panose="05000000000000000000" pitchFamily="2" charset="2"/>
              <a:buChar char="Ø"/>
            </a:pPr>
            <a:r>
              <a:rPr lang="en-US" altLang="zh-CN" sz="2700" b="1" dirty="0">
                <a:latin typeface="Times New Roman" panose="02020603050405020304" pitchFamily="18" charset="0"/>
              </a:rPr>
              <a:t>Java</a:t>
            </a:r>
            <a:r>
              <a:rPr lang="zh-CN" altLang="en-US" sz="2700" b="1" dirty="0">
                <a:latin typeface="Times New Roman" panose="02020603050405020304" pitchFamily="18" charset="0"/>
              </a:rPr>
              <a:t>既提供特定的注解，同时也支持自定义注解</a:t>
            </a:r>
            <a:endParaRPr lang="en-US" altLang="zh-CN" sz="2700" b="1" dirty="0">
              <a:latin typeface="Times New Roman" panose="02020603050405020304" pitchFamily="18" charset="0"/>
            </a:endParaRPr>
          </a:p>
          <a:p>
            <a:pPr>
              <a:lnSpc>
                <a:spcPct val="150000"/>
              </a:lnSpc>
              <a:buFont typeface="Wingdings" panose="05000000000000000000" pitchFamily="2" charset="2"/>
              <a:buChar char="Ø"/>
            </a:pPr>
            <a:r>
              <a:rPr lang="en-US" altLang="zh-CN" sz="2700" b="1" dirty="0">
                <a:latin typeface="Times New Roman" panose="02020603050405020304" pitchFamily="18" charset="0"/>
              </a:rPr>
              <a:t>Java </a:t>
            </a:r>
            <a:r>
              <a:rPr lang="zh-CN" altLang="en-US" sz="2700" b="1" dirty="0">
                <a:latin typeface="Times New Roman" panose="02020603050405020304" pitchFamily="18" charset="0"/>
              </a:rPr>
              <a:t>提供了</a:t>
            </a:r>
            <a:r>
              <a:rPr lang="zh-CN" altLang="en-US" sz="2700" b="1" dirty="0">
                <a:solidFill>
                  <a:srgbClr val="FF3399"/>
                </a:solidFill>
                <a:highlight>
                  <a:srgbClr val="FFFF00"/>
                </a:highlight>
                <a:latin typeface="Times New Roman" panose="02020603050405020304" pitchFamily="18" charset="0"/>
              </a:rPr>
              <a:t>一些预定义的注解类型</a:t>
            </a:r>
            <a:r>
              <a:rPr lang="zh-CN" altLang="en-US" sz="2700" b="1" dirty="0">
                <a:latin typeface="Times New Roman" panose="02020603050405020304" pitchFamily="18" charset="0"/>
              </a:rPr>
              <a:t>，例如：</a:t>
            </a:r>
            <a:r>
              <a:rPr lang="en-US" altLang="zh-CN" sz="2700" b="1" dirty="0" err="1">
                <a:latin typeface="Times New Roman" panose="02020603050405020304" pitchFamily="18" charset="0"/>
              </a:rPr>
              <a:t>java.lang.Override</a:t>
            </a:r>
            <a:r>
              <a:rPr lang="zh-CN" altLang="en-US" sz="2700" b="1" dirty="0">
                <a:latin typeface="Times New Roman" panose="02020603050405020304" pitchFamily="18" charset="0"/>
              </a:rPr>
              <a:t>，</a:t>
            </a:r>
            <a:r>
              <a:rPr lang="en-US" altLang="zh-CN" sz="2700" b="1" dirty="0" err="1">
                <a:latin typeface="Times New Roman" panose="02020603050405020304" pitchFamily="18" charset="0"/>
              </a:rPr>
              <a:t>java.lang.Deprectated</a:t>
            </a:r>
            <a:r>
              <a:rPr lang="zh-CN" altLang="en-US" sz="2700" b="1" dirty="0">
                <a:latin typeface="Times New Roman" panose="02020603050405020304" pitchFamily="18" charset="0"/>
              </a:rPr>
              <a:t>和</a:t>
            </a:r>
            <a:r>
              <a:rPr lang="en-US" altLang="zh-CN" sz="2700" b="1" dirty="0" err="1">
                <a:latin typeface="Times New Roman" panose="02020603050405020304" pitchFamily="18" charset="0"/>
              </a:rPr>
              <a:t>java.lang.SuppressWarnings</a:t>
            </a:r>
            <a:endParaRPr lang="en-US" altLang="zh-CN" sz="2700" b="1" dirty="0">
              <a:latin typeface="Times New Roman" panose="02020603050405020304" pitchFamily="18" charset="0"/>
            </a:endParaRPr>
          </a:p>
        </p:txBody>
      </p:sp>
      <p:sp>
        <p:nvSpPr>
          <p:cNvPr id="137220"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300"/>
              </a:spcBef>
              <a:buClr>
                <a:srgbClr val="A04DA3"/>
              </a:buClr>
              <a:buFont typeface="Georgia" panose="02040502050405020303" pitchFamily="18" charset="0"/>
              <a:buChar char="•"/>
              <a:defRPr sz="2800">
                <a:solidFill>
                  <a:schemeClr val="tx1"/>
                </a:solidFill>
                <a:latin typeface="Georgia" panose="02040502050405020303" pitchFamily="18" charset="0"/>
                <a:ea typeface="宋体" panose="02010600030101010101" pitchFamily="2" charset="-122"/>
              </a:defRPr>
            </a:lvl1pPr>
            <a:lvl2pPr marL="742950" indent="-285750">
              <a:spcBef>
                <a:spcPts val="300"/>
              </a:spcBef>
              <a:buClr>
                <a:schemeClr val="accent2"/>
              </a:buClr>
              <a:buFont typeface="Georgia" panose="02040502050405020303" pitchFamily="18" charset="0"/>
              <a:buChar char="▫"/>
              <a:defRPr sz="2600">
                <a:solidFill>
                  <a:schemeClr val="accent1"/>
                </a:solidFill>
                <a:latin typeface="Georgia" panose="02040502050405020303" pitchFamily="18" charset="0"/>
                <a:ea typeface="宋体" panose="02010600030101010101" pitchFamily="2" charset="-122"/>
              </a:defRPr>
            </a:lvl2pPr>
            <a:lvl3pPr marL="1143000" indent="-228600">
              <a:spcBef>
                <a:spcPts val="300"/>
              </a:spcBef>
              <a:buClr>
                <a:schemeClr val="accent1"/>
              </a:buClr>
              <a:buFont typeface="Wingdings 2" panose="05020102010507070707" pitchFamily="18" charset="2"/>
              <a:buChar char=""/>
              <a:defRPr sz="2400">
                <a:solidFill>
                  <a:schemeClr val="accent1"/>
                </a:solidFill>
                <a:latin typeface="Georgia" panose="02040502050405020303" pitchFamily="18" charset="0"/>
                <a:ea typeface="宋体" panose="02010600030101010101" pitchFamily="2" charset="-122"/>
              </a:defRPr>
            </a:lvl3pPr>
            <a:lvl4pPr marL="1600200" indent="-228600">
              <a:spcBef>
                <a:spcPts val="300"/>
              </a:spcBef>
              <a:buClr>
                <a:schemeClr val="accent1"/>
              </a:buClr>
              <a:buFont typeface="Wingdings 2" panose="05020102010507070707" pitchFamily="18" charset="2"/>
              <a:buChar char=""/>
              <a:defRPr sz="2200">
                <a:solidFill>
                  <a:schemeClr val="accent1"/>
                </a:solidFill>
                <a:latin typeface="Georgia" panose="02040502050405020303" pitchFamily="18" charset="0"/>
                <a:ea typeface="宋体" panose="02010600030101010101" pitchFamily="2" charset="-122"/>
              </a:defRPr>
            </a:lvl4pPr>
            <a:lvl5pPr marL="2057400" indent="-228600">
              <a:spcBef>
                <a:spcPts val="300"/>
              </a:spcBef>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5pPr>
            <a:lvl6pPr marL="25146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6pPr>
            <a:lvl7pPr marL="29718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7pPr>
            <a:lvl8pPr marL="34290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8pPr>
            <a:lvl9pPr marL="3886200" indent="-228600" eaLnBrk="0" fontAlgn="base" hangingPunct="0">
              <a:spcBef>
                <a:spcPts val="300"/>
              </a:spcBef>
              <a:spcAft>
                <a:spcPct val="0"/>
              </a:spcAft>
              <a:buClr>
                <a:srgbClr val="A04DA3"/>
              </a:buClr>
              <a:buFont typeface="Georgia" panose="02040502050405020303" pitchFamily="18" charset="0"/>
              <a:buChar char="▫"/>
              <a:defRPr sz="2000">
                <a:solidFill>
                  <a:srgbClr val="A04DA3"/>
                </a:solidFill>
                <a:latin typeface="Georgia" panose="02040502050405020303" pitchFamily="18" charset="0"/>
                <a:ea typeface="宋体" panose="02010600030101010101" pitchFamily="2" charset="-122"/>
              </a:defRPr>
            </a:lvl9pPr>
          </a:lstStyle>
          <a:p>
            <a:pPr>
              <a:spcBef>
                <a:spcPct val="0"/>
              </a:spcBef>
              <a:buClrTx/>
              <a:buFontTx/>
              <a:buNone/>
            </a:pPr>
            <a:fld id="{57D744BD-AC82-491F-9E6B-70497BFE5078}" type="slidenum">
              <a:rPr lang="en-US" altLang="zh-CN" sz="1800">
                <a:solidFill>
                  <a:srgbClr val="FFFFFF"/>
                </a:solidFill>
                <a:latin typeface="Times New Roman" panose="02020603050405020304" pitchFamily="18" charset="0"/>
                <a:ea typeface="楷体" panose="02010609060101010101" pitchFamily="49" charset="-122"/>
              </a:rPr>
            </a:fld>
            <a:endParaRPr lang="en-US" altLang="zh-CN" sz="1800">
              <a:solidFill>
                <a:srgbClr val="FFFFFF"/>
              </a:solidFill>
              <a:latin typeface="Times New Roman" panose="02020603050405020304" pitchFamily="18" charset="0"/>
              <a:ea typeface="楷体" panose="02010609060101010101" pitchFamily="49" charset="-122"/>
            </a:endParaRPr>
          </a:p>
        </p:txBody>
      </p:sp>
      <p:sp>
        <p:nvSpPr>
          <p:cNvPr id="3" name="TextBox 3"/>
          <p:cNvSpPr txBox="1"/>
          <p:nvPr>
            <p:custDataLst>
              <p:tags r:id="rId1"/>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9" name="内容占位符 2"/>
          <p:cNvSpPr>
            <a:spLocks noGrp="1"/>
          </p:cNvSpPr>
          <p:nvPr>
            <p:ph idx="4294967295"/>
          </p:nvPr>
        </p:nvSpPr>
        <p:spPr>
          <a:xfrm>
            <a:off x="695400" y="1166018"/>
            <a:ext cx="10873208" cy="4525963"/>
          </a:xfrm>
        </p:spPr>
        <p:txBody>
          <a:bodyPr>
            <a:normAutofit fontScale="85000" lnSpcReduction="10000"/>
          </a:bodyPr>
          <a:lstStyle/>
          <a:p>
            <a:pPr>
              <a:buFont typeface="Wingdings" panose="05000000000000000000" pitchFamily="2" charset="2"/>
              <a:buChar char="Ø"/>
            </a:pPr>
            <a:r>
              <a:rPr lang="zh-CN" altLang="en-US" dirty="0">
                <a:latin typeface="Times New Roman" panose="02020603050405020304" pitchFamily="18" charset="0"/>
              </a:rPr>
              <a:t>注解可以理解成一个标签，是给类、方法、变量、属性等加标签；</a:t>
            </a:r>
            <a:endParaRPr lang="zh-CN" altLang="en-US" dirty="0">
              <a:latin typeface="Times New Roman" panose="02020603050405020304" pitchFamily="18" charset="0"/>
            </a:endParaRPr>
          </a:p>
          <a:p>
            <a:pPr>
              <a:buFont typeface="Wingdings" panose="05000000000000000000" pitchFamily="2" charset="2"/>
              <a:buChar char="Ø"/>
            </a:pPr>
            <a:r>
              <a:rPr lang="zh-CN" altLang="en-US" dirty="0">
                <a:latin typeface="Times New Roman" panose="02020603050405020304" pitchFamily="18" charset="0"/>
              </a:rPr>
              <a:t>这个标签还会有一些限制因素</a:t>
            </a:r>
            <a:r>
              <a:rPr lang="en-US" altLang="zh-CN" dirty="0">
                <a:latin typeface="Times New Roman" panose="02020603050405020304" pitchFamily="18" charset="0"/>
              </a:rPr>
              <a:t>——</a:t>
            </a:r>
            <a:r>
              <a:rPr lang="zh-CN" altLang="en-US" dirty="0">
                <a:latin typeface="Times New Roman" panose="02020603050405020304" pitchFamily="18" charset="0"/>
              </a:rPr>
              <a:t>元注解，元注解也是标签，用来描述注解。</a:t>
            </a:r>
            <a:endParaRPr lang="en-US" altLang="zh-CN" dirty="0">
              <a:latin typeface="Times New Roman" panose="02020603050405020304" pitchFamily="18" charset="0"/>
            </a:endParaRPr>
          </a:p>
          <a:p>
            <a:pPr>
              <a:buFont typeface="Wingdings" panose="05000000000000000000" pitchFamily="2" charset="2"/>
              <a:buChar char="Ø"/>
            </a:pPr>
            <a:r>
              <a:rPr lang="zh-CN" altLang="en-US" dirty="0">
                <a:latin typeface="Times New Roman" panose="02020603050405020304" pitchFamily="18" charset="0"/>
              </a:rPr>
              <a:t>注解的作用：</a:t>
            </a:r>
            <a:endParaRPr lang="en-US" altLang="zh-CN" dirty="0">
              <a:latin typeface="Times New Roman" panose="02020603050405020304" pitchFamily="18" charset="0"/>
            </a:endParaRPr>
          </a:p>
          <a:p>
            <a:pPr marL="971550" lvl="1" indent="-430530">
              <a:buFont typeface="+mj-ea"/>
              <a:buAutoNum type="circleNumDbPlain"/>
            </a:pPr>
            <a:r>
              <a:rPr lang="zh-CN" altLang="en-US" dirty="0">
                <a:latin typeface="Times New Roman" panose="02020603050405020304" pitchFamily="18" charset="0"/>
              </a:rPr>
              <a:t>提供信息给编译器： 编译器可以利用注解来探测错误和警告信息；</a:t>
            </a:r>
            <a:endParaRPr lang="en-US" altLang="zh-CN" dirty="0">
              <a:latin typeface="Times New Roman" panose="02020603050405020304" pitchFamily="18" charset="0"/>
            </a:endParaRPr>
          </a:p>
          <a:p>
            <a:pPr marL="971550" lvl="1" indent="-430530">
              <a:buFont typeface="+mj-ea"/>
              <a:buAutoNum type="circleNumDbPlain"/>
            </a:pPr>
            <a:r>
              <a:rPr lang="zh-CN" altLang="en-US" dirty="0">
                <a:latin typeface="Times New Roman" panose="02020603050405020304" pitchFamily="18" charset="0"/>
              </a:rPr>
              <a:t>编译阶段时的处理： 软件工具可以用来利用注解信息来生成代码、</a:t>
            </a:r>
            <a:r>
              <a:rPr lang="en-US" altLang="zh-CN" dirty="0">
                <a:latin typeface="Times New Roman" panose="02020603050405020304" pitchFamily="18" charset="0"/>
              </a:rPr>
              <a:t>Html</a:t>
            </a:r>
            <a:r>
              <a:rPr lang="zh-CN" altLang="en-US" dirty="0">
                <a:latin typeface="Times New Roman" panose="02020603050405020304" pitchFamily="18" charset="0"/>
              </a:rPr>
              <a:t>文档或者做其它相应处理；</a:t>
            </a:r>
            <a:endParaRPr lang="en-US" altLang="zh-CN" dirty="0">
              <a:latin typeface="Times New Roman" panose="02020603050405020304" pitchFamily="18" charset="0"/>
            </a:endParaRPr>
          </a:p>
          <a:p>
            <a:pPr marL="971550" lvl="1" indent="-430530">
              <a:buFont typeface="+mj-ea"/>
              <a:buAutoNum type="circleNumDbPlain"/>
            </a:pPr>
            <a:r>
              <a:rPr lang="zh-CN" altLang="en-US" dirty="0">
                <a:latin typeface="Times New Roman" panose="02020603050405020304" pitchFamily="18" charset="0"/>
              </a:rPr>
              <a:t>运行时的处理： 某些注解可以在程序运行的时候接受代码的提取。</a:t>
            </a:r>
            <a:endParaRPr lang="en-US" altLang="zh-CN" dirty="0">
              <a:latin typeface="Times New Roman" panose="02020603050405020304" pitchFamily="18" charset="0"/>
            </a:endParaRPr>
          </a:p>
          <a:p>
            <a:pPr>
              <a:buFont typeface="Wingdings" panose="05000000000000000000" pitchFamily="2" charset="2"/>
              <a:buChar char="Ø"/>
            </a:pPr>
            <a:r>
              <a:rPr lang="zh-CN" altLang="en-US" dirty="0">
                <a:latin typeface="Times New Roman" panose="02020603050405020304" pitchFamily="18" charset="0"/>
              </a:rPr>
              <a:t>参考：</a:t>
            </a:r>
            <a:endParaRPr lang="en-US" altLang="zh-CN" dirty="0">
              <a:latin typeface="Times New Roman" panose="02020603050405020304" pitchFamily="18" charset="0"/>
            </a:endParaRPr>
          </a:p>
          <a:p>
            <a:pPr lvl="1"/>
            <a:r>
              <a:rPr lang="en-US" altLang="zh-CN" dirty="0">
                <a:latin typeface="Times New Roman" panose="02020603050405020304" pitchFamily="18" charset="0"/>
              </a:rPr>
              <a:t>The Java® Language Specification</a:t>
            </a:r>
            <a:r>
              <a:rPr lang="zh-CN" altLang="en-US" dirty="0">
                <a:latin typeface="Times New Roman" panose="02020603050405020304" pitchFamily="18" charset="0"/>
              </a:rPr>
              <a:t>，</a:t>
            </a:r>
            <a:r>
              <a:rPr lang="en-US" altLang="zh-CN" dirty="0">
                <a:latin typeface="Times New Roman" panose="02020603050405020304" pitchFamily="18" charset="0"/>
              </a:rPr>
              <a:t>9.7. Annotations </a:t>
            </a:r>
            <a:r>
              <a:rPr lang="zh-CN" altLang="en-US" dirty="0">
                <a:latin typeface="Times New Roman" panose="02020603050405020304" pitchFamily="18" charset="0"/>
              </a:rPr>
              <a:t>（</a:t>
            </a:r>
            <a:r>
              <a:rPr lang="en-US" altLang="zh-CN" dirty="0">
                <a:latin typeface="Times New Roman" panose="02020603050405020304" pitchFamily="18" charset="0"/>
                <a:hlinkClick r:id="rId1"/>
              </a:rPr>
              <a:t>https://docs.oracle.com/javase/specs/index.html</a:t>
            </a:r>
            <a:r>
              <a:rPr lang="zh-CN" altLang="en-US" dirty="0">
                <a:latin typeface="Times New Roman" panose="02020603050405020304" pitchFamily="18" charset="0"/>
              </a:rPr>
              <a:t>）</a:t>
            </a:r>
            <a:endParaRPr lang="en-US" altLang="zh-CN" dirty="0">
              <a:latin typeface="Times New Roman" panose="02020603050405020304" pitchFamily="18" charset="0"/>
            </a:endParaRPr>
          </a:p>
        </p:txBody>
      </p:sp>
      <p:sp>
        <p:nvSpPr>
          <p:cNvPr id="4" name="TextBox 3"/>
          <p:cNvSpPr txBox="1"/>
          <p:nvPr>
            <p:custDataLst>
              <p:tags r:id="rId2"/>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txBox="1"/>
          <p:nvPr/>
        </p:nvSpPr>
        <p:spPr>
          <a:xfrm>
            <a:off x="896528" y="1556792"/>
            <a:ext cx="10670976" cy="51845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import </a:t>
            </a:r>
            <a:r>
              <a:rPr lang="en-US" altLang="zh-CN" sz="2000" dirty="0" err="1">
                <a:latin typeface="Times New Roman" panose="02020603050405020304" pitchFamily="18" charset="0"/>
              </a:rPr>
              <a:t>lombok.Getter</a:t>
            </a:r>
            <a:r>
              <a:rPr lang="en-US" altLang="zh-CN" sz="2000" dirty="0">
                <a:latin typeface="Times New Roman" panose="02020603050405020304" pitchFamily="18" charset="0"/>
              </a:rPr>
              <a:t>; //</a:t>
            </a:r>
            <a:r>
              <a:rPr lang="zh-CN" altLang="en-US" sz="2000" dirty="0">
                <a:latin typeface="Times New Roman" panose="02020603050405020304" pitchFamily="18" charset="0"/>
              </a:rPr>
              <a:t>需要从</a:t>
            </a:r>
            <a:r>
              <a:rPr lang="en-US" altLang="zh-CN" sz="2000" dirty="0">
                <a:latin typeface="Times New Roman" panose="02020603050405020304" pitchFamily="18" charset="0"/>
              </a:rPr>
              <a:t>https://projectlombok.org/</a:t>
            </a:r>
            <a:r>
              <a:rPr lang="zh-CN" altLang="en-US" sz="2000" dirty="0">
                <a:latin typeface="Times New Roman" panose="02020603050405020304" pitchFamily="18" charset="0"/>
              </a:rPr>
              <a:t>下载安装</a:t>
            </a:r>
            <a:r>
              <a:rPr lang="en-US" altLang="zh-CN" sz="2000" dirty="0">
                <a:latin typeface="Times New Roman" panose="02020603050405020304" pitchFamily="18" charset="0"/>
              </a:rPr>
              <a:t>lombok.jar</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import </a:t>
            </a:r>
            <a:r>
              <a:rPr lang="en-US" altLang="zh-CN" sz="2000" dirty="0" err="1">
                <a:latin typeface="Times New Roman" panose="02020603050405020304" pitchFamily="18" charset="0"/>
              </a:rPr>
              <a:t>lombok.Setter</a:t>
            </a:r>
            <a:r>
              <a:rPr lang="en-US" altLang="zh-CN" sz="2000" dirty="0">
                <a:latin typeface="Times New Roman" panose="02020603050405020304" pitchFamily="18" charset="0"/>
              </a:rPr>
              <a:t>; //</a:t>
            </a:r>
            <a:r>
              <a:rPr lang="zh-CN" altLang="en-US" sz="2000" dirty="0">
                <a:latin typeface="Times New Roman" panose="02020603050405020304" pitchFamily="18" charset="0"/>
              </a:rPr>
              <a:t>需要在</a:t>
            </a:r>
            <a:r>
              <a:rPr lang="en-US" altLang="zh-CN" sz="2000" dirty="0">
                <a:latin typeface="Times New Roman" panose="02020603050405020304" pitchFamily="18" charset="0"/>
              </a:rPr>
              <a:t>IDE</a:t>
            </a:r>
            <a:r>
              <a:rPr lang="zh-CN" altLang="en-US" sz="2000" dirty="0">
                <a:latin typeface="Times New Roman" panose="02020603050405020304" pitchFamily="18" charset="0"/>
              </a:rPr>
              <a:t>中添加</a:t>
            </a:r>
            <a:r>
              <a:rPr lang="en-US" altLang="zh-CN" sz="2000" dirty="0">
                <a:latin typeface="Times New Roman" panose="02020603050405020304" pitchFamily="18" charset="0"/>
              </a:rPr>
              <a:t>lombok.jar</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@Getter</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@Setter</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class </a:t>
            </a:r>
            <a:r>
              <a:rPr lang="en-US" altLang="zh-CN" sz="2000" dirty="0" err="1">
                <a:latin typeface="Times New Roman" panose="02020603050405020304" pitchFamily="18" charset="0"/>
              </a:rPr>
              <a:t>PointWithLombok</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    private double x;</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    private double y;</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public class </a:t>
            </a:r>
            <a:r>
              <a:rPr lang="en-US" altLang="zh-CN" sz="2000" dirty="0" err="1">
                <a:latin typeface="Times New Roman" panose="02020603050405020304" pitchFamily="18" charset="0"/>
              </a:rPr>
              <a:t>LombokAnnotationDemo</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    public static void main(String </a:t>
            </a:r>
            <a:r>
              <a:rPr lang="en-US" altLang="zh-CN" sz="2000" dirty="0" err="1">
                <a:latin typeface="Times New Roman" panose="02020603050405020304" pitchFamily="18" charset="0"/>
              </a:rPr>
              <a:t>args</a:t>
            </a: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         double xx;</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         xx = new </a:t>
            </a:r>
            <a:r>
              <a:rPr lang="en-US" altLang="zh-CN" sz="2000" dirty="0" err="1">
                <a:latin typeface="Times New Roman" panose="02020603050405020304" pitchFamily="18" charset="0"/>
              </a:rPr>
              <a:t>PointWithLombok</a:t>
            </a:r>
            <a:r>
              <a:rPr lang="en-US" altLang="zh-CN" sz="2000" dirty="0">
                <a:latin typeface="Times New Roman" panose="02020603050405020304" pitchFamily="18" charset="0"/>
              </a:rPr>
              <a:t>().</a:t>
            </a:r>
            <a:r>
              <a:rPr lang="en-US" altLang="zh-CN" sz="2000" dirty="0" err="1">
                <a:latin typeface="Times New Roman" panose="02020603050405020304" pitchFamily="18" charset="0"/>
              </a:rPr>
              <a:t>getX</a:t>
            </a: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marL="0" indent="0" fontAlgn="auto">
              <a:spcAft>
                <a:spcPts val="0"/>
              </a:spcAft>
              <a:buFont typeface="Arial" panose="020B0604020202020204" pitchFamily="34" charset="0"/>
              <a:buNone/>
            </a:pPr>
            <a:r>
              <a:rPr lang="en-US" altLang="zh-CN" sz="2000" dirty="0">
                <a:latin typeface="Times New Roman" panose="02020603050405020304" pitchFamily="18" charset="0"/>
              </a:rPr>
              <a:t>}</a:t>
            </a:r>
            <a:endParaRPr lang="zh-CN" altLang="en-US" sz="2000" dirty="0">
              <a:latin typeface="Times New Roman" panose="02020603050405020304" pitchFamily="18" charset="0"/>
            </a:endParaRPr>
          </a:p>
        </p:txBody>
      </p:sp>
      <p:sp>
        <p:nvSpPr>
          <p:cNvPr id="4" name="文本框 3"/>
          <p:cNvSpPr txBox="1"/>
          <p:nvPr>
            <p:custDataLst>
              <p:tags r:id="rId1"/>
            </p:custDataLst>
          </p:nvPr>
        </p:nvSpPr>
        <p:spPr>
          <a:xfrm>
            <a:off x="407670" y="980440"/>
            <a:ext cx="2375962"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注解应用举例</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a:xfrm>
            <a:off x="839416" y="1686508"/>
            <a:ext cx="10972800" cy="3484984"/>
          </a:xfrm>
          <a:prstGeom prst="rect">
            <a:avLst/>
          </a:prstGeom>
        </p:spPr>
        <p:txBody>
          <a:bodyPr vert="horz" wrap="square" lIns="92075" tIns="46038" rIns="92075" bIns="46038" numCol="1" rtlCol="0" anchor="t" anchorCtr="0" compatLnSpc="1">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buClr>
                <a:schemeClr val="tx1"/>
              </a:buClr>
              <a:buFont typeface="Wingdings" panose="05000000000000000000" pitchFamily="2" charset="2"/>
              <a:buChar char="Ø"/>
            </a:pPr>
            <a:r>
              <a:rPr lang="zh-CN" altLang="en-US" sz="2700" dirty="0">
                <a:solidFill>
                  <a:srgbClr val="FF3399"/>
                </a:solidFill>
                <a:latin typeface="Times New Roman" panose="02020603050405020304" pitchFamily="18" charset="0"/>
              </a:rPr>
              <a:t>自定义注解</a:t>
            </a:r>
            <a:r>
              <a:rPr lang="zh-CN" altLang="en-US" sz="2700" dirty="0">
                <a:latin typeface="Times New Roman" panose="02020603050405020304" pitchFamily="18" charset="0"/>
              </a:rPr>
              <a:t>的格式如下：</a:t>
            </a:r>
            <a:endParaRPr lang="zh-CN" altLang="en-US" sz="2700" dirty="0">
              <a:latin typeface="Times New Roman" panose="02020603050405020304" pitchFamily="18" charset="0"/>
            </a:endParaRPr>
          </a:p>
          <a:p>
            <a:pPr fontAlgn="auto">
              <a:spcAft>
                <a:spcPts val="0"/>
              </a:spcAft>
              <a:buFont typeface="Arial" panose="020B0604020202020204" pitchFamily="34" charset="0"/>
              <a:buNone/>
            </a:pPr>
            <a:r>
              <a:rPr lang="en-US" altLang="zh-CN" sz="2000" dirty="0">
                <a:latin typeface="Times New Roman" panose="02020603050405020304" pitchFamily="18" charset="0"/>
              </a:rPr>
              <a:t>[public | ] [abstract | final] @interface </a:t>
            </a:r>
            <a:r>
              <a:rPr lang="zh-CN" altLang="en-US" sz="2000" dirty="0">
                <a:latin typeface="Times New Roman" panose="02020603050405020304" pitchFamily="18" charset="0"/>
              </a:rPr>
              <a:t>注解名</a:t>
            </a:r>
            <a:endParaRPr lang="zh-CN" altLang="en-US" sz="2000" dirty="0">
              <a:latin typeface="Times New Roman" panose="02020603050405020304" pitchFamily="18" charset="0"/>
            </a:endParaRPr>
          </a:p>
          <a:p>
            <a:pPr fontAlgn="auto">
              <a:spcAft>
                <a:spcPts val="0"/>
              </a:spcAft>
              <a:buFont typeface="Arial" panose="020B0604020202020204" pitchFamily="34" charset="0"/>
              <a:buNone/>
            </a:pPr>
            <a:r>
              <a:rPr lang="en-US" altLang="zh-CN" sz="2000" dirty="0">
                <a:latin typeface="Times New Roman" panose="02020603050405020304" pitchFamily="18" charset="0"/>
              </a:rPr>
              <a:t>{  </a:t>
            </a:r>
            <a:endParaRPr lang="en-US" altLang="zh-CN" sz="2000" dirty="0">
              <a:latin typeface="Times New Roman" panose="02020603050405020304" pitchFamily="18" charset="0"/>
            </a:endParaRPr>
          </a:p>
          <a:p>
            <a:pPr fontAlgn="auto">
              <a:spcAft>
                <a:spcPts val="0"/>
              </a:spcAft>
              <a:buFont typeface="Arial" panose="020B0604020202020204" pitchFamily="34" charset="0"/>
              <a:buNone/>
            </a:pPr>
            <a:r>
              <a:rPr lang="en-US" altLang="zh-CN" sz="2000" dirty="0">
                <a:latin typeface="Times New Roman" panose="02020603050405020304" pitchFamily="18" charset="0"/>
              </a:rPr>
              <a:t>    </a:t>
            </a:r>
            <a:r>
              <a:rPr lang="zh-CN" altLang="en-US" sz="2000" dirty="0">
                <a:latin typeface="Times New Roman" panose="02020603050405020304" pitchFamily="18" charset="0"/>
              </a:rPr>
              <a:t>元素定义；</a:t>
            </a:r>
            <a:endParaRPr lang="zh-CN" altLang="en-US" sz="2000" dirty="0">
              <a:latin typeface="Times New Roman" panose="02020603050405020304" pitchFamily="18" charset="0"/>
            </a:endParaRPr>
          </a:p>
          <a:p>
            <a:pPr fontAlgn="auto">
              <a:spcAft>
                <a:spcPts val="0"/>
              </a:spcAft>
              <a:buFont typeface="Arial" panose="020B0604020202020204" pitchFamily="34" charset="0"/>
              <a:buNone/>
            </a:pPr>
            <a:r>
              <a:rPr lang="en-US" altLang="zh-CN" sz="2000" dirty="0">
                <a:latin typeface="Times New Roman" panose="02020603050405020304" pitchFamily="18" charset="0"/>
              </a:rPr>
              <a:t>}</a:t>
            </a:r>
            <a:endParaRPr lang="en-US" altLang="zh-CN" sz="2000" dirty="0">
              <a:latin typeface="Times New Roman" panose="02020603050405020304" pitchFamily="18" charset="0"/>
            </a:endParaRPr>
          </a:p>
          <a:p>
            <a:pPr fontAlgn="auto">
              <a:spcAft>
                <a:spcPts val="0"/>
              </a:spcAft>
              <a:buFont typeface="Arial" panose="020B0604020202020204" pitchFamily="34" charset="0"/>
              <a:buNone/>
            </a:pPr>
            <a:endParaRPr lang="en-US" altLang="zh-CN" sz="2000" dirty="0">
              <a:latin typeface="Times New Roman" panose="02020603050405020304" pitchFamily="18" charset="0"/>
            </a:endParaRPr>
          </a:p>
          <a:p>
            <a:pPr marL="0" indent="0" fontAlgn="auto">
              <a:spcAft>
                <a:spcPts val="0"/>
              </a:spcAft>
              <a:buNone/>
            </a:pPr>
            <a:r>
              <a:rPr lang="zh-CN" altLang="en-US" sz="2400" dirty="0">
                <a:latin typeface="Times New Roman" panose="02020603050405020304" pitchFamily="18" charset="0"/>
              </a:rPr>
              <a:t>自定义注解中有两种特殊的注解：标记注解和单值注解。其中，标记注解类中没有元素，单值注解是指有且只有一个元素，而且该元素名为“</a:t>
            </a:r>
            <a:r>
              <a:rPr lang="en-US" altLang="zh-CN" sz="2400" dirty="0">
                <a:latin typeface="Times New Roman" panose="02020603050405020304" pitchFamily="18" charset="0"/>
              </a:rPr>
              <a:t>value”</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p:txBody>
      </p:sp>
      <p:sp>
        <p:nvSpPr>
          <p:cNvPr id="2" name="文本框 1"/>
          <p:cNvSpPr txBox="1"/>
          <p:nvPr>
            <p:custDataLst>
              <p:tags r:id="rId1"/>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自定义注解</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3" name="TextBox 3"/>
          <p:cNvSpPr txBox="1"/>
          <p:nvPr>
            <p:custDataLst>
              <p:tags r:id="rId2"/>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1271464" y="1628800"/>
            <a:ext cx="7646640" cy="4525963"/>
          </a:xfrm>
          <a:prstGeom prst="rect">
            <a:avLst/>
          </a:prstGeom>
        </p:spPr>
        <p:txBody>
          <a:bodyPr vert="horz" lIns="91440" tIns="45720" rIns="91440" bIns="45720" rtlCol="0">
            <a:normAutofit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buFont typeface="Wingdings" panose="05000000000000000000" pitchFamily="2" charset="2"/>
              <a:buChar char="Ø"/>
            </a:pPr>
            <a:r>
              <a:rPr lang="zh-CN" altLang="en-US" sz="2400" dirty="0">
                <a:latin typeface="Times New Roman" panose="02020603050405020304" pitchFamily="18" charset="0"/>
              </a:rPr>
              <a:t>标记注解：</a:t>
            </a:r>
            <a:endParaRPr lang="zh-CN" altLang="en-US"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public @interface </a:t>
            </a:r>
            <a:r>
              <a:rPr lang="en-US" altLang="zh-CN" sz="2400" dirty="0" err="1">
                <a:latin typeface="Times New Roman" panose="02020603050405020304" pitchFamily="18" charset="0"/>
              </a:rPr>
              <a:t>myMarkerAnnotation</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fontAlgn="auto">
              <a:spcAft>
                <a:spcPts val="0"/>
              </a:spcAft>
              <a:buFont typeface="Wingdings" panose="05000000000000000000" pitchFamily="2" charset="2"/>
              <a:buChar char="Ø"/>
            </a:pPr>
            <a:r>
              <a:rPr lang="zh-CN" altLang="en-US" sz="2400" dirty="0">
                <a:latin typeface="Times New Roman" panose="02020603050405020304" pitchFamily="18" charset="0"/>
              </a:rPr>
              <a:t>单值注解：</a:t>
            </a:r>
            <a:endParaRPr lang="zh-CN" altLang="en-US"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public @interface </a:t>
            </a:r>
            <a:r>
              <a:rPr lang="en-US" altLang="zh-CN" sz="2400" dirty="0" err="1">
                <a:latin typeface="Times New Roman" panose="02020603050405020304" pitchFamily="18" charset="0"/>
              </a:rPr>
              <a:t>mySingleValueAnnotation</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    String value ( );</a:t>
            </a:r>
            <a:endParaRPr lang="en-US" altLang="zh-CN"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a:p>
            <a:pPr fontAlgn="auto">
              <a:spcAft>
                <a:spcPts val="0"/>
              </a:spcAft>
              <a:buFont typeface="Wingdings" panose="05000000000000000000" pitchFamily="2" charset="2"/>
              <a:buChar char="Ø"/>
            </a:pPr>
            <a:r>
              <a:rPr lang="zh-CN" altLang="en-US" sz="2400" dirty="0">
                <a:latin typeface="Times New Roman" panose="02020603050405020304" pitchFamily="18" charset="0"/>
              </a:rPr>
              <a:t>注解的使用方法：</a:t>
            </a:r>
            <a:endParaRPr lang="zh-CN" altLang="en-US"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@myAnnotation(value=”a”)</a:t>
            </a:r>
            <a:endParaRPr lang="en-US" altLang="zh-CN"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public void method() {</a:t>
            </a:r>
            <a:endParaRPr lang="en-US" altLang="zh-CN" sz="24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sz="2400" dirty="0">
                <a:latin typeface="Times New Roman" panose="02020603050405020304" pitchFamily="18" charset="0"/>
              </a:rPr>
              <a:t>}</a:t>
            </a:r>
            <a:endParaRPr lang="en-US" altLang="zh-CN" sz="2400" dirty="0">
              <a:latin typeface="Times New Roman" panose="02020603050405020304" pitchFamily="18" charset="0"/>
            </a:endParaRPr>
          </a:p>
        </p:txBody>
      </p:sp>
      <p:sp>
        <p:nvSpPr>
          <p:cNvPr id="5" name="文本框 4"/>
          <p:cNvSpPr txBox="1"/>
          <p:nvPr>
            <p:custDataLst>
              <p:tags r:id="rId1"/>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自定义注解</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983432" y="1700808"/>
            <a:ext cx="8294712" cy="427736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buFont typeface="Wingdings" panose="05000000000000000000" pitchFamily="2" charset="2"/>
              <a:buChar char="Ø"/>
            </a:pPr>
            <a:r>
              <a:rPr lang="zh-CN" altLang="en-US" sz="2700" dirty="0">
                <a:latin typeface="Times New Roman" panose="02020603050405020304" pitchFamily="18" charset="0"/>
              </a:rPr>
              <a:t>对注解设置默认值：</a:t>
            </a:r>
            <a:endParaRPr lang="zh-CN" altLang="en-US" sz="27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dirty="0">
                <a:latin typeface="Times New Roman" panose="02020603050405020304" pitchFamily="18" charset="0"/>
              </a:rPr>
              <a:t>public @interface </a:t>
            </a:r>
            <a:r>
              <a:rPr lang="en-US" altLang="zh-CN" dirty="0" err="1">
                <a:latin typeface="Times New Roman" panose="02020603050405020304" pitchFamily="18" charset="0"/>
              </a:rPr>
              <a:t>mySingleValueAnnotation</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dirty="0">
                <a:latin typeface="Times New Roman" panose="02020603050405020304" pitchFamily="18" charset="0"/>
              </a:rPr>
              <a:t>    float f ( ) default 2.0f;</a:t>
            </a:r>
            <a:endParaRPr lang="en-US" altLang="zh-CN"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a:p>
            <a:pPr fontAlgn="auto">
              <a:spcAft>
                <a:spcPts val="0"/>
              </a:spcAft>
              <a:buFont typeface="Wingdings" panose="05000000000000000000" pitchFamily="2" charset="2"/>
              <a:buChar char="Ø"/>
            </a:pPr>
            <a:r>
              <a:rPr lang="zh-CN" altLang="en-US" sz="2700" dirty="0">
                <a:latin typeface="Times New Roman" panose="02020603050405020304" pitchFamily="18" charset="0"/>
              </a:rPr>
              <a:t>使用有默认值的注解时可以不对该元素赋值：</a:t>
            </a:r>
            <a:endParaRPr lang="zh-CN" altLang="en-US" sz="2700"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dirty="0">
                <a:latin typeface="Times New Roman" panose="02020603050405020304" pitchFamily="18" charset="0"/>
              </a:rPr>
              <a:t>@myAnnotation()</a:t>
            </a:r>
            <a:endParaRPr lang="en-US" altLang="zh-CN"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dirty="0">
                <a:latin typeface="Times New Roman" panose="02020603050405020304" pitchFamily="18" charset="0"/>
              </a:rPr>
              <a:t>public void method() {</a:t>
            </a:r>
            <a:endParaRPr lang="en-US" altLang="zh-CN" dirty="0">
              <a:latin typeface="Times New Roman" panose="02020603050405020304" pitchFamily="18" charset="0"/>
            </a:endParaRPr>
          </a:p>
          <a:p>
            <a:pPr marL="410845" lvl="1" indent="0" fontAlgn="auto">
              <a:spcAft>
                <a:spcPts val="0"/>
              </a:spcAft>
              <a:buFont typeface="Arial" panose="020B0604020202020204" pitchFamily="34" charset="0"/>
              <a:buNone/>
            </a:pP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5" name="文本框 4"/>
          <p:cNvSpPr txBox="1"/>
          <p:nvPr>
            <p:custDataLst>
              <p:tags r:id="rId1"/>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自定义注解</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txBox="1">
            <a:spLocks noChangeArrowheads="1"/>
          </p:cNvSpPr>
          <p:nvPr/>
        </p:nvSpPr>
        <p:spPr>
          <a:xfrm>
            <a:off x="1847528" y="1772816"/>
            <a:ext cx="6336704" cy="3816424"/>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auto">
              <a:spcAft>
                <a:spcPts val="0"/>
              </a:spcAft>
              <a:buNone/>
            </a:pPr>
            <a:r>
              <a:rPr lang="en-US" altLang="zh-CN" dirty="0">
                <a:latin typeface="Times New Roman" panose="02020603050405020304" pitchFamily="18" charset="0"/>
              </a:rPr>
              <a:t>@interface </a:t>
            </a:r>
            <a:r>
              <a:rPr lang="en-US" altLang="zh-CN" dirty="0" err="1">
                <a:latin typeface="Times New Roman" panose="02020603050405020304" pitchFamily="18" charset="0"/>
              </a:rPr>
              <a:t>MyMarkerAnnotation</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@interface </a:t>
            </a:r>
            <a:r>
              <a:rPr lang="en-US" altLang="zh-CN" dirty="0" err="1">
                <a:latin typeface="Times New Roman" panose="02020603050405020304" pitchFamily="18" charset="0"/>
              </a:rPr>
              <a:t>MySingleValueAnnotation</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    String value();</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@interface </a:t>
            </a:r>
            <a:r>
              <a:rPr lang="en-US" altLang="zh-CN" dirty="0" err="1">
                <a:latin typeface="Times New Roman" panose="02020603050405020304" pitchFamily="18" charset="0"/>
              </a:rPr>
              <a:t>MyAnnotation</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    String value();</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    int </a:t>
            </a:r>
            <a:r>
              <a:rPr lang="en-US" altLang="zh-CN" dirty="0" err="1">
                <a:latin typeface="Times New Roman" panose="02020603050405020304" pitchFamily="18" charset="0"/>
              </a:rPr>
              <a:t>i</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    float f() default 2.0f;</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    double d();</a:t>
            </a:r>
            <a:endParaRPr lang="en-US" altLang="zh-CN" dirty="0">
              <a:latin typeface="Times New Roman" panose="02020603050405020304" pitchFamily="18" charset="0"/>
            </a:endParaRPr>
          </a:p>
          <a:p>
            <a:pPr marL="0" indent="0" fontAlgn="auto">
              <a:spcAft>
                <a:spcPts val="0"/>
              </a:spcAft>
              <a:buNone/>
            </a:pPr>
            <a:r>
              <a:rPr lang="en-US" altLang="zh-CN" dirty="0">
                <a:latin typeface="Times New Roman" panose="02020603050405020304" pitchFamily="18" charset="0"/>
              </a:rPr>
              <a:t>}</a:t>
            </a:r>
            <a:endParaRPr lang="en-US" altLang="zh-CN" dirty="0">
              <a:latin typeface="Times New Roman" panose="02020603050405020304" pitchFamily="18" charset="0"/>
            </a:endParaRPr>
          </a:p>
        </p:txBody>
      </p:sp>
      <p:sp>
        <p:nvSpPr>
          <p:cNvPr id="4" name="文本框 3"/>
          <p:cNvSpPr txBox="1"/>
          <p:nvPr>
            <p:custDataLst>
              <p:tags r:id="rId1"/>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自定义注解</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2927648" y="1218967"/>
            <a:ext cx="6840760" cy="5378385"/>
          </a:xfrm>
          <a:prstGeom prst="rect">
            <a:avLst/>
          </a:prstGeom>
        </p:spPr>
        <p:txBody>
          <a:bodyPr vert="horz" wrap="square" lIns="92075" tIns="46038" rIns="92075" bIns="46038" numCol="1" rtlCol="0" anchor="t" anchorCtr="0" compatLnSpc="1">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楷体" panose="02010609060101010101" pitchFamily="49" charset="-122"/>
                <a:ea typeface="楷体" panose="02010609060101010101" pitchFamily="49" charset="-122"/>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楷体" panose="02010609060101010101" pitchFamily="49" charset="-122"/>
                <a:ea typeface="楷体" panose="02010609060101010101" pitchFamily="49" charset="-122"/>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楷体" panose="02010609060101010101" pitchFamily="49" charset="-122"/>
                <a:ea typeface="楷体" panose="02010609060101010101" pitchFamily="49"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楷体" panose="02010609060101010101" pitchFamily="49" charset="-122"/>
                <a:ea typeface="楷体" panose="02010609060101010101" pitchFamily="49" charset="-122"/>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fontAlgn="auto">
              <a:spcAft>
                <a:spcPts val="0"/>
              </a:spcAft>
              <a:buFont typeface="Arial" panose="020B0604020202020204" pitchFamily="34" charset="0"/>
              <a:buNone/>
            </a:pPr>
            <a:r>
              <a:rPr lang="en-US" altLang="zh-CN" sz="2200" dirty="0">
                <a:latin typeface="Times New Roman" panose="02020603050405020304" pitchFamily="18" charset="0"/>
              </a:rPr>
              <a:t>public class </a:t>
            </a:r>
            <a:r>
              <a:rPr lang="en-US" altLang="zh-CN" sz="2200" dirty="0" err="1">
                <a:latin typeface="Times New Roman" panose="02020603050405020304" pitchFamily="18" charset="0"/>
              </a:rPr>
              <a:t>AnnotationTester</a:t>
            </a:r>
            <a:r>
              <a:rPr lang="en-US" altLang="zh-CN" sz="2200" dirty="0">
                <a:latin typeface="Times New Roman" panose="02020603050405020304" pitchFamily="18" charset="0"/>
              </a:rPr>
              <a:t> {</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public static void main(String[] </a:t>
            </a:r>
            <a:r>
              <a:rPr lang="en-US" altLang="zh-CN" sz="2200" dirty="0" err="1">
                <a:latin typeface="Times New Roman" panose="02020603050405020304" pitchFamily="18" charset="0"/>
              </a:rPr>
              <a:t>args</a:t>
            </a:r>
            <a:r>
              <a:rPr lang="en-US" altLang="zh-CN" sz="2200" dirty="0">
                <a:latin typeface="Times New Roman" panose="02020603050405020304" pitchFamily="18" charset="0"/>
              </a:rPr>
              <a:t>) {}</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@Override</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public String </a:t>
            </a:r>
            <a:r>
              <a:rPr lang="en-US" altLang="zh-CN" sz="2200" dirty="0" err="1">
                <a:latin typeface="Times New Roman" panose="02020603050405020304" pitchFamily="18" charset="0"/>
              </a:rPr>
              <a:t>toString</a:t>
            </a:r>
            <a:r>
              <a:rPr lang="en-US" altLang="zh-CN" sz="2200" dirty="0">
                <a:latin typeface="Times New Roman" panose="02020603050405020304" pitchFamily="18" charset="0"/>
              </a:rPr>
              <a:t>() { return “”;</a:t>
            </a:r>
            <a:r>
              <a:rPr lang="zh-CN" altLang="en-US" sz="2200" dirty="0">
                <a:latin typeface="Times New Roman" panose="02020603050405020304" pitchFamily="18" charset="0"/>
              </a:rPr>
              <a:t> </a:t>
            </a:r>
            <a:r>
              <a:rPr lang="en-US" altLang="zh-CN" sz="2200" dirty="0">
                <a:latin typeface="Times New Roman" panose="02020603050405020304" pitchFamily="18" charset="0"/>
              </a:rPr>
              <a:t>}</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@MyMarkerAnnotation</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public void method1() {}</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@MySingleValueAnnotation("s")</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public void method2() {}</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@MyAnnotation(value = "s", </a:t>
            </a:r>
            <a:r>
              <a:rPr lang="en-US" altLang="zh-CN" sz="2200" dirty="0" err="1">
                <a:latin typeface="Times New Roman" panose="02020603050405020304" pitchFamily="18" charset="0"/>
              </a:rPr>
              <a:t>i</a:t>
            </a:r>
            <a:r>
              <a:rPr lang="en-US" altLang="zh-CN" sz="2200" dirty="0">
                <a:latin typeface="Times New Roman" panose="02020603050405020304" pitchFamily="18" charset="0"/>
              </a:rPr>
              <a:t> = 1, d = 3.0)</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public void method3() {}</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@MyAnnotation(value = "s", </a:t>
            </a:r>
            <a:r>
              <a:rPr lang="en-US" altLang="zh-CN" sz="2200" dirty="0" err="1">
                <a:latin typeface="Times New Roman" panose="02020603050405020304" pitchFamily="18" charset="0"/>
              </a:rPr>
              <a:t>i</a:t>
            </a:r>
            <a:r>
              <a:rPr lang="en-US" altLang="zh-CN" sz="2200" dirty="0">
                <a:latin typeface="Times New Roman" panose="02020603050405020304" pitchFamily="18" charset="0"/>
              </a:rPr>
              <a:t> = 1, f = 2.1f, d = 3.0)</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    public void method4() {}</a:t>
            </a:r>
            <a:endParaRPr lang="en-US" altLang="zh-CN" sz="2200" dirty="0">
              <a:latin typeface="Times New Roman" panose="02020603050405020304" pitchFamily="18" charset="0"/>
            </a:endParaRPr>
          </a:p>
          <a:p>
            <a:pPr fontAlgn="auto">
              <a:spcAft>
                <a:spcPts val="0"/>
              </a:spcAft>
              <a:buFont typeface="Arial" panose="020B0604020202020204" pitchFamily="34" charset="0"/>
              <a:buNone/>
            </a:pPr>
            <a:r>
              <a:rPr lang="en-US" altLang="zh-CN" sz="2200" dirty="0">
                <a:latin typeface="Times New Roman" panose="02020603050405020304" pitchFamily="18" charset="0"/>
              </a:rPr>
              <a:t>}</a:t>
            </a:r>
            <a:endParaRPr lang="en-US" altLang="zh-CN" sz="2200" dirty="0">
              <a:latin typeface="Times New Roman" panose="02020603050405020304" pitchFamily="18" charset="0"/>
            </a:endParaRPr>
          </a:p>
        </p:txBody>
      </p:sp>
      <p:sp>
        <p:nvSpPr>
          <p:cNvPr id="5" name="文本框 4"/>
          <p:cNvSpPr txBox="1"/>
          <p:nvPr>
            <p:custDataLst>
              <p:tags r:id="rId1"/>
            </p:custDataLst>
          </p:nvPr>
        </p:nvSpPr>
        <p:spPr>
          <a:xfrm>
            <a:off x="407670" y="980440"/>
            <a:ext cx="2087930" cy="477054"/>
          </a:xfrm>
          <a:prstGeom prst="rect">
            <a:avLst/>
          </a:prstGeom>
          <a:solidFill>
            <a:srgbClr val="255EAB"/>
          </a:solidFill>
        </p:spPr>
        <p:txBody>
          <a:bodyPr wrap="square" rtlCol="0">
            <a:spAutoFit/>
          </a:bodyPr>
          <a:lstStyle/>
          <a:p>
            <a:pPr>
              <a:lnSpc>
                <a:spcPts val="3000"/>
              </a:lnSpc>
              <a:spcBef>
                <a:spcPts val="0"/>
              </a:spcBef>
            </a:pPr>
            <a:r>
              <a:rPr lang="zh-CN" altLang="en-US" sz="2800" dirty="0">
                <a:solidFill>
                  <a:schemeClr val="bg1"/>
                </a:solidFill>
                <a:ea typeface="楷体" panose="02010609060101010101" pitchFamily="49" charset="-122"/>
                <a:cs typeface="思源黑体 CN Heavy" panose="020B0A00000000000000" charset="-122"/>
              </a:rPr>
              <a:t>自定义注解</a:t>
            </a:r>
            <a:endParaRPr lang="zh-CN" altLang="en-US" sz="2800" dirty="0">
              <a:solidFill>
                <a:schemeClr val="bg1"/>
              </a:solidFill>
              <a:ea typeface="楷体" panose="02010609060101010101" pitchFamily="49" charset="-122"/>
              <a:cs typeface="思源黑体 CN Heavy" panose="020B0A00000000000000" charset="-122"/>
            </a:endParaRPr>
          </a:p>
        </p:txBody>
      </p:sp>
      <p:sp>
        <p:nvSpPr>
          <p:cNvPr id="2" name="TextBox 3"/>
          <p:cNvSpPr txBox="1"/>
          <p:nvPr>
            <p:custDataLst>
              <p:tags r:id="rId2"/>
            </p:custDataLst>
          </p:nvPr>
        </p:nvSpPr>
        <p:spPr>
          <a:xfrm>
            <a:off x="4223792" y="116632"/>
            <a:ext cx="1872208" cy="584775"/>
          </a:xfrm>
          <a:prstGeom prst="rect">
            <a:avLst/>
          </a:prstGeom>
          <a:noFill/>
          <a:extLst>
            <a:ext uri="{909E8E84-426E-40DD-AFC4-6F175D3DCCD1}">
              <a14:hiddenFill xmlns:a14="http://schemas.microsoft.com/office/drawing/2010/main">
                <a:solidFill>
                  <a:srgbClr val="255EAB"/>
                </a:solidFill>
              </a14:hiddenFill>
            </a:ext>
          </a:extLst>
        </p:spPr>
        <p:txBody>
          <a:bodyPr wrap="square" rtlCol="0">
            <a:spAutoFit/>
          </a:bodyPr>
          <a:lstStyle/>
          <a:p>
            <a:pPr algn="l"/>
            <a:r>
              <a:rPr lang="en-US" altLang="zh-CN" sz="3200" dirty="0">
                <a:ln w="11430">
                  <a:noFill/>
                </a:ln>
                <a:solidFill>
                  <a:srgbClr val="255EAB"/>
                </a:solidFill>
                <a:ea typeface="楷体" panose="02010609060101010101" pitchFamily="49" charset="-122"/>
              </a:rPr>
              <a:t>2.6  </a:t>
            </a:r>
            <a:r>
              <a:rPr lang="zh-CN" altLang="en-US" sz="3200" dirty="0">
                <a:ln w="11430">
                  <a:noFill/>
                </a:ln>
                <a:solidFill>
                  <a:srgbClr val="255EAB"/>
                </a:solidFill>
                <a:ea typeface="楷体" panose="02010609060101010101" pitchFamily="49" charset="-122"/>
              </a:rPr>
              <a:t>注解</a:t>
            </a:r>
            <a:endParaRPr lang="zh-CN" altLang="en-US" sz="3200" dirty="0">
              <a:ln w="11430">
                <a:noFill/>
              </a:ln>
              <a:solidFill>
                <a:srgbClr val="255EAB"/>
              </a:solidFill>
              <a:ea typeface="楷体" panose="02010609060101010101" pitchFamily="49"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commondata" val="eyJoZGlkIjoiNDdhMzdlNGEyNTM3YjU3OWJmZTM3YTM5MjE4NTA5Y2Q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font">
      <a:majorFont>
        <a:latin typeface="Times New Roman"/>
        <a:ea typeface="楷体"/>
        <a:cs typeface=""/>
      </a:majorFont>
      <a:minorFont>
        <a:latin typeface="Times New Roman"/>
        <a:ea typeface="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ts val="3000"/>
          </a:lnSpc>
          <a:spcBef>
            <a:spcPts val="0"/>
          </a:spcBef>
          <a:defRPr sz="2000" smtClean="0">
            <a:solidFill>
              <a:srgbClr val="0000FF"/>
            </a:solidFill>
            <a:latin typeface="仿宋" panose="02010609060101010101" pitchFamily="49" charset="-122"/>
            <a:ea typeface="仿宋" panose="02010609060101010101" pitchFamily="49"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Settings\zheng\My Documents\MyCourse\java1.ppt</Template>
  <TotalTime>0</TotalTime>
  <Words>27441</Words>
  <Application>WPS 演示</Application>
  <PresentationFormat>宽屏</PresentationFormat>
  <Paragraphs>1607</Paragraphs>
  <Slides>104</Slides>
  <Notes>75</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104</vt:i4>
      </vt:variant>
    </vt:vector>
  </HeadingPairs>
  <TitlesOfParts>
    <vt:vector size="124" baseType="lpstr">
      <vt:lpstr>Arial</vt:lpstr>
      <vt:lpstr>宋体</vt:lpstr>
      <vt:lpstr>Wingdings</vt:lpstr>
      <vt:lpstr>Times New Roman</vt:lpstr>
      <vt:lpstr>隶书</vt:lpstr>
      <vt:lpstr>微软雅黑</vt:lpstr>
      <vt:lpstr>仿宋</vt:lpstr>
      <vt:lpstr>楷体</vt:lpstr>
      <vt:lpstr>Georgia</vt:lpstr>
      <vt:lpstr>Wingdings 2</vt:lpstr>
      <vt:lpstr>Wingdings</vt:lpstr>
      <vt:lpstr>思源黑体 CN Heavy</vt:lpstr>
      <vt:lpstr>黑体</vt:lpstr>
      <vt:lpstr>华文楷体</vt:lpstr>
      <vt:lpstr>Arial Unicode MS</vt:lpstr>
      <vt:lpstr>Trebuchet MS</vt:lpstr>
      <vt:lpstr>Calibri</vt:lpstr>
      <vt:lpstr>方正姚体</vt:lpstr>
      <vt:lpstr>Georgia</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CARET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II. Object and Class</dc:title>
  <dc:creator>Zheng Li</dc:creator>
  <cp:lastModifiedBy>Administrator</cp:lastModifiedBy>
  <cp:revision>1243</cp:revision>
  <dcterms:created xsi:type="dcterms:W3CDTF">2001-09-19T15:08:00Z</dcterms:created>
  <dcterms:modified xsi:type="dcterms:W3CDTF">2026-03-25T08:11:13Z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55B3E3809B5B49B18C8330D8F007F4E0_12</vt:lpwstr>
  </property>
  <property fmtid="{D5CDD505-2E9C-101B-9397-08002B2CF9AE}" pid="3" name="KSOProductBuildVer">
    <vt:lpwstr>2052-12.1.0.18240</vt:lpwstr>
  </property>
</Properties>
</file>