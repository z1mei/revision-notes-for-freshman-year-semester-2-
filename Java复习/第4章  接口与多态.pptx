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9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6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7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8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9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0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1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2.xml" ContentType="application/vnd.openxmlformats-officedocument.presentationml.notesSlide+xml"/>
  <Override PartName="/ppt/tags/tag46.xml" ContentType="application/vnd.openxmlformats-officedocument.presentationml.tags+xml"/>
  <Override PartName="/ppt/notesSlides/notesSlide23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4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6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7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8.xml" ContentType="application/vnd.openxmlformats-officedocument.presentationml.notesSlide+xml"/>
  <Override PartName="/ppt/tags/tag57.xml" ContentType="application/vnd.openxmlformats-officedocument.presentationml.tags+xml"/>
  <Override PartName="/ppt/notesSlides/notesSlide29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3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31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3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33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34.xml" ContentType="application/vnd.openxmlformats-officedocument.presentationml.notesSlide+xml"/>
  <Override PartName="/ppt/tags/tag68.xml" ContentType="application/vnd.openxmlformats-officedocument.presentationml.tags+xml"/>
  <Override PartName="/ppt/notesSlides/notesSlide35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6.xml" ContentType="application/vnd.openxmlformats-officedocument.presentationml.notesSlide+xml"/>
  <Override PartName="/ppt/tags/tag71.xml" ContentType="application/vnd.openxmlformats-officedocument.presentationml.tags+xml"/>
  <Override PartName="/ppt/notesSlides/notesSlide37.xml" ContentType="application/vnd.openxmlformats-officedocument.presentationml.notesSlide+xml"/>
  <Override PartName="/ppt/tags/tag72.xml" ContentType="application/vnd.openxmlformats-officedocument.presentationml.tags+xml"/>
  <Override PartName="/ppt/notesSlides/notesSlide38.xml" ContentType="application/vnd.openxmlformats-officedocument.presentationml.notesSlide+xml"/>
  <Override PartName="/ppt/tags/tag73.xml" ContentType="application/vnd.openxmlformats-officedocument.presentationml.tags+xml"/>
  <Override PartName="/ppt/notesSlides/notesSlide39.xml" ContentType="application/vnd.openxmlformats-officedocument.presentationml.notesSlide+xml"/>
  <Override PartName="/ppt/tags/tag74.xml" ContentType="application/vnd.openxmlformats-officedocument.presentationml.tags+xml"/>
  <Override PartName="/ppt/notesSlides/notesSlide40.xml" ContentType="application/vnd.openxmlformats-officedocument.presentationml.notesSlide+xml"/>
  <Override PartName="/ppt/tags/tag75.xml" ContentType="application/vnd.openxmlformats-officedocument.presentationml.tags+xml"/>
  <Override PartName="/ppt/notesSlides/notesSlide41.xml" ContentType="application/vnd.openxmlformats-officedocument.presentationml.notesSlide+xml"/>
  <Override PartName="/ppt/tags/tag76.xml" ContentType="application/vnd.openxmlformats-officedocument.presentationml.tags+xml"/>
  <Override PartName="/ppt/notesSlides/notesSlide42.xml" ContentType="application/vnd.openxmlformats-officedocument.presentationml.notesSlide+xml"/>
  <Override PartName="/ppt/tags/tag77.xml" ContentType="application/vnd.openxmlformats-officedocument.presentationml.tags+xml"/>
  <Override PartName="/ppt/notesSlides/notesSlide43.xml" ContentType="application/vnd.openxmlformats-officedocument.presentationml.notesSlide+xml"/>
  <Override PartName="/ppt/tags/tag78.xml" ContentType="application/vnd.openxmlformats-officedocument.presentationml.tags+xml"/>
  <Override PartName="/ppt/notesSlides/notesSlide44.xml" ContentType="application/vnd.openxmlformats-officedocument.presentationml.notesSlide+xml"/>
  <Override PartName="/ppt/tags/tag79.xml" ContentType="application/vnd.openxmlformats-officedocument.presentationml.tags+xml"/>
  <Override PartName="/ppt/notesSlides/notesSlide45.xml" ContentType="application/vnd.openxmlformats-officedocument.presentationml.notesSlide+xml"/>
  <Override PartName="/ppt/tags/tag80.xml" ContentType="application/vnd.openxmlformats-officedocument.presentationml.tags+xml"/>
  <Override PartName="/ppt/notesSlides/notesSlide46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4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48.xml" ContentType="application/vnd.openxmlformats-officedocument.presentationml.notesSlide+xml"/>
  <Override PartName="/ppt/tags/tag85.xml" ContentType="application/vnd.openxmlformats-officedocument.presentationml.tags+xml"/>
  <Override PartName="/ppt/notesSlides/notesSlide49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5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51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3" r:id="rId1"/>
  </p:sldMasterIdLst>
  <p:notesMasterIdLst>
    <p:notesMasterId r:id="rId54"/>
  </p:notesMasterIdLst>
  <p:handoutMasterIdLst>
    <p:handoutMasterId r:id="rId55"/>
  </p:handoutMasterIdLst>
  <p:sldIdLst>
    <p:sldId id="256" r:id="rId2"/>
    <p:sldId id="441" r:id="rId3"/>
    <p:sldId id="493" r:id="rId4"/>
    <p:sldId id="491" r:id="rId5"/>
    <p:sldId id="444" r:id="rId6"/>
    <p:sldId id="492" r:id="rId7"/>
    <p:sldId id="398" r:id="rId8"/>
    <p:sldId id="450" r:id="rId9"/>
    <p:sldId id="445" r:id="rId10"/>
    <p:sldId id="446" r:id="rId11"/>
    <p:sldId id="447" r:id="rId12"/>
    <p:sldId id="485" r:id="rId13"/>
    <p:sldId id="449" r:id="rId14"/>
    <p:sldId id="486" r:id="rId15"/>
    <p:sldId id="448" r:id="rId16"/>
    <p:sldId id="487" r:id="rId17"/>
    <p:sldId id="451" r:id="rId18"/>
    <p:sldId id="452" r:id="rId19"/>
    <p:sldId id="453" r:id="rId20"/>
    <p:sldId id="454" r:id="rId21"/>
    <p:sldId id="455" r:id="rId22"/>
    <p:sldId id="456" r:id="rId23"/>
    <p:sldId id="495" r:id="rId24"/>
    <p:sldId id="457" r:id="rId25"/>
    <p:sldId id="489" r:id="rId26"/>
    <p:sldId id="458" r:id="rId27"/>
    <p:sldId id="459" r:id="rId28"/>
    <p:sldId id="488" r:id="rId29"/>
    <p:sldId id="462" r:id="rId30"/>
    <p:sldId id="496" r:id="rId31"/>
    <p:sldId id="465" r:id="rId32"/>
    <p:sldId id="464" r:id="rId33"/>
    <p:sldId id="466" r:id="rId34"/>
    <p:sldId id="361" r:id="rId35"/>
    <p:sldId id="497" r:id="rId36"/>
    <p:sldId id="467" r:id="rId37"/>
    <p:sldId id="469" r:id="rId38"/>
    <p:sldId id="468" r:id="rId39"/>
    <p:sldId id="470" r:id="rId40"/>
    <p:sldId id="473" r:id="rId41"/>
    <p:sldId id="472" r:id="rId42"/>
    <p:sldId id="474" r:id="rId43"/>
    <p:sldId id="475" r:id="rId44"/>
    <p:sldId id="476" r:id="rId45"/>
    <p:sldId id="478" r:id="rId46"/>
    <p:sldId id="377" r:id="rId47"/>
    <p:sldId id="378" r:id="rId48"/>
    <p:sldId id="480" r:id="rId49"/>
    <p:sldId id="483" r:id="rId50"/>
    <p:sldId id="482" r:id="rId51"/>
    <p:sldId id="481" r:id="rId52"/>
    <p:sldId id="484" r:id="rId53"/>
  </p:sldIdLst>
  <p:sldSz cx="12192000" cy="6858000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99FFCC"/>
    <a:srgbClr val="FF3300"/>
    <a:srgbClr val="FF66CC"/>
    <a:srgbClr val="66FF33"/>
    <a:srgbClr val="FFCCCC"/>
    <a:srgbClr val="66FFFF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36" autoAdjust="0"/>
    <p:restoredTop sz="84554" autoAdjust="0"/>
  </p:normalViewPr>
  <p:slideViewPr>
    <p:cSldViewPr>
      <p:cViewPr varScale="1">
        <p:scale>
          <a:sx n="78" d="100"/>
          <a:sy n="78" d="100"/>
        </p:scale>
        <p:origin x="81" y="2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0671"/>
    </p:cViewPr>
  </p:sorterViewPr>
  <p:notesViewPr>
    <p:cSldViewPr>
      <p:cViewPr varScale="1">
        <p:scale>
          <a:sx n="57" d="100"/>
          <a:sy n="57" d="100"/>
        </p:scale>
        <p:origin x="-1978" y="-10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defTabSz="947738" eaLnBrk="1" hangingPunct="1">
              <a:defRPr sz="1200"/>
            </a:lvl1pPr>
          </a:lstStyle>
          <a:p>
            <a:pPr>
              <a:defRPr/>
            </a:pPr>
            <a:endParaRPr lang="zh-CN" altLang="en-GB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algn="r" defTabSz="947738" eaLnBrk="1" hangingPunct="1">
              <a:defRPr sz="120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defTabSz="947738" eaLnBrk="1" hangingPunct="1">
              <a:defRPr sz="120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 defTabSz="947738" eaLnBrk="1" hangingPunct="1">
              <a:defRPr sz="1200"/>
            </a:lvl1pPr>
          </a:lstStyle>
          <a:p>
            <a:pPr>
              <a:defRPr/>
            </a:pPr>
            <a:fld id="{A8CDFC7F-AA77-4635-AE32-EFF37D7FFDB2}" type="slidenum">
              <a:rPr lang="zh-CN" altLang="en-GB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562759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defTabSz="947738" eaLnBrk="1" hangingPunct="1">
              <a:defRPr sz="1200"/>
            </a:lvl1pPr>
          </a:lstStyle>
          <a:p>
            <a:pPr>
              <a:defRPr/>
            </a:pPr>
            <a:endParaRPr lang="zh-CN" altLang="en-GB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algn="r" defTabSz="947738" eaLnBrk="1" hangingPunct="1">
              <a:defRPr sz="120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525" y="56562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55675" y="706438"/>
            <a:ext cx="5205413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 noProof="0"/>
              <a:t>Click to edit Master text styles</a:t>
            </a:r>
          </a:p>
          <a:p>
            <a:pPr lvl="1"/>
            <a:r>
              <a:rPr lang="en-GB" altLang="zh-CN" noProof="0"/>
              <a:t>Second level</a:t>
            </a:r>
          </a:p>
          <a:p>
            <a:pPr lvl="2"/>
            <a:r>
              <a:rPr lang="en-GB" altLang="zh-CN" noProof="0"/>
              <a:t>Third level</a:t>
            </a:r>
          </a:p>
          <a:p>
            <a:pPr lvl="3"/>
            <a:r>
              <a:rPr lang="en-GB" altLang="zh-CN" noProof="0"/>
              <a:t>Fourth level</a:t>
            </a:r>
          </a:p>
          <a:p>
            <a:pPr lvl="4"/>
            <a:r>
              <a:rPr lang="en-GB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defTabSz="947738" eaLnBrk="1" hangingPunct="1">
              <a:defRPr sz="120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 defTabSz="947738" eaLnBrk="1" hangingPunct="1">
              <a:defRPr sz="1200"/>
            </a:lvl1pPr>
          </a:lstStyle>
          <a:p>
            <a:pPr>
              <a:defRPr/>
            </a:pPr>
            <a:fld id="{22821397-114C-41C9-BA8E-0971207CC83E}" type="slidenum">
              <a:rPr lang="zh-CN" altLang="en-GB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1181630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F3F6C13-FE44-4AF9-B599-97CFD4F87F73}" type="slidenum">
              <a:rPr lang="zh-CN" altLang="en-GB" sz="1200" smtClean="0"/>
              <a:pPr>
                <a:spcBef>
                  <a:spcPct val="0"/>
                </a:spcBef>
              </a:pPr>
              <a:t>1</a:t>
            </a:fld>
            <a:endParaRPr lang="en-GB" altLang="zh-CN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64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updownTo2.java</a:t>
            </a:r>
          </a:p>
          <a:p>
            <a:r>
              <a:rPr lang="zh-CN" altLang="en-US" dirty="0"/>
              <a:t>超类的私有方法也不可以被覆盖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821397-114C-41C9-BA8E-0971207CC83E}" type="slidenum">
              <a:rPr lang="zh-CN" altLang="en-GB" smtClean="0"/>
              <a:pPr>
                <a:defRPr/>
              </a:pPr>
              <a:t>2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810284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4AC4B-D5FF-F95E-3F24-105948B4B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AC4230-4531-FCC2-FBB4-C5188EBE6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FF552D-C812-B506-56EE-4CD38584C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updownTo2.java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3F531A-9BF1-468A-9582-03FD47812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821397-114C-41C9-BA8E-0971207CC83E}" type="slidenum">
              <a:rPr lang="zh-CN" altLang="en-GB" smtClean="0"/>
              <a:pPr>
                <a:defRPr/>
              </a:pPr>
              <a:t>3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147605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1726F-057A-5168-CFEA-D2DFAC67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204C5C-E4B5-C2AE-DCF4-6042A1AF9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AD1D8C-A8A2-A134-71A7-FCFBB214D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E324BB-146D-52B3-74EF-0A1D53CF5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821397-114C-41C9-BA8E-0971207CC83E}" type="slidenum">
              <a:rPr lang="zh-CN" altLang="en-GB" smtClean="0"/>
              <a:pPr>
                <a:defRPr/>
              </a:pPr>
              <a:t>4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34062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D4E8-5CFA-F705-12B6-0A7092B7B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FE5DE88-9100-4CE0-BDDC-C8D776961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5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BD55CBC-CE40-4B76-D022-71DD7B851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4EFC4D9-2136-AFCB-1C0E-CC745E0A4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自</a:t>
            </a:r>
            <a:r>
              <a:rPr lang="en-US" altLang="zh-CN" dirty="0"/>
              <a:t>JDK 9 </a:t>
            </a:r>
            <a:r>
              <a:rPr lang="zh-CN" altLang="en-US" dirty="0"/>
              <a:t>以后，接口不再要求是“纯”抽象类，也就是说接口中不仅仅包含抽象方法，还可以包括成员变量（静态数据成员）、静态方法、默认（</a:t>
            </a:r>
            <a:r>
              <a:rPr lang="en-US" altLang="zh-CN" dirty="0"/>
              <a:t>default </a:t>
            </a:r>
            <a:r>
              <a:rPr lang="zh-CN" altLang="en-US" dirty="0"/>
              <a:t>修饰的）方法。</a:t>
            </a:r>
            <a:r>
              <a:rPr lang="en-US" altLang="zh-CN"/>
              <a:t>Shape2D.java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3515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2D2AE-2C2D-7B3A-51B8-67ECD952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722DA7C-8800-C218-2306-5AA2EB86F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F3F6C13-FE44-4AF9-B599-97CFD4F87F73}" type="slidenum">
              <a:rPr lang="zh-CN" altLang="en-GB" sz="1200" smtClean="0"/>
              <a:pPr>
                <a:spcBef>
                  <a:spcPct val="0"/>
                </a:spcBef>
              </a:pPr>
              <a:t>6</a:t>
            </a:fld>
            <a:endParaRPr lang="en-GB" altLang="zh-CN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1ADE5F1-C550-4526-2704-9A55A8BF1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D323F5C0-561F-EED1-07E8-8702D5A6E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094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7</a:t>
            </a:fld>
            <a:endParaRPr lang="en-GB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设计</a:t>
            </a:r>
            <a:r>
              <a:rPr lang="en-US" altLang="zh-CN" dirty="0"/>
              <a:t>——</a:t>
            </a:r>
            <a:r>
              <a:rPr lang="zh-CN" altLang="en-US" dirty="0"/>
              <a:t>接口；协议</a:t>
            </a:r>
            <a:r>
              <a:rPr lang="en-US" altLang="zh-CN" dirty="0"/>
              <a:t>——</a:t>
            </a:r>
            <a:r>
              <a:rPr lang="zh-CN" altLang="en-US" dirty="0"/>
              <a:t>规则；它</a:t>
            </a:r>
            <a:r>
              <a:rPr lang="en-US" altLang="zh-CN" dirty="0"/>
              <a:t>——</a:t>
            </a:r>
            <a:r>
              <a:rPr lang="zh-CN" altLang="en-US" dirty="0"/>
              <a:t>实现类；动态绑定</a:t>
            </a:r>
            <a:r>
              <a:rPr lang="en-US" altLang="zh-CN" dirty="0"/>
              <a:t>——</a:t>
            </a:r>
            <a:r>
              <a:rPr lang="zh-CN" altLang="en-US" dirty="0"/>
              <a:t>对象与它执行的操作</a:t>
            </a:r>
            <a:r>
              <a:rPr lang="en-US" altLang="zh-CN" dirty="0"/>
              <a:t>——</a:t>
            </a:r>
            <a:r>
              <a:rPr lang="zh-CN" altLang="en-US" dirty="0"/>
              <a:t>实现 多态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简单说是：在不同类层次的类可以实现相同的接口，一个类可以实现任意多个接口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接口建立的规则包括：接口规定能够做什么，但不关心怎么做；实现接口的类必须遵循约定</a:t>
            </a:r>
            <a:r>
              <a:rPr lang="en-US" altLang="zh-CN" dirty="0"/>
              <a:t>——</a:t>
            </a:r>
            <a:r>
              <a:rPr lang="zh-CN" altLang="en-US" dirty="0"/>
              <a:t>实现接口规定的全部抽象方法；调用者只</a:t>
            </a:r>
            <a:r>
              <a:rPr lang="zh-CN" altLang="en-US"/>
              <a:t>依赖“接口协议”，不依赖具体实现。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1382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589D-E664-3189-125B-8BBEA6D2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D78A211-35BC-5028-2681-00D85CC5E6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8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1F8B266-AA40-41B1-E9AE-842CB79E63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E3D13EA1-86A7-817D-4B1F-3CAAA867D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例</a:t>
            </a:r>
            <a:r>
              <a:rPr kumimoji="0" lang="en-US" altLang="zh-CN" dirty="0"/>
              <a:t>4-2</a:t>
            </a:r>
            <a:r>
              <a:rPr kumimoji="0" lang="zh-CN" altLang="en-US" dirty="0"/>
              <a:t> 接口举例</a:t>
            </a:r>
          </a:p>
        </p:txBody>
      </p:sp>
    </p:spTree>
    <p:extLst>
      <p:ext uri="{BB962C8B-B14F-4D97-AF65-F5344CB8AC3E}">
        <p14:creationId xmlns:p14="http://schemas.microsoft.com/office/powerpoint/2010/main" val="2862663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7576F-E4AA-CFF0-7047-6C6E3F31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19F57E9-62E6-623C-4876-A90C8B7ADC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9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EA75FC1-490C-F2F5-1E44-63D294F95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0294278-AA25-29C8-AFE0-6D5CC1B8D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实现类如果没有实现接口的所有抽象方法，则实现类必须声明为抽象类</a:t>
            </a:r>
          </a:p>
        </p:txBody>
      </p:sp>
    </p:spTree>
    <p:extLst>
      <p:ext uri="{BB962C8B-B14F-4D97-AF65-F5344CB8AC3E}">
        <p14:creationId xmlns:p14="http://schemas.microsoft.com/office/powerpoint/2010/main" val="3932163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7284-19C7-BB5A-B63A-D9EE8BD9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1F63986-2C71-5070-AF85-F14132F7C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10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CECEBF7-7C49-6B71-6E74-31ACB1D3C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4CA9DC4-1C02-CC00-C80C-3E8167584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例</a:t>
            </a:r>
            <a:r>
              <a:rPr kumimoji="0" lang="en-US" altLang="zh-CN" dirty="0"/>
              <a:t>4-3</a:t>
            </a:r>
            <a:r>
              <a:rPr kumimoji="0" lang="zh-CN" altLang="en-US" dirty="0"/>
              <a:t> 实现接口</a:t>
            </a:r>
            <a:r>
              <a:rPr kumimoji="0" lang="en-US" altLang="zh-CN" dirty="0"/>
              <a:t>Insurable</a:t>
            </a:r>
          </a:p>
        </p:txBody>
      </p:sp>
    </p:spTree>
    <p:extLst>
      <p:ext uri="{BB962C8B-B14F-4D97-AF65-F5344CB8AC3E}">
        <p14:creationId xmlns:p14="http://schemas.microsoft.com/office/powerpoint/2010/main" val="43410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494E4-AA49-D8A8-EDEB-BC9EA9EF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868112F-0B2A-AA8E-3B76-123B78E6F8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11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AB22511-A0F7-4631-759D-2A26555218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7400E866-0F59-38E9-92E9-E904B632B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CarTester.java    Car.java    Insurable.java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5602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700C-C3F1-3FD0-7294-93AD0923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B71D2B3C-7D89-0D46-2A7D-A916600FED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12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0163043-5D0E-578E-58C4-2598FA9991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1A781CB-BE0A-2AAD-1049-1D6D2B6AE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766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BB6E-59F9-3882-24D0-2FA584BA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2451D86-4E88-40EA-B092-CBA6FDAA1C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13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2B12201-1668-21B7-2D95-736A20B299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B41B5DB-D21A-A7B9-26CC-1F913B65D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InterfaceTester.java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9148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A6BF1-E522-F347-DAA7-659E1A92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578F34CF-72E4-879F-7F6A-4D5E7B3CDC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14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432EF28-208E-0F34-CB36-AFA290BC10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0980775-3A5F-0037-B363-BC59BE22A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4-5</a:t>
            </a:r>
            <a:r>
              <a:rPr lang="zh-CN" altLang="en-US" dirty="0"/>
              <a:t> 接口类型的引用变量</a:t>
            </a:r>
          </a:p>
        </p:txBody>
      </p:sp>
    </p:spTree>
    <p:extLst>
      <p:ext uri="{BB962C8B-B14F-4D97-AF65-F5344CB8AC3E}">
        <p14:creationId xmlns:p14="http://schemas.microsoft.com/office/powerpoint/2010/main" val="1880570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43A84-1F64-1109-8C01-BAF03F44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D0D6260-A331-FAAB-92DD-47F7D913FE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15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1ED4212-7E29-1681-3361-84C439AC2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F13DD46-96A4-21BA-2958-495B3AD7F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87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4065-DB1E-C1B1-E3D0-736B2A01F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5929217A-771F-329E-9429-2BB8C44AF5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16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23BD3D9-2EA2-02D5-A0E8-5340A1EFBA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79940B2-6F58-7E0F-D81D-B242A1CA1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例：函数式接口及实现类</a:t>
            </a:r>
          </a:p>
        </p:txBody>
      </p:sp>
    </p:spTree>
    <p:extLst>
      <p:ext uri="{BB962C8B-B14F-4D97-AF65-F5344CB8AC3E}">
        <p14:creationId xmlns:p14="http://schemas.microsoft.com/office/powerpoint/2010/main" val="3606855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AAC48-9132-8935-8EC7-5BC79E42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84FF8E7-46F5-089D-64BA-036A432057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17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D26328E-672C-3D7B-1E80-DED2F99AB8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2FE0F3B-8561-ECA3-D175-1AC147E0F1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5558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9FD96-C54E-6291-AF31-E6DB4C43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9EB940B-0704-BB4B-B189-A61D77022C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18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EE3BEB7-14EB-89FD-BFA4-542CEAFC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E1275D8-C20D-23DA-88D4-451E17ADC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例：</a:t>
            </a:r>
            <a:r>
              <a:rPr kumimoji="0" lang="en-US" altLang="zh-CN" dirty="0"/>
              <a:t>Lambda</a:t>
            </a:r>
            <a:r>
              <a:rPr kumimoji="0" lang="zh-CN" altLang="en-US" dirty="0"/>
              <a:t>表达式</a:t>
            </a:r>
            <a:endParaRPr kumimoji="0" lang="en-US" altLang="zh-CN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0025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A6814-CBFB-63C0-E181-825A05D9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6EFA4C05-AABC-A4D9-A82B-290AFBE0B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19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6FE3169-5C67-C3A7-0E6A-0C2438F73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07C0196-FBBB-98D9-B6E4-C07D828C2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例</a:t>
            </a:r>
            <a:r>
              <a:rPr kumimoji="0" lang="en-US" altLang="zh-CN" dirty="0"/>
              <a:t>4-6 Lambda</a:t>
            </a:r>
            <a:r>
              <a:rPr kumimoji="0" lang="zh-CN" altLang="en-US" dirty="0"/>
              <a:t>表达式举例</a:t>
            </a:r>
            <a:endParaRPr kumimoji="0" lang="en-US" altLang="zh-CN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3026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F74CD-B253-E677-DCE2-68F73F83A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F0AC39D-2134-B6F4-AA6E-848D15E84A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20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0D37605-997B-0D11-7365-0E60E07530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F6134B6-6CF9-8564-C8E0-9911168BD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关于函数式接口的几点说明</a:t>
            </a:r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4746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578E-D8ED-A98D-0C7B-EA422D25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48E0C8F-A7E3-4233-7D16-E316292285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21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A4C2AD4-D9B0-AB9E-7943-F58EC56E01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616A2E4-6D9F-76D7-76E5-6D1125D4F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例 </a:t>
            </a:r>
            <a:r>
              <a:rPr kumimoji="0" lang="en-US" altLang="zh-CN" dirty="0"/>
              <a:t>4-7 </a:t>
            </a:r>
            <a:r>
              <a:rPr kumimoji="0" lang="zh-CN" altLang="en-US" dirty="0"/>
              <a:t>函数式接口举例</a:t>
            </a:r>
            <a:endParaRPr kumimoji="0" lang="en-US" altLang="zh-CN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39649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45FB-15E3-660B-F6A7-BF76E8EE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D057CFE-3841-CBA7-BF54-DFCDFB011B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22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F364767-7BAE-1BEF-81AF-7B02A8B465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C2A761C-D6A8-80A2-1D69-ADE1CF286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例 </a:t>
            </a:r>
            <a:r>
              <a:rPr kumimoji="0" lang="en-US" altLang="zh-CN" dirty="0"/>
              <a:t>4-7 </a:t>
            </a:r>
            <a:r>
              <a:rPr kumimoji="0" lang="zh-CN" altLang="en-US" dirty="0"/>
              <a:t>函数式接口举例（续）  </a:t>
            </a:r>
            <a:r>
              <a:rPr kumimoji="0" lang="en-US" altLang="zh-CN" dirty="0"/>
              <a:t>FunctionalInterfaceTester.java  </a:t>
            </a:r>
            <a:r>
              <a:rPr kumimoji="0" lang="zh-CN" altLang="en-US" dirty="0"/>
              <a:t>仔细阅读程序中的注释信息</a:t>
            </a:r>
            <a:endParaRPr kumimoji="0" lang="en-US" altLang="zh-CN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1050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79B9-E046-12B7-2BC7-21DD344D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CDC46455-09AC-A6E4-A3FB-9B4DB872E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23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2E09A79-71E1-8AA1-EA8F-CB5473FCC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E7E88A8-9EED-9090-BC5F-85F3E2AE3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接口约定：实现我的类，必须把这些方法全都实现！不同类实现同一个接口，对外暴露的行为名字、调用方式完全一致，内部实现可以完全不一样。强制所有实现类必须以 </a:t>
            </a:r>
            <a:r>
              <a:rPr kumimoji="0" lang="en-US" altLang="zh-CN" dirty="0"/>
              <a:t>public </a:t>
            </a:r>
            <a:r>
              <a:rPr kumimoji="0" lang="zh-CN" altLang="en-US" dirty="0"/>
              <a:t>暴露该行为。接口变量默认 </a:t>
            </a:r>
            <a:r>
              <a:rPr kumimoji="0" lang="en-US" altLang="zh-CN" dirty="0"/>
              <a:t>public static final</a:t>
            </a:r>
            <a:r>
              <a:rPr kumimoji="0" lang="zh-CN" altLang="en-US" dirty="0"/>
              <a:t>，相当于定义全局约定常量。</a:t>
            </a:r>
          </a:p>
          <a:p>
            <a:pPr eaLnBrk="1" hangingPunct="1"/>
            <a:r>
              <a:rPr lang="zh-CN" altLang="en-US" dirty="0"/>
              <a:t>抽象类也可以看成类与类之间的协议，但和接口的 “协议性质完全不一样”。抽象类通过抽象方法，强制子类必须实现某些行为，这本身就是协议约定。不仅要遵守行为协议，还要继承整个家族的结构和特征。</a:t>
            </a:r>
          </a:p>
        </p:txBody>
      </p:sp>
    </p:spTree>
    <p:extLst>
      <p:ext uri="{BB962C8B-B14F-4D97-AF65-F5344CB8AC3E}">
        <p14:creationId xmlns:p14="http://schemas.microsoft.com/office/powerpoint/2010/main" val="4279459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A1622-E364-89D5-05B9-503CFB03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6E775252-1937-D484-0932-56D7215B32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24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FC893C5-28B2-0FF1-ED60-5080586DC7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1FCC112-E112-359C-5199-F9D9CB1D6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70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1AB5-5FD7-C31E-01B5-4E8E29E05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2547D6A-9779-C9FD-C7FB-4C0BFB545E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25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4DEE692-BBE1-7E92-A0E8-7DC9440E06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B29B901-41FE-D043-42F4-6A0B53DF8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4-9    ExtendsInterfaceTester.java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8892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F19ED-E8CB-69DF-760C-F0B31232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4A900D89-B3C9-2BF5-A708-2B41340253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26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D8B27C3-DBC0-905E-DBA0-5FA25889DE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6CEDED2-1E7D-39B4-A225-B6C08974F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1824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8A42-10ED-D28A-C4C0-009D675C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CA286BB-D5E4-9CDD-38F4-5D3859D441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27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64CEF14-34A4-5505-24EC-01EA31F1E2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E6FB04F-ABE4-45F3-01CF-7E90CF3B6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986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F32A4-9D3F-A81C-586D-F7921B075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02B04B5-BADA-7BB8-F75F-2770D05CDD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28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DDB1284-483B-F524-0384-AFA1F944C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4F47AB8-FF39-CC66-A49A-D11E0FFE2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600" dirty="0"/>
              <a:t>类型转换举例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2576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2485-64AD-DDCB-A2D1-EDF13715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5DE4FDC-E451-2E98-2FD3-7346A2CF7A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29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5BDCF5A-AAF8-3E15-D4B0-8FA49F8E8E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1410FDB-32DD-47D6-A242-FE2DA1ACE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是同一个行为，不同对象表现出不同的形态</a:t>
            </a:r>
            <a:endParaRPr lang="en-US" altLang="zh-CN" dirty="0"/>
          </a:p>
          <a:p>
            <a:pPr eaLnBrk="1" hangingPunct="1"/>
            <a:r>
              <a:rPr lang="en-US" altLang="zh-CN" dirty="0"/>
              <a:t>Java </a:t>
            </a:r>
            <a:r>
              <a:rPr lang="zh-CN" altLang="en-US" dirty="0"/>
              <a:t>中的多态主要分为两大类：</a:t>
            </a:r>
            <a:r>
              <a:rPr lang="zh-CN" altLang="en-US" sz="1600" b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编译时多态（静态多态）</a:t>
            </a:r>
            <a:r>
              <a:rPr lang="zh-CN" altLang="en-US" dirty="0"/>
              <a:t> 和 </a:t>
            </a:r>
            <a:r>
              <a:rPr lang="zh-CN" altLang="en-US" sz="1600" b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运行时多态（动态多态）</a:t>
            </a:r>
            <a:endParaRPr lang="en-US" altLang="zh-CN" sz="1600" b="1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eaLnBrk="1" hangingPunct="1"/>
            <a:r>
              <a:rPr lang="zh-CN" altLang="en-US" dirty="0"/>
              <a:t>编译时多态（静态多态）：方法重载（</a:t>
            </a:r>
            <a:r>
              <a:rPr lang="en-US" altLang="zh-CN" dirty="0"/>
              <a:t>Overload</a:t>
            </a:r>
            <a:r>
              <a:rPr lang="zh-CN" altLang="en-US" dirty="0"/>
              <a:t>），核心是 “方法名相同，参数列表不同”。</a:t>
            </a:r>
            <a:endParaRPr lang="en-US" altLang="zh-CN" dirty="0"/>
          </a:p>
          <a:p>
            <a:pPr eaLnBrk="1" hangingPunct="1"/>
            <a:r>
              <a:rPr lang="zh-CN" altLang="en-US" dirty="0"/>
              <a:t>运行时多态（动态多态）：方法重写（</a:t>
            </a:r>
            <a:r>
              <a:rPr lang="en-US" altLang="zh-CN" dirty="0"/>
              <a:t>Override</a:t>
            </a:r>
            <a:r>
              <a:rPr lang="zh-CN" altLang="en-US" dirty="0"/>
              <a:t>），核心是 “子类重写父类方法 </a:t>
            </a:r>
            <a:r>
              <a:rPr lang="en-US" altLang="zh-CN" dirty="0"/>
              <a:t>+ </a:t>
            </a:r>
            <a:r>
              <a:rPr lang="zh-CN" altLang="en-US" dirty="0"/>
              <a:t>父类引用指向子类对象”。</a:t>
            </a:r>
            <a:endParaRPr lang="en-US" altLang="zh-CN" dirty="0"/>
          </a:p>
          <a:p>
            <a:pPr eaLnBrk="1" hangingPunct="1"/>
            <a:r>
              <a:rPr lang="zh-CN" altLang="en-US" dirty="0"/>
              <a:t>接口是多态的重要载体，接口引用可以指向任意实现类对象，调用方法时执行实现类的重写逻辑。</a:t>
            </a:r>
          </a:p>
        </p:txBody>
      </p:sp>
    </p:spTree>
    <p:extLst>
      <p:ext uri="{BB962C8B-B14F-4D97-AF65-F5344CB8AC3E}">
        <p14:creationId xmlns:p14="http://schemas.microsoft.com/office/powerpoint/2010/main" val="31491659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466A-8EBB-AA57-A380-5713BCCB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71E3B90-DD0B-4248-9996-4E8AD1D48E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30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5607774-8DB4-C3BF-958F-154F7FB4CD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1DF19D5-6F6F-5FDF-9201-D45CBA0755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是同一个行为，不同对象表现出不同的形态</a:t>
            </a:r>
            <a:endParaRPr lang="en-US" altLang="zh-CN" dirty="0"/>
          </a:p>
          <a:p>
            <a:pPr eaLnBrk="1" hangingPunct="1"/>
            <a:r>
              <a:rPr lang="en-US" altLang="zh-CN" dirty="0"/>
              <a:t>Java </a:t>
            </a:r>
            <a:r>
              <a:rPr lang="zh-CN" altLang="en-US" dirty="0"/>
              <a:t>中的多态主要分为两大类：</a:t>
            </a:r>
            <a:r>
              <a:rPr lang="zh-CN" altLang="en-US" sz="1600" b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编译时多态（静态多态）</a:t>
            </a:r>
            <a:r>
              <a:rPr lang="zh-CN" altLang="en-US" dirty="0"/>
              <a:t> 和 </a:t>
            </a:r>
            <a:r>
              <a:rPr lang="zh-CN" altLang="en-US" sz="1600" b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运行时多态（动态多态）</a:t>
            </a:r>
            <a:endParaRPr lang="en-US" altLang="zh-CN" sz="1600" b="1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eaLnBrk="1" hangingPunct="1"/>
            <a:r>
              <a:rPr lang="zh-CN" altLang="en-US" dirty="0"/>
              <a:t>编译时多态（静态多态）：方法重载（</a:t>
            </a:r>
            <a:r>
              <a:rPr lang="en-US" altLang="zh-CN" dirty="0"/>
              <a:t>Overload</a:t>
            </a:r>
            <a:r>
              <a:rPr lang="zh-CN" altLang="en-US" dirty="0"/>
              <a:t>），核心是 “方法名相同，参数列表不同”。</a:t>
            </a:r>
            <a:endParaRPr lang="en-US" altLang="zh-CN" dirty="0"/>
          </a:p>
          <a:p>
            <a:pPr eaLnBrk="1" hangingPunct="1"/>
            <a:r>
              <a:rPr lang="zh-CN" altLang="en-US" dirty="0"/>
              <a:t>运行时多态（动态多态）：方法重写（</a:t>
            </a:r>
            <a:r>
              <a:rPr lang="en-US" altLang="zh-CN" dirty="0"/>
              <a:t>Override</a:t>
            </a:r>
            <a:r>
              <a:rPr lang="zh-CN" altLang="en-US" dirty="0"/>
              <a:t>），核心是 “子类重写父类方法 </a:t>
            </a:r>
            <a:r>
              <a:rPr lang="en-US" altLang="zh-CN" dirty="0"/>
              <a:t>+ </a:t>
            </a:r>
            <a:r>
              <a:rPr lang="zh-CN" altLang="en-US" dirty="0"/>
              <a:t>父类引用指向子类对象”。</a:t>
            </a:r>
            <a:endParaRPr lang="en-US" altLang="zh-CN" dirty="0"/>
          </a:p>
          <a:p>
            <a:pPr eaLnBrk="1" hangingPunct="1"/>
            <a:r>
              <a:rPr lang="zh-CN" altLang="en-US" dirty="0"/>
              <a:t>接口是多态的重要载体，接口引用可以指向任意实现类对象，调用方法时执行实现类的重写逻辑。</a:t>
            </a:r>
          </a:p>
        </p:txBody>
      </p:sp>
    </p:spTree>
    <p:extLst>
      <p:ext uri="{BB962C8B-B14F-4D97-AF65-F5344CB8AC3E}">
        <p14:creationId xmlns:p14="http://schemas.microsoft.com/office/powerpoint/2010/main" val="17390552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0290-73C6-37A5-1334-03C01739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E88626D-4CB6-9CC2-7A17-E7383EB36B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31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423AC87-5DE5-4D9C-021A-D5AD465950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81504EB-7678-8F06-4EA5-9F30F9555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分别从重载、覆盖、实现等三个角度理解</a:t>
            </a:r>
          </a:p>
        </p:txBody>
      </p:sp>
    </p:spTree>
    <p:extLst>
      <p:ext uri="{BB962C8B-B14F-4D97-AF65-F5344CB8AC3E}">
        <p14:creationId xmlns:p14="http://schemas.microsoft.com/office/powerpoint/2010/main" val="1086983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D3BA7-0DEA-DD84-EE7B-4D49B717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8D8009E-22A2-533B-84E3-AF723A1A2B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32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3B37D6D-06B0-C8F7-B086-8646E51F94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CF86F69-8A2C-4A99-6A9F-FC4812F853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CN" altLang="en-US" sz="1600" dirty="0"/>
              <a:t>例题 </a:t>
            </a:r>
            <a:r>
              <a:rPr kumimoji="0" lang="en-US" altLang="zh-CN" sz="1600" dirty="0"/>
              <a:t>4-12     BindingTester.java   BindingInterfTester.java   4-13 </a:t>
            </a:r>
            <a:r>
              <a:rPr kumimoji="0" lang="zh-CN" altLang="en-US" sz="1600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7562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BE22A-67E2-6842-FB78-335841E3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C14E263A-9215-146B-B411-C40417B45B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D98A74-ADC9-45C1-97B8-FD0379BE7AB8}" type="slidenum">
              <a:rPr lang="zh-CN" altLang="en-GB" sz="1200" smtClean="0"/>
              <a:pPr>
                <a:spcBef>
                  <a:spcPct val="0"/>
                </a:spcBef>
              </a:pPr>
              <a:t>33</a:t>
            </a:fld>
            <a:endParaRPr lang="en-GB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021F9B9-5905-CA8C-A36E-5F9D7FA6C0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C5B58A4-37AA-B47D-0D1A-80C25CBBD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237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34</a:t>
            </a:fld>
            <a:endParaRPr lang="en-GB" altLang="zh-CN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4-12   BindingTester.java     BindingInterfTester.java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84753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878A-BB79-ED8D-8F20-BD5D5CAD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4EE6030-956A-1E24-1806-B2DFA365A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CADF0C-CE00-4EE3-8D8E-64DFCDD7CDB1}" type="slidenum">
              <a:rPr lang="zh-CN" altLang="en-GB" sz="1200" smtClean="0"/>
              <a:pPr>
                <a:spcBef>
                  <a:spcPct val="0"/>
                </a:spcBef>
              </a:pPr>
              <a:t>35</a:t>
            </a:fld>
            <a:endParaRPr lang="en-GB" altLang="zh-CN" sz="12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65F8E95D-45B0-EAB1-F865-292D5348B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D7BC59D-60BD-E88B-B3EA-5B696AFFE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不要类层次的类可以实现相同的接口，根据接口引用变量指向的对象确定执行接口方法的实现代码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0949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ED9BE-B14E-ED2D-CBDC-D3224FBB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92D1FD0-8887-47AD-DA72-2772407277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36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5FA232F-3CA1-1974-5682-C69933705D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1B59284-B32C-26C0-0242-D7B45C685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例</a:t>
            </a:r>
            <a:r>
              <a:rPr kumimoji="0" lang="en-US" altLang="zh-CN" dirty="0"/>
              <a:t>4-12</a:t>
            </a:r>
            <a:r>
              <a:rPr kumimoji="0" lang="zh-CN" altLang="en-US" dirty="0"/>
              <a:t> 动态绑定</a:t>
            </a:r>
            <a:endParaRPr kumimoji="0" lang="en-US" altLang="zh-CN" sz="1800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08812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530D-B758-BF94-FA45-E5F6DC3A9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9C70129-AA97-BF0E-21C9-A7A7180B98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37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E566601-2647-DC5B-A383-319829EB51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9956935-3EFE-C0D8-B7B9-3A1BEE369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5428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82F98-E24B-292A-1318-3EAFB19D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AD5E385-784A-0CA3-2850-D4826F8FD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38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F0663BB-01D8-E85C-123F-15665B7706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4DB2733-7187-69D5-9196-1A256BAF5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9621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6A15-BE77-00B6-D33E-F839D8352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BF9649-A3B0-AEB2-430C-F97BFFE022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39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AB53DD0-E26E-FCE0-D8CF-3BF0801110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B6DAED0-1B16-5E3A-25EA-ED54E2303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5968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7840B-C772-CDD1-859A-6BC9AB38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EB0F30A-60BC-65C9-6E3F-943C1C6D5D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40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C862D67-028C-6125-934F-3EA412CD0E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9FB9898-4AEB-105A-EE3F-072D592AA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dirty="0"/>
              <a:t>例：二次分发</a:t>
            </a:r>
            <a:endParaRPr kumimoji="0" lang="zh-CN" altLang="en-US" sz="1200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74364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6BD8-A049-1916-2C63-AA92884F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8A9B065-F148-E6B0-5EE8-3A63ABF727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41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BEC1CD2-061D-762F-39F8-C3A1E2C7E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160701B-2FFE-30AB-A0BD-17EEE3168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5389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7E761-C1E4-1494-ED5D-740393E9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647213B-CBA2-28EF-2F66-708F30BD44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42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DC1BBBE-6B90-5A11-417E-328F4C5F6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3CA9E4C-999A-5295-BDC0-CF6F56E656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6385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0F30-D42F-A841-7F1C-5D161FBA6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9567773-6D88-F456-949E-D6236E7D1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43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DFBB482-2A82-76DD-960F-5DEEC9C773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D13208B-76A7-D1BB-0595-38E91E02F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6775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1EAC0-6600-190C-2231-466F0619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AF57C4D-C161-BE44-4CAF-832C532B87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44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7710354-3B40-C5CA-057C-E6358E7504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97445E2-6490-EC97-BE71-AA5F5C4C9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2377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C150-9265-4338-A3CA-B8F0B396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0CE3DB8-2FAD-873C-1B87-63FF1B15B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AF554B-49FC-43EC-B278-43B001DB4180}" type="slidenum">
              <a:rPr lang="zh-CN" altLang="en-GB" sz="1200" smtClean="0"/>
              <a:pPr>
                <a:spcBef>
                  <a:spcPct val="0"/>
                </a:spcBef>
              </a:pPr>
              <a:t>45</a:t>
            </a:fld>
            <a:endParaRPr lang="en-GB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4BFCA0D-9715-179B-BEF5-8C0F3BCB9D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AE70CDB-300F-B505-BBD6-143E4E451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9158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E7F766-B129-4CE0-8B77-7A08CDF4F4FB}" type="slidenum">
              <a:rPr lang="zh-CN" altLang="en-GB" sz="1200" smtClean="0"/>
              <a:pPr>
                <a:spcBef>
                  <a:spcPct val="0"/>
                </a:spcBef>
              </a:pPr>
              <a:t>46</a:t>
            </a:fld>
            <a:endParaRPr lang="en-GB" altLang="zh-CN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2020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CADF0C-CE00-4EE3-8D8E-64DFCDD7CDB1}" type="slidenum">
              <a:rPr lang="zh-CN" altLang="en-GB" sz="1200" smtClean="0"/>
              <a:pPr>
                <a:spcBef>
                  <a:spcPct val="0"/>
                </a:spcBef>
              </a:pPr>
              <a:t>47</a:t>
            </a:fld>
            <a:endParaRPr lang="en-GB" altLang="zh-CN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4451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805C-CD4E-1DCA-1EA8-C10058D9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624117A1-658D-9382-0A23-7B8BB9BF62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CADF0C-CE00-4EE3-8D8E-64DFCDD7CDB1}" type="slidenum">
              <a:rPr lang="zh-CN" altLang="en-GB" sz="1200" smtClean="0"/>
              <a:pPr>
                <a:spcBef>
                  <a:spcPct val="0"/>
                </a:spcBef>
              </a:pPr>
              <a:t>48</a:t>
            </a:fld>
            <a:endParaRPr lang="en-GB" altLang="zh-CN" sz="12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36451790-2185-4746-C5C9-1737FF097B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C8575050-3D8B-C21B-87A2-49F0562EA2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/>
              <a:t>例</a:t>
            </a:r>
            <a:r>
              <a:rPr kumimoji="0" lang="en-US" altLang="zh-CN" dirty="0"/>
              <a:t>4-15</a:t>
            </a:r>
            <a:r>
              <a:rPr kumimoji="0" lang="zh-CN" altLang="en-US" dirty="0"/>
              <a:t> 构造方法的调用顺序</a:t>
            </a:r>
            <a:endParaRPr kumimoji="0" lang="en-US" altLang="zh-CN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64116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AC0C-B9D7-E384-0891-9B0CF93D4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D9A45EE4-9C26-3300-7500-951258EE08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CADF0C-CE00-4EE3-8D8E-64DFCDD7CDB1}" type="slidenum">
              <a:rPr lang="zh-CN" altLang="en-GB" sz="1200" smtClean="0"/>
              <a:pPr>
                <a:spcBef>
                  <a:spcPct val="0"/>
                </a:spcBef>
              </a:pPr>
              <a:t>49</a:t>
            </a:fld>
            <a:endParaRPr lang="en-GB" altLang="zh-CN" sz="12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8DA911EB-1E98-DCF5-3D15-F8FA0622E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FCE8B817-48DA-ABC6-36D5-3F870206B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09605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FCC3-CE8D-A15C-0B6D-516551FE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4F062F53-8193-4463-0481-1591300036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CADF0C-CE00-4EE3-8D8E-64DFCDD7CDB1}" type="slidenum">
              <a:rPr lang="zh-CN" altLang="en-GB" sz="1200" smtClean="0"/>
              <a:pPr>
                <a:spcBef>
                  <a:spcPct val="0"/>
                </a:spcBef>
              </a:pPr>
              <a:t>50</a:t>
            </a:fld>
            <a:endParaRPr lang="en-GB" altLang="zh-CN" sz="12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153ABC2C-5F52-60A1-4036-DFE1EE4B0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31BA4A85-BAC2-D950-2CF6-C6EED68CF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43377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4F0C-33DA-D319-0AA3-707B58A1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4C6097F-F81E-0CB2-F041-22EE06C96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CADF0C-CE00-4EE3-8D8E-64DFCDD7CDB1}" type="slidenum">
              <a:rPr lang="zh-CN" altLang="en-GB" sz="1200" smtClean="0"/>
              <a:pPr>
                <a:spcBef>
                  <a:spcPct val="0"/>
                </a:spcBef>
              </a:pPr>
              <a:t>51</a:t>
            </a:fld>
            <a:endParaRPr lang="en-GB" altLang="zh-CN" sz="12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E57DB014-7B29-CB40-F396-78B985FF84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0A5797EA-0FDC-0373-EB2C-786934536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92929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29C1-78E2-C533-C865-E430711E0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B21B6428-934C-3F7B-5FA2-6A57E74B56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CADF0C-CE00-4EE3-8D8E-64DFCDD7CDB1}" type="slidenum">
              <a:rPr lang="zh-CN" altLang="en-GB" sz="1200" smtClean="0"/>
              <a:pPr>
                <a:spcBef>
                  <a:spcPct val="0"/>
                </a:spcBef>
              </a:pPr>
              <a:t>52</a:t>
            </a:fld>
            <a:endParaRPr lang="en-GB" altLang="zh-CN" sz="12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870EBD1-DC4E-079A-9A96-4A66D96CAA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0554B6CE-0C43-E62B-DCD2-E10838DD6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dirty="0"/>
              <a:t>例：构造方法的调用顺序</a:t>
            </a:r>
            <a:endParaRPr kumimoji="0" lang="zh-CN" altLang="en-US" sz="1400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4376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54523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597204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04485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65407-1EEB-46D9-A833-FD9CB25D86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877721B-5E8A-F63F-7D7A-DE559B9D52E9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B86848F-DA02-E4C8-C528-04F3C1BAEBE9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>
            <a:extLst>
              <a:ext uri="{FF2B5EF4-FFF2-40B4-BE49-F238E27FC236}">
                <a16:creationId xmlns:a16="http://schemas.microsoft.com/office/drawing/2014/main" id="{A57B1D60-CC7F-0F6B-B332-5738A7A59F43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" descr="2">
            <a:extLst>
              <a:ext uri="{FF2B5EF4-FFF2-40B4-BE49-F238E27FC236}">
                <a16:creationId xmlns:a16="http://schemas.microsoft.com/office/drawing/2014/main" id="{4A261AAE-D4BA-E6CD-C999-68F4D9A9505A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769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EDD02-3C95-4CC5-A1B5-39CD513731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DD068BF-1DF7-F9DF-750C-93AA2D92893F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6E001B7-BC51-4E9A-8059-EBFCA99F3EDC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>
            <a:extLst>
              <a:ext uri="{FF2B5EF4-FFF2-40B4-BE49-F238E27FC236}">
                <a16:creationId xmlns:a16="http://schemas.microsoft.com/office/drawing/2014/main" id="{49D74EA6-9F4F-4782-E51F-D067ACD3856B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" descr="2">
            <a:extLst>
              <a:ext uri="{FF2B5EF4-FFF2-40B4-BE49-F238E27FC236}">
                <a16:creationId xmlns:a16="http://schemas.microsoft.com/office/drawing/2014/main" id="{72E5BAFE-6434-D2BD-DE6A-4A8140EF7C7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1241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2B61B-5B13-41C3-8C9E-48A135EC48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819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3B536-FBB4-4A5E-99B5-072B98607D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04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E5FAF-B7C3-41C8-8EA7-CFD6893079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650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41ED4-0B17-4409-9371-409C0E5F10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524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09D3DD41-1E0E-46B0-ABE7-D5048A3DF737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9D03E9E-2D21-A10C-1420-02E58A8FEA68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A4A4B50-2314-296C-5C34-6038FE11C1C1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>
            <a:extLst>
              <a:ext uri="{FF2B5EF4-FFF2-40B4-BE49-F238E27FC236}">
                <a16:creationId xmlns:a16="http://schemas.microsoft.com/office/drawing/2014/main" id="{9DAFD57C-3E77-A7F2-87F9-992E1E3E6ADE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" descr="2">
            <a:extLst>
              <a:ext uri="{FF2B5EF4-FFF2-40B4-BE49-F238E27FC236}">
                <a16:creationId xmlns:a16="http://schemas.microsoft.com/office/drawing/2014/main" id="{A30FF6F3-B45A-65F9-6A10-3A290A3517EF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1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894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3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4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3575720" y="1340768"/>
            <a:ext cx="4320480" cy="2880320"/>
          </a:xfrm>
          <a:prstGeom prst="rect">
            <a:avLst/>
          </a:prstGeom>
        </p:spPr>
        <p:txBody>
          <a:bodyPr lIns="92075" tIns="46038" rIns="92075" bIns="46038"/>
          <a:lstStyle/>
          <a:p>
            <a:pPr marL="447675" indent="-447675" eaLnBrk="1" hangingPunct="1">
              <a:buFont typeface="+mj-lt"/>
              <a:buAutoNum type="arabicPeriod"/>
            </a:pPr>
            <a:r>
              <a:rPr lang="zh-CN" altLang="en-GB" sz="2800" b="1" dirty="0"/>
              <a:t>接口</a:t>
            </a:r>
          </a:p>
          <a:p>
            <a:pPr marL="447675" indent="-447675" eaLnBrk="1" hangingPunct="1">
              <a:buFont typeface="+mj-lt"/>
              <a:buAutoNum type="arabicPeriod"/>
            </a:pPr>
            <a:r>
              <a:rPr lang="zh-CN" altLang="en-US" sz="2800" b="1" dirty="0"/>
              <a:t>类型转换</a:t>
            </a:r>
            <a:endParaRPr lang="zh-CN" altLang="en-GB" sz="2800" b="1" dirty="0"/>
          </a:p>
          <a:p>
            <a:pPr marL="447675" indent="-447675" eaLnBrk="1" hangingPunct="1">
              <a:buFont typeface="+mj-lt"/>
              <a:buAutoNum type="arabicPeriod"/>
            </a:pPr>
            <a:r>
              <a:rPr lang="zh-CN" altLang="en-GB" sz="2800" b="1" dirty="0"/>
              <a:t>多态的概念</a:t>
            </a:r>
          </a:p>
          <a:p>
            <a:pPr marL="447675" indent="-447675" eaLnBrk="1" hangingPunct="1">
              <a:buFont typeface="+mj-lt"/>
              <a:buAutoNum type="arabicPeriod"/>
            </a:pPr>
            <a:r>
              <a:rPr lang="zh-CN" altLang="en-GB" sz="2800" b="1" dirty="0"/>
              <a:t>多态的应用</a:t>
            </a:r>
          </a:p>
          <a:p>
            <a:pPr marL="447675" indent="-447675" eaLnBrk="1" hangingPunct="1">
              <a:buFont typeface="+mj-lt"/>
              <a:buAutoNum type="arabicPeriod"/>
            </a:pPr>
            <a:r>
              <a:rPr lang="zh-CN" altLang="en-GB" sz="2800" b="1" dirty="0"/>
              <a:t>构造方法与多态</a:t>
            </a:r>
            <a:endParaRPr lang="en-US" altLang="zh-CN" sz="28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D4D8604-A6AD-F375-2CD2-9D784B00AB0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91744" y="74325"/>
            <a:ext cx="356439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接口与多态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985B-6876-13D5-0DE3-55A649FD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29353449-400A-53AC-C846-964148EAA858}"/>
              </a:ext>
            </a:extLst>
          </p:cNvPr>
          <p:cNvSpPr txBox="1">
            <a:spLocks noChangeArrowheads="1"/>
          </p:cNvSpPr>
          <p:nvPr/>
        </p:nvSpPr>
        <p:spPr>
          <a:xfrm>
            <a:off x="623392" y="1052736"/>
            <a:ext cx="11089232" cy="223224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solidFill>
                  <a:srgbClr val="FF00FF"/>
                </a:solidFill>
              </a:rPr>
              <a:t>1.</a:t>
            </a:r>
            <a:r>
              <a:rPr kumimoji="0" lang="zh-CN" altLang="en-US" sz="2700" b="1" dirty="0">
                <a:solidFill>
                  <a:srgbClr val="FF00FF"/>
                </a:solidFill>
              </a:rPr>
              <a:t>隐藏与覆盖</a:t>
            </a:r>
            <a:endParaRPr kumimoji="0" lang="en-US" altLang="zh-CN" sz="2700" b="1" dirty="0">
              <a:solidFill>
                <a:srgbClr val="FF00FF"/>
              </a:solidFill>
            </a:endParaRPr>
          </a:p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solidFill>
                  <a:srgbClr val="FF00FF"/>
                </a:solidFill>
              </a:rPr>
              <a:t>    </a:t>
            </a:r>
            <a:r>
              <a:rPr kumimoji="0" lang="zh-CN" altLang="en-US" sz="2700" b="1" dirty="0"/>
              <a:t>如果子类定义的数据成员与超类的数据成员名字相同，则会导致变量隐藏</a:t>
            </a:r>
            <a:r>
              <a:rPr kumimoji="0" lang="en-US" altLang="zh-CN" sz="2700" b="1" dirty="0"/>
              <a:t>——</a:t>
            </a:r>
            <a:r>
              <a:rPr kumimoji="0" lang="zh-CN" altLang="en-US" sz="2700" b="1" dirty="0">
                <a:highlight>
                  <a:srgbClr val="FFFF00"/>
                </a:highlight>
              </a:rPr>
              <a:t>子类中的方法或子类对象默认使用子类的数据成员</a:t>
            </a:r>
            <a:r>
              <a:rPr kumimoji="0" lang="zh-CN" altLang="en-US" sz="2700" b="1" dirty="0"/>
              <a:t>，若要使用超类的同名成员变量则需添加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super. </a:t>
            </a:r>
            <a:r>
              <a:rPr kumimoji="0" lang="zh-CN" altLang="en-US" sz="2700" b="1" dirty="0"/>
              <a:t>指定超类的变量。</a:t>
            </a:r>
            <a:endParaRPr kumimoji="0" lang="en-US" altLang="zh-CN" sz="2700" b="1" dirty="0"/>
          </a:p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endParaRPr kumimoji="0" lang="zh-CN" altLang="en-US" sz="2700" b="1" dirty="0">
              <a:solidFill>
                <a:srgbClr val="FF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4B7FE-2C34-C7F8-827C-C11F14AB40C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11824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复习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个知识点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AA560164-1C81-956E-7005-2D3F9E94AF9A}"/>
              </a:ext>
            </a:extLst>
          </p:cNvPr>
          <p:cNvSpPr txBox="1">
            <a:spLocks noChangeArrowheads="1"/>
          </p:cNvSpPr>
          <p:nvPr/>
        </p:nvSpPr>
        <p:spPr>
          <a:xfrm>
            <a:off x="731404" y="3307107"/>
            <a:ext cx="10909212" cy="1944216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700" b="1" dirty="0">
                <a:solidFill>
                  <a:srgbClr val="FF00FF"/>
                </a:solidFill>
              </a:rPr>
              <a:t>    </a:t>
            </a:r>
            <a:r>
              <a:rPr kumimoji="0" lang="zh-CN" altLang="en-US" sz="2700" b="1" dirty="0"/>
              <a:t>如果子类包含与超类</a:t>
            </a:r>
            <a:r>
              <a:rPr kumimoji="0" lang="zh-CN" altLang="en-US" sz="2700" b="1" dirty="0">
                <a:solidFill>
                  <a:srgbClr val="FF00FF"/>
                </a:solidFill>
              </a:rPr>
              <a:t>相同签名</a:t>
            </a:r>
            <a:r>
              <a:rPr kumimoji="0" lang="zh-CN" altLang="en-US" sz="2700" b="1" dirty="0"/>
              <a:t>的方法</a:t>
            </a:r>
            <a:r>
              <a:rPr kumimoji="0" lang="en-US" altLang="zh-CN" sz="2700" b="1" dirty="0"/>
              <a:t>——</a:t>
            </a:r>
            <a:r>
              <a:rPr kumimoji="0" lang="zh-CN" altLang="en-US" sz="2700" b="1" dirty="0">
                <a:solidFill>
                  <a:srgbClr val="FF00FF"/>
                </a:solidFill>
              </a:rPr>
              <a:t>返回类型相同、方法名相同、参数列表数量及对应位序参数类型相同</a:t>
            </a:r>
            <a:r>
              <a:rPr kumimoji="0" lang="zh-CN" altLang="en-US" sz="2700" b="1" dirty="0"/>
              <a:t>，则称之为</a:t>
            </a:r>
            <a:r>
              <a:rPr kumimoji="0" lang="zh-CN" altLang="en-US" sz="2700" b="1" dirty="0">
                <a:solidFill>
                  <a:srgbClr val="FF00FF"/>
                </a:solidFill>
              </a:rPr>
              <a:t>覆盖</a:t>
            </a:r>
            <a:r>
              <a:rPr kumimoji="0" lang="zh-CN" altLang="en-US" sz="2700" b="1" dirty="0"/>
              <a:t>。子类对象使用子类定义的方法，超类对象使用超类定义的方法。</a:t>
            </a:r>
            <a:endParaRPr kumimoji="0" lang="zh-CN" altLang="en-US" sz="2700" b="1" dirty="0">
              <a:solidFill>
                <a:srgbClr val="FF00FF"/>
              </a:solidFill>
            </a:endParaRPr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FA3248C9-0DA6-0F24-53E6-31F1064DC0CC}"/>
              </a:ext>
            </a:extLst>
          </p:cNvPr>
          <p:cNvSpPr txBox="1">
            <a:spLocks noChangeArrowheads="1"/>
          </p:cNvSpPr>
          <p:nvPr/>
        </p:nvSpPr>
        <p:spPr>
          <a:xfrm>
            <a:off x="1487488" y="5373216"/>
            <a:ext cx="5796644" cy="74957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700" b="1" dirty="0">
                <a:solidFill>
                  <a:srgbClr val="FF00FF"/>
                </a:solidFill>
              </a:rPr>
              <a:t>超类的静态方法不可以被子类覆盖！</a:t>
            </a:r>
          </a:p>
        </p:txBody>
      </p:sp>
    </p:spTree>
    <p:extLst>
      <p:ext uri="{BB962C8B-B14F-4D97-AF65-F5344CB8AC3E}">
        <p14:creationId xmlns:p14="http://schemas.microsoft.com/office/powerpoint/2010/main" val="146022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4D70-07A0-6B89-7115-6B00BA29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FD691BE0-791E-19FC-39C0-4882E4FCAD93}"/>
              </a:ext>
            </a:extLst>
          </p:cNvPr>
          <p:cNvSpPr txBox="1">
            <a:spLocks noChangeArrowheads="1"/>
          </p:cNvSpPr>
          <p:nvPr/>
        </p:nvSpPr>
        <p:spPr>
          <a:xfrm>
            <a:off x="623392" y="1052735"/>
            <a:ext cx="11089232" cy="1647473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solidFill>
                  <a:srgbClr val="FF00FF"/>
                </a:solidFill>
              </a:rPr>
              <a:t>2. </a:t>
            </a:r>
            <a:r>
              <a:rPr kumimoji="0" lang="zh-CN" altLang="en-US" sz="2700" b="1" dirty="0">
                <a:solidFill>
                  <a:srgbClr val="FF00FF"/>
                </a:solidFill>
              </a:rPr>
              <a:t>超类引用变量可以指向子类对象，但只能访问超类定义的方法，而不能访问子类自己定义的方法。若超类引用变量访问的方法被子类覆盖，则将访问子类覆盖的方法，而不访问超类被覆盖的方法。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C0186-3BD9-272F-00DB-AE63377FB17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11824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复习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个知识点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D54049CB-2C94-F233-4CA9-8410A5B3763C}"/>
              </a:ext>
            </a:extLst>
          </p:cNvPr>
          <p:cNvSpPr txBox="1">
            <a:spLocks noChangeArrowheads="1"/>
          </p:cNvSpPr>
          <p:nvPr/>
        </p:nvSpPr>
        <p:spPr>
          <a:xfrm>
            <a:off x="731404" y="2996952"/>
            <a:ext cx="10729192" cy="180020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2700" dirty="0"/>
              <a:t>例如若有  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class Student extends Person{……}</a:t>
            </a:r>
          </a:p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en-US" altLang="zh-CN" sz="2700" dirty="0"/>
              <a:t>          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class Teacher extends Person{……}</a:t>
            </a:r>
          </a:p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2700" dirty="0"/>
              <a:t>则可以  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Person p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= new Student();  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Person q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 = new Teacher();</a:t>
            </a:r>
            <a:endParaRPr kumimoji="0" lang="zh-CN" altLang="en-US" sz="2700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84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F344-D082-1913-7B97-C3098B41B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1F778D-B179-B6A6-A1E4-9178DC2248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11824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复习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个知识点</a:t>
            </a:r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8C884ECA-8E0F-CDC9-9AAF-52B583E64233}"/>
              </a:ext>
            </a:extLst>
          </p:cNvPr>
          <p:cNvSpPr txBox="1">
            <a:spLocks noChangeArrowheads="1"/>
          </p:cNvSpPr>
          <p:nvPr/>
        </p:nvSpPr>
        <p:spPr>
          <a:xfrm>
            <a:off x="668148" y="980728"/>
            <a:ext cx="11188491" cy="1728192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3. </a:t>
            </a:r>
            <a:r>
              <a:rPr kumimoji="0"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抽象类不能实例化对象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(</a:t>
            </a:r>
            <a:r>
              <a:rPr kumimoji="0" lang="zh-CN" altLang="en-US" sz="2700" b="1" dirty="0">
                <a:solidFill>
                  <a:srgbClr val="FF00FF"/>
                </a:solidFill>
              </a:rPr>
              <a:t>不能用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new</a:t>
            </a:r>
            <a:r>
              <a:rPr kumimoji="0" lang="zh-CN" altLang="en-US" sz="2700" b="1" dirty="0">
                <a:solidFill>
                  <a:srgbClr val="FF00FF"/>
                </a:solidFill>
              </a:rPr>
              <a:t>运算符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)</a:t>
            </a:r>
            <a:r>
              <a:rPr kumimoji="0"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，但可以声明抽象类引用变量</a:t>
            </a:r>
            <a:r>
              <a:rPr kumimoji="0" lang="zh-CN" altLang="en-US" sz="2700" dirty="0"/>
              <a:t>，该引用变量可以指向子类对象，但</a:t>
            </a:r>
            <a:r>
              <a:rPr kumimoji="0" lang="zh-CN" altLang="en-US" sz="2700" dirty="0">
                <a:solidFill>
                  <a:srgbClr val="FF00FF"/>
                </a:solidFill>
                <a:highlight>
                  <a:srgbClr val="FFFF00"/>
                </a:highlight>
              </a:rPr>
              <a:t>只能访问抽象类自己声明的方法</a:t>
            </a:r>
            <a:r>
              <a:rPr kumimoji="0" lang="zh-CN" altLang="en-US" sz="2700" dirty="0"/>
              <a:t>，而</a:t>
            </a:r>
            <a:r>
              <a:rPr kumimoji="0" lang="zh-CN" altLang="en-US" sz="2700" b="1" dirty="0">
                <a:solidFill>
                  <a:srgbClr val="FF00FF"/>
                </a:solidFill>
              </a:rPr>
              <a:t>不能访问子类自己定义的方法。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8E8F494-4BF9-1DA5-26BB-1D7C0E1D48D8}"/>
              </a:ext>
            </a:extLst>
          </p:cNvPr>
          <p:cNvSpPr txBox="1">
            <a:spLocks noChangeArrowheads="1"/>
          </p:cNvSpPr>
          <p:nvPr/>
        </p:nvSpPr>
        <p:spPr>
          <a:xfrm>
            <a:off x="1127448" y="2906548"/>
            <a:ext cx="9577064" cy="1872208"/>
          </a:xfrm>
          <a:prstGeom prst="rect">
            <a:avLst/>
          </a:prstGeom>
        </p:spPr>
        <p:txBody>
          <a:bodyPr lIns="92075" tIns="46038" rIns="92075" bIns="46038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600" b="1" dirty="0"/>
              <a:t>public </a:t>
            </a:r>
            <a:r>
              <a:rPr kumimoji="0" lang="en-US" altLang="zh-CN" sz="2600" b="1" dirty="0">
                <a:solidFill>
                  <a:srgbClr val="FF00FF"/>
                </a:solidFill>
                <a:highlight>
                  <a:srgbClr val="FFFF00"/>
                </a:highlight>
              </a:rPr>
              <a:t>abstract</a:t>
            </a:r>
            <a:r>
              <a:rPr kumimoji="0" lang="en-US" altLang="zh-CN" sz="2600" b="1" dirty="0"/>
              <a:t> class Loan { 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600" b="1" dirty="0"/>
              <a:t>    </a:t>
            </a:r>
            <a:r>
              <a:rPr kumimoji="0" lang="en-US" altLang="zh-CN" sz="2600" b="1" dirty="0"/>
              <a:t>public abstract float </a:t>
            </a:r>
            <a:r>
              <a:rPr kumimoji="0" lang="en-US" altLang="zh-CN" sz="2600" b="1" dirty="0" err="1">
                <a:solidFill>
                  <a:srgbClr val="FF00FF"/>
                </a:solidFill>
                <a:highlight>
                  <a:srgbClr val="FFFF00"/>
                </a:highlight>
              </a:rPr>
              <a:t>calculateMonthlyPayment</a:t>
            </a:r>
            <a:r>
              <a:rPr kumimoji="0" lang="en-US" altLang="zh-CN" sz="2600" b="1" dirty="0">
                <a:solidFill>
                  <a:srgbClr val="FF00FF"/>
                </a:solidFill>
                <a:highlight>
                  <a:srgbClr val="FFFF00"/>
                </a:highlight>
              </a:rPr>
              <a:t>(); 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600" b="1" dirty="0"/>
              <a:t>    public abstract void </a:t>
            </a:r>
            <a:r>
              <a:rPr kumimoji="0" lang="en-US" altLang="zh-CN" sz="2600" b="1" dirty="0" err="1">
                <a:solidFill>
                  <a:srgbClr val="FF00FF"/>
                </a:solidFill>
              </a:rPr>
              <a:t>makePayment</a:t>
            </a:r>
            <a:r>
              <a:rPr kumimoji="0" lang="en-US" altLang="zh-CN" sz="2600" b="1" dirty="0">
                <a:solidFill>
                  <a:srgbClr val="FF00FF"/>
                </a:solidFill>
              </a:rPr>
              <a:t>(float amount); 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600" b="1" dirty="0"/>
              <a:t>}</a:t>
            </a:r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BCF7CEC4-B9B2-3FC9-1A32-0C1B4FED3569}"/>
              </a:ext>
            </a:extLst>
          </p:cNvPr>
          <p:cNvSpPr txBox="1">
            <a:spLocks noChangeArrowheads="1"/>
          </p:cNvSpPr>
          <p:nvPr/>
        </p:nvSpPr>
        <p:spPr>
          <a:xfrm>
            <a:off x="875420" y="4778756"/>
            <a:ext cx="11125236" cy="1890604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2700" dirty="0"/>
              <a:t>若有  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class </a:t>
            </a:r>
            <a:r>
              <a:rPr kumimoji="0" lang="en-US" altLang="zh-CN" sz="2700" b="1" dirty="0" err="1">
                <a:solidFill>
                  <a:srgbClr val="FF00FF"/>
                </a:solidFill>
              </a:rPr>
              <a:t>HouseLoan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 extends Loan{……}</a:t>
            </a:r>
          </a:p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2700" dirty="0"/>
              <a:t>则可以  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Loan p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= new </a:t>
            </a:r>
            <a:r>
              <a:rPr kumimoji="0" lang="en-US" altLang="zh-CN" sz="2700" b="1" dirty="0" err="1">
                <a:solidFill>
                  <a:srgbClr val="FF00FF"/>
                </a:solidFill>
              </a:rPr>
              <a:t>HouseLoan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(); p.</a:t>
            </a:r>
            <a:r>
              <a:rPr kumimoji="0" lang="en-US" altLang="zh-CN" sz="2800" b="1" dirty="0">
                <a:solidFill>
                  <a:srgbClr val="FF00FF"/>
                </a:solidFill>
                <a:highlight>
                  <a:srgbClr val="FFFF00"/>
                </a:highlight>
              </a:rPr>
              <a:t> </a:t>
            </a:r>
            <a:r>
              <a:rPr kumimoji="0" lang="en-US" altLang="zh-CN" sz="2800" b="1" dirty="0" err="1">
                <a:solidFill>
                  <a:srgbClr val="FF00FF"/>
                </a:solidFill>
                <a:highlight>
                  <a:srgbClr val="FFFF00"/>
                </a:highlight>
              </a:rPr>
              <a:t>calculateMonthlyPayment</a:t>
            </a:r>
            <a:r>
              <a:rPr kumimoji="0" lang="en-US" altLang="zh-CN" sz="2800" b="1" dirty="0">
                <a:solidFill>
                  <a:srgbClr val="FF00FF"/>
                </a:solidFill>
                <a:highlight>
                  <a:srgbClr val="FFFF00"/>
                </a:highlight>
              </a:rPr>
              <a:t>();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  </a:t>
            </a:r>
          </a:p>
          <a:p>
            <a:pPr marL="0" indent="0" algn="just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2700" b="1" dirty="0">
                <a:solidFill>
                  <a:srgbClr val="FF00FF"/>
                </a:solidFill>
              </a:rPr>
              <a:t>但不可以 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Loan p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= new Loan(); </a:t>
            </a:r>
            <a:endParaRPr kumimoji="0" lang="zh-CN" altLang="en-US" sz="2700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70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1422-5C76-C4BA-9AA7-6925B514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CEF581-0572-C28D-24F0-919F3714BE9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1EA33CC-5D19-2130-F116-5850F1ADF053}"/>
              </a:ext>
            </a:extLst>
          </p:cNvPr>
          <p:cNvSpPr txBox="1">
            <a:spLocks noChangeArrowheads="1"/>
          </p:cNvSpPr>
          <p:nvPr/>
        </p:nvSpPr>
        <p:spPr>
          <a:xfrm>
            <a:off x="623392" y="1556792"/>
            <a:ext cx="11305256" cy="4968552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00" dirty="0"/>
              <a:t>声明格式为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zh-CN" altLang="en-US" sz="2700" dirty="0"/>
              <a:t>[接口修饰符]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interface</a:t>
            </a:r>
            <a:r>
              <a:rPr kumimoji="0" lang="en-US" altLang="zh-CN" sz="2700" dirty="0"/>
              <a:t> </a:t>
            </a:r>
            <a:r>
              <a:rPr kumimoji="0" lang="zh-CN" altLang="en-US" sz="2700" dirty="0"/>
              <a:t>接口名称 [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extends</a:t>
            </a:r>
            <a:r>
              <a:rPr kumimoji="0" lang="en-US" altLang="zh-CN" sz="2700" dirty="0"/>
              <a:t> </a:t>
            </a:r>
            <a:r>
              <a:rPr kumimoji="0" lang="zh-CN" altLang="en-US" sz="2700" dirty="0"/>
              <a:t>父接口名]{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zh-CN" altLang="en-US" sz="2700" dirty="0"/>
              <a:t>      …//</a:t>
            </a:r>
            <a:r>
              <a:rPr kumimoji="0" lang="zh-CN" altLang="en-US" sz="2700" i="1" u="sng" dirty="0">
                <a:highlight>
                  <a:srgbClr val="FFFF00"/>
                </a:highlight>
              </a:rPr>
              <a:t>方法的</a:t>
            </a:r>
            <a:r>
              <a:rPr kumimoji="0" lang="zh-CN" altLang="en-US" sz="2700" i="1" u="sng" dirty="0">
                <a:solidFill>
                  <a:srgbClr val="FF0000"/>
                </a:solidFill>
                <a:highlight>
                  <a:srgbClr val="FFFF00"/>
                </a:highlight>
              </a:rPr>
              <a:t>原型声明</a:t>
            </a:r>
            <a:r>
              <a:rPr kumimoji="0" lang="zh-CN" altLang="en-US" sz="2700" i="1" u="sng" dirty="0">
                <a:highlight>
                  <a:srgbClr val="FFFF00"/>
                </a:highlight>
              </a:rPr>
              <a:t>或静态常量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zh-CN" altLang="en-US" sz="2700" dirty="0"/>
              <a:t>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00" dirty="0"/>
              <a:t>接口的</a:t>
            </a:r>
            <a:r>
              <a:rPr kumimoji="0" lang="zh-CN" altLang="en-US" sz="2700" dirty="0">
                <a:solidFill>
                  <a:srgbClr val="FF00FF"/>
                </a:solidFill>
              </a:rPr>
              <a:t>数据成员一定要有初值，且此值将不能再更改</a:t>
            </a:r>
            <a:r>
              <a:rPr kumimoji="0" lang="zh-CN" altLang="en-US" sz="2700" dirty="0"/>
              <a:t>，</a:t>
            </a:r>
            <a:r>
              <a:rPr kumimoji="0" lang="zh-CN" altLang="en-US" sz="2700" dirty="0">
                <a:solidFill>
                  <a:srgbClr val="FF00FF"/>
                </a:solidFill>
              </a:rPr>
              <a:t>可以省略</a:t>
            </a:r>
            <a:r>
              <a:rPr kumimoji="0" lang="en-US" altLang="zh-CN" sz="2700" dirty="0">
                <a:solidFill>
                  <a:srgbClr val="FF00FF"/>
                </a:solidFill>
              </a:rPr>
              <a:t>final</a:t>
            </a:r>
            <a:r>
              <a:rPr kumimoji="0" lang="zh-CN" altLang="en-US" sz="2700" dirty="0"/>
              <a:t>关键字。</a:t>
            </a:r>
            <a:r>
              <a:rPr kumimoji="0"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它们都默认为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static</a:t>
            </a:r>
            <a:r>
              <a:rPr kumimoji="0"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和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final</a:t>
            </a:r>
            <a:r>
              <a:rPr kumimoji="0" lang="zh-CN" altLang="en-US" sz="2700" dirty="0"/>
              <a:t>。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00" dirty="0"/>
              <a:t>接口中的</a:t>
            </a:r>
            <a:r>
              <a:rPr kumimoji="0" lang="zh-CN" altLang="en-US" sz="2700" i="1" u="sng" dirty="0">
                <a:solidFill>
                  <a:srgbClr val="FF0000"/>
                </a:solidFill>
                <a:highlight>
                  <a:srgbClr val="FFFF00"/>
                </a:highlight>
              </a:rPr>
              <a:t>方法</a:t>
            </a:r>
            <a:r>
              <a:rPr kumimoji="0" lang="zh-CN" altLang="en-US" sz="2700" b="1" i="1" u="sng" dirty="0">
                <a:solidFill>
                  <a:srgbClr val="FF00FF"/>
                </a:solidFill>
                <a:highlight>
                  <a:srgbClr val="FFFF00"/>
                </a:highlight>
              </a:rPr>
              <a:t>（必须）</a:t>
            </a:r>
            <a:r>
              <a:rPr kumimoji="0" lang="zh-CN" altLang="en-US" sz="2700" i="1" u="sng" dirty="0">
                <a:solidFill>
                  <a:srgbClr val="FF0000"/>
                </a:solidFill>
                <a:highlight>
                  <a:srgbClr val="FFFF00"/>
                </a:highlight>
              </a:rPr>
              <a:t>是“抽象方法”</a:t>
            </a:r>
            <a:r>
              <a:rPr kumimoji="0" lang="zh-CN" altLang="en-US" sz="2700" dirty="0"/>
              <a:t>，不能有方法体，</a:t>
            </a:r>
            <a:r>
              <a:rPr kumimoji="0" lang="zh-CN" altLang="en-US" sz="2700" dirty="0">
                <a:solidFill>
                  <a:srgbClr val="FF00FF"/>
                </a:solidFill>
              </a:rPr>
              <a:t>可省略</a:t>
            </a:r>
            <a:r>
              <a:rPr kumimoji="0" lang="en-US" altLang="zh-CN" sz="2700" dirty="0">
                <a:solidFill>
                  <a:srgbClr val="FF00FF"/>
                </a:solidFill>
              </a:rPr>
              <a:t>public</a:t>
            </a:r>
            <a:r>
              <a:rPr kumimoji="0" lang="zh-CN" altLang="en-US" sz="2700" dirty="0">
                <a:solidFill>
                  <a:srgbClr val="FF00FF"/>
                </a:solidFill>
              </a:rPr>
              <a:t>及</a:t>
            </a:r>
            <a:r>
              <a:rPr kumimoji="0" lang="en-US" altLang="zh-CN" sz="2700" dirty="0">
                <a:solidFill>
                  <a:srgbClr val="FF00FF"/>
                </a:solidFill>
              </a:rPr>
              <a:t>abstract</a:t>
            </a:r>
            <a:r>
              <a:rPr kumimoji="0" lang="zh-CN" altLang="en-US" sz="2700" dirty="0">
                <a:solidFill>
                  <a:srgbClr val="FF00FF"/>
                </a:solidFill>
              </a:rPr>
              <a:t>关键字</a:t>
            </a:r>
            <a:r>
              <a:rPr kumimoji="0" lang="zh-CN" altLang="en-US" sz="2700" dirty="0"/>
              <a:t>。</a:t>
            </a:r>
            <a:endParaRPr kumimoji="0" lang="en-US" altLang="zh-CN" sz="27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42192C-C332-0B73-D5D9-30097CF8064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接口的语法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E5DAAC7-362D-183E-0346-4610E513FA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2732138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E34ED-E294-4F10-D18D-0394F7355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E2D54B-68C5-147E-1BA3-6562606671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EA848C9-8409-1CAD-89D4-1EB5FE11793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91744" y="74325"/>
            <a:ext cx="356439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接口与多态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8FB92D69-DF66-7207-F70C-6692AFF5816C}"/>
              </a:ext>
            </a:extLst>
          </p:cNvPr>
          <p:cNvSpPr txBox="1">
            <a:spLocks noChangeArrowheads="1"/>
          </p:cNvSpPr>
          <p:nvPr/>
        </p:nvSpPr>
        <p:spPr>
          <a:xfrm>
            <a:off x="551384" y="1340768"/>
            <a:ext cx="11377264" cy="216024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800" b="1" dirty="0">
                <a:solidFill>
                  <a:srgbClr val="FF00FF"/>
                </a:solidFill>
              </a:rPr>
              <a:t>抽象类与接口</a:t>
            </a:r>
            <a:r>
              <a:rPr kumimoji="0" lang="zh-CN" altLang="en-US" sz="2800" dirty="0"/>
              <a:t>的核心本质：</a:t>
            </a: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800" dirty="0"/>
              <a:t>    抽象类是对</a:t>
            </a:r>
            <a:r>
              <a:rPr kumimoji="0" lang="zh-CN" altLang="en-US" sz="2800" b="1" dirty="0">
                <a:solidFill>
                  <a:srgbClr val="FF00FF"/>
                </a:solidFill>
                <a:highlight>
                  <a:srgbClr val="FFFF00"/>
                </a:highlight>
              </a:rPr>
              <a:t>“类”</a:t>
            </a:r>
            <a:r>
              <a:rPr kumimoji="0" lang="zh-CN" altLang="en-US" sz="2800" dirty="0"/>
              <a:t>的抽象（</a:t>
            </a:r>
            <a:r>
              <a:rPr kumimoji="0" lang="en-US" altLang="zh-CN" sz="2800" dirty="0"/>
              <a:t>is-a </a:t>
            </a:r>
            <a:r>
              <a:rPr kumimoji="0" lang="zh-CN" altLang="en-US" sz="2800" dirty="0"/>
              <a:t>关系），</a:t>
            </a:r>
            <a:r>
              <a:rPr kumimoji="0" lang="zh-CN" altLang="en-US" sz="2800" b="1" dirty="0">
                <a:solidFill>
                  <a:srgbClr val="FF00FF"/>
                </a:solidFill>
              </a:rPr>
              <a:t>表达“是什么”</a:t>
            </a:r>
            <a:r>
              <a:rPr kumimoji="0" lang="zh-CN" altLang="en-US" sz="2800" dirty="0"/>
              <a:t>；</a:t>
            </a: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800" dirty="0"/>
              <a:t>    接口是对</a:t>
            </a:r>
            <a:r>
              <a:rPr kumimoji="0" lang="zh-CN" altLang="en-US" sz="2800" b="1" dirty="0">
                <a:solidFill>
                  <a:srgbClr val="FF00FF"/>
                </a:solidFill>
                <a:highlight>
                  <a:srgbClr val="FFFF00"/>
                </a:highlight>
              </a:rPr>
              <a:t>“行为”</a:t>
            </a:r>
            <a:r>
              <a:rPr kumimoji="0" lang="zh-CN" altLang="en-US" sz="2800" dirty="0"/>
              <a:t>的抽象（</a:t>
            </a:r>
            <a:r>
              <a:rPr kumimoji="0" lang="en-US" altLang="zh-CN" sz="2800" dirty="0"/>
              <a:t>can-do </a:t>
            </a:r>
            <a:r>
              <a:rPr kumimoji="0" lang="zh-CN" altLang="en-US" sz="2800" dirty="0"/>
              <a:t>关系），</a:t>
            </a:r>
            <a:r>
              <a:rPr kumimoji="0" lang="zh-CN" altLang="en-US" sz="2800" b="1" dirty="0">
                <a:solidFill>
                  <a:srgbClr val="FF00FF"/>
                </a:solidFill>
              </a:rPr>
              <a:t>表达“能做什么”</a:t>
            </a:r>
            <a:r>
              <a:rPr kumimoji="0"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0510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839416" y="1695722"/>
            <a:ext cx="10972800" cy="3245446"/>
          </a:xfrm>
          <a:prstGeom prst="rect">
            <a:avLst/>
          </a:prstGeom>
        </p:spPr>
        <p:txBody>
          <a:bodyPr lIns="92075" tIns="46038" rIns="92075" bIns="46038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dirty="0"/>
              <a:t>面向对象的一个重要机制</a:t>
            </a:r>
            <a:r>
              <a:rPr lang="en-US" altLang="zh-CN" sz="2700" dirty="0"/>
              <a:t>——</a:t>
            </a:r>
            <a:r>
              <a:rPr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继承多个设计</a:t>
            </a:r>
            <a:r>
              <a:rPr lang="zh-CN" altLang="en-US" sz="2700" dirty="0"/>
              <a:t>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dirty="0"/>
              <a:t>接口建立</a:t>
            </a:r>
            <a:r>
              <a:rPr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类和类之间的“协议”：</a:t>
            </a:r>
          </a:p>
          <a:p>
            <a:pPr marL="971550" lvl="1" indent="-514350" eaLnBrk="1" hangingPunct="1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dirty="0"/>
              <a:t>将类根据其</a:t>
            </a:r>
            <a:r>
              <a:rPr lang="zh-CN" altLang="en-US" sz="2700" dirty="0">
                <a:solidFill>
                  <a:srgbClr val="FF0000"/>
                </a:solidFill>
              </a:rPr>
              <a:t>实现的功能分组</a:t>
            </a:r>
            <a:r>
              <a:rPr lang="zh-CN" altLang="en-US" sz="2700" dirty="0"/>
              <a:t>用接口代表，而</a:t>
            </a:r>
            <a:r>
              <a:rPr lang="zh-CN" altLang="en-US" sz="2700" dirty="0">
                <a:highlight>
                  <a:srgbClr val="FFFF00"/>
                </a:highlight>
              </a:rPr>
              <a:t>不必顾虑</a:t>
            </a:r>
            <a:r>
              <a:rPr lang="zh-CN" altLang="en-US" sz="2700" dirty="0">
                <a:solidFill>
                  <a:srgbClr val="FF00FF"/>
                </a:solidFill>
                <a:highlight>
                  <a:srgbClr val="FFFF00"/>
                </a:highlight>
              </a:rPr>
              <a:t>它</a:t>
            </a:r>
            <a:r>
              <a:rPr lang="zh-CN" altLang="en-US" sz="2700" dirty="0">
                <a:highlight>
                  <a:srgbClr val="FFFF00"/>
                </a:highlight>
              </a:rPr>
              <a:t>所在的类继承层次</a:t>
            </a:r>
            <a:r>
              <a:rPr lang="zh-CN" altLang="en-US" sz="2700" dirty="0"/>
              <a:t>；这样可以最大限度地利用</a:t>
            </a:r>
            <a:r>
              <a:rPr lang="zh-CN" altLang="en-US" sz="2700" dirty="0">
                <a:solidFill>
                  <a:srgbClr val="FF0000"/>
                </a:solidFill>
                <a:highlight>
                  <a:srgbClr val="FFFF00"/>
                </a:highlight>
              </a:rPr>
              <a:t>动态绑定</a:t>
            </a:r>
            <a:r>
              <a:rPr lang="zh-CN" altLang="en-US" sz="2700" dirty="0"/>
              <a:t>，隐藏实现细节；</a:t>
            </a:r>
          </a:p>
          <a:p>
            <a:pPr marL="971550" lvl="1" indent="-514350" eaLnBrk="1" hangingPunct="1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dirty="0"/>
              <a:t>实现不同类之间的</a:t>
            </a:r>
            <a:r>
              <a:rPr lang="zh-CN" altLang="en-US" sz="2700" dirty="0">
                <a:solidFill>
                  <a:srgbClr val="FF00FF"/>
                </a:solidFill>
              </a:rPr>
              <a:t>常量共享</a:t>
            </a:r>
            <a:r>
              <a:rPr lang="zh-CN" altLang="en-US" sz="2700" dirty="0"/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599653-5E7B-70B7-4F3A-97E6CC89449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93937E-28A7-E945-AADE-F369A9CA406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接口的作用</a:t>
            </a:r>
          </a:p>
        </p:txBody>
      </p:sp>
    </p:spTree>
    <p:extLst>
      <p:ext uri="{BB962C8B-B14F-4D97-AF65-F5344CB8AC3E}">
        <p14:creationId xmlns:p14="http://schemas.microsoft.com/office/powerpoint/2010/main" val="43309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A7B7-E28F-260E-625A-50710145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C94414-BA85-EBC0-D629-D459EA7EFD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5D9F46F9-D981-A04F-30BB-508026876F6E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604963"/>
            <a:ext cx="11247040" cy="470435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/>
              <a:t>声明一个接口</a:t>
            </a:r>
            <a:r>
              <a:rPr kumimoji="0" lang="en-US" altLang="zh-CN" sz="2800" dirty="0"/>
              <a:t>Shape2D，</a:t>
            </a:r>
            <a:r>
              <a:rPr kumimoji="0" lang="zh-CN" altLang="en-US" sz="2800" dirty="0"/>
              <a:t>包括</a:t>
            </a:r>
            <a:r>
              <a:rPr kumimoji="0" lang="en-US" altLang="zh-CN" sz="2800" dirty="0"/>
              <a:t>π</a:t>
            </a:r>
            <a:r>
              <a:rPr kumimoji="0" lang="zh-CN" altLang="en-US" sz="2800" dirty="0"/>
              <a:t>和计算面积的方法原型</a:t>
            </a:r>
          </a:p>
          <a:p>
            <a:pPr marL="914400" lvl="2" indent="0" fontAlgn="auto">
              <a:spcBef>
                <a:spcPct val="40000"/>
              </a:spcBef>
              <a:spcAft>
                <a:spcPts val="0"/>
              </a:spcAft>
              <a:buNone/>
            </a:pPr>
            <a:r>
              <a:rPr kumimoji="0" lang="en-US" altLang="zh-CN" dirty="0"/>
              <a:t>interface Shape2D{　　　        //</a:t>
            </a:r>
            <a:r>
              <a:rPr kumimoji="0" lang="zh-CN" altLang="en-US" dirty="0"/>
              <a:t>声明</a:t>
            </a:r>
            <a:r>
              <a:rPr kumimoji="0" lang="en-US" altLang="zh-CN" dirty="0"/>
              <a:t>Shape2D</a:t>
            </a:r>
            <a:r>
              <a:rPr kumimoji="0" lang="zh-CN" altLang="en-US" dirty="0"/>
              <a:t>接口</a:t>
            </a:r>
          </a:p>
          <a:p>
            <a:pPr marL="914400" lvl="2" indent="0" fontAlgn="auto">
              <a:spcAft>
                <a:spcPts val="0"/>
              </a:spcAft>
              <a:buNone/>
            </a:pPr>
            <a:r>
              <a:rPr kumimoji="0" lang="en-US" altLang="zh-CN" b="1" dirty="0">
                <a:solidFill>
                  <a:srgbClr val="FF00FF"/>
                </a:solidFill>
                <a:highlight>
                  <a:srgbClr val="FFFF00"/>
                </a:highlight>
              </a:rPr>
              <a:t>    final </a:t>
            </a:r>
            <a:r>
              <a:rPr kumimoji="0" lang="en-US" altLang="zh-CN" dirty="0"/>
              <a:t>double pi=3.14;　　   //</a:t>
            </a:r>
            <a:r>
              <a:rPr kumimoji="0" lang="zh-CN" altLang="en-US" b="1" dirty="0">
                <a:solidFill>
                  <a:srgbClr val="FF00FF"/>
                </a:solidFill>
              </a:rPr>
              <a:t>数据成员一定要初始化</a:t>
            </a:r>
          </a:p>
          <a:p>
            <a:pPr marL="914400" lvl="2" indent="0" fontAlgn="auto">
              <a:spcAft>
                <a:spcPts val="0"/>
              </a:spcAft>
              <a:buNone/>
            </a:pPr>
            <a:r>
              <a:rPr kumimoji="0" lang="en-US" altLang="zh-CN" b="1" dirty="0">
                <a:solidFill>
                  <a:srgbClr val="FF00FF"/>
                </a:solidFill>
                <a:highlight>
                  <a:srgbClr val="FFFF00"/>
                </a:highlight>
              </a:rPr>
              <a:t>    public abstract </a:t>
            </a:r>
            <a:r>
              <a:rPr kumimoji="0" lang="en-US" altLang="zh-CN" dirty="0"/>
              <a:t>double area();　//</a:t>
            </a:r>
            <a:r>
              <a:rPr kumimoji="0" lang="zh-CN" altLang="en-US" dirty="0"/>
              <a:t>抽象方法</a:t>
            </a:r>
          </a:p>
          <a:p>
            <a:pPr marL="914400" lvl="2" indent="0" fontAlgn="auto">
              <a:spcAft>
                <a:spcPts val="0"/>
              </a:spcAft>
              <a:buNone/>
            </a:pPr>
            <a:r>
              <a:rPr kumimoji="0" lang="zh-CN" altLang="en-US" dirty="0"/>
              <a:t>}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/>
              <a:t>在接口的声明中，允许省略一些关键字，也可声明如下</a:t>
            </a:r>
          </a:p>
          <a:p>
            <a:pPr marL="914400" lvl="2" indent="0" fontAlgn="auto">
              <a:spcBef>
                <a:spcPct val="40000"/>
              </a:spcBef>
              <a:spcAft>
                <a:spcPts val="0"/>
              </a:spcAft>
              <a:buNone/>
            </a:pPr>
            <a:r>
              <a:rPr kumimoji="0" lang="en-US" altLang="zh-CN" dirty="0"/>
              <a:t>interface Shape2D{           </a:t>
            </a:r>
            <a:endParaRPr kumimoji="0" lang="zh-CN" altLang="en-US" dirty="0"/>
          </a:p>
          <a:p>
            <a:pPr marL="914400" lvl="2" indent="0" fontAlgn="auto">
              <a:spcAft>
                <a:spcPts val="0"/>
              </a:spcAft>
              <a:buNone/>
            </a:pPr>
            <a:r>
              <a:rPr kumimoji="0" lang="en-US" altLang="zh-CN" dirty="0"/>
              <a:t>    double pi=3.14;            </a:t>
            </a:r>
            <a:endParaRPr kumimoji="0" lang="zh-CN" altLang="en-US" dirty="0"/>
          </a:p>
          <a:p>
            <a:pPr marL="914400" lvl="2" indent="0" fontAlgn="auto">
              <a:spcAft>
                <a:spcPts val="0"/>
              </a:spcAft>
              <a:buNone/>
            </a:pPr>
            <a:r>
              <a:rPr kumimoji="0" lang="en-US" altLang="zh-CN" dirty="0"/>
              <a:t>    double area();             </a:t>
            </a:r>
            <a:endParaRPr kumimoji="0" lang="zh-CN" altLang="en-US" dirty="0"/>
          </a:p>
          <a:p>
            <a:pPr marL="914400" lvl="2" indent="0" fontAlgn="auto">
              <a:spcAft>
                <a:spcPts val="0"/>
              </a:spcAft>
              <a:buNone/>
            </a:pPr>
            <a:r>
              <a:rPr kumimoji="0" lang="zh-CN" altLang="en-US" dirty="0"/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2E118E-E471-8BC9-CD4E-1D822B63542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接口的语法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82647-0E95-6325-F398-CC0F6F4A6E5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87831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BDEC-FEDF-20B2-819E-A85F0AE3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323715-6949-55CE-4F34-5FEBF3D93B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8507CA-3C9F-D581-AE02-5B455BDBEB51}"/>
              </a:ext>
            </a:extLst>
          </p:cNvPr>
          <p:cNvSpPr txBox="1">
            <a:spLocks noChangeArrowheads="1"/>
          </p:cNvSpPr>
          <p:nvPr/>
        </p:nvSpPr>
        <p:spPr>
          <a:xfrm>
            <a:off x="767106" y="1412776"/>
            <a:ext cx="11017224" cy="521474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700" b="1" dirty="0">
                <a:solidFill>
                  <a:srgbClr val="FF0000"/>
                </a:solidFill>
                <a:latin typeface="宋体" panose="02010600030101010101" pitchFamily="2" charset="-122"/>
              </a:rPr>
              <a:t>不能用</a:t>
            </a:r>
            <a:r>
              <a:rPr kumimoji="0" lang="en-US" altLang="zh-CN" sz="2700" b="1" dirty="0">
                <a:solidFill>
                  <a:srgbClr val="FF0000"/>
                </a:solidFill>
                <a:latin typeface="宋体" panose="02010600030101010101" pitchFamily="2" charset="-122"/>
              </a:rPr>
              <a:t>new</a:t>
            </a:r>
            <a:r>
              <a:rPr kumimoji="0" lang="zh-CN" altLang="en-US" sz="2700" b="1" dirty="0">
                <a:solidFill>
                  <a:srgbClr val="FF0000"/>
                </a:solidFill>
                <a:latin typeface="宋体" panose="02010600030101010101" pitchFamily="2" charset="-122"/>
              </a:rPr>
              <a:t>运算符直接产生接口对象</a:t>
            </a:r>
            <a:r>
              <a:rPr kumimoji="0" lang="zh-CN" altLang="en-US" sz="2700" dirty="0">
                <a:latin typeface="宋体" panose="02010600030101010101" pitchFamily="2" charset="-122"/>
              </a:rPr>
              <a:t>；</a:t>
            </a:r>
          </a:p>
          <a:p>
            <a:pPr marL="566738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700" dirty="0">
                <a:solidFill>
                  <a:srgbClr val="FF00FF"/>
                </a:solidFill>
                <a:latin typeface="宋体" panose="02010600030101010101" pitchFamily="2" charset="-122"/>
              </a:rPr>
              <a:t>利用接口设计类的过程称为接口的实现</a:t>
            </a:r>
            <a:r>
              <a:rPr kumimoji="0" lang="zh-CN" altLang="en-US" sz="2700" dirty="0">
                <a:latin typeface="宋体" panose="02010600030101010101" pitchFamily="2" charset="-122"/>
              </a:rPr>
              <a:t>。使用</a:t>
            </a:r>
            <a:r>
              <a:rPr kumimoji="0" lang="en-US" altLang="zh-CN" sz="2700" dirty="0">
                <a:latin typeface="宋体" panose="02010600030101010101" pitchFamily="2" charset="-122"/>
              </a:rPr>
              <a:t>implements</a:t>
            </a:r>
            <a:r>
              <a:rPr kumimoji="0" lang="zh-CN" altLang="en-US" sz="2700" dirty="0">
                <a:latin typeface="宋体" panose="02010600030101010101" pitchFamily="2" charset="-122"/>
              </a:rPr>
              <a:t>关键字：</a:t>
            </a:r>
          </a:p>
          <a:p>
            <a:pPr marL="401638" lvl="1" indent="40163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kumimoji="0" lang="en-US" altLang="zh-CN" sz="2500" dirty="0">
                <a:latin typeface="宋体" panose="02010600030101010101" pitchFamily="2" charset="-122"/>
              </a:rPr>
              <a:t>public </a:t>
            </a:r>
            <a:r>
              <a:rPr kumimoji="0" lang="en-US" altLang="zh-CN" sz="2500" b="1" dirty="0">
                <a:solidFill>
                  <a:srgbClr val="FF00FF"/>
                </a:solidFill>
                <a:latin typeface="宋体" panose="02010600030101010101" pitchFamily="2" charset="-122"/>
              </a:rPr>
              <a:t>class</a:t>
            </a:r>
            <a:r>
              <a:rPr kumimoji="0" lang="en-US" altLang="zh-CN" sz="2500" dirty="0">
                <a:latin typeface="宋体" panose="02010600030101010101" pitchFamily="2" charset="-122"/>
              </a:rPr>
              <a:t> </a:t>
            </a:r>
            <a:r>
              <a:rPr kumimoji="0" lang="zh-CN" altLang="en-US" sz="2500" dirty="0">
                <a:latin typeface="宋体" panose="02010600030101010101" pitchFamily="2" charset="-122"/>
              </a:rPr>
              <a:t>类名 </a:t>
            </a:r>
            <a:r>
              <a:rPr kumimoji="0"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implements</a:t>
            </a:r>
            <a:r>
              <a:rPr kumimoji="0" lang="en-US" altLang="zh-CN" sz="2500" dirty="0">
                <a:latin typeface="宋体" panose="02010600030101010101" pitchFamily="2" charset="-122"/>
              </a:rPr>
              <a:t> </a:t>
            </a:r>
            <a:r>
              <a:rPr kumimoji="0" lang="zh-CN" altLang="en-US" sz="2500" dirty="0">
                <a:latin typeface="宋体" panose="02010600030101010101" pitchFamily="2" charset="-122"/>
              </a:rPr>
              <a:t>接口名 { </a:t>
            </a:r>
          </a:p>
          <a:p>
            <a:pPr marL="401638" lvl="1" indent="40163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kumimoji="0" lang="en-US" altLang="zh-CN" sz="2500" dirty="0">
                <a:latin typeface="宋体" panose="02010600030101010101" pitchFamily="2" charset="-122"/>
              </a:rPr>
              <a:t>	</a:t>
            </a:r>
            <a:r>
              <a:rPr kumimoji="0" lang="en-US" altLang="zh-CN" sz="2400" dirty="0">
                <a:latin typeface="宋体" panose="02010600030101010101" pitchFamily="2" charset="-122"/>
              </a:rPr>
              <a:t>    </a:t>
            </a:r>
            <a:r>
              <a:rPr kumimoji="0" lang="zh-CN" altLang="en-US" sz="2400" dirty="0">
                <a:latin typeface="宋体" panose="02010600030101010101" pitchFamily="2" charset="-122"/>
              </a:rPr>
              <a:t>/</a:t>
            </a:r>
            <a:r>
              <a:rPr kumimoji="0" lang="en-US" altLang="zh-CN" sz="2400" dirty="0">
                <a:latin typeface="宋体" panose="02010600030101010101" pitchFamily="2" charset="-122"/>
              </a:rPr>
              <a:t>/</a:t>
            </a:r>
            <a:r>
              <a:rPr kumimoji="0" lang="zh-CN" altLang="en-US" sz="2400" dirty="0">
                <a:latin typeface="宋体" panose="02010600030101010101" pitchFamily="2" charset="-122"/>
              </a:rPr>
              <a:t>在类体中实现接口的方法</a:t>
            </a:r>
            <a:r>
              <a:rPr kumimoji="0" lang="en-US" altLang="zh-CN" sz="2400" dirty="0">
                <a:latin typeface="宋体" panose="02010600030101010101" pitchFamily="2" charset="-122"/>
              </a:rPr>
              <a:t> </a:t>
            </a:r>
          </a:p>
          <a:p>
            <a:pPr marL="401638" lvl="2" indent="40163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zh-CN" dirty="0">
                <a:latin typeface="宋体" panose="02010600030101010101" pitchFamily="2" charset="-122"/>
              </a:rPr>
              <a:t>     //</a:t>
            </a:r>
            <a:r>
              <a:rPr kumimoji="0" lang="zh-CN" altLang="en-US" dirty="0">
                <a:latin typeface="宋体" panose="02010600030101010101" pitchFamily="2" charset="-122"/>
              </a:rPr>
              <a:t>本类声明的更多变量和方法</a:t>
            </a:r>
            <a:endParaRPr kumimoji="0" lang="en-US" altLang="zh-CN" dirty="0">
              <a:latin typeface="宋体" panose="02010600030101010101" pitchFamily="2" charset="-122"/>
            </a:endParaRPr>
          </a:p>
          <a:p>
            <a:pPr marL="401638" lvl="1" indent="40163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kumimoji="0" lang="en-US" altLang="zh-CN" sz="2500" dirty="0">
                <a:latin typeface="宋体" panose="02010600030101010101" pitchFamily="2" charset="-122"/>
              </a:rPr>
              <a:t>}</a:t>
            </a:r>
          </a:p>
          <a:p>
            <a:pPr marL="109538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zh-CN" altLang="en-US" sz="2500" dirty="0">
                <a:latin typeface="宋体" panose="02010600030101010101" pitchFamily="2" charset="-122"/>
              </a:rPr>
              <a:t>注意：</a:t>
            </a:r>
            <a:endParaRPr kumimoji="0" lang="en-US" altLang="zh-CN" sz="2500" dirty="0">
              <a:latin typeface="宋体" panose="02010600030101010101" pitchFamily="2" charset="-122"/>
            </a:endParaRPr>
          </a:p>
          <a:p>
            <a:pPr marL="1165225" lvl="1" indent="-44767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kumimoji="0" lang="zh-CN" altLang="en-US" sz="2500" b="1" dirty="0">
                <a:solidFill>
                  <a:srgbClr val="FF00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必须实现接口中的</a:t>
            </a:r>
            <a:r>
              <a:rPr kumimoji="0" lang="zh-CN" altLang="en-US" sz="2500" b="1">
                <a:solidFill>
                  <a:srgbClr val="FF00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所有抽象方</a:t>
            </a:r>
            <a:r>
              <a:rPr kumimoji="0" lang="zh-CN" altLang="en-US" sz="2500" b="1" dirty="0">
                <a:solidFill>
                  <a:srgbClr val="FF00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法；</a:t>
            </a:r>
          </a:p>
          <a:p>
            <a:pPr marL="1165225" lvl="1" indent="-44767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kumimoji="0" lang="zh-CN" altLang="en-US" sz="2500" b="1" dirty="0">
                <a:solidFill>
                  <a:srgbClr val="FF00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来自接口的方法必须声明成</a:t>
            </a:r>
            <a:r>
              <a:rPr kumimoji="0"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public</a:t>
            </a:r>
            <a:r>
              <a:rPr kumimoji="0" lang="zh-CN" altLang="en-US" sz="2500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82F04D-EAAC-24A1-4C0A-CC8106D0203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6558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实现接口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4B15E5-0971-E5FF-B3B8-7E9C2DB163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86683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6A43A-1CA7-4BCA-5C27-03B10E97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930B88-6C91-CE79-3410-53D8E997E4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B48D0-781D-91BE-5718-33542AB822D3}"/>
              </a:ext>
            </a:extLst>
          </p:cNvPr>
          <p:cNvSpPr txBox="1">
            <a:spLocks noChangeArrowheads="1"/>
          </p:cNvSpPr>
          <p:nvPr/>
        </p:nvSpPr>
        <p:spPr>
          <a:xfrm>
            <a:off x="1559496" y="1736812"/>
            <a:ext cx="7272808" cy="33843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500" dirty="0"/>
              <a:t>import </a:t>
            </a:r>
            <a:r>
              <a:rPr kumimoji="0" lang="en-US" altLang="zh-CN" sz="2500" dirty="0" err="1"/>
              <a:t>java.util.Date</a:t>
            </a:r>
            <a:r>
              <a:rPr kumimoji="0" lang="en-US" altLang="zh-CN" sz="2500" dirty="0"/>
              <a:t>;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500" dirty="0"/>
              <a:t>public </a:t>
            </a:r>
            <a:r>
              <a:rPr kumimoji="0" lang="en-US" altLang="zh-CN" sz="2500" b="1" dirty="0">
                <a:solidFill>
                  <a:srgbClr val="FF00FF"/>
                </a:solidFill>
              </a:rPr>
              <a:t>interface</a:t>
            </a:r>
            <a:r>
              <a:rPr kumimoji="0" lang="en-US" altLang="zh-CN" sz="2500" dirty="0"/>
              <a:t> Insurable {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500" dirty="0"/>
              <a:t>    public int </a:t>
            </a:r>
            <a:r>
              <a:rPr kumimoji="0" lang="en-US" altLang="zh-CN" sz="2500" dirty="0" err="1"/>
              <a:t>getNumber</a:t>
            </a:r>
            <a:r>
              <a:rPr kumimoji="0" lang="en-US" altLang="zh-CN" sz="2500" dirty="0"/>
              <a:t>();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500" dirty="0"/>
              <a:t>    public int </a:t>
            </a:r>
            <a:r>
              <a:rPr kumimoji="0" lang="en-US" altLang="zh-CN" sz="2500" dirty="0" err="1"/>
              <a:t>getCoverageAmount</a:t>
            </a:r>
            <a:r>
              <a:rPr kumimoji="0" lang="en-US" altLang="zh-CN" sz="2500" dirty="0"/>
              <a:t>();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500" dirty="0"/>
              <a:t>    public double </a:t>
            </a:r>
            <a:r>
              <a:rPr kumimoji="0" lang="en-US" altLang="zh-CN" sz="2500" dirty="0" err="1"/>
              <a:t>calculatePremium</a:t>
            </a:r>
            <a:r>
              <a:rPr kumimoji="0" lang="en-US" altLang="zh-CN" sz="2500" dirty="0"/>
              <a:t>();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500" dirty="0"/>
              <a:t>    public Date </a:t>
            </a:r>
            <a:r>
              <a:rPr kumimoji="0" lang="en-US" altLang="zh-CN" sz="2500" dirty="0" err="1"/>
              <a:t>getExpiryDate</a:t>
            </a:r>
            <a:r>
              <a:rPr kumimoji="0" lang="en-US" altLang="zh-CN" sz="2500" dirty="0"/>
              <a:t>();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500" dirty="0"/>
              <a:t> 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E46B41-9A9D-9FD2-2E6C-C6318B296CC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6558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实现接口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E8454A-9F2D-379F-062D-1B54459DB2B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286204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66B8-0DF7-3F3F-FD25-ECB3BB6E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73ACB9-7F30-0661-E8D6-363210C839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FE5F40D-8FBD-44DE-7A1F-B6CE1B6B4D39}"/>
              </a:ext>
            </a:extLst>
          </p:cNvPr>
          <p:cNvSpPr txBox="1">
            <a:spLocks noChangeArrowheads="1"/>
          </p:cNvSpPr>
          <p:nvPr/>
        </p:nvSpPr>
        <p:spPr>
          <a:xfrm>
            <a:off x="2596716" y="692696"/>
            <a:ext cx="7963780" cy="612010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import </a:t>
            </a:r>
            <a:r>
              <a:rPr kumimoji="0" lang="en-US" altLang="zh-CN" sz="2200" b="1" dirty="0" err="1"/>
              <a:t>java.util.Date</a:t>
            </a:r>
            <a:r>
              <a:rPr kumimoji="0" lang="en-US" altLang="zh-CN" sz="2200" b="1" dirty="0"/>
              <a:t>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public class Car </a:t>
            </a:r>
            <a:r>
              <a:rPr kumimoji="0" lang="en-US" altLang="zh-CN" sz="2200" b="1" dirty="0">
                <a:solidFill>
                  <a:srgbClr val="FF00FF"/>
                </a:solidFill>
                <a:highlight>
                  <a:srgbClr val="FFFF00"/>
                </a:highlight>
              </a:rPr>
              <a:t>implements</a:t>
            </a:r>
            <a:r>
              <a:rPr kumimoji="0" lang="en-US" altLang="zh-CN" sz="2200" b="1" dirty="0"/>
              <a:t> </a:t>
            </a:r>
            <a:r>
              <a:rPr kumimoji="0" lang="en-US" altLang="zh-CN" sz="2200" b="1" dirty="0">
                <a:solidFill>
                  <a:srgbClr val="FF00FF"/>
                </a:solidFill>
              </a:rPr>
              <a:t>Insurable</a:t>
            </a:r>
            <a:r>
              <a:rPr kumimoji="0" lang="en-US" altLang="zh-CN" sz="2200" b="1" dirty="0"/>
              <a:t> {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@Override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public int </a:t>
            </a:r>
            <a:r>
              <a:rPr kumimoji="0" lang="en-US" altLang="zh-CN" sz="2200" b="1" dirty="0" err="1"/>
              <a:t>getNumber</a:t>
            </a:r>
            <a:r>
              <a:rPr kumimoji="0" lang="en-US" altLang="zh-CN" sz="2200" b="1" dirty="0"/>
              <a:t>() { 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     // write code here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}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@Override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public int </a:t>
            </a:r>
            <a:r>
              <a:rPr kumimoji="0" lang="en-US" altLang="zh-CN" sz="2200" b="1" dirty="0" err="1"/>
              <a:t>getPolicyNumber</a:t>
            </a:r>
            <a:r>
              <a:rPr kumimoji="0" lang="en-US" altLang="zh-CN" sz="2200" b="1" dirty="0"/>
              <a:t>() {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      // write code here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}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@Override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public double </a:t>
            </a:r>
            <a:r>
              <a:rPr kumimoji="0" lang="en-US" altLang="zh-CN" sz="2200" b="1" dirty="0" err="1"/>
              <a:t>calculatePremium</a:t>
            </a:r>
            <a:r>
              <a:rPr kumimoji="0" lang="en-US" altLang="zh-CN" sz="2200" b="1" dirty="0"/>
              <a:t>() {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      // write code here</a:t>
            </a:r>
            <a:r>
              <a:rPr kumimoji="0" lang="zh-CN" altLang="en-US" sz="2200" b="1" dirty="0"/>
              <a:t> </a:t>
            </a:r>
            <a:endParaRPr kumimoji="0" lang="en-US" altLang="zh-CN" sz="2200" b="1" dirty="0"/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}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@Override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public Date </a:t>
            </a:r>
            <a:r>
              <a:rPr kumimoji="0" lang="en-US" altLang="zh-CN" sz="2200" b="1" dirty="0" err="1"/>
              <a:t>getExpiryDate</a:t>
            </a:r>
            <a:r>
              <a:rPr kumimoji="0" lang="en-US" altLang="zh-CN" sz="2200" b="1" dirty="0"/>
              <a:t>() { 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     // write code here</a:t>
            </a:r>
            <a:r>
              <a:rPr kumimoji="0" lang="zh-CN" altLang="en-US" sz="2200" b="1" dirty="0"/>
              <a:t> </a:t>
            </a:r>
            <a:r>
              <a:rPr kumimoji="0" lang="en-US" altLang="zh-CN" sz="2200" b="1" dirty="0"/>
              <a:t>}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200" b="1" dirty="0"/>
              <a:t>    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05B134-C6AC-8A5D-1EAE-BB11A96D2E5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实现接口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8F3354B-E375-70BB-AB24-0AD4305A233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3355329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C64A-2315-306E-25D8-FF82FDA2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82D8D0-7252-E9A7-06B9-A1F5CCD1DDC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8C30F2-6DD5-BE88-BADE-890190C5FAF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实现接口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9F6E748-42F9-B281-53A0-A1CFF8060DC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61B434-4FA8-686C-242F-AEB6F091B5DA}"/>
              </a:ext>
            </a:extLst>
          </p:cNvPr>
          <p:cNvSpPr txBox="1">
            <a:spLocks noChangeArrowheads="1"/>
          </p:cNvSpPr>
          <p:nvPr/>
        </p:nvSpPr>
        <p:spPr>
          <a:xfrm>
            <a:off x="335360" y="1510854"/>
            <a:ext cx="6240015" cy="4604661"/>
          </a:xfr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>
                <a:solidFill>
                  <a:srgbClr val="FF00FF"/>
                </a:solidFill>
              </a:rPr>
              <a:t>interface</a:t>
            </a:r>
            <a:r>
              <a:rPr kumimoji="0" lang="en-US" altLang="zh-CN" sz="2200" dirty="0"/>
              <a:t> Shape2D{</a:t>
            </a:r>
            <a:endParaRPr kumimoji="0" lang="zh-CN" altLang="zh-CN" sz="2200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    double pi = 3.14; </a:t>
            </a:r>
            <a:endParaRPr kumimoji="0" lang="zh-CN" altLang="zh-CN" sz="2200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    double area();               </a:t>
            </a:r>
            <a:endParaRPr kumimoji="0" lang="zh-CN" altLang="zh-CN" sz="2200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}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class Circle1</a:t>
            </a:r>
            <a:r>
              <a:rPr kumimoji="0" lang="en-US" altLang="zh-CN" sz="2200" dirty="0">
                <a:solidFill>
                  <a:srgbClr val="66FF33"/>
                </a:solidFill>
              </a:rPr>
              <a:t> </a:t>
            </a:r>
            <a:r>
              <a:rPr kumimoji="0" lang="en-US" altLang="zh-CN" sz="2200" dirty="0">
                <a:solidFill>
                  <a:srgbClr val="FF00FF"/>
                </a:solidFill>
              </a:rPr>
              <a:t>implements</a:t>
            </a:r>
            <a:r>
              <a:rPr kumimoji="0" lang="en-US" altLang="zh-CN" sz="2200" dirty="0"/>
              <a:t> Shape2D{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    double radius;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    public Circle1(double r)</a:t>
            </a:r>
            <a:r>
              <a:rPr kumimoji="0" lang="zh-CN" altLang="en-US" sz="2200" dirty="0"/>
              <a:t> { </a:t>
            </a:r>
            <a:r>
              <a:rPr kumimoji="0" lang="en-US" altLang="zh-CN" sz="2200" dirty="0"/>
              <a:t>radius=r; }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200" dirty="0"/>
              <a:t>    </a:t>
            </a:r>
            <a:r>
              <a:rPr kumimoji="0" lang="en-US" altLang="zh-CN" sz="2200" dirty="0"/>
              <a:t>@Override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    public double </a:t>
            </a:r>
            <a:r>
              <a:rPr kumimoji="0" lang="en-US" altLang="zh-CN" sz="2200" dirty="0">
                <a:solidFill>
                  <a:srgbClr val="FF00FF"/>
                </a:solidFill>
                <a:highlight>
                  <a:srgbClr val="FFFF00"/>
                </a:highlight>
              </a:rPr>
              <a:t>area() </a:t>
            </a:r>
            <a:r>
              <a:rPr kumimoji="0" lang="en-US" altLang="zh-CN" sz="2200" dirty="0"/>
              <a:t>{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       return (</a:t>
            </a:r>
            <a:r>
              <a:rPr kumimoji="0" lang="en-US" altLang="zh-CN" sz="2200" dirty="0">
                <a:solidFill>
                  <a:schemeClr val="folHlink"/>
                </a:solidFill>
              </a:rPr>
              <a:t>pi</a:t>
            </a:r>
            <a:r>
              <a:rPr kumimoji="0" lang="en-US" altLang="zh-CN" sz="2200" dirty="0"/>
              <a:t> * radius * radius);</a:t>
            </a:r>
          </a:p>
          <a:p>
            <a:pPr marL="455613" indent="-455613" fontAlgn="auto">
              <a:lnSpc>
                <a:spcPct val="9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    }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200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47892-13E5-EA68-784E-57E4316E3515}"/>
              </a:ext>
            </a:extLst>
          </p:cNvPr>
          <p:cNvSpPr txBox="1">
            <a:spLocks noChangeArrowheads="1"/>
          </p:cNvSpPr>
          <p:nvPr/>
        </p:nvSpPr>
        <p:spPr>
          <a:xfrm>
            <a:off x="6456040" y="1437548"/>
            <a:ext cx="5616624" cy="432048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class Rectangle </a:t>
            </a:r>
            <a:r>
              <a:rPr kumimoji="0" lang="en-US" altLang="zh-CN" sz="2200" b="1" dirty="0">
                <a:solidFill>
                  <a:srgbClr val="FF00FF"/>
                </a:solidFill>
              </a:rPr>
              <a:t>implements</a:t>
            </a:r>
            <a:r>
              <a:rPr kumimoji="0" lang="en-US" altLang="zh-CN" sz="2200" dirty="0"/>
              <a:t> Shape2D{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     int </a:t>
            </a:r>
            <a:r>
              <a:rPr kumimoji="0" lang="en-US" altLang="zh-CN" sz="2200" dirty="0" err="1"/>
              <a:t>width,height</a:t>
            </a:r>
            <a:r>
              <a:rPr kumimoji="0" lang="en-US" altLang="zh-CN" sz="2200" dirty="0"/>
              <a:t>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     public Rectangle(int </a:t>
            </a:r>
            <a:r>
              <a:rPr kumimoji="0" lang="en-US" altLang="zh-CN" sz="2200" dirty="0" err="1"/>
              <a:t>w,int</a:t>
            </a:r>
            <a:r>
              <a:rPr kumimoji="0" lang="en-US" altLang="zh-CN" sz="2200" dirty="0"/>
              <a:t> h)</a:t>
            </a:r>
            <a:r>
              <a:rPr kumimoji="0" lang="zh-CN" altLang="en-US" sz="2200" dirty="0"/>
              <a:t> {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zh-CN" altLang="en-US" sz="2200" dirty="0"/>
              <a:t>         </a:t>
            </a:r>
            <a:r>
              <a:rPr kumimoji="0" lang="en-US" altLang="zh-CN" sz="2200" dirty="0"/>
              <a:t>width=w;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         height=h;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      }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zh-CN" altLang="en-US" sz="2200" dirty="0"/>
              <a:t>      </a:t>
            </a:r>
            <a:r>
              <a:rPr kumimoji="0" lang="en-US" altLang="zh-CN" sz="2200" dirty="0"/>
              <a:t>@Override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      public double </a:t>
            </a:r>
            <a:r>
              <a:rPr kumimoji="0" lang="en-US" altLang="zh-CN" sz="2200" dirty="0">
                <a:solidFill>
                  <a:srgbClr val="FF00FF"/>
                </a:solidFill>
                <a:highlight>
                  <a:srgbClr val="FFFF00"/>
                </a:highlight>
              </a:rPr>
              <a:t>area()  </a:t>
            </a:r>
            <a:r>
              <a:rPr kumimoji="0" lang="en-US" altLang="zh-CN" sz="2200" dirty="0"/>
              <a:t>{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         return (width * height);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      }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200" dirty="0"/>
              <a:t>}</a:t>
            </a: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0A60CC91-1D20-7F7E-0E18-2C92127EC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032" y="980440"/>
            <a:ext cx="0" cy="53640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9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297F4-C536-3500-D3D0-F8A0859B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F545D3-BAC3-2DBA-230A-4E696B5A49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09EFE92-5B50-87B9-4607-F2D7761A0C19}"/>
              </a:ext>
            </a:extLst>
          </p:cNvPr>
          <p:cNvSpPr txBox="1">
            <a:spLocks noChangeArrowheads="1"/>
          </p:cNvSpPr>
          <p:nvPr/>
        </p:nvSpPr>
        <p:spPr>
          <a:xfrm>
            <a:off x="1127448" y="1556792"/>
            <a:ext cx="9793088" cy="3240934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public class </a:t>
            </a:r>
            <a:r>
              <a:rPr kumimoji="0" lang="en-US" altLang="zh-CN" sz="2400" dirty="0" err="1"/>
              <a:t>InterfaceTester</a:t>
            </a:r>
            <a:r>
              <a:rPr kumimoji="0" lang="en-US" altLang="zh-CN" sz="2400" dirty="0"/>
              <a:t>{  //</a:t>
            </a:r>
            <a:r>
              <a:rPr kumimoji="0" lang="zh-CN" altLang="en-US" sz="2400" dirty="0"/>
              <a:t>测试类</a:t>
            </a:r>
            <a:endParaRPr kumimoji="0" lang="en-US" altLang="zh-CN" sz="2400" dirty="0"/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   public static void main(String  </a:t>
            </a:r>
            <a:r>
              <a:rPr kumimoji="0" lang="en-US" altLang="zh-CN" sz="2400" dirty="0" err="1"/>
              <a:t>args</a:t>
            </a:r>
            <a:r>
              <a:rPr kumimoji="0" lang="en-US" altLang="zh-CN" sz="2400" dirty="0"/>
              <a:t>[]){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      Rectangle </a:t>
            </a:r>
            <a:r>
              <a:rPr kumimoji="0" lang="en-US" altLang="zh-CN" sz="2400" dirty="0" err="1"/>
              <a:t>rect</a:t>
            </a:r>
            <a:r>
              <a:rPr kumimoji="0" lang="en-US" altLang="zh-CN" sz="2400" dirty="0"/>
              <a:t>=new Rectangle(5,6);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      </a:t>
            </a:r>
            <a:r>
              <a:rPr kumimoji="0" lang="en-US" altLang="zh-CN" sz="2400" dirty="0" err="1"/>
              <a:t>System.out.println</a:t>
            </a:r>
            <a:r>
              <a:rPr kumimoji="0" lang="en-US" altLang="zh-CN" sz="2400" dirty="0"/>
              <a:t>("Area of </a:t>
            </a:r>
            <a:r>
              <a:rPr kumimoji="0" lang="en-US" altLang="zh-CN" sz="2400" dirty="0" err="1"/>
              <a:t>rect</a:t>
            </a:r>
            <a:r>
              <a:rPr kumimoji="0" lang="en-US" altLang="zh-CN" sz="2400" dirty="0"/>
              <a:t> = " + </a:t>
            </a:r>
            <a:r>
              <a:rPr kumimoji="0" lang="en-US" altLang="zh-CN" sz="2400" b="1" dirty="0" err="1">
                <a:solidFill>
                  <a:srgbClr val="FF00FF"/>
                </a:solidFill>
              </a:rPr>
              <a:t>rect.area</a:t>
            </a:r>
            <a:r>
              <a:rPr kumimoji="0" lang="en-US" altLang="zh-CN" sz="2400" b="1" dirty="0">
                <a:solidFill>
                  <a:srgbClr val="FF00FF"/>
                </a:solidFill>
              </a:rPr>
              <a:t>()</a:t>
            </a:r>
            <a:r>
              <a:rPr kumimoji="0" lang="en-US" altLang="zh-CN" sz="2400" dirty="0"/>
              <a:t>);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      Circle1 </a:t>
            </a:r>
            <a:r>
              <a:rPr kumimoji="0" lang="en-US" altLang="zh-CN" sz="2400" dirty="0" err="1"/>
              <a:t>cir</a:t>
            </a:r>
            <a:r>
              <a:rPr kumimoji="0" lang="en-US" altLang="zh-CN" sz="2400" dirty="0"/>
              <a:t>=new Circle1(2.0);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      </a:t>
            </a:r>
            <a:r>
              <a:rPr kumimoji="0" lang="en-US" altLang="zh-CN" sz="2400" dirty="0" err="1"/>
              <a:t>System.out.println</a:t>
            </a:r>
            <a:r>
              <a:rPr kumimoji="0" lang="en-US" altLang="zh-CN" sz="2400" dirty="0"/>
              <a:t>("Area of </a:t>
            </a:r>
            <a:r>
              <a:rPr kumimoji="0" lang="en-US" altLang="zh-CN" sz="2400" dirty="0" err="1"/>
              <a:t>cir</a:t>
            </a:r>
            <a:r>
              <a:rPr kumimoji="0" lang="en-US" altLang="zh-CN" sz="2400" dirty="0"/>
              <a:t> = " + </a:t>
            </a:r>
            <a:r>
              <a:rPr kumimoji="0" lang="en-US" altLang="zh-CN" sz="2400" b="1" dirty="0" err="1">
                <a:solidFill>
                  <a:srgbClr val="FF00FF"/>
                </a:solidFill>
              </a:rPr>
              <a:t>cir.area</a:t>
            </a:r>
            <a:r>
              <a:rPr kumimoji="0" lang="en-US" altLang="zh-CN" sz="2400" b="1" dirty="0">
                <a:solidFill>
                  <a:srgbClr val="FF00FF"/>
                </a:solidFill>
              </a:rPr>
              <a:t>()</a:t>
            </a:r>
            <a:r>
              <a:rPr kumimoji="0" lang="en-US" altLang="zh-CN" sz="2400" dirty="0"/>
              <a:t>);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   }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B7F-E95A-9283-598D-A317D39369C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6A10EB-9F5D-A12E-CDE4-B137A198A72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实现接口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08D50D-73B2-B93C-F379-326741DC1969}"/>
              </a:ext>
            </a:extLst>
          </p:cNvPr>
          <p:cNvSpPr txBox="1">
            <a:spLocks noChangeArrowheads="1"/>
          </p:cNvSpPr>
          <p:nvPr/>
        </p:nvSpPr>
        <p:spPr>
          <a:xfrm>
            <a:off x="3575720" y="5004465"/>
            <a:ext cx="4752528" cy="144016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zh-CN" altLang="en-US" sz="2400" dirty="0"/>
              <a:t>运行结果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Area of </a:t>
            </a:r>
            <a:r>
              <a:rPr kumimoji="0" lang="en-US" altLang="zh-CN" sz="2400" dirty="0" err="1"/>
              <a:t>rect</a:t>
            </a:r>
            <a:r>
              <a:rPr kumimoji="0" lang="en-US" altLang="zh-CN" sz="2400" dirty="0"/>
              <a:t> = 30.0</a:t>
            </a:r>
          </a:p>
          <a:p>
            <a:pPr marL="457200" lvl="1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Area of </a:t>
            </a:r>
            <a:r>
              <a:rPr kumimoji="0" lang="en-US" altLang="zh-CN" sz="2400" dirty="0" err="1"/>
              <a:t>cir</a:t>
            </a:r>
            <a:r>
              <a:rPr kumimoji="0" lang="en-US" altLang="zh-CN" sz="2400" dirty="0"/>
              <a:t> = 12.56</a:t>
            </a:r>
          </a:p>
        </p:txBody>
      </p:sp>
    </p:spTree>
    <p:extLst>
      <p:ext uri="{BB962C8B-B14F-4D97-AF65-F5344CB8AC3E}">
        <p14:creationId xmlns:p14="http://schemas.microsoft.com/office/powerpoint/2010/main" val="149456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50DC9-0593-C129-4ED0-055D1824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9154EF-73CD-7B4E-3F9E-F6EA606941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C890C5-7CB3-DF4E-995E-E16BDB40F8C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44CB07-8995-D14E-F492-24ECB543AB8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实现接口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A19DBD-DBEA-3A0F-F667-FECFE994EED0}"/>
              </a:ext>
            </a:extLst>
          </p:cNvPr>
          <p:cNvSpPr txBox="1">
            <a:spLocks noChangeArrowheads="1"/>
          </p:cNvSpPr>
          <p:nvPr/>
        </p:nvSpPr>
        <p:spPr>
          <a:xfrm>
            <a:off x="983432" y="1723167"/>
            <a:ext cx="10729042" cy="3411666"/>
          </a:xfr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400" dirty="0"/>
              <a:t>public class </a:t>
            </a:r>
            <a:r>
              <a:rPr kumimoji="0" lang="en-US" altLang="zh-CN" sz="2400" dirty="0" err="1"/>
              <a:t>VariableTester</a:t>
            </a:r>
            <a:r>
              <a:rPr kumimoji="0" lang="en-US" altLang="zh-CN" sz="2400" dirty="0"/>
              <a:t> {</a:t>
            </a:r>
          </a:p>
          <a:p>
            <a:pPr marL="457200" lvl="1" indent="-45720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400" dirty="0"/>
              <a:t>	public static void main(String []</a:t>
            </a:r>
            <a:r>
              <a:rPr kumimoji="0" lang="en-US" altLang="zh-CN" sz="2400" dirty="0" err="1"/>
              <a:t>args</a:t>
            </a:r>
            <a:r>
              <a:rPr kumimoji="0" lang="en-US" altLang="zh-CN" sz="2400" dirty="0"/>
              <a:t>){</a:t>
            </a:r>
          </a:p>
          <a:p>
            <a:pPr marL="457200" lvl="1" indent="-45720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400" dirty="0"/>
              <a:t>	   </a:t>
            </a:r>
            <a:r>
              <a:rPr kumimoji="0" lang="en-US" altLang="zh-CN" sz="2400" dirty="0">
                <a:solidFill>
                  <a:srgbClr val="FF00FF"/>
                </a:solidFill>
                <a:highlight>
                  <a:srgbClr val="FFFF00"/>
                </a:highlight>
              </a:rPr>
              <a:t>Shape2D var1,var2</a:t>
            </a:r>
            <a:r>
              <a:rPr kumimoji="0" lang="en-US" altLang="zh-CN" sz="2400" dirty="0"/>
              <a:t>; //</a:t>
            </a:r>
            <a:r>
              <a:rPr kumimoji="0" lang="zh-CN" altLang="en-US" sz="2400" dirty="0"/>
              <a:t>声明接口类型的引用变量，并用它来访问对象</a:t>
            </a:r>
            <a:endParaRPr kumimoji="0" lang="en-US" altLang="zh-CN" sz="2400" dirty="0"/>
          </a:p>
          <a:p>
            <a:pPr marL="457200" lvl="1" indent="-457200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400" dirty="0"/>
              <a:t>	   var1 = </a:t>
            </a:r>
            <a:r>
              <a:rPr kumimoji="0" lang="en-US" altLang="zh-CN" sz="2400" b="1" dirty="0">
                <a:solidFill>
                  <a:srgbClr val="FF00FF"/>
                </a:solidFill>
              </a:rPr>
              <a:t>new  Rectangle(5,6)</a:t>
            </a:r>
            <a:r>
              <a:rPr kumimoji="0" lang="en-US" altLang="zh-CN" sz="2400" dirty="0"/>
              <a:t>;</a:t>
            </a:r>
          </a:p>
          <a:p>
            <a:pPr marL="457200" lvl="1" indent="-457200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400" dirty="0"/>
              <a:t>	   </a:t>
            </a:r>
            <a:r>
              <a:rPr kumimoji="0" lang="en-US" altLang="zh-CN" sz="2400" dirty="0" err="1"/>
              <a:t>System.out.println</a:t>
            </a:r>
            <a:r>
              <a:rPr kumimoji="0" lang="en-US" altLang="zh-CN" sz="2400" dirty="0"/>
              <a:t>("Area of var1 = " + var1.area());</a:t>
            </a:r>
          </a:p>
          <a:p>
            <a:pPr marL="457200" lvl="1" indent="-457200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400" dirty="0"/>
              <a:t>      var2 = </a:t>
            </a:r>
            <a:r>
              <a:rPr kumimoji="0" lang="en-US" altLang="zh-CN" sz="2400" b="1" dirty="0">
                <a:solidFill>
                  <a:srgbClr val="FF00FF"/>
                </a:solidFill>
              </a:rPr>
              <a:t>new Circle(2.0);</a:t>
            </a:r>
            <a:r>
              <a:rPr kumimoji="0" lang="en-US" altLang="zh-CN" sz="2400" dirty="0"/>
              <a:t>	</a:t>
            </a:r>
          </a:p>
          <a:p>
            <a:pPr marL="457200" lvl="1" indent="-457200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400" dirty="0"/>
              <a:t>      </a:t>
            </a:r>
            <a:r>
              <a:rPr kumimoji="0" lang="en-US" altLang="zh-CN" sz="2400" dirty="0" err="1"/>
              <a:t>System.out.println</a:t>
            </a:r>
            <a:r>
              <a:rPr kumimoji="0" lang="en-US" altLang="zh-CN" sz="2400" dirty="0"/>
              <a:t>("Area of var2 = " + var2.area());</a:t>
            </a:r>
          </a:p>
          <a:p>
            <a:pPr marL="457200" lvl="1" indent="-457200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400" dirty="0"/>
              <a:t>	}</a:t>
            </a:r>
          </a:p>
          <a:p>
            <a:pPr marL="457200" lvl="1" indent="-457200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400" dirty="0"/>
              <a:t>}</a:t>
            </a:r>
            <a:endParaRPr kumimoji="0" lang="zh-CN" altLang="en-US" sz="2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A1E04F9-B4F7-B441-AD91-BB633E737D34}"/>
              </a:ext>
            </a:extLst>
          </p:cNvPr>
          <p:cNvSpPr txBox="1">
            <a:spLocks noChangeArrowheads="1"/>
          </p:cNvSpPr>
          <p:nvPr/>
        </p:nvSpPr>
        <p:spPr>
          <a:xfrm>
            <a:off x="3233682" y="5229200"/>
            <a:ext cx="4968552" cy="1404727"/>
          </a:xfr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80000"/>
              </a:lnSpc>
              <a:spcBef>
                <a:spcPct val="40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400" dirty="0"/>
              <a:t>运行结果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400" dirty="0"/>
              <a:t>Area of var1 = 30.0</a:t>
            </a:r>
          </a:p>
          <a:p>
            <a:pPr marL="457200" lvl="1" indent="0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400" dirty="0"/>
              <a:t>Area of var2 = 12.56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endParaRPr kumimoji="0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2324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80725-AFC2-2FF8-7C9B-CF2FE722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666CD4-2675-B544-BA84-F1E6844A86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A4CB7792-B3CB-34EB-4CAB-E32E02D7F403}"/>
              </a:ext>
            </a:extLst>
          </p:cNvPr>
          <p:cNvSpPr txBox="1">
            <a:spLocks noChangeArrowheads="1"/>
          </p:cNvSpPr>
          <p:nvPr/>
        </p:nvSpPr>
        <p:spPr>
          <a:xfrm>
            <a:off x="551384" y="1844824"/>
            <a:ext cx="11233248" cy="259228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kumimoji="0"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函数式接口：</a:t>
            </a:r>
            <a:r>
              <a:rPr kumimoji="0" lang="zh-CN" altLang="en-US" sz="2700" dirty="0">
                <a:solidFill>
                  <a:srgbClr val="FF00FF"/>
                </a:solidFill>
                <a:highlight>
                  <a:srgbClr val="FFFF00"/>
                </a:highlight>
              </a:rPr>
              <a:t>仅包含一个抽象方法的接口</a:t>
            </a:r>
            <a:r>
              <a:rPr kumimoji="0" lang="zh-CN" altLang="en-US" sz="2700" dirty="0"/>
              <a:t>；</a:t>
            </a:r>
            <a:endParaRPr kumimoji="0" lang="en-US" altLang="zh-CN" sz="2700" dirty="0"/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700" dirty="0"/>
              <a:t>   例如 </a:t>
            </a:r>
            <a:r>
              <a:rPr kumimoji="0" lang="en-US" altLang="zh-CN" sz="2700" dirty="0" err="1"/>
              <a:t>java.lang.Runnable</a:t>
            </a:r>
            <a:r>
              <a:rPr kumimoji="0" lang="en-US" altLang="zh-CN" sz="2700" dirty="0"/>
              <a:t> </a:t>
            </a:r>
            <a:r>
              <a:rPr kumimoji="0" lang="zh-CN" altLang="en-US" sz="2700" dirty="0"/>
              <a:t>接口仅包含一个</a:t>
            </a:r>
            <a:r>
              <a:rPr kumimoji="0" lang="en-US" altLang="zh-CN" sz="2700" dirty="0"/>
              <a:t>run</a:t>
            </a:r>
            <a:r>
              <a:rPr kumimoji="0" lang="zh-CN" altLang="en-US" sz="2700" dirty="0"/>
              <a:t>方法，所以</a:t>
            </a:r>
            <a:r>
              <a:rPr kumimoji="0" lang="en-US" altLang="zh-CN" sz="2700" dirty="0"/>
              <a:t>Runnable</a:t>
            </a:r>
            <a:r>
              <a:rPr kumimoji="0" lang="zh-CN" altLang="en-US" sz="2700" dirty="0"/>
              <a:t>是一个函数式接口；而前例中的接口可包含数据成员和多个抽象方法，因此不是函数式接口。</a:t>
            </a:r>
            <a:endParaRPr kumimoji="0" lang="en-US" altLang="zh-CN" sz="27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76905A-6212-3C93-6458-AD84AB96694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函数式接口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57475B3-3344-9234-10AB-E91C2FD376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2323081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AC2F-5933-E0BC-56DE-E2914DC91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9FC234-0C20-C481-E358-BBBFE0E498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9B28A0-5FAB-6438-E659-B26FB0E8450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函数式接口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F6E04D-AC8A-653A-3752-BE7B7E163812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1700808"/>
            <a:ext cx="10729192" cy="4752752"/>
          </a:xfr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1800" dirty="0"/>
              <a:t>interface </a:t>
            </a:r>
            <a:r>
              <a:rPr kumimoji="0" lang="en-US" altLang="zh-CN" sz="1800" dirty="0" err="1"/>
              <a:t>FunctionalInterfaceExample</a:t>
            </a:r>
            <a:r>
              <a:rPr kumimoji="0" lang="en-US" altLang="zh-CN" sz="1800" dirty="0"/>
              <a:t> </a:t>
            </a:r>
            <a:r>
              <a:rPr kumimoji="0" lang="en-US" altLang="zh-CN" sz="1800" dirty="0">
                <a:solidFill>
                  <a:srgbClr val="FF00FF"/>
                </a:solidFill>
              </a:rPr>
              <a:t>{</a:t>
            </a:r>
            <a:r>
              <a:rPr kumimoji="0" lang="zh-CN" altLang="en-US" sz="1800" dirty="0">
                <a:solidFill>
                  <a:srgbClr val="FF00FF"/>
                </a:solidFill>
              </a:rPr>
              <a:t> </a:t>
            </a:r>
            <a:r>
              <a:rPr kumimoji="0" lang="en-US" altLang="zh-CN" sz="1800" dirty="0">
                <a:solidFill>
                  <a:srgbClr val="FF00FF"/>
                </a:solidFill>
              </a:rPr>
              <a:t>void  </a:t>
            </a:r>
            <a:r>
              <a:rPr kumimoji="0" lang="en-US" altLang="zh-CN" sz="1800" dirty="0" err="1">
                <a:solidFill>
                  <a:srgbClr val="FF00FF"/>
                </a:solidFill>
              </a:rPr>
              <a:t>theOnlyAbstractMethod</a:t>
            </a:r>
            <a:r>
              <a:rPr kumimoji="0" lang="en-US" altLang="zh-CN" sz="1800" dirty="0">
                <a:solidFill>
                  <a:srgbClr val="FF00FF"/>
                </a:solidFill>
              </a:rPr>
              <a:t>();</a:t>
            </a:r>
            <a:r>
              <a:rPr kumimoji="0" lang="zh-CN" altLang="en-US" sz="1800" dirty="0">
                <a:solidFill>
                  <a:srgbClr val="FF00FF"/>
                </a:solidFill>
              </a:rPr>
              <a:t> </a:t>
            </a:r>
            <a:r>
              <a:rPr kumimoji="0" lang="en-US" altLang="zh-CN" sz="1800" dirty="0"/>
              <a:t>} //</a:t>
            </a:r>
            <a:r>
              <a:rPr kumimoji="0" lang="zh-CN" altLang="en-US" sz="1800" dirty="0"/>
              <a:t>函数式接口声明：</a:t>
            </a:r>
            <a:endParaRPr kumimoji="0" lang="en-US" altLang="zh-CN" sz="1800" dirty="0"/>
          </a:p>
          <a:p>
            <a:pPr marL="0" indent="0" fontAlgn="auto">
              <a:lnSpc>
                <a:spcPct val="80000"/>
              </a:lnSpc>
              <a:spcBef>
                <a:spcPct val="40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000" dirty="0"/>
              <a:t>定义接口实现类，通过类的实例来调用方法：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class </a:t>
            </a:r>
            <a:r>
              <a:rPr kumimoji="0" lang="en-US" altLang="zh-CN" sz="1800" dirty="0" err="1"/>
              <a:t>TraditionalImpl</a:t>
            </a:r>
            <a:r>
              <a:rPr kumimoji="0" lang="en-US" altLang="zh-CN" sz="1800" dirty="0"/>
              <a:t> </a:t>
            </a:r>
            <a:r>
              <a:rPr kumimoji="0" lang="en-US" altLang="zh-CN" sz="1800" b="1" dirty="0">
                <a:solidFill>
                  <a:srgbClr val="FF00FF"/>
                </a:solidFill>
                <a:highlight>
                  <a:srgbClr val="FFFF00"/>
                </a:highlight>
              </a:rPr>
              <a:t>implements</a:t>
            </a:r>
            <a:r>
              <a:rPr kumimoji="0" lang="en-US" altLang="zh-CN" sz="1800" dirty="0"/>
              <a:t> </a:t>
            </a:r>
            <a:r>
              <a:rPr kumimoji="0" lang="en-US" altLang="zh-CN" sz="1800" dirty="0" err="1"/>
              <a:t>FunctionalInterfaceExample</a:t>
            </a:r>
            <a:r>
              <a:rPr kumimoji="0" lang="en-US" altLang="zh-CN" sz="1800" dirty="0"/>
              <a:t> {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    @Override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    public void </a:t>
            </a:r>
            <a:r>
              <a:rPr kumimoji="0" lang="en-US" altLang="zh-CN" sz="1800" dirty="0" err="1"/>
              <a:t>theOnlyAbstractMethod</a:t>
            </a:r>
            <a:r>
              <a:rPr kumimoji="0" lang="en-US" altLang="zh-CN" sz="1800" dirty="0"/>
              <a:t>() {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        </a:t>
            </a:r>
            <a:r>
              <a:rPr kumimoji="0" lang="en-US" altLang="zh-CN" sz="1800" dirty="0" err="1"/>
              <a:t>System.out.println</a:t>
            </a:r>
            <a:r>
              <a:rPr kumimoji="0" lang="en-US" altLang="zh-CN" sz="1800" dirty="0"/>
              <a:t>("Hello!");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    }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}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public class </a:t>
            </a:r>
            <a:r>
              <a:rPr kumimoji="0" lang="en-US" altLang="zh-CN" sz="1800" dirty="0" err="1"/>
              <a:t>FunctionalInterfaceTester</a:t>
            </a:r>
            <a:r>
              <a:rPr kumimoji="0" lang="en-US" altLang="zh-CN" sz="1800" dirty="0"/>
              <a:t> {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    public static void main(String[] </a:t>
            </a:r>
            <a:r>
              <a:rPr kumimoji="0" lang="en-US" altLang="zh-CN" sz="1800" dirty="0" err="1"/>
              <a:t>args</a:t>
            </a:r>
            <a:r>
              <a:rPr kumimoji="0" lang="en-US" altLang="zh-CN" sz="1800" dirty="0"/>
              <a:t>) {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        </a:t>
            </a:r>
            <a:r>
              <a:rPr kumimoji="0" lang="en-US" altLang="zh-CN" sz="1800" dirty="0" err="1"/>
              <a:t>FunctionalInterfaceExample</a:t>
            </a:r>
            <a:r>
              <a:rPr kumimoji="0" lang="en-US" altLang="zh-CN" sz="1800" dirty="0"/>
              <a:t> </a:t>
            </a:r>
            <a:r>
              <a:rPr kumimoji="0" lang="en-US" altLang="zh-CN" sz="1800" dirty="0" err="1"/>
              <a:t>traditionalImpl</a:t>
            </a:r>
            <a:r>
              <a:rPr kumimoji="0" lang="en-US" altLang="zh-CN" sz="1800" dirty="0"/>
              <a:t> = new </a:t>
            </a:r>
            <a:r>
              <a:rPr kumimoji="0" lang="en-US" altLang="zh-CN" sz="1800" dirty="0" err="1"/>
              <a:t>TraditionalImpl</a:t>
            </a:r>
            <a:r>
              <a:rPr kumimoji="0" lang="en-US" altLang="zh-CN" sz="1800" dirty="0"/>
              <a:t>();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        </a:t>
            </a:r>
            <a:r>
              <a:rPr kumimoji="0" lang="en-US" altLang="zh-CN" sz="1800" dirty="0" err="1"/>
              <a:t>traditionalImpl.theOnlyAbstractMethod</a:t>
            </a:r>
            <a:r>
              <a:rPr kumimoji="0" lang="en-US" altLang="zh-CN" sz="1800" dirty="0"/>
              <a:t>();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    }</a:t>
            </a:r>
          </a:p>
          <a:p>
            <a:pPr marL="457200" lvl="1" indent="0" fontAlgn="auto">
              <a:lnSpc>
                <a:spcPct val="80000"/>
              </a:lnSpc>
              <a:spcBef>
                <a:spcPct val="45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1800" dirty="0"/>
              <a:t>}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endParaRPr kumimoji="0" lang="zh-CN" altLang="en-US" sz="24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0187EE0-FC0E-AF98-C4DA-0B29C684C4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203583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77E2-3B4B-1FFC-A794-7A92AEEF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C256627-6273-D40B-32B2-1033A6A8AF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2F043AF2-3379-C9B7-0B66-18B47B2F9BB1}"/>
              </a:ext>
            </a:extLst>
          </p:cNvPr>
          <p:cNvSpPr txBox="1">
            <a:spLocks noChangeArrowheads="1"/>
          </p:cNvSpPr>
          <p:nvPr/>
        </p:nvSpPr>
        <p:spPr>
          <a:xfrm>
            <a:off x="767408" y="1628800"/>
            <a:ext cx="10972800" cy="432048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00" dirty="0"/>
              <a:t>从</a:t>
            </a:r>
            <a:r>
              <a:rPr kumimoji="0" lang="en-US" altLang="zh-CN" sz="2700" dirty="0"/>
              <a:t>Java 8</a:t>
            </a:r>
            <a:r>
              <a:rPr kumimoji="0" lang="zh-CN" altLang="en-US" sz="2700" dirty="0"/>
              <a:t>开始可使用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Lambda</a:t>
            </a:r>
            <a:r>
              <a:rPr kumimoji="0" lang="zh-CN" altLang="en-US" sz="2700" dirty="0"/>
              <a:t>表达式</a:t>
            </a:r>
            <a:r>
              <a:rPr kumimoji="0"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实现函数式接口编程</a:t>
            </a:r>
            <a:r>
              <a:rPr kumimoji="0" lang="en-US" altLang="zh-CN" sz="2700" dirty="0"/>
              <a:t>;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en-US" altLang="zh-CN" sz="2700" dirty="0"/>
              <a:t>Lambda</a:t>
            </a:r>
            <a:r>
              <a:rPr kumimoji="0" lang="zh-CN" altLang="en-US" sz="2700" dirty="0"/>
              <a:t>表达式使程序更加简洁、清晰、易于编写</a:t>
            </a:r>
            <a:r>
              <a:rPr kumimoji="0" lang="en-US" altLang="zh-CN" sz="2700" dirty="0"/>
              <a:t>;</a:t>
            </a:r>
          </a:p>
          <a:p>
            <a:pPr fontAlgn="auto"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Lambda</a:t>
            </a:r>
            <a:r>
              <a:rPr kumimoji="0"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表达式由三部分组成：</a:t>
            </a:r>
            <a:endParaRPr kumimoji="0" lang="en-US" altLang="zh-CN" sz="2700" b="1" dirty="0">
              <a:solidFill>
                <a:srgbClr val="FF00FF"/>
              </a:solidFill>
              <a:highlight>
                <a:srgbClr val="FFFF00"/>
              </a:highlight>
            </a:endParaRPr>
          </a:p>
          <a:p>
            <a:pPr marL="914400" lvl="1" indent="-457200" fontAlgn="auto"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700" dirty="0">
                <a:solidFill>
                  <a:srgbClr val="FF00FF"/>
                </a:solidFill>
              </a:rPr>
              <a:t>参数表</a:t>
            </a:r>
            <a:r>
              <a:rPr kumimoji="0" lang="zh-CN" altLang="en-US" sz="2700" dirty="0"/>
              <a:t>。由于参数类型已经由接口声明，因此</a:t>
            </a:r>
            <a:r>
              <a:rPr kumimoji="0" lang="en-US" altLang="zh-CN" sz="2700" dirty="0"/>
              <a:t>Lambda</a:t>
            </a:r>
            <a:r>
              <a:rPr kumimoji="0" lang="zh-CN" altLang="en-US" sz="2700" dirty="0"/>
              <a:t>表达式的参数表仅包含参数值，如果接口方法包含了两个参数，则参数表形如</a:t>
            </a:r>
            <a:r>
              <a:rPr kumimoji="0" lang="en-US" altLang="zh-CN" sz="2700" dirty="0"/>
              <a:t>(p1, p2);</a:t>
            </a:r>
            <a:endParaRPr kumimoji="0" lang="zh-CN" altLang="en-US" sz="2700" dirty="0"/>
          </a:p>
          <a:p>
            <a:pPr marL="914400" lvl="1" indent="-457200" fontAlgn="auto"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700" dirty="0">
                <a:solidFill>
                  <a:srgbClr val="FF00FF"/>
                </a:solidFill>
              </a:rPr>
              <a:t>箭头操作符</a:t>
            </a:r>
            <a:r>
              <a:rPr kumimoji="0" lang="zh-CN" altLang="en-US" sz="2700" dirty="0"/>
              <a:t>“</a:t>
            </a:r>
            <a:r>
              <a:rPr kumimoji="0" lang="en-US" altLang="zh-CN" sz="2700" dirty="0"/>
              <a:t>-&gt;”;</a:t>
            </a:r>
            <a:endParaRPr kumimoji="0" lang="zh-CN" altLang="en-US" sz="2700" dirty="0"/>
          </a:p>
          <a:p>
            <a:pPr marL="914400" lvl="1" indent="-457200" fontAlgn="auto"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700" dirty="0">
                <a:solidFill>
                  <a:srgbClr val="FF00FF"/>
                </a:solidFill>
              </a:rPr>
              <a:t>表达式体</a:t>
            </a:r>
            <a:r>
              <a:rPr kumimoji="0" lang="zh-CN" altLang="en-US" sz="2700" dirty="0"/>
              <a:t>。类似于普通的</a:t>
            </a:r>
            <a:r>
              <a:rPr kumimoji="0" lang="en-US" altLang="zh-CN" sz="2700" dirty="0"/>
              <a:t>Java</a:t>
            </a:r>
            <a:r>
              <a:rPr kumimoji="0" lang="zh-CN" altLang="en-US" sz="2700" dirty="0"/>
              <a:t>方法，可以对参数进行操作，也可以有返回值。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122290-7B91-7D43-4078-82E2739AE18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Lambda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表达式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024F6FB-C70B-8121-4DAF-77F1E0BA45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159353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1DAB-E642-609A-3A3A-0B9EC2F5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3AAF1C-ACE5-2EA3-13DC-A70E6CF24F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1F8DF0-71A8-3D24-F5F6-68A7F4880963}"/>
              </a:ext>
            </a:extLst>
          </p:cNvPr>
          <p:cNvSpPr txBox="1">
            <a:spLocks noChangeArrowheads="1"/>
          </p:cNvSpPr>
          <p:nvPr/>
        </p:nvSpPr>
        <p:spPr>
          <a:xfrm>
            <a:off x="407670" y="1628800"/>
            <a:ext cx="11592986" cy="4535834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zh-CN" altLang="en-US" sz="2400" dirty="0"/>
              <a:t>使用</a:t>
            </a:r>
            <a:r>
              <a:rPr kumimoji="0" lang="en-US" altLang="zh-CN" sz="2400" dirty="0"/>
              <a:t>Lambda</a:t>
            </a:r>
            <a:r>
              <a:rPr kumimoji="0" lang="zh-CN" altLang="en-US" sz="2400" dirty="0"/>
              <a:t>表达式能够将之前的函数式接口例子简化为</a:t>
            </a:r>
            <a:r>
              <a:rPr kumimoji="0" lang="en-US" altLang="zh-CN" sz="2400" dirty="0"/>
              <a:t>:</a:t>
            </a:r>
            <a:endParaRPr kumimoji="0" lang="zh-CN" altLang="en-US" sz="2400" dirty="0"/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@FunctionalInterface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interface </a:t>
            </a:r>
            <a:r>
              <a:rPr kumimoji="0" lang="en-US" altLang="zh-CN" sz="2000" dirty="0" err="1"/>
              <a:t>FunctionalInterfaceExample</a:t>
            </a:r>
            <a:r>
              <a:rPr kumimoji="0" lang="en-US" altLang="zh-CN" sz="2000" dirty="0"/>
              <a:t> { 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    void </a:t>
            </a:r>
            <a:r>
              <a:rPr kumimoji="0" lang="en-US" altLang="zh-CN" sz="2000" dirty="0" err="1"/>
              <a:t>theOnlyAbstractMethod</a:t>
            </a:r>
            <a:r>
              <a:rPr kumimoji="0" lang="en-US" altLang="zh-CN" sz="2000" dirty="0"/>
              <a:t>(); 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public class </a:t>
            </a:r>
            <a:r>
              <a:rPr kumimoji="0" lang="en-US" altLang="zh-CN" sz="2000" dirty="0" err="1"/>
              <a:t>FunctionalInterfaceLambdaTester</a:t>
            </a:r>
            <a:r>
              <a:rPr kumimoji="0" lang="en-US" altLang="zh-CN" sz="2000" dirty="0"/>
              <a:t> {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    public static void main(String[] </a:t>
            </a:r>
            <a:r>
              <a:rPr kumimoji="0" lang="en-US" altLang="zh-CN" sz="2000" dirty="0" err="1"/>
              <a:t>args</a:t>
            </a:r>
            <a:r>
              <a:rPr kumimoji="0" lang="en-US" altLang="zh-CN" sz="2000" dirty="0"/>
              <a:t>) {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        </a:t>
            </a:r>
            <a:r>
              <a:rPr kumimoji="0" lang="en-US" altLang="zh-CN" sz="2000" dirty="0" err="1"/>
              <a:t>FunctionalInterfaceExample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lambdaImpl</a:t>
            </a:r>
            <a:r>
              <a:rPr kumimoji="0" lang="en-US" altLang="zh-CN" sz="2000" dirty="0"/>
              <a:t> = </a:t>
            </a:r>
            <a:r>
              <a:rPr kumimoji="0" lang="en-US" altLang="zh-CN" sz="2000" b="1" dirty="0">
                <a:solidFill>
                  <a:srgbClr val="FF00FF"/>
                </a:solidFill>
              </a:rPr>
              <a:t>() -&gt; </a:t>
            </a:r>
            <a:r>
              <a:rPr kumimoji="0" lang="en-US" altLang="zh-CN" sz="2000" b="1" dirty="0" err="1">
                <a:solidFill>
                  <a:srgbClr val="FF00FF"/>
                </a:solidFill>
              </a:rPr>
              <a:t>System.out.println</a:t>
            </a:r>
            <a:r>
              <a:rPr kumimoji="0" lang="en-US" altLang="zh-CN" sz="2000" b="1" dirty="0">
                <a:solidFill>
                  <a:srgbClr val="FF00FF"/>
                </a:solidFill>
              </a:rPr>
              <a:t>("Hello!");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        </a:t>
            </a:r>
            <a:r>
              <a:rPr kumimoji="0" lang="en-US" altLang="zh-CN" sz="2000" dirty="0" err="1"/>
              <a:t>lambdaImpl.theOnlyAbstractMethod</a:t>
            </a:r>
            <a:r>
              <a:rPr kumimoji="0" lang="en-US" altLang="zh-CN" sz="2000" dirty="0"/>
              <a:t>();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    }</a:t>
            </a:r>
          </a:p>
          <a:p>
            <a:pPr marL="457200" lvl="1" indent="0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  <a:endParaRPr kumimoji="0"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EE0D98-C918-AD5F-0E93-A4AE1EF84D7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Lambda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表达式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06C8754-9256-E1D4-5D67-76F4EF76B2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2724181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FB92-D8A5-744C-34C7-03EC40D6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F34325-1666-AE05-D3A3-65BC6F8F54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DDC9418-AB98-A903-C482-03718F46B972}"/>
              </a:ext>
            </a:extLst>
          </p:cNvPr>
          <p:cNvSpPr txBox="1">
            <a:spLocks noChangeArrowheads="1"/>
          </p:cNvSpPr>
          <p:nvPr/>
        </p:nvSpPr>
        <p:spPr>
          <a:xfrm>
            <a:off x="479376" y="1383804"/>
            <a:ext cx="11449272" cy="5357564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@FunctionalInterface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interface FunctionalInterfaceExample2 {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/**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 * </a:t>
            </a:r>
            <a:r>
              <a:rPr kumimoji="0" lang="zh-CN" altLang="en-US" sz="2200" dirty="0"/>
              <a:t>连接两个字符串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zh-CN" altLang="en-US" sz="2200" dirty="0"/>
              <a:t>     * </a:t>
            </a:r>
            <a:r>
              <a:rPr kumimoji="0" lang="en-US" altLang="zh-CN" sz="2200" dirty="0"/>
              <a:t>@param a </a:t>
            </a:r>
            <a:r>
              <a:rPr kumimoji="0" lang="zh-CN" altLang="en-US" sz="2200" dirty="0"/>
              <a:t>字符串</a:t>
            </a:r>
            <a:r>
              <a:rPr kumimoji="0" lang="en-US" altLang="zh-CN" sz="2200" dirty="0"/>
              <a:t>1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 * @param b </a:t>
            </a:r>
            <a:r>
              <a:rPr kumimoji="0" lang="zh-CN" altLang="en-US" sz="2200" dirty="0"/>
              <a:t>字符串</a:t>
            </a:r>
            <a:r>
              <a:rPr kumimoji="0" lang="en-US" altLang="zh-CN" sz="2200" dirty="0"/>
              <a:t>2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 * @return </a:t>
            </a:r>
            <a:r>
              <a:rPr kumimoji="0" lang="zh-CN" altLang="en-US" sz="2200" dirty="0"/>
              <a:t>两个字符串的连接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zh-CN" altLang="en-US" sz="2200" dirty="0"/>
              <a:t>     *</a:t>
            </a:r>
            <a:r>
              <a:rPr kumimoji="0" lang="en-US" altLang="zh-CN" sz="2200" dirty="0"/>
              <a:t>/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String </a:t>
            </a:r>
            <a:r>
              <a:rPr kumimoji="0" lang="en-US" altLang="zh-CN" sz="2200" dirty="0" err="1"/>
              <a:t>theOnlyAbstractMethod</a:t>
            </a:r>
            <a:r>
              <a:rPr kumimoji="0" lang="en-US" altLang="zh-CN" sz="2200" dirty="0"/>
              <a:t>(String a, String b);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}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public class LambdaExpressionTester1 {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public static void main(String[] </a:t>
            </a:r>
            <a:r>
              <a:rPr kumimoji="0" lang="en-US" altLang="zh-CN" sz="2200" dirty="0" err="1"/>
              <a:t>args</a:t>
            </a:r>
            <a:r>
              <a:rPr kumimoji="0" lang="en-US" altLang="zh-CN" sz="2200" dirty="0"/>
              <a:t>) {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    FunctionalInterfaceExample2 </a:t>
            </a:r>
            <a:r>
              <a:rPr kumimoji="0" lang="en-US" altLang="zh-CN" sz="2200" dirty="0" err="1"/>
              <a:t>lambdaImpl</a:t>
            </a:r>
            <a:r>
              <a:rPr kumimoji="0" lang="en-US" altLang="zh-CN" sz="2200" dirty="0"/>
              <a:t> = </a:t>
            </a:r>
            <a:r>
              <a:rPr kumimoji="0" lang="en-US" altLang="zh-CN" sz="2200" dirty="0">
                <a:solidFill>
                  <a:srgbClr val="FF00FF"/>
                </a:solidFill>
              </a:rPr>
              <a:t>(a, b) -&gt; a + b;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    </a:t>
            </a:r>
            <a:r>
              <a:rPr kumimoji="0" lang="en-US" altLang="zh-CN" sz="2200" dirty="0" err="1"/>
              <a:t>System.out.println</a:t>
            </a:r>
            <a:r>
              <a:rPr kumimoji="0" lang="en-US" altLang="zh-CN" sz="2200" dirty="0"/>
              <a:t>(</a:t>
            </a:r>
            <a:r>
              <a:rPr kumimoji="0" lang="en-US" altLang="zh-CN" sz="2200" dirty="0" err="1"/>
              <a:t>lambdaImpl.theOnlyAbstractMethod</a:t>
            </a:r>
            <a:r>
              <a:rPr kumimoji="0" lang="en-US" altLang="zh-CN" sz="2200" dirty="0"/>
              <a:t>("</a:t>
            </a:r>
            <a:r>
              <a:rPr kumimoji="0" lang="en-US" altLang="zh-CN" sz="2200" dirty="0" err="1"/>
              <a:t>Hello,","there</a:t>
            </a:r>
            <a:r>
              <a:rPr kumimoji="0" lang="en-US" altLang="zh-CN" sz="2200" dirty="0"/>
              <a:t>!"));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    }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</a:pPr>
            <a:r>
              <a:rPr kumimoji="0" lang="en-US" altLang="zh-CN" sz="2200" dirty="0"/>
              <a:t>}</a:t>
            </a:r>
            <a:endParaRPr kumimoji="0" lang="zh-CN" altLang="en-US" sz="2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EB159D-A833-848B-5E2F-EE5D4A03560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368" y="912894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Lambda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表达式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941C8-9C25-861E-5F19-CF8ED7FE55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273469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8581-9034-511D-C8A0-5CD223DA8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E21B74-E1FF-5FA5-CAF8-C0A8019934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14FE9C0-97D4-B4E3-853B-AA67E416191D}"/>
              </a:ext>
            </a:extLst>
          </p:cNvPr>
          <p:cNvSpPr txBox="1">
            <a:spLocks/>
          </p:cNvSpPr>
          <p:nvPr/>
        </p:nvSpPr>
        <p:spPr>
          <a:xfrm>
            <a:off x="623392" y="1556792"/>
            <a:ext cx="11160744" cy="4896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kumimoji="0" lang="zh-CN" altLang="en-US" sz="2600" b="1" dirty="0">
                <a:solidFill>
                  <a:srgbClr val="FF00FF"/>
                </a:solidFill>
              </a:rPr>
              <a:t>函数式接口可以声明</a:t>
            </a:r>
            <a:r>
              <a:rPr kumimoji="0" lang="en-US" altLang="zh-CN" sz="2600" b="1" dirty="0">
                <a:solidFill>
                  <a:srgbClr val="FF00FF"/>
                </a:solidFill>
              </a:rPr>
              <a:t>Default</a:t>
            </a:r>
            <a:r>
              <a:rPr kumimoji="0" lang="zh-CN" altLang="en-US" sz="2600" b="1" dirty="0">
                <a:solidFill>
                  <a:srgbClr val="FF00FF"/>
                </a:solidFill>
              </a:rPr>
              <a:t>方法：</a:t>
            </a:r>
            <a:r>
              <a:rPr kumimoji="0" lang="en-US" altLang="zh-CN" sz="2600" dirty="0"/>
              <a:t>Default</a:t>
            </a:r>
            <a:r>
              <a:rPr kumimoji="0" lang="zh-CN" altLang="en-US" sz="2600" dirty="0"/>
              <a:t>修饰，它不是抽象方法；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kumimoji="0" lang="zh-CN" altLang="en-US" sz="2600" b="1" dirty="0">
                <a:solidFill>
                  <a:srgbClr val="FF00FF"/>
                </a:solidFill>
              </a:rPr>
              <a:t>函数式接口的实例化</a:t>
            </a:r>
            <a:r>
              <a:rPr kumimoji="0" lang="en-US" altLang="zh-CN" sz="2600" dirty="0"/>
              <a:t>——</a:t>
            </a:r>
            <a:r>
              <a:rPr kumimoji="0" lang="zh-CN" altLang="en-US" sz="2600" dirty="0"/>
              <a:t>除了可以像普通接口一样通过声明实现类来实现之外，还可以直接通过</a:t>
            </a:r>
            <a:r>
              <a:rPr kumimoji="0" lang="en-US" altLang="zh-CN" sz="2600" b="1" dirty="0">
                <a:solidFill>
                  <a:srgbClr val="FF00FF"/>
                </a:solidFill>
                <a:highlight>
                  <a:srgbClr val="FFFF00"/>
                </a:highlight>
              </a:rPr>
              <a:t>Lambda</a:t>
            </a:r>
            <a:r>
              <a:rPr kumimoji="0" lang="zh-CN" altLang="en-US" sz="2600" b="1" dirty="0">
                <a:solidFill>
                  <a:srgbClr val="FF00FF"/>
                </a:solidFill>
                <a:highlight>
                  <a:srgbClr val="FFFF00"/>
                </a:highlight>
              </a:rPr>
              <a:t>表达式、方法引用、构造方法引用</a:t>
            </a:r>
            <a:r>
              <a:rPr kumimoji="0" lang="zh-CN" altLang="en-US" sz="2600" dirty="0"/>
              <a:t>三种方法来实现。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600" dirty="0"/>
              <a:t>如果函数式接口覆盖了</a:t>
            </a:r>
            <a:r>
              <a:rPr kumimoji="0" lang="en-US" altLang="zh-CN" sz="2600" dirty="0" err="1"/>
              <a:t>java.lang.Object</a:t>
            </a:r>
            <a:r>
              <a:rPr kumimoji="0" lang="zh-CN" altLang="en-US" sz="2600" dirty="0"/>
              <a:t>的公共方法</a:t>
            </a:r>
            <a:r>
              <a:rPr kumimoji="0" lang="en-US" altLang="zh-CN" sz="2600" dirty="0"/>
              <a:t>(</a:t>
            </a:r>
            <a:r>
              <a:rPr kumimoji="0" lang="zh-CN" altLang="en-US" sz="2600" dirty="0"/>
              <a:t>如</a:t>
            </a:r>
            <a:r>
              <a:rPr kumimoji="0" lang="en-US" altLang="zh-CN" sz="2600" dirty="0" err="1"/>
              <a:t>hashCode</a:t>
            </a:r>
            <a:r>
              <a:rPr kumimoji="0" lang="zh-CN" altLang="en-US" sz="2600" dirty="0"/>
              <a:t>、</a:t>
            </a:r>
            <a:r>
              <a:rPr kumimoji="0" lang="en-US" altLang="zh-CN" sz="2600" dirty="0"/>
              <a:t>equals)</a:t>
            </a:r>
            <a:r>
              <a:rPr kumimoji="0" lang="zh-CN" altLang="en-US" sz="2600" dirty="0"/>
              <a:t>，并将其声明为抽象方法，则</a:t>
            </a:r>
            <a:r>
              <a:rPr kumimoji="0" lang="zh-CN" altLang="en-US" sz="2600" b="1" dirty="0">
                <a:solidFill>
                  <a:srgbClr val="FF00FF"/>
                </a:solidFill>
              </a:rPr>
              <a:t>这些方法不被算作接口的抽象方法</a:t>
            </a:r>
            <a:r>
              <a:rPr kumimoji="0" lang="zh-CN" altLang="en-US" sz="2600" dirty="0"/>
              <a:t>。因为函数式接口的任何实现类都将从</a:t>
            </a:r>
            <a:r>
              <a:rPr kumimoji="0" lang="en-US" altLang="zh-CN" sz="2600" dirty="0" err="1"/>
              <a:t>java.lang.Object</a:t>
            </a:r>
            <a:r>
              <a:rPr kumimoji="0" lang="zh-CN" altLang="en-US" sz="2600" dirty="0"/>
              <a:t>或其他类中继承这些公共方法的实现。</a:t>
            </a:r>
            <a:endParaRPr kumimoji="0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D1F2B-136F-46D9-EE0F-4942A589140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Lambda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表达式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1CD663A-EEDC-5FC5-A7B9-665F5C049DC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870187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070C-1AC6-4299-B9FF-0F75757A6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FABB67-3044-34EB-EFDB-A867A8F320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B45366-6265-D03C-951A-7DE5ECEE4C77}"/>
              </a:ext>
            </a:extLst>
          </p:cNvPr>
          <p:cNvSpPr txBox="1">
            <a:spLocks noChangeArrowheads="1"/>
          </p:cNvSpPr>
          <p:nvPr/>
        </p:nvSpPr>
        <p:spPr>
          <a:xfrm>
            <a:off x="1415480" y="1484784"/>
            <a:ext cx="8784976" cy="5184576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@FunctionalInterface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interface FunctionalInterfaceExample1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/** </a:t>
            </a:r>
            <a:r>
              <a:rPr kumimoji="0" lang="zh-CN" altLang="zh-CN" sz="2000" dirty="0"/>
              <a:t>函数式接口唯一的抽象方法</a:t>
            </a:r>
            <a:r>
              <a:rPr kumimoji="0" lang="en-US" altLang="zh-CN" sz="2000" dirty="0"/>
              <a:t>     */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void </a:t>
            </a:r>
            <a:r>
              <a:rPr kumimoji="0" lang="en-US" altLang="zh-CN" sz="2000" dirty="0" err="1"/>
              <a:t>theOnlyAbstractMethod</a:t>
            </a:r>
            <a:r>
              <a:rPr kumimoji="0" lang="en-US" altLang="zh-CN" sz="2000" dirty="0"/>
              <a:t>(); 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/** </a:t>
            </a:r>
            <a:r>
              <a:rPr kumimoji="0" lang="zh-CN" altLang="zh-CN" sz="2000" dirty="0"/>
              <a:t>函数式接口可以声明默认方法</a:t>
            </a:r>
            <a:r>
              <a:rPr kumimoji="0" lang="en-US" altLang="zh-CN" sz="2000" dirty="0"/>
              <a:t>     */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default void </a:t>
            </a:r>
            <a:r>
              <a:rPr kumimoji="0" lang="en-US" altLang="zh-CN" sz="2000" dirty="0" err="1"/>
              <a:t>defaultMethod</a:t>
            </a:r>
            <a:r>
              <a:rPr kumimoji="0" lang="en-US" altLang="zh-CN" sz="2000" dirty="0"/>
              <a:t>()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}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/**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* </a:t>
            </a:r>
            <a:r>
              <a:rPr kumimoji="0" lang="zh-CN" altLang="zh-CN" sz="2000" dirty="0"/>
              <a:t>函数式接口覆盖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java.lang.Object</a:t>
            </a:r>
            <a:r>
              <a:rPr kumimoji="0" lang="en-US" altLang="zh-CN" sz="2000" dirty="0"/>
              <a:t> </a:t>
            </a:r>
            <a:r>
              <a:rPr kumimoji="0" lang="zh-CN" altLang="zh-CN" sz="2000" dirty="0"/>
              <a:t>的方法，不算作抽象方法。</a:t>
            </a:r>
            <a:r>
              <a:rPr kumimoji="0" lang="en-US" altLang="zh-CN" sz="2000" dirty="0"/>
              <a:t> 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* @return a hash code value for this object.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*/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@Override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int </a:t>
            </a:r>
            <a:r>
              <a:rPr kumimoji="0" lang="en-US" altLang="zh-CN" sz="2000" dirty="0" err="1"/>
              <a:t>hashCode</a:t>
            </a:r>
            <a:r>
              <a:rPr kumimoji="0" lang="en-US" altLang="zh-CN" sz="2000" dirty="0"/>
              <a:t>();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  <a:endParaRPr kumimoji="0"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ADB383-1D49-E5EA-F29E-601B1A445EA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Lambda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表达式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1EA321E-3B12-F2CF-FF0D-AA7148405F5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97144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9E7A-8DD0-5682-DFB4-211FD18E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F2A570-EFBE-F1D7-F144-3809F31547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7CA1D79-4962-C146-5513-26B8654D6ED9}"/>
              </a:ext>
            </a:extLst>
          </p:cNvPr>
          <p:cNvSpPr txBox="1">
            <a:spLocks noChangeArrowheads="1"/>
          </p:cNvSpPr>
          <p:nvPr/>
        </p:nvSpPr>
        <p:spPr>
          <a:xfrm>
            <a:off x="753616" y="1466464"/>
            <a:ext cx="10972800" cy="5040560"/>
          </a:xfrm>
          <a:prstGeom prst="rect">
            <a:avLst/>
          </a:prstGeom>
        </p:spPr>
        <p:txBody>
          <a:bodyPr lIns="92075" tIns="46038" rIns="92075" bIns="46038" numCol="2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class </a:t>
            </a:r>
            <a:r>
              <a:rPr kumimoji="0" lang="en-US" altLang="zh-CN" sz="2000" dirty="0" err="1"/>
              <a:t>TraditionalImpl</a:t>
            </a:r>
            <a:r>
              <a:rPr kumimoji="0" lang="en-US" altLang="zh-CN" sz="2000" dirty="0"/>
              <a:t> implements FunctionalInterfaceExample1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@Override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public void </a:t>
            </a:r>
            <a:r>
              <a:rPr kumimoji="0" lang="en-US" altLang="zh-CN" sz="2000" dirty="0" err="1"/>
              <a:t>theOnlyAbstractMethod</a:t>
            </a:r>
            <a:r>
              <a:rPr kumimoji="0" lang="en-US" altLang="zh-CN" sz="2000" dirty="0"/>
              <a:t>()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</a:t>
            </a:r>
            <a:r>
              <a:rPr kumimoji="0" lang="en-US" altLang="zh-CN" sz="2000" dirty="0" err="1"/>
              <a:t>System.out.println</a:t>
            </a:r>
            <a:r>
              <a:rPr kumimoji="0" lang="en-US" altLang="zh-CN" sz="2000" dirty="0"/>
              <a:t>("Hello!");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}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 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class </a:t>
            </a:r>
            <a:r>
              <a:rPr kumimoji="0" lang="en-US" altLang="zh-CN" sz="2000" dirty="0" err="1"/>
              <a:t>StaticMethodExample</a:t>
            </a:r>
            <a:r>
              <a:rPr kumimoji="0" lang="en-US" altLang="zh-CN" sz="2000" dirty="0"/>
              <a:t>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public static void </a:t>
            </a:r>
            <a:r>
              <a:rPr kumimoji="0" lang="en-US" altLang="zh-CN" sz="2000" dirty="0" err="1"/>
              <a:t>referencedMethod</a:t>
            </a:r>
            <a:r>
              <a:rPr kumimoji="0" lang="en-US" altLang="zh-CN" sz="2000" dirty="0"/>
              <a:t>(){ 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</a:t>
            </a:r>
            <a:r>
              <a:rPr kumimoji="0" lang="en-US" altLang="zh-CN" sz="2000" dirty="0" err="1"/>
              <a:t>System.out.println</a:t>
            </a:r>
            <a:r>
              <a:rPr kumimoji="0" lang="en-US" altLang="zh-CN" sz="2000" dirty="0"/>
              <a:t>("Hello!");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}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  <a:endParaRPr kumimoji="0" lang="zh-CN" altLang="zh-CN" sz="2000" dirty="0"/>
          </a:p>
          <a:p>
            <a:pPr fontAlgn="auto">
              <a:spcAft>
                <a:spcPts val="0"/>
              </a:spcAft>
            </a:pPr>
            <a:endParaRPr kumimoji="0" lang="en-US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class </a:t>
            </a:r>
            <a:r>
              <a:rPr kumimoji="0" lang="en-US" altLang="zh-CN" sz="2000" dirty="0" err="1"/>
              <a:t>InstanceMethodExample</a:t>
            </a:r>
            <a:r>
              <a:rPr kumimoji="0" lang="en-US" altLang="zh-CN" sz="2000" dirty="0"/>
              <a:t>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public void </a:t>
            </a:r>
            <a:r>
              <a:rPr kumimoji="0" lang="en-US" altLang="zh-CN" sz="2000" dirty="0" err="1"/>
              <a:t>referencedMethod</a:t>
            </a:r>
            <a:r>
              <a:rPr kumimoji="0" lang="en-US" altLang="zh-CN" sz="2000" dirty="0"/>
              <a:t>()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</a:t>
            </a:r>
            <a:r>
              <a:rPr kumimoji="0" lang="en-US" altLang="zh-CN" sz="2000" dirty="0" err="1"/>
              <a:t>System.out.println</a:t>
            </a:r>
            <a:r>
              <a:rPr kumimoji="0" lang="en-US" altLang="zh-CN" sz="2000" dirty="0"/>
              <a:t>("Hello!");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}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}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 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class </a:t>
            </a:r>
            <a:r>
              <a:rPr kumimoji="0" lang="en-US" altLang="zh-CN" sz="2000" dirty="0" err="1"/>
              <a:t>ConstructorExample</a:t>
            </a:r>
            <a:r>
              <a:rPr kumimoji="0" lang="en-US" altLang="zh-CN" sz="2000" dirty="0"/>
              <a:t>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public </a:t>
            </a:r>
            <a:r>
              <a:rPr kumimoji="0" lang="en-US" altLang="zh-CN" sz="2000" dirty="0" err="1"/>
              <a:t>ConstructorExample</a:t>
            </a:r>
            <a:r>
              <a:rPr kumimoji="0" lang="en-US" altLang="zh-CN" sz="2000" dirty="0"/>
              <a:t>() {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</a:t>
            </a:r>
            <a:r>
              <a:rPr kumimoji="0" lang="en-US" altLang="zh-CN" sz="2000" dirty="0" err="1"/>
              <a:t>System.out.println</a:t>
            </a:r>
            <a:r>
              <a:rPr kumimoji="0" lang="en-US" altLang="zh-CN" sz="2000" dirty="0"/>
              <a:t>("Hello!");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}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}</a:t>
            </a:r>
            <a:endParaRPr kumimoji="0" lang="zh-CN" altLang="zh-CN" sz="20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 </a:t>
            </a:r>
            <a:endParaRPr kumimoji="0" lang="zh-CN" altLang="zh-CN" sz="2000" dirty="0"/>
          </a:p>
          <a:p>
            <a:pPr marL="455613" indent="-455613" fontAlgn="auto">
              <a:lnSpc>
                <a:spcPct val="80000"/>
              </a:lnSpc>
              <a:spcAft>
                <a:spcPts val="0"/>
              </a:spcAft>
            </a:pPr>
            <a:endParaRPr kumimoji="0" lang="zh-CN" altLang="en-US" sz="20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3B4A1D3-1D47-DB18-79C1-BBA7DC567A2A}"/>
              </a:ext>
            </a:extLst>
          </p:cNvPr>
          <p:cNvCxnSpPr/>
          <p:nvPr/>
        </p:nvCxnSpPr>
        <p:spPr bwMode="auto">
          <a:xfrm>
            <a:off x="6240016" y="980728"/>
            <a:ext cx="0" cy="547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9677CF8-BEE9-3CA7-A565-90E5052B725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Lambda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表达式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E63DB9F-23C8-05F7-22CF-26F95CA2AF8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4118468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19EC1-3D65-6A89-D59C-ACE1F7DC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EF3938-9AD4-5887-3CC1-4D68BB2441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79B4025-B3B4-BF8A-5F49-8831EC3A972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74325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抽象类 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VS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5412F3E-7E51-0713-55FB-C25863697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558125"/>
              </p:ext>
            </p:extLst>
          </p:nvPr>
        </p:nvGraphicFramePr>
        <p:xfrm>
          <a:off x="551384" y="1484784"/>
          <a:ext cx="11233249" cy="399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0088">
                  <a:extLst>
                    <a:ext uri="{9D8B030D-6E8A-4147-A177-3AD203B41FA5}">
                      <a16:colId xmlns:a16="http://schemas.microsoft.com/office/drawing/2014/main" val="1890969211"/>
                    </a:ext>
                  </a:extLst>
                </a:gridCol>
                <a:gridCol w="4425220">
                  <a:extLst>
                    <a:ext uri="{9D8B030D-6E8A-4147-A177-3AD203B41FA5}">
                      <a16:colId xmlns:a16="http://schemas.microsoft.com/office/drawing/2014/main" val="9280230"/>
                    </a:ext>
                  </a:extLst>
                </a:gridCol>
                <a:gridCol w="5037941">
                  <a:extLst>
                    <a:ext uri="{9D8B030D-6E8A-4147-A177-3AD203B41FA5}">
                      <a16:colId xmlns:a16="http://schemas.microsoft.com/office/drawing/2014/main" val="4183154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接口 </a:t>
                      </a:r>
                      <a:r>
                        <a:rPr lang="en-US" altLang="zh-CN" sz="2000" dirty="0">
                          <a:solidFill>
                            <a:srgbClr val="FF00FF"/>
                          </a:solidFill>
                        </a:rPr>
                        <a:t>interface</a:t>
                      </a:r>
                      <a:r>
                        <a:rPr lang="en-US" altLang="zh-CN" sz="2000" dirty="0"/>
                        <a:t> A1{…}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     interface A2{…}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抽象类 </a:t>
                      </a:r>
                      <a:r>
                        <a:rPr lang="en-US" altLang="zh-CN" sz="2000" dirty="0">
                          <a:solidFill>
                            <a:srgbClr val="FF00FF"/>
                          </a:solidFill>
                        </a:rPr>
                        <a:t>abstract class </a:t>
                      </a:r>
                      <a:r>
                        <a:rPr lang="en-US" altLang="zh-CN" sz="2000" dirty="0"/>
                        <a:t>B1{…}</a:t>
                      </a:r>
                    </a:p>
                    <a:p>
                      <a:r>
                        <a:rPr lang="en-US" altLang="zh-CN" sz="2000" dirty="0"/>
                        <a:t>       abstract class B2{…}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09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派生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interface C1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extends</a:t>
                      </a:r>
                      <a:r>
                        <a:rPr lang="en-US" altLang="zh-CN" sz="2000" b="1" dirty="0"/>
                        <a:t> </a:t>
                      </a:r>
                      <a:r>
                        <a:rPr lang="en-US" altLang="zh-CN" sz="2000" dirty="0"/>
                        <a:t>A1{…} </a:t>
                      </a:r>
                      <a:r>
                        <a:rPr lang="zh-CN" altLang="en-US" sz="2000" dirty="0"/>
                        <a:t>或</a:t>
                      </a:r>
                      <a:endParaRPr lang="en-US" altLang="zh-CN" sz="2000" dirty="0"/>
                    </a:p>
                    <a:p>
                      <a:r>
                        <a:rPr lang="en-US" altLang="zh-CN" sz="2000" dirty="0"/>
                        <a:t>interface C2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extends</a:t>
                      </a:r>
                      <a:r>
                        <a:rPr lang="en-US" altLang="zh-CN" sz="2000" dirty="0"/>
                        <a:t>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A1,A2</a:t>
                      </a:r>
                      <a:r>
                        <a:rPr lang="en-US" altLang="zh-CN" sz="2000" dirty="0"/>
                        <a:t>{…}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abstract class D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extends</a:t>
                      </a:r>
                      <a:r>
                        <a:rPr lang="en-US" altLang="zh-CN" sz="2000" dirty="0"/>
                        <a:t> B1{…}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590398"/>
                  </a:ext>
                </a:extLst>
              </a:tr>
              <a:tr h="501248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定义规则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抽象方法规定了方法签名（协议）。</a:t>
                      </a:r>
                      <a:endParaRPr lang="en-US" altLang="zh-CN" sz="2000" dirty="0"/>
                    </a:p>
                    <a:p>
                      <a:r>
                        <a:rPr lang="zh-CN" altLang="en-US" sz="2000" dirty="0"/>
                        <a:t>可以省略 </a:t>
                      </a:r>
                      <a:r>
                        <a:rPr lang="en-US" altLang="zh-CN" sz="2000" dirty="0"/>
                        <a:t>public </a:t>
                      </a:r>
                      <a:r>
                        <a:rPr lang="zh-CN" altLang="en-US" sz="2000" dirty="0"/>
                        <a:t>修饰。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抽象方法规定了方法签名（协议）。</a:t>
                      </a:r>
                    </a:p>
                    <a:p>
                      <a:r>
                        <a:rPr lang="zh-CN" altLang="en-US" sz="2000" dirty="0"/>
                        <a:t>可以是 </a:t>
                      </a:r>
                      <a:r>
                        <a:rPr lang="en-US" altLang="zh-CN" sz="2000" dirty="0">
                          <a:solidFill>
                            <a:srgbClr val="FF00FF"/>
                          </a:solidFill>
                        </a:rPr>
                        <a:t>public</a:t>
                      </a:r>
                      <a:r>
                        <a:rPr lang="zh-CN" altLang="en-US" sz="2000" dirty="0">
                          <a:solidFill>
                            <a:srgbClr val="FF00FF"/>
                          </a:solidFill>
                        </a:rPr>
                        <a:t>、</a:t>
                      </a:r>
                      <a:r>
                        <a:rPr lang="en-US" altLang="zh-CN" sz="2000" dirty="0">
                          <a:solidFill>
                            <a:srgbClr val="FF00FF"/>
                          </a:solidFill>
                        </a:rPr>
                        <a:t>protected </a:t>
                      </a:r>
                      <a:r>
                        <a:rPr lang="zh-CN" altLang="en-US" sz="2000" dirty="0">
                          <a:solidFill>
                            <a:srgbClr val="FF00FF"/>
                          </a:solidFill>
                        </a:rPr>
                        <a:t>或无</a:t>
                      </a:r>
                      <a:r>
                        <a:rPr lang="zh-CN" altLang="en-US" sz="2000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769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实例化对象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00FF"/>
                          </a:solidFill>
                        </a:rPr>
                        <a:t>不可以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new</a:t>
                      </a:r>
                      <a:endParaRPr lang="zh-CN" altLang="en-US" sz="2000" b="1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</a:t>
                      </a:r>
                      <a:r>
                        <a:rPr lang="zh-CN" altLang="en-US" sz="2000" b="1" dirty="0">
                          <a:solidFill>
                            <a:srgbClr val="FF00FF"/>
                          </a:solidFill>
                        </a:rPr>
                        <a:t>不可以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new</a:t>
                      </a:r>
                      <a:endParaRPr lang="zh-CN" altLang="en-US" sz="2000" b="1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152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实现类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class E1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implements</a:t>
                      </a:r>
                      <a:r>
                        <a:rPr lang="en-US" altLang="zh-CN" sz="2000" dirty="0"/>
                        <a:t> A1{…} </a:t>
                      </a:r>
                      <a:r>
                        <a:rPr lang="zh-CN" altLang="en-US" sz="2000" dirty="0"/>
                        <a:t>或</a:t>
                      </a:r>
                      <a:endParaRPr lang="en-US" altLang="zh-CN" sz="2000" dirty="0"/>
                    </a:p>
                    <a:p>
                      <a:r>
                        <a:rPr lang="en-US" altLang="zh-CN" sz="2000" dirty="0"/>
                        <a:t>class E2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implements</a:t>
                      </a:r>
                      <a:r>
                        <a:rPr lang="en-US" altLang="zh-CN" sz="2000" dirty="0"/>
                        <a:t> A1,A2{…}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仅允许单继承</a:t>
                      </a:r>
                      <a:r>
                        <a:rPr lang="en-US" altLang="zh-CN" sz="2000" dirty="0"/>
                        <a:t>class F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extends</a:t>
                      </a:r>
                      <a:r>
                        <a:rPr lang="en-US" altLang="zh-CN" sz="2000" dirty="0"/>
                        <a:t> B1{…}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228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数据成员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必须是 </a:t>
                      </a:r>
                      <a:r>
                        <a:rPr lang="en-US" altLang="zh-CN" sz="2000" b="1" dirty="0">
                          <a:solidFill>
                            <a:srgbClr val="FF00FF"/>
                          </a:solidFill>
                        </a:rPr>
                        <a:t>static final </a:t>
                      </a:r>
                      <a:r>
                        <a:rPr lang="zh-CN" altLang="en-US" sz="2000" dirty="0"/>
                        <a:t>数据成员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可以自由声明各类型数据成员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694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构造方法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00FF"/>
                          </a:solidFill>
                        </a:rPr>
                        <a:t>不可有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可以有，用来子类初始化超类属性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380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7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C53E-CCCE-62BB-F7AA-45E42D01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71CB00-5BCF-861F-5C12-62B4A74366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6EF0D435-6460-7669-D9EA-E4DABC83B7AC}"/>
              </a:ext>
            </a:extLst>
          </p:cNvPr>
          <p:cNvSpPr txBox="1">
            <a:spLocks noChangeArrowheads="1"/>
          </p:cNvSpPr>
          <p:nvPr/>
        </p:nvSpPr>
        <p:spPr>
          <a:xfrm>
            <a:off x="623392" y="1700808"/>
            <a:ext cx="11175032" cy="4811414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00" dirty="0"/>
              <a:t>接口可派生出新的接口</a:t>
            </a:r>
            <a:r>
              <a:rPr kumimoji="0" lang="en-US" altLang="zh-CN" sz="2700" dirty="0"/>
              <a:t>:</a:t>
            </a:r>
            <a:endParaRPr kumimoji="0" lang="zh-CN" altLang="en-US" sz="2700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sz="2700" dirty="0"/>
              <a:t>原来的接口称为</a:t>
            </a:r>
            <a:r>
              <a:rPr kumimoji="0" lang="zh-CN" altLang="en-US" sz="2700" dirty="0">
                <a:solidFill>
                  <a:srgbClr val="FF00FF"/>
                </a:solidFill>
              </a:rPr>
              <a:t>超接口</a:t>
            </a:r>
            <a:r>
              <a:rPr kumimoji="0" lang="zh-CN" altLang="en-US" sz="2700" dirty="0"/>
              <a:t>(</a:t>
            </a:r>
            <a:r>
              <a:rPr kumimoji="0" lang="en-US" altLang="zh-CN" sz="2700" dirty="0"/>
              <a:t>super interface)</a:t>
            </a:r>
            <a:r>
              <a:rPr kumimoji="0" lang="zh-CN" altLang="en-US" sz="2700" dirty="0"/>
              <a:t>；</a:t>
            </a:r>
            <a:endParaRPr kumimoji="0" lang="en-US" altLang="zh-CN" sz="2700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sz="2700" dirty="0"/>
              <a:t>派生出的接口称为</a:t>
            </a:r>
            <a:r>
              <a:rPr kumimoji="0" lang="zh-CN" altLang="en-US" sz="2700" dirty="0">
                <a:solidFill>
                  <a:srgbClr val="FF00FF"/>
                </a:solidFill>
              </a:rPr>
              <a:t>子接口</a:t>
            </a:r>
            <a:r>
              <a:rPr kumimoji="0" lang="zh-CN" altLang="en-US" sz="2700" dirty="0"/>
              <a:t>(</a:t>
            </a:r>
            <a:r>
              <a:rPr kumimoji="0" lang="en-US" altLang="zh-CN" sz="2700" dirty="0"/>
              <a:t>sub interface)</a:t>
            </a:r>
            <a:r>
              <a:rPr kumimoji="0" lang="zh-CN" altLang="en-US" sz="2700" dirty="0"/>
              <a:t>。</a:t>
            </a:r>
            <a:endParaRPr kumimoji="0" lang="en-US" altLang="zh-CN" sz="2700" dirty="0"/>
          </a:p>
          <a:p>
            <a:pPr fontAlgn="auto"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kumimoji="0" lang="zh-CN" altLang="en-US" sz="2700" b="1" dirty="0">
                <a:solidFill>
                  <a:srgbClr val="FF00FF"/>
                </a:solidFill>
              </a:rPr>
              <a:t>实现一个接口的类也必须实现其超接口</a:t>
            </a:r>
            <a:r>
              <a:rPr kumimoji="0" lang="zh-CN" altLang="en-US" sz="2700" dirty="0"/>
              <a:t>。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700" dirty="0"/>
              <a:t>接口扩展的语法</a:t>
            </a:r>
          </a:p>
          <a:p>
            <a:pPr lvl="1" fontAlgn="auto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700" dirty="0"/>
              <a:t>interface </a:t>
            </a:r>
            <a:r>
              <a:rPr kumimoji="0" lang="zh-CN" altLang="en-US" sz="2700" dirty="0"/>
              <a:t>子接口名 </a:t>
            </a:r>
            <a:r>
              <a:rPr kumimoji="0" lang="en-US" altLang="zh-CN" sz="2700" dirty="0">
                <a:solidFill>
                  <a:srgbClr val="FF00FF"/>
                </a:solidFill>
              </a:rPr>
              <a:t>extends</a:t>
            </a:r>
            <a:r>
              <a:rPr kumimoji="0" lang="en-US" altLang="zh-CN" sz="2700" dirty="0"/>
              <a:t> </a:t>
            </a:r>
            <a:r>
              <a:rPr kumimoji="0" lang="zh-CN" altLang="en-US" sz="2700" dirty="0"/>
              <a:t>超接口名1，超接口名2，…</a:t>
            </a:r>
          </a:p>
          <a:p>
            <a:pPr lvl="1" fontAlgn="auto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zh-CN" altLang="en-US" sz="2700" dirty="0"/>
              <a:t>{</a:t>
            </a:r>
          </a:p>
          <a:p>
            <a:pPr lvl="1" fontAlgn="auto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zh-CN" altLang="en-US" sz="2700" dirty="0"/>
              <a:t>  … …</a:t>
            </a:r>
          </a:p>
          <a:p>
            <a:pPr lvl="1" fontAlgn="auto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zh-CN" altLang="en-US" sz="2700" dirty="0"/>
              <a:t>}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endParaRPr kumimoji="0"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B91C25-C761-BBED-1DE7-D9173924247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接口的扩展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EB285-D798-ABA7-1F7D-19EF3FDDD74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2571853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9250-C7BA-8C95-E3E7-56FF29CE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B3148B-2EC2-4BB3-73DC-71B3360B09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9C5D26-B675-BF59-E4E8-2710FBD9F29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接口的扩展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44903-7458-C620-D5C5-068F524953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198022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4859AC3-1606-6467-72F9-69399B3FC220}"/>
              </a:ext>
            </a:extLst>
          </p:cNvPr>
          <p:cNvSpPr txBox="1">
            <a:spLocks noChangeArrowheads="1"/>
          </p:cNvSpPr>
          <p:nvPr/>
        </p:nvSpPr>
        <p:spPr>
          <a:xfrm>
            <a:off x="742420" y="1532708"/>
            <a:ext cx="11016919" cy="124822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500" b="1" dirty="0">
                <a:latin typeface="宋体" panose="02010600030101010101" pitchFamily="2" charset="-122"/>
              </a:rPr>
              <a:t>    Shape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是超接口，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Shape2D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与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Shape3D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是其子接口。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Circle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类及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Rectangle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类实现接口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Shape2D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，而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Box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类及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Sphere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类实现接口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Shape3D</a:t>
            </a:r>
            <a:r>
              <a:rPr kumimoji="0" lang="zh-CN" altLang="en-US" sz="2500" b="1" dirty="0">
                <a:latin typeface="宋体" panose="02010600030101010101" pitchFamily="2" charset="-122"/>
              </a:rPr>
              <a:t>。</a:t>
            </a:r>
            <a:r>
              <a:rPr kumimoji="0" lang="en-US" altLang="zh-CN" sz="2500" b="1" dirty="0"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2D4C38-2539-C04F-A281-4786EA91EB01}"/>
              </a:ext>
            </a:extLst>
          </p:cNvPr>
          <p:cNvGrpSpPr>
            <a:grpSpLocks/>
          </p:cNvGrpSpPr>
          <p:nvPr/>
        </p:nvGrpSpPr>
        <p:grpSpPr bwMode="auto">
          <a:xfrm>
            <a:off x="2869406" y="2996952"/>
            <a:ext cx="6453187" cy="3238500"/>
            <a:chOff x="2480" y="10352"/>
            <a:chExt cx="6555" cy="2963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3E65B7B1-9158-4D27-6B96-BC39F7256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10352"/>
              <a:ext cx="1800" cy="46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Shape</a:t>
              </a:r>
              <a:r>
                <a:rPr kumimoji="0"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2059D259-980B-25C7-30B2-7D189DC8D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11596"/>
              <a:ext cx="1800" cy="46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Shape2D</a:t>
              </a:r>
              <a:r>
                <a:rPr kumimoji="0"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638B796C-5EF4-D250-E1ED-367B207E3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5" y="11596"/>
              <a:ext cx="1800" cy="46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Shape3D</a:t>
              </a:r>
              <a:r>
                <a:rPr kumimoji="0"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294F8692-4A8F-3F12-1EB6-13E80C8A2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5" y="12847"/>
              <a:ext cx="1620" cy="46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Sphere</a:t>
              </a:r>
              <a:r>
                <a:rPr kumimoji="0"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类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4A789536-29A9-400F-8ABA-62A2DD2D8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5" y="12847"/>
              <a:ext cx="1080" cy="46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Box</a:t>
              </a:r>
              <a:r>
                <a:rPr kumimoji="0"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类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D5E16DDD-F090-863B-73A0-DE4DBFEA7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12847"/>
              <a:ext cx="1440" cy="46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Rectangle</a:t>
              </a:r>
              <a:r>
                <a:rPr kumimoji="0"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类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A6928AE3-00DF-AE16-09C8-03353FEB3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0" y="12847"/>
              <a:ext cx="1080" cy="46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Circle</a:t>
              </a:r>
              <a:r>
                <a:rPr kumimoji="0"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类</a:t>
              </a: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A1F1FC4B-763B-1EE4-5ACB-E7E80AFD4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5" y="11287"/>
              <a:ext cx="324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9FE43336-1F36-2CDC-716F-80326D0F9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5" y="10975"/>
              <a:ext cx="0" cy="30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2BB33660-20D4-8B97-4BEA-DD1F3FB8A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0" y="12535"/>
              <a:ext cx="180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D689427E-94E4-AC70-2693-C91CE5A95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5" y="12535"/>
              <a:ext cx="162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AutoShape 17">
              <a:extLst>
                <a:ext uri="{FF2B5EF4-FFF2-40B4-BE49-F238E27FC236}">
                  <a16:creationId xmlns:a16="http://schemas.microsoft.com/office/drawing/2014/main" id="{1708D567-CBE0-5225-D6D0-536E9B0B2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5" y="10820"/>
              <a:ext cx="180" cy="15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7F24E157-EC2C-F6C1-052C-A72E097DD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5" y="11287"/>
              <a:ext cx="0" cy="31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C74A90B3-064A-DA29-76A8-9CD4D13FD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5" y="11287"/>
              <a:ext cx="0" cy="31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AutoShape 20">
              <a:extLst>
                <a:ext uri="{FF2B5EF4-FFF2-40B4-BE49-F238E27FC236}">
                  <a16:creationId xmlns:a16="http://schemas.microsoft.com/office/drawing/2014/main" id="{BD642AB8-0EB0-0D0C-9A80-9A2C9F825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12068"/>
              <a:ext cx="180" cy="15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AutoShape 21">
              <a:extLst>
                <a:ext uri="{FF2B5EF4-FFF2-40B4-BE49-F238E27FC236}">
                  <a16:creationId xmlns:a16="http://schemas.microsoft.com/office/drawing/2014/main" id="{772A34E3-495A-549C-9806-793B1DAA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5" y="12068"/>
              <a:ext cx="180" cy="15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BC79CF13-1E1C-2EBD-0AC2-C6A0E5D33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5" y="12223"/>
              <a:ext cx="0" cy="31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2633A5AA-B18C-9685-04F0-EBA54197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5" y="12223"/>
              <a:ext cx="0" cy="31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7C6E541B-338D-B794-3FAF-0A0919366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0" y="12535"/>
              <a:ext cx="0" cy="31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8008AE55-7216-E08C-1BD1-199CE1410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5" y="12535"/>
              <a:ext cx="0" cy="31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DBDB925F-AAAE-31F4-6A23-38B878C38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0" y="12535"/>
              <a:ext cx="0" cy="31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094DAEDF-0204-C11D-B5F1-F99C1A6B4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0" y="12535"/>
              <a:ext cx="0" cy="31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4856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FA20-64D0-79F9-A06B-46A4A81A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305ADC-81A4-9D3C-C8AF-D4EA58A1D9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2527E86-867E-776C-6370-FBC8FCA18E85}"/>
              </a:ext>
            </a:extLst>
          </p:cNvPr>
          <p:cNvSpPr txBox="1">
            <a:spLocks noChangeArrowheads="1"/>
          </p:cNvSpPr>
          <p:nvPr/>
        </p:nvSpPr>
        <p:spPr>
          <a:xfrm>
            <a:off x="1703512" y="1700808"/>
            <a:ext cx="6768752" cy="396044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>
                <a:latin typeface="宋体" panose="02010600030101010101" pitchFamily="2" charset="-122"/>
              </a:rPr>
              <a:t>类型转换又称为塑型(</a:t>
            </a:r>
            <a:r>
              <a:rPr kumimoji="0" lang="en-US" altLang="zh-CN" sz="2500" dirty="0">
                <a:latin typeface="宋体" panose="02010600030101010101" pitchFamily="2" charset="-122"/>
              </a:rPr>
              <a:t>type-casting)</a:t>
            </a:r>
            <a:r>
              <a:rPr kumimoji="0" lang="zh-CN" altLang="en-US" sz="2500" dirty="0">
                <a:latin typeface="宋体" panose="02010600030101010101" pitchFamily="2" charset="-122"/>
              </a:rPr>
              <a:t>。</a:t>
            </a:r>
            <a:endParaRPr kumimoji="0" lang="en-US" altLang="zh-CN" sz="2500" dirty="0">
              <a:latin typeface="宋体" panose="02010600030101010101" pitchFamily="2" charset="-122"/>
            </a:endParaRP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>
                <a:latin typeface="宋体" panose="02010600030101010101" pitchFamily="2" charset="-122"/>
              </a:rPr>
              <a:t>转换方式：</a:t>
            </a:r>
          </a:p>
          <a:p>
            <a:pPr marL="914400" lvl="1" indent="-457200" fontAlgn="auto">
              <a:lnSpc>
                <a:spcPct val="110000"/>
              </a:lnSpc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500" dirty="0">
                <a:latin typeface="宋体" panose="02010600030101010101" pitchFamily="2" charset="-122"/>
              </a:rPr>
              <a:t>隐式的类型转换；</a:t>
            </a:r>
          </a:p>
          <a:p>
            <a:pPr marL="914400" lvl="1" indent="-457200" fontAlgn="auto">
              <a:lnSpc>
                <a:spcPct val="110000"/>
              </a:lnSpc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500" dirty="0">
                <a:latin typeface="宋体" panose="02010600030101010101" pitchFamily="2" charset="-122"/>
              </a:rPr>
              <a:t>显式的类型转换。</a:t>
            </a:r>
            <a:endParaRPr kumimoji="0" lang="en-US" altLang="zh-CN" sz="2500" dirty="0">
              <a:latin typeface="宋体" panose="02010600030101010101" pitchFamily="2" charset="-122"/>
            </a:endParaRP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>
                <a:latin typeface="宋体" panose="02010600030101010101" pitchFamily="2" charset="-122"/>
              </a:rPr>
              <a:t>转换方向：</a:t>
            </a:r>
            <a:endParaRPr kumimoji="0" lang="en-US" altLang="zh-CN" sz="2500" dirty="0">
              <a:latin typeface="宋体" panose="02010600030101010101" pitchFamily="2" charset="-122"/>
            </a:endParaRPr>
          </a:p>
          <a:p>
            <a:pPr marL="914400" lvl="1" indent="-457200" fontAlgn="auto">
              <a:lnSpc>
                <a:spcPct val="110000"/>
              </a:lnSpc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500" dirty="0">
                <a:latin typeface="宋体" panose="02010600030101010101" pitchFamily="2" charset="-122"/>
              </a:rPr>
              <a:t>向上转型；</a:t>
            </a:r>
            <a:endParaRPr kumimoji="0" lang="en-US" altLang="zh-CN" sz="2500" dirty="0">
              <a:latin typeface="宋体" panose="02010600030101010101" pitchFamily="2" charset="-122"/>
            </a:endParaRPr>
          </a:p>
          <a:p>
            <a:pPr marL="914400" lvl="1" indent="-457200" fontAlgn="auto">
              <a:lnSpc>
                <a:spcPct val="110000"/>
              </a:lnSpc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500" dirty="0">
                <a:latin typeface="宋体" panose="02010600030101010101" pitchFamily="2" charset="-122"/>
              </a:rPr>
              <a:t>向下转型。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1AEC56F-A6D9-AC47-E6D5-810C95030B0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266429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4.2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类型转换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7971C2-DBA0-ADFD-C463-E8C96EA46D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73600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类型转换的概念</a:t>
            </a:r>
          </a:p>
        </p:txBody>
      </p:sp>
    </p:spTree>
    <p:extLst>
      <p:ext uri="{BB962C8B-B14F-4D97-AF65-F5344CB8AC3E}">
        <p14:creationId xmlns:p14="http://schemas.microsoft.com/office/powerpoint/2010/main" val="2161015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219AD-24D1-1491-9E54-96227E81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759770-F626-1C95-C5E2-A61B7F9AFF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F0F5345-EDBA-4D2B-6876-E56D4067891D}"/>
              </a:ext>
            </a:extLst>
          </p:cNvPr>
          <p:cNvSpPr txBox="1">
            <a:spLocks noChangeArrowheads="1"/>
          </p:cNvSpPr>
          <p:nvPr/>
        </p:nvSpPr>
        <p:spPr>
          <a:xfrm>
            <a:off x="983432" y="1628800"/>
            <a:ext cx="10571658" cy="4176464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>
                <a:latin typeface="宋体" panose="02010600030101010101" pitchFamily="2" charset="-122"/>
              </a:rPr>
              <a:t>基本类型之间的转换：</a:t>
            </a:r>
            <a:r>
              <a:rPr kumimoji="0" lang="zh-CN" altLang="en-US" sz="2500" dirty="0"/>
              <a:t>将值从一种类型转换成另一种类型。</a:t>
            </a:r>
            <a:endParaRPr kumimoji="0" lang="zh-CN" altLang="en-US" sz="2500" dirty="0">
              <a:latin typeface="宋体" panose="02010600030101010101" pitchFamily="2" charset="-122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>
                <a:latin typeface="宋体" panose="02010600030101010101" pitchFamily="2" charset="-122"/>
              </a:rPr>
              <a:t>引用变量的类型转换</a:t>
            </a:r>
          </a:p>
          <a:p>
            <a:pPr marL="914400" lvl="1" indent="-457200" fontAlgn="auto"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500" dirty="0"/>
              <a:t>将引用转换为另一类型的引用，并不改变对象本身的类型。</a:t>
            </a:r>
          </a:p>
          <a:p>
            <a:pPr marL="914400" lvl="1" indent="-457200" fontAlgn="auto"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500" dirty="0">
                <a:latin typeface="宋体" panose="02010600030101010101" pitchFamily="2" charset="-122"/>
              </a:rPr>
              <a:t>只能被转为</a:t>
            </a:r>
          </a:p>
          <a:p>
            <a:pPr lvl="2" fontAlgn="auto">
              <a:spcAft>
                <a:spcPts val="0"/>
              </a:spcAft>
            </a:pPr>
            <a:r>
              <a:rPr kumimoji="0" lang="zh-CN" altLang="en-US" sz="2500" dirty="0">
                <a:latin typeface="宋体" panose="02010600030101010101" pitchFamily="2" charset="-122"/>
              </a:rPr>
              <a:t>任何一个（直接或间接）超类的类型（向上转型）；</a:t>
            </a:r>
          </a:p>
          <a:p>
            <a:pPr lvl="2" fontAlgn="auto">
              <a:spcAft>
                <a:spcPts val="0"/>
              </a:spcAft>
            </a:pPr>
            <a:r>
              <a:rPr kumimoji="0" lang="zh-CN" altLang="en-US" sz="2500" dirty="0">
                <a:latin typeface="宋体" panose="02010600030101010101" pitchFamily="2" charset="-122"/>
              </a:rPr>
              <a:t>对象所属的类（或其超类）实现的一个接口（向上转型）；</a:t>
            </a:r>
          </a:p>
          <a:p>
            <a:pPr lvl="2" fontAlgn="auto">
              <a:spcAft>
                <a:spcPts val="0"/>
              </a:spcAft>
            </a:pPr>
            <a:r>
              <a:rPr kumimoji="0" lang="zh-CN" altLang="en-US" sz="2500" dirty="0">
                <a:latin typeface="宋体" panose="02010600030101010101" pitchFamily="2" charset="-122"/>
              </a:rPr>
              <a:t>被转为引用指向的对象的类型（唯一可以向下转型的情况）。</a:t>
            </a:r>
            <a:endParaRPr kumimoji="0" lang="en-US" altLang="zh-CN" sz="2500" dirty="0">
              <a:latin typeface="宋体" panose="02010600030101010101" pitchFamily="2" charset="-122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>
                <a:latin typeface="宋体" panose="02010600030101010101" pitchFamily="2" charset="-122"/>
              </a:rPr>
              <a:t>当一个引用被转为其超类引用后，通过他能够访问的只有在超类中声明过的方法。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A926099-B4CE-1E2B-A9E5-E004102DFC4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266429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4.2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类型转换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CBDB48-BDD6-224E-9EE9-2D53FF176E7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类型转换规则</a:t>
            </a:r>
          </a:p>
        </p:txBody>
      </p:sp>
    </p:spTree>
    <p:extLst>
      <p:ext uri="{BB962C8B-B14F-4D97-AF65-F5344CB8AC3E}">
        <p14:creationId xmlns:p14="http://schemas.microsoft.com/office/powerpoint/2010/main" val="782427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913E-D801-12B2-F56B-1E459BBE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4527A4F-B761-616C-98E4-F8F3EED089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87D8B02-F7C5-B011-FE75-087D8729FC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266429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4.2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类型转换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ACBB41-3A71-083F-6C0A-26DEB43C00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类型转换规则</a:t>
            </a:r>
          </a:p>
        </p:txBody>
      </p:sp>
      <p:sp>
        <p:nvSpPr>
          <p:cNvPr id="4" name="Rectangle 33">
            <a:extLst>
              <a:ext uri="{FF2B5EF4-FFF2-40B4-BE49-F238E27FC236}">
                <a16:creationId xmlns:a16="http://schemas.microsoft.com/office/drawing/2014/main" id="{6B9553CB-5766-D5CA-994D-E763B1657F4E}"/>
              </a:ext>
            </a:extLst>
          </p:cNvPr>
          <p:cNvSpPr txBox="1">
            <a:spLocks noChangeArrowheads="1"/>
          </p:cNvSpPr>
          <p:nvPr/>
        </p:nvSpPr>
        <p:spPr>
          <a:xfrm>
            <a:off x="1108363" y="1573766"/>
            <a:ext cx="9975273" cy="1487405"/>
          </a:xfr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dirty="0"/>
              <a:t>Manager</a:t>
            </a:r>
            <a:r>
              <a:rPr kumimoji="0" lang="zh-CN" altLang="en-US" sz="2500" dirty="0"/>
              <a:t>对象：</a:t>
            </a:r>
          </a:p>
          <a:p>
            <a:pPr marL="457200" lvl="1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500" dirty="0"/>
              <a:t>可以被塑型为</a:t>
            </a:r>
            <a:r>
              <a:rPr kumimoji="0" lang="en-US" altLang="zh-CN" sz="2500" dirty="0" err="1">
                <a:solidFill>
                  <a:schemeClr val="folHlink"/>
                </a:solidFill>
              </a:rPr>
              <a:t>Employee、Person、Object</a:t>
            </a:r>
            <a:r>
              <a:rPr kumimoji="0" lang="zh-CN" altLang="en-US" sz="2500" dirty="0"/>
              <a:t>或</a:t>
            </a:r>
            <a:r>
              <a:rPr kumimoji="0" lang="en-US" altLang="zh-CN" sz="2500" dirty="0">
                <a:solidFill>
                  <a:srgbClr val="FF66CC"/>
                </a:solidFill>
              </a:rPr>
              <a:t>Insurable</a:t>
            </a:r>
            <a:r>
              <a:rPr kumimoji="0" lang="en-US" altLang="zh-CN" sz="2500" dirty="0"/>
              <a:t>，</a:t>
            </a:r>
          </a:p>
          <a:p>
            <a:pPr marL="457200" lvl="1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500" dirty="0"/>
              <a:t>不能被塑型为</a:t>
            </a:r>
            <a:r>
              <a:rPr kumimoji="0" lang="en-US" altLang="zh-CN" sz="2500" dirty="0" err="1">
                <a:solidFill>
                  <a:srgbClr val="FF6600"/>
                </a:solidFill>
              </a:rPr>
              <a:t>Customer、Company</a:t>
            </a:r>
            <a:r>
              <a:rPr kumimoji="0" lang="zh-CN" altLang="en-US" sz="2500" dirty="0">
                <a:solidFill>
                  <a:srgbClr val="FF6600"/>
                </a:solidFill>
              </a:rPr>
              <a:t>或</a:t>
            </a:r>
            <a:r>
              <a:rPr kumimoji="0" lang="en-US" altLang="zh-CN" sz="2500" dirty="0">
                <a:solidFill>
                  <a:srgbClr val="FF6600"/>
                </a:solidFill>
              </a:rPr>
              <a:t>Car</a:t>
            </a:r>
            <a:r>
              <a:rPr kumimoji="0" lang="en-US" altLang="zh-CN" sz="2500" dirty="0"/>
              <a:t> </a:t>
            </a:r>
            <a:endParaRPr kumimoji="0" lang="zh-CN" altLang="en-US" sz="2500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E04DF8BF-5B46-C778-D07C-54EED43CB519}"/>
              </a:ext>
            </a:extLst>
          </p:cNvPr>
          <p:cNvGrpSpPr>
            <a:grpSpLocks/>
          </p:cNvGrpSpPr>
          <p:nvPr/>
        </p:nvGrpSpPr>
        <p:grpSpPr bwMode="auto">
          <a:xfrm>
            <a:off x="3143672" y="3475770"/>
            <a:ext cx="5257800" cy="2895600"/>
            <a:chOff x="3245" y="10973"/>
            <a:chExt cx="6300" cy="3435"/>
          </a:xfrm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DB48B3ED-A3BE-BB80-1419-7DB1ECAE3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0976"/>
              <a:ext cx="1260" cy="46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Object</a:t>
              </a: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7121E4CE-87C3-9D6A-903A-9FEFEA0AC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1912"/>
              <a:ext cx="1260" cy="46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Person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A3B5D685-0064-E746-9266-FD31DD7D4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5" y="13004"/>
              <a:ext cx="1260" cy="46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Employee</a:t>
              </a:r>
              <a:endParaRPr kumimoji="0"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275A09D1-5CFE-8E3F-5473-5343C46D9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5" y="13004"/>
              <a:ext cx="1260" cy="468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Customer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AE332352-CD1D-B389-8B24-C5934E64C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5" y="11444"/>
              <a:ext cx="0" cy="4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ED0FF63D-F990-5223-17A6-017D608DC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12692"/>
              <a:ext cx="2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F1759149-544C-FA2B-12E7-EEB36B813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12692"/>
              <a:ext cx="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15789605-EADD-4265-80F0-FC82AE1F3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5" y="12692"/>
              <a:ext cx="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B0994B0D-1DCA-BCA0-D42A-CE33F3FFB6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5" y="12380"/>
              <a:ext cx="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F4673FDC-ACB2-9AD5-8022-5949C196C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5" y="13940"/>
              <a:ext cx="1260" cy="468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Manager</a:t>
              </a: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A2741F40-A19C-4F3C-35BC-C7DC0101A3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5" y="13472"/>
              <a:ext cx="0" cy="4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8F9FE2B4-91BA-7AC8-4288-8856283C6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" y="13004"/>
              <a:ext cx="1260" cy="468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Company</a:t>
              </a:r>
              <a:endParaRPr kumimoji="0"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3CA9EA79-AC9B-C305-9D2C-9AFA638B6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5" y="13004"/>
              <a:ext cx="900" cy="468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Car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9CECB443-F8E9-8193-526E-F88C5E391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5" y="10973"/>
              <a:ext cx="1620" cy="624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&lt;&lt;</a:t>
              </a: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Interface&gt;&gt;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Insurable</a:t>
              </a:r>
              <a:endParaRPr kumimoji="0" lang="en-US" altLang="zh-CN" sz="9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AutoShape 19">
              <a:extLst>
                <a:ext uri="{FF2B5EF4-FFF2-40B4-BE49-F238E27FC236}">
                  <a16:creationId xmlns:a16="http://schemas.microsoft.com/office/drawing/2014/main" id="{EAD2B968-F117-E715-E8D4-3C6678740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5" y="11600"/>
              <a:ext cx="180" cy="156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AutoShape 20">
              <a:extLst>
                <a:ext uri="{FF2B5EF4-FFF2-40B4-BE49-F238E27FC236}">
                  <a16:creationId xmlns:a16="http://schemas.microsoft.com/office/drawing/2014/main" id="{8D55D037-438A-F16C-8FE3-C14316D2F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5" y="11606"/>
              <a:ext cx="180" cy="156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4" name="AutoShape 21">
              <a:extLst>
                <a:ext uri="{FF2B5EF4-FFF2-40B4-BE49-F238E27FC236}">
                  <a16:creationId xmlns:a16="http://schemas.microsoft.com/office/drawing/2014/main" id="{54BD4992-CFD7-2F25-7144-29868B7CA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5" y="11600"/>
              <a:ext cx="180" cy="156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EA5A64F0-5C5A-267A-3E83-F4B9A378A7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5" y="11756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89A6D132-CA07-2D5B-3E06-3CBC8E651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5" y="12119"/>
              <a:ext cx="16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E3222FD3-0783-E910-3701-D36D724994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5" y="11756"/>
              <a:ext cx="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8519D34E-1FF9-1750-AC07-18D5F4820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15" y="11756"/>
              <a:ext cx="0" cy="7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287D045B-CAB9-2E4E-D105-1251EA174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15" y="12536"/>
              <a:ext cx="9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0CEAD89B-C7AD-2885-C07E-19E9A4FFA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5" y="12536"/>
              <a:ext cx="0" cy="4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5748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2D8E-6034-D49E-AF7A-CF297D9B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22478D-BC1F-6915-0159-74A0E76464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38830728-00E5-2AD6-A618-066459998E79}"/>
              </a:ext>
            </a:extLst>
          </p:cNvPr>
          <p:cNvSpPr txBox="1">
            <a:spLocks noChangeArrowheads="1"/>
          </p:cNvSpPr>
          <p:nvPr/>
        </p:nvSpPr>
        <p:spPr>
          <a:xfrm>
            <a:off x="695400" y="1484784"/>
            <a:ext cx="10972800" cy="3731294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400" dirty="0"/>
              <a:t>多态是指</a:t>
            </a:r>
            <a:r>
              <a:rPr kumimoji="0" lang="zh-CN" altLang="en-US" sz="2400" b="1" dirty="0">
                <a:solidFill>
                  <a:srgbClr val="FF00FF"/>
                </a:solidFill>
              </a:rPr>
              <a:t>不同类型的对象可以响应相同的消息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400" dirty="0"/>
              <a:t>超类</a:t>
            </a:r>
            <a:r>
              <a:rPr kumimoji="0" lang="zh-CN" altLang="en-US" sz="2400" dirty="0">
                <a:solidFill>
                  <a:srgbClr val="FF00FF"/>
                </a:solidFill>
                <a:highlight>
                  <a:srgbClr val="FFFF00"/>
                </a:highlight>
              </a:rPr>
              <a:t>对象和从相同的超类派生出来的多个子类的对象，可被当作同一种类型的对象对待</a:t>
            </a:r>
            <a:r>
              <a:rPr kumimoji="0" lang="zh-CN" altLang="en-US" sz="2400" dirty="0"/>
              <a:t>；</a:t>
            </a:r>
            <a:endParaRPr kumimoji="0" lang="en-US" altLang="zh-CN" sz="2400" dirty="0"/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400" dirty="0"/>
              <a:t>实现</a:t>
            </a:r>
            <a:r>
              <a:rPr kumimoji="0" lang="zh-CN" altLang="en-US" sz="2400" dirty="0">
                <a:solidFill>
                  <a:srgbClr val="FF00FF"/>
                </a:solidFill>
              </a:rPr>
              <a:t>同一接口不同类型的对象</a:t>
            </a:r>
            <a:r>
              <a:rPr kumimoji="0" lang="zh-CN" altLang="en-US" sz="2400" dirty="0"/>
              <a:t>，可被当作同一种类型的对象对待；</a:t>
            </a:r>
            <a:endParaRPr kumimoji="0" lang="en-US" altLang="zh-CN" sz="2400" dirty="0"/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400" dirty="0"/>
              <a:t>可向这些不同的类型对象发送同样的消息，由于多态性，这些</a:t>
            </a:r>
            <a:r>
              <a:rPr kumimoji="0" lang="zh-CN" altLang="en-US" sz="2400" dirty="0">
                <a:solidFill>
                  <a:schemeClr val="hlink"/>
                </a:solidFill>
              </a:rPr>
              <a:t>不同类的对象</a:t>
            </a:r>
            <a:r>
              <a:rPr kumimoji="0" lang="zh-CN" altLang="en-US" sz="2400" dirty="0"/>
              <a:t>响应同一消息时的行为可以有所差别。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400" dirty="0"/>
              <a:t>  例如</a:t>
            </a:r>
          </a:p>
          <a:p>
            <a:pPr marL="1074738" lvl="1" indent="-449263" fontAlgn="auto"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200" dirty="0"/>
              <a:t>所有的</a:t>
            </a:r>
            <a:r>
              <a:rPr kumimoji="0" lang="en-US" altLang="zh-CN" sz="2200" dirty="0"/>
              <a:t>Object</a:t>
            </a:r>
            <a:r>
              <a:rPr kumimoji="0" lang="zh-CN" altLang="en-US" sz="2200" dirty="0"/>
              <a:t>类的对象都响应</a:t>
            </a:r>
            <a:r>
              <a:rPr kumimoji="0" lang="en-US" altLang="zh-CN" sz="2200" dirty="0" err="1"/>
              <a:t>toString</a:t>
            </a:r>
            <a:r>
              <a:rPr kumimoji="0" lang="en-US" altLang="zh-CN" sz="2200" dirty="0"/>
              <a:t>()</a:t>
            </a:r>
            <a:r>
              <a:rPr kumimoji="0" lang="zh-CN" altLang="en-US" sz="2200" dirty="0"/>
              <a:t>方法</a:t>
            </a:r>
          </a:p>
          <a:p>
            <a:pPr marL="1074738" lvl="1" indent="-449263" fontAlgn="auto"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200" dirty="0"/>
              <a:t>所有的</a:t>
            </a:r>
            <a:r>
              <a:rPr kumimoji="0" lang="en-US" altLang="zh-CN" sz="2200" dirty="0" err="1"/>
              <a:t>BankAccount</a:t>
            </a:r>
            <a:r>
              <a:rPr kumimoji="0" lang="zh-CN" altLang="en-US" sz="2200" dirty="0"/>
              <a:t>类的对象都响应</a:t>
            </a:r>
            <a:r>
              <a:rPr kumimoji="0" lang="en-US" altLang="zh-CN" sz="2200" dirty="0"/>
              <a:t>deposit()</a:t>
            </a:r>
            <a:r>
              <a:rPr kumimoji="0" lang="zh-CN" altLang="en-US" sz="2200" dirty="0"/>
              <a:t>方法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F805089-F622-6489-92ED-E42FC935975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</p:spTree>
    <p:extLst>
      <p:ext uri="{BB962C8B-B14F-4D97-AF65-F5344CB8AC3E}">
        <p14:creationId xmlns:p14="http://schemas.microsoft.com/office/powerpoint/2010/main" val="3597229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B5075-B939-F11B-8CA1-6CD62BE1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FD5987-839E-2656-EB24-26E9E27C84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863202E-96D3-CD21-8FFC-ECE9E930CA9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5E8C1A-D325-1AF6-C434-7892BFFB44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38407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实现多态的四种方式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B24DD3C-64F0-6C67-030A-74F59C4FF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267500"/>
              </p:ext>
            </p:extLst>
          </p:nvPr>
        </p:nvGraphicFramePr>
        <p:xfrm>
          <a:off x="695400" y="1700808"/>
          <a:ext cx="11089232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2399810536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4286852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200" dirty="0"/>
                        <a:t>类中方法成员</a:t>
                      </a:r>
                      <a:r>
                        <a:rPr lang="zh-CN" altLang="en-US" sz="2200" dirty="0">
                          <a:solidFill>
                            <a:srgbClr val="FF00FF"/>
                          </a:solidFill>
                          <a:highlight>
                            <a:srgbClr val="FFFF00"/>
                          </a:highlight>
                        </a:rPr>
                        <a:t>重载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/>
                        <a:t>普通类中的方法重载（相同方法名，但参数、返回类型不同）：</a:t>
                      </a:r>
                      <a:r>
                        <a:rPr lang="zh-CN" altLang="en-US" sz="2200" dirty="0">
                          <a:solidFill>
                            <a:srgbClr val="FF00FF"/>
                          </a:solidFill>
                        </a:rPr>
                        <a:t>对象使用相同的方法名但不同的参数表就可以实现不同的操作。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03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200" dirty="0"/>
                        <a:t>超类方法被子类方法</a:t>
                      </a:r>
                      <a:r>
                        <a:rPr lang="zh-CN" altLang="en-US" sz="2200" dirty="0">
                          <a:solidFill>
                            <a:srgbClr val="FF00FF"/>
                          </a:solidFill>
                          <a:highlight>
                            <a:srgbClr val="FFFF00"/>
                          </a:highlight>
                        </a:rPr>
                        <a:t>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/>
                        <a:t>不同子类以不同的功能覆盖超类的同一个方法：</a:t>
                      </a:r>
                      <a:r>
                        <a:rPr lang="zh-CN" altLang="en-US" sz="2200" dirty="0">
                          <a:solidFill>
                            <a:srgbClr val="FF00FF"/>
                          </a:solidFill>
                        </a:rPr>
                        <a:t>超类引用变量可以指向任一子类对象，可以访问所有被子类覆盖的方法。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478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200" dirty="0"/>
                        <a:t>抽象类中的抽象方法被</a:t>
                      </a:r>
                      <a:r>
                        <a:rPr lang="zh-CN" altLang="en-US" sz="2200" dirty="0">
                          <a:solidFill>
                            <a:srgbClr val="FF00FF"/>
                          </a:solidFill>
                          <a:highlight>
                            <a:srgbClr val="FFFF00"/>
                          </a:highlight>
                        </a:rPr>
                        <a:t>子类实现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/>
                        <a:t>同一个抽象方法中不同子类有不同的方式实现：</a:t>
                      </a:r>
                      <a:r>
                        <a:rPr lang="zh-CN" altLang="en-US" sz="2200" dirty="0">
                          <a:solidFill>
                            <a:srgbClr val="FF00FF"/>
                          </a:solidFill>
                        </a:rPr>
                        <a:t>抽象类引用变量可以指向任一子类对象，可以访问所有被子类实现的抽象方法。</a:t>
                      </a:r>
                      <a:endParaRPr lang="en-US" altLang="zh-CN" sz="22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662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200" dirty="0"/>
                        <a:t>接口的抽象方法、默认方法被</a:t>
                      </a:r>
                      <a:r>
                        <a:rPr lang="zh-CN" altLang="en-US" sz="2200" dirty="0">
                          <a:solidFill>
                            <a:srgbClr val="FF00FF"/>
                          </a:solidFill>
                          <a:highlight>
                            <a:srgbClr val="FFFF00"/>
                          </a:highlight>
                        </a:rPr>
                        <a:t>实现类实现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/>
                        <a:t>不同实现类以不同方式实现接口的方法：</a:t>
                      </a:r>
                      <a:r>
                        <a:rPr lang="zh-CN" altLang="en-US" sz="2200" dirty="0">
                          <a:solidFill>
                            <a:srgbClr val="FF00FF"/>
                          </a:solidFill>
                        </a:rPr>
                        <a:t>接口引用变量可以指向任一实现类对象，可以访问所有被实现类实现的抽象方法、被覆盖的默认方法。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00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944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492C-7A62-B008-5A3C-0037835F6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2AF82A-7876-74DD-3CCE-9D60DDC36C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C4E9CB-EE9E-2E65-FAA8-54C21CCE2F6A}"/>
              </a:ext>
            </a:extLst>
          </p:cNvPr>
          <p:cNvSpPr txBox="1">
            <a:spLocks noChangeArrowheads="1"/>
          </p:cNvSpPr>
          <p:nvPr/>
        </p:nvSpPr>
        <p:spPr>
          <a:xfrm>
            <a:off x="2063552" y="1916832"/>
            <a:ext cx="5904656" cy="1368152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 fontAlgn="auto"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dirty="0"/>
              <a:t>使代码变得简单且容易理解。</a:t>
            </a:r>
          </a:p>
          <a:p>
            <a:pPr marL="355600" indent="-355600" fontAlgn="auto"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dirty="0"/>
              <a:t>使程序具有很好的可扩展性。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37AAEDF-1DDD-A869-D932-4A3CAEDB9B8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453CC5-8825-FDE4-5B27-1FFA125F87A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多态的目的</a:t>
            </a:r>
          </a:p>
        </p:txBody>
      </p:sp>
    </p:spTree>
    <p:extLst>
      <p:ext uri="{BB962C8B-B14F-4D97-AF65-F5344CB8AC3E}">
        <p14:creationId xmlns:p14="http://schemas.microsoft.com/office/powerpoint/2010/main" val="37625858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EBB2-E2C0-E2D1-D871-67CC24121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69F1CA-87B9-2564-2033-929BB50587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4" name="Rectangle 1033">
            <a:extLst>
              <a:ext uri="{FF2B5EF4-FFF2-40B4-BE49-F238E27FC236}">
                <a16:creationId xmlns:a16="http://schemas.microsoft.com/office/drawing/2014/main" id="{B8F05B39-BAC8-447B-139D-F0B23DDED528}"/>
              </a:ext>
            </a:extLst>
          </p:cNvPr>
          <p:cNvSpPr txBox="1">
            <a:spLocks noChangeArrowheads="1"/>
          </p:cNvSpPr>
          <p:nvPr/>
        </p:nvSpPr>
        <p:spPr>
          <a:xfrm>
            <a:off x="551384" y="1457494"/>
            <a:ext cx="11305256" cy="218753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400" dirty="0"/>
              <a:t>    </a:t>
            </a:r>
            <a:r>
              <a:rPr kumimoji="0" lang="zh-CN" altLang="zh-CN" sz="2400" dirty="0"/>
              <a:t>在</a:t>
            </a:r>
            <a:r>
              <a:rPr kumimoji="0" lang="en-US" altLang="zh-CN" sz="2400" dirty="0"/>
              <a:t>Shape </a:t>
            </a:r>
            <a:r>
              <a:rPr kumimoji="0" lang="zh-CN" altLang="zh-CN" sz="2400" dirty="0"/>
              <a:t>类中声明一个绘图方法</a:t>
            </a:r>
            <a:r>
              <a:rPr kumimoji="0" lang="zh-CN" altLang="en-US" sz="2400" dirty="0"/>
              <a:t>。</a:t>
            </a:r>
            <a:r>
              <a:rPr kumimoji="0" lang="zh-CN" altLang="en-GB" sz="2400" dirty="0"/>
              <a:t>在每个子类中都</a:t>
            </a:r>
            <a:r>
              <a:rPr kumimoji="0" lang="zh-CN" altLang="en-US" sz="2400" dirty="0"/>
              <a:t>覆盖</a:t>
            </a:r>
            <a:r>
              <a:rPr kumimoji="0" lang="en-GB" altLang="zh-CN" sz="2400" dirty="0"/>
              <a:t>draw()</a:t>
            </a:r>
            <a:r>
              <a:rPr kumimoji="0" lang="zh-CN" altLang="en-US" sz="2400" dirty="0"/>
              <a:t>、</a:t>
            </a:r>
            <a:r>
              <a:rPr kumimoji="0" lang="en-US" altLang="zh-CN" sz="2400" dirty="0"/>
              <a:t>erase()</a:t>
            </a:r>
            <a:r>
              <a:rPr kumimoji="0" lang="zh-CN" altLang="en-GB" sz="2400" dirty="0"/>
              <a:t>方法</a:t>
            </a:r>
            <a:r>
              <a:rPr kumimoji="0" lang="zh-CN" altLang="en-US" sz="2400" dirty="0"/>
              <a:t>。</a:t>
            </a:r>
            <a:r>
              <a:rPr kumimoji="0" lang="zh-CN" altLang="en-GB" sz="2400" dirty="0"/>
              <a:t>以后绘图可如下进行</a:t>
            </a:r>
            <a:r>
              <a:rPr kumimoji="0" lang="zh-CN" altLang="en-US" sz="2400" dirty="0"/>
              <a:t>：</a:t>
            </a:r>
            <a:endParaRPr kumimoji="0" lang="zh-CN" altLang="en-GB" sz="2400" dirty="0"/>
          </a:p>
          <a:p>
            <a:pPr lvl="2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GB" altLang="zh-CN" dirty="0">
                <a:solidFill>
                  <a:schemeClr val="tx2"/>
                </a:solidFill>
              </a:rPr>
              <a:t>Shape s = new Circle(); </a:t>
            </a:r>
            <a:r>
              <a:rPr kumimoji="0" lang="en-GB" altLang="zh-CN" dirty="0" err="1">
                <a:solidFill>
                  <a:schemeClr val="tx2"/>
                </a:solidFill>
              </a:rPr>
              <a:t>s.draw</a:t>
            </a:r>
            <a:r>
              <a:rPr kumimoji="0" lang="en-GB" altLang="zh-CN" dirty="0">
                <a:solidFill>
                  <a:schemeClr val="tx2"/>
                </a:solidFill>
              </a:rPr>
              <a:t>();</a:t>
            </a:r>
            <a:r>
              <a:rPr kumimoji="0" lang="en-GB" altLang="zh-CN" dirty="0"/>
              <a:t> </a:t>
            </a:r>
            <a:r>
              <a:rPr kumimoji="0" lang="en-US" altLang="zh-CN" dirty="0"/>
              <a:t>//</a:t>
            </a:r>
            <a:r>
              <a:rPr kumimoji="0" lang="zh-CN" altLang="en-US" dirty="0"/>
              <a:t>实际调用的是</a:t>
            </a:r>
            <a:r>
              <a:rPr kumimoji="0" lang="en-US" altLang="zh-CN" dirty="0"/>
              <a:t>Circle</a:t>
            </a:r>
            <a:r>
              <a:rPr kumimoji="0" lang="zh-CN" altLang="en-US" dirty="0"/>
              <a:t>对象的</a:t>
            </a:r>
            <a:r>
              <a:rPr kumimoji="0" lang="en-US" altLang="zh-CN" dirty="0"/>
              <a:t>draw()</a:t>
            </a:r>
          </a:p>
        </p:txBody>
      </p:sp>
      <p:graphicFrame>
        <p:nvGraphicFramePr>
          <p:cNvPr id="5" name="对象 2">
            <a:extLst>
              <a:ext uri="{FF2B5EF4-FFF2-40B4-BE49-F238E27FC236}">
                <a16:creationId xmlns:a16="http://schemas.microsoft.com/office/drawing/2014/main" id="{77B690EF-EBDB-3C02-2BE7-D0E64F5D59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328872"/>
              </p:ext>
            </p:extLst>
          </p:nvPr>
        </p:nvGraphicFramePr>
        <p:xfrm>
          <a:off x="3312369" y="3284984"/>
          <a:ext cx="5567261" cy="34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066787" imgH="2492172" progId="Visio.Drawing.11">
                  <p:embed/>
                </p:oleObj>
              </mc:Choice>
              <mc:Fallback>
                <p:oleObj name="Visio" r:id="rId5" imgW="4066787" imgH="2492172" progId="Visio.Drawing.11">
                  <p:embed/>
                  <p:pic>
                    <p:nvPicPr>
                      <p:cNvPr id="94215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369" y="3284984"/>
                        <a:ext cx="5567261" cy="342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>
            <a:extLst>
              <a:ext uri="{FF2B5EF4-FFF2-40B4-BE49-F238E27FC236}">
                <a16:creationId xmlns:a16="http://schemas.microsoft.com/office/drawing/2014/main" id="{25921AC8-CE02-B797-A47A-F0B5DC8EFD4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51BDB4-1FFC-09C9-91BC-A0290CAB3A1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多态的目的</a:t>
            </a:r>
          </a:p>
        </p:txBody>
      </p:sp>
    </p:spTree>
    <p:extLst>
      <p:ext uri="{BB962C8B-B14F-4D97-AF65-F5344CB8AC3E}">
        <p14:creationId xmlns:p14="http://schemas.microsoft.com/office/powerpoint/2010/main" val="939750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2AAC-697A-7025-257D-D143C933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430A10-1F26-1969-C948-4B2E883A55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39CC032-63E2-AF5D-85C5-3D910DAA6603}"/>
              </a:ext>
            </a:extLst>
          </p:cNvPr>
          <p:cNvSpPr txBox="1">
            <a:spLocks noChangeArrowheads="1"/>
          </p:cNvSpPr>
          <p:nvPr/>
        </p:nvSpPr>
        <p:spPr>
          <a:xfrm>
            <a:off x="1127448" y="1844824"/>
            <a:ext cx="9623747" cy="648072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GB" dirty="0"/>
              <a:t>绑定</a:t>
            </a:r>
            <a:r>
              <a:rPr kumimoji="0" lang="zh-CN" altLang="en-US" dirty="0"/>
              <a:t>：指将一个方法调用同一个方法主体连接到一起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1864F6-89BF-DD3C-B0B5-BD392C12D32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绑定的概念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F6528E3-5D9C-9E06-9550-DD4B060C71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</p:spTree>
    <p:extLst>
      <p:ext uri="{BB962C8B-B14F-4D97-AF65-F5344CB8AC3E}">
        <p14:creationId xmlns:p14="http://schemas.microsoft.com/office/powerpoint/2010/main" val="217938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3956872-747B-7736-E148-B7C11BDEDD0D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785938"/>
            <a:ext cx="11175032" cy="279519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700" dirty="0"/>
              <a:t>根据绑定时期的不同，可分为：</a:t>
            </a:r>
          </a:p>
          <a:p>
            <a:pPr marL="971550" lvl="1" indent="-5143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GB" sz="2700" dirty="0"/>
              <a:t>早</a:t>
            </a:r>
            <a:r>
              <a:rPr kumimoji="0" lang="zh-CN" altLang="en-US" sz="2700" dirty="0"/>
              <a:t>期</a:t>
            </a:r>
            <a:r>
              <a:rPr kumimoji="0" lang="zh-CN" altLang="en-GB" sz="2700" dirty="0"/>
              <a:t>绑定</a:t>
            </a:r>
            <a:r>
              <a:rPr kumimoji="0" lang="zh-CN" altLang="en-US" sz="2700" dirty="0"/>
              <a:t>：</a:t>
            </a:r>
            <a:r>
              <a:rPr kumimoji="0" lang="zh-CN" altLang="en-GB" sz="2700" dirty="0"/>
              <a:t>程序运行之前执行绑定</a:t>
            </a:r>
            <a:endParaRPr kumimoji="0" lang="en-GB" altLang="zh-CN" sz="2700" dirty="0"/>
          </a:p>
          <a:p>
            <a:pPr marL="971550" lvl="1" indent="-5143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en-US" sz="2700" dirty="0"/>
              <a:t>后期</a:t>
            </a:r>
            <a:r>
              <a:rPr kumimoji="0" lang="zh-CN" altLang="en-GB" sz="2700" dirty="0"/>
              <a:t>绑定</a:t>
            </a:r>
            <a:r>
              <a:rPr kumimoji="0" lang="zh-CN" altLang="en-US" sz="2700" dirty="0"/>
              <a:t>：也叫作“动态绑定”或“运行期绑定，是</a:t>
            </a:r>
            <a:r>
              <a:rPr kumimoji="0" lang="zh-CN" altLang="en-GB" sz="2700" dirty="0"/>
              <a:t>基于对象的类别，在程序运行时执行绑定</a:t>
            </a:r>
            <a:endParaRPr kumimoji="0" lang="en-GB" altLang="zh-CN" sz="27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51F265-0EFD-85CD-5520-2EF3D9F6AB6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绑定的概念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88FD7D8-24DE-80FC-D0BC-45EB2FFF39C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D31B97B-09C2-61ED-3BBB-DE6114C4C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49226"/>
              </p:ext>
            </p:extLst>
          </p:nvPr>
        </p:nvGraphicFramePr>
        <p:xfrm>
          <a:off x="92075" y="92075"/>
          <a:ext cx="12477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5" imgW="1247661" imgH="514121" progId="Package">
                  <p:embed/>
                </p:oleObj>
              </mc:Choice>
              <mc:Fallback>
                <p:oleObj name="包装程序外壳对象" showAsIcon="1" r:id="rId5" imgW="1247661" imgH="51412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075" y="92075"/>
                        <a:ext cx="12477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A81B-946C-58EF-7D2D-4AFE4F45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041191A-999B-DBC8-1D6F-35CB1A205F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63752" y="74325"/>
            <a:ext cx="554461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深入理解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语言的四大特征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D49E222-2662-0D33-A745-EA9CDFCF6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260298"/>
              </p:ext>
            </p:extLst>
          </p:nvPr>
        </p:nvGraphicFramePr>
        <p:xfrm>
          <a:off x="839416" y="1587372"/>
          <a:ext cx="10729192" cy="36832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977810825"/>
                    </a:ext>
                  </a:extLst>
                </a:gridCol>
                <a:gridCol w="9577064">
                  <a:extLst>
                    <a:ext uri="{9D8B030D-6E8A-4147-A177-3AD203B41FA5}">
                      <a16:colId xmlns:a16="http://schemas.microsoft.com/office/drawing/2014/main" val="1946782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700" dirty="0"/>
                        <a:t>抽象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700" dirty="0"/>
                        <a:t>从多个具体对象抽象出类，从多个子类抽象出超类</a:t>
                      </a:r>
                      <a:r>
                        <a:rPr lang="en-US" altLang="zh-CN" sz="2700" dirty="0"/>
                        <a:t>/</a:t>
                      </a:r>
                      <a:r>
                        <a:rPr lang="zh-CN" altLang="en-US" sz="2700" dirty="0"/>
                        <a:t>父类。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519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700" dirty="0"/>
                        <a:t>封装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700" dirty="0"/>
                        <a:t>类的所有成员（数据、方法）都可以被标识为公有的或私有的，公有成员提供使用类成员的途径，私有成员被隐藏。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52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700" dirty="0"/>
                        <a:t>继承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700" dirty="0"/>
                        <a:t>提供设置类层次机制，子类是超类的一种更加特殊性的体现。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489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700" dirty="0"/>
                        <a:t>多态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700" dirty="0"/>
                        <a:t>通过重载、继承及接口</a:t>
                      </a:r>
                      <a:r>
                        <a:rPr lang="en-US" altLang="zh-CN" sz="2700" dirty="0"/>
                        <a:t>(interface)</a:t>
                      </a:r>
                      <a:r>
                        <a:rPr lang="zh-CN" altLang="en-US" sz="2700" dirty="0"/>
                        <a:t>实现相同的方法调用名称但执行不同的操作（或说 多种形态）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681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251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5D73E-46E1-55F8-D8B0-9F584E15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72399D-317E-130A-C542-E0C6618F78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63D7421-1972-3EE4-D434-D888DEE8B9D5}"/>
              </a:ext>
            </a:extLst>
          </p:cNvPr>
          <p:cNvSpPr txBox="1">
            <a:spLocks noChangeArrowheads="1"/>
          </p:cNvSpPr>
          <p:nvPr/>
        </p:nvSpPr>
        <p:spPr>
          <a:xfrm>
            <a:off x="1199456" y="1490697"/>
            <a:ext cx="10088016" cy="5184576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kumimoji="0" lang="zh-CN" altLang="en-US" sz="2400" dirty="0"/>
              <a:t>以绘图为例，所有类都放在</a:t>
            </a:r>
            <a:r>
              <a:rPr kumimoji="0" lang="en-US" altLang="zh-CN" sz="2400" dirty="0"/>
              <a:t>binding</a:t>
            </a:r>
            <a:r>
              <a:rPr kumimoji="0" lang="zh-CN" altLang="en-US" sz="2400" dirty="0"/>
              <a:t>包中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kumimoji="0" lang="zh-CN" altLang="en-US" sz="2200" dirty="0"/>
              <a:t>超类</a:t>
            </a:r>
            <a:r>
              <a:rPr kumimoji="0" lang="en-US" altLang="zh-CN" sz="2200" dirty="0"/>
              <a:t>Shape</a:t>
            </a:r>
            <a:r>
              <a:rPr kumimoji="0" lang="zh-CN" altLang="en-US" sz="2200" dirty="0"/>
              <a:t>建立了一个通用接口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class </a:t>
            </a:r>
            <a:r>
              <a:rPr kumimoji="0" lang="en-US" altLang="zh-CN" sz="2000" dirty="0">
                <a:solidFill>
                  <a:schemeClr val="tx2"/>
                </a:solidFill>
              </a:rPr>
              <a:t>Shape</a:t>
            </a:r>
            <a:r>
              <a:rPr kumimoji="0" lang="en-US" altLang="zh-CN" sz="2000" dirty="0"/>
              <a:t> { 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    void draw() {} 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    void erase() {} 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} 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kumimoji="0" lang="zh-CN" altLang="en-US" sz="2200" dirty="0"/>
              <a:t>派生类覆盖了</a:t>
            </a:r>
            <a:r>
              <a:rPr kumimoji="0" lang="en-US" altLang="zh-CN" sz="2200" dirty="0"/>
              <a:t>draw</a:t>
            </a:r>
            <a:r>
              <a:rPr kumimoji="0" lang="zh-CN" altLang="en-US" sz="2200" dirty="0"/>
              <a:t>方法，为每种特殊的几何形状都提供独一无二的行为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class </a:t>
            </a:r>
            <a:r>
              <a:rPr kumimoji="0" lang="en-US" altLang="zh-CN" sz="2000" dirty="0">
                <a:solidFill>
                  <a:schemeClr val="hlink"/>
                </a:solidFill>
              </a:rPr>
              <a:t>Circle</a:t>
            </a:r>
            <a:r>
              <a:rPr kumimoji="0" lang="en-US" altLang="zh-CN" sz="2000" dirty="0"/>
              <a:t> extends</a:t>
            </a:r>
            <a:r>
              <a:rPr kumimoji="0" lang="en-US" altLang="zh-CN" sz="2000" dirty="0">
                <a:solidFill>
                  <a:schemeClr val="tx2"/>
                </a:solidFill>
              </a:rPr>
              <a:t> Shape</a:t>
            </a:r>
            <a:r>
              <a:rPr kumimoji="0" lang="en-US" altLang="zh-CN" sz="2000" dirty="0"/>
              <a:t> {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000" dirty="0"/>
              <a:t>   </a:t>
            </a:r>
            <a:r>
              <a:rPr kumimoji="0" lang="en-US" altLang="zh-CN" sz="2000" dirty="0"/>
              <a:t>@Override 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	void draw() 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      { </a:t>
            </a:r>
            <a:r>
              <a:rPr kumimoji="0" lang="en-US" altLang="zh-CN" sz="2000" dirty="0" err="1"/>
              <a:t>System.out.println</a:t>
            </a:r>
            <a:r>
              <a:rPr kumimoji="0" lang="en-US" altLang="zh-CN" sz="2000" dirty="0"/>
              <a:t>("</a:t>
            </a:r>
            <a:r>
              <a:rPr kumimoji="0" lang="en-US" altLang="zh-CN" sz="2000" dirty="0" err="1"/>
              <a:t>Circle.draw</a:t>
            </a:r>
            <a:r>
              <a:rPr kumimoji="0" lang="en-US" altLang="zh-CN" sz="2000" dirty="0"/>
              <a:t>()"); } 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000" dirty="0"/>
              <a:t>    </a:t>
            </a:r>
            <a:r>
              <a:rPr kumimoji="0" lang="en-US" altLang="zh-CN" sz="2000" dirty="0"/>
              <a:t>@Override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	void erase() 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      { </a:t>
            </a:r>
            <a:r>
              <a:rPr kumimoji="0" lang="en-US" altLang="zh-CN" sz="2000" dirty="0" err="1"/>
              <a:t>System.out.println</a:t>
            </a:r>
            <a:r>
              <a:rPr kumimoji="0" lang="en-US" altLang="zh-CN" sz="2000" dirty="0"/>
              <a:t>("</a:t>
            </a:r>
            <a:r>
              <a:rPr kumimoji="0" lang="en-US" altLang="zh-CN" sz="2000" dirty="0" err="1"/>
              <a:t>Circle.erase</a:t>
            </a:r>
            <a:r>
              <a:rPr kumimoji="0" lang="en-US" altLang="zh-CN" sz="2000" dirty="0"/>
              <a:t>()"); } 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kumimoji="0" lang="en-US" altLang="zh-CN" sz="2000" dirty="0"/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043368-2987-3B06-69BE-A40A4D2DC73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动态绑定举例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1EFB3D5-6415-5B78-DE24-4213281E79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</p:spTree>
    <p:extLst>
      <p:ext uri="{BB962C8B-B14F-4D97-AF65-F5344CB8AC3E}">
        <p14:creationId xmlns:p14="http://schemas.microsoft.com/office/powerpoint/2010/main" val="1248866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0FB3-9177-A0BA-437A-577F07E0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79981D-7608-5EF8-8090-6D786F7BFB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0E095BA-CC5F-6647-827E-46E03D8AE47B}"/>
              </a:ext>
            </a:extLst>
          </p:cNvPr>
          <p:cNvSpPr txBox="1">
            <a:spLocks noChangeArrowheads="1"/>
          </p:cNvSpPr>
          <p:nvPr/>
        </p:nvSpPr>
        <p:spPr>
          <a:xfrm>
            <a:off x="2207568" y="836712"/>
            <a:ext cx="8784976" cy="594928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class </a:t>
            </a:r>
            <a:r>
              <a:rPr kumimoji="0" lang="en-US" altLang="zh-CN" sz="2400" dirty="0">
                <a:solidFill>
                  <a:schemeClr val="hlink"/>
                </a:solidFill>
              </a:rPr>
              <a:t>Square</a:t>
            </a:r>
            <a:r>
              <a:rPr kumimoji="0" lang="en-US" altLang="zh-CN" sz="2400" dirty="0"/>
              <a:t> extends </a:t>
            </a:r>
            <a:r>
              <a:rPr kumimoji="0" lang="en-US" altLang="zh-CN" sz="2400" dirty="0">
                <a:solidFill>
                  <a:schemeClr val="tx2"/>
                </a:solidFill>
              </a:rPr>
              <a:t>Shape</a:t>
            </a:r>
            <a:r>
              <a:rPr kumimoji="0" lang="en-US" altLang="zh-CN" sz="2400" dirty="0"/>
              <a:t> {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400" dirty="0"/>
              <a:t>    </a:t>
            </a:r>
            <a:r>
              <a:rPr kumimoji="0" lang="en-US" altLang="zh-CN" sz="2400" dirty="0"/>
              <a:t>@Override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	 void draw() {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        </a:t>
            </a:r>
            <a:r>
              <a:rPr kumimoji="0" lang="en-US" altLang="zh-CN" sz="2400" dirty="0" err="1"/>
              <a:t>System.out.println</a:t>
            </a:r>
            <a:r>
              <a:rPr kumimoji="0" lang="en-US" altLang="zh-CN" sz="2400" dirty="0"/>
              <a:t>("</a:t>
            </a:r>
            <a:r>
              <a:rPr kumimoji="0" lang="en-US" altLang="zh-CN" sz="2400" dirty="0" err="1"/>
              <a:t>Square.draw</a:t>
            </a:r>
            <a:r>
              <a:rPr kumimoji="0" lang="en-US" altLang="zh-CN" sz="2400" dirty="0"/>
              <a:t>()"); }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zh-CN" altLang="en-US" sz="2400" dirty="0"/>
              <a:t>    </a:t>
            </a:r>
            <a:r>
              <a:rPr kumimoji="0" lang="en-US" altLang="zh-CN" sz="2400" dirty="0"/>
              <a:t>@Override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	 void erase() {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        </a:t>
            </a:r>
            <a:r>
              <a:rPr kumimoji="0" lang="en-US" altLang="zh-CN" sz="2400" dirty="0" err="1"/>
              <a:t>System.out.println</a:t>
            </a:r>
            <a:r>
              <a:rPr kumimoji="0" lang="en-US" altLang="zh-CN" sz="2400" dirty="0"/>
              <a:t>("</a:t>
            </a:r>
            <a:r>
              <a:rPr kumimoji="0" lang="en-US" altLang="zh-CN" sz="2400" dirty="0" err="1"/>
              <a:t>Square.erase</a:t>
            </a:r>
            <a:r>
              <a:rPr kumimoji="0" lang="en-US" altLang="zh-CN" sz="2400" dirty="0"/>
              <a:t>()"); }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}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class</a:t>
            </a:r>
            <a:r>
              <a:rPr kumimoji="0" lang="en-US" altLang="zh-CN" sz="2400" dirty="0">
                <a:solidFill>
                  <a:srgbClr val="66FF33"/>
                </a:solidFill>
              </a:rPr>
              <a:t> </a:t>
            </a:r>
            <a:r>
              <a:rPr kumimoji="0" lang="en-US" altLang="zh-CN" sz="2400" dirty="0">
                <a:solidFill>
                  <a:schemeClr val="hlink"/>
                </a:solidFill>
              </a:rPr>
              <a:t>Triangle</a:t>
            </a:r>
            <a:r>
              <a:rPr kumimoji="0" lang="en-US" altLang="zh-CN" sz="2400" dirty="0"/>
              <a:t> extends</a:t>
            </a:r>
            <a:r>
              <a:rPr kumimoji="0" lang="en-US" altLang="zh-CN" sz="2400" dirty="0">
                <a:solidFill>
                  <a:schemeClr val="tx2"/>
                </a:solidFill>
              </a:rPr>
              <a:t> Shape</a:t>
            </a:r>
            <a:r>
              <a:rPr kumimoji="0" lang="en-US" altLang="zh-CN" sz="2400" dirty="0"/>
              <a:t> {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zh-CN" altLang="en-US" sz="2400" dirty="0"/>
              <a:t>    </a:t>
            </a:r>
            <a:r>
              <a:rPr kumimoji="0" lang="en-US" altLang="zh-CN" sz="2400" dirty="0"/>
              <a:t>@Override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	 void draw() {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        </a:t>
            </a:r>
            <a:r>
              <a:rPr kumimoji="0" lang="en-US" altLang="zh-CN" sz="2400" dirty="0" err="1"/>
              <a:t>System.out.println</a:t>
            </a:r>
            <a:r>
              <a:rPr kumimoji="0" lang="en-US" altLang="zh-CN" sz="2400" dirty="0"/>
              <a:t>("</a:t>
            </a:r>
            <a:r>
              <a:rPr kumimoji="0" lang="en-US" altLang="zh-CN" sz="2400" dirty="0" err="1"/>
              <a:t>Triangle.draw</a:t>
            </a:r>
            <a:r>
              <a:rPr kumimoji="0" lang="en-US" altLang="zh-CN" sz="2400" dirty="0"/>
              <a:t>()"); }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zh-CN" altLang="en-US" sz="2400" dirty="0"/>
              <a:t>    </a:t>
            </a:r>
            <a:r>
              <a:rPr kumimoji="0" lang="en-US" altLang="zh-CN" sz="2400" dirty="0"/>
              <a:t>@Override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   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void erase() { 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        </a:t>
            </a:r>
            <a:r>
              <a:rPr kumimoji="0" lang="en-US" altLang="zh-CN" sz="2400" dirty="0" err="1"/>
              <a:t>System.out.println</a:t>
            </a:r>
            <a:r>
              <a:rPr kumimoji="0" lang="en-US" altLang="zh-CN" sz="2400" dirty="0"/>
              <a:t>("</a:t>
            </a:r>
            <a:r>
              <a:rPr kumimoji="0" lang="en-US" altLang="zh-CN" sz="2400" dirty="0" err="1"/>
              <a:t>Triangle.erase</a:t>
            </a:r>
            <a:r>
              <a:rPr kumimoji="0" lang="en-US" altLang="zh-CN" sz="2400" dirty="0"/>
              <a:t>()"); }</a:t>
            </a:r>
          </a:p>
          <a:p>
            <a:pPr marL="455613" indent="-455613" fontAlgn="auto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/>
              <a:t> } </a:t>
            </a:r>
          </a:p>
          <a:p>
            <a:pPr marL="455613" indent="-455613" fontAlgn="auto">
              <a:lnSpc>
                <a:spcPct val="9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endParaRPr kumimoji="0" lang="zh-CN" altLang="en-US" sz="18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803F43E-45AD-3864-5EEA-E647D722F19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</p:spTree>
    <p:extLst>
      <p:ext uri="{BB962C8B-B14F-4D97-AF65-F5344CB8AC3E}">
        <p14:creationId xmlns:p14="http://schemas.microsoft.com/office/powerpoint/2010/main" val="7014823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5AB7-FEC7-9C57-72A8-6386555B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A970F8-4109-7B09-1339-ACE2A17E39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3B2B85B-F5B3-329B-3885-C75662D80423}"/>
              </a:ext>
            </a:extLst>
          </p:cNvPr>
          <p:cNvSpPr txBox="1">
            <a:spLocks noChangeArrowheads="1"/>
          </p:cNvSpPr>
          <p:nvPr/>
        </p:nvSpPr>
        <p:spPr>
          <a:xfrm>
            <a:off x="1631504" y="890719"/>
            <a:ext cx="8294712" cy="59476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400" dirty="0"/>
              <a:t>对动态绑定进行测试如下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public class </a:t>
            </a:r>
            <a:r>
              <a:rPr kumimoji="0" lang="en-US" altLang="zh-CN" sz="2000" dirty="0" err="1"/>
              <a:t>BindingTester</a:t>
            </a:r>
            <a:r>
              <a:rPr kumimoji="0" lang="en-US" altLang="zh-CN" sz="2000" dirty="0"/>
              <a:t>{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public static void main(String[] </a:t>
            </a:r>
            <a:r>
              <a:rPr kumimoji="0" lang="en-US" altLang="zh-CN" sz="2000" dirty="0" err="1"/>
              <a:t>args</a:t>
            </a:r>
            <a:r>
              <a:rPr kumimoji="0" lang="en-US" altLang="zh-CN" sz="2000" dirty="0"/>
              <a:t>) {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Shape[] s = new Shape[9];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int n;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for(int </a:t>
            </a:r>
            <a:r>
              <a:rPr kumimoji="0" lang="en-US" altLang="zh-CN" sz="2000" dirty="0" err="1"/>
              <a:t>i</a:t>
            </a:r>
            <a:r>
              <a:rPr kumimoji="0" lang="en-US" altLang="zh-CN" sz="2000" dirty="0"/>
              <a:t> = 0; </a:t>
            </a:r>
            <a:r>
              <a:rPr kumimoji="0" lang="en-US" altLang="zh-CN" sz="2000" dirty="0" err="1"/>
              <a:t>i</a:t>
            </a:r>
            <a:r>
              <a:rPr kumimoji="0" lang="en-US" altLang="zh-CN" sz="2000" dirty="0"/>
              <a:t> &lt; </a:t>
            </a:r>
            <a:r>
              <a:rPr kumimoji="0" lang="en-US" altLang="zh-CN" sz="2000" dirty="0" err="1"/>
              <a:t>s.length</a:t>
            </a:r>
            <a:r>
              <a:rPr kumimoji="0" lang="en-US" altLang="zh-CN" sz="2000" dirty="0"/>
              <a:t>; </a:t>
            </a:r>
            <a:r>
              <a:rPr kumimoji="0" lang="en-US" altLang="zh-CN" sz="2000" dirty="0" err="1"/>
              <a:t>i</a:t>
            </a:r>
            <a:r>
              <a:rPr kumimoji="0" lang="en-US" altLang="zh-CN" sz="2000" dirty="0"/>
              <a:t>++) {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   n = (int)(</a:t>
            </a:r>
            <a:r>
              <a:rPr kumimoji="0" lang="en-US" altLang="zh-CN" sz="2000" dirty="0" err="1"/>
              <a:t>Math.random</a:t>
            </a:r>
            <a:r>
              <a:rPr kumimoji="0" lang="en-US" altLang="zh-CN" sz="2000" dirty="0"/>
              <a:t>() * 3);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   switch(n) { 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       case 0: s[</a:t>
            </a:r>
            <a:r>
              <a:rPr kumimoji="0" lang="en-US" altLang="zh-CN" sz="2000" dirty="0" err="1"/>
              <a:t>i</a:t>
            </a:r>
            <a:r>
              <a:rPr kumimoji="0" lang="en-US" altLang="zh-CN" sz="2000" dirty="0"/>
              <a:t>] =  new Circle(); break;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       case 1: s[</a:t>
            </a:r>
            <a:r>
              <a:rPr kumimoji="0" lang="en-US" altLang="zh-CN" sz="2000" dirty="0" err="1"/>
              <a:t>i</a:t>
            </a:r>
            <a:r>
              <a:rPr kumimoji="0" lang="en-US" altLang="zh-CN" sz="2000" dirty="0"/>
              <a:t>] =  new Square(); break;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       case 2: s[</a:t>
            </a:r>
            <a:r>
              <a:rPr kumimoji="0" lang="en-US" altLang="zh-CN" sz="2000" dirty="0" err="1"/>
              <a:t>i</a:t>
            </a:r>
            <a:r>
              <a:rPr kumimoji="0" lang="en-US" altLang="zh-CN" sz="2000" dirty="0"/>
              <a:t>] =  new Triangle();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    }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}     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for(Shape</a:t>
            </a:r>
            <a:r>
              <a:rPr kumimoji="0" lang="zh-CN" altLang="en-US" sz="2000" dirty="0"/>
              <a:t> </a:t>
            </a:r>
            <a:r>
              <a:rPr kumimoji="0" lang="en-US" altLang="zh-CN" sz="2000" dirty="0" err="1"/>
              <a:t>oneS</a:t>
            </a:r>
            <a:r>
              <a:rPr kumimoji="0" lang="en-US" altLang="zh-CN" sz="2000" dirty="0"/>
              <a:t>:</a:t>
            </a:r>
            <a:r>
              <a:rPr kumimoji="0" lang="zh-CN" altLang="en-US" sz="2000" dirty="0"/>
              <a:t> </a:t>
            </a:r>
            <a:r>
              <a:rPr kumimoji="0" lang="en-US" altLang="zh-CN" sz="2000" dirty="0"/>
              <a:t>s)   </a:t>
            </a:r>
            <a:r>
              <a:rPr kumimoji="0" lang="en-US" altLang="zh-CN" sz="2000" dirty="0" err="1"/>
              <a:t>oneS.draw</a:t>
            </a:r>
            <a:r>
              <a:rPr kumimoji="0" lang="en-US" altLang="zh-CN" sz="2000" dirty="0"/>
              <a:t>();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0253AA5-EAC2-B06C-4F5D-936E8743F5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</p:spTree>
    <p:extLst>
      <p:ext uri="{BB962C8B-B14F-4D97-AF65-F5344CB8AC3E}">
        <p14:creationId xmlns:p14="http://schemas.microsoft.com/office/powerpoint/2010/main" val="3295816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8CD0-EBCE-4BB8-F355-3D6AC358B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7BB9FB-C16F-2A27-F7D0-5E5B2A5710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EA11C96-13AD-37E0-14C8-66ECE2677305}"/>
              </a:ext>
            </a:extLst>
          </p:cNvPr>
          <p:cNvSpPr txBox="1">
            <a:spLocks noChangeArrowheads="1"/>
          </p:cNvSpPr>
          <p:nvPr/>
        </p:nvSpPr>
        <p:spPr>
          <a:xfrm>
            <a:off x="767408" y="908720"/>
            <a:ext cx="10972800" cy="54726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400" dirty="0"/>
              <a:t>运行结果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Square.draw</a:t>
            </a:r>
            <a:r>
              <a:rPr kumimoji="0" lang="en-US" altLang="zh-CN" sz="2000" dirty="0"/>
              <a:t>()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Triangle.draw</a:t>
            </a:r>
            <a:r>
              <a:rPr kumimoji="0" lang="en-US" altLang="zh-CN" sz="2000" dirty="0"/>
              <a:t>()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Circle.draw</a:t>
            </a:r>
            <a:r>
              <a:rPr kumimoji="0" lang="en-US" altLang="zh-CN" sz="2000" dirty="0"/>
              <a:t>()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Triangle.draw</a:t>
            </a:r>
            <a:r>
              <a:rPr kumimoji="0" lang="en-US" altLang="zh-CN" sz="2000" dirty="0"/>
              <a:t>()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Triangle.draw</a:t>
            </a:r>
            <a:r>
              <a:rPr kumimoji="0" lang="en-US" altLang="zh-CN" sz="2000" dirty="0"/>
              <a:t>()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Circle.draw</a:t>
            </a:r>
            <a:r>
              <a:rPr kumimoji="0" lang="en-US" altLang="zh-CN" sz="2000" dirty="0"/>
              <a:t>()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Square.draw</a:t>
            </a:r>
            <a:r>
              <a:rPr kumimoji="0" lang="en-US" altLang="zh-CN" sz="2000" dirty="0"/>
              <a:t>()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Circle.draw</a:t>
            </a:r>
            <a:r>
              <a:rPr kumimoji="0" lang="en-US" altLang="zh-CN" sz="2000" dirty="0"/>
              <a:t>()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 err="1"/>
              <a:t>Triangle.draw</a:t>
            </a:r>
            <a:r>
              <a:rPr kumimoji="0" lang="en-US" altLang="zh-CN" sz="2000" dirty="0"/>
              <a:t>()</a:t>
            </a:r>
          </a:p>
          <a:p>
            <a:pPr fontAlgn="auto">
              <a:spcAft>
                <a:spcPts val="0"/>
              </a:spcAft>
            </a:pPr>
            <a:r>
              <a:rPr kumimoji="0" lang="zh-CN" altLang="en-US" sz="2400" dirty="0"/>
              <a:t>说明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sz="2000" dirty="0"/>
              <a:t>在主方法的循环体中，每次随机生成一个</a:t>
            </a:r>
            <a:r>
              <a:rPr kumimoji="0" lang="en-US" altLang="zh-CN" sz="2000" dirty="0" err="1"/>
              <a:t>Circle、Square</a:t>
            </a:r>
            <a:r>
              <a:rPr kumimoji="0" lang="zh-CN" altLang="en-US" sz="2000" dirty="0"/>
              <a:t>或者</a:t>
            </a:r>
            <a:r>
              <a:rPr kumimoji="0" lang="en-US" altLang="zh-CN" sz="2000" dirty="0"/>
              <a:t>Triangle</a:t>
            </a:r>
            <a:r>
              <a:rPr kumimoji="0" lang="zh-CN" altLang="en-US" sz="2000" dirty="0"/>
              <a:t>对象；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sz="2000" dirty="0"/>
              <a:t>编译时无法知道</a:t>
            </a:r>
            <a:r>
              <a:rPr kumimoji="0" lang="en-US" altLang="zh-CN" sz="2000" dirty="0"/>
              <a:t>s</a:t>
            </a:r>
            <a:r>
              <a:rPr kumimoji="0" lang="zh-CN" altLang="en-US" sz="2000" dirty="0"/>
              <a:t>数组元素指向的实际对象类型，运行时才能确定类型，所以是动态绑定。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2CA7A-85DD-E811-57F4-A2E40EEE5F4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384376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多态的概念</a:t>
            </a:r>
          </a:p>
        </p:txBody>
      </p:sp>
    </p:spTree>
    <p:extLst>
      <p:ext uri="{BB962C8B-B14F-4D97-AF65-F5344CB8AC3E}">
        <p14:creationId xmlns:p14="http://schemas.microsoft.com/office/powerpoint/2010/main" val="439712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FF95-AC8F-7BF0-8126-91252FB0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274291-28FF-3262-A2C8-4A64D5B302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ADE664F-7F58-6E38-41A0-3288EEDCD643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340768"/>
            <a:ext cx="10972800" cy="4176464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/>
              <a:t>有不同种类的交通工具(</a:t>
            </a:r>
            <a:r>
              <a:rPr kumimoji="0" lang="en-US" altLang="zh-CN" sz="2500" dirty="0"/>
              <a:t>vehicle)，</a:t>
            </a:r>
            <a:r>
              <a:rPr kumimoji="0" lang="zh-CN" altLang="en-US" sz="2500" dirty="0"/>
              <a:t>如公共汽车(</a:t>
            </a:r>
            <a:r>
              <a:rPr kumimoji="0" lang="en-US" altLang="zh-CN" sz="2500" dirty="0"/>
              <a:t>bus)</a:t>
            </a:r>
            <a:r>
              <a:rPr kumimoji="0" lang="zh-CN" altLang="en-US" sz="2500" dirty="0"/>
              <a:t>及小汽车(</a:t>
            </a:r>
            <a:r>
              <a:rPr kumimoji="0" lang="en-US" altLang="zh-CN" sz="2500" dirty="0"/>
              <a:t>car)，</a:t>
            </a:r>
            <a:r>
              <a:rPr kumimoji="0" lang="zh-CN" altLang="en-US" sz="2500" dirty="0"/>
              <a:t>由此可以声明一个抽象类</a:t>
            </a:r>
            <a:r>
              <a:rPr kumimoji="0" lang="en-US" altLang="zh-CN" sz="2500" dirty="0"/>
              <a:t>Vehicle</a:t>
            </a:r>
            <a:r>
              <a:rPr kumimoji="0" lang="zh-CN" altLang="en-US" sz="2500" dirty="0"/>
              <a:t>及两个子类</a:t>
            </a:r>
            <a:r>
              <a:rPr kumimoji="0" lang="en-US" altLang="zh-CN" sz="2500" dirty="0"/>
              <a:t>Bus</a:t>
            </a:r>
            <a:r>
              <a:rPr kumimoji="0" lang="zh-CN" altLang="en-US" sz="2500" dirty="0"/>
              <a:t>及</a:t>
            </a:r>
            <a:r>
              <a:rPr kumimoji="0" lang="en-US" altLang="zh-CN" sz="2500" dirty="0"/>
              <a:t>Car</a:t>
            </a:r>
            <a:r>
              <a:rPr kumimoji="0" lang="zh-CN" altLang="en-US" sz="2500" dirty="0"/>
              <a:t>；</a:t>
            </a:r>
            <a:endParaRPr kumimoji="0" lang="en-US" altLang="zh-CN" sz="2500" dirty="0"/>
          </a:p>
          <a:p>
            <a:pPr fontAlgn="auto">
              <a:lnSpc>
                <a:spcPct val="13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/>
              <a:t>声明一个抽象类</a:t>
            </a:r>
            <a:r>
              <a:rPr kumimoji="0" lang="en-US" altLang="zh-CN" sz="2500" dirty="0"/>
              <a:t>Driver</a:t>
            </a:r>
            <a:r>
              <a:rPr kumimoji="0" lang="zh-CN" altLang="en-US" sz="2500" dirty="0"/>
              <a:t>及两个子类</a:t>
            </a:r>
            <a:r>
              <a:rPr kumimoji="0" lang="en-US" altLang="zh-CN" sz="2500" dirty="0" err="1"/>
              <a:t>FemaleDriver</a:t>
            </a:r>
            <a:r>
              <a:rPr kumimoji="0" lang="zh-CN" altLang="en-US" sz="2500" dirty="0"/>
              <a:t>及</a:t>
            </a:r>
            <a:r>
              <a:rPr kumimoji="0" lang="en-US" altLang="zh-CN" sz="2500" dirty="0" err="1"/>
              <a:t>MaleDriver</a:t>
            </a:r>
            <a:r>
              <a:rPr kumimoji="0" lang="zh-CN" altLang="en-US" sz="2500" dirty="0"/>
              <a:t>；</a:t>
            </a:r>
            <a:endParaRPr kumimoji="0" lang="en-US" altLang="zh-CN" sz="2500" dirty="0"/>
          </a:p>
          <a:p>
            <a:pPr fontAlgn="auto">
              <a:lnSpc>
                <a:spcPct val="13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/>
              <a:t>在</a:t>
            </a:r>
            <a:r>
              <a:rPr kumimoji="0" lang="en-US" altLang="zh-CN" sz="2500" dirty="0"/>
              <a:t>Diver</a:t>
            </a:r>
            <a:r>
              <a:rPr kumimoji="0" lang="zh-CN" altLang="en-US" sz="2500" dirty="0"/>
              <a:t>类中声明了抽象方法</a:t>
            </a:r>
            <a:r>
              <a:rPr kumimoji="0" lang="en-US" altLang="zh-CN" sz="2500" dirty="0"/>
              <a:t>drives</a:t>
            </a:r>
            <a:r>
              <a:rPr kumimoji="0" lang="zh-CN" altLang="en-US" sz="2500" dirty="0"/>
              <a:t>，在两个子类中对这个方法进行覆盖；</a:t>
            </a:r>
          </a:p>
          <a:p>
            <a:pPr fontAlgn="auto">
              <a:lnSpc>
                <a:spcPct val="13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en-US" altLang="zh-CN" sz="2500" dirty="0"/>
              <a:t>drives</a:t>
            </a:r>
            <a:r>
              <a:rPr kumimoji="0" lang="zh-CN" altLang="en-US" sz="2500" dirty="0"/>
              <a:t>接收一个</a:t>
            </a:r>
            <a:r>
              <a:rPr kumimoji="0" lang="en-US" altLang="zh-CN" sz="2500" dirty="0"/>
              <a:t>Vehicle</a:t>
            </a:r>
            <a:r>
              <a:rPr kumimoji="0" lang="zh-CN" altLang="en-US" sz="2500" dirty="0"/>
              <a:t>类的参数，当不同类型的交通工具被传送到此方法时，可以输出具体的交通工具；</a:t>
            </a:r>
          </a:p>
          <a:p>
            <a:pPr fontAlgn="auto">
              <a:lnSpc>
                <a:spcPct val="13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500" dirty="0"/>
              <a:t>所有类都放在</a:t>
            </a:r>
            <a:r>
              <a:rPr kumimoji="0" lang="en-US" altLang="zh-CN" sz="2500" dirty="0"/>
              <a:t>drive</a:t>
            </a:r>
            <a:r>
              <a:rPr kumimoji="0" lang="zh-CN" altLang="en-US" sz="2500" dirty="0"/>
              <a:t>包中。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304F431-D211-0BF4-62FC-CB5C098031B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多态的应用</a:t>
            </a:r>
          </a:p>
        </p:txBody>
      </p:sp>
    </p:spTree>
    <p:extLst>
      <p:ext uri="{BB962C8B-B14F-4D97-AF65-F5344CB8AC3E}">
        <p14:creationId xmlns:p14="http://schemas.microsoft.com/office/powerpoint/2010/main" val="19319568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265E-13C1-FB8F-91FF-53702814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459757-6ABF-CEC5-548E-8418FFFD629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4F399B22-067E-1B06-9B76-711DBB9FA607}"/>
              </a:ext>
            </a:extLst>
          </p:cNvPr>
          <p:cNvSpPr txBox="1">
            <a:spLocks noChangeArrowheads="1"/>
          </p:cNvSpPr>
          <p:nvPr/>
        </p:nvSpPr>
        <p:spPr>
          <a:xfrm>
            <a:off x="1559496" y="980728"/>
            <a:ext cx="7916872" cy="561662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000" dirty="0"/>
              <a:t>测试代码：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public class </a:t>
            </a:r>
            <a:r>
              <a:rPr kumimoji="0" lang="en-US" altLang="zh-CN" sz="2000" dirty="0" err="1"/>
              <a:t>DriverTest</a:t>
            </a:r>
            <a:r>
              <a:rPr kumimoji="0" lang="en-US" altLang="zh-CN" sz="2000" dirty="0"/>
              <a:t> 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static public void main(String [ ] </a:t>
            </a:r>
            <a:r>
              <a:rPr kumimoji="0" lang="en-US" altLang="zh-CN" sz="2000" dirty="0" err="1"/>
              <a:t>args</a:t>
            </a:r>
            <a:r>
              <a:rPr kumimoji="0" lang="en-US" altLang="zh-CN" sz="2000" dirty="0"/>
              <a:t>) 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Driver a = new </a:t>
            </a:r>
            <a:r>
              <a:rPr kumimoji="0" lang="en-US" altLang="zh-CN" sz="2000" dirty="0" err="1"/>
              <a:t>FemaleDriver</a:t>
            </a:r>
            <a:r>
              <a:rPr kumimoji="0" lang="en-US" altLang="zh-CN" sz="2000" dirty="0"/>
              <a:t>( 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Driver b = new </a:t>
            </a:r>
            <a:r>
              <a:rPr kumimoji="0" lang="en-US" altLang="zh-CN" sz="2000" dirty="0" err="1"/>
              <a:t>MaleDriver</a:t>
            </a:r>
            <a:r>
              <a:rPr kumimoji="0" lang="en-US" altLang="zh-CN" sz="2000" dirty="0"/>
              <a:t>( 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    Vehicle x = new Car( 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    Vehicle y = new Bus( 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    </a:t>
            </a:r>
            <a:r>
              <a:rPr kumimoji="0" lang="en-US" altLang="zh-CN" sz="2000" dirty="0" err="1"/>
              <a:t>a.drives</a:t>
            </a:r>
            <a:r>
              <a:rPr kumimoji="0" lang="en-US" altLang="zh-CN" sz="2000" dirty="0"/>
              <a:t>(x);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    </a:t>
            </a:r>
            <a:r>
              <a:rPr kumimoji="0" lang="en-US" altLang="zh-CN" sz="2000" dirty="0" err="1"/>
              <a:t>b.drives</a:t>
            </a:r>
            <a:r>
              <a:rPr kumimoji="0" lang="en-US" altLang="zh-CN" sz="2000" dirty="0"/>
              <a:t>(y);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000" dirty="0"/>
              <a:t>希望输出下面的结果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A female driver drives a Car.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A male driver drives a bus.</a:t>
            </a:r>
            <a:endParaRPr kumimoji="0" lang="zh-CN" altLang="en-US" sz="20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C1B49ED-3E17-78EC-4E3B-108F867B781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多态的应用</a:t>
            </a:r>
          </a:p>
        </p:txBody>
      </p:sp>
    </p:spTree>
    <p:extLst>
      <p:ext uri="{BB962C8B-B14F-4D97-AF65-F5344CB8AC3E}">
        <p14:creationId xmlns:p14="http://schemas.microsoft.com/office/powerpoint/2010/main" val="4192568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CFF19-8C08-FEA4-FEBF-D1CE3E174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798CA8-2976-D60D-9A18-4F5B50A56D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7EC789E-5A1F-A2BE-E05C-7B7B7579EF90}"/>
              </a:ext>
            </a:extLst>
          </p:cNvPr>
          <p:cNvSpPr txBox="1">
            <a:spLocks noChangeArrowheads="1"/>
          </p:cNvSpPr>
          <p:nvPr/>
        </p:nvSpPr>
        <p:spPr>
          <a:xfrm>
            <a:off x="1487488" y="1412776"/>
            <a:ext cx="8366720" cy="374441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400" dirty="0"/>
              <a:t>Vehicle</a:t>
            </a:r>
            <a:r>
              <a:rPr kumimoji="0" lang="zh-CN" altLang="en-US" sz="2400" dirty="0"/>
              <a:t>及其子类声明如下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400" dirty="0"/>
              <a:t>public abstract class Vehicle{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400" dirty="0"/>
              <a:t>	private String type;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400" dirty="0"/>
              <a:t>	public Vehicle( ) {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400" dirty="0"/>
              <a:t>	public Vehicle(String s) { type = s;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400" dirty="0"/>
              <a:t>	public abstract void </a:t>
            </a:r>
            <a:r>
              <a:rPr kumimoji="0" lang="en-US" altLang="zh-CN" sz="2400" dirty="0" err="1"/>
              <a:t>drivedByFemaleDriver</a:t>
            </a:r>
            <a:r>
              <a:rPr kumimoji="0" lang="en-US" altLang="zh-CN" sz="2400" dirty="0"/>
              <a:t>();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400" dirty="0"/>
              <a:t>	public abstract void </a:t>
            </a:r>
            <a:r>
              <a:rPr kumimoji="0" lang="en-US" altLang="zh-CN" sz="2400" dirty="0" err="1"/>
              <a:t>drivedByMaleDriver</a:t>
            </a:r>
            <a:r>
              <a:rPr kumimoji="0" lang="en-US" altLang="zh-CN" sz="2400" dirty="0"/>
              <a:t>();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400" dirty="0"/>
              <a:t>}</a:t>
            </a:r>
          </a:p>
          <a:p>
            <a:pPr fontAlgn="auto">
              <a:spcAft>
                <a:spcPts val="0"/>
              </a:spcAft>
            </a:pPr>
            <a:endParaRPr kumimoji="0"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19973-68C3-D9D6-CF9C-55531A88D72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多态的应用</a:t>
            </a:r>
          </a:p>
        </p:txBody>
      </p:sp>
    </p:spTree>
    <p:extLst>
      <p:ext uri="{BB962C8B-B14F-4D97-AF65-F5344CB8AC3E}">
        <p14:creationId xmlns:p14="http://schemas.microsoft.com/office/powerpoint/2010/main" val="3572085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6FBC-AA79-E464-0BD1-8406982D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DC77CF-41C9-31CD-30F8-D64BE1956F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105501A-C694-D898-9162-D416CA28400F}"/>
              </a:ext>
            </a:extLst>
          </p:cNvPr>
          <p:cNvSpPr txBox="1">
            <a:spLocks noChangeArrowheads="1"/>
          </p:cNvSpPr>
          <p:nvPr/>
        </p:nvSpPr>
        <p:spPr>
          <a:xfrm>
            <a:off x="724508" y="908720"/>
            <a:ext cx="10742984" cy="57606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public class Bus extends Vehicle {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Bus( ) {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void </a:t>
            </a:r>
            <a:r>
              <a:rPr kumimoji="0" lang="en-US" altLang="zh-CN" sz="2200" dirty="0" err="1"/>
              <a:t>drivedByFemaleDriver</a:t>
            </a:r>
            <a:r>
              <a:rPr kumimoji="0" lang="en-US" altLang="zh-CN" sz="2200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{ </a:t>
            </a:r>
            <a:r>
              <a:rPr kumimoji="0" lang="en-US" altLang="zh-CN" sz="2200" dirty="0" err="1"/>
              <a:t>System.out.println</a:t>
            </a:r>
            <a:r>
              <a:rPr kumimoji="0" lang="en-US" altLang="zh-CN" sz="2200" dirty="0"/>
              <a:t>("A female driver drives a bus.");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void </a:t>
            </a:r>
            <a:r>
              <a:rPr kumimoji="0" lang="en-US" altLang="zh-CN" sz="2200" dirty="0" err="1"/>
              <a:t>drivedByMaleDriver</a:t>
            </a:r>
            <a:r>
              <a:rPr kumimoji="0" lang="en-US" altLang="zh-CN" sz="2200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{ </a:t>
            </a:r>
            <a:r>
              <a:rPr kumimoji="0" lang="en-US" altLang="zh-CN" sz="2200" dirty="0" err="1"/>
              <a:t>System.out.println</a:t>
            </a:r>
            <a:r>
              <a:rPr kumimoji="0" lang="en-US" altLang="zh-CN" sz="2200" dirty="0"/>
              <a:t>("A male driver drives a bus.");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public class Car extends Vehicle {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Car( ) {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void </a:t>
            </a:r>
            <a:r>
              <a:rPr kumimoji="0" lang="en-US" altLang="zh-CN" sz="2200" dirty="0" err="1"/>
              <a:t>drivedByFemaleDriver</a:t>
            </a:r>
            <a:r>
              <a:rPr kumimoji="0" lang="en-US" altLang="zh-CN" sz="2200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{ </a:t>
            </a:r>
            <a:r>
              <a:rPr kumimoji="0" lang="en-US" altLang="zh-CN" sz="2200" dirty="0" err="1"/>
              <a:t>System.out.println</a:t>
            </a:r>
            <a:r>
              <a:rPr kumimoji="0" lang="en-US" altLang="zh-CN" sz="2200" dirty="0"/>
              <a:t>("A Female driver drives a car.");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void </a:t>
            </a:r>
            <a:r>
              <a:rPr kumimoji="0" lang="en-US" altLang="zh-CN" sz="2200" dirty="0" err="1"/>
              <a:t>drivedByMaleDriver</a:t>
            </a:r>
            <a:r>
              <a:rPr kumimoji="0" lang="en-US" altLang="zh-CN" sz="2200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{ </a:t>
            </a:r>
            <a:r>
              <a:rPr kumimoji="0" lang="en-US" altLang="zh-CN" sz="2200" dirty="0" err="1"/>
              <a:t>System.out.println</a:t>
            </a:r>
            <a:r>
              <a:rPr kumimoji="0" lang="en-US" altLang="zh-CN" sz="2200" dirty="0"/>
              <a:t>("A Male driver drives a car.");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}</a:t>
            </a:r>
          </a:p>
          <a:p>
            <a:pPr fontAlgn="auto">
              <a:spcAft>
                <a:spcPts val="0"/>
              </a:spcAft>
            </a:pPr>
            <a:endParaRPr kumimoji="0" lang="zh-CN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AEFE2-AA7E-1687-9302-434A12A1DC6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多态的应用</a:t>
            </a:r>
          </a:p>
        </p:txBody>
      </p:sp>
    </p:spTree>
    <p:extLst>
      <p:ext uri="{BB962C8B-B14F-4D97-AF65-F5344CB8AC3E}">
        <p14:creationId xmlns:p14="http://schemas.microsoft.com/office/powerpoint/2010/main" val="34304741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7EE5-4D9F-5E2B-E1EE-EB266BEB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5636ED-0C77-D969-EAC7-D85E8C68A3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5D4BA87-5C0C-87D4-120D-26B7F120D8D8}"/>
              </a:ext>
            </a:extLst>
          </p:cNvPr>
          <p:cNvSpPr txBox="1">
            <a:spLocks noChangeArrowheads="1"/>
          </p:cNvSpPr>
          <p:nvPr/>
        </p:nvSpPr>
        <p:spPr>
          <a:xfrm>
            <a:off x="1055440" y="1052736"/>
            <a:ext cx="9878888" cy="54726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Driver </a:t>
            </a:r>
            <a:r>
              <a:rPr kumimoji="0" lang="zh-CN" altLang="en-US" sz="2200" dirty="0"/>
              <a:t>及其子类</a:t>
            </a:r>
            <a:r>
              <a:rPr kumimoji="0" lang="en-US" altLang="zh-CN" sz="2200" dirty="0" err="1"/>
              <a:t>FemaleDriver</a:t>
            </a:r>
            <a:r>
              <a:rPr kumimoji="0" lang="zh-CN" altLang="en-US" sz="2200" dirty="0"/>
              <a:t>和</a:t>
            </a:r>
            <a:r>
              <a:rPr kumimoji="0" lang="en-US" altLang="zh-CN" sz="2200" dirty="0" err="1"/>
              <a:t>MaleDriver</a:t>
            </a:r>
            <a:endParaRPr kumimoji="0" lang="zh-CN" altLang="en-US" sz="2200" dirty="0"/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public abstract class Driver 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Driver() {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abstract void drives(Vehicle v 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public class </a:t>
            </a:r>
            <a:r>
              <a:rPr kumimoji="0" lang="en-US" altLang="zh-CN" sz="2200" dirty="0" err="1"/>
              <a:t>FemaleDriver</a:t>
            </a:r>
            <a:r>
              <a:rPr kumimoji="0" lang="en-US" altLang="zh-CN" sz="2200" dirty="0"/>
              <a:t> extends Driver{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</a:t>
            </a:r>
            <a:r>
              <a:rPr kumimoji="0" lang="en-US" altLang="zh-CN" sz="2200" dirty="0" err="1"/>
              <a:t>FemaleDriver</a:t>
            </a:r>
            <a:r>
              <a:rPr kumimoji="0" lang="en-US" altLang="zh-CN" sz="2200" dirty="0"/>
              <a:t>( ) {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void drives(Vehicle v){ </a:t>
            </a:r>
            <a:r>
              <a:rPr kumimoji="0" lang="en-US" altLang="zh-CN" sz="2200" dirty="0" err="1"/>
              <a:t>v.drivedByFemaleDriver</a:t>
            </a:r>
            <a:r>
              <a:rPr kumimoji="0" lang="en-US" altLang="zh-CN" sz="2200" dirty="0"/>
              <a:t>();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public class </a:t>
            </a:r>
            <a:r>
              <a:rPr kumimoji="0" lang="en-US" altLang="zh-CN" sz="2200" dirty="0" err="1"/>
              <a:t>MaleDriver</a:t>
            </a:r>
            <a:r>
              <a:rPr kumimoji="0" lang="en-US" altLang="zh-CN" sz="2200" dirty="0"/>
              <a:t> extends Driver{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</a:t>
            </a:r>
            <a:r>
              <a:rPr kumimoji="0" lang="en-US" altLang="zh-CN" sz="2200" dirty="0" err="1"/>
              <a:t>MaleDriver</a:t>
            </a:r>
            <a:r>
              <a:rPr kumimoji="0" lang="en-US" altLang="zh-CN" sz="2200" dirty="0"/>
              <a:t>( ) {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	public void drives(Vehicle v){ </a:t>
            </a:r>
            <a:r>
              <a:rPr kumimoji="0" lang="en-US" altLang="zh-CN" sz="2200" dirty="0" err="1"/>
              <a:t>v.drivedByMaleDriver</a:t>
            </a:r>
            <a:r>
              <a:rPr kumimoji="0" lang="en-US" altLang="zh-CN" sz="2200" dirty="0"/>
              <a:t>();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200" dirty="0"/>
              <a:t>}</a:t>
            </a:r>
          </a:p>
          <a:p>
            <a:pPr marL="457200" lvl="1" indent="0" fontAlgn="auto">
              <a:spcAft>
                <a:spcPts val="0"/>
              </a:spcAft>
              <a:buNone/>
            </a:pPr>
            <a:endParaRPr kumimoji="0" lang="zh-CN" altLang="en-US" sz="2200" dirty="0"/>
          </a:p>
          <a:p>
            <a:pPr lvl="1" fontAlgn="auto">
              <a:spcAft>
                <a:spcPts val="0"/>
              </a:spcAft>
            </a:pPr>
            <a:endParaRPr kumimoji="0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55497-C380-77A2-3E32-D05675A5953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多态的应用</a:t>
            </a:r>
          </a:p>
        </p:txBody>
      </p:sp>
    </p:spTree>
    <p:extLst>
      <p:ext uri="{BB962C8B-B14F-4D97-AF65-F5344CB8AC3E}">
        <p14:creationId xmlns:p14="http://schemas.microsoft.com/office/powerpoint/2010/main" val="905021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EE12-57D5-5C18-9D7B-D6C0FAF4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E5E61C-3987-8BD4-7CED-62E0BB7713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3BCD645-1353-9B32-BBAC-17CF15F4232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785938"/>
            <a:ext cx="10972800" cy="2003102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200" dirty="0"/>
              <a:t>    </a:t>
            </a:r>
            <a:r>
              <a:rPr kumimoji="0" lang="zh-CN" altLang="en-US" sz="2500" dirty="0"/>
              <a:t>这种技术称为二次分发(“</a:t>
            </a:r>
            <a:r>
              <a:rPr kumimoji="0" lang="en-US" altLang="zh-CN" sz="2500" dirty="0"/>
              <a:t>double dispatching”)，</a:t>
            </a:r>
            <a:r>
              <a:rPr kumimoji="0" lang="zh-CN" altLang="en-US" sz="2500" dirty="0"/>
              <a:t>即对输出消息的请求被分发两次</a:t>
            </a:r>
            <a:r>
              <a:rPr kumimoji="0" lang="en-US" altLang="zh-CN" sz="2500" dirty="0"/>
              <a:t>:</a:t>
            </a:r>
            <a:r>
              <a:rPr kumimoji="0" lang="en-US" altLang="zh-CN" sz="2500" dirty="0">
                <a:sym typeface="Wingdings" panose="05000000000000000000" pitchFamily="2" charset="2"/>
              </a:rPr>
              <a:t>(1)</a:t>
            </a:r>
            <a:r>
              <a:rPr kumimoji="0" lang="zh-CN" altLang="en-US" sz="2500" dirty="0"/>
              <a:t>根据驾驶员的类型被发送给一个类；</a:t>
            </a:r>
            <a:r>
              <a:rPr kumimoji="0" lang="en-US" altLang="zh-CN" sz="2500" dirty="0"/>
              <a:t>(2)</a:t>
            </a:r>
            <a:r>
              <a:rPr kumimoji="0" lang="zh-CN" altLang="en-US" sz="2500" dirty="0"/>
              <a:t>根据交通工具的类型被发送给另一个类。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5421C0-1362-ABAE-4740-802C2BF1471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27848" y="45198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多态的应用</a:t>
            </a:r>
          </a:p>
        </p:txBody>
      </p:sp>
    </p:spTree>
    <p:extLst>
      <p:ext uri="{BB962C8B-B14F-4D97-AF65-F5344CB8AC3E}">
        <p14:creationId xmlns:p14="http://schemas.microsoft.com/office/powerpoint/2010/main" val="29033199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84784"/>
            <a:ext cx="10972800" cy="2087810"/>
          </a:xfrm>
          <a:prstGeom prst="rect">
            <a:avLst/>
          </a:prstGeo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600" dirty="0"/>
              <a:t>构造方法与其他方法是有区别的；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600" dirty="0"/>
              <a:t>构造方法</a:t>
            </a:r>
            <a:r>
              <a:rPr lang="zh-CN" altLang="en-US" sz="2600" dirty="0">
                <a:solidFill>
                  <a:srgbClr val="FF0000"/>
                </a:solidFill>
                <a:highlight>
                  <a:srgbClr val="FFFF00"/>
                </a:highlight>
              </a:rPr>
              <a:t>并不具有多态性</a:t>
            </a:r>
            <a:r>
              <a:rPr lang="zh-CN" altLang="en-US" sz="2600" dirty="0"/>
              <a:t>，但仍然有必要理解在构造方法中调用多态方法会发生什么。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95050" y="1588"/>
            <a:ext cx="996950" cy="365125"/>
          </a:xfrm>
        </p:spPr>
        <p:txBody>
          <a:bodyPr/>
          <a:lstStyle/>
          <a:p>
            <a:pPr>
              <a:defRPr/>
            </a:pPr>
            <a:fld id="{78827FB0-DD24-45F5-9A68-B95CF13CD377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BA236EF-26B4-E460-9BB0-6220D206F67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63752" y="74325"/>
            <a:ext cx="396044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4.5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构造方法与多态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7408" y="1700808"/>
            <a:ext cx="10972800" cy="2412057"/>
          </a:xfrm>
          <a:prstGeom prst="rect">
            <a:avLst/>
          </a:prstGeom>
        </p:spPr>
        <p:txBody>
          <a:bodyPr lIns="92075" tIns="46038" rIns="92075" bIns="46038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500" dirty="0"/>
              <a:t>首先调用超类的构造方法，这个步骤会不断重复下去，首先被执行的是最远超类的构造方法；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500" dirty="0"/>
              <a:t>按声明顺序调用成员初始化模块；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500" dirty="0"/>
              <a:t>执行当前子类对象的构造方法体其他语句。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A5D5ACE9-158D-E66F-5161-05932673B64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63752" y="74325"/>
            <a:ext cx="396044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4.5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构造方法与多态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68C610-F5A7-176A-82B0-C8C6D137BAF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38407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构造方法的调用顺序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24D0C-FB58-2D79-2636-358151C45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260B3-ADB9-E944-8EC9-0D6D0FF55651}"/>
              </a:ext>
            </a:extLst>
          </p:cNvPr>
          <p:cNvSpPr txBox="1">
            <a:spLocks noChangeArrowheads="1"/>
          </p:cNvSpPr>
          <p:nvPr/>
        </p:nvSpPr>
        <p:spPr>
          <a:xfrm>
            <a:off x="695400" y="1489465"/>
            <a:ext cx="10972800" cy="53285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400" dirty="0"/>
              <a:t>构建一个点类</a:t>
            </a:r>
            <a:r>
              <a:rPr kumimoji="0" lang="en-US" altLang="zh-CN" sz="2400" dirty="0"/>
              <a:t>Point，</a:t>
            </a:r>
            <a:r>
              <a:rPr kumimoji="0" lang="zh-CN" altLang="en-US" sz="2400" dirty="0"/>
              <a:t>一个球类</a:t>
            </a:r>
            <a:r>
              <a:rPr kumimoji="0" lang="en-US" altLang="zh-CN" sz="2400" dirty="0"/>
              <a:t>Ball，</a:t>
            </a:r>
            <a:r>
              <a:rPr kumimoji="0" lang="zh-CN" altLang="en-US" sz="2400" dirty="0"/>
              <a:t>一个运动的球类</a:t>
            </a:r>
            <a:r>
              <a:rPr kumimoji="0" lang="en-US" altLang="zh-CN" sz="2400" dirty="0" err="1"/>
              <a:t>MovingBall</a:t>
            </a:r>
            <a:r>
              <a:rPr kumimoji="0" lang="zh-CN" altLang="en-US" sz="2400" dirty="0"/>
              <a:t>继承自</a:t>
            </a:r>
            <a:r>
              <a:rPr kumimoji="0" lang="en-US" altLang="zh-CN" sz="2400" dirty="0"/>
              <a:t>Ball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public class Point 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private double </a:t>
            </a:r>
            <a:r>
              <a:rPr kumimoji="0" lang="en-US" altLang="zh-CN" sz="2000" dirty="0" err="1"/>
              <a:t>xCoordinate</a:t>
            </a:r>
            <a:r>
              <a:rPr kumimoji="0" lang="en-US" altLang="zh-CN" sz="2000" dirty="0"/>
              <a:t>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private double </a:t>
            </a:r>
            <a:r>
              <a:rPr kumimoji="0" lang="en-US" altLang="zh-CN" sz="2000" dirty="0" err="1"/>
              <a:t>yCoordinate</a:t>
            </a:r>
            <a:r>
              <a:rPr kumimoji="0" lang="en-US" altLang="zh-CN" sz="2000" dirty="0"/>
              <a:t>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public Point ( ) { 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public Point(double x, double y) 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  </a:t>
            </a:r>
            <a:r>
              <a:rPr kumimoji="0" lang="en-US" altLang="zh-CN" sz="2000" dirty="0" err="1"/>
              <a:t>xCoordinate</a:t>
            </a:r>
            <a:r>
              <a:rPr kumimoji="0" lang="en-US" altLang="zh-CN" sz="2000" dirty="0"/>
              <a:t> = x;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  </a:t>
            </a:r>
            <a:r>
              <a:rPr kumimoji="0" lang="en-US" altLang="zh-CN" sz="2000" dirty="0" err="1"/>
              <a:t>yCoordinate</a:t>
            </a:r>
            <a:r>
              <a:rPr kumimoji="0" lang="en-US" altLang="zh-CN" sz="2000" dirty="0"/>
              <a:t> = y;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public String </a:t>
            </a:r>
            <a:r>
              <a:rPr kumimoji="0" lang="en-US" altLang="zh-CN" sz="2000" dirty="0" err="1"/>
              <a:t>toString</a:t>
            </a:r>
            <a:r>
              <a:rPr kumimoji="0" lang="en-US" altLang="zh-CN" sz="2000" dirty="0"/>
              <a:t>( )	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  return "(" + </a:t>
            </a:r>
            <a:r>
              <a:rPr kumimoji="0" lang="en-US" altLang="zh-CN" sz="2000" dirty="0" err="1"/>
              <a:t>Double.toString</a:t>
            </a:r>
            <a:r>
              <a:rPr kumimoji="0" lang="en-US" altLang="zh-CN" sz="2000" dirty="0"/>
              <a:t>(</a:t>
            </a:r>
            <a:r>
              <a:rPr kumimoji="0" lang="en-US" altLang="zh-CN" sz="2000" dirty="0" err="1"/>
              <a:t>xCoordinate</a:t>
            </a:r>
            <a:r>
              <a:rPr kumimoji="0" lang="en-US" altLang="zh-CN" sz="2000" dirty="0"/>
              <a:t>) + ", "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     + </a:t>
            </a:r>
            <a:r>
              <a:rPr kumimoji="0" lang="en-US" altLang="zh-CN" sz="2000" dirty="0" err="1"/>
              <a:t>Double.toString</a:t>
            </a:r>
            <a:r>
              <a:rPr kumimoji="0" lang="en-US" altLang="zh-CN" sz="2000" dirty="0"/>
              <a:t>(</a:t>
            </a:r>
            <a:r>
              <a:rPr kumimoji="0" lang="en-US" altLang="zh-CN" sz="2000" dirty="0" err="1"/>
              <a:t>yCoordinate</a:t>
            </a:r>
            <a:r>
              <a:rPr kumimoji="0" lang="en-US" altLang="zh-CN" sz="2000" dirty="0"/>
              <a:t>) + ")";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35BB5635-EFCB-165A-3286-A74FB242251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63752" y="74325"/>
            <a:ext cx="396044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4.5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构造方法与多态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6A2289-1A2B-9DAA-5E7B-B3C2A66DDC8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38407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构造方法的调用顺序</a:t>
            </a:r>
          </a:p>
        </p:txBody>
      </p:sp>
    </p:spTree>
    <p:extLst>
      <p:ext uri="{BB962C8B-B14F-4D97-AF65-F5344CB8AC3E}">
        <p14:creationId xmlns:p14="http://schemas.microsoft.com/office/powerpoint/2010/main" val="6816951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852F-55D2-D341-5271-21038197B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34A7BA6-09EB-220D-7682-9D04ED7803E2}"/>
              </a:ext>
            </a:extLst>
          </p:cNvPr>
          <p:cNvSpPr txBox="1">
            <a:spLocks noChangeArrowheads="1"/>
          </p:cNvSpPr>
          <p:nvPr/>
        </p:nvSpPr>
        <p:spPr>
          <a:xfrm>
            <a:off x="623392" y="836712"/>
            <a:ext cx="11233248" cy="59046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public class Ball {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private Point center;     //</a:t>
            </a:r>
            <a:r>
              <a:rPr kumimoji="0" lang="zh-CN" altLang="en-US" sz="1800" dirty="0"/>
              <a:t>中心点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private double radius;    //</a:t>
            </a:r>
            <a:r>
              <a:rPr kumimoji="0" lang="zh-CN" altLang="en-US" sz="1800" dirty="0"/>
              <a:t>半径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private String </a:t>
            </a:r>
            <a:r>
              <a:rPr kumimoji="0" lang="en-US" altLang="zh-CN" sz="1800" dirty="0" err="1"/>
              <a:t>colour</a:t>
            </a:r>
            <a:r>
              <a:rPr kumimoji="0" lang="en-US" altLang="zh-CN" sz="1800" dirty="0"/>
              <a:t>;    //</a:t>
            </a:r>
            <a:r>
              <a:rPr kumimoji="0" lang="zh-CN" altLang="en-US" sz="1800" dirty="0"/>
              <a:t>颜色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public Ball( ) { }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public Ball(double </a:t>
            </a:r>
            <a:r>
              <a:rPr kumimoji="0" lang="en-US" altLang="zh-CN" sz="1800" dirty="0" err="1"/>
              <a:t>xValue</a:t>
            </a:r>
            <a:r>
              <a:rPr kumimoji="0" lang="en-US" altLang="zh-CN" sz="1800" dirty="0"/>
              <a:t>, double </a:t>
            </a:r>
            <a:r>
              <a:rPr kumimoji="0" lang="en-US" altLang="zh-CN" sz="1800" dirty="0" err="1"/>
              <a:t>yValue</a:t>
            </a:r>
            <a:r>
              <a:rPr kumimoji="0" lang="en-US" altLang="zh-CN" sz="1800" dirty="0"/>
              <a:t>, double r) </a:t>
            </a:r>
            <a:r>
              <a:rPr kumimoji="0" lang="zh-CN" altLang="en-US" sz="1800" dirty="0"/>
              <a:t>{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    center = new Point(</a:t>
            </a:r>
            <a:r>
              <a:rPr kumimoji="0" lang="en-US" altLang="zh-CN" sz="1800" dirty="0" err="1"/>
              <a:t>xValue</a:t>
            </a:r>
            <a:r>
              <a:rPr kumimoji="0" lang="en-US" altLang="zh-CN" sz="1800" dirty="0"/>
              <a:t>, </a:t>
            </a:r>
            <a:r>
              <a:rPr kumimoji="0" lang="en-US" altLang="zh-CN" sz="1800" dirty="0" err="1"/>
              <a:t>yValue</a:t>
            </a:r>
            <a:r>
              <a:rPr kumimoji="0" lang="en-US" altLang="zh-CN" sz="1800" dirty="0"/>
              <a:t>); //</a:t>
            </a:r>
            <a:r>
              <a:rPr kumimoji="0" lang="zh-CN" altLang="en-US" sz="1800" dirty="0"/>
              <a:t>调用</a:t>
            </a:r>
            <a:r>
              <a:rPr kumimoji="0" lang="en-US" altLang="zh-CN" sz="1800" dirty="0"/>
              <a:t>Point</a:t>
            </a:r>
            <a:r>
              <a:rPr kumimoji="0" lang="zh-CN" altLang="en-US" sz="1800" dirty="0"/>
              <a:t>中的构造方法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    radius = r;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}		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public Ball(double </a:t>
            </a:r>
            <a:r>
              <a:rPr kumimoji="0" lang="en-US" altLang="zh-CN" sz="1800" dirty="0" err="1"/>
              <a:t>xValue</a:t>
            </a:r>
            <a:r>
              <a:rPr kumimoji="0" lang="en-US" altLang="zh-CN" sz="1800" dirty="0"/>
              <a:t>, double </a:t>
            </a:r>
            <a:r>
              <a:rPr kumimoji="0" lang="en-US" altLang="zh-CN" sz="1800" dirty="0" err="1"/>
              <a:t>yValue</a:t>
            </a:r>
            <a:r>
              <a:rPr kumimoji="0" lang="en-US" altLang="zh-CN" sz="1800" dirty="0"/>
              <a:t>, double r, String c) </a:t>
            </a:r>
            <a:r>
              <a:rPr kumimoji="0" lang="zh-CN" altLang="en-US" sz="1800" dirty="0"/>
              <a:t>{</a:t>
            </a:r>
            <a:endParaRPr kumimoji="0" lang="en-US" altLang="zh-CN" sz="1800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    this(</a:t>
            </a:r>
            <a:r>
              <a:rPr kumimoji="0" lang="en-US" altLang="zh-CN" sz="1800" dirty="0" err="1"/>
              <a:t>xValue</a:t>
            </a:r>
            <a:r>
              <a:rPr kumimoji="0" lang="en-US" altLang="zh-CN" sz="1800" dirty="0"/>
              <a:t>, </a:t>
            </a:r>
            <a:r>
              <a:rPr kumimoji="0" lang="en-US" altLang="zh-CN" sz="1800" dirty="0" err="1"/>
              <a:t>yValue</a:t>
            </a:r>
            <a:r>
              <a:rPr kumimoji="0" lang="en-US" altLang="zh-CN" sz="1800" dirty="0"/>
              <a:t>, r); // </a:t>
            </a:r>
            <a:r>
              <a:rPr kumimoji="0" lang="zh-CN" altLang="en-US" sz="1800" dirty="0"/>
              <a:t>调用三个参数的构造方法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    </a:t>
            </a:r>
            <a:r>
              <a:rPr kumimoji="0" lang="en-US" altLang="zh-CN" sz="1800" dirty="0" err="1"/>
              <a:t>colour</a:t>
            </a:r>
            <a:r>
              <a:rPr kumimoji="0" lang="en-US" altLang="zh-CN" sz="1800" dirty="0"/>
              <a:t> = c;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public String </a:t>
            </a:r>
            <a:r>
              <a:rPr kumimoji="0" lang="en-US" altLang="zh-CN" sz="1800" dirty="0" err="1"/>
              <a:t>toString</a:t>
            </a:r>
            <a:r>
              <a:rPr kumimoji="0" lang="en-US" altLang="zh-CN" sz="1800" dirty="0"/>
              <a:t>( ) {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    return "A ball with center " + </a:t>
            </a:r>
            <a:r>
              <a:rPr kumimoji="0" lang="en-US" altLang="zh-CN" sz="1800" dirty="0" err="1"/>
              <a:t>center.toString</a:t>
            </a:r>
            <a:r>
              <a:rPr kumimoji="0" lang="en-US" altLang="zh-CN" sz="1800" dirty="0"/>
              <a:t>( ) + ", radius " + </a:t>
            </a:r>
            <a:r>
              <a:rPr kumimoji="0" lang="en-US" altLang="zh-CN" sz="1800" dirty="0" err="1"/>
              <a:t>Double.toString</a:t>
            </a:r>
            <a:r>
              <a:rPr kumimoji="0" lang="en-US" altLang="zh-CN" sz="1800" dirty="0"/>
              <a:t>(radius) + ", </a:t>
            </a:r>
            <a:r>
              <a:rPr kumimoji="0" lang="en-US" altLang="zh-CN" sz="1800" dirty="0" err="1"/>
              <a:t>colour</a:t>
            </a:r>
            <a:r>
              <a:rPr kumimoji="0" lang="en-US" altLang="zh-CN" sz="1800" dirty="0"/>
              <a:t> " + </a:t>
            </a:r>
            <a:r>
              <a:rPr kumimoji="0" lang="en-US" altLang="zh-CN" sz="1800" dirty="0" err="1"/>
              <a:t>colour</a:t>
            </a:r>
            <a:r>
              <a:rPr kumimoji="0" lang="en-US" altLang="zh-CN" sz="1800" dirty="0"/>
              <a:t>;	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   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1800" dirty="0"/>
              <a:t>}</a:t>
            </a:r>
            <a:endParaRPr kumimoji="0" lang="zh-CN" altLang="en-US" sz="18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D34AA7B-ED81-809C-3346-E93DBB54291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63752" y="74325"/>
            <a:ext cx="396044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4.5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构造方法与多态</a:t>
            </a:r>
          </a:p>
        </p:txBody>
      </p:sp>
    </p:spTree>
    <p:extLst>
      <p:ext uri="{BB962C8B-B14F-4D97-AF65-F5344CB8AC3E}">
        <p14:creationId xmlns:p14="http://schemas.microsoft.com/office/powerpoint/2010/main" val="42599041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7CD2-7CAF-98BF-8BE5-B45E55D5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7">
            <a:extLst>
              <a:ext uri="{FF2B5EF4-FFF2-40B4-BE49-F238E27FC236}">
                <a16:creationId xmlns:a16="http://schemas.microsoft.com/office/drawing/2014/main" id="{277ACFBE-A458-6E5F-ABA0-3FD6D0CCFA4E}"/>
              </a:ext>
            </a:extLst>
          </p:cNvPr>
          <p:cNvSpPr txBox="1">
            <a:spLocks noChangeArrowheads="1"/>
          </p:cNvSpPr>
          <p:nvPr/>
        </p:nvSpPr>
        <p:spPr>
          <a:xfrm>
            <a:off x="335360" y="1680545"/>
            <a:ext cx="11665296" cy="49685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public class </a:t>
            </a:r>
            <a:r>
              <a:rPr kumimoji="0" lang="en-US" altLang="zh-CN" sz="2000" dirty="0" err="1"/>
              <a:t>MovingBall</a:t>
            </a:r>
            <a:r>
              <a:rPr kumimoji="0" lang="en-US" altLang="zh-CN" sz="2000" dirty="0"/>
              <a:t> extends Ball {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private double speed;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public </a:t>
            </a:r>
            <a:r>
              <a:rPr kumimoji="0" lang="en-US" altLang="zh-CN" sz="2000" dirty="0" err="1"/>
              <a:t>MovingBall</a:t>
            </a:r>
            <a:r>
              <a:rPr kumimoji="0" lang="en-US" altLang="zh-CN" sz="2000" dirty="0"/>
              <a:t>( ) {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public </a:t>
            </a:r>
            <a:r>
              <a:rPr kumimoji="0" lang="en-US" altLang="zh-CN" sz="2000" dirty="0" err="1"/>
              <a:t>MovingBall</a:t>
            </a:r>
            <a:r>
              <a:rPr kumimoji="0" lang="en-US" altLang="zh-CN" sz="2000" dirty="0"/>
              <a:t>(double </a:t>
            </a:r>
            <a:r>
              <a:rPr kumimoji="0" lang="en-US" altLang="zh-CN" sz="2000" dirty="0" err="1"/>
              <a:t>xValue</a:t>
            </a:r>
            <a:r>
              <a:rPr kumimoji="0" lang="en-US" altLang="zh-CN" sz="2000" dirty="0"/>
              <a:t>, double </a:t>
            </a:r>
            <a:r>
              <a:rPr kumimoji="0" lang="en-US" altLang="zh-CN" sz="2000" dirty="0" err="1"/>
              <a:t>yValue</a:t>
            </a:r>
            <a:r>
              <a:rPr kumimoji="0" lang="en-US" altLang="zh-CN" sz="2000" dirty="0"/>
              <a:t>, double r, String c, double s) {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  super(</a:t>
            </a:r>
            <a:r>
              <a:rPr kumimoji="0" lang="en-US" altLang="zh-CN" sz="2000" dirty="0" err="1"/>
              <a:t>xValue</a:t>
            </a:r>
            <a:r>
              <a:rPr kumimoji="0" lang="en-US" altLang="zh-CN" sz="2000" dirty="0"/>
              <a:t>, </a:t>
            </a:r>
            <a:r>
              <a:rPr kumimoji="0" lang="en-US" altLang="zh-CN" sz="2000" dirty="0" err="1"/>
              <a:t>yValue</a:t>
            </a:r>
            <a:r>
              <a:rPr kumimoji="0" lang="en-US" altLang="zh-CN" sz="2000" dirty="0"/>
              <a:t>, r, c);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000" dirty="0"/>
              <a:t>	  </a:t>
            </a:r>
            <a:r>
              <a:rPr kumimoji="0" lang="en-US" altLang="zh-CN" sz="2000" dirty="0"/>
              <a:t>speed = s;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public String </a:t>
            </a:r>
            <a:r>
              <a:rPr kumimoji="0" lang="en-US" altLang="zh-CN" sz="2000" dirty="0" err="1"/>
              <a:t>toString</a:t>
            </a:r>
            <a:r>
              <a:rPr kumimoji="0" lang="en-US" altLang="zh-CN" sz="2000" dirty="0"/>
              <a:t>( ) {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    return </a:t>
            </a:r>
            <a:r>
              <a:rPr kumimoji="0" lang="en-US" altLang="zh-CN" sz="2000" dirty="0" err="1"/>
              <a:t>super.toString</a:t>
            </a:r>
            <a:r>
              <a:rPr kumimoji="0" lang="en-US" altLang="zh-CN" sz="2000" dirty="0"/>
              <a:t>( ) + ", speed " + </a:t>
            </a:r>
            <a:r>
              <a:rPr kumimoji="0" lang="en-US" altLang="zh-CN" sz="2000" dirty="0" err="1"/>
              <a:t>Double.toString</a:t>
            </a:r>
            <a:r>
              <a:rPr kumimoji="0" lang="en-US" altLang="zh-CN" sz="2000" dirty="0"/>
              <a:t>(speed);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    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000" dirty="0"/>
              <a:t>子类不能直接存取超类中声明的私有数据成员，</a:t>
            </a:r>
            <a:r>
              <a:rPr kumimoji="0" lang="en-US" altLang="zh-CN" sz="2000" dirty="0" err="1"/>
              <a:t>super.toString</a:t>
            </a:r>
            <a:r>
              <a:rPr kumimoji="0" lang="zh-CN" altLang="en-US" sz="2000" dirty="0"/>
              <a:t>调用超类</a:t>
            </a:r>
            <a:r>
              <a:rPr kumimoji="0" lang="en-US" altLang="zh-CN" sz="2000" dirty="0"/>
              <a:t>Ball</a:t>
            </a:r>
            <a:r>
              <a:rPr kumimoji="0" lang="zh-CN" altLang="en-US" sz="2000" dirty="0"/>
              <a:t>的</a:t>
            </a:r>
            <a:r>
              <a:rPr kumimoji="0" lang="en-US" altLang="zh-CN" sz="2000" dirty="0" err="1"/>
              <a:t>toString</a:t>
            </a:r>
            <a:r>
              <a:rPr kumimoji="0" lang="zh-CN" altLang="en-US" sz="2000" dirty="0"/>
              <a:t>方法输出类</a:t>
            </a:r>
            <a:r>
              <a:rPr kumimoji="0" lang="en-US" altLang="zh-CN" sz="2000" dirty="0"/>
              <a:t>Ball</a:t>
            </a:r>
            <a:r>
              <a:rPr kumimoji="0" lang="zh-CN" altLang="en-US" sz="2000" dirty="0"/>
              <a:t>中声明的属性值</a:t>
            </a:r>
            <a:endParaRPr kumimoji="0" lang="en-US" altLang="zh-CN" sz="20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B8DD55C-9E53-D697-AB14-149554F932C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63752" y="74325"/>
            <a:ext cx="396044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4.5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构造方法与多态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A69A53-4ADE-E247-60C5-C48516D7E28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38407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构造方法的调用顺序</a:t>
            </a:r>
          </a:p>
        </p:txBody>
      </p:sp>
    </p:spTree>
    <p:extLst>
      <p:ext uri="{BB962C8B-B14F-4D97-AF65-F5344CB8AC3E}">
        <p14:creationId xmlns:p14="http://schemas.microsoft.com/office/powerpoint/2010/main" val="19430820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CA85-3152-E5CA-3555-3AD1F156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7">
            <a:extLst>
              <a:ext uri="{FF2B5EF4-FFF2-40B4-BE49-F238E27FC236}">
                <a16:creationId xmlns:a16="http://schemas.microsoft.com/office/drawing/2014/main" id="{E0505D5E-D9E5-FB43-CFED-73D6E98529D6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604873"/>
            <a:ext cx="10972800" cy="39123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public class Tester{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public static void main(String </a:t>
            </a:r>
            <a:r>
              <a:rPr kumimoji="0" lang="en-US" altLang="zh-CN" sz="2000" dirty="0" err="1"/>
              <a:t>args</a:t>
            </a:r>
            <a:r>
              <a:rPr kumimoji="0" lang="en-US" altLang="zh-CN" sz="2000" dirty="0"/>
              <a:t>[]){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dirty="0" err="1"/>
              <a:t>MovingBall</a:t>
            </a:r>
            <a:r>
              <a:rPr kumimoji="0" lang="en-US" altLang="zh-CN" sz="2000" dirty="0"/>
              <a:t> mb = new </a:t>
            </a:r>
            <a:r>
              <a:rPr kumimoji="0" lang="en-US" altLang="zh-CN" sz="2000" dirty="0" err="1"/>
              <a:t>MovingBall</a:t>
            </a:r>
            <a:r>
              <a:rPr kumimoji="0" lang="en-US" altLang="zh-CN" sz="2000" dirty="0"/>
              <a:t>(10,20,40,"green",25);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dirty="0" err="1"/>
              <a:t>System.out.println</a:t>
            </a:r>
            <a:r>
              <a:rPr kumimoji="0" lang="en-US" altLang="zh-CN" sz="2000" dirty="0"/>
              <a:t>(mb);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	}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}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400" dirty="0"/>
              <a:t>运行结果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A ball with center (10.0, 20.0), radius 40.0, </a:t>
            </a:r>
            <a:r>
              <a:rPr kumimoji="0" lang="en-US" altLang="zh-CN" sz="2000" dirty="0" err="1"/>
              <a:t>colour</a:t>
            </a:r>
            <a:r>
              <a:rPr kumimoji="0" lang="en-US" altLang="zh-CN" sz="2000" dirty="0"/>
              <a:t> green, </a:t>
            </a:r>
          </a:p>
          <a:p>
            <a:pPr marL="457200" lvl="1" indent="0" fontAlgn="auto">
              <a:spcAft>
                <a:spcPts val="0"/>
              </a:spcAft>
              <a:buNone/>
            </a:pPr>
            <a:r>
              <a:rPr kumimoji="0" lang="en-US" altLang="zh-CN" sz="2000" dirty="0"/>
              <a:t>speed 25.0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F81B073-0375-06E4-4C29-73F2C1F20FA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63752" y="74325"/>
            <a:ext cx="396044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4.5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构造方法与多态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42E20F-3EAE-40E5-8850-0D95A3CCEA9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38407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构造方法的调用顺序</a:t>
            </a:r>
          </a:p>
        </p:txBody>
      </p:sp>
    </p:spTree>
    <p:extLst>
      <p:ext uri="{BB962C8B-B14F-4D97-AF65-F5344CB8AC3E}">
        <p14:creationId xmlns:p14="http://schemas.microsoft.com/office/powerpoint/2010/main" val="33215844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090B-E57B-F58E-9E84-3CF27C4E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769055B-F4DD-8A4E-D014-E4274E03513D}"/>
              </a:ext>
            </a:extLst>
          </p:cNvPr>
          <p:cNvSpPr txBox="1">
            <a:spLocks noChangeArrowheads="1"/>
          </p:cNvSpPr>
          <p:nvPr/>
        </p:nvSpPr>
        <p:spPr>
          <a:xfrm>
            <a:off x="695400" y="1700808"/>
            <a:ext cx="11161240" cy="288032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zh-CN" altLang="en-US" sz="2400" dirty="0"/>
              <a:t>构造方法调用的顺序为</a:t>
            </a:r>
          </a:p>
          <a:p>
            <a:pPr lvl="1" fontAlgn="auto">
              <a:lnSpc>
                <a:spcPct val="120000"/>
              </a:lnSpc>
              <a:spcBef>
                <a:spcPct val="6000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 err="1">
                <a:solidFill>
                  <a:schemeClr val="hlink"/>
                </a:solidFill>
              </a:rPr>
              <a:t>MovingBall</a:t>
            </a:r>
            <a:r>
              <a:rPr kumimoji="0" lang="en-US" altLang="zh-CN" sz="2400" dirty="0"/>
              <a:t>(double </a:t>
            </a:r>
            <a:r>
              <a:rPr kumimoji="0" lang="en-US" altLang="zh-CN" sz="2400" dirty="0" err="1"/>
              <a:t>xValue</a:t>
            </a:r>
            <a:r>
              <a:rPr kumimoji="0" lang="en-US" altLang="zh-CN" sz="2400" dirty="0"/>
              <a:t>, double </a:t>
            </a:r>
            <a:r>
              <a:rPr kumimoji="0" lang="en-US" altLang="zh-CN" sz="2400" dirty="0" err="1"/>
              <a:t>yValue</a:t>
            </a:r>
            <a:r>
              <a:rPr kumimoji="0" lang="en-US" altLang="zh-CN" sz="2400" dirty="0"/>
              <a:t>, double r, String c, double s)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>
                <a:solidFill>
                  <a:schemeClr val="hlink"/>
                </a:solidFill>
              </a:rPr>
              <a:t>Ball</a:t>
            </a:r>
            <a:r>
              <a:rPr kumimoji="0" lang="en-US" altLang="zh-CN" sz="2400" dirty="0"/>
              <a:t>(double </a:t>
            </a:r>
            <a:r>
              <a:rPr kumimoji="0" lang="en-US" altLang="zh-CN" sz="2400" dirty="0" err="1"/>
              <a:t>xValue</a:t>
            </a:r>
            <a:r>
              <a:rPr kumimoji="0" lang="en-US" altLang="zh-CN" sz="2400" dirty="0"/>
              <a:t>, double </a:t>
            </a:r>
            <a:r>
              <a:rPr kumimoji="0" lang="en-US" altLang="zh-CN" sz="2400" dirty="0" err="1"/>
              <a:t>yValue</a:t>
            </a:r>
            <a:r>
              <a:rPr kumimoji="0" lang="en-US" altLang="zh-CN" sz="2400" dirty="0"/>
              <a:t>, double r, String c)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>
                <a:solidFill>
                  <a:schemeClr val="hlink"/>
                </a:solidFill>
              </a:rPr>
              <a:t>Ball</a:t>
            </a:r>
            <a:r>
              <a:rPr kumimoji="0" lang="en-US" altLang="zh-CN" sz="2400" dirty="0"/>
              <a:t>(double </a:t>
            </a:r>
            <a:r>
              <a:rPr kumimoji="0" lang="en-US" altLang="zh-CN" sz="2400" dirty="0" err="1"/>
              <a:t>xValue</a:t>
            </a:r>
            <a:r>
              <a:rPr kumimoji="0" lang="en-US" altLang="zh-CN" sz="2400" dirty="0"/>
              <a:t>, double </a:t>
            </a:r>
            <a:r>
              <a:rPr kumimoji="0" lang="en-US" altLang="zh-CN" sz="2400" dirty="0" err="1"/>
              <a:t>yValue</a:t>
            </a:r>
            <a:r>
              <a:rPr kumimoji="0" lang="en-US" altLang="zh-CN" sz="2400" dirty="0"/>
              <a:t>, double r)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400" dirty="0">
                <a:solidFill>
                  <a:schemeClr val="hlink"/>
                </a:solidFill>
              </a:rPr>
              <a:t>Point</a:t>
            </a:r>
            <a:r>
              <a:rPr kumimoji="0" lang="en-US" altLang="zh-CN" sz="2400" dirty="0"/>
              <a:t>(double x, double y)</a:t>
            </a:r>
            <a:endParaRPr kumimoji="0" lang="zh-CN" altLang="en-US" sz="24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A69EF0A-9D85-D6F6-8D3B-6B9AB9B4036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63752" y="74325"/>
            <a:ext cx="396044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4.5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构造方法与多态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3D9507-C72B-2409-DCAD-E596813E993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38407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构造方法的调用顺序</a:t>
            </a:r>
          </a:p>
        </p:txBody>
      </p:sp>
    </p:spTree>
    <p:extLst>
      <p:ext uri="{BB962C8B-B14F-4D97-AF65-F5344CB8AC3E}">
        <p14:creationId xmlns:p14="http://schemas.microsoft.com/office/powerpoint/2010/main" val="28960361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ts val="3000"/>
          </a:lnSpc>
          <a:spcBef>
            <a:spcPts val="0"/>
          </a:spcBef>
          <a:defRPr sz="2000" smtClean="0">
            <a:solidFill>
              <a:srgbClr val="0000FF"/>
            </a:solidFill>
            <a:latin typeface="仿宋" panose="02010609060101010101" pitchFamily="49" charset="-122"/>
            <a:ea typeface="仿宋" panose="02010609060101010101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Settings\zheng\My Documents\MyCourse\java1.ppt</Template>
  <TotalTime>17327</TotalTime>
  <Words>5254</Words>
  <Application>Microsoft Office PowerPoint</Application>
  <PresentationFormat>宽屏</PresentationFormat>
  <Paragraphs>716</Paragraphs>
  <Slides>52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2" baseType="lpstr">
      <vt:lpstr>楷体</vt:lpstr>
      <vt:lpstr>宋体</vt:lpstr>
      <vt:lpstr>Arial</vt:lpstr>
      <vt:lpstr>Georgia</vt:lpstr>
      <vt:lpstr>Times New Roman</vt:lpstr>
      <vt:lpstr>Wingdings</vt:lpstr>
      <vt:lpstr>Wingdings 2</vt:lpstr>
      <vt:lpstr>1_Office 主题</vt:lpstr>
      <vt:lpstr>Visio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CARET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VI. Polymorphism</dc:title>
  <dc:creator>Zheng Li</dc:creator>
  <cp:lastModifiedBy>pan gao</cp:lastModifiedBy>
  <cp:revision>730</cp:revision>
  <dcterms:created xsi:type="dcterms:W3CDTF">2001-10-28T17:17:58Z</dcterms:created>
  <dcterms:modified xsi:type="dcterms:W3CDTF">2026-05-12T06:28:49Z</dcterms:modified>
</cp:coreProperties>
</file>