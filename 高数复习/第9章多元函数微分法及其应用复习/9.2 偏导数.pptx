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7" r:id="rId3"/>
    <p:sldId id="922" r:id="rId4"/>
    <p:sldId id="664" r:id="rId5"/>
    <p:sldId id="817" r:id="rId6"/>
    <p:sldId id="778" r:id="rId7"/>
    <p:sldId id="892" r:id="rId9"/>
    <p:sldId id="893" r:id="rId10"/>
    <p:sldId id="894" r:id="rId11"/>
    <p:sldId id="895" r:id="rId12"/>
    <p:sldId id="897" r:id="rId13"/>
    <p:sldId id="898" r:id="rId14"/>
    <p:sldId id="899" r:id="rId15"/>
    <p:sldId id="900" r:id="rId16"/>
    <p:sldId id="901" r:id="rId17"/>
    <p:sldId id="902" r:id="rId18"/>
    <p:sldId id="903" r:id="rId19"/>
    <p:sldId id="904" r:id="rId20"/>
    <p:sldId id="905" r:id="rId21"/>
    <p:sldId id="896" r:id="rId22"/>
    <p:sldId id="906" r:id="rId23"/>
    <p:sldId id="908" r:id="rId24"/>
    <p:sldId id="907" r:id="rId25"/>
    <p:sldId id="909" r:id="rId26"/>
    <p:sldId id="910" r:id="rId27"/>
    <p:sldId id="912" r:id="rId28"/>
    <p:sldId id="913" r:id="rId29"/>
    <p:sldId id="911" r:id="rId30"/>
    <p:sldId id="914" r:id="rId31"/>
    <p:sldId id="916" r:id="rId32"/>
    <p:sldId id="917" r:id="rId33"/>
    <p:sldId id="364" r:id="rId34"/>
  </p:sldIdLst>
  <p:sldSz cx="12192000" cy="6858000"/>
  <p:notesSz cx="9928225" cy="67976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7BA8"/>
    <a:srgbClr val="04926A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41A41-C3E3-49DC-B8E2-5FB79F6BD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E47AB0-E0D1-4C23-847C-8B6B1533DD1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8885680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828" y="6435405"/>
            <a:ext cx="13676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140852" y="112357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第九章   </a:t>
            </a:r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多元函数微分法及其应用</a:t>
            </a:r>
            <a:endParaRPr lang="zh-CN" altLang="en-US" sz="1400" kern="12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0" y="251555"/>
            <a:ext cx="8665828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2041112" y="6589556"/>
            <a:ext cx="1015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12.xml"/><Relationship Id="rId24" Type="http://schemas.openxmlformats.org/officeDocument/2006/relationships/image" Target="../media/image35.png"/><Relationship Id="rId23" Type="http://schemas.openxmlformats.org/officeDocument/2006/relationships/image" Target="../media/image34.png"/><Relationship Id="rId22" Type="http://schemas.openxmlformats.org/officeDocument/2006/relationships/image" Target="../media/image33.png"/><Relationship Id="rId21" Type="http://schemas.openxmlformats.org/officeDocument/2006/relationships/image" Target="../media/image32.png"/><Relationship Id="rId20" Type="http://schemas.openxmlformats.org/officeDocument/2006/relationships/image" Target="../media/image31.png"/><Relationship Id="rId2" Type="http://schemas.openxmlformats.org/officeDocument/2006/relationships/image" Target="../media/image14.png"/><Relationship Id="rId19" Type="http://schemas.openxmlformats.org/officeDocument/2006/relationships/image" Target="../media/image30.png"/><Relationship Id="rId18" Type="http://schemas.openxmlformats.org/officeDocument/2006/relationships/image" Target="../media/image29.png"/><Relationship Id="rId17" Type="http://schemas.openxmlformats.org/officeDocument/2006/relationships/image" Target="../media/image28.png"/><Relationship Id="rId16" Type="http://schemas.openxmlformats.org/officeDocument/2006/relationships/image" Target="../media/image27.png"/><Relationship Id="rId15" Type="http://schemas.openxmlformats.org/officeDocument/2006/relationships/image" Target="../media/image26.png"/><Relationship Id="rId14" Type="http://schemas.openxmlformats.org/officeDocument/2006/relationships/image" Target="../media/image25.png"/><Relationship Id="rId13" Type="http://schemas.openxmlformats.org/officeDocument/2006/relationships/image" Target="../media/image24.png"/><Relationship Id="rId12" Type="http://schemas.openxmlformats.org/officeDocument/2006/relationships/image" Target="../media/image23.png"/><Relationship Id="rId11" Type="http://schemas.openxmlformats.org/officeDocument/2006/relationships/image" Target="../media/image22.png"/><Relationship Id="rId10" Type="http://schemas.openxmlformats.org/officeDocument/2006/relationships/tags" Target="../tags/tag4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9" Type="http://schemas.openxmlformats.org/officeDocument/2006/relationships/notesSlide" Target="../notesSlides/notesSlide3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52.png"/><Relationship Id="rId16" Type="http://schemas.openxmlformats.org/officeDocument/2006/relationships/image" Target="../media/image51.png"/><Relationship Id="rId15" Type="http://schemas.openxmlformats.org/officeDocument/2006/relationships/image" Target="../media/image50.png"/><Relationship Id="rId14" Type="http://schemas.openxmlformats.org/officeDocument/2006/relationships/image" Target="../media/image49.png"/><Relationship Id="rId13" Type="http://schemas.openxmlformats.org/officeDocument/2006/relationships/image" Target="../media/image48.png"/><Relationship Id="rId12" Type="http://schemas.openxmlformats.org/officeDocument/2006/relationships/image" Target="../media/image47.png"/><Relationship Id="rId11" Type="http://schemas.openxmlformats.org/officeDocument/2006/relationships/image" Target="../media/image46.png"/><Relationship Id="rId10" Type="http://schemas.openxmlformats.org/officeDocument/2006/relationships/image" Target="../media/image45.png"/><Relationship Id="rId1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image" Target="../media/image60.png"/><Relationship Id="rId7" Type="http://schemas.openxmlformats.org/officeDocument/2006/relationships/image" Target="../media/image59.png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63.png"/><Relationship Id="rId10" Type="http://schemas.openxmlformats.org/officeDocument/2006/relationships/image" Target="../media/image62.png"/><Relationship Id="rId1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3.png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2.png"/><Relationship Id="rId8" Type="http://schemas.openxmlformats.org/officeDocument/2006/relationships/image" Target="../media/image81.png"/><Relationship Id="rId7" Type="http://schemas.openxmlformats.org/officeDocument/2006/relationships/image" Target="../media/image80.png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3" Type="http://schemas.openxmlformats.org/officeDocument/2006/relationships/image" Target="../media/image76.png"/><Relationship Id="rId22" Type="http://schemas.openxmlformats.org/officeDocument/2006/relationships/notesSlide" Target="../notesSlides/notesSlide7.x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93.png"/><Relationship Id="rId2" Type="http://schemas.openxmlformats.org/officeDocument/2006/relationships/image" Target="../media/image75.png"/><Relationship Id="rId19" Type="http://schemas.openxmlformats.org/officeDocument/2006/relationships/image" Target="../media/image92.png"/><Relationship Id="rId18" Type="http://schemas.openxmlformats.org/officeDocument/2006/relationships/image" Target="../media/image91.png"/><Relationship Id="rId17" Type="http://schemas.openxmlformats.org/officeDocument/2006/relationships/image" Target="../media/image90.png"/><Relationship Id="rId16" Type="http://schemas.openxmlformats.org/officeDocument/2006/relationships/image" Target="../media/image89.png"/><Relationship Id="rId15" Type="http://schemas.openxmlformats.org/officeDocument/2006/relationships/image" Target="../media/image88.png"/><Relationship Id="rId14" Type="http://schemas.openxmlformats.org/officeDocument/2006/relationships/image" Target="../media/image87.png"/><Relationship Id="rId13" Type="http://schemas.openxmlformats.org/officeDocument/2006/relationships/image" Target="../media/image86.png"/><Relationship Id="rId12" Type="http://schemas.openxmlformats.org/officeDocument/2006/relationships/image" Target="../media/image85.png"/><Relationship Id="rId11" Type="http://schemas.openxmlformats.org/officeDocument/2006/relationships/image" Target="../media/image84.png"/><Relationship Id="rId10" Type="http://schemas.openxmlformats.org/officeDocument/2006/relationships/image" Target="../media/image83.png"/><Relationship Id="rId1" Type="http://schemas.openxmlformats.org/officeDocument/2006/relationships/image" Target="../media/image7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1.png"/><Relationship Id="rId8" Type="http://schemas.openxmlformats.org/officeDocument/2006/relationships/image" Target="../media/image100.png"/><Relationship Id="rId7" Type="http://schemas.openxmlformats.org/officeDocument/2006/relationships/image" Target="../media/image99.png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109.png"/><Relationship Id="rId16" Type="http://schemas.openxmlformats.org/officeDocument/2006/relationships/image" Target="../media/image108.png"/><Relationship Id="rId15" Type="http://schemas.openxmlformats.org/officeDocument/2006/relationships/image" Target="../media/image107.png"/><Relationship Id="rId14" Type="http://schemas.openxmlformats.org/officeDocument/2006/relationships/image" Target="../media/image106.png"/><Relationship Id="rId13" Type="http://schemas.openxmlformats.org/officeDocument/2006/relationships/image" Target="../media/image105.png"/><Relationship Id="rId12" Type="http://schemas.openxmlformats.org/officeDocument/2006/relationships/image" Target="../media/image104.png"/><Relationship Id="rId11" Type="http://schemas.openxmlformats.org/officeDocument/2006/relationships/image" Target="../media/image103.png"/><Relationship Id="rId10" Type="http://schemas.openxmlformats.org/officeDocument/2006/relationships/image" Target="../media/image102.png"/><Relationship Id="rId1" Type="http://schemas.openxmlformats.org/officeDocument/2006/relationships/image" Target="../media/image7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png"/><Relationship Id="rId8" Type="http://schemas.openxmlformats.org/officeDocument/2006/relationships/image" Target="../media/image116.png"/><Relationship Id="rId7" Type="http://schemas.openxmlformats.org/officeDocument/2006/relationships/image" Target="../media/image115.png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5.png"/><Relationship Id="rId8" Type="http://schemas.openxmlformats.org/officeDocument/2006/relationships/image" Target="../media/image124.png"/><Relationship Id="rId7" Type="http://schemas.openxmlformats.org/officeDocument/2006/relationships/image" Target="../media/image123.png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Relationship Id="rId3" Type="http://schemas.openxmlformats.org/officeDocument/2006/relationships/image" Target="../media/image119.png"/><Relationship Id="rId21" Type="http://schemas.openxmlformats.org/officeDocument/2006/relationships/notesSlide" Target="../notesSlides/notesSlide10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118.png"/><Relationship Id="rId19" Type="http://schemas.openxmlformats.org/officeDocument/2006/relationships/image" Target="../media/image135.png"/><Relationship Id="rId18" Type="http://schemas.openxmlformats.org/officeDocument/2006/relationships/image" Target="../media/image134.png"/><Relationship Id="rId17" Type="http://schemas.openxmlformats.org/officeDocument/2006/relationships/image" Target="../media/image133.png"/><Relationship Id="rId16" Type="http://schemas.openxmlformats.org/officeDocument/2006/relationships/image" Target="../media/image132.png"/><Relationship Id="rId15" Type="http://schemas.openxmlformats.org/officeDocument/2006/relationships/image" Target="../media/image131.png"/><Relationship Id="rId14" Type="http://schemas.openxmlformats.org/officeDocument/2006/relationships/image" Target="../media/image130.png"/><Relationship Id="rId13" Type="http://schemas.openxmlformats.org/officeDocument/2006/relationships/image" Target="../media/image129.png"/><Relationship Id="rId12" Type="http://schemas.openxmlformats.org/officeDocument/2006/relationships/image" Target="../media/image128.png"/><Relationship Id="rId11" Type="http://schemas.openxmlformats.org/officeDocument/2006/relationships/image" Target="../media/image127.png"/><Relationship Id="rId10" Type="http://schemas.openxmlformats.org/officeDocument/2006/relationships/image" Target="../media/image126.png"/><Relationship Id="rId1" Type="http://schemas.openxmlformats.org/officeDocument/2006/relationships/image" Target="../media/image74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42.png"/><Relationship Id="rId7" Type="http://schemas.openxmlformats.org/officeDocument/2006/relationships/image" Target="../media/image141.png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7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0.png"/><Relationship Id="rId8" Type="http://schemas.openxmlformats.org/officeDocument/2006/relationships/image" Target="../media/image149.png"/><Relationship Id="rId7" Type="http://schemas.openxmlformats.org/officeDocument/2006/relationships/image" Target="../media/image148.png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51.png"/><Relationship Id="rId1" Type="http://schemas.openxmlformats.org/officeDocument/2006/relationships/image" Target="../media/image74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image" Target="../media/image152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56.jpeg"/><Relationship Id="rId2" Type="http://schemas.openxmlformats.org/officeDocument/2006/relationships/image" Target="../media/image155.png"/><Relationship Id="rId1" Type="http://schemas.openxmlformats.org/officeDocument/2006/relationships/tags" Target="../tags/tag7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image" Target="../media/image162.png"/><Relationship Id="rId6" Type="http://schemas.openxmlformats.org/officeDocument/2006/relationships/image" Target="../media/image161.png"/><Relationship Id="rId5" Type="http://schemas.openxmlformats.org/officeDocument/2006/relationships/tags" Target="../tags/tag8.xml"/><Relationship Id="rId4" Type="http://schemas.openxmlformats.org/officeDocument/2006/relationships/image" Target="../media/image160.png"/><Relationship Id="rId3" Type="http://schemas.openxmlformats.org/officeDocument/2006/relationships/image" Target="../media/image159.png"/><Relationship Id="rId23" Type="http://schemas.openxmlformats.org/officeDocument/2006/relationships/notesSlide" Target="../notesSlides/notesSlide15.xml"/><Relationship Id="rId22" Type="http://schemas.openxmlformats.org/officeDocument/2006/relationships/slideLayout" Target="../slideLayouts/slideLayout12.xml"/><Relationship Id="rId21" Type="http://schemas.openxmlformats.org/officeDocument/2006/relationships/image" Target="../media/image167.jpeg"/><Relationship Id="rId20" Type="http://schemas.openxmlformats.org/officeDocument/2006/relationships/image" Target="../media/image166.png"/><Relationship Id="rId2" Type="http://schemas.openxmlformats.org/officeDocument/2006/relationships/image" Target="../media/image158.png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image" Target="../media/image165.png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image" Target="../media/image164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image" Target="../media/image163.png"/><Relationship Id="rId1" Type="http://schemas.openxmlformats.org/officeDocument/2006/relationships/image" Target="../media/image157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71.png"/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" Type="http://schemas.openxmlformats.org/officeDocument/2006/relationships/image" Target="../media/image168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75.png"/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image" Target="../media/image172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image" Target="../media/image176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83.png"/><Relationship Id="rId4" Type="http://schemas.openxmlformats.org/officeDocument/2006/relationships/image" Target="../media/image182.png"/><Relationship Id="rId3" Type="http://schemas.openxmlformats.org/officeDocument/2006/relationships/image" Target="../media/image181.png"/><Relationship Id="rId2" Type="http://schemas.openxmlformats.org/officeDocument/2006/relationships/image" Target="../media/image180.png"/><Relationship Id="rId1" Type="http://schemas.openxmlformats.org/officeDocument/2006/relationships/image" Target="../media/image179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87.png"/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" Type="http://schemas.openxmlformats.org/officeDocument/2006/relationships/image" Target="../media/image184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6.png"/><Relationship Id="rId8" Type="http://schemas.openxmlformats.org/officeDocument/2006/relationships/image" Target="../media/image195.png"/><Relationship Id="rId7" Type="http://schemas.openxmlformats.org/officeDocument/2006/relationships/image" Target="../media/image194.png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4" Type="http://schemas.openxmlformats.org/officeDocument/2006/relationships/image" Target="../media/image191.png"/><Relationship Id="rId3" Type="http://schemas.openxmlformats.org/officeDocument/2006/relationships/image" Target="../media/image190.png"/><Relationship Id="rId20" Type="http://schemas.openxmlformats.org/officeDocument/2006/relationships/notesSlide" Target="../notesSlides/notesSlide20.xml"/><Relationship Id="rId2" Type="http://schemas.openxmlformats.org/officeDocument/2006/relationships/image" Target="../media/image189.pn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205.png"/><Relationship Id="rId17" Type="http://schemas.openxmlformats.org/officeDocument/2006/relationships/image" Target="../media/image204.png"/><Relationship Id="rId16" Type="http://schemas.openxmlformats.org/officeDocument/2006/relationships/image" Target="../media/image203.png"/><Relationship Id="rId15" Type="http://schemas.openxmlformats.org/officeDocument/2006/relationships/image" Target="../media/image202.png"/><Relationship Id="rId14" Type="http://schemas.openxmlformats.org/officeDocument/2006/relationships/image" Target="../media/image201.png"/><Relationship Id="rId13" Type="http://schemas.openxmlformats.org/officeDocument/2006/relationships/image" Target="../media/image200.png"/><Relationship Id="rId12" Type="http://schemas.openxmlformats.org/officeDocument/2006/relationships/image" Target="../media/image199.png"/><Relationship Id="rId11" Type="http://schemas.openxmlformats.org/officeDocument/2006/relationships/image" Target="../media/image198.png"/><Relationship Id="rId10" Type="http://schemas.openxmlformats.org/officeDocument/2006/relationships/image" Target="../media/image197.png"/><Relationship Id="rId1" Type="http://schemas.openxmlformats.org/officeDocument/2006/relationships/image" Target="../media/image18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10.png"/><Relationship Id="rId5" Type="http://schemas.openxmlformats.org/officeDocument/2006/relationships/image" Target="../media/image209.png"/><Relationship Id="rId4" Type="http://schemas.openxmlformats.org/officeDocument/2006/relationships/image" Target="../media/image208.png"/><Relationship Id="rId3" Type="http://schemas.openxmlformats.org/officeDocument/2006/relationships/image" Target="../media/image207.png"/><Relationship Id="rId2" Type="http://schemas.openxmlformats.org/officeDocument/2006/relationships/image" Target="../media/image206.png"/><Relationship Id="rId1" Type="http://schemas.openxmlformats.org/officeDocument/2006/relationships/image" Target="../media/image74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8.png"/><Relationship Id="rId8" Type="http://schemas.openxmlformats.org/officeDocument/2006/relationships/image" Target="../media/image217.png"/><Relationship Id="rId7" Type="http://schemas.openxmlformats.org/officeDocument/2006/relationships/image" Target="../media/image216.png"/><Relationship Id="rId6" Type="http://schemas.openxmlformats.org/officeDocument/2006/relationships/image" Target="../media/image215.png"/><Relationship Id="rId5" Type="http://schemas.openxmlformats.org/officeDocument/2006/relationships/image" Target="../media/image214.png"/><Relationship Id="rId4" Type="http://schemas.openxmlformats.org/officeDocument/2006/relationships/image" Target="../media/image213.png"/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4" Type="http://schemas.openxmlformats.org/officeDocument/2006/relationships/notesSlide" Target="../notesSlides/notesSlide22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221.png"/><Relationship Id="rId11" Type="http://schemas.openxmlformats.org/officeDocument/2006/relationships/image" Target="../media/image220.png"/><Relationship Id="rId10" Type="http://schemas.openxmlformats.org/officeDocument/2006/relationships/image" Target="../media/image219.png"/><Relationship Id="rId1" Type="http://schemas.openxmlformats.org/officeDocument/2006/relationships/image" Target="../media/image74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25.png"/><Relationship Id="rId3" Type="http://schemas.openxmlformats.org/officeDocument/2006/relationships/image" Target="../media/image224.png"/><Relationship Id="rId2" Type="http://schemas.openxmlformats.org/officeDocument/2006/relationships/image" Target="../media/image223.png"/><Relationship Id="rId1" Type="http://schemas.openxmlformats.org/officeDocument/2006/relationships/image" Target="../media/image222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3.png"/><Relationship Id="rId8" Type="http://schemas.openxmlformats.org/officeDocument/2006/relationships/image" Target="../media/image232.png"/><Relationship Id="rId7" Type="http://schemas.openxmlformats.org/officeDocument/2006/relationships/image" Target="../media/image231.png"/><Relationship Id="rId6" Type="http://schemas.openxmlformats.org/officeDocument/2006/relationships/image" Target="../media/image230.png"/><Relationship Id="rId5" Type="http://schemas.openxmlformats.org/officeDocument/2006/relationships/image" Target="../media/image229.png"/><Relationship Id="rId4" Type="http://schemas.openxmlformats.org/officeDocument/2006/relationships/image" Target="../media/image228.png"/><Relationship Id="rId3" Type="http://schemas.openxmlformats.org/officeDocument/2006/relationships/image" Target="../media/image227.png"/><Relationship Id="rId2" Type="http://schemas.openxmlformats.org/officeDocument/2006/relationships/image" Target="../media/image226.png"/><Relationship Id="rId13" Type="http://schemas.openxmlformats.org/officeDocument/2006/relationships/notesSlide" Target="../notesSlides/notesSlide2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35.png"/><Relationship Id="rId10" Type="http://schemas.openxmlformats.org/officeDocument/2006/relationships/image" Target="../media/image234.png"/><Relationship Id="rId1" Type="http://schemas.openxmlformats.org/officeDocument/2006/relationships/image" Target="../media/image74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3.png"/><Relationship Id="rId8" Type="http://schemas.openxmlformats.org/officeDocument/2006/relationships/image" Target="../media/image242.png"/><Relationship Id="rId7" Type="http://schemas.openxmlformats.org/officeDocument/2006/relationships/image" Target="../media/image241.png"/><Relationship Id="rId6" Type="http://schemas.openxmlformats.org/officeDocument/2006/relationships/image" Target="../media/image240.png"/><Relationship Id="rId5" Type="http://schemas.openxmlformats.org/officeDocument/2006/relationships/image" Target="../media/image239.png"/><Relationship Id="rId4" Type="http://schemas.openxmlformats.org/officeDocument/2006/relationships/image" Target="../media/image238.png"/><Relationship Id="rId3" Type="http://schemas.openxmlformats.org/officeDocument/2006/relationships/image" Target="../media/image237.png"/><Relationship Id="rId20" Type="http://schemas.openxmlformats.org/officeDocument/2006/relationships/notesSlide" Target="../notesSlides/notesSlide25.xml"/><Relationship Id="rId2" Type="http://schemas.openxmlformats.org/officeDocument/2006/relationships/image" Target="../media/image236.pn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252.png"/><Relationship Id="rId17" Type="http://schemas.openxmlformats.org/officeDocument/2006/relationships/image" Target="../media/image251.png"/><Relationship Id="rId16" Type="http://schemas.openxmlformats.org/officeDocument/2006/relationships/image" Target="../media/image250.png"/><Relationship Id="rId15" Type="http://schemas.openxmlformats.org/officeDocument/2006/relationships/image" Target="../media/image249.png"/><Relationship Id="rId14" Type="http://schemas.openxmlformats.org/officeDocument/2006/relationships/image" Target="../media/image248.png"/><Relationship Id="rId13" Type="http://schemas.openxmlformats.org/officeDocument/2006/relationships/image" Target="../media/image247.png"/><Relationship Id="rId12" Type="http://schemas.openxmlformats.org/officeDocument/2006/relationships/image" Target="../media/image246.png"/><Relationship Id="rId11" Type="http://schemas.openxmlformats.org/officeDocument/2006/relationships/image" Target="../media/image245.png"/><Relationship Id="rId10" Type="http://schemas.openxmlformats.org/officeDocument/2006/relationships/image" Target="../media/image244.png"/><Relationship Id="rId1" Type="http://schemas.openxmlformats.org/officeDocument/2006/relationships/image" Target="../media/image7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  <a:endParaRPr lang="zh-CN" altLang="en-US" sz="22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14237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735983" y="3843270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765935" y="4450080"/>
            <a:ext cx="2087880" cy="1556385"/>
            <a:chOff x="3633" y="6990"/>
            <a:chExt cx="3288" cy="2451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405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一元函数</a:t>
              </a:r>
              <a:endPara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131" y="8233"/>
              <a:ext cx="2269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微分学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5" name="右箭头 4"/>
          <p:cNvSpPr/>
          <p:nvPr/>
        </p:nvSpPr>
        <p:spPr>
          <a:xfrm>
            <a:off x="3825875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6962140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01178" y="884555"/>
            <a:ext cx="858964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第九章   </a:t>
            </a:r>
            <a:r>
              <a:rPr lang="zh-CN" altLang="en-US" sz="4400" b="1" baseline="0" dirty="0">
                <a:solidFill>
                  <a:schemeClr val="bg1"/>
                </a:solidFill>
                <a:latin typeface="+mj-ea"/>
                <a:ea typeface="+mj-ea"/>
              </a:rPr>
              <a:t>多元函数微分法及其应用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730442" y="4450080"/>
            <a:ext cx="2087880" cy="1556385"/>
            <a:chOff x="3633" y="6990"/>
            <a:chExt cx="3288" cy="2451"/>
          </a:xfrm>
        </p:grpSpPr>
        <p:sp>
          <p:nvSpPr>
            <p:cNvPr id="9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56" y="6990"/>
              <a:ext cx="2441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多元函数</a:t>
              </a:r>
              <a:endPara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131" y="8233"/>
              <a:ext cx="2263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微分学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938154" y="4469765"/>
            <a:ext cx="2087880" cy="1556385"/>
            <a:chOff x="3633" y="6990"/>
            <a:chExt cx="3288" cy="2451"/>
          </a:xfrm>
        </p:grpSpPr>
        <p:sp>
          <p:nvSpPr>
            <p:cNvPr id="17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405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注意</a:t>
              </a:r>
              <a:endPara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3889" y="7955"/>
              <a:ext cx="2756" cy="13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善于类比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区别异同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36号-正文宋楷" panose="00000500000000000000" pitchFamily="2" charset="-122"/>
              <a:ea typeface="字魂36号-正文宋楷" panose="00000500000000000000" pitchFamily="2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2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3"/>
            </p:custDataLst>
          </p:nvPr>
        </p:nvSpPr>
        <p:spPr>
          <a:xfrm>
            <a:off x="876000" y="638872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GB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C</a:t>
            </a:r>
            <a:r>
              <a:rPr kumimoji="1" lang="en-GB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ONTENTS</a:t>
            </a:r>
            <a:endParaRPr kumimoji="1" lang="en-GB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/>
              <a:uLnTx/>
              <a:uFillTx/>
              <a:latin typeface="Calisto MT" panose="02040603050505030304" pitchFamily="18" charset="0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69401" y="516286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目  录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335798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945202" y="2378656"/>
            <a:ext cx="4152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多元函数的基本概念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45202" y="3144845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全微分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146076" y="2378656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偏导数</a:t>
            </a:r>
            <a:endParaRPr lang="zh-CN" altLang="en-US" sz="2400" b="1" dirty="0">
              <a:solidFill>
                <a:srgbClr val="0074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146076" y="3144845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多元复合函数的求导法则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945202" y="3911034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隐函数的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求导公式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945202" y="4675933"/>
            <a:ext cx="3691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方向导数与梯度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146076" y="3909744"/>
            <a:ext cx="5075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多元函数微分学的几何应用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146076" y="4675933"/>
            <a:ext cx="56013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多元函数的极值及其求法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945202" y="5440831"/>
            <a:ext cx="49060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第九节   二元函数的泰勒公式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146076" y="5440831"/>
            <a:ext cx="54819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第十节   最小二乘法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157282" y="691154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第</a:t>
            </a:r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九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章</a:t>
            </a:r>
            <a:endParaRPr kumimoji="1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/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/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/>
          <p:cNvSpPr/>
          <p:nvPr>
            <p:custDataLst>
              <p:tags r:id="rId2"/>
            </p:custDataLst>
          </p:nvPr>
        </p:nvSpPr>
        <p:spPr>
          <a:xfrm>
            <a:off x="369888" y="1731523"/>
            <a:ext cx="11536045" cy="35895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4650733" y="686345"/>
            <a:ext cx="2890535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第二节  偏导数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376753" y="2320981"/>
            <a:ext cx="5438494" cy="901065"/>
            <a:chOff x="3977909" y="1027774"/>
            <a:chExt cx="5438494" cy="901065"/>
          </a:xfrm>
        </p:grpSpPr>
        <p:sp>
          <p:nvSpPr>
            <p:cNvPr id="4" name="矩形: 圆角 40"/>
            <p:cNvSpPr/>
            <p:nvPr/>
          </p:nvSpPr>
          <p:spPr>
            <a:xfrm flipV="1">
              <a:off x="3977909" y="1027774"/>
              <a:ext cx="5438494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4304152" y="1217006"/>
              <a:ext cx="485261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r>
                <a:rPr kumimoji="1" lang="zh-CN" altLang="en-US" sz="2800" b="1" i="0" u="none" strike="noStrike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cs typeface="+mn-ea"/>
                  <a:sym typeface="+mn-lt"/>
                </a:rPr>
                <a:t>偏导数的定义及其计算法</a:t>
              </a:r>
              <a:endParaRPr lang="zh-CN" altLang="en-US" sz="2800" dirty="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376753" y="3756603"/>
            <a:ext cx="5438494" cy="901065"/>
            <a:chOff x="3977910" y="2138091"/>
            <a:chExt cx="5438494" cy="901065"/>
          </a:xfrm>
        </p:grpSpPr>
        <p:sp>
          <p:nvSpPr>
            <p:cNvPr id="22" name="矩形: 圆角 40"/>
            <p:cNvSpPr/>
            <p:nvPr/>
          </p:nvSpPr>
          <p:spPr>
            <a:xfrm flipV="1">
              <a:off x="3977910" y="2138091"/>
              <a:ext cx="5438494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4218088" y="2327323"/>
              <a:ext cx="233910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</a:t>
              </a:r>
              <a:r>
                <a:rPr lang="zh-CN" altLang="en-US" sz="2800" b="1" dirty="0">
                  <a:latin typeface="+mj-ea"/>
                  <a:ea typeface="+mj-ea"/>
                </a:rPr>
                <a:t>高阶</a:t>
              </a:r>
              <a:r>
                <a:rPr kumimoji="1" lang="zh-CN" altLang="en-US" sz="2800" b="1" i="0" u="none" strike="noStrike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cs typeface="+mn-ea"/>
                  <a:sym typeface="+mn-lt"/>
                </a:rPr>
                <a:t>导数</a:t>
              </a:r>
              <a:endParaRPr lang="zh-CN" altLang="en-US" sz="28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 txBox="1">
            <a:spLocks noChangeArrowheads="1"/>
          </p:cNvSpPr>
          <p:nvPr/>
        </p:nvSpPr>
        <p:spPr>
          <a:xfrm>
            <a:off x="1087748" y="804548"/>
            <a:ext cx="6669947" cy="54930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一、偏导数的定义及其计算法</a:t>
            </a:r>
            <a:endParaRPr lang="zh-CN" altLang="en-US" sz="32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右箭头 11"/>
          <p:cNvSpPr/>
          <p:nvPr/>
        </p:nvSpPr>
        <p:spPr>
          <a:xfrm>
            <a:off x="7835321" y="5056448"/>
            <a:ext cx="3413716" cy="849496"/>
          </a:xfrm>
          <a:prstGeom prst="rightArrow">
            <a:avLst>
              <a:gd name="adj1" fmla="val 56057"/>
              <a:gd name="adj2" fmla="val 48552"/>
            </a:avLst>
          </a:prstGeom>
          <a:solidFill>
            <a:srgbClr val="04926A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引出偏导数的定义</a:t>
            </a:r>
            <a:endParaRPr kumimoji="1" lang="zh-CN" altLang="en-US" sz="2800" b="1" dirty="0">
              <a:solidFill>
                <a:srgbClr val="04926A"/>
              </a:solidFill>
              <a:latin typeface="Cambria Math" panose="02040503050406030204" charset="0"/>
              <a:ea typeface="黑体" panose="02010609060101010101" pitchFamily="49" charset="-122"/>
            </a:endParaRPr>
          </a:p>
        </p:txBody>
      </p:sp>
      <p:sp>
        <p:nvSpPr>
          <p:cNvPr id="4" name="Line 43"/>
          <p:cNvSpPr>
            <a:spLocks noChangeShapeType="1"/>
          </p:cNvSpPr>
          <p:nvPr/>
        </p:nvSpPr>
        <p:spPr bwMode="auto">
          <a:xfrm>
            <a:off x="4086440" y="5119342"/>
            <a:ext cx="7921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对象 5"/>
              <p:cNvSpPr txBox="1"/>
              <p:nvPr/>
            </p:nvSpPr>
            <p:spPr>
              <a:xfrm>
                <a:off x="2932834" y="4102618"/>
                <a:ext cx="4272462" cy="58072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二元函数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2834" y="4102618"/>
                <a:ext cx="4272462" cy="580721"/>
              </a:xfrm>
              <a:prstGeom prst="rect">
                <a:avLst/>
              </a:prstGeom>
              <a:blipFill rotWithShape="1">
                <a:blip r:embed="rId1"/>
                <a:stretch>
                  <a:fillRect l="-9" t="-89" r="14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对象 10"/>
              <p:cNvSpPr txBox="1"/>
              <p:nvPr/>
            </p:nvSpPr>
            <p:spPr>
              <a:xfrm>
                <a:off x="2932274" y="2936338"/>
                <a:ext cx="6834331" cy="97147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)−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对象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2274" y="2936338"/>
                <a:ext cx="6834331" cy="971472"/>
              </a:xfrm>
              <a:prstGeom prst="rect">
                <a:avLst/>
              </a:prstGeom>
              <a:blipFill rotWithShape="1">
                <a:blip r:embed="rId2"/>
                <a:stretch>
                  <a:fillRect l="-7" t="-10" r="4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对象 30"/>
              <p:cNvSpPr txBox="1"/>
              <p:nvPr/>
            </p:nvSpPr>
            <p:spPr>
              <a:xfrm>
                <a:off x="2929572" y="2218310"/>
                <a:ext cx="6980788" cy="52322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一元函数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的导数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变化率</m:t>
                          </m:r>
                        </m:e>
                      </m:d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对象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572" y="2218310"/>
                <a:ext cx="6980788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5" t="-49" r="8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对象 31"/>
              <p:cNvSpPr txBox="1"/>
              <p:nvPr/>
            </p:nvSpPr>
            <p:spPr>
              <a:xfrm>
                <a:off x="2923869" y="4830597"/>
                <a:ext cx="1033370" cy="52321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固定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对象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869" y="4830597"/>
                <a:ext cx="1033370" cy="523219"/>
              </a:xfrm>
              <a:prstGeom prst="rect">
                <a:avLst/>
              </a:prstGeom>
              <a:blipFill rotWithShape="1">
                <a:blip r:embed="rId4"/>
                <a:stretch>
                  <a:fillRect l="-32" t="-29" r="54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对象 32"/>
              <p:cNvSpPr txBox="1"/>
              <p:nvPr/>
            </p:nvSpPr>
            <p:spPr>
              <a:xfrm>
                <a:off x="4995626" y="4855062"/>
                <a:ext cx="2966900" cy="4318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对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的变化率？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对象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626" y="4855062"/>
                <a:ext cx="2966900" cy="431800"/>
              </a:xfrm>
              <a:prstGeom prst="rect">
                <a:avLst/>
              </a:prstGeom>
              <a:blipFill rotWithShape="1">
                <a:blip r:embed="rId5"/>
                <a:stretch>
                  <a:fillRect l="-3" t="-113" r="9" b="-137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ine 43"/>
          <p:cNvSpPr>
            <a:spLocks noChangeShapeType="1"/>
          </p:cNvSpPr>
          <p:nvPr/>
        </p:nvSpPr>
        <p:spPr bwMode="auto">
          <a:xfrm>
            <a:off x="4086440" y="5871416"/>
            <a:ext cx="7921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对象 39"/>
              <p:cNvSpPr txBox="1"/>
              <p:nvPr/>
            </p:nvSpPr>
            <p:spPr>
              <a:xfrm>
                <a:off x="2923869" y="5597419"/>
                <a:ext cx="1033370" cy="52321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固定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对象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869" y="5597419"/>
                <a:ext cx="1033370" cy="523219"/>
              </a:xfrm>
              <a:prstGeom prst="rect">
                <a:avLst/>
              </a:prstGeom>
              <a:blipFill rotWithShape="1">
                <a:blip r:embed="rId6"/>
                <a:stretch>
                  <a:fillRect l="-32" t="-101" r="54" b="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对象 40"/>
              <p:cNvSpPr txBox="1"/>
              <p:nvPr/>
            </p:nvSpPr>
            <p:spPr>
              <a:xfrm>
                <a:off x="4995625" y="5568238"/>
                <a:ext cx="3195599" cy="4318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对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的变化率？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对象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625" y="5568238"/>
                <a:ext cx="3195599" cy="431800"/>
              </a:xfrm>
              <a:prstGeom prst="rect">
                <a:avLst/>
              </a:prstGeom>
              <a:blipFill rotWithShape="1">
                <a:blip r:embed="rId7"/>
                <a:stretch>
                  <a:fillRect l="-3" t="-129" r="11" b="-63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1483178" y="1481280"/>
            <a:ext cx="2961244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  <a:defRPr/>
            </a:pPr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kumimoji="1"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偏导数的定义</a:t>
            </a:r>
            <a:endParaRPr kumimoji="1"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995297" y="2247200"/>
            <a:ext cx="962025" cy="448945"/>
            <a:chOff x="1553" y="3803"/>
            <a:chExt cx="1515" cy="707"/>
          </a:xfrm>
        </p:grpSpPr>
        <p:sp>
          <p:nvSpPr>
            <p:cNvPr id="12" name="圆角矩形 57"/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 Box 28"/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sz="2800" b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回顾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995297" y="4158980"/>
            <a:ext cx="962025" cy="448945"/>
            <a:chOff x="1553" y="3803"/>
            <a:chExt cx="1515" cy="707"/>
          </a:xfrm>
        </p:grpSpPr>
        <p:sp>
          <p:nvSpPr>
            <p:cNvPr id="16" name="圆角矩形 57"/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 Box 28"/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sz="2800" b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问题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/>
      <p:bldP spid="6" grpId="0"/>
      <p:bldP spid="7" grpId="0"/>
      <p:bldP spid="8" grpId="0"/>
      <p:bldP spid="9" grpId="0"/>
      <p:bldP spid="10" grpId="0" animBg="1"/>
      <p:bldP spid="15" grpId="0"/>
      <p:bldP spid="17" grpId="0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35"/>
          <p:cNvSpPr>
            <a:spLocks noChangeArrowheads="1"/>
          </p:cNvSpPr>
          <p:nvPr/>
        </p:nvSpPr>
        <p:spPr bwMode="auto">
          <a:xfrm>
            <a:off x="2484834" y="4724399"/>
            <a:ext cx="7591880" cy="1450493"/>
          </a:xfrm>
          <a:prstGeom prst="rect">
            <a:avLst/>
          </a:prstGeom>
          <a:solidFill>
            <a:srgbClr val="04926A">
              <a:alpha val="42000"/>
            </a:srgbClr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rgbClr val="629DD1"/>
              </a:solidFill>
              <a:effectLst/>
              <a:uLnTx/>
              <a:uFillTx/>
              <a:latin typeface="Times New Roman" panose="02020603050405020304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Object 37"/>
              <p:cNvSpPr txBox="1"/>
              <p:nvPr/>
            </p:nvSpPr>
            <p:spPr bwMode="auto">
              <a:xfrm>
                <a:off x="2794665" y="5159862"/>
                <a:ext cx="1774774" cy="7375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p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)=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6" name="Object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94665" y="5159862"/>
                <a:ext cx="1774774" cy="737554"/>
              </a:xfrm>
              <a:prstGeom prst="rect">
                <a:avLst/>
              </a:prstGeom>
              <a:blipFill rotWithShape="1">
                <a:blip r:embed="rId1"/>
                <a:stretch>
                  <a:fillRect l="-2" t="-66" r="35" b="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Object 38"/>
              <p:cNvSpPr txBox="1"/>
              <p:nvPr/>
            </p:nvSpPr>
            <p:spPr bwMode="auto">
              <a:xfrm>
                <a:off x="5002139" y="5038310"/>
                <a:ext cx="3068452" cy="10777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)−</m:t>
                          </m:r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7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2139" y="5038310"/>
                <a:ext cx="3068452" cy="1077720"/>
              </a:xfrm>
              <a:prstGeom prst="rect">
                <a:avLst/>
              </a:prstGeom>
              <a:blipFill rotWithShape="1">
                <a:blip r:embed="rId2"/>
                <a:stretch>
                  <a:fillRect l="-8" t="-20" r="12" b="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Object 39"/>
              <p:cNvSpPr txBox="1"/>
              <p:nvPr/>
            </p:nvSpPr>
            <p:spPr bwMode="auto">
              <a:xfrm>
                <a:off x="6173107" y="5553115"/>
                <a:ext cx="751916" cy="66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0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73107" y="5553115"/>
                <a:ext cx="751916" cy="668200"/>
              </a:xfrm>
              <a:prstGeom prst="rect">
                <a:avLst/>
              </a:prstGeom>
              <a:blipFill rotWithShape="1">
                <a:blip r:embed="rId3"/>
                <a:stretch>
                  <a:fillRect l="-36" t="-6" r="46" b="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Object 40"/>
              <p:cNvSpPr txBox="1"/>
              <p:nvPr/>
            </p:nvSpPr>
            <p:spPr bwMode="auto">
              <a:xfrm>
                <a:off x="4136437" y="5161114"/>
                <a:ext cx="1095426" cy="8810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Δ</m:t>
                              </m:r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</m:t>
                              </m:r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zh-CN" sz="28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1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6437" y="5161114"/>
                <a:ext cx="1095426" cy="881065"/>
              </a:xfrm>
              <a:prstGeom prst="rect">
                <a:avLst/>
              </a:prstGeom>
              <a:blipFill rotWithShape="1">
                <a:blip r:embed="rId4"/>
                <a:stretch>
                  <a:fillRect l="-4" t="-53" r="9" b="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Object 44"/>
              <p:cNvSpPr txBox="1"/>
              <p:nvPr/>
            </p:nvSpPr>
            <p:spPr bwMode="auto">
              <a:xfrm>
                <a:off x="8041764" y="4878244"/>
                <a:ext cx="2217364" cy="13055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US" altLang="zh-CN" sz="2800" i="1" dirty="0">
                                  <a:latin typeface="Cambria Math" panose="0204050305040603020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zh-CN" sz="2800" i="1" dirty="0" smtClean="0">
                                      <a:latin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b="0" i="0" dirty="0" smtClean="0">
                                      <a:latin typeface="Cambria Math" panose="02040503050406030204" charset="0"/>
                                    </a:rPr>
                                    <m:t>d</m:t>
                                  </m:r>
                                  <m:r>
                                    <a:rPr kumimoji="1" lang="en-US" altLang="zh-CN" sz="2800" b="0" i="1" dirty="0" smtClean="0">
                                      <a:latin typeface="Cambria Math" panose="02040503050406030204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b="0" i="0" dirty="0" smtClean="0">
                                      <a:latin typeface="Cambria Math" panose="02040503050406030204" charset="0"/>
                                    </a:rPr>
                                    <m:t>d</m:t>
                                  </m:r>
                                  <m:r>
                                    <a:rPr kumimoji="1" lang="en-US" altLang="zh-CN" sz="2800" b="0" i="1" dirty="0" smtClean="0">
                                      <a:latin typeface="Cambria Math" panose="02040503050406030204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charset="0"/>
                            </a:rPr>
                            <m:t>𝑥</m:t>
                          </m:r>
                          <m:r>
                            <a:rPr kumimoji="1" lang="en-US" altLang="zh-CN" sz="2800" i="1" dirty="0">
                              <a:latin typeface="Cambria Math" panose="0204050305040603020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US" altLang="zh-CN" sz="2800" i="1" dirty="0" smtClean="0">
                                  <a:latin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2800" b="0" i="1" dirty="0" smtClean="0">
                                  <a:latin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8" name="Object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41764" y="4878244"/>
                <a:ext cx="2217364" cy="1305526"/>
              </a:xfrm>
              <a:prstGeom prst="rect">
                <a:avLst/>
              </a:prstGeom>
              <a:blipFill rotWithShape="1">
                <a:blip r:embed="rId5"/>
                <a:stretch>
                  <a:fillRect l="-6" t="-13" r="3" b="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56"/>
          <p:cNvSpPr>
            <a:spLocks noChangeArrowheads="1"/>
          </p:cNvSpPr>
          <p:nvPr/>
        </p:nvSpPr>
        <p:spPr bwMode="auto">
          <a:xfrm>
            <a:off x="2196645" y="4416864"/>
            <a:ext cx="8614685" cy="193567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rgbClr val="629DD1"/>
              </a:solidFill>
              <a:effectLst/>
              <a:uLnTx/>
              <a:uFillTx/>
              <a:latin typeface="Times New Roman" panose="02020603050405020304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Object 57"/>
              <p:cNvSpPr txBox="1"/>
              <p:nvPr/>
            </p:nvSpPr>
            <p:spPr bwMode="auto">
              <a:xfrm>
                <a:off x="5005008" y="4413692"/>
                <a:ext cx="6213731" cy="995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, 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)−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, 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1" name="Object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5008" y="4413692"/>
                <a:ext cx="6213731" cy="995363"/>
              </a:xfrm>
              <a:prstGeom prst="rect">
                <a:avLst/>
              </a:prstGeom>
              <a:blipFill rotWithShape="1">
                <a:blip r:embed="rId6"/>
                <a:stretch>
                  <a:fillRect l="-9" t="-44" r="3" b="1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Object 58"/>
              <p:cNvSpPr txBox="1"/>
              <p:nvPr/>
            </p:nvSpPr>
            <p:spPr bwMode="auto">
              <a:xfrm>
                <a:off x="5008285" y="5338298"/>
                <a:ext cx="3323082" cy="12398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US" altLang="zh-CN" sz="28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 </m:t>
                              </m:r>
                              <m:f>
                                <m:fPr>
                                  <m:ctrlP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宋体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dirty="0">
                                      <a:latin typeface="Cambria Math" panose="02040503050406030204" charset="0"/>
                                    </a:rPr>
                                    <m:t>d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dirty="0">
                                      <a:latin typeface="Cambria Math" panose="02040503050406030204" charset="0"/>
                                    </a:rPr>
                                    <m:t>d</m:t>
                                  </m:r>
                                  <m:r>
                                    <a:rPr kumimoji="1" lang="en-US" altLang="zh-CN" sz="2800" b="0" i="1" dirty="0" smtClean="0">
                                      <a:latin typeface="Cambria Math" panose="02040503050406030204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kumimoji="1" lang="en-US" altLang="zh-CN" sz="2800" b="0" i="1" dirty="0" smtClean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𝑓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(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zh-CN" sz="2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charset="0"/>
                              <a:ea typeface="宋体" panose="02010600030101010101" pitchFamily="2" charset="-122"/>
                            </a:rPr>
                            <m:t>𝑥</m:t>
                          </m:r>
                          <m:r>
                            <a:rPr kumimoji="1" lang="en-US" altLang="zh-CN" sz="2800" i="1" dirty="0">
                              <a:latin typeface="Cambria Math" panose="02040503050406030204" charset="0"/>
                              <a:ea typeface="宋体" panose="02010600030101010101" pitchFamily="2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2" name="Object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8285" y="5338298"/>
                <a:ext cx="3323082" cy="1239837"/>
              </a:xfrm>
              <a:prstGeom prst="rect">
                <a:avLst/>
              </a:prstGeom>
              <a:blipFill rotWithShape="1">
                <a:blip r:embed="rId7"/>
                <a:stretch>
                  <a:fillRect l="-1" t="-39" r="5" b="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Object 59"/>
              <p:cNvSpPr txBox="1"/>
              <p:nvPr/>
            </p:nvSpPr>
            <p:spPr bwMode="auto">
              <a:xfrm>
                <a:off x="3492625" y="4632359"/>
                <a:ext cx="1995108" cy="622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3" name="Object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92625" y="4632359"/>
                <a:ext cx="1995108" cy="622959"/>
              </a:xfrm>
              <a:prstGeom prst="rect">
                <a:avLst/>
              </a:prstGeom>
              <a:blipFill rotWithShape="1">
                <a:blip r:embed="rId8"/>
                <a:stretch>
                  <a:fillRect l="-6" t="-5" r="3" b="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 Box 60"/>
              <p:cNvSpPr txBox="1">
                <a:spLocks noChangeArrowheads="1"/>
              </p:cNvSpPr>
              <p:nvPr/>
            </p:nvSpPr>
            <p:spPr bwMode="auto">
              <a:xfrm>
                <a:off x="2476210" y="4651274"/>
                <a:ext cx="12192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注意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b="1" dirty="0" smtClean="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kumimoji="1" lang="en-US" altLang="zh-CN" sz="2800" b="1" dirty="0">
                  <a:solidFill>
                    <a:srgbClr val="04926A"/>
                  </a:solidFill>
                  <a:latin typeface="Times New Roman" panose="02020603050405020304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44" name="Text 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76210" y="4651274"/>
                <a:ext cx="1219200" cy="519113"/>
              </a:xfrm>
              <a:prstGeom prst="rect">
                <a:avLst/>
              </a:prstGeom>
              <a:blipFill rotWithShape="1">
                <a:blip r:embed="rId9"/>
                <a:stretch>
                  <a:fillRect l="-28" t="-103" r="28" b="4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1078210" y="524153"/>
            <a:ext cx="10095851" cy="3810708"/>
            <a:chOff x="1078210" y="524153"/>
            <a:chExt cx="10095851" cy="3810708"/>
          </a:xfrm>
        </p:grpSpPr>
        <p:sp>
          <p:nvSpPr>
            <p:cNvPr id="11" name="Rectangle 1"/>
            <p:cNvSpPr/>
            <p:nvPr/>
          </p:nvSpPr>
          <p:spPr>
            <a:xfrm>
              <a:off x="1458279" y="524153"/>
              <a:ext cx="9715782" cy="3810708"/>
            </a:xfrm>
            <a:prstGeom prst="rect">
              <a:avLst/>
            </a:prstGeom>
            <a:solidFill>
              <a:srgbClr val="04926A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PA-102231"/>
            <p:cNvSpPr/>
            <p:nvPr>
              <p:custDataLst>
                <p:tags r:id="rId10"/>
              </p:custDataLst>
            </p:nvPr>
          </p:nvSpPr>
          <p:spPr>
            <a:xfrm>
              <a:off x="1078210" y="1911628"/>
              <a:ext cx="1245600" cy="900000"/>
            </a:xfrm>
            <a:prstGeom prst="rect">
              <a:avLst/>
            </a:prstGeom>
            <a:solidFill>
              <a:schemeClr val="bg1"/>
            </a:solidFill>
            <a:ln w="19050">
              <a:gradFill>
                <a:gsLst>
                  <a:gs pos="5000">
                    <a:srgbClr val="17A45E"/>
                  </a:gs>
                  <a:gs pos="56000">
                    <a:srgbClr val="039267"/>
                  </a:gs>
                  <a:gs pos="100000">
                    <a:srgbClr val="068983"/>
                  </a:gs>
                </a:gsLst>
                <a:lin ang="10800000" scaled="0"/>
              </a:gradFill>
            </a:ln>
            <a:effectLst>
              <a:outerShdw blurRad="203200" dist="63500" dir="3000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n>
                  <a:solidFill>
                    <a:schemeClr val="bg1">
                      <a:lumMod val="95000"/>
                    </a:schemeClr>
                  </a:solidFill>
                </a:ln>
                <a:cs typeface="+mn-ea"/>
                <a:sym typeface="+mn-lt"/>
              </a:endParaRPr>
            </a:p>
          </p:txBody>
        </p:sp>
        <p:sp>
          <p:nvSpPr>
            <p:cNvPr id="13" name="Rectangle 2"/>
            <p:cNvSpPr txBox="1">
              <a:spLocks noChangeArrowheads="1"/>
            </p:cNvSpPr>
            <p:nvPr/>
          </p:nvSpPr>
          <p:spPr>
            <a:xfrm>
              <a:off x="1092683" y="2111274"/>
              <a:ext cx="1341632" cy="526262"/>
            </a:xfrm>
            <a:noFill/>
            <a:ln>
              <a:noFill/>
            </a:ln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kumimoji="1" lang="zh-CN" altLang="en-US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定义1</a:t>
              </a:r>
              <a:endPara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5"/>
              <p:cNvSpPr txBox="1"/>
              <p:nvPr/>
            </p:nvSpPr>
            <p:spPr bwMode="auto">
              <a:xfrm>
                <a:off x="3604545" y="576400"/>
                <a:ext cx="2288255" cy="5867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4545" y="576400"/>
                <a:ext cx="2288255" cy="586723"/>
              </a:xfrm>
              <a:prstGeom prst="rect">
                <a:avLst/>
              </a:prstGeom>
              <a:blipFill rotWithShape="1">
                <a:blip r:embed="rId11"/>
                <a:stretch>
                  <a:fillRect l="-12" t="-78" b="7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5334000" y="573366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ea"/>
                <a:sym typeface="+mn-lt"/>
              </a:rPr>
              <a:t>在点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8"/>
              <p:cNvSpPr txBox="1"/>
              <p:nvPr/>
            </p:nvSpPr>
            <p:spPr bwMode="auto">
              <a:xfrm>
                <a:off x="3654476" y="1144072"/>
                <a:ext cx="6043612" cy="135731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Δ</m:t>
                              </m:r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</m:t>
                              </m:r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𝑓</m:t>
                              </m:r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           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CN" sz="2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     </m:t>
                              </m:r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)−</m:t>
                              </m:r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𝑓</m:t>
                              </m:r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CN" sz="2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num>
                            <m:den>
                              <m:r>
                                <a:rPr kumimoji="1" lang="en-US" altLang="zh-CN" sz="2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4476" y="1144072"/>
                <a:ext cx="6043612" cy="1357314"/>
              </a:xfrm>
              <a:prstGeom prst="rect">
                <a:avLst/>
              </a:prstGeom>
              <a:blipFill rotWithShape="1">
                <a:blip r:embed="rId12"/>
                <a:stretch>
                  <a:fillRect l="-1" t="-32" r="6" b="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Box 9"/>
              <p:cNvSpPr txBox="1">
                <a:spLocks noChangeArrowheads="1"/>
              </p:cNvSpPr>
              <p:nvPr/>
            </p:nvSpPr>
            <p:spPr bwMode="auto">
              <a:xfrm>
                <a:off x="2476210" y="2078827"/>
                <a:ext cx="12954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存在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6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76210" y="2078827"/>
                <a:ext cx="1295400" cy="519113"/>
              </a:xfrm>
              <a:prstGeom prst="rect">
                <a:avLst/>
              </a:prstGeom>
              <a:blipFill rotWithShape="1">
                <a:blip r:embed="rId13"/>
                <a:stretch>
                  <a:fillRect l="-27" t="-91" r="27" b="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10"/>
              <p:cNvSpPr txBox="1"/>
              <p:nvPr/>
            </p:nvSpPr>
            <p:spPr bwMode="auto">
              <a:xfrm>
                <a:off x="6350494" y="2079767"/>
                <a:ext cx="4516895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对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50494" y="2079767"/>
                <a:ext cx="4516895" cy="469900"/>
              </a:xfrm>
              <a:prstGeom prst="rect">
                <a:avLst/>
              </a:prstGeom>
              <a:blipFill rotWithShape="1">
                <a:blip r:embed="rId14"/>
                <a:stretch>
                  <a:fillRect l="-11" t="-30" r="14" b="-21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Box 11"/>
              <p:cNvSpPr txBox="1">
                <a:spLocks noChangeArrowheads="1"/>
              </p:cNvSpPr>
              <p:nvPr/>
            </p:nvSpPr>
            <p:spPr bwMode="auto">
              <a:xfrm>
                <a:off x="2476210" y="2883895"/>
                <a:ext cx="2572095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的偏导数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 记为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8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76210" y="2883895"/>
                <a:ext cx="2572095" cy="519112"/>
              </a:xfrm>
              <a:prstGeom prst="rect">
                <a:avLst/>
              </a:prstGeom>
              <a:blipFill rotWithShape="1">
                <a:blip r:embed="rId15"/>
                <a:stretch>
                  <a:fillRect l="-13" t="-69" r="2" b="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13"/>
              <p:cNvSpPr txBox="1"/>
              <p:nvPr/>
            </p:nvSpPr>
            <p:spPr bwMode="auto">
              <a:xfrm>
                <a:off x="4799716" y="2572326"/>
                <a:ext cx="2218113" cy="12623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 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eqArr>
                            <m:eqArrPr>
                              <m:ctrlPr>
                                <a:rPr kumimoji="1" lang="en-US" altLang="zh-CN" sz="28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zh-CN" sz="2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sub>
                      </m:sSub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9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9716" y="2572326"/>
                <a:ext cx="2218113" cy="1262334"/>
              </a:xfrm>
              <a:prstGeom prst="rect">
                <a:avLst/>
              </a:prstGeom>
              <a:blipFill rotWithShape="1">
                <a:blip r:embed="rId16"/>
                <a:stretch>
                  <a:fillRect l="-17" t="-46" r="20" b="4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23"/>
              <p:cNvSpPr txBox="1"/>
              <p:nvPr/>
            </p:nvSpPr>
            <p:spPr bwMode="auto">
              <a:xfrm>
                <a:off x="6158859" y="543204"/>
                <a:ext cx="1804331" cy="7032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8859" y="543204"/>
                <a:ext cx="1804331" cy="703263"/>
              </a:xfrm>
              <a:prstGeom prst="rect">
                <a:avLst/>
              </a:prstGeom>
              <a:blipFill rotWithShape="1">
                <a:blip r:embed="rId17"/>
                <a:stretch>
                  <a:fillRect l="-35" t="-40" r="16" b="8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Box 24"/>
              <p:cNvSpPr txBox="1">
                <a:spLocks noChangeArrowheads="1"/>
              </p:cNvSpPr>
              <p:nvPr/>
            </p:nvSpPr>
            <p:spPr bwMode="auto">
              <a:xfrm>
                <a:off x="7444643" y="573366"/>
                <a:ext cx="3182815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的某邻域内有定义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15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44643" y="573366"/>
                <a:ext cx="3182815" cy="523220"/>
              </a:xfrm>
              <a:prstGeom prst="rect">
                <a:avLst/>
              </a:prstGeom>
              <a:blipFill rotWithShape="1">
                <a:blip r:embed="rId18"/>
                <a:stretch>
                  <a:fillRect l="-17" t="-114" r="3" b="11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bject 26"/>
              <p:cNvSpPr txBox="1"/>
              <p:nvPr/>
            </p:nvSpPr>
            <p:spPr bwMode="auto">
              <a:xfrm>
                <a:off x="6458305" y="2619294"/>
                <a:ext cx="2019301" cy="10469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latin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 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eqArr>
                            <m:eqArrPr>
                              <m:ctrlPr>
                                <a:rPr kumimoji="1" lang="en-US" altLang="zh-CN" sz="28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sub>
                      </m:sSub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7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58305" y="2619294"/>
                <a:ext cx="2019301" cy="1046974"/>
              </a:xfrm>
              <a:prstGeom prst="rect">
                <a:avLst/>
              </a:prstGeom>
              <a:blipFill rotWithShape="1">
                <a:blip r:embed="rId19"/>
                <a:stretch>
                  <a:fillRect l="-18" t="-53" r="18" b="-33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bject 31"/>
              <p:cNvSpPr txBox="1"/>
              <p:nvPr/>
            </p:nvSpPr>
            <p:spPr bwMode="auto">
              <a:xfrm>
                <a:off x="4834085" y="1123436"/>
                <a:ext cx="1573362" cy="476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34085" y="1123436"/>
                <a:ext cx="1573362" cy="476250"/>
              </a:xfrm>
              <a:prstGeom prst="rect">
                <a:avLst/>
              </a:prstGeom>
              <a:blipFill rotWithShape="1">
                <a:blip r:embed="rId20"/>
                <a:stretch>
                  <a:fillRect l="-30" t="-25" r="19" b="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bject 32"/>
              <p:cNvSpPr txBox="1"/>
              <p:nvPr/>
            </p:nvSpPr>
            <p:spPr bwMode="auto">
              <a:xfrm>
                <a:off x="7599737" y="1102003"/>
                <a:ext cx="553278" cy="7207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99737" y="1102003"/>
                <a:ext cx="553278" cy="720726"/>
              </a:xfrm>
              <a:prstGeom prst="rect">
                <a:avLst/>
              </a:prstGeom>
              <a:blipFill rotWithShape="1">
                <a:blip r:embed="rId21"/>
                <a:stretch>
                  <a:fillRect l="-10" t="-39" r="45" b="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33"/>
          <p:cNvSpPr txBox="1">
            <a:spLocks noChangeArrowheads="1"/>
          </p:cNvSpPr>
          <p:nvPr/>
        </p:nvSpPr>
        <p:spPr bwMode="auto">
          <a:xfrm>
            <a:off x="3396135" y="2072873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ea"/>
                <a:sym typeface="+mn-lt"/>
              </a:rPr>
              <a:t>则称此极限为函数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1" name="Text Box 34"/>
          <p:cNvSpPr txBox="1">
            <a:spLocks noChangeArrowheads="1"/>
          </p:cNvSpPr>
          <p:nvPr/>
        </p:nvSpPr>
        <p:spPr bwMode="auto">
          <a:xfrm>
            <a:off x="2476210" y="1363453"/>
            <a:ext cx="1600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ea"/>
                <a:sym typeface="+mn-lt"/>
              </a:rPr>
              <a:t>若极限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5" name="Text Box 36"/>
          <p:cNvSpPr txBox="1">
            <a:spLocks noChangeArrowheads="1"/>
          </p:cNvSpPr>
          <p:nvPr/>
        </p:nvSpPr>
        <p:spPr bwMode="auto">
          <a:xfrm>
            <a:off x="2476210" y="599280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ea"/>
                <a:sym typeface="+mn-lt"/>
              </a:rPr>
              <a:t>设函数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Object 46"/>
              <p:cNvSpPr txBox="1"/>
              <p:nvPr/>
            </p:nvSpPr>
            <p:spPr bwMode="auto">
              <a:xfrm>
                <a:off x="6419234" y="1660012"/>
                <a:ext cx="827849" cy="7366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2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19234" y="1660012"/>
                <a:ext cx="827849" cy="736601"/>
              </a:xfrm>
              <a:prstGeom prst="rect">
                <a:avLst/>
              </a:prstGeom>
              <a:blipFill rotWithShape="1">
                <a:blip r:embed="rId22"/>
                <a:stretch>
                  <a:fillRect l="-2" t="-17" r="56" b="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Object 12"/>
              <p:cNvSpPr txBox="1"/>
              <p:nvPr/>
            </p:nvSpPr>
            <p:spPr bwMode="auto">
              <a:xfrm>
                <a:off x="2520287" y="3650319"/>
                <a:ext cx="2603500" cy="793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).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  <a:p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6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0287" y="3650319"/>
                <a:ext cx="2603500" cy="793750"/>
              </a:xfrm>
              <a:prstGeom prst="rect">
                <a:avLst/>
              </a:prstGeom>
              <a:blipFill rotWithShape="1">
                <a:blip r:embed="rId23"/>
                <a:stretch>
                  <a:fillRect l="-23" t="-43" r="23" b="-132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Object 27"/>
              <p:cNvSpPr txBox="1"/>
              <p:nvPr/>
            </p:nvSpPr>
            <p:spPr bwMode="auto">
              <a:xfrm>
                <a:off x="8164992" y="2715358"/>
                <a:ext cx="1914872" cy="83245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 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eqArr>
                            <m:eqArrPr>
                              <m:ctrlPr>
                                <a:rPr kumimoji="1" lang="en-US" altLang="zh-CN" sz="28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sub>
                      </m:sSub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7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64992" y="2715358"/>
                <a:ext cx="1914872" cy="832458"/>
              </a:xfrm>
              <a:prstGeom prst="rect">
                <a:avLst/>
              </a:prstGeom>
              <a:blipFill rotWithShape="1">
                <a:blip r:embed="rId24"/>
                <a:stretch>
                  <a:fillRect l="-8" t="-12" r="27" b="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bject 28"/>
          <p:cNvSpPr txBox="1"/>
          <p:nvPr/>
        </p:nvSpPr>
        <p:spPr bwMode="auto">
          <a:xfrm>
            <a:off x="4127315" y="3688927"/>
            <a:ext cx="2895600" cy="61694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/>
          <a:p>
            <a:endParaRPr kumimoji="1" lang="zh-CN" altLang="en-US" sz="2800" i="1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 autoUpdateAnimBg="0"/>
      <p:bldP spid="26" grpId="0"/>
      <p:bldP spid="27" grpId="0"/>
      <p:bldP spid="30" grpId="0"/>
      <p:bldP spid="31" grpId="0"/>
      <p:bldP spid="38" grpId="0"/>
      <p:bldP spid="40" grpId="0" animBg="1" autoUpdateAnimBg="0"/>
      <p:bldP spid="41" grpId="0"/>
      <p:bldP spid="42" grpId="0"/>
      <p:bldP spid="43" grpId="0"/>
      <p:bldP spid="44" grpId="0" autoUpdateAnimBg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5" grpId="0"/>
      <p:bldP spid="17" grpId="0"/>
      <p:bldP spid="18" grpId="0"/>
      <p:bldP spid="19" grpId="0"/>
      <p:bldP spid="20" grpId="0"/>
      <p:bldP spid="21" grpId="0"/>
      <p:bldP spid="25" grpId="0"/>
      <p:bldP spid="32" grpId="0"/>
      <p:bldP spid="36" grpId="0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Object 15"/>
              <p:cNvSpPr txBox="1"/>
              <p:nvPr/>
            </p:nvSpPr>
            <p:spPr bwMode="auto">
              <a:xfrm>
                <a:off x="3624580" y="1914525"/>
                <a:ext cx="3798570" cy="11760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US" altLang="zh-CN" sz="28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 </m:t>
                              </m:r>
                              <m:f>
                                <m:fPr>
                                  <m:ctrlP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宋体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dirty="0">
                                      <a:latin typeface="Cambria Math" panose="02040503050406030204" charset="0"/>
                                    </a:rPr>
                                    <m:t>d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dirty="0">
                                      <a:latin typeface="Cambria Math" panose="02040503050406030204" charset="0"/>
                                    </a:rPr>
                                    <m:t>d</m:t>
                                  </m:r>
                                  <m:r>
                                    <a:rPr kumimoji="1" lang="en-US" altLang="zh-CN" sz="2800" b="0" i="1" dirty="0" smtClean="0">
                                      <a:latin typeface="Cambria Math" panose="02040503050406030204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𝑓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charset="0"/>
                              <a:ea typeface="宋体" panose="02010600030101010101" pitchFamily="2" charset="-122"/>
                            </a:rPr>
                            <m:t>𝑦</m:t>
                          </m:r>
                          <m:r>
                            <a:rPr kumimoji="1" lang="en-US" altLang="zh-CN" sz="2800" i="1" dirty="0">
                              <a:latin typeface="Cambria Math" panose="02040503050406030204" charset="0"/>
                              <a:ea typeface="宋体" panose="02010600030101010101" pitchFamily="2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>
          <p:sp>
            <p:nvSpPr>
              <p:cNvPr id="2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24580" y="1914525"/>
                <a:ext cx="3798570" cy="117602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1"/>
              <p:cNvSpPr txBox="1">
                <a:spLocks noChangeArrowheads="1"/>
              </p:cNvSpPr>
              <p:nvPr/>
            </p:nvSpPr>
            <p:spPr>
              <a:xfrm>
                <a:off x="2140653" y="491671"/>
                <a:ext cx="5105400" cy="685800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cs typeface="+mn-cs"/>
                    <a:sym typeface="+mn-lt"/>
                  </a:rPr>
                  <a:t>同样可定义对</a:t>
                </a:r>
                <a14:m>
                  <m:oMath xmlns:m="http://schemas.openxmlformats.org/officeDocument/2006/math">
                    <m:r>
                      <a:rPr kumimoji="1" lang="en-US" altLang="zh-CN" sz="2800" dirty="0" smtClean="0"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cs typeface="+mn-cs"/>
                    <a:sym typeface="+mn-lt"/>
                  </a:rPr>
                  <a:t>的偏导数</a:t>
                </a:r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+mn-cs"/>
                  <a:sym typeface="+mn-lt"/>
                </a:endParaRPr>
              </a:p>
            </p:txBody>
          </p:sp>
        </mc:Choice>
        <mc:Fallback>
          <p:sp>
            <p:nvSpPr>
              <p:cNvPr id="3" name="Rectangle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653" y="491671"/>
                <a:ext cx="5105400" cy="685800"/>
              </a:xfrm>
              <a:prstGeom prst="rect">
                <a:avLst/>
              </a:prstGeom>
              <a:blipFill rotWithShape="1">
                <a:blip r:embed="rId2"/>
                <a:stretch>
                  <a:fillRect l="-1" t="-26" r="1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22"/>
              <p:cNvSpPr txBox="1"/>
              <p:nvPr/>
            </p:nvSpPr>
            <p:spPr bwMode="auto">
              <a:xfrm>
                <a:off x="3624545" y="1216077"/>
                <a:ext cx="5283684" cy="7661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charset="0"/>
                          <a:ea typeface="宋体" panose="02010600030101010101" pitchFamily="2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宋体" panose="02010600030101010101" pitchFamily="2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Δ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𝑦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→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       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CN" sz="2800" i="1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           </m:t>
                              </m:r>
                              <m:r>
                                <m:rPr>
                                  <m:nor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                               </m:t>
                              </m:r>
                            </m:num>
                            <m:den>
                              <m:r>
                                <a:rPr kumimoji="1" lang="en-US" altLang="zh-CN" sz="2800" i="1" smtClean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   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4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24545" y="1216077"/>
                <a:ext cx="5283684" cy="766179"/>
              </a:xfrm>
              <a:prstGeom prst="rect">
                <a:avLst/>
              </a:prstGeom>
              <a:blipFill rotWithShape="1">
                <a:blip r:embed="rId3"/>
                <a:stretch>
                  <a:fillRect l="-11" t="-7" r="8" b="-133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25"/>
              <p:cNvSpPr txBox="1"/>
              <p:nvPr/>
            </p:nvSpPr>
            <p:spPr bwMode="auto">
              <a:xfrm>
                <a:off x="2134858" y="1209144"/>
                <a:ext cx="1878013" cy="7667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+mj-cs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+mj-cs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>
          <p:sp>
            <p:nvSpPr>
              <p:cNvPr id="5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4858" y="1209144"/>
                <a:ext cx="1878013" cy="766762"/>
              </a:xfrm>
              <a:prstGeom prst="rect">
                <a:avLst/>
              </a:prstGeom>
              <a:blipFill rotWithShape="1">
                <a:blip r:embed="rId4"/>
                <a:stretch>
                  <a:fillRect l="-33" t="-14" r="16" b="5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Box 26"/>
              <p:cNvSpPr txBox="1">
                <a:spLocks noChangeArrowheads="1"/>
              </p:cNvSpPr>
              <p:nvPr/>
            </p:nvSpPr>
            <p:spPr bwMode="auto">
              <a:xfrm>
                <a:off x="2140653" y="3283732"/>
                <a:ext cx="8179004" cy="4370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若函数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宋体" panose="02010600030101010101" pitchFamily="2" charset="-122"/>
                    <a:sym typeface="+mn-lt"/>
                  </a:rPr>
                  <a:t>= 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charset="0"/>
                        <a:ea typeface="宋体" panose="02010600030101010101" pitchFamily="2" charset="-122"/>
                      </a:rPr>
                      <m:t>𝑓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宋体" panose="02010600030101010101" pitchFamily="2" charset="-122"/>
                    <a:sym typeface="+mn-lt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宋体" panose="02010600030101010101" pitchFamily="2" charset="-122"/>
                    <a:sym typeface="+mn-lt"/>
                  </a:rPr>
                  <a:t> , </a:t>
                </a:r>
                <a14:m>
                  <m:oMath xmlns:m="http://schemas.openxmlformats.org/officeDocument/2006/math">
                    <m:r>
                      <a:rPr kumimoji="1" lang="en-US" altLang="zh-CN" sz="2800" b="0" i="1" dirty="0" smtClean="0"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宋体" panose="02010600030101010101" pitchFamily="2" charset="-122"/>
                    <a:sym typeface="+mn-lt"/>
                  </a:rPr>
                  <a:t>)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在区域 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𝐷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 内每一点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FF33"/>
                    </a:solidFill>
                    <a:effectLst/>
                    <a:uLnTx/>
                    <a:uFillTx/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 </a:t>
                </a:r>
                <a:r>
                  <a:rPr kumimoji="1" lang="en-US" altLang="zh-CN" sz="2800" dirty="0">
                    <a:latin typeface="Cambria Math" panose="02040503050406030204" charset="0"/>
                    <a:ea typeface="宋体" panose="02010600030101010101" pitchFamily="2" charset="-122"/>
                    <a:sym typeface="+mn-lt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宋体" panose="02010600030101010101" pitchFamily="2" charset="-122"/>
                    <a:sym typeface="+mn-lt"/>
                  </a:rPr>
                  <a:t> ,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宋体" panose="02010600030101010101" pitchFamily="2" charset="-122"/>
                    <a:sym typeface="+mn-lt"/>
                  </a:rPr>
                  <a:t>)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处对</a:t>
                </a:r>
                <a14:m>
                  <m:oMath xmlns:m="http://schemas.openxmlformats.org/officeDocument/2006/math">
                    <m:r>
                      <a:rPr kumimoji="1" lang="en-US" altLang="zh-CN" sz="2800" b="0" i="0" dirty="0" smtClean="0">
                        <a:latin typeface="Cambria Math" panose="02040503050406030204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6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0653" y="3283732"/>
                <a:ext cx="8179004" cy="437043"/>
              </a:xfrm>
              <a:prstGeom prst="rect">
                <a:avLst/>
              </a:prstGeom>
              <a:blipFill rotWithShape="1">
                <a:blip r:embed="rId5"/>
                <a:stretch>
                  <a:fillRect l="-1" t="-2068" r="3" b="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27"/>
              <p:cNvSpPr txBox="1"/>
              <p:nvPr/>
            </p:nvSpPr>
            <p:spPr bwMode="auto">
              <a:xfrm>
                <a:off x="4296829" y="4385566"/>
                <a:ext cx="2045910" cy="10641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 smtClean="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96829" y="4385566"/>
                <a:ext cx="2045910" cy="1064106"/>
              </a:xfrm>
              <a:prstGeom prst="rect">
                <a:avLst/>
              </a:prstGeom>
              <a:blipFill rotWithShape="1">
                <a:blip r:embed="rId6"/>
                <a:stretch>
                  <a:fillRect l="-20" t="-24" r="18" b="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Box 29"/>
              <p:cNvSpPr txBox="1">
                <a:spLocks noChangeArrowheads="1"/>
              </p:cNvSpPr>
              <p:nvPr/>
            </p:nvSpPr>
            <p:spPr bwMode="auto">
              <a:xfrm>
                <a:off x="4834318" y="3920505"/>
                <a:ext cx="4267200" cy="433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则该偏导数称为偏导函数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8" name="Text 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34318" y="3920505"/>
                <a:ext cx="4267200" cy="433388"/>
              </a:xfrm>
              <a:prstGeom prst="rect">
                <a:avLst/>
              </a:prstGeom>
              <a:blipFill rotWithShape="1">
                <a:blip r:embed="rId7"/>
                <a:stretch>
                  <a:fillRect l="-1" t="-736" r="1" b="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30"/>
          <p:cNvSpPr txBox="1">
            <a:spLocks noChangeArrowheads="1"/>
          </p:cNvSpPr>
          <p:nvPr/>
        </p:nvSpPr>
        <p:spPr bwMode="auto">
          <a:xfrm>
            <a:off x="8847639" y="3922332"/>
            <a:ext cx="1697183" cy="437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ea"/>
                <a:sym typeface="+mn-lt"/>
              </a:rPr>
              <a:t>也简称为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Box 31"/>
              <p:cNvSpPr txBox="1">
                <a:spLocks noChangeArrowheads="1"/>
              </p:cNvSpPr>
              <p:nvPr/>
            </p:nvSpPr>
            <p:spPr bwMode="auto">
              <a:xfrm>
                <a:off x="2140653" y="4632422"/>
                <a:ext cx="1436025" cy="433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偏导数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10" name="Text 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0653" y="4632422"/>
                <a:ext cx="1436025" cy="433388"/>
              </a:xfrm>
              <a:prstGeom prst="rect">
                <a:avLst/>
              </a:prstGeom>
              <a:blipFill rotWithShape="1">
                <a:blip r:embed="rId8"/>
                <a:stretch>
                  <a:fillRect l="-5" t="-755" r="25" b="9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bject 32"/>
              <p:cNvSpPr txBox="1"/>
              <p:nvPr/>
            </p:nvSpPr>
            <p:spPr bwMode="auto">
              <a:xfrm>
                <a:off x="6191448" y="4606983"/>
                <a:ext cx="3022431" cy="5446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 smtClean="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d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;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91448" y="4606983"/>
                <a:ext cx="3022431" cy="544664"/>
              </a:xfrm>
              <a:prstGeom prst="rect">
                <a:avLst/>
              </a:prstGeom>
              <a:blipFill rotWithShape="1">
                <a:blip r:embed="rId9"/>
                <a:stretch>
                  <a:fillRect l="-7" t="-11" r="1" b="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bject 33"/>
              <p:cNvSpPr txBox="1"/>
              <p:nvPr/>
            </p:nvSpPr>
            <p:spPr bwMode="auto">
              <a:xfrm>
                <a:off x="6159860" y="5656836"/>
                <a:ext cx="3787426" cy="5446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9860" y="5656836"/>
                <a:ext cx="3787426" cy="544664"/>
              </a:xfrm>
              <a:prstGeom prst="rect">
                <a:avLst/>
              </a:prstGeom>
              <a:blipFill rotWithShape="1">
                <a:blip r:embed="rId10"/>
                <a:stretch>
                  <a:fillRect l="-10" t="-47" b="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bject 34"/>
              <p:cNvSpPr txBox="1"/>
              <p:nvPr/>
            </p:nvSpPr>
            <p:spPr bwMode="auto">
              <a:xfrm>
                <a:off x="4763758" y="892848"/>
                <a:ext cx="4049016" cy="7033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+mj-cs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, </m:t>
                          </m:r>
                          <m:r>
                            <a:rPr kumimoji="1" lang="en-US" altLang="zh-CN" sz="2800" b="0" i="1" smtClean="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            </m:t>
                          </m:r>
                        </m:e>
                      </m:d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>
          <p:sp>
            <p:nvSpPr>
              <p:cNvPr id="18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3758" y="892848"/>
                <a:ext cx="4049016" cy="703354"/>
              </a:xfrm>
              <a:prstGeom prst="rect">
                <a:avLst/>
              </a:prstGeom>
              <a:blipFill rotWithShape="1">
                <a:blip r:embed="rId11"/>
                <a:stretch>
                  <a:fillRect l="-15" t="-5" r="6" b="6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bject 35"/>
              <p:cNvSpPr txBox="1"/>
              <p:nvPr/>
            </p:nvSpPr>
            <p:spPr bwMode="auto">
              <a:xfrm>
                <a:off x="7058783" y="892249"/>
                <a:ext cx="1849446" cy="623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sz="2800" smtClean="0">
                        <a:latin typeface="Cambria Math" panose="02040503050406030204" charset="0"/>
                        <a:ea typeface="黑体" panose="02010609060101010101" pitchFamily="49" charset="-122"/>
                        <a:cs typeface="+mj-cs"/>
                      </a:rPr>
                      <m:t>−</m:t>
                    </m:r>
                    <m:r>
                      <a:rPr kumimoji="1" lang="zh-CN" altLang="en-US" sz="2800" smtClean="0">
                        <a:latin typeface="Cambria Math" panose="02040503050406030204" charset="0"/>
                        <a:ea typeface="黑体" panose="02010609060101010101" pitchFamily="49" charset="-122"/>
                        <a:cs typeface="+mj-cs"/>
                      </a:rPr>
                      <m:t>𝑓</m:t>
                    </m:r>
                    <m:d>
                      <m:dPr>
                        <m:ctrlPr>
                          <a:rPr kumimoji="1" lang="zh-CN" altLang="en-US" sz="2800" i="1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+mj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zh-CN" altLang="en-US" sz="2800" i="1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j-cs"/>
                              </a:rPr>
                            </m:ctrlPr>
                          </m:sSubPr>
                          <m:e>
                            <m:r>
                              <a:rPr kumimoji="1" lang="zh-CN" altLang="en-US" sz="280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j-cs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zh-CN" altLang="en-US" sz="280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+mj-cs"/>
                              </a:rPr>
                              <m:t>0</m:t>
                            </m:r>
                          </m:sub>
                        </m:sSub>
                        <m:r>
                          <a:rPr kumimoji="1" lang="zh-CN" altLang="en-US" sz="2800">
                            <a:latin typeface="Cambria Math" panose="02040503050406030204" charset="0"/>
                            <a:ea typeface="黑体" panose="02010609060101010101" pitchFamily="49" charset="-122"/>
                            <a:cs typeface="+mj-cs"/>
                          </a:rPr>
                          <m:t>,</m:t>
                        </m:r>
                        <m:r>
                          <a:rPr kumimoji="1" lang="zh-CN" altLang="en-US" sz="280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+mj-cs"/>
                          </a:rPr>
                          <m:t> </m:t>
                        </m:r>
                      </m:e>
                    </m:d>
                  </m:oMath>
                </a14:m>
                <a:r>
                  <a:rPr kumimoji="1" lang="zh-CN" altLang="en-US" sz="2800" dirty="0">
                    <a:latin typeface="Cambria Math" panose="02040503050406030204" charset="0"/>
                    <a:ea typeface="黑体" panose="02010609060101010101" pitchFamily="49" charset="-122"/>
                    <a:cs typeface="+mj-cs"/>
                  </a:rPr>
                  <a:t> </a:t>
                </a:r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>
          <p:sp>
            <p:nvSpPr>
              <p:cNvPr id="19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58783" y="892249"/>
                <a:ext cx="1849446" cy="623186"/>
              </a:xfrm>
              <a:prstGeom prst="rect">
                <a:avLst/>
              </a:prstGeom>
              <a:blipFill rotWithShape="1">
                <a:blip r:embed="rId12"/>
                <a:stretch>
                  <a:fillRect l="-7" t="-12" r="24" b="5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bject 36"/>
              <p:cNvSpPr txBox="1"/>
              <p:nvPr/>
            </p:nvSpPr>
            <p:spPr bwMode="auto">
              <a:xfrm>
                <a:off x="6509827" y="1804857"/>
                <a:ext cx="773112" cy="5667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+mj-cs"/>
                        </a:rPr>
                        <m:t>Δ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>
          <p:sp>
            <p:nvSpPr>
              <p:cNvPr id="20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09827" y="1804857"/>
                <a:ext cx="773112" cy="566739"/>
              </a:xfrm>
              <a:prstGeom prst="rect">
                <a:avLst/>
              </a:prstGeom>
              <a:blipFill rotWithShape="1">
                <a:blip r:embed="rId13"/>
                <a:stretch>
                  <a:fillRect l="-57" t="-33" r="16" b="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37"/>
          <p:cNvSpPr txBox="1">
            <a:spLocks noChangeArrowheads="1"/>
          </p:cNvSpPr>
          <p:nvPr/>
        </p:nvSpPr>
        <p:spPr bwMode="auto">
          <a:xfrm>
            <a:off x="3457309" y="4615568"/>
            <a:ext cx="99060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ea"/>
                <a:sym typeface="+mn-lt"/>
              </a:rPr>
              <a:t>记为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Object 38"/>
              <p:cNvSpPr txBox="1"/>
              <p:nvPr/>
            </p:nvSpPr>
            <p:spPr bwMode="auto">
              <a:xfrm>
                <a:off x="5606075" y="946302"/>
                <a:ext cx="1578091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+mj-cs"/>
                        </a:rPr>
                        <m:t>Δ</m:t>
                      </m:r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>
          <p:sp>
            <p:nvSpPr>
              <p:cNvPr id="24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06075" y="946302"/>
                <a:ext cx="1578091" cy="444500"/>
              </a:xfrm>
              <a:prstGeom prst="rect">
                <a:avLst/>
              </a:prstGeom>
              <a:blipFill rotWithShape="1">
                <a:blip r:embed="rId14"/>
                <a:stretch>
                  <a:fillRect l="-19" t="-34" r="26" b="-625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Object 39"/>
              <p:cNvSpPr txBox="1"/>
              <p:nvPr/>
            </p:nvSpPr>
            <p:spPr bwMode="auto">
              <a:xfrm>
                <a:off x="8157443" y="945288"/>
                <a:ext cx="557541" cy="685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>
          <p:sp>
            <p:nvSpPr>
              <p:cNvPr id="25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57443" y="945288"/>
                <a:ext cx="557541" cy="685800"/>
              </a:xfrm>
              <a:prstGeom prst="rect">
                <a:avLst/>
              </a:prstGeom>
              <a:blipFill rotWithShape="1">
                <a:blip r:embed="rId15"/>
                <a:stretch>
                  <a:fillRect l="-42" t="-59" r="44" b="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 Box 47"/>
              <p:cNvSpPr txBox="1">
                <a:spLocks noChangeArrowheads="1"/>
              </p:cNvSpPr>
              <p:nvPr/>
            </p:nvSpPr>
            <p:spPr bwMode="auto">
              <a:xfrm>
                <a:off x="2140653" y="3914155"/>
                <a:ext cx="2802757" cy="4370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或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 偏导数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存在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26" name="Text 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0653" y="3914155"/>
                <a:ext cx="2802757" cy="437043"/>
              </a:xfrm>
              <a:prstGeom prst="rect">
                <a:avLst/>
              </a:prstGeom>
              <a:blipFill rotWithShape="1">
                <a:blip r:embed="rId16"/>
                <a:stretch>
                  <a:fillRect l="-2" t="-2038" r="20" b="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Object 48"/>
              <p:cNvSpPr txBox="1"/>
              <p:nvPr/>
            </p:nvSpPr>
            <p:spPr bwMode="auto">
              <a:xfrm>
                <a:off x="4294288" y="5431812"/>
                <a:ext cx="2144713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 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7" name="Object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94288" y="5431812"/>
                <a:ext cx="2144713" cy="927100"/>
              </a:xfrm>
              <a:prstGeom prst="rect">
                <a:avLst/>
              </a:prstGeom>
              <a:blipFill rotWithShape="1">
                <a:blip r:embed="rId17"/>
                <a:stretch>
                  <a:fillRect l="-19" t="-2" r="5" b="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4" grpId="0"/>
      <p:bldP spid="5" grpId="0"/>
      <p:bldP spid="6" grpId="0" autoUpdateAnimBg="0"/>
      <p:bldP spid="7" grpId="0"/>
      <p:bldP spid="8" grpId="0" autoUpdateAnimBg="0"/>
      <p:bldP spid="9" grpId="0" autoUpdateAnimBg="0"/>
      <p:bldP spid="10" grpId="0" autoUpdateAnimBg="0"/>
      <p:bldP spid="15" grpId="0"/>
      <p:bldP spid="18" grpId="0"/>
      <p:bldP spid="19" grpId="0"/>
      <p:bldP spid="20" grpId="0" bldLvl="0" animBg="1"/>
      <p:bldP spid="21" grpId="0" autoUpdateAnimBg="0"/>
      <p:bldP spid="24" grpId="0"/>
      <p:bldP spid="25" grpId="0"/>
      <p:bldP spid="26" grpId="0" autoUpdateAnimBg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Object 7"/>
              <p:cNvSpPr txBox="1"/>
              <p:nvPr/>
            </p:nvSpPr>
            <p:spPr bwMode="auto">
              <a:xfrm>
                <a:off x="1443608" y="3470275"/>
                <a:ext cx="2006599" cy="7064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3608" y="3470275"/>
                <a:ext cx="2006599" cy="706438"/>
              </a:xfrm>
              <a:prstGeom prst="rect">
                <a:avLst/>
              </a:prstGeom>
              <a:blipFill rotWithShape="1">
                <a:blip r:embed="rId1"/>
                <a:stretch>
                  <a:fillRect l="-13" r="13" b="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9"/>
          <p:cNvSpPr txBox="1">
            <a:spLocks noChangeArrowheads="1"/>
          </p:cNvSpPr>
          <p:nvPr/>
        </p:nvSpPr>
        <p:spPr>
          <a:xfrm>
            <a:off x="1547748" y="634044"/>
            <a:ext cx="7086600" cy="5572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  <a:sym typeface="+mn-lt"/>
              </a:rPr>
              <a:t>偏导数的概念可以推广到二元以上的函数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  <a:sym typeface="+mn-lt"/>
              </a:rPr>
              <a:t>.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pitchFamily="49" charset="-122"/>
              <a:cs typeface="+mn-cs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10"/>
              <p:cNvSpPr txBox="1"/>
              <p:nvPr/>
            </p:nvSpPr>
            <p:spPr bwMode="auto">
              <a:xfrm>
                <a:off x="3008267" y="3511371"/>
                <a:ext cx="5726157" cy="6847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Δ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​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                      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CN" sz="2800" b="0" i="1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               </m:t>
                              </m:r>
                              <m:r>
                                <m:rPr>
                                  <m:nor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                 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</m:num>
                            <m:den>
                              <m:r>
                                <a:rPr kumimoji="1" lang="en-US" altLang="zh-CN" sz="2800" b="0" i="1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 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8267" y="3511371"/>
                <a:ext cx="5726157" cy="684762"/>
              </a:xfrm>
              <a:prstGeom prst="rect">
                <a:avLst/>
              </a:prstGeom>
              <a:blipFill rotWithShape="1">
                <a:blip r:embed="rId2"/>
                <a:stretch>
                  <a:fillRect l="-5" t="-67" r="11" b="-2224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11"/>
              <p:cNvSpPr txBox="1"/>
              <p:nvPr/>
            </p:nvSpPr>
            <p:spPr bwMode="auto">
              <a:xfrm>
                <a:off x="4145661" y="3249613"/>
                <a:ext cx="3144837" cy="7064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      </m:t>
                          </m:r>
                          <m:r>
                            <m:rPr>
                              <m:nor/>
                            </m:rPr>
                            <a:rPr kumimoji="1" lang="en-US" altLang="zh-CN" sz="2800" b="0" i="1" smtClean="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    </m:t>
                          </m:r>
                          <m:r>
                            <m:rPr>
                              <m:nor/>
                            </m:r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     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, 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, 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45661" y="3249613"/>
                <a:ext cx="3144837" cy="706438"/>
              </a:xfrm>
              <a:prstGeom prst="rect">
                <a:avLst/>
              </a:prstGeom>
              <a:blipFill rotWithShape="1">
                <a:blip r:embed="rId3"/>
                <a:stretch>
                  <a:fillRect l="-12" t="-45" r="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12"/>
              <p:cNvSpPr txBox="1"/>
              <p:nvPr/>
            </p:nvSpPr>
            <p:spPr bwMode="auto">
              <a:xfrm>
                <a:off x="6778543" y="3243898"/>
                <a:ext cx="1751496" cy="5000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 smtClean="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 i="1" smtClean="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   ,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78543" y="3243898"/>
                <a:ext cx="1751496" cy="500061"/>
              </a:xfrm>
              <a:prstGeom prst="rect">
                <a:avLst/>
              </a:prstGeom>
              <a:blipFill rotWithShape="1">
                <a:blip r:embed="rId4"/>
                <a:stretch>
                  <a:fillRect l="-32" t="-64" r="-4237" b="-406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13"/>
              <p:cNvSpPr txBox="1"/>
              <p:nvPr/>
            </p:nvSpPr>
            <p:spPr bwMode="auto">
              <a:xfrm>
                <a:off x="5867351" y="4140545"/>
                <a:ext cx="639763" cy="5218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67351" y="4140545"/>
                <a:ext cx="639763" cy="521808"/>
              </a:xfrm>
              <a:prstGeom prst="rect">
                <a:avLst/>
              </a:prstGeom>
              <a:blipFill rotWithShape="1">
                <a:blip r:embed="rId5"/>
                <a:stretch>
                  <a:fillRect l="-92" t="-66" r="42" b="3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14"/>
              <p:cNvSpPr txBox="1"/>
              <p:nvPr/>
            </p:nvSpPr>
            <p:spPr bwMode="auto">
              <a:xfrm>
                <a:off x="4572698" y="3344228"/>
                <a:ext cx="2346325" cy="5889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698" y="3344228"/>
                <a:ext cx="2346325" cy="588962"/>
              </a:xfrm>
              <a:prstGeom prst="rect">
                <a:avLst/>
              </a:prstGeom>
              <a:blipFill rotWithShape="1">
                <a:blip r:embed="rId6"/>
                <a:stretch>
                  <a:fillRect l="-3" t="-54" r="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15"/>
              <p:cNvSpPr txBox="1"/>
              <p:nvPr/>
            </p:nvSpPr>
            <p:spPr bwMode="auto">
              <a:xfrm>
                <a:off x="1443608" y="4297929"/>
                <a:ext cx="2613025" cy="7457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 smtClean="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?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3608" y="4297929"/>
                <a:ext cx="2613025" cy="745769"/>
              </a:xfrm>
              <a:prstGeom prst="rect">
                <a:avLst/>
              </a:prstGeom>
              <a:blipFill rotWithShape="1">
                <a:blip r:embed="rId7"/>
                <a:stretch>
                  <a:fillRect l="-10" t="-33" r="10" b="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16"/>
              <p:cNvSpPr txBox="1"/>
              <p:nvPr/>
            </p:nvSpPr>
            <p:spPr bwMode="auto">
              <a:xfrm>
                <a:off x="1462658" y="5116516"/>
                <a:ext cx="2470150" cy="5302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 smtClean="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?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62658" y="5116516"/>
                <a:ext cx="2470150" cy="530225"/>
              </a:xfrm>
              <a:prstGeom prst="rect">
                <a:avLst/>
              </a:prstGeom>
              <a:blipFill rotWithShape="1">
                <a:blip r:embed="rId8"/>
                <a:stretch>
                  <a:fillRect l="-10" t="-61" r="10" b="6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23"/>
              <p:cNvSpPr txBox="1"/>
              <p:nvPr/>
            </p:nvSpPr>
            <p:spPr bwMode="auto">
              <a:xfrm>
                <a:off x="7350860" y="3278888"/>
                <a:ext cx="474322" cy="4649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0860" y="3278888"/>
                <a:ext cx="474322" cy="464966"/>
              </a:xfrm>
              <a:prstGeom prst="rect">
                <a:avLst/>
              </a:prstGeom>
              <a:blipFill rotWithShape="1">
                <a:blip r:embed="rId9"/>
                <a:stretch>
                  <a:fillRect l="-21" t="-82" r="16" b="-15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Box 32"/>
              <p:cNvSpPr txBox="1">
                <a:spLocks noChangeArrowheads="1"/>
              </p:cNvSpPr>
              <p:nvPr/>
            </p:nvSpPr>
            <p:spPr bwMode="auto">
              <a:xfrm>
                <a:off x="4106544" y="4686970"/>
                <a:ext cx="228684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800" b="1" i="1">
                              <a:solidFill>
                                <a:srgbClr val="04926A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1" lang="zh-CN" altLang="en-US" sz="2800" b="1" dirty="0">
                              <a:solidFill>
                                <a:srgbClr val="04926A"/>
                              </a:solidFill>
                              <a:latin typeface="Times New Roman" panose="02020603050405020304"/>
                              <a:ea typeface="黑体" panose="02010609060101010101" pitchFamily="49" charset="-122"/>
                              <a:cs typeface="+mn-ea"/>
                              <a:sym typeface="+mn-lt"/>
                            </a:rPr>
                            <m:t>请自己写出</m:t>
                          </m:r>
                        </m:e>
                      </m:d>
                    </m:oMath>
                  </m:oMathPara>
                </a14:m>
                <a:endParaRPr kumimoji="1" lang="en-US" altLang="zh-CN" sz="2800" b="1" dirty="0">
                  <a:solidFill>
                    <a:srgbClr val="04926A"/>
                  </a:solidFill>
                  <a:latin typeface="Times New Roman" panose="02020603050405020304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13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06544" y="4686970"/>
                <a:ext cx="2286841" cy="523220"/>
              </a:xfrm>
              <a:prstGeom prst="rect">
                <a:avLst/>
              </a:prstGeom>
              <a:blipFill rotWithShape="1">
                <a:blip r:embed="rId10"/>
                <a:stretch>
                  <a:fillRect l="-28" t="-7" r="9" b="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对象 1"/>
              <p:cNvSpPr txBox="1"/>
              <p:nvPr/>
            </p:nvSpPr>
            <p:spPr>
              <a:xfrm>
                <a:off x="1443608" y="2146527"/>
                <a:ext cx="9497816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三元函数</m:t>
                      </m:r>
                      <m:r>
                        <a:rPr kumimoji="1" lang="en-US" altLang="zh-CN" sz="2800" b="0" i="0" smtClean="0">
                          <a:latin typeface="Cambria Math" panose="0204050305040603020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 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 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kumimoji="1" lang="en-US" altLang="zh-CN" sz="2800" b="0" i="0" smtClean="0">
                          <a:latin typeface="Cambria Math" panose="0204050305040603020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在点</m:t>
                      </m:r>
                      <m:r>
                        <a:rPr kumimoji="1" lang="en-US" altLang="zh-CN" sz="2800" b="0" i="0" smtClean="0">
                          <a:latin typeface="Cambria Math" panose="0204050305040603020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 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 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kumimoji="1" lang="en-US" altLang="zh-CN" sz="2800" b="0" i="0" smtClean="0">
                          <a:latin typeface="Cambria Math" panose="0204050305040603020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处对</m:t>
                      </m:r>
                      <m:r>
                        <a:rPr kumimoji="1" lang="en-US" altLang="zh-CN" sz="2800" b="0" i="0" smtClean="0">
                          <a:latin typeface="Cambria Math" panose="0204050305040603020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en-US" altLang="zh-CN" sz="2800" b="0" i="0" smtClean="0">
                          <a:latin typeface="Cambria Math" panose="0204050305040603020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的偏导数定义为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608" y="2146527"/>
                <a:ext cx="9497816" cy="444500"/>
              </a:xfrm>
              <a:prstGeom prst="rect">
                <a:avLst/>
              </a:prstGeom>
              <a:blipFill rotWithShape="1">
                <a:blip r:embed="rId11"/>
                <a:stretch>
                  <a:fillRect l="-3" t="-51" r="4" b="-1036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1645427" y="1662152"/>
            <a:ext cx="913130" cy="454025"/>
            <a:chOff x="1630" y="3584"/>
            <a:chExt cx="1438" cy="715"/>
          </a:xfrm>
        </p:grpSpPr>
        <p:sp>
          <p:nvSpPr>
            <p:cNvPr id="16" name="圆角矩形 57"/>
            <p:cNvSpPr/>
            <p:nvPr/>
          </p:nvSpPr>
          <p:spPr>
            <a:xfrm>
              <a:off x="1630" y="3592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 Box 28"/>
            <p:cNvSpPr txBox="1">
              <a:spLocks noChangeArrowheads="1"/>
            </p:cNvSpPr>
            <p:nvPr/>
          </p:nvSpPr>
          <p:spPr bwMode="auto">
            <a:xfrm>
              <a:off x="1630" y="358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 bldLvl="0" animBg="1"/>
      <p:bldP spid="8" grpId="0" bldLvl="0" animBg="1"/>
      <p:bldP spid="9" grpId="0" bldLvl="0" animBg="1"/>
      <p:bldP spid="10" grpId="0"/>
      <p:bldP spid="11" grpId="0"/>
      <p:bldP spid="12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9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1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631039" y="768985"/>
            <a:ext cx="3533978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  <a:defRPr/>
            </a:pPr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kumimoji="1"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偏导数的计算</a:t>
            </a:r>
            <a:endParaRPr kumimoji="1"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Box 47"/>
              <p:cNvSpPr txBox="1">
                <a:spLocks noChangeArrowheads="1"/>
              </p:cNvSpPr>
              <p:nvPr/>
            </p:nvSpPr>
            <p:spPr bwMode="auto">
              <a:xfrm>
                <a:off x="1631039" y="4911799"/>
                <a:ext cx="674127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利用一元函数的求导法则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求其导数即可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.</m:t>
                    </m:r>
                  </m:oMath>
                </a14:m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 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1039" y="4911799"/>
                <a:ext cx="6741277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5" t="-14" r="7" b="1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对象 1"/>
              <p:cNvSpPr txBox="1"/>
              <p:nvPr/>
            </p:nvSpPr>
            <p:spPr>
              <a:xfrm>
                <a:off x="1631039" y="3495971"/>
                <a:ext cx="7048505" cy="457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计算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把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中的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看做常数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039" y="3495971"/>
                <a:ext cx="7048505" cy="457200"/>
              </a:xfrm>
              <a:prstGeom prst="rect">
                <a:avLst/>
              </a:prstGeom>
              <a:blipFill rotWithShape="1">
                <a:blip r:embed="rId3"/>
                <a:stretch>
                  <a:fillRect l="-5" t="-65" r="5" b="-13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对象 3"/>
              <p:cNvSpPr txBox="1"/>
              <p:nvPr/>
            </p:nvSpPr>
            <p:spPr>
              <a:xfrm>
                <a:off x="1631040" y="4215454"/>
                <a:ext cx="7048504" cy="5080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计算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把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中的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看做常数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040" y="4215454"/>
                <a:ext cx="7048504" cy="508000"/>
              </a:xfrm>
              <a:prstGeom prst="rect">
                <a:avLst/>
              </a:prstGeom>
              <a:blipFill rotWithShape="1">
                <a:blip r:embed="rId4"/>
                <a:stretch>
                  <a:fillRect l="-5" t="-64" r="5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对象 4"/>
              <p:cNvSpPr txBox="1"/>
              <p:nvPr/>
            </p:nvSpPr>
            <p:spPr>
              <a:xfrm>
                <a:off x="1141095" y="1359535"/>
                <a:ext cx="9420225" cy="123888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多元函数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en-US" altLang="zh-CN" sz="2800" b="0" i="0" smtClean="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对其中一个变量求偏导时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只需把其余变量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kumimoji="1" lang="en-US" altLang="zh-CN" sz="2800" b="0" i="0" smtClean="0">
                          <a:solidFill>
                            <a:schemeClr val="bg1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视为常数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en-US" altLang="zh-CN" sz="2800" b="0" i="0" smtClean="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按照一元函数的求导法则求导即可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095" y="1359535"/>
                <a:ext cx="9420225" cy="1238885"/>
              </a:xfrm>
              <a:prstGeom prst="rect">
                <a:avLst/>
              </a:prstGeom>
              <a:blipFill rotWithShape="1">
                <a:blip r:embed="rId5"/>
                <a:stretch>
                  <a:fillRect b="-1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668999" y="3401606"/>
            <a:ext cx="962025" cy="448945"/>
            <a:chOff x="1553" y="3803"/>
            <a:chExt cx="1515" cy="707"/>
          </a:xfrm>
        </p:grpSpPr>
        <p:sp>
          <p:nvSpPr>
            <p:cNvPr id="15" name="圆角矩形 57"/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 Box 28"/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9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1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对象 8"/>
              <p:cNvSpPr txBox="1"/>
              <p:nvPr/>
            </p:nvSpPr>
            <p:spPr>
              <a:xfrm>
                <a:off x="2306418" y="2509393"/>
                <a:ext cx="7541396" cy="81129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设</m:t>
                      </m:r>
                      <m:r>
                        <a:rPr kumimoji="1" lang="en-US" altLang="zh-CN" sz="2800" b="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, 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d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𝑥𝑦</m:t>
                              </m:r>
                            </m:e>
                          </m:d>
                        </m:e>
                      </m:rad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en-US" altLang="zh-CN" sz="2800" b="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求</m:t>
                      </m:r>
                      <m:r>
                        <a:rPr kumimoji="1" lang="en-US" altLang="zh-CN" sz="2800" b="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e>
                      </m:d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 i="1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e>
                      </m:d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" name="对象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418" y="2509393"/>
                <a:ext cx="7541396" cy="811293"/>
              </a:xfrm>
              <a:prstGeom prst="rect">
                <a:avLst/>
              </a:prstGeom>
              <a:blipFill rotWithShape="1">
                <a:blip r:embed="rId2"/>
                <a:stretch>
                  <a:fillRect l="-1" t="-63" r="3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对象 10"/>
              <p:cNvSpPr txBox="1"/>
              <p:nvPr/>
            </p:nvSpPr>
            <p:spPr>
              <a:xfrm>
                <a:off x="2351515" y="3308505"/>
                <a:ext cx="4395815" cy="116692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|</m:t>
                                  </m:r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⋅</m:t>
                                  </m:r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0</m:t>
                                  </m:r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|</m:t>
                                  </m:r>
                                </m:e>
                              </m:rad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6" name="对象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515" y="3308505"/>
                <a:ext cx="4395815" cy="1166929"/>
              </a:xfrm>
              <a:prstGeom prst="rect">
                <a:avLst/>
              </a:prstGeom>
              <a:blipFill rotWithShape="1">
                <a:blip r:embed="rId3"/>
                <a:stretch>
                  <a:fillRect l="-3" t="-13" r="10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对象 11"/>
              <p:cNvSpPr txBox="1"/>
              <p:nvPr/>
            </p:nvSpPr>
            <p:spPr>
              <a:xfrm>
                <a:off x="6325737" y="3597581"/>
                <a:ext cx="915294" cy="54734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7" name="对象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5737" y="3597581"/>
                <a:ext cx="915294" cy="547347"/>
              </a:xfrm>
              <a:prstGeom prst="rect">
                <a:avLst/>
              </a:prstGeom>
              <a:blipFill rotWithShape="1">
                <a:blip r:embed="rId4"/>
                <a:stretch>
                  <a:fillRect l="-55" t="-56" r="14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对象 13"/>
              <p:cNvSpPr txBox="1"/>
              <p:nvPr/>
            </p:nvSpPr>
            <p:spPr>
              <a:xfrm>
                <a:off x="2351515" y="4447580"/>
                <a:ext cx="4285940" cy="14773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|</m:t>
                                  </m:r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0</m:t>
                                  </m:r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⋅</m:t>
                                  </m:r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|</m:t>
                                  </m:r>
                                </m:e>
                              </m:rad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8" name="对象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515" y="4447580"/>
                <a:ext cx="4285940" cy="1477300"/>
              </a:xfrm>
              <a:prstGeom prst="rect">
                <a:avLst/>
              </a:prstGeom>
              <a:blipFill rotWithShape="1">
                <a:blip r:embed="rId5"/>
                <a:stretch>
                  <a:fillRect l="-3" t="-3" r="10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对象 14"/>
              <p:cNvSpPr txBox="1"/>
              <p:nvPr/>
            </p:nvSpPr>
            <p:spPr>
              <a:xfrm>
                <a:off x="6325738" y="4780119"/>
                <a:ext cx="915293" cy="54734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9" name="对象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5738" y="4780119"/>
                <a:ext cx="915293" cy="547346"/>
              </a:xfrm>
              <a:prstGeom prst="rect">
                <a:avLst/>
              </a:prstGeom>
              <a:blipFill rotWithShape="1">
                <a:blip r:embed="rId6"/>
                <a:stretch>
                  <a:fillRect l="-55" t="-87" r="14" b="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对象 16"/>
              <p:cNvSpPr txBox="1"/>
              <p:nvPr/>
            </p:nvSpPr>
            <p:spPr>
              <a:xfrm>
                <a:off x="2292034" y="1074421"/>
                <a:ext cx="7950971" cy="52321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</m:d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求分界点、不连续点处的偏导数要用定义求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0" name="对象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034" y="1074421"/>
                <a:ext cx="7950971" cy="523219"/>
              </a:xfrm>
              <a:prstGeom prst="rect">
                <a:avLst/>
              </a:prstGeom>
              <a:blipFill rotWithShape="1">
                <a:blip r:embed="rId7"/>
                <a:stretch>
                  <a:fillRect l="-4" r="6" b="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2420718" y="1851822"/>
            <a:ext cx="962025" cy="448945"/>
            <a:chOff x="1553" y="3803"/>
            <a:chExt cx="1515" cy="707"/>
          </a:xfrm>
        </p:grpSpPr>
        <p:sp>
          <p:nvSpPr>
            <p:cNvPr id="3" name="圆角矩形 57"/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Text Box 28"/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  <p:bldP spid="19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7" name="矩形 46"/>
              <p:cNvSpPr/>
              <p:nvPr/>
            </p:nvSpPr>
            <p:spPr>
              <a:xfrm>
                <a:off x="687324" y="529052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24" y="529052"/>
                <a:ext cx="10817352" cy="5799897"/>
              </a:xfrm>
              <a:prstGeom prst="rect">
                <a:avLst/>
              </a:prstGeom>
              <a:blipFill rotWithShape="1">
                <a:blip r:embed="rId1"/>
                <a:stretch>
                  <a:fillRect l="-1499" t="-1929" r="-1493" b="-1918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29052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29052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108321" y="426896"/>
            <a:ext cx="1890049" cy="9117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29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lang="en-US" altLang="zh-CN" sz="29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1     </a:t>
            </a:r>
            <a:r>
              <a:rPr kumimoji="1" lang="zh-CN" altLang="en-US" sz="2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  <a:sym typeface="+mn-lt"/>
              </a:rPr>
              <a:t>求</a:t>
            </a:r>
            <a:endParaRPr kumimoji="1" lang="zh-CN" altLang="en-US" sz="2900" b="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pitchFamily="49" charset="-122"/>
              <a:cs typeface="+mn-cs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 bwMode="auto">
              <a:xfrm>
                <a:off x="3622126" y="609661"/>
                <a:ext cx="3602737" cy="5855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3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​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​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22126" y="609661"/>
                <a:ext cx="3602737" cy="585587"/>
              </a:xfrm>
              <a:prstGeom prst="rect">
                <a:avLst/>
              </a:prstGeom>
              <a:blipFill rotWithShape="1">
                <a:blip r:embed="rId2"/>
                <a:stretch>
                  <a:fillRect l="-2" t="-10" r="13" b="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108321" y="1429379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解法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1</a:t>
            </a:r>
            <a:endParaRPr lang="en-US" altLang="zh-CN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6"/>
              <p:cNvSpPr txBox="1"/>
              <p:nvPr/>
            </p:nvSpPr>
            <p:spPr bwMode="auto">
              <a:xfrm>
                <a:off x="3240494" y="1267728"/>
                <a:ext cx="1208086" cy="9117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40494" y="1267728"/>
                <a:ext cx="1208086" cy="911718"/>
              </a:xfrm>
              <a:prstGeom prst="rect">
                <a:avLst/>
              </a:prstGeom>
              <a:blipFill rotWithShape="1">
                <a:blip r:embed="rId3"/>
                <a:stretch>
                  <a:fillRect l="-7" t="-29" r="34" b="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8"/>
              <p:cNvSpPr txBox="1"/>
              <p:nvPr/>
            </p:nvSpPr>
            <p:spPr bwMode="auto">
              <a:xfrm>
                <a:off x="3220146" y="2054817"/>
                <a:ext cx="1890050" cy="9337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∴ </m:t>
                      </m:r>
                      <m:sSub>
                        <m:sSubPr>
                          <m:ctrlPr>
                            <a:rPr kumimoji="1" lang="zh-CN" altLang="en-US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kumimoji="1" lang="zh-CN" altLang="en-US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eqArr>
                            <m:eqArrPr>
                              <m:ctrlPr>
                                <a:rPr kumimoji="1" lang="en-US" altLang="zh-CN" sz="24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4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  <m:r>
                                <a:rPr kumimoji="1" lang="en-US" altLang="zh-CN" sz="24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r>
                                <a:rPr kumimoji="1" lang="en-US" altLang="zh-CN" sz="24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en-US" altLang="zh-CN" sz="24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r>
                                <a:rPr kumimoji="1" lang="en-US" altLang="zh-CN" sz="240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</m:eqArr>
                        </m:sub>
                      </m:sSub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0146" y="2054817"/>
                <a:ext cx="1890050" cy="933761"/>
              </a:xfrm>
              <a:prstGeom prst="rect">
                <a:avLst/>
              </a:prstGeom>
              <a:blipFill rotWithShape="1">
                <a:blip r:embed="rId4"/>
                <a:stretch>
                  <a:fillRect l="-3" t="-63" r="19" b="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2108321" y="3067696"/>
            <a:ext cx="160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解法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2</a:t>
            </a:r>
            <a:endParaRPr lang="en-US" altLang="zh-CN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11"/>
              <p:cNvSpPr txBox="1"/>
              <p:nvPr/>
            </p:nvSpPr>
            <p:spPr bwMode="auto">
              <a:xfrm>
                <a:off x="3231349" y="3671156"/>
                <a:ext cx="1852063" cy="9337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𝜕</m:t>
                                  </m:r>
                                  <m:r>
                                    <a:rPr kumimoji="1" lang="zh-CN" altLang="en-US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kumimoji="1" lang="zh-CN" altLang="en-US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𝜕</m:t>
                                  </m:r>
                                  <m:r>
                                    <a:rPr kumimoji="1" lang="zh-CN" altLang="en-US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eqArr>
                            <m:eqArrPr>
                              <m:ctrlPr>
                                <a:rPr kumimoji="1" lang="en-US" altLang="zh-CN" sz="20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0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  <m:r>
                                <a:rPr kumimoji="1" lang="en-US" altLang="zh-CN" sz="20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r>
                                <a:rPr kumimoji="1" lang="en-US" altLang="zh-CN" sz="20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2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en-US" altLang="zh-CN" sz="20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r>
                                <a:rPr kumimoji="1" lang="en-US" altLang="zh-CN" sz="2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</m:eqArr>
                        </m:sub>
                      </m:sSub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1349" y="3671156"/>
                <a:ext cx="1852063" cy="933761"/>
              </a:xfrm>
              <a:prstGeom prst="rect">
                <a:avLst/>
              </a:prstGeom>
              <a:blipFill rotWithShape="1">
                <a:blip r:embed="rId5"/>
                <a:stretch>
                  <a:fillRect l="-25" t="-24" r="13" b="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6537325" y="602348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在点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(1 , 2)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处的偏导数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.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pitchFamily="49" charset="-122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bject 15"/>
              <p:cNvSpPr txBox="1"/>
              <p:nvPr/>
            </p:nvSpPr>
            <p:spPr bwMode="auto">
              <a:xfrm>
                <a:off x="3239599" y="5288251"/>
                <a:ext cx="2027806" cy="9337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kumimoji="1" lang="zh-CN" altLang="en-US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1" lang="en-US" altLang="zh-CN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y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eqArr>
                            <m:eqArrPr>
                              <m:ctrlPr>
                                <a:rPr kumimoji="1" lang="en-US" altLang="zh-CN" sz="20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0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  <m:r>
                                <a:rPr kumimoji="1" lang="en-US" altLang="zh-CN" sz="20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r>
                                <a:rPr kumimoji="1" lang="en-US" altLang="zh-CN" sz="20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2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en-US" altLang="zh-CN" sz="20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r>
                                <a:rPr kumimoji="1" lang="en-US" altLang="zh-CN" sz="2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</m:eqArr>
                        </m:sub>
                      </m:sSub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1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9599" y="5288251"/>
                <a:ext cx="2027806" cy="933761"/>
              </a:xfrm>
              <a:prstGeom prst="rect">
                <a:avLst/>
              </a:prstGeom>
              <a:blipFill rotWithShape="1">
                <a:blip r:embed="rId6"/>
                <a:stretch>
                  <a:fillRect l="-23" t="-65" r="4" b="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Object 17"/>
              <p:cNvSpPr txBox="1"/>
              <p:nvPr/>
            </p:nvSpPr>
            <p:spPr bwMode="auto">
              <a:xfrm>
                <a:off x="3916613" y="1422015"/>
                <a:ext cx="1447801" cy="6005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2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3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2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16613" y="1422015"/>
                <a:ext cx="1447801" cy="600523"/>
              </a:xfrm>
              <a:prstGeom prst="rect">
                <a:avLst/>
              </a:prstGeom>
              <a:blipFill rotWithShape="1">
                <a:blip r:embed="rId7"/>
                <a:stretch>
                  <a:fillRect l="-39" t="-42" r="39" b="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18"/>
              <p:cNvSpPr txBox="1"/>
              <p:nvPr/>
            </p:nvSpPr>
            <p:spPr bwMode="auto">
              <a:xfrm>
                <a:off x="5051076" y="1254899"/>
                <a:ext cx="1004173" cy="7918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3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51076" y="1254899"/>
                <a:ext cx="1004173" cy="791810"/>
              </a:xfrm>
              <a:prstGeom prst="rect">
                <a:avLst/>
              </a:prstGeom>
              <a:blipFill rotWithShape="1">
                <a:blip r:embed="rId8"/>
                <a:stretch>
                  <a:fillRect l="-28" t="-18" r="52" b="1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Object 19"/>
              <p:cNvSpPr txBox="1"/>
              <p:nvPr/>
            </p:nvSpPr>
            <p:spPr bwMode="auto">
              <a:xfrm>
                <a:off x="5694357" y="1430086"/>
                <a:ext cx="1784470" cy="4091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3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2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4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94357" y="1430086"/>
                <a:ext cx="1784470" cy="409139"/>
              </a:xfrm>
              <a:prstGeom prst="rect">
                <a:avLst/>
              </a:prstGeom>
              <a:blipFill rotWithShape="1">
                <a:blip r:embed="rId9"/>
                <a:stretch>
                  <a:fillRect l="-17" t="-16" r="24" b="6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Object 20"/>
              <p:cNvSpPr txBox="1"/>
              <p:nvPr/>
            </p:nvSpPr>
            <p:spPr bwMode="auto">
              <a:xfrm>
                <a:off x="4437389" y="2248171"/>
                <a:ext cx="2470662" cy="4091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2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1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3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2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8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5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37389" y="2248171"/>
                <a:ext cx="2470662" cy="409139"/>
              </a:xfrm>
              <a:prstGeom prst="rect">
                <a:avLst/>
              </a:prstGeom>
              <a:blipFill rotWithShape="1">
                <a:blip r:embed="rId10"/>
                <a:stretch>
                  <a:fillRect t="-66" r="21" b="1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Object 21"/>
              <p:cNvSpPr txBox="1"/>
              <p:nvPr/>
            </p:nvSpPr>
            <p:spPr bwMode="auto">
              <a:xfrm>
                <a:off x="6812068" y="2024026"/>
                <a:ext cx="2058492" cy="10185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dirty="0" smtClean="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kumimoji="1" lang="zh-CN" altLang="en-US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1" lang="en-US" altLang="zh-CN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y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eqArr>
                            <m:eqArrPr>
                              <m:ctrlPr>
                                <a:rPr kumimoji="1" lang="en-US" altLang="zh-CN" sz="20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0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  <m:r>
                                <a:rPr kumimoji="1" lang="en-US" altLang="zh-CN" sz="20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r>
                                <a:rPr kumimoji="1" lang="en-US" altLang="zh-CN" sz="20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2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en-US" altLang="zh-CN" sz="2000" i="1" dirty="0">
                                  <a:latin typeface="Cambria Math" panose="02040503050406030204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r>
                                <a:rPr kumimoji="1" lang="en-US" altLang="zh-CN" sz="2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</m:eqArr>
                        </m:sub>
                      </m:sSub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6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12068" y="2024026"/>
                <a:ext cx="2058492" cy="1018557"/>
              </a:xfrm>
              <a:prstGeom prst="rect">
                <a:avLst/>
              </a:prstGeom>
              <a:blipFill rotWithShape="1">
                <a:blip r:embed="rId11"/>
                <a:stretch>
                  <a:fillRect l="-21" t="-28" r="12" b="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Object 22"/>
              <p:cNvSpPr txBox="1"/>
              <p:nvPr/>
            </p:nvSpPr>
            <p:spPr bwMode="auto">
              <a:xfrm>
                <a:off x="7746944" y="2248171"/>
                <a:ext cx="2600382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=​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3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1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2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2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7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7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46944" y="2248171"/>
                <a:ext cx="2600382" cy="519112"/>
              </a:xfrm>
              <a:prstGeom prst="rect">
                <a:avLst/>
              </a:prstGeom>
              <a:blipFill rotWithShape="1">
                <a:blip r:embed="rId12"/>
                <a:stretch>
                  <a:fillRect l="-22" t="-52" b="11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Object 23"/>
              <p:cNvSpPr txBox="1"/>
              <p:nvPr/>
            </p:nvSpPr>
            <p:spPr bwMode="auto">
              <a:xfrm>
                <a:off x="4097626" y="3050728"/>
                <a:ext cx="2865966" cy="4883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6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​​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4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8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97626" y="3050728"/>
                <a:ext cx="2865966" cy="488327"/>
              </a:xfrm>
              <a:prstGeom prst="rect">
                <a:avLst/>
              </a:prstGeom>
              <a:blipFill rotWithShape="1">
                <a:blip r:embed="rId13"/>
                <a:stretch>
                  <a:fillRect l="-21" t="-38" r="6" b="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Object 24"/>
              <p:cNvSpPr txBox="1"/>
              <p:nvPr/>
            </p:nvSpPr>
            <p:spPr bwMode="auto">
              <a:xfrm>
                <a:off x="4097626" y="3790179"/>
                <a:ext cx="2282854" cy="65299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=(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6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9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97626" y="3790179"/>
                <a:ext cx="2282854" cy="652997"/>
              </a:xfrm>
              <a:prstGeom prst="rect">
                <a:avLst/>
              </a:prstGeom>
              <a:blipFill rotWithShape="1">
                <a:blip r:embed="rId14"/>
                <a:stretch>
                  <a:fillRect l="-27" t="-76" b="1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Object 26"/>
              <p:cNvSpPr txBox="1"/>
              <p:nvPr/>
            </p:nvSpPr>
            <p:spPr bwMode="auto">
              <a:xfrm>
                <a:off x="5982920" y="3866452"/>
                <a:ext cx="829148" cy="3827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8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0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2920" y="3866452"/>
                <a:ext cx="829148" cy="382743"/>
              </a:xfrm>
              <a:prstGeom prst="rect">
                <a:avLst/>
              </a:prstGeom>
              <a:blipFill rotWithShape="1">
                <a:blip r:embed="rId15"/>
                <a:stretch>
                  <a:fillRect l="-71" t="-149" r="51" b="10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Object 27"/>
              <p:cNvSpPr txBox="1"/>
              <p:nvPr/>
            </p:nvSpPr>
            <p:spPr bwMode="auto">
              <a:xfrm>
                <a:off x="3239599" y="4626003"/>
                <a:ext cx="1153802" cy="5803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dirty="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</m:d>
                        </m:e>
                        <m:sub>
                          <m:r>
                            <a:rPr kumimoji="1" lang="en-US" altLang="zh-CN" sz="2200" b="0" i="1" dirty="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en-US" altLang="zh-CN" sz="2200" b="0" i="0" dirty="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1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9599" y="4626003"/>
                <a:ext cx="1153802" cy="580387"/>
              </a:xfrm>
              <a:prstGeom prst="rect">
                <a:avLst/>
              </a:prstGeom>
              <a:blipFill rotWithShape="1">
                <a:blip r:embed="rId16"/>
                <a:stretch>
                  <a:fillRect l="-40" t="-5" r="41" b="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Object 28"/>
              <p:cNvSpPr txBox="1"/>
              <p:nvPr/>
            </p:nvSpPr>
            <p:spPr bwMode="auto">
              <a:xfrm>
                <a:off x="4101206" y="4662740"/>
                <a:ext cx="2827664" cy="4883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1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3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2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01206" y="4662740"/>
                <a:ext cx="2827664" cy="488327"/>
              </a:xfrm>
              <a:prstGeom prst="rect">
                <a:avLst/>
              </a:prstGeom>
              <a:blipFill rotWithShape="1">
                <a:blip r:embed="rId17"/>
                <a:stretch>
                  <a:fillRect l="-13" t="-117" r="14" b="1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29"/>
              <p:cNvSpPr txBox="1"/>
              <p:nvPr/>
            </p:nvSpPr>
            <p:spPr bwMode="auto">
              <a:xfrm>
                <a:off x="4097626" y="5475603"/>
                <a:ext cx="2023465" cy="6777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=(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3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kumimoji="1" lang="en-US" altLang="zh-CN" sz="2200" i="1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</m:t>
                          </m:r>
                          <m:r>
                            <a:rPr kumimoji="1" lang="en-US" altLang="zh-CN" sz="220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3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97626" y="5475603"/>
                <a:ext cx="2023465" cy="677727"/>
              </a:xfrm>
              <a:prstGeom prst="rect">
                <a:avLst/>
              </a:prstGeom>
              <a:blipFill rotWithShape="1">
                <a:blip r:embed="rId18"/>
                <a:stretch>
                  <a:fillRect l="-30" t="-93" r="16" b="2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Object 31"/>
              <p:cNvSpPr txBox="1"/>
              <p:nvPr/>
            </p:nvSpPr>
            <p:spPr bwMode="auto">
              <a:xfrm>
                <a:off x="5980616" y="5557587"/>
                <a:ext cx="1113418" cy="5449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7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4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0616" y="5557587"/>
                <a:ext cx="1113418" cy="544943"/>
              </a:xfrm>
              <a:prstGeom prst="rect">
                <a:avLst/>
              </a:prstGeom>
              <a:blipFill rotWithShape="1">
                <a:blip r:embed="rId19"/>
                <a:stretch>
                  <a:fillRect l="-17" t="-12" r="40" b="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27"/>
              <p:cNvSpPr txBox="1"/>
              <p:nvPr/>
            </p:nvSpPr>
            <p:spPr bwMode="auto">
              <a:xfrm>
                <a:off x="3229110" y="2958885"/>
                <a:ext cx="1153802" cy="5803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dirty="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</m:d>
                        </m:e>
                        <m:sub>
                          <m:r>
                            <a:rPr kumimoji="1" lang="en-US" altLang="zh-CN" sz="2200" b="0" i="1" dirty="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en-US" altLang="zh-CN" sz="2200" b="0" i="0" dirty="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9110" y="2958885"/>
                <a:ext cx="1153802" cy="580387"/>
              </a:xfrm>
              <a:prstGeom prst="rect">
                <a:avLst/>
              </a:prstGeom>
              <a:blipFill rotWithShape="1">
                <a:blip r:embed="rId20"/>
                <a:stretch>
                  <a:fillRect l="-12" t="-72" r="12" b="7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utoUpdateAnimBg="0"/>
      <p:bldP spid="6" grpId="0"/>
      <p:bldP spid="7" grpId="0"/>
      <p:bldP spid="8" grpId="0"/>
      <p:bldP spid="9" grpId="0"/>
      <p:bldP spid="11" grpId="0"/>
      <p:bldP spid="21" grpId="0"/>
      <p:bldP spid="22" grpId="0"/>
      <p:bldP spid="23" grpId="0"/>
      <p:bldP spid="24" grpId="0"/>
      <p:bldP spid="25" grpId="0"/>
      <p:bldP spid="26" grpId="0"/>
      <p:bldP spid="29" grpId="0"/>
      <p:bldP spid="30" grpId="0"/>
      <p:bldP spid="31" grpId="0"/>
      <p:bldP spid="3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 rotWithShape="1">
                <a:blip r:embed="rId1"/>
                <a:stretch>
                  <a:fillRect l="-1499" t="-1932" r="-1493" b="-1914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143247" y="759192"/>
            <a:ext cx="1600200" cy="581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9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lang="en-US" altLang="zh-CN" sz="29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2   </a:t>
            </a:r>
            <a:r>
              <a:rPr kumimoji="1" lang="zh-CN" altLang="en-US" sz="2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  <a:sym typeface="+mn-lt"/>
              </a:rPr>
              <a:t>求</a:t>
            </a:r>
            <a:endParaRPr kumimoji="1" lang="zh-CN" altLang="en-US" sz="2900" b="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pitchFamily="49" charset="-122"/>
              <a:cs typeface="+mn-cs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3"/>
              <p:cNvSpPr txBox="1"/>
              <p:nvPr/>
            </p:nvSpPr>
            <p:spPr bwMode="auto">
              <a:xfrm>
                <a:off x="3368673" y="742956"/>
                <a:ext cx="2610644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func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​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8673" y="742956"/>
                <a:ext cx="2610644" cy="469900"/>
              </a:xfrm>
              <a:prstGeom prst="rect">
                <a:avLst/>
              </a:prstGeom>
              <a:blipFill rotWithShape="1">
                <a:blip r:embed="rId2"/>
                <a:stretch>
                  <a:fillRect l="-24" t="-1" r="6" b="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2176287" y="1589695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endParaRPr lang="en-US" altLang="zh-CN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6"/>
              <p:cNvSpPr txBox="1"/>
              <p:nvPr/>
            </p:nvSpPr>
            <p:spPr bwMode="auto">
              <a:xfrm>
                <a:off x="3084532" y="1463482"/>
                <a:ext cx="888145" cy="96721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3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4532" y="1463482"/>
                <a:ext cx="888145" cy="967216"/>
              </a:xfrm>
              <a:prstGeom prst="rect">
                <a:avLst/>
              </a:prstGeom>
              <a:blipFill rotWithShape="1">
                <a:blip r:embed="rId3"/>
                <a:stretch>
                  <a:fillRect l="-38" t="-46" r="13" b="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5479543" y="748692"/>
            <a:ext cx="226047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的偏导数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.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pitchFamily="49" charset="-122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bject 17"/>
              <p:cNvSpPr txBox="1"/>
              <p:nvPr/>
            </p:nvSpPr>
            <p:spPr bwMode="auto">
              <a:xfrm>
                <a:off x="3778649" y="1625862"/>
                <a:ext cx="14605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2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e>
                      </m:func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5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78649" y="1625862"/>
                <a:ext cx="1460500" cy="393700"/>
              </a:xfrm>
              <a:prstGeom prst="rect">
                <a:avLst/>
              </a:prstGeom>
              <a:blipFill rotWithShape="1">
                <a:blip r:embed="rId4"/>
                <a:stretch>
                  <a:fillRect l="-27" t="-67" r="27" b="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bject 18"/>
              <p:cNvSpPr txBox="1"/>
              <p:nvPr/>
            </p:nvSpPr>
            <p:spPr bwMode="auto">
              <a:xfrm>
                <a:off x="5075856" y="1460086"/>
                <a:ext cx="888145" cy="8670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6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75856" y="1460086"/>
                <a:ext cx="888145" cy="867001"/>
              </a:xfrm>
              <a:prstGeom prst="rect">
                <a:avLst/>
              </a:prstGeom>
              <a:blipFill rotWithShape="1">
                <a:blip r:embed="rId5"/>
                <a:stretch>
                  <a:fillRect l="-34" t="-25" r="9" b="5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bject 19"/>
              <p:cNvSpPr txBox="1"/>
              <p:nvPr/>
            </p:nvSpPr>
            <p:spPr bwMode="auto">
              <a:xfrm>
                <a:off x="5724961" y="1620862"/>
                <a:ext cx="16129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2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.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7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24961" y="1620862"/>
                <a:ext cx="1612900" cy="469900"/>
              </a:xfrm>
              <a:prstGeom prst="rect">
                <a:avLst/>
              </a:prstGeom>
              <a:blipFill rotWithShape="1">
                <a:blip r:embed="rId6"/>
                <a:stretch>
                  <a:fillRect l="-27" t="-73" r="27" b="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2187697" y="2493202"/>
            <a:ext cx="15240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3 </a:t>
            </a:r>
            <a:r>
              <a:rPr lang="en-US" altLang="zh-CN" sz="2800" dirty="0">
                <a:solidFill>
                  <a:srgbClr val="04926A"/>
                </a:solidFill>
                <a:latin typeface="+mn-ea"/>
                <a:ea typeface="+mn-ea"/>
                <a:cs typeface="+mn-ea"/>
                <a:sym typeface="+mn-lt"/>
              </a:rPr>
              <a:t>  </a:t>
            </a:r>
            <a:r>
              <a:rPr kumimoji="1" lang="zh-CN" altLang="en-US"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  <a:sym typeface="+mn-lt"/>
              </a:rPr>
              <a:t>设</a:t>
            </a:r>
            <a:endParaRPr kumimoji="1" lang="zh-CN" altLang="en-US" sz="2800" b="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pitchFamily="49" charset="-122"/>
              <a:cs typeface="+mn-cs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bject 3"/>
              <p:cNvSpPr txBox="1"/>
              <p:nvPr/>
            </p:nvSpPr>
            <p:spPr bwMode="auto">
              <a:xfrm>
                <a:off x="3517777" y="2501942"/>
                <a:ext cx="4222244" cy="4651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&gt;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且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≠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1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​), 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17777" y="2501942"/>
                <a:ext cx="4222244" cy="465137"/>
              </a:xfrm>
              <a:prstGeom prst="rect">
                <a:avLst/>
              </a:prstGeom>
              <a:blipFill rotWithShape="1">
                <a:blip r:embed="rId7"/>
                <a:stretch>
                  <a:fillRect l="-12" t="-9" b="-31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bject 4"/>
              <p:cNvSpPr txBox="1"/>
              <p:nvPr/>
            </p:nvSpPr>
            <p:spPr bwMode="auto">
              <a:xfrm>
                <a:off x="3061447" y="3161872"/>
                <a:ext cx="3949700" cy="11314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2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​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61447" y="3161872"/>
                <a:ext cx="3949700" cy="1131428"/>
              </a:xfrm>
              <a:prstGeom prst="rect">
                <a:avLst/>
              </a:prstGeom>
              <a:blipFill rotWithShape="1">
                <a:blip r:embed="rId8"/>
                <a:stretch>
                  <a:fillRect l="-3" t="-18" r="3" b="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 Box 6"/>
          <p:cNvSpPr txBox="1">
            <a:spLocks noChangeArrowheads="1"/>
          </p:cNvSpPr>
          <p:nvPr/>
        </p:nvSpPr>
        <p:spPr bwMode="auto">
          <a:xfrm>
            <a:off x="2189500" y="4411983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证</a:t>
            </a:r>
            <a:endParaRPr lang="en-US" altLang="zh-CN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Object 7"/>
              <p:cNvSpPr txBox="1"/>
              <p:nvPr/>
            </p:nvSpPr>
            <p:spPr bwMode="auto">
              <a:xfrm>
                <a:off x="3084532" y="4277443"/>
                <a:ext cx="1706988" cy="10085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∵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4532" y="4277443"/>
                <a:ext cx="1706988" cy="1008520"/>
              </a:xfrm>
              <a:prstGeom prst="rect">
                <a:avLst/>
              </a:prstGeom>
              <a:blipFill rotWithShape="1">
                <a:blip r:embed="rId9"/>
                <a:stretch>
                  <a:fillRect l="-20" t="-8" r="26" b="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Object 8"/>
              <p:cNvSpPr txBox="1"/>
              <p:nvPr/>
            </p:nvSpPr>
            <p:spPr bwMode="auto">
              <a:xfrm>
                <a:off x="3030163" y="5169145"/>
                <a:ext cx="3201987" cy="9064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∴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0163" y="5169145"/>
                <a:ext cx="3201987" cy="906463"/>
              </a:xfrm>
              <a:prstGeom prst="rect">
                <a:avLst/>
              </a:prstGeom>
              <a:blipFill rotWithShape="1">
                <a:blip r:embed="rId10"/>
                <a:stretch>
                  <a:fillRect l="-18" t="-27" r="8" b="6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Object 16"/>
              <p:cNvSpPr txBox="1"/>
              <p:nvPr/>
            </p:nvSpPr>
            <p:spPr bwMode="auto">
              <a:xfrm>
                <a:off x="7938459" y="5348788"/>
                <a:ext cx="1560634" cy="5627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p>
                      </m:sSup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9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38459" y="5348788"/>
                <a:ext cx="1560634" cy="562707"/>
              </a:xfrm>
              <a:prstGeom prst="rect">
                <a:avLst/>
              </a:prstGeom>
              <a:blipFill rotWithShape="1">
                <a:blip r:embed="rId11"/>
                <a:stretch>
                  <a:fillRect l="-21" t="-33" r="8" b="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Object 17"/>
              <p:cNvSpPr txBox="1"/>
              <p:nvPr/>
            </p:nvSpPr>
            <p:spPr bwMode="auto">
              <a:xfrm>
                <a:off x="4940976" y="4327106"/>
                <a:ext cx="781050" cy="9064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𝜕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​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𝜕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​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42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40976" y="4327106"/>
                <a:ext cx="781050" cy="906463"/>
              </a:xfrm>
              <a:prstGeom prst="rect">
                <a:avLst/>
              </a:prstGeom>
              <a:blipFill rotWithShape="1">
                <a:blip r:embed="rId12"/>
                <a:stretch>
                  <a:fillRect l="-5" t="-24" r="5" b="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 Box 18"/>
              <p:cNvSpPr txBox="1">
                <a:spLocks noChangeArrowheads="1"/>
              </p:cNvSpPr>
              <p:nvPr/>
            </p:nvSpPr>
            <p:spPr bwMode="auto">
              <a:xfrm>
                <a:off x="7356911" y="2508784"/>
                <a:ext cx="1071873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求证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sym typeface="+mn-lt"/>
                </a:endParaRPr>
              </a:p>
            </p:txBody>
          </p:sp>
        </mc:Choice>
        <mc:Fallback>
          <p:sp>
            <p:nvSpPr>
              <p:cNvPr id="43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6911" y="2508784"/>
                <a:ext cx="1071873" cy="523220"/>
              </a:xfrm>
              <a:prstGeom prst="rect">
                <a:avLst/>
              </a:prstGeom>
              <a:blipFill rotWithShape="1">
                <a:blip r:embed="rId13"/>
                <a:stretch>
                  <a:fillRect l="-41" t="-102" r="40" b="9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Object 20"/>
              <p:cNvSpPr txBox="1"/>
              <p:nvPr/>
            </p:nvSpPr>
            <p:spPr bwMode="auto">
              <a:xfrm>
                <a:off x="4029014" y="4425836"/>
                <a:ext cx="1099391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​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4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29014" y="4425836"/>
                <a:ext cx="1099391" cy="519113"/>
              </a:xfrm>
              <a:prstGeom prst="rect">
                <a:avLst/>
              </a:prstGeom>
              <a:blipFill rotWithShape="1">
                <a:blip r:embed="rId14"/>
                <a:stretch>
                  <a:fillRect l="-52" t="-100" r="13" b="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Object 21"/>
              <p:cNvSpPr txBox="1"/>
              <p:nvPr/>
            </p:nvSpPr>
            <p:spPr bwMode="auto">
              <a:xfrm>
                <a:off x="5581182" y="4455204"/>
                <a:ext cx="1096963" cy="4413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5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1182" y="4455204"/>
                <a:ext cx="1096963" cy="441325"/>
              </a:xfrm>
              <a:prstGeom prst="rect">
                <a:avLst/>
              </a:prstGeom>
              <a:blipFill rotWithShape="1">
                <a:blip r:embed="rId15"/>
                <a:stretch>
                  <a:fillRect l="-15" t="-10" r="44" b="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Object 22"/>
              <p:cNvSpPr txBox="1"/>
              <p:nvPr/>
            </p:nvSpPr>
            <p:spPr bwMode="auto">
              <a:xfrm>
                <a:off x="9232487" y="5348788"/>
                <a:ext cx="7493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2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​​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6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32487" y="5348788"/>
                <a:ext cx="749300" cy="393700"/>
              </a:xfrm>
              <a:prstGeom prst="rect">
                <a:avLst/>
              </a:prstGeom>
              <a:blipFill rotWithShape="1">
                <a:blip r:embed="rId16"/>
                <a:stretch>
                  <a:fillRect l="-30" t="-46" r="30" b="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对象 1"/>
              <p:cNvSpPr txBox="1"/>
              <p:nvPr/>
            </p:nvSpPr>
            <p:spPr>
              <a:xfrm>
                <a:off x="5037254" y="5175495"/>
                <a:ext cx="3390900" cy="9144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0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254" y="5175495"/>
                <a:ext cx="3390900" cy="914400"/>
              </a:xfrm>
              <a:prstGeom prst="rect">
                <a:avLst/>
              </a:prstGeom>
              <a:blipFill rotWithShape="1">
                <a:blip r:embed="rId17"/>
                <a:stretch>
                  <a:fillRect l="-13" t="-27" r="13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/>
      <p:bldP spid="13" grpId="0"/>
      <p:bldP spid="14" grpId="0"/>
      <p:bldP spid="16" grpId="0"/>
      <p:bldP spid="17" grpId="0"/>
      <p:bldP spid="18" grpId="0"/>
      <p:bldP spid="19" grpId="0"/>
      <p:bldP spid="20" grpId="0"/>
      <p:bldP spid="36" grpId="0"/>
      <p:bldP spid="37" grpId="0"/>
      <p:bldP spid="38" grpId="0"/>
      <p:bldP spid="39" grpId="0"/>
      <p:bldP spid="42" grpId="0"/>
      <p:bldP spid="43" grpId="0"/>
      <p:bldP spid="44" grpId="0"/>
      <p:bldP spid="45" grpId="0"/>
      <p:bldP spid="46" grpId="0"/>
      <p:bldP spid="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 rotWithShape="1">
                <a:blip r:embed="rId1"/>
                <a:stretch>
                  <a:fillRect l="-1499" t="-1932" r="-1493" b="-1914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3074377" y="1632195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4  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ea"/>
                <a:sym typeface="+mn-lt"/>
              </a:rPr>
              <a:t>求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10"/>
              <p:cNvSpPr txBox="1"/>
              <p:nvPr/>
            </p:nvSpPr>
            <p:spPr bwMode="auto">
              <a:xfrm>
                <a:off x="4411663" y="1531453"/>
                <a:ext cx="3189287" cy="6198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𝑟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1663" y="1531453"/>
                <a:ext cx="3189287" cy="619855"/>
              </a:xfrm>
              <a:prstGeom prst="rect">
                <a:avLst/>
              </a:prstGeom>
              <a:blipFill rotWithShape="1">
                <a:blip r:embed="rId2"/>
                <a:stretch>
                  <a:fillRect l="-10" t="-76" b="9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7435851" y="1605824"/>
            <a:ext cx="1822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ea"/>
                <a:sym typeface="+mn-lt"/>
              </a:rPr>
              <a:t>的偏导数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.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629DD1"/>
              </a:solidFill>
              <a:effectLst/>
              <a:uLnTx/>
              <a:uFillTx/>
              <a:latin typeface="Times New Roman" panose="02020603050405020304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3091839" y="2561493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endParaRPr lang="en-US" altLang="zh-CN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13"/>
              <p:cNvSpPr txBox="1"/>
              <p:nvPr/>
            </p:nvSpPr>
            <p:spPr bwMode="auto">
              <a:xfrm>
                <a:off x="3988511" y="2409825"/>
                <a:ext cx="914399" cy="9890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88511" y="2409825"/>
                <a:ext cx="914399" cy="989012"/>
              </a:xfrm>
              <a:prstGeom prst="rect">
                <a:avLst/>
              </a:prstGeom>
              <a:blipFill rotWithShape="1">
                <a:blip r:embed="rId3"/>
                <a:stretch>
                  <a:fillRect l="-8" r="8" b="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15"/>
              <p:cNvSpPr txBox="1"/>
              <p:nvPr/>
            </p:nvSpPr>
            <p:spPr bwMode="auto">
              <a:xfrm>
                <a:off x="3977306" y="3468319"/>
                <a:ext cx="898525" cy="10710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7306" y="3468319"/>
                <a:ext cx="898525" cy="1071076"/>
              </a:xfrm>
              <a:prstGeom prst="rect">
                <a:avLst/>
              </a:prstGeom>
              <a:blipFill rotWithShape="1">
                <a:blip r:embed="rId4"/>
                <a:stretch>
                  <a:fillRect l="-33" t="-55" r="33" b="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24"/>
              <p:cNvSpPr txBox="1"/>
              <p:nvPr/>
            </p:nvSpPr>
            <p:spPr bwMode="auto">
              <a:xfrm>
                <a:off x="4684714" y="2587361"/>
                <a:ext cx="2058721" cy="70961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200" b="0" i="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4714" y="2587361"/>
                <a:ext cx="2058721" cy="709615"/>
              </a:xfrm>
              <a:prstGeom prst="rect">
                <a:avLst/>
              </a:prstGeom>
              <a:blipFill rotWithShape="1">
                <a:blip r:embed="rId5"/>
                <a:stretch>
                  <a:fillRect l="-15" t="-52" r="18" b="-141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25"/>
              <p:cNvSpPr txBox="1"/>
              <p:nvPr/>
            </p:nvSpPr>
            <p:spPr bwMode="auto">
              <a:xfrm>
                <a:off x="5552810" y="2390821"/>
                <a:ext cx="647090" cy="3789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2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52810" y="2390821"/>
                <a:ext cx="647090" cy="378987"/>
              </a:xfrm>
              <a:prstGeom prst="rect">
                <a:avLst/>
              </a:prstGeom>
              <a:blipFill rotWithShape="1">
                <a:blip r:embed="rId6"/>
                <a:stretch>
                  <a:fillRect l="-57" t="-12" r="61" b="-5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bject 26"/>
              <p:cNvSpPr txBox="1"/>
              <p:nvPr/>
            </p:nvSpPr>
            <p:spPr bwMode="auto">
              <a:xfrm>
                <a:off x="6646101" y="2469074"/>
                <a:ext cx="7239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1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46101" y="2469074"/>
                <a:ext cx="723900" cy="838200"/>
              </a:xfrm>
              <a:prstGeom prst="rect">
                <a:avLst/>
              </a:prstGeom>
              <a:blipFill rotWithShape="1">
                <a:blip r:embed="rId7"/>
                <a:stretch>
                  <a:fillRect l="-26" t="-23" r="26" b="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Object 27"/>
              <p:cNvSpPr txBox="1"/>
              <p:nvPr/>
            </p:nvSpPr>
            <p:spPr bwMode="auto">
              <a:xfrm>
                <a:off x="3991076" y="4539395"/>
                <a:ext cx="1149350" cy="9064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2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1076" y="4539395"/>
                <a:ext cx="1149350" cy="906463"/>
              </a:xfrm>
              <a:prstGeom prst="rect">
                <a:avLst/>
              </a:prstGeom>
              <a:blipFill rotWithShape="1">
                <a:blip r:embed="rId8"/>
                <a:stretch>
                  <a:fillRect l="-9" t="-46" r="9" b="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30"/>
              <p:cNvSpPr txBox="1"/>
              <p:nvPr/>
            </p:nvSpPr>
            <p:spPr bwMode="auto">
              <a:xfrm>
                <a:off x="4642468" y="3526490"/>
                <a:ext cx="466725" cy="8458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3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2468" y="3526490"/>
                <a:ext cx="466725" cy="845873"/>
              </a:xfrm>
              <a:prstGeom prst="rect">
                <a:avLst/>
              </a:prstGeom>
              <a:blipFill rotWithShape="1">
                <a:blip r:embed="rId9"/>
                <a:stretch>
                  <a:fillRect l="-132" t="-40" r="132" b="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utoShape 7"/>
          <p:cNvSpPr>
            <a:spLocks noChangeArrowheads="1"/>
          </p:cNvSpPr>
          <p:nvPr/>
        </p:nvSpPr>
        <p:spPr bwMode="auto">
          <a:xfrm>
            <a:off x="6193155" y="4171138"/>
            <a:ext cx="2330060" cy="994909"/>
          </a:xfrm>
          <a:prstGeom prst="wedgeRectCallout">
            <a:avLst>
              <a:gd name="adj1" fmla="val -72079"/>
              <a:gd name="adj2" fmla="val -35605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kumimoji="1" lang="zh-CN" altLang="en-US" sz="2200" dirty="0">
                <a:latin typeface="Cambria Math" panose="02040503050406030204" charset="0"/>
                <a:ea typeface="黑体" panose="02010609060101010101" pitchFamily="49" charset="-122"/>
              </a:rPr>
              <a:t>根据函数关于</a:t>
            </a:r>
            <a:endParaRPr kumimoji="1" lang="en-US" altLang="zh-CN" sz="2200" dirty="0">
              <a:latin typeface="Cambria Math" panose="02040503050406030204" charset="0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kumimoji="1" lang="zh-CN" altLang="en-US" sz="2200" dirty="0">
                <a:latin typeface="Cambria Math" panose="02040503050406030204" charset="0"/>
                <a:ea typeface="黑体" panose="02010609060101010101" pitchFamily="49" charset="-122"/>
              </a:rPr>
              <a:t>自变量的对称性</a:t>
            </a:r>
            <a:endParaRPr kumimoji="1" lang="zh-CN" altLang="en-US" sz="2200" dirty="0">
              <a:latin typeface="Cambria Math" panose="0204050305040603020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/>
      <p:bldP spid="6" grpId="0"/>
      <p:bldP spid="7" grpId="0"/>
      <p:bldP spid="8" grpId="0"/>
      <p:bldP spid="11" grpId="0"/>
      <p:bldP spid="21" grpId="0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 rotWithShape="1">
                <a:blip r:embed="rId1"/>
                <a:stretch>
                  <a:fillRect l="-1499" t="-1932" r="-1493" b="-1914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1866900" y="805840"/>
            <a:ext cx="171186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5  </a:t>
            </a:r>
            <a:endParaRPr lang="zh-CN" altLang="en-US" sz="280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866900" y="1672214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charset="0"/>
                <a:ea typeface="黑体" panose="02010609060101010101" pitchFamily="49" charset="-122"/>
                <a:cs typeface="+mn-ea"/>
                <a:sym typeface="+mn-lt"/>
              </a:rPr>
              <a:t>求证</a:t>
            </a:r>
            <a:r>
              <a:rPr kumimoji="1" lang="en-US" altLang="zh-CN" sz="2800" dirty="0">
                <a:solidFill>
                  <a:prstClr val="black"/>
                </a:solidFill>
                <a:latin typeface="Cambria Math" panose="02040503050406030204" charset="0"/>
                <a:ea typeface="黑体" panose="02010609060101010101" pitchFamily="49" charset="-122"/>
                <a:cs typeface="+mn-ea"/>
                <a:sym typeface="+mn-lt"/>
              </a:rPr>
              <a:t>:</a:t>
            </a:r>
            <a:endParaRPr kumimoji="1" lang="en-US" altLang="zh-CN" sz="2800" dirty="0">
              <a:solidFill>
                <a:prstClr val="black"/>
              </a:solidFill>
              <a:latin typeface="Cambria Math" panose="02040503050406030204" charset="0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4"/>
              <p:cNvSpPr txBox="1"/>
              <p:nvPr/>
            </p:nvSpPr>
            <p:spPr bwMode="auto">
              <a:xfrm>
                <a:off x="2916799" y="1418445"/>
                <a:ext cx="3153509" cy="10514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𝑉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𝑉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𝑇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𝑇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1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6799" y="1418445"/>
                <a:ext cx="3153509" cy="1051445"/>
              </a:xfrm>
              <a:prstGeom prst="rect">
                <a:avLst/>
              </a:prstGeom>
              <a:blipFill rotWithShape="1">
                <a:blip r:embed="rId2"/>
                <a:stretch>
                  <a:fillRect l="-8" t="-47" r="11" b="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bject 5"/>
              <p:cNvSpPr txBox="1"/>
              <p:nvPr/>
            </p:nvSpPr>
            <p:spPr bwMode="auto">
              <a:xfrm>
                <a:off x="2847607" y="775678"/>
                <a:ext cx="5686793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已知理想气体的状态方程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𝑝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​​​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𝑉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𝑅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​​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𝑇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>
          <p:sp>
            <p:nvSpPr>
              <p:cNvPr id="1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7607" y="775678"/>
                <a:ext cx="5686793" cy="444500"/>
              </a:xfrm>
              <a:prstGeom prst="rect">
                <a:avLst/>
              </a:prstGeom>
              <a:blipFill rotWithShape="1">
                <a:blip r:embed="rId3"/>
                <a:stretch>
                  <a:fillRect l="-5" t="-77" b="-126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1866900" y="2651124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证</a:t>
            </a:r>
            <a:endParaRPr lang="en-US" altLang="zh-CN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bject 7"/>
              <p:cNvSpPr txBox="1"/>
              <p:nvPr/>
            </p:nvSpPr>
            <p:spPr bwMode="auto">
              <a:xfrm>
                <a:off x="2901292" y="2521068"/>
                <a:ext cx="13589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𝑝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𝑅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𝑇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𝑉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1292" y="2521068"/>
                <a:ext cx="1358900" cy="838200"/>
              </a:xfrm>
              <a:prstGeom prst="rect">
                <a:avLst/>
              </a:prstGeom>
              <a:blipFill rotWithShape="1">
                <a:blip r:embed="rId4"/>
                <a:stretch>
                  <a:fillRect l="-45" t="-14" r="45" b="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bject 8"/>
              <p:cNvSpPr txBox="1"/>
              <p:nvPr/>
            </p:nvSpPr>
            <p:spPr bwMode="auto">
              <a:xfrm>
                <a:off x="2870055" y="3416217"/>
                <a:ext cx="13335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𝑉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𝑅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𝑇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0055" y="3416217"/>
                <a:ext cx="1333500" cy="914400"/>
              </a:xfrm>
              <a:prstGeom prst="rect">
                <a:avLst/>
              </a:prstGeom>
              <a:blipFill rotWithShape="1">
                <a:blip r:embed="rId5"/>
                <a:stretch>
                  <a:fillRect l="-37" t="-60" r="37" b="6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bject 9"/>
              <p:cNvSpPr txBox="1"/>
              <p:nvPr/>
            </p:nvSpPr>
            <p:spPr bwMode="auto">
              <a:xfrm>
                <a:off x="2888224" y="4415686"/>
                <a:ext cx="13208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𝑇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​​​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𝑉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𝑅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8224" y="4415686"/>
                <a:ext cx="1320800" cy="838200"/>
              </a:xfrm>
              <a:prstGeom prst="rect">
                <a:avLst/>
              </a:prstGeom>
              <a:blipFill rotWithShape="1">
                <a:blip r:embed="rId6"/>
                <a:stretch>
                  <a:fillRect l="-18" t="-63" r="18" b="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bject 10"/>
              <p:cNvSpPr txBox="1"/>
              <p:nvPr/>
            </p:nvSpPr>
            <p:spPr bwMode="auto">
              <a:xfrm>
                <a:off x="2888224" y="5340350"/>
                <a:ext cx="2640012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∴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​​​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𝑉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​​​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𝑉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𝑇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𝑇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8224" y="5340350"/>
                <a:ext cx="2640012" cy="914400"/>
              </a:xfrm>
              <a:prstGeom prst="rect">
                <a:avLst/>
              </a:prstGeom>
              <a:blipFill rotWithShape="1">
                <a:blip r:embed="rId7"/>
                <a:stretch>
                  <a:fillRect l="-9" r="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 Box 15"/>
              <p:cNvSpPr txBox="1">
                <a:spLocks noChangeArrowheads="1"/>
              </p:cNvSpPr>
              <p:nvPr/>
            </p:nvSpPr>
            <p:spPr bwMode="auto">
              <a:xfrm>
                <a:off x="8253095" y="765810"/>
                <a:ext cx="2570480" cy="5295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800" i="1" dirty="0">
                          <a:latin typeface="Cambria Math" panose="02040503050406030204" charset="0"/>
                          <a:sym typeface="+mn-lt"/>
                        </a:rPr>
                        <m:t>R</m:t>
                      </m:r>
                      <m:r>
                        <m:rPr>
                          <m:nor/>
                        </m:rPr>
                        <a:rPr kumimoji="1" lang="en-US" altLang="zh-CN" sz="2800" dirty="0">
                          <a:solidFill>
                            <a:prstClr val="black"/>
                          </a:solidFill>
                          <a:latin typeface="Times New Roman" panose="02020603050405020304"/>
                          <a:ea typeface="黑体" panose="02010609060101010101" pitchFamily="49" charset="-122"/>
                          <a:cs typeface="+mn-ea"/>
                          <a:sym typeface="+mn-lt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zh-CN" altLang="en-US" sz="2800" dirty="0">
                          <a:solidFill>
                            <a:prstClr val="black"/>
                          </a:solidFill>
                          <a:latin typeface="Times New Roman" panose="02020603050405020304"/>
                          <a:ea typeface="黑体" panose="02010609060101010101" pitchFamily="49" charset="-122"/>
                          <a:cs typeface="+mn-ea"/>
                          <a:sym typeface="+mn-lt"/>
                        </a:rPr>
                        <m:t>为常数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​), </m:t>
                      </m:r>
                    </m:oMath>
                  </m:oMathPara>
                </a14:m>
                <a:endParaRPr kumimoji="1" lang="en-US" altLang="zh-CN" sz="28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25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53095" y="765810"/>
                <a:ext cx="2570480" cy="52959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Object 16"/>
              <p:cNvSpPr txBox="1"/>
              <p:nvPr/>
            </p:nvSpPr>
            <p:spPr bwMode="auto">
              <a:xfrm>
                <a:off x="3994005" y="2514222"/>
                <a:ext cx="8382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𝑉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6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4005" y="2514222"/>
                <a:ext cx="838200" cy="914400"/>
              </a:xfrm>
              <a:prstGeom prst="rect">
                <a:avLst/>
              </a:prstGeom>
              <a:blipFill rotWithShape="1">
                <a:blip r:embed="rId9"/>
                <a:stretch>
                  <a:fillRect l="-58" t="-28" r="58" b="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Object 17"/>
              <p:cNvSpPr txBox="1"/>
              <p:nvPr/>
            </p:nvSpPr>
            <p:spPr bwMode="auto">
              <a:xfrm>
                <a:off x="4671386" y="2519258"/>
                <a:ext cx="9525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𝑅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𝑇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;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7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1386" y="2519258"/>
                <a:ext cx="952500" cy="838200"/>
              </a:xfrm>
              <a:prstGeom prst="rect">
                <a:avLst/>
              </a:prstGeom>
              <a:blipFill rotWithShape="1">
                <a:blip r:embed="rId10"/>
                <a:stretch>
                  <a:fillRect l="-34" t="-25" r="34" b="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Object 18"/>
              <p:cNvSpPr txBox="1"/>
              <p:nvPr/>
            </p:nvSpPr>
            <p:spPr bwMode="auto">
              <a:xfrm>
                <a:off x="3994005" y="3408597"/>
                <a:ext cx="8509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​​​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𝑉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𝑇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8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4005" y="3408597"/>
                <a:ext cx="850900" cy="914400"/>
              </a:xfrm>
              <a:prstGeom prst="rect">
                <a:avLst/>
              </a:prstGeom>
              <a:blipFill rotWithShape="1">
                <a:blip r:embed="rId11"/>
                <a:stretch>
                  <a:fillRect l="-58" t="-60" r="58" b="6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Object 19"/>
              <p:cNvSpPr txBox="1"/>
              <p:nvPr/>
            </p:nvSpPr>
            <p:spPr bwMode="auto">
              <a:xfrm>
                <a:off x="4736810" y="3411537"/>
                <a:ext cx="4953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𝑅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;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9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36810" y="3411537"/>
                <a:ext cx="495300" cy="914400"/>
              </a:xfrm>
              <a:prstGeom prst="rect">
                <a:avLst/>
              </a:prstGeom>
              <a:blipFill rotWithShape="1">
                <a:blip r:embed="rId12"/>
                <a:stretch>
                  <a:fillRect l="-70" t="-35" r="70" b="3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Object 20"/>
              <p:cNvSpPr txBox="1"/>
              <p:nvPr/>
            </p:nvSpPr>
            <p:spPr bwMode="auto">
              <a:xfrm>
                <a:off x="3997921" y="4406796"/>
                <a:ext cx="8255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​​​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𝑇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0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7921" y="4406796"/>
                <a:ext cx="825500" cy="914400"/>
              </a:xfrm>
              <a:prstGeom prst="rect">
                <a:avLst/>
              </a:prstGeom>
              <a:blipFill rotWithShape="1">
                <a:blip r:embed="rId13"/>
                <a:stretch>
                  <a:fillRect l="-72" t="-58" r="72" b="5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Object 21"/>
              <p:cNvSpPr txBox="1"/>
              <p:nvPr/>
            </p:nvSpPr>
            <p:spPr bwMode="auto">
              <a:xfrm>
                <a:off x="4703337" y="4410882"/>
                <a:ext cx="4699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𝑉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𝑅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1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03337" y="4410882"/>
                <a:ext cx="469900" cy="838200"/>
              </a:xfrm>
              <a:prstGeom prst="rect">
                <a:avLst/>
              </a:prstGeom>
              <a:blipFill rotWithShape="1">
                <a:blip r:embed="rId14"/>
                <a:stretch>
                  <a:fillRect l="-112" t="-21" r="112" b="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Object 22"/>
              <p:cNvSpPr txBox="1"/>
              <p:nvPr/>
            </p:nvSpPr>
            <p:spPr bwMode="auto">
              <a:xfrm>
                <a:off x="4890989" y="5351930"/>
                <a:ext cx="8382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𝑅𝑇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𝑝𝑉</m:t>
                          </m:r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2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90989" y="5351930"/>
                <a:ext cx="838200" cy="927100"/>
              </a:xfrm>
              <a:prstGeom prst="rect">
                <a:avLst/>
              </a:prstGeom>
              <a:blipFill rotWithShape="1">
                <a:blip r:embed="rId15"/>
                <a:stretch>
                  <a:fillRect l="-26" t="-16" r="26" b="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24"/>
              <p:cNvSpPr txBox="1"/>
              <p:nvPr/>
            </p:nvSpPr>
            <p:spPr bwMode="auto">
              <a:xfrm>
                <a:off x="5637530" y="5518150"/>
                <a:ext cx="1233170" cy="36449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1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3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7530" y="5518150"/>
                <a:ext cx="1233170" cy="364490"/>
              </a:xfrm>
              <a:prstGeom prst="rect">
                <a:avLst/>
              </a:prstGeom>
              <a:blipFill rotWithShape="1">
                <a:blip r:embed="rId16"/>
                <a:stretch>
                  <a:fillRect b="-45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6521369" y="2601034"/>
            <a:ext cx="3624368" cy="2411417"/>
            <a:chOff x="6521369" y="2601034"/>
            <a:chExt cx="3624368" cy="2411417"/>
          </a:xfrm>
        </p:grpSpPr>
        <p:sp>
          <p:nvSpPr>
            <p:cNvPr id="2" name="Rectangle 1"/>
            <p:cNvSpPr/>
            <p:nvPr/>
          </p:nvSpPr>
          <p:spPr>
            <a:xfrm>
              <a:off x="6521369" y="2601034"/>
              <a:ext cx="3624368" cy="2411417"/>
            </a:xfrm>
            <a:prstGeom prst="rect">
              <a:avLst/>
            </a:prstGeom>
            <a:solidFill>
              <a:srgbClr val="04926A">
                <a:alpha val="4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Box 31"/>
            <p:cNvSpPr txBox="1">
              <a:spLocks noChangeArrowheads="1"/>
            </p:cNvSpPr>
            <p:nvPr/>
          </p:nvSpPr>
          <p:spPr bwMode="auto">
            <a:xfrm>
              <a:off x="6716336" y="3271943"/>
              <a:ext cx="3124200" cy="5191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/>
                  <a:ea typeface="黑体" panose="02010609060101010101" pitchFamily="49" charset="-122"/>
                  <a:cs typeface="+mn-ea"/>
                  <a:sym typeface="+mn-lt"/>
                </a:rPr>
                <a:t>偏导数记号是一个</a:t>
              </a:r>
              <a:endPara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34" name="Rectangle 25"/>
            <p:cNvSpPr>
              <a:spLocks noChangeArrowheads="1"/>
            </p:cNvSpPr>
            <p:nvPr/>
          </p:nvSpPr>
          <p:spPr bwMode="auto">
            <a:xfrm>
              <a:off x="8339790" y="3909838"/>
              <a:ext cx="1676400" cy="4333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/>
                  <a:ea typeface="黑体" panose="02010609060101010101" pitchFamily="49" charset="-122"/>
                  <a:cs typeface="+mn-ea"/>
                  <a:sym typeface="+mn-lt"/>
                </a:rPr>
                <a:t>不能看作</a:t>
              </a:r>
              <a:endPara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Rectangle 26"/>
                <p:cNvSpPr>
                  <a:spLocks noChangeArrowheads="1"/>
                </p:cNvSpPr>
                <p:nvPr/>
              </p:nvSpPr>
              <p:spPr bwMode="auto">
                <a:xfrm>
                  <a:off x="6728418" y="4446321"/>
                  <a:ext cx="3048000" cy="433388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 lvl="0" fontAlgn="base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:r>
                    <a:rPr kumimoji="1" lang="zh-CN" altLang="en-US" sz="2800" dirty="0">
                      <a:solidFill>
                        <a:schemeClr val="tx1"/>
                      </a:solidFill>
                      <a:latin typeface="Times New Roman" panose="02020603050405020304"/>
                      <a:ea typeface="黑体" panose="02010609060101010101" pitchFamily="49" charset="-122"/>
                      <a:cs typeface="+mn-ea"/>
                      <a:sym typeface="+mn-lt"/>
                    </a:rPr>
                    <a:t>分子与分母的商</a:t>
                  </a:r>
                  <a14:m>
                    <m:oMath xmlns:m="http://schemas.openxmlformats.org/officeDocument/2006/math">
                      <m:r>
                        <a:rPr kumimoji="1" lang="zh-CN" altLang="en-US" sz="2800" b="0" dirty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！</m:t>
                      </m:r>
                    </m:oMath>
                  </a14:m>
                  <a:endParaRPr kumimoji="1" lang="en-US" altLang="zh-CN" sz="2800" dirty="0">
                    <a:solidFill>
                      <a:schemeClr val="tx1"/>
                    </a:solidFill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endParaRPr>
                </a:p>
              </p:txBody>
            </p:sp>
          </mc:Choice>
          <mc:Fallback>
            <p:sp>
              <p:nvSpPr>
                <p:cNvPr id="35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28418" y="4446321"/>
                  <a:ext cx="3048000" cy="433388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6728418" y="2740075"/>
                  <a:ext cx="170110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kumimoji="1" lang="zh-CN" altLang="en-US" sz="2800" dirty="0">
                      <a:solidFill>
                        <a:schemeClr val="tx1"/>
                      </a:solidFill>
                      <a:latin typeface="Times New Roman" panose="02020603050405020304"/>
                      <a:ea typeface="黑体" panose="02010609060101010101" pitchFamily="49" charset="-122"/>
                      <a:cs typeface="+mn-ea"/>
                      <a:sym typeface="+mn-lt"/>
                    </a:rPr>
                    <a:t>此例表明</a:t>
                  </a:r>
                  <a14:m>
                    <m:oMath xmlns:m="http://schemas.openxmlformats.org/officeDocument/2006/math">
                      <m:r>
                        <a:rPr kumimoji="1" lang="zh-CN" altLang="en-US" sz="2800" b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</m:oMath>
                  </a14:m>
                  <a:endParaRPr kumimoji="1" lang="en-US" altLang="zh-CN" sz="2800" dirty="0">
                    <a:solidFill>
                      <a:schemeClr val="tx1"/>
                    </a:solidFill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endParaRPr>
                </a:p>
              </p:txBody>
            </p:sp>
          </mc:Choice>
          <mc:Fallback>
            <p:sp>
              <p:nvSpPr>
                <p:cNvPr id="36" name="Text 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28418" y="2740075"/>
                  <a:ext cx="1701107" cy="523220"/>
                </a:xfrm>
                <a:prstGeom prst="rect">
                  <a:avLst/>
                </a:prstGeom>
                <a:blipFill rotWithShape="1">
                  <a:blip r:embed="rId1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6728418" y="3806743"/>
                  <a:ext cx="1980029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:r>
                    <a:rPr kumimoji="1" lang="zh-CN" altLang="en-US" sz="2800" dirty="0">
                      <a:solidFill>
                        <a:schemeClr val="tx1"/>
                      </a:solidFill>
                      <a:latin typeface="Times New Roman" panose="02020603050405020304"/>
                      <a:ea typeface="黑体" panose="02010609060101010101" pitchFamily="49" charset="-122"/>
                      <a:cs typeface="+mn-ea"/>
                      <a:sym typeface="+mn-lt"/>
                    </a:rPr>
                    <a:t>整体记号</a:t>
                  </a:r>
                  <a14:m>
                    <m:oMath xmlns:m="http://schemas.openxmlformats.org/officeDocument/2006/math">
                      <m:r>
                        <a:rPr kumimoji="1" lang="zh-CN" altLang="en-US" sz="2800" b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</m:oMath>
                  </a14:m>
                  <a:endParaRPr kumimoji="1" lang="en-US" altLang="zh-CN" sz="2800" dirty="0">
                    <a:solidFill>
                      <a:schemeClr val="tx1"/>
                    </a:solidFill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endParaRPr>
                </a:p>
              </p:txBody>
            </p:sp>
          </mc:Choice>
          <mc:Fallback>
            <p:sp>
              <p:nvSpPr>
                <p:cNvPr id="37" name="Text 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28418" y="3806743"/>
                  <a:ext cx="1980029" cy="523220"/>
                </a:xfrm>
                <a:prstGeom prst="rect">
                  <a:avLst/>
                </a:prstGeom>
                <a:blipFill rotWithShape="1">
                  <a:blip r:embed="rId1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5" grpId="0"/>
      <p:bldP spid="26" grpId="0"/>
      <p:bldP spid="28" grpId="0"/>
      <p:bldP spid="29" grpId="0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 rotWithShape="1">
                <a:blip r:embed="rId1"/>
                <a:stretch>
                  <a:fillRect l="-1499" t="-1932" r="-1493" b="-1914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Object 2"/>
              <p:cNvSpPr txBox="1"/>
              <p:nvPr/>
            </p:nvSpPr>
            <p:spPr bwMode="auto">
              <a:xfrm>
                <a:off x="7811694" y="1689791"/>
                <a:ext cx="3158098" cy="5477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求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的偏导数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11694" y="1689791"/>
                <a:ext cx="3158098" cy="547798"/>
              </a:xfrm>
              <a:prstGeom prst="rect">
                <a:avLst/>
              </a:prstGeom>
              <a:blipFill rotWithShape="1">
                <a:blip r:embed="rId2"/>
                <a:stretch>
                  <a:fillRect l="-18" t="-10" r="5" b="8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425405" y="1698331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425405" y="3019593"/>
            <a:ext cx="106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6"/>
              <p:cNvSpPr txBox="1"/>
              <p:nvPr/>
            </p:nvSpPr>
            <p:spPr bwMode="auto">
              <a:xfrm>
                <a:off x="2222329" y="3826895"/>
                <a:ext cx="44704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)−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⋅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𝑥𝑦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2329" y="3826895"/>
                <a:ext cx="4470400" cy="965200"/>
              </a:xfrm>
              <a:prstGeom prst="rect">
                <a:avLst/>
              </a:prstGeom>
              <a:blipFill rotWithShape="1">
                <a:blip r:embed="rId3"/>
                <a:stretch>
                  <a:fillRect l="-10" t="-40" r="10" b="4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7"/>
              <p:cNvSpPr txBox="1"/>
              <p:nvPr/>
            </p:nvSpPr>
            <p:spPr bwMode="auto">
              <a:xfrm>
                <a:off x="6095830" y="3835751"/>
                <a:ext cx="20066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5830" y="3835751"/>
                <a:ext cx="2006600" cy="965200"/>
              </a:xfrm>
              <a:prstGeom prst="rect">
                <a:avLst/>
              </a:prstGeom>
              <a:blipFill rotWithShape="1">
                <a:blip r:embed="rId4"/>
                <a:stretch>
                  <a:fillRect l="-23" t="-36" r="23" b="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8"/>
              <p:cNvSpPr txBox="1"/>
              <p:nvPr/>
            </p:nvSpPr>
            <p:spPr bwMode="auto">
              <a:xfrm>
                <a:off x="2222329" y="4928781"/>
                <a:ext cx="44577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)−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⋅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𝑥𝑦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2329" y="4928781"/>
                <a:ext cx="4457700" cy="965200"/>
              </a:xfrm>
              <a:prstGeom prst="rect">
                <a:avLst/>
              </a:prstGeom>
              <a:blipFill rotWithShape="1">
                <a:blip r:embed="rId5"/>
                <a:stretch>
                  <a:fillRect l="-10" t="-57" r="10" b="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9"/>
              <p:cNvSpPr txBox="1"/>
              <p:nvPr/>
            </p:nvSpPr>
            <p:spPr bwMode="auto">
              <a:xfrm>
                <a:off x="6095830" y="4928781"/>
                <a:ext cx="20320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;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5830" y="4928781"/>
                <a:ext cx="2032000" cy="965200"/>
              </a:xfrm>
              <a:prstGeom prst="rect">
                <a:avLst/>
              </a:prstGeom>
              <a:blipFill rotWithShape="1">
                <a:blip r:embed="rId6"/>
                <a:stretch>
                  <a:fillRect l="-23" t="-57" r="23" b="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对象 1"/>
              <p:cNvSpPr txBox="1"/>
              <p:nvPr/>
            </p:nvSpPr>
            <p:spPr>
              <a:xfrm>
                <a:off x="2196929" y="1111557"/>
                <a:ext cx="6161087" cy="179615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设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𝑥𝑦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,(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)≠(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0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0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),</m:t>
                              </m:r>
                            </m:e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&amp;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0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,  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)=(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0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0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929" y="1111557"/>
                <a:ext cx="6161087" cy="1796156"/>
              </a:xfrm>
              <a:prstGeom prst="rect">
                <a:avLst/>
              </a:prstGeom>
              <a:blipFill rotWithShape="1">
                <a:blip r:embed="rId7"/>
                <a:stretch>
                  <a:fillRect l="-8" t="-17" r="2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对象 2"/>
              <p:cNvSpPr txBox="1"/>
              <p:nvPr/>
            </p:nvSpPr>
            <p:spPr>
              <a:xfrm>
                <a:off x="2222329" y="3054903"/>
                <a:ext cx="2717800" cy="4318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)≠(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0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0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1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329" y="3054903"/>
                <a:ext cx="2717800" cy="431800"/>
              </a:xfrm>
              <a:prstGeom prst="rect">
                <a:avLst/>
              </a:prstGeom>
              <a:blipFill rotWithShape="1">
                <a:blip r:embed="rId8"/>
                <a:stretch>
                  <a:fillRect l="-17" t="-128" r="17" b="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8" grpId="0"/>
      <p:bldP spid="9" grpId="0"/>
      <p:bldP spid="11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 rotWithShape="1">
                <a:blip r:embed="rId1"/>
                <a:stretch>
                  <a:fillRect l="-1499" t="-1932" r="-1493" b="-1914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2"/>
              <p:cNvSpPr txBox="1"/>
              <p:nvPr/>
            </p:nvSpPr>
            <p:spPr bwMode="auto">
              <a:xfrm>
                <a:off x="2735002" y="1222793"/>
                <a:ext cx="27178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)=(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0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0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5002" y="1222793"/>
                <a:ext cx="2717800" cy="431800"/>
              </a:xfrm>
              <a:prstGeom prst="rect">
                <a:avLst/>
              </a:prstGeom>
              <a:blipFill rotWithShape="1">
                <a:blip r:embed="rId2"/>
                <a:stretch>
                  <a:fillRect l="-2" t="-97" r="2" b="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4"/>
              <p:cNvSpPr txBox="1"/>
              <p:nvPr/>
            </p:nvSpPr>
            <p:spPr bwMode="auto">
              <a:xfrm>
                <a:off x="4181481" y="1921749"/>
                <a:ext cx="44196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ℎ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ℎ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)−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ℎ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81481" y="1921749"/>
                <a:ext cx="4419600" cy="838200"/>
              </a:xfrm>
              <a:prstGeom prst="rect">
                <a:avLst/>
              </a:prstGeom>
              <a:blipFill rotWithShape="1">
                <a:blip r:embed="rId3"/>
                <a:stretch>
                  <a:fillRect t="-29" b="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5"/>
              <p:cNvSpPr txBox="1"/>
              <p:nvPr/>
            </p:nvSpPr>
            <p:spPr bwMode="auto">
              <a:xfrm>
                <a:off x="7843135" y="1927178"/>
                <a:ext cx="17399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ℎ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ℎ</m:t>
                              </m:r>
                            </m:den>
                          </m:f>
                        </m:e>
                      </m:func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43135" y="1927178"/>
                <a:ext cx="1739900" cy="838200"/>
              </a:xfrm>
              <a:prstGeom prst="rect">
                <a:avLst/>
              </a:prstGeom>
              <a:blipFill rotWithShape="1">
                <a:blip r:embed="rId4"/>
                <a:stretch>
                  <a:fillRect l="-14" t="-70" r="14" b="7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6"/>
              <p:cNvSpPr txBox="1"/>
              <p:nvPr/>
            </p:nvSpPr>
            <p:spPr bwMode="auto">
              <a:xfrm>
                <a:off x="4131319" y="2859818"/>
                <a:ext cx="44196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ℎ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ℎ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)−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ℎ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3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1319" y="2859818"/>
                <a:ext cx="4419600" cy="838200"/>
              </a:xfrm>
              <a:prstGeom prst="rect">
                <a:avLst/>
              </a:prstGeom>
              <a:blipFill rotWithShape="1">
                <a:blip r:embed="rId5"/>
                <a:stretch>
                  <a:fillRect t="-49" b="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7"/>
              <p:cNvSpPr txBox="1"/>
              <p:nvPr/>
            </p:nvSpPr>
            <p:spPr bwMode="auto">
              <a:xfrm>
                <a:off x="7843135" y="2868348"/>
                <a:ext cx="17272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ℎ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ℎ</m:t>
                              </m:r>
                            </m:den>
                          </m:f>
                        </m:e>
                      </m:func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43135" y="2868348"/>
                <a:ext cx="1727200" cy="838200"/>
              </a:xfrm>
              <a:prstGeom prst="rect">
                <a:avLst/>
              </a:prstGeom>
              <a:blipFill rotWithShape="1">
                <a:blip r:embed="rId6"/>
                <a:stretch>
                  <a:fillRect l="-14" t="-6" r="14" b="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bject 6"/>
              <p:cNvSpPr txBox="1"/>
              <p:nvPr/>
            </p:nvSpPr>
            <p:spPr bwMode="auto">
              <a:xfrm>
                <a:off x="4131319" y="3887553"/>
                <a:ext cx="4148138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​)=</m:t>
                      </m:r>
                      <m:f>
                        <m:fPr>
                          <m:ctrlPr>
                            <a:rPr kumimoji="1" lang="zh-CN" altLang="en-US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ⅆ</m:t>
                          </m:r>
                        </m:num>
                        <m:den>
                          <m:r>
                            <a:rPr kumimoji="1" lang="zh-CN" altLang="en-US" sz="2200" i="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ⅆ</m:t>
                          </m:r>
                          <m:r>
                            <a:rPr kumimoji="1" lang="zh-CN" altLang="en-US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sSub>
                        <m:sSubPr>
                          <m:ctrlPr>
                            <a:rPr kumimoji="1" lang="zh-CN" altLang="en-US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200" i="1" dirty="0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en-US" altLang="zh-CN" sz="2200" b="0" i="0" dirty="0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kumimoji="1" lang="zh-CN" altLang="en-US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5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1319" y="3887553"/>
                <a:ext cx="4148138" cy="1003300"/>
              </a:xfrm>
              <a:prstGeom prst="rect">
                <a:avLst/>
              </a:prstGeom>
              <a:blipFill rotWithShape="1">
                <a:blip r:embed="rId7"/>
                <a:stretch>
                  <a:fillRect t="-8" r="8" b="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bject 7"/>
              <p:cNvSpPr txBox="1"/>
              <p:nvPr/>
            </p:nvSpPr>
            <p:spPr bwMode="auto">
              <a:xfrm>
                <a:off x="4109142" y="4835985"/>
                <a:ext cx="4135438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kumimoji="1" lang="zh-CN" altLang="en-US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ⅆ</m:t>
                          </m:r>
                        </m:num>
                        <m:den>
                          <m:r>
                            <a:rPr kumimoji="1" lang="zh-CN" altLang="en-US" sz="2200" i="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ⅆ</m:t>
                          </m:r>
                          <m:r>
                            <a:rPr kumimoji="1" lang="en-US" altLang="zh-CN" sz="2200" b="0" i="1" dirty="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sSub>
                        <m:sSubPr>
                          <m:ctrlPr>
                            <a:rPr kumimoji="1" lang="zh-CN" altLang="en-US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2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en-US" altLang="zh-CN" sz="2200" b="0" i="1" dirty="0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kumimoji="1" lang="zh-CN" altLang="en-US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2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6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09142" y="4835985"/>
                <a:ext cx="4135438" cy="1003300"/>
              </a:xfrm>
              <a:prstGeom prst="rect">
                <a:avLst/>
              </a:prstGeom>
              <a:blipFill rotWithShape="1">
                <a:blip r:embed="rId8"/>
                <a:stretch>
                  <a:fillRect l="-1" t="-46" r="9" b="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bject 11"/>
              <p:cNvSpPr txBox="1"/>
              <p:nvPr/>
            </p:nvSpPr>
            <p:spPr bwMode="auto">
              <a:xfrm>
                <a:off x="7086937" y="5014750"/>
                <a:ext cx="940131" cy="6540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7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86937" y="5014750"/>
                <a:ext cx="940131" cy="654050"/>
              </a:xfrm>
              <a:prstGeom prst="rect">
                <a:avLst/>
              </a:prstGeom>
              <a:blipFill rotWithShape="1">
                <a:blip r:embed="rId9"/>
                <a:stretch>
                  <a:fillRect l="-36" t="-24" r="4" b="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bject 50"/>
              <p:cNvSpPr txBox="1"/>
              <p:nvPr/>
            </p:nvSpPr>
            <p:spPr bwMode="auto">
              <a:xfrm>
                <a:off x="7086937" y="4054863"/>
                <a:ext cx="584200" cy="368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8" name="Object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86937" y="4054863"/>
                <a:ext cx="584200" cy="368300"/>
              </a:xfrm>
              <a:prstGeom prst="rect">
                <a:avLst/>
              </a:prstGeom>
              <a:blipFill rotWithShape="1">
                <a:blip r:embed="rId10"/>
                <a:stretch>
                  <a:fillRect l="-58" t="-105" r="-1029" b="-334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2857606" y="2117741"/>
            <a:ext cx="1131570" cy="449580"/>
            <a:chOff x="1553" y="3802"/>
            <a:chExt cx="1782" cy="708"/>
          </a:xfrm>
        </p:grpSpPr>
        <p:sp>
          <p:nvSpPr>
            <p:cNvPr id="3" name="圆角矩形 3"/>
            <p:cNvSpPr/>
            <p:nvPr/>
          </p:nvSpPr>
          <p:spPr>
            <a:xfrm>
              <a:off x="1553" y="3803"/>
              <a:ext cx="175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Text Box 28"/>
            <p:cNvSpPr txBox="1">
              <a:spLocks noChangeArrowheads="1"/>
            </p:cNvSpPr>
            <p:nvPr/>
          </p:nvSpPr>
          <p:spPr bwMode="auto">
            <a:xfrm>
              <a:off x="1710" y="3802"/>
              <a:ext cx="1625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sz="2800" b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方法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</a:t>
              </a:r>
              <a:endParaRPr kumimoji="1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854431" y="4079678"/>
            <a:ext cx="1131570" cy="449580"/>
            <a:chOff x="1553" y="3802"/>
            <a:chExt cx="1782" cy="708"/>
          </a:xfrm>
        </p:grpSpPr>
        <p:sp>
          <p:nvSpPr>
            <p:cNvPr id="7" name="圆角矩形 3"/>
            <p:cNvSpPr/>
            <p:nvPr/>
          </p:nvSpPr>
          <p:spPr>
            <a:xfrm>
              <a:off x="1553" y="3803"/>
              <a:ext cx="175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ext Box 28"/>
            <p:cNvSpPr txBox="1">
              <a:spLocks noChangeArrowheads="1"/>
            </p:cNvSpPr>
            <p:nvPr/>
          </p:nvSpPr>
          <p:spPr bwMode="auto">
            <a:xfrm>
              <a:off x="1710" y="3802"/>
              <a:ext cx="1625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sz="2800" b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方法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</a:t>
              </a:r>
              <a:endParaRPr kumimoji="1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/>
      <p:bldP spid="13" grpId="0"/>
      <p:bldP spid="15" grpId="0"/>
      <p:bldP spid="16" grpId="0"/>
      <p:bldP spid="1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7" name="矩形 46"/>
              <p:cNvSpPr/>
              <p:nvPr/>
            </p:nvSpPr>
            <p:spPr>
              <a:xfrm>
                <a:off x="687959" y="1224055"/>
                <a:ext cx="10817352" cy="43986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1224055"/>
                <a:ext cx="10817352" cy="4398628"/>
              </a:xfrm>
              <a:prstGeom prst="rect">
                <a:avLst/>
              </a:prstGeom>
              <a:blipFill rotWithShape="1">
                <a:blip r:embed="rId1"/>
                <a:stretch>
                  <a:fillRect l="-1499" t="-2218" r="-1493" b="-2214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1224228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1223614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4949166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4929300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对象 1"/>
              <p:cNvSpPr txBox="1"/>
              <p:nvPr/>
            </p:nvSpPr>
            <p:spPr>
              <a:xfrm>
                <a:off x="3217545" y="2051050"/>
                <a:ext cx="6248400" cy="15494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∴  </m:t>
                      </m:r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kumimoji="1" lang="zh-CN" altLang="en-US" sz="22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kumimoji="1" lang="zh-CN" altLang="en-US" sz="2200" i="1"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zh-CN" altLang="en-US" sz="2200" i="1"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kumimoji="1" lang="zh-CN" altLang="en-US" sz="2200" i="1"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kumimoji="1" lang="zh-CN" altLang="en-US" sz="22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kumimoji="1" lang="zh-CN" altLang="en-US" sz="2200" i="1"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zh-CN" altLang="en-US" sz="2200" i="1"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kumimoji="1" lang="zh-CN" altLang="en-US" sz="2200" i="1"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2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2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1" lang="zh-CN" altLang="en-US" sz="22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2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2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1" lang="zh-CN" altLang="en-US" sz="22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kumimoji="1" lang="zh-CN" altLang="en-US" sz="22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2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kumimoji="1" lang="zh-CN" altLang="en-US" sz="22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en-US" altLang="zh-CN" sz="2200" b="0" i="1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 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)≠(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),</m:t>
                              </m:r>
                            </m:e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, </m:t>
                              </m:r>
                              <m:r>
                                <a:rPr kumimoji="1" lang="en-US" altLang="zh-CN" sz="2200" b="0" i="1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  </m:t>
                              </m:r>
                              <m:r>
                                <a:rPr kumimoji="1" lang="en-US" altLang="zh-CN" sz="2200" b="0" i="1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            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)=(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545" y="2051050"/>
                <a:ext cx="6248400" cy="15494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对象 2"/>
              <p:cNvSpPr txBox="1"/>
              <p:nvPr/>
            </p:nvSpPr>
            <p:spPr>
              <a:xfrm>
                <a:off x="3639820" y="3542641"/>
                <a:ext cx="5854700" cy="15494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kumimoji="1" lang="zh-CN" altLang="en-US" sz="22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kumimoji="1" lang="zh-CN" altLang="en-US" sz="2200" i="1"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zh-CN" altLang="en-US" sz="2200" i="1"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kumimoji="1" lang="zh-CN" altLang="en-US" sz="2200" i="1"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kumimoji="1" lang="zh-CN" altLang="en-US" sz="22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kumimoji="1" lang="zh-CN" altLang="en-US" sz="2200" i="1"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zh-CN" altLang="en-US" sz="2200" i="1"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kumimoji="1" lang="zh-CN" altLang="en-US" sz="2200" i="1"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2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2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1" lang="zh-CN" altLang="en-US" sz="22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2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2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1" lang="zh-CN" altLang="en-US" sz="22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kumimoji="1" lang="zh-CN" altLang="en-US" sz="22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2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kumimoji="1" lang="zh-CN" altLang="en-US" sz="22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en-US" altLang="zh-CN" sz="2200" b="0" i="1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 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)≠(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),</m:t>
                              </m:r>
                            </m:e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, </m:t>
                              </m:r>
                              <m:r>
                                <a:rPr kumimoji="1" lang="en-US" altLang="zh-CN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  </m:t>
                              </m:r>
                              <m:r>
                                <a:rPr kumimoji="1" lang="en-US" altLang="zh-CN" sz="2200" b="0" i="1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            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)=(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).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820" y="3542641"/>
                <a:ext cx="5854700" cy="1549400"/>
              </a:xfrm>
              <a:prstGeom prst="rect">
                <a:avLst/>
              </a:prstGeom>
              <a:blipFill rotWithShape="1">
                <a:blip r:embed="rId3"/>
                <a:stretch>
                  <a:fillRect t="-39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9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1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1895792" y="846744"/>
            <a:ext cx="5193271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</a:t>
            </a:r>
            <a:r>
              <a:rPr kumimoji="1"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二元函数偏导数的几何意义</a:t>
            </a:r>
            <a:endParaRPr kumimoji="1"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bject 2052"/>
              <p:cNvSpPr txBox="1"/>
              <p:nvPr/>
            </p:nvSpPr>
            <p:spPr bwMode="auto">
              <a:xfrm>
                <a:off x="2324417" y="1596086"/>
                <a:ext cx="8491721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设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)) 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为曲面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) 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上一点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charset="0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>
          <p:sp>
            <p:nvSpPr>
              <p:cNvPr id="16" name="Object 20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4417" y="1596086"/>
                <a:ext cx="8491721" cy="519113"/>
              </a:xfrm>
              <a:prstGeom prst="rect">
                <a:avLst/>
              </a:prstGeom>
              <a:blipFill rotWithShape="1">
                <a:blip r:embed="rId2"/>
                <a:stretch>
                  <a:fillRect l="-4" t="-64" r="2" b="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2053"/>
          <p:cNvSpPr txBox="1">
            <a:spLocks noChangeArrowheads="1"/>
          </p:cNvSpPr>
          <p:nvPr/>
        </p:nvSpPr>
        <p:spPr bwMode="auto">
          <a:xfrm>
            <a:off x="2324417" y="2287536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charset="0"/>
                <a:ea typeface="黑体" panose="02010609060101010101" pitchFamily="49" charset="-122"/>
                <a:cs typeface="+mn-ea"/>
              </a:rPr>
              <a:t>如图</a:t>
            </a:r>
            <a:endParaRPr kumimoji="1" lang="zh-CN" altLang="en-US" sz="2800" dirty="0">
              <a:solidFill>
                <a:prstClr val="black"/>
              </a:solidFill>
              <a:latin typeface="Cambria Math" panose="02040503050406030204" charset="0"/>
              <a:ea typeface="黑体" panose="02010609060101010101" pitchFamily="49" charset="-122"/>
              <a:cs typeface="+mn-ea"/>
            </a:endParaRPr>
          </a:p>
        </p:txBody>
      </p:sp>
      <p:pic>
        <p:nvPicPr>
          <p:cNvPr id="3" name="图片 2" descr="图表, 图示&#10;&#10;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311" y="2556774"/>
            <a:ext cx="3671594" cy="29740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  <p:bldP spid="17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Object 3"/>
              <p:cNvSpPr txBox="1"/>
              <p:nvPr/>
            </p:nvSpPr>
            <p:spPr bwMode="auto">
              <a:xfrm>
                <a:off x="1661424" y="1030850"/>
                <a:ext cx="4725531" cy="13400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 dirty="0" smtClean="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en-US" altLang="zh-CN" sz="2800" b="0" i="1" dirty="0" smtClean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kumimoji="1" lang="zh-CN" altLang="en-US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sPre>
                            <m:sPrePr>
                              <m:ctrlPr>
                                <a:rPr kumimoji="1" lang="en-US" altLang="zh-CN" sz="2800" i="1" dirty="0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sPrePr>
                            <m:sub>
                              <m:r>
                                <a:rPr kumimoji="1" lang="en-US" altLang="zh-CN" sz="2800" b="0" i="1" dirty="0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2800" b="0" i="1" dirty="0" smtClean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altLang="zh-CN" sz="2800" b="0" i="1" smtClean="0">
                                  <a:latin typeface="Cambria Math" panose="02040503050406030204" charset="0"/>
                                </a:rPr>
                                <m:t> </m:t>
                              </m:r>
                            </m:e>
                          </m:sPre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i="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ⅆ</m:t>
                          </m:r>
                        </m:num>
                        <m:den>
                          <m:r>
                            <a:rPr kumimoji="1" lang="zh-CN" altLang="en-US" sz="2800" i="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ⅆ</m:t>
                          </m:r>
                          <m:r>
                            <a:rPr kumimoji="1" lang="zh-CN" altLang="en-US" sz="28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sSub>
                        <m:sSubPr>
                          <m:ctrlPr>
                            <a:rPr kumimoji="1" lang="zh-CN" altLang="en-US" sz="28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2800" b="0" i="1" dirty="0" smtClean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kumimoji="1" lang="zh-CN" altLang="en-US" sz="28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1424" y="1030850"/>
                <a:ext cx="4725531" cy="1340001"/>
              </a:xfrm>
              <a:prstGeom prst="rect">
                <a:avLst/>
              </a:prstGeom>
              <a:blipFill rotWithShape="1">
                <a:blip r:embed="rId1"/>
                <a:stretch>
                  <a:fillRect l="-6" t="-18" r="3" b="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6"/>
              <p:cNvSpPr txBox="1"/>
              <p:nvPr/>
            </p:nvSpPr>
            <p:spPr bwMode="auto">
              <a:xfrm>
                <a:off x="2789565" y="2326143"/>
                <a:ext cx="2415673" cy="11499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i="1" dirty="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2800" b="0" i="1" dirty="0" smtClean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9565" y="2326143"/>
                <a:ext cx="2415673" cy="1149945"/>
              </a:xfrm>
              <a:prstGeom prst="rect">
                <a:avLst/>
              </a:prstGeom>
              <a:blipFill rotWithShape="1">
                <a:blip r:embed="rId2"/>
                <a:stretch>
                  <a:fillRect t="-12" r="6" b="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10"/>
              <p:cNvSpPr txBox="1"/>
              <p:nvPr/>
            </p:nvSpPr>
            <p:spPr bwMode="auto">
              <a:xfrm>
                <a:off x="1624379" y="3465970"/>
                <a:ext cx="1563687" cy="692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𝑀</m:t>
                        </m:r>
                      </m:e>
                      <m:sub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𝑇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 </a:t>
                </a:r>
                <a:endParaRPr lang="zh-CN" altLang="en-US" sz="2800" dirty="0"/>
              </a:p>
            </p:txBody>
          </p:sp>
        </mc:Choice>
        <mc:Fallback>
          <p:sp>
            <p:nvSpPr>
              <p:cNvPr id="4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24379" y="3465970"/>
                <a:ext cx="1563687" cy="692150"/>
              </a:xfrm>
              <a:prstGeom prst="rect">
                <a:avLst/>
              </a:prstGeom>
              <a:blipFill rotWithShape="1">
                <a:blip r:embed="rId3"/>
                <a:stretch>
                  <a:fillRect l="-3" t="-20" r="23" b="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11"/>
              <p:cNvSpPr txBox="1"/>
              <p:nvPr/>
            </p:nvSpPr>
            <p:spPr bwMode="auto">
              <a:xfrm>
                <a:off x="1661424" y="4085587"/>
                <a:ext cx="4519613" cy="1181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 dirty="0" smtClean="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kumimoji="1" lang="zh-CN" altLang="en-US" sz="28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en-US" altLang="zh-CN" sz="2800" b="0" i="1" dirty="0" smtClean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sPre>
                            <m:sPrePr>
                              <m:ctrlP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sPrePr>
                            <m:sub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charset="0"/>
                                </a:rPr>
                                <m:t>𝑥</m:t>
                              </m:r>
                              <m:r>
                                <a:rPr lang="en-US" altLang="zh-CN" sz="2800" i="1">
                                  <a:latin typeface="Cambria Math" panose="02040503050406030204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altLang="zh-CN" sz="2800" i="1">
                                  <a:latin typeface="Cambria Math" panose="02040503050406030204" charset="0"/>
                                </a:rPr>
                                <m:t> </m:t>
                              </m:r>
                            </m:e>
                          </m:sPre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ⅆ</m:t>
                          </m:r>
                        </m:num>
                        <m:den>
                          <m:r>
                            <a:rPr kumimoji="1" lang="zh-CN" altLang="en-US" sz="28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ⅆ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sSub>
                        <m:sSubPr>
                          <m:ctrlPr>
                            <a:rPr kumimoji="1" lang="zh-CN" altLang="en-US" sz="28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1424" y="4085587"/>
                <a:ext cx="4519613" cy="1181100"/>
              </a:xfrm>
              <a:prstGeom prst="rect">
                <a:avLst/>
              </a:prstGeom>
              <a:blipFill rotWithShape="1">
                <a:blip r:embed="rId4"/>
                <a:stretch>
                  <a:fillRect l="-6" t="-54" r="13" b="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12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07182" y="5576769"/>
            <a:ext cx="160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ea"/>
                <a:sym typeface="+mn-lt"/>
              </a:rPr>
              <a:t>是曲线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13"/>
              <p:cNvSpPr txBox="1"/>
              <p:nvPr/>
            </p:nvSpPr>
            <p:spPr bwMode="auto">
              <a:xfrm>
                <a:off x="2733586" y="5325234"/>
                <a:ext cx="2471111" cy="10742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i="1" dirty="0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3586" y="5325234"/>
                <a:ext cx="2471111" cy="1074277"/>
              </a:xfrm>
              <a:prstGeom prst="rect">
                <a:avLst/>
              </a:prstGeom>
              <a:blipFill rotWithShape="1">
                <a:blip r:embed="rId6"/>
                <a:stretch>
                  <a:fillRect l="-22" t="-12" r="10" b="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17"/>
              <p:cNvSpPr txBox="1"/>
              <p:nvPr/>
            </p:nvSpPr>
            <p:spPr bwMode="auto">
              <a:xfrm>
                <a:off x="7357536" y="5580553"/>
                <a:ext cx="1023184" cy="6455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dirty="0" smtClean="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800" i="1" dirty="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en-US" altLang="zh-CN" sz="2800" i="1" dirty="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800" i="1" dirty="0"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8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7536" y="5580553"/>
                <a:ext cx="1023184" cy="645560"/>
              </a:xfrm>
              <a:prstGeom prst="rect">
                <a:avLst/>
              </a:prstGeom>
              <a:blipFill rotWithShape="1">
                <a:blip r:embed="rId7"/>
                <a:stretch>
                  <a:fillRect l="-42" t="-27" r="61" b="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78"/>
              <p:cNvSpPr txBox="1"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4719039" y="2588870"/>
                <a:ext cx="3643751" cy="5275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lnSpc>
                    <a:spcPct val="11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在点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0" i="1" dirty="0" smtClean="0"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𝑀</m:t>
                        </m:r>
                      </m:e>
                      <m:sub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 处的切线</a:t>
                </a:r>
                <a:endParaRPr kumimoji="1" lang="zh-CN" altLang="en-US" sz="28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9" name="Text Box 7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4719039" y="2588870"/>
                <a:ext cx="3643751" cy="527580"/>
              </a:xfrm>
              <a:prstGeom prst="rect">
                <a:avLst/>
              </a:prstGeom>
              <a:blipFill rotWithShape="1">
                <a:blip r:embed="rId10"/>
                <a:stretch>
                  <a:fillRect l="-10" t="-116" r="13" b="9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Box 80"/>
              <p:cNvSpPr txBox="1"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2477311" y="3469331"/>
                <a:ext cx="29718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  <a:scene3d>
                  <a:camera prst="orthographicFront"/>
                  <a:lightRig rig="threePt" dir="t"/>
                </a:scene3d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  <a:uLnTx/>
                    <a:uFillTx/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对 </a:t>
                </a:r>
                <a:r>
                  <a:rPr kumimoji="1" lang="en-US" altLang="zh-CN" sz="2800" b="0" i="1" u="none" strike="noStrike" kern="1200" cap="none" spc="0" normalizeH="0" baseline="0" noProof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  <a:uLnTx/>
                    <a:uFillTx/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x </a:t>
                </a:r>
                <a:r>
                  <a:rPr kumimoji="1" lang="zh-CN" altLang="en-US" sz="2800" b="0" i="0" u="none" strike="noStrike" kern="1200" cap="none" spc="0" normalizeH="0" baseline="0" noProof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  <a:uLnTx/>
                    <a:uFillTx/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轴的斜率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n w="22225">
                          <a:solidFill>
                            <a:schemeClr val="accent2"/>
                          </a:solidFill>
                          <a:prstDash val="solid"/>
                        </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effectLst/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.</m:t>
                    </m:r>
                  </m:oMath>
                </a14:m>
                <a:endParaRPr kumimoji="1" lang="zh-CN" altLang="en-US" sz="2800" b="0" i="1" u="none" strike="noStrike" kern="1200" cap="none" spc="0" normalizeH="0" baseline="0" noProof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  <a:uLnTx/>
                  <a:uFillTx/>
                  <a:latin typeface="Cambria Math" panose="02040503050406030204" charset="0"/>
                  <a:ea typeface="MS Mincho" panose="02020609040205080304" charset="-128"/>
                  <a:cs typeface="Cambria Math" panose="02040503050406030204" charset="0"/>
                  <a:sym typeface="+mn-lt"/>
                </a:endParaRPr>
              </a:p>
            </p:txBody>
          </p:sp>
        </mc:Choice>
        <mc:Fallback>
          <p:sp>
            <p:nvSpPr>
              <p:cNvPr id="10" name="Text Box 8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2477311" y="3469331"/>
                <a:ext cx="2971800" cy="519113"/>
              </a:xfrm>
              <a:prstGeom prst="rect">
                <a:avLst/>
              </a:prstGeom>
              <a:blipFill rotWithShape="1">
                <a:blip r:embed="rId13"/>
                <a:stretch>
                  <a:fillRect l="-6" t="-63" r="6" b="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Box 82"/>
              <p:cNvSpPr txBox="1"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4695137" y="5581350"/>
                <a:ext cx="2971800" cy="5275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lnSpc>
                    <a:spcPct val="11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在点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𝑀</m:t>
                        </m:r>
                      </m:e>
                      <m:sub>
                        <m:r>
                          <a:rPr kumimoji="1" lang="en-US" altLang="zh-CN" sz="2800" i="1" dirty="0"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处的切线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11" name="Text Box 8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4695137" y="5581350"/>
                <a:ext cx="2971800" cy="527580"/>
              </a:xfrm>
              <a:prstGeom prst="rect">
                <a:avLst/>
              </a:prstGeom>
              <a:blipFill rotWithShape="1">
                <a:blip r:embed="rId16"/>
                <a:stretch>
                  <a:fillRect l="-20" t="-63" r="20" b="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85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1607182" y="2591456"/>
            <a:ext cx="1524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黑体" panose="02010609060101010101" pitchFamily="49" charset="-122"/>
                <a:cs typeface="+mn-ea"/>
                <a:sym typeface="+mn-lt"/>
              </a:rPr>
              <a:t>是曲线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ectangle 93"/>
              <p:cNvSpPr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8226509" y="5550415"/>
                <a:ext cx="320557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  <a:uLnTx/>
                    <a:uFillTx/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对</a:t>
                </a:r>
                <a14:m>
                  <m:oMath xmlns:m="http://schemas.openxmlformats.org/officeDocument/2006/math">
                    <m:r>
                      <a:rPr kumimoji="1" lang="en-US" altLang="zh-CN" sz="2800" b="0" i="0" dirty="0" smtClean="0">
                        <a:ln w="22225">
                          <a:solidFill>
                            <a:schemeClr val="accent2"/>
                          </a:solidFill>
                          <a:prstDash val="solid"/>
                        </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effectLst/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en-US" altLang="zh-CN" sz="2800" i="1" dirty="0">
                        <a:ln w="22225">
                          <a:solidFill>
                            <a:schemeClr val="accent2"/>
                          </a:solidFill>
                          <a:prstDash val="solid"/>
                        </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effectLst/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𝑦</m:t>
                    </m:r>
                    <m:r>
                      <a:rPr kumimoji="1" lang="en-US" altLang="zh-CN" sz="2800" b="0" i="1" dirty="0" smtClean="0">
                        <a:ln w="22225">
                          <a:solidFill>
                            <a:schemeClr val="accent2"/>
                          </a:solidFill>
                          <a:prstDash val="solid"/>
                        </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effectLst/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  <a:uLnTx/>
                    <a:uFillTx/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轴</a:t>
                </a:r>
                <a:r>
                  <a:rPr kumimoji="1" lang="zh-CN" altLang="en-US" sz="280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  <a:latin typeface="Times New Roman" panose="02020603050405020304"/>
                    <a:cs typeface="+mn-ea"/>
                    <a:sym typeface="+mn-lt"/>
                  </a:rPr>
                  <a:t>的斜率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n w="22225">
                          <a:solidFill>
                            <a:schemeClr val="accent2"/>
                          </a:solidFill>
                          <a:prstDash val="solid"/>
                        </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effectLst/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.</m:t>
                    </m:r>
                  </m:oMath>
                </a14:m>
                <a:endParaRPr kumimoji="1" lang="zh-CN" altLang="en-US" sz="2800" b="0" i="1" u="none" strike="noStrike" kern="1200" cap="none" spc="0" normalizeH="0" baseline="0" noProof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  <a:uLnTx/>
                  <a:uFillTx/>
                  <a:latin typeface="Cambria Math" panose="02040503050406030204" charset="0"/>
                  <a:ea typeface="MS Mincho" panose="02020609040205080304" charset="-128"/>
                  <a:cs typeface="Cambria Math" panose="02040503050406030204" charset="0"/>
                  <a:sym typeface="+mn-lt"/>
                </a:endParaRPr>
              </a:p>
            </p:txBody>
          </p:sp>
        </mc:Choice>
        <mc:Fallback>
          <p:sp>
            <p:nvSpPr>
              <p:cNvPr id="51" name="Rectangle 93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8226509" y="5550415"/>
                <a:ext cx="3205579" cy="523220"/>
              </a:xfrm>
              <a:prstGeom prst="rect">
                <a:avLst/>
              </a:prstGeom>
              <a:blipFill rotWithShape="1">
                <a:blip r:embed="rId20"/>
                <a:stretch>
                  <a:fillRect l="-3" t="-98" r="6" b="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 Box 43"/>
          <p:cNvSpPr txBox="1">
            <a:spLocks noChangeArrowheads="1"/>
          </p:cNvSpPr>
          <p:nvPr/>
        </p:nvSpPr>
        <p:spPr bwMode="auto">
          <a:xfrm>
            <a:off x="1619088" y="415159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几何意义:</a:t>
            </a:r>
            <a:endParaRPr kumimoji="1" lang="zh-CN" altLang="en-US" sz="2800" b="1" dirty="0">
              <a:solidFill>
                <a:srgbClr val="04926A"/>
              </a:solidFill>
            </a:endParaRPr>
          </a:p>
        </p:txBody>
      </p:sp>
      <p:pic>
        <p:nvPicPr>
          <p:cNvPr id="42" name="图片 41" descr="图表, 图示&#10;&#10;描述已自动生成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893" y="1399118"/>
            <a:ext cx="3769171" cy="30530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utoUpdateAnimBg="0"/>
      <p:bldP spid="7" grpId="0"/>
      <p:bldP spid="8" grpId="0"/>
      <p:bldP spid="9" grpId="0"/>
      <p:bldP spid="10" grpId="0"/>
      <p:bldP spid="11" grpId="0"/>
      <p:bldP spid="12" grpId="0"/>
      <p:bldP spid="51" grpId="0" bldLvl="0" animBg="1"/>
      <p:bldP spid="5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97462" y="707096"/>
            <a:ext cx="5193271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 </a:t>
            </a:r>
            <a:r>
              <a:rPr kumimoji="1"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偏导数与连续的关系</a:t>
            </a:r>
            <a:endParaRPr kumimoji="1"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Line 4"/>
          <p:cNvSpPr>
            <a:spLocks noChangeShapeType="1"/>
          </p:cNvSpPr>
          <p:nvPr/>
        </p:nvSpPr>
        <p:spPr bwMode="auto">
          <a:xfrm>
            <a:off x="6223341" y="1740236"/>
            <a:ext cx="609600" cy="0"/>
          </a:xfrm>
          <a:prstGeom prst="line">
            <a:avLst/>
          </a:prstGeom>
          <a:noFill/>
          <a:ln w="57150">
            <a:solidFill>
              <a:srgbClr val="04926A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734328" y="4706366"/>
            <a:ext cx="345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/>
                <a:ea typeface="黑体" panose="02010609060101010101" pitchFamily="49" charset="-122"/>
                <a:cs typeface="+mn-ea"/>
              </a:rPr>
              <a:t>但在该点处并不连续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.</a:t>
            </a:r>
            <a:endParaRPr kumimoji="1" lang="zh-CN" altLang="en-US" sz="2800" dirty="0">
              <a:solidFill>
                <a:prstClr val="black"/>
              </a:solidFill>
              <a:latin typeface="Times New Roman" panose="02020603050405020304"/>
              <a:ea typeface="黑体" panose="02010609060101010101" pitchFamily="49" charset="-122"/>
              <a:cs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16"/>
              <p:cNvSpPr>
                <a:spLocks noChangeArrowheads="1"/>
              </p:cNvSpPr>
              <p:nvPr/>
            </p:nvSpPr>
            <p:spPr bwMode="auto">
              <a:xfrm>
                <a:off x="2508046" y="1508410"/>
                <a:ext cx="528542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/>
                    <a:ea typeface="黑体" panose="02010609060101010101" pitchFamily="49" charset="-122"/>
                    <a:cs typeface="+mn-ea"/>
                  </a:rPr>
                  <a:t>一元函数中在某点可导        连续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>
          <p:sp>
            <p:nvSpPr>
              <p:cNvPr id="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046" y="1508410"/>
                <a:ext cx="5285421" cy="523220"/>
              </a:xfrm>
              <a:prstGeom prst="rect">
                <a:avLst/>
              </a:prstGeom>
              <a:blipFill rotWithShape="1">
                <a:blip r:embed="rId1"/>
                <a:stretch>
                  <a:fillRect l="-8" t="-54" r="2" b="5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2488996" y="2378008"/>
            <a:ext cx="65582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/>
                <a:ea typeface="黑体" panose="02010609060101010101" pitchFamily="49" charset="-122"/>
                <a:cs typeface="+mn-ea"/>
              </a:rPr>
              <a:t>多元函数中在某点偏导数存在         连续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.</a:t>
            </a:r>
            <a:endParaRPr kumimoji="1" lang="zh-CN" altLang="en-US" sz="2800" dirty="0">
              <a:solidFill>
                <a:prstClr val="black"/>
              </a:solidFill>
              <a:latin typeface="Times New Roman" panose="02020603050405020304"/>
              <a:ea typeface="黑体" panose="02010609060101010101" pitchFamily="49" charset="-122"/>
              <a:cs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对象 3"/>
              <p:cNvSpPr txBox="1"/>
              <p:nvPr/>
            </p:nvSpPr>
            <p:spPr>
              <a:xfrm>
                <a:off x="3560454" y="2931211"/>
                <a:ext cx="6060881" cy="181706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𝑥𝑦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800" i="1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)≠(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),</m:t>
                              </m:r>
                            </m:e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,  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   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)=(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454" y="2931211"/>
                <a:ext cx="6060881" cy="1817060"/>
              </a:xfrm>
              <a:prstGeom prst="rect">
                <a:avLst/>
              </a:prstGeom>
              <a:blipFill rotWithShape="1">
                <a:blip r:embed="rId2"/>
                <a:stretch>
                  <a:fillRect t="-3" r="7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对象 27"/>
              <p:cNvSpPr txBox="1"/>
              <p:nvPr/>
            </p:nvSpPr>
            <p:spPr>
              <a:xfrm>
                <a:off x="2508046" y="4715331"/>
                <a:ext cx="4402061" cy="47686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在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0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0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处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en-US" altLang="zh-CN" sz="2800" b="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两个偏导数存在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>
          <p:sp>
            <p:nvSpPr>
              <p:cNvPr id="11" name="对象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046" y="4715331"/>
                <a:ext cx="4402061" cy="476867"/>
              </a:xfrm>
              <a:prstGeom prst="rect">
                <a:avLst/>
              </a:prstGeom>
              <a:blipFill rotWithShape="1">
                <a:blip r:embed="rId3"/>
                <a:stretch>
                  <a:fillRect l="-10" t="-96" r="1" b="-94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>
                <a:spLocks noChangeArrowheads="1"/>
              </p:cNvSpPr>
              <p:nvPr/>
            </p:nvSpPr>
            <p:spPr bwMode="auto">
              <a:xfrm>
                <a:off x="2587034" y="5504441"/>
                <a:ext cx="4864848" cy="523220"/>
              </a:xfrm>
              <a:prstGeom prst="rect">
                <a:avLst/>
              </a:prstGeom>
              <a:solidFill>
                <a:srgbClr val="04926A">
                  <a:alpha val="20000"/>
                </a:srgbClr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结论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  </a:t>
                </a:r>
                <a:r>
                  <a:rPr kumimoji="1" lang="zh-CN" altLang="en-US" sz="2800" dirty="0">
                    <a:solidFill>
                      <a:srgbClr val="4A7BA8"/>
                    </a:solidFill>
                    <a:latin typeface="Times New Roman" panose="02020603050405020304"/>
                    <a:ea typeface="黑体" panose="02010609060101010101" pitchFamily="49" charset="-122"/>
                    <a:cs typeface="+mn-ea"/>
                  </a:rPr>
                  <a:t>偏导数存在         连续</a:t>
                </a:r>
                <a:r>
                  <a:rPr kumimoji="1" lang="en-US" altLang="zh-CN" sz="2800" dirty="0">
                    <a:solidFill>
                      <a:srgbClr val="4A7BA8"/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.</a:t>
                </a:r>
                <a:endParaRPr kumimoji="1" lang="zh-CN" altLang="en-US" sz="2800" dirty="0">
                  <a:solidFill>
                    <a:srgbClr val="4A7BA8"/>
                  </a:solidFill>
                  <a:latin typeface="Times New Roman" panose="02020603050405020304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87034" y="5504441"/>
                <a:ext cx="4864848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1" t="-50" r="3" b="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5"/>
          <p:cNvGrpSpPr/>
          <p:nvPr/>
        </p:nvGrpSpPr>
        <p:grpSpPr bwMode="auto">
          <a:xfrm>
            <a:off x="5649191" y="5606648"/>
            <a:ext cx="609600" cy="287338"/>
            <a:chOff x="4455" y="3330"/>
            <a:chExt cx="384" cy="181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4455" y="3426"/>
              <a:ext cx="384" cy="0"/>
            </a:xfrm>
            <a:prstGeom prst="line">
              <a:avLst/>
            </a:prstGeom>
            <a:noFill/>
            <a:ln w="57150">
              <a:solidFill>
                <a:srgbClr val="4A7BA8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>
              <a:off x="4499" y="3330"/>
              <a:ext cx="204" cy="181"/>
            </a:xfrm>
            <a:prstGeom prst="line">
              <a:avLst/>
            </a:prstGeom>
            <a:noFill/>
            <a:ln w="57150">
              <a:solidFill>
                <a:srgbClr val="4A7BA8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7319835" y="216276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rgbClr val="4A7BA8"/>
                </a:solidFill>
                <a:latin typeface="Times New Roman" panose="02020603050405020304"/>
                <a:ea typeface="黑体" panose="02010609060101010101" pitchFamily="49" charset="-122"/>
                <a:cs typeface="+mn-ea"/>
              </a:rPr>
              <a:t>？</a:t>
            </a:r>
            <a:endParaRPr kumimoji="1" lang="zh-CN" altLang="en-US" sz="2800" dirty="0">
              <a:solidFill>
                <a:srgbClr val="4A7BA8"/>
              </a:solidFill>
              <a:latin typeface="Times New Roman" panose="02020603050405020304"/>
              <a:ea typeface="黑体" panose="02010609060101010101" pitchFamily="49" charset="-122"/>
              <a:cs typeface="+mn-ea"/>
            </a:endParaRPr>
          </a:p>
        </p:txBody>
      </p:sp>
      <p:sp>
        <p:nvSpPr>
          <p:cNvPr id="18" name="Line 4"/>
          <p:cNvSpPr>
            <a:spLocks noChangeShapeType="1"/>
          </p:cNvSpPr>
          <p:nvPr/>
        </p:nvSpPr>
        <p:spPr bwMode="auto">
          <a:xfrm>
            <a:off x="7262158" y="2639618"/>
            <a:ext cx="609600" cy="0"/>
          </a:xfrm>
          <a:prstGeom prst="line">
            <a:avLst/>
          </a:prstGeom>
          <a:noFill/>
          <a:ln w="57150">
            <a:solidFill>
              <a:srgbClr val="04926A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grpSp>
        <p:nvGrpSpPr>
          <p:cNvPr id="4" name="组合 3"/>
          <p:cNvGrpSpPr/>
          <p:nvPr/>
        </p:nvGrpSpPr>
        <p:grpSpPr>
          <a:xfrm>
            <a:off x="2615609" y="3582312"/>
            <a:ext cx="962025" cy="448945"/>
            <a:chOff x="1553" y="3803"/>
            <a:chExt cx="1515" cy="707"/>
          </a:xfrm>
        </p:grpSpPr>
        <p:sp>
          <p:nvSpPr>
            <p:cNvPr id="5" name="圆角矩形 57"/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 Box 28"/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7" grpId="0" autoUpdateAnimBg="0"/>
      <p:bldP spid="8" grpId="0"/>
      <p:bldP spid="9" grpId="0"/>
      <p:bldP spid="12" grpId="0" animBg="1" autoUpdateAnimBg="0"/>
      <p:bldP spid="17" grpId="0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5" name="矩形 194"/>
          <p:cNvSpPr/>
          <p:nvPr/>
        </p:nvSpPr>
        <p:spPr>
          <a:xfrm>
            <a:off x="177165" y="1306830"/>
            <a:ext cx="11837670" cy="4287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Box 9"/>
              <p:cNvSpPr txBox="1">
                <a:spLocks noChangeArrowheads="1"/>
              </p:cNvSpPr>
              <p:nvPr/>
            </p:nvSpPr>
            <p:spPr bwMode="auto">
              <a:xfrm>
                <a:off x="1984028" y="2743231"/>
                <a:ext cx="8305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/>
                    <a:ea typeface="黑体" panose="02010609060101010101" pitchFamily="49" charset="-122"/>
                    <a:cs typeface="+mn-ea"/>
                  </a:rPr>
                  <a:t>因为各偏导数存在只能保证点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charset="0"/>
                        <a:ea typeface="黑体" panose="02010609060101010101" pitchFamily="49" charset="-122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charset="0"/>
                        <a:ea typeface="黑体" panose="02010609060101010101" pitchFamily="49" charset="-122"/>
                      </a:rPr>
                      <m:t>𝑃</m:t>
                    </m:r>
                    <m:r>
                      <a:rPr lang="en-US" altLang="zh-CN" sz="2800" b="0" i="1" smtClean="0">
                        <a:latin typeface="Cambria Math" panose="02040503050406030204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/>
                    <a:ea typeface="黑体" panose="02010609060101010101" pitchFamily="49" charset="-122"/>
                    <a:cs typeface="+mn-ea"/>
                  </a:rPr>
                  <a:t>沿着平行于坐标轴</a:t>
                </a:r>
                <a:endParaRPr kumimoji="1" lang="zh-CN" altLang="en-US" sz="28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>
          <p:sp>
            <p:nvSpPr>
              <p:cNvPr id="3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4028" y="2743231"/>
                <a:ext cx="8305800" cy="523220"/>
              </a:xfrm>
              <a:prstGeom prst="rect">
                <a:avLst/>
              </a:prstGeom>
              <a:blipFill rotWithShape="1">
                <a:blip r:embed="rId1"/>
                <a:stretch>
                  <a:fillRect l="-3" t="-6" r="3" b="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10"/>
              <p:cNvSpPr txBox="1">
                <a:spLocks noChangeArrowheads="1"/>
              </p:cNvSpPr>
              <p:nvPr/>
            </p:nvSpPr>
            <p:spPr bwMode="auto">
              <a:xfrm>
                <a:off x="1984028" y="3491459"/>
                <a:ext cx="651916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/>
                    <a:ea typeface="黑体" panose="02010609060101010101" pitchFamily="49" charset="-122"/>
                    <a:cs typeface="+mn-ea"/>
                  </a:rPr>
                  <a:t>的方向趋于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charset="0"/>
                        <a:ea typeface="黑体" panose="02010609060101010101" pitchFamily="49" charset="-122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charset="0"/>
                        <a:ea typeface="黑体" panose="02010609060101010101" pitchFamily="49" charset="-122"/>
                      </a:rPr>
                      <m:t>𝑃</m:t>
                    </m:r>
                    <m:r>
                      <m:rPr>
                        <m:nor/>
                      </m:rPr>
                      <a:rPr lang="en-US" altLang="zh-CN" sz="2800" baseline="-25000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0</m:t>
                    </m:r>
                    <m:r>
                      <m:rPr>
                        <m:nor/>
                      </m:rPr>
                      <a:rPr lang="en-US" altLang="zh-CN" sz="2800" b="0" i="0" baseline="-25000" dirty="0" smtClean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/>
                    <a:ea typeface="黑体" panose="02010609060101010101" pitchFamily="49" charset="-122"/>
                    <a:cs typeface="+mn-ea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/>
                    <a:ea typeface="黑体" panose="02010609060101010101" pitchFamily="49" charset="-122"/>
                    <a:cs typeface="+mn-ea"/>
                  </a:rPr>
                  <a:t> 函数值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charset="0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zh-CN" altLang="en-US" sz="2800" i="1" smtClean="0"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𝑃</m:t>
                        </m:r>
                      </m:e>
                    </m:d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/>
                    <a:ea typeface="黑体" panose="02010609060101010101" pitchFamily="49" charset="-122"/>
                    <a:cs typeface="+mn-ea"/>
                  </a:rPr>
                  <a:t>趋于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charset="0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zh-CN" altLang="en-US" sz="2800" i="1"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𝑃</m:t>
                        </m:r>
                        <m:r>
                          <m:rPr>
                            <m:nor/>
                          </m:rPr>
                          <a:rPr lang="en-US" altLang="zh-CN" sz="2800" baseline="-25000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0</m:t>
                        </m:r>
                      </m:e>
                    </m:d>
                    <m:r>
                      <a:rPr kumimoji="1" lang="zh-CN" altLang="en-US" sz="2800" i="1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>
          <p:sp>
            <p:nvSpPr>
              <p:cNvPr id="5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4028" y="3491459"/>
                <a:ext cx="6519165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4" t="-44" r="8" b="-38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8261146" y="3491459"/>
            <a:ext cx="2133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/>
                <a:ea typeface="黑体" panose="02010609060101010101" pitchFamily="49" charset="-122"/>
                <a:cs typeface="+mn-ea"/>
              </a:rPr>
              <a:t>但不能保证</a:t>
            </a:r>
            <a:endParaRPr kumimoji="1" lang="zh-CN" altLang="en-US" sz="2800" dirty="0">
              <a:solidFill>
                <a:prstClr val="black"/>
              </a:solidFill>
              <a:latin typeface="Times New Roman" panose="02020603050405020304"/>
              <a:ea typeface="黑体" panose="02010609060101010101" pitchFamily="49" charset="-122"/>
              <a:cs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12"/>
              <p:cNvSpPr>
                <a:spLocks noChangeArrowheads="1"/>
              </p:cNvSpPr>
              <p:nvPr/>
            </p:nvSpPr>
            <p:spPr bwMode="auto">
              <a:xfrm>
                <a:off x="1984028" y="4209018"/>
                <a:ext cx="45720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/>
                    <a:ea typeface="黑体" panose="02010609060101010101" pitchFamily="49" charset="-122"/>
                    <a:cs typeface="+mn-ea"/>
                  </a:rPr>
                  <a:t>点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charset="0"/>
                        <a:ea typeface="黑体" panose="02010609060101010101" pitchFamily="49" charset="-122"/>
                      </a:rPr>
                      <m:t>𝑃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/>
                    <a:ea typeface="黑体" panose="02010609060101010101" pitchFamily="49" charset="-122"/>
                    <a:cs typeface="+mn-ea"/>
                  </a:rPr>
                  <a:t> 按任何方式趋于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charset="0"/>
                        <a:ea typeface="黑体" panose="02010609060101010101" pitchFamily="49" charset="-122"/>
                      </a:rPr>
                      <m:t>𝑃</m:t>
                    </m:r>
                    <m:r>
                      <m:rPr>
                        <m:nor/>
                      </m:rPr>
                      <a:rPr lang="en-US" altLang="zh-CN" sz="2800" baseline="-25000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0</m:t>
                    </m:r>
                    <m:r>
                      <m:rPr>
                        <m:nor/>
                      </m:rPr>
                      <a:rPr lang="en-US" altLang="zh-CN" sz="2800" b="0" i="0" baseline="-25000" dirty="0" smtClean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/>
                    <a:ea typeface="黑体" panose="02010609060101010101" pitchFamily="49" charset="-122"/>
                    <a:cs typeface="+mn-ea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>
          <p:sp>
            <p:nvSpPr>
              <p:cNvPr id="7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4028" y="4209018"/>
                <a:ext cx="4572000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6" t="-45" r="6" b="-384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13"/>
              <p:cNvSpPr>
                <a:spLocks noChangeArrowheads="1"/>
              </p:cNvSpPr>
              <p:nvPr/>
            </p:nvSpPr>
            <p:spPr bwMode="auto">
              <a:xfrm>
                <a:off x="6269691" y="4209018"/>
                <a:ext cx="393828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/>
                    <a:ea typeface="黑体" panose="02010609060101010101" pitchFamily="49" charset="-122"/>
                    <a:cs typeface="+mn-ea"/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charset="0"/>
                        <a:ea typeface="黑体" panose="02010609060101010101" pitchFamily="49" charset="-122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charset="0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zh-CN" altLang="en-US" sz="2800" i="1"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𝑃</m:t>
                        </m:r>
                      </m:e>
                    </m:d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/>
                    <a:ea typeface="黑体" panose="02010609060101010101" pitchFamily="49" charset="-122"/>
                    <a:cs typeface="+mn-ea"/>
                  </a:rPr>
                  <a:t> 都趋于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charset="0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zh-CN" altLang="en-US" sz="2800" i="1"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𝑃</m:t>
                        </m:r>
                        <m:r>
                          <m:rPr>
                            <m:nor/>
                          </m:rPr>
                          <a:rPr lang="en-US" altLang="zh-CN" sz="2800" baseline="-25000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0</m:t>
                        </m:r>
                      </m:e>
                    </m:d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.</a:t>
                </a:r>
                <a:endParaRPr kumimoji="1" lang="zh-CN" altLang="en-US" sz="2800" dirty="0">
                  <a:solidFill>
                    <a:prstClr val="black"/>
                  </a:solidFill>
                  <a:latin typeface="Times New Roman" panose="02020603050405020304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>
          <p:sp>
            <p:nvSpPr>
              <p:cNvPr id="8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69691" y="4209018"/>
                <a:ext cx="3938281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9" t="-45" r="9" b="-384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43"/>
          <p:cNvSpPr txBox="1">
            <a:spLocks noChangeArrowheads="1"/>
          </p:cNvSpPr>
          <p:nvPr/>
        </p:nvSpPr>
        <p:spPr bwMode="auto">
          <a:xfrm>
            <a:off x="1984028" y="2054787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几何解释</a:t>
            </a:r>
            <a:endParaRPr kumimoji="1" lang="zh-CN" altLang="en-US" sz="2800" b="1" dirty="0">
              <a:solidFill>
                <a:srgbClr val="04926A"/>
              </a:solidFill>
              <a:latin typeface="Cambria Math" panose="0204050305040603020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 txBox="1">
            <a:spLocks noChangeArrowheads="1"/>
          </p:cNvSpPr>
          <p:nvPr/>
        </p:nvSpPr>
        <p:spPr>
          <a:xfrm>
            <a:off x="1885314" y="1035269"/>
            <a:ext cx="2689861" cy="609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二、高阶导数</a:t>
            </a:r>
            <a:endParaRPr lang="zh-CN" altLang="en-US" sz="32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368117" y="1795682"/>
            <a:ext cx="1543483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pc="3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kumimoji="1" lang="zh-CN" altLang="en-US" spc="3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定义</a:t>
            </a:r>
            <a:endParaRPr kumimoji="1" lang="en-US" altLang="zh-CN" spc="30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Box 3"/>
              <p:cNvSpPr txBox="1">
                <a:spLocks noChangeArrowheads="1"/>
              </p:cNvSpPr>
              <p:nvPr/>
            </p:nvSpPr>
            <p:spPr bwMode="auto">
              <a:xfrm>
                <a:off x="2380817" y="2538210"/>
                <a:ext cx="6108199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charset="0"/>
                    <a:ea typeface="黑体" panose="02010609060101010101" pitchFamily="49" charset="-122"/>
                    <a:cs typeface="+mn-ea"/>
                    <a:sym typeface="+mn-lt"/>
                  </a:rPr>
                  <a:t>设 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=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 ,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𝑦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) 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charset="0"/>
                    <a:ea typeface="黑体" panose="02010609060101010101" pitchFamily="49" charset="-122"/>
                    <a:cs typeface="+mn-ea"/>
                    <a:sym typeface="+mn-lt"/>
                  </a:rPr>
                  <a:t>在区域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charset="0"/>
                        <a:ea typeface="黑体" panose="02010609060101010101" pitchFamily="49" charset="-122"/>
                      </a:rPr>
                      <m:t>𝐷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charset="0"/>
                    <a:ea typeface="黑体" panose="02010609060101010101" pitchFamily="49" charset="-122"/>
                    <a:cs typeface="+mn-ea"/>
                    <a:sym typeface="+mn-lt"/>
                  </a:rPr>
                  <a:t> 内具有偏导数</a:t>
                </a:r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charset="0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4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0817" y="2538210"/>
                <a:ext cx="6108199" cy="519113"/>
              </a:xfrm>
              <a:prstGeom prst="rect">
                <a:avLst/>
              </a:prstGeom>
              <a:blipFill rotWithShape="1">
                <a:blip r:embed="rId1"/>
                <a:stretch>
                  <a:fillRect l="-3" t="-22" r="6" b="8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4"/>
              <p:cNvSpPr txBox="1"/>
              <p:nvPr/>
            </p:nvSpPr>
            <p:spPr bwMode="auto">
              <a:xfrm>
                <a:off x="2389782" y="3316218"/>
                <a:ext cx="4531718" cy="10779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9782" y="3316218"/>
                <a:ext cx="4531718" cy="1077982"/>
              </a:xfrm>
              <a:prstGeom prst="rect">
                <a:avLst/>
              </a:prstGeom>
              <a:blipFill rotWithShape="1">
                <a:blip r:embed="rId2"/>
                <a:stretch>
                  <a:fillRect l="-6" t="-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368117" y="4539219"/>
            <a:ext cx="502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charset="0"/>
                <a:ea typeface="黑体" panose="02010609060101010101" pitchFamily="49" charset="-122"/>
                <a:cs typeface="+mn-ea"/>
                <a:sym typeface="+mn-lt"/>
              </a:rPr>
              <a:t>若这两个偏导数仍存在偏导数</a:t>
            </a:r>
            <a:r>
              <a:rPr kumimoji="1" lang="en-US" altLang="zh-CN" sz="280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,</a:t>
            </a:r>
            <a:endParaRPr kumimoji="1" lang="zh-CN" altLang="en-US" sz="2800" dirty="0">
              <a:solidFill>
                <a:prstClr val="black"/>
              </a:solidFill>
              <a:latin typeface="Cambria Math" panose="02040503050406030204" charset="0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Box 10"/>
              <p:cNvSpPr txBox="1">
                <a:spLocks noChangeArrowheads="1"/>
              </p:cNvSpPr>
              <p:nvPr/>
            </p:nvSpPr>
            <p:spPr bwMode="auto">
              <a:xfrm>
                <a:off x="7249355" y="4539219"/>
                <a:ext cx="392294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charset="0"/>
                    <a:ea typeface="黑体" panose="02010609060101010101" pitchFamily="49" charset="-122"/>
                    <a:cs typeface="+mn-ea"/>
                    <a:sym typeface="+mn-lt"/>
                  </a:rPr>
                  <a:t>则称它们是 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=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 ,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𝑦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)</a:t>
                </a:r>
                <a:endParaRPr kumimoji="1" lang="en-US" altLang="zh-CN" sz="2800" dirty="0">
                  <a:solidFill>
                    <a:prstClr val="black"/>
                  </a:solidFill>
                  <a:latin typeface="Cambria Math" panose="02040503050406030204" charset="0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7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49355" y="4539219"/>
                <a:ext cx="3922949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5" t="-46" r="3" b="4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2371852" y="5343441"/>
            <a:ext cx="251764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charset="0"/>
                <a:ea typeface="黑体" panose="02010609060101010101" pitchFamily="49" charset="-122"/>
                <a:cs typeface="+mn-ea"/>
                <a:sym typeface="+mn-lt"/>
              </a:rPr>
              <a:t>的</a:t>
            </a: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  <a:cs typeface="+mn-ea"/>
                <a:sym typeface="+mn-lt"/>
              </a:rPr>
              <a:t>二阶偏导数</a:t>
            </a:r>
            <a:r>
              <a:rPr kumimoji="1" lang="en-US" altLang="zh-CN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  <a:cs typeface="+mn-ea"/>
                <a:sym typeface="+mn-lt"/>
              </a:rPr>
              <a:t>.</a:t>
            </a:r>
            <a:endParaRPr kumimoji="1" lang="en-US" altLang="zh-CN" sz="2800" b="1" dirty="0">
              <a:solidFill>
                <a:srgbClr val="04926A"/>
              </a:solidFill>
              <a:latin typeface="Cambria Math" panose="02040503050406030204" charset="0"/>
              <a:ea typeface="黑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5" grpId="0"/>
      <p:bldP spid="6" grpId="0" autoUpdateAnimBg="0"/>
      <p:bldP spid="7" grpId="0" autoUpdateAnimBg="0"/>
      <p:bldP spid="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Box 12"/>
              <p:cNvSpPr txBox="1">
                <a:spLocks noChangeArrowheads="1"/>
              </p:cNvSpPr>
              <p:nvPr/>
            </p:nvSpPr>
            <p:spPr bwMode="auto">
              <a:xfrm>
                <a:off x="1495927" y="1101416"/>
                <a:ext cx="625062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charset="0"/>
                    <a:ea typeface="黑体" panose="02010609060101010101" pitchFamily="49" charset="-122"/>
                    <a:cs typeface="+mn-ea"/>
                    <a:sym typeface="+mn-lt"/>
                  </a:rPr>
                  <a:t>按求导顺序不同</a:t>
                </a:r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, 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charset="0"/>
                    <a:ea typeface="黑体" panose="02010609060101010101" pitchFamily="49" charset="-122"/>
                    <a:cs typeface="+mn-ea"/>
                    <a:sym typeface="+mn-lt"/>
                  </a:rPr>
                  <a:t>有下列四个二阶偏导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charset="0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2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95927" y="1101416"/>
                <a:ext cx="6250622" cy="523220"/>
              </a:xfrm>
              <a:prstGeom prst="rect">
                <a:avLst/>
              </a:prstGeom>
              <a:blipFill rotWithShape="1">
                <a:blip r:embed="rId1"/>
                <a:stretch>
                  <a:fillRect l="-8" t="-62" r="3" b="5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5"/>
              <p:cNvSpPr txBox="1"/>
              <p:nvPr/>
            </p:nvSpPr>
            <p:spPr bwMode="auto">
              <a:xfrm>
                <a:off x="1514976" y="1859415"/>
                <a:ext cx="4412297" cy="11361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num>
                            <m:den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𝑥𝑥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14976" y="1859415"/>
                <a:ext cx="4412297" cy="1136160"/>
              </a:xfrm>
              <a:prstGeom prst="rect">
                <a:avLst/>
              </a:prstGeom>
              <a:blipFill rotWithShape="1">
                <a:blip r:embed="rId2"/>
                <a:stretch>
                  <a:fillRect l="-11" t="-12" r="4" b="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6"/>
              <p:cNvSpPr txBox="1"/>
              <p:nvPr/>
            </p:nvSpPr>
            <p:spPr bwMode="auto">
              <a:xfrm>
                <a:off x="6155873" y="1862196"/>
                <a:ext cx="4412297" cy="11500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num>
                            <m:den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𝑦𝑦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5873" y="1862196"/>
                <a:ext cx="4412297" cy="1150006"/>
              </a:xfrm>
              <a:prstGeom prst="rect">
                <a:avLst/>
              </a:prstGeom>
              <a:blipFill rotWithShape="1">
                <a:blip r:embed="rId3"/>
                <a:stretch>
                  <a:fillRect l="-4" t="-33" r="11" b="3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7"/>
              <p:cNvSpPr txBox="1"/>
              <p:nvPr/>
            </p:nvSpPr>
            <p:spPr bwMode="auto">
              <a:xfrm>
                <a:off x="1514976" y="3592822"/>
                <a:ext cx="4550176" cy="11361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num>
                            <m:den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14976" y="3592822"/>
                <a:ext cx="4550176" cy="1136159"/>
              </a:xfrm>
              <a:prstGeom prst="rect">
                <a:avLst/>
              </a:prstGeom>
              <a:blipFill rotWithShape="1">
                <a:blip r:embed="rId4"/>
                <a:stretch>
                  <a:fillRect l="-11" t="-55" r="6" b="1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8"/>
              <p:cNvSpPr txBox="1"/>
              <p:nvPr/>
            </p:nvSpPr>
            <p:spPr bwMode="auto">
              <a:xfrm>
                <a:off x="6155873" y="3590127"/>
                <a:ext cx="4838700" cy="11361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num>
                            <m:den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𝑦𝑥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5873" y="3590127"/>
                <a:ext cx="4838700" cy="1136160"/>
              </a:xfrm>
              <a:prstGeom prst="rect">
                <a:avLst/>
              </a:prstGeom>
              <a:blipFill rotWithShape="1">
                <a:blip r:embed="rId5"/>
                <a:stretch>
                  <a:fillRect l="-4" t="-42" r="4" b="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9245875" y="2846211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  <a:cs typeface="+mn-ea"/>
              </a:rPr>
              <a:t>纯偏导</a:t>
            </a:r>
            <a:endParaRPr kumimoji="1" lang="zh-CN" altLang="en-US" sz="2800" b="1" dirty="0">
              <a:solidFill>
                <a:srgbClr val="04926A"/>
              </a:solidFill>
              <a:latin typeface="Cambria Math" panose="02040503050406030204" charset="0"/>
              <a:ea typeface="黑体" panose="02010609060101010101" pitchFamily="49" charset="-122"/>
              <a:cs typeface="+mn-ea"/>
            </a:endParaRP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9111459" y="4592485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  <a:cs typeface="+mn-ea"/>
              </a:rPr>
              <a:t>混合偏导</a:t>
            </a:r>
            <a:endParaRPr kumimoji="1" lang="zh-CN" altLang="en-US" sz="2800" b="1" dirty="0">
              <a:solidFill>
                <a:srgbClr val="04926A"/>
              </a:solidFill>
              <a:latin typeface="Cambria Math" panose="02040503050406030204" charset="0"/>
              <a:ea typeface="黑体" panose="02010609060101010101" pitchFamily="49" charset="-122"/>
              <a:cs typeface="+mn-ea"/>
            </a:endParaRPr>
          </a:p>
        </p:txBody>
      </p:sp>
      <p:sp>
        <p:nvSpPr>
          <p:cNvPr id="9" name="Rectangle 96"/>
          <p:cNvSpPr>
            <a:spLocks noChangeArrowheads="1"/>
          </p:cNvSpPr>
          <p:nvPr/>
        </p:nvSpPr>
        <p:spPr bwMode="auto">
          <a:xfrm>
            <a:off x="1486401" y="5197784"/>
            <a:ext cx="5867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charset="0"/>
                <a:ea typeface="黑体" panose="02010609060101010101" pitchFamily="49" charset="-122"/>
                <a:cs typeface="+mn-ea"/>
              </a:rPr>
              <a:t>类似可以定义更高阶的偏导数</a:t>
            </a:r>
            <a:r>
              <a:rPr kumimoji="1" lang="en-US" altLang="zh-CN" sz="2800" dirty="0">
                <a:solidFill>
                  <a:prstClr val="black"/>
                </a:solidFill>
                <a:latin typeface="Cambria Math" panose="02040503050406030204" charset="0"/>
                <a:ea typeface="黑体" panose="02010609060101010101" pitchFamily="49" charset="-122"/>
                <a:cs typeface="+mn-ea"/>
              </a:rPr>
              <a:t>.</a:t>
            </a:r>
            <a:endParaRPr kumimoji="1" lang="en-US" altLang="zh-CN" sz="2800" dirty="0">
              <a:solidFill>
                <a:prstClr val="black"/>
              </a:solidFill>
              <a:latin typeface="Cambria Math" panose="02040503050406030204" charset="0"/>
              <a:ea typeface="黑体" panose="02010609060101010101" pitchFamily="49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4"/>
              <p:cNvSpPr txBox="1"/>
              <p:nvPr/>
            </p:nvSpPr>
            <p:spPr bwMode="auto">
              <a:xfrm>
                <a:off x="2129293" y="2231845"/>
                <a:ext cx="3024789" cy="12704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​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𝑧</m:t>
                              </m:r>
                            </m:num>
                            <m:den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𝜕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​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3</m:t>
                              </m:r>
                            </m:sup>
                          </m:s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charset="0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>
          <p:sp>
            <p:nvSpPr>
              <p:cNvPr id="3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9293" y="2231845"/>
                <a:ext cx="3024789" cy="1270478"/>
              </a:xfrm>
              <a:prstGeom prst="rect">
                <a:avLst/>
              </a:prstGeom>
              <a:blipFill rotWithShape="1">
                <a:blip r:embed="rId1"/>
                <a:stretch>
                  <a:fillRect l="-5" t="-36" r="14" b="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7"/>
              <p:cNvSpPr txBox="1"/>
              <p:nvPr/>
            </p:nvSpPr>
            <p:spPr bwMode="auto">
              <a:xfrm>
                <a:off x="2129293" y="4224107"/>
                <a:ext cx="4045241" cy="12155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𝑦</m:t>
                          </m:r>
                        </m:den>
                      </m:f>
                      <m:d>
                        <m:d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𝑛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−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​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𝑧</m:t>
                              </m:r>
                            </m:num>
                            <m:den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𝜕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​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𝑛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−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+mn-ea"/>
                                    </a:rPr>
                                    <m:t>1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𝑛</m:t>
                              </m:r>
                            </m:sup>
                          </m:s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−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+mn-ea"/>
                                </a:rPr>
                                <m:t>1</m:t>
                              </m:r>
                            </m:sup>
                          </m:s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charset="0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>
          <p:sp>
            <p:nvSpPr>
              <p:cNvPr id="4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9293" y="4224107"/>
                <a:ext cx="4045241" cy="1215541"/>
              </a:xfrm>
              <a:prstGeom prst="rect">
                <a:avLst/>
              </a:prstGeom>
              <a:blipFill rotWithShape="1">
                <a:blip r:embed="rId2"/>
                <a:stretch>
                  <a:fillRect l="-3" t="-7" r="11" b="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对象 1"/>
              <p:cNvSpPr txBox="1"/>
              <p:nvPr/>
            </p:nvSpPr>
            <p:spPr>
              <a:xfrm>
                <a:off x="1331819" y="1455744"/>
                <a:ext cx="5556250" cy="57879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𝑦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关于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的三阶偏导数为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charset="0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>
          <p:sp>
            <p:nvSpPr>
              <p:cNvPr id="5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819" y="1455744"/>
                <a:ext cx="5556250" cy="578796"/>
              </a:xfrm>
              <a:prstGeom prst="rect">
                <a:avLst/>
              </a:prstGeom>
              <a:blipFill rotWithShape="1">
                <a:blip r:embed="rId3"/>
                <a:stretch>
                  <a:fillRect l="-4" t="-56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对象 2"/>
              <p:cNvSpPr txBox="1"/>
              <p:nvPr/>
            </p:nvSpPr>
            <p:spPr>
              <a:xfrm>
                <a:off x="1331819" y="3494513"/>
                <a:ext cx="9821956" cy="57879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  <a:cs typeface="+mn-ea"/>
                            </a:rPr>
                            <m:t>𝑦</m:t>
                          </m:r>
                        </m:e>
                      </m:d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关于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𝑥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的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𝑛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−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1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阶偏导数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,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再关于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𝑦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+mn-ea"/>
                        </a:rPr>
                        <m:t>的一阶偏导数为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charset="0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>
          <p:sp>
            <p:nvSpPr>
              <p:cNvPr id="6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819" y="3494513"/>
                <a:ext cx="9821956" cy="578797"/>
              </a:xfrm>
              <a:prstGeom prst="rect">
                <a:avLst/>
              </a:prstGeom>
              <a:blipFill rotWithShape="1">
                <a:blip r:embed="rId4"/>
                <a:stretch>
                  <a:fillRect l="-2" t="-19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23"/>
          <p:cNvSpPr>
            <a:spLocks noChangeArrowheads="1"/>
          </p:cNvSpPr>
          <p:nvPr/>
        </p:nvSpPr>
        <p:spPr bwMode="auto">
          <a:xfrm>
            <a:off x="1331819" y="5463446"/>
            <a:ext cx="822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charset="0"/>
                <a:ea typeface="黑体" panose="02010609060101010101" pitchFamily="49" charset="-122"/>
                <a:cs typeface="+mn-ea"/>
              </a:rPr>
              <a:t>二阶及二阶以上的偏导数统称为</a:t>
            </a: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  <a:cs typeface="+mn-ea"/>
              </a:rPr>
              <a:t>高阶偏导数.</a:t>
            </a:r>
            <a:endParaRPr kumimoji="1" lang="zh-CN" altLang="en-US" sz="2800" dirty="0">
              <a:solidFill>
                <a:srgbClr val="04926A"/>
              </a:solidFill>
              <a:latin typeface="Cambria Math" panose="02040503050406030204" charset="0"/>
              <a:ea typeface="黑体" panose="02010609060101010101" pitchFamily="49" charset="-122"/>
              <a:cs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417325" y="875633"/>
            <a:ext cx="962025" cy="448945"/>
            <a:chOff x="1553" y="3803"/>
            <a:chExt cx="1515" cy="707"/>
          </a:xfrm>
        </p:grpSpPr>
        <p:sp>
          <p:nvSpPr>
            <p:cNvPr id="9" name="圆角矩形 57"/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 Box 28"/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7" name="矩形 46"/>
              <p:cNvSpPr/>
              <p:nvPr/>
            </p:nvSpPr>
            <p:spPr>
              <a:xfrm>
                <a:off x="508001" y="536260"/>
                <a:ext cx="11188700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1" y="536260"/>
                <a:ext cx="11188700" cy="5799897"/>
              </a:xfrm>
              <a:prstGeom prst="rect">
                <a:avLst/>
              </a:prstGeom>
              <a:blipFill rotWithShape="1">
                <a:blip r:embed="rId1"/>
                <a:stretch>
                  <a:fillRect l="-1481" t="-1932" r="-1476" b="-1914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508000" y="53626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1026500" y="53626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508001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102650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ext Box 12"/>
          <p:cNvSpPr txBox="1">
            <a:spLocks noChangeArrowheads="1"/>
          </p:cNvSpPr>
          <p:nvPr/>
        </p:nvSpPr>
        <p:spPr bwMode="auto">
          <a:xfrm>
            <a:off x="897662" y="248652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13"/>
              <p:cNvSpPr txBox="1"/>
              <p:nvPr/>
            </p:nvSpPr>
            <p:spPr bwMode="auto">
              <a:xfrm>
                <a:off x="1690759" y="2392485"/>
                <a:ext cx="457200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0759" y="2392485"/>
                <a:ext cx="457200" cy="889000"/>
              </a:xfrm>
              <a:prstGeom prst="rect">
                <a:avLst/>
              </a:prstGeom>
              <a:blipFill rotWithShape="1">
                <a:blip r:embed="rId2"/>
                <a:stretch>
                  <a:fillRect l="-85" t="-49" r="85" b="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14"/>
              <p:cNvSpPr txBox="1"/>
              <p:nvPr/>
            </p:nvSpPr>
            <p:spPr bwMode="auto">
              <a:xfrm>
                <a:off x="2110312" y="2562665"/>
                <a:ext cx="2619773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3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3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10312" y="2562665"/>
                <a:ext cx="2619773" cy="469900"/>
              </a:xfrm>
              <a:prstGeom prst="rect">
                <a:avLst/>
              </a:prstGeom>
              <a:blipFill rotWithShape="1">
                <a:blip r:embed="rId3"/>
                <a:stretch>
                  <a:fillRect l="-8" t="-94" r="23" b="9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15"/>
              <p:cNvSpPr txBox="1"/>
              <p:nvPr/>
            </p:nvSpPr>
            <p:spPr bwMode="auto">
              <a:xfrm>
                <a:off x="4613005" y="2386540"/>
                <a:ext cx="430213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13005" y="2386540"/>
                <a:ext cx="430213" cy="965200"/>
              </a:xfrm>
              <a:prstGeom prst="rect">
                <a:avLst/>
              </a:prstGeom>
              <a:blipFill rotWithShape="1">
                <a:blip r:embed="rId4"/>
                <a:stretch>
                  <a:fillRect l="-85" t="-22" r="11" b="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16"/>
              <p:cNvSpPr txBox="1"/>
              <p:nvPr/>
            </p:nvSpPr>
            <p:spPr bwMode="auto">
              <a:xfrm>
                <a:off x="5006975" y="2566880"/>
                <a:ext cx="27686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2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9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;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6975" y="2566880"/>
                <a:ext cx="2768600" cy="469900"/>
              </a:xfrm>
              <a:prstGeom prst="rect">
                <a:avLst/>
              </a:prstGeom>
              <a:blipFill rotWithShape="1">
                <a:blip r:embed="rId5"/>
                <a:stretch>
                  <a:fillRect t="-45" b="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30"/>
              <p:cNvSpPr txBox="1"/>
              <p:nvPr/>
            </p:nvSpPr>
            <p:spPr bwMode="auto">
              <a:xfrm>
                <a:off x="1690759" y="3370869"/>
                <a:ext cx="6096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0759" y="3370869"/>
                <a:ext cx="609600" cy="927100"/>
              </a:xfrm>
              <a:prstGeom prst="rect">
                <a:avLst/>
              </a:prstGeom>
              <a:blipFill rotWithShape="1">
                <a:blip r:embed="rId6"/>
                <a:stretch>
                  <a:fillRect l="-64" t="-31" r="64" b="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31"/>
              <p:cNvSpPr txBox="1"/>
              <p:nvPr/>
            </p:nvSpPr>
            <p:spPr bwMode="auto">
              <a:xfrm>
                <a:off x="2256573" y="3585182"/>
                <a:ext cx="11176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6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6573" y="3585182"/>
                <a:ext cx="1117600" cy="469900"/>
              </a:xfrm>
              <a:prstGeom prst="rect">
                <a:avLst/>
              </a:prstGeom>
              <a:blipFill rotWithShape="1">
                <a:blip r:embed="rId7"/>
                <a:stretch>
                  <a:fillRect l="-37" t="-129" r="37" b="1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32"/>
              <p:cNvSpPr txBox="1"/>
              <p:nvPr/>
            </p:nvSpPr>
            <p:spPr bwMode="auto">
              <a:xfrm>
                <a:off x="1690759" y="4609705"/>
                <a:ext cx="596900" cy="10017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0759" y="4609705"/>
                <a:ext cx="596900" cy="1001713"/>
              </a:xfrm>
              <a:prstGeom prst="rect">
                <a:avLst/>
              </a:prstGeom>
              <a:blipFill rotWithShape="1">
                <a:blip r:embed="rId8"/>
                <a:stretch>
                  <a:fillRect l="-65" t="-24" r="65" b="5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bject 33"/>
              <p:cNvSpPr txBox="1"/>
              <p:nvPr/>
            </p:nvSpPr>
            <p:spPr bwMode="auto">
              <a:xfrm>
                <a:off x="2264363" y="4825754"/>
                <a:ext cx="20066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2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18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𝑥𝑦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1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4363" y="4825754"/>
                <a:ext cx="2006600" cy="469900"/>
              </a:xfrm>
              <a:prstGeom prst="rect">
                <a:avLst/>
              </a:prstGeom>
              <a:blipFill rotWithShape="1">
                <a:blip r:embed="rId9"/>
                <a:stretch>
                  <a:fillRect l="-29" t="-83" r="29" b="8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Object 34"/>
              <p:cNvSpPr txBox="1"/>
              <p:nvPr/>
            </p:nvSpPr>
            <p:spPr bwMode="auto">
              <a:xfrm>
                <a:off x="4148435" y="4609705"/>
                <a:ext cx="6096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2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48435" y="4609705"/>
                <a:ext cx="609600" cy="927100"/>
              </a:xfrm>
              <a:prstGeom prst="rect">
                <a:avLst/>
              </a:prstGeom>
              <a:blipFill rotWithShape="1">
                <a:blip r:embed="rId10"/>
                <a:stretch>
                  <a:fillRect l="-101" t="-26" r="101" b="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35"/>
              <p:cNvSpPr txBox="1"/>
              <p:nvPr/>
            </p:nvSpPr>
            <p:spPr bwMode="auto">
              <a:xfrm>
                <a:off x="4666585" y="4822990"/>
                <a:ext cx="9525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6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3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66585" y="4822990"/>
                <a:ext cx="952500" cy="469900"/>
              </a:xfrm>
              <a:prstGeom prst="rect">
                <a:avLst/>
              </a:prstGeom>
              <a:blipFill rotWithShape="1">
                <a:blip r:embed="rId11"/>
                <a:stretch>
                  <a:fillRect l="-64" t="-35" r="64" b="3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Object 37"/>
              <p:cNvSpPr txBox="1"/>
              <p:nvPr/>
            </p:nvSpPr>
            <p:spPr bwMode="auto">
              <a:xfrm>
                <a:off x="3367067" y="3371719"/>
                <a:ext cx="811213" cy="10017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4" name="Object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7067" y="3371719"/>
                <a:ext cx="811213" cy="1001713"/>
              </a:xfrm>
              <a:prstGeom prst="rect">
                <a:avLst/>
              </a:prstGeom>
              <a:blipFill rotWithShape="1">
                <a:blip r:embed="rId12"/>
                <a:stretch>
                  <a:fillRect l="-37" t="-50" r="76" b="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Object 38"/>
              <p:cNvSpPr txBox="1"/>
              <p:nvPr/>
            </p:nvSpPr>
            <p:spPr bwMode="auto">
              <a:xfrm>
                <a:off x="4069465" y="3584763"/>
                <a:ext cx="25019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6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9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1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5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9465" y="3584763"/>
                <a:ext cx="2501900" cy="469900"/>
              </a:xfrm>
              <a:prstGeom prst="rect">
                <a:avLst/>
              </a:prstGeom>
              <a:blipFill rotWithShape="1">
                <a:blip r:embed="rId13"/>
                <a:stretch>
                  <a:fillRect l="-15" t="-40" r="15" b="4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Object 39"/>
              <p:cNvSpPr txBox="1"/>
              <p:nvPr/>
            </p:nvSpPr>
            <p:spPr bwMode="auto">
              <a:xfrm>
                <a:off x="6426146" y="3369594"/>
                <a:ext cx="811213" cy="10017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6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26146" y="3369594"/>
                <a:ext cx="811213" cy="1001713"/>
              </a:xfrm>
              <a:prstGeom prst="rect">
                <a:avLst/>
              </a:prstGeom>
              <a:blipFill rotWithShape="1">
                <a:blip r:embed="rId14"/>
                <a:stretch>
                  <a:fillRect l="-72" t="-28" r="33" b="6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Object 40"/>
              <p:cNvSpPr txBox="1"/>
              <p:nvPr/>
            </p:nvSpPr>
            <p:spPr bwMode="auto">
              <a:xfrm>
                <a:off x="7095134" y="3587938"/>
                <a:ext cx="25146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6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9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1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7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95134" y="3587938"/>
                <a:ext cx="2514600" cy="469900"/>
              </a:xfrm>
              <a:prstGeom prst="rect">
                <a:avLst/>
              </a:prstGeom>
              <a:blipFill rotWithShape="1">
                <a:blip r:embed="rId15"/>
                <a:stretch>
                  <a:fillRect l="-11" t="-40" r="11" b="4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对象 18"/>
              <p:cNvSpPr txBox="1"/>
              <p:nvPr/>
            </p:nvSpPr>
            <p:spPr>
              <a:xfrm>
                <a:off x="1661251" y="1555082"/>
                <a:ext cx="4829773" cy="56312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设</m:t>
                      </m:r>
                      <m:r>
                        <a:rPr kumimoji="1" lang="en-US" altLang="zh-CN" sz="2800" b="0" i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3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𝑥𝑦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1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9" name="对象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1251" y="1555082"/>
                <a:ext cx="4829773" cy="563128"/>
              </a:xfrm>
              <a:prstGeom prst="rect">
                <a:avLst/>
              </a:prstGeom>
              <a:blipFill rotWithShape="1">
                <a:blip r:embed="rId16"/>
                <a:stretch>
                  <a:fillRect l="-2" t="-107" r="1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对象 19"/>
              <p:cNvSpPr txBox="1"/>
              <p:nvPr/>
            </p:nvSpPr>
            <p:spPr>
              <a:xfrm>
                <a:off x="6298520" y="1293271"/>
                <a:ext cx="5236256" cy="125365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求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800" b="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en-US" altLang="zh-CN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en-US" altLang="zh-CN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及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0" name="对象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520" y="1293271"/>
                <a:ext cx="5236256" cy="1253650"/>
              </a:xfrm>
              <a:prstGeom prst="rect">
                <a:avLst/>
              </a:prstGeom>
              <a:blipFill rotWithShape="1">
                <a:blip r:embed="rId17"/>
                <a:stretch>
                  <a:fillRect l="-11" t="-33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Object 17"/>
              <p:cNvSpPr txBox="1"/>
              <p:nvPr/>
            </p:nvSpPr>
            <p:spPr bwMode="auto">
              <a:xfrm>
                <a:off x="6739274" y="4620592"/>
                <a:ext cx="2585701" cy="864142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发现</m:t>
                      </m:r>
                      <m:r>
                        <m:rPr>
                          <m:nor/>
                        </m:rPr>
                        <a:rPr kumimoji="1" lang="zh-CN" altLang="en-US" sz="2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:</m:t>
                      </m:r>
                      <m:r>
                        <m:rPr>
                          <m:nor/>
                        </m:rPr>
                        <a:rPr kumimoji="1" lang="en-US" altLang="zh-CN" sz="2200" b="0" i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1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39274" y="4620592"/>
                <a:ext cx="2585701" cy="864142"/>
              </a:xfrm>
              <a:prstGeom prst="rect">
                <a:avLst/>
              </a:prstGeom>
              <a:blipFill rotWithShape="1">
                <a:blip r:embed="rId18"/>
                <a:stretch>
                  <a:fillRect l="-1" t="-38" b="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接连接符 31"/>
          <p:cNvCxnSpPr/>
          <p:nvPr/>
        </p:nvCxnSpPr>
        <p:spPr>
          <a:xfrm>
            <a:off x="3452780" y="4274056"/>
            <a:ext cx="2881345" cy="0"/>
          </a:xfrm>
          <a:prstGeom prst="line">
            <a:avLst/>
          </a:prstGeom>
          <a:ln w="19050"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6521450" y="4259719"/>
            <a:ext cx="2803525" cy="16021"/>
          </a:xfrm>
          <a:prstGeom prst="line">
            <a:avLst/>
          </a:prstGeom>
          <a:ln w="19050"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861094" y="1544371"/>
            <a:ext cx="1004274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8" grpId="0"/>
      <p:bldP spid="9" grpId="0"/>
      <p:bldP spid="11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 animBg="1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 rotWithShape="1">
                <a:blip r:embed="rId1"/>
                <a:stretch>
                  <a:fillRect l="-1499" t="-1932" r="-1493" b="-1914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792161" y="839787"/>
            <a:ext cx="1066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2858961" y="839786"/>
            <a:ext cx="45100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混合偏导数都相等吗？</a:t>
            </a:r>
            <a:endParaRPr kumimoji="1" lang="zh-CN" altLang="en-US" sz="2800" dirty="0">
              <a:latin typeface="Cambria Math" panose="02040503050406030204" charset="0"/>
              <a:ea typeface="黑体" panose="02010609060101010101" pitchFamily="49" charset="-122"/>
              <a:cs typeface="Cambria Math" panose="02040503050406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4"/>
              <p:cNvSpPr txBox="1"/>
              <p:nvPr/>
            </p:nvSpPr>
            <p:spPr bwMode="auto">
              <a:xfrm>
                <a:off x="2858770" y="838835"/>
                <a:ext cx="8229600" cy="30683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设</m:t>
                      </m:r>
                      <m:r>
                        <a:rPr kumimoji="1" lang="en-US" altLang="zh-CN" sz="2800" b="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800" i="1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)≠(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),</m:t>
                              </m:r>
                            </m:e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,  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  </m:t>
                              </m:r>
                              <m:r>
                                <a:rPr kumimoji="1" lang="zh-CN" altLang="en-US" sz="2800" i="1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)=(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).</m:t>
                              </m:r>
                            </m:e>
                          </m:eqArr>
                        </m:e>
                      </m:d>
                    </m:oMath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求</m:t>
                      </m:r>
                      <m:r>
                        <a:rPr kumimoji="1" lang="en-US" altLang="zh-CN" sz="2800" b="0" i="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的二阶混合偏导数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8770" y="838835"/>
                <a:ext cx="8229600" cy="30683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1792161" y="1943670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例8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792161" y="3745626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bject 7"/>
              <p:cNvSpPr txBox="1"/>
              <p:nvPr/>
            </p:nvSpPr>
            <p:spPr bwMode="auto">
              <a:xfrm>
                <a:off x="2858961" y="3789282"/>
                <a:ext cx="26289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当</m:t>
                      </m:r>
                      <m:r>
                        <a:rPr kumimoji="1" lang="en-US" altLang="zh-CN" sz="2200" b="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d>
                        <m:d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d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≠</m:t>
                      </m:r>
                      <m:d>
                        <m:d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e>
                      </m:d>
                      <m:r>
                        <a:rPr kumimoji="1" lang="en-US" altLang="zh-CN" sz="2200" b="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时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8961" y="3789282"/>
                <a:ext cx="2628900" cy="431800"/>
              </a:xfrm>
              <a:prstGeom prst="rect">
                <a:avLst/>
              </a:prstGeom>
              <a:blipFill rotWithShape="1">
                <a:blip r:embed="rId3"/>
                <a:stretch>
                  <a:fillRect l="-7" t="-55" r="7" b="5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bject 8"/>
              <p:cNvSpPr txBox="1"/>
              <p:nvPr/>
            </p:nvSpPr>
            <p:spPr bwMode="auto">
              <a:xfrm>
                <a:off x="2858961" y="4382294"/>
                <a:ext cx="4724400" cy="8778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)−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8961" y="4382294"/>
                <a:ext cx="4724400" cy="877887"/>
              </a:xfrm>
              <a:prstGeom prst="rect">
                <a:avLst/>
              </a:prstGeom>
              <a:blipFill rotWithShape="1">
                <a:blip r:embed="rId4"/>
                <a:stretch>
                  <a:fillRect l="-4" t="-18" r="4" b="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bject 9"/>
              <p:cNvSpPr txBox="1"/>
              <p:nvPr/>
            </p:nvSpPr>
            <p:spPr bwMode="auto">
              <a:xfrm>
                <a:off x="7310325" y="4382294"/>
                <a:ext cx="3566545" cy="98891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4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200" b="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7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10325" y="4382294"/>
                <a:ext cx="3566545" cy="988916"/>
              </a:xfrm>
              <a:prstGeom prst="rect">
                <a:avLst/>
              </a:prstGeom>
              <a:blipFill rotWithShape="1">
                <a:blip r:embed="rId5"/>
                <a:stretch>
                  <a:fillRect l="-6" t="-16" r="17" b="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bject 10"/>
              <p:cNvSpPr txBox="1"/>
              <p:nvPr/>
            </p:nvSpPr>
            <p:spPr bwMode="auto">
              <a:xfrm>
                <a:off x="2858961" y="5291101"/>
                <a:ext cx="4217988" cy="8778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8961" y="5291101"/>
                <a:ext cx="4217988" cy="877887"/>
              </a:xfrm>
              <a:prstGeom prst="rect">
                <a:avLst/>
              </a:prstGeom>
              <a:blipFill rotWithShape="1">
                <a:blip r:embed="rId6"/>
                <a:stretch>
                  <a:fillRect l="-5" t="-32" r="12" b="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utoUpdateAnimBg="0"/>
      <p:bldP spid="12" grpId="0" bldLvl="0" animBg="1"/>
      <p:bldP spid="13" grpId="0"/>
      <p:bldP spid="14" grpId="0" autoUpdateAnimBg="0"/>
      <p:bldP spid="15" grpId="0"/>
      <p:bldP spid="16" grpId="0"/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 rotWithShape="1">
                <a:blip r:embed="rId1"/>
                <a:stretch>
                  <a:fillRect l="-1499" t="-1932" r="-1493" b="-1914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半闭框 13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半闭框 14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半闭框 15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7" name="半闭框 16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Object 2"/>
              <p:cNvSpPr txBox="1"/>
              <p:nvPr/>
            </p:nvSpPr>
            <p:spPr bwMode="auto">
              <a:xfrm>
                <a:off x="2508600" y="835025"/>
                <a:ext cx="26289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当</m:t>
                      </m:r>
                      <m:r>
                        <a:rPr kumimoji="1" lang="en-US" altLang="zh-CN" sz="2200" b="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d>
                        <m:dPr>
                          <m:ctrlPr>
                            <a:rPr kumimoji="1" lang="zh-CN" altLang="en-US" sz="2200" i="1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200" i="1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 i="1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200" i="1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d>
                      <m:r>
                        <a:rPr kumimoji="1" lang="zh-CN" altLang="en-US" sz="22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e>
                      </m:d>
                      <m:r>
                        <a:rPr kumimoji="1" lang="en-US" altLang="zh-CN" sz="2200" b="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时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600" y="835025"/>
                <a:ext cx="2628900" cy="431800"/>
              </a:xfrm>
              <a:prstGeom prst="rect">
                <a:avLst/>
              </a:prstGeom>
              <a:blipFill rotWithShape="1">
                <a:blip r:embed="rId2"/>
                <a:stretch>
                  <a:fillRect l="-13" r="1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Box 3"/>
              <p:cNvSpPr txBox="1">
                <a:spLocks noChangeArrowheads="1"/>
              </p:cNvSpPr>
              <p:nvPr/>
            </p:nvSpPr>
            <p:spPr bwMode="auto">
              <a:xfrm>
                <a:off x="4927788" y="807363"/>
                <a:ext cx="31242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按定义可知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27788" y="807363"/>
                <a:ext cx="3124200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6" t="-60" r="6" b="6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4"/>
              <p:cNvSpPr txBox="1"/>
              <p:nvPr/>
            </p:nvSpPr>
            <p:spPr bwMode="auto">
              <a:xfrm>
                <a:off x="2508600" y="1524169"/>
                <a:ext cx="4209256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)−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600" y="1524169"/>
                <a:ext cx="4209256" cy="838200"/>
              </a:xfrm>
              <a:prstGeom prst="rect">
                <a:avLst/>
              </a:prstGeom>
              <a:blipFill rotWithShape="1">
                <a:blip r:embed="rId4"/>
                <a:stretch>
                  <a:fillRect l="-8" t="-20" r="5" b="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/>
              <p:cNvSpPr txBox="1"/>
              <p:nvPr/>
            </p:nvSpPr>
            <p:spPr bwMode="auto">
              <a:xfrm>
                <a:off x="6543675" y="1530519"/>
                <a:ext cx="20193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43675" y="1530519"/>
                <a:ext cx="2019300" cy="838200"/>
              </a:xfrm>
              <a:prstGeom prst="rect">
                <a:avLst/>
              </a:prstGeom>
              <a:blipFill rotWithShape="1">
                <a:blip r:embed="rId5"/>
                <a:stretch>
                  <a:fillRect t="-20" b="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6"/>
              <p:cNvSpPr txBox="1"/>
              <p:nvPr/>
            </p:nvSpPr>
            <p:spPr bwMode="auto">
              <a:xfrm>
                <a:off x="2508600" y="2561795"/>
                <a:ext cx="46101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)−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600" y="2561795"/>
                <a:ext cx="4610100" cy="914400"/>
              </a:xfrm>
              <a:prstGeom prst="rect">
                <a:avLst/>
              </a:prstGeom>
              <a:blipFill rotWithShape="1">
                <a:blip r:embed="rId6"/>
                <a:stretch>
                  <a:fillRect l="-8" t="-22" r="8" b="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7"/>
              <p:cNvSpPr txBox="1"/>
              <p:nvPr/>
            </p:nvSpPr>
            <p:spPr bwMode="auto">
              <a:xfrm>
                <a:off x="6543675" y="2569161"/>
                <a:ext cx="19812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den>
                          </m:f>
                        </m:e>
                      </m:func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43675" y="2569161"/>
                <a:ext cx="1981200" cy="914400"/>
              </a:xfrm>
              <a:prstGeom prst="rect">
                <a:avLst/>
              </a:prstGeom>
              <a:blipFill rotWithShape="1">
                <a:blip r:embed="rId7"/>
                <a:stretch>
                  <a:fillRect t="-64" b="6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8"/>
              <p:cNvSpPr txBox="1"/>
              <p:nvPr/>
            </p:nvSpPr>
            <p:spPr bwMode="auto">
              <a:xfrm>
                <a:off x="1139825" y="3627755"/>
                <a:ext cx="5709285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9825" y="3627755"/>
                <a:ext cx="5709285" cy="91440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9"/>
              <p:cNvSpPr txBox="1"/>
              <p:nvPr/>
            </p:nvSpPr>
            <p:spPr bwMode="auto">
              <a:xfrm>
                <a:off x="6758781" y="3795726"/>
                <a:ext cx="827088" cy="5409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58781" y="3795726"/>
                <a:ext cx="827088" cy="540919"/>
              </a:xfrm>
              <a:prstGeom prst="rect">
                <a:avLst/>
              </a:prstGeom>
              <a:blipFill rotWithShape="1">
                <a:blip r:embed="rId9"/>
                <a:stretch>
                  <a:fillRect l="-58" t="-61" r="19" b="4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10"/>
              <p:cNvSpPr txBox="1"/>
              <p:nvPr/>
            </p:nvSpPr>
            <p:spPr bwMode="auto">
              <a:xfrm>
                <a:off x="1139190" y="4721225"/>
                <a:ext cx="5709920" cy="87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𝑦𝑥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1" lang="zh-CN" altLang="en-US" sz="22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9190" y="4721225"/>
                <a:ext cx="5709920" cy="87630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11"/>
              <p:cNvSpPr txBox="1"/>
              <p:nvPr/>
            </p:nvSpPr>
            <p:spPr bwMode="auto">
              <a:xfrm>
                <a:off x="6758781" y="4909325"/>
                <a:ext cx="827088" cy="5409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1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58781" y="4909325"/>
                <a:ext cx="827088" cy="540920"/>
              </a:xfrm>
              <a:prstGeom prst="rect">
                <a:avLst/>
              </a:prstGeom>
              <a:blipFill rotWithShape="1">
                <a:blip r:embed="rId11"/>
                <a:stretch>
                  <a:fillRect l="-58" t="-26" r="19" b="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12"/>
              <p:cNvSpPr txBox="1"/>
              <p:nvPr/>
            </p:nvSpPr>
            <p:spPr bwMode="auto">
              <a:xfrm>
                <a:off x="2508600" y="5662640"/>
                <a:ext cx="3587400" cy="4667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显然</m:t>
                      </m:r>
                      <m:r>
                        <a:rPr kumimoji="1" lang="en-US" altLang="zh-CN" sz="2200" b="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)≠</m:t>
                      </m:r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𝑦𝑥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600" y="5662640"/>
                <a:ext cx="3587400" cy="466725"/>
              </a:xfrm>
              <a:prstGeom prst="rect">
                <a:avLst/>
              </a:prstGeom>
              <a:blipFill rotWithShape="1">
                <a:blip r:embed="rId12"/>
                <a:stretch>
                  <a:fillRect l="-10" t="-74" b="7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10" grpId="0" bldLvl="0" animBg="1"/>
      <p:bldP spid="11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6" name="对象 1"/>
              <p:cNvSpPr txBox="1"/>
              <p:nvPr/>
            </p:nvSpPr>
            <p:spPr>
              <a:xfrm>
                <a:off x="2619331" y="2303517"/>
                <a:ext cx="7715157" cy="4953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若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和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𝑦𝑥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都在点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连续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则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6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331" y="2303517"/>
                <a:ext cx="7715157" cy="495300"/>
              </a:xfrm>
              <a:prstGeom prst="rect">
                <a:avLst/>
              </a:prstGeom>
              <a:blipFill rotWithShape="1">
                <a:blip r:embed="rId1"/>
                <a:stretch>
                  <a:fillRect l="-8" t="-75" r="6" b="-15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对象 2"/>
              <p:cNvSpPr txBox="1"/>
              <p:nvPr/>
            </p:nvSpPr>
            <p:spPr>
              <a:xfrm>
                <a:off x="2107565" y="2966720"/>
                <a:ext cx="4735830" cy="66167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𝑦𝑥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7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565" y="2966720"/>
                <a:ext cx="4735830" cy="66167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Box 3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7923758" y="2966417"/>
            <a:ext cx="16385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(</a:t>
            </a: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证明略</a:t>
            </a:r>
            <a:r>
              <a:rPr kumimoji="1" lang="en-US" altLang="zh-CN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) </a:t>
            </a:r>
            <a:endParaRPr kumimoji="1" lang="en-US" altLang="zh-CN" sz="2800" dirty="0">
              <a:solidFill>
                <a:srgbClr val="04926A"/>
              </a:solidFill>
              <a:latin typeface="Cambria Math" panose="02040503050406030204" charset="0"/>
              <a:ea typeface="黑体" panose="02010609060101010101" pitchFamily="49" charset="-122"/>
              <a:cs typeface="Cambria Math" panose="02040503050406030204" charset="0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Box 156"/>
              <p:cNvSpPr txBox="1">
                <a:spLocks noChangeArrowheads="1"/>
              </p:cNvSpPr>
              <p:nvPr/>
            </p:nvSpPr>
            <p:spPr bwMode="auto">
              <a:xfrm>
                <a:off x="1474263" y="3833560"/>
                <a:ext cx="2627837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上述定理表明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9" name="Text Box 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4263" y="3833560"/>
                <a:ext cx="2627837" cy="519113"/>
              </a:xfrm>
              <a:prstGeom prst="rect">
                <a:avLst/>
              </a:prstGeom>
              <a:blipFill rotWithShape="1">
                <a:blip r:embed="rId3"/>
                <a:stretch>
                  <a:fillRect l="-16" t="-13" b="7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157"/>
          <p:cNvSpPr txBox="1">
            <a:spLocks noChangeArrowheads="1"/>
          </p:cNvSpPr>
          <p:nvPr/>
        </p:nvSpPr>
        <p:spPr bwMode="auto">
          <a:xfrm>
            <a:off x="1474263" y="4378105"/>
            <a:ext cx="78602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二阶混合偏导数在连续的条件下与求导次序无关</a:t>
            </a:r>
            <a:r>
              <a:rPr kumimoji="1" lang="en-US" altLang="zh-CN" sz="280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.</a:t>
            </a:r>
            <a:endParaRPr kumimoji="1" lang="zh-CN" altLang="en-US" sz="2800" dirty="0">
              <a:latin typeface="Cambria Math" panose="02040503050406030204" charset="0"/>
              <a:ea typeface="黑体" panose="02010609060101010101" pitchFamily="49" charset="-122"/>
              <a:cs typeface="Cambria Math" panose="02040503050406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Box 158"/>
              <p:cNvSpPr txBox="1">
                <a:spLocks noChangeArrowheads="1"/>
              </p:cNvSpPr>
              <p:nvPr/>
            </p:nvSpPr>
            <p:spPr bwMode="auto">
              <a:xfrm>
                <a:off x="1474263" y="4926130"/>
                <a:ext cx="950942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类似地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 高阶混合偏导数在连续的条件下也与求导次序无关</a:t>
                </a:r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.</a:t>
                </a:r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1" name="Text Box 1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4263" y="4926130"/>
                <a:ext cx="9509422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5" t="-83" r="1" b="7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31"/>
          <p:cNvSpPr txBox="1">
            <a:spLocks noChangeArrowheads="1"/>
          </p:cNvSpPr>
          <p:nvPr/>
        </p:nvSpPr>
        <p:spPr bwMode="auto">
          <a:xfrm>
            <a:off x="1474263" y="5471347"/>
            <a:ext cx="82291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故求初等函数的高阶导数可以选择方便的求导顺序</a:t>
            </a:r>
            <a:r>
              <a:rPr kumimoji="1" lang="en-US" altLang="zh-CN" sz="280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.</a:t>
            </a:r>
            <a:endParaRPr kumimoji="1" lang="zh-CN" altLang="en-US" sz="2800" dirty="0">
              <a:latin typeface="Cambria Math" panose="02040503050406030204" charset="0"/>
              <a:ea typeface="黑体" panose="02010609060101010101" pitchFamily="49" charset="-122"/>
              <a:cs typeface="Cambria Math" panose="02040503050406030204" charset="0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280885" y="770127"/>
            <a:ext cx="9338047" cy="1209040"/>
            <a:chOff x="2046107" y="-1090192"/>
            <a:chExt cx="9338047" cy="1209040"/>
          </a:xfrm>
        </p:grpSpPr>
        <p:sp>
          <p:nvSpPr>
            <p:cNvPr id="5" name="矩形 4"/>
            <p:cNvSpPr/>
            <p:nvPr/>
          </p:nvSpPr>
          <p:spPr>
            <a:xfrm>
              <a:off x="2046107" y="-1001927"/>
              <a:ext cx="9338047" cy="913130"/>
            </a:xfrm>
            <a:prstGeom prst="rect">
              <a:avLst/>
            </a:prstGeom>
            <a:pattFill prst="ltDn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19050">
              <a:gradFill>
                <a:gsLst>
                  <a:gs pos="0">
                    <a:schemeClr val="bg1"/>
                  </a:gs>
                  <a:gs pos="20000">
                    <a:srgbClr val="A9D18E"/>
                  </a:gs>
                  <a:gs pos="100000">
                    <a:srgbClr val="04926A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2215443" y="-1090192"/>
              <a:ext cx="1054477" cy="1209040"/>
              <a:chOff x="3025443" y="848760"/>
              <a:chExt cx="1054477" cy="1209040"/>
            </a:xfrm>
          </p:grpSpPr>
          <p:sp>
            <p:nvSpPr>
              <p:cNvPr id="8" name="文本框 7"/>
              <p:cNvSpPr txBox="1">
                <a:spLocks noChangeAspect="1"/>
              </p:cNvSpPr>
              <p:nvPr/>
            </p:nvSpPr>
            <p:spPr>
              <a:xfrm rot="900000">
                <a:off x="3522390" y="1097045"/>
                <a:ext cx="557530" cy="805180"/>
              </a:xfrm>
              <a:custGeom>
                <a:avLst/>
                <a:gdLst/>
                <a:ahLst/>
                <a:cxnLst/>
                <a:rect l="l" t="t" r="r" b="b"/>
                <a:pathLst>
                  <a:path w="562502" h="812155">
                    <a:moveTo>
                      <a:pt x="257655" y="620500"/>
                    </a:moveTo>
                    <a:cubicBezTo>
                      <a:pt x="319902" y="626389"/>
                      <a:pt x="353866" y="659088"/>
                      <a:pt x="359548" y="718598"/>
                    </a:cubicBezTo>
                    <a:cubicBezTo>
                      <a:pt x="353576" y="775122"/>
                      <a:pt x="319674" y="806308"/>
                      <a:pt x="257842" y="812155"/>
                    </a:cubicBezTo>
                    <a:cubicBezTo>
                      <a:pt x="195968" y="806349"/>
                      <a:pt x="162066" y="775101"/>
                      <a:pt x="156136" y="718411"/>
                    </a:cubicBezTo>
                    <a:cubicBezTo>
                      <a:pt x="161776" y="659026"/>
                      <a:pt x="195615" y="626389"/>
                      <a:pt x="257655" y="620500"/>
                    </a:cubicBezTo>
                    <a:close/>
                    <a:moveTo>
                      <a:pt x="284590" y="0"/>
                    </a:moveTo>
                    <a:cubicBezTo>
                      <a:pt x="464364" y="5433"/>
                      <a:pt x="556967" y="70417"/>
                      <a:pt x="562400" y="194952"/>
                    </a:cubicBezTo>
                    <a:cubicBezTo>
                      <a:pt x="565095" y="272916"/>
                      <a:pt x="514895" y="336822"/>
                      <a:pt x="411800" y="386669"/>
                    </a:cubicBezTo>
                    <a:cubicBezTo>
                      <a:pt x="319736" y="427932"/>
                      <a:pt x="278908" y="492999"/>
                      <a:pt x="289318" y="581870"/>
                    </a:cubicBezTo>
                    <a:lnTo>
                      <a:pt x="223566" y="581870"/>
                    </a:lnTo>
                    <a:cubicBezTo>
                      <a:pt x="215065" y="491921"/>
                      <a:pt x="239968" y="417689"/>
                      <a:pt x="298275" y="359175"/>
                    </a:cubicBezTo>
                    <a:cubicBezTo>
                      <a:pt x="362264" y="292822"/>
                      <a:pt x="391646" y="234660"/>
                      <a:pt x="386420" y="184688"/>
                    </a:cubicBezTo>
                    <a:cubicBezTo>
                      <a:pt x="386420" y="98140"/>
                      <a:pt x="351005" y="54865"/>
                      <a:pt x="280173" y="54865"/>
                    </a:cubicBezTo>
                    <a:cubicBezTo>
                      <a:pt x="225225" y="49681"/>
                      <a:pt x="190390" y="97663"/>
                      <a:pt x="175668" y="198809"/>
                    </a:cubicBezTo>
                    <a:cubicBezTo>
                      <a:pt x="169821" y="248573"/>
                      <a:pt x="139962" y="273455"/>
                      <a:pt x="86092" y="273455"/>
                    </a:cubicBezTo>
                    <a:cubicBezTo>
                      <a:pt x="28697" y="273455"/>
                      <a:pt x="0" y="248407"/>
                      <a:pt x="0" y="198311"/>
                    </a:cubicBezTo>
                    <a:cubicBezTo>
                      <a:pt x="13478" y="74232"/>
                      <a:pt x="108341" y="8128"/>
                      <a:pt x="28459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20000">
                    <a:srgbClr val="C5E0B4"/>
                  </a:gs>
                  <a:gs pos="100000">
                    <a:srgbClr val="04926A"/>
                  </a:gs>
                </a:gsLst>
                <a:lin ang="0" scaled="0"/>
              </a:gradFill>
              <a:ln>
                <a:noFill/>
              </a:ln>
              <a:effectLst>
                <a:outerShdw dist="63500" dir="2700000" algn="tl" rotWithShape="0">
                  <a:srgbClr val="E3F0DB"/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endParaRPr lang="zh-CN" altLang="en-US" sz="8000" b="1" dirty="0">
                  <a:latin typeface="方正粗雅宋_GBK" panose="02000000000000000000" pitchFamily="2" charset="-122"/>
                  <a:ea typeface="方正粗雅宋_GBK" panose="02000000000000000000" pitchFamily="2" charset="-122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3025443" y="848760"/>
                <a:ext cx="837565" cy="1209040"/>
              </a:xfrm>
              <a:custGeom>
                <a:avLst/>
                <a:gdLst/>
                <a:ahLst/>
                <a:cxnLst/>
                <a:rect l="l" t="t" r="r" b="b"/>
                <a:pathLst>
                  <a:path w="562502" h="812155">
                    <a:moveTo>
                      <a:pt x="257655" y="620500"/>
                    </a:moveTo>
                    <a:cubicBezTo>
                      <a:pt x="319902" y="626389"/>
                      <a:pt x="353866" y="659088"/>
                      <a:pt x="359548" y="718598"/>
                    </a:cubicBezTo>
                    <a:cubicBezTo>
                      <a:pt x="353576" y="775122"/>
                      <a:pt x="319674" y="806308"/>
                      <a:pt x="257842" y="812155"/>
                    </a:cubicBezTo>
                    <a:cubicBezTo>
                      <a:pt x="195968" y="806349"/>
                      <a:pt x="162066" y="775101"/>
                      <a:pt x="156136" y="718411"/>
                    </a:cubicBezTo>
                    <a:cubicBezTo>
                      <a:pt x="161776" y="659026"/>
                      <a:pt x="195615" y="626389"/>
                      <a:pt x="257655" y="620500"/>
                    </a:cubicBezTo>
                    <a:close/>
                    <a:moveTo>
                      <a:pt x="284590" y="0"/>
                    </a:moveTo>
                    <a:cubicBezTo>
                      <a:pt x="464364" y="5433"/>
                      <a:pt x="556967" y="70417"/>
                      <a:pt x="562400" y="194952"/>
                    </a:cubicBezTo>
                    <a:cubicBezTo>
                      <a:pt x="565095" y="272916"/>
                      <a:pt x="514895" y="336822"/>
                      <a:pt x="411800" y="386669"/>
                    </a:cubicBezTo>
                    <a:cubicBezTo>
                      <a:pt x="319736" y="427932"/>
                      <a:pt x="278908" y="492999"/>
                      <a:pt x="289318" y="581870"/>
                    </a:cubicBezTo>
                    <a:lnTo>
                      <a:pt x="223566" y="581870"/>
                    </a:lnTo>
                    <a:cubicBezTo>
                      <a:pt x="215065" y="491921"/>
                      <a:pt x="239968" y="417689"/>
                      <a:pt x="298275" y="359175"/>
                    </a:cubicBezTo>
                    <a:cubicBezTo>
                      <a:pt x="362264" y="292822"/>
                      <a:pt x="391646" y="234660"/>
                      <a:pt x="386420" y="184688"/>
                    </a:cubicBezTo>
                    <a:cubicBezTo>
                      <a:pt x="386420" y="98140"/>
                      <a:pt x="351005" y="54865"/>
                      <a:pt x="280173" y="54865"/>
                    </a:cubicBezTo>
                    <a:cubicBezTo>
                      <a:pt x="225225" y="49681"/>
                      <a:pt x="190390" y="97663"/>
                      <a:pt x="175668" y="198809"/>
                    </a:cubicBezTo>
                    <a:cubicBezTo>
                      <a:pt x="169821" y="248573"/>
                      <a:pt x="139962" y="273455"/>
                      <a:pt x="86092" y="273455"/>
                    </a:cubicBezTo>
                    <a:cubicBezTo>
                      <a:pt x="28697" y="273455"/>
                      <a:pt x="0" y="248407"/>
                      <a:pt x="0" y="198311"/>
                    </a:cubicBezTo>
                    <a:cubicBezTo>
                      <a:pt x="13478" y="74232"/>
                      <a:pt x="108341" y="8128"/>
                      <a:pt x="28459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20000">
                    <a:srgbClr val="C5E0B4"/>
                  </a:gs>
                  <a:gs pos="100000">
                    <a:srgbClr val="04926A"/>
                  </a:gs>
                </a:gsLst>
                <a:lin ang="0" scaled="0"/>
              </a:gradFill>
              <a:ln>
                <a:noFill/>
              </a:ln>
              <a:effectLst>
                <a:outerShdw dist="63500" dir="2700000" algn="tl" rotWithShape="0">
                  <a:srgbClr val="E3F0DB"/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endParaRPr lang="zh-CN" altLang="en-US" sz="8000" b="1" dirty="0">
                  <a:latin typeface="方正粗雅宋_GBK" panose="02000000000000000000" pitchFamily="2" charset="-122"/>
                  <a:ea typeface="方正粗雅宋_GBK" panose="02000000000000000000" pitchFamily="2" charset="-122"/>
                </a:endParaRPr>
              </a:p>
            </p:txBody>
          </p:sp>
        </p:grpSp>
        <p:sp>
          <p:nvSpPr>
            <p:cNvPr id="7" name="矩形 6"/>
            <p:cNvSpPr/>
            <p:nvPr/>
          </p:nvSpPr>
          <p:spPr>
            <a:xfrm>
              <a:off x="3518008" y="-950894"/>
              <a:ext cx="1085850" cy="662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eaLnBrk="0" fontAlgn="base" hangingPunct="0">
                <a:lnSpc>
                  <a:spcPct val="150000"/>
                </a:lnSpc>
                <a:spcAft>
                  <a:spcPct val="0"/>
                </a:spcAft>
                <a:defRPr/>
              </a:pPr>
              <a:r>
                <a:rPr kumimoji="1" lang="zh-CN" altLang="en-US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问题</a:t>
              </a:r>
              <a:r>
                <a:rPr kumimoji="1" lang="en-US" altLang="zh-CN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:</a:t>
              </a:r>
              <a:endPara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25" name="对象 5"/>
          <p:cNvSpPr txBox="1"/>
          <p:nvPr/>
        </p:nvSpPr>
        <p:spPr>
          <a:xfrm>
            <a:off x="3710395" y="1053933"/>
            <a:ext cx="6591300" cy="517525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具备怎样的条件才能使混合偏导数相等？</a:t>
            </a:r>
            <a:endParaRPr kumimoji="1" lang="zh-CN" altLang="en-US" sz="2800" dirty="0">
              <a:latin typeface="Cambria Math" panose="02040503050406030204" charset="0"/>
              <a:ea typeface="黑体" panose="02010609060101010101" pitchFamily="49" charset="-122"/>
              <a:cs typeface="Cambria Math" panose="02040503050406030204" charset="0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573478" y="2356557"/>
            <a:ext cx="871855" cy="449580"/>
            <a:chOff x="1553" y="3802"/>
            <a:chExt cx="1373" cy="708"/>
          </a:xfrm>
        </p:grpSpPr>
        <p:sp>
          <p:nvSpPr>
            <p:cNvPr id="27" name="圆角矩形 21"/>
            <p:cNvSpPr/>
            <p:nvPr/>
          </p:nvSpPr>
          <p:spPr>
            <a:xfrm>
              <a:off x="1553" y="3803"/>
              <a:ext cx="130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Text Box 28"/>
            <p:cNvSpPr txBox="1">
              <a:spLocks noChangeArrowheads="1"/>
            </p:cNvSpPr>
            <p:nvPr/>
          </p:nvSpPr>
          <p:spPr bwMode="auto">
            <a:xfrm>
              <a:off x="1650" y="3802"/>
              <a:ext cx="1276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定理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dvAuto="0" autoUpdateAnimBg="0" build="p"/>
      <p:bldP spid="19" grpId="0"/>
      <p:bldP spid="20" grpId="0"/>
      <p:bldP spid="21" grpId="0"/>
      <p:bldP spid="22" grpId="0" autoUpdateAnimBg="0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 rotWithShape="1">
                <a:blip r:embed="rId1"/>
                <a:stretch>
                  <a:fillRect l="-1499" t="-1932" r="-1493" b="-1914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半闭框 13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半闭框 14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半闭框 15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7" name="半闭框 16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Text Box 260"/>
          <p:cNvSpPr txBox="1">
            <a:spLocks noChangeArrowheads="1"/>
          </p:cNvSpPr>
          <p:nvPr/>
        </p:nvSpPr>
        <p:spPr bwMode="auto">
          <a:xfrm>
            <a:off x="2062164" y="2836607"/>
            <a:ext cx="10826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证明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ectangle 288"/>
          <p:cNvSpPr>
            <a:spLocks noChangeArrowheads="1"/>
          </p:cNvSpPr>
          <p:nvPr/>
        </p:nvSpPr>
        <p:spPr bwMode="auto">
          <a:xfrm>
            <a:off x="2062164" y="824631"/>
            <a:ext cx="2567546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  </a:t>
            </a:r>
            <a:r>
              <a:rPr kumimoji="1" lang="zh-CN" altLang="en-US" sz="2800" dirty="0">
                <a:solidFill>
                  <a:schemeClr val="tx1"/>
                </a:solidFill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验证函数</a:t>
            </a:r>
            <a:endParaRPr kumimoji="1" lang="zh-CN" altLang="en-US" sz="2800" dirty="0">
              <a:solidFill>
                <a:schemeClr val="tx1"/>
              </a:solidFill>
              <a:latin typeface="Cambria Math" panose="02040503050406030204" charset="0"/>
              <a:ea typeface="黑体" panose="02010609060101010101" pitchFamily="49" charset="-122"/>
              <a:cs typeface="Cambria Math" panose="02040503050406030204" charset="0"/>
            </a:endParaRPr>
          </a:p>
        </p:txBody>
      </p:sp>
      <p:sp>
        <p:nvSpPr>
          <p:cNvPr id="20" name="Text Box 290"/>
          <p:cNvSpPr txBox="1">
            <a:spLocks noChangeArrowheads="1"/>
          </p:cNvSpPr>
          <p:nvPr/>
        </p:nvSpPr>
        <p:spPr bwMode="auto">
          <a:xfrm>
            <a:off x="7121950" y="845584"/>
            <a:ext cx="3098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b="0" dirty="0">
                <a:latin typeface="Cambria Math" panose="02040503050406030204" charset="0"/>
                <a:cs typeface="Cambria Math" panose="02040503050406030204" charset="0"/>
              </a:rPr>
              <a:t>满足拉普拉斯方程</a:t>
            </a:r>
            <a:endParaRPr kumimoji="1" lang="zh-CN" altLang="en-US" b="0" dirty="0">
              <a:latin typeface="Cambria Math" panose="02040503050406030204" charset="0"/>
              <a:cs typeface="Cambria Math" panose="02040503050406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Box 296"/>
              <p:cNvSpPr txBox="1">
                <a:spLocks noChangeArrowheads="1"/>
              </p:cNvSpPr>
              <p:nvPr/>
            </p:nvSpPr>
            <p:spPr bwMode="auto">
              <a:xfrm>
                <a:off x="2977608" y="3744363"/>
                <a:ext cx="4532763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b="0" dirty="0">
                    <a:latin typeface="Cambria Math" panose="02040503050406030204" charset="0"/>
                    <a:cs typeface="Cambria Math" panose="02040503050406030204" charset="0"/>
                  </a:rPr>
                  <a:t>由于函数关于自变量的对称性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200" b="0" dirty="0">
                    <a:latin typeface="Cambria Math" panose="02040503050406030204" charset="0"/>
                    <a:cs typeface="Cambria Math" panose="02040503050406030204" charset="0"/>
                  </a:rPr>
                  <a:t> 所以</a:t>
                </a:r>
                <a:endParaRPr kumimoji="1" lang="zh-CN" altLang="en-US" sz="2200" b="0" dirty="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1" name="Text Box 2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7608" y="3744363"/>
                <a:ext cx="4532763" cy="430887"/>
              </a:xfrm>
              <a:prstGeom prst="rect">
                <a:avLst/>
              </a:prstGeom>
              <a:blipFill rotWithShape="1">
                <a:blip r:embed="rId2"/>
                <a:stretch>
                  <a:fillRect l="-2" t="-94" r="5" b="2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300"/>
          <p:cNvSpPr txBox="1">
            <a:spLocks noChangeArrowheads="1"/>
          </p:cNvSpPr>
          <p:nvPr/>
        </p:nvSpPr>
        <p:spPr bwMode="auto">
          <a:xfrm>
            <a:off x="2977608" y="5522655"/>
            <a:ext cx="165576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b="0" dirty="0">
                <a:latin typeface="Cambria Math" panose="02040503050406030204" charset="0"/>
                <a:cs typeface="Cambria Math" panose="02040503050406030204" charset="0"/>
              </a:rPr>
              <a:t>从而有</a:t>
            </a:r>
            <a:endParaRPr kumimoji="1" lang="zh-CN" altLang="en-US" sz="2200" b="0" dirty="0">
              <a:latin typeface="Cambria Math" panose="02040503050406030204" charset="0"/>
              <a:cs typeface="Cambria Math" panose="02040503050406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对象 1"/>
              <p:cNvSpPr txBox="1"/>
              <p:nvPr/>
            </p:nvSpPr>
            <p:spPr>
              <a:xfrm>
                <a:off x="4496694" y="776310"/>
                <a:ext cx="2775196" cy="84541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ln</m:t>
                          </m:r>
                        </m:fName>
                        <m:e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func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3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694" y="776310"/>
                <a:ext cx="2775196" cy="845418"/>
              </a:xfrm>
              <a:prstGeom prst="rect">
                <a:avLst/>
              </a:prstGeom>
              <a:blipFill rotWithShape="1">
                <a:blip r:embed="rId3"/>
                <a:stretch>
                  <a:fillRect l="-9" t="-40" r="18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对象 2"/>
              <p:cNvSpPr txBox="1"/>
              <p:nvPr/>
            </p:nvSpPr>
            <p:spPr>
              <a:xfrm>
                <a:off x="4881748" y="1513339"/>
                <a:ext cx="2674751" cy="117462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4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748" y="1513339"/>
                <a:ext cx="2674751" cy="1174626"/>
              </a:xfrm>
              <a:prstGeom prst="rect">
                <a:avLst/>
              </a:prstGeom>
              <a:blipFill rotWithShape="1">
                <a:blip r:embed="rId4"/>
                <a:stretch>
                  <a:fillRect l="-19" t="-11" r="24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对象 3"/>
              <p:cNvSpPr txBox="1"/>
              <p:nvPr/>
            </p:nvSpPr>
            <p:spPr>
              <a:xfrm>
                <a:off x="2977608" y="2687235"/>
                <a:ext cx="2108200" cy="9144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5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608" y="2687235"/>
                <a:ext cx="2108200" cy="914400"/>
              </a:xfrm>
              <a:prstGeom prst="rect">
                <a:avLst/>
              </a:prstGeom>
              <a:blipFill rotWithShape="1">
                <a:blip r:embed="rId5"/>
                <a:stretch>
                  <a:fillRect l="-4" t="-60" r="4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对象 4"/>
              <p:cNvSpPr txBox="1"/>
              <p:nvPr/>
            </p:nvSpPr>
            <p:spPr>
              <a:xfrm>
                <a:off x="4825366" y="2656194"/>
                <a:ext cx="3492500" cy="965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)−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⋅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6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5366" y="2656194"/>
                <a:ext cx="3492500" cy="965200"/>
              </a:xfrm>
              <a:prstGeom prst="rect">
                <a:avLst/>
              </a:prstGeom>
              <a:blipFill rotWithShape="1">
                <a:blip r:embed="rId6"/>
                <a:stretch>
                  <a:fillRect t="-65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对象 5"/>
              <p:cNvSpPr txBox="1"/>
              <p:nvPr/>
            </p:nvSpPr>
            <p:spPr>
              <a:xfrm>
                <a:off x="7926547" y="2654215"/>
                <a:ext cx="1993900" cy="965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7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6547" y="2654215"/>
                <a:ext cx="1993900" cy="965200"/>
              </a:xfrm>
              <a:prstGeom prst="rect">
                <a:avLst/>
              </a:prstGeom>
              <a:blipFill rotWithShape="1">
                <a:blip r:embed="rId7"/>
                <a:stretch>
                  <a:fillRect l="-24" t="-57" r="24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对象 21"/>
              <p:cNvSpPr txBox="1"/>
              <p:nvPr/>
            </p:nvSpPr>
            <p:spPr>
              <a:xfrm>
                <a:off x="2977608" y="4368914"/>
                <a:ext cx="2082800" cy="9144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8" name="对象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608" y="4368914"/>
                <a:ext cx="2082800" cy="914400"/>
              </a:xfrm>
              <a:prstGeom prst="rect">
                <a:avLst/>
              </a:prstGeom>
              <a:blipFill rotWithShape="1">
                <a:blip r:embed="rId8"/>
                <a:stretch>
                  <a:fillRect l="-4" t="-12" r="4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对象 22"/>
              <p:cNvSpPr txBox="1"/>
              <p:nvPr/>
            </p:nvSpPr>
            <p:spPr>
              <a:xfrm>
                <a:off x="4825366" y="4338434"/>
                <a:ext cx="3454400" cy="965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)−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⋅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9" name="对象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5366" y="4338434"/>
                <a:ext cx="3454400" cy="965200"/>
              </a:xfrm>
              <a:prstGeom prst="rect">
                <a:avLst/>
              </a:prstGeom>
              <a:blipFill rotWithShape="1">
                <a:blip r:embed="rId9"/>
                <a:stretch>
                  <a:fillRect t="-12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对象 23"/>
              <p:cNvSpPr txBox="1"/>
              <p:nvPr/>
            </p:nvSpPr>
            <p:spPr>
              <a:xfrm>
                <a:off x="7920604" y="4337266"/>
                <a:ext cx="1993900" cy="965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0" name="对象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604" y="4337266"/>
                <a:ext cx="1993900" cy="965200"/>
              </a:xfrm>
              <a:prstGeom prst="rect">
                <a:avLst/>
              </a:prstGeom>
              <a:blipFill rotWithShape="1">
                <a:blip r:embed="rId10"/>
                <a:stretch>
                  <a:fillRect l="-12" t="-22" r="12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对象 6"/>
              <p:cNvSpPr txBox="1"/>
              <p:nvPr/>
            </p:nvSpPr>
            <p:spPr>
              <a:xfrm>
                <a:off x="3993608" y="5283314"/>
                <a:ext cx="2184400" cy="965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1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3608" y="5283314"/>
                <a:ext cx="2184400" cy="965200"/>
              </a:xfrm>
              <a:prstGeom prst="rect">
                <a:avLst/>
              </a:prstGeom>
              <a:blipFill rotWithShape="1">
                <a:blip r:embed="rId11"/>
                <a:stretch>
                  <a:fillRect l="-4" t="-12" r="4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 rotWithShape="1">
                <a:blip r:embed="rId1"/>
                <a:stretch>
                  <a:fillRect l="-1499" t="-1932" r="-1493" b="-1914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半闭框 13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半闭框 14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半闭框 15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7" name="半闭框 16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17604" y="972074"/>
            <a:ext cx="3048000" cy="533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kumimoji="1" lang="en-US" altLang="zh-CN" sz="2800" b="1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9  </a:t>
            </a:r>
            <a:r>
              <a:rPr kumimoji="1" lang="zh-CN" altLang="en-US" sz="2800" dirty="0"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证明函数</a:t>
            </a:r>
            <a:endParaRPr kumimoji="1" lang="zh-CN" altLang="en-US" sz="2800" dirty="0">
              <a:latin typeface="Cambria Math" panose="02040503050406030204" charset="0"/>
              <a:ea typeface="黑体" panose="02010609060101010101" pitchFamily="49" charset="-122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4"/>
              <p:cNvSpPr txBox="1"/>
              <p:nvPr/>
            </p:nvSpPr>
            <p:spPr bwMode="auto">
              <a:xfrm>
                <a:off x="4019081" y="686322"/>
                <a:ext cx="4368017" cy="10160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𝑢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, 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𝑟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9081" y="686322"/>
                <a:ext cx="4368017" cy="1016002"/>
              </a:xfrm>
              <a:prstGeom prst="rect">
                <a:avLst/>
              </a:prstGeom>
              <a:blipFill rotWithShape="1">
                <a:blip r:embed="rId2"/>
                <a:stretch>
                  <a:fillRect l="-4" t="-51" b="5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8174535" y="924140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latin typeface="Cambria Math" panose="02040503050406030204" charset="0"/>
                <a:ea typeface="黑体" panose="02010609060101010101" pitchFamily="49" charset="-122"/>
                <a:cs typeface="+mj-cs"/>
                <a:sym typeface="+mn-lt"/>
              </a:rPr>
              <a:t>满足拉普拉斯</a:t>
            </a:r>
            <a:endParaRPr kumimoji="1" lang="zh-CN" altLang="en-US" sz="2800" dirty="0">
              <a:latin typeface="Cambria Math" panose="02040503050406030204" charset="0"/>
              <a:ea typeface="黑体" panose="02010609060101010101" pitchFamily="49" charset="-122"/>
              <a:cs typeface="+mj-cs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6"/>
              <p:cNvSpPr txBox="1"/>
              <p:nvPr/>
            </p:nvSpPr>
            <p:spPr bwMode="auto">
              <a:xfrm>
                <a:off x="4257607" y="1613838"/>
                <a:ext cx="3816352" cy="1154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57607" y="1613838"/>
                <a:ext cx="3816352" cy="1154111"/>
              </a:xfrm>
              <a:prstGeom prst="rect">
                <a:avLst/>
              </a:prstGeom>
              <a:blipFill rotWithShape="1">
                <a:blip r:embed="rId3"/>
                <a:stretch>
                  <a:fillRect l="-15" t="-26" r="15" b="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717604" y="2883828"/>
            <a:ext cx="71771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证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8"/>
              <p:cNvSpPr txBox="1"/>
              <p:nvPr/>
            </p:nvSpPr>
            <p:spPr bwMode="auto">
              <a:xfrm>
                <a:off x="2514421" y="2784675"/>
                <a:ext cx="819897" cy="8321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421" y="2784675"/>
                <a:ext cx="819897" cy="832194"/>
              </a:xfrm>
              <a:prstGeom prst="rect">
                <a:avLst/>
              </a:prstGeom>
              <a:blipFill rotWithShape="1">
                <a:blip r:embed="rId4"/>
                <a:stretch>
                  <a:fillRect l="-56" t="-24" r="69" b="6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9"/>
              <p:cNvSpPr txBox="1"/>
              <p:nvPr/>
            </p:nvSpPr>
            <p:spPr bwMode="auto">
              <a:xfrm>
                <a:off x="2514421" y="3656541"/>
                <a:ext cx="1014484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421" y="3656541"/>
                <a:ext cx="1014484" cy="927100"/>
              </a:xfrm>
              <a:prstGeom prst="rect">
                <a:avLst/>
              </a:prstGeom>
              <a:blipFill rotWithShape="1">
                <a:blip r:embed="rId5"/>
                <a:stretch>
                  <a:fillRect l="-45" t="-23" r="21" b="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10"/>
              <p:cNvSpPr txBox="1">
                <a:spLocks noChangeArrowheads="1"/>
              </p:cNvSpPr>
              <p:nvPr/>
            </p:nvSpPr>
            <p:spPr bwMode="auto">
              <a:xfrm>
                <a:off x="2492970" y="4770212"/>
                <a:ext cx="1988516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利用对称性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/>
                    <a:ea typeface="黑体" panose="02010609060101010101" pitchFamily="49" charset="-122"/>
                    <a:cs typeface="+mn-ea"/>
                    <a:sym typeface="+mn-lt"/>
                  </a:rPr>
                  <a:t> 有</a:t>
                </a:r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9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2970" y="4770212"/>
                <a:ext cx="1988516" cy="430887"/>
              </a:xfrm>
              <a:prstGeom prst="rect">
                <a:avLst/>
              </a:prstGeom>
              <a:blipFill rotWithShape="1">
                <a:blip r:embed="rId6"/>
                <a:stretch>
                  <a:fillRect l="-30" t="-21" r="15" b="10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11"/>
              <p:cNvSpPr txBox="1"/>
              <p:nvPr/>
            </p:nvSpPr>
            <p:spPr bwMode="auto">
              <a:xfrm>
                <a:off x="4376105" y="4540133"/>
                <a:ext cx="2467817" cy="9771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76105" y="4540133"/>
                <a:ext cx="2467817" cy="977134"/>
              </a:xfrm>
              <a:prstGeom prst="rect">
                <a:avLst/>
              </a:prstGeom>
              <a:blipFill rotWithShape="1">
                <a:blip r:embed="rId7"/>
                <a:stretch>
                  <a:fillRect l="-13" t="-53" r="21" b="4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13"/>
              <p:cNvSpPr txBox="1"/>
              <p:nvPr/>
            </p:nvSpPr>
            <p:spPr bwMode="auto">
              <a:xfrm>
                <a:off x="2489021" y="5437538"/>
                <a:ext cx="2734525" cy="8928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∴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9021" y="5437538"/>
                <a:ext cx="2734525" cy="892866"/>
              </a:xfrm>
              <a:prstGeom prst="rect">
                <a:avLst/>
              </a:prstGeom>
              <a:blipFill rotWithShape="1">
                <a:blip r:embed="rId8"/>
                <a:stretch>
                  <a:fillRect l="-17" t="-4" r="1" b="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20"/>
              <p:cNvSpPr txBox="1"/>
              <p:nvPr/>
            </p:nvSpPr>
            <p:spPr bwMode="auto">
              <a:xfrm>
                <a:off x="3334318" y="1884316"/>
                <a:ext cx="1042988" cy="5853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Δ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𝑢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34318" y="1884316"/>
                <a:ext cx="1042988" cy="585342"/>
              </a:xfrm>
              <a:prstGeom prst="rect">
                <a:avLst/>
              </a:prstGeom>
              <a:blipFill rotWithShape="1">
                <a:blip r:embed="rId9"/>
                <a:stretch>
                  <a:fillRect l="-54" t="-46" r="24" b="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 Box 21"/>
          <p:cNvSpPr txBox="1">
            <a:spLocks noChangeArrowheads="1"/>
          </p:cNvSpPr>
          <p:nvPr/>
        </p:nvSpPr>
        <p:spPr bwMode="auto">
          <a:xfrm>
            <a:off x="2497861" y="1887207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latin typeface="Cambria Math" panose="02040503050406030204" charset="0"/>
                <a:ea typeface="黑体" panose="02010609060101010101" pitchFamily="49" charset="-122"/>
                <a:cs typeface="+mj-cs"/>
                <a:sym typeface="+mn-lt"/>
              </a:rPr>
              <a:t>方程</a:t>
            </a:r>
            <a:endParaRPr kumimoji="1" lang="zh-CN" altLang="en-US" sz="2800" dirty="0">
              <a:latin typeface="Cambria Math" panose="02040503050406030204" charset="0"/>
              <a:ea typeface="黑体" panose="02010609060101010101" pitchFamily="49" charset="-122"/>
              <a:cs typeface="+mj-cs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22"/>
              <p:cNvSpPr txBox="1"/>
              <p:nvPr/>
            </p:nvSpPr>
            <p:spPr bwMode="auto">
              <a:xfrm>
                <a:off x="3182988" y="2786084"/>
                <a:ext cx="1174633" cy="8741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3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2988" y="2786084"/>
                <a:ext cx="1174633" cy="874198"/>
              </a:xfrm>
              <a:prstGeom prst="rect">
                <a:avLst/>
              </a:prstGeom>
              <a:blipFill rotWithShape="1">
                <a:blip r:embed="rId10"/>
                <a:stretch>
                  <a:fillRect l="-31" t="-39" r="21" b="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Object 23"/>
              <p:cNvSpPr txBox="1"/>
              <p:nvPr/>
            </p:nvSpPr>
            <p:spPr bwMode="auto">
              <a:xfrm>
                <a:off x="4161149" y="2789587"/>
                <a:ext cx="14986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4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61149" y="2789587"/>
                <a:ext cx="1498600" cy="838200"/>
              </a:xfrm>
              <a:prstGeom prst="rect">
                <a:avLst/>
              </a:prstGeom>
              <a:blipFill rotWithShape="1">
                <a:blip r:embed="rId11"/>
                <a:stretch>
                  <a:fillRect l="-42" t="-4" r="42" b="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Object 24"/>
              <p:cNvSpPr txBox="1"/>
              <p:nvPr/>
            </p:nvSpPr>
            <p:spPr bwMode="auto">
              <a:xfrm>
                <a:off x="3334318" y="3699955"/>
                <a:ext cx="673100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5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34318" y="3699955"/>
                <a:ext cx="673100" cy="889000"/>
              </a:xfrm>
              <a:prstGeom prst="rect">
                <a:avLst/>
              </a:prstGeom>
              <a:blipFill rotWithShape="1">
                <a:blip r:embed="rId12"/>
                <a:stretch>
                  <a:fillRect l="-84" t="-50" r="84" b="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Object 25"/>
              <p:cNvSpPr txBox="1"/>
              <p:nvPr/>
            </p:nvSpPr>
            <p:spPr bwMode="auto">
              <a:xfrm>
                <a:off x="3915446" y="3689370"/>
                <a:ext cx="13081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6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15446" y="3689370"/>
                <a:ext cx="1308100" cy="927100"/>
              </a:xfrm>
              <a:prstGeom prst="rect">
                <a:avLst/>
              </a:prstGeom>
              <a:blipFill rotWithShape="1">
                <a:blip r:embed="rId13"/>
                <a:stretch>
                  <a:fillRect l="-3" t="-2" r="3" b="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Object 26"/>
              <p:cNvSpPr txBox="1"/>
              <p:nvPr/>
            </p:nvSpPr>
            <p:spPr bwMode="auto">
              <a:xfrm>
                <a:off x="5105290" y="3655662"/>
                <a:ext cx="1955800" cy="87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7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5290" y="3655662"/>
                <a:ext cx="1955800" cy="876300"/>
              </a:xfrm>
              <a:prstGeom prst="rect">
                <a:avLst/>
              </a:prstGeom>
              <a:blipFill rotWithShape="1">
                <a:blip r:embed="rId14"/>
                <a:stretch>
                  <a:fillRect l="-27" t="-69" r="27" b="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Object 27"/>
              <p:cNvSpPr txBox="1"/>
              <p:nvPr/>
            </p:nvSpPr>
            <p:spPr bwMode="auto">
              <a:xfrm>
                <a:off x="6731197" y="4537616"/>
                <a:ext cx="2467818" cy="8081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8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31197" y="4537616"/>
                <a:ext cx="2467818" cy="808147"/>
              </a:xfrm>
              <a:prstGeom prst="rect">
                <a:avLst/>
              </a:prstGeom>
              <a:blipFill rotWithShape="1">
                <a:blip r:embed="rId15"/>
                <a:stretch>
                  <a:fillRect l="-8" t="-67" r="16" b="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Object 29"/>
              <p:cNvSpPr txBox="1"/>
              <p:nvPr/>
            </p:nvSpPr>
            <p:spPr bwMode="auto">
              <a:xfrm>
                <a:off x="8010767" y="3049497"/>
                <a:ext cx="752661" cy="429189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 w="25400">
                <a:noFill/>
                <a:miter lim="800000"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0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10767" y="3049497"/>
                <a:ext cx="752661" cy="429189"/>
              </a:xfrm>
              <a:prstGeom prst="rect">
                <a:avLst/>
              </a:prstGeom>
              <a:blipFill rotWithShape="1">
                <a:blip r:embed="rId16"/>
                <a:stretch>
                  <a:fillRect l="-32" t="-53" r="57" b="36"/>
                </a:stretch>
              </a:blipFill>
              <a:ln w="25400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Object 31"/>
              <p:cNvSpPr txBox="1"/>
              <p:nvPr/>
            </p:nvSpPr>
            <p:spPr bwMode="auto">
              <a:xfrm>
                <a:off x="8212600" y="5652749"/>
                <a:ext cx="919512" cy="5111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1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12600" y="5652749"/>
                <a:ext cx="919512" cy="511175"/>
              </a:xfrm>
              <a:prstGeom prst="rect">
                <a:avLst/>
              </a:prstGeom>
              <a:blipFill rotWithShape="1">
                <a:blip r:embed="rId17"/>
                <a:stretch>
                  <a:fillRect l="-16" t="-120" r="19" b="1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30"/>
          <p:cNvSpPr>
            <a:spLocks noChangeArrowheads="1"/>
          </p:cNvSpPr>
          <p:nvPr/>
        </p:nvSpPr>
        <p:spPr bwMode="auto">
          <a:xfrm>
            <a:off x="6385278" y="5445509"/>
            <a:ext cx="1686319" cy="411858"/>
          </a:xfrm>
          <a:prstGeom prst="rect">
            <a:avLst/>
          </a:prstGeom>
          <a:solidFill>
            <a:srgbClr val="04926A">
              <a:alpha val="42000"/>
            </a:srgbClr>
          </a:solidFill>
          <a:ln w="25400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3" name="Freeform 32"/>
          <p:cNvSpPr/>
          <p:nvPr/>
        </p:nvSpPr>
        <p:spPr bwMode="auto">
          <a:xfrm>
            <a:off x="7675880" y="3566029"/>
            <a:ext cx="575054" cy="1859287"/>
          </a:xfrm>
          <a:custGeom>
            <a:avLst/>
            <a:gdLst>
              <a:gd name="T0" fmla="*/ 0 w 480"/>
              <a:gd name="T1" fmla="*/ 1488 h 1488"/>
              <a:gd name="T2" fmla="*/ 480 w 480"/>
              <a:gd name="T3" fmla="*/ 0 h 148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80" h="1488">
                <a:moveTo>
                  <a:pt x="0" y="1488"/>
                </a:moveTo>
                <a:cubicBezTo>
                  <a:pt x="200" y="868"/>
                  <a:pt x="400" y="248"/>
                  <a:pt x="480" y="0"/>
                </a:cubicBezTo>
              </a:path>
            </a:pathLst>
          </a:custGeom>
          <a:noFill/>
          <a:ln w="28575" cmpd="sng">
            <a:solidFill>
              <a:srgbClr val="04926A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黑体" panose="02010609060101010101" pitchFamily="49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Object 28"/>
              <p:cNvSpPr txBox="1"/>
              <p:nvPr/>
            </p:nvSpPr>
            <p:spPr bwMode="auto">
              <a:xfrm>
                <a:off x="4858741" y="5438251"/>
                <a:ext cx="3472459" cy="8792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( 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 )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9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58741" y="5438251"/>
                <a:ext cx="3472459" cy="879218"/>
              </a:xfrm>
              <a:prstGeom prst="rect">
                <a:avLst/>
              </a:prstGeom>
              <a:blipFill rotWithShape="1">
                <a:blip r:embed="rId18"/>
                <a:stretch>
                  <a:fillRect l="-10" t="-13" b="5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32" grpId="0"/>
      <p:bldP spid="35" grpId="0"/>
      <p:bldP spid="40" grpId="0" animBg="1"/>
      <p:bldP spid="41" grpId="0"/>
      <p:bldP spid="42" grpId="0" animBg="1"/>
      <p:bldP spid="4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9"/>
</p:tagLst>
</file>

<file path=ppt/tags/tag2.xml><?xml version="1.0" encoding="utf-8"?>
<p:tagLst xmlns:p="http://schemas.openxmlformats.org/presentationml/2006/main">
  <p:tag name="PA" val="v5.2.9"/>
</p:tagLst>
</file>

<file path=ppt/tags/tag3.xml><?xml version="1.0" encoding="utf-8"?>
<p:tagLst xmlns:p="http://schemas.openxmlformats.org/presentationml/2006/main">
  <p:tag name="PA" val="v5.2.9"/>
</p:tagLst>
</file>

<file path=ppt/tags/tag4.xml><?xml version="1.0" encoding="utf-8"?>
<p:tagLst xmlns:p="http://schemas.openxmlformats.org/presentationml/2006/main">
  <p:tag name="PA" val="v5.2.9"/>
</p:tagLst>
</file>

<file path=ppt/tags/tag5.xml><?xml version="1.0" encoding="utf-8"?>
<p:tagLst xmlns:p="http://schemas.openxmlformats.org/presentationml/2006/main">
  <p:tag name="PA" val="v5.2.9"/>
</p:tagLst>
</file>

<file path=ppt/tags/tag6.xml><?xml version="1.0" encoding="utf-8"?>
<p:tagLst xmlns:p="http://schemas.openxmlformats.org/presentationml/2006/main">
  <p:tag name="PA" val="v5.2.9"/>
</p:tagLst>
</file>

<file path=ppt/tags/tag7.xml><?xml version="1.0" encoding="utf-8"?>
<p:tagLst xmlns:p="http://schemas.openxmlformats.org/presentationml/2006/main">
  <p:tag name="PA" val="v5.2.9"/>
</p:tagLst>
</file>

<file path=ppt/tags/tag8.xml><?xml version="1.0" encoding="utf-8"?>
<p:tagLst xmlns:p="http://schemas.openxmlformats.org/presentationml/2006/main">
  <p:tag name="KSO_WM_DIAGRAM_VIRTUALLY_FRAME" val="{&quot;height&quot;:277.17007874015746,&quot;left&quot;:126.54976377952755,&quot;top&quot;:203.848031496063,&quot;width&quot;:773.6146456692913}"/>
</p:tagLst>
</file>

<file path=ppt/tags/tag9.xml><?xml version="1.0" encoding="utf-8"?>
<p:tagLst xmlns:p="http://schemas.openxmlformats.org/presentationml/2006/main">
  <p:tag name="KSO_WM_DIAGRAM_VIRTUALLY_FRAME" val="{&quot;height&quot;:277.17007874015746,&quot;left&quot;:126.54976377952755,&quot;top&quot;:203.848031496063,&quot;width&quot;:773.6146456692913}"/>
</p:tagLst>
</file>

<file path=ppt/tags/tag10.xml><?xml version="1.0" encoding="utf-8"?>
<p:tagLst xmlns:p="http://schemas.openxmlformats.org/presentationml/2006/main">
  <p:tag name="KSO_WM_DIAGRAM_VIRTUALLY_FRAME" val="{&quot;height&quot;:277.17007874015746,&quot;left&quot;:126.54976377952755,&quot;top&quot;:203.848031496063,&quot;width&quot;:773.6146456692913}"/>
</p:tagLst>
</file>

<file path=ppt/tags/tag11.xml><?xml version="1.0" encoding="utf-8"?>
<p:tagLst xmlns:p="http://schemas.openxmlformats.org/presentationml/2006/main">
  <p:tag name="KSO_WM_DIAGRAM_VIRTUALLY_FRAME" val="{&quot;height&quot;:277.17007874015746,&quot;left&quot;:126.54976377952755,&quot;top&quot;:203.848031496063,&quot;width&quot;:773.6146456692913}"/>
</p:tagLst>
</file>

<file path=ppt/tags/tag12.xml><?xml version="1.0" encoding="utf-8"?>
<p:tagLst xmlns:p="http://schemas.openxmlformats.org/presentationml/2006/main">
  <p:tag name="KSO_WM_DIAGRAM_VIRTUALLY_FRAME" val="{&quot;height&quot;:277.17007874015746,&quot;left&quot;:126.54976377952755,&quot;top&quot;:203.848031496063,&quot;width&quot;:773.6146456692913}"/>
</p:tagLst>
</file>

<file path=ppt/tags/tag13.xml><?xml version="1.0" encoding="utf-8"?>
<p:tagLst xmlns:p="http://schemas.openxmlformats.org/presentationml/2006/main">
  <p:tag name="KSO_WM_DIAGRAM_VIRTUALLY_FRAME" val="{&quot;height&quot;:277.17007874015746,&quot;left&quot;:126.54976377952755,&quot;top&quot;:203.848031496063,&quot;width&quot;:773.6146456692913}"/>
</p:tagLst>
</file>

<file path=ppt/tags/tag14.xml><?xml version="1.0" encoding="utf-8"?>
<p:tagLst xmlns:p="http://schemas.openxmlformats.org/presentationml/2006/main">
  <p:tag name="KSO_WM_DIAGRAM_VIRTUALLY_FRAME" val="{&quot;height&quot;:277.17007874015746,&quot;left&quot;:126.54976377952755,&quot;top&quot;:203.848031496063,&quot;width&quot;:773.6146456692913}"/>
</p:tagLst>
</file>

<file path=ppt/tags/tag15.xml><?xml version="1.0" encoding="utf-8"?>
<p:tagLst xmlns:p="http://schemas.openxmlformats.org/presentationml/2006/main">
  <p:tag name="KSO_WM_DIAGRAM_VIRTUALLY_FRAME" val="{&quot;height&quot;:277.17007874015746,&quot;left&quot;:126.54976377952755,&quot;top&quot;:203.848031496063,&quot;width&quot;:773.6146456692913}"/>
</p:tagLst>
</file>

<file path=ppt/tags/tag16.xml><?xml version="1.0" encoding="utf-8"?>
<p:tagLst xmlns:p="http://schemas.openxmlformats.org/presentationml/2006/main">
  <p:tag name="KSO_WM_DIAGRAM_VIRTUALLY_FRAME" val="{&quot;height&quot;:277.17007874015746,&quot;left&quot;:126.54976377952755,&quot;top&quot;:203.848031496063,&quot;width&quot;:773.6146456692913}"/>
</p:tagLst>
</file>

<file path=ppt/tags/tag17.xml><?xml version="1.0" encoding="utf-8"?>
<p:tagLst xmlns:p="http://schemas.openxmlformats.org/presentationml/2006/main">
  <p:tag name="KSO_WM_DIAGRAM_VIRTUALLY_FRAME" val="{&quot;height&quot;:277.17007874015746,&quot;left&quot;:126.54976377952755,&quot;top&quot;:203.848031496063,&quot;width&quot;:773.6146456692913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7397</Words>
  <Application>WPS 演示</Application>
  <PresentationFormat>宽屏</PresentationFormat>
  <Paragraphs>723</Paragraphs>
  <Slides>31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52" baseType="lpstr">
      <vt:lpstr>Arial</vt:lpstr>
      <vt:lpstr>宋体</vt:lpstr>
      <vt:lpstr>Wingdings</vt:lpstr>
      <vt:lpstr>Calibri</vt:lpstr>
      <vt:lpstr>微软雅黑</vt:lpstr>
      <vt:lpstr>字魂36号-正文宋楷</vt:lpstr>
      <vt:lpstr>华文中宋</vt:lpstr>
      <vt:lpstr>方正大标宋简体</vt:lpstr>
      <vt:lpstr>Arial Unicode MS</vt:lpstr>
      <vt:lpstr>微软雅黑 Light</vt:lpstr>
      <vt:lpstr>Calisto MT</vt:lpstr>
      <vt:lpstr>Times New Roman</vt:lpstr>
      <vt:lpstr>Cambria Math</vt:lpstr>
      <vt:lpstr>黑体</vt:lpstr>
      <vt:lpstr>楷体_GB2312</vt:lpstr>
      <vt:lpstr>新宋体</vt:lpstr>
      <vt:lpstr>Times New Roman</vt:lpstr>
      <vt:lpstr>等线</vt:lpstr>
      <vt:lpstr>方正粗雅宋_GBK</vt:lpstr>
      <vt:lpstr>MS Mincho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EDZ</dc:creator>
  <cp:lastModifiedBy>wps</cp:lastModifiedBy>
  <cp:revision>179</cp:revision>
  <cp:lastPrinted>2023-06-06T06:06:00Z</cp:lastPrinted>
  <dcterms:created xsi:type="dcterms:W3CDTF">2022-09-13T06:18:00Z</dcterms:created>
  <dcterms:modified xsi:type="dcterms:W3CDTF">2026-04-08T00:50:42Z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3FFC66B986A14741827AA5E411AE168E_12</vt:lpwstr>
  </property>
  <property fmtid="{D5CDD505-2E9C-101B-9397-08002B2CF9AE}" pid="3" name="KSOProductBuildVer">
    <vt:lpwstr>2052-12.1.0.23542</vt:lpwstr>
  </property>
</Properties>
</file>